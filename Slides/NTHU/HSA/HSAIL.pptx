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98"/>
  </p:notesMasterIdLst>
  <p:sldIdLst>
    <p:sldId id="615" r:id="rId2"/>
    <p:sldId id="378" r:id="rId3"/>
    <p:sldId id="624" r:id="rId4"/>
    <p:sldId id="379" r:id="rId5"/>
    <p:sldId id="380" r:id="rId6"/>
    <p:sldId id="382" r:id="rId7"/>
    <p:sldId id="383" r:id="rId8"/>
    <p:sldId id="384" r:id="rId9"/>
    <p:sldId id="385" r:id="rId10"/>
    <p:sldId id="386" r:id="rId11"/>
    <p:sldId id="387" r:id="rId12"/>
    <p:sldId id="388" r:id="rId13"/>
    <p:sldId id="389" r:id="rId14"/>
    <p:sldId id="390" r:id="rId15"/>
    <p:sldId id="391" r:id="rId16"/>
    <p:sldId id="392" r:id="rId17"/>
    <p:sldId id="393" r:id="rId18"/>
    <p:sldId id="625" r:id="rId19"/>
    <p:sldId id="394" r:id="rId20"/>
    <p:sldId id="395" r:id="rId21"/>
    <p:sldId id="396" r:id="rId22"/>
    <p:sldId id="397" r:id="rId23"/>
    <p:sldId id="398" r:id="rId24"/>
    <p:sldId id="399" r:id="rId25"/>
    <p:sldId id="617" r:id="rId26"/>
    <p:sldId id="618" r:id="rId27"/>
    <p:sldId id="619" r:id="rId28"/>
    <p:sldId id="400" r:id="rId29"/>
    <p:sldId id="402" r:id="rId30"/>
    <p:sldId id="623" r:id="rId31"/>
    <p:sldId id="403" r:id="rId32"/>
    <p:sldId id="620" r:id="rId33"/>
    <p:sldId id="621" r:id="rId34"/>
    <p:sldId id="405" r:id="rId35"/>
    <p:sldId id="406" r:id="rId36"/>
    <p:sldId id="407" r:id="rId37"/>
    <p:sldId id="408" r:id="rId38"/>
    <p:sldId id="409" r:id="rId39"/>
    <p:sldId id="410" r:id="rId40"/>
    <p:sldId id="411" r:id="rId41"/>
    <p:sldId id="412" r:id="rId42"/>
    <p:sldId id="413" r:id="rId43"/>
    <p:sldId id="414" r:id="rId44"/>
    <p:sldId id="415" r:id="rId45"/>
    <p:sldId id="416" r:id="rId46"/>
    <p:sldId id="417" r:id="rId47"/>
    <p:sldId id="418" r:id="rId48"/>
    <p:sldId id="419" r:id="rId49"/>
    <p:sldId id="421" r:id="rId50"/>
    <p:sldId id="422" r:id="rId51"/>
    <p:sldId id="423" r:id="rId52"/>
    <p:sldId id="424" r:id="rId53"/>
    <p:sldId id="425" r:id="rId54"/>
    <p:sldId id="426" r:id="rId55"/>
    <p:sldId id="428" r:id="rId56"/>
    <p:sldId id="429" r:id="rId57"/>
    <p:sldId id="430" r:id="rId58"/>
    <p:sldId id="431" r:id="rId59"/>
    <p:sldId id="432" r:id="rId60"/>
    <p:sldId id="433" r:id="rId61"/>
    <p:sldId id="440" r:id="rId62"/>
    <p:sldId id="441" r:id="rId63"/>
    <p:sldId id="442" r:id="rId64"/>
    <p:sldId id="443" r:id="rId65"/>
    <p:sldId id="444" r:id="rId66"/>
    <p:sldId id="445" r:id="rId67"/>
    <p:sldId id="446" r:id="rId68"/>
    <p:sldId id="447" r:id="rId69"/>
    <p:sldId id="448" r:id="rId70"/>
    <p:sldId id="449" r:id="rId71"/>
    <p:sldId id="450" r:id="rId72"/>
    <p:sldId id="451" r:id="rId73"/>
    <p:sldId id="452" r:id="rId74"/>
    <p:sldId id="453" r:id="rId75"/>
    <p:sldId id="454" r:id="rId76"/>
    <p:sldId id="455" r:id="rId77"/>
    <p:sldId id="456" r:id="rId78"/>
    <p:sldId id="457" r:id="rId79"/>
    <p:sldId id="458" r:id="rId80"/>
    <p:sldId id="459" r:id="rId81"/>
    <p:sldId id="460" r:id="rId82"/>
    <p:sldId id="461" r:id="rId83"/>
    <p:sldId id="462" r:id="rId84"/>
    <p:sldId id="463" r:id="rId85"/>
    <p:sldId id="464" r:id="rId86"/>
    <p:sldId id="465" r:id="rId87"/>
    <p:sldId id="466" r:id="rId88"/>
    <p:sldId id="467" r:id="rId89"/>
    <p:sldId id="468" r:id="rId90"/>
    <p:sldId id="470" r:id="rId91"/>
    <p:sldId id="471" r:id="rId92"/>
    <p:sldId id="622" r:id="rId93"/>
    <p:sldId id="474" r:id="rId94"/>
    <p:sldId id="475" r:id="rId95"/>
    <p:sldId id="476" r:id="rId96"/>
    <p:sldId id="616" r:id="rId97"/>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SAIL" id="{DEF052B9-17C8-4910-A818-D07E12ADB782}">
          <p14:sldIdLst>
            <p14:sldId id="615"/>
            <p14:sldId id="378"/>
            <p14:sldId id="624"/>
            <p14:sldId id="379"/>
            <p14:sldId id="380"/>
            <p14:sldId id="382"/>
            <p14:sldId id="383"/>
            <p14:sldId id="384"/>
            <p14:sldId id="385"/>
            <p14:sldId id="386"/>
            <p14:sldId id="387"/>
            <p14:sldId id="388"/>
            <p14:sldId id="389"/>
            <p14:sldId id="390"/>
            <p14:sldId id="391"/>
            <p14:sldId id="392"/>
            <p14:sldId id="393"/>
            <p14:sldId id="625"/>
            <p14:sldId id="394"/>
            <p14:sldId id="395"/>
            <p14:sldId id="396"/>
            <p14:sldId id="397"/>
            <p14:sldId id="398"/>
            <p14:sldId id="399"/>
            <p14:sldId id="617"/>
            <p14:sldId id="618"/>
            <p14:sldId id="619"/>
            <p14:sldId id="400"/>
            <p14:sldId id="402"/>
            <p14:sldId id="623"/>
            <p14:sldId id="403"/>
            <p14:sldId id="620"/>
            <p14:sldId id="621"/>
            <p14:sldId id="405"/>
            <p14:sldId id="406"/>
            <p14:sldId id="407"/>
            <p14:sldId id="408"/>
            <p14:sldId id="409"/>
            <p14:sldId id="410"/>
            <p14:sldId id="411"/>
            <p14:sldId id="412"/>
            <p14:sldId id="413"/>
            <p14:sldId id="414"/>
            <p14:sldId id="415"/>
            <p14:sldId id="416"/>
            <p14:sldId id="417"/>
            <p14:sldId id="418"/>
            <p14:sldId id="419"/>
            <p14:sldId id="421"/>
            <p14:sldId id="422"/>
            <p14:sldId id="423"/>
            <p14:sldId id="424"/>
            <p14:sldId id="425"/>
            <p14:sldId id="426"/>
            <p14:sldId id="428"/>
            <p14:sldId id="429"/>
            <p14:sldId id="430"/>
            <p14:sldId id="431"/>
            <p14:sldId id="432"/>
            <p14:sldId id="433"/>
            <p14:sldId id="440"/>
            <p14:sldId id="441"/>
            <p14:sldId id="442"/>
            <p14:sldId id="443"/>
            <p14:sldId id="444"/>
            <p14:sldId id="445"/>
            <p14:sldId id="446"/>
            <p14:sldId id="447"/>
            <p14:sldId id="448"/>
            <p14:sldId id="449"/>
            <p14:sldId id="450"/>
            <p14:sldId id="451"/>
            <p14:sldId id="452"/>
            <p14:sldId id="453"/>
            <p14:sldId id="454"/>
            <p14:sldId id="455"/>
            <p14:sldId id="456"/>
            <p14:sldId id="457"/>
            <p14:sldId id="458"/>
            <p14:sldId id="459"/>
            <p14:sldId id="460"/>
            <p14:sldId id="461"/>
            <p14:sldId id="462"/>
            <p14:sldId id="463"/>
            <p14:sldId id="464"/>
            <p14:sldId id="465"/>
            <p14:sldId id="466"/>
            <p14:sldId id="467"/>
            <p14:sldId id="468"/>
            <p14:sldId id="470"/>
            <p14:sldId id="471"/>
            <p14:sldId id="622"/>
            <p14:sldId id="474"/>
            <p14:sldId id="475"/>
            <p14:sldId id="476"/>
            <p14:sldId id="616"/>
          </p14:sldIdLst>
        </p14:section>
      </p14:sectionLst>
    </p:ext>
    <p:ext uri="{EFAFB233-063F-42B5-8137-9DF3F51BA10A}">
      <p15:sldGuideLst xmlns:p15="http://schemas.microsoft.com/office/powerpoint/2012/main" xmlns="">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8364" autoAdjust="0"/>
  </p:normalViewPr>
  <p:slideViewPr>
    <p:cSldViewPr snapToGrid="0">
      <p:cViewPr varScale="1">
        <p:scale>
          <a:sx n="74" d="100"/>
          <a:sy n="74" d="100"/>
        </p:scale>
        <p:origin x="-1680" y="-77"/>
      </p:cViewPr>
      <p:guideLst>
        <p:guide orient="horz" pos="2160"/>
        <p:guide pos="2880"/>
      </p:guideLst>
    </p:cSldViewPr>
  </p:slideViewPr>
  <p:notesTextViewPr>
    <p:cViewPr>
      <p:scale>
        <a:sx n="3" d="2"/>
        <a:sy n="3" d="2"/>
      </p:scale>
      <p:origin x="0" y="0"/>
    </p:cViewPr>
  </p:notesTextViewPr>
  <p:sorterViewPr>
    <p:cViewPr>
      <p:scale>
        <a:sx n="66" d="100"/>
        <a:sy n="66" d="100"/>
      </p:scale>
      <p:origin x="0" y="8381"/>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97" Type="http://schemas.openxmlformats.org/officeDocument/2006/relationships/slide" Target="slides/slide9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59AACC-A0F4-4676-A921-B1FA61C94777}" type="datetimeFigureOut">
              <a:rPr lang="zh-TW" altLang="en-US" smtClean="0"/>
              <a:pPr/>
              <a:t>2015/3/30</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F21AA25-6FBA-4D70-9A83-A4494620F701}" type="slidenum">
              <a:rPr lang="zh-TW" altLang="en-US" smtClean="0"/>
              <a:pPr/>
              <a:t>‹#›</a:t>
            </a:fld>
            <a:endParaRPr lang="zh-TW" altLang="en-US"/>
          </a:p>
        </p:txBody>
      </p:sp>
    </p:spTree>
    <p:extLst>
      <p:ext uri="{BB962C8B-B14F-4D97-AF65-F5344CB8AC3E}">
        <p14:creationId xmlns:p14="http://schemas.microsoft.com/office/powerpoint/2010/main" val="34089831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1143000" y="685800"/>
            <a:ext cx="4572000" cy="3429000"/>
          </a:xfrm>
        </p:spPr>
      </p:sp>
      <p:sp>
        <p:nvSpPr>
          <p:cNvPr id="3" name="備忘稿版面配置區 2"/>
          <p:cNvSpPr>
            <a:spLocks noGrp="1"/>
          </p:cNvSpPr>
          <p:nvPr>
            <p:ph type="body" idx="1"/>
          </p:nvPr>
        </p:nvSpPr>
        <p:spPr/>
        <p:txBody>
          <a:bodyPr/>
          <a:lstStyle/>
          <a:p>
            <a:endParaRPr lang="zh-TW" altLang="en-US"/>
          </a:p>
        </p:txBody>
      </p:sp>
      <p:sp>
        <p:nvSpPr>
          <p:cNvPr id="4" name="頁尾版面配置區 3"/>
          <p:cNvSpPr>
            <a:spLocks noGrp="1"/>
          </p:cNvSpPr>
          <p:nvPr>
            <p:ph type="ftr" sz="quarter" idx="10"/>
          </p:nvPr>
        </p:nvSpPr>
        <p:spPr/>
        <p:txBody>
          <a:bodyPr/>
          <a:lstStyle/>
          <a:p>
            <a:pPr>
              <a:defRPr/>
            </a:pPr>
            <a:r>
              <a:rPr lang="en-US" altLang="zh-TW" smtClean="0">
                <a:solidFill>
                  <a:prstClr val="black"/>
                </a:solidFill>
              </a:rPr>
              <a:t>00000</a:t>
            </a:r>
            <a:endParaRPr lang="en-US" altLang="zh-TW">
              <a:solidFill>
                <a:prstClr val="black"/>
              </a:solidFill>
            </a:endParaRPr>
          </a:p>
        </p:txBody>
      </p:sp>
      <p:sp>
        <p:nvSpPr>
          <p:cNvPr id="5" name="投影片編號版面配置區 4"/>
          <p:cNvSpPr>
            <a:spLocks noGrp="1"/>
          </p:cNvSpPr>
          <p:nvPr>
            <p:ph type="sldNum" sz="quarter" idx="11"/>
          </p:nvPr>
        </p:nvSpPr>
        <p:spPr/>
        <p:txBody>
          <a:bodyPr/>
          <a:lstStyle/>
          <a:p>
            <a:pPr>
              <a:defRPr/>
            </a:pPr>
            <a:fld id="{EF1E5AC7-D120-4B34-8768-388EC9206878}" type="slidenum">
              <a:rPr lang="en-US" altLang="zh-TW" smtClean="0">
                <a:solidFill>
                  <a:prstClr val="black"/>
                </a:solidFill>
              </a:rPr>
              <a:pPr>
                <a:defRPr/>
              </a:pPr>
              <a:t>1</a:t>
            </a:fld>
            <a:endParaRPr lang="en-US" altLang="zh-TW" dirty="0">
              <a:solidFill>
                <a:prstClr val="black"/>
              </a:solidFill>
            </a:endParaRPr>
          </a:p>
        </p:txBody>
      </p:sp>
    </p:spTree>
    <p:extLst>
      <p:ext uri="{BB962C8B-B14F-4D97-AF65-F5344CB8AC3E}">
        <p14:creationId xmlns:p14="http://schemas.microsoft.com/office/powerpoint/2010/main" val="40812796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1143000" y="685800"/>
            <a:ext cx="4572000" cy="34290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032F59DB-265A-4D80-8CC3-EA345F2932D0}" type="slidenum">
              <a:rPr lang="zh-TW" altLang="en-US" smtClean="0"/>
              <a:pPr/>
              <a:t>5</a:t>
            </a:fld>
            <a:endParaRPr lang="zh-TW" altLang="en-US"/>
          </a:p>
        </p:txBody>
      </p:sp>
    </p:spTree>
    <p:extLst>
      <p:ext uri="{BB962C8B-B14F-4D97-AF65-F5344CB8AC3E}">
        <p14:creationId xmlns:p14="http://schemas.microsoft.com/office/powerpoint/2010/main" val="8329690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1143000" y="685800"/>
            <a:ext cx="4572000" cy="3429000"/>
          </a:xfrm>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032F59DB-265A-4D80-8CC3-EA345F2932D0}" type="slidenum">
              <a:rPr lang="zh-TW" altLang="en-US" smtClean="0"/>
              <a:pPr/>
              <a:t>11</a:t>
            </a:fld>
            <a:endParaRPr lang="zh-TW" altLang="en-US"/>
          </a:p>
        </p:txBody>
      </p:sp>
    </p:spTree>
    <p:extLst>
      <p:ext uri="{BB962C8B-B14F-4D97-AF65-F5344CB8AC3E}">
        <p14:creationId xmlns:p14="http://schemas.microsoft.com/office/powerpoint/2010/main" val="12037711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1143000" y="685800"/>
            <a:ext cx="4572000" cy="3429000"/>
          </a:xfrm>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032F59DB-265A-4D80-8CC3-EA345F2932D0}" type="slidenum">
              <a:rPr lang="zh-TW" altLang="en-US" smtClean="0"/>
              <a:pPr/>
              <a:t>21</a:t>
            </a:fld>
            <a:endParaRPr lang="zh-TW" altLang="en-US"/>
          </a:p>
        </p:txBody>
      </p:sp>
    </p:spTree>
    <p:extLst>
      <p:ext uri="{BB962C8B-B14F-4D97-AF65-F5344CB8AC3E}">
        <p14:creationId xmlns:p14="http://schemas.microsoft.com/office/powerpoint/2010/main" val="18939270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bodyPr>
          <a:lstStyle>
            <a:lvl1pPr>
              <a:defRPr lang="zh-TW" altLang="en-US" dirty="0"/>
            </a:lvl1pPr>
          </a:lstStyle>
          <a:p>
            <a:pPr lvl="0"/>
            <a:r>
              <a:rPr lang="zh-TW" altLang="en-US" smtClean="0"/>
              <a:t>按一下以編輯母片標題樣式</a:t>
            </a:r>
            <a:endParaRPr lang="zh-TW" altLang="en-US" dirty="0"/>
          </a:p>
        </p:txBody>
      </p:sp>
      <p:sp>
        <p:nvSpPr>
          <p:cNvPr id="3" name="內容版面配置區 2"/>
          <p:cNvSpPr>
            <a:spLocks noGrp="1"/>
          </p:cNvSpPr>
          <p:nvPr>
            <p:ph idx="1"/>
          </p:nvPr>
        </p:nvSpPr>
        <p:spPr/>
        <p:txBody>
          <a:bodyPr/>
          <a:lstStyle>
            <a:lvl3pPr>
              <a:defRPr sz="1500">
                <a:latin typeface="Calibri" pitchFamily="34" charset="0"/>
                <a:ea typeface="標楷體" pitchFamily="65" charset="-120"/>
                <a:cs typeface="Calibri" pitchFamily="34" charset="0"/>
              </a:defRPr>
            </a:lvl3pPr>
            <a:lvl4pPr>
              <a:defRPr sz="1350">
                <a:latin typeface="Calibri" pitchFamily="34" charset="0"/>
                <a:ea typeface="標楷體" pitchFamily="65" charset="-120"/>
                <a:cs typeface="Calibri" pitchFamily="34" charset="0"/>
              </a:defRPr>
            </a:lvl4pPr>
            <a:lvl5pPr>
              <a:defRPr sz="1350">
                <a:latin typeface="Calibri" pitchFamily="34" charset="0"/>
                <a:ea typeface="標楷體" pitchFamily="65" charset="-120"/>
                <a:cs typeface="Calibri" pitchFamily="34" charset="0"/>
              </a:defRPr>
            </a:lvl5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dirty="0"/>
          </a:p>
        </p:txBody>
      </p:sp>
      <p:sp>
        <p:nvSpPr>
          <p:cNvPr id="4" name="Rectangle 19"/>
          <p:cNvSpPr>
            <a:spLocks noGrp="1" noChangeArrowheads="1"/>
          </p:cNvSpPr>
          <p:nvPr>
            <p:ph type="sldNum" sz="quarter" idx="10"/>
          </p:nvPr>
        </p:nvSpPr>
        <p:spPr>
          <a:ln/>
        </p:spPr>
        <p:txBody>
          <a:bodyPr/>
          <a:lstStyle>
            <a:lvl1pPr>
              <a:defRPr/>
            </a:lvl1pPr>
          </a:lstStyle>
          <a:p>
            <a:fld id="{557A4102-9134-4DE4-89E3-9E7F1698ADF0}" type="slidenum">
              <a:rPr lang="zh-TW" altLang="en-US" smtClean="0"/>
              <a:pPr/>
              <a:t>‹#›</a:t>
            </a:fld>
            <a:endParaRPr lang="zh-TW" altLang="en-US"/>
          </a:p>
        </p:txBody>
      </p:sp>
    </p:spTree>
    <p:extLst>
      <p:ext uri="{BB962C8B-B14F-4D97-AF65-F5344CB8AC3E}">
        <p14:creationId xmlns:p14="http://schemas.microsoft.com/office/powerpoint/2010/main" val="32249455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2"/>
            <a:ext cx="7772400" cy="1362075"/>
          </a:xfrm>
        </p:spPr>
        <p:txBody>
          <a:bodyPr anchor="t"/>
          <a:lstStyle>
            <a:lvl1pPr algn="l">
              <a:defRPr sz="3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TW" altLang="en-US" smtClean="0"/>
              <a:t>按一下以編輯母片文字樣式</a:t>
            </a:r>
          </a:p>
        </p:txBody>
      </p:sp>
      <p:sp>
        <p:nvSpPr>
          <p:cNvPr id="4" name="Rectangle 19"/>
          <p:cNvSpPr>
            <a:spLocks noGrp="1" noChangeArrowheads="1"/>
          </p:cNvSpPr>
          <p:nvPr>
            <p:ph type="sldNum" sz="quarter" idx="10"/>
          </p:nvPr>
        </p:nvSpPr>
        <p:spPr>
          <a:ln/>
        </p:spPr>
        <p:txBody>
          <a:bodyPr/>
          <a:lstStyle>
            <a:lvl1pPr>
              <a:defRPr sz="1050" baseline="0">
                <a:solidFill>
                  <a:schemeClr val="bg1"/>
                </a:solidFill>
              </a:defRPr>
            </a:lvl1pPr>
          </a:lstStyle>
          <a:p>
            <a:fld id="{557A4102-9134-4DE4-89E3-9E7F1698ADF0}" type="slidenum">
              <a:rPr lang="zh-TW" altLang="en-US" smtClean="0"/>
              <a:pPr/>
              <a:t>‹#›</a:t>
            </a:fld>
            <a:endParaRPr lang="zh-TW" altLang="en-US" dirty="0"/>
          </a:p>
        </p:txBody>
      </p:sp>
    </p:spTree>
    <p:extLst>
      <p:ext uri="{BB962C8B-B14F-4D97-AF65-F5344CB8AC3E}">
        <p14:creationId xmlns:p14="http://schemas.microsoft.com/office/powerpoint/2010/main" val="18691402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125538"/>
            <a:ext cx="4038600" cy="6477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125538"/>
            <a:ext cx="4038600" cy="6477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Rectangle 19"/>
          <p:cNvSpPr>
            <a:spLocks noGrp="1" noChangeArrowheads="1"/>
          </p:cNvSpPr>
          <p:nvPr>
            <p:ph type="sldNum" sz="quarter" idx="10"/>
          </p:nvPr>
        </p:nvSpPr>
        <p:spPr>
          <a:ln/>
        </p:spPr>
        <p:txBody>
          <a:bodyPr/>
          <a:lstStyle>
            <a:lvl1pPr>
              <a:defRPr/>
            </a:lvl1pPr>
          </a:lstStyle>
          <a:p>
            <a:fld id="{557A4102-9134-4DE4-89E3-9E7F1698ADF0}" type="slidenum">
              <a:rPr lang="zh-TW" altLang="en-US" smtClean="0"/>
              <a:pPr/>
              <a:t>‹#›</a:t>
            </a:fld>
            <a:endParaRPr lang="zh-TW" altLang="en-US"/>
          </a:p>
        </p:txBody>
      </p:sp>
    </p:spTree>
    <p:extLst>
      <p:ext uri="{BB962C8B-B14F-4D97-AF65-F5344CB8AC3E}">
        <p14:creationId xmlns:p14="http://schemas.microsoft.com/office/powerpoint/2010/main" val="30665404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41955"/>
            <a:ext cx="8229600" cy="1143000"/>
          </a:xfrm>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Rectangle 19"/>
          <p:cNvSpPr>
            <a:spLocks noGrp="1" noChangeArrowheads="1"/>
          </p:cNvSpPr>
          <p:nvPr>
            <p:ph type="sldNum" sz="quarter" idx="10"/>
          </p:nvPr>
        </p:nvSpPr>
        <p:spPr>
          <a:ln/>
        </p:spPr>
        <p:txBody>
          <a:bodyPr/>
          <a:lstStyle>
            <a:lvl1pPr>
              <a:defRPr/>
            </a:lvl1pPr>
          </a:lstStyle>
          <a:p>
            <a:fld id="{557A4102-9134-4DE4-89E3-9E7F1698ADF0}" type="slidenum">
              <a:rPr lang="zh-TW" altLang="en-US" smtClean="0"/>
              <a:pPr/>
              <a:t>‹#›</a:t>
            </a:fld>
            <a:endParaRPr lang="zh-TW" altLang="en-US"/>
          </a:p>
        </p:txBody>
      </p:sp>
    </p:spTree>
    <p:extLst>
      <p:ext uri="{BB962C8B-B14F-4D97-AF65-F5344CB8AC3E}">
        <p14:creationId xmlns:p14="http://schemas.microsoft.com/office/powerpoint/2010/main" val="16298635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按一下以編輯母片標題樣式</a:t>
            </a:r>
            <a:endParaRPr lang="zh-TW" altLang="en-US" dirty="0"/>
          </a:p>
        </p:txBody>
      </p:sp>
      <p:sp>
        <p:nvSpPr>
          <p:cNvPr id="3" name="Rectangle 19"/>
          <p:cNvSpPr>
            <a:spLocks noGrp="1" noChangeArrowheads="1"/>
          </p:cNvSpPr>
          <p:nvPr>
            <p:ph type="sldNum" sz="quarter" idx="10"/>
          </p:nvPr>
        </p:nvSpPr>
        <p:spPr>
          <a:ln/>
        </p:spPr>
        <p:txBody>
          <a:bodyPr/>
          <a:lstStyle>
            <a:lvl1pPr>
              <a:defRPr/>
            </a:lvl1pPr>
          </a:lstStyle>
          <a:p>
            <a:fld id="{557A4102-9134-4DE4-89E3-9E7F1698ADF0}" type="slidenum">
              <a:rPr lang="zh-TW" altLang="en-US" smtClean="0"/>
              <a:pPr/>
              <a:t>‹#›</a:t>
            </a:fld>
            <a:endParaRPr lang="zh-TW" altLang="en-US"/>
          </a:p>
        </p:txBody>
      </p:sp>
    </p:spTree>
    <p:extLst>
      <p:ext uri="{BB962C8B-B14F-4D97-AF65-F5344CB8AC3E}">
        <p14:creationId xmlns:p14="http://schemas.microsoft.com/office/powerpoint/2010/main" val="3999087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a:ln/>
        </p:spPr>
        <p:txBody>
          <a:bodyPr/>
          <a:lstStyle>
            <a:lvl1pPr>
              <a:defRPr/>
            </a:lvl1pPr>
          </a:lstStyle>
          <a:p>
            <a:fld id="{557A4102-9134-4DE4-89E3-9E7F1698ADF0}" type="slidenum">
              <a:rPr lang="zh-TW" altLang="en-US" smtClean="0"/>
              <a:pPr/>
              <a:t>‹#›</a:t>
            </a:fld>
            <a:endParaRPr lang="zh-TW" altLang="en-US"/>
          </a:p>
        </p:txBody>
      </p:sp>
    </p:spTree>
    <p:extLst>
      <p:ext uri="{BB962C8B-B14F-4D97-AF65-F5344CB8AC3E}">
        <p14:creationId xmlns:p14="http://schemas.microsoft.com/office/powerpoint/2010/main" val="750530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1" y="273050"/>
            <a:ext cx="3008313" cy="1162050"/>
          </a:xfrm>
        </p:spPr>
        <p:txBody>
          <a:bodyPr anchor="b"/>
          <a:lstStyle>
            <a:lvl1pPr algn="l">
              <a:defRPr sz="15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TW" altLang="en-US" smtClean="0"/>
              <a:t>按一下以編輯母片文字樣式</a:t>
            </a:r>
          </a:p>
        </p:txBody>
      </p:sp>
      <p:sp>
        <p:nvSpPr>
          <p:cNvPr id="5" name="Rectangle 19"/>
          <p:cNvSpPr>
            <a:spLocks noGrp="1" noChangeArrowheads="1"/>
          </p:cNvSpPr>
          <p:nvPr>
            <p:ph type="sldNum" sz="quarter" idx="10"/>
          </p:nvPr>
        </p:nvSpPr>
        <p:spPr>
          <a:ln/>
        </p:spPr>
        <p:txBody>
          <a:bodyPr/>
          <a:lstStyle>
            <a:lvl1pPr>
              <a:defRPr/>
            </a:lvl1pPr>
          </a:lstStyle>
          <a:p>
            <a:fld id="{557A4102-9134-4DE4-89E3-9E7F1698ADF0}" type="slidenum">
              <a:rPr lang="zh-TW" altLang="en-US" smtClean="0"/>
              <a:pPr/>
              <a:t>‹#›</a:t>
            </a:fld>
            <a:endParaRPr lang="zh-TW" altLang="en-US"/>
          </a:p>
        </p:txBody>
      </p:sp>
    </p:spTree>
    <p:extLst>
      <p:ext uri="{BB962C8B-B14F-4D97-AF65-F5344CB8AC3E}">
        <p14:creationId xmlns:p14="http://schemas.microsoft.com/office/powerpoint/2010/main" val="35492036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15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zh-TW" altLang="en-US" noProof="0" smtClean="0"/>
              <a:t>按一下圖示以新增圖片</a:t>
            </a:r>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TW" altLang="en-US" smtClean="0"/>
              <a:t>按一下以編輯母片文字樣式</a:t>
            </a:r>
          </a:p>
        </p:txBody>
      </p:sp>
      <p:sp>
        <p:nvSpPr>
          <p:cNvPr id="5" name="Rectangle 19"/>
          <p:cNvSpPr>
            <a:spLocks noGrp="1" noChangeArrowheads="1"/>
          </p:cNvSpPr>
          <p:nvPr>
            <p:ph type="sldNum" sz="quarter" idx="10"/>
          </p:nvPr>
        </p:nvSpPr>
        <p:spPr>
          <a:ln/>
        </p:spPr>
        <p:txBody>
          <a:bodyPr/>
          <a:lstStyle>
            <a:lvl1pPr>
              <a:defRPr/>
            </a:lvl1pPr>
          </a:lstStyle>
          <a:p>
            <a:fld id="{557A4102-9134-4DE4-89E3-9E7F1698ADF0}" type="slidenum">
              <a:rPr lang="zh-TW" altLang="en-US" smtClean="0"/>
              <a:pPr/>
              <a:t>‹#›</a:t>
            </a:fld>
            <a:endParaRPr lang="zh-TW" altLang="en-US"/>
          </a:p>
        </p:txBody>
      </p:sp>
    </p:spTree>
    <p:extLst>
      <p:ext uri="{BB962C8B-B14F-4D97-AF65-F5344CB8AC3E}">
        <p14:creationId xmlns:p14="http://schemas.microsoft.com/office/powerpoint/2010/main" val="5357841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557A4102-9134-4DE4-89E3-9E7F1698ADF0}" type="slidenum">
              <a:rPr lang="zh-TW" altLang="en-US" smtClean="0"/>
              <a:pPr/>
              <a:t>‹#›</a:t>
            </a:fld>
            <a:endParaRPr lang="zh-TW" altLang="en-US"/>
          </a:p>
        </p:txBody>
      </p:sp>
    </p:spTree>
    <p:extLst>
      <p:ext uri="{BB962C8B-B14F-4D97-AF65-F5344CB8AC3E}">
        <p14:creationId xmlns:p14="http://schemas.microsoft.com/office/powerpoint/2010/main" val="37822082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73027"/>
            <a:ext cx="2057400" cy="1700213"/>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73027"/>
            <a:ext cx="6019800" cy="1700213"/>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557A4102-9134-4DE4-89E3-9E7F1698ADF0}" type="slidenum">
              <a:rPr lang="zh-TW" altLang="en-US" smtClean="0"/>
              <a:pPr/>
              <a:t>‹#›</a:t>
            </a:fld>
            <a:endParaRPr lang="zh-TW" altLang="en-US"/>
          </a:p>
        </p:txBody>
      </p:sp>
    </p:spTree>
    <p:extLst>
      <p:ext uri="{BB962C8B-B14F-4D97-AF65-F5344CB8AC3E}">
        <p14:creationId xmlns:p14="http://schemas.microsoft.com/office/powerpoint/2010/main" val="32971806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457200" y="73027"/>
            <a:ext cx="8229600" cy="1700213"/>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557A4102-9134-4DE4-89E3-9E7F1698ADF0}" type="slidenum">
              <a:rPr lang="zh-TW" altLang="en-US" smtClean="0"/>
              <a:pPr/>
              <a:t>‹#›</a:t>
            </a:fld>
            <a:endParaRPr lang="zh-TW" altLang="en-US"/>
          </a:p>
        </p:txBody>
      </p:sp>
    </p:spTree>
    <p:extLst>
      <p:ext uri="{BB962C8B-B14F-4D97-AF65-F5344CB8AC3E}">
        <p14:creationId xmlns:p14="http://schemas.microsoft.com/office/powerpoint/2010/main" val="82159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標題及表格">
    <p:spTree>
      <p:nvGrpSpPr>
        <p:cNvPr id="1" name=""/>
        <p:cNvGrpSpPr/>
        <p:nvPr/>
      </p:nvGrpSpPr>
      <p:grpSpPr>
        <a:xfrm>
          <a:off x="0" y="0"/>
          <a:ext cx="0" cy="0"/>
          <a:chOff x="0" y="0"/>
          <a:chExt cx="0" cy="0"/>
        </a:xfrm>
      </p:grpSpPr>
      <p:sp>
        <p:nvSpPr>
          <p:cNvPr id="2" name="標題 1"/>
          <p:cNvSpPr>
            <a:spLocks noGrp="1"/>
          </p:cNvSpPr>
          <p:nvPr>
            <p:ph type="title"/>
          </p:nvPr>
        </p:nvSpPr>
        <p:spPr>
          <a:xfrm>
            <a:off x="468313" y="73025"/>
            <a:ext cx="4852760" cy="692150"/>
          </a:xfrm>
        </p:spPr>
        <p:txBody>
          <a:bodyPr/>
          <a:lstStyle/>
          <a:p>
            <a:r>
              <a:rPr lang="zh-TW" altLang="en-US" smtClean="0"/>
              <a:t>按一下以編輯母片標題樣式</a:t>
            </a:r>
            <a:endParaRPr lang="zh-TW" altLang="en-US"/>
          </a:p>
        </p:txBody>
      </p:sp>
      <p:sp>
        <p:nvSpPr>
          <p:cNvPr id="3" name="表格版面配置區 2"/>
          <p:cNvSpPr>
            <a:spLocks noGrp="1"/>
          </p:cNvSpPr>
          <p:nvPr>
            <p:ph type="tbl" idx="1"/>
          </p:nvPr>
        </p:nvSpPr>
        <p:spPr>
          <a:xfrm>
            <a:off x="457200" y="1125538"/>
            <a:ext cx="8229600" cy="647700"/>
          </a:xfrm>
        </p:spPr>
        <p:txBody>
          <a:bodyPr/>
          <a:lstStyle/>
          <a:p>
            <a:pPr lvl="0"/>
            <a:r>
              <a:rPr lang="zh-TW" altLang="en-US" noProof="0" smtClean="0"/>
              <a:t>按一下圖示以新增表格</a:t>
            </a:r>
          </a:p>
        </p:txBody>
      </p:sp>
      <p:sp>
        <p:nvSpPr>
          <p:cNvPr id="4" name="Rectangle 19"/>
          <p:cNvSpPr>
            <a:spLocks noGrp="1" noChangeArrowheads="1"/>
          </p:cNvSpPr>
          <p:nvPr>
            <p:ph type="sldNum" sz="quarter" idx="10"/>
          </p:nvPr>
        </p:nvSpPr>
        <p:spPr>
          <a:ln/>
        </p:spPr>
        <p:txBody>
          <a:bodyPr/>
          <a:lstStyle>
            <a:lvl1pPr>
              <a:defRPr/>
            </a:lvl1pPr>
          </a:lstStyle>
          <a:p>
            <a:fld id="{557A4102-9134-4DE4-89E3-9E7F1698ADF0}" type="slidenum">
              <a:rPr lang="zh-TW" altLang="en-US" smtClean="0"/>
              <a:pPr/>
              <a:t>‹#›</a:t>
            </a:fld>
            <a:endParaRPr lang="zh-TW" altLang="en-US"/>
          </a:p>
        </p:txBody>
      </p:sp>
    </p:spTree>
    <p:extLst>
      <p:ext uri="{BB962C8B-B14F-4D97-AF65-F5344CB8AC3E}">
        <p14:creationId xmlns:p14="http://schemas.microsoft.com/office/powerpoint/2010/main" val="33880955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7"/>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TW" altLang="en-US" smtClean="0"/>
              <a:t>按一下以編輯母片副標題樣式</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557A4102-9134-4DE4-89E3-9E7F1698ADF0}" type="slidenum">
              <a:rPr lang="zh-TW" altLang="en-US" smtClean="0"/>
              <a:pPr/>
              <a:t>‹#›</a:t>
            </a:fld>
            <a:endParaRPr lang="zh-TW" altLang="en-US"/>
          </a:p>
        </p:txBody>
      </p:sp>
    </p:spTree>
    <p:extLst>
      <p:ext uri="{BB962C8B-B14F-4D97-AF65-F5344CB8AC3E}">
        <p14:creationId xmlns:p14="http://schemas.microsoft.com/office/powerpoint/2010/main" val="12570549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4.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emf"/><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wmf"/><Relationship Id="rId10" Type="http://schemas.openxmlformats.org/officeDocument/2006/relationships/slideLayout" Target="../slideLayouts/slideLayout10.xml"/><Relationship Id="rId19" Type="http://schemas.openxmlformats.org/officeDocument/2006/relationships/image" Target="../media/image5.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11" descr="清大LOGO(鳥)"/>
          <p:cNvPicPr>
            <a:picLocks noChangeAspect="1" noChangeArrowheads="1"/>
          </p:cNvPicPr>
          <p:nvPr/>
        </p:nvPicPr>
        <p:blipFill>
          <a:blip r:embed="rId15" cstate="print">
            <a:lum bright="70000" contrast="-70000"/>
          </a:blip>
          <a:srcRect/>
          <a:stretch>
            <a:fillRect/>
          </a:stretch>
        </p:blipFill>
        <p:spPr bwMode="auto">
          <a:xfrm>
            <a:off x="0" y="30163"/>
            <a:ext cx="1619250" cy="806450"/>
          </a:xfrm>
          <a:prstGeom prst="rect">
            <a:avLst/>
          </a:prstGeom>
          <a:noFill/>
          <a:ln w="9525">
            <a:noFill/>
            <a:miter lim="800000"/>
            <a:headEnd/>
            <a:tailEnd/>
          </a:ln>
        </p:spPr>
      </p:pic>
      <p:sp>
        <p:nvSpPr>
          <p:cNvPr id="1027" name="Rectangle 17"/>
          <p:cNvSpPr>
            <a:spLocks noGrp="1" noChangeArrowheads="1"/>
          </p:cNvSpPr>
          <p:nvPr>
            <p:ph type="title"/>
          </p:nvPr>
        </p:nvSpPr>
        <p:spPr bwMode="auto">
          <a:xfrm>
            <a:off x="468314" y="144463"/>
            <a:ext cx="8207375" cy="6921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smtClean="0"/>
              <a:t>按一下以編輯母片標題樣式</a:t>
            </a:r>
          </a:p>
        </p:txBody>
      </p:sp>
      <p:sp>
        <p:nvSpPr>
          <p:cNvPr id="1028" name="Rectangle 18"/>
          <p:cNvSpPr>
            <a:spLocks noGrp="1" noChangeArrowheads="1"/>
          </p:cNvSpPr>
          <p:nvPr>
            <p:ph type="body" idx="1"/>
          </p:nvPr>
        </p:nvSpPr>
        <p:spPr bwMode="auto">
          <a:xfrm>
            <a:off x="457200" y="1125538"/>
            <a:ext cx="8229600" cy="48958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smtClean="0"/>
              <a:t>按一下以編輯母片</a:t>
            </a:r>
          </a:p>
          <a:p>
            <a:pPr lvl="1"/>
            <a:r>
              <a:rPr lang="zh-TW" altLang="en-US" smtClean="0"/>
              <a:t>按一下以編輯母片</a:t>
            </a:r>
          </a:p>
          <a:p>
            <a:pPr lvl="1"/>
            <a:endParaRPr lang="zh-TW" altLang="en-US" smtClean="0"/>
          </a:p>
          <a:p>
            <a:pPr lvl="0"/>
            <a:endParaRPr lang="en-US" altLang="zh-TW" smtClean="0"/>
          </a:p>
        </p:txBody>
      </p:sp>
      <p:pic>
        <p:nvPicPr>
          <p:cNvPr id="1029" name="Picture 25" descr="name"/>
          <p:cNvPicPr>
            <a:picLocks noChangeAspect="1" noChangeArrowheads="1"/>
          </p:cNvPicPr>
          <p:nvPr/>
        </p:nvPicPr>
        <p:blipFill>
          <a:blip r:embed="rId16" cstate="print"/>
          <a:srcRect/>
          <a:stretch>
            <a:fillRect/>
          </a:stretch>
        </p:blipFill>
        <p:spPr bwMode="auto">
          <a:xfrm>
            <a:off x="1" y="6357940"/>
            <a:ext cx="3833813" cy="198437"/>
          </a:xfrm>
          <a:prstGeom prst="rect">
            <a:avLst/>
          </a:prstGeom>
          <a:noFill/>
          <a:ln w="9525">
            <a:noFill/>
            <a:miter lim="800000"/>
            <a:headEnd/>
            <a:tailEnd/>
          </a:ln>
        </p:spPr>
      </p:pic>
      <p:sp>
        <p:nvSpPr>
          <p:cNvPr id="8" name="矩形 7"/>
          <p:cNvSpPr/>
          <p:nvPr/>
        </p:nvSpPr>
        <p:spPr>
          <a:xfrm>
            <a:off x="569245" y="6581776"/>
            <a:ext cx="2731838" cy="230832"/>
          </a:xfrm>
          <a:prstGeom prst="rect">
            <a:avLst/>
          </a:prstGeom>
        </p:spPr>
        <p:txBody>
          <a:bodyPr wrap="none">
            <a:spAutoFit/>
          </a:bodyPr>
          <a:lstStyle/>
          <a:p>
            <a:pPr algn="ctr">
              <a:defRPr/>
            </a:pPr>
            <a:r>
              <a:rPr lang="en-US" sz="900" b="1" dirty="0">
                <a:solidFill>
                  <a:schemeClr val="bg1"/>
                </a:solidFill>
                <a:latin typeface="Arial" pitchFamily="34" charset="0"/>
                <a:ea typeface="新細明體" pitchFamily="18" charset="-120"/>
                <a:cs typeface="Arial" pitchFamily="34" charset="0"/>
              </a:rPr>
              <a:t>National Tsing Hua University ® copyright OIA</a:t>
            </a:r>
            <a:endParaRPr lang="zh-TW" altLang="en-US" sz="900" b="1" dirty="0">
              <a:solidFill>
                <a:schemeClr val="bg1"/>
              </a:solidFill>
              <a:latin typeface="Arial" pitchFamily="34" charset="0"/>
              <a:ea typeface="新細明體" pitchFamily="18" charset="-120"/>
              <a:cs typeface="Arial" pitchFamily="34" charset="0"/>
            </a:endParaRPr>
          </a:p>
        </p:txBody>
      </p:sp>
      <p:sp>
        <p:nvSpPr>
          <p:cNvPr id="4105" name="Rectangle 9"/>
          <p:cNvSpPr>
            <a:spLocks noChangeArrowheads="1"/>
          </p:cNvSpPr>
          <p:nvPr/>
        </p:nvSpPr>
        <p:spPr bwMode="auto">
          <a:xfrm>
            <a:off x="0" y="908051"/>
            <a:ext cx="9144000" cy="144463"/>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350">
              <a:ea typeface="新細明體" pitchFamily="18" charset="-120"/>
            </a:endParaRPr>
          </a:p>
        </p:txBody>
      </p:sp>
      <p:sp>
        <p:nvSpPr>
          <p:cNvPr id="4106" name="Rectangle 10"/>
          <p:cNvSpPr>
            <a:spLocks noChangeArrowheads="1"/>
          </p:cNvSpPr>
          <p:nvPr/>
        </p:nvSpPr>
        <p:spPr bwMode="auto">
          <a:xfrm>
            <a:off x="0" y="6165850"/>
            <a:ext cx="9144000" cy="719138"/>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350">
              <a:ea typeface="新細明體" pitchFamily="18" charset="-120"/>
            </a:endParaRPr>
          </a:p>
        </p:txBody>
      </p:sp>
      <p:sp>
        <p:nvSpPr>
          <p:cNvPr id="1043" name="Rectangle 19"/>
          <p:cNvSpPr>
            <a:spLocks noGrp="1" noChangeArrowheads="1"/>
          </p:cNvSpPr>
          <p:nvPr>
            <p:ph type="sldNum" sz="quarter" idx="4"/>
          </p:nvPr>
        </p:nvSpPr>
        <p:spPr bwMode="auto">
          <a:xfrm>
            <a:off x="6831013" y="6524627"/>
            <a:ext cx="2133600"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lang="zh-TW" altLang="en-US" sz="1050" kern="1200" baseline="0" smtClean="0">
                <a:solidFill>
                  <a:schemeClr val="bg1"/>
                </a:solidFill>
                <a:latin typeface="Arial" pitchFamily="34" charset="0"/>
                <a:ea typeface="新細明體" pitchFamily="18" charset="-120"/>
                <a:cs typeface="+mn-cs"/>
              </a:defRPr>
            </a:lvl1pPr>
          </a:lstStyle>
          <a:p>
            <a:fld id="{557A4102-9134-4DE4-89E3-9E7F1698ADF0}" type="slidenum">
              <a:rPr lang="en-US" altLang="zh-TW" smtClean="0"/>
              <a:pPr/>
              <a:t>‹#›</a:t>
            </a:fld>
            <a:endParaRPr lang="en-US" dirty="0"/>
          </a:p>
        </p:txBody>
      </p:sp>
      <p:pic>
        <p:nvPicPr>
          <p:cNvPr id="1034" name="Picture 13" descr="清大LOGO(圓)"/>
          <p:cNvPicPr>
            <a:picLocks noChangeAspect="1" noChangeArrowheads="1"/>
          </p:cNvPicPr>
          <p:nvPr/>
        </p:nvPicPr>
        <p:blipFill>
          <a:blip r:embed="rId17" cstate="print"/>
          <a:srcRect/>
          <a:stretch>
            <a:fillRect/>
          </a:stretch>
        </p:blipFill>
        <p:spPr bwMode="auto">
          <a:xfrm>
            <a:off x="1" y="6181727"/>
            <a:ext cx="684213" cy="676275"/>
          </a:xfrm>
          <a:prstGeom prst="rect">
            <a:avLst/>
          </a:prstGeom>
          <a:noFill/>
          <a:ln w="9525">
            <a:noFill/>
            <a:miter lim="800000"/>
            <a:headEnd/>
            <a:tailEnd/>
          </a:ln>
        </p:spPr>
      </p:pic>
      <p:pic>
        <p:nvPicPr>
          <p:cNvPr id="1035" name="Picture 14" descr="清大書法字 "/>
          <p:cNvPicPr>
            <a:picLocks noChangeAspect="1" noChangeArrowheads="1"/>
          </p:cNvPicPr>
          <p:nvPr/>
        </p:nvPicPr>
        <p:blipFill>
          <a:blip r:embed="rId18" cstate="print"/>
          <a:srcRect/>
          <a:stretch>
            <a:fillRect/>
          </a:stretch>
        </p:blipFill>
        <p:spPr bwMode="auto">
          <a:xfrm>
            <a:off x="755651" y="6237288"/>
            <a:ext cx="2087563" cy="323850"/>
          </a:xfrm>
          <a:prstGeom prst="rect">
            <a:avLst/>
          </a:prstGeom>
          <a:noFill/>
          <a:ln w="9525">
            <a:noFill/>
            <a:miter lim="800000"/>
            <a:headEnd/>
            <a:tailEnd/>
          </a:ln>
        </p:spPr>
      </p:pic>
      <p:sp>
        <p:nvSpPr>
          <p:cNvPr id="4111" name="Text Box 15"/>
          <p:cNvSpPr txBox="1">
            <a:spLocks noChangeArrowheads="1"/>
          </p:cNvSpPr>
          <p:nvPr/>
        </p:nvSpPr>
        <p:spPr bwMode="auto">
          <a:xfrm>
            <a:off x="682626" y="6580188"/>
            <a:ext cx="1963999" cy="253916"/>
          </a:xfrm>
          <a:prstGeom prst="rect">
            <a:avLst/>
          </a:prstGeom>
          <a:noFill/>
          <a:ln w="15875">
            <a:noFill/>
            <a:miter lim="800000"/>
            <a:headEnd/>
            <a:tailEnd/>
          </a:ln>
          <a:effectLst>
            <a:prstShdw prst="shdw18" dist="17961" dir="13500000">
              <a:schemeClr val="accent1">
                <a:gamma/>
                <a:shade val="60000"/>
                <a:invGamma/>
              </a:schemeClr>
            </a:prstShdw>
          </a:effectLst>
        </p:spPr>
        <p:txBody>
          <a:bodyPr wrap="none">
            <a:spAutoFit/>
          </a:bodyPr>
          <a:lstStyle/>
          <a:p>
            <a:pPr>
              <a:defRPr/>
            </a:pPr>
            <a:r>
              <a:rPr lang="en-US" altLang="zh-TW" sz="1050" dirty="0">
                <a:solidFill>
                  <a:schemeClr val="bg1"/>
                </a:solidFill>
                <a:latin typeface="Arial" pitchFamily="34" charset="0"/>
                <a:ea typeface="新細明體" pitchFamily="18" charset="-120"/>
              </a:rPr>
              <a:t>National Tsing Hua University</a:t>
            </a:r>
          </a:p>
        </p:txBody>
      </p:sp>
      <p:pic>
        <p:nvPicPr>
          <p:cNvPr id="13" name="圖片 12"/>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7376697" y="151801"/>
            <a:ext cx="1659800" cy="684812"/>
          </a:xfrm>
          <a:prstGeom prst="rect">
            <a:avLst/>
          </a:prstGeom>
        </p:spPr>
      </p:pic>
    </p:spTree>
    <p:extLst>
      <p:ext uri="{BB962C8B-B14F-4D97-AF65-F5344CB8AC3E}">
        <p14:creationId xmlns:p14="http://schemas.microsoft.com/office/powerpoint/2010/main" val="872130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iming>
    <p:tnLst>
      <p:par>
        <p:cTn id="1" dur="indefinite" restart="never" nodeType="tmRoot"/>
      </p:par>
    </p:tnLst>
  </p:timing>
  <p:hf hdr="0" ftr="0" dt="0"/>
  <p:txStyles>
    <p:titleStyle>
      <a:lvl1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900" algn="l" rtl="0" eaLnBrk="1" fontAlgn="base" hangingPunct="1">
        <a:spcBef>
          <a:spcPct val="0"/>
        </a:spcBef>
        <a:spcAft>
          <a:spcPct val="0"/>
        </a:spcAft>
        <a:defRPr kumimoji="1" sz="2250" b="1">
          <a:solidFill>
            <a:schemeClr val="tx2"/>
          </a:solidFill>
          <a:latin typeface="MS Sans Serif"/>
          <a:ea typeface="MS Sans Serif"/>
          <a:cs typeface="MS Sans Serif"/>
        </a:defRPr>
      </a:lvl6pPr>
      <a:lvl7pPr marL="685800" algn="l" rtl="0" eaLnBrk="1" fontAlgn="base" hangingPunct="1">
        <a:spcBef>
          <a:spcPct val="0"/>
        </a:spcBef>
        <a:spcAft>
          <a:spcPct val="0"/>
        </a:spcAft>
        <a:defRPr kumimoji="1" sz="2250" b="1">
          <a:solidFill>
            <a:schemeClr val="tx2"/>
          </a:solidFill>
          <a:latin typeface="MS Sans Serif"/>
          <a:ea typeface="MS Sans Serif"/>
          <a:cs typeface="MS Sans Serif"/>
        </a:defRPr>
      </a:lvl7pPr>
      <a:lvl8pPr marL="1028700" algn="l" rtl="0" eaLnBrk="1" fontAlgn="base" hangingPunct="1">
        <a:spcBef>
          <a:spcPct val="0"/>
        </a:spcBef>
        <a:spcAft>
          <a:spcPct val="0"/>
        </a:spcAft>
        <a:defRPr kumimoji="1" sz="2250" b="1">
          <a:solidFill>
            <a:schemeClr val="tx2"/>
          </a:solidFill>
          <a:latin typeface="MS Sans Serif"/>
          <a:ea typeface="MS Sans Serif"/>
          <a:cs typeface="MS Sans Serif"/>
        </a:defRPr>
      </a:lvl8pPr>
      <a:lvl9pPr marL="1371600" algn="l" rtl="0" eaLnBrk="1" fontAlgn="base" hangingPunct="1">
        <a:spcBef>
          <a:spcPct val="0"/>
        </a:spcBef>
        <a:spcAft>
          <a:spcPct val="0"/>
        </a:spcAft>
        <a:defRPr kumimoji="1" sz="2250" b="1">
          <a:solidFill>
            <a:schemeClr val="tx2"/>
          </a:solidFill>
          <a:latin typeface="MS Sans Serif"/>
          <a:ea typeface="MS Sans Serif"/>
          <a:cs typeface="MS Sans Serif"/>
        </a:defRPr>
      </a:lvl9pPr>
    </p:titleStyle>
    <p:bodyStyle>
      <a:lvl1pPr marL="257175" indent="-257175" algn="l" rtl="0" eaLnBrk="1" fontAlgn="base" hangingPunct="1">
        <a:spcBef>
          <a:spcPct val="20000"/>
        </a:spcBef>
        <a:spcAft>
          <a:spcPct val="0"/>
        </a:spcAft>
        <a:buClr>
          <a:srgbClr val="0000FF"/>
        </a:buClr>
        <a:buSzPct val="80000"/>
        <a:buFont typeface="Wingdings" pitchFamily="2" charset="2"/>
        <a:buChar char="l"/>
        <a:defRPr kumimoji="1" sz="2100">
          <a:solidFill>
            <a:schemeClr val="tx1"/>
          </a:solidFill>
          <a:latin typeface="Calibri" pitchFamily="34" charset="0"/>
          <a:ea typeface="標楷體" pitchFamily="65" charset="-120"/>
          <a:cs typeface="+mn-cs"/>
        </a:defRPr>
      </a:lvl1pPr>
      <a:lvl2pPr marL="557213" indent="-214313" algn="l" rtl="0" eaLnBrk="1" fontAlgn="base" hangingPunct="1">
        <a:spcBef>
          <a:spcPct val="20000"/>
        </a:spcBef>
        <a:spcAft>
          <a:spcPct val="0"/>
        </a:spcAft>
        <a:buClr>
          <a:srgbClr val="0000FF"/>
        </a:buClr>
        <a:buSzPct val="90000"/>
        <a:buFont typeface="Arial" charset="0"/>
        <a:buChar char="–"/>
        <a:defRPr kumimoji="1" sz="1800">
          <a:solidFill>
            <a:schemeClr val="tx1"/>
          </a:solidFill>
          <a:latin typeface="Calibri"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mn-lt"/>
          <a:ea typeface="+mn-ea"/>
        </a:defRPr>
      </a:lvl3pPr>
      <a:lvl4pPr marL="1200150" indent="-171450" algn="l" rtl="0" eaLnBrk="1" fontAlgn="base" hangingPunct="1">
        <a:spcBef>
          <a:spcPct val="20000"/>
        </a:spcBef>
        <a:spcAft>
          <a:spcPct val="0"/>
        </a:spcAft>
        <a:buChar char="–"/>
        <a:defRPr kumimoji="1" sz="1500">
          <a:solidFill>
            <a:schemeClr val="tx1"/>
          </a:solidFill>
          <a:latin typeface="+mn-lt"/>
          <a:ea typeface="+mn-ea"/>
        </a:defRPr>
      </a:lvl4pPr>
      <a:lvl5pPr marL="1543050" indent="-171450" algn="l" rtl="0" eaLnBrk="1" fontAlgn="base" hangingPunct="1">
        <a:spcBef>
          <a:spcPct val="20000"/>
        </a:spcBef>
        <a:spcAft>
          <a:spcPct val="0"/>
        </a:spcAft>
        <a:buChar char="»"/>
        <a:defRPr kumimoji="1" sz="1500">
          <a:solidFill>
            <a:schemeClr val="tx1"/>
          </a:solidFill>
          <a:latin typeface="+mn-lt"/>
          <a:ea typeface="+mn-ea"/>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p:bodyStyle>
    <p:otherStyle>
      <a:defPPr>
        <a:defRPr lang="zh-TW"/>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xml"/><Relationship Id="rId1" Type="http://schemas.openxmlformats.org/officeDocument/2006/relationships/vmlDrawing" Target="../drawings/vmlDrawing1.vml"/><Relationship Id="rId4" Type="http://schemas.openxmlformats.org/officeDocument/2006/relationships/image" Target="../media/image9.e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標題 7"/>
          <p:cNvSpPr>
            <a:spLocks noGrp="1"/>
          </p:cNvSpPr>
          <p:nvPr>
            <p:ph type="title"/>
          </p:nvPr>
        </p:nvSpPr>
        <p:spPr/>
        <p:txBody>
          <a:bodyPr/>
          <a:lstStyle/>
          <a:p>
            <a:pPr lvl="1"/>
            <a:r>
              <a:rPr lang="en-US" altLang="zh-TW" dirty="0" smtClean="0"/>
              <a:t>The Heterogeneous System Architecture Intermediate Language</a:t>
            </a:r>
            <a:endParaRPr lang="en-US" altLang="zh-TW" dirty="0"/>
          </a:p>
        </p:txBody>
      </p:sp>
      <p:sp>
        <p:nvSpPr>
          <p:cNvPr id="9" name="文字版面配置區 8"/>
          <p:cNvSpPr>
            <a:spLocks noGrp="1"/>
          </p:cNvSpPr>
          <p:nvPr>
            <p:ph type="body" idx="1"/>
          </p:nvPr>
        </p:nvSpPr>
        <p:spPr/>
        <p:txBody>
          <a:bodyPr/>
          <a:lstStyle/>
          <a:p>
            <a:r>
              <a:rPr lang="en-US" altLang="zh-TW" sz="4050" b="1" dirty="0">
                <a:latin typeface="Calibri Light" panose="020F0302020204030204" pitchFamily="34" charset="0"/>
              </a:rPr>
              <a:t>HSAIL</a:t>
            </a:r>
            <a:endParaRPr lang="zh-TW" altLang="en-US" sz="3600" b="1" dirty="0">
              <a:latin typeface="Calibri Light" panose="020F0302020204030204" pitchFamily="34" charset="0"/>
            </a:endParaRPr>
          </a:p>
        </p:txBody>
      </p:sp>
      <p:sp>
        <p:nvSpPr>
          <p:cNvPr id="7" name="投影片編號版面配置區 6"/>
          <p:cNvSpPr>
            <a:spLocks noGrp="1"/>
          </p:cNvSpPr>
          <p:nvPr>
            <p:ph type="sldNum" sz="quarter" idx="10"/>
          </p:nvPr>
        </p:nvSpPr>
        <p:spPr/>
        <p:txBody>
          <a:bodyPr/>
          <a:lstStyle/>
          <a:p>
            <a:pPr>
              <a:defRPr/>
            </a:pPr>
            <a:fld id="{BBE1A867-3965-4DC6-8FAB-CF11C08707E9}" type="slidenum">
              <a:rPr lang="en-US" altLang="zh-TW" smtClean="0">
                <a:solidFill>
                  <a:prstClr val="black"/>
                </a:solidFill>
              </a:rPr>
              <a:pPr>
                <a:defRPr/>
              </a:pPr>
              <a:t>1</a:t>
            </a:fld>
            <a:endParaRPr lang="en-US" altLang="zh-TW">
              <a:solidFill>
                <a:prstClr val="black"/>
              </a:solidFill>
            </a:endParaRPr>
          </a:p>
        </p:txBody>
      </p:sp>
    </p:spTree>
    <p:extLst>
      <p:ext uri="{BB962C8B-B14F-4D97-AF65-F5344CB8AC3E}">
        <p14:creationId xmlns:p14="http://schemas.microsoft.com/office/powerpoint/2010/main" val="177512027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內容版面配置區 5"/>
          <p:cNvSpPr>
            <a:spLocks noGrp="1"/>
          </p:cNvSpPr>
          <p:nvPr>
            <p:ph idx="1"/>
          </p:nvPr>
        </p:nvSpPr>
        <p:spPr/>
        <p:txBody>
          <a:bodyPr/>
          <a:lstStyle/>
          <a:p>
            <a:pPr marL="171450" indent="-171450">
              <a:buClrTx/>
              <a:buFont typeface="+mj-lt"/>
              <a:buAutoNum type="arabicPeriod"/>
            </a:pPr>
            <a:r>
              <a:rPr lang="en-US" altLang="zh-TW" sz="1800" dirty="0"/>
              <a:t>Overview</a:t>
            </a:r>
          </a:p>
          <a:p>
            <a:pPr marL="171450" indent="-171450">
              <a:buClrTx/>
              <a:buFont typeface="+mj-lt"/>
              <a:buAutoNum type="arabicPeriod"/>
            </a:pPr>
            <a:r>
              <a:rPr lang="en-US" altLang="zh-TW" sz="1800" dirty="0"/>
              <a:t>Arithmetic Operations</a:t>
            </a:r>
          </a:p>
          <a:p>
            <a:pPr marL="171450" indent="-171450">
              <a:buClrTx/>
              <a:buFont typeface="+mj-lt"/>
              <a:buAutoNum type="arabicPeriod"/>
            </a:pPr>
            <a:r>
              <a:rPr lang="en-US" altLang="zh-TW" sz="1800" dirty="0"/>
              <a:t>Memory Operations</a:t>
            </a:r>
          </a:p>
          <a:p>
            <a:pPr marL="171450" indent="-171450">
              <a:buClrTx/>
              <a:buFont typeface="+mj-lt"/>
              <a:buAutoNum type="arabicPeriod"/>
            </a:pPr>
            <a:r>
              <a:rPr lang="en-US" altLang="zh-TW" sz="1800" dirty="0"/>
              <a:t>Image Operations</a:t>
            </a:r>
          </a:p>
          <a:p>
            <a:pPr marL="171450" indent="-171450">
              <a:buClrTx/>
              <a:buFont typeface="+mj-lt"/>
              <a:buAutoNum type="arabicPeriod"/>
            </a:pPr>
            <a:r>
              <a:rPr lang="en-US" altLang="zh-TW" sz="1800" dirty="0"/>
              <a:t>Branch Operations</a:t>
            </a:r>
          </a:p>
          <a:p>
            <a:pPr marL="171450" indent="-171450">
              <a:buClrTx/>
              <a:buFont typeface="+mj-lt"/>
              <a:buAutoNum type="arabicPeriod"/>
            </a:pPr>
            <a:r>
              <a:rPr lang="en-US" altLang="zh-TW" sz="1800" dirty="0"/>
              <a:t>Parallel Synchronization and Communication Operations</a:t>
            </a:r>
          </a:p>
          <a:p>
            <a:pPr marL="171450" indent="-171450">
              <a:buClrTx/>
              <a:buFont typeface="+mj-lt"/>
              <a:buAutoNum type="arabicPeriod"/>
            </a:pPr>
            <a:r>
              <a:rPr lang="en-US" altLang="zh-TW" sz="1800" dirty="0"/>
              <a:t>Function Operations</a:t>
            </a:r>
          </a:p>
          <a:p>
            <a:pPr marL="171450" indent="-171450">
              <a:buClrTx/>
              <a:buFont typeface="+mj-lt"/>
              <a:buAutoNum type="arabicPeriod"/>
            </a:pPr>
            <a:r>
              <a:rPr lang="en-US" altLang="zh-TW" sz="1800" dirty="0"/>
              <a:t>Special Operations</a:t>
            </a:r>
          </a:p>
          <a:p>
            <a:pPr marL="171450" indent="-171450">
              <a:buClrTx/>
              <a:buFont typeface="+mj-lt"/>
              <a:buAutoNum type="arabicPeriod"/>
            </a:pPr>
            <a:r>
              <a:rPr lang="en-US" altLang="zh-TW" sz="1800" dirty="0"/>
              <a:t>BRIG: HSAIL Binary Format</a:t>
            </a:r>
          </a:p>
          <a:p>
            <a:pPr marL="171450" indent="-171450">
              <a:buClrTx/>
              <a:buFont typeface="+mj-lt"/>
              <a:buAutoNum type="arabicPeriod"/>
            </a:pPr>
            <a:endParaRPr lang="en-US" altLang="zh-TW" sz="1800" dirty="0"/>
          </a:p>
          <a:p>
            <a:pPr marL="171450" indent="-171450">
              <a:buClrTx/>
              <a:buFont typeface="+mj-lt"/>
              <a:buAutoNum type="arabicPeriod"/>
            </a:pPr>
            <a:endParaRPr lang="zh-TW" altLang="en-US" sz="1800" dirty="0"/>
          </a:p>
        </p:txBody>
      </p:sp>
      <p:sp>
        <p:nvSpPr>
          <p:cNvPr id="8" name="標題 1"/>
          <p:cNvSpPr>
            <a:spLocks noGrp="1"/>
          </p:cNvSpPr>
          <p:nvPr>
            <p:ph type="title"/>
          </p:nvPr>
        </p:nvSpPr>
        <p:spPr>
          <a:xfrm>
            <a:off x="457200" y="232964"/>
            <a:ext cx="4357923" cy="389335"/>
          </a:xfrm>
        </p:spPr>
        <p:txBody>
          <a:bodyPr/>
          <a:lstStyle/>
          <a:p>
            <a:r>
              <a:rPr lang="en-US" altLang="zh-TW" dirty="0" smtClean="0"/>
              <a:t>Contents</a:t>
            </a:r>
            <a:endParaRPr lang="zh-TW" altLang="en-US" dirty="0"/>
          </a:p>
        </p:txBody>
      </p:sp>
      <p:sp>
        <p:nvSpPr>
          <p:cNvPr id="2" name="投影片編號版面配置區 1"/>
          <p:cNvSpPr>
            <a:spLocks noGrp="1"/>
          </p:cNvSpPr>
          <p:nvPr>
            <p:ph type="sldNum" sz="quarter" idx="10"/>
          </p:nvPr>
        </p:nvSpPr>
        <p:spPr/>
        <p:txBody>
          <a:bodyPr/>
          <a:lstStyle/>
          <a:p>
            <a:fld id="{6C75C586-0B13-4105-9895-CED4323B37DD}" type="slidenum">
              <a:rPr lang="zh-TW" altLang="en-US" smtClean="0"/>
              <a:pPr/>
              <a:t>2</a:t>
            </a:fld>
            <a:endParaRPr lang="zh-TW" altLang="en-US"/>
          </a:p>
        </p:txBody>
      </p:sp>
    </p:spTree>
    <p:extLst>
      <p:ext uri="{BB962C8B-B14F-4D97-AF65-F5344CB8AC3E}">
        <p14:creationId xmlns:p14="http://schemas.microsoft.com/office/powerpoint/2010/main" val="186442762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p:cNvSpPr>
            <a:spLocks noGrp="1"/>
          </p:cNvSpPr>
          <p:nvPr>
            <p:ph type="title"/>
          </p:nvPr>
        </p:nvSpPr>
        <p:spPr/>
        <p:txBody>
          <a:bodyPr/>
          <a:lstStyle/>
          <a:p>
            <a:r>
              <a:rPr lang="en-US" altLang="zh-TW" dirty="0" smtClean="0"/>
              <a:t>Note</a:t>
            </a:r>
            <a:endParaRPr lang="zh-TW" altLang="en-US" dirty="0"/>
          </a:p>
        </p:txBody>
      </p:sp>
      <p:sp>
        <p:nvSpPr>
          <p:cNvPr id="7" name="內容版面配置區 6"/>
          <p:cNvSpPr>
            <a:spLocks noGrp="1"/>
          </p:cNvSpPr>
          <p:nvPr>
            <p:ph idx="1"/>
          </p:nvPr>
        </p:nvSpPr>
        <p:spPr/>
        <p:txBody>
          <a:bodyPr/>
          <a:lstStyle/>
          <a:p>
            <a:endParaRPr lang="en-US" altLang="zh-TW" dirty="0" smtClean="0"/>
          </a:p>
          <a:p>
            <a:r>
              <a:rPr lang="en-US" altLang="zh-TW" dirty="0" smtClean="0"/>
              <a:t>In this slides, we didn’t list all the HSAIL instruction and feature. </a:t>
            </a:r>
          </a:p>
          <a:p>
            <a:r>
              <a:rPr lang="en-US" altLang="zh-TW" dirty="0" smtClean="0"/>
              <a:t>For further detail description, see </a:t>
            </a:r>
            <a:r>
              <a:rPr lang="en-US" altLang="zh-TW" sz="2000" i="1" dirty="0" smtClean="0">
                <a:latin typeface="Times New Roman" panose="02020603050405020304" pitchFamily="18" charset="0"/>
                <a:cs typeface="Times New Roman" panose="02020603050405020304" pitchFamily="18" charset="0"/>
              </a:rPr>
              <a:t>HSA Programmers Reference Manual.</a:t>
            </a:r>
          </a:p>
          <a:p>
            <a:r>
              <a:rPr lang="en-US" altLang="zh-TW" dirty="0"/>
              <a:t>This slides on based on version 1.0 Final, 6 Mar 2015</a:t>
            </a:r>
            <a:endParaRPr lang="zh-TW" altLang="en-US" dirty="0"/>
          </a:p>
        </p:txBody>
      </p:sp>
      <p:sp>
        <p:nvSpPr>
          <p:cNvPr id="4" name="投影片編號版面配置區 3"/>
          <p:cNvSpPr>
            <a:spLocks noGrp="1"/>
          </p:cNvSpPr>
          <p:nvPr>
            <p:ph type="sldNum" sz="quarter" idx="10"/>
          </p:nvPr>
        </p:nvSpPr>
        <p:spPr/>
        <p:txBody>
          <a:bodyPr/>
          <a:lstStyle/>
          <a:p>
            <a:fld id="{557A4102-9134-4DE4-89E3-9E7F1698ADF0}" type="slidenum">
              <a:rPr lang="zh-TW" altLang="en-US" smtClean="0"/>
              <a:pPr/>
              <a:t>3</a:t>
            </a:fld>
            <a:endParaRPr lang="zh-TW" altLang="en-US" dirty="0"/>
          </a:p>
        </p:txBody>
      </p:sp>
    </p:spTree>
    <p:extLst>
      <p:ext uri="{BB962C8B-B14F-4D97-AF65-F5344CB8AC3E}">
        <p14:creationId xmlns:p14="http://schemas.microsoft.com/office/powerpoint/2010/main" val="52635432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sz="2700" dirty="0"/>
              <a:t>Overview</a:t>
            </a:r>
            <a:endParaRPr lang="zh-TW" altLang="en-US" sz="2700" dirty="0"/>
          </a:p>
        </p:txBody>
      </p:sp>
      <p:sp>
        <p:nvSpPr>
          <p:cNvPr id="5" name="文字版面配置區 4"/>
          <p:cNvSpPr>
            <a:spLocks noGrp="1"/>
          </p:cNvSpPr>
          <p:nvPr>
            <p:ph type="body" idx="1"/>
          </p:nvPr>
        </p:nvSpPr>
        <p:spPr/>
        <p:txBody>
          <a:bodyPr/>
          <a:lstStyle/>
          <a:p>
            <a:endParaRPr lang="zh-TW" altLang="en-US"/>
          </a:p>
        </p:txBody>
      </p:sp>
      <p:sp>
        <p:nvSpPr>
          <p:cNvPr id="2" name="投影片編號版面配置區 1"/>
          <p:cNvSpPr>
            <a:spLocks noGrp="1"/>
          </p:cNvSpPr>
          <p:nvPr>
            <p:ph type="sldNum" sz="quarter" idx="10"/>
          </p:nvPr>
        </p:nvSpPr>
        <p:spPr/>
        <p:txBody>
          <a:bodyPr/>
          <a:lstStyle/>
          <a:p>
            <a:fld id="{6C75C586-0B13-4105-9895-CED4323B37DD}" type="slidenum">
              <a:rPr lang="zh-TW" altLang="en-US" smtClean="0"/>
              <a:pPr/>
              <a:t>4</a:t>
            </a:fld>
            <a:endParaRPr lang="zh-TW" altLang="en-US"/>
          </a:p>
        </p:txBody>
      </p:sp>
    </p:spTree>
    <p:extLst>
      <p:ext uri="{BB962C8B-B14F-4D97-AF65-F5344CB8AC3E}">
        <p14:creationId xmlns:p14="http://schemas.microsoft.com/office/powerpoint/2010/main" val="234149490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What is HSAIL?</a:t>
            </a:r>
            <a:endParaRPr lang="zh-TW" altLang="en-US" dirty="0"/>
          </a:p>
        </p:txBody>
      </p:sp>
      <p:sp>
        <p:nvSpPr>
          <p:cNvPr id="3" name="內容版面配置區 2"/>
          <p:cNvSpPr>
            <a:spLocks noGrp="1"/>
          </p:cNvSpPr>
          <p:nvPr>
            <p:ph idx="1"/>
          </p:nvPr>
        </p:nvSpPr>
        <p:spPr/>
        <p:txBody>
          <a:bodyPr/>
          <a:lstStyle/>
          <a:p>
            <a:pPr marL="0" indent="0">
              <a:spcBef>
                <a:spcPts val="1350"/>
              </a:spcBef>
              <a:buNone/>
            </a:pPr>
            <a:endParaRPr lang="en-US" altLang="zh-TW" sz="1950" dirty="0" smtClean="0"/>
          </a:p>
          <a:p>
            <a:pPr>
              <a:spcBef>
                <a:spcPts val="1350"/>
              </a:spcBef>
            </a:pPr>
            <a:r>
              <a:rPr lang="en-US" altLang="zh-TW" sz="1950" dirty="0" smtClean="0"/>
              <a:t>HSA </a:t>
            </a:r>
            <a:r>
              <a:rPr lang="en-US" altLang="zh-TW" sz="1950" dirty="0"/>
              <a:t>is designed to efficiently support data-parallel and task-parallel programming models.</a:t>
            </a:r>
          </a:p>
          <a:p>
            <a:pPr>
              <a:spcBef>
                <a:spcPts val="1350"/>
              </a:spcBef>
            </a:pPr>
            <a:r>
              <a:rPr lang="en-US" altLang="zh-TW" sz="1950" dirty="0"/>
              <a:t>A single HSA system can support multiple instructions sets based on CPU(s), GPU(s) and specialized processor(s).</a:t>
            </a:r>
          </a:p>
          <a:p>
            <a:pPr>
              <a:spcBef>
                <a:spcPts val="1350"/>
              </a:spcBef>
            </a:pPr>
            <a:r>
              <a:rPr lang="en-US" altLang="zh-TW" sz="1950" dirty="0"/>
              <a:t>Programmers normally build code for HSA in a virtual machine and intermediate language called </a:t>
            </a:r>
            <a:r>
              <a:rPr lang="en-US" altLang="zh-TW" sz="1950" i="1" dirty="0">
                <a:latin typeface="Times New Roman" panose="02020603050405020304" pitchFamily="18" charset="0"/>
                <a:cs typeface="Times New Roman" panose="02020603050405020304" pitchFamily="18" charset="0"/>
              </a:rPr>
              <a:t>HSAIL </a:t>
            </a:r>
            <a:r>
              <a:rPr lang="en-US" altLang="zh-TW" sz="1950" dirty="0"/>
              <a:t>(</a:t>
            </a:r>
            <a:r>
              <a:rPr lang="en-US" altLang="zh-TW" sz="1950" i="1" dirty="0">
                <a:latin typeface="Times New Roman" panose="02020603050405020304" pitchFamily="18" charset="0"/>
                <a:cs typeface="Times New Roman" panose="02020603050405020304" pitchFamily="18" charset="0"/>
              </a:rPr>
              <a:t>Heterogeneous System Architecture Intermediate Language</a:t>
            </a:r>
            <a:r>
              <a:rPr lang="en-US" altLang="zh-TW" sz="1950" dirty="0"/>
              <a:t>).</a:t>
            </a:r>
          </a:p>
          <a:p>
            <a:pPr>
              <a:spcBef>
                <a:spcPts val="1350"/>
              </a:spcBef>
            </a:pPr>
            <a:r>
              <a:rPr lang="en-US" altLang="zh-TW" sz="1950" dirty="0"/>
              <a:t>Using HSAIL allows a single program to execute on a wide range of platforms, because the native instruction set has been abstracted away.</a:t>
            </a:r>
          </a:p>
          <a:p>
            <a:endParaRPr lang="en-US" altLang="zh-TW" sz="1950" dirty="0"/>
          </a:p>
          <a:p>
            <a:endParaRPr lang="zh-TW" altLang="en-US" sz="1950" dirty="0"/>
          </a:p>
        </p:txBody>
      </p:sp>
      <p:sp>
        <p:nvSpPr>
          <p:cNvPr id="4" name="投影片編號版面配置區 3"/>
          <p:cNvSpPr>
            <a:spLocks noGrp="1"/>
          </p:cNvSpPr>
          <p:nvPr>
            <p:ph type="sldNum" sz="quarter" idx="10"/>
          </p:nvPr>
        </p:nvSpPr>
        <p:spPr/>
        <p:txBody>
          <a:bodyPr/>
          <a:lstStyle/>
          <a:p>
            <a:fld id="{6C75C586-0B13-4105-9895-CED4323B37DD}" type="slidenum">
              <a:rPr lang="zh-TW" altLang="en-US" smtClean="0"/>
              <a:pPr/>
              <a:t>5</a:t>
            </a:fld>
            <a:endParaRPr lang="zh-TW" altLang="en-US"/>
          </a:p>
        </p:txBody>
      </p:sp>
    </p:spTree>
    <p:extLst>
      <p:ext uri="{BB962C8B-B14F-4D97-AF65-F5344CB8AC3E}">
        <p14:creationId xmlns:p14="http://schemas.microsoft.com/office/powerpoint/2010/main" val="32587218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HSAIL Virtual Machine (1)</a:t>
            </a:r>
            <a:endParaRPr lang="zh-TW" altLang="en-US" dirty="0"/>
          </a:p>
        </p:txBody>
      </p:sp>
      <p:sp>
        <p:nvSpPr>
          <p:cNvPr id="3" name="內容版面配置區 2"/>
          <p:cNvSpPr>
            <a:spLocks noGrp="1"/>
          </p:cNvSpPr>
          <p:nvPr>
            <p:ph idx="1"/>
          </p:nvPr>
        </p:nvSpPr>
        <p:spPr>
          <a:xfrm>
            <a:off x="457200" y="1701403"/>
            <a:ext cx="8229600" cy="3786629"/>
          </a:xfrm>
        </p:spPr>
        <p:txBody>
          <a:bodyPr/>
          <a:lstStyle/>
          <a:p>
            <a:r>
              <a:rPr lang="en-US" altLang="zh-TW" sz="1950" dirty="0"/>
              <a:t>A device that participates in the HSA memory model is called an </a:t>
            </a:r>
            <a:r>
              <a:rPr lang="en-US" altLang="zh-TW" sz="1950" i="1" dirty="0">
                <a:latin typeface="Times New Roman" panose="02020603050405020304" pitchFamily="18" charset="0"/>
                <a:cs typeface="Times New Roman" panose="02020603050405020304" pitchFamily="18" charset="0"/>
              </a:rPr>
              <a:t>agent</a:t>
            </a:r>
            <a:r>
              <a:rPr lang="en-US" altLang="zh-TW" sz="1950" dirty="0"/>
              <a:t>.</a:t>
            </a:r>
          </a:p>
          <a:p>
            <a:endParaRPr lang="en-US" altLang="zh-TW" sz="1875" dirty="0"/>
          </a:p>
          <a:p>
            <a:r>
              <a:rPr lang="en-US" altLang="zh-TW" sz="1950" dirty="0"/>
              <a:t>An HSAIL virtual machine consists of multiple agents including at least 1 host CPU and 1 </a:t>
            </a:r>
            <a:r>
              <a:rPr lang="en-US" altLang="zh-TW" sz="1950" dirty="0" smtClean="0"/>
              <a:t>kernel agent:</a:t>
            </a:r>
            <a:endParaRPr lang="en-US" altLang="zh-TW" sz="1950" dirty="0"/>
          </a:p>
          <a:p>
            <a:pPr lvl="1">
              <a:buFont typeface="Calibri" panose="020F0502020204030204" pitchFamily="34" charset="0"/>
              <a:buChar char="–"/>
            </a:pPr>
            <a:r>
              <a:rPr lang="en-US" altLang="zh-TW" dirty="0" smtClean="0"/>
              <a:t>A </a:t>
            </a:r>
            <a:r>
              <a:rPr lang="en-US" altLang="zh-TW" i="1" dirty="0" smtClean="0">
                <a:latin typeface="Times New Roman" panose="02020603050405020304" pitchFamily="18" charset="0"/>
                <a:cs typeface="Times New Roman" panose="02020603050405020304" pitchFamily="18" charset="0"/>
              </a:rPr>
              <a:t>host CPU </a:t>
            </a:r>
            <a:r>
              <a:rPr lang="en-US" altLang="zh-TW" dirty="0" smtClean="0"/>
              <a:t>is an agent that also supports the native CPU instruction set and runs the host operating system and the HSA runtime. </a:t>
            </a:r>
          </a:p>
          <a:p>
            <a:pPr lvl="1">
              <a:buFont typeface="Calibri" panose="020F0502020204030204" pitchFamily="34" charset="0"/>
              <a:buChar char="–"/>
            </a:pPr>
            <a:r>
              <a:rPr lang="en-US" altLang="zh-TW" dirty="0" smtClean="0"/>
              <a:t>As an </a:t>
            </a:r>
            <a:r>
              <a:rPr lang="en-US" altLang="zh-TW" i="1" dirty="0" smtClean="0">
                <a:latin typeface="Times New Roman" panose="02020603050405020304" pitchFamily="18" charset="0"/>
                <a:cs typeface="Times New Roman" panose="02020603050405020304" pitchFamily="18" charset="0"/>
              </a:rPr>
              <a:t>agent</a:t>
            </a:r>
            <a:r>
              <a:rPr lang="en-US" altLang="zh-TW" dirty="0" smtClean="0"/>
              <a:t>, the host CPU can dispatch commands to an </a:t>
            </a:r>
            <a:r>
              <a:rPr lang="en-US" altLang="zh-TW" i="1" dirty="0" smtClean="0">
                <a:latin typeface="Times New Roman" panose="02020603050405020304" pitchFamily="18" charset="0"/>
                <a:cs typeface="Times New Roman" panose="02020603050405020304" pitchFamily="18" charset="0"/>
              </a:rPr>
              <a:t>Kernel Agent </a:t>
            </a:r>
            <a:r>
              <a:rPr lang="en-US" altLang="zh-TW" dirty="0" smtClean="0"/>
              <a:t>using memory operations to construct and </a:t>
            </a:r>
            <a:r>
              <a:rPr lang="en-US" altLang="zh-TW" dirty="0" err="1" smtClean="0"/>
              <a:t>enqueue</a:t>
            </a:r>
            <a:r>
              <a:rPr lang="en-US" altLang="zh-TW" dirty="0" smtClean="0"/>
              <a:t> </a:t>
            </a:r>
            <a:r>
              <a:rPr lang="en-US" altLang="zh-TW" i="1" dirty="0" smtClean="0">
                <a:latin typeface="Times New Roman" panose="02020603050405020304" pitchFamily="18" charset="0"/>
                <a:cs typeface="Times New Roman" panose="02020603050405020304" pitchFamily="18" charset="0"/>
              </a:rPr>
              <a:t>AQL packets</a:t>
            </a:r>
            <a:r>
              <a:rPr lang="en-US" altLang="zh-TW" dirty="0" smtClean="0"/>
              <a:t>. </a:t>
            </a:r>
          </a:p>
          <a:p>
            <a:endParaRPr lang="en-US" altLang="zh-TW" sz="1875" dirty="0"/>
          </a:p>
          <a:p>
            <a:r>
              <a:rPr lang="en-US" altLang="zh-TW" sz="1950" dirty="0"/>
              <a:t>In some systems, a host CPU can also act as an </a:t>
            </a:r>
            <a:r>
              <a:rPr lang="en-US" altLang="zh-TW" sz="1950" dirty="0" smtClean="0"/>
              <a:t>Kernel Agent(with </a:t>
            </a:r>
            <a:r>
              <a:rPr lang="en-US" altLang="zh-TW" sz="1950" dirty="0"/>
              <a:t>appropriate HSAIL </a:t>
            </a:r>
            <a:r>
              <a:rPr lang="en-US" altLang="zh-TW" sz="1950" dirty="0" err="1"/>
              <a:t>finalizer</a:t>
            </a:r>
            <a:r>
              <a:rPr lang="en-US" altLang="zh-TW" sz="1950" dirty="0"/>
              <a:t> and AQL mechanisms).</a:t>
            </a:r>
          </a:p>
        </p:txBody>
      </p:sp>
      <p:sp>
        <p:nvSpPr>
          <p:cNvPr id="4" name="投影片編號版面配置區 3"/>
          <p:cNvSpPr>
            <a:spLocks noGrp="1"/>
          </p:cNvSpPr>
          <p:nvPr>
            <p:ph type="sldNum" sz="quarter" idx="10"/>
          </p:nvPr>
        </p:nvSpPr>
        <p:spPr/>
        <p:txBody>
          <a:bodyPr/>
          <a:lstStyle/>
          <a:p>
            <a:fld id="{6C75C586-0B13-4105-9895-CED4323B37DD}" type="slidenum">
              <a:rPr lang="zh-TW" altLang="en-US" smtClean="0"/>
              <a:pPr/>
              <a:t>6</a:t>
            </a:fld>
            <a:endParaRPr lang="zh-TW" altLang="en-US"/>
          </a:p>
        </p:txBody>
      </p:sp>
    </p:spTree>
    <p:extLst>
      <p:ext uri="{BB962C8B-B14F-4D97-AF65-F5344CB8AC3E}">
        <p14:creationId xmlns:p14="http://schemas.microsoft.com/office/powerpoint/2010/main" val="210060202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HSAIL Virtual Machine (2)</a:t>
            </a:r>
            <a:endParaRPr lang="zh-TW" altLang="en-US" dirty="0"/>
          </a:p>
        </p:txBody>
      </p:sp>
      <p:sp>
        <p:nvSpPr>
          <p:cNvPr id="3" name="內容版面配置區 2"/>
          <p:cNvSpPr>
            <a:spLocks noGrp="1"/>
          </p:cNvSpPr>
          <p:nvPr>
            <p:ph idx="1"/>
          </p:nvPr>
        </p:nvSpPr>
        <p:spPr/>
        <p:txBody>
          <a:bodyPr/>
          <a:lstStyle/>
          <a:p>
            <a:pPr>
              <a:spcBef>
                <a:spcPts val="600"/>
              </a:spcBef>
              <a:buClrTx/>
              <a:buSzPct val="100000"/>
              <a:buFont typeface="Arial" panose="020B0604020202020204" pitchFamily="34" charset="0"/>
              <a:buChar char="•"/>
            </a:pPr>
            <a:endParaRPr lang="en-US" altLang="zh-TW" sz="1950" dirty="0" smtClean="0"/>
          </a:p>
          <a:p>
            <a:pPr>
              <a:spcBef>
                <a:spcPts val="600"/>
              </a:spcBef>
              <a:buClrTx/>
              <a:buSzPct val="100000"/>
              <a:buFont typeface="Arial" panose="020B0604020202020204" pitchFamily="34" charset="0"/>
              <a:buChar char="•"/>
            </a:pPr>
            <a:endParaRPr lang="en-US" altLang="zh-TW" sz="1950" dirty="0"/>
          </a:p>
          <a:p>
            <a:pPr>
              <a:spcBef>
                <a:spcPts val="600"/>
              </a:spcBef>
            </a:pPr>
            <a:r>
              <a:rPr lang="en-US" altLang="zh-TW" sz="1950" dirty="0"/>
              <a:t>An </a:t>
            </a:r>
            <a:r>
              <a:rPr lang="en-US" altLang="zh-TW" sz="1950" i="1" dirty="0" smtClean="0">
                <a:latin typeface="Times New Roman" panose="02020603050405020304" pitchFamily="18" charset="0"/>
                <a:cs typeface="Times New Roman" panose="02020603050405020304" pitchFamily="18" charset="0"/>
              </a:rPr>
              <a:t>Kernel Agent </a:t>
            </a:r>
            <a:r>
              <a:rPr lang="en-US" altLang="zh-TW" sz="1950" dirty="0"/>
              <a:t>is an agent that supports the </a:t>
            </a:r>
            <a:r>
              <a:rPr lang="en-US" altLang="zh-TW" sz="1950" i="1" dirty="0">
                <a:latin typeface="Times New Roman" panose="02020603050405020304" pitchFamily="18" charset="0"/>
                <a:cs typeface="Times New Roman" panose="02020603050405020304" pitchFamily="18" charset="0"/>
              </a:rPr>
              <a:t>HSAIL</a:t>
            </a:r>
            <a:r>
              <a:rPr lang="en-US" altLang="zh-TW" sz="1950" dirty="0"/>
              <a:t> instruction set and the </a:t>
            </a:r>
            <a:r>
              <a:rPr lang="en-US" altLang="zh-TW" sz="1950" i="1" dirty="0">
                <a:latin typeface="Times New Roman" panose="02020603050405020304" pitchFamily="18" charset="0"/>
                <a:cs typeface="Times New Roman" panose="02020603050405020304" pitchFamily="18" charset="0"/>
              </a:rPr>
              <a:t>AQL packet </a:t>
            </a:r>
            <a:r>
              <a:rPr lang="en-US" altLang="zh-TW" sz="1950" dirty="0"/>
              <a:t>format.</a:t>
            </a:r>
          </a:p>
          <a:p>
            <a:pPr>
              <a:spcBef>
                <a:spcPts val="600"/>
              </a:spcBef>
            </a:pPr>
            <a:r>
              <a:rPr lang="en-US" altLang="zh-TW" sz="1950" dirty="0"/>
              <a:t> As an agent, an </a:t>
            </a:r>
            <a:r>
              <a:rPr lang="en-US" altLang="zh-TW" sz="1950" i="1" dirty="0">
                <a:latin typeface="Times New Roman" panose="02020603050405020304" pitchFamily="18" charset="0"/>
                <a:cs typeface="Times New Roman" panose="02020603050405020304" pitchFamily="18" charset="0"/>
              </a:rPr>
              <a:t>Kernel Agent </a:t>
            </a:r>
            <a:r>
              <a:rPr lang="en-US" altLang="zh-TW" sz="1950" dirty="0"/>
              <a:t>can dispatch commands to any </a:t>
            </a:r>
            <a:r>
              <a:rPr lang="en-US" altLang="zh-TW" sz="1950" i="1" dirty="0" smtClean="0">
                <a:latin typeface="Times New Roman" panose="02020603050405020304" pitchFamily="18" charset="0"/>
                <a:cs typeface="Times New Roman" panose="02020603050405020304" pitchFamily="18" charset="0"/>
              </a:rPr>
              <a:t>Kernel Agent </a:t>
            </a:r>
            <a:r>
              <a:rPr lang="en-US" altLang="zh-TW" sz="1950" dirty="0"/>
              <a:t>(including itself) using memory operations to construct and </a:t>
            </a:r>
            <a:r>
              <a:rPr lang="en-US" altLang="zh-TW" sz="1950" dirty="0" err="1"/>
              <a:t>enqueue</a:t>
            </a:r>
            <a:r>
              <a:rPr lang="en-US" altLang="zh-TW" sz="1950" dirty="0"/>
              <a:t> </a:t>
            </a:r>
            <a:r>
              <a:rPr lang="en-US" altLang="zh-TW" sz="1950" i="1" dirty="0">
                <a:latin typeface="Times New Roman" panose="02020603050405020304" pitchFamily="18" charset="0"/>
                <a:cs typeface="Times New Roman" panose="02020603050405020304" pitchFamily="18" charset="0"/>
              </a:rPr>
              <a:t>AQL</a:t>
            </a:r>
            <a:r>
              <a:rPr lang="en-US" altLang="zh-TW" sz="1950" dirty="0"/>
              <a:t> </a:t>
            </a:r>
            <a:r>
              <a:rPr lang="en-US" altLang="zh-TW" sz="1950" dirty="0" smtClean="0"/>
              <a:t>packets.</a:t>
            </a:r>
            <a:endParaRPr lang="en-US" altLang="zh-TW" sz="1950" dirty="0"/>
          </a:p>
          <a:p>
            <a:pPr>
              <a:spcBef>
                <a:spcPts val="600"/>
              </a:spcBef>
              <a:buClrTx/>
              <a:buSzPct val="100000"/>
              <a:buFont typeface="Arial" panose="020B0604020202020204" pitchFamily="34" charset="0"/>
              <a:buChar char="•"/>
            </a:pPr>
            <a:endParaRPr lang="en-US" altLang="zh-TW" sz="1950" dirty="0"/>
          </a:p>
          <a:p>
            <a:pPr marL="0" indent="0">
              <a:buClrTx/>
              <a:buNone/>
            </a:pPr>
            <a:endParaRPr lang="en-US" altLang="zh-TW" sz="1950" dirty="0"/>
          </a:p>
        </p:txBody>
      </p:sp>
      <p:sp>
        <p:nvSpPr>
          <p:cNvPr id="4" name="投影片編號版面配置區 3"/>
          <p:cNvSpPr>
            <a:spLocks noGrp="1"/>
          </p:cNvSpPr>
          <p:nvPr>
            <p:ph type="sldNum" sz="quarter" idx="10"/>
          </p:nvPr>
        </p:nvSpPr>
        <p:spPr/>
        <p:txBody>
          <a:bodyPr/>
          <a:lstStyle/>
          <a:p>
            <a:fld id="{6C75C586-0B13-4105-9895-CED4323B37DD}" type="slidenum">
              <a:rPr lang="zh-TW" altLang="en-US" smtClean="0"/>
              <a:pPr/>
              <a:t>7</a:t>
            </a:fld>
            <a:endParaRPr lang="zh-TW" altLang="en-US"/>
          </a:p>
        </p:txBody>
      </p:sp>
    </p:spTree>
    <p:extLst>
      <p:ext uri="{BB962C8B-B14F-4D97-AF65-F5344CB8AC3E}">
        <p14:creationId xmlns:p14="http://schemas.microsoft.com/office/powerpoint/2010/main" val="265715512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HSAIL Virtual Machine (3)</a:t>
            </a:r>
            <a:endParaRPr lang="zh-TW" altLang="en-US" dirty="0"/>
          </a:p>
        </p:txBody>
      </p:sp>
      <p:sp>
        <p:nvSpPr>
          <p:cNvPr id="3" name="內容版面配置區 2"/>
          <p:cNvSpPr>
            <a:spLocks noGrp="1"/>
          </p:cNvSpPr>
          <p:nvPr>
            <p:ph idx="1"/>
          </p:nvPr>
        </p:nvSpPr>
        <p:spPr/>
        <p:txBody>
          <a:bodyPr/>
          <a:lstStyle/>
          <a:p>
            <a:pPr>
              <a:buClrTx/>
              <a:buFont typeface="Arial" panose="020B0604020202020204" pitchFamily="34" charset="0"/>
              <a:buChar char="•"/>
            </a:pPr>
            <a:endParaRPr lang="en-US" altLang="zh-TW" sz="1950" dirty="0" smtClean="0"/>
          </a:p>
          <a:p>
            <a:pPr>
              <a:buClrTx/>
              <a:buFont typeface="Arial" panose="020B0604020202020204" pitchFamily="34" charset="0"/>
              <a:buChar char="•"/>
            </a:pPr>
            <a:endParaRPr lang="en-US" altLang="zh-TW" sz="1950" dirty="0"/>
          </a:p>
          <a:p>
            <a:r>
              <a:rPr lang="en-US" altLang="zh-TW" sz="1950" dirty="0"/>
              <a:t> An </a:t>
            </a:r>
            <a:r>
              <a:rPr lang="en-US" altLang="zh-TW" sz="1950" i="1" dirty="0" smtClean="0">
                <a:latin typeface="Times New Roman" panose="02020603050405020304" pitchFamily="18" charset="0"/>
                <a:cs typeface="Times New Roman" panose="02020603050405020304" pitchFamily="18" charset="0"/>
              </a:rPr>
              <a:t>Kernel Agent </a:t>
            </a:r>
            <a:r>
              <a:rPr lang="en-US" altLang="zh-TW" sz="1950" dirty="0" smtClean="0"/>
              <a:t>does </a:t>
            </a:r>
            <a:r>
              <a:rPr lang="en-US" altLang="zh-TW" sz="1950" dirty="0"/>
              <a:t>not need to execute </a:t>
            </a:r>
            <a:r>
              <a:rPr lang="en-US" altLang="zh-TW" sz="1950" i="1" dirty="0">
                <a:latin typeface="Times New Roman" panose="02020603050405020304" pitchFamily="18" charset="0"/>
                <a:cs typeface="Times New Roman" panose="02020603050405020304" pitchFamily="18" charset="0"/>
              </a:rPr>
              <a:t>HSAIL</a:t>
            </a:r>
            <a:r>
              <a:rPr lang="en-US" altLang="zh-TW" sz="1950" dirty="0"/>
              <a:t> code directly: </a:t>
            </a:r>
          </a:p>
          <a:p>
            <a:pPr marL="0" indent="0">
              <a:buClrTx/>
              <a:buNone/>
            </a:pPr>
            <a:r>
              <a:rPr lang="en-US" altLang="zh-TW" sz="1950" dirty="0"/>
              <a:t>        </a:t>
            </a:r>
            <a:r>
              <a:rPr lang="en-US" altLang="zh-TW" sz="1950" dirty="0">
                <a:solidFill>
                  <a:srgbClr val="0000FF"/>
                </a:solidFill>
              </a:rPr>
              <a:t>-</a:t>
            </a:r>
            <a:r>
              <a:rPr lang="en-US" altLang="zh-TW" sz="1950" dirty="0"/>
              <a:t> it can execute ISA generated from </a:t>
            </a:r>
            <a:r>
              <a:rPr lang="en-US" altLang="zh-TW" sz="1950" i="1" dirty="0">
                <a:latin typeface="Times New Roman" panose="02020603050405020304" pitchFamily="18" charset="0"/>
                <a:cs typeface="Times New Roman" panose="02020603050405020304" pitchFamily="18" charset="0"/>
              </a:rPr>
              <a:t>HSAIL</a:t>
            </a:r>
            <a:r>
              <a:rPr lang="en-US" altLang="zh-TW" sz="1950" dirty="0"/>
              <a:t> code by a </a:t>
            </a:r>
            <a:r>
              <a:rPr lang="en-US" altLang="zh-TW" sz="1950" i="1" dirty="0" err="1">
                <a:latin typeface="Times New Roman" panose="02020603050405020304" pitchFamily="18" charset="0"/>
                <a:cs typeface="Times New Roman" panose="02020603050405020304" pitchFamily="18" charset="0"/>
              </a:rPr>
              <a:t>finalizer</a:t>
            </a:r>
            <a:r>
              <a:rPr lang="en-US" altLang="zh-TW" sz="1950" dirty="0"/>
              <a:t> provided by the runtime. </a:t>
            </a:r>
          </a:p>
          <a:p>
            <a:pPr marL="0" indent="0">
              <a:buClrTx/>
              <a:buNone/>
            </a:pPr>
            <a:endParaRPr lang="en-US" altLang="zh-TW" sz="1950" dirty="0"/>
          </a:p>
          <a:p>
            <a:r>
              <a:rPr lang="en-US" altLang="zh-TW" sz="1950" dirty="0"/>
              <a:t>Different implementations can choose to invoke the </a:t>
            </a:r>
            <a:r>
              <a:rPr lang="en-US" altLang="zh-TW" sz="1950" i="1" dirty="0" err="1">
                <a:latin typeface="Times New Roman" panose="02020603050405020304" pitchFamily="18" charset="0"/>
                <a:cs typeface="Times New Roman" panose="02020603050405020304" pitchFamily="18" charset="0"/>
              </a:rPr>
              <a:t>finalizer</a:t>
            </a:r>
            <a:r>
              <a:rPr lang="en-US" altLang="zh-TW" sz="1950" dirty="0"/>
              <a:t> at various times: </a:t>
            </a:r>
          </a:p>
          <a:p>
            <a:pPr marL="0" indent="0">
              <a:buClrTx/>
              <a:buNone/>
            </a:pPr>
            <a:r>
              <a:rPr lang="en-US" altLang="zh-TW" sz="1950" dirty="0"/>
              <a:t>        </a:t>
            </a:r>
            <a:r>
              <a:rPr lang="en-US" altLang="zh-TW" sz="1950" dirty="0">
                <a:solidFill>
                  <a:srgbClr val="0000FF"/>
                </a:solidFill>
              </a:rPr>
              <a:t>-</a:t>
            </a:r>
            <a:r>
              <a:rPr lang="en-US" altLang="zh-TW" sz="1950" dirty="0"/>
              <a:t> </a:t>
            </a:r>
            <a:r>
              <a:rPr lang="en-US" altLang="zh-TW" sz="1950" dirty="0" smtClean="0"/>
              <a:t>built time</a:t>
            </a:r>
            <a:endParaRPr lang="en-US" altLang="zh-TW" sz="1950" dirty="0"/>
          </a:p>
          <a:p>
            <a:pPr marL="0" indent="0">
              <a:buClrTx/>
              <a:buNone/>
            </a:pPr>
            <a:r>
              <a:rPr lang="en-US" altLang="zh-TW" sz="1950" dirty="0"/>
              <a:t>        </a:t>
            </a:r>
            <a:r>
              <a:rPr lang="en-US" altLang="zh-TW" sz="1950" dirty="0">
                <a:solidFill>
                  <a:srgbClr val="0000FF"/>
                </a:solidFill>
              </a:rPr>
              <a:t>-</a:t>
            </a:r>
            <a:r>
              <a:rPr lang="en-US" altLang="zh-TW" sz="1950" dirty="0"/>
              <a:t> </a:t>
            </a:r>
            <a:r>
              <a:rPr lang="en-US" altLang="zh-TW" sz="1950" dirty="0" smtClean="0"/>
              <a:t>install time</a:t>
            </a:r>
            <a:endParaRPr lang="en-US" altLang="zh-TW" sz="1950" dirty="0"/>
          </a:p>
          <a:p>
            <a:pPr marL="0" indent="0">
              <a:buClrTx/>
              <a:buNone/>
            </a:pPr>
            <a:r>
              <a:rPr lang="en-US" altLang="zh-TW" sz="1950" dirty="0"/>
              <a:t>        </a:t>
            </a:r>
            <a:r>
              <a:rPr lang="en-US" altLang="zh-TW" sz="1950" dirty="0">
                <a:solidFill>
                  <a:srgbClr val="0000FF"/>
                </a:solidFill>
              </a:rPr>
              <a:t>-</a:t>
            </a:r>
            <a:r>
              <a:rPr lang="en-US" altLang="zh-TW" sz="1950" dirty="0"/>
              <a:t> </a:t>
            </a:r>
            <a:r>
              <a:rPr lang="en-US" altLang="zh-TW" sz="1950" dirty="0" smtClean="0"/>
              <a:t>load time</a:t>
            </a:r>
          </a:p>
          <a:p>
            <a:pPr marL="0" indent="0">
              <a:buClrTx/>
              <a:buNone/>
            </a:pPr>
            <a:r>
              <a:rPr lang="en-US" altLang="zh-TW" sz="1950" dirty="0"/>
              <a:t> </a:t>
            </a:r>
            <a:r>
              <a:rPr lang="en-US" altLang="zh-TW" sz="1950" dirty="0" smtClean="0"/>
              <a:t>       </a:t>
            </a:r>
            <a:r>
              <a:rPr lang="en-US" altLang="zh-TW" sz="1950" dirty="0">
                <a:solidFill>
                  <a:srgbClr val="0000FF"/>
                </a:solidFill>
              </a:rPr>
              <a:t>-</a:t>
            </a:r>
            <a:r>
              <a:rPr lang="en-US" altLang="zh-TW" sz="1950" dirty="0"/>
              <a:t> </a:t>
            </a:r>
            <a:r>
              <a:rPr lang="en-US" altLang="zh-TW" sz="1950" dirty="0" smtClean="0"/>
              <a:t>execution time </a:t>
            </a:r>
            <a:endParaRPr lang="en-US" altLang="zh-TW" sz="1950" dirty="0"/>
          </a:p>
        </p:txBody>
      </p:sp>
      <p:sp>
        <p:nvSpPr>
          <p:cNvPr id="4" name="投影片編號版面配置區 3"/>
          <p:cNvSpPr>
            <a:spLocks noGrp="1"/>
          </p:cNvSpPr>
          <p:nvPr>
            <p:ph type="sldNum" sz="quarter" idx="10"/>
          </p:nvPr>
        </p:nvSpPr>
        <p:spPr/>
        <p:txBody>
          <a:bodyPr/>
          <a:lstStyle/>
          <a:p>
            <a:fld id="{6C75C586-0B13-4105-9895-CED4323B37DD}" type="slidenum">
              <a:rPr lang="zh-TW" altLang="en-US" smtClean="0"/>
              <a:pPr/>
              <a:t>8</a:t>
            </a:fld>
            <a:endParaRPr lang="zh-TW" altLang="en-US"/>
          </a:p>
        </p:txBody>
      </p:sp>
    </p:spTree>
    <p:extLst>
      <p:ext uri="{BB962C8B-B14F-4D97-AF65-F5344CB8AC3E}">
        <p14:creationId xmlns:p14="http://schemas.microsoft.com/office/powerpoint/2010/main" val="343495814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Kernels</a:t>
            </a:r>
            <a:endParaRPr lang="zh-TW" altLang="en-US" dirty="0"/>
          </a:p>
        </p:txBody>
      </p:sp>
      <p:sp>
        <p:nvSpPr>
          <p:cNvPr id="3" name="內容版面配置區 2"/>
          <p:cNvSpPr>
            <a:spLocks noGrp="1"/>
          </p:cNvSpPr>
          <p:nvPr>
            <p:ph idx="1"/>
          </p:nvPr>
        </p:nvSpPr>
        <p:spPr/>
        <p:txBody>
          <a:bodyPr/>
          <a:lstStyle/>
          <a:p>
            <a:pPr marL="0" indent="0">
              <a:buNone/>
            </a:pPr>
            <a:endParaRPr lang="en-US" altLang="zh-TW" sz="1950" dirty="0" smtClean="0"/>
          </a:p>
          <a:p>
            <a:pPr marL="0" indent="0">
              <a:buNone/>
            </a:pPr>
            <a:endParaRPr lang="en-US" altLang="zh-TW" sz="1950" dirty="0"/>
          </a:p>
          <a:p>
            <a:r>
              <a:rPr lang="en-US" altLang="zh-TW" sz="1950" dirty="0"/>
              <a:t>Certain sections of code, called kernels, are executed in a data-parallel way by </a:t>
            </a:r>
            <a:r>
              <a:rPr lang="en-US" altLang="zh-TW" sz="1950" dirty="0" smtClean="0"/>
              <a:t>Kernel agents. </a:t>
            </a:r>
            <a:endParaRPr lang="en-US" altLang="zh-TW" sz="1950" dirty="0"/>
          </a:p>
          <a:p>
            <a:endParaRPr lang="en-US" altLang="zh-TW" sz="1950" dirty="0"/>
          </a:p>
          <a:p>
            <a:r>
              <a:rPr lang="en-US" altLang="zh-TW" sz="1950" dirty="0"/>
              <a:t>Kernels are written in HSAIL and then separately translated (statically, at install time, at load time, or dynamically) by a </a:t>
            </a:r>
            <a:r>
              <a:rPr lang="en-US" altLang="zh-TW" sz="1950" dirty="0" err="1"/>
              <a:t>finalizer</a:t>
            </a:r>
            <a:r>
              <a:rPr lang="en-US" altLang="zh-TW" sz="1950" dirty="0"/>
              <a:t> to the target instruction set</a:t>
            </a:r>
            <a:r>
              <a:rPr lang="en-US" altLang="zh-TW" sz="1950" dirty="0" smtClean="0"/>
              <a:t>.</a:t>
            </a:r>
          </a:p>
          <a:p>
            <a:endParaRPr lang="en-US" altLang="zh-TW" sz="1950" dirty="0"/>
          </a:p>
          <a:p>
            <a:r>
              <a:rPr lang="en-US" altLang="zh-TW" sz="1950" dirty="0" smtClean="0"/>
              <a:t>Kernel does not return a value.</a:t>
            </a:r>
            <a:endParaRPr lang="zh-TW" altLang="en-US" sz="1950" dirty="0"/>
          </a:p>
        </p:txBody>
      </p:sp>
      <p:sp>
        <p:nvSpPr>
          <p:cNvPr id="4" name="投影片編號版面配置區 3"/>
          <p:cNvSpPr>
            <a:spLocks noGrp="1"/>
          </p:cNvSpPr>
          <p:nvPr>
            <p:ph type="sldNum" sz="quarter" idx="10"/>
          </p:nvPr>
        </p:nvSpPr>
        <p:spPr/>
        <p:txBody>
          <a:bodyPr/>
          <a:lstStyle/>
          <a:p>
            <a:fld id="{6C75C586-0B13-4105-9895-CED4323B37DD}" type="slidenum">
              <a:rPr lang="zh-TW" altLang="en-US" smtClean="0"/>
              <a:pPr/>
              <a:t>9</a:t>
            </a:fld>
            <a:endParaRPr lang="zh-TW" altLang="en-US"/>
          </a:p>
        </p:txBody>
      </p:sp>
    </p:spTree>
    <p:extLst>
      <p:ext uri="{BB962C8B-B14F-4D97-AF65-F5344CB8AC3E}">
        <p14:creationId xmlns:p14="http://schemas.microsoft.com/office/powerpoint/2010/main" val="251395604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 HSAIL Virtual Language (1)</a:t>
            </a:r>
            <a:endParaRPr lang="zh-TW" altLang="en-US" dirty="0"/>
          </a:p>
        </p:txBody>
      </p:sp>
      <p:sp>
        <p:nvSpPr>
          <p:cNvPr id="3" name="內容版面配置區 2"/>
          <p:cNvSpPr>
            <a:spLocks noGrp="1"/>
          </p:cNvSpPr>
          <p:nvPr>
            <p:ph idx="1"/>
          </p:nvPr>
        </p:nvSpPr>
        <p:spPr/>
        <p:txBody>
          <a:bodyPr/>
          <a:lstStyle/>
          <a:p>
            <a:pPr marL="0" indent="0">
              <a:buNone/>
            </a:pPr>
            <a:endParaRPr lang="en-US" altLang="zh-TW" sz="1950" dirty="0"/>
          </a:p>
          <a:p>
            <a:pPr marL="0" indent="0">
              <a:buNone/>
            </a:pPr>
            <a:endParaRPr lang="en-US" altLang="zh-TW" sz="1950" dirty="0" smtClean="0"/>
          </a:p>
          <a:p>
            <a:r>
              <a:rPr lang="en-US" altLang="zh-TW" sz="1950" dirty="0" smtClean="0"/>
              <a:t>HSAIL </a:t>
            </a:r>
            <a:r>
              <a:rPr lang="en-US" altLang="zh-TW" sz="1950" dirty="0"/>
              <a:t>is a virtual instruction set designed for parallel processing.</a:t>
            </a:r>
          </a:p>
          <a:p>
            <a:endParaRPr lang="en-US" altLang="zh-TW" sz="1950" dirty="0"/>
          </a:p>
          <a:p>
            <a:r>
              <a:rPr lang="en-US" altLang="zh-TW" sz="1950" dirty="0" smtClean="0"/>
              <a:t>Each </a:t>
            </a:r>
            <a:r>
              <a:rPr lang="en-US" altLang="zh-TW" sz="1950" dirty="0"/>
              <a:t>implementation of HSA might be </a:t>
            </a:r>
            <a:r>
              <a:rPr lang="en-US" altLang="zh-TW" sz="1950" dirty="0" smtClean="0"/>
              <a:t>different</a:t>
            </a:r>
            <a:r>
              <a:rPr lang="en-US" altLang="zh-TW" sz="1950" dirty="0"/>
              <a:t>, </a:t>
            </a:r>
            <a:r>
              <a:rPr lang="en-US" altLang="zh-TW" sz="1950" dirty="0" smtClean="0"/>
              <a:t>but </a:t>
            </a:r>
            <a:r>
              <a:rPr lang="en-US" altLang="zh-TW" sz="1950" dirty="0"/>
              <a:t>all implementations will run any program written in </a:t>
            </a:r>
            <a:r>
              <a:rPr lang="en-US" altLang="zh-TW" sz="1950" dirty="0" smtClean="0"/>
              <a:t>HSAIL.</a:t>
            </a:r>
            <a:endParaRPr lang="en-US" altLang="zh-TW" sz="1950" dirty="0"/>
          </a:p>
          <a:p>
            <a:endParaRPr lang="en-US" altLang="zh-TW" sz="1950" dirty="0"/>
          </a:p>
          <a:p>
            <a:r>
              <a:rPr lang="en-US" altLang="zh-TW" sz="1950" dirty="0" smtClean="0"/>
              <a:t>Can </a:t>
            </a:r>
            <a:r>
              <a:rPr lang="en-US" altLang="zh-TW" sz="1950" dirty="0"/>
              <a:t>be translated into many different native instruction set.</a:t>
            </a:r>
          </a:p>
          <a:p>
            <a:endParaRPr lang="en-US" altLang="zh-TW" sz="1950" dirty="0"/>
          </a:p>
          <a:p>
            <a:r>
              <a:rPr lang="en-US" altLang="zh-TW" sz="1950" dirty="0" smtClean="0"/>
              <a:t>HSAIL </a:t>
            </a:r>
            <a:r>
              <a:rPr lang="en-US" altLang="zh-TW" sz="1950" dirty="0"/>
              <a:t>has no explicit parallel </a:t>
            </a:r>
            <a:r>
              <a:rPr lang="en-US" altLang="zh-TW" sz="1950" dirty="0" smtClean="0"/>
              <a:t>constructs, </a:t>
            </a:r>
            <a:r>
              <a:rPr lang="en-US" altLang="zh-TW" sz="1950" dirty="0"/>
              <a:t>each kernel contains operations for a single work-item.</a:t>
            </a:r>
          </a:p>
        </p:txBody>
      </p:sp>
      <p:sp>
        <p:nvSpPr>
          <p:cNvPr id="4" name="投影片編號版面配置區 3"/>
          <p:cNvSpPr>
            <a:spLocks noGrp="1"/>
          </p:cNvSpPr>
          <p:nvPr>
            <p:ph type="sldNum" sz="quarter" idx="10"/>
          </p:nvPr>
        </p:nvSpPr>
        <p:spPr/>
        <p:txBody>
          <a:bodyPr/>
          <a:lstStyle/>
          <a:p>
            <a:fld id="{6C75C586-0B13-4105-9895-CED4323B37DD}" type="slidenum">
              <a:rPr lang="zh-TW" altLang="en-US" smtClean="0"/>
              <a:pPr/>
              <a:t>10</a:t>
            </a:fld>
            <a:endParaRPr lang="zh-TW" altLang="en-US"/>
          </a:p>
        </p:txBody>
      </p:sp>
    </p:spTree>
    <p:extLst>
      <p:ext uri="{BB962C8B-B14F-4D97-AF65-F5344CB8AC3E}">
        <p14:creationId xmlns:p14="http://schemas.microsoft.com/office/powerpoint/2010/main" val="419615922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 HSAIL Virtual Language (2)</a:t>
            </a:r>
            <a:endParaRPr lang="zh-TW" altLang="en-US" dirty="0"/>
          </a:p>
        </p:txBody>
      </p:sp>
      <p:sp>
        <p:nvSpPr>
          <p:cNvPr id="3" name="內容版面配置區 2"/>
          <p:cNvSpPr>
            <a:spLocks noGrp="1"/>
          </p:cNvSpPr>
          <p:nvPr>
            <p:ph idx="1"/>
          </p:nvPr>
        </p:nvSpPr>
        <p:spPr/>
        <p:txBody>
          <a:bodyPr/>
          <a:lstStyle/>
          <a:p>
            <a:pPr marL="0" indent="0">
              <a:buNone/>
            </a:pPr>
            <a:endParaRPr lang="en-US" altLang="zh-TW" sz="1950" dirty="0" smtClean="0"/>
          </a:p>
          <a:p>
            <a:endParaRPr lang="en-US" altLang="zh-TW" sz="1950" dirty="0"/>
          </a:p>
          <a:p>
            <a:r>
              <a:rPr lang="en-US" altLang="zh-TW" sz="1950" dirty="0" smtClean="0"/>
              <a:t>HSAIL </a:t>
            </a:r>
            <a:r>
              <a:rPr lang="en-US" altLang="zh-TW" sz="1950" dirty="0"/>
              <a:t>program looks like a simple RISC-liked assembly program.</a:t>
            </a:r>
          </a:p>
          <a:p>
            <a:r>
              <a:rPr lang="en-US" altLang="zh-TW" sz="1950" dirty="0" smtClean="0"/>
              <a:t>HSAIL Operations</a:t>
            </a:r>
          </a:p>
          <a:p>
            <a:pPr lvl="1">
              <a:buSzPct val="80000"/>
            </a:pPr>
            <a:r>
              <a:rPr lang="en-US" altLang="zh-TW" dirty="0" smtClean="0"/>
              <a:t> opcode with a set of suffixes(data type, length, others)</a:t>
            </a:r>
          </a:p>
          <a:p>
            <a:pPr lvl="1">
              <a:buSzPct val="80000"/>
            </a:pPr>
            <a:r>
              <a:rPr lang="en-US" altLang="zh-TW" dirty="0" smtClean="0"/>
              <a:t> 3 operand</a:t>
            </a:r>
          </a:p>
          <a:p>
            <a:pPr lvl="1">
              <a:buSzPct val="80000"/>
            </a:pPr>
            <a:r>
              <a:rPr lang="en-US" altLang="zh-TW" dirty="0" smtClean="0"/>
              <a:t> RISC-like constructs</a:t>
            </a:r>
          </a:p>
          <a:p>
            <a:pPr marL="144662" lvl="1" indent="0">
              <a:buNone/>
            </a:pPr>
            <a:endParaRPr lang="en-US" altLang="zh-TW" dirty="0" smtClean="0"/>
          </a:p>
          <a:p>
            <a:r>
              <a:rPr lang="en-US" altLang="zh-TW" sz="1950" dirty="0" smtClean="0"/>
              <a:t>Have </a:t>
            </a:r>
            <a:r>
              <a:rPr lang="en-US" altLang="zh-TW" sz="1950" dirty="0"/>
              <a:t>pseudo-operations used to declare variables. </a:t>
            </a:r>
          </a:p>
          <a:p>
            <a:r>
              <a:rPr lang="en-US" altLang="zh-TW" sz="1950" dirty="0" smtClean="0"/>
              <a:t>All </a:t>
            </a:r>
            <a:r>
              <a:rPr lang="en-US" altLang="zh-TW" sz="1950" dirty="0"/>
              <a:t>operations except mem op are register-to-register only</a:t>
            </a:r>
            <a:r>
              <a:rPr lang="en-US" altLang="zh-TW" sz="1950" dirty="0" smtClean="0"/>
              <a:t>.</a:t>
            </a:r>
            <a:endParaRPr lang="en-US" altLang="zh-TW" sz="1950" dirty="0"/>
          </a:p>
        </p:txBody>
      </p:sp>
      <p:sp>
        <p:nvSpPr>
          <p:cNvPr id="4" name="投影片編號版面配置區 3"/>
          <p:cNvSpPr>
            <a:spLocks noGrp="1"/>
          </p:cNvSpPr>
          <p:nvPr>
            <p:ph type="sldNum" sz="quarter" idx="10"/>
          </p:nvPr>
        </p:nvSpPr>
        <p:spPr/>
        <p:txBody>
          <a:bodyPr/>
          <a:lstStyle/>
          <a:p>
            <a:fld id="{6C75C586-0B13-4105-9895-CED4323B37DD}" type="slidenum">
              <a:rPr lang="zh-TW" altLang="en-US" smtClean="0"/>
              <a:pPr/>
              <a:t>11</a:t>
            </a:fld>
            <a:endParaRPr lang="zh-TW" altLang="en-US"/>
          </a:p>
        </p:txBody>
      </p:sp>
    </p:spTree>
    <p:extLst>
      <p:ext uri="{BB962C8B-B14F-4D97-AF65-F5344CB8AC3E}">
        <p14:creationId xmlns:p14="http://schemas.microsoft.com/office/powerpoint/2010/main" val="110344119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 HSAIL Programming Model (1)</a:t>
            </a:r>
            <a:endParaRPr lang="zh-TW" altLang="en-US" dirty="0"/>
          </a:p>
        </p:txBody>
      </p:sp>
      <p:sp>
        <p:nvSpPr>
          <p:cNvPr id="3" name="內容版面配置區 2"/>
          <p:cNvSpPr>
            <a:spLocks noGrp="1"/>
          </p:cNvSpPr>
          <p:nvPr>
            <p:ph sz="half" idx="1"/>
          </p:nvPr>
        </p:nvSpPr>
        <p:spPr>
          <a:xfrm>
            <a:off x="215538" y="1701404"/>
            <a:ext cx="4280263" cy="3571092"/>
          </a:xfrm>
        </p:spPr>
        <p:txBody>
          <a:bodyPr/>
          <a:lstStyle/>
          <a:p>
            <a:endParaRPr lang="en-US" altLang="zh-TW" sz="1950" dirty="0"/>
          </a:p>
          <a:p>
            <a:r>
              <a:rPr lang="en-US" altLang="zh-TW" sz="1950" dirty="0"/>
              <a:t>When the </a:t>
            </a:r>
            <a:r>
              <a:rPr lang="en-US" altLang="zh-TW" sz="1950" i="1" dirty="0">
                <a:latin typeface="Times New Roman" panose="02020603050405020304" pitchFamily="18" charset="0"/>
                <a:cs typeface="Times New Roman" panose="02020603050405020304" pitchFamily="18" charset="0"/>
              </a:rPr>
              <a:t>kernel</a:t>
            </a:r>
            <a:r>
              <a:rPr lang="en-US" altLang="zh-TW" sz="1950" dirty="0"/>
              <a:t> starts, a multidimensional cube-shaped </a:t>
            </a:r>
            <a:r>
              <a:rPr lang="en-US" altLang="zh-TW" sz="1950" i="1" dirty="0">
                <a:latin typeface="Times New Roman" panose="02020603050405020304" pitchFamily="18" charset="0"/>
                <a:cs typeface="Times New Roman" panose="02020603050405020304" pitchFamily="18" charset="0"/>
              </a:rPr>
              <a:t>grid</a:t>
            </a:r>
            <a:r>
              <a:rPr lang="en-US" altLang="zh-TW" sz="1950" dirty="0"/>
              <a:t> is defined and one </a:t>
            </a:r>
            <a:r>
              <a:rPr lang="en-US" altLang="zh-TW" sz="1950" i="1" dirty="0">
                <a:latin typeface="Times New Roman" panose="02020603050405020304" pitchFamily="18" charset="0"/>
                <a:cs typeface="Times New Roman" panose="02020603050405020304" pitchFamily="18" charset="0"/>
              </a:rPr>
              <a:t>work-item</a:t>
            </a:r>
            <a:r>
              <a:rPr lang="en-US" altLang="zh-TW" sz="1950" dirty="0"/>
              <a:t> is launched for each point in the Grid.</a:t>
            </a:r>
          </a:p>
          <a:p>
            <a:endParaRPr lang="en-US" altLang="zh-TW" sz="1950" dirty="0"/>
          </a:p>
          <a:p>
            <a:r>
              <a:rPr lang="en-US" altLang="zh-TW" sz="1950" dirty="0"/>
              <a:t>A typical </a:t>
            </a:r>
            <a:r>
              <a:rPr lang="en-US" altLang="zh-TW" sz="1950" i="1" dirty="0">
                <a:latin typeface="Times New Roman" panose="02020603050405020304" pitchFamily="18" charset="0"/>
                <a:cs typeface="Times New Roman" panose="02020603050405020304" pitchFamily="18" charset="0"/>
              </a:rPr>
              <a:t>grid</a:t>
            </a:r>
            <a:r>
              <a:rPr lang="en-US" altLang="zh-TW" sz="1950" dirty="0"/>
              <a:t> will be large, so a single </a:t>
            </a:r>
            <a:r>
              <a:rPr lang="en-US" altLang="zh-TW" sz="1950" i="1" dirty="0">
                <a:latin typeface="Times New Roman" panose="02020603050405020304" pitchFamily="18" charset="0"/>
                <a:cs typeface="Times New Roman" panose="02020603050405020304" pitchFamily="18" charset="0"/>
              </a:rPr>
              <a:t>kernel</a:t>
            </a:r>
            <a:r>
              <a:rPr lang="en-US" altLang="zh-TW" sz="1950" dirty="0"/>
              <a:t> might launch thousands of </a:t>
            </a:r>
            <a:r>
              <a:rPr lang="en-US" altLang="zh-TW" sz="1950" i="1" dirty="0">
                <a:latin typeface="Times New Roman" panose="02020603050405020304" pitchFamily="18" charset="0"/>
                <a:cs typeface="Times New Roman" panose="02020603050405020304" pitchFamily="18" charset="0"/>
              </a:rPr>
              <a:t>work-items</a:t>
            </a:r>
            <a:r>
              <a:rPr lang="en-US" altLang="zh-TW" sz="1950" dirty="0"/>
              <a:t>.</a:t>
            </a:r>
          </a:p>
          <a:p>
            <a:endParaRPr lang="en-US" altLang="zh-TW" sz="1950" dirty="0"/>
          </a:p>
        </p:txBody>
      </p:sp>
      <p:sp>
        <p:nvSpPr>
          <p:cNvPr id="4" name="投影片編號版面配置區 3"/>
          <p:cNvSpPr>
            <a:spLocks noGrp="1"/>
          </p:cNvSpPr>
          <p:nvPr>
            <p:ph type="sldNum" sz="quarter" idx="10"/>
          </p:nvPr>
        </p:nvSpPr>
        <p:spPr/>
        <p:txBody>
          <a:bodyPr/>
          <a:lstStyle/>
          <a:p>
            <a:fld id="{6C75C586-0B13-4105-9895-CED4323B37DD}" type="slidenum">
              <a:rPr lang="zh-TW" altLang="en-US" smtClean="0"/>
              <a:pPr/>
              <a:t>12</a:t>
            </a:fld>
            <a:endParaRPr lang="zh-TW" altLang="en-US"/>
          </a:p>
        </p:txBody>
      </p:sp>
      <p:pic>
        <p:nvPicPr>
          <p:cNvPr id="5" name="圖片 4"/>
          <p:cNvPicPr>
            <a:picLocks noChangeAspect="1"/>
          </p:cNvPicPr>
          <p:nvPr/>
        </p:nvPicPr>
        <p:blipFill>
          <a:blip r:embed="rId2"/>
          <a:stretch>
            <a:fillRect/>
          </a:stretch>
        </p:blipFill>
        <p:spPr>
          <a:xfrm>
            <a:off x="4495801" y="1360259"/>
            <a:ext cx="4616592" cy="3912237"/>
          </a:xfrm>
          <a:prstGeom prst="rect">
            <a:avLst/>
          </a:prstGeom>
        </p:spPr>
      </p:pic>
    </p:spTree>
    <p:extLst>
      <p:ext uri="{BB962C8B-B14F-4D97-AF65-F5344CB8AC3E}">
        <p14:creationId xmlns:p14="http://schemas.microsoft.com/office/powerpoint/2010/main" val="237221724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 HSAIL Programming Model (2)</a:t>
            </a:r>
            <a:endParaRPr lang="zh-TW" altLang="en-US" dirty="0"/>
          </a:p>
        </p:txBody>
      </p:sp>
      <p:sp>
        <p:nvSpPr>
          <p:cNvPr id="3" name="內容版面配置區 2"/>
          <p:cNvSpPr>
            <a:spLocks noGrp="1"/>
          </p:cNvSpPr>
          <p:nvPr>
            <p:ph sz="half" idx="1"/>
          </p:nvPr>
        </p:nvSpPr>
        <p:spPr>
          <a:xfrm>
            <a:off x="209007" y="1701404"/>
            <a:ext cx="4286794" cy="4049323"/>
          </a:xfrm>
        </p:spPr>
        <p:txBody>
          <a:bodyPr/>
          <a:lstStyle/>
          <a:p>
            <a:endParaRPr lang="en-US" altLang="zh-TW" sz="1950" dirty="0"/>
          </a:p>
          <a:p>
            <a:r>
              <a:rPr lang="en-US" altLang="zh-TW" sz="1950" dirty="0"/>
              <a:t>Each launched </a:t>
            </a:r>
            <a:r>
              <a:rPr lang="en-US" altLang="zh-TW" sz="1950" i="1" dirty="0">
                <a:latin typeface="Times New Roman" panose="02020603050405020304" pitchFamily="18" charset="0"/>
                <a:cs typeface="Times New Roman" panose="02020603050405020304" pitchFamily="18" charset="0"/>
              </a:rPr>
              <a:t>work-item</a:t>
            </a:r>
            <a:r>
              <a:rPr lang="en-US" altLang="zh-TW" sz="1950" dirty="0"/>
              <a:t> executes the same </a:t>
            </a:r>
            <a:r>
              <a:rPr lang="en-US" altLang="zh-TW" sz="1950" i="1" dirty="0">
                <a:latin typeface="Times New Roman" panose="02020603050405020304" pitchFamily="18" charset="0"/>
                <a:cs typeface="Times New Roman" panose="02020603050405020304" pitchFamily="18" charset="0"/>
              </a:rPr>
              <a:t>kernel</a:t>
            </a:r>
            <a:r>
              <a:rPr lang="en-US" altLang="zh-TW" sz="1950" dirty="0"/>
              <a:t> code, but might take different control flow paths.</a:t>
            </a:r>
          </a:p>
          <a:p>
            <a:endParaRPr lang="en-US" altLang="zh-TW" sz="1950" dirty="0"/>
          </a:p>
          <a:p>
            <a:r>
              <a:rPr lang="en-US" altLang="zh-TW" sz="1950" dirty="0"/>
              <a:t>Execution of the </a:t>
            </a:r>
            <a:r>
              <a:rPr lang="en-US" altLang="zh-TW" sz="1950" i="1" dirty="0">
                <a:latin typeface="Times New Roman" panose="02020603050405020304" pitchFamily="18" charset="0"/>
                <a:cs typeface="Times New Roman" panose="02020603050405020304" pitchFamily="18" charset="0"/>
              </a:rPr>
              <a:t>kernel</a:t>
            </a:r>
            <a:r>
              <a:rPr lang="en-US" altLang="zh-TW" sz="1950" dirty="0"/>
              <a:t> is complete when all </a:t>
            </a:r>
            <a:r>
              <a:rPr lang="en-US" altLang="zh-TW" sz="1950" i="1" dirty="0">
                <a:latin typeface="Times New Roman" panose="02020603050405020304" pitchFamily="18" charset="0"/>
                <a:cs typeface="Times New Roman" panose="02020603050405020304" pitchFamily="18" charset="0"/>
              </a:rPr>
              <a:t>work-items</a:t>
            </a:r>
            <a:r>
              <a:rPr lang="en-US" altLang="zh-TW" sz="1950" dirty="0"/>
              <a:t> of the </a:t>
            </a:r>
            <a:r>
              <a:rPr lang="en-US" altLang="zh-TW" sz="1950" i="1" dirty="0">
                <a:latin typeface="Times New Roman" panose="02020603050405020304" pitchFamily="18" charset="0"/>
                <a:cs typeface="Times New Roman" panose="02020603050405020304" pitchFamily="18" charset="0"/>
              </a:rPr>
              <a:t>grid</a:t>
            </a:r>
            <a:r>
              <a:rPr lang="en-US" altLang="zh-TW" sz="1950" dirty="0"/>
              <a:t> have been launched and have completed their execution.</a:t>
            </a:r>
          </a:p>
          <a:p>
            <a:endParaRPr lang="en-US" altLang="zh-TW" sz="1950" dirty="0"/>
          </a:p>
        </p:txBody>
      </p:sp>
      <p:sp>
        <p:nvSpPr>
          <p:cNvPr id="4" name="投影片編號版面配置區 3"/>
          <p:cNvSpPr>
            <a:spLocks noGrp="1"/>
          </p:cNvSpPr>
          <p:nvPr>
            <p:ph type="sldNum" sz="quarter" idx="10"/>
          </p:nvPr>
        </p:nvSpPr>
        <p:spPr/>
        <p:txBody>
          <a:bodyPr/>
          <a:lstStyle/>
          <a:p>
            <a:fld id="{6C75C586-0B13-4105-9895-CED4323B37DD}" type="slidenum">
              <a:rPr lang="zh-TW" altLang="en-US" smtClean="0"/>
              <a:pPr/>
              <a:t>13</a:t>
            </a:fld>
            <a:endParaRPr lang="zh-TW" altLang="en-US"/>
          </a:p>
        </p:txBody>
      </p:sp>
      <p:pic>
        <p:nvPicPr>
          <p:cNvPr id="6" name="圖片 5"/>
          <p:cNvPicPr>
            <a:picLocks noChangeAspect="1"/>
          </p:cNvPicPr>
          <p:nvPr/>
        </p:nvPicPr>
        <p:blipFill>
          <a:blip r:embed="rId2"/>
          <a:stretch>
            <a:fillRect/>
          </a:stretch>
        </p:blipFill>
        <p:spPr>
          <a:xfrm>
            <a:off x="4495801" y="1360259"/>
            <a:ext cx="4616592" cy="3912237"/>
          </a:xfrm>
          <a:prstGeom prst="rect">
            <a:avLst/>
          </a:prstGeom>
        </p:spPr>
      </p:pic>
    </p:spTree>
    <p:extLst>
      <p:ext uri="{BB962C8B-B14F-4D97-AF65-F5344CB8AC3E}">
        <p14:creationId xmlns:p14="http://schemas.microsoft.com/office/powerpoint/2010/main" val="253723060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 HSAIL Programming Model (3)</a:t>
            </a:r>
            <a:endParaRPr lang="zh-TW" altLang="en-US" dirty="0"/>
          </a:p>
        </p:txBody>
      </p:sp>
      <p:sp>
        <p:nvSpPr>
          <p:cNvPr id="3" name="內容版面配置區 2"/>
          <p:cNvSpPr>
            <a:spLocks noGrp="1"/>
          </p:cNvSpPr>
          <p:nvPr>
            <p:ph sz="half" idx="1"/>
          </p:nvPr>
        </p:nvSpPr>
        <p:spPr>
          <a:xfrm>
            <a:off x="209007" y="1701404"/>
            <a:ext cx="4286794" cy="3401275"/>
          </a:xfrm>
        </p:spPr>
        <p:txBody>
          <a:bodyPr/>
          <a:lstStyle/>
          <a:p>
            <a:pPr>
              <a:buClrTx/>
              <a:buSzPct val="100000"/>
              <a:buFont typeface="Arial" panose="020B0604020202020204" pitchFamily="34" charset="0"/>
              <a:buChar char="•"/>
            </a:pPr>
            <a:endParaRPr lang="en-US" altLang="zh-TW" sz="1950" i="1" dirty="0">
              <a:latin typeface="Times New Roman" panose="02020603050405020304" pitchFamily="18" charset="0"/>
              <a:cs typeface="Times New Roman" panose="02020603050405020304" pitchFamily="18" charset="0"/>
            </a:endParaRPr>
          </a:p>
          <a:p>
            <a:r>
              <a:rPr lang="en-US" altLang="zh-TW" sz="1950" i="1" dirty="0">
                <a:latin typeface="Times New Roman" panose="02020603050405020304" pitchFamily="18" charset="0"/>
                <a:cs typeface="Times New Roman" panose="02020603050405020304" pitchFamily="18" charset="0"/>
              </a:rPr>
              <a:t>Work-items</a:t>
            </a:r>
            <a:r>
              <a:rPr lang="en-US" altLang="zh-TW" sz="1950" dirty="0"/>
              <a:t> are extremely lightweight, the overhead of context switching among </a:t>
            </a:r>
            <a:r>
              <a:rPr lang="en-US" altLang="zh-TW" sz="1950" i="1" dirty="0">
                <a:latin typeface="Times New Roman" panose="02020603050405020304" pitchFamily="18" charset="0"/>
                <a:cs typeface="Times New Roman" panose="02020603050405020304" pitchFamily="18" charset="0"/>
              </a:rPr>
              <a:t>work-items</a:t>
            </a:r>
            <a:r>
              <a:rPr lang="en-US" altLang="zh-TW" sz="1950" dirty="0"/>
              <a:t> is </a:t>
            </a:r>
            <a:r>
              <a:rPr lang="en-US" altLang="zh-TW" sz="1950" dirty="0" smtClean="0"/>
              <a:t>low.</a:t>
            </a:r>
            <a:endParaRPr lang="en-US" altLang="zh-TW" sz="1950" dirty="0"/>
          </a:p>
          <a:p>
            <a:endParaRPr lang="en-US" altLang="zh-TW" sz="1950" dirty="0"/>
          </a:p>
        </p:txBody>
      </p:sp>
      <p:sp>
        <p:nvSpPr>
          <p:cNvPr id="4" name="投影片編號版面配置區 3"/>
          <p:cNvSpPr>
            <a:spLocks noGrp="1"/>
          </p:cNvSpPr>
          <p:nvPr>
            <p:ph type="sldNum" sz="quarter" idx="10"/>
          </p:nvPr>
        </p:nvSpPr>
        <p:spPr/>
        <p:txBody>
          <a:bodyPr/>
          <a:lstStyle/>
          <a:p>
            <a:fld id="{6C75C586-0B13-4105-9895-CED4323B37DD}" type="slidenum">
              <a:rPr lang="zh-TW" altLang="en-US" smtClean="0"/>
              <a:pPr/>
              <a:t>14</a:t>
            </a:fld>
            <a:endParaRPr lang="zh-TW" altLang="en-US"/>
          </a:p>
        </p:txBody>
      </p:sp>
      <p:pic>
        <p:nvPicPr>
          <p:cNvPr id="7" name="圖片 6"/>
          <p:cNvPicPr>
            <a:picLocks noChangeAspect="1"/>
          </p:cNvPicPr>
          <p:nvPr/>
        </p:nvPicPr>
        <p:blipFill>
          <a:blip r:embed="rId2"/>
          <a:stretch>
            <a:fillRect/>
          </a:stretch>
        </p:blipFill>
        <p:spPr>
          <a:xfrm>
            <a:off x="4495801" y="1360259"/>
            <a:ext cx="4616592" cy="3912237"/>
          </a:xfrm>
          <a:prstGeom prst="rect">
            <a:avLst/>
          </a:prstGeom>
        </p:spPr>
      </p:pic>
    </p:spTree>
    <p:extLst>
      <p:ext uri="{BB962C8B-B14F-4D97-AF65-F5344CB8AC3E}">
        <p14:creationId xmlns:p14="http://schemas.microsoft.com/office/powerpoint/2010/main" val="378114409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92113" y="215080"/>
            <a:ext cx="8207375" cy="519113"/>
          </a:xfrm>
        </p:spPr>
        <p:txBody>
          <a:bodyPr/>
          <a:lstStyle/>
          <a:p>
            <a:r>
              <a:rPr lang="en-US" altLang="zh-TW" dirty="0" smtClean="0"/>
              <a:t>  HSAIL Programming Model (4)</a:t>
            </a:r>
            <a:endParaRPr lang="zh-TW" altLang="en-US" dirty="0"/>
          </a:p>
        </p:txBody>
      </p:sp>
      <p:sp>
        <p:nvSpPr>
          <p:cNvPr id="3" name="內容版面配置區 2"/>
          <p:cNvSpPr>
            <a:spLocks noGrp="1"/>
          </p:cNvSpPr>
          <p:nvPr>
            <p:ph sz="half" idx="1"/>
          </p:nvPr>
        </p:nvSpPr>
        <p:spPr>
          <a:xfrm>
            <a:off x="209007" y="1701404"/>
            <a:ext cx="4286794" cy="4049323"/>
          </a:xfrm>
        </p:spPr>
        <p:txBody>
          <a:bodyPr/>
          <a:lstStyle/>
          <a:p>
            <a:pPr>
              <a:buClrTx/>
              <a:buSzPct val="100000"/>
              <a:buFont typeface="Arial" panose="020B0604020202020204" pitchFamily="34" charset="0"/>
              <a:buChar char="•"/>
            </a:pPr>
            <a:endParaRPr lang="en-US" altLang="zh-TW" sz="1950" i="1" dirty="0">
              <a:latin typeface="Times New Roman" panose="02020603050405020304" pitchFamily="18" charset="0"/>
              <a:cs typeface="Times New Roman" panose="02020603050405020304" pitchFamily="18" charset="0"/>
            </a:endParaRPr>
          </a:p>
          <a:p>
            <a:r>
              <a:rPr lang="en-US" altLang="zh-TW" sz="1950" i="1" dirty="0">
                <a:latin typeface="Times New Roman" panose="02020603050405020304" pitchFamily="18" charset="0"/>
                <a:cs typeface="Times New Roman" panose="02020603050405020304" pitchFamily="18" charset="0"/>
              </a:rPr>
              <a:t>Work-items</a:t>
            </a:r>
            <a:r>
              <a:rPr lang="en-US" altLang="zh-TW" sz="1950" dirty="0"/>
              <a:t> within a </a:t>
            </a:r>
            <a:r>
              <a:rPr lang="en-US" altLang="zh-TW" sz="1950" i="1" dirty="0">
                <a:latin typeface="Times New Roman" panose="02020603050405020304" pitchFamily="18" charset="0"/>
                <a:cs typeface="Times New Roman" panose="02020603050405020304" pitchFamily="18" charset="0"/>
              </a:rPr>
              <a:t>work-group</a:t>
            </a:r>
            <a:r>
              <a:rPr lang="en-US" altLang="zh-TW" sz="1950" dirty="0"/>
              <a:t> can be executed in an extended SIMD style. That is, </a:t>
            </a:r>
            <a:r>
              <a:rPr lang="en-US" altLang="zh-TW" sz="1950" i="1" dirty="0">
                <a:latin typeface="Times New Roman" panose="02020603050405020304" pitchFamily="18" charset="0"/>
                <a:cs typeface="Times New Roman" panose="02020603050405020304" pitchFamily="18" charset="0"/>
              </a:rPr>
              <a:t>work-items</a:t>
            </a:r>
            <a:r>
              <a:rPr lang="en-US" altLang="zh-TW" sz="1950" dirty="0"/>
              <a:t> are gang-scheduled in chunks called </a:t>
            </a:r>
            <a:r>
              <a:rPr lang="en-US" altLang="zh-TW" sz="1950" i="1" dirty="0" err="1">
                <a:latin typeface="Times New Roman" panose="02020603050405020304" pitchFamily="18" charset="0"/>
                <a:cs typeface="Times New Roman" panose="02020603050405020304" pitchFamily="18" charset="0"/>
              </a:rPr>
              <a:t>wavefronts</a:t>
            </a:r>
            <a:r>
              <a:rPr lang="en-US" altLang="zh-TW" sz="1950" dirty="0"/>
              <a:t>. </a:t>
            </a:r>
          </a:p>
          <a:p>
            <a:endParaRPr lang="en-US" altLang="zh-TW" sz="1950" dirty="0"/>
          </a:p>
          <a:p>
            <a:r>
              <a:rPr lang="en-US" altLang="zh-TW" sz="1950" dirty="0"/>
              <a:t>Executing </a:t>
            </a:r>
            <a:r>
              <a:rPr lang="en-US" altLang="zh-TW" sz="1950" i="1" dirty="0">
                <a:latin typeface="Times New Roman" panose="02020603050405020304" pitchFamily="18" charset="0"/>
                <a:cs typeface="Times New Roman" panose="02020603050405020304" pitchFamily="18" charset="0"/>
              </a:rPr>
              <a:t>work-items</a:t>
            </a:r>
            <a:r>
              <a:rPr lang="en-US" altLang="zh-TW" sz="1950" dirty="0"/>
              <a:t> in </a:t>
            </a:r>
            <a:r>
              <a:rPr lang="en-US" altLang="zh-TW" sz="1950" i="1" dirty="0" err="1">
                <a:latin typeface="Times New Roman" panose="02020603050405020304" pitchFamily="18" charset="0"/>
                <a:cs typeface="Times New Roman" panose="02020603050405020304" pitchFamily="18" charset="0"/>
              </a:rPr>
              <a:t>wavefronts</a:t>
            </a:r>
            <a:r>
              <a:rPr lang="en-US" altLang="zh-TW" sz="1950" dirty="0"/>
              <a:t> can allow implementations to improve computational density.</a:t>
            </a:r>
          </a:p>
        </p:txBody>
      </p:sp>
      <p:sp>
        <p:nvSpPr>
          <p:cNvPr id="4" name="投影片編號版面配置區 3"/>
          <p:cNvSpPr>
            <a:spLocks noGrp="1"/>
          </p:cNvSpPr>
          <p:nvPr>
            <p:ph type="sldNum" sz="quarter" idx="10"/>
          </p:nvPr>
        </p:nvSpPr>
        <p:spPr/>
        <p:txBody>
          <a:bodyPr/>
          <a:lstStyle/>
          <a:p>
            <a:fld id="{6C75C586-0B13-4105-9895-CED4323B37DD}" type="slidenum">
              <a:rPr lang="zh-TW" altLang="en-US" smtClean="0"/>
              <a:pPr/>
              <a:t>15</a:t>
            </a:fld>
            <a:endParaRPr lang="zh-TW" altLang="en-US"/>
          </a:p>
        </p:txBody>
      </p:sp>
      <p:pic>
        <p:nvPicPr>
          <p:cNvPr id="7" name="圖片 6"/>
          <p:cNvPicPr>
            <a:picLocks noChangeAspect="1"/>
          </p:cNvPicPr>
          <p:nvPr/>
        </p:nvPicPr>
        <p:blipFill>
          <a:blip r:embed="rId2"/>
          <a:stretch>
            <a:fillRect/>
          </a:stretch>
        </p:blipFill>
        <p:spPr>
          <a:xfrm>
            <a:off x="4495801" y="1360259"/>
            <a:ext cx="4616592" cy="3912237"/>
          </a:xfrm>
          <a:prstGeom prst="rect">
            <a:avLst/>
          </a:prstGeom>
        </p:spPr>
      </p:pic>
    </p:spTree>
    <p:extLst>
      <p:ext uri="{BB962C8B-B14F-4D97-AF65-F5344CB8AC3E}">
        <p14:creationId xmlns:p14="http://schemas.microsoft.com/office/powerpoint/2010/main" val="305832142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 HSAIL Programming Model (5)</a:t>
            </a:r>
            <a:endParaRPr lang="zh-TW" altLang="en-US" dirty="0"/>
          </a:p>
        </p:txBody>
      </p:sp>
      <p:sp>
        <p:nvSpPr>
          <p:cNvPr id="3" name="內容版面配置區 2"/>
          <p:cNvSpPr>
            <a:spLocks noGrp="1"/>
          </p:cNvSpPr>
          <p:nvPr>
            <p:ph sz="half" idx="1"/>
          </p:nvPr>
        </p:nvSpPr>
        <p:spPr>
          <a:xfrm>
            <a:off x="209007" y="1701404"/>
            <a:ext cx="4286794" cy="2967918"/>
          </a:xfrm>
        </p:spPr>
        <p:txBody>
          <a:bodyPr/>
          <a:lstStyle/>
          <a:p>
            <a:pPr>
              <a:buClrTx/>
              <a:buSzPct val="100000"/>
              <a:buFont typeface="Arial" panose="020B0604020202020204" pitchFamily="34" charset="0"/>
              <a:buChar char="•"/>
            </a:pPr>
            <a:endParaRPr lang="en-US" altLang="zh-TW" sz="1950" dirty="0"/>
          </a:p>
          <a:p>
            <a:r>
              <a:rPr lang="en-US" altLang="zh-TW" sz="1950" dirty="0"/>
              <a:t>A </a:t>
            </a:r>
            <a:r>
              <a:rPr lang="en-US" altLang="zh-TW" sz="1950" i="1" dirty="0">
                <a:latin typeface="Times New Roman" panose="02020603050405020304" pitchFamily="18" charset="0"/>
                <a:cs typeface="Times New Roman" panose="02020603050405020304" pitchFamily="18" charset="0"/>
              </a:rPr>
              <a:t>lane</a:t>
            </a:r>
            <a:r>
              <a:rPr lang="en-US" altLang="zh-TW" sz="1950" dirty="0"/>
              <a:t> is an element of a </a:t>
            </a:r>
            <a:r>
              <a:rPr lang="en-US" altLang="zh-TW" sz="1950" i="1" dirty="0" err="1">
                <a:latin typeface="Times New Roman" panose="02020603050405020304" pitchFamily="18" charset="0"/>
                <a:cs typeface="Times New Roman" panose="02020603050405020304" pitchFamily="18" charset="0"/>
              </a:rPr>
              <a:t>wavefront</a:t>
            </a:r>
            <a:r>
              <a:rPr lang="en-US" altLang="zh-TW" sz="1950" dirty="0"/>
              <a:t>. The </a:t>
            </a:r>
            <a:r>
              <a:rPr lang="en-US" altLang="zh-TW" sz="1950" i="1" dirty="0" err="1">
                <a:latin typeface="Times New Roman" panose="02020603050405020304" pitchFamily="18" charset="0"/>
                <a:cs typeface="Times New Roman" panose="02020603050405020304" pitchFamily="18" charset="0"/>
              </a:rPr>
              <a:t>wavefront</a:t>
            </a:r>
            <a:r>
              <a:rPr lang="en-US" altLang="zh-TW" sz="1950" i="1" dirty="0">
                <a:latin typeface="Times New Roman" panose="02020603050405020304" pitchFamily="18" charset="0"/>
                <a:cs typeface="Times New Roman" panose="02020603050405020304" pitchFamily="18" charset="0"/>
              </a:rPr>
              <a:t> size </a:t>
            </a:r>
            <a:r>
              <a:rPr lang="en-US" altLang="zh-TW" sz="1950" dirty="0"/>
              <a:t>is the </a:t>
            </a:r>
            <a:r>
              <a:rPr lang="en-US" altLang="zh-TW" sz="1950" i="1" dirty="0">
                <a:latin typeface="Times New Roman" panose="02020603050405020304" pitchFamily="18" charset="0"/>
                <a:cs typeface="Times New Roman" panose="02020603050405020304" pitchFamily="18" charset="0"/>
              </a:rPr>
              <a:t>number of lanes </a:t>
            </a:r>
            <a:r>
              <a:rPr lang="en-US" altLang="zh-TW" sz="1950" dirty="0"/>
              <a:t>in a </a:t>
            </a:r>
            <a:r>
              <a:rPr lang="en-US" altLang="zh-TW" sz="1950" i="1" dirty="0" err="1">
                <a:latin typeface="Times New Roman" panose="02020603050405020304" pitchFamily="18" charset="0"/>
                <a:cs typeface="Times New Roman" panose="02020603050405020304" pitchFamily="18" charset="0"/>
              </a:rPr>
              <a:t>wavefront</a:t>
            </a:r>
            <a:r>
              <a:rPr lang="en-US" altLang="zh-TW" sz="1950" dirty="0"/>
              <a:t>.</a:t>
            </a:r>
          </a:p>
        </p:txBody>
      </p:sp>
      <p:sp>
        <p:nvSpPr>
          <p:cNvPr id="4" name="投影片編號版面配置區 3"/>
          <p:cNvSpPr>
            <a:spLocks noGrp="1"/>
          </p:cNvSpPr>
          <p:nvPr>
            <p:ph type="sldNum" sz="quarter" idx="10"/>
          </p:nvPr>
        </p:nvSpPr>
        <p:spPr/>
        <p:txBody>
          <a:bodyPr/>
          <a:lstStyle/>
          <a:p>
            <a:fld id="{6C75C586-0B13-4105-9895-CED4323B37DD}" type="slidenum">
              <a:rPr lang="zh-TW" altLang="en-US" smtClean="0"/>
              <a:pPr/>
              <a:t>16</a:t>
            </a:fld>
            <a:endParaRPr lang="zh-TW" altLang="en-US"/>
          </a:p>
        </p:txBody>
      </p:sp>
      <p:pic>
        <p:nvPicPr>
          <p:cNvPr id="7" name="圖片 6"/>
          <p:cNvPicPr>
            <a:picLocks noChangeAspect="1"/>
          </p:cNvPicPr>
          <p:nvPr/>
        </p:nvPicPr>
        <p:blipFill>
          <a:blip r:embed="rId2"/>
          <a:stretch>
            <a:fillRect/>
          </a:stretch>
        </p:blipFill>
        <p:spPr>
          <a:xfrm>
            <a:off x="4495801" y="1360259"/>
            <a:ext cx="4616592" cy="3912237"/>
          </a:xfrm>
          <a:prstGeom prst="rect">
            <a:avLst/>
          </a:prstGeom>
        </p:spPr>
      </p:pic>
    </p:spTree>
    <p:extLst>
      <p:ext uri="{BB962C8B-B14F-4D97-AF65-F5344CB8AC3E}">
        <p14:creationId xmlns:p14="http://schemas.microsoft.com/office/powerpoint/2010/main" val="307189539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版面配置區 4"/>
          <p:cNvSpPr>
            <a:spLocks noGrp="1"/>
          </p:cNvSpPr>
          <p:nvPr>
            <p:ph type="body" idx="1"/>
          </p:nvPr>
        </p:nvSpPr>
        <p:spPr>
          <a:xfrm>
            <a:off x="3794540" y="4995828"/>
            <a:ext cx="2334118" cy="479822"/>
          </a:xfrm>
        </p:spPr>
        <p:txBody>
          <a:bodyPr/>
          <a:lstStyle/>
          <a:p>
            <a:pPr algn="ctr"/>
            <a:r>
              <a:rPr lang="en-US" altLang="zh-TW" sz="1950" b="0" dirty="0"/>
              <a:t>HSAIL Kernel</a:t>
            </a:r>
            <a:endParaRPr lang="zh-TW" altLang="en-US" sz="1950" b="0" dirty="0"/>
          </a:p>
        </p:txBody>
      </p:sp>
      <p:pic>
        <p:nvPicPr>
          <p:cNvPr id="10" name="內容版面配置區 9"/>
          <p:cNvPicPr>
            <a:picLocks noGrp="1" noChangeAspect="1"/>
          </p:cNvPicPr>
          <p:nvPr>
            <p:ph sz="half" idx="2"/>
          </p:nvPr>
        </p:nvPicPr>
        <p:blipFill>
          <a:blip r:embed="rId2" cstate="print"/>
          <a:stretch>
            <a:fillRect/>
          </a:stretch>
        </p:blipFill>
        <p:spPr>
          <a:xfrm>
            <a:off x="5742444" y="1660071"/>
            <a:ext cx="2769325" cy="3815579"/>
          </a:xfrm>
          <a:prstGeom prst="rect">
            <a:avLst/>
          </a:prstGeom>
        </p:spPr>
      </p:pic>
      <p:sp>
        <p:nvSpPr>
          <p:cNvPr id="7" name="文字版面配置區 6"/>
          <p:cNvSpPr>
            <a:spLocks noGrp="1"/>
          </p:cNvSpPr>
          <p:nvPr>
            <p:ph type="body" sz="quarter" idx="3"/>
          </p:nvPr>
        </p:nvSpPr>
        <p:spPr>
          <a:xfrm>
            <a:off x="226424" y="1679665"/>
            <a:ext cx="2734491" cy="509501"/>
          </a:xfrm>
        </p:spPr>
        <p:txBody>
          <a:bodyPr/>
          <a:lstStyle/>
          <a:p>
            <a:pPr algn="ctr"/>
            <a:r>
              <a:rPr lang="en-US" altLang="zh-TW" sz="1950" b="0" dirty="0" err="1"/>
              <a:t>OpenCL</a:t>
            </a:r>
            <a:r>
              <a:rPr lang="en-US" altLang="zh-TW" sz="1950" b="0" dirty="0"/>
              <a:t> Kernel</a:t>
            </a:r>
            <a:endParaRPr lang="zh-TW" altLang="en-US" sz="1950" b="0" dirty="0"/>
          </a:p>
        </p:txBody>
      </p:sp>
      <p:pic>
        <p:nvPicPr>
          <p:cNvPr id="9" name="內容版面配置區 8"/>
          <p:cNvPicPr>
            <a:picLocks noGrp="1" noChangeAspect="1"/>
          </p:cNvPicPr>
          <p:nvPr>
            <p:ph sz="quarter" idx="4"/>
          </p:nvPr>
        </p:nvPicPr>
        <p:blipFill>
          <a:blip r:embed="rId3" cstate="print"/>
          <a:stretch>
            <a:fillRect/>
          </a:stretch>
        </p:blipFill>
        <p:spPr>
          <a:xfrm>
            <a:off x="410844" y="2189166"/>
            <a:ext cx="4041775" cy="1655831"/>
          </a:xfrm>
          <a:prstGeom prst="rect">
            <a:avLst/>
          </a:prstGeom>
        </p:spPr>
      </p:pic>
      <p:sp>
        <p:nvSpPr>
          <p:cNvPr id="12" name="標題 1"/>
          <p:cNvSpPr>
            <a:spLocks noGrp="1"/>
          </p:cNvSpPr>
          <p:nvPr>
            <p:ph type="title"/>
          </p:nvPr>
        </p:nvSpPr>
        <p:spPr>
          <a:xfrm>
            <a:off x="488393" y="1026279"/>
            <a:ext cx="4357923" cy="389335"/>
          </a:xfrm>
        </p:spPr>
        <p:txBody>
          <a:bodyPr/>
          <a:lstStyle/>
          <a:p>
            <a:r>
              <a:rPr lang="en-US" altLang="zh-TW" dirty="0" smtClean="0"/>
              <a:t> HSAIL Example</a:t>
            </a:r>
            <a:endParaRPr lang="zh-TW" altLang="en-US" dirty="0"/>
          </a:p>
        </p:txBody>
      </p:sp>
      <p:sp>
        <p:nvSpPr>
          <p:cNvPr id="2" name="投影片編號版面配置區 1"/>
          <p:cNvSpPr>
            <a:spLocks noGrp="1"/>
          </p:cNvSpPr>
          <p:nvPr>
            <p:ph type="sldNum" sz="quarter" idx="10"/>
          </p:nvPr>
        </p:nvSpPr>
        <p:spPr/>
        <p:txBody>
          <a:bodyPr/>
          <a:lstStyle/>
          <a:p>
            <a:fld id="{6C75C586-0B13-4105-9895-CED4323B37DD}" type="slidenum">
              <a:rPr lang="zh-TW" altLang="en-US" smtClean="0"/>
              <a:pPr/>
              <a:t>17</a:t>
            </a:fld>
            <a:endParaRPr lang="zh-TW" altLang="en-US"/>
          </a:p>
        </p:txBody>
      </p:sp>
    </p:spTree>
    <p:extLst>
      <p:ext uri="{BB962C8B-B14F-4D97-AF65-F5344CB8AC3E}">
        <p14:creationId xmlns:p14="http://schemas.microsoft.com/office/powerpoint/2010/main" val="9751269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標題 7"/>
          <p:cNvSpPr>
            <a:spLocks noGrp="1"/>
          </p:cNvSpPr>
          <p:nvPr>
            <p:ph type="title"/>
          </p:nvPr>
        </p:nvSpPr>
        <p:spPr/>
        <p:txBody>
          <a:bodyPr/>
          <a:lstStyle/>
          <a:p>
            <a:r>
              <a:rPr lang="en-US" altLang="zh-TW" dirty="0" smtClean="0"/>
              <a:t>HSA Runtime support for HSAIL Life Cycle</a:t>
            </a:r>
            <a:endParaRPr lang="zh-TW" altLang="en-US" dirty="0"/>
          </a:p>
        </p:txBody>
      </p:sp>
      <p:sp>
        <p:nvSpPr>
          <p:cNvPr id="7" name="投影片編號版面配置區 6"/>
          <p:cNvSpPr>
            <a:spLocks noGrp="1"/>
          </p:cNvSpPr>
          <p:nvPr>
            <p:ph type="sldNum" sz="quarter" idx="10"/>
          </p:nvPr>
        </p:nvSpPr>
        <p:spPr/>
        <p:txBody>
          <a:bodyPr/>
          <a:lstStyle/>
          <a:p>
            <a:fld id="{557A4102-9134-4DE4-89E3-9E7F1698ADF0}" type="slidenum">
              <a:rPr lang="zh-TW" altLang="en-US" smtClean="0"/>
              <a:pPr/>
              <a:t>18</a:t>
            </a:fld>
            <a:endParaRPr lang="zh-TW" altLang="en-US"/>
          </a:p>
        </p:txBody>
      </p:sp>
      <p:sp>
        <p:nvSpPr>
          <p:cNvPr id="15"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graphicFrame>
        <p:nvGraphicFramePr>
          <p:cNvPr id="16" name="物件 15"/>
          <p:cNvGraphicFramePr>
            <a:graphicFrameLocks noChangeAspect="1"/>
          </p:cNvGraphicFramePr>
          <p:nvPr>
            <p:extLst>
              <p:ext uri="{D42A27DB-BD31-4B8C-83A1-F6EECF244321}">
                <p14:modId xmlns:p14="http://schemas.microsoft.com/office/powerpoint/2010/main" val="4211043544"/>
              </p:ext>
            </p:extLst>
          </p:nvPr>
        </p:nvGraphicFramePr>
        <p:xfrm>
          <a:off x="1049143" y="981075"/>
          <a:ext cx="6848670" cy="5809955"/>
        </p:xfrm>
        <a:graphic>
          <a:graphicData uri="http://schemas.openxmlformats.org/presentationml/2006/ole">
            <mc:AlternateContent xmlns:mc="http://schemas.openxmlformats.org/markup-compatibility/2006">
              <mc:Choice xmlns:v="urn:schemas-microsoft-com:vml" Requires="v">
                <p:oleObj spid="_x0000_s1039" r:id="rId3" imgW="8168449" imgH="6940391" progId="Visio.Drawing.11">
                  <p:embed/>
                </p:oleObj>
              </mc:Choice>
              <mc:Fallback>
                <p:oleObj r:id="rId3" imgW="8168449" imgH="6940391" progId="Visio.Drawing.11">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9143" y="981075"/>
                        <a:ext cx="6848670" cy="5809955"/>
                      </a:xfrm>
                      <a:prstGeom prst="rect">
                        <a:avLst/>
                      </a:prstGeom>
                      <a:noFill/>
                    </p:spPr>
                  </p:pic>
                </p:oleObj>
              </mc:Fallback>
            </mc:AlternateContent>
          </a:graphicData>
        </a:graphic>
      </p:graphicFrame>
    </p:spTree>
    <p:extLst>
      <p:ext uri="{BB962C8B-B14F-4D97-AF65-F5344CB8AC3E}">
        <p14:creationId xmlns:p14="http://schemas.microsoft.com/office/powerpoint/2010/main" val="166101811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Unified Memory Model (1)</a:t>
            </a:r>
            <a:endParaRPr lang="zh-TW" altLang="en-US" dirty="0"/>
          </a:p>
        </p:txBody>
      </p:sp>
      <p:sp>
        <p:nvSpPr>
          <p:cNvPr id="3" name="內容版面配置區 2"/>
          <p:cNvSpPr>
            <a:spLocks noGrp="1"/>
          </p:cNvSpPr>
          <p:nvPr>
            <p:ph idx="1"/>
          </p:nvPr>
        </p:nvSpPr>
        <p:spPr/>
        <p:txBody>
          <a:bodyPr/>
          <a:lstStyle/>
          <a:p>
            <a:endParaRPr lang="en-US" altLang="zh-TW" sz="1950" dirty="0" smtClean="0"/>
          </a:p>
          <a:p>
            <a:endParaRPr lang="en-US" altLang="zh-TW" sz="1950" dirty="0" smtClean="0"/>
          </a:p>
          <a:p>
            <a:r>
              <a:rPr lang="en-US" altLang="zh-TW" sz="1950" dirty="0" smtClean="0"/>
              <a:t>HSA </a:t>
            </a:r>
            <a:r>
              <a:rPr lang="en-US" altLang="zh-TW" sz="1950" dirty="0"/>
              <a:t>has a unified memory model, where all HSAIL work-items and agents can use the same pointers, and a pointer can address any kind of HSA memory.</a:t>
            </a:r>
          </a:p>
          <a:p>
            <a:endParaRPr lang="en-US" altLang="zh-TW" sz="1950" dirty="0"/>
          </a:p>
          <a:p>
            <a:r>
              <a:rPr lang="en-US" altLang="zh-TW" sz="1950" dirty="0"/>
              <a:t>Programmers are relieved of much of the burden of memory management.</a:t>
            </a:r>
          </a:p>
          <a:p>
            <a:endParaRPr lang="en-US" altLang="zh-TW" sz="1950" dirty="0"/>
          </a:p>
          <a:p>
            <a:r>
              <a:rPr lang="en-US" altLang="zh-TW" sz="1950" dirty="0"/>
              <a:t>The HSA system determines if a load or store address should be visible to all agents in the system (global memory), visible only to work-items in a group (group memory), or private to a work-item (private memory).</a:t>
            </a:r>
          </a:p>
        </p:txBody>
      </p:sp>
      <p:sp>
        <p:nvSpPr>
          <p:cNvPr id="4" name="投影片編號版面配置區 3"/>
          <p:cNvSpPr>
            <a:spLocks noGrp="1"/>
          </p:cNvSpPr>
          <p:nvPr>
            <p:ph type="sldNum" sz="quarter" idx="10"/>
          </p:nvPr>
        </p:nvSpPr>
        <p:spPr/>
        <p:txBody>
          <a:bodyPr/>
          <a:lstStyle/>
          <a:p>
            <a:fld id="{6C75C586-0B13-4105-9895-CED4323B37DD}" type="slidenum">
              <a:rPr lang="zh-TW" altLang="en-US" smtClean="0"/>
              <a:pPr/>
              <a:t>19</a:t>
            </a:fld>
            <a:endParaRPr lang="zh-TW" altLang="en-US"/>
          </a:p>
        </p:txBody>
      </p:sp>
    </p:spTree>
    <p:extLst>
      <p:ext uri="{BB962C8B-B14F-4D97-AF65-F5344CB8AC3E}">
        <p14:creationId xmlns:p14="http://schemas.microsoft.com/office/powerpoint/2010/main" val="335079804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Unified Memory Model (2)</a:t>
            </a:r>
            <a:endParaRPr lang="zh-TW" altLang="en-US" dirty="0"/>
          </a:p>
        </p:txBody>
      </p:sp>
      <p:sp>
        <p:nvSpPr>
          <p:cNvPr id="3" name="內容版面配置區 2"/>
          <p:cNvSpPr>
            <a:spLocks noGrp="1"/>
          </p:cNvSpPr>
          <p:nvPr>
            <p:ph idx="1"/>
          </p:nvPr>
        </p:nvSpPr>
        <p:spPr/>
        <p:txBody>
          <a:bodyPr/>
          <a:lstStyle/>
          <a:p>
            <a:pPr marL="0" indent="0">
              <a:buNone/>
            </a:pPr>
            <a:endParaRPr lang="en-US" altLang="zh-TW" sz="1950" dirty="0" smtClean="0"/>
          </a:p>
          <a:p>
            <a:pPr marL="0" indent="0">
              <a:buNone/>
            </a:pPr>
            <a:endParaRPr lang="en-US" altLang="zh-TW" sz="1950" dirty="0"/>
          </a:p>
          <a:p>
            <a:r>
              <a:rPr lang="en-US" altLang="zh-TW" sz="1950" dirty="0"/>
              <a:t>The same pointer can be used by all agents in the system including all host CPUs and all </a:t>
            </a:r>
            <a:r>
              <a:rPr lang="en-US" altLang="zh-TW" sz="1950" dirty="0" smtClean="0"/>
              <a:t>Kernel agents.</a:t>
            </a:r>
            <a:endParaRPr lang="en-US" altLang="zh-TW" sz="1950" dirty="0"/>
          </a:p>
          <a:p>
            <a:endParaRPr lang="en-US" altLang="zh-TW" sz="1950" dirty="0"/>
          </a:p>
          <a:p>
            <a:r>
              <a:rPr lang="en-US" altLang="zh-TW" sz="1950" dirty="0"/>
              <a:t>Global memory (but not group memory or private memory) is coherent between all agents.</a:t>
            </a:r>
          </a:p>
        </p:txBody>
      </p:sp>
      <p:sp>
        <p:nvSpPr>
          <p:cNvPr id="4" name="投影片編號版面配置區 3"/>
          <p:cNvSpPr>
            <a:spLocks noGrp="1"/>
          </p:cNvSpPr>
          <p:nvPr>
            <p:ph type="sldNum" sz="quarter" idx="10"/>
          </p:nvPr>
        </p:nvSpPr>
        <p:spPr/>
        <p:txBody>
          <a:bodyPr/>
          <a:lstStyle/>
          <a:p>
            <a:fld id="{6C75C586-0B13-4105-9895-CED4323B37DD}" type="slidenum">
              <a:rPr lang="zh-TW" altLang="en-US" smtClean="0"/>
              <a:pPr/>
              <a:t>20</a:t>
            </a:fld>
            <a:endParaRPr lang="zh-TW" altLang="en-US"/>
          </a:p>
        </p:txBody>
      </p:sp>
    </p:spTree>
    <p:extLst>
      <p:ext uri="{BB962C8B-B14F-4D97-AF65-F5344CB8AC3E}">
        <p14:creationId xmlns:p14="http://schemas.microsoft.com/office/powerpoint/2010/main" val="248045467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162050"/>
            <a:ext cx="6788331" cy="519113"/>
          </a:xfrm>
        </p:spPr>
        <p:txBody>
          <a:bodyPr/>
          <a:lstStyle/>
          <a:p>
            <a:r>
              <a:rPr lang="en-US" altLang="zh-TW" dirty="0" smtClean="0"/>
              <a:t> Types of Memory</a:t>
            </a:r>
            <a:endParaRPr lang="zh-TW" altLang="en-US" dirty="0"/>
          </a:p>
        </p:txBody>
      </p:sp>
      <p:sp>
        <p:nvSpPr>
          <p:cNvPr id="3" name="內容版面配置區 2"/>
          <p:cNvSpPr>
            <a:spLocks noGrp="1"/>
          </p:cNvSpPr>
          <p:nvPr>
            <p:ph idx="1"/>
          </p:nvPr>
        </p:nvSpPr>
        <p:spPr>
          <a:xfrm>
            <a:off x="457200" y="1661060"/>
            <a:ext cx="8229600" cy="3930321"/>
          </a:xfrm>
        </p:spPr>
        <p:txBody>
          <a:bodyPr/>
          <a:lstStyle/>
          <a:p>
            <a:pPr marL="0" indent="0">
              <a:buNone/>
            </a:pPr>
            <a:r>
              <a:rPr lang="en-US" altLang="zh-TW" sz="1950" dirty="0"/>
              <a:t>HSAIL memory is organized into three types:</a:t>
            </a:r>
          </a:p>
          <a:p>
            <a:pPr marL="0" indent="0">
              <a:buNone/>
            </a:pPr>
            <a:endParaRPr lang="en-US" altLang="zh-TW" sz="1950" dirty="0"/>
          </a:p>
          <a:p>
            <a:r>
              <a:rPr lang="en-US" altLang="zh-TW" sz="1950" dirty="0"/>
              <a:t>Flat memory: Flat memory is a simple interface using byte addresses. Loads and stores can be used to reference any visible location in the flat memory.</a:t>
            </a:r>
          </a:p>
          <a:p>
            <a:r>
              <a:rPr lang="en-US" altLang="zh-TW" sz="1950" dirty="0"/>
              <a:t> Registers: </a:t>
            </a:r>
            <a:r>
              <a:rPr lang="en-US" altLang="zh-TW" sz="1800" dirty="0"/>
              <a:t>1bit, 32bit, 64bit, 128bit.</a:t>
            </a:r>
          </a:p>
          <a:p>
            <a:pPr lvl="1">
              <a:buSzPct val="80000"/>
            </a:pPr>
            <a:r>
              <a:rPr lang="en-US" altLang="zh-TW" dirty="0" smtClean="0"/>
              <a:t>Registers are </a:t>
            </a:r>
            <a:r>
              <a:rPr lang="en-US" altLang="zh-TW" dirty="0" err="1" smtClean="0"/>
              <a:t>untyped</a:t>
            </a:r>
            <a:r>
              <a:rPr lang="en-US" altLang="zh-TW" dirty="0" smtClean="0"/>
              <a:t>.</a:t>
            </a:r>
          </a:p>
          <a:p>
            <a:r>
              <a:rPr lang="en-US" altLang="zh-TW" sz="1950" dirty="0"/>
              <a:t> Image memory</a:t>
            </a:r>
          </a:p>
          <a:p>
            <a:pPr lvl="1">
              <a:buSzPct val="80000"/>
            </a:pPr>
            <a:r>
              <a:rPr lang="en-US" altLang="zh-TW" dirty="0" smtClean="0"/>
              <a:t>Image memory is a special kind of memory access that can make use of dedicated hardware often provided for graphics. </a:t>
            </a:r>
          </a:p>
          <a:p>
            <a:pPr lvl="1">
              <a:buSzPct val="80000"/>
            </a:pPr>
            <a:r>
              <a:rPr lang="en-US" altLang="zh-TW" dirty="0" smtClean="0"/>
              <a:t>Only programmers seeking extreme performance need to understand image memory.</a:t>
            </a:r>
            <a:endParaRPr lang="en-US" altLang="zh-TW" dirty="0"/>
          </a:p>
        </p:txBody>
      </p:sp>
      <p:sp>
        <p:nvSpPr>
          <p:cNvPr id="4" name="投影片編號版面配置區 3"/>
          <p:cNvSpPr>
            <a:spLocks noGrp="1"/>
          </p:cNvSpPr>
          <p:nvPr>
            <p:ph type="sldNum" sz="quarter" idx="10"/>
          </p:nvPr>
        </p:nvSpPr>
        <p:spPr/>
        <p:txBody>
          <a:bodyPr/>
          <a:lstStyle/>
          <a:p>
            <a:fld id="{6C75C586-0B13-4105-9895-CED4323B37DD}" type="slidenum">
              <a:rPr lang="zh-TW" altLang="en-US" smtClean="0"/>
              <a:pPr/>
              <a:t>21</a:t>
            </a:fld>
            <a:endParaRPr lang="zh-TW" altLang="en-US" dirty="0"/>
          </a:p>
        </p:txBody>
      </p:sp>
    </p:spTree>
    <p:extLst>
      <p:ext uri="{BB962C8B-B14F-4D97-AF65-F5344CB8AC3E}">
        <p14:creationId xmlns:p14="http://schemas.microsoft.com/office/powerpoint/2010/main" val="280788485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08701"/>
            <a:ext cx="6788331" cy="519113"/>
          </a:xfrm>
        </p:spPr>
        <p:txBody>
          <a:bodyPr/>
          <a:lstStyle/>
          <a:p>
            <a:r>
              <a:rPr lang="en-US" altLang="zh-TW" dirty="0" smtClean="0"/>
              <a:t> Segments (1)</a:t>
            </a:r>
            <a:endParaRPr lang="zh-TW" altLang="en-US" dirty="0"/>
          </a:p>
        </p:txBody>
      </p:sp>
      <p:sp>
        <p:nvSpPr>
          <p:cNvPr id="3" name="內容版面配置區 2"/>
          <p:cNvSpPr>
            <a:spLocks noGrp="1"/>
          </p:cNvSpPr>
          <p:nvPr>
            <p:ph idx="1"/>
          </p:nvPr>
        </p:nvSpPr>
        <p:spPr>
          <a:xfrm>
            <a:off x="457200" y="1661060"/>
            <a:ext cx="8229600" cy="3930321"/>
          </a:xfrm>
        </p:spPr>
        <p:txBody>
          <a:bodyPr/>
          <a:lstStyle/>
          <a:p>
            <a:endParaRPr lang="en-US" altLang="zh-TW" dirty="0" smtClean="0"/>
          </a:p>
          <a:p>
            <a:r>
              <a:rPr lang="en-US" altLang="zh-TW" sz="1950" dirty="0"/>
              <a:t>Flat memory is divided into segments based on:</a:t>
            </a:r>
          </a:p>
          <a:p>
            <a:pPr lvl="1">
              <a:buSzPct val="80000"/>
            </a:pPr>
            <a:r>
              <a:rPr lang="en-US" altLang="zh-TW" dirty="0" smtClean="0"/>
              <a:t> The way data can be shared</a:t>
            </a:r>
          </a:p>
          <a:p>
            <a:pPr lvl="1">
              <a:buSzPct val="80000"/>
            </a:pPr>
            <a:r>
              <a:rPr lang="en-US" altLang="zh-TW" dirty="0" smtClean="0"/>
              <a:t> The intended usage</a:t>
            </a:r>
          </a:p>
          <a:p>
            <a:pPr lvl="1">
              <a:buClrTx/>
            </a:pPr>
            <a:endParaRPr lang="en-US" altLang="zh-TW" dirty="0" smtClean="0"/>
          </a:p>
          <a:p>
            <a:r>
              <a:rPr lang="en-US" altLang="zh-TW" sz="1950" dirty="0"/>
              <a:t>A segment is a block of memory. The characteristics of a segment space include its size, addressability, access speed, access rights, and level of sharing between work-items.</a:t>
            </a:r>
          </a:p>
          <a:p>
            <a:pPr marL="0" indent="0">
              <a:buClrTx/>
              <a:buSzPct val="70000"/>
              <a:buNone/>
            </a:pPr>
            <a:r>
              <a:rPr lang="en-US" altLang="zh-TW" sz="1800" dirty="0"/>
              <a:t>    </a:t>
            </a:r>
          </a:p>
        </p:txBody>
      </p:sp>
      <p:sp>
        <p:nvSpPr>
          <p:cNvPr id="4" name="投影片編號版面配置區 3"/>
          <p:cNvSpPr>
            <a:spLocks noGrp="1"/>
          </p:cNvSpPr>
          <p:nvPr>
            <p:ph type="sldNum" sz="quarter" idx="10"/>
          </p:nvPr>
        </p:nvSpPr>
        <p:spPr/>
        <p:txBody>
          <a:bodyPr/>
          <a:lstStyle/>
          <a:p>
            <a:fld id="{6C75C586-0B13-4105-9895-CED4323B37DD}" type="slidenum">
              <a:rPr lang="zh-TW" altLang="en-US" smtClean="0"/>
              <a:pPr/>
              <a:t>22</a:t>
            </a:fld>
            <a:endParaRPr lang="zh-TW" altLang="en-US"/>
          </a:p>
        </p:txBody>
      </p:sp>
    </p:spTree>
    <p:extLst>
      <p:ext uri="{BB962C8B-B14F-4D97-AF65-F5344CB8AC3E}">
        <p14:creationId xmlns:p14="http://schemas.microsoft.com/office/powerpoint/2010/main" val="367587367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08701"/>
            <a:ext cx="6788331" cy="519113"/>
          </a:xfrm>
        </p:spPr>
        <p:txBody>
          <a:bodyPr/>
          <a:lstStyle/>
          <a:p>
            <a:r>
              <a:rPr lang="en-US" altLang="zh-TW" dirty="0" smtClean="0"/>
              <a:t> Segments (2)</a:t>
            </a:r>
            <a:endParaRPr lang="zh-TW" altLang="en-US" dirty="0"/>
          </a:p>
        </p:txBody>
      </p:sp>
      <p:sp>
        <p:nvSpPr>
          <p:cNvPr id="3" name="內容版面配置區 2"/>
          <p:cNvSpPr>
            <a:spLocks noGrp="1"/>
          </p:cNvSpPr>
          <p:nvPr>
            <p:ph idx="1"/>
          </p:nvPr>
        </p:nvSpPr>
        <p:spPr>
          <a:xfrm>
            <a:off x="457200" y="1661060"/>
            <a:ext cx="8229600" cy="3930321"/>
          </a:xfrm>
        </p:spPr>
        <p:txBody>
          <a:bodyPr/>
          <a:lstStyle/>
          <a:p>
            <a:pPr marL="0" indent="0">
              <a:buClrTx/>
              <a:buSzPct val="70000"/>
              <a:buNone/>
            </a:pPr>
            <a:r>
              <a:rPr lang="en-US" altLang="zh-TW" sz="1800" dirty="0"/>
              <a:t>    </a:t>
            </a:r>
          </a:p>
          <a:p>
            <a:pPr>
              <a:buSzPct val="100000"/>
            </a:pPr>
            <a:r>
              <a:rPr lang="en-US" altLang="zh-TW" sz="1950" dirty="0"/>
              <a:t>The segment determines the part of memory that will hold the object, how long the storage allocation exists, and the properties of the memory. </a:t>
            </a:r>
          </a:p>
          <a:p>
            <a:pPr>
              <a:buSzPct val="100000"/>
            </a:pPr>
            <a:endParaRPr lang="en-US" altLang="zh-TW" sz="1950" dirty="0"/>
          </a:p>
          <a:p>
            <a:pPr>
              <a:buSzPct val="100000"/>
            </a:pPr>
            <a:r>
              <a:rPr lang="en-US" altLang="zh-TW" sz="1950" dirty="0"/>
              <a:t>The </a:t>
            </a:r>
            <a:r>
              <a:rPr lang="en-US" altLang="zh-TW" sz="1950" dirty="0" err="1"/>
              <a:t>finalizer</a:t>
            </a:r>
            <a:r>
              <a:rPr lang="en-US" altLang="zh-TW" sz="1950" dirty="0"/>
              <a:t> uses the segment to determine the intended usage of the memory</a:t>
            </a:r>
            <a:r>
              <a:rPr lang="en-US" altLang="zh-TW" sz="1950"/>
              <a:t>. </a:t>
            </a:r>
            <a:endParaRPr lang="en-US" altLang="zh-TW" sz="1950" smtClean="0"/>
          </a:p>
          <a:p>
            <a:pPr>
              <a:buSzPct val="100000"/>
            </a:pPr>
            <a:endParaRPr lang="en-US" altLang="zh-TW" sz="1950" dirty="0"/>
          </a:p>
          <a:p>
            <a:pPr>
              <a:buSzPct val="100000"/>
            </a:pPr>
            <a:r>
              <a:rPr lang="en-US" altLang="zh-TW" sz="1950" dirty="0"/>
              <a:t>No access protection between segments is provided. That is, the behavior is undefined when memory operations generate addresses that are outside the bounds of a segment.</a:t>
            </a:r>
          </a:p>
        </p:txBody>
      </p:sp>
      <p:sp>
        <p:nvSpPr>
          <p:cNvPr id="4" name="投影片編號版面配置區 3"/>
          <p:cNvSpPr>
            <a:spLocks noGrp="1"/>
          </p:cNvSpPr>
          <p:nvPr>
            <p:ph type="sldNum" sz="quarter" idx="10"/>
          </p:nvPr>
        </p:nvSpPr>
        <p:spPr/>
        <p:txBody>
          <a:bodyPr/>
          <a:lstStyle/>
          <a:p>
            <a:fld id="{6C75C586-0B13-4105-9895-CED4323B37DD}" type="slidenum">
              <a:rPr lang="zh-TW" altLang="en-US" smtClean="0"/>
              <a:pPr/>
              <a:t>23</a:t>
            </a:fld>
            <a:endParaRPr lang="zh-TW" altLang="en-US"/>
          </a:p>
        </p:txBody>
      </p:sp>
    </p:spTree>
    <p:extLst>
      <p:ext uri="{BB962C8B-B14F-4D97-AF65-F5344CB8AC3E}">
        <p14:creationId xmlns:p14="http://schemas.microsoft.com/office/powerpoint/2010/main" val="101717966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Types of Segments</a:t>
            </a:r>
            <a:endParaRPr lang="zh-TW" altLang="en-US" dirty="0"/>
          </a:p>
        </p:txBody>
      </p:sp>
      <p:sp>
        <p:nvSpPr>
          <p:cNvPr id="3" name="內容版面配置區 2"/>
          <p:cNvSpPr>
            <a:spLocks noGrp="1"/>
          </p:cNvSpPr>
          <p:nvPr>
            <p:ph idx="1"/>
          </p:nvPr>
        </p:nvSpPr>
        <p:spPr/>
        <p:txBody>
          <a:bodyPr/>
          <a:lstStyle/>
          <a:p>
            <a:pPr>
              <a:spcBef>
                <a:spcPts val="900"/>
              </a:spcBef>
            </a:pPr>
            <a:r>
              <a:rPr lang="en-US" altLang="zh-TW" sz="1950" dirty="0">
                <a:latin typeface="Times New Roman" panose="02020603050405020304" pitchFamily="18" charset="0"/>
                <a:cs typeface="Times New Roman" panose="02020603050405020304" pitchFamily="18" charset="0"/>
              </a:rPr>
              <a:t>Global</a:t>
            </a:r>
            <a:r>
              <a:rPr lang="en-US" altLang="zh-TW" sz="1950" dirty="0"/>
              <a:t> - hold variables that are shared by all agents.</a:t>
            </a:r>
          </a:p>
          <a:p>
            <a:pPr>
              <a:spcBef>
                <a:spcPts val="900"/>
              </a:spcBef>
            </a:pPr>
            <a:r>
              <a:rPr lang="en-US" altLang="zh-TW" sz="1950" dirty="0">
                <a:latin typeface="Times New Roman" panose="02020603050405020304" pitchFamily="18" charset="0"/>
                <a:cs typeface="Times New Roman" panose="02020603050405020304" pitchFamily="18" charset="0"/>
              </a:rPr>
              <a:t>Group</a:t>
            </a:r>
            <a:r>
              <a:rPr lang="en-US" altLang="zh-TW" sz="1950" dirty="0"/>
              <a:t> - hold variables that are shared by the work-items of a work-group.</a:t>
            </a:r>
          </a:p>
          <a:p>
            <a:pPr>
              <a:spcBef>
                <a:spcPts val="900"/>
              </a:spcBef>
            </a:pPr>
            <a:r>
              <a:rPr lang="en-US" altLang="zh-TW" sz="1950" dirty="0">
                <a:latin typeface="Times New Roman" panose="02020603050405020304" pitchFamily="18" charset="0"/>
                <a:cs typeface="Times New Roman" panose="02020603050405020304" pitchFamily="18" charset="0"/>
              </a:rPr>
              <a:t>Private</a:t>
            </a:r>
            <a:r>
              <a:rPr lang="en-US" altLang="zh-TW" sz="1950" dirty="0"/>
              <a:t> - hold variables that are local to a single work-item.</a:t>
            </a:r>
          </a:p>
          <a:p>
            <a:pPr>
              <a:spcBef>
                <a:spcPts val="900"/>
              </a:spcBef>
            </a:pPr>
            <a:r>
              <a:rPr lang="en-US" altLang="zh-TW" sz="1950" dirty="0" err="1">
                <a:latin typeface="Times New Roman" panose="02020603050405020304" pitchFamily="18" charset="0"/>
                <a:cs typeface="Times New Roman" panose="02020603050405020304" pitchFamily="18" charset="0"/>
              </a:rPr>
              <a:t>Kernarg</a:t>
            </a:r>
            <a:r>
              <a:rPr lang="en-US" altLang="zh-TW" sz="1950" dirty="0"/>
              <a:t> - Read-only memory is used to pass arguments into a kernel.</a:t>
            </a:r>
          </a:p>
          <a:p>
            <a:pPr>
              <a:spcBef>
                <a:spcPts val="900"/>
              </a:spcBef>
            </a:pPr>
            <a:r>
              <a:rPr lang="en-US" altLang="zh-TW" sz="1950" dirty="0" err="1">
                <a:latin typeface="Times New Roman" panose="02020603050405020304" pitchFamily="18" charset="0"/>
                <a:cs typeface="Times New Roman" panose="02020603050405020304" pitchFamily="18" charset="0"/>
              </a:rPr>
              <a:t>Readonly</a:t>
            </a:r>
            <a:r>
              <a:rPr lang="en-US" altLang="zh-TW" sz="1950" dirty="0"/>
              <a:t> - hold variables that remain constant during the execution of a kernel dispatch.</a:t>
            </a:r>
          </a:p>
          <a:p>
            <a:pPr>
              <a:spcBef>
                <a:spcPts val="900"/>
              </a:spcBef>
            </a:pPr>
            <a:r>
              <a:rPr lang="en-US" altLang="zh-TW" sz="1950" dirty="0">
                <a:latin typeface="Times New Roman" panose="02020603050405020304" pitchFamily="18" charset="0"/>
                <a:cs typeface="Times New Roman" panose="02020603050405020304" pitchFamily="18" charset="0"/>
              </a:rPr>
              <a:t>Spill</a:t>
            </a:r>
            <a:r>
              <a:rPr lang="en-US" altLang="zh-TW" sz="1950" dirty="0"/>
              <a:t> - HSAIL has a fixed number of registers, and the spill segment can be used to load or store register spills. </a:t>
            </a:r>
          </a:p>
          <a:p>
            <a:pPr>
              <a:spcBef>
                <a:spcPts val="900"/>
              </a:spcBef>
            </a:pPr>
            <a:r>
              <a:rPr lang="en-US" altLang="zh-TW" sz="1950" dirty="0" err="1">
                <a:latin typeface="Times New Roman" panose="02020603050405020304" pitchFamily="18" charset="0"/>
                <a:cs typeface="Times New Roman" panose="02020603050405020304" pitchFamily="18" charset="0"/>
              </a:rPr>
              <a:t>Arg</a:t>
            </a:r>
            <a:r>
              <a:rPr lang="en-US" altLang="zh-TW" sz="1950" dirty="0"/>
              <a:t> -  pass arguments into and out of functions.</a:t>
            </a:r>
          </a:p>
          <a:p>
            <a:pPr marL="0" indent="0">
              <a:buClrTx/>
              <a:buSzPct val="100000"/>
              <a:buNone/>
            </a:pPr>
            <a:r>
              <a:rPr lang="en-US" altLang="zh-TW" sz="1673" baseline="-25000" dirty="0"/>
              <a:t>	</a:t>
            </a:r>
            <a:endParaRPr lang="en-US" altLang="zh-TW" sz="1674" baseline="-25000" dirty="0"/>
          </a:p>
        </p:txBody>
      </p:sp>
      <p:sp>
        <p:nvSpPr>
          <p:cNvPr id="4" name="投影片編號版面配置區 3"/>
          <p:cNvSpPr>
            <a:spLocks noGrp="1"/>
          </p:cNvSpPr>
          <p:nvPr>
            <p:ph type="sldNum" sz="quarter" idx="10"/>
          </p:nvPr>
        </p:nvSpPr>
        <p:spPr/>
        <p:txBody>
          <a:bodyPr/>
          <a:lstStyle/>
          <a:p>
            <a:fld id="{6C75C586-0B13-4105-9895-CED4323B37DD}" type="slidenum">
              <a:rPr lang="zh-TW" altLang="en-US" smtClean="0"/>
              <a:pPr/>
              <a:t>24</a:t>
            </a:fld>
            <a:endParaRPr lang="zh-TW" altLang="en-US"/>
          </a:p>
        </p:txBody>
      </p:sp>
    </p:spTree>
    <p:extLst>
      <p:ext uri="{BB962C8B-B14F-4D97-AF65-F5344CB8AC3E}">
        <p14:creationId xmlns:p14="http://schemas.microsoft.com/office/powerpoint/2010/main" val="266448298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a:t>Memory Segment Access </a:t>
            </a:r>
            <a:r>
              <a:rPr lang="en-US" altLang="zh-TW" dirty="0" smtClean="0"/>
              <a:t>Rules(1)</a:t>
            </a:r>
            <a:endParaRPr lang="zh-TW" altLang="en-US" dirty="0"/>
          </a:p>
        </p:txBody>
      </p:sp>
      <p:sp>
        <p:nvSpPr>
          <p:cNvPr id="4" name="投影片編號版面配置區 3"/>
          <p:cNvSpPr>
            <a:spLocks noGrp="1"/>
          </p:cNvSpPr>
          <p:nvPr>
            <p:ph type="sldNum" sz="quarter" idx="10"/>
          </p:nvPr>
        </p:nvSpPr>
        <p:spPr/>
        <p:txBody>
          <a:bodyPr/>
          <a:lstStyle/>
          <a:p>
            <a:fld id="{557A4102-9134-4DE4-89E3-9E7F1698ADF0}" type="slidenum">
              <a:rPr lang="zh-TW" altLang="en-US" smtClean="0"/>
              <a:pPr/>
              <a:t>25</a:t>
            </a:fld>
            <a:endParaRPr lang="zh-TW" altLang="en-US" dirty="0"/>
          </a:p>
        </p:txBody>
      </p:sp>
      <p:graphicFrame>
        <p:nvGraphicFramePr>
          <p:cNvPr id="10" name="內容版面配置區 9"/>
          <p:cNvGraphicFramePr>
            <a:graphicFrameLocks noGrp="1"/>
          </p:cNvGraphicFramePr>
          <p:nvPr>
            <p:ph idx="1"/>
            <p:extLst>
              <p:ext uri="{D42A27DB-BD31-4B8C-83A1-F6EECF244321}">
                <p14:modId xmlns:p14="http://schemas.microsoft.com/office/powerpoint/2010/main" val="1281602336"/>
              </p:ext>
            </p:extLst>
          </p:nvPr>
        </p:nvGraphicFramePr>
        <p:xfrm>
          <a:off x="319973" y="938926"/>
          <a:ext cx="8644640" cy="5288600"/>
        </p:xfrm>
        <a:graphic>
          <a:graphicData uri="http://schemas.openxmlformats.org/drawingml/2006/table">
            <a:tbl>
              <a:tblPr firstRow="1" firstCol="1" bandRow="1">
                <a:tableStyleId>{5C22544A-7EE6-4342-B048-85BDC9FD1C3A}</a:tableStyleId>
              </a:tblPr>
              <a:tblGrid>
                <a:gridCol w="1080580"/>
                <a:gridCol w="1080580"/>
                <a:gridCol w="1080580"/>
                <a:gridCol w="1080580"/>
                <a:gridCol w="1080580"/>
                <a:gridCol w="1080580"/>
                <a:gridCol w="1080580"/>
                <a:gridCol w="1080580"/>
              </a:tblGrid>
              <a:tr h="581279">
                <a:tc>
                  <a:txBody>
                    <a:bodyPr/>
                    <a:lstStyle/>
                    <a:p>
                      <a:pPr>
                        <a:spcAft>
                          <a:spcPts val="0"/>
                        </a:spcAft>
                      </a:pPr>
                      <a:r>
                        <a:rPr lang="en-US" sz="1050" dirty="0">
                          <a:effectLst/>
                        </a:rPr>
                        <a:t>Segment</a:t>
                      </a:r>
                      <a:endParaRPr lang="zh-TW" sz="1050" b="1"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c>
                  <a:txBody>
                    <a:bodyPr/>
                    <a:lstStyle/>
                    <a:p>
                      <a:pPr>
                        <a:spcAft>
                          <a:spcPts val="0"/>
                        </a:spcAft>
                      </a:pPr>
                      <a:r>
                        <a:rPr lang="en-US" sz="1050" dirty="0">
                          <a:effectLst/>
                        </a:rPr>
                        <a:t>HSA Component interaction (HSAIL)</a:t>
                      </a:r>
                      <a:endParaRPr lang="zh-TW" sz="1050" b="1"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c>
                  <a:txBody>
                    <a:bodyPr/>
                    <a:lstStyle/>
                    <a:p>
                      <a:pPr>
                        <a:spcAft>
                          <a:spcPts val="0"/>
                        </a:spcAft>
                      </a:pPr>
                      <a:r>
                        <a:rPr lang="en-US" sz="1050" dirty="0">
                          <a:effectLst/>
                        </a:rPr>
                        <a:t>Non-HSA Component Agent interaction</a:t>
                      </a:r>
                      <a:endParaRPr lang="zh-TW" sz="1050" b="1"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c>
                  <a:txBody>
                    <a:bodyPr/>
                    <a:lstStyle/>
                    <a:p>
                      <a:pPr>
                        <a:spcAft>
                          <a:spcPts val="0"/>
                        </a:spcAft>
                      </a:pPr>
                      <a:r>
                        <a:rPr lang="en-US" sz="1050">
                          <a:effectLst/>
                        </a:rPr>
                        <a:t>Persistence</a:t>
                      </a:r>
                      <a:endParaRPr lang="zh-TW" sz="105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c>
                  <a:txBody>
                    <a:bodyPr/>
                    <a:lstStyle/>
                    <a:p>
                      <a:pPr>
                        <a:spcAft>
                          <a:spcPts val="0"/>
                        </a:spcAft>
                      </a:pPr>
                      <a:r>
                        <a:rPr lang="en-US" sz="1050">
                          <a:effectLst/>
                        </a:rPr>
                        <a:t>Allocation</a:t>
                      </a:r>
                      <a:endParaRPr lang="zh-TW" sz="105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c>
                  <a:txBody>
                    <a:bodyPr/>
                    <a:lstStyle/>
                    <a:p>
                      <a:pPr>
                        <a:spcAft>
                          <a:spcPts val="0"/>
                        </a:spcAft>
                      </a:pPr>
                      <a:r>
                        <a:rPr lang="en-US" sz="1050">
                          <a:effectLst/>
                        </a:rPr>
                        <a:t>Definition can be initialized?</a:t>
                      </a:r>
                      <a:endParaRPr lang="zh-TW" sz="105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c>
                  <a:txBody>
                    <a:bodyPr/>
                    <a:lstStyle/>
                    <a:p>
                      <a:pPr>
                        <a:spcAft>
                          <a:spcPts val="0"/>
                        </a:spcAft>
                      </a:pPr>
                      <a:r>
                        <a:rPr lang="en-US" sz="1050">
                          <a:effectLst/>
                        </a:rPr>
                        <a:t>Where can variables be defined?</a:t>
                      </a:r>
                      <a:endParaRPr lang="zh-TW" sz="105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c>
                  <a:txBody>
                    <a:bodyPr/>
                    <a:lstStyle/>
                    <a:p>
                      <a:pPr>
                        <a:spcAft>
                          <a:spcPts val="0"/>
                        </a:spcAft>
                      </a:pPr>
                      <a:r>
                        <a:rPr lang="en-US" sz="1050">
                          <a:effectLst/>
                        </a:rPr>
                        <a:t>Can be accessed by a flat address?</a:t>
                      </a:r>
                      <a:endParaRPr lang="zh-TW" sz="105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r>
              <a:tr h="1330413">
                <a:tc>
                  <a:txBody>
                    <a:bodyPr/>
                    <a:lstStyle/>
                    <a:p>
                      <a:pPr>
                        <a:spcAft>
                          <a:spcPts val="0"/>
                        </a:spcAft>
                      </a:pPr>
                      <a:r>
                        <a:rPr lang="en-US" sz="1000" dirty="0">
                          <a:effectLst/>
                        </a:rPr>
                        <a:t>Global</a:t>
                      </a:r>
                      <a:endParaRPr lang="zh-TW" sz="1000"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c>
                  <a:txBody>
                    <a:bodyPr/>
                    <a:lstStyle/>
                    <a:p>
                      <a:pPr>
                        <a:spcAft>
                          <a:spcPts val="0"/>
                        </a:spcAft>
                      </a:pPr>
                      <a:r>
                        <a:rPr lang="en-US" sz="1000" dirty="0">
                          <a:effectLst/>
                        </a:rPr>
                        <a:t>General global space; non-</a:t>
                      </a:r>
                      <a:r>
                        <a:rPr lang="en-US" sz="1000" dirty="0" err="1">
                          <a:effectLst/>
                        </a:rPr>
                        <a:t>const</a:t>
                      </a:r>
                      <a:r>
                        <a:rPr lang="en-US" sz="1000" dirty="0">
                          <a:effectLst/>
                        </a:rPr>
                        <a:t> variables read-write; </a:t>
                      </a:r>
                      <a:r>
                        <a:rPr lang="en-US" sz="1000" dirty="0" err="1">
                          <a:effectLst/>
                        </a:rPr>
                        <a:t>const</a:t>
                      </a:r>
                      <a:r>
                        <a:rPr lang="en-US" sz="1000" dirty="0">
                          <a:effectLst/>
                        </a:rPr>
                        <a:t> variables read-only and value must not change during storage duration of variable.</a:t>
                      </a:r>
                      <a:endParaRPr lang="zh-TW" sz="1000"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c>
                  <a:txBody>
                    <a:bodyPr/>
                    <a:lstStyle/>
                    <a:p>
                      <a:pPr>
                        <a:spcAft>
                          <a:spcPts val="0"/>
                        </a:spcAft>
                      </a:pPr>
                      <a:r>
                        <a:rPr lang="en-US" sz="1000">
                          <a:effectLst/>
                        </a:rPr>
                        <a:t>Read-write by all agents.</a:t>
                      </a:r>
                      <a:endParaRPr lang="zh-TW" sz="10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c>
                  <a:txBody>
                    <a:bodyPr/>
                    <a:lstStyle/>
                    <a:p>
                      <a:pPr>
                        <a:spcAft>
                          <a:spcPts val="0"/>
                        </a:spcAft>
                      </a:pPr>
                      <a:r>
                        <a:rPr lang="en-US" sz="1000">
                          <a:effectLst/>
                        </a:rPr>
                        <a:t>Application</a:t>
                      </a:r>
                      <a:endParaRPr lang="zh-TW" sz="10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c>
                  <a:txBody>
                    <a:bodyPr/>
                    <a:lstStyle/>
                    <a:p>
                      <a:pPr>
                        <a:spcAft>
                          <a:spcPts val="0"/>
                        </a:spcAft>
                      </a:pPr>
                      <a:r>
                        <a:rPr lang="en-US" sz="1000">
                          <a:effectLst/>
                        </a:rPr>
                        <a:t>Program or agent</a:t>
                      </a:r>
                      <a:endParaRPr lang="zh-TW" sz="10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c>
                  <a:txBody>
                    <a:bodyPr/>
                    <a:lstStyle/>
                    <a:p>
                      <a:pPr>
                        <a:spcAft>
                          <a:spcPts val="0"/>
                        </a:spcAft>
                      </a:pPr>
                      <a:r>
                        <a:rPr lang="en-US" sz="1000">
                          <a:effectLst/>
                        </a:rPr>
                        <a:t>Optional for non-const variables; required for const variables</a:t>
                      </a:r>
                      <a:endParaRPr lang="zh-TW" sz="10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c>
                  <a:txBody>
                    <a:bodyPr/>
                    <a:lstStyle/>
                    <a:p>
                      <a:pPr>
                        <a:spcAft>
                          <a:spcPts val="0"/>
                        </a:spcAft>
                      </a:pPr>
                      <a:r>
                        <a:rPr lang="en-US" sz="1000">
                          <a:effectLst/>
                        </a:rPr>
                        <a:t>module; kernel or function code block</a:t>
                      </a:r>
                      <a:endParaRPr lang="zh-TW" sz="10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c>
                  <a:txBody>
                    <a:bodyPr/>
                    <a:lstStyle/>
                    <a:p>
                      <a:pPr>
                        <a:spcAft>
                          <a:spcPts val="0"/>
                        </a:spcAft>
                      </a:pPr>
                      <a:r>
                        <a:rPr lang="en-US" sz="1000">
                          <a:effectLst/>
                        </a:rPr>
                        <a:t>Yes</a:t>
                      </a:r>
                      <a:endParaRPr lang="zh-TW" sz="10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r>
              <a:tr h="942930">
                <a:tc>
                  <a:txBody>
                    <a:bodyPr/>
                    <a:lstStyle/>
                    <a:p>
                      <a:pPr>
                        <a:spcAft>
                          <a:spcPts val="0"/>
                        </a:spcAft>
                      </a:pPr>
                      <a:r>
                        <a:rPr lang="en-US" sz="1000">
                          <a:effectLst/>
                        </a:rPr>
                        <a:t>Readonly</a:t>
                      </a:r>
                      <a:endParaRPr lang="zh-TW" sz="10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c>
                  <a:txBody>
                    <a:bodyPr/>
                    <a:lstStyle/>
                    <a:p>
                      <a:pPr>
                        <a:spcAft>
                          <a:spcPts val="0"/>
                        </a:spcAft>
                      </a:pPr>
                      <a:r>
                        <a:rPr lang="en-US" sz="1000">
                          <a:effectLst/>
                        </a:rPr>
                        <a:t>Read-only; value must not change during execution of kernel dispatch.</a:t>
                      </a:r>
                      <a:endParaRPr lang="zh-TW" sz="10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c>
                  <a:txBody>
                    <a:bodyPr/>
                    <a:lstStyle/>
                    <a:p>
                      <a:pPr>
                        <a:spcAft>
                          <a:spcPts val="0"/>
                        </a:spcAft>
                      </a:pPr>
                      <a:r>
                        <a:rPr lang="en-US" sz="1000" dirty="0">
                          <a:effectLst/>
                        </a:rPr>
                        <a:t>Can be written by host CPU agent using HSA runtime, provided no kernel dispatch is executing that is using variable.</a:t>
                      </a:r>
                      <a:endParaRPr lang="zh-TW" sz="1000"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c>
                  <a:txBody>
                    <a:bodyPr/>
                    <a:lstStyle/>
                    <a:p>
                      <a:pPr>
                        <a:spcAft>
                          <a:spcPts val="0"/>
                        </a:spcAft>
                      </a:pPr>
                      <a:r>
                        <a:rPr lang="en-US" sz="1000" dirty="0">
                          <a:effectLst/>
                        </a:rPr>
                        <a:t>Application</a:t>
                      </a:r>
                      <a:endParaRPr lang="zh-TW" sz="1000"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c>
                  <a:txBody>
                    <a:bodyPr/>
                    <a:lstStyle/>
                    <a:p>
                      <a:pPr>
                        <a:spcAft>
                          <a:spcPts val="0"/>
                        </a:spcAft>
                      </a:pPr>
                      <a:r>
                        <a:rPr lang="en-US" sz="1000">
                          <a:effectLst/>
                        </a:rPr>
                        <a:t>Agent</a:t>
                      </a:r>
                      <a:endParaRPr lang="zh-TW" sz="10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c>
                  <a:txBody>
                    <a:bodyPr/>
                    <a:lstStyle/>
                    <a:p>
                      <a:pPr>
                        <a:spcAft>
                          <a:spcPts val="0"/>
                        </a:spcAft>
                      </a:pPr>
                      <a:r>
                        <a:rPr lang="en-US" sz="1000">
                          <a:effectLst/>
                        </a:rPr>
                        <a:t>Optional</a:t>
                      </a:r>
                      <a:endParaRPr lang="zh-TW" sz="10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c>
                  <a:txBody>
                    <a:bodyPr/>
                    <a:lstStyle/>
                    <a:p>
                      <a:pPr>
                        <a:spcAft>
                          <a:spcPts val="0"/>
                        </a:spcAft>
                      </a:pPr>
                      <a:r>
                        <a:rPr lang="en-US" sz="1000">
                          <a:effectLst/>
                        </a:rPr>
                        <a:t>module; kernel or function code block</a:t>
                      </a:r>
                      <a:endParaRPr lang="zh-TW" sz="10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c>
                  <a:txBody>
                    <a:bodyPr/>
                    <a:lstStyle/>
                    <a:p>
                      <a:pPr>
                        <a:spcAft>
                          <a:spcPts val="0"/>
                        </a:spcAft>
                      </a:pPr>
                      <a:r>
                        <a:rPr lang="en-US" sz="1000">
                          <a:effectLst/>
                        </a:rPr>
                        <a:t>No</a:t>
                      </a:r>
                      <a:endParaRPr lang="zh-TW" sz="10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r>
              <a:tr h="1201252">
                <a:tc>
                  <a:txBody>
                    <a:bodyPr/>
                    <a:lstStyle/>
                    <a:p>
                      <a:pPr>
                        <a:spcAft>
                          <a:spcPts val="0"/>
                        </a:spcAft>
                      </a:pPr>
                      <a:r>
                        <a:rPr lang="en-US" sz="1000">
                          <a:effectLst/>
                        </a:rPr>
                        <a:t>Kernarg</a:t>
                      </a:r>
                      <a:endParaRPr lang="zh-TW" sz="10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c>
                  <a:txBody>
                    <a:bodyPr/>
                    <a:lstStyle/>
                    <a:p>
                      <a:pPr>
                        <a:spcAft>
                          <a:spcPts val="0"/>
                        </a:spcAft>
                      </a:pPr>
                      <a:r>
                        <a:rPr lang="en-US" sz="1000">
                          <a:effectLst/>
                        </a:rPr>
                        <a:t>Holds kernel arguments; read-only; value must not change during execution of kernel dispatch.</a:t>
                      </a:r>
                      <a:endParaRPr lang="zh-TW" sz="10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c>
                  <a:txBody>
                    <a:bodyPr/>
                    <a:lstStyle/>
                    <a:p>
                      <a:pPr>
                        <a:spcAft>
                          <a:spcPts val="0"/>
                        </a:spcAft>
                      </a:pPr>
                      <a:r>
                        <a:rPr lang="en-US" sz="1000">
                          <a:effectLst/>
                        </a:rPr>
                        <a:t>Initial values provided by the agent when the kernel dispatch is queued. Initial values must not be changed while kernel dispatch is executing.</a:t>
                      </a:r>
                      <a:endParaRPr lang="zh-TW" sz="10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c>
                  <a:txBody>
                    <a:bodyPr/>
                    <a:lstStyle/>
                    <a:p>
                      <a:pPr>
                        <a:spcAft>
                          <a:spcPts val="0"/>
                        </a:spcAft>
                      </a:pPr>
                      <a:r>
                        <a:rPr lang="en-US" sz="1000" dirty="0">
                          <a:effectLst/>
                        </a:rPr>
                        <a:t>Kernel</a:t>
                      </a:r>
                      <a:endParaRPr lang="zh-TW" sz="1000"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c>
                  <a:txBody>
                    <a:bodyPr/>
                    <a:lstStyle/>
                    <a:p>
                      <a:pPr>
                        <a:spcAft>
                          <a:spcPts val="0"/>
                        </a:spcAft>
                      </a:pPr>
                      <a:r>
                        <a:rPr lang="en-US" sz="1000" dirty="0">
                          <a:effectLst/>
                        </a:rPr>
                        <a:t>Automatic</a:t>
                      </a:r>
                      <a:endParaRPr lang="zh-TW" sz="1000"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c>
                  <a:txBody>
                    <a:bodyPr/>
                    <a:lstStyle/>
                    <a:p>
                      <a:pPr>
                        <a:spcAft>
                          <a:spcPts val="0"/>
                        </a:spcAft>
                      </a:pPr>
                      <a:r>
                        <a:rPr lang="en-US" sz="1000">
                          <a:effectLst/>
                        </a:rPr>
                        <a:t>No</a:t>
                      </a:r>
                      <a:endParaRPr lang="zh-TW" sz="10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c>
                  <a:txBody>
                    <a:bodyPr/>
                    <a:lstStyle/>
                    <a:p>
                      <a:pPr>
                        <a:spcAft>
                          <a:spcPts val="0"/>
                        </a:spcAft>
                      </a:pPr>
                      <a:r>
                        <a:rPr lang="en-US" sz="1000">
                          <a:effectLst/>
                        </a:rPr>
                        <a:t>kernel formal argument list</a:t>
                      </a:r>
                      <a:endParaRPr lang="zh-TW" sz="10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c>
                  <a:txBody>
                    <a:bodyPr/>
                    <a:lstStyle/>
                    <a:p>
                      <a:pPr>
                        <a:spcAft>
                          <a:spcPts val="0"/>
                        </a:spcAft>
                      </a:pPr>
                      <a:r>
                        <a:rPr lang="en-US" sz="1000">
                          <a:effectLst/>
                        </a:rPr>
                        <a:t>No</a:t>
                      </a:r>
                      <a:endParaRPr lang="zh-TW" sz="10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r>
              <a:tr h="426286">
                <a:tc>
                  <a:txBody>
                    <a:bodyPr/>
                    <a:lstStyle/>
                    <a:p>
                      <a:pPr>
                        <a:spcAft>
                          <a:spcPts val="0"/>
                        </a:spcAft>
                      </a:pPr>
                      <a:r>
                        <a:rPr lang="en-US" sz="1000">
                          <a:effectLst/>
                        </a:rPr>
                        <a:t>Group</a:t>
                      </a:r>
                      <a:endParaRPr lang="zh-TW" sz="10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c>
                  <a:txBody>
                    <a:bodyPr/>
                    <a:lstStyle/>
                    <a:p>
                      <a:pPr>
                        <a:spcAft>
                          <a:spcPts val="0"/>
                        </a:spcAft>
                      </a:pPr>
                      <a:r>
                        <a:rPr lang="en-US" sz="1000">
                          <a:effectLst/>
                        </a:rPr>
                        <a:t>Read-write.</a:t>
                      </a:r>
                      <a:endParaRPr lang="zh-TW" sz="10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c>
                  <a:txBody>
                    <a:bodyPr/>
                    <a:lstStyle/>
                    <a:p>
                      <a:pPr>
                        <a:spcAft>
                          <a:spcPts val="0"/>
                        </a:spcAft>
                      </a:pPr>
                      <a:r>
                        <a:rPr lang="en-US" sz="1000">
                          <a:effectLst/>
                        </a:rPr>
                        <a:t>Inaccessible.</a:t>
                      </a:r>
                      <a:endParaRPr lang="zh-TW" sz="10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c>
                  <a:txBody>
                    <a:bodyPr/>
                    <a:lstStyle/>
                    <a:p>
                      <a:pPr>
                        <a:spcAft>
                          <a:spcPts val="0"/>
                        </a:spcAft>
                      </a:pPr>
                      <a:r>
                        <a:rPr lang="en-US" sz="1000">
                          <a:effectLst/>
                        </a:rPr>
                        <a:t>Work-group</a:t>
                      </a:r>
                      <a:endParaRPr lang="zh-TW" sz="10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c>
                  <a:txBody>
                    <a:bodyPr/>
                    <a:lstStyle/>
                    <a:p>
                      <a:pPr>
                        <a:spcAft>
                          <a:spcPts val="0"/>
                        </a:spcAft>
                      </a:pPr>
                      <a:r>
                        <a:rPr lang="en-US" sz="1000">
                          <a:effectLst/>
                        </a:rPr>
                        <a:t>Automatic</a:t>
                      </a:r>
                      <a:endParaRPr lang="zh-TW" sz="10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c>
                  <a:txBody>
                    <a:bodyPr/>
                    <a:lstStyle/>
                    <a:p>
                      <a:pPr>
                        <a:spcAft>
                          <a:spcPts val="0"/>
                        </a:spcAft>
                      </a:pPr>
                      <a:r>
                        <a:rPr lang="en-US" sz="1000" dirty="0">
                          <a:effectLst/>
                        </a:rPr>
                        <a:t>No</a:t>
                      </a:r>
                      <a:endParaRPr lang="zh-TW" sz="1000"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c>
                  <a:txBody>
                    <a:bodyPr/>
                    <a:lstStyle/>
                    <a:p>
                      <a:pPr>
                        <a:spcAft>
                          <a:spcPts val="0"/>
                        </a:spcAft>
                      </a:pPr>
                      <a:r>
                        <a:rPr lang="en-US" sz="1000" dirty="0">
                          <a:effectLst/>
                        </a:rPr>
                        <a:t>module; kernel or function code block</a:t>
                      </a:r>
                      <a:endParaRPr lang="zh-TW" sz="1000"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c>
                  <a:txBody>
                    <a:bodyPr/>
                    <a:lstStyle/>
                    <a:p>
                      <a:pPr>
                        <a:spcAft>
                          <a:spcPts val="0"/>
                        </a:spcAft>
                      </a:pPr>
                      <a:r>
                        <a:rPr lang="en-US" sz="1000" dirty="0">
                          <a:effectLst/>
                        </a:rPr>
                        <a:t>Yes</a:t>
                      </a:r>
                      <a:endParaRPr lang="zh-TW" sz="1000"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r>
            </a:tbl>
          </a:graphicData>
        </a:graphic>
      </p:graphicFrame>
    </p:spTree>
    <p:extLst>
      <p:ext uri="{BB962C8B-B14F-4D97-AF65-F5344CB8AC3E}">
        <p14:creationId xmlns:p14="http://schemas.microsoft.com/office/powerpoint/2010/main" val="181396475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a:t>Memory Segment Access </a:t>
            </a:r>
            <a:r>
              <a:rPr lang="en-US" altLang="zh-TW" dirty="0" smtClean="0"/>
              <a:t>Rules(2)</a:t>
            </a:r>
            <a:endParaRPr lang="zh-TW" altLang="en-US" dirty="0"/>
          </a:p>
        </p:txBody>
      </p:sp>
      <p:sp>
        <p:nvSpPr>
          <p:cNvPr id="4" name="投影片編號版面配置區 3"/>
          <p:cNvSpPr>
            <a:spLocks noGrp="1"/>
          </p:cNvSpPr>
          <p:nvPr>
            <p:ph type="sldNum" sz="quarter" idx="10"/>
          </p:nvPr>
        </p:nvSpPr>
        <p:spPr/>
        <p:txBody>
          <a:bodyPr/>
          <a:lstStyle/>
          <a:p>
            <a:fld id="{557A4102-9134-4DE4-89E3-9E7F1698ADF0}" type="slidenum">
              <a:rPr lang="zh-TW" altLang="en-US" smtClean="0"/>
              <a:pPr/>
              <a:t>26</a:t>
            </a:fld>
            <a:endParaRPr lang="zh-TW" altLang="en-US" dirty="0"/>
          </a:p>
        </p:txBody>
      </p:sp>
      <p:graphicFrame>
        <p:nvGraphicFramePr>
          <p:cNvPr id="8" name="內容版面配置區 7"/>
          <p:cNvGraphicFramePr>
            <a:graphicFrameLocks noGrp="1"/>
          </p:cNvGraphicFramePr>
          <p:nvPr>
            <p:ph idx="1"/>
            <p:extLst>
              <p:ext uri="{D42A27DB-BD31-4B8C-83A1-F6EECF244321}">
                <p14:modId xmlns:p14="http://schemas.microsoft.com/office/powerpoint/2010/main" val="3927640127"/>
              </p:ext>
            </p:extLst>
          </p:nvPr>
        </p:nvGraphicFramePr>
        <p:xfrm>
          <a:off x="165201" y="1106877"/>
          <a:ext cx="8689552" cy="4942575"/>
        </p:xfrm>
        <a:graphic>
          <a:graphicData uri="http://schemas.openxmlformats.org/drawingml/2006/table">
            <a:tbl>
              <a:tblPr firstRow="1" firstCol="1" bandRow="1">
                <a:tableStyleId>{5C22544A-7EE6-4342-B048-85BDC9FD1C3A}</a:tableStyleId>
              </a:tblPr>
              <a:tblGrid>
                <a:gridCol w="1086194"/>
                <a:gridCol w="1086194"/>
                <a:gridCol w="1086194"/>
                <a:gridCol w="1086194"/>
                <a:gridCol w="1086194"/>
                <a:gridCol w="1086194"/>
                <a:gridCol w="1086194"/>
                <a:gridCol w="1086194"/>
              </a:tblGrid>
              <a:tr h="749067">
                <a:tc>
                  <a:txBody>
                    <a:bodyPr/>
                    <a:lstStyle/>
                    <a:p>
                      <a:pPr>
                        <a:spcAft>
                          <a:spcPts val="0"/>
                        </a:spcAft>
                      </a:pPr>
                      <a:r>
                        <a:rPr lang="en-US" sz="1050" dirty="0">
                          <a:effectLst/>
                        </a:rPr>
                        <a:t>Segment</a:t>
                      </a:r>
                      <a:endParaRPr lang="zh-TW" sz="1050" b="1"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c>
                  <a:txBody>
                    <a:bodyPr/>
                    <a:lstStyle/>
                    <a:p>
                      <a:pPr>
                        <a:spcAft>
                          <a:spcPts val="0"/>
                        </a:spcAft>
                      </a:pPr>
                      <a:r>
                        <a:rPr lang="en-US" sz="1050" dirty="0">
                          <a:effectLst/>
                        </a:rPr>
                        <a:t>HSA Component interaction (HSAIL)</a:t>
                      </a:r>
                      <a:endParaRPr lang="zh-TW" sz="1050" b="1"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c>
                  <a:txBody>
                    <a:bodyPr/>
                    <a:lstStyle/>
                    <a:p>
                      <a:pPr>
                        <a:spcAft>
                          <a:spcPts val="0"/>
                        </a:spcAft>
                      </a:pPr>
                      <a:r>
                        <a:rPr lang="en-US" sz="1050" dirty="0">
                          <a:effectLst/>
                        </a:rPr>
                        <a:t>Non-HSA Component Agent interaction</a:t>
                      </a:r>
                      <a:endParaRPr lang="zh-TW" sz="1050" b="1"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c>
                  <a:txBody>
                    <a:bodyPr/>
                    <a:lstStyle/>
                    <a:p>
                      <a:pPr>
                        <a:spcAft>
                          <a:spcPts val="0"/>
                        </a:spcAft>
                      </a:pPr>
                      <a:r>
                        <a:rPr lang="en-US" sz="1050">
                          <a:effectLst/>
                        </a:rPr>
                        <a:t>Persistence</a:t>
                      </a:r>
                      <a:endParaRPr lang="zh-TW" sz="105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c>
                  <a:txBody>
                    <a:bodyPr/>
                    <a:lstStyle/>
                    <a:p>
                      <a:pPr>
                        <a:spcAft>
                          <a:spcPts val="0"/>
                        </a:spcAft>
                      </a:pPr>
                      <a:r>
                        <a:rPr lang="en-US" sz="1050">
                          <a:effectLst/>
                        </a:rPr>
                        <a:t>Allocation</a:t>
                      </a:r>
                      <a:endParaRPr lang="zh-TW" sz="105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c>
                  <a:txBody>
                    <a:bodyPr/>
                    <a:lstStyle/>
                    <a:p>
                      <a:pPr>
                        <a:spcAft>
                          <a:spcPts val="0"/>
                        </a:spcAft>
                      </a:pPr>
                      <a:r>
                        <a:rPr lang="en-US" sz="1050">
                          <a:effectLst/>
                        </a:rPr>
                        <a:t>Definition can be initialized?</a:t>
                      </a:r>
                      <a:endParaRPr lang="zh-TW" sz="105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c>
                  <a:txBody>
                    <a:bodyPr/>
                    <a:lstStyle/>
                    <a:p>
                      <a:pPr>
                        <a:spcAft>
                          <a:spcPts val="0"/>
                        </a:spcAft>
                      </a:pPr>
                      <a:r>
                        <a:rPr lang="en-US" sz="1050">
                          <a:effectLst/>
                        </a:rPr>
                        <a:t>Where can variables be defined?</a:t>
                      </a:r>
                      <a:endParaRPr lang="zh-TW" sz="105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c>
                  <a:txBody>
                    <a:bodyPr/>
                    <a:lstStyle/>
                    <a:p>
                      <a:pPr>
                        <a:spcAft>
                          <a:spcPts val="0"/>
                        </a:spcAft>
                      </a:pPr>
                      <a:r>
                        <a:rPr lang="en-US" sz="1050">
                          <a:effectLst/>
                        </a:rPr>
                        <a:t>Can be accessed by a flat address?</a:t>
                      </a:r>
                      <a:endParaRPr lang="zh-TW" sz="105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r>
              <a:tr h="2624779">
                <a:tc>
                  <a:txBody>
                    <a:bodyPr/>
                    <a:lstStyle/>
                    <a:p>
                      <a:pPr>
                        <a:spcAft>
                          <a:spcPts val="0"/>
                        </a:spcAft>
                      </a:pPr>
                      <a:r>
                        <a:rPr lang="en-US" sz="1000" dirty="0" err="1">
                          <a:effectLst/>
                        </a:rPr>
                        <a:t>Arg</a:t>
                      </a:r>
                      <a:endParaRPr lang="zh-TW" sz="1000"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c>
                  <a:txBody>
                    <a:bodyPr/>
                    <a:lstStyle/>
                    <a:p>
                      <a:pPr>
                        <a:spcAft>
                          <a:spcPts val="0"/>
                        </a:spcAft>
                      </a:pPr>
                      <a:r>
                        <a:rPr lang="en-US" sz="1000" dirty="0">
                          <a:effectLst/>
                        </a:rPr>
                        <a:t>Holds function input and output arguments; actual input arguments can be written, actual output argument can be read, formal input arguments can be read and formal output argument can be written; cannot have address taken with </a:t>
                      </a:r>
                      <a:r>
                        <a:rPr lang="en-US" sz="1000" dirty="0" err="1">
                          <a:effectLst/>
                        </a:rPr>
                        <a:t>lda</a:t>
                      </a:r>
                      <a:r>
                        <a:rPr lang="en-US" sz="1000" dirty="0">
                          <a:effectLst/>
                        </a:rPr>
                        <a:t> operation.</a:t>
                      </a:r>
                      <a:endParaRPr lang="zh-TW" sz="1000"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c>
                  <a:txBody>
                    <a:bodyPr/>
                    <a:lstStyle/>
                    <a:p>
                      <a:pPr>
                        <a:spcAft>
                          <a:spcPts val="0"/>
                        </a:spcAft>
                      </a:pPr>
                      <a:r>
                        <a:rPr lang="en-US" sz="1000" dirty="0">
                          <a:effectLst/>
                        </a:rPr>
                        <a:t>Inaccessible.</a:t>
                      </a:r>
                      <a:endParaRPr lang="zh-TW" sz="1000"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c>
                  <a:txBody>
                    <a:bodyPr/>
                    <a:lstStyle/>
                    <a:p>
                      <a:pPr>
                        <a:spcAft>
                          <a:spcPts val="0"/>
                        </a:spcAft>
                      </a:pPr>
                      <a:r>
                        <a:rPr lang="en-US" sz="1000" dirty="0">
                          <a:effectLst/>
                        </a:rPr>
                        <a:t>Work-item</a:t>
                      </a:r>
                      <a:endParaRPr lang="zh-TW" sz="1000"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c>
                  <a:txBody>
                    <a:bodyPr/>
                    <a:lstStyle/>
                    <a:p>
                      <a:pPr>
                        <a:spcAft>
                          <a:spcPts val="0"/>
                        </a:spcAft>
                      </a:pPr>
                      <a:r>
                        <a:rPr lang="en-US" sz="1000" dirty="0">
                          <a:effectLst/>
                        </a:rPr>
                        <a:t>Automatic</a:t>
                      </a:r>
                      <a:endParaRPr lang="zh-TW" sz="1000"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c>
                  <a:txBody>
                    <a:bodyPr/>
                    <a:lstStyle/>
                    <a:p>
                      <a:pPr>
                        <a:spcAft>
                          <a:spcPts val="0"/>
                        </a:spcAft>
                      </a:pPr>
                      <a:r>
                        <a:rPr lang="en-US" sz="1000" dirty="0">
                          <a:effectLst/>
                        </a:rPr>
                        <a:t>No</a:t>
                      </a:r>
                      <a:endParaRPr lang="zh-TW" sz="1000"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c>
                  <a:txBody>
                    <a:bodyPr/>
                    <a:lstStyle/>
                    <a:p>
                      <a:pPr>
                        <a:spcAft>
                          <a:spcPts val="0"/>
                        </a:spcAft>
                      </a:pPr>
                      <a:r>
                        <a:rPr lang="en-US" sz="1000">
                          <a:effectLst/>
                        </a:rPr>
                        <a:t>kernel or function arg block; function formal arguments</a:t>
                      </a:r>
                      <a:endParaRPr lang="zh-TW" sz="10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c>
                  <a:txBody>
                    <a:bodyPr/>
                    <a:lstStyle/>
                    <a:p>
                      <a:pPr>
                        <a:spcAft>
                          <a:spcPts val="0"/>
                        </a:spcAft>
                      </a:pPr>
                      <a:r>
                        <a:rPr lang="en-US" sz="1000">
                          <a:effectLst/>
                        </a:rPr>
                        <a:t>No</a:t>
                      </a:r>
                      <a:endParaRPr lang="zh-TW" sz="10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r>
              <a:tr h="481108">
                <a:tc>
                  <a:txBody>
                    <a:bodyPr/>
                    <a:lstStyle/>
                    <a:p>
                      <a:pPr>
                        <a:spcAft>
                          <a:spcPts val="0"/>
                        </a:spcAft>
                      </a:pPr>
                      <a:r>
                        <a:rPr lang="en-US" sz="1000">
                          <a:effectLst/>
                        </a:rPr>
                        <a:t>Private</a:t>
                      </a:r>
                      <a:endParaRPr lang="zh-TW" sz="10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c>
                  <a:txBody>
                    <a:bodyPr/>
                    <a:lstStyle/>
                    <a:p>
                      <a:pPr>
                        <a:spcAft>
                          <a:spcPts val="0"/>
                        </a:spcAft>
                      </a:pPr>
                      <a:r>
                        <a:rPr lang="en-US" sz="1000">
                          <a:effectLst/>
                        </a:rPr>
                        <a:t>Holds work-item local variables; read-write.</a:t>
                      </a:r>
                      <a:endParaRPr lang="zh-TW" sz="10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c>
                  <a:txBody>
                    <a:bodyPr/>
                    <a:lstStyle/>
                    <a:p>
                      <a:pPr>
                        <a:spcAft>
                          <a:spcPts val="0"/>
                        </a:spcAft>
                      </a:pPr>
                      <a:r>
                        <a:rPr lang="en-US" sz="1000">
                          <a:effectLst/>
                        </a:rPr>
                        <a:t>Inaccessible.</a:t>
                      </a:r>
                      <a:endParaRPr lang="zh-TW" sz="10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c>
                  <a:txBody>
                    <a:bodyPr/>
                    <a:lstStyle/>
                    <a:p>
                      <a:pPr>
                        <a:spcAft>
                          <a:spcPts val="0"/>
                        </a:spcAft>
                      </a:pPr>
                      <a:r>
                        <a:rPr lang="en-US" sz="1000">
                          <a:effectLst/>
                        </a:rPr>
                        <a:t>Work-item</a:t>
                      </a:r>
                      <a:endParaRPr lang="zh-TW" sz="10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c>
                  <a:txBody>
                    <a:bodyPr/>
                    <a:lstStyle/>
                    <a:p>
                      <a:pPr>
                        <a:spcAft>
                          <a:spcPts val="0"/>
                        </a:spcAft>
                      </a:pPr>
                      <a:r>
                        <a:rPr lang="en-US" sz="1000">
                          <a:effectLst/>
                        </a:rPr>
                        <a:t>Automatic</a:t>
                      </a:r>
                      <a:endParaRPr lang="zh-TW" sz="10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c>
                  <a:txBody>
                    <a:bodyPr/>
                    <a:lstStyle/>
                    <a:p>
                      <a:pPr>
                        <a:spcAft>
                          <a:spcPts val="0"/>
                        </a:spcAft>
                      </a:pPr>
                      <a:r>
                        <a:rPr lang="en-US" sz="1000" dirty="0">
                          <a:effectLst/>
                        </a:rPr>
                        <a:t>No</a:t>
                      </a:r>
                      <a:endParaRPr lang="zh-TW" sz="1000"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c>
                  <a:txBody>
                    <a:bodyPr/>
                    <a:lstStyle/>
                    <a:p>
                      <a:pPr>
                        <a:spcAft>
                          <a:spcPts val="0"/>
                        </a:spcAft>
                      </a:pPr>
                      <a:r>
                        <a:rPr lang="en-US" sz="1000">
                          <a:effectLst/>
                        </a:rPr>
                        <a:t>module; kernel or function code block</a:t>
                      </a:r>
                      <a:endParaRPr lang="zh-TW" sz="10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c>
                  <a:txBody>
                    <a:bodyPr/>
                    <a:lstStyle/>
                    <a:p>
                      <a:pPr>
                        <a:spcAft>
                          <a:spcPts val="0"/>
                        </a:spcAft>
                      </a:pPr>
                      <a:r>
                        <a:rPr lang="en-US" sz="1000">
                          <a:effectLst/>
                        </a:rPr>
                        <a:t>Yes</a:t>
                      </a:r>
                      <a:endParaRPr lang="zh-TW" sz="10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r>
              <a:tr h="1065745">
                <a:tc>
                  <a:txBody>
                    <a:bodyPr/>
                    <a:lstStyle/>
                    <a:p>
                      <a:pPr>
                        <a:spcAft>
                          <a:spcPts val="0"/>
                        </a:spcAft>
                      </a:pPr>
                      <a:r>
                        <a:rPr lang="en-US" sz="1000">
                          <a:effectLst/>
                        </a:rPr>
                        <a:t>Spill</a:t>
                      </a:r>
                      <a:endParaRPr lang="zh-TW" sz="10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c>
                  <a:txBody>
                    <a:bodyPr/>
                    <a:lstStyle/>
                    <a:p>
                      <a:pPr>
                        <a:spcAft>
                          <a:spcPts val="0"/>
                        </a:spcAft>
                      </a:pPr>
                      <a:r>
                        <a:rPr lang="en-US" sz="1000">
                          <a:effectLst/>
                        </a:rPr>
                        <a:t>Holds spilled register values; read-write; cannot have address taken with lda operation.</a:t>
                      </a:r>
                      <a:endParaRPr lang="zh-TW" sz="10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c>
                  <a:txBody>
                    <a:bodyPr/>
                    <a:lstStyle/>
                    <a:p>
                      <a:pPr>
                        <a:spcAft>
                          <a:spcPts val="0"/>
                        </a:spcAft>
                      </a:pPr>
                      <a:r>
                        <a:rPr lang="en-US" sz="1000">
                          <a:effectLst/>
                        </a:rPr>
                        <a:t>Inaccessible.</a:t>
                      </a:r>
                      <a:endParaRPr lang="zh-TW" sz="10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c>
                  <a:txBody>
                    <a:bodyPr/>
                    <a:lstStyle/>
                    <a:p>
                      <a:pPr>
                        <a:spcAft>
                          <a:spcPts val="0"/>
                        </a:spcAft>
                      </a:pPr>
                      <a:r>
                        <a:rPr lang="en-US" sz="1000">
                          <a:effectLst/>
                        </a:rPr>
                        <a:t>Work-item</a:t>
                      </a:r>
                      <a:endParaRPr lang="zh-TW" sz="10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c>
                  <a:txBody>
                    <a:bodyPr/>
                    <a:lstStyle/>
                    <a:p>
                      <a:pPr>
                        <a:spcAft>
                          <a:spcPts val="0"/>
                        </a:spcAft>
                      </a:pPr>
                      <a:r>
                        <a:rPr lang="en-US" sz="1000">
                          <a:effectLst/>
                        </a:rPr>
                        <a:t>Automatic</a:t>
                      </a:r>
                      <a:endParaRPr lang="zh-TW" sz="10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c>
                  <a:txBody>
                    <a:bodyPr/>
                    <a:lstStyle/>
                    <a:p>
                      <a:pPr>
                        <a:spcAft>
                          <a:spcPts val="0"/>
                        </a:spcAft>
                      </a:pPr>
                      <a:r>
                        <a:rPr lang="en-US" sz="1000" dirty="0">
                          <a:effectLst/>
                        </a:rPr>
                        <a:t>No</a:t>
                      </a:r>
                      <a:endParaRPr lang="zh-TW" sz="1000"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c>
                  <a:txBody>
                    <a:bodyPr/>
                    <a:lstStyle/>
                    <a:p>
                      <a:pPr>
                        <a:spcAft>
                          <a:spcPts val="0"/>
                        </a:spcAft>
                      </a:pPr>
                      <a:r>
                        <a:rPr lang="en-US" sz="1000" dirty="0">
                          <a:effectLst/>
                        </a:rPr>
                        <a:t>kernel or function code block</a:t>
                      </a:r>
                      <a:endParaRPr lang="zh-TW" sz="1000"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c>
                  <a:txBody>
                    <a:bodyPr/>
                    <a:lstStyle/>
                    <a:p>
                      <a:pPr>
                        <a:spcAft>
                          <a:spcPts val="0"/>
                        </a:spcAft>
                      </a:pPr>
                      <a:r>
                        <a:rPr lang="en-US" sz="1000" dirty="0">
                          <a:effectLst/>
                        </a:rPr>
                        <a:t>No</a:t>
                      </a:r>
                      <a:endParaRPr lang="zh-TW" sz="1000"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2892" marR="22892" marT="22892" marB="22892"/>
                </a:tc>
              </a:tr>
            </a:tbl>
          </a:graphicData>
        </a:graphic>
      </p:graphicFrame>
    </p:spTree>
    <p:extLst>
      <p:ext uri="{BB962C8B-B14F-4D97-AF65-F5344CB8AC3E}">
        <p14:creationId xmlns:p14="http://schemas.microsoft.com/office/powerpoint/2010/main" val="200519819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smtClean="0"/>
              <a:t>Machine Models</a:t>
            </a:r>
            <a:endParaRPr lang="zh-TW" altLang="en-US" dirty="0"/>
          </a:p>
        </p:txBody>
      </p:sp>
      <p:graphicFrame>
        <p:nvGraphicFramePr>
          <p:cNvPr id="7" name="內容版面配置區 6"/>
          <p:cNvGraphicFramePr>
            <a:graphicFrameLocks noGrp="1"/>
          </p:cNvGraphicFramePr>
          <p:nvPr>
            <p:ph idx="1"/>
            <p:extLst>
              <p:ext uri="{D42A27DB-BD31-4B8C-83A1-F6EECF244321}">
                <p14:modId xmlns:p14="http://schemas.microsoft.com/office/powerpoint/2010/main" val="4145375742"/>
              </p:ext>
            </p:extLst>
          </p:nvPr>
        </p:nvGraphicFramePr>
        <p:xfrm>
          <a:off x="457200" y="2222818"/>
          <a:ext cx="8229600" cy="3630930"/>
        </p:xfrm>
        <a:graphic>
          <a:graphicData uri="http://schemas.openxmlformats.org/drawingml/2006/table">
            <a:tbl>
              <a:tblPr firstRow="1" firstCol="1" bandRow="1">
                <a:tableStyleId>{5C22544A-7EE6-4342-B048-85BDC9FD1C3A}</a:tableStyleId>
              </a:tblPr>
              <a:tblGrid>
                <a:gridCol w="2743200"/>
                <a:gridCol w="2743200"/>
                <a:gridCol w="2743200"/>
              </a:tblGrid>
              <a:tr h="0">
                <a:tc>
                  <a:txBody>
                    <a:bodyPr/>
                    <a:lstStyle/>
                    <a:p>
                      <a:pPr>
                        <a:spcAft>
                          <a:spcPts val="0"/>
                        </a:spcAft>
                      </a:pPr>
                      <a:r>
                        <a:rPr lang="en-US" sz="1400" dirty="0">
                          <a:effectLst/>
                        </a:rPr>
                        <a:t> </a:t>
                      </a:r>
                      <a:endParaRPr lang="zh-TW" sz="1400" b="1"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400">
                          <a:effectLst/>
                        </a:rPr>
                        <a:t>Small</a:t>
                      </a:r>
                      <a:endParaRPr lang="zh-TW" sz="14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400">
                          <a:effectLst/>
                        </a:rPr>
                        <a:t>Large </a:t>
                      </a:r>
                      <a:endParaRPr lang="zh-TW" sz="14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0">
                <a:tc>
                  <a:txBody>
                    <a:bodyPr/>
                    <a:lstStyle/>
                    <a:p>
                      <a:pPr>
                        <a:spcAft>
                          <a:spcPts val="0"/>
                        </a:spcAft>
                      </a:pPr>
                      <a:r>
                        <a:rPr lang="en-US" sz="1200">
                          <a:effectLst/>
                        </a:rPr>
                        <a:t>Flat address</a:t>
                      </a:r>
                      <a:endParaRPr lang="zh-TW" sz="12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200">
                          <a:effectLst/>
                        </a:rPr>
                        <a:t>32-bit </a:t>
                      </a:r>
                      <a:endParaRPr lang="zh-TW" sz="12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200">
                          <a:effectLst/>
                        </a:rPr>
                        <a:t>64-bit</a:t>
                      </a:r>
                      <a:endParaRPr lang="zh-TW" sz="12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0">
                <a:tc>
                  <a:txBody>
                    <a:bodyPr/>
                    <a:lstStyle/>
                    <a:p>
                      <a:pPr>
                        <a:spcAft>
                          <a:spcPts val="0"/>
                        </a:spcAft>
                      </a:pPr>
                      <a:r>
                        <a:rPr lang="en-US" sz="1200" dirty="0">
                          <a:effectLst/>
                        </a:rPr>
                        <a:t>Global segment address</a:t>
                      </a:r>
                      <a:endParaRPr lang="zh-TW" sz="1200"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200">
                          <a:effectLst/>
                        </a:rPr>
                        <a:t>32-bit</a:t>
                      </a:r>
                      <a:endParaRPr lang="zh-TW" sz="12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200">
                          <a:effectLst/>
                        </a:rPr>
                        <a:t>64-bit</a:t>
                      </a:r>
                      <a:endParaRPr lang="zh-TW" sz="12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0">
                <a:tc>
                  <a:txBody>
                    <a:bodyPr/>
                    <a:lstStyle/>
                    <a:p>
                      <a:pPr>
                        <a:spcAft>
                          <a:spcPts val="0"/>
                        </a:spcAft>
                      </a:pPr>
                      <a:r>
                        <a:rPr lang="en-US" sz="1200">
                          <a:effectLst/>
                        </a:rPr>
                        <a:t>Readonly segment address</a:t>
                      </a:r>
                      <a:endParaRPr lang="zh-TW" sz="12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200">
                          <a:effectLst/>
                        </a:rPr>
                        <a:t>32-bit</a:t>
                      </a:r>
                      <a:endParaRPr lang="zh-TW" sz="12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200">
                          <a:effectLst/>
                        </a:rPr>
                        <a:t>64-bit</a:t>
                      </a:r>
                      <a:endParaRPr lang="zh-TW" sz="12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0">
                <a:tc>
                  <a:txBody>
                    <a:bodyPr/>
                    <a:lstStyle/>
                    <a:p>
                      <a:pPr>
                        <a:spcAft>
                          <a:spcPts val="0"/>
                        </a:spcAft>
                      </a:pPr>
                      <a:r>
                        <a:rPr lang="en-US" sz="1200" dirty="0" err="1">
                          <a:effectLst/>
                        </a:rPr>
                        <a:t>Kernarg</a:t>
                      </a:r>
                      <a:r>
                        <a:rPr lang="en-US" sz="1200" dirty="0">
                          <a:effectLst/>
                        </a:rPr>
                        <a:t> segment address</a:t>
                      </a:r>
                      <a:endParaRPr lang="zh-TW" sz="1200"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200">
                          <a:effectLst/>
                        </a:rPr>
                        <a:t>32-bit</a:t>
                      </a:r>
                      <a:endParaRPr lang="zh-TW" sz="12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200">
                          <a:effectLst/>
                        </a:rPr>
                        <a:t>64-bit</a:t>
                      </a:r>
                      <a:endParaRPr lang="zh-TW" sz="12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0">
                <a:tc>
                  <a:txBody>
                    <a:bodyPr/>
                    <a:lstStyle/>
                    <a:p>
                      <a:pPr>
                        <a:spcAft>
                          <a:spcPts val="0"/>
                        </a:spcAft>
                      </a:pPr>
                      <a:r>
                        <a:rPr lang="en-US" sz="1200">
                          <a:effectLst/>
                        </a:rPr>
                        <a:t>Group segment address</a:t>
                      </a:r>
                      <a:endParaRPr lang="zh-TW" sz="12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200" dirty="0">
                          <a:effectLst/>
                        </a:rPr>
                        <a:t>32-bit</a:t>
                      </a:r>
                      <a:endParaRPr lang="zh-TW" sz="1200"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solidFill>
                      <a:schemeClr val="tx2">
                        <a:lumMod val="40000"/>
                        <a:lumOff val="60000"/>
                      </a:schemeClr>
                    </a:solidFill>
                  </a:tcPr>
                </a:tc>
                <a:tc>
                  <a:txBody>
                    <a:bodyPr/>
                    <a:lstStyle/>
                    <a:p>
                      <a:pPr>
                        <a:spcAft>
                          <a:spcPts val="0"/>
                        </a:spcAft>
                      </a:pPr>
                      <a:r>
                        <a:rPr lang="en-US" sz="1200">
                          <a:effectLst/>
                        </a:rPr>
                        <a:t>32-bit</a:t>
                      </a:r>
                      <a:endParaRPr lang="zh-TW" sz="12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solidFill>
                      <a:schemeClr val="tx2">
                        <a:lumMod val="40000"/>
                        <a:lumOff val="60000"/>
                      </a:schemeClr>
                    </a:solidFill>
                  </a:tcPr>
                </a:tc>
              </a:tr>
              <a:tr h="0">
                <a:tc>
                  <a:txBody>
                    <a:bodyPr/>
                    <a:lstStyle/>
                    <a:p>
                      <a:pPr>
                        <a:spcAft>
                          <a:spcPts val="0"/>
                        </a:spcAft>
                      </a:pPr>
                      <a:r>
                        <a:rPr lang="en-US" sz="1200" dirty="0" err="1">
                          <a:effectLst/>
                        </a:rPr>
                        <a:t>Arg</a:t>
                      </a:r>
                      <a:r>
                        <a:rPr lang="en-US" sz="1200" dirty="0">
                          <a:effectLst/>
                        </a:rPr>
                        <a:t> segment address</a:t>
                      </a:r>
                      <a:endParaRPr lang="zh-TW" sz="1200"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200" dirty="0">
                          <a:effectLst/>
                        </a:rPr>
                        <a:t>32-bit</a:t>
                      </a:r>
                      <a:endParaRPr lang="zh-TW" sz="1200"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solidFill>
                      <a:schemeClr val="tx2">
                        <a:lumMod val="40000"/>
                        <a:lumOff val="60000"/>
                      </a:schemeClr>
                    </a:solidFill>
                  </a:tcPr>
                </a:tc>
                <a:tc>
                  <a:txBody>
                    <a:bodyPr/>
                    <a:lstStyle/>
                    <a:p>
                      <a:pPr>
                        <a:spcAft>
                          <a:spcPts val="0"/>
                        </a:spcAft>
                      </a:pPr>
                      <a:r>
                        <a:rPr lang="en-US" sz="1200">
                          <a:effectLst/>
                        </a:rPr>
                        <a:t>32-bit</a:t>
                      </a:r>
                      <a:endParaRPr lang="zh-TW" sz="12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solidFill>
                      <a:schemeClr val="tx2">
                        <a:lumMod val="40000"/>
                        <a:lumOff val="60000"/>
                      </a:schemeClr>
                    </a:solidFill>
                  </a:tcPr>
                </a:tc>
              </a:tr>
              <a:tr h="0">
                <a:tc>
                  <a:txBody>
                    <a:bodyPr/>
                    <a:lstStyle/>
                    <a:p>
                      <a:pPr>
                        <a:spcAft>
                          <a:spcPts val="0"/>
                        </a:spcAft>
                      </a:pPr>
                      <a:r>
                        <a:rPr lang="en-US" sz="1200">
                          <a:effectLst/>
                        </a:rPr>
                        <a:t>Private segment address</a:t>
                      </a:r>
                      <a:endParaRPr lang="zh-TW" sz="12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200" dirty="0">
                          <a:effectLst/>
                        </a:rPr>
                        <a:t>32-bit</a:t>
                      </a:r>
                      <a:endParaRPr lang="zh-TW" sz="1200"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solidFill>
                      <a:schemeClr val="tx2">
                        <a:lumMod val="40000"/>
                        <a:lumOff val="60000"/>
                      </a:schemeClr>
                    </a:solidFill>
                  </a:tcPr>
                </a:tc>
                <a:tc>
                  <a:txBody>
                    <a:bodyPr/>
                    <a:lstStyle/>
                    <a:p>
                      <a:pPr>
                        <a:spcAft>
                          <a:spcPts val="0"/>
                        </a:spcAft>
                      </a:pPr>
                      <a:r>
                        <a:rPr lang="en-US" sz="1200">
                          <a:effectLst/>
                        </a:rPr>
                        <a:t>32-bit</a:t>
                      </a:r>
                      <a:endParaRPr lang="zh-TW" sz="12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solidFill>
                      <a:schemeClr val="tx2">
                        <a:lumMod val="40000"/>
                        <a:lumOff val="60000"/>
                      </a:schemeClr>
                    </a:solidFill>
                  </a:tcPr>
                </a:tc>
              </a:tr>
              <a:tr h="0">
                <a:tc>
                  <a:txBody>
                    <a:bodyPr/>
                    <a:lstStyle/>
                    <a:p>
                      <a:pPr>
                        <a:spcAft>
                          <a:spcPts val="0"/>
                        </a:spcAft>
                      </a:pPr>
                      <a:r>
                        <a:rPr lang="en-US" sz="1200">
                          <a:effectLst/>
                        </a:rPr>
                        <a:t>Spill segment address</a:t>
                      </a:r>
                      <a:endParaRPr lang="zh-TW" sz="12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200" dirty="0">
                          <a:effectLst/>
                        </a:rPr>
                        <a:t>32-bit</a:t>
                      </a:r>
                      <a:endParaRPr lang="zh-TW" sz="1200"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solidFill>
                      <a:schemeClr val="tx2">
                        <a:lumMod val="40000"/>
                        <a:lumOff val="60000"/>
                      </a:schemeClr>
                    </a:solidFill>
                  </a:tcPr>
                </a:tc>
                <a:tc>
                  <a:txBody>
                    <a:bodyPr/>
                    <a:lstStyle/>
                    <a:p>
                      <a:pPr>
                        <a:spcAft>
                          <a:spcPts val="0"/>
                        </a:spcAft>
                      </a:pPr>
                      <a:r>
                        <a:rPr lang="en-US" sz="1200">
                          <a:effectLst/>
                        </a:rPr>
                        <a:t>32-bit</a:t>
                      </a:r>
                      <a:endParaRPr lang="zh-TW" sz="12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solidFill>
                      <a:schemeClr val="tx2">
                        <a:lumMod val="40000"/>
                        <a:lumOff val="60000"/>
                      </a:schemeClr>
                    </a:solidFill>
                  </a:tcPr>
                </a:tc>
              </a:tr>
              <a:tr h="0">
                <a:tc>
                  <a:txBody>
                    <a:bodyPr/>
                    <a:lstStyle/>
                    <a:p>
                      <a:pPr>
                        <a:spcAft>
                          <a:spcPts val="0"/>
                        </a:spcAft>
                      </a:pPr>
                      <a:r>
                        <a:rPr lang="en-US" sz="1200">
                          <a:effectLst/>
                        </a:rPr>
                        <a:t>Fbarrier address</a:t>
                      </a:r>
                      <a:endParaRPr lang="zh-TW" sz="12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200" dirty="0">
                          <a:effectLst/>
                        </a:rPr>
                        <a:t>32-bit</a:t>
                      </a:r>
                      <a:endParaRPr lang="zh-TW" sz="1200"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solidFill>
                      <a:schemeClr val="tx2">
                        <a:lumMod val="40000"/>
                        <a:lumOff val="60000"/>
                      </a:schemeClr>
                    </a:solidFill>
                  </a:tcPr>
                </a:tc>
                <a:tc>
                  <a:txBody>
                    <a:bodyPr/>
                    <a:lstStyle/>
                    <a:p>
                      <a:pPr>
                        <a:spcAft>
                          <a:spcPts val="0"/>
                        </a:spcAft>
                      </a:pPr>
                      <a:r>
                        <a:rPr lang="en-US" sz="1200" dirty="0">
                          <a:effectLst/>
                        </a:rPr>
                        <a:t>32-bit</a:t>
                      </a:r>
                      <a:endParaRPr lang="zh-TW" sz="1200"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solidFill>
                      <a:schemeClr val="tx2">
                        <a:lumMod val="40000"/>
                        <a:lumOff val="60000"/>
                      </a:schemeClr>
                    </a:solidFill>
                  </a:tcPr>
                </a:tc>
              </a:tr>
              <a:tr h="0">
                <a:tc>
                  <a:txBody>
                    <a:bodyPr/>
                    <a:lstStyle/>
                    <a:p>
                      <a:pPr>
                        <a:spcAft>
                          <a:spcPts val="0"/>
                        </a:spcAft>
                      </a:pPr>
                      <a:r>
                        <a:rPr lang="en-US" sz="1200">
                          <a:effectLst/>
                        </a:rPr>
                        <a:t>Address expression offset</a:t>
                      </a:r>
                      <a:endParaRPr lang="zh-TW" sz="12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200" dirty="0">
                          <a:effectLst/>
                        </a:rPr>
                        <a:t>32-bit</a:t>
                      </a:r>
                      <a:endParaRPr lang="zh-TW" sz="1200"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200" dirty="0">
                          <a:effectLst/>
                        </a:rPr>
                        <a:t>64-bit</a:t>
                      </a:r>
                      <a:endParaRPr lang="zh-TW" sz="1200"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0">
                <a:tc>
                  <a:txBody>
                    <a:bodyPr/>
                    <a:lstStyle/>
                    <a:p>
                      <a:pPr>
                        <a:spcAft>
                          <a:spcPts val="0"/>
                        </a:spcAft>
                      </a:pPr>
                      <a:r>
                        <a:rPr lang="en-US" sz="1200">
                          <a:effectLst/>
                        </a:rPr>
                        <a:t>Atomic value</a:t>
                      </a:r>
                      <a:endParaRPr lang="zh-TW" sz="12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200" dirty="0">
                          <a:effectLst/>
                        </a:rPr>
                        <a:t>32-bit</a:t>
                      </a:r>
                      <a:endParaRPr lang="zh-TW" sz="1200"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200">
                          <a:effectLst/>
                        </a:rPr>
                        <a:t>32-bit &amp; 64-bit</a:t>
                      </a:r>
                      <a:endParaRPr lang="zh-TW" sz="12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0">
                <a:tc>
                  <a:txBody>
                    <a:bodyPr/>
                    <a:lstStyle/>
                    <a:p>
                      <a:pPr>
                        <a:spcAft>
                          <a:spcPts val="0"/>
                        </a:spcAft>
                      </a:pPr>
                      <a:r>
                        <a:rPr lang="en-US" sz="1200">
                          <a:effectLst/>
                        </a:rPr>
                        <a:t>Signal value</a:t>
                      </a:r>
                      <a:endParaRPr lang="zh-TW" sz="12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200" dirty="0">
                          <a:effectLst/>
                        </a:rPr>
                        <a:t>32-bit</a:t>
                      </a:r>
                      <a:endParaRPr lang="zh-TW" sz="1200"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200">
                          <a:effectLst/>
                        </a:rPr>
                        <a:t>64-bit</a:t>
                      </a:r>
                      <a:endParaRPr lang="zh-TW" sz="12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0">
                <a:tc>
                  <a:txBody>
                    <a:bodyPr/>
                    <a:lstStyle/>
                    <a:p>
                      <a:pPr>
                        <a:spcAft>
                          <a:spcPts val="0"/>
                        </a:spcAft>
                      </a:pPr>
                      <a:r>
                        <a:rPr lang="en-US" sz="1200">
                          <a:effectLst/>
                        </a:rPr>
                        <a:t>Kernel code handle</a:t>
                      </a:r>
                      <a:endParaRPr lang="zh-TW" sz="12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200" dirty="0">
                          <a:effectLst/>
                        </a:rPr>
                        <a:t>64-bit</a:t>
                      </a:r>
                      <a:endParaRPr lang="zh-TW" sz="1200"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solidFill>
                      <a:schemeClr val="tx2">
                        <a:lumMod val="40000"/>
                        <a:lumOff val="60000"/>
                      </a:schemeClr>
                    </a:solidFill>
                  </a:tcPr>
                </a:tc>
                <a:tc>
                  <a:txBody>
                    <a:bodyPr/>
                    <a:lstStyle/>
                    <a:p>
                      <a:pPr>
                        <a:spcAft>
                          <a:spcPts val="0"/>
                        </a:spcAft>
                      </a:pPr>
                      <a:r>
                        <a:rPr lang="en-US" sz="1200" dirty="0">
                          <a:effectLst/>
                        </a:rPr>
                        <a:t>64-bit</a:t>
                      </a:r>
                      <a:endParaRPr lang="zh-TW" sz="1200"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solidFill>
                      <a:schemeClr val="tx2">
                        <a:lumMod val="40000"/>
                        <a:lumOff val="60000"/>
                      </a:schemeClr>
                    </a:solidFill>
                  </a:tcPr>
                </a:tc>
              </a:tr>
              <a:tr h="0">
                <a:tc>
                  <a:txBody>
                    <a:bodyPr/>
                    <a:lstStyle/>
                    <a:p>
                      <a:pPr>
                        <a:spcAft>
                          <a:spcPts val="0"/>
                        </a:spcAft>
                      </a:pPr>
                      <a:r>
                        <a:rPr lang="en-US" sz="1200">
                          <a:effectLst/>
                        </a:rPr>
                        <a:t>Indirect function  code handle</a:t>
                      </a:r>
                      <a:endParaRPr lang="zh-TW" sz="12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200">
                          <a:effectLst/>
                        </a:rPr>
                        <a:t>32-bit</a:t>
                      </a:r>
                      <a:endParaRPr lang="zh-TW" sz="12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200" dirty="0">
                          <a:effectLst/>
                        </a:rPr>
                        <a:t>64-bit</a:t>
                      </a:r>
                      <a:endParaRPr lang="zh-TW" sz="1200"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bl>
          </a:graphicData>
        </a:graphic>
      </p:graphicFrame>
      <p:sp>
        <p:nvSpPr>
          <p:cNvPr id="4" name="投影片編號版面配置區 3"/>
          <p:cNvSpPr>
            <a:spLocks noGrp="1"/>
          </p:cNvSpPr>
          <p:nvPr>
            <p:ph type="sldNum" sz="quarter" idx="10"/>
          </p:nvPr>
        </p:nvSpPr>
        <p:spPr/>
        <p:txBody>
          <a:bodyPr/>
          <a:lstStyle/>
          <a:p>
            <a:fld id="{557A4102-9134-4DE4-89E3-9E7F1698ADF0}" type="slidenum">
              <a:rPr lang="zh-TW" altLang="en-US" smtClean="0"/>
              <a:pPr/>
              <a:t>27</a:t>
            </a:fld>
            <a:endParaRPr lang="zh-TW" altLang="en-US" dirty="0"/>
          </a:p>
        </p:txBody>
      </p:sp>
    </p:spTree>
    <p:extLst>
      <p:ext uri="{BB962C8B-B14F-4D97-AF65-F5344CB8AC3E}">
        <p14:creationId xmlns:p14="http://schemas.microsoft.com/office/powerpoint/2010/main" val="865878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REGISTERS (1)</a:t>
            </a:r>
            <a:endParaRPr lang="zh-TW" altLang="en-US" dirty="0"/>
          </a:p>
        </p:txBody>
      </p:sp>
      <p:sp>
        <p:nvSpPr>
          <p:cNvPr id="3" name="內容版面配置區 2"/>
          <p:cNvSpPr>
            <a:spLocks noGrp="1"/>
          </p:cNvSpPr>
          <p:nvPr>
            <p:ph idx="1"/>
          </p:nvPr>
        </p:nvSpPr>
        <p:spPr/>
        <p:txBody>
          <a:bodyPr/>
          <a:lstStyle/>
          <a:p>
            <a:pPr marL="0" indent="0">
              <a:buNone/>
            </a:pPr>
            <a:endParaRPr lang="en-US" altLang="zh-TW" sz="2400" dirty="0" smtClean="0"/>
          </a:p>
          <a:p>
            <a:r>
              <a:rPr lang="en-US" altLang="zh-TW" sz="2400" dirty="0" smtClean="0"/>
              <a:t>Four </a:t>
            </a:r>
            <a:r>
              <a:rPr lang="en-US" altLang="zh-TW" sz="2400" dirty="0"/>
              <a:t>types of registers</a:t>
            </a:r>
          </a:p>
          <a:p>
            <a:pPr lvl="1">
              <a:buSzPct val="80000"/>
            </a:pPr>
            <a:r>
              <a:rPr lang="en-US" altLang="zh-TW" sz="2000" dirty="0"/>
              <a:t> C: 1-bit, Control </a:t>
            </a:r>
            <a:r>
              <a:rPr lang="en-US" altLang="zh-TW" sz="2000" dirty="0" smtClean="0"/>
              <a:t>Registers. </a:t>
            </a:r>
            <a:r>
              <a:rPr lang="en-US" altLang="zh-TW" dirty="0" smtClean="0"/>
              <a:t>(</a:t>
            </a:r>
            <a:r>
              <a:rPr lang="en-US" altLang="zh-TW" dirty="0" smtClean="0">
                <a:solidFill>
                  <a:srgbClr val="000000"/>
                </a:solidFill>
                <a:latin typeface="Courier New" panose="02070309020205020404" pitchFamily="49" charset="0"/>
                <a:ea typeface="新細明體" panose="02020500000000000000" pitchFamily="18" charset="-120"/>
                <a:cs typeface="Courier New" panose="02070309020205020404" pitchFamily="49" charset="0"/>
              </a:rPr>
              <a:t>$</a:t>
            </a:r>
            <a:r>
              <a:rPr lang="en-US" altLang="zh-TW" dirty="0">
                <a:solidFill>
                  <a:srgbClr val="000000"/>
                </a:solidFill>
                <a:latin typeface="Courier New" panose="02070309020205020404" pitchFamily="49" charset="0"/>
                <a:ea typeface="新細明體" panose="02020500000000000000" pitchFamily="18" charset="-120"/>
                <a:cs typeface="Courier New" panose="02070309020205020404" pitchFamily="49" charset="0"/>
              </a:rPr>
              <a:t>c0</a:t>
            </a:r>
            <a:r>
              <a:rPr lang="en-US" altLang="zh-TW" dirty="0">
                <a:latin typeface="Cambria" panose="02040503050406030204" pitchFamily="18" charset="0"/>
                <a:ea typeface="新細明體" panose="02020500000000000000" pitchFamily="18" charset="-120"/>
                <a:cs typeface="Cambria" panose="02040503050406030204" pitchFamily="18" charset="0"/>
              </a:rPr>
              <a:t>, </a:t>
            </a:r>
            <a:r>
              <a:rPr lang="en-US" altLang="zh-TW" dirty="0">
                <a:solidFill>
                  <a:srgbClr val="000000"/>
                </a:solidFill>
                <a:latin typeface="Courier New" panose="02070309020205020404" pitchFamily="49" charset="0"/>
                <a:ea typeface="新細明體" panose="02020500000000000000" pitchFamily="18" charset="-120"/>
                <a:cs typeface="Courier New" panose="02070309020205020404" pitchFamily="49" charset="0"/>
              </a:rPr>
              <a:t>$c1</a:t>
            </a:r>
            <a:r>
              <a:rPr lang="en-US" altLang="zh-TW" dirty="0">
                <a:latin typeface="Cambria" panose="02040503050406030204" pitchFamily="18" charset="0"/>
                <a:ea typeface="新細明體" panose="02020500000000000000" pitchFamily="18" charset="-120"/>
                <a:cs typeface="Cambria" panose="02040503050406030204" pitchFamily="18" charset="0"/>
              </a:rPr>
              <a:t>, </a:t>
            </a:r>
            <a:r>
              <a:rPr lang="en-US" altLang="zh-TW" dirty="0">
                <a:solidFill>
                  <a:srgbClr val="000000"/>
                </a:solidFill>
                <a:latin typeface="Courier New" panose="02070309020205020404" pitchFamily="49" charset="0"/>
                <a:ea typeface="新細明體" panose="02020500000000000000" pitchFamily="18" charset="-120"/>
                <a:cs typeface="Courier New" panose="02070309020205020404" pitchFamily="49" charset="0"/>
              </a:rPr>
              <a:t>$c2</a:t>
            </a:r>
            <a:r>
              <a:rPr lang="en-US" altLang="zh-TW" dirty="0">
                <a:latin typeface="Cambria" panose="02040503050406030204" pitchFamily="18" charset="0"/>
                <a:ea typeface="新細明體" panose="02020500000000000000" pitchFamily="18" charset="-120"/>
                <a:cs typeface="Cambria" panose="02040503050406030204" pitchFamily="18" charset="0"/>
              </a:rPr>
              <a:t> </a:t>
            </a:r>
            <a:r>
              <a:rPr lang="en-US" altLang="zh-TW" dirty="0">
                <a:solidFill>
                  <a:srgbClr val="000000"/>
                </a:solidFill>
                <a:latin typeface="Courier New" panose="02070309020205020404" pitchFamily="49" charset="0"/>
                <a:ea typeface="新細明體" panose="02020500000000000000" pitchFamily="18" charset="-120"/>
                <a:cs typeface="Courier New" panose="02070309020205020404" pitchFamily="49" charset="0"/>
              </a:rPr>
              <a:t>and so on</a:t>
            </a:r>
            <a:r>
              <a:rPr lang="en-US" altLang="zh-TW" dirty="0" smtClean="0">
                <a:latin typeface="Cambria" panose="02040503050406030204" pitchFamily="18" charset="0"/>
                <a:ea typeface="新細明體" panose="02020500000000000000" pitchFamily="18" charset="-120"/>
                <a:cs typeface="Cambria" panose="02040503050406030204" pitchFamily="18" charset="0"/>
              </a:rPr>
              <a:t>.</a:t>
            </a:r>
            <a:r>
              <a:rPr lang="en-US" altLang="zh-TW" dirty="0" smtClean="0">
                <a:solidFill>
                  <a:srgbClr val="000000"/>
                </a:solidFill>
                <a:latin typeface="Courier New" panose="02070309020205020404" pitchFamily="49" charset="0"/>
                <a:ea typeface="新細明體" panose="02020500000000000000" pitchFamily="18" charset="-120"/>
                <a:cs typeface="Courier New" panose="02070309020205020404" pitchFamily="49" charset="0"/>
              </a:rPr>
              <a:t>)</a:t>
            </a:r>
            <a:endParaRPr lang="en-US" altLang="zh-TW" sz="2000" dirty="0"/>
          </a:p>
          <a:p>
            <a:pPr lvl="1">
              <a:buSzPct val="80000"/>
            </a:pPr>
            <a:r>
              <a:rPr lang="en-US" altLang="zh-TW" sz="2000" dirty="0"/>
              <a:t> S: 32-bit, Single-precision FP or </a:t>
            </a:r>
            <a:r>
              <a:rPr lang="en-US" altLang="zh-TW" sz="2000" dirty="0" smtClean="0"/>
              <a:t>Int. </a:t>
            </a:r>
            <a:r>
              <a:rPr lang="en-US" altLang="zh-TW" dirty="0" smtClean="0"/>
              <a:t>(</a:t>
            </a:r>
            <a:r>
              <a:rPr lang="en-US" altLang="zh-TW" dirty="0" smtClean="0">
                <a:solidFill>
                  <a:srgbClr val="000000"/>
                </a:solidFill>
                <a:latin typeface="Courier New" panose="02070309020205020404" pitchFamily="49" charset="0"/>
                <a:ea typeface="新細明體" panose="02020500000000000000" pitchFamily="18" charset="-120"/>
                <a:cs typeface="Courier New" panose="02070309020205020404" pitchFamily="49" charset="0"/>
              </a:rPr>
              <a:t>$</a:t>
            </a:r>
            <a:r>
              <a:rPr lang="en-US" altLang="zh-TW" dirty="0">
                <a:solidFill>
                  <a:srgbClr val="000000"/>
                </a:solidFill>
                <a:latin typeface="Courier New" panose="02070309020205020404" pitchFamily="49" charset="0"/>
                <a:ea typeface="新細明體" panose="02020500000000000000" pitchFamily="18" charset="-120"/>
                <a:cs typeface="Courier New" panose="02070309020205020404" pitchFamily="49" charset="0"/>
              </a:rPr>
              <a:t>s0</a:t>
            </a:r>
            <a:r>
              <a:rPr lang="en-US" altLang="zh-TW" dirty="0">
                <a:latin typeface="Cambria" panose="02040503050406030204" pitchFamily="18" charset="0"/>
                <a:ea typeface="新細明體" panose="02020500000000000000" pitchFamily="18" charset="-120"/>
                <a:cs typeface="Cambria" panose="02040503050406030204" pitchFamily="18" charset="0"/>
              </a:rPr>
              <a:t>, </a:t>
            </a:r>
            <a:r>
              <a:rPr lang="en-US" altLang="zh-TW" dirty="0">
                <a:solidFill>
                  <a:srgbClr val="000000"/>
                </a:solidFill>
                <a:latin typeface="Courier New" panose="02070309020205020404" pitchFamily="49" charset="0"/>
                <a:ea typeface="新細明體" panose="02020500000000000000" pitchFamily="18" charset="-120"/>
                <a:cs typeface="Courier New" panose="02070309020205020404" pitchFamily="49" charset="0"/>
              </a:rPr>
              <a:t>$s1</a:t>
            </a:r>
            <a:r>
              <a:rPr lang="en-US" altLang="zh-TW" dirty="0">
                <a:latin typeface="Cambria" panose="02040503050406030204" pitchFamily="18" charset="0"/>
                <a:ea typeface="新細明體" panose="02020500000000000000" pitchFamily="18" charset="-120"/>
                <a:cs typeface="Cambria" panose="02040503050406030204" pitchFamily="18" charset="0"/>
              </a:rPr>
              <a:t>, </a:t>
            </a:r>
            <a:r>
              <a:rPr lang="en-US" altLang="zh-TW" dirty="0">
                <a:solidFill>
                  <a:srgbClr val="000000"/>
                </a:solidFill>
                <a:latin typeface="Courier New" panose="02070309020205020404" pitchFamily="49" charset="0"/>
                <a:ea typeface="新細明體" panose="02020500000000000000" pitchFamily="18" charset="-120"/>
                <a:cs typeface="Courier New" panose="02070309020205020404" pitchFamily="49" charset="0"/>
              </a:rPr>
              <a:t>$s2</a:t>
            </a:r>
            <a:r>
              <a:rPr lang="en-US" altLang="zh-TW" dirty="0">
                <a:latin typeface="Cambria" panose="02040503050406030204" pitchFamily="18" charset="0"/>
                <a:ea typeface="新細明體" panose="02020500000000000000" pitchFamily="18" charset="-120"/>
                <a:cs typeface="Cambria" panose="02040503050406030204" pitchFamily="18" charset="0"/>
              </a:rPr>
              <a:t> </a:t>
            </a:r>
            <a:r>
              <a:rPr lang="en-US" altLang="zh-TW" dirty="0">
                <a:solidFill>
                  <a:srgbClr val="000000"/>
                </a:solidFill>
                <a:latin typeface="Courier New" panose="02070309020205020404" pitchFamily="49" charset="0"/>
                <a:ea typeface="新細明體" panose="02020500000000000000" pitchFamily="18" charset="-120"/>
                <a:cs typeface="Courier New" panose="02070309020205020404" pitchFamily="49" charset="0"/>
              </a:rPr>
              <a:t>and so on</a:t>
            </a:r>
            <a:r>
              <a:rPr lang="en-US" altLang="zh-TW" dirty="0" smtClean="0">
                <a:latin typeface="Cambria" panose="02040503050406030204" pitchFamily="18" charset="0"/>
                <a:ea typeface="新細明體" panose="02020500000000000000" pitchFamily="18" charset="-120"/>
                <a:cs typeface="Cambria" panose="02040503050406030204" pitchFamily="18" charset="0"/>
              </a:rPr>
              <a:t>.</a:t>
            </a:r>
            <a:r>
              <a:rPr lang="en-US" altLang="zh-TW" dirty="0" smtClean="0">
                <a:solidFill>
                  <a:srgbClr val="000000"/>
                </a:solidFill>
                <a:latin typeface="Courier New" panose="02070309020205020404" pitchFamily="49" charset="0"/>
                <a:ea typeface="新細明體" panose="02020500000000000000" pitchFamily="18" charset="-120"/>
                <a:cs typeface="Courier New" panose="02070309020205020404" pitchFamily="49" charset="0"/>
              </a:rPr>
              <a:t>)</a:t>
            </a:r>
            <a:endParaRPr lang="en-US" altLang="zh-TW" sz="2000" dirty="0"/>
          </a:p>
          <a:p>
            <a:pPr lvl="1">
              <a:buSzPct val="80000"/>
            </a:pPr>
            <a:r>
              <a:rPr lang="en-US" altLang="zh-TW" sz="2000" dirty="0"/>
              <a:t> D: 64-bit, Double-precision FP or Long </a:t>
            </a:r>
            <a:r>
              <a:rPr lang="en-US" altLang="zh-TW" sz="2000" dirty="0" smtClean="0"/>
              <a:t>Int. </a:t>
            </a:r>
            <a:r>
              <a:rPr lang="en-US" altLang="zh-TW" dirty="0" smtClean="0"/>
              <a:t>(</a:t>
            </a:r>
            <a:r>
              <a:rPr lang="en-US" altLang="zh-TW" dirty="0" smtClean="0">
                <a:solidFill>
                  <a:srgbClr val="000000"/>
                </a:solidFill>
                <a:latin typeface="Courier New" panose="02070309020205020404" pitchFamily="49" charset="0"/>
                <a:ea typeface="新細明體" panose="02020500000000000000" pitchFamily="18" charset="-120"/>
                <a:cs typeface="Courier New" panose="02070309020205020404" pitchFamily="49" charset="0"/>
              </a:rPr>
              <a:t>$</a:t>
            </a:r>
            <a:r>
              <a:rPr lang="en-US" altLang="zh-TW" dirty="0">
                <a:solidFill>
                  <a:srgbClr val="000000"/>
                </a:solidFill>
                <a:latin typeface="Courier New" panose="02070309020205020404" pitchFamily="49" charset="0"/>
                <a:ea typeface="新細明體" panose="02020500000000000000" pitchFamily="18" charset="-120"/>
                <a:cs typeface="Courier New" panose="02070309020205020404" pitchFamily="49" charset="0"/>
              </a:rPr>
              <a:t>d0</a:t>
            </a:r>
            <a:r>
              <a:rPr lang="en-US" altLang="zh-TW" dirty="0">
                <a:latin typeface="Cambria" panose="02040503050406030204" pitchFamily="18" charset="0"/>
                <a:ea typeface="新細明體" panose="02020500000000000000" pitchFamily="18" charset="-120"/>
                <a:cs typeface="Cambria" panose="02040503050406030204" pitchFamily="18" charset="0"/>
              </a:rPr>
              <a:t>,  </a:t>
            </a:r>
            <a:r>
              <a:rPr lang="en-US" altLang="zh-TW" dirty="0">
                <a:solidFill>
                  <a:srgbClr val="000000"/>
                </a:solidFill>
                <a:latin typeface="Courier New" panose="02070309020205020404" pitchFamily="49" charset="0"/>
                <a:ea typeface="新細明體" panose="02020500000000000000" pitchFamily="18" charset="-120"/>
                <a:cs typeface="Courier New" panose="02070309020205020404" pitchFamily="49" charset="0"/>
              </a:rPr>
              <a:t>$d1</a:t>
            </a:r>
            <a:r>
              <a:rPr lang="en-US" altLang="zh-TW" dirty="0">
                <a:latin typeface="Cambria" panose="02040503050406030204" pitchFamily="18" charset="0"/>
                <a:ea typeface="新細明體" panose="02020500000000000000" pitchFamily="18" charset="-120"/>
                <a:cs typeface="Cambria" panose="02040503050406030204" pitchFamily="18" charset="0"/>
              </a:rPr>
              <a:t>,  </a:t>
            </a:r>
            <a:r>
              <a:rPr lang="en-US" altLang="zh-TW" dirty="0">
                <a:solidFill>
                  <a:srgbClr val="000000"/>
                </a:solidFill>
                <a:latin typeface="Courier New" panose="02070309020205020404" pitchFamily="49" charset="0"/>
                <a:ea typeface="新細明體" panose="02020500000000000000" pitchFamily="18" charset="-120"/>
                <a:cs typeface="Courier New" panose="02070309020205020404" pitchFamily="49" charset="0"/>
              </a:rPr>
              <a:t>$d2</a:t>
            </a:r>
            <a:r>
              <a:rPr lang="en-US" altLang="zh-TW" dirty="0">
                <a:latin typeface="Cambria" panose="02040503050406030204" pitchFamily="18" charset="0"/>
                <a:ea typeface="新細明體" panose="02020500000000000000" pitchFamily="18" charset="-120"/>
                <a:cs typeface="Cambria" panose="02040503050406030204" pitchFamily="18" charset="0"/>
              </a:rPr>
              <a:t>,  </a:t>
            </a:r>
            <a:r>
              <a:rPr lang="en-US" altLang="zh-TW" dirty="0">
                <a:solidFill>
                  <a:srgbClr val="000000"/>
                </a:solidFill>
                <a:latin typeface="Courier New" panose="02070309020205020404" pitchFamily="49" charset="0"/>
                <a:ea typeface="新細明體" panose="02020500000000000000" pitchFamily="18" charset="-120"/>
                <a:cs typeface="Courier New" panose="02070309020205020404" pitchFamily="49" charset="0"/>
              </a:rPr>
              <a:t>and so on</a:t>
            </a:r>
            <a:r>
              <a:rPr lang="en-US" altLang="zh-TW" dirty="0" smtClean="0">
                <a:latin typeface="Cambria" panose="02040503050406030204" pitchFamily="18" charset="0"/>
                <a:ea typeface="新細明體" panose="02020500000000000000" pitchFamily="18" charset="-120"/>
                <a:cs typeface="Cambria" panose="02040503050406030204" pitchFamily="18" charset="0"/>
              </a:rPr>
              <a:t>.</a:t>
            </a:r>
            <a:r>
              <a:rPr lang="en-US" altLang="zh-TW" dirty="0" smtClean="0">
                <a:solidFill>
                  <a:srgbClr val="000000"/>
                </a:solidFill>
                <a:latin typeface="Courier New" panose="02070309020205020404" pitchFamily="49" charset="0"/>
                <a:ea typeface="新細明體" panose="02020500000000000000" pitchFamily="18" charset="-120"/>
                <a:cs typeface="Courier New" panose="02070309020205020404" pitchFamily="49" charset="0"/>
              </a:rPr>
              <a:t>)</a:t>
            </a:r>
            <a:endParaRPr lang="en-US" altLang="zh-TW" sz="2000" dirty="0"/>
          </a:p>
          <a:p>
            <a:pPr lvl="1">
              <a:buSzPct val="80000"/>
            </a:pPr>
            <a:r>
              <a:rPr lang="en-US" altLang="zh-TW" sz="2000" dirty="0"/>
              <a:t> Q: 128-bit, Packed </a:t>
            </a:r>
            <a:r>
              <a:rPr lang="en-US" altLang="zh-TW" sz="2000" dirty="0" smtClean="0"/>
              <a:t>data. (</a:t>
            </a:r>
            <a:r>
              <a:rPr lang="en-US" altLang="zh-TW" sz="2000" dirty="0" smtClean="0">
                <a:solidFill>
                  <a:srgbClr val="000000"/>
                </a:solidFill>
                <a:latin typeface="Courier New" panose="02070309020205020404" pitchFamily="49" charset="0"/>
                <a:ea typeface="新細明體" panose="02020500000000000000" pitchFamily="18" charset="-120"/>
                <a:cs typeface="Courier New" panose="02070309020205020404" pitchFamily="49" charset="0"/>
              </a:rPr>
              <a:t>$</a:t>
            </a:r>
            <a:r>
              <a:rPr lang="en-US" altLang="zh-TW" sz="2000" dirty="0">
                <a:solidFill>
                  <a:srgbClr val="000000"/>
                </a:solidFill>
                <a:latin typeface="Courier New" panose="02070309020205020404" pitchFamily="49" charset="0"/>
                <a:ea typeface="新細明體" panose="02020500000000000000" pitchFamily="18" charset="-120"/>
                <a:cs typeface="Courier New" panose="02070309020205020404" pitchFamily="49" charset="0"/>
              </a:rPr>
              <a:t>q0</a:t>
            </a:r>
            <a:r>
              <a:rPr lang="en-US" altLang="zh-TW" sz="2000" dirty="0">
                <a:latin typeface="Cambria" panose="02040503050406030204" pitchFamily="18" charset="0"/>
                <a:ea typeface="新細明體" panose="02020500000000000000" pitchFamily="18" charset="-120"/>
                <a:cs typeface="Cambria" panose="02040503050406030204" pitchFamily="18" charset="0"/>
              </a:rPr>
              <a:t>, </a:t>
            </a:r>
            <a:r>
              <a:rPr lang="en-US" altLang="zh-TW" sz="2000" dirty="0">
                <a:solidFill>
                  <a:srgbClr val="000000"/>
                </a:solidFill>
                <a:latin typeface="Courier New" panose="02070309020205020404" pitchFamily="49" charset="0"/>
                <a:ea typeface="新細明體" panose="02020500000000000000" pitchFamily="18" charset="-120"/>
                <a:cs typeface="Courier New" panose="02070309020205020404" pitchFamily="49" charset="0"/>
              </a:rPr>
              <a:t>$q1</a:t>
            </a:r>
            <a:r>
              <a:rPr lang="en-US" altLang="zh-TW" sz="2000" dirty="0">
                <a:latin typeface="Cambria" panose="02040503050406030204" pitchFamily="18" charset="0"/>
                <a:ea typeface="新細明體" panose="02020500000000000000" pitchFamily="18" charset="-120"/>
                <a:cs typeface="Cambria" panose="02040503050406030204" pitchFamily="18" charset="0"/>
              </a:rPr>
              <a:t>, </a:t>
            </a:r>
            <a:r>
              <a:rPr lang="en-US" altLang="zh-TW" sz="2000" dirty="0">
                <a:solidFill>
                  <a:srgbClr val="000000"/>
                </a:solidFill>
                <a:latin typeface="Courier New" panose="02070309020205020404" pitchFamily="49" charset="0"/>
                <a:ea typeface="新細明體" panose="02020500000000000000" pitchFamily="18" charset="-120"/>
                <a:cs typeface="Courier New" panose="02070309020205020404" pitchFamily="49" charset="0"/>
              </a:rPr>
              <a:t>$q2</a:t>
            </a:r>
            <a:r>
              <a:rPr lang="en-US" altLang="zh-TW" sz="2000" dirty="0">
                <a:latin typeface="Cambria" panose="02040503050406030204" pitchFamily="18" charset="0"/>
                <a:ea typeface="新細明體" panose="02020500000000000000" pitchFamily="18" charset="-120"/>
                <a:cs typeface="Cambria" panose="02040503050406030204" pitchFamily="18" charset="0"/>
              </a:rPr>
              <a:t> </a:t>
            </a:r>
            <a:r>
              <a:rPr lang="en-US" altLang="zh-TW" sz="2000" dirty="0">
                <a:solidFill>
                  <a:srgbClr val="000000"/>
                </a:solidFill>
                <a:latin typeface="Courier New" panose="02070309020205020404" pitchFamily="49" charset="0"/>
                <a:ea typeface="新細明體" panose="02020500000000000000" pitchFamily="18" charset="-120"/>
                <a:cs typeface="Courier New" panose="02070309020205020404" pitchFamily="49" charset="0"/>
              </a:rPr>
              <a:t>and so on</a:t>
            </a:r>
            <a:r>
              <a:rPr lang="en-US" altLang="zh-TW" sz="2000" dirty="0" smtClean="0">
                <a:latin typeface="Cambria" panose="02040503050406030204" pitchFamily="18" charset="0"/>
                <a:ea typeface="新細明體" panose="02020500000000000000" pitchFamily="18" charset="-120"/>
                <a:cs typeface="Cambria" panose="02040503050406030204" pitchFamily="18" charset="0"/>
              </a:rPr>
              <a:t>.</a:t>
            </a:r>
            <a:r>
              <a:rPr lang="en-US" altLang="zh-TW" sz="2000" dirty="0" smtClean="0">
                <a:solidFill>
                  <a:srgbClr val="000000"/>
                </a:solidFill>
                <a:latin typeface="Courier New" panose="02070309020205020404" pitchFamily="49" charset="0"/>
                <a:ea typeface="新細明體" panose="02020500000000000000" pitchFamily="18" charset="-120"/>
                <a:cs typeface="Courier New" panose="02070309020205020404" pitchFamily="49" charset="0"/>
              </a:rPr>
              <a:t>)</a:t>
            </a:r>
          </a:p>
          <a:p>
            <a:pPr lvl="1">
              <a:buSzPct val="80000"/>
            </a:pPr>
            <a:endParaRPr lang="en-US" altLang="zh-TW" sz="2000" dirty="0"/>
          </a:p>
          <a:p>
            <a:pPr lvl="0"/>
            <a:r>
              <a:rPr lang="en-US" altLang="zh-TW" sz="2000" dirty="0">
                <a:solidFill>
                  <a:prstClr val="black"/>
                </a:solidFill>
              </a:rPr>
              <a:t>All registers have function scope, so there is no way to pass an argument into a function through a register</a:t>
            </a:r>
            <a:r>
              <a:rPr lang="en-US" altLang="zh-TW" sz="2000" dirty="0" smtClean="0">
                <a:solidFill>
                  <a:prstClr val="black"/>
                </a:solidFill>
              </a:rPr>
              <a:t>.</a:t>
            </a:r>
            <a:endParaRPr lang="en-US" altLang="zh-TW" sz="2000" dirty="0">
              <a:solidFill>
                <a:prstClr val="black"/>
              </a:solidFill>
            </a:endParaRPr>
          </a:p>
          <a:p>
            <a:pPr lvl="0"/>
            <a:r>
              <a:rPr lang="en-US" altLang="zh-TW" sz="2000" dirty="0">
                <a:solidFill>
                  <a:prstClr val="black"/>
                </a:solidFill>
              </a:rPr>
              <a:t>Every work-item has its own set of registers</a:t>
            </a:r>
            <a:r>
              <a:rPr lang="en-US" altLang="zh-TW" sz="2000" dirty="0" smtClean="0">
                <a:solidFill>
                  <a:prstClr val="black"/>
                </a:solidFill>
              </a:rPr>
              <a:t>.</a:t>
            </a:r>
            <a:endParaRPr lang="en-US" altLang="zh-TW" sz="2000" dirty="0">
              <a:solidFill>
                <a:prstClr val="black"/>
              </a:solidFill>
            </a:endParaRPr>
          </a:p>
          <a:p>
            <a:pPr lvl="0"/>
            <a:r>
              <a:rPr lang="en-US" altLang="zh-TW" sz="2000" dirty="0">
                <a:solidFill>
                  <a:prstClr val="black"/>
                </a:solidFill>
              </a:rPr>
              <a:t>No registers are shared between work-items</a:t>
            </a:r>
            <a:r>
              <a:rPr lang="en-US" altLang="zh-TW" sz="2000" dirty="0" smtClean="0">
                <a:solidFill>
                  <a:prstClr val="black"/>
                </a:solidFill>
              </a:rPr>
              <a:t>.</a:t>
            </a:r>
            <a:endParaRPr lang="en-US" altLang="zh-TW" sz="2000" dirty="0">
              <a:solidFill>
                <a:prstClr val="black"/>
              </a:solidFill>
            </a:endParaRPr>
          </a:p>
          <a:p>
            <a:pPr lvl="0"/>
            <a:r>
              <a:rPr lang="en-US" altLang="zh-TW" sz="2000" dirty="0">
                <a:solidFill>
                  <a:prstClr val="black"/>
                </a:solidFill>
              </a:rPr>
              <a:t>Preserved by call sites.</a:t>
            </a:r>
          </a:p>
          <a:p>
            <a:pPr marL="342900" lvl="1" indent="0">
              <a:buSzPct val="80000"/>
              <a:buNone/>
            </a:pPr>
            <a:endParaRPr lang="en-US" altLang="zh-TW" sz="2000" dirty="0" smtClean="0"/>
          </a:p>
          <a:p>
            <a:pPr lvl="1">
              <a:buSzPct val="80000"/>
            </a:pPr>
            <a:endParaRPr lang="en-US" altLang="zh-TW" sz="2000" dirty="0"/>
          </a:p>
          <a:p>
            <a:pPr lvl="1">
              <a:buSzPct val="80000"/>
            </a:pPr>
            <a:endParaRPr lang="en-US" altLang="zh-TW" sz="2000" dirty="0"/>
          </a:p>
        </p:txBody>
      </p:sp>
      <p:sp>
        <p:nvSpPr>
          <p:cNvPr id="4" name="投影片編號版面配置區 3"/>
          <p:cNvSpPr>
            <a:spLocks noGrp="1"/>
          </p:cNvSpPr>
          <p:nvPr>
            <p:ph type="sldNum" sz="quarter" idx="10"/>
          </p:nvPr>
        </p:nvSpPr>
        <p:spPr/>
        <p:txBody>
          <a:bodyPr/>
          <a:lstStyle/>
          <a:p>
            <a:fld id="{6C75C586-0B13-4105-9895-CED4323B37DD}" type="slidenum">
              <a:rPr lang="zh-TW" altLang="en-US" smtClean="0"/>
              <a:pPr/>
              <a:t>28</a:t>
            </a:fld>
            <a:endParaRPr lang="zh-TW" altLang="en-US"/>
          </a:p>
        </p:txBody>
      </p:sp>
    </p:spTree>
    <p:extLst>
      <p:ext uri="{BB962C8B-B14F-4D97-AF65-F5344CB8AC3E}">
        <p14:creationId xmlns:p14="http://schemas.microsoft.com/office/powerpoint/2010/main" val="50820697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REGISTERS (2)</a:t>
            </a:r>
            <a:endParaRPr lang="zh-TW" altLang="en-US" dirty="0"/>
          </a:p>
        </p:txBody>
      </p:sp>
      <p:sp>
        <p:nvSpPr>
          <p:cNvPr id="3" name="內容版面配置區 2"/>
          <p:cNvSpPr>
            <a:spLocks noGrp="1"/>
          </p:cNvSpPr>
          <p:nvPr>
            <p:ph idx="1"/>
          </p:nvPr>
        </p:nvSpPr>
        <p:spPr>
          <a:xfrm>
            <a:off x="446089" y="1523454"/>
            <a:ext cx="8229600" cy="4420145"/>
          </a:xfrm>
        </p:spPr>
        <p:txBody>
          <a:bodyPr/>
          <a:lstStyle/>
          <a:p>
            <a:r>
              <a:rPr lang="en-US" altLang="zh-TW" sz="1950" dirty="0" smtClean="0"/>
              <a:t>C use a single pool </a:t>
            </a:r>
            <a:r>
              <a:rPr lang="en-US" altLang="zh-TW" sz="1950" dirty="0" err="1" smtClean="0"/>
              <a:t>os</a:t>
            </a:r>
            <a:r>
              <a:rPr lang="en-US" altLang="zh-TW" sz="1950" dirty="0" smtClean="0"/>
              <a:t> resources per function scope</a:t>
            </a:r>
          </a:p>
          <a:p>
            <a:pPr marL="0" indent="0">
              <a:buNone/>
            </a:pPr>
            <a:r>
              <a:rPr lang="en-US" altLang="zh-TW" sz="1950" dirty="0">
                <a:solidFill>
                  <a:prstClr val="black"/>
                </a:solidFill>
              </a:rPr>
              <a:t> </a:t>
            </a:r>
            <a:r>
              <a:rPr lang="en-US" altLang="zh-TW" sz="1950" dirty="0" smtClean="0">
                <a:solidFill>
                  <a:prstClr val="black"/>
                </a:solidFill>
              </a:rPr>
              <a:t>        </a:t>
            </a:r>
            <a:r>
              <a:rPr lang="en-US" altLang="zh-TW" sz="1950" dirty="0">
                <a:solidFill>
                  <a:prstClr val="black"/>
                </a:solidFill>
              </a:rPr>
              <a:t>=&gt; If </a:t>
            </a:r>
            <a:r>
              <a:rPr lang="en-US" altLang="zh-TW" sz="1950" dirty="0" smtClean="0">
                <a:solidFill>
                  <a:prstClr val="black"/>
                </a:solidFill>
              </a:rPr>
              <a:t>(C</a:t>
            </a:r>
            <a:r>
              <a:rPr lang="en-US" altLang="zh-TW" sz="1950" baseline="-25000" dirty="0" smtClean="0">
                <a:solidFill>
                  <a:prstClr val="black"/>
                </a:solidFill>
              </a:rPr>
              <a:t>max</a:t>
            </a:r>
            <a:r>
              <a:rPr lang="en-US" altLang="zh-TW" sz="1950" dirty="0" smtClean="0">
                <a:solidFill>
                  <a:prstClr val="black"/>
                </a:solidFill>
              </a:rPr>
              <a:t>+1 </a:t>
            </a:r>
            <a:r>
              <a:rPr lang="en-US" altLang="zh-TW" sz="1950" dirty="0">
                <a:solidFill>
                  <a:prstClr val="black"/>
                </a:solidFill>
              </a:rPr>
              <a:t>) </a:t>
            </a:r>
            <a:r>
              <a:rPr lang="en-US" altLang="zh-TW" sz="1950" dirty="0" smtClean="0">
                <a:solidFill>
                  <a:prstClr val="black"/>
                </a:solidFill>
              </a:rPr>
              <a:t>&gt;128  </a:t>
            </a:r>
            <a:r>
              <a:rPr lang="en-US" altLang="zh-TW" sz="1950" dirty="0">
                <a:solidFill>
                  <a:prstClr val="black"/>
                </a:solidFill>
              </a:rPr>
              <a:t>in the kernel/function code block then an error occurred!</a:t>
            </a:r>
            <a:endParaRPr lang="en-US" altLang="zh-TW" sz="1950" dirty="0" smtClean="0"/>
          </a:p>
          <a:p>
            <a:endParaRPr lang="en-US" altLang="zh-TW" sz="1950" dirty="0" smtClean="0"/>
          </a:p>
          <a:p>
            <a:pPr lvl="0"/>
            <a:r>
              <a:rPr lang="en-US" altLang="zh-TW" sz="1950" dirty="0" smtClean="0"/>
              <a:t>The </a:t>
            </a:r>
            <a:r>
              <a:rPr lang="en-US" altLang="zh-TW" sz="1950" dirty="0" err="1" smtClean="0">
                <a:solidFill>
                  <a:prstClr val="black"/>
                </a:solidFill>
              </a:rPr>
              <a:t>C</a:t>
            </a:r>
            <a:r>
              <a:rPr lang="en-US" altLang="zh-TW" sz="1950" baseline="-25000" dirty="0" err="1" smtClean="0">
                <a:solidFill>
                  <a:prstClr val="black"/>
                </a:solidFill>
              </a:rPr>
              <a:t>max</a:t>
            </a:r>
            <a:r>
              <a:rPr lang="en-US" altLang="zh-TW" sz="1950" baseline="-25000" dirty="0" smtClean="0">
                <a:solidFill>
                  <a:prstClr val="black"/>
                </a:solidFill>
              </a:rPr>
              <a:t>  </a:t>
            </a:r>
            <a:r>
              <a:rPr lang="en-US" altLang="zh-TW" sz="1950" dirty="0" smtClean="0">
                <a:solidFill>
                  <a:prstClr val="black"/>
                </a:solidFill>
              </a:rPr>
              <a:t>is </a:t>
            </a:r>
            <a:r>
              <a:rPr lang="en-US" altLang="zh-TW" sz="1950" dirty="0">
                <a:solidFill>
                  <a:prstClr val="black"/>
                </a:solidFill>
              </a:rPr>
              <a:t>the highest register in the kernel/function, </a:t>
            </a:r>
            <a:r>
              <a:rPr lang="en-US" altLang="zh-TW" sz="1950" dirty="0" smtClean="0">
                <a:solidFill>
                  <a:prstClr val="black"/>
                </a:solidFill>
              </a:rPr>
              <a:t> </a:t>
            </a:r>
            <a:r>
              <a:rPr lang="en-US" altLang="zh-TW" sz="1950" dirty="0">
                <a:solidFill>
                  <a:prstClr val="black"/>
                </a:solidFill>
              </a:rPr>
              <a:t>or -1 if </a:t>
            </a:r>
            <a:r>
              <a:rPr lang="en-US" altLang="zh-TW" sz="1950" dirty="0" smtClean="0">
                <a:solidFill>
                  <a:prstClr val="black"/>
                </a:solidFill>
              </a:rPr>
              <a:t>no C </a:t>
            </a:r>
            <a:r>
              <a:rPr lang="en-US" altLang="zh-TW" sz="1950" dirty="0">
                <a:solidFill>
                  <a:prstClr val="black"/>
                </a:solidFill>
              </a:rPr>
              <a:t>registers </a:t>
            </a:r>
            <a:r>
              <a:rPr lang="en-US" altLang="zh-TW" sz="1950" dirty="0" smtClean="0">
                <a:solidFill>
                  <a:prstClr val="black"/>
                </a:solidFill>
              </a:rPr>
              <a:t>are </a:t>
            </a:r>
            <a:r>
              <a:rPr lang="en-US" altLang="zh-TW" sz="1950" dirty="0">
                <a:solidFill>
                  <a:prstClr val="black"/>
                </a:solidFill>
              </a:rPr>
              <a:t>used.</a:t>
            </a:r>
          </a:p>
          <a:p>
            <a:endParaRPr lang="en-US" altLang="zh-TW" sz="1950" dirty="0" smtClean="0"/>
          </a:p>
          <a:p>
            <a:r>
              <a:rPr lang="en-US" altLang="zh-TW" sz="1950" dirty="0" smtClean="0"/>
              <a:t>S</a:t>
            </a:r>
            <a:r>
              <a:rPr lang="en-US" altLang="zh-TW" sz="1950" dirty="0"/>
              <a:t>, D, Q share a single pool of </a:t>
            </a:r>
            <a:r>
              <a:rPr lang="en-US" altLang="zh-TW" sz="1950" dirty="0" smtClean="0"/>
              <a:t>resources per function scope</a:t>
            </a:r>
            <a:endParaRPr lang="en-US" altLang="zh-TW" sz="1950" dirty="0"/>
          </a:p>
          <a:p>
            <a:pPr marL="0" indent="0">
              <a:buClrTx/>
              <a:buSzPct val="100000"/>
              <a:buNone/>
            </a:pPr>
            <a:r>
              <a:rPr lang="en-US" altLang="zh-TW" sz="1950" dirty="0"/>
              <a:t>        =&gt; If ( (S</a:t>
            </a:r>
            <a:r>
              <a:rPr lang="en-US" altLang="zh-TW" sz="1950" baseline="-25000" dirty="0"/>
              <a:t>max</a:t>
            </a:r>
            <a:r>
              <a:rPr lang="en-US" altLang="zh-TW" sz="1950" dirty="0"/>
              <a:t>+1) + 2(D</a:t>
            </a:r>
            <a:r>
              <a:rPr lang="en-US" altLang="zh-TW" sz="1950" baseline="-25000" dirty="0"/>
              <a:t>max</a:t>
            </a:r>
            <a:r>
              <a:rPr lang="en-US" altLang="zh-TW" sz="1950" dirty="0"/>
              <a:t>+1) + 4(Q</a:t>
            </a:r>
            <a:r>
              <a:rPr lang="en-US" altLang="zh-TW" sz="1950" baseline="-25000" dirty="0"/>
              <a:t>max</a:t>
            </a:r>
            <a:r>
              <a:rPr lang="en-US" altLang="zh-TW" sz="1950" dirty="0"/>
              <a:t>+1) ) </a:t>
            </a:r>
            <a:r>
              <a:rPr lang="en-US" altLang="zh-TW" sz="1950" dirty="0" smtClean="0"/>
              <a:t>&gt;2048  </a:t>
            </a:r>
            <a:r>
              <a:rPr lang="en-US" altLang="zh-TW" sz="1950" dirty="0"/>
              <a:t>in the kernel/function code block then an error occurred!</a:t>
            </a:r>
          </a:p>
          <a:p>
            <a:pPr marL="0" indent="0">
              <a:buClrTx/>
              <a:buSzPct val="100000"/>
              <a:buNone/>
            </a:pPr>
            <a:endParaRPr lang="en-US" altLang="zh-TW" sz="1950" dirty="0"/>
          </a:p>
          <a:p>
            <a:r>
              <a:rPr lang="en-US" altLang="zh-TW" sz="1950" dirty="0"/>
              <a:t>The </a:t>
            </a:r>
            <a:r>
              <a:rPr lang="en-US" altLang="zh-TW" sz="1950" dirty="0" err="1"/>
              <a:t>S</a:t>
            </a:r>
            <a:r>
              <a:rPr lang="en-US" altLang="zh-TW" sz="1950" baseline="-25000" dirty="0" err="1"/>
              <a:t>max</a:t>
            </a:r>
            <a:r>
              <a:rPr lang="en-US" altLang="zh-TW" sz="1950" baseline="-25000" dirty="0"/>
              <a:t> </a:t>
            </a:r>
            <a:r>
              <a:rPr lang="en-US" altLang="zh-TW" sz="1950" dirty="0"/>
              <a:t>, </a:t>
            </a:r>
            <a:r>
              <a:rPr lang="en-US" altLang="zh-TW" sz="1950" dirty="0" err="1"/>
              <a:t>D</a:t>
            </a:r>
            <a:r>
              <a:rPr lang="en-US" altLang="zh-TW" sz="1950" baseline="-25000" dirty="0" err="1"/>
              <a:t>max</a:t>
            </a:r>
            <a:r>
              <a:rPr lang="en-US" altLang="zh-TW" sz="1950" baseline="-25000" dirty="0"/>
              <a:t> , </a:t>
            </a:r>
            <a:r>
              <a:rPr lang="en-US" altLang="zh-TW" sz="1950" dirty="0" err="1"/>
              <a:t>Q</a:t>
            </a:r>
            <a:r>
              <a:rPr lang="en-US" altLang="zh-TW" sz="1950" baseline="-25000" dirty="0" err="1"/>
              <a:t>max</a:t>
            </a:r>
            <a:r>
              <a:rPr lang="en-US" altLang="zh-TW" sz="1950" baseline="-25000" dirty="0"/>
              <a:t> </a:t>
            </a:r>
            <a:r>
              <a:rPr lang="en-US" altLang="zh-TW" sz="1950" dirty="0"/>
              <a:t>are the highest register in the kernel/function, </a:t>
            </a:r>
          </a:p>
          <a:p>
            <a:pPr marL="0" indent="0">
              <a:buClrTx/>
              <a:buSzPct val="100000"/>
              <a:buNone/>
            </a:pPr>
            <a:r>
              <a:rPr lang="en-US" altLang="zh-TW" sz="1950" dirty="0"/>
              <a:t>  or -1 if no registers of that type are used.</a:t>
            </a:r>
          </a:p>
          <a:p>
            <a:pPr marL="0" indent="0">
              <a:buClrTx/>
              <a:buSzPct val="100000"/>
              <a:buNone/>
            </a:pPr>
            <a:r>
              <a:rPr lang="en-US" altLang="zh-TW" sz="1950" baseline="-25000" dirty="0"/>
              <a:t>	</a:t>
            </a:r>
          </a:p>
        </p:txBody>
      </p:sp>
      <p:sp>
        <p:nvSpPr>
          <p:cNvPr id="4" name="投影片編號版面配置區 3"/>
          <p:cNvSpPr>
            <a:spLocks noGrp="1"/>
          </p:cNvSpPr>
          <p:nvPr>
            <p:ph type="sldNum" sz="quarter" idx="10"/>
          </p:nvPr>
        </p:nvSpPr>
        <p:spPr/>
        <p:txBody>
          <a:bodyPr/>
          <a:lstStyle/>
          <a:p>
            <a:fld id="{6C75C586-0B13-4105-9895-CED4323B37DD}" type="slidenum">
              <a:rPr lang="zh-TW" altLang="en-US" smtClean="0"/>
              <a:pPr/>
              <a:t>29</a:t>
            </a:fld>
            <a:endParaRPr lang="zh-TW" altLang="en-US"/>
          </a:p>
        </p:txBody>
      </p:sp>
    </p:spTree>
    <p:extLst>
      <p:ext uri="{BB962C8B-B14F-4D97-AF65-F5344CB8AC3E}">
        <p14:creationId xmlns:p14="http://schemas.microsoft.com/office/powerpoint/2010/main" val="195593543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REGISTERS (3)</a:t>
            </a:r>
            <a:endParaRPr lang="zh-TW" altLang="en-US" dirty="0"/>
          </a:p>
        </p:txBody>
      </p:sp>
      <p:sp>
        <p:nvSpPr>
          <p:cNvPr id="3" name="內容版面配置區 2"/>
          <p:cNvSpPr>
            <a:spLocks noGrp="1"/>
          </p:cNvSpPr>
          <p:nvPr>
            <p:ph idx="1"/>
          </p:nvPr>
        </p:nvSpPr>
        <p:spPr>
          <a:xfrm>
            <a:off x="446089" y="1719398"/>
            <a:ext cx="8229600" cy="3510202"/>
          </a:xfrm>
        </p:spPr>
        <p:txBody>
          <a:bodyPr/>
          <a:lstStyle/>
          <a:p>
            <a:pPr marL="0" indent="0">
              <a:buClrTx/>
              <a:buSzPct val="100000"/>
              <a:buNone/>
            </a:pPr>
            <a:endParaRPr lang="en-US" altLang="zh-TW" sz="1950" dirty="0"/>
          </a:p>
          <a:p>
            <a:r>
              <a:rPr lang="en-US" altLang="zh-TW" sz="1950" dirty="0"/>
              <a:t>Some architectures have an inverse relationship between register usage and occupancy, and high-level compilers may choose to target fewer </a:t>
            </a:r>
            <a:r>
              <a:rPr lang="en-US" altLang="zh-TW" sz="1950" dirty="0" smtClean="0"/>
              <a:t>registers than the HSAIL register limits to </a:t>
            </a:r>
            <a:r>
              <a:rPr lang="en-US" altLang="zh-TW" sz="1950" dirty="0"/>
              <a:t>optimize for performance</a:t>
            </a:r>
            <a:r>
              <a:rPr lang="en-US" altLang="zh-TW" sz="1950" dirty="0" smtClean="0"/>
              <a:t>.</a:t>
            </a:r>
          </a:p>
          <a:p>
            <a:endParaRPr lang="en-US" altLang="zh-TW" sz="1950" dirty="0" smtClean="0"/>
          </a:p>
          <a:p>
            <a:r>
              <a:rPr lang="en-US" altLang="zh-TW" sz="2000" dirty="0"/>
              <a:t>Registers are a limited resource in HSAIL, so high-level compilers are expected to manage registers </a:t>
            </a:r>
            <a:r>
              <a:rPr lang="en-US" altLang="zh-TW" sz="2000" dirty="0" smtClean="0"/>
              <a:t>carefully.</a:t>
            </a:r>
            <a:endParaRPr lang="en-US" altLang="zh-TW" sz="1950" dirty="0"/>
          </a:p>
          <a:p>
            <a:pPr marL="0" indent="0">
              <a:buClrTx/>
              <a:buSzPct val="100000"/>
              <a:buNone/>
            </a:pPr>
            <a:r>
              <a:rPr lang="en-US" altLang="zh-TW" sz="1950" baseline="-25000" dirty="0"/>
              <a:t>	</a:t>
            </a:r>
          </a:p>
        </p:txBody>
      </p:sp>
      <p:sp>
        <p:nvSpPr>
          <p:cNvPr id="4" name="投影片編號版面配置區 3"/>
          <p:cNvSpPr>
            <a:spLocks noGrp="1"/>
          </p:cNvSpPr>
          <p:nvPr>
            <p:ph type="sldNum" sz="quarter" idx="10"/>
          </p:nvPr>
        </p:nvSpPr>
        <p:spPr/>
        <p:txBody>
          <a:bodyPr/>
          <a:lstStyle/>
          <a:p>
            <a:fld id="{6C75C586-0B13-4105-9895-CED4323B37DD}" type="slidenum">
              <a:rPr lang="zh-TW" altLang="en-US" smtClean="0"/>
              <a:pPr/>
              <a:t>30</a:t>
            </a:fld>
            <a:endParaRPr lang="zh-TW" altLang="en-US"/>
          </a:p>
        </p:txBody>
      </p:sp>
    </p:spTree>
    <p:extLst>
      <p:ext uri="{BB962C8B-B14F-4D97-AF65-F5344CB8AC3E}">
        <p14:creationId xmlns:p14="http://schemas.microsoft.com/office/powerpoint/2010/main" val="362452798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版面配置區 4"/>
          <p:cNvSpPr>
            <a:spLocks noGrp="1"/>
          </p:cNvSpPr>
          <p:nvPr>
            <p:ph type="body" idx="1"/>
          </p:nvPr>
        </p:nvSpPr>
        <p:spPr>
          <a:xfrm>
            <a:off x="4924425" y="2321900"/>
            <a:ext cx="4040188" cy="479822"/>
          </a:xfrm>
        </p:spPr>
        <p:txBody>
          <a:bodyPr/>
          <a:lstStyle/>
          <a:p>
            <a:pPr marL="257175" indent="-257175">
              <a:buFont typeface="Wingdings" panose="05000000000000000000" pitchFamily="2" charset="2"/>
              <a:buChar char="l"/>
            </a:pPr>
            <a:r>
              <a:rPr lang="en-US" altLang="zh-TW" b="0" dirty="0" smtClean="0"/>
              <a:t>HSAIL has four base data types, each of which supports a number of bit lengths.</a:t>
            </a:r>
            <a:endParaRPr lang="en-US" altLang="zh-TW" b="0" dirty="0"/>
          </a:p>
        </p:txBody>
      </p:sp>
      <p:pic>
        <p:nvPicPr>
          <p:cNvPr id="8" name="內容版面配置區 7"/>
          <p:cNvPicPr>
            <a:picLocks noGrp="1" noChangeAspect="1"/>
          </p:cNvPicPr>
          <p:nvPr>
            <p:ph sz="half" idx="2"/>
          </p:nvPr>
        </p:nvPicPr>
        <p:blipFill>
          <a:blip r:embed="rId2" cstate="print"/>
          <a:stretch>
            <a:fillRect/>
          </a:stretch>
        </p:blipFill>
        <p:spPr>
          <a:xfrm>
            <a:off x="477883" y="1856792"/>
            <a:ext cx="4446542" cy="1427584"/>
          </a:xfrm>
          <a:prstGeom prst="rect">
            <a:avLst/>
          </a:prstGeom>
        </p:spPr>
      </p:pic>
      <p:sp>
        <p:nvSpPr>
          <p:cNvPr id="6" name="文字版面配置區 5"/>
          <p:cNvSpPr>
            <a:spLocks noGrp="1"/>
          </p:cNvSpPr>
          <p:nvPr>
            <p:ph type="body" sz="quarter" idx="3"/>
          </p:nvPr>
        </p:nvSpPr>
        <p:spPr>
          <a:xfrm>
            <a:off x="477883" y="5078296"/>
            <a:ext cx="8020374" cy="479822"/>
          </a:xfrm>
        </p:spPr>
        <p:txBody>
          <a:bodyPr/>
          <a:lstStyle/>
          <a:p>
            <a:r>
              <a:rPr lang="en-US" altLang="zh-TW" sz="1650" b="0" dirty="0"/>
              <a:t>Packed data allows multiple small values to be treated as a single object.</a:t>
            </a:r>
            <a:endParaRPr lang="zh-TW" altLang="en-US" sz="1650" b="0" dirty="0"/>
          </a:p>
        </p:txBody>
      </p:sp>
      <p:pic>
        <p:nvPicPr>
          <p:cNvPr id="11" name="內容版面配置區 10"/>
          <p:cNvPicPr>
            <a:picLocks noGrp="1" noChangeAspect="1"/>
          </p:cNvPicPr>
          <p:nvPr>
            <p:ph sz="quarter" idx="4"/>
          </p:nvPr>
        </p:nvPicPr>
        <p:blipFill>
          <a:blip r:embed="rId3" cstate="print"/>
          <a:stretch>
            <a:fillRect/>
          </a:stretch>
        </p:blipFill>
        <p:spPr>
          <a:xfrm>
            <a:off x="218803" y="3822624"/>
            <a:ext cx="8821118" cy="1315893"/>
          </a:xfrm>
          <a:prstGeom prst="rect">
            <a:avLst/>
          </a:prstGeom>
        </p:spPr>
      </p:pic>
      <p:sp>
        <p:nvSpPr>
          <p:cNvPr id="4" name="投影片編號版面配置區 3"/>
          <p:cNvSpPr>
            <a:spLocks noGrp="1"/>
          </p:cNvSpPr>
          <p:nvPr>
            <p:ph type="sldNum" sz="quarter" idx="10"/>
          </p:nvPr>
        </p:nvSpPr>
        <p:spPr/>
        <p:txBody>
          <a:bodyPr/>
          <a:lstStyle/>
          <a:p>
            <a:fld id="{6C75C586-0B13-4105-9895-CED4323B37DD}" type="slidenum">
              <a:rPr lang="zh-TW" altLang="en-US" smtClean="0"/>
              <a:pPr/>
              <a:t>31</a:t>
            </a:fld>
            <a:endParaRPr lang="zh-TW" altLang="en-US"/>
          </a:p>
        </p:txBody>
      </p:sp>
      <p:sp>
        <p:nvSpPr>
          <p:cNvPr id="10" name="標題 1"/>
          <p:cNvSpPr>
            <a:spLocks noGrp="1"/>
          </p:cNvSpPr>
          <p:nvPr>
            <p:ph type="title"/>
          </p:nvPr>
        </p:nvSpPr>
        <p:spPr>
          <a:xfrm>
            <a:off x="522192" y="176533"/>
            <a:ext cx="4357923" cy="389335"/>
          </a:xfrm>
        </p:spPr>
        <p:txBody>
          <a:bodyPr/>
          <a:lstStyle/>
          <a:p>
            <a:r>
              <a:rPr lang="en-US" altLang="zh-TW" dirty="0" smtClean="0"/>
              <a:t>Data Types</a:t>
            </a:r>
            <a:endParaRPr lang="zh-TW" altLang="en-US" dirty="0"/>
          </a:p>
        </p:txBody>
      </p:sp>
    </p:spTree>
    <p:extLst>
      <p:ext uri="{BB962C8B-B14F-4D97-AF65-F5344CB8AC3E}">
        <p14:creationId xmlns:p14="http://schemas.microsoft.com/office/powerpoint/2010/main" val="53658689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標題 7"/>
          <p:cNvSpPr>
            <a:spLocks noGrp="1"/>
          </p:cNvSpPr>
          <p:nvPr>
            <p:ph type="title"/>
          </p:nvPr>
        </p:nvSpPr>
        <p:spPr/>
        <p:txBody>
          <a:bodyPr/>
          <a:lstStyle/>
          <a:p>
            <a:r>
              <a:rPr lang="en-US" altLang="zh-TW" dirty="0"/>
              <a:t>Packing Controls for Packed </a:t>
            </a:r>
            <a:r>
              <a:rPr lang="en-US" altLang="zh-TW" dirty="0" smtClean="0"/>
              <a:t>Data(1)</a:t>
            </a:r>
            <a:endParaRPr lang="zh-TW" altLang="en-US" dirty="0"/>
          </a:p>
        </p:txBody>
      </p:sp>
      <p:sp>
        <p:nvSpPr>
          <p:cNvPr id="7" name="投影片編號版面配置區 6"/>
          <p:cNvSpPr>
            <a:spLocks noGrp="1"/>
          </p:cNvSpPr>
          <p:nvPr>
            <p:ph type="sldNum" sz="quarter" idx="10"/>
          </p:nvPr>
        </p:nvSpPr>
        <p:spPr/>
        <p:txBody>
          <a:bodyPr/>
          <a:lstStyle/>
          <a:p>
            <a:fld id="{557A4102-9134-4DE4-89E3-9E7F1698ADF0}" type="slidenum">
              <a:rPr lang="zh-TW" altLang="en-US" smtClean="0"/>
              <a:pPr/>
              <a:t>32</a:t>
            </a:fld>
            <a:endParaRPr lang="zh-TW" altLang="en-US"/>
          </a:p>
        </p:txBody>
      </p:sp>
      <p:sp>
        <p:nvSpPr>
          <p:cNvPr id="12" name="內容版面配置區 11"/>
          <p:cNvSpPr>
            <a:spLocks noGrp="1"/>
          </p:cNvSpPr>
          <p:nvPr>
            <p:ph idx="1"/>
          </p:nvPr>
        </p:nvSpPr>
        <p:spPr/>
        <p:txBody>
          <a:bodyPr/>
          <a:lstStyle/>
          <a:p>
            <a:r>
              <a:rPr lang="en-US" altLang="zh-TW" dirty="0" smtClean="0"/>
              <a:t>One Source Input</a:t>
            </a:r>
          </a:p>
          <a:p>
            <a:endParaRPr lang="en-US" altLang="zh-TW" dirty="0"/>
          </a:p>
          <a:p>
            <a:endParaRPr lang="en-US" altLang="zh-TW" dirty="0" smtClean="0"/>
          </a:p>
          <a:p>
            <a:endParaRPr lang="en-US" altLang="zh-TW" dirty="0"/>
          </a:p>
          <a:p>
            <a:endParaRPr lang="en-US" altLang="zh-TW" dirty="0" smtClean="0"/>
          </a:p>
          <a:p>
            <a:r>
              <a:rPr lang="en-US" altLang="zh-TW" dirty="0" smtClean="0"/>
              <a:t>Two Source Input</a:t>
            </a:r>
          </a:p>
          <a:p>
            <a:endParaRPr lang="en-US" altLang="zh-TW" dirty="0" smtClean="0"/>
          </a:p>
          <a:p>
            <a:endParaRPr lang="zh-TW" altLang="en-US" dirty="0"/>
          </a:p>
        </p:txBody>
      </p:sp>
      <p:graphicFrame>
        <p:nvGraphicFramePr>
          <p:cNvPr id="13" name="內容版面配置區 9"/>
          <p:cNvGraphicFramePr>
            <a:graphicFrameLocks/>
          </p:cNvGraphicFramePr>
          <p:nvPr>
            <p:extLst>
              <p:ext uri="{D42A27DB-BD31-4B8C-83A1-F6EECF244321}">
                <p14:modId xmlns:p14="http://schemas.microsoft.com/office/powerpoint/2010/main" val="1668105368"/>
              </p:ext>
            </p:extLst>
          </p:nvPr>
        </p:nvGraphicFramePr>
        <p:xfrm>
          <a:off x="541176" y="1508326"/>
          <a:ext cx="8229600" cy="1306830"/>
        </p:xfrm>
        <a:graphic>
          <a:graphicData uri="http://schemas.openxmlformats.org/drawingml/2006/table">
            <a:tbl>
              <a:tblPr firstRow="1" firstCol="1" bandRow="1">
                <a:tableStyleId>{5C22544A-7EE6-4342-B048-85BDC9FD1C3A}</a:tableStyleId>
              </a:tblPr>
              <a:tblGrid>
                <a:gridCol w="1007706"/>
                <a:gridCol w="7221894"/>
              </a:tblGrid>
              <a:tr h="0">
                <a:tc>
                  <a:txBody>
                    <a:bodyPr/>
                    <a:lstStyle/>
                    <a:p>
                      <a:pPr>
                        <a:spcAft>
                          <a:spcPts val="0"/>
                        </a:spcAft>
                      </a:pPr>
                      <a:r>
                        <a:rPr lang="en-US" sz="1200" dirty="0">
                          <a:effectLst/>
                        </a:rPr>
                        <a:t>Control</a:t>
                      </a:r>
                      <a:endParaRPr lang="zh-TW" sz="1200" b="1"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200">
                          <a:effectLst/>
                        </a:rPr>
                        <a:t>Description</a:t>
                      </a:r>
                      <a:endParaRPr lang="zh-TW" sz="12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0">
                <a:tc>
                  <a:txBody>
                    <a:bodyPr/>
                    <a:lstStyle/>
                    <a:p>
                      <a:pPr>
                        <a:spcAft>
                          <a:spcPts val="0"/>
                        </a:spcAft>
                      </a:pPr>
                      <a:r>
                        <a:rPr lang="en-US" sz="1100" dirty="0">
                          <a:effectLst/>
                        </a:rPr>
                        <a:t>p</a:t>
                      </a:r>
                      <a:endParaRPr lang="zh-TW" sz="1100"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The single source is treated as packed. The operation is applied to each element separately. </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0">
                <a:tc>
                  <a:txBody>
                    <a:bodyPr/>
                    <a:lstStyle/>
                    <a:p>
                      <a:pPr>
                        <a:spcAft>
                          <a:spcPts val="0"/>
                        </a:spcAft>
                      </a:pPr>
                      <a:r>
                        <a:rPr lang="en-US" sz="1100" dirty="0" err="1">
                          <a:effectLst/>
                        </a:rPr>
                        <a:t>p_sat</a:t>
                      </a:r>
                      <a:endParaRPr lang="zh-TW" sz="1100"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dirty="0">
                          <a:effectLst/>
                        </a:rPr>
                        <a:t>Same as p, except that each result is saturated. (Cannot be used with floating-point values.) </a:t>
                      </a:r>
                      <a:endParaRPr lang="zh-TW" sz="1100"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0">
                <a:tc>
                  <a:txBody>
                    <a:bodyPr/>
                    <a:lstStyle/>
                    <a:p>
                      <a:pPr>
                        <a:spcAft>
                          <a:spcPts val="0"/>
                        </a:spcAft>
                      </a:pPr>
                      <a:r>
                        <a:rPr lang="en-US" sz="1100">
                          <a:effectLst/>
                        </a:rPr>
                        <a:t>s</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dirty="0">
                          <a:effectLst/>
                        </a:rPr>
                        <a:t>The lower element of the source is used. The result is written into the lower element of the destination. The other bits of the destination are not modified. </a:t>
                      </a:r>
                      <a:endParaRPr lang="zh-TW" sz="1100"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0">
                <a:tc>
                  <a:txBody>
                    <a:bodyPr/>
                    <a:lstStyle/>
                    <a:p>
                      <a:pPr>
                        <a:spcAft>
                          <a:spcPts val="0"/>
                        </a:spcAft>
                      </a:pPr>
                      <a:r>
                        <a:rPr lang="en-US" sz="1100" dirty="0" err="1">
                          <a:effectLst/>
                        </a:rPr>
                        <a:t>s_sat</a:t>
                      </a:r>
                      <a:endParaRPr lang="zh-TW" sz="1100"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dirty="0">
                          <a:effectLst/>
                        </a:rPr>
                        <a:t>Same as s, except that the result is saturated. (Cannot be used with floating-point values.) </a:t>
                      </a:r>
                      <a:endParaRPr lang="zh-TW" sz="1100"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bl>
          </a:graphicData>
        </a:graphic>
      </p:graphicFrame>
      <p:graphicFrame>
        <p:nvGraphicFramePr>
          <p:cNvPr id="14" name="表格 13"/>
          <p:cNvGraphicFramePr>
            <a:graphicFrameLocks noGrp="1"/>
          </p:cNvGraphicFramePr>
          <p:nvPr>
            <p:extLst>
              <p:ext uri="{D42A27DB-BD31-4B8C-83A1-F6EECF244321}">
                <p14:modId xmlns:p14="http://schemas.microsoft.com/office/powerpoint/2010/main" val="2328436868"/>
              </p:ext>
            </p:extLst>
          </p:nvPr>
        </p:nvGraphicFramePr>
        <p:xfrm>
          <a:off x="468314" y="3400730"/>
          <a:ext cx="8229600" cy="2373630"/>
        </p:xfrm>
        <a:graphic>
          <a:graphicData uri="http://schemas.openxmlformats.org/drawingml/2006/table">
            <a:tbl>
              <a:tblPr firstRow="1" firstCol="1" bandRow="1">
                <a:tableStyleId>{5C22544A-7EE6-4342-B048-85BDC9FD1C3A}</a:tableStyleId>
              </a:tblPr>
              <a:tblGrid>
                <a:gridCol w="4114800"/>
                <a:gridCol w="4114800"/>
              </a:tblGrid>
              <a:tr h="0">
                <a:tc>
                  <a:txBody>
                    <a:bodyPr/>
                    <a:lstStyle/>
                    <a:p>
                      <a:pPr>
                        <a:spcAft>
                          <a:spcPts val="0"/>
                        </a:spcAft>
                      </a:pPr>
                      <a:r>
                        <a:rPr lang="en-US" sz="1100" dirty="0">
                          <a:effectLst/>
                        </a:rPr>
                        <a:t>Control</a:t>
                      </a:r>
                      <a:endParaRPr lang="zh-TW" sz="1100" b="1"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Description</a:t>
                      </a:r>
                      <a:endParaRPr lang="zh-TW" sz="11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0">
                <a:tc>
                  <a:txBody>
                    <a:bodyPr/>
                    <a:lstStyle/>
                    <a:p>
                      <a:pPr>
                        <a:spcAft>
                          <a:spcPts val="0"/>
                        </a:spcAft>
                      </a:pPr>
                      <a:r>
                        <a:rPr lang="en-US" sz="1050">
                          <a:effectLst/>
                        </a:rPr>
                        <a:t>pp</a:t>
                      </a:r>
                      <a:endParaRPr lang="zh-TW" sz="105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050">
                          <a:effectLst/>
                        </a:rPr>
                        <a:t>Both sources are treated as packed. The operation is applied pairwise to corresponding elements independently.</a:t>
                      </a:r>
                      <a:endParaRPr lang="zh-TW" sz="105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0">
                <a:tc>
                  <a:txBody>
                    <a:bodyPr/>
                    <a:lstStyle/>
                    <a:p>
                      <a:pPr>
                        <a:spcAft>
                          <a:spcPts val="0"/>
                        </a:spcAft>
                      </a:pPr>
                      <a:r>
                        <a:rPr lang="en-US" sz="1050">
                          <a:effectLst/>
                        </a:rPr>
                        <a:t>pp_sat</a:t>
                      </a:r>
                      <a:endParaRPr lang="zh-TW" sz="105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050" dirty="0">
                          <a:effectLst/>
                        </a:rPr>
                        <a:t> Same as pp, except that each result is saturated. (Cannot be used with floating-point values.) </a:t>
                      </a:r>
                      <a:endParaRPr lang="zh-TW" sz="1050"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0">
                <a:tc>
                  <a:txBody>
                    <a:bodyPr/>
                    <a:lstStyle/>
                    <a:p>
                      <a:pPr>
                        <a:spcAft>
                          <a:spcPts val="0"/>
                        </a:spcAft>
                      </a:pPr>
                      <a:r>
                        <a:rPr lang="en-US" sz="1050">
                          <a:effectLst/>
                        </a:rPr>
                        <a:t>ps</a:t>
                      </a:r>
                      <a:endParaRPr lang="zh-TW" sz="105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050">
                          <a:effectLst/>
                        </a:rPr>
                        <a:t>The first source operand is treated as packed and the lower element of the second source operand is broadcast and used for all its element positions. The operation is applied independently pairwise between the elements of the first packed source operand and the lower element of the second packed operand. The result is stored in the corresponding element of the packed destination operand. </a:t>
                      </a:r>
                      <a:endParaRPr lang="zh-TW" sz="105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0">
                <a:tc>
                  <a:txBody>
                    <a:bodyPr/>
                    <a:lstStyle/>
                    <a:p>
                      <a:pPr>
                        <a:spcAft>
                          <a:spcPts val="0"/>
                        </a:spcAft>
                      </a:pPr>
                      <a:r>
                        <a:rPr lang="en-US" sz="1050">
                          <a:effectLst/>
                        </a:rPr>
                        <a:t>ps_sat</a:t>
                      </a:r>
                      <a:endParaRPr lang="zh-TW" sz="105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050" dirty="0">
                          <a:effectLst/>
                        </a:rPr>
                        <a:t>Same as </a:t>
                      </a:r>
                      <a:r>
                        <a:rPr lang="en-US" sz="1050" dirty="0" err="1">
                          <a:effectLst/>
                        </a:rPr>
                        <a:t>ps</a:t>
                      </a:r>
                      <a:r>
                        <a:rPr lang="en-US" sz="1050" dirty="0">
                          <a:effectLst/>
                        </a:rPr>
                        <a:t>, except that each result is saturated. (Cannot be used with floating-point values.) </a:t>
                      </a:r>
                      <a:endParaRPr lang="zh-TW" sz="1050"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bl>
          </a:graphicData>
        </a:graphic>
      </p:graphicFrame>
    </p:spTree>
    <p:extLst>
      <p:ext uri="{BB962C8B-B14F-4D97-AF65-F5344CB8AC3E}">
        <p14:creationId xmlns:p14="http://schemas.microsoft.com/office/powerpoint/2010/main" val="14411258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標題 7"/>
          <p:cNvSpPr>
            <a:spLocks noGrp="1"/>
          </p:cNvSpPr>
          <p:nvPr>
            <p:ph type="title"/>
          </p:nvPr>
        </p:nvSpPr>
        <p:spPr/>
        <p:txBody>
          <a:bodyPr/>
          <a:lstStyle/>
          <a:p>
            <a:r>
              <a:rPr lang="en-US" altLang="zh-TW" dirty="0"/>
              <a:t>Packing Controls for Packed </a:t>
            </a:r>
            <a:r>
              <a:rPr lang="en-US" altLang="zh-TW" dirty="0" smtClean="0"/>
              <a:t>Data(2)</a:t>
            </a:r>
            <a:endParaRPr lang="zh-TW" altLang="en-US" dirty="0"/>
          </a:p>
        </p:txBody>
      </p:sp>
      <p:sp>
        <p:nvSpPr>
          <p:cNvPr id="7" name="投影片編號版面配置區 6"/>
          <p:cNvSpPr>
            <a:spLocks noGrp="1"/>
          </p:cNvSpPr>
          <p:nvPr>
            <p:ph type="sldNum" sz="quarter" idx="10"/>
          </p:nvPr>
        </p:nvSpPr>
        <p:spPr/>
        <p:txBody>
          <a:bodyPr/>
          <a:lstStyle/>
          <a:p>
            <a:fld id="{557A4102-9134-4DE4-89E3-9E7F1698ADF0}" type="slidenum">
              <a:rPr lang="zh-TW" altLang="en-US" smtClean="0"/>
              <a:pPr/>
              <a:t>33</a:t>
            </a:fld>
            <a:endParaRPr lang="zh-TW" altLang="en-US"/>
          </a:p>
        </p:txBody>
      </p:sp>
      <p:sp>
        <p:nvSpPr>
          <p:cNvPr id="12" name="內容版面配置區 11"/>
          <p:cNvSpPr>
            <a:spLocks noGrp="1"/>
          </p:cNvSpPr>
          <p:nvPr>
            <p:ph idx="1"/>
          </p:nvPr>
        </p:nvSpPr>
        <p:spPr/>
        <p:txBody>
          <a:bodyPr/>
          <a:lstStyle/>
          <a:p>
            <a:pPr marL="0" indent="0">
              <a:buNone/>
            </a:pPr>
            <a:endParaRPr lang="en-US" altLang="zh-TW" dirty="0" smtClean="0"/>
          </a:p>
          <a:p>
            <a:r>
              <a:rPr lang="en-US" altLang="zh-TW" dirty="0" smtClean="0"/>
              <a:t>Two Source Input</a:t>
            </a:r>
          </a:p>
          <a:p>
            <a:endParaRPr lang="en-US" altLang="zh-TW" dirty="0" smtClean="0"/>
          </a:p>
          <a:p>
            <a:endParaRPr lang="zh-TW" altLang="en-US" dirty="0"/>
          </a:p>
        </p:txBody>
      </p:sp>
      <p:graphicFrame>
        <p:nvGraphicFramePr>
          <p:cNvPr id="2" name="表格 1"/>
          <p:cNvGraphicFramePr>
            <a:graphicFrameLocks noGrp="1"/>
          </p:cNvGraphicFramePr>
          <p:nvPr>
            <p:extLst>
              <p:ext uri="{D42A27DB-BD31-4B8C-83A1-F6EECF244321}">
                <p14:modId xmlns:p14="http://schemas.microsoft.com/office/powerpoint/2010/main" val="1830040762"/>
              </p:ext>
            </p:extLst>
          </p:nvPr>
        </p:nvGraphicFramePr>
        <p:xfrm>
          <a:off x="457200" y="2150428"/>
          <a:ext cx="8229600" cy="2815590"/>
        </p:xfrm>
        <a:graphic>
          <a:graphicData uri="http://schemas.openxmlformats.org/drawingml/2006/table">
            <a:tbl>
              <a:tblPr firstRow="1" firstCol="1" bandRow="1">
                <a:tableStyleId>{5C22544A-7EE6-4342-B048-85BDC9FD1C3A}</a:tableStyleId>
              </a:tblPr>
              <a:tblGrid>
                <a:gridCol w="4114800"/>
                <a:gridCol w="4114800"/>
              </a:tblGrid>
              <a:tr h="0">
                <a:tc>
                  <a:txBody>
                    <a:bodyPr/>
                    <a:lstStyle/>
                    <a:p>
                      <a:pPr>
                        <a:spcAft>
                          <a:spcPts val="0"/>
                        </a:spcAft>
                      </a:pPr>
                      <a:r>
                        <a:rPr lang="en-US" sz="1200" dirty="0">
                          <a:effectLst/>
                        </a:rPr>
                        <a:t>Control</a:t>
                      </a:r>
                      <a:endParaRPr lang="zh-TW" sz="1200" b="1"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200">
                          <a:effectLst/>
                        </a:rPr>
                        <a:t>Description</a:t>
                      </a:r>
                      <a:endParaRPr lang="zh-TW" sz="12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0">
                <a:tc>
                  <a:txBody>
                    <a:bodyPr/>
                    <a:lstStyle/>
                    <a:p>
                      <a:pPr>
                        <a:spcAft>
                          <a:spcPts val="0"/>
                        </a:spcAft>
                      </a:pPr>
                      <a:r>
                        <a:rPr lang="en-US" sz="1100" dirty="0" err="1">
                          <a:effectLst/>
                        </a:rPr>
                        <a:t>sp</a:t>
                      </a:r>
                      <a:endParaRPr lang="zh-TW" sz="1100"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dirty="0">
                          <a:effectLst/>
                        </a:rPr>
                        <a:t>The lower element of the first source operand is broadcast and used for all its element positions, and the second source operand is treated as packed. The operation is applied independently pairwise between the lower element of the first packed operand and the elements of the second packed operand. The result is stored in the corresponding element of the packed destination operand.</a:t>
                      </a:r>
                      <a:endParaRPr lang="zh-TW" sz="1100"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0">
                <a:tc>
                  <a:txBody>
                    <a:bodyPr/>
                    <a:lstStyle/>
                    <a:p>
                      <a:pPr>
                        <a:spcAft>
                          <a:spcPts val="0"/>
                        </a:spcAft>
                      </a:pPr>
                      <a:r>
                        <a:rPr lang="en-US" sz="1100">
                          <a:effectLst/>
                        </a:rPr>
                        <a:t>sp_sat</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dirty="0">
                          <a:effectLst/>
                        </a:rPr>
                        <a:t>Same as </a:t>
                      </a:r>
                      <a:r>
                        <a:rPr lang="en-US" sz="1100" dirty="0" err="1">
                          <a:effectLst/>
                        </a:rPr>
                        <a:t>sp</a:t>
                      </a:r>
                      <a:r>
                        <a:rPr lang="en-US" sz="1100" dirty="0">
                          <a:effectLst/>
                        </a:rPr>
                        <a:t>, except that each result is saturated. (Cannot be used with floating-point values.) </a:t>
                      </a:r>
                      <a:endParaRPr lang="zh-TW" sz="1100"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0">
                <a:tc>
                  <a:txBody>
                    <a:bodyPr/>
                    <a:lstStyle/>
                    <a:p>
                      <a:pPr>
                        <a:spcAft>
                          <a:spcPts val="0"/>
                        </a:spcAft>
                      </a:pPr>
                      <a:r>
                        <a:rPr lang="en-US" sz="1100">
                          <a:effectLst/>
                        </a:rPr>
                        <a:t>ss</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 The lower element of both sources is used. The result is written into the lower element of the destination. The other bits of the destination are not modified. </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0">
                <a:tc>
                  <a:txBody>
                    <a:bodyPr/>
                    <a:lstStyle/>
                    <a:p>
                      <a:pPr>
                        <a:spcAft>
                          <a:spcPts val="0"/>
                        </a:spcAft>
                      </a:pPr>
                      <a:r>
                        <a:rPr lang="en-US" sz="1100">
                          <a:effectLst/>
                        </a:rPr>
                        <a:t>ss_sat</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dirty="0">
                          <a:effectLst/>
                        </a:rPr>
                        <a:t>Same as </a:t>
                      </a:r>
                      <a:r>
                        <a:rPr lang="en-US" sz="1100" dirty="0" err="1">
                          <a:effectLst/>
                        </a:rPr>
                        <a:t>ss</a:t>
                      </a:r>
                      <a:r>
                        <a:rPr lang="en-US" sz="1100" dirty="0">
                          <a:effectLst/>
                        </a:rPr>
                        <a:t>, except that the result is saturated. (Cannot be used with floating-point values.) </a:t>
                      </a:r>
                      <a:endParaRPr lang="zh-TW" sz="1100"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bl>
          </a:graphicData>
        </a:graphic>
      </p:graphicFrame>
    </p:spTree>
    <p:extLst>
      <p:ext uri="{BB962C8B-B14F-4D97-AF65-F5344CB8AC3E}">
        <p14:creationId xmlns:p14="http://schemas.microsoft.com/office/powerpoint/2010/main" val="33428308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sz="2700" dirty="0"/>
              <a:t>Arithmetic Operations</a:t>
            </a:r>
            <a:endParaRPr lang="zh-TW" altLang="en-US" sz="2700" dirty="0"/>
          </a:p>
        </p:txBody>
      </p:sp>
      <p:sp>
        <p:nvSpPr>
          <p:cNvPr id="5" name="文字版面配置區 4"/>
          <p:cNvSpPr>
            <a:spLocks noGrp="1"/>
          </p:cNvSpPr>
          <p:nvPr>
            <p:ph type="body" idx="1"/>
          </p:nvPr>
        </p:nvSpPr>
        <p:spPr/>
        <p:txBody>
          <a:bodyPr/>
          <a:lstStyle/>
          <a:p>
            <a:endParaRPr lang="zh-TW" altLang="en-US"/>
          </a:p>
        </p:txBody>
      </p:sp>
      <p:sp>
        <p:nvSpPr>
          <p:cNvPr id="2" name="投影片編號版面配置區 1"/>
          <p:cNvSpPr>
            <a:spLocks noGrp="1"/>
          </p:cNvSpPr>
          <p:nvPr>
            <p:ph type="sldNum" sz="quarter" idx="10"/>
          </p:nvPr>
        </p:nvSpPr>
        <p:spPr/>
        <p:txBody>
          <a:bodyPr/>
          <a:lstStyle/>
          <a:p>
            <a:fld id="{6C75C586-0B13-4105-9895-CED4323B37DD}" type="slidenum">
              <a:rPr lang="zh-TW" altLang="en-US" smtClean="0"/>
              <a:pPr/>
              <a:t>34</a:t>
            </a:fld>
            <a:endParaRPr lang="zh-TW" altLang="en-US"/>
          </a:p>
        </p:txBody>
      </p:sp>
    </p:spTree>
    <p:extLst>
      <p:ext uri="{BB962C8B-B14F-4D97-AF65-F5344CB8AC3E}">
        <p14:creationId xmlns:p14="http://schemas.microsoft.com/office/powerpoint/2010/main" val="287376773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內容版面配置區 8"/>
          <p:cNvSpPr>
            <a:spLocks noGrp="1"/>
          </p:cNvSpPr>
          <p:nvPr>
            <p:ph idx="1"/>
          </p:nvPr>
        </p:nvSpPr>
        <p:spPr/>
        <p:txBody>
          <a:bodyPr/>
          <a:lstStyle/>
          <a:p>
            <a:r>
              <a:rPr lang="en-US" altLang="zh-TW" sz="1950" dirty="0" smtClean="0"/>
              <a:t>Arithmetic </a:t>
            </a:r>
            <a:r>
              <a:rPr lang="en-US" altLang="zh-TW" sz="1950" dirty="0"/>
              <a:t>operations expect all inputs to be in registers, immediate values, or WAVESIZE, and to produce a single result in a register.</a:t>
            </a:r>
          </a:p>
          <a:p>
            <a:pPr marL="0" indent="0">
              <a:buNone/>
            </a:pPr>
            <a:endParaRPr lang="en-US" altLang="zh-TW" sz="1800" dirty="0"/>
          </a:p>
          <a:p>
            <a:pPr marL="0" indent="0">
              <a:buNone/>
            </a:pPr>
            <a:r>
              <a:rPr lang="en-US" altLang="zh-TW" sz="1950" dirty="0"/>
              <a:t>EX: 	</a:t>
            </a:r>
            <a:r>
              <a:rPr lang="en-US" altLang="zh-TW" sz="1950" dirty="0">
                <a:latin typeface="Times New Roman" panose="02020603050405020304" pitchFamily="18" charset="0"/>
                <a:cs typeface="Times New Roman" panose="02020603050405020304" pitchFamily="18" charset="0"/>
              </a:rPr>
              <a:t>max_s32 $s1, $s2, $s3;</a:t>
            </a:r>
          </a:p>
          <a:p>
            <a:pPr marL="0" indent="0">
              <a:buNone/>
            </a:pPr>
            <a:r>
              <a:rPr lang="en-US" altLang="zh-TW" sz="1950" dirty="0"/>
              <a:t>  </a:t>
            </a:r>
          </a:p>
          <a:p>
            <a:pPr marL="0" indent="0">
              <a:buNone/>
            </a:pPr>
            <a:r>
              <a:rPr lang="en-US" altLang="zh-TW" sz="1950" dirty="0"/>
              <a:t>  Type: s (signed), Length :32</a:t>
            </a:r>
          </a:p>
          <a:p>
            <a:pPr marL="0" indent="0">
              <a:buNone/>
            </a:pPr>
            <a:r>
              <a:rPr lang="en-US" altLang="zh-TW" sz="1950" dirty="0"/>
              <a:t>  </a:t>
            </a:r>
            <a:r>
              <a:rPr lang="en-US" altLang="zh-TW" sz="1950" dirty="0" err="1"/>
              <a:t>Dest</a:t>
            </a:r>
            <a:r>
              <a:rPr lang="en-US" altLang="zh-TW" sz="1950" dirty="0"/>
              <a:t>: s1, Source: s2,s3</a:t>
            </a:r>
            <a:endParaRPr lang="zh-TW" altLang="en-US" sz="1950" dirty="0"/>
          </a:p>
        </p:txBody>
      </p:sp>
      <p:sp>
        <p:nvSpPr>
          <p:cNvPr id="4" name="投影片編號版面配置區 3"/>
          <p:cNvSpPr>
            <a:spLocks noGrp="1"/>
          </p:cNvSpPr>
          <p:nvPr>
            <p:ph type="sldNum" sz="quarter" idx="10"/>
          </p:nvPr>
        </p:nvSpPr>
        <p:spPr/>
        <p:txBody>
          <a:bodyPr/>
          <a:lstStyle/>
          <a:p>
            <a:fld id="{6C75C586-0B13-4105-9895-CED4323B37DD}" type="slidenum">
              <a:rPr lang="zh-TW" altLang="en-US" smtClean="0"/>
              <a:pPr/>
              <a:t>35</a:t>
            </a:fld>
            <a:endParaRPr lang="zh-TW" altLang="en-US"/>
          </a:p>
        </p:txBody>
      </p:sp>
      <p:sp>
        <p:nvSpPr>
          <p:cNvPr id="10" name="標題 1"/>
          <p:cNvSpPr>
            <a:spLocks noGrp="1"/>
          </p:cNvSpPr>
          <p:nvPr>
            <p:ph type="title"/>
          </p:nvPr>
        </p:nvSpPr>
        <p:spPr>
          <a:xfrm>
            <a:off x="555553" y="232964"/>
            <a:ext cx="4357923" cy="389335"/>
          </a:xfrm>
        </p:spPr>
        <p:txBody>
          <a:bodyPr/>
          <a:lstStyle/>
          <a:p>
            <a:r>
              <a:rPr lang="en-US" altLang="zh-TW" dirty="0" smtClean="0"/>
              <a:t>Arithmetic Operations</a:t>
            </a:r>
            <a:endParaRPr lang="zh-TW" altLang="en-US" dirty="0"/>
          </a:p>
        </p:txBody>
      </p:sp>
    </p:spTree>
    <p:extLst>
      <p:ext uri="{BB962C8B-B14F-4D97-AF65-F5344CB8AC3E}">
        <p14:creationId xmlns:p14="http://schemas.microsoft.com/office/powerpoint/2010/main" val="110192126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內容版面配置區 8"/>
          <p:cNvSpPr>
            <a:spLocks noGrp="1"/>
          </p:cNvSpPr>
          <p:nvPr>
            <p:ph idx="1"/>
          </p:nvPr>
        </p:nvSpPr>
        <p:spPr/>
        <p:txBody>
          <a:bodyPr/>
          <a:lstStyle/>
          <a:p>
            <a:r>
              <a:rPr lang="en-US" altLang="zh-TW" sz="1950" dirty="0"/>
              <a:t>Integer arithmetic operations treat the data as signed (two's complement) or unsigned data types of 32-bit or 64-bit lengths.</a:t>
            </a:r>
          </a:p>
          <a:p>
            <a:pPr marL="0" indent="0">
              <a:buNone/>
            </a:pPr>
            <a:endParaRPr lang="en-US" altLang="zh-TW" sz="1800" dirty="0"/>
          </a:p>
          <a:p>
            <a:pPr marL="0" indent="0">
              <a:buNone/>
            </a:pPr>
            <a:endParaRPr lang="en-US" altLang="zh-TW" sz="1800" dirty="0"/>
          </a:p>
          <a:p>
            <a:pPr marL="0" indent="0">
              <a:buNone/>
            </a:pPr>
            <a:endParaRPr lang="en-US" altLang="zh-TW" sz="1800" dirty="0"/>
          </a:p>
          <a:p>
            <a:pPr marL="0" indent="0">
              <a:buNone/>
            </a:pPr>
            <a:endParaRPr lang="en-US" altLang="zh-TW" sz="1800" dirty="0"/>
          </a:p>
          <a:p>
            <a:pPr marL="0" indent="0">
              <a:buNone/>
            </a:pPr>
            <a:endParaRPr lang="en-US" altLang="zh-TW" sz="1800" dirty="0"/>
          </a:p>
          <a:p>
            <a:pPr marL="0" indent="0">
              <a:buNone/>
            </a:pPr>
            <a:endParaRPr lang="en-US" altLang="zh-TW" sz="1800" dirty="0"/>
          </a:p>
          <a:p>
            <a:pPr marL="0" indent="0">
              <a:buNone/>
            </a:pPr>
            <a:endParaRPr lang="en-US" altLang="zh-TW" sz="1950" dirty="0" smtClean="0"/>
          </a:p>
          <a:p>
            <a:pPr marL="0" indent="0">
              <a:buNone/>
            </a:pPr>
            <a:endParaRPr lang="en-US" altLang="zh-TW" sz="1950" dirty="0"/>
          </a:p>
          <a:p>
            <a:pPr marL="0" indent="0">
              <a:buNone/>
            </a:pPr>
            <a:r>
              <a:rPr lang="en-US" altLang="zh-TW" sz="1950" dirty="0" smtClean="0"/>
              <a:t>Type</a:t>
            </a:r>
            <a:r>
              <a:rPr lang="en-US" altLang="zh-TW" sz="1950" dirty="0"/>
              <a:t>: s, u</a:t>
            </a:r>
            <a:r>
              <a:rPr lang="en-US" altLang="zh-TW" sz="1950" dirty="0" smtClean="0"/>
              <a:t>.</a:t>
            </a:r>
          </a:p>
          <a:p>
            <a:pPr marL="0" indent="0">
              <a:buNone/>
            </a:pPr>
            <a:r>
              <a:rPr lang="en-US" altLang="zh-TW" sz="1950" dirty="0" smtClean="0"/>
              <a:t>Length:32</a:t>
            </a:r>
            <a:r>
              <a:rPr lang="en-US" altLang="zh-TW" sz="1950" dirty="0"/>
              <a:t>, 64.</a:t>
            </a:r>
          </a:p>
          <a:p>
            <a:pPr marL="0" indent="0">
              <a:buNone/>
            </a:pPr>
            <a:r>
              <a:rPr lang="en-US" altLang="zh-TW" sz="1950" dirty="0" err="1"/>
              <a:t>Dest</a:t>
            </a:r>
            <a:r>
              <a:rPr lang="en-US" altLang="zh-TW" sz="1950" dirty="0"/>
              <a:t>: </a:t>
            </a:r>
            <a:r>
              <a:rPr lang="en-US" altLang="zh-TW" sz="1950" dirty="0" err="1"/>
              <a:t>reg</a:t>
            </a:r>
            <a:r>
              <a:rPr lang="en-US" altLang="zh-TW" sz="1950" dirty="0"/>
              <a:t>, </a:t>
            </a:r>
            <a:r>
              <a:rPr lang="en-US" altLang="zh-TW" sz="1950" dirty="0" err="1"/>
              <a:t>Src</a:t>
            </a:r>
            <a:r>
              <a:rPr lang="en-US" altLang="zh-TW" sz="1950" dirty="0"/>
              <a:t>: </a:t>
            </a:r>
            <a:r>
              <a:rPr lang="en-US" altLang="zh-TW" sz="1950" dirty="0" err="1"/>
              <a:t>reg</a:t>
            </a:r>
            <a:r>
              <a:rPr lang="en-US" altLang="zh-TW" sz="1950" dirty="0"/>
              <a:t>, </a:t>
            </a:r>
            <a:r>
              <a:rPr lang="en-US" altLang="zh-TW" sz="1950" dirty="0" smtClean="0"/>
              <a:t>immediate.</a:t>
            </a:r>
            <a:endParaRPr lang="en-US" altLang="zh-TW" sz="1950" dirty="0"/>
          </a:p>
          <a:p>
            <a:pPr marL="0" indent="0">
              <a:buNone/>
            </a:pPr>
            <a:endParaRPr lang="zh-TW" altLang="en-US" sz="1800" dirty="0"/>
          </a:p>
        </p:txBody>
      </p:sp>
      <p:sp>
        <p:nvSpPr>
          <p:cNvPr id="4" name="投影片編號版面配置區 3"/>
          <p:cNvSpPr>
            <a:spLocks noGrp="1"/>
          </p:cNvSpPr>
          <p:nvPr>
            <p:ph type="sldNum" sz="quarter" idx="10"/>
          </p:nvPr>
        </p:nvSpPr>
        <p:spPr/>
        <p:txBody>
          <a:bodyPr/>
          <a:lstStyle/>
          <a:p>
            <a:fld id="{6C75C586-0B13-4105-9895-CED4323B37DD}" type="slidenum">
              <a:rPr lang="zh-TW" altLang="en-US" smtClean="0"/>
              <a:pPr/>
              <a:t>36</a:t>
            </a:fld>
            <a:endParaRPr lang="zh-TW" altLang="en-US"/>
          </a:p>
        </p:txBody>
      </p:sp>
      <p:sp>
        <p:nvSpPr>
          <p:cNvPr id="10" name="標題 1"/>
          <p:cNvSpPr>
            <a:spLocks noGrp="1"/>
          </p:cNvSpPr>
          <p:nvPr>
            <p:ph type="title"/>
          </p:nvPr>
        </p:nvSpPr>
        <p:spPr>
          <a:xfrm>
            <a:off x="370478" y="140585"/>
            <a:ext cx="5566283" cy="389335"/>
          </a:xfrm>
        </p:spPr>
        <p:txBody>
          <a:bodyPr/>
          <a:lstStyle/>
          <a:p>
            <a:r>
              <a:rPr lang="en-US" altLang="zh-TW" dirty="0" smtClean="0"/>
              <a:t>Integer Arithmetic Operations (1)</a:t>
            </a:r>
            <a:endParaRPr lang="zh-TW" altLang="en-US" dirty="0"/>
          </a:p>
        </p:txBody>
      </p:sp>
      <p:pic>
        <p:nvPicPr>
          <p:cNvPr id="2" name="圖片 1"/>
          <p:cNvPicPr>
            <a:picLocks noChangeAspect="1"/>
          </p:cNvPicPr>
          <p:nvPr/>
        </p:nvPicPr>
        <p:blipFill>
          <a:blip r:embed="rId2" cstate="print"/>
          <a:stretch>
            <a:fillRect/>
          </a:stretch>
        </p:blipFill>
        <p:spPr>
          <a:xfrm>
            <a:off x="457200" y="2258616"/>
            <a:ext cx="4195921" cy="1798496"/>
          </a:xfrm>
          <a:prstGeom prst="rect">
            <a:avLst/>
          </a:prstGeom>
        </p:spPr>
      </p:pic>
      <p:pic>
        <p:nvPicPr>
          <p:cNvPr id="3" name="圖片 2"/>
          <p:cNvPicPr>
            <a:picLocks noChangeAspect="1"/>
          </p:cNvPicPr>
          <p:nvPr/>
        </p:nvPicPr>
        <p:blipFill>
          <a:blip r:embed="rId3" cstate="print"/>
          <a:stretch>
            <a:fillRect/>
          </a:stretch>
        </p:blipFill>
        <p:spPr>
          <a:xfrm>
            <a:off x="4635106" y="2761855"/>
            <a:ext cx="4391816" cy="2099394"/>
          </a:xfrm>
          <a:prstGeom prst="rect">
            <a:avLst/>
          </a:prstGeom>
        </p:spPr>
      </p:pic>
    </p:spTree>
    <p:extLst>
      <p:ext uri="{BB962C8B-B14F-4D97-AF65-F5344CB8AC3E}">
        <p14:creationId xmlns:p14="http://schemas.microsoft.com/office/powerpoint/2010/main" val="185288602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內容版面配置區 8"/>
          <p:cNvSpPr>
            <a:spLocks noGrp="1"/>
          </p:cNvSpPr>
          <p:nvPr>
            <p:ph idx="1"/>
          </p:nvPr>
        </p:nvSpPr>
        <p:spPr/>
        <p:txBody>
          <a:bodyPr/>
          <a:lstStyle/>
          <a:p>
            <a:r>
              <a:rPr lang="en-US" altLang="zh-TW" sz="1950" dirty="0"/>
              <a:t>HSAIL supports packed versions of some integer arithmetic operations.</a:t>
            </a:r>
          </a:p>
          <a:p>
            <a:pPr marL="0" indent="0">
              <a:buNone/>
            </a:pPr>
            <a:endParaRPr lang="en-US" altLang="zh-TW" sz="1950" dirty="0"/>
          </a:p>
          <a:p>
            <a:pPr marL="0" indent="0">
              <a:buNone/>
            </a:pPr>
            <a:r>
              <a:rPr lang="en-US" altLang="zh-TW" sz="1950" dirty="0"/>
              <a:t>Type : s, u.</a:t>
            </a:r>
          </a:p>
          <a:p>
            <a:pPr marL="0" indent="0">
              <a:buNone/>
            </a:pPr>
            <a:r>
              <a:rPr lang="en-US" altLang="zh-TW" sz="1950" dirty="0"/>
              <a:t>Length: </a:t>
            </a:r>
          </a:p>
          <a:p>
            <a:pPr marL="0" indent="0">
              <a:buNone/>
            </a:pPr>
            <a:r>
              <a:rPr lang="en-US" altLang="zh-TW" sz="1950" dirty="0"/>
              <a:t>  8x4, 8x8, 8x16,</a:t>
            </a:r>
          </a:p>
          <a:p>
            <a:pPr marL="0" indent="0">
              <a:buNone/>
            </a:pPr>
            <a:r>
              <a:rPr lang="en-US" altLang="zh-TW" sz="1950" dirty="0"/>
              <a:t>  16x2, 16x4, 16x8,</a:t>
            </a:r>
          </a:p>
          <a:p>
            <a:pPr marL="0" indent="0">
              <a:buNone/>
            </a:pPr>
            <a:r>
              <a:rPr lang="en-US" altLang="zh-TW" sz="1950" dirty="0"/>
              <a:t>  32x2, 32x4,</a:t>
            </a:r>
          </a:p>
          <a:p>
            <a:pPr marL="0" indent="0">
              <a:buNone/>
            </a:pPr>
            <a:r>
              <a:rPr lang="en-US" altLang="zh-TW" sz="1950" dirty="0"/>
              <a:t>  64x2.</a:t>
            </a:r>
          </a:p>
          <a:p>
            <a:pPr marL="0" indent="0">
              <a:buNone/>
            </a:pPr>
            <a:endParaRPr lang="zh-TW" altLang="en-US" sz="1800" dirty="0"/>
          </a:p>
        </p:txBody>
      </p:sp>
      <p:sp>
        <p:nvSpPr>
          <p:cNvPr id="4" name="投影片編號版面配置區 3"/>
          <p:cNvSpPr>
            <a:spLocks noGrp="1"/>
          </p:cNvSpPr>
          <p:nvPr>
            <p:ph type="sldNum" sz="quarter" idx="10"/>
          </p:nvPr>
        </p:nvSpPr>
        <p:spPr/>
        <p:txBody>
          <a:bodyPr/>
          <a:lstStyle/>
          <a:p>
            <a:fld id="{6C75C586-0B13-4105-9895-CED4323B37DD}" type="slidenum">
              <a:rPr lang="zh-TW" altLang="en-US" smtClean="0"/>
              <a:pPr/>
              <a:t>37</a:t>
            </a:fld>
            <a:endParaRPr lang="zh-TW" altLang="en-US"/>
          </a:p>
        </p:txBody>
      </p:sp>
      <p:pic>
        <p:nvPicPr>
          <p:cNvPr id="5" name="圖片 4"/>
          <p:cNvPicPr>
            <a:picLocks noChangeAspect="1"/>
          </p:cNvPicPr>
          <p:nvPr/>
        </p:nvPicPr>
        <p:blipFill>
          <a:blip r:embed="rId2" cstate="print"/>
          <a:stretch>
            <a:fillRect/>
          </a:stretch>
        </p:blipFill>
        <p:spPr>
          <a:xfrm>
            <a:off x="2893365" y="2137410"/>
            <a:ext cx="6071248" cy="3235881"/>
          </a:xfrm>
          <a:prstGeom prst="rect">
            <a:avLst/>
          </a:prstGeom>
        </p:spPr>
      </p:pic>
      <p:sp>
        <p:nvSpPr>
          <p:cNvPr id="7" name="標題 1"/>
          <p:cNvSpPr txBox="1">
            <a:spLocks/>
          </p:cNvSpPr>
          <p:nvPr/>
        </p:nvSpPr>
        <p:spPr bwMode="auto">
          <a:xfrm>
            <a:off x="457200" y="230267"/>
            <a:ext cx="5566283" cy="389335"/>
          </a:xfrm>
          <a:prstGeom prst="rect">
            <a:avLst/>
          </a:prstGeom>
          <a:noFill/>
          <a:ln w="9525">
            <a:noFill/>
            <a:miter lim="800000"/>
            <a:headEnd/>
            <a:tailEnd/>
          </a:ln>
        </p:spPr>
        <p:txBody>
          <a:bodyPr vert="horz" wrap="square" lIns="68580" tIns="34290" rIns="68580" bIns="34290" numCol="1" anchor="ctr" anchorCtr="0" compatLnSpc="1">
            <a:prstTxWarp prst="textNoShape">
              <a:avLst/>
            </a:prstTxWarp>
          </a:bodyPr>
          <a:lstStyle/>
          <a:p>
            <a:pPr defTabSz="685800" fontAlgn="base">
              <a:spcBef>
                <a:spcPct val="0"/>
              </a:spcBef>
              <a:spcAft>
                <a:spcPct val="0"/>
              </a:spcAft>
              <a:defRPr/>
            </a:pPr>
            <a:r>
              <a:rPr kumimoji="1" lang="en-US" altLang="zh-TW" sz="2700" b="1" kern="0" dirty="0">
                <a:solidFill>
                  <a:schemeClr val="tx2"/>
                </a:solidFill>
                <a:latin typeface="Calibri" pitchFamily="34" charset="0"/>
                <a:ea typeface="標楷體" pitchFamily="65" charset="-120"/>
                <a:cs typeface="+mj-cs"/>
              </a:rPr>
              <a:t>Integer Arithmetic Operations (2)</a:t>
            </a:r>
            <a:endParaRPr kumimoji="1" lang="zh-TW" altLang="en-US" sz="2700" b="1" kern="0" dirty="0">
              <a:solidFill>
                <a:schemeClr val="tx2"/>
              </a:solidFill>
              <a:latin typeface="Calibri" pitchFamily="34" charset="0"/>
              <a:ea typeface="標楷體" pitchFamily="65" charset="-120"/>
              <a:cs typeface="+mj-cs"/>
            </a:endParaRPr>
          </a:p>
        </p:txBody>
      </p:sp>
      <p:sp>
        <p:nvSpPr>
          <p:cNvPr id="6" name="文字方塊 5"/>
          <p:cNvSpPr txBox="1"/>
          <p:nvPr/>
        </p:nvSpPr>
        <p:spPr>
          <a:xfrm>
            <a:off x="457200" y="5671959"/>
            <a:ext cx="7306491" cy="276999"/>
          </a:xfrm>
          <a:prstGeom prst="rect">
            <a:avLst/>
          </a:prstGeom>
          <a:noFill/>
        </p:spPr>
        <p:txBody>
          <a:bodyPr wrap="square" rtlCol="0" anchor="ctr" anchorCtr="1">
            <a:spAutoFit/>
          </a:bodyPr>
          <a:lstStyle/>
          <a:p>
            <a:r>
              <a:rPr lang="en-US" altLang="zh-TW" sz="1200" dirty="0" smtClean="0">
                <a:ea typeface="標楷體" pitchFamily="65" charset="-120"/>
                <a:cs typeface="Calibri" pitchFamily="34" charset="0"/>
              </a:rPr>
              <a:t>For floating and other arithmetic operations, </a:t>
            </a:r>
            <a:r>
              <a:rPr lang="en-US" altLang="zh-TW" sz="1200" dirty="0">
                <a:ea typeface="標楷體" pitchFamily="65" charset="-120"/>
                <a:cs typeface="Calibri" pitchFamily="34" charset="0"/>
              </a:rPr>
              <a:t>see HSA PRM.</a:t>
            </a:r>
            <a:endParaRPr lang="zh-TW" altLang="en-US" sz="1200" dirty="0">
              <a:ea typeface="標楷體" pitchFamily="65" charset="-120"/>
              <a:cs typeface="Calibri" pitchFamily="34" charset="0"/>
            </a:endParaRPr>
          </a:p>
        </p:txBody>
      </p:sp>
    </p:spTree>
    <p:extLst>
      <p:ext uri="{BB962C8B-B14F-4D97-AF65-F5344CB8AC3E}">
        <p14:creationId xmlns:p14="http://schemas.microsoft.com/office/powerpoint/2010/main" val="72912178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內容版面配置區 8"/>
          <p:cNvSpPr>
            <a:spLocks noGrp="1"/>
          </p:cNvSpPr>
          <p:nvPr>
            <p:ph idx="1"/>
          </p:nvPr>
        </p:nvSpPr>
        <p:spPr>
          <a:xfrm>
            <a:off x="531224" y="2477046"/>
            <a:ext cx="8229600" cy="2746024"/>
          </a:xfrm>
        </p:spPr>
        <p:txBody>
          <a:bodyPr/>
          <a:lstStyle/>
          <a:p>
            <a:r>
              <a:rPr lang="en-US" altLang="zh-TW" sz="1950" i="1" dirty="0" err="1">
                <a:latin typeface="Times New Roman" panose="02020603050405020304" pitchFamily="18" charset="0"/>
                <a:cs typeface="Times New Roman" panose="02020603050405020304" pitchFamily="18" charset="0"/>
              </a:rPr>
              <a:t>segmentp</a:t>
            </a:r>
            <a:r>
              <a:rPr lang="en-US" altLang="zh-TW" sz="1950" dirty="0"/>
              <a:t> - tests whether or not a given flat address is within a specific memory segment.</a:t>
            </a:r>
          </a:p>
          <a:p>
            <a:r>
              <a:rPr lang="en-US" altLang="zh-TW" sz="1950" dirty="0"/>
              <a:t>This operation sets the </a:t>
            </a:r>
            <a:r>
              <a:rPr lang="en-US" altLang="zh-TW" sz="1950" dirty="0" err="1"/>
              <a:t>dest</a:t>
            </a:r>
            <a:r>
              <a:rPr lang="en-US" altLang="zh-TW" sz="1950" dirty="0"/>
              <a:t> to 1 if the flat address in </a:t>
            </a:r>
            <a:r>
              <a:rPr lang="en-US" altLang="zh-TW" sz="1950" dirty="0" err="1"/>
              <a:t>src</a:t>
            </a:r>
            <a:r>
              <a:rPr lang="en-US" altLang="zh-TW" sz="1950" dirty="0"/>
              <a:t> is either the </a:t>
            </a:r>
            <a:r>
              <a:rPr lang="en-US" altLang="zh-TW" sz="1950" dirty="0" err="1"/>
              <a:t>nullptr</a:t>
            </a:r>
            <a:r>
              <a:rPr lang="en-US" altLang="zh-TW" sz="1950" dirty="0"/>
              <a:t> value for the flat address, or is within the address range of the specified segment. If the source is a register, it must match the size of a flat address.</a:t>
            </a:r>
          </a:p>
        </p:txBody>
      </p:sp>
      <p:sp>
        <p:nvSpPr>
          <p:cNvPr id="4" name="投影片編號版面配置區 3"/>
          <p:cNvSpPr>
            <a:spLocks noGrp="1"/>
          </p:cNvSpPr>
          <p:nvPr>
            <p:ph type="sldNum" sz="quarter" idx="10"/>
          </p:nvPr>
        </p:nvSpPr>
        <p:spPr/>
        <p:txBody>
          <a:bodyPr/>
          <a:lstStyle/>
          <a:p>
            <a:fld id="{6C75C586-0B13-4105-9895-CED4323B37DD}" type="slidenum">
              <a:rPr lang="zh-TW" altLang="en-US" smtClean="0"/>
              <a:pPr/>
              <a:t>38</a:t>
            </a:fld>
            <a:endParaRPr lang="zh-TW" altLang="en-US"/>
          </a:p>
        </p:txBody>
      </p:sp>
      <p:sp>
        <p:nvSpPr>
          <p:cNvPr id="10" name="標題 1"/>
          <p:cNvSpPr>
            <a:spLocks noGrp="1"/>
          </p:cNvSpPr>
          <p:nvPr>
            <p:ph type="title"/>
          </p:nvPr>
        </p:nvSpPr>
        <p:spPr>
          <a:xfrm>
            <a:off x="531224" y="164267"/>
            <a:ext cx="4788994" cy="389335"/>
          </a:xfrm>
        </p:spPr>
        <p:txBody>
          <a:bodyPr/>
          <a:lstStyle/>
          <a:p>
            <a:r>
              <a:rPr lang="en-US" altLang="zh-TW" dirty="0" smtClean="0"/>
              <a:t>Segment Checking Operation</a:t>
            </a:r>
            <a:endParaRPr lang="zh-TW" altLang="en-US" dirty="0"/>
          </a:p>
        </p:txBody>
      </p:sp>
      <p:pic>
        <p:nvPicPr>
          <p:cNvPr id="2" name="圖片 1"/>
          <p:cNvPicPr>
            <a:picLocks noChangeAspect="1"/>
          </p:cNvPicPr>
          <p:nvPr/>
        </p:nvPicPr>
        <p:blipFill>
          <a:blip r:embed="rId2" cstate="print"/>
          <a:stretch>
            <a:fillRect/>
          </a:stretch>
        </p:blipFill>
        <p:spPr>
          <a:xfrm>
            <a:off x="277877" y="1855159"/>
            <a:ext cx="8780553" cy="441218"/>
          </a:xfrm>
          <a:prstGeom prst="rect">
            <a:avLst/>
          </a:prstGeom>
        </p:spPr>
      </p:pic>
      <p:pic>
        <p:nvPicPr>
          <p:cNvPr id="3" name="圖片 2"/>
          <p:cNvPicPr>
            <a:picLocks noChangeAspect="1"/>
          </p:cNvPicPr>
          <p:nvPr/>
        </p:nvPicPr>
        <p:blipFill>
          <a:blip r:embed="rId3" cstate="print"/>
          <a:stretch>
            <a:fillRect/>
          </a:stretch>
        </p:blipFill>
        <p:spPr>
          <a:xfrm>
            <a:off x="600893" y="4238870"/>
            <a:ext cx="4293326" cy="1088006"/>
          </a:xfrm>
          <a:prstGeom prst="rect">
            <a:avLst/>
          </a:prstGeom>
        </p:spPr>
      </p:pic>
    </p:spTree>
    <p:extLst>
      <p:ext uri="{BB962C8B-B14F-4D97-AF65-F5344CB8AC3E}">
        <p14:creationId xmlns:p14="http://schemas.microsoft.com/office/powerpoint/2010/main" val="272278823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內容版面配置區 8"/>
          <p:cNvSpPr>
            <a:spLocks noGrp="1"/>
          </p:cNvSpPr>
          <p:nvPr>
            <p:ph idx="1"/>
          </p:nvPr>
        </p:nvSpPr>
        <p:spPr>
          <a:xfrm>
            <a:off x="531224" y="2601149"/>
            <a:ext cx="8229600" cy="2746024"/>
          </a:xfrm>
        </p:spPr>
        <p:txBody>
          <a:bodyPr/>
          <a:lstStyle/>
          <a:p>
            <a:r>
              <a:rPr lang="en-US" altLang="zh-TW" sz="1950" dirty="0"/>
              <a:t>The segment conversion operations convert a flat address into a segment address, or a segment address into a flat address.</a:t>
            </a:r>
          </a:p>
        </p:txBody>
      </p:sp>
      <p:sp>
        <p:nvSpPr>
          <p:cNvPr id="4" name="投影片編號版面配置區 3"/>
          <p:cNvSpPr>
            <a:spLocks noGrp="1"/>
          </p:cNvSpPr>
          <p:nvPr>
            <p:ph type="sldNum" sz="quarter" idx="10"/>
          </p:nvPr>
        </p:nvSpPr>
        <p:spPr/>
        <p:txBody>
          <a:bodyPr/>
          <a:lstStyle/>
          <a:p>
            <a:fld id="{6C75C586-0B13-4105-9895-CED4323B37DD}" type="slidenum">
              <a:rPr lang="zh-TW" altLang="en-US" smtClean="0"/>
              <a:pPr/>
              <a:t>39</a:t>
            </a:fld>
            <a:endParaRPr lang="zh-TW" altLang="en-US"/>
          </a:p>
        </p:txBody>
      </p:sp>
      <p:sp>
        <p:nvSpPr>
          <p:cNvPr id="10" name="標題 1"/>
          <p:cNvSpPr>
            <a:spLocks noGrp="1"/>
          </p:cNvSpPr>
          <p:nvPr>
            <p:ph type="title"/>
          </p:nvPr>
        </p:nvSpPr>
        <p:spPr>
          <a:xfrm>
            <a:off x="531224" y="172345"/>
            <a:ext cx="5276674" cy="389335"/>
          </a:xfrm>
        </p:spPr>
        <p:txBody>
          <a:bodyPr/>
          <a:lstStyle/>
          <a:p>
            <a:r>
              <a:rPr lang="en-US" altLang="zh-TW" dirty="0" smtClean="0"/>
              <a:t>Segment Conversion Operations</a:t>
            </a:r>
            <a:endParaRPr lang="zh-TW" altLang="en-US" dirty="0"/>
          </a:p>
        </p:txBody>
      </p:sp>
      <p:pic>
        <p:nvPicPr>
          <p:cNvPr id="5" name="圖片 4"/>
          <p:cNvPicPr>
            <a:picLocks noChangeAspect="1"/>
          </p:cNvPicPr>
          <p:nvPr/>
        </p:nvPicPr>
        <p:blipFill>
          <a:blip r:embed="rId2" cstate="print"/>
          <a:stretch>
            <a:fillRect/>
          </a:stretch>
        </p:blipFill>
        <p:spPr>
          <a:xfrm>
            <a:off x="177666" y="1718480"/>
            <a:ext cx="8786948" cy="707743"/>
          </a:xfrm>
          <a:prstGeom prst="rect">
            <a:avLst/>
          </a:prstGeom>
        </p:spPr>
      </p:pic>
      <p:pic>
        <p:nvPicPr>
          <p:cNvPr id="7" name="圖片 6"/>
          <p:cNvPicPr>
            <a:picLocks noChangeAspect="1"/>
          </p:cNvPicPr>
          <p:nvPr/>
        </p:nvPicPr>
        <p:blipFill rotWithShape="1">
          <a:blip r:embed="rId3" cstate="print"/>
          <a:srcRect b="24054"/>
          <a:stretch/>
        </p:blipFill>
        <p:spPr>
          <a:xfrm>
            <a:off x="62408" y="3443707"/>
            <a:ext cx="4499577" cy="1340542"/>
          </a:xfrm>
          <a:prstGeom prst="rect">
            <a:avLst/>
          </a:prstGeom>
        </p:spPr>
      </p:pic>
      <p:pic>
        <p:nvPicPr>
          <p:cNvPr id="8" name="圖片 7"/>
          <p:cNvPicPr>
            <a:picLocks noChangeAspect="1"/>
          </p:cNvPicPr>
          <p:nvPr/>
        </p:nvPicPr>
        <p:blipFill rotWithShape="1">
          <a:blip r:embed="rId4" cstate="print"/>
          <a:srcRect b="31275"/>
          <a:stretch/>
        </p:blipFill>
        <p:spPr>
          <a:xfrm>
            <a:off x="4520314" y="4109398"/>
            <a:ext cx="4621398" cy="956313"/>
          </a:xfrm>
          <a:prstGeom prst="rect">
            <a:avLst/>
          </a:prstGeom>
        </p:spPr>
      </p:pic>
    </p:spTree>
    <p:extLst>
      <p:ext uri="{BB962C8B-B14F-4D97-AF65-F5344CB8AC3E}">
        <p14:creationId xmlns:p14="http://schemas.microsoft.com/office/powerpoint/2010/main" val="277920216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sz="2700" dirty="0"/>
              <a:t>Memory Operations</a:t>
            </a:r>
            <a:endParaRPr lang="zh-TW" altLang="en-US" sz="2700" dirty="0"/>
          </a:p>
        </p:txBody>
      </p:sp>
      <p:sp>
        <p:nvSpPr>
          <p:cNvPr id="5" name="文字版面配置區 4"/>
          <p:cNvSpPr>
            <a:spLocks noGrp="1"/>
          </p:cNvSpPr>
          <p:nvPr>
            <p:ph type="body" idx="1"/>
          </p:nvPr>
        </p:nvSpPr>
        <p:spPr/>
        <p:txBody>
          <a:bodyPr/>
          <a:lstStyle/>
          <a:p>
            <a:endParaRPr lang="zh-TW" altLang="en-US" dirty="0"/>
          </a:p>
        </p:txBody>
      </p:sp>
      <p:sp>
        <p:nvSpPr>
          <p:cNvPr id="2" name="投影片編號版面配置區 1"/>
          <p:cNvSpPr>
            <a:spLocks noGrp="1"/>
          </p:cNvSpPr>
          <p:nvPr>
            <p:ph type="sldNum" sz="quarter" idx="10"/>
          </p:nvPr>
        </p:nvSpPr>
        <p:spPr/>
        <p:txBody>
          <a:bodyPr/>
          <a:lstStyle/>
          <a:p>
            <a:fld id="{6C75C586-0B13-4105-9895-CED4323B37DD}" type="slidenum">
              <a:rPr lang="zh-TW" altLang="en-US" smtClean="0"/>
              <a:pPr/>
              <a:t>40</a:t>
            </a:fld>
            <a:endParaRPr lang="zh-TW" altLang="en-US"/>
          </a:p>
        </p:txBody>
      </p:sp>
    </p:spTree>
    <p:extLst>
      <p:ext uri="{BB962C8B-B14F-4D97-AF65-F5344CB8AC3E}">
        <p14:creationId xmlns:p14="http://schemas.microsoft.com/office/powerpoint/2010/main" val="87077818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Memory and Addressing (1)</a:t>
            </a:r>
            <a:endParaRPr lang="zh-TW" altLang="en-US" dirty="0"/>
          </a:p>
        </p:txBody>
      </p:sp>
      <p:sp>
        <p:nvSpPr>
          <p:cNvPr id="4" name="內容版面配置區 3"/>
          <p:cNvSpPr>
            <a:spLocks noGrp="1"/>
          </p:cNvSpPr>
          <p:nvPr>
            <p:ph idx="1"/>
          </p:nvPr>
        </p:nvSpPr>
        <p:spPr/>
        <p:txBody>
          <a:bodyPr/>
          <a:lstStyle/>
          <a:p>
            <a:pPr marL="0" indent="0">
              <a:buNone/>
            </a:pPr>
            <a:r>
              <a:rPr lang="en-US" altLang="zh-TW" sz="1950" dirty="0"/>
              <a:t>Memory operations transfer data between registers and memory and can define memory synchronization between work-items and other agents:</a:t>
            </a:r>
          </a:p>
          <a:p>
            <a:pPr marL="0" indent="0">
              <a:buNone/>
            </a:pPr>
            <a:endParaRPr lang="en-US" altLang="zh-TW" sz="1950" dirty="0"/>
          </a:p>
          <a:p>
            <a:r>
              <a:rPr lang="en-US" altLang="zh-TW" sz="1950" dirty="0"/>
              <a:t>The ordinary load and atomic load operations move contents from memory to a register.</a:t>
            </a:r>
          </a:p>
          <a:p>
            <a:endParaRPr lang="en-US" altLang="zh-TW" sz="1950" dirty="0"/>
          </a:p>
          <a:p>
            <a:r>
              <a:rPr lang="en-US" altLang="zh-TW" sz="1950" dirty="0"/>
              <a:t>The ordinary store and atomic store operations move contents of a register into memory.</a:t>
            </a:r>
          </a:p>
        </p:txBody>
      </p:sp>
      <p:sp>
        <p:nvSpPr>
          <p:cNvPr id="3" name="投影片編號版面配置區 2"/>
          <p:cNvSpPr>
            <a:spLocks noGrp="1"/>
          </p:cNvSpPr>
          <p:nvPr>
            <p:ph type="sldNum" sz="quarter" idx="10"/>
          </p:nvPr>
        </p:nvSpPr>
        <p:spPr/>
        <p:txBody>
          <a:bodyPr/>
          <a:lstStyle/>
          <a:p>
            <a:fld id="{6C75C586-0B13-4105-9895-CED4323B37DD}" type="slidenum">
              <a:rPr lang="zh-TW" altLang="en-US" smtClean="0"/>
              <a:pPr/>
              <a:t>41</a:t>
            </a:fld>
            <a:endParaRPr lang="zh-TW" altLang="en-US"/>
          </a:p>
        </p:txBody>
      </p:sp>
    </p:spTree>
    <p:extLst>
      <p:ext uri="{BB962C8B-B14F-4D97-AF65-F5344CB8AC3E}">
        <p14:creationId xmlns:p14="http://schemas.microsoft.com/office/powerpoint/2010/main" val="11440872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Memory and Addressing (2)</a:t>
            </a:r>
            <a:endParaRPr lang="zh-TW" altLang="en-US" dirty="0"/>
          </a:p>
        </p:txBody>
      </p:sp>
      <p:sp>
        <p:nvSpPr>
          <p:cNvPr id="4" name="內容版面配置區 3"/>
          <p:cNvSpPr>
            <a:spLocks noGrp="1"/>
          </p:cNvSpPr>
          <p:nvPr>
            <p:ph idx="1"/>
          </p:nvPr>
        </p:nvSpPr>
        <p:spPr/>
        <p:txBody>
          <a:bodyPr/>
          <a:lstStyle/>
          <a:p>
            <a:pPr>
              <a:buClrTx/>
              <a:buSzPct val="100000"/>
              <a:buFont typeface="Arial" panose="020B0604020202020204" pitchFamily="34" charset="0"/>
              <a:buChar char="•"/>
            </a:pPr>
            <a:endParaRPr lang="en-US" altLang="zh-TW" sz="1950" dirty="0"/>
          </a:p>
          <a:p>
            <a:r>
              <a:rPr lang="en-US" altLang="zh-TW" sz="1950" dirty="0"/>
              <a:t>The atomic read-modify-write memory operations update the contents of a memory location based on the original value of the memory location and the value in a register. </a:t>
            </a:r>
          </a:p>
          <a:p>
            <a:endParaRPr lang="en-US" altLang="zh-TW" sz="1950" dirty="0"/>
          </a:p>
          <a:p>
            <a:r>
              <a:rPr lang="en-US" altLang="zh-TW" sz="1950" dirty="0"/>
              <a:t>The memory fence operation defines the memory synchronization between work-items and other agents.</a:t>
            </a:r>
            <a:endParaRPr lang="zh-TW" altLang="en-US" sz="1950" dirty="0"/>
          </a:p>
        </p:txBody>
      </p:sp>
      <p:sp>
        <p:nvSpPr>
          <p:cNvPr id="3" name="投影片編號版面配置區 2"/>
          <p:cNvSpPr>
            <a:spLocks noGrp="1"/>
          </p:cNvSpPr>
          <p:nvPr>
            <p:ph type="sldNum" sz="quarter" idx="10"/>
          </p:nvPr>
        </p:nvSpPr>
        <p:spPr/>
        <p:txBody>
          <a:bodyPr/>
          <a:lstStyle/>
          <a:p>
            <a:fld id="{6C75C586-0B13-4105-9895-CED4323B37DD}" type="slidenum">
              <a:rPr lang="zh-TW" altLang="en-US" smtClean="0"/>
              <a:pPr/>
              <a:t>42</a:t>
            </a:fld>
            <a:endParaRPr lang="zh-TW" altLang="en-US"/>
          </a:p>
        </p:txBody>
      </p:sp>
    </p:spTree>
    <p:extLst>
      <p:ext uri="{BB962C8B-B14F-4D97-AF65-F5344CB8AC3E}">
        <p14:creationId xmlns:p14="http://schemas.microsoft.com/office/powerpoint/2010/main" val="36801337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Memory and Addressing (3)</a:t>
            </a:r>
            <a:endParaRPr lang="zh-TW" altLang="en-US" dirty="0"/>
          </a:p>
        </p:txBody>
      </p:sp>
      <p:sp>
        <p:nvSpPr>
          <p:cNvPr id="4" name="內容版面配置區 3"/>
          <p:cNvSpPr>
            <a:spLocks noGrp="1"/>
          </p:cNvSpPr>
          <p:nvPr>
            <p:ph idx="1"/>
          </p:nvPr>
        </p:nvSpPr>
        <p:spPr>
          <a:xfrm>
            <a:off x="457200" y="1701403"/>
            <a:ext cx="8229600" cy="3865007"/>
          </a:xfrm>
        </p:spPr>
        <p:txBody>
          <a:bodyPr/>
          <a:lstStyle/>
          <a:p>
            <a:r>
              <a:rPr lang="en-US" altLang="zh-TW" sz="1950" dirty="0"/>
              <a:t>A flat memory, global segment, </a:t>
            </a:r>
            <a:r>
              <a:rPr lang="en-US" altLang="zh-TW" sz="1950" dirty="0" err="1"/>
              <a:t>readonly</a:t>
            </a:r>
            <a:r>
              <a:rPr lang="en-US" altLang="zh-TW" sz="1950" dirty="0"/>
              <a:t> segment, or </a:t>
            </a:r>
            <a:r>
              <a:rPr lang="en-US" altLang="zh-TW" sz="1950" dirty="0" err="1"/>
              <a:t>kernarg</a:t>
            </a:r>
            <a:r>
              <a:rPr lang="en-US" altLang="zh-TW" sz="1950" dirty="0"/>
              <a:t> segment address is a 32- or 64-bit value, depending on the machine model. A group segment, private segment, spill segment, or </a:t>
            </a:r>
            <a:r>
              <a:rPr lang="en-US" altLang="zh-TW" sz="1950" dirty="0" err="1"/>
              <a:t>arg</a:t>
            </a:r>
            <a:r>
              <a:rPr lang="en-US" altLang="zh-TW" sz="1950" dirty="0"/>
              <a:t> segment address is always 32 bits regardless of machine model.</a:t>
            </a:r>
          </a:p>
          <a:p>
            <a:endParaRPr lang="en-US" altLang="zh-TW" sz="1950" dirty="0"/>
          </a:p>
          <a:p>
            <a:r>
              <a:rPr lang="en-US" altLang="zh-TW" sz="1950" dirty="0"/>
              <a:t>Memory operations can do either of the following:</a:t>
            </a:r>
          </a:p>
          <a:p>
            <a:pPr lvl="1">
              <a:buFont typeface="Calibri" panose="020F0502020204030204" pitchFamily="34" charset="0"/>
              <a:buChar char="–"/>
            </a:pPr>
            <a:r>
              <a:rPr lang="en-US" altLang="zh-TW" dirty="0" smtClean="0"/>
              <a:t>Specify the particular segment used, in which case the address is relative to the start of the segment.</a:t>
            </a:r>
          </a:p>
          <a:p>
            <a:pPr lvl="1">
              <a:buFont typeface="Calibri" panose="020F0502020204030204" pitchFamily="34" charset="0"/>
              <a:buChar char="–"/>
            </a:pPr>
            <a:endParaRPr lang="en-US" altLang="zh-TW" dirty="0" smtClean="0"/>
          </a:p>
          <a:p>
            <a:pPr lvl="1">
              <a:buFont typeface="Calibri" panose="020F0502020204030204" pitchFamily="34" charset="0"/>
              <a:buChar char="–"/>
            </a:pPr>
            <a:r>
              <a:rPr lang="en-US" altLang="zh-TW" dirty="0" smtClean="0"/>
              <a:t>Use flat addresses, in which case hardware will recognize when an address is within a particular segment.</a:t>
            </a:r>
            <a:endParaRPr lang="zh-TW" altLang="en-US" dirty="0"/>
          </a:p>
        </p:txBody>
      </p:sp>
      <p:sp>
        <p:nvSpPr>
          <p:cNvPr id="3" name="投影片編號版面配置區 2"/>
          <p:cNvSpPr>
            <a:spLocks noGrp="1"/>
          </p:cNvSpPr>
          <p:nvPr>
            <p:ph type="sldNum" sz="quarter" idx="10"/>
          </p:nvPr>
        </p:nvSpPr>
        <p:spPr/>
        <p:txBody>
          <a:bodyPr/>
          <a:lstStyle/>
          <a:p>
            <a:fld id="{6C75C586-0B13-4105-9895-CED4323B37DD}" type="slidenum">
              <a:rPr lang="zh-TW" altLang="en-US" smtClean="0"/>
              <a:pPr/>
              <a:t>43</a:t>
            </a:fld>
            <a:endParaRPr lang="zh-TW" altLang="en-US"/>
          </a:p>
        </p:txBody>
      </p:sp>
    </p:spTree>
    <p:extLst>
      <p:ext uri="{BB962C8B-B14F-4D97-AF65-F5344CB8AC3E}">
        <p14:creationId xmlns:p14="http://schemas.microsoft.com/office/powerpoint/2010/main" val="93721291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1"/>
          <p:cNvSpPr txBox="1">
            <a:spLocks/>
          </p:cNvSpPr>
          <p:nvPr/>
        </p:nvSpPr>
        <p:spPr bwMode="auto">
          <a:xfrm>
            <a:off x="570510" y="206118"/>
            <a:ext cx="4357923" cy="389335"/>
          </a:xfrm>
          <a:prstGeom prst="rect">
            <a:avLst/>
          </a:prstGeom>
          <a:noFill/>
          <a:ln w="9525">
            <a:noFill/>
            <a:miter lim="800000"/>
            <a:headEnd/>
            <a:tailEnd/>
          </a:ln>
        </p:spPr>
        <p:txBody>
          <a:bodyPr vert="horz" wrap="square" lIns="68580" tIns="34290" rIns="68580" bIns="34290" numCol="1" anchor="ctr" anchorCtr="0" compatLnSpc="1">
            <a:prstTxWarp prst="textNoShape">
              <a:avLst/>
            </a:prstTxWarp>
          </a:bodyPr>
          <a:lstStyle>
            <a:lvl1pPr algn="l" rtl="0" eaLnBrk="1" fontAlgn="base" hangingPunct="1">
              <a:spcBef>
                <a:spcPct val="0"/>
              </a:spcBef>
              <a:spcAft>
                <a:spcPct val="0"/>
              </a:spcAft>
              <a:defRPr kumimoji="1" sz="1519"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1519"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1519"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1519"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1519" b="1">
                <a:solidFill>
                  <a:schemeClr val="tx2"/>
                </a:solidFill>
                <a:latin typeface="Calibri" pitchFamily="34" charset="0"/>
                <a:ea typeface="標楷體" pitchFamily="65" charset="-120"/>
                <a:cs typeface="MS Sans Serif"/>
              </a:defRPr>
            </a:lvl5pPr>
            <a:lvl6pPr marL="192881" algn="l" rtl="0" eaLnBrk="1" fontAlgn="base" hangingPunct="1">
              <a:spcBef>
                <a:spcPct val="0"/>
              </a:spcBef>
              <a:spcAft>
                <a:spcPct val="0"/>
              </a:spcAft>
              <a:defRPr kumimoji="1" sz="1266" b="1">
                <a:solidFill>
                  <a:schemeClr val="tx2"/>
                </a:solidFill>
                <a:latin typeface="MS Sans Serif"/>
                <a:ea typeface="MS Sans Serif"/>
                <a:cs typeface="MS Sans Serif"/>
              </a:defRPr>
            </a:lvl6pPr>
            <a:lvl7pPr marL="385763" algn="l" rtl="0" eaLnBrk="1" fontAlgn="base" hangingPunct="1">
              <a:spcBef>
                <a:spcPct val="0"/>
              </a:spcBef>
              <a:spcAft>
                <a:spcPct val="0"/>
              </a:spcAft>
              <a:defRPr kumimoji="1" sz="1266" b="1">
                <a:solidFill>
                  <a:schemeClr val="tx2"/>
                </a:solidFill>
                <a:latin typeface="MS Sans Serif"/>
                <a:ea typeface="MS Sans Serif"/>
                <a:cs typeface="MS Sans Serif"/>
              </a:defRPr>
            </a:lvl7pPr>
            <a:lvl8pPr marL="578644" algn="l" rtl="0" eaLnBrk="1" fontAlgn="base" hangingPunct="1">
              <a:spcBef>
                <a:spcPct val="0"/>
              </a:spcBef>
              <a:spcAft>
                <a:spcPct val="0"/>
              </a:spcAft>
              <a:defRPr kumimoji="1" sz="1266" b="1">
                <a:solidFill>
                  <a:schemeClr val="tx2"/>
                </a:solidFill>
                <a:latin typeface="MS Sans Serif"/>
                <a:ea typeface="MS Sans Serif"/>
                <a:cs typeface="MS Sans Serif"/>
              </a:defRPr>
            </a:lvl8pPr>
            <a:lvl9pPr marL="771525" algn="l" rtl="0" eaLnBrk="1" fontAlgn="base" hangingPunct="1">
              <a:spcBef>
                <a:spcPct val="0"/>
              </a:spcBef>
              <a:spcAft>
                <a:spcPct val="0"/>
              </a:spcAft>
              <a:defRPr kumimoji="1" sz="1266" b="1">
                <a:solidFill>
                  <a:schemeClr val="tx2"/>
                </a:solidFill>
                <a:latin typeface="MS Sans Serif"/>
                <a:ea typeface="MS Sans Serif"/>
                <a:cs typeface="MS Sans Serif"/>
              </a:defRPr>
            </a:lvl9pPr>
          </a:lstStyle>
          <a:p>
            <a:r>
              <a:rPr lang="en-US" altLang="zh-TW" sz="2700" kern="0" dirty="0"/>
              <a:t>HSA Memory Hierarchy</a:t>
            </a:r>
            <a:endParaRPr lang="zh-TW" altLang="en-US" sz="2700" kern="0" dirty="0"/>
          </a:p>
        </p:txBody>
      </p:sp>
      <p:sp>
        <p:nvSpPr>
          <p:cNvPr id="2" name="投影片編號版面配置區 1"/>
          <p:cNvSpPr>
            <a:spLocks noGrp="1"/>
          </p:cNvSpPr>
          <p:nvPr>
            <p:ph type="sldNum" sz="quarter" idx="10"/>
          </p:nvPr>
        </p:nvSpPr>
        <p:spPr/>
        <p:txBody>
          <a:bodyPr/>
          <a:lstStyle/>
          <a:p>
            <a:fld id="{6C75C586-0B13-4105-9895-CED4323B37DD}" type="slidenum">
              <a:rPr lang="zh-TW" altLang="en-US" smtClean="0"/>
              <a:pPr/>
              <a:t>44</a:t>
            </a:fld>
            <a:endParaRPr lang="zh-TW" altLang="en-US"/>
          </a:p>
        </p:txBody>
      </p:sp>
      <p:pic>
        <p:nvPicPr>
          <p:cNvPr id="6146" name="Picture 2"/>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1883" y="1506991"/>
            <a:ext cx="6161185" cy="46045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86336597"/>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Equivalence Classes (1)</a:t>
            </a:r>
            <a:endParaRPr lang="zh-TW" altLang="en-US" dirty="0"/>
          </a:p>
        </p:txBody>
      </p:sp>
      <p:sp>
        <p:nvSpPr>
          <p:cNvPr id="4" name="內容版面配置區 3"/>
          <p:cNvSpPr>
            <a:spLocks noGrp="1"/>
          </p:cNvSpPr>
          <p:nvPr>
            <p:ph idx="1"/>
          </p:nvPr>
        </p:nvSpPr>
        <p:spPr>
          <a:xfrm>
            <a:off x="457200" y="1616491"/>
            <a:ext cx="8229600" cy="3865007"/>
          </a:xfrm>
        </p:spPr>
        <p:txBody>
          <a:bodyPr/>
          <a:lstStyle/>
          <a:p>
            <a:pPr marL="0" indent="0">
              <a:buNone/>
            </a:pPr>
            <a:endParaRPr lang="en-US" altLang="zh-TW" sz="1950" dirty="0"/>
          </a:p>
          <a:p>
            <a:r>
              <a:rPr lang="en-US" altLang="zh-TW" sz="1950" dirty="0"/>
              <a:t>Equivalence classes can be used to provide </a:t>
            </a:r>
            <a:r>
              <a:rPr lang="en-US" altLang="zh-TW" sz="1950" dirty="0" smtClean="0"/>
              <a:t>aliasing </a:t>
            </a:r>
            <a:r>
              <a:rPr lang="en-US" altLang="zh-TW" sz="1950" dirty="0"/>
              <a:t>information to the </a:t>
            </a:r>
            <a:r>
              <a:rPr lang="en-US" altLang="zh-TW" sz="1950" dirty="0" err="1"/>
              <a:t>finalizer</a:t>
            </a:r>
            <a:r>
              <a:rPr lang="en-US" altLang="zh-TW" sz="1950" dirty="0"/>
              <a:t>. There are 256 equivalence classes.</a:t>
            </a:r>
          </a:p>
          <a:p>
            <a:endParaRPr lang="en-US" altLang="zh-TW" sz="1950" dirty="0"/>
          </a:p>
          <a:p>
            <a:r>
              <a:rPr lang="en-US" altLang="zh-TW" sz="1950" dirty="0"/>
              <a:t>Class 0, the default, is general memory. It can interact with all other classes.</a:t>
            </a:r>
          </a:p>
          <a:p>
            <a:endParaRPr lang="en-US" altLang="zh-TW" sz="1950" dirty="0"/>
          </a:p>
          <a:p>
            <a:r>
              <a:rPr lang="en-US" altLang="zh-TW" sz="1950" dirty="0"/>
              <a:t>The </a:t>
            </a:r>
            <a:r>
              <a:rPr lang="en-US" altLang="zh-TW" sz="1950" dirty="0" err="1"/>
              <a:t>finalizer</a:t>
            </a:r>
            <a:r>
              <a:rPr lang="en-US" altLang="zh-TW" sz="1950" dirty="0"/>
              <a:t> will assume that any two memory operations in different classes N &gt; 0 and M &gt; 0 (with N not equal to M) do not overlap and can be reordered. </a:t>
            </a:r>
          </a:p>
          <a:p>
            <a:endParaRPr lang="en-US" altLang="zh-TW" sz="1950" dirty="0"/>
          </a:p>
          <a:p>
            <a:r>
              <a:rPr lang="en-US" altLang="zh-TW" sz="1950" dirty="0"/>
              <a:t>Equivalence classes in different segments never overlap.</a:t>
            </a:r>
          </a:p>
        </p:txBody>
      </p:sp>
      <p:sp>
        <p:nvSpPr>
          <p:cNvPr id="3" name="投影片編號版面配置區 2"/>
          <p:cNvSpPr>
            <a:spLocks noGrp="1"/>
          </p:cNvSpPr>
          <p:nvPr>
            <p:ph type="sldNum" sz="quarter" idx="10"/>
          </p:nvPr>
        </p:nvSpPr>
        <p:spPr/>
        <p:txBody>
          <a:bodyPr/>
          <a:lstStyle/>
          <a:p>
            <a:fld id="{6C75C586-0B13-4105-9895-CED4323B37DD}" type="slidenum">
              <a:rPr lang="zh-TW" altLang="en-US" smtClean="0"/>
              <a:pPr/>
              <a:t>45</a:t>
            </a:fld>
            <a:endParaRPr lang="zh-TW" altLang="en-US"/>
          </a:p>
        </p:txBody>
      </p:sp>
    </p:spTree>
    <p:extLst>
      <p:ext uri="{BB962C8B-B14F-4D97-AF65-F5344CB8AC3E}">
        <p14:creationId xmlns:p14="http://schemas.microsoft.com/office/powerpoint/2010/main" val="112712002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Equivalence Classes (2)</a:t>
            </a:r>
            <a:endParaRPr lang="zh-TW" altLang="en-US" dirty="0"/>
          </a:p>
        </p:txBody>
      </p:sp>
      <p:sp>
        <p:nvSpPr>
          <p:cNvPr id="4" name="內容版面配置區 3"/>
          <p:cNvSpPr>
            <a:spLocks noGrp="1"/>
          </p:cNvSpPr>
          <p:nvPr>
            <p:ph idx="1"/>
          </p:nvPr>
        </p:nvSpPr>
        <p:spPr>
          <a:xfrm>
            <a:off x="457200" y="1616491"/>
            <a:ext cx="8229600" cy="3865007"/>
          </a:xfrm>
        </p:spPr>
        <p:txBody>
          <a:bodyPr/>
          <a:lstStyle/>
          <a:p>
            <a:pPr marL="0" indent="0">
              <a:buNone/>
            </a:pPr>
            <a:endParaRPr lang="en-US" altLang="zh-TW" sz="1800" dirty="0"/>
          </a:p>
          <a:p>
            <a:pPr marL="0" indent="0">
              <a:buNone/>
            </a:pPr>
            <a:r>
              <a:rPr lang="en-US" altLang="zh-TW" sz="1800" dirty="0"/>
              <a:t>EX:</a:t>
            </a:r>
          </a:p>
          <a:p>
            <a:pPr lvl="1">
              <a:buClrTx/>
              <a:buSzPct val="100000"/>
              <a:buFont typeface="Arial" panose="020B0604020202020204" pitchFamily="34" charset="0"/>
              <a:buChar char="•"/>
            </a:pPr>
            <a:endParaRPr lang="en-US" altLang="zh-TW" dirty="0" smtClean="0"/>
          </a:p>
          <a:p>
            <a:pPr lvl="1">
              <a:buSzPct val="80000"/>
              <a:buFont typeface="Wingdings" panose="05000000000000000000" pitchFamily="2" charset="2"/>
              <a:buChar char="l"/>
            </a:pPr>
            <a:r>
              <a:rPr lang="en-US" altLang="zh-TW" dirty="0" smtClean="0"/>
              <a:t>Memory specified by the </a:t>
            </a:r>
            <a:r>
              <a:rPr lang="en-US" altLang="zh-TW" dirty="0" err="1" smtClean="0"/>
              <a:t>ld</a:t>
            </a:r>
            <a:r>
              <a:rPr lang="en-US" altLang="zh-TW" dirty="0" smtClean="0"/>
              <a:t> or </a:t>
            </a:r>
            <a:r>
              <a:rPr lang="en-US" altLang="zh-TW" dirty="0" err="1" smtClean="0"/>
              <a:t>st</a:t>
            </a:r>
            <a:r>
              <a:rPr lang="en-US" altLang="zh-TW" dirty="0" smtClean="0"/>
              <a:t> operations as class 1 can only </a:t>
            </a:r>
            <a:r>
              <a:rPr lang="en-US" altLang="zh-TW" dirty="0" err="1" smtClean="0"/>
              <a:t>interactwith</a:t>
            </a:r>
            <a:r>
              <a:rPr lang="en-US" altLang="zh-TW" dirty="0" smtClean="0"/>
              <a:t> class 1 and class 0 memory.</a:t>
            </a:r>
          </a:p>
          <a:p>
            <a:pPr lvl="1">
              <a:buSzPct val="80000"/>
              <a:buFont typeface="Wingdings" panose="05000000000000000000" pitchFamily="2" charset="2"/>
              <a:buChar char="l"/>
            </a:pPr>
            <a:endParaRPr lang="en-US" altLang="zh-TW" dirty="0" smtClean="0"/>
          </a:p>
          <a:p>
            <a:pPr lvl="1">
              <a:buSzPct val="80000"/>
              <a:buFont typeface="Wingdings" panose="05000000000000000000" pitchFamily="2" charset="2"/>
              <a:buChar char="l"/>
            </a:pPr>
            <a:r>
              <a:rPr lang="en-US" altLang="zh-TW" dirty="0" smtClean="0"/>
              <a:t>Memory specified as class 2 can only interact with class 2 and class 0 memory.</a:t>
            </a:r>
          </a:p>
          <a:p>
            <a:pPr lvl="1">
              <a:buSzPct val="80000"/>
              <a:buFont typeface="Wingdings" panose="05000000000000000000" pitchFamily="2" charset="2"/>
              <a:buChar char="l"/>
            </a:pPr>
            <a:endParaRPr lang="en-US" altLang="zh-TW" dirty="0" smtClean="0"/>
          </a:p>
          <a:p>
            <a:pPr lvl="1">
              <a:buSzPct val="80000"/>
              <a:buFont typeface="Wingdings" panose="05000000000000000000" pitchFamily="2" charset="2"/>
              <a:buChar char="l"/>
            </a:pPr>
            <a:r>
              <a:rPr lang="en-US" altLang="zh-TW" dirty="0" smtClean="0"/>
              <a:t>Memory specified as class 3 can only interact with class 3 and class 0 memory. And so on.</a:t>
            </a:r>
            <a:endParaRPr lang="zh-TW" altLang="en-US" dirty="0"/>
          </a:p>
        </p:txBody>
      </p:sp>
      <p:sp>
        <p:nvSpPr>
          <p:cNvPr id="3" name="投影片編號版面配置區 2"/>
          <p:cNvSpPr>
            <a:spLocks noGrp="1"/>
          </p:cNvSpPr>
          <p:nvPr>
            <p:ph type="sldNum" sz="quarter" idx="10"/>
          </p:nvPr>
        </p:nvSpPr>
        <p:spPr/>
        <p:txBody>
          <a:bodyPr/>
          <a:lstStyle/>
          <a:p>
            <a:fld id="{6C75C586-0B13-4105-9895-CED4323B37DD}" type="slidenum">
              <a:rPr lang="zh-TW" altLang="en-US" smtClean="0"/>
              <a:pPr/>
              <a:t>46</a:t>
            </a:fld>
            <a:endParaRPr lang="zh-TW" altLang="en-US"/>
          </a:p>
        </p:txBody>
      </p:sp>
    </p:spTree>
    <p:extLst>
      <p:ext uri="{BB962C8B-B14F-4D97-AF65-F5344CB8AC3E}">
        <p14:creationId xmlns:p14="http://schemas.microsoft.com/office/powerpoint/2010/main" val="254605697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Synchronizing and Non-Synchronizing</a:t>
            </a:r>
            <a:endParaRPr lang="zh-TW" altLang="en-US" dirty="0"/>
          </a:p>
        </p:txBody>
      </p:sp>
      <p:sp>
        <p:nvSpPr>
          <p:cNvPr id="4" name="內容版面配置區 3"/>
          <p:cNvSpPr>
            <a:spLocks noGrp="1"/>
          </p:cNvSpPr>
          <p:nvPr>
            <p:ph idx="1"/>
          </p:nvPr>
        </p:nvSpPr>
        <p:spPr>
          <a:xfrm>
            <a:off x="457200" y="1765118"/>
            <a:ext cx="8229600" cy="3624944"/>
          </a:xfrm>
        </p:spPr>
        <p:txBody>
          <a:bodyPr/>
          <a:lstStyle/>
          <a:p>
            <a:pPr marL="0" indent="0">
              <a:buNone/>
            </a:pPr>
            <a:endParaRPr lang="en-US" altLang="zh-TW" sz="1950" dirty="0"/>
          </a:p>
          <a:p>
            <a:r>
              <a:rPr lang="en-US" altLang="zh-TW" sz="1950" dirty="0"/>
              <a:t>A synchronizing memory operation and memory fence only affects memory operations to the segments specified by the operation.</a:t>
            </a:r>
          </a:p>
          <a:p>
            <a:pPr lvl="1">
              <a:buFont typeface="Calibri" panose="020F0502020204030204" pitchFamily="34" charset="0"/>
              <a:buChar char="–"/>
            </a:pPr>
            <a:r>
              <a:rPr lang="en-US" altLang="zh-TW" dirty="0" smtClean="0"/>
              <a:t> group segment, global segment and image segment.</a:t>
            </a:r>
          </a:p>
          <a:p>
            <a:pPr lvl="1">
              <a:buClrTx/>
              <a:buFont typeface="Calibri" panose="020F0502020204030204" pitchFamily="34" charset="0"/>
              <a:buChar char="–"/>
            </a:pPr>
            <a:endParaRPr lang="en-US" altLang="zh-TW" dirty="0" smtClean="0"/>
          </a:p>
          <a:p>
            <a:r>
              <a:rPr lang="en-US" altLang="zh-TW" sz="1950" dirty="0"/>
              <a:t>A Non-Synchronizing memory is the operation only support to ordinary memory operations are supported for below segments.</a:t>
            </a:r>
          </a:p>
          <a:p>
            <a:pPr lvl="1">
              <a:buFont typeface="Calibri" panose="020F0502020204030204" pitchFamily="34" charset="0"/>
              <a:buChar char="–"/>
            </a:pPr>
            <a:r>
              <a:rPr lang="en-US" altLang="zh-TW" dirty="0" smtClean="0"/>
              <a:t> private segment, spill segment, </a:t>
            </a:r>
            <a:r>
              <a:rPr lang="en-US" altLang="zh-TW" dirty="0" err="1" smtClean="0"/>
              <a:t>arg</a:t>
            </a:r>
            <a:r>
              <a:rPr lang="en-US" altLang="zh-TW" dirty="0" smtClean="0"/>
              <a:t> segment, </a:t>
            </a:r>
            <a:r>
              <a:rPr lang="en-US" altLang="zh-TW" dirty="0" err="1" smtClean="0"/>
              <a:t>kernarg</a:t>
            </a:r>
            <a:r>
              <a:rPr lang="en-US" altLang="zh-TW" dirty="0" smtClean="0"/>
              <a:t> segment, </a:t>
            </a:r>
            <a:r>
              <a:rPr lang="en-US" altLang="zh-TW" dirty="0" err="1" smtClean="0"/>
              <a:t>readonly</a:t>
            </a:r>
            <a:r>
              <a:rPr lang="en-US" altLang="zh-TW" dirty="0" smtClean="0"/>
              <a:t> segment.</a:t>
            </a:r>
          </a:p>
          <a:p>
            <a:pPr marL="0" indent="0">
              <a:buNone/>
            </a:pPr>
            <a:endParaRPr lang="zh-TW" altLang="en-US" sz="1800" dirty="0"/>
          </a:p>
        </p:txBody>
      </p:sp>
      <p:sp>
        <p:nvSpPr>
          <p:cNvPr id="3" name="投影片編號版面配置區 2"/>
          <p:cNvSpPr>
            <a:spLocks noGrp="1"/>
          </p:cNvSpPr>
          <p:nvPr>
            <p:ph type="sldNum" sz="quarter" idx="10"/>
          </p:nvPr>
        </p:nvSpPr>
        <p:spPr/>
        <p:txBody>
          <a:bodyPr/>
          <a:lstStyle/>
          <a:p>
            <a:fld id="{6C75C586-0B13-4105-9895-CED4323B37DD}" type="slidenum">
              <a:rPr lang="zh-TW" altLang="en-US" smtClean="0"/>
              <a:pPr/>
              <a:t>47</a:t>
            </a:fld>
            <a:endParaRPr lang="zh-TW" altLang="en-US"/>
          </a:p>
        </p:txBody>
      </p:sp>
    </p:spTree>
    <p:extLst>
      <p:ext uri="{BB962C8B-B14F-4D97-AF65-F5344CB8AC3E}">
        <p14:creationId xmlns:p14="http://schemas.microsoft.com/office/powerpoint/2010/main" val="3729900291"/>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Memory Order</a:t>
            </a:r>
            <a:endParaRPr lang="zh-TW" altLang="en-US" dirty="0"/>
          </a:p>
        </p:txBody>
      </p:sp>
      <p:sp>
        <p:nvSpPr>
          <p:cNvPr id="4" name="內容版面配置區 3"/>
          <p:cNvSpPr>
            <a:spLocks noGrp="1"/>
          </p:cNvSpPr>
          <p:nvPr>
            <p:ph idx="1"/>
          </p:nvPr>
        </p:nvSpPr>
        <p:spPr>
          <a:xfrm>
            <a:off x="457200" y="1616491"/>
            <a:ext cx="8229600" cy="3865007"/>
          </a:xfrm>
        </p:spPr>
        <p:txBody>
          <a:bodyPr/>
          <a:lstStyle/>
          <a:p>
            <a:r>
              <a:rPr lang="en-US" altLang="zh-TW" sz="1950" dirty="0"/>
              <a:t>The memory synchronization of an operation is specified by the memory order modifier which can have the following values:</a:t>
            </a:r>
          </a:p>
          <a:p>
            <a:pPr marL="0" indent="0">
              <a:buNone/>
            </a:pPr>
            <a:endParaRPr lang="en-US" altLang="zh-TW" sz="1800" dirty="0"/>
          </a:p>
          <a:p>
            <a:pPr lvl="1">
              <a:buSzPct val="80000"/>
              <a:buFontTx/>
              <a:buChar char="–"/>
            </a:pPr>
            <a:r>
              <a:rPr lang="en-US" altLang="zh-TW" i="1" dirty="0" err="1" smtClean="0">
                <a:latin typeface="Times New Roman" panose="02020603050405020304" pitchFamily="18" charset="0"/>
                <a:cs typeface="Times New Roman" panose="02020603050405020304" pitchFamily="18" charset="0"/>
              </a:rPr>
              <a:t>scacq</a:t>
            </a:r>
            <a:r>
              <a:rPr lang="en-US" altLang="zh-TW" dirty="0" smtClean="0"/>
              <a:t> : </a:t>
            </a:r>
            <a:r>
              <a:rPr lang="en-US" altLang="zh-TW" dirty="0"/>
              <a:t>specifies the operation is a sequentially consistent acquire memory operation.</a:t>
            </a:r>
            <a:endParaRPr lang="en-US" altLang="zh-TW" dirty="0" smtClean="0"/>
          </a:p>
          <a:p>
            <a:pPr lvl="1">
              <a:buClrTx/>
              <a:buSzPct val="100000"/>
              <a:buFont typeface="Arial" panose="020B0604020202020204" pitchFamily="34" charset="0"/>
              <a:buChar char="•"/>
            </a:pPr>
            <a:endParaRPr lang="en-US" altLang="zh-TW" dirty="0" smtClean="0"/>
          </a:p>
          <a:p>
            <a:pPr lvl="1">
              <a:buSzPct val="80000"/>
              <a:buFontTx/>
              <a:buChar char="–"/>
            </a:pPr>
            <a:r>
              <a:rPr lang="en-US" altLang="zh-TW" i="1" dirty="0" err="1" smtClean="0">
                <a:latin typeface="Times New Roman" panose="02020603050405020304" pitchFamily="18" charset="0"/>
                <a:cs typeface="Times New Roman" panose="02020603050405020304" pitchFamily="18" charset="0"/>
              </a:rPr>
              <a:t>screl</a:t>
            </a:r>
            <a:r>
              <a:rPr lang="en-US" altLang="zh-TW" dirty="0" smtClean="0">
                <a:latin typeface="Times New Roman" panose="02020603050405020304" pitchFamily="18" charset="0"/>
                <a:cs typeface="Times New Roman" panose="02020603050405020304" pitchFamily="18" charset="0"/>
              </a:rPr>
              <a:t> </a:t>
            </a:r>
            <a:r>
              <a:rPr lang="en-US" altLang="zh-TW" dirty="0" smtClean="0">
                <a:cs typeface="Times New Roman" panose="02020603050405020304" pitchFamily="18" charset="0"/>
              </a:rPr>
              <a:t>: </a:t>
            </a:r>
            <a:r>
              <a:rPr lang="en-US" altLang="zh-TW" dirty="0"/>
              <a:t>specifies the operation is a sequentially consistent release memory operation</a:t>
            </a:r>
            <a:r>
              <a:rPr lang="en-US" altLang="zh-TW" dirty="0" smtClean="0"/>
              <a:t>.</a:t>
            </a:r>
          </a:p>
          <a:p>
            <a:pPr lvl="1">
              <a:buSzPct val="80000"/>
              <a:buFontTx/>
              <a:buChar char="–"/>
            </a:pPr>
            <a:endParaRPr lang="en-US" altLang="zh-TW" dirty="0" smtClean="0"/>
          </a:p>
          <a:p>
            <a:pPr lvl="1">
              <a:buSzPct val="80000"/>
              <a:buFontTx/>
              <a:buChar char="–"/>
            </a:pPr>
            <a:r>
              <a:rPr lang="en-US" altLang="zh-TW" i="1" dirty="0">
                <a:latin typeface="Times New Roman" panose="02020603050405020304" pitchFamily="18" charset="0"/>
                <a:cs typeface="Times New Roman" panose="02020603050405020304" pitchFamily="18" charset="0"/>
              </a:rPr>
              <a:t>scar</a:t>
            </a:r>
            <a:r>
              <a:rPr lang="en-US" altLang="zh-TW" dirty="0">
                <a:latin typeface="Times New Roman" panose="02020603050405020304" pitchFamily="18" charset="0"/>
                <a:cs typeface="Times New Roman" panose="02020603050405020304" pitchFamily="18" charset="0"/>
              </a:rPr>
              <a:t> </a:t>
            </a:r>
            <a:r>
              <a:rPr lang="en-US" altLang="zh-TW" dirty="0"/>
              <a:t>: specifies the operation is both a sequentially consistent acquire and sequentially consistent release memory operation.</a:t>
            </a:r>
          </a:p>
          <a:p>
            <a:pPr lvl="1">
              <a:buSzPct val="80000"/>
              <a:buFontTx/>
              <a:buChar char="–"/>
            </a:pPr>
            <a:endParaRPr lang="en-US" altLang="zh-TW" dirty="0"/>
          </a:p>
          <a:p>
            <a:pPr lvl="1">
              <a:buSzPct val="80000"/>
              <a:buFontTx/>
              <a:buChar char="–"/>
            </a:pPr>
            <a:r>
              <a:rPr lang="en-US" altLang="zh-TW" i="1" dirty="0" err="1">
                <a:latin typeface="Times New Roman" panose="02020603050405020304" pitchFamily="18" charset="0"/>
                <a:cs typeface="Times New Roman" panose="02020603050405020304" pitchFamily="18" charset="0"/>
              </a:rPr>
              <a:t>rlx</a:t>
            </a:r>
            <a:r>
              <a:rPr lang="en-US" altLang="zh-TW" dirty="0">
                <a:latin typeface="Times New Roman" panose="02020603050405020304" pitchFamily="18" charset="0"/>
                <a:cs typeface="Times New Roman" panose="02020603050405020304" pitchFamily="18" charset="0"/>
              </a:rPr>
              <a:t> </a:t>
            </a:r>
            <a:r>
              <a:rPr lang="en-US" altLang="zh-TW" dirty="0"/>
              <a:t>: specifies the operation is a relaxed memory operation.</a:t>
            </a:r>
            <a:endParaRPr lang="zh-TW" altLang="en-US" dirty="0"/>
          </a:p>
          <a:p>
            <a:pPr lvl="1">
              <a:buSzPct val="80000"/>
              <a:buFontTx/>
              <a:buChar char="–"/>
            </a:pPr>
            <a:endParaRPr lang="zh-TW" altLang="en-US" dirty="0"/>
          </a:p>
        </p:txBody>
      </p:sp>
      <p:sp>
        <p:nvSpPr>
          <p:cNvPr id="3" name="投影片編號版面配置區 2"/>
          <p:cNvSpPr>
            <a:spLocks noGrp="1"/>
          </p:cNvSpPr>
          <p:nvPr>
            <p:ph type="sldNum" sz="quarter" idx="10"/>
          </p:nvPr>
        </p:nvSpPr>
        <p:spPr/>
        <p:txBody>
          <a:bodyPr/>
          <a:lstStyle/>
          <a:p>
            <a:fld id="{6C75C586-0B13-4105-9895-CED4323B37DD}" type="slidenum">
              <a:rPr lang="zh-TW" altLang="en-US" smtClean="0"/>
              <a:pPr/>
              <a:t>48</a:t>
            </a:fld>
            <a:endParaRPr lang="zh-TW" altLang="en-US"/>
          </a:p>
        </p:txBody>
      </p:sp>
    </p:spTree>
    <p:extLst>
      <p:ext uri="{BB962C8B-B14F-4D97-AF65-F5344CB8AC3E}">
        <p14:creationId xmlns:p14="http://schemas.microsoft.com/office/powerpoint/2010/main" val="3966954716"/>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Load Operation</a:t>
            </a:r>
            <a:endParaRPr lang="zh-TW" altLang="en-US" dirty="0"/>
          </a:p>
        </p:txBody>
      </p:sp>
      <p:sp>
        <p:nvSpPr>
          <p:cNvPr id="4" name="內容版面配置區 3"/>
          <p:cNvSpPr>
            <a:spLocks noGrp="1"/>
          </p:cNvSpPr>
          <p:nvPr>
            <p:ph idx="1"/>
          </p:nvPr>
        </p:nvSpPr>
        <p:spPr>
          <a:xfrm>
            <a:off x="589348" y="1927019"/>
            <a:ext cx="8229600" cy="1804061"/>
          </a:xfrm>
        </p:spPr>
        <p:txBody>
          <a:bodyPr/>
          <a:lstStyle/>
          <a:p>
            <a:r>
              <a:rPr lang="en-US" altLang="zh-TW" sz="1950" i="1" dirty="0">
                <a:latin typeface="Times New Roman" panose="02020603050405020304" pitchFamily="18" charset="0"/>
                <a:cs typeface="Times New Roman" panose="02020603050405020304" pitchFamily="18" charset="0"/>
              </a:rPr>
              <a:t>load</a:t>
            </a:r>
            <a:r>
              <a:rPr lang="en-US" altLang="zh-TW" sz="1950" dirty="0"/>
              <a:t> - loads from memory using a segment or flat address expression and places the result into one or more registers.</a:t>
            </a:r>
          </a:p>
          <a:p>
            <a:r>
              <a:rPr lang="en-US" altLang="zh-TW" sz="1950" dirty="0"/>
              <a:t>There are four variants of the </a:t>
            </a:r>
            <a:r>
              <a:rPr lang="en-US" altLang="zh-TW" sz="1950" dirty="0" err="1"/>
              <a:t>ld</a:t>
            </a:r>
            <a:r>
              <a:rPr lang="en-US" altLang="zh-TW" sz="1950" dirty="0"/>
              <a:t> operation, depending on the number of destinations:  </a:t>
            </a:r>
            <a:r>
              <a:rPr lang="en-US" altLang="zh-TW" sz="1950" dirty="0" smtClean="0"/>
              <a:t>1, 2, 3 or 4.</a:t>
            </a:r>
            <a:endParaRPr lang="zh-TW" altLang="en-US" sz="1950" dirty="0"/>
          </a:p>
        </p:txBody>
      </p:sp>
      <p:sp>
        <p:nvSpPr>
          <p:cNvPr id="3" name="投影片編號版面配置區 2"/>
          <p:cNvSpPr>
            <a:spLocks noGrp="1"/>
          </p:cNvSpPr>
          <p:nvPr>
            <p:ph type="sldNum" sz="quarter" idx="10"/>
          </p:nvPr>
        </p:nvSpPr>
        <p:spPr/>
        <p:txBody>
          <a:bodyPr/>
          <a:lstStyle/>
          <a:p>
            <a:fld id="{6C75C586-0B13-4105-9895-CED4323B37DD}" type="slidenum">
              <a:rPr lang="zh-TW" altLang="en-US" smtClean="0"/>
              <a:pPr/>
              <a:t>49</a:t>
            </a:fld>
            <a:endParaRPr lang="zh-TW" altLang="en-US"/>
          </a:p>
        </p:txBody>
      </p:sp>
      <p:graphicFrame>
        <p:nvGraphicFramePr>
          <p:cNvPr id="5" name="表格 4"/>
          <p:cNvGraphicFramePr>
            <a:graphicFrameLocks noGrp="1"/>
          </p:cNvGraphicFramePr>
          <p:nvPr>
            <p:extLst>
              <p:ext uri="{D42A27DB-BD31-4B8C-83A1-F6EECF244321}">
                <p14:modId xmlns:p14="http://schemas.microsoft.com/office/powerpoint/2010/main" val="3727918304"/>
              </p:ext>
            </p:extLst>
          </p:nvPr>
        </p:nvGraphicFramePr>
        <p:xfrm>
          <a:off x="719977" y="3731080"/>
          <a:ext cx="7955712" cy="1616594"/>
        </p:xfrm>
        <a:graphic>
          <a:graphicData uri="http://schemas.openxmlformats.org/drawingml/2006/table">
            <a:tbl>
              <a:tblPr firstRow="1" firstCol="1" bandRow="1">
                <a:tableStyleId>{5C22544A-7EE6-4342-B048-85BDC9FD1C3A}</a:tableStyleId>
              </a:tblPr>
              <a:tblGrid>
                <a:gridCol w="5195631"/>
                <a:gridCol w="2760081"/>
              </a:tblGrid>
              <a:tr h="241286">
                <a:tc>
                  <a:txBody>
                    <a:bodyPr/>
                    <a:lstStyle/>
                    <a:p>
                      <a:pPr>
                        <a:spcAft>
                          <a:spcPts val="0"/>
                        </a:spcAft>
                      </a:pPr>
                      <a:r>
                        <a:rPr lang="en-US" sz="1400" dirty="0">
                          <a:effectLst/>
                        </a:rPr>
                        <a:t>Opcode and Modifiers </a:t>
                      </a:r>
                      <a:endParaRPr lang="zh-TW" sz="1400" b="1"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400">
                          <a:effectLst/>
                        </a:rPr>
                        <a:t>Operands</a:t>
                      </a:r>
                      <a:endParaRPr lang="zh-TW" sz="14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336521">
                <a:tc>
                  <a:txBody>
                    <a:bodyPr/>
                    <a:lstStyle/>
                    <a:p>
                      <a:pPr>
                        <a:spcAft>
                          <a:spcPts val="0"/>
                        </a:spcAft>
                      </a:pPr>
                      <a:r>
                        <a:rPr lang="en-US" sz="1200">
                          <a:effectLst/>
                        </a:rPr>
                        <a:t>ld_segment_align(n)_const_equiv(n)_width_TypeLength</a:t>
                      </a:r>
                      <a:endParaRPr lang="zh-TW" sz="12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200">
                          <a:effectLst/>
                        </a:rPr>
                        <a:t>dest0, address</a:t>
                      </a:r>
                      <a:endParaRPr lang="zh-TW" sz="12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336521">
                <a:tc>
                  <a:txBody>
                    <a:bodyPr/>
                    <a:lstStyle/>
                    <a:p>
                      <a:pPr>
                        <a:spcAft>
                          <a:spcPts val="0"/>
                        </a:spcAft>
                      </a:pPr>
                      <a:r>
                        <a:rPr lang="en-US" sz="1200" dirty="0">
                          <a:effectLst/>
                        </a:rPr>
                        <a:t>ld_v2_segment_align(n)_</a:t>
                      </a:r>
                      <a:r>
                        <a:rPr lang="en-US" sz="1200" dirty="0" err="1">
                          <a:effectLst/>
                        </a:rPr>
                        <a:t>const_equiv</a:t>
                      </a:r>
                      <a:r>
                        <a:rPr lang="en-US" sz="1200" dirty="0">
                          <a:effectLst/>
                        </a:rPr>
                        <a:t>(n)_</a:t>
                      </a:r>
                      <a:r>
                        <a:rPr lang="en-US" sz="1200" dirty="0" err="1">
                          <a:effectLst/>
                        </a:rPr>
                        <a:t>width_TypeLength</a:t>
                      </a:r>
                      <a:endParaRPr lang="zh-TW" sz="1200" b="1"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200">
                          <a:effectLst/>
                        </a:rPr>
                        <a:t>(dest0,dest1), address</a:t>
                      </a:r>
                      <a:endParaRPr lang="zh-TW" sz="12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336521">
                <a:tc>
                  <a:txBody>
                    <a:bodyPr/>
                    <a:lstStyle/>
                    <a:p>
                      <a:pPr>
                        <a:spcAft>
                          <a:spcPts val="0"/>
                        </a:spcAft>
                      </a:pPr>
                      <a:r>
                        <a:rPr lang="en-US" sz="1200">
                          <a:effectLst/>
                        </a:rPr>
                        <a:t>ld_v3_segment_align(n)_const_equiv(n)_width_TypeLength</a:t>
                      </a:r>
                      <a:endParaRPr lang="zh-TW" sz="12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200">
                          <a:effectLst/>
                        </a:rPr>
                        <a:t>(dest0,dest1,dest2), address</a:t>
                      </a:r>
                      <a:endParaRPr lang="zh-TW" sz="12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336521">
                <a:tc>
                  <a:txBody>
                    <a:bodyPr/>
                    <a:lstStyle/>
                    <a:p>
                      <a:pPr>
                        <a:spcAft>
                          <a:spcPts val="0"/>
                        </a:spcAft>
                      </a:pPr>
                      <a:r>
                        <a:rPr lang="en-US" sz="1200" dirty="0">
                          <a:effectLst/>
                        </a:rPr>
                        <a:t>ld_v4_segment_align(n)_</a:t>
                      </a:r>
                      <a:r>
                        <a:rPr lang="en-US" sz="1200" dirty="0" err="1">
                          <a:effectLst/>
                        </a:rPr>
                        <a:t>const_equiv</a:t>
                      </a:r>
                      <a:r>
                        <a:rPr lang="en-US" sz="1200" dirty="0">
                          <a:effectLst/>
                        </a:rPr>
                        <a:t>(n)_</a:t>
                      </a:r>
                      <a:r>
                        <a:rPr lang="en-US" sz="1200" dirty="0" err="1">
                          <a:effectLst/>
                        </a:rPr>
                        <a:t>width_TypeLength</a:t>
                      </a:r>
                      <a:endParaRPr lang="zh-TW" sz="1200" b="1"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200" dirty="0">
                          <a:effectLst/>
                        </a:rPr>
                        <a:t>(dest0,dest1,dest2,dest3), address</a:t>
                      </a:r>
                      <a:endParaRPr lang="zh-TW" sz="1200"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bl>
          </a:graphicData>
        </a:graphic>
      </p:graphicFrame>
    </p:spTree>
    <p:extLst>
      <p:ext uri="{BB962C8B-B14F-4D97-AF65-F5344CB8AC3E}">
        <p14:creationId xmlns:p14="http://schemas.microsoft.com/office/powerpoint/2010/main" val="987644810"/>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Store Operation</a:t>
            </a:r>
            <a:endParaRPr lang="zh-TW" altLang="en-US" dirty="0"/>
          </a:p>
        </p:txBody>
      </p:sp>
      <p:sp>
        <p:nvSpPr>
          <p:cNvPr id="4" name="內容版面配置區 3"/>
          <p:cNvSpPr>
            <a:spLocks noGrp="1"/>
          </p:cNvSpPr>
          <p:nvPr>
            <p:ph idx="1"/>
          </p:nvPr>
        </p:nvSpPr>
        <p:spPr>
          <a:xfrm>
            <a:off x="589348" y="1927019"/>
            <a:ext cx="8229600" cy="1804061"/>
          </a:xfrm>
        </p:spPr>
        <p:txBody>
          <a:bodyPr/>
          <a:lstStyle/>
          <a:p>
            <a:r>
              <a:rPr lang="en-US" altLang="zh-TW" sz="1950" i="1" dirty="0">
                <a:latin typeface="Times New Roman" panose="02020603050405020304" pitchFamily="18" charset="0"/>
                <a:cs typeface="Times New Roman" panose="02020603050405020304" pitchFamily="18" charset="0"/>
              </a:rPr>
              <a:t>store</a:t>
            </a:r>
            <a:r>
              <a:rPr lang="en-US" altLang="zh-TW" sz="1950" dirty="0"/>
              <a:t> - stores a value from one or more registers, or an immediate, into memory using a segment or flat address expression.</a:t>
            </a:r>
          </a:p>
          <a:p>
            <a:r>
              <a:rPr lang="en-US" altLang="zh-TW" sz="1950" dirty="0"/>
              <a:t>There are four variants of the sore operation, depending on the number of destinations:  1, 2, 3 or 4.</a:t>
            </a:r>
            <a:endParaRPr lang="zh-TW" altLang="en-US" sz="1950" dirty="0"/>
          </a:p>
        </p:txBody>
      </p:sp>
      <p:sp>
        <p:nvSpPr>
          <p:cNvPr id="3" name="投影片編號版面配置區 2"/>
          <p:cNvSpPr>
            <a:spLocks noGrp="1"/>
          </p:cNvSpPr>
          <p:nvPr>
            <p:ph type="sldNum" sz="quarter" idx="10"/>
          </p:nvPr>
        </p:nvSpPr>
        <p:spPr/>
        <p:txBody>
          <a:bodyPr/>
          <a:lstStyle/>
          <a:p>
            <a:fld id="{6C75C586-0B13-4105-9895-CED4323B37DD}" type="slidenum">
              <a:rPr lang="zh-TW" altLang="en-US" smtClean="0"/>
              <a:pPr/>
              <a:t>50</a:t>
            </a:fld>
            <a:endParaRPr lang="zh-TW" altLang="en-US"/>
          </a:p>
        </p:txBody>
      </p:sp>
      <p:graphicFrame>
        <p:nvGraphicFramePr>
          <p:cNvPr id="6" name="表格 5"/>
          <p:cNvGraphicFramePr>
            <a:graphicFrameLocks noGrp="1"/>
          </p:cNvGraphicFramePr>
          <p:nvPr>
            <p:extLst>
              <p:ext uri="{D42A27DB-BD31-4B8C-83A1-F6EECF244321}">
                <p14:modId xmlns:p14="http://schemas.microsoft.com/office/powerpoint/2010/main" val="183455476"/>
              </p:ext>
            </p:extLst>
          </p:nvPr>
        </p:nvGraphicFramePr>
        <p:xfrm>
          <a:off x="589348" y="3731079"/>
          <a:ext cx="8086341" cy="1643353"/>
        </p:xfrm>
        <a:graphic>
          <a:graphicData uri="http://schemas.openxmlformats.org/drawingml/2006/table">
            <a:tbl>
              <a:tblPr firstRow="1" firstCol="1" bandRow="1">
                <a:tableStyleId>{5C22544A-7EE6-4342-B048-85BDC9FD1C3A}</a:tableStyleId>
              </a:tblPr>
              <a:tblGrid>
                <a:gridCol w="4819674"/>
                <a:gridCol w="3266667"/>
              </a:tblGrid>
              <a:tr h="350673">
                <a:tc>
                  <a:txBody>
                    <a:bodyPr/>
                    <a:lstStyle/>
                    <a:p>
                      <a:pPr>
                        <a:spcAft>
                          <a:spcPts val="0"/>
                        </a:spcAft>
                      </a:pPr>
                      <a:r>
                        <a:rPr lang="en-US" sz="1400" dirty="0">
                          <a:effectLst/>
                        </a:rPr>
                        <a:t>Opcode and Modifiers </a:t>
                      </a:r>
                      <a:endParaRPr lang="zh-TW" sz="1400" b="1"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400">
                          <a:effectLst/>
                        </a:rPr>
                        <a:t>Operands</a:t>
                      </a:r>
                      <a:endParaRPr lang="zh-TW" sz="14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323170">
                <a:tc>
                  <a:txBody>
                    <a:bodyPr/>
                    <a:lstStyle/>
                    <a:p>
                      <a:pPr>
                        <a:spcAft>
                          <a:spcPts val="0"/>
                        </a:spcAft>
                      </a:pPr>
                      <a:r>
                        <a:rPr lang="en-US" sz="1200" dirty="0" err="1">
                          <a:effectLst/>
                        </a:rPr>
                        <a:t>st_segment_align</a:t>
                      </a:r>
                      <a:r>
                        <a:rPr lang="en-US" sz="1200" dirty="0">
                          <a:effectLst/>
                        </a:rPr>
                        <a:t>(n)_</a:t>
                      </a:r>
                      <a:r>
                        <a:rPr lang="en-US" sz="1200" dirty="0" err="1">
                          <a:effectLst/>
                        </a:rPr>
                        <a:t>equiv</a:t>
                      </a:r>
                      <a:r>
                        <a:rPr lang="en-US" sz="1200" dirty="0">
                          <a:effectLst/>
                        </a:rPr>
                        <a:t>(n)_</a:t>
                      </a:r>
                      <a:r>
                        <a:rPr lang="en-US" sz="1200" dirty="0" err="1">
                          <a:effectLst/>
                        </a:rPr>
                        <a:t>TypeLength</a:t>
                      </a:r>
                      <a:endParaRPr lang="zh-TW" sz="1200" b="1"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200">
                          <a:effectLst/>
                        </a:rPr>
                        <a:t>src0, address</a:t>
                      </a:r>
                      <a:endParaRPr lang="zh-TW" sz="12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323170">
                <a:tc>
                  <a:txBody>
                    <a:bodyPr/>
                    <a:lstStyle/>
                    <a:p>
                      <a:pPr>
                        <a:spcAft>
                          <a:spcPts val="0"/>
                        </a:spcAft>
                      </a:pPr>
                      <a:r>
                        <a:rPr lang="en-US" sz="1200" dirty="0">
                          <a:effectLst/>
                        </a:rPr>
                        <a:t>st_v2_segment_align(n)_</a:t>
                      </a:r>
                      <a:r>
                        <a:rPr lang="en-US" sz="1200" dirty="0" err="1">
                          <a:effectLst/>
                        </a:rPr>
                        <a:t>equiv</a:t>
                      </a:r>
                      <a:r>
                        <a:rPr lang="en-US" sz="1200" dirty="0">
                          <a:effectLst/>
                        </a:rPr>
                        <a:t>(n)_</a:t>
                      </a:r>
                      <a:r>
                        <a:rPr lang="en-US" sz="1200" dirty="0" err="1">
                          <a:effectLst/>
                        </a:rPr>
                        <a:t>TypeLength</a:t>
                      </a:r>
                      <a:endParaRPr lang="zh-TW" sz="1200" b="1"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200">
                          <a:effectLst/>
                        </a:rPr>
                        <a:t>(src0,src1), address</a:t>
                      </a:r>
                      <a:endParaRPr lang="zh-TW" sz="12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323170">
                <a:tc>
                  <a:txBody>
                    <a:bodyPr/>
                    <a:lstStyle/>
                    <a:p>
                      <a:pPr>
                        <a:spcAft>
                          <a:spcPts val="0"/>
                        </a:spcAft>
                      </a:pPr>
                      <a:r>
                        <a:rPr lang="en-US" sz="1200" dirty="0">
                          <a:effectLst/>
                        </a:rPr>
                        <a:t>st_v3_segment_align(n)_</a:t>
                      </a:r>
                      <a:r>
                        <a:rPr lang="en-US" sz="1200" dirty="0" err="1">
                          <a:effectLst/>
                        </a:rPr>
                        <a:t>equiv</a:t>
                      </a:r>
                      <a:r>
                        <a:rPr lang="en-US" sz="1200" dirty="0">
                          <a:effectLst/>
                        </a:rPr>
                        <a:t>(n)_</a:t>
                      </a:r>
                      <a:r>
                        <a:rPr lang="en-US" sz="1200" dirty="0" err="1">
                          <a:effectLst/>
                        </a:rPr>
                        <a:t>TypeLength</a:t>
                      </a:r>
                      <a:endParaRPr lang="zh-TW" sz="1200" b="1"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200" dirty="0">
                          <a:effectLst/>
                        </a:rPr>
                        <a:t>(src0,src1,src2), address</a:t>
                      </a:r>
                      <a:endParaRPr lang="zh-TW" sz="1200"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323170">
                <a:tc>
                  <a:txBody>
                    <a:bodyPr/>
                    <a:lstStyle/>
                    <a:p>
                      <a:pPr>
                        <a:spcAft>
                          <a:spcPts val="0"/>
                        </a:spcAft>
                      </a:pPr>
                      <a:r>
                        <a:rPr lang="en-US" sz="1200">
                          <a:effectLst/>
                        </a:rPr>
                        <a:t>st_v4_segment_align(n)_equiv(n)_TypeLength</a:t>
                      </a:r>
                      <a:endParaRPr lang="zh-TW" sz="12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200" dirty="0">
                          <a:effectLst/>
                        </a:rPr>
                        <a:t>(src0,src1,src2,src3), address</a:t>
                      </a:r>
                      <a:endParaRPr lang="zh-TW" sz="1200"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bl>
          </a:graphicData>
        </a:graphic>
      </p:graphicFrame>
    </p:spTree>
    <p:extLst>
      <p:ext uri="{BB962C8B-B14F-4D97-AF65-F5344CB8AC3E}">
        <p14:creationId xmlns:p14="http://schemas.microsoft.com/office/powerpoint/2010/main" val="1427169294"/>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3"/>
          <p:cNvSpPr>
            <a:spLocks noGrp="1"/>
          </p:cNvSpPr>
          <p:nvPr>
            <p:ph idx="1"/>
          </p:nvPr>
        </p:nvSpPr>
        <p:spPr>
          <a:xfrm>
            <a:off x="322218" y="1701403"/>
            <a:ext cx="8821783" cy="3671888"/>
          </a:xfrm>
        </p:spPr>
        <p:txBody>
          <a:bodyPr/>
          <a:lstStyle/>
          <a:p>
            <a:r>
              <a:rPr lang="en-US" altLang="zh-TW" sz="1950" dirty="0" smtClean="0"/>
              <a:t>The </a:t>
            </a:r>
            <a:r>
              <a:rPr lang="en-US" altLang="zh-TW" sz="1950" dirty="0"/>
              <a:t>scope of an atomic operation and memory fence can also be specified.</a:t>
            </a:r>
          </a:p>
          <a:p>
            <a:pPr marL="0" indent="0">
              <a:buClrTx/>
              <a:buSzPct val="100000"/>
              <a:buNone/>
            </a:pPr>
            <a:endParaRPr lang="en-US" altLang="zh-TW" sz="1950" dirty="0"/>
          </a:p>
          <a:p>
            <a:r>
              <a:rPr lang="en-US" altLang="zh-TW" sz="1950" i="1" dirty="0" err="1">
                <a:latin typeface="Times New Roman" panose="02020603050405020304" pitchFamily="18" charset="0"/>
                <a:cs typeface="Times New Roman" panose="02020603050405020304" pitchFamily="18" charset="0"/>
              </a:rPr>
              <a:t>wi</a:t>
            </a:r>
            <a:r>
              <a:rPr lang="en-US" altLang="zh-TW" sz="1950" dirty="0"/>
              <a:t> - includes only the executing work-item.</a:t>
            </a:r>
          </a:p>
          <a:p>
            <a:endParaRPr lang="en-US" altLang="zh-TW" sz="1950" dirty="0"/>
          </a:p>
          <a:p>
            <a:r>
              <a:rPr lang="en-US" altLang="zh-TW" sz="1950" i="1" dirty="0" smtClean="0">
                <a:latin typeface="Times New Roman" panose="02020603050405020304" pitchFamily="18" charset="0"/>
                <a:cs typeface="Times New Roman" panose="02020603050405020304" pitchFamily="18" charset="0"/>
              </a:rPr>
              <a:t>wave</a:t>
            </a:r>
            <a:r>
              <a:rPr lang="en-US" altLang="zh-TW" sz="1950" dirty="0" smtClean="0"/>
              <a:t> </a:t>
            </a:r>
            <a:r>
              <a:rPr lang="en-US" altLang="zh-TW" sz="1950" dirty="0"/>
              <a:t>- includes all work-items in the same </a:t>
            </a:r>
            <a:r>
              <a:rPr lang="en-US" altLang="zh-TW" sz="1950" dirty="0" err="1"/>
              <a:t>wavefront</a:t>
            </a:r>
            <a:r>
              <a:rPr lang="en-US" altLang="zh-TW" sz="1950" dirty="0"/>
              <a:t> as the executing work-item.</a:t>
            </a:r>
          </a:p>
          <a:p>
            <a:endParaRPr lang="en-US" altLang="zh-TW" sz="1950" dirty="0"/>
          </a:p>
          <a:p>
            <a:r>
              <a:rPr lang="en-US" altLang="zh-TW" sz="1950" i="1" dirty="0" err="1">
                <a:latin typeface="Times New Roman" panose="02020603050405020304" pitchFamily="18" charset="0"/>
                <a:cs typeface="Times New Roman" panose="02020603050405020304" pitchFamily="18" charset="0"/>
              </a:rPr>
              <a:t>wg</a:t>
            </a:r>
            <a:r>
              <a:rPr lang="en-US" altLang="zh-TW" sz="1950" dirty="0"/>
              <a:t> -  includes all work-items in the same work-group as the executing work-item</a:t>
            </a:r>
            <a:r>
              <a:rPr lang="en-US" altLang="zh-TW" sz="1950" dirty="0" smtClean="0"/>
              <a:t>.</a:t>
            </a:r>
          </a:p>
          <a:p>
            <a:endParaRPr lang="en-US" altLang="zh-TW" sz="1950" dirty="0"/>
          </a:p>
          <a:p>
            <a:endParaRPr lang="en-US" altLang="zh-TW" sz="1950" dirty="0"/>
          </a:p>
          <a:p>
            <a:endParaRPr lang="en-US" altLang="zh-TW" sz="1950" dirty="0"/>
          </a:p>
          <a:p>
            <a:endParaRPr lang="en-US" altLang="zh-TW" sz="1950" dirty="0"/>
          </a:p>
        </p:txBody>
      </p:sp>
      <p:sp>
        <p:nvSpPr>
          <p:cNvPr id="2" name="標題 1"/>
          <p:cNvSpPr>
            <a:spLocks noGrp="1"/>
          </p:cNvSpPr>
          <p:nvPr>
            <p:ph type="title"/>
          </p:nvPr>
        </p:nvSpPr>
        <p:spPr/>
        <p:txBody>
          <a:bodyPr/>
          <a:lstStyle/>
          <a:p>
            <a:r>
              <a:rPr lang="en-US" altLang="zh-TW" dirty="0" smtClean="0"/>
              <a:t>Memory Scope (1)</a:t>
            </a:r>
            <a:endParaRPr lang="zh-TW" altLang="en-US" dirty="0"/>
          </a:p>
        </p:txBody>
      </p:sp>
      <p:sp>
        <p:nvSpPr>
          <p:cNvPr id="3" name="投影片編號版面配置區 2"/>
          <p:cNvSpPr>
            <a:spLocks noGrp="1"/>
          </p:cNvSpPr>
          <p:nvPr>
            <p:ph type="sldNum" sz="quarter" idx="10"/>
          </p:nvPr>
        </p:nvSpPr>
        <p:spPr/>
        <p:txBody>
          <a:bodyPr/>
          <a:lstStyle/>
          <a:p>
            <a:fld id="{6C75C586-0B13-4105-9895-CED4323B37DD}" type="slidenum">
              <a:rPr lang="zh-TW" altLang="en-US" smtClean="0"/>
              <a:pPr/>
              <a:t>51</a:t>
            </a:fld>
            <a:endParaRPr lang="zh-TW" altLang="en-US"/>
          </a:p>
        </p:txBody>
      </p:sp>
    </p:spTree>
    <p:extLst>
      <p:ext uri="{BB962C8B-B14F-4D97-AF65-F5344CB8AC3E}">
        <p14:creationId xmlns:p14="http://schemas.microsoft.com/office/powerpoint/2010/main" val="3940033590"/>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3"/>
          <p:cNvSpPr>
            <a:spLocks noGrp="1"/>
          </p:cNvSpPr>
          <p:nvPr>
            <p:ph idx="1"/>
          </p:nvPr>
        </p:nvSpPr>
        <p:spPr>
          <a:xfrm>
            <a:off x="322218" y="1701403"/>
            <a:ext cx="8821783" cy="3671888"/>
          </a:xfrm>
        </p:spPr>
        <p:txBody>
          <a:bodyPr/>
          <a:lstStyle/>
          <a:p>
            <a:pPr>
              <a:buClrTx/>
              <a:buSzPct val="100000"/>
              <a:buFont typeface="Arial" panose="020B0604020202020204" pitchFamily="34" charset="0"/>
              <a:buChar char="•"/>
            </a:pPr>
            <a:endParaRPr lang="en-US" altLang="zh-TW" sz="1950" dirty="0"/>
          </a:p>
          <a:p>
            <a:r>
              <a:rPr lang="en-US" altLang="zh-TW" sz="1950" i="1" dirty="0" smtClean="0">
                <a:latin typeface="Times New Roman" panose="02020603050405020304" pitchFamily="18" charset="0"/>
                <a:cs typeface="Times New Roman" panose="02020603050405020304" pitchFamily="18" charset="0"/>
              </a:rPr>
              <a:t>agent</a:t>
            </a:r>
            <a:r>
              <a:rPr lang="en-US" altLang="zh-TW" sz="1950" dirty="0" smtClean="0"/>
              <a:t> </a:t>
            </a:r>
            <a:r>
              <a:rPr lang="en-US" altLang="zh-TW" sz="1950" dirty="0"/>
              <a:t>- </a:t>
            </a:r>
            <a:r>
              <a:rPr lang="en-US" altLang="zh-TW" sz="2000" dirty="0"/>
              <a:t>includes all work-items on the same kernel agent executing kernel dispatches for the same application process as the executing work-item. Only supported for the global segment.</a:t>
            </a:r>
            <a:endParaRPr lang="en-US" altLang="zh-TW" sz="1950" dirty="0"/>
          </a:p>
          <a:p>
            <a:endParaRPr lang="en-US" altLang="zh-TW" sz="1950" dirty="0"/>
          </a:p>
          <a:p>
            <a:r>
              <a:rPr lang="en-US" altLang="zh-TW" sz="1950" i="1" dirty="0" smtClean="0">
                <a:latin typeface="Times New Roman" panose="02020603050405020304" pitchFamily="18" charset="0"/>
                <a:cs typeface="Times New Roman" panose="02020603050405020304" pitchFamily="18" charset="0"/>
              </a:rPr>
              <a:t>system</a:t>
            </a:r>
            <a:r>
              <a:rPr lang="en-US" altLang="zh-TW" sz="1950" dirty="0" smtClean="0"/>
              <a:t> </a:t>
            </a:r>
            <a:r>
              <a:rPr lang="en-US" altLang="zh-TW" sz="1950" dirty="0"/>
              <a:t>- </a:t>
            </a:r>
            <a:r>
              <a:rPr lang="en-US" altLang="zh-TW" sz="2000" dirty="0"/>
              <a:t>includes all work-items on all kernel agents executing kernel dispatches for the same application process, together with all agents executing the same application process as the executing work-item. Only supported for the global segment.</a:t>
            </a:r>
            <a:endParaRPr lang="en-US" altLang="zh-TW" sz="1950" dirty="0"/>
          </a:p>
        </p:txBody>
      </p:sp>
      <p:sp>
        <p:nvSpPr>
          <p:cNvPr id="2" name="標題 1"/>
          <p:cNvSpPr>
            <a:spLocks noGrp="1"/>
          </p:cNvSpPr>
          <p:nvPr>
            <p:ph type="title"/>
          </p:nvPr>
        </p:nvSpPr>
        <p:spPr/>
        <p:txBody>
          <a:bodyPr/>
          <a:lstStyle/>
          <a:p>
            <a:r>
              <a:rPr lang="en-US" altLang="zh-TW" dirty="0" smtClean="0"/>
              <a:t>Memory Scope (2)</a:t>
            </a:r>
            <a:endParaRPr lang="zh-TW" altLang="en-US" dirty="0"/>
          </a:p>
        </p:txBody>
      </p:sp>
      <p:sp>
        <p:nvSpPr>
          <p:cNvPr id="3" name="投影片編號版面配置區 2"/>
          <p:cNvSpPr>
            <a:spLocks noGrp="1"/>
          </p:cNvSpPr>
          <p:nvPr>
            <p:ph type="sldNum" sz="quarter" idx="10"/>
          </p:nvPr>
        </p:nvSpPr>
        <p:spPr/>
        <p:txBody>
          <a:bodyPr/>
          <a:lstStyle/>
          <a:p>
            <a:fld id="{6C75C586-0B13-4105-9895-CED4323B37DD}" type="slidenum">
              <a:rPr lang="zh-TW" altLang="en-US" smtClean="0"/>
              <a:pPr/>
              <a:t>52</a:t>
            </a:fld>
            <a:endParaRPr lang="zh-TW" altLang="en-US"/>
          </a:p>
        </p:txBody>
      </p:sp>
    </p:spTree>
    <p:extLst>
      <p:ext uri="{BB962C8B-B14F-4D97-AF65-F5344CB8AC3E}">
        <p14:creationId xmlns:p14="http://schemas.microsoft.com/office/powerpoint/2010/main" val="1871559365"/>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Atomic Memory Operations</a:t>
            </a:r>
            <a:endParaRPr lang="zh-TW" altLang="en-US" dirty="0"/>
          </a:p>
        </p:txBody>
      </p:sp>
      <p:sp>
        <p:nvSpPr>
          <p:cNvPr id="4" name="內容版面配置區 3"/>
          <p:cNvSpPr>
            <a:spLocks noGrp="1"/>
          </p:cNvSpPr>
          <p:nvPr>
            <p:ph idx="1"/>
          </p:nvPr>
        </p:nvSpPr>
        <p:spPr>
          <a:xfrm>
            <a:off x="457200" y="1616491"/>
            <a:ext cx="8229600" cy="3845417"/>
          </a:xfrm>
        </p:spPr>
        <p:txBody>
          <a:bodyPr/>
          <a:lstStyle/>
          <a:p>
            <a:r>
              <a:rPr lang="en-US" altLang="zh-TW" sz="1800" dirty="0"/>
              <a:t>Atomic memory operations guaranteed that when a work-item issues an atomic memory operation on a memory location, no write to the same memory location using the same memory scope from outside the current atomic operation by any work-item or agent can occur between the read and write performed by the operation.</a:t>
            </a:r>
          </a:p>
          <a:p>
            <a:endParaRPr lang="en-US" altLang="zh-TW" sz="1800" dirty="0"/>
          </a:p>
          <a:p>
            <a:r>
              <a:rPr lang="en-US" altLang="zh-TW" sz="1800" dirty="0"/>
              <a:t>If multiple atomic memory operations from different work-items or agents target the same memory location, the operations are serialized in an undefined order. In particular, if multiple work-items in the same </a:t>
            </a:r>
            <a:r>
              <a:rPr lang="en-US" altLang="zh-TW" sz="1800" dirty="0" err="1"/>
              <a:t>wavefront</a:t>
            </a:r>
            <a:r>
              <a:rPr lang="en-US" altLang="zh-TW" sz="1800" dirty="0"/>
              <a:t> target the same memory location, they will be serialized in an undefined order.</a:t>
            </a:r>
          </a:p>
          <a:p>
            <a:endParaRPr lang="en-US" altLang="zh-TW" sz="1800" dirty="0"/>
          </a:p>
          <a:p>
            <a:r>
              <a:rPr lang="en-US" altLang="zh-TW" sz="1800" dirty="0"/>
              <a:t>Atomic memory operations only allow global segment, group segment and flat addresses.</a:t>
            </a:r>
            <a:endParaRPr lang="zh-TW" altLang="en-US" sz="1800" dirty="0"/>
          </a:p>
        </p:txBody>
      </p:sp>
      <p:sp>
        <p:nvSpPr>
          <p:cNvPr id="3" name="投影片編號版面配置區 2"/>
          <p:cNvSpPr>
            <a:spLocks noGrp="1"/>
          </p:cNvSpPr>
          <p:nvPr>
            <p:ph type="sldNum" sz="quarter" idx="10"/>
          </p:nvPr>
        </p:nvSpPr>
        <p:spPr/>
        <p:txBody>
          <a:bodyPr/>
          <a:lstStyle/>
          <a:p>
            <a:fld id="{6C75C586-0B13-4105-9895-CED4323B37DD}" type="slidenum">
              <a:rPr lang="zh-TW" altLang="en-US" smtClean="0"/>
              <a:pPr/>
              <a:t>53</a:t>
            </a:fld>
            <a:endParaRPr lang="zh-TW" altLang="en-US"/>
          </a:p>
        </p:txBody>
      </p:sp>
    </p:spTree>
    <p:extLst>
      <p:ext uri="{BB962C8B-B14F-4D97-AF65-F5344CB8AC3E}">
        <p14:creationId xmlns:p14="http://schemas.microsoft.com/office/powerpoint/2010/main" val="1159344405"/>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Atomic Operations</a:t>
            </a:r>
            <a:endParaRPr lang="zh-TW" altLang="en-US" dirty="0"/>
          </a:p>
        </p:txBody>
      </p:sp>
      <p:sp>
        <p:nvSpPr>
          <p:cNvPr id="3" name="投影片編號版面配置區 2"/>
          <p:cNvSpPr>
            <a:spLocks noGrp="1"/>
          </p:cNvSpPr>
          <p:nvPr>
            <p:ph type="sldNum" sz="quarter" idx="10"/>
          </p:nvPr>
        </p:nvSpPr>
        <p:spPr/>
        <p:txBody>
          <a:bodyPr/>
          <a:lstStyle/>
          <a:p>
            <a:fld id="{6C75C586-0B13-4105-9895-CED4323B37DD}" type="slidenum">
              <a:rPr lang="zh-TW" altLang="en-US" smtClean="0"/>
              <a:pPr/>
              <a:t>54</a:t>
            </a:fld>
            <a:endParaRPr lang="zh-TW" altLang="en-US"/>
          </a:p>
        </p:txBody>
      </p:sp>
      <p:sp>
        <p:nvSpPr>
          <p:cNvPr id="7" name="文字方塊 6"/>
          <p:cNvSpPr txBox="1"/>
          <p:nvPr/>
        </p:nvSpPr>
        <p:spPr>
          <a:xfrm>
            <a:off x="1" y="5120933"/>
            <a:ext cx="7306491" cy="276999"/>
          </a:xfrm>
          <a:prstGeom prst="rect">
            <a:avLst/>
          </a:prstGeom>
          <a:noFill/>
        </p:spPr>
        <p:txBody>
          <a:bodyPr wrap="square" rtlCol="0" anchor="ctr" anchorCtr="1">
            <a:spAutoFit/>
          </a:bodyPr>
          <a:lstStyle/>
          <a:p>
            <a:r>
              <a:rPr lang="en-US" altLang="zh-TW" sz="1200" dirty="0">
                <a:ea typeface="標楷體" pitchFamily="65" charset="-120"/>
                <a:cs typeface="Calibri" pitchFamily="34" charset="0"/>
              </a:rPr>
              <a:t>Above is </a:t>
            </a:r>
            <a:r>
              <a:rPr lang="en-US" altLang="zh-TW" sz="1200" dirty="0" err="1">
                <a:ea typeface="標楷體" pitchFamily="65" charset="-120"/>
                <a:cs typeface="Calibri" pitchFamily="34" charset="0"/>
              </a:rPr>
              <a:t>atomicRet</a:t>
            </a:r>
            <a:r>
              <a:rPr lang="en-US" altLang="zh-TW" sz="1200" dirty="0">
                <a:ea typeface="標楷體" pitchFamily="65" charset="-120"/>
                <a:cs typeface="Calibri" pitchFamily="34" charset="0"/>
              </a:rPr>
              <a:t>, for atomic no return see HSA PRM.</a:t>
            </a:r>
            <a:endParaRPr lang="zh-TW" altLang="en-US" sz="1200" dirty="0">
              <a:ea typeface="標楷體" pitchFamily="65" charset="-120"/>
              <a:cs typeface="Calibri" pitchFamily="34" charset="0"/>
            </a:endParaRPr>
          </a:p>
        </p:txBody>
      </p:sp>
      <p:graphicFrame>
        <p:nvGraphicFramePr>
          <p:cNvPr id="8" name="內容版面配置區 7"/>
          <p:cNvGraphicFramePr>
            <a:graphicFrameLocks noGrp="1"/>
          </p:cNvGraphicFramePr>
          <p:nvPr>
            <p:ph idx="1"/>
            <p:extLst>
              <p:ext uri="{D42A27DB-BD31-4B8C-83A1-F6EECF244321}">
                <p14:modId xmlns:p14="http://schemas.microsoft.com/office/powerpoint/2010/main" val="3413034951"/>
              </p:ext>
            </p:extLst>
          </p:nvPr>
        </p:nvGraphicFramePr>
        <p:xfrm>
          <a:off x="354627" y="1474135"/>
          <a:ext cx="8321061" cy="3573725"/>
        </p:xfrm>
        <a:graphic>
          <a:graphicData uri="http://schemas.openxmlformats.org/drawingml/2006/table">
            <a:tbl>
              <a:tblPr firstRow="1" firstCol="1" bandRow="1">
                <a:tableStyleId>{5C22544A-7EE6-4342-B048-85BDC9FD1C3A}</a:tableStyleId>
              </a:tblPr>
              <a:tblGrid>
                <a:gridCol w="5234410"/>
                <a:gridCol w="3086651"/>
              </a:tblGrid>
              <a:tr h="296357">
                <a:tc>
                  <a:txBody>
                    <a:bodyPr/>
                    <a:lstStyle/>
                    <a:p>
                      <a:pPr>
                        <a:spcAft>
                          <a:spcPts val="0"/>
                        </a:spcAft>
                      </a:pPr>
                      <a:r>
                        <a:rPr lang="en-US" sz="1200">
                          <a:effectLst/>
                        </a:rPr>
                        <a:t>Opcode and Modifiers </a:t>
                      </a:r>
                      <a:endParaRPr lang="zh-TW" sz="12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200">
                          <a:effectLst/>
                        </a:rPr>
                        <a:t>Operands</a:t>
                      </a:r>
                      <a:endParaRPr lang="zh-TW" sz="12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73114">
                <a:tc>
                  <a:txBody>
                    <a:bodyPr/>
                    <a:lstStyle/>
                    <a:p>
                      <a:pPr>
                        <a:spcAft>
                          <a:spcPts val="0"/>
                        </a:spcAft>
                      </a:pPr>
                      <a:r>
                        <a:rPr lang="en-US" sz="1100">
                          <a:effectLst/>
                        </a:rPr>
                        <a:t>atomic_ld_segment_order_scope_equiv(n)_TypeLength</a:t>
                      </a:r>
                      <a:endParaRPr lang="zh-TW" sz="11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dest, address</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73114">
                <a:tc>
                  <a:txBody>
                    <a:bodyPr/>
                    <a:lstStyle/>
                    <a:p>
                      <a:pPr>
                        <a:spcAft>
                          <a:spcPts val="0"/>
                        </a:spcAft>
                      </a:pPr>
                      <a:r>
                        <a:rPr lang="en-US" sz="1100">
                          <a:effectLst/>
                        </a:rPr>
                        <a:t>atomic_and_segment_order_scope_equiv(n)_TypeLength</a:t>
                      </a:r>
                      <a:endParaRPr lang="zh-TW" sz="11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dest, address, src0</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73114">
                <a:tc>
                  <a:txBody>
                    <a:bodyPr/>
                    <a:lstStyle/>
                    <a:p>
                      <a:pPr>
                        <a:spcAft>
                          <a:spcPts val="0"/>
                        </a:spcAft>
                      </a:pPr>
                      <a:r>
                        <a:rPr lang="en-US" sz="1100">
                          <a:effectLst/>
                        </a:rPr>
                        <a:t>atomic_or_segment_order_scope_equiv(n)_TypeLength</a:t>
                      </a:r>
                      <a:endParaRPr lang="zh-TW" sz="11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dest, address, src0</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73114">
                <a:tc>
                  <a:txBody>
                    <a:bodyPr/>
                    <a:lstStyle/>
                    <a:p>
                      <a:pPr>
                        <a:spcAft>
                          <a:spcPts val="0"/>
                        </a:spcAft>
                      </a:pPr>
                      <a:r>
                        <a:rPr lang="en-US" sz="1100">
                          <a:effectLst/>
                        </a:rPr>
                        <a:t>atomic_xor_segment_order_scope_equiv(n)_TypeLength</a:t>
                      </a:r>
                      <a:endParaRPr lang="zh-TW" sz="11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dest, address, src0</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73114">
                <a:tc>
                  <a:txBody>
                    <a:bodyPr/>
                    <a:lstStyle/>
                    <a:p>
                      <a:pPr>
                        <a:spcAft>
                          <a:spcPts val="0"/>
                        </a:spcAft>
                      </a:pPr>
                      <a:r>
                        <a:rPr lang="en-US" sz="1100">
                          <a:effectLst/>
                        </a:rPr>
                        <a:t>atomic_exch_segment_order_scope_equiv(n)_TypeLength</a:t>
                      </a:r>
                      <a:endParaRPr lang="zh-TW" sz="11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dest, address, src0</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73114">
                <a:tc>
                  <a:txBody>
                    <a:bodyPr/>
                    <a:lstStyle/>
                    <a:p>
                      <a:pPr>
                        <a:spcAft>
                          <a:spcPts val="0"/>
                        </a:spcAft>
                      </a:pPr>
                      <a:r>
                        <a:rPr lang="en-US" sz="1100">
                          <a:effectLst/>
                        </a:rPr>
                        <a:t>atomic_add_segment_order_scope_equiv(n)_TypeLength</a:t>
                      </a:r>
                      <a:endParaRPr lang="zh-TW" sz="11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dest, address, src0</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73114">
                <a:tc>
                  <a:txBody>
                    <a:bodyPr/>
                    <a:lstStyle/>
                    <a:p>
                      <a:pPr>
                        <a:spcAft>
                          <a:spcPts val="0"/>
                        </a:spcAft>
                      </a:pPr>
                      <a:r>
                        <a:rPr lang="en-US" sz="1100">
                          <a:effectLst/>
                        </a:rPr>
                        <a:t>atomic_sub_segment_order_scope_equiv(n)_TypeLength</a:t>
                      </a:r>
                      <a:endParaRPr lang="zh-TW" sz="11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dest, address, src0</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73114">
                <a:tc>
                  <a:txBody>
                    <a:bodyPr/>
                    <a:lstStyle/>
                    <a:p>
                      <a:pPr>
                        <a:spcAft>
                          <a:spcPts val="0"/>
                        </a:spcAft>
                      </a:pPr>
                      <a:r>
                        <a:rPr lang="en-US" sz="1100">
                          <a:effectLst/>
                        </a:rPr>
                        <a:t>atomic_wrapinc_segment_order_scope_equiv(n)_TypeLength</a:t>
                      </a:r>
                      <a:endParaRPr lang="zh-TW" sz="11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dest, address, src0</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73114">
                <a:tc>
                  <a:txBody>
                    <a:bodyPr/>
                    <a:lstStyle/>
                    <a:p>
                      <a:pPr>
                        <a:spcAft>
                          <a:spcPts val="0"/>
                        </a:spcAft>
                      </a:pPr>
                      <a:r>
                        <a:rPr lang="en-US" sz="1100">
                          <a:effectLst/>
                        </a:rPr>
                        <a:t>atomic_wrapdec_segment_order_scope_equiv(n)_TypeLength</a:t>
                      </a:r>
                      <a:endParaRPr lang="zh-TW" sz="11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dest, address, src0</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73114">
                <a:tc>
                  <a:txBody>
                    <a:bodyPr/>
                    <a:lstStyle/>
                    <a:p>
                      <a:pPr>
                        <a:spcAft>
                          <a:spcPts val="0"/>
                        </a:spcAft>
                      </a:pPr>
                      <a:r>
                        <a:rPr lang="en-US" sz="1100">
                          <a:effectLst/>
                        </a:rPr>
                        <a:t>atomic_max_segment_order_scope_equiv(n)_TypeLength</a:t>
                      </a:r>
                      <a:endParaRPr lang="zh-TW" sz="11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dest, address, src0</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73114">
                <a:tc>
                  <a:txBody>
                    <a:bodyPr/>
                    <a:lstStyle/>
                    <a:p>
                      <a:pPr>
                        <a:spcAft>
                          <a:spcPts val="0"/>
                        </a:spcAft>
                      </a:pPr>
                      <a:r>
                        <a:rPr lang="en-US" sz="1100">
                          <a:effectLst/>
                        </a:rPr>
                        <a:t>atomic_min_segment_order_scope_equiv(n)_TypeLength</a:t>
                      </a:r>
                      <a:endParaRPr lang="zh-TW" sz="11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dest, address, src0</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73114">
                <a:tc>
                  <a:txBody>
                    <a:bodyPr/>
                    <a:lstStyle/>
                    <a:p>
                      <a:pPr>
                        <a:spcAft>
                          <a:spcPts val="0"/>
                        </a:spcAft>
                      </a:pPr>
                      <a:r>
                        <a:rPr lang="en-US" sz="1100">
                          <a:effectLst/>
                        </a:rPr>
                        <a:t>atomic_cas_segment_order_scope_equiv(n)_TypeLength</a:t>
                      </a:r>
                      <a:endParaRPr lang="zh-TW" sz="11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dirty="0" err="1">
                          <a:effectLst/>
                        </a:rPr>
                        <a:t>dest</a:t>
                      </a:r>
                      <a:r>
                        <a:rPr lang="en-US" sz="1100" dirty="0">
                          <a:effectLst/>
                        </a:rPr>
                        <a:t>, address, src0, src1</a:t>
                      </a:r>
                      <a:endParaRPr lang="zh-TW" sz="1100"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bl>
          </a:graphicData>
        </a:graphic>
      </p:graphicFrame>
    </p:spTree>
    <p:extLst>
      <p:ext uri="{BB962C8B-B14F-4D97-AF65-F5344CB8AC3E}">
        <p14:creationId xmlns:p14="http://schemas.microsoft.com/office/powerpoint/2010/main" val="3600900131"/>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3"/>
          <p:cNvSpPr>
            <a:spLocks noGrp="1"/>
          </p:cNvSpPr>
          <p:nvPr>
            <p:ph idx="1"/>
          </p:nvPr>
        </p:nvSpPr>
        <p:spPr>
          <a:xfrm>
            <a:off x="322218" y="1701403"/>
            <a:ext cx="8821783" cy="3671888"/>
          </a:xfrm>
        </p:spPr>
        <p:txBody>
          <a:bodyPr/>
          <a:lstStyle/>
          <a:p>
            <a:pPr marL="0" indent="0">
              <a:buClrTx/>
              <a:buSzPct val="100000"/>
              <a:buNone/>
            </a:pPr>
            <a:endParaRPr lang="en-US" altLang="zh-TW" sz="1950" dirty="0"/>
          </a:p>
          <a:p>
            <a:r>
              <a:rPr lang="en-US" altLang="zh-TW" sz="1950" dirty="0"/>
              <a:t>Signal operations are used for notification between threads and work-items belonging to a single process potentially executing on different agents in the HSA system. </a:t>
            </a:r>
          </a:p>
          <a:p>
            <a:endParaRPr lang="en-US" altLang="zh-TW" sz="1950" dirty="0"/>
          </a:p>
          <a:p>
            <a:r>
              <a:rPr lang="en-US" altLang="zh-TW" sz="1950" dirty="0"/>
              <a:t>While notification can be performed with regular atomic memory operations, the HSA platform architecture signals allow implementations to optimize for power and performance during signal operations.</a:t>
            </a:r>
          </a:p>
          <a:p>
            <a:pPr marL="0" indent="0">
              <a:buClrTx/>
              <a:buSzPct val="100000"/>
              <a:buNone/>
            </a:pPr>
            <a:r>
              <a:rPr lang="en-US" altLang="zh-TW" sz="1950" dirty="0"/>
              <a:t>    </a:t>
            </a:r>
          </a:p>
        </p:txBody>
      </p:sp>
      <p:sp>
        <p:nvSpPr>
          <p:cNvPr id="2" name="標題 1"/>
          <p:cNvSpPr>
            <a:spLocks noGrp="1"/>
          </p:cNvSpPr>
          <p:nvPr>
            <p:ph type="title"/>
          </p:nvPr>
        </p:nvSpPr>
        <p:spPr/>
        <p:txBody>
          <a:bodyPr/>
          <a:lstStyle/>
          <a:p>
            <a:r>
              <a:rPr lang="en-US" altLang="zh-TW" dirty="0" smtClean="0"/>
              <a:t>Signal Operations (1)</a:t>
            </a:r>
            <a:endParaRPr lang="zh-TW" altLang="en-US" dirty="0"/>
          </a:p>
        </p:txBody>
      </p:sp>
      <p:sp>
        <p:nvSpPr>
          <p:cNvPr id="3" name="投影片編號版面配置區 2"/>
          <p:cNvSpPr>
            <a:spLocks noGrp="1"/>
          </p:cNvSpPr>
          <p:nvPr>
            <p:ph type="sldNum" sz="quarter" idx="10"/>
          </p:nvPr>
        </p:nvSpPr>
        <p:spPr/>
        <p:txBody>
          <a:bodyPr/>
          <a:lstStyle/>
          <a:p>
            <a:fld id="{6C75C586-0B13-4105-9895-CED4323B37DD}" type="slidenum">
              <a:rPr lang="zh-TW" altLang="en-US" smtClean="0"/>
              <a:pPr/>
              <a:t>55</a:t>
            </a:fld>
            <a:endParaRPr lang="zh-TW" altLang="en-US"/>
          </a:p>
        </p:txBody>
      </p:sp>
    </p:spTree>
    <p:extLst>
      <p:ext uri="{BB962C8B-B14F-4D97-AF65-F5344CB8AC3E}">
        <p14:creationId xmlns:p14="http://schemas.microsoft.com/office/powerpoint/2010/main" val="2417338097"/>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3"/>
          <p:cNvSpPr>
            <a:spLocks noGrp="1"/>
          </p:cNvSpPr>
          <p:nvPr>
            <p:ph idx="1"/>
          </p:nvPr>
        </p:nvSpPr>
        <p:spPr>
          <a:xfrm>
            <a:off x="322218" y="1701403"/>
            <a:ext cx="8821783" cy="3671888"/>
          </a:xfrm>
        </p:spPr>
        <p:txBody>
          <a:bodyPr/>
          <a:lstStyle/>
          <a:p>
            <a:pPr marL="0" indent="0">
              <a:buClrTx/>
              <a:buSzPct val="100000"/>
              <a:buNone/>
            </a:pPr>
            <a:endParaRPr lang="en-US" altLang="zh-TW" sz="1950" dirty="0"/>
          </a:p>
          <a:p>
            <a:r>
              <a:rPr lang="en-US" altLang="zh-TW" sz="1950" dirty="0"/>
              <a:t>For example, spin loops involving atomic memory operations can be replaced with signal wait operations that can be implemented using more efficient hardware features.</a:t>
            </a:r>
          </a:p>
          <a:p>
            <a:endParaRPr lang="en-US" altLang="zh-TW" sz="1950" dirty="0"/>
          </a:p>
          <a:p>
            <a:r>
              <a:rPr lang="en-US" altLang="zh-TW" sz="1950" dirty="0"/>
              <a:t>Signals are used in the HSA User Mode Queue architecture for notification of packet submission, completion and dependencies.</a:t>
            </a:r>
          </a:p>
          <a:p>
            <a:endParaRPr lang="en-US" altLang="zh-TW" sz="1950" dirty="0"/>
          </a:p>
          <a:p>
            <a:r>
              <a:rPr lang="en-US" altLang="zh-TW" sz="1950" dirty="0"/>
              <a:t>Signals can also be used for user communication between work-items and threads within the same agent and between different agents.</a:t>
            </a:r>
          </a:p>
        </p:txBody>
      </p:sp>
      <p:sp>
        <p:nvSpPr>
          <p:cNvPr id="2" name="標題 1"/>
          <p:cNvSpPr>
            <a:spLocks noGrp="1"/>
          </p:cNvSpPr>
          <p:nvPr>
            <p:ph type="title"/>
          </p:nvPr>
        </p:nvSpPr>
        <p:spPr/>
        <p:txBody>
          <a:bodyPr/>
          <a:lstStyle/>
          <a:p>
            <a:r>
              <a:rPr lang="en-US" altLang="zh-TW" dirty="0" smtClean="0"/>
              <a:t>Signal Operations (2)</a:t>
            </a:r>
            <a:endParaRPr lang="zh-TW" altLang="en-US" dirty="0"/>
          </a:p>
        </p:txBody>
      </p:sp>
      <p:sp>
        <p:nvSpPr>
          <p:cNvPr id="3" name="投影片編號版面配置區 2"/>
          <p:cNvSpPr>
            <a:spLocks noGrp="1"/>
          </p:cNvSpPr>
          <p:nvPr>
            <p:ph type="sldNum" sz="quarter" idx="10"/>
          </p:nvPr>
        </p:nvSpPr>
        <p:spPr/>
        <p:txBody>
          <a:bodyPr/>
          <a:lstStyle/>
          <a:p>
            <a:fld id="{6C75C586-0B13-4105-9895-CED4323B37DD}" type="slidenum">
              <a:rPr lang="zh-TW" altLang="en-US" smtClean="0"/>
              <a:pPr/>
              <a:t>56</a:t>
            </a:fld>
            <a:endParaRPr lang="zh-TW" altLang="en-US"/>
          </a:p>
        </p:txBody>
      </p:sp>
    </p:spTree>
    <p:extLst>
      <p:ext uri="{BB962C8B-B14F-4D97-AF65-F5344CB8AC3E}">
        <p14:creationId xmlns:p14="http://schemas.microsoft.com/office/powerpoint/2010/main" val="103259167"/>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3"/>
          <p:cNvSpPr>
            <a:spLocks noGrp="1"/>
          </p:cNvSpPr>
          <p:nvPr>
            <p:ph idx="1"/>
          </p:nvPr>
        </p:nvSpPr>
        <p:spPr>
          <a:xfrm>
            <a:off x="322218" y="1701403"/>
            <a:ext cx="8821783" cy="3671888"/>
          </a:xfrm>
        </p:spPr>
        <p:txBody>
          <a:bodyPr/>
          <a:lstStyle/>
          <a:p>
            <a:pPr marL="0" indent="0">
              <a:buClrTx/>
              <a:buSzPct val="100000"/>
              <a:buNone/>
            </a:pPr>
            <a:endParaRPr lang="en-US" altLang="zh-TW" dirty="0" smtClean="0"/>
          </a:p>
          <a:p>
            <a:r>
              <a:rPr lang="en-US" altLang="zh-TW" sz="1950" dirty="0"/>
              <a:t>A signal can only be created and destroyed by HSA Runtime operations. It cannot be created or destroyed directly in HSAIL.</a:t>
            </a:r>
          </a:p>
          <a:p>
            <a:endParaRPr lang="en-US" altLang="zh-TW" sz="1950" dirty="0"/>
          </a:p>
          <a:p>
            <a:r>
              <a:rPr lang="en-US" altLang="zh-TW" sz="1950" dirty="0"/>
              <a:t>A signal is referenced by a signal handle. The value of a signal handle is implementation defined, except that the value 0 is reserved and used to represent the null signal handle.</a:t>
            </a:r>
          </a:p>
          <a:p>
            <a:endParaRPr lang="en-US" altLang="zh-TW" sz="1950" dirty="0"/>
          </a:p>
          <a:p>
            <a:r>
              <a:rPr lang="en-US" altLang="zh-TW" sz="1950" dirty="0"/>
              <a:t>The signal value can only be manipulated by the signal operations provided by the HSA Runtime and by the HSAIL signal operations.</a:t>
            </a:r>
          </a:p>
        </p:txBody>
      </p:sp>
      <p:sp>
        <p:nvSpPr>
          <p:cNvPr id="2" name="標題 1"/>
          <p:cNvSpPr>
            <a:spLocks noGrp="1"/>
          </p:cNvSpPr>
          <p:nvPr>
            <p:ph type="title"/>
          </p:nvPr>
        </p:nvSpPr>
        <p:spPr/>
        <p:txBody>
          <a:bodyPr/>
          <a:lstStyle/>
          <a:p>
            <a:r>
              <a:rPr lang="en-US" altLang="zh-TW" dirty="0" smtClean="0"/>
              <a:t>Signal Operations (3)</a:t>
            </a:r>
            <a:endParaRPr lang="zh-TW" altLang="en-US" dirty="0"/>
          </a:p>
        </p:txBody>
      </p:sp>
      <p:sp>
        <p:nvSpPr>
          <p:cNvPr id="3" name="投影片編號版面配置區 2"/>
          <p:cNvSpPr>
            <a:spLocks noGrp="1"/>
          </p:cNvSpPr>
          <p:nvPr>
            <p:ph type="sldNum" sz="quarter" idx="10"/>
          </p:nvPr>
        </p:nvSpPr>
        <p:spPr/>
        <p:txBody>
          <a:bodyPr/>
          <a:lstStyle/>
          <a:p>
            <a:fld id="{6C75C586-0B13-4105-9895-CED4323B37DD}" type="slidenum">
              <a:rPr lang="zh-TW" altLang="en-US" smtClean="0"/>
              <a:pPr/>
              <a:t>57</a:t>
            </a:fld>
            <a:endParaRPr lang="zh-TW" altLang="en-US"/>
          </a:p>
        </p:txBody>
      </p:sp>
    </p:spTree>
    <p:extLst>
      <p:ext uri="{BB962C8B-B14F-4D97-AF65-F5344CB8AC3E}">
        <p14:creationId xmlns:p14="http://schemas.microsoft.com/office/powerpoint/2010/main" val="4005188165"/>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Signal Operations (4)</a:t>
            </a:r>
            <a:endParaRPr lang="zh-TW" altLang="en-US" dirty="0"/>
          </a:p>
        </p:txBody>
      </p:sp>
      <p:sp>
        <p:nvSpPr>
          <p:cNvPr id="3" name="投影片編號版面配置區 2"/>
          <p:cNvSpPr>
            <a:spLocks noGrp="1"/>
          </p:cNvSpPr>
          <p:nvPr>
            <p:ph type="sldNum" sz="quarter" idx="10"/>
          </p:nvPr>
        </p:nvSpPr>
        <p:spPr/>
        <p:txBody>
          <a:bodyPr/>
          <a:lstStyle/>
          <a:p>
            <a:fld id="{6C75C586-0B13-4105-9895-CED4323B37DD}" type="slidenum">
              <a:rPr lang="zh-TW" altLang="en-US" smtClean="0"/>
              <a:pPr/>
              <a:t>58</a:t>
            </a:fld>
            <a:endParaRPr lang="zh-TW" altLang="en-US"/>
          </a:p>
        </p:txBody>
      </p:sp>
      <p:graphicFrame>
        <p:nvGraphicFramePr>
          <p:cNvPr id="5" name="內容版面配置區 4"/>
          <p:cNvGraphicFramePr>
            <a:graphicFrameLocks noGrp="1"/>
          </p:cNvGraphicFramePr>
          <p:nvPr>
            <p:ph idx="1"/>
            <p:extLst>
              <p:ext uri="{D42A27DB-BD31-4B8C-83A1-F6EECF244321}">
                <p14:modId xmlns:p14="http://schemas.microsoft.com/office/powerpoint/2010/main" val="2176842577"/>
              </p:ext>
            </p:extLst>
          </p:nvPr>
        </p:nvGraphicFramePr>
        <p:xfrm>
          <a:off x="391887" y="1334272"/>
          <a:ext cx="8490856" cy="4683968"/>
        </p:xfrm>
        <a:graphic>
          <a:graphicData uri="http://schemas.openxmlformats.org/drawingml/2006/table">
            <a:tbl>
              <a:tblPr firstRow="1" firstCol="1" bandRow="1">
                <a:tableStyleId>{5C22544A-7EE6-4342-B048-85BDC9FD1C3A}</a:tableStyleId>
              </a:tblPr>
              <a:tblGrid>
                <a:gridCol w="5617524"/>
                <a:gridCol w="2873332"/>
              </a:tblGrid>
              <a:tr h="297488">
                <a:tc>
                  <a:txBody>
                    <a:bodyPr/>
                    <a:lstStyle/>
                    <a:p>
                      <a:pPr>
                        <a:spcAft>
                          <a:spcPts val="0"/>
                        </a:spcAft>
                      </a:pPr>
                      <a:r>
                        <a:rPr lang="en-US" sz="1200" dirty="0">
                          <a:effectLst/>
                        </a:rPr>
                        <a:t>Opcode and Modifiers </a:t>
                      </a:r>
                      <a:endParaRPr lang="zh-TW" sz="1200" b="1"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200">
                          <a:effectLst/>
                        </a:rPr>
                        <a:t>Operands</a:t>
                      </a:r>
                      <a:endParaRPr lang="zh-TW" sz="12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74155">
                <a:tc>
                  <a:txBody>
                    <a:bodyPr/>
                    <a:lstStyle/>
                    <a:p>
                      <a:pPr>
                        <a:spcAft>
                          <a:spcPts val="0"/>
                        </a:spcAft>
                      </a:pPr>
                      <a:r>
                        <a:rPr lang="en-US" sz="1100">
                          <a:effectLst/>
                        </a:rPr>
                        <a:t>signal_ld_order_TypeLength_signalType</a:t>
                      </a:r>
                      <a:endParaRPr lang="zh-TW" sz="11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dest, signalHandle</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74155">
                <a:tc>
                  <a:txBody>
                    <a:bodyPr/>
                    <a:lstStyle/>
                    <a:p>
                      <a:pPr>
                        <a:spcAft>
                          <a:spcPts val="0"/>
                        </a:spcAft>
                      </a:pPr>
                      <a:r>
                        <a:rPr lang="en-US" sz="1100">
                          <a:effectLst/>
                        </a:rPr>
                        <a:t>signal_and_order_TypeLength_signalType</a:t>
                      </a:r>
                      <a:endParaRPr lang="zh-TW" sz="11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dest, signalHandle, src0</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74155">
                <a:tc>
                  <a:txBody>
                    <a:bodyPr/>
                    <a:lstStyle/>
                    <a:p>
                      <a:pPr>
                        <a:spcAft>
                          <a:spcPts val="0"/>
                        </a:spcAft>
                      </a:pPr>
                      <a:r>
                        <a:rPr lang="en-US" sz="1100">
                          <a:effectLst/>
                        </a:rPr>
                        <a:t>signal_or_order_TypeLength_signalType</a:t>
                      </a:r>
                      <a:endParaRPr lang="zh-TW" sz="11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dest, signalHandle, src0</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74155">
                <a:tc>
                  <a:txBody>
                    <a:bodyPr/>
                    <a:lstStyle/>
                    <a:p>
                      <a:pPr>
                        <a:spcAft>
                          <a:spcPts val="0"/>
                        </a:spcAft>
                      </a:pPr>
                      <a:r>
                        <a:rPr lang="en-US" sz="1100">
                          <a:effectLst/>
                        </a:rPr>
                        <a:t>signal_xor_order_TypeLength_signalType</a:t>
                      </a:r>
                      <a:endParaRPr lang="zh-TW" sz="11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dest, signalHandle, src0</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74155">
                <a:tc>
                  <a:txBody>
                    <a:bodyPr/>
                    <a:lstStyle/>
                    <a:p>
                      <a:pPr>
                        <a:spcAft>
                          <a:spcPts val="0"/>
                        </a:spcAft>
                      </a:pPr>
                      <a:r>
                        <a:rPr lang="en-US" sz="1100">
                          <a:effectLst/>
                        </a:rPr>
                        <a:t>signal_exch_order_TypeLength_signalType</a:t>
                      </a:r>
                      <a:endParaRPr lang="zh-TW" sz="11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dest, signalHandle, src0</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74155">
                <a:tc>
                  <a:txBody>
                    <a:bodyPr/>
                    <a:lstStyle/>
                    <a:p>
                      <a:pPr>
                        <a:spcAft>
                          <a:spcPts val="0"/>
                        </a:spcAft>
                      </a:pPr>
                      <a:r>
                        <a:rPr lang="en-US" sz="1100">
                          <a:effectLst/>
                        </a:rPr>
                        <a:t>signal_add_order_TypeLength_signalType</a:t>
                      </a:r>
                      <a:endParaRPr lang="zh-TW" sz="11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dest, signalHandle, src0</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74155">
                <a:tc>
                  <a:txBody>
                    <a:bodyPr/>
                    <a:lstStyle/>
                    <a:p>
                      <a:pPr>
                        <a:spcAft>
                          <a:spcPts val="0"/>
                        </a:spcAft>
                      </a:pPr>
                      <a:r>
                        <a:rPr lang="en-US" sz="1100">
                          <a:effectLst/>
                        </a:rPr>
                        <a:t>signal_sub_order_TypeLength_signalType</a:t>
                      </a:r>
                      <a:endParaRPr lang="zh-TW" sz="11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dest, signalHandle, src0</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74155">
                <a:tc>
                  <a:txBody>
                    <a:bodyPr/>
                    <a:lstStyle/>
                    <a:p>
                      <a:pPr>
                        <a:spcAft>
                          <a:spcPts val="0"/>
                        </a:spcAft>
                      </a:pPr>
                      <a:r>
                        <a:rPr lang="en-US" sz="1100">
                          <a:effectLst/>
                        </a:rPr>
                        <a:t>signal_cas_order_TypeLength_signalType</a:t>
                      </a:r>
                      <a:endParaRPr lang="zh-TW" sz="11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dest, signalHandle, src0, src1</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74155">
                <a:tc>
                  <a:txBody>
                    <a:bodyPr/>
                    <a:lstStyle/>
                    <a:p>
                      <a:pPr>
                        <a:spcAft>
                          <a:spcPts val="0"/>
                        </a:spcAft>
                      </a:pPr>
                      <a:r>
                        <a:rPr lang="en-US" sz="1100" dirty="0" err="1">
                          <a:effectLst/>
                        </a:rPr>
                        <a:t>signal_wait_waitOp_order_TypeLength_signalType</a:t>
                      </a:r>
                      <a:endParaRPr lang="zh-TW" sz="1100" b="1"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dest, signalHandle, src0</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74155">
                <a:tc>
                  <a:txBody>
                    <a:bodyPr/>
                    <a:lstStyle/>
                    <a:p>
                      <a:pPr>
                        <a:spcAft>
                          <a:spcPts val="0"/>
                        </a:spcAft>
                      </a:pPr>
                      <a:r>
                        <a:rPr lang="en-US" sz="1100">
                          <a:effectLst/>
                        </a:rPr>
                        <a:t>signal_waittimeout_waitOp_order_TypeLength_signalType</a:t>
                      </a:r>
                      <a:endParaRPr lang="zh-TW" sz="11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dest, signalHandle, src0, timeout</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74155">
                <a:tc>
                  <a:txBody>
                    <a:bodyPr/>
                    <a:lstStyle/>
                    <a:p>
                      <a:pPr>
                        <a:spcAft>
                          <a:spcPts val="0"/>
                        </a:spcAft>
                      </a:pPr>
                      <a:r>
                        <a:rPr lang="en-US" sz="1100">
                          <a:effectLst/>
                        </a:rPr>
                        <a:t>signalnoret_st_order_TypeLength_signalType</a:t>
                      </a:r>
                      <a:endParaRPr lang="zh-TW" sz="11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signalHandle, src0</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74155">
                <a:tc>
                  <a:txBody>
                    <a:bodyPr/>
                    <a:lstStyle/>
                    <a:p>
                      <a:pPr>
                        <a:spcAft>
                          <a:spcPts val="0"/>
                        </a:spcAft>
                      </a:pPr>
                      <a:r>
                        <a:rPr lang="en-US" sz="1100">
                          <a:effectLst/>
                        </a:rPr>
                        <a:t>signalnoret_and_order_TypeLength_signalType</a:t>
                      </a:r>
                      <a:endParaRPr lang="zh-TW" sz="11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signalHandle, src0</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74155">
                <a:tc>
                  <a:txBody>
                    <a:bodyPr/>
                    <a:lstStyle/>
                    <a:p>
                      <a:pPr>
                        <a:spcAft>
                          <a:spcPts val="0"/>
                        </a:spcAft>
                      </a:pPr>
                      <a:r>
                        <a:rPr lang="en-US" sz="1100">
                          <a:effectLst/>
                        </a:rPr>
                        <a:t>signalnoret_or_order_TypeLength_signalType</a:t>
                      </a:r>
                      <a:endParaRPr lang="zh-TW" sz="11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signalHandle, src0</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74155">
                <a:tc>
                  <a:txBody>
                    <a:bodyPr/>
                    <a:lstStyle/>
                    <a:p>
                      <a:pPr>
                        <a:spcAft>
                          <a:spcPts val="0"/>
                        </a:spcAft>
                      </a:pPr>
                      <a:r>
                        <a:rPr lang="en-US" sz="1100">
                          <a:effectLst/>
                        </a:rPr>
                        <a:t>signalnoret_xor_order_TypeLength_signalType</a:t>
                      </a:r>
                      <a:endParaRPr lang="zh-TW" sz="11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signalHandle, src0</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74155">
                <a:tc>
                  <a:txBody>
                    <a:bodyPr/>
                    <a:lstStyle/>
                    <a:p>
                      <a:pPr>
                        <a:spcAft>
                          <a:spcPts val="0"/>
                        </a:spcAft>
                      </a:pPr>
                      <a:r>
                        <a:rPr lang="en-US" sz="1100">
                          <a:effectLst/>
                        </a:rPr>
                        <a:t>signalnoret_add_order_TypeLength_signalType</a:t>
                      </a:r>
                      <a:endParaRPr lang="zh-TW" sz="11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signalHandle, src0</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74155">
                <a:tc>
                  <a:txBody>
                    <a:bodyPr/>
                    <a:lstStyle/>
                    <a:p>
                      <a:pPr>
                        <a:spcAft>
                          <a:spcPts val="0"/>
                        </a:spcAft>
                      </a:pPr>
                      <a:r>
                        <a:rPr lang="en-US" sz="1100">
                          <a:effectLst/>
                        </a:rPr>
                        <a:t>signalnoret_sub_order_TypeLength_signalType</a:t>
                      </a:r>
                      <a:endParaRPr lang="zh-TW" sz="11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dirty="0" err="1">
                          <a:effectLst/>
                        </a:rPr>
                        <a:t>signalHandle</a:t>
                      </a:r>
                      <a:r>
                        <a:rPr lang="en-US" sz="1100" dirty="0">
                          <a:effectLst/>
                        </a:rPr>
                        <a:t>, src0</a:t>
                      </a:r>
                      <a:endParaRPr lang="zh-TW" sz="1100"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bl>
          </a:graphicData>
        </a:graphic>
      </p:graphicFrame>
    </p:spTree>
    <p:extLst>
      <p:ext uri="{BB962C8B-B14F-4D97-AF65-F5344CB8AC3E}">
        <p14:creationId xmlns:p14="http://schemas.microsoft.com/office/powerpoint/2010/main" val="1389791987"/>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3"/>
          <p:cNvSpPr>
            <a:spLocks noGrp="1"/>
          </p:cNvSpPr>
          <p:nvPr>
            <p:ph idx="1"/>
          </p:nvPr>
        </p:nvSpPr>
        <p:spPr>
          <a:xfrm>
            <a:off x="322218" y="1701403"/>
            <a:ext cx="8821783" cy="3671888"/>
          </a:xfrm>
        </p:spPr>
        <p:txBody>
          <a:bodyPr/>
          <a:lstStyle/>
          <a:p>
            <a:r>
              <a:rPr lang="en-US" altLang="zh-TW" sz="1950" i="1" dirty="0" err="1">
                <a:latin typeface="Times New Roman" panose="02020603050405020304" pitchFamily="18" charset="0"/>
                <a:cs typeface="Times New Roman" panose="02020603050405020304" pitchFamily="18" charset="0"/>
              </a:rPr>
              <a:t>ld</a:t>
            </a:r>
            <a:r>
              <a:rPr lang="en-US" altLang="zh-TW" sz="1950" dirty="0"/>
              <a:t>, </a:t>
            </a:r>
            <a:r>
              <a:rPr lang="en-US" altLang="zh-TW" sz="1950" i="1" dirty="0" err="1">
                <a:latin typeface="Times New Roman" panose="02020603050405020304" pitchFamily="18" charset="0"/>
                <a:cs typeface="Times New Roman" panose="02020603050405020304" pitchFamily="18" charset="0"/>
              </a:rPr>
              <a:t>st</a:t>
            </a:r>
            <a:r>
              <a:rPr lang="en-US" altLang="zh-TW" sz="1950" dirty="0"/>
              <a:t>, and, </a:t>
            </a:r>
            <a:r>
              <a:rPr lang="en-US" altLang="zh-TW" sz="1950" i="1" dirty="0">
                <a:latin typeface="Times New Roman" panose="02020603050405020304" pitchFamily="18" charset="0"/>
                <a:cs typeface="Times New Roman" panose="02020603050405020304" pitchFamily="18" charset="0"/>
              </a:rPr>
              <a:t>or</a:t>
            </a:r>
            <a:r>
              <a:rPr lang="en-US" altLang="zh-TW" sz="1950" dirty="0"/>
              <a:t>, </a:t>
            </a:r>
            <a:r>
              <a:rPr lang="en-US" altLang="zh-TW" sz="1950" i="1" dirty="0" err="1">
                <a:latin typeface="Times New Roman" panose="02020603050405020304" pitchFamily="18" charset="0"/>
                <a:cs typeface="Times New Roman" panose="02020603050405020304" pitchFamily="18" charset="0"/>
              </a:rPr>
              <a:t>xor</a:t>
            </a:r>
            <a:r>
              <a:rPr lang="en-US" altLang="zh-TW" sz="1950" dirty="0"/>
              <a:t>, </a:t>
            </a:r>
            <a:r>
              <a:rPr lang="en-US" altLang="zh-TW" sz="1950" i="1" dirty="0" err="1">
                <a:latin typeface="Times New Roman" panose="02020603050405020304" pitchFamily="18" charset="0"/>
                <a:cs typeface="Times New Roman" panose="02020603050405020304" pitchFamily="18" charset="0"/>
              </a:rPr>
              <a:t>exch</a:t>
            </a:r>
            <a:r>
              <a:rPr lang="en-US" altLang="zh-TW" sz="1950" dirty="0"/>
              <a:t>, </a:t>
            </a:r>
            <a:r>
              <a:rPr lang="en-US" altLang="zh-TW" sz="1950" i="1" dirty="0">
                <a:latin typeface="Times New Roman" panose="02020603050405020304" pitchFamily="18" charset="0"/>
                <a:cs typeface="Times New Roman" panose="02020603050405020304" pitchFamily="18" charset="0"/>
              </a:rPr>
              <a:t>add</a:t>
            </a:r>
            <a:r>
              <a:rPr lang="en-US" altLang="zh-TW" sz="1950" dirty="0"/>
              <a:t>, </a:t>
            </a:r>
            <a:r>
              <a:rPr lang="en-US" altLang="zh-TW" sz="1950" i="1" dirty="0">
                <a:latin typeface="Times New Roman" panose="02020603050405020304" pitchFamily="18" charset="0"/>
                <a:cs typeface="Times New Roman" panose="02020603050405020304" pitchFamily="18" charset="0"/>
              </a:rPr>
              <a:t>sub</a:t>
            </a:r>
            <a:r>
              <a:rPr lang="en-US" altLang="zh-TW" sz="1950" dirty="0"/>
              <a:t>, </a:t>
            </a:r>
            <a:r>
              <a:rPr lang="en-US" altLang="zh-TW" sz="1950" i="1" dirty="0" err="1">
                <a:latin typeface="Times New Roman" panose="02020603050405020304" pitchFamily="18" charset="0"/>
                <a:cs typeface="Times New Roman" panose="02020603050405020304" pitchFamily="18" charset="0"/>
              </a:rPr>
              <a:t>cas</a:t>
            </a:r>
            <a:endParaRPr lang="en-US" altLang="zh-TW" sz="1950" i="1" dirty="0">
              <a:latin typeface="Times New Roman" panose="02020603050405020304" pitchFamily="18" charset="0"/>
              <a:cs typeface="Times New Roman" panose="02020603050405020304" pitchFamily="18" charset="0"/>
            </a:endParaRPr>
          </a:p>
          <a:p>
            <a:pPr lvl="1">
              <a:buSzPct val="100000"/>
              <a:buFont typeface="Calibri" panose="020F0502020204030204" pitchFamily="34" charset="0"/>
              <a:buChar char="–"/>
            </a:pPr>
            <a:r>
              <a:rPr lang="en-US" altLang="zh-TW" sz="1950" dirty="0"/>
              <a:t>The signal operations have the same definition as the corresponding atomic operations.</a:t>
            </a:r>
          </a:p>
          <a:p>
            <a:pPr marL="0" indent="0">
              <a:buClrTx/>
              <a:buSzPct val="100000"/>
              <a:buNone/>
            </a:pPr>
            <a:endParaRPr lang="en-US" altLang="zh-TW" sz="1950" dirty="0"/>
          </a:p>
          <a:p>
            <a:r>
              <a:rPr lang="en-US" altLang="zh-TW" sz="1950" i="1" dirty="0">
                <a:latin typeface="Times New Roman" panose="02020603050405020304" pitchFamily="18" charset="0"/>
                <a:cs typeface="Times New Roman" panose="02020603050405020304" pitchFamily="18" charset="0"/>
              </a:rPr>
              <a:t>wait</a:t>
            </a:r>
          </a:p>
          <a:p>
            <a:pPr lvl="1">
              <a:buSzPct val="100000"/>
              <a:buFont typeface="Calibri" panose="020F0502020204030204" pitchFamily="34" charset="0"/>
              <a:buChar char="–"/>
            </a:pPr>
            <a:r>
              <a:rPr lang="en-US" altLang="zh-TW" sz="1950" dirty="0"/>
              <a:t>The wait operation suspends a work-item's execution until a signal value satisfies a specified condition, a certain amount of time has elapsed or it spuriously returns.</a:t>
            </a:r>
          </a:p>
          <a:p>
            <a:pPr marL="0" indent="0">
              <a:buClrTx/>
              <a:buSzPct val="100000"/>
              <a:buNone/>
            </a:pPr>
            <a:endParaRPr lang="en-US" altLang="zh-TW" sz="1950" dirty="0"/>
          </a:p>
          <a:p>
            <a:r>
              <a:rPr lang="en-US" altLang="zh-TW" sz="1950" i="1" dirty="0" err="1">
                <a:latin typeface="Times New Roman" panose="02020603050405020304" pitchFamily="18" charset="0"/>
                <a:cs typeface="Times New Roman" panose="02020603050405020304" pitchFamily="18" charset="0"/>
              </a:rPr>
              <a:t>waittimeout</a:t>
            </a:r>
            <a:endParaRPr lang="en-US" altLang="zh-TW" sz="1950" i="1" dirty="0">
              <a:latin typeface="Times New Roman" panose="02020603050405020304" pitchFamily="18" charset="0"/>
              <a:cs typeface="Times New Roman" panose="02020603050405020304" pitchFamily="18" charset="0"/>
            </a:endParaRPr>
          </a:p>
          <a:p>
            <a:pPr lvl="1">
              <a:buSzPct val="100000"/>
              <a:buFont typeface="Calibri" panose="020F0502020204030204" pitchFamily="34" charset="0"/>
              <a:buChar char="–"/>
            </a:pPr>
            <a:r>
              <a:rPr lang="en-US" altLang="zh-TW" sz="1950" dirty="0"/>
              <a:t>Same as wait except src1 is used as the timeout value.</a:t>
            </a:r>
          </a:p>
        </p:txBody>
      </p:sp>
      <p:sp>
        <p:nvSpPr>
          <p:cNvPr id="2" name="標題 1"/>
          <p:cNvSpPr>
            <a:spLocks noGrp="1"/>
          </p:cNvSpPr>
          <p:nvPr>
            <p:ph type="title"/>
          </p:nvPr>
        </p:nvSpPr>
        <p:spPr/>
        <p:txBody>
          <a:bodyPr/>
          <a:lstStyle/>
          <a:p>
            <a:r>
              <a:rPr lang="en-US" altLang="zh-TW" dirty="0" smtClean="0"/>
              <a:t>Signal Operations (5)</a:t>
            </a:r>
            <a:endParaRPr lang="zh-TW" altLang="en-US" dirty="0"/>
          </a:p>
        </p:txBody>
      </p:sp>
      <p:sp>
        <p:nvSpPr>
          <p:cNvPr id="3" name="投影片編號版面配置區 2"/>
          <p:cNvSpPr>
            <a:spLocks noGrp="1"/>
          </p:cNvSpPr>
          <p:nvPr>
            <p:ph type="sldNum" sz="quarter" idx="10"/>
          </p:nvPr>
        </p:nvSpPr>
        <p:spPr/>
        <p:txBody>
          <a:bodyPr/>
          <a:lstStyle/>
          <a:p>
            <a:fld id="{6C75C586-0B13-4105-9895-CED4323B37DD}" type="slidenum">
              <a:rPr lang="zh-TW" altLang="en-US" smtClean="0"/>
              <a:pPr/>
              <a:t>59</a:t>
            </a:fld>
            <a:endParaRPr lang="zh-TW" altLang="en-US"/>
          </a:p>
        </p:txBody>
      </p:sp>
    </p:spTree>
    <p:extLst>
      <p:ext uri="{BB962C8B-B14F-4D97-AF65-F5344CB8AC3E}">
        <p14:creationId xmlns:p14="http://schemas.microsoft.com/office/powerpoint/2010/main" val="4043441065"/>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3"/>
          <p:cNvSpPr>
            <a:spLocks noGrp="1"/>
          </p:cNvSpPr>
          <p:nvPr>
            <p:ph idx="1"/>
          </p:nvPr>
        </p:nvSpPr>
        <p:spPr>
          <a:xfrm>
            <a:off x="322218" y="2686051"/>
            <a:ext cx="8821783" cy="2795452"/>
          </a:xfrm>
        </p:spPr>
        <p:txBody>
          <a:bodyPr/>
          <a:lstStyle/>
          <a:p>
            <a:r>
              <a:rPr lang="en-US" altLang="zh-TW" sz="1800" i="1" dirty="0" err="1">
                <a:latin typeface="Times New Roman" panose="02020603050405020304" pitchFamily="18" charset="0"/>
                <a:cs typeface="Times New Roman" panose="02020603050405020304" pitchFamily="18" charset="0"/>
              </a:rPr>
              <a:t>memfence</a:t>
            </a:r>
            <a:r>
              <a:rPr lang="en-US" altLang="zh-TW" sz="1800" dirty="0"/>
              <a:t> - either be a release memory fence, an acquire memory fence, or both an acquire and a release memory </a:t>
            </a:r>
            <a:r>
              <a:rPr lang="en-US" altLang="zh-TW" sz="1800" dirty="0" smtClean="0"/>
              <a:t>fence.</a:t>
            </a:r>
            <a:endParaRPr lang="en-US" altLang="zh-TW" sz="1800" dirty="0"/>
          </a:p>
          <a:p>
            <a:pPr marL="0" indent="0">
              <a:buClrTx/>
              <a:buSzPct val="100000"/>
              <a:buNone/>
            </a:pPr>
            <a:r>
              <a:rPr lang="en-US" altLang="zh-TW" sz="1800" dirty="0"/>
              <a:t/>
            </a:r>
            <a:br>
              <a:rPr lang="en-US" altLang="zh-TW" sz="1800" dirty="0"/>
            </a:br>
            <a:r>
              <a:rPr lang="en-US" altLang="zh-TW" sz="1800" dirty="0"/>
              <a:t>EX:</a:t>
            </a:r>
          </a:p>
          <a:p>
            <a:pPr marL="0" indent="0">
              <a:buClrTx/>
              <a:buSzPct val="100000"/>
              <a:buNone/>
            </a:pPr>
            <a:r>
              <a:rPr lang="en-US" altLang="zh-TW" sz="1800" dirty="0"/>
              <a:t>st_global_u32 1, [&amp;x];</a:t>
            </a:r>
          </a:p>
          <a:p>
            <a:pPr marL="0" indent="0">
              <a:buClrTx/>
              <a:buSzPct val="100000"/>
              <a:buNone/>
            </a:pPr>
            <a:r>
              <a:rPr lang="en-US" altLang="zh-TW" sz="1800" dirty="0" err="1" smtClean="0"/>
              <a:t>memfence_screl_system</a:t>
            </a:r>
            <a:r>
              <a:rPr lang="en-US" altLang="zh-TW" sz="1800" dirty="0" smtClean="0"/>
              <a:t>; </a:t>
            </a:r>
            <a:r>
              <a:rPr lang="en-US" altLang="zh-TW" sz="1800" dirty="0"/>
              <a:t>// Will ensure 1 is visible to work-items </a:t>
            </a:r>
            <a:r>
              <a:rPr lang="en-US" altLang="zh-TW" sz="1800" dirty="0" smtClean="0"/>
              <a:t> that</a:t>
            </a:r>
            <a:br>
              <a:rPr lang="en-US" altLang="zh-TW" sz="1800" dirty="0" smtClean="0"/>
            </a:br>
            <a:r>
              <a:rPr lang="en-US" altLang="zh-TW" sz="1800" dirty="0" smtClean="0"/>
              <a:t>			// subsequently </a:t>
            </a:r>
            <a:r>
              <a:rPr lang="en-US" altLang="zh-TW" sz="1800" dirty="0"/>
              <a:t>perform </a:t>
            </a:r>
            <a:r>
              <a:rPr lang="en-US" altLang="zh-TW" sz="1800" dirty="0" smtClean="0"/>
              <a:t>an acquire at system </a:t>
            </a:r>
            <a:r>
              <a:rPr lang="en-US" altLang="zh-TW" sz="1800" dirty="0"/>
              <a:t>scope.</a:t>
            </a:r>
          </a:p>
        </p:txBody>
      </p:sp>
      <p:sp>
        <p:nvSpPr>
          <p:cNvPr id="2" name="標題 1"/>
          <p:cNvSpPr>
            <a:spLocks noGrp="1"/>
          </p:cNvSpPr>
          <p:nvPr>
            <p:ph type="title"/>
          </p:nvPr>
        </p:nvSpPr>
        <p:spPr/>
        <p:txBody>
          <a:bodyPr/>
          <a:lstStyle/>
          <a:p>
            <a:r>
              <a:rPr lang="en-US" altLang="zh-TW" dirty="0" smtClean="0"/>
              <a:t>Memory Fence Operation</a:t>
            </a:r>
            <a:endParaRPr lang="zh-TW" altLang="en-US" dirty="0"/>
          </a:p>
        </p:txBody>
      </p:sp>
      <p:sp>
        <p:nvSpPr>
          <p:cNvPr id="3" name="投影片編號版面配置區 2"/>
          <p:cNvSpPr>
            <a:spLocks noGrp="1"/>
          </p:cNvSpPr>
          <p:nvPr>
            <p:ph type="sldNum" sz="quarter" idx="10"/>
          </p:nvPr>
        </p:nvSpPr>
        <p:spPr/>
        <p:txBody>
          <a:bodyPr/>
          <a:lstStyle/>
          <a:p>
            <a:fld id="{6C75C586-0B13-4105-9895-CED4323B37DD}" type="slidenum">
              <a:rPr lang="zh-TW" altLang="en-US" smtClean="0"/>
              <a:pPr/>
              <a:t>60</a:t>
            </a:fld>
            <a:endParaRPr lang="zh-TW" altLang="en-US"/>
          </a:p>
        </p:txBody>
      </p:sp>
      <p:graphicFrame>
        <p:nvGraphicFramePr>
          <p:cNvPr id="10" name="表格 9"/>
          <p:cNvGraphicFramePr>
            <a:graphicFrameLocks noGrp="1"/>
          </p:cNvGraphicFramePr>
          <p:nvPr>
            <p:extLst>
              <p:ext uri="{D42A27DB-BD31-4B8C-83A1-F6EECF244321}">
                <p14:modId xmlns:p14="http://schemas.microsoft.com/office/powerpoint/2010/main" val="596191351"/>
              </p:ext>
            </p:extLst>
          </p:nvPr>
        </p:nvGraphicFramePr>
        <p:xfrm>
          <a:off x="718458" y="1391739"/>
          <a:ext cx="2771192" cy="1108865"/>
        </p:xfrm>
        <a:graphic>
          <a:graphicData uri="http://schemas.openxmlformats.org/drawingml/2006/table">
            <a:tbl>
              <a:tblPr firstRow="1" firstCol="1" bandRow="1">
                <a:tableStyleId>{5C22544A-7EE6-4342-B048-85BDC9FD1C3A}</a:tableStyleId>
              </a:tblPr>
              <a:tblGrid>
                <a:gridCol w="2771192"/>
              </a:tblGrid>
              <a:tr h="577062">
                <a:tc>
                  <a:txBody>
                    <a:bodyPr/>
                    <a:lstStyle/>
                    <a:p>
                      <a:pPr>
                        <a:spcAft>
                          <a:spcPts val="0"/>
                        </a:spcAft>
                      </a:pPr>
                      <a:r>
                        <a:rPr lang="en-US" sz="1800">
                          <a:effectLst/>
                        </a:rPr>
                        <a:t>Opcode and Modifier</a:t>
                      </a:r>
                      <a:endParaRPr lang="zh-TW" sz="18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531803">
                <a:tc>
                  <a:txBody>
                    <a:bodyPr/>
                    <a:lstStyle/>
                    <a:p>
                      <a:pPr>
                        <a:spcAft>
                          <a:spcPts val="0"/>
                        </a:spcAft>
                      </a:pPr>
                      <a:r>
                        <a:rPr lang="en-US" sz="1600" dirty="0" err="1">
                          <a:effectLst/>
                        </a:rPr>
                        <a:t>memfence_order_scope</a:t>
                      </a:r>
                      <a:endParaRPr lang="zh-TW" sz="1600" b="1"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bl>
          </a:graphicData>
        </a:graphic>
      </p:graphicFrame>
    </p:spTree>
    <p:extLst>
      <p:ext uri="{BB962C8B-B14F-4D97-AF65-F5344CB8AC3E}">
        <p14:creationId xmlns:p14="http://schemas.microsoft.com/office/powerpoint/2010/main" val="1926954717"/>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sz="2700" dirty="0"/>
              <a:t>Branch Operations</a:t>
            </a:r>
            <a:endParaRPr lang="zh-TW" altLang="en-US" sz="2700" dirty="0"/>
          </a:p>
        </p:txBody>
      </p:sp>
      <p:sp>
        <p:nvSpPr>
          <p:cNvPr id="5" name="文字版面配置區 4"/>
          <p:cNvSpPr>
            <a:spLocks noGrp="1"/>
          </p:cNvSpPr>
          <p:nvPr>
            <p:ph type="body" idx="1"/>
          </p:nvPr>
        </p:nvSpPr>
        <p:spPr/>
        <p:txBody>
          <a:bodyPr/>
          <a:lstStyle/>
          <a:p>
            <a:endParaRPr lang="zh-TW" altLang="en-US"/>
          </a:p>
        </p:txBody>
      </p:sp>
      <p:sp>
        <p:nvSpPr>
          <p:cNvPr id="2" name="投影片編號版面配置區 1"/>
          <p:cNvSpPr>
            <a:spLocks noGrp="1"/>
          </p:cNvSpPr>
          <p:nvPr>
            <p:ph type="sldNum" sz="quarter" idx="10"/>
          </p:nvPr>
        </p:nvSpPr>
        <p:spPr/>
        <p:txBody>
          <a:bodyPr/>
          <a:lstStyle/>
          <a:p>
            <a:fld id="{6C75C586-0B13-4105-9895-CED4323B37DD}" type="slidenum">
              <a:rPr lang="zh-TW" altLang="en-US" smtClean="0"/>
              <a:pPr/>
              <a:t>61</a:t>
            </a:fld>
            <a:endParaRPr lang="zh-TW" altLang="en-US"/>
          </a:p>
        </p:txBody>
      </p:sp>
    </p:spTree>
    <p:extLst>
      <p:ext uri="{BB962C8B-B14F-4D97-AF65-F5344CB8AC3E}">
        <p14:creationId xmlns:p14="http://schemas.microsoft.com/office/powerpoint/2010/main" val="1334377834"/>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標題 7"/>
          <p:cNvSpPr>
            <a:spLocks noGrp="1"/>
          </p:cNvSpPr>
          <p:nvPr>
            <p:ph type="title"/>
          </p:nvPr>
        </p:nvSpPr>
        <p:spPr/>
        <p:txBody>
          <a:bodyPr/>
          <a:lstStyle/>
          <a:p>
            <a:r>
              <a:rPr lang="en-US" altLang="zh-TW" dirty="0" smtClean="0"/>
              <a:t>Branch Operations (1)</a:t>
            </a:r>
            <a:endParaRPr lang="zh-TW" altLang="en-US" dirty="0"/>
          </a:p>
        </p:txBody>
      </p:sp>
      <p:sp>
        <p:nvSpPr>
          <p:cNvPr id="9" name="內容版面配置區 8"/>
          <p:cNvSpPr>
            <a:spLocks noGrp="1"/>
          </p:cNvSpPr>
          <p:nvPr>
            <p:ph sz="half" idx="1"/>
          </p:nvPr>
        </p:nvSpPr>
        <p:spPr>
          <a:xfrm>
            <a:off x="457200" y="1701404"/>
            <a:ext cx="4038600" cy="3740909"/>
          </a:xfrm>
        </p:spPr>
        <p:txBody>
          <a:bodyPr/>
          <a:lstStyle/>
          <a:p>
            <a:r>
              <a:rPr lang="en-US" altLang="zh-TW" sz="1950" i="1" dirty="0">
                <a:latin typeface="Times New Roman" panose="02020603050405020304" pitchFamily="18" charset="0"/>
                <a:cs typeface="Times New Roman" panose="02020603050405020304" pitchFamily="18" charset="0"/>
              </a:rPr>
              <a:t>Br</a:t>
            </a:r>
            <a:r>
              <a:rPr lang="en-US" altLang="zh-TW" sz="1950" dirty="0"/>
              <a:t> - unconditional branch.</a:t>
            </a:r>
          </a:p>
          <a:p>
            <a:pPr>
              <a:buClrTx/>
              <a:buSzPct val="100000"/>
              <a:buFont typeface="Arial" panose="020B0604020202020204" pitchFamily="34" charset="0"/>
              <a:buChar char="•"/>
            </a:pPr>
            <a:endParaRPr lang="en-US" altLang="zh-TW" sz="1950" dirty="0"/>
          </a:p>
          <a:p>
            <a:r>
              <a:rPr lang="en-US" altLang="zh-TW" sz="1950" i="1" dirty="0" err="1">
                <a:latin typeface="Times New Roman" panose="02020603050405020304" pitchFamily="18" charset="0"/>
                <a:cs typeface="Times New Roman" panose="02020603050405020304" pitchFamily="18" charset="0"/>
              </a:rPr>
              <a:t>Cbr</a:t>
            </a:r>
            <a:r>
              <a:rPr lang="en-US" altLang="zh-TW" sz="1950" dirty="0"/>
              <a:t> - conditional branch which transfers execution to the label specified if the condition value in </a:t>
            </a:r>
            <a:r>
              <a:rPr lang="en-US" altLang="zh-TW" sz="1950" dirty="0" err="1"/>
              <a:t>src</a:t>
            </a:r>
            <a:r>
              <a:rPr lang="en-US" altLang="zh-TW" sz="1950" dirty="0"/>
              <a:t> is true.</a:t>
            </a:r>
          </a:p>
          <a:p>
            <a:pPr>
              <a:buClrTx/>
              <a:buSzPct val="100000"/>
              <a:buFont typeface="Arial" panose="020B0604020202020204" pitchFamily="34" charset="0"/>
              <a:buChar char="•"/>
            </a:pPr>
            <a:endParaRPr lang="en-US" altLang="zh-TW" sz="1950" dirty="0"/>
          </a:p>
          <a:p>
            <a:r>
              <a:rPr lang="en-US" altLang="zh-TW" sz="1950" i="1" dirty="0" err="1">
                <a:latin typeface="Times New Roman" panose="02020603050405020304" pitchFamily="18" charset="0"/>
                <a:cs typeface="Times New Roman" panose="02020603050405020304" pitchFamily="18" charset="0"/>
              </a:rPr>
              <a:t>Sbr</a:t>
            </a:r>
            <a:r>
              <a:rPr lang="en-US" altLang="zh-TW" sz="1950" dirty="0"/>
              <a:t> - A switch branch which transfers control to the label in the </a:t>
            </a:r>
            <a:r>
              <a:rPr lang="en-US" altLang="zh-TW" sz="1950" dirty="0" err="1"/>
              <a:t>labelList</a:t>
            </a:r>
            <a:r>
              <a:rPr lang="en-US" altLang="zh-TW" sz="1950" dirty="0"/>
              <a:t> that corresponds to the index value in </a:t>
            </a:r>
            <a:r>
              <a:rPr lang="en-US" altLang="zh-TW" sz="1950" dirty="0" err="1"/>
              <a:t>src</a:t>
            </a:r>
            <a:r>
              <a:rPr lang="en-US" altLang="zh-TW" sz="1950" dirty="0"/>
              <a:t>. </a:t>
            </a:r>
            <a:endParaRPr lang="zh-TW" altLang="en-US" sz="1950" dirty="0"/>
          </a:p>
        </p:txBody>
      </p:sp>
      <p:sp>
        <p:nvSpPr>
          <p:cNvPr id="4" name="投影片編號版面配置區 3"/>
          <p:cNvSpPr>
            <a:spLocks noGrp="1"/>
          </p:cNvSpPr>
          <p:nvPr>
            <p:ph type="sldNum" sz="quarter" idx="10"/>
          </p:nvPr>
        </p:nvSpPr>
        <p:spPr/>
        <p:txBody>
          <a:bodyPr/>
          <a:lstStyle/>
          <a:p>
            <a:fld id="{6C75C586-0B13-4105-9895-CED4323B37DD}" type="slidenum">
              <a:rPr lang="zh-TW" altLang="en-US" smtClean="0"/>
              <a:pPr/>
              <a:t>62</a:t>
            </a:fld>
            <a:endParaRPr lang="zh-TW" altLang="en-US"/>
          </a:p>
        </p:txBody>
      </p:sp>
      <p:graphicFrame>
        <p:nvGraphicFramePr>
          <p:cNvPr id="3" name="內容版面配置區 2"/>
          <p:cNvGraphicFramePr>
            <a:graphicFrameLocks noGrp="1"/>
          </p:cNvGraphicFramePr>
          <p:nvPr>
            <p:ph sz="half" idx="2"/>
            <p:extLst>
              <p:ext uri="{D42A27DB-BD31-4B8C-83A1-F6EECF244321}">
                <p14:modId xmlns:p14="http://schemas.microsoft.com/office/powerpoint/2010/main" val="1564239303"/>
              </p:ext>
            </p:extLst>
          </p:nvPr>
        </p:nvGraphicFramePr>
        <p:xfrm>
          <a:off x="4648198" y="1268201"/>
          <a:ext cx="4316414" cy="1549643"/>
        </p:xfrm>
        <a:graphic>
          <a:graphicData uri="http://schemas.openxmlformats.org/drawingml/2006/table">
            <a:tbl>
              <a:tblPr firstRow="1" firstCol="1" bandRow="1">
                <a:tableStyleId>{5C22544A-7EE6-4342-B048-85BDC9FD1C3A}</a:tableStyleId>
              </a:tblPr>
              <a:tblGrid>
                <a:gridCol w="2158207"/>
                <a:gridCol w="2158207"/>
              </a:tblGrid>
              <a:tr h="407777">
                <a:tc>
                  <a:txBody>
                    <a:bodyPr/>
                    <a:lstStyle/>
                    <a:p>
                      <a:pPr>
                        <a:spcAft>
                          <a:spcPts val="0"/>
                        </a:spcAft>
                      </a:pPr>
                      <a:r>
                        <a:rPr lang="en-US" sz="1600">
                          <a:effectLst/>
                        </a:rPr>
                        <a:t>Opcode and Modifier</a:t>
                      </a:r>
                      <a:endParaRPr lang="zh-TW" sz="16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14023" marR="14023" marT="14023" marB="14023"/>
                </a:tc>
                <a:tc>
                  <a:txBody>
                    <a:bodyPr/>
                    <a:lstStyle/>
                    <a:p>
                      <a:pPr>
                        <a:spcAft>
                          <a:spcPts val="0"/>
                        </a:spcAft>
                      </a:pPr>
                      <a:r>
                        <a:rPr lang="en-US" sz="1600">
                          <a:effectLst/>
                        </a:rPr>
                        <a:t>Operands</a:t>
                      </a:r>
                      <a:endParaRPr lang="zh-TW" sz="16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14023" marR="14023" marT="14023" marB="14023"/>
                </a:tc>
              </a:tr>
              <a:tr h="380622">
                <a:tc>
                  <a:txBody>
                    <a:bodyPr/>
                    <a:lstStyle/>
                    <a:p>
                      <a:pPr>
                        <a:spcAft>
                          <a:spcPts val="0"/>
                        </a:spcAft>
                      </a:pPr>
                      <a:r>
                        <a:rPr lang="en-US" sz="1600">
                          <a:effectLst/>
                        </a:rPr>
                        <a:t>br</a:t>
                      </a:r>
                      <a:endParaRPr lang="zh-TW" sz="16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14023" marR="14023" marT="14023" marB="14023"/>
                </a:tc>
                <a:tc>
                  <a:txBody>
                    <a:bodyPr/>
                    <a:lstStyle/>
                    <a:p>
                      <a:pPr>
                        <a:spcAft>
                          <a:spcPts val="0"/>
                        </a:spcAft>
                      </a:pPr>
                      <a:r>
                        <a:rPr lang="en-US" sz="1600">
                          <a:effectLst/>
                        </a:rPr>
                        <a:t>label</a:t>
                      </a:r>
                      <a:endParaRPr lang="zh-TW" sz="16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14023" marR="14023" marT="14023" marB="14023"/>
                </a:tc>
              </a:tr>
              <a:tr h="380622">
                <a:tc>
                  <a:txBody>
                    <a:bodyPr/>
                    <a:lstStyle/>
                    <a:p>
                      <a:pPr>
                        <a:spcAft>
                          <a:spcPts val="0"/>
                        </a:spcAft>
                      </a:pPr>
                      <a:r>
                        <a:rPr lang="en-US" sz="1600">
                          <a:effectLst/>
                        </a:rPr>
                        <a:t>cbr_width_b1</a:t>
                      </a:r>
                      <a:endParaRPr lang="zh-TW" sz="16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14023" marR="14023" marT="14023" marB="14023"/>
                </a:tc>
                <a:tc>
                  <a:txBody>
                    <a:bodyPr/>
                    <a:lstStyle/>
                    <a:p>
                      <a:pPr>
                        <a:spcAft>
                          <a:spcPts val="0"/>
                        </a:spcAft>
                      </a:pPr>
                      <a:r>
                        <a:rPr lang="en-US" sz="1600">
                          <a:effectLst/>
                        </a:rPr>
                        <a:t>src, label</a:t>
                      </a:r>
                      <a:endParaRPr lang="zh-TW" sz="16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14023" marR="14023" marT="14023" marB="14023"/>
                </a:tc>
              </a:tr>
              <a:tr h="380622">
                <a:tc>
                  <a:txBody>
                    <a:bodyPr/>
                    <a:lstStyle/>
                    <a:p>
                      <a:pPr>
                        <a:spcAft>
                          <a:spcPts val="0"/>
                        </a:spcAft>
                      </a:pPr>
                      <a:r>
                        <a:rPr lang="en-US" sz="1600">
                          <a:effectLst/>
                        </a:rPr>
                        <a:t>sbr_width_uLength</a:t>
                      </a:r>
                      <a:endParaRPr lang="zh-TW" sz="16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14023" marR="14023" marT="14023" marB="14023"/>
                </a:tc>
                <a:tc>
                  <a:txBody>
                    <a:bodyPr/>
                    <a:lstStyle/>
                    <a:p>
                      <a:pPr>
                        <a:spcAft>
                          <a:spcPts val="0"/>
                        </a:spcAft>
                      </a:pPr>
                      <a:r>
                        <a:rPr lang="en-US" sz="1600" dirty="0" err="1">
                          <a:effectLst/>
                        </a:rPr>
                        <a:t>src</a:t>
                      </a:r>
                      <a:r>
                        <a:rPr lang="en-US" sz="1600" dirty="0">
                          <a:effectLst/>
                        </a:rPr>
                        <a:t> [</a:t>
                      </a:r>
                      <a:r>
                        <a:rPr lang="en-US" sz="1600" dirty="0" err="1">
                          <a:effectLst/>
                        </a:rPr>
                        <a:t>labelList</a:t>
                      </a:r>
                      <a:r>
                        <a:rPr lang="en-US" sz="1600" dirty="0">
                          <a:effectLst/>
                        </a:rPr>
                        <a:t>]</a:t>
                      </a:r>
                      <a:endParaRPr lang="zh-TW" sz="1600"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14023" marR="14023" marT="14023" marB="14023"/>
                </a:tc>
              </a:tr>
            </a:tbl>
          </a:graphicData>
        </a:graphic>
      </p:graphicFrame>
    </p:spTree>
    <p:extLst>
      <p:ext uri="{BB962C8B-B14F-4D97-AF65-F5344CB8AC3E}">
        <p14:creationId xmlns:p14="http://schemas.microsoft.com/office/powerpoint/2010/main" val="2681987087"/>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標題 7"/>
          <p:cNvSpPr>
            <a:spLocks noGrp="1"/>
          </p:cNvSpPr>
          <p:nvPr>
            <p:ph type="title"/>
          </p:nvPr>
        </p:nvSpPr>
        <p:spPr/>
        <p:txBody>
          <a:bodyPr/>
          <a:lstStyle/>
          <a:p>
            <a:r>
              <a:rPr lang="en-US" altLang="zh-TW" dirty="0" smtClean="0"/>
              <a:t>Branch Operations (2)</a:t>
            </a:r>
            <a:endParaRPr lang="zh-TW" altLang="en-US" dirty="0"/>
          </a:p>
        </p:txBody>
      </p:sp>
      <p:pic>
        <p:nvPicPr>
          <p:cNvPr id="6" name="內容版面配置區 5"/>
          <p:cNvPicPr>
            <a:picLocks noGrp="1" noChangeAspect="1"/>
          </p:cNvPicPr>
          <p:nvPr>
            <p:ph idx="1"/>
          </p:nvPr>
        </p:nvPicPr>
        <p:blipFill>
          <a:blip r:embed="rId2" cstate="print"/>
          <a:stretch>
            <a:fillRect/>
          </a:stretch>
        </p:blipFill>
        <p:spPr>
          <a:xfrm>
            <a:off x="1135063" y="1701404"/>
            <a:ext cx="6738026" cy="3747441"/>
          </a:xfrm>
          <a:prstGeom prst="rect">
            <a:avLst/>
          </a:prstGeom>
        </p:spPr>
      </p:pic>
      <p:sp>
        <p:nvSpPr>
          <p:cNvPr id="4" name="投影片編號版面配置區 3"/>
          <p:cNvSpPr>
            <a:spLocks noGrp="1"/>
          </p:cNvSpPr>
          <p:nvPr>
            <p:ph type="sldNum" sz="quarter" idx="10"/>
          </p:nvPr>
        </p:nvSpPr>
        <p:spPr/>
        <p:txBody>
          <a:bodyPr/>
          <a:lstStyle/>
          <a:p>
            <a:fld id="{6C75C586-0B13-4105-9895-CED4323B37DD}" type="slidenum">
              <a:rPr lang="zh-TW" altLang="en-US" smtClean="0"/>
              <a:pPr/>
              <a:t>63</a:t>
            </a:fld>
            <a:endParaRPr lang="zh-TW" altLang="en-US"/>
          </a:p>
        </p:txBody>
      </p:sp>
    </p:spTree>
    <p:extLst>
      <p:ext uri="{BB962C8B-B14F-4D97-AF65-F5344CB8AC3E}">
        <p14:creationId xmlns:p14="http://schemas.microsoft.com/office/powerpoint/2010/main" val="2235880983"/>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sz="2700" dirty="0"/>
              <a:t>Parallel Synchronization and</a:t>
            </a:r>
            <a:br>
              <a:rPr lang="en-US" altLang="zh-TW" sz="2700" dirty="0"/>
            </a:br>
            <a:r>
              <a:rPr lang="en-US" altLang="zh-TW" sz="2700" dirty="0"/>
              <a:t>Communication Operations</a:t>
            </a:r>
            <a:endParaRPr lang="zh-TW" altLang="en-US" sz="2700" dirty="0"/>
          </a:p>
        </p:txBody>
      </p:sp>
      <p:sp>
        <p:nvSpPr>
          <p:cNvPr id="5" name="文字版面配置區 4"/>
          <p:cNvSpPr>
            <a:spLocks noGrp="1"/>
          </p:cNvSpPr>
          <p:nvPr>
            <p:ph type="body" idx="1"/>
          </p:nvPr>
        </p:nvSpPr>
        <p:spPr/>
        <p:txBody>
          <a:bodyPr/>
          <a:lstStyle/>
          <a:p>
            <a:endParaRPr lang="zh-TW" altLang="en-US"/>
          </a:p>
        </p:txBody>
      </p:sp>
      <p:sp>
        <p:nvSpPr>
          <p:cNvPr id="2" name="投影片編號版面配置區 1"/>
          <p:cNvSpPr>
            <a:spLocks noGrp="1"/>
          </p:cNvSpPr>
          <p:nvPr>
            <p:ph type="sldNum" sz="quarter" idx="10"/>
          </p:nvPr>
        </p:nvSpPr>
        <p:spPr/>
        <p:txBody>
          <a:bodyPr/>
          <a:lstStyle/>
          <a:p>
            <a:fld id="{6C75C586-0B13-4105-9895-CED4323B37DD}" type="slidenum">
              <a:rPr lang="zh-TW" altLang="en-US" smtClean="0"/>
              <a:pPr/>
              <a:t>64</a:t>
            </a:fld>
            <a:endParaRPr lang="zh-TW" altLang="en-US"/>
          </a:p>
        </p:txBody>
      </p:sp>
    </p:spTree>
    <p:extLst>
      <p:ext uri="{BB962C8B-B14F-4D97-AF65-F5344CB8AC3E}">
        <p14:creationId xmlns:p14="http://schemas.microsoft.com/office/powerpoint/2010/main" val="3423403157"/>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標題 7"/>
          <p:cNvSpPr>
            <a:spLocks noGrp="1"/>
          </p:cNvSpPr>
          <p:nvPr>
            <p:ph type="title"/>
          </p:nvPr>
        </p:nvSpPr>
        <p:spPr/>
        <p:txBody>
          <a:bodyPr/>
          <a:lstStyle/>
          <a:p>
            <a:r>
              <a:rPr lang="en-US" altLang="zh-TW" dirty="0" smtClean="0"/>
              <a:t>Barrier Operations</a:t>
            </a:r>
            <a:endParaRPr lang="zh-TW" altLang="en-US" dirty="0"/>
          </a:p>
        </p:txBody>
      </p:sp>
      <p:sp>
        <p:nvSpPr>
          <p:cNvPr id="10" name="內容版面配置區 9"/>
          <p:cNvSpPr>
            <a:spLocks noGrp="1"/>
          </p:cNvSpPr>
          <p:nvPr>
            <p:ph sz="half" idx="1"/>
          </p:nvPr>
        </p:nvSpPr>
        <p:spPr>
          <a:xfrm>
            <a:off x="457200" y="1701403"/>
            <a:ext cx="4038600" cy="3381682"/>
          </a:xfrm>
        </p:spPr>
        <p:txBody>
          <a:bodyPr/>
          <a:lstStyle/>
          <a:p>
            <a:r>
              <a:rPr lang="en-US" altLang="zh-TW" sz="1950" i="1" dirty="0">
                <a:latin typeface="Times New Roman" panose="02020603050405020304" pitchFamily="18" charset="0"/>
                <a:cs typeface="Times New Roman" panose="02020603050405020304" pitchFamily="18" charset="0"/>
              </a:rPr>
              <a:t>barrier</a:t>
            </a:r>
            <a:r>
              <a:rPr lang="en-US" altLang="zh-TW" sz="1950" dirty="0"/>
              <a:t> used to synchronize work-item execution in a work-group.</a:t>
            </a:r>
          </a:p>
          <a:p>
            <a:pPr>
              <a:buClrTx/>
              <a:buSzPct val="100000"/>
              <a:buFont typeface="Arial" panose="020B0604020202020204" pitchFamily="34" charset="0"/>
              <a:buChar char="•"/>
            </a:pPr>
            <a:endParaRPr lang="en-US" altLang="zh-TW" sz="1950" dirty="0"/>
          </a:p>
          <a:p>
            <a:r>
              <a:rPr lang="en-US" altLang="zh-TW" sz="1950" i="1" dirty="0" err="1">
                <a:latin typeface="Times New Roman" panose="02020603050405020304" pitchFamily="18" charset="0"/>
                <a:cs typeface="Times New Roman" panose="02020603050405020304" pitchFamily="18" charset="0"/>
              </a:rPr>
              <a:t>wavebarrier</a:t>
            </a:r>
            <a:r>
              <a:rPr lang="en-US" altLang="zh-TW" sz="1950" dirty="0"/>
              <a:t> used to synchronize work-item execution in </a:t>
            </a:r>
            <a:r>
              <a:rPr lang="en-US" altLang="zh-TW" sz="1950" dirty="0" err="1"/>
              <a:t>wavefront</a:t>
            </a:r>
            <a:r>
              <a:rPr lang="en-US" altLang="zh-TW" sz="1950" dirty="0"/>
              <a:t>.</a:t>
            </a:r>
            <a:endParaRPr lang="zh-TW" altLang="en-US" sz="1950" dirty="0"/>
          </a:p>
        </p:txBody>
      </p:sp>
      <p:sp>
        <p:nvSpPr>
          <p:cNvPr id="4" name="投影片編號版面配置區 3"/>
          <p:cNvSpPr>
            <a:spLocks noGrp="1"/>
          </p:cNvSpPr>
          <p:nvPr>
            <p:ph type="sldNum" sz="quarter" idx="10"/>
          </p:nvPr>
        </p:nvSpPr>
        <p:spPr/>
        <p:txBody>
          <a:bodyPr/>
          <a:lstStyle/>
          <a:p>
            <a:fld id="{6C75C586-0B13-4105-9895-CED4323B37DD}" type="slidenum">
              <a:rPr lang="zh-TW" altLang="en-US" smtClean="0"/>
              <a:pPr/>
              <a:t>65</a:t>
            </a:fld>
            <a:endParaRPr lang="zh-TW" altLang="en-US"/>
          </a:p>
        </p:txBody>
      </p:sp>
      <p:pic>
        <p:nvPicPr>
          <p:cNvPr id="13" name="圖片 12"/>
          <p:cNvPicPr>
            <a:picLocks noChangeAspect="1"/>
          </p:cNvPicPr>
          <p:nvPr/>
        </p:nvPicPr>
        <p:blipFill>
          <a:blip r:embed="rId2" cstate="print"/>
          <a:stretch>
            <a:fillRect/>
          </a:stretch>
        </p:blipFill>
        <p:spPr>
          <a:xfrm>
            <a:off x="4927605" y="3668316"/>
            <a:ext cx="4037008" cy="1581524"/>
          </a:xfrm>
          <a:prstGeom prst="rect">
            <a:avLst/>
          </a:prstGeom>
        </p:spPr>
      </p:pic>
      <p:graphicFrame>
        <p:nvGraphicFramePr>
          <p:cNvPr id="3" name="內容版面配置區 2"/>
          <p:cNvGraphicFramePr>
            <a:graphicFrameLocks noGrp="1"/>
          </p:cNvGraphicFramePr>
          <p:nvPr>
            <p:ph sz="half" idx="2"/>
            <p:extLst>
              <p:ext uri="{D42A27DB-BD31-4B8C-83A1-F6EECF244321}">
                <p14:modId xmlns:p14="http://schemas.microsoft.com/office/powerpoint/2010/main" val="872980174"/>
              </p:ext>
            </p:extLst>
          </p:nvPr>
        </p:nvGraphicFramePr>
        <p:xfrm>
          <a:off x="4648199" y="1312702"/>
          <a:ext cx="4206551" cy="1421166"/>
        </p:xfrm>
        <a:graphic>
          <a:graphicData uri="http://schemas.openxmlformats.org/drawingml/2006/table">
            <a:tbl>
              <a:tblPr firstRow="1" firstCol="1" bandRow="1">
                <a:tableStyleId>{5C22544A-7EE6-4342-B048-85BDC9FD1C3A}</a:tableStyleId>
              </a:tblPr>
              <a:tblGrid>
                <a:gridCol w="4206551"/>
              </a:tblGrid>
              <a:tr h="495730">
                <a:tc>
                  <a:txBody>
                    <a:bodyPr/>
                    <a:lstStyle/>
                    <a:p>
                      <a:pPr>
                        <a:spcAft>
                          <a:spcPts val="0"/>
                        </a:spcAft>
                      </a:pPr>
                      <a:r>
                        <a:rPr lang="en-US" sz="2000">
                          <a:effectLst/>
                        </a:rPr>
                        <a:t>Opcode and Modifiers</a:t>
                      </a:r>
                      <a:endParaRPr lang="zh-TW" sz="20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14023" marR="14023" marT="14023" marB="14023"/>
                </a:tc>
              </a:tr>
              <a:tr h="462718">
                <a:tc>
                  <a:txBody>
                    <a:bodyPr/>
                    <a:lstStyle/>
                    <a:p>
                      <a:pPr>
                        <a:spcAft>
                          <a:spcPts val="0"/>
                        </a:spcAft>
                      </a:pPr>
                      <a:r>
                        <a:rPr lang="en-US" sz="2000">
                          <a:effectLst/>
                        </a:rPr>
                        <a:t>barrier_width</a:t>
                      </a:r>
                      <a:endParaRPr lang="zh-TW" sz="20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14023" marR="14023" marT="14023" marB="14023"/>
                </a:tc>
              </a:tr>
              <a:tr h="462718">
                <a:tc>
                  <a:txBody>
                    <a:bodyPr/>
                    <a:lstStyle/>
                    <a:p>
                      <a:pPr>
                        <a:spcAft>
                          <a:spcPts val="0"/>
                        </a:spcAft>
                      </a:pPr>
                      <a:r>
                        <a:rPr lang="en-US" sz="2000" dirty="0" err="1">
                          <a:effectLst/>
                        </a:rPr>
                        <a:t>wavebarrier</a:t>
                      </a:r>
                      <a:endParaRPr lang="zh-TW" sz="2000" b="1"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14023" marR="14023" marT="14023" marB="14023"/>
                </a:tc>
              </a:tr>
            </a:tbl>
          </a:graphicData>
        </a:graphic>
      </p:graphicFrame>
    </p:spTree>
    <p:extLst>
      <p:ext uri="{BB962C8B-B14F-4D97-AF65-F5344CB8AC3E}">
        <p14:creationId xmlns:p14="http://schemas.microsoft.com/office/powerpoint/2010/main" val="199364540"/>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標題 7"/>
          <p:cNvSpPr>
            <a:spLocks noGrp="1"/>
          </p:cNvSpPr>
          <p:nvPr>
            <p:ph type="title"/>
          </p:nvPr>
        </p:nvSpPr>
        <p:spPr/>
        <p:txBody>
          <a:bodyPr/>
          <a:lstStyle/>
          <a:p>
            <a:r>
              <a:rPr lang="en-US" altLang="zh-TW" dirty="0" smtClean="0"/>
              <a:t>Fine-Grain Barrier (</a:t>
            </a:r>
            <a:r>
              <a:rPr lang="en-US" altLang="zh-TW" dirty="0" err="1" smtClean="0"/>
              <a:t>fbar</a:t>
            </a:r>
            <a:r>
              <a:rPr lang="en-US" altLang="zh-TW" dirty="0" smtClean="0"/>
              <a:t>) Operations (1)</a:t>
            </a:r>
            <a:endParaRPr lang="zh-TW" altLang="en-US" dirty="0"/>
          </a:p>
        </p:txBody>
      </p:sp>
      <p:sp>
        <p:nvSpPr>
          <p:cNvPr id="10" name="內容版面配置區 9"/>
          <p:cNvSpPr>
            <a:spLocks noGrp="1"/>
          </p:cNvSpPr>
          <p:nvPr>
            <p:ph idx="1"/>
          </p:nvPr>
        </p:nvSpPr>
        <p:spPr/>
        <p:txBody>
          <a:bodyPr/>
          <a:lstStyle/>
          <a:p>
            <a:pPr marL="0" indent="0">
              <a:buClrTx/>
              <a:buSzPct val="100000"/>
              <a:buNone/>
            </a:pPr>
            <a:r>
              <a:rPr lang="en-US" altLang="zh-TW" sz="1800" dirty="0"/>
              <a:t>    </a:t>
            </a:r>
          </a:p>
          <a:p>
            <a:r>
              <a:rPr lang="en-US" altLang="zh-TW" sz="1950" dirty="0"/>
              <a:t>In certain situations, barrier synchronization (which is synchronization over all work-items in a work-group) is too coarse.</a:t>
            </a:r>
          </a:p>
          <a:p>
            <a:endParaRPr lang="en-US" altLang="zh-TW" sz="1950" dirty="0"/>
          </a:p>
          <a:p>
            <a:r>
              <a:rPr lang="en-US" altLang="zh-TW" sz="1950" dirty="0"/>
              <a:t>Applications might find it convenient to synchronize at a finer level, over a subset of the work-items within the work-group. A fine-grain barrier object called an </a:t>
            </a:r>
            <a:r>
              <a:rPr lang="en-US" altLang="zh-TW" sz="1950" i="1" dirty="0" err="1">
                <a:latin typeface="Times New Roman" panose="02020603050405020304" pitchFamily="18" charset="0"/>
                <a:cs typeface="Times New Roman" panose="02020603050405020304" pitchFamily="18" charset="0"/>
              </a:rPr>
              <a:t>fbarrier</a:t>
            </a:r>
            <a:r>
              <a:rPr lang="en-US" altLang="zh-TW" sz="1950" dirty="0"/>
              <a:t> is needed for this subset.</a:t>
            </a:r>
            <a:endParaRPr lang="zh-TW" altLang="en-US" sz="1950" dirty="0"/>
          </a:p>
        </p:txBody>
      </p:sp>
      <p:sp>
        <p:nvSpPr>
          <p:cNvPr id="4" name="投影片編號版面配置區 3"/>
          <p:cNvSpPr>
            <a:spLocks noGrp="1"/>
          </p:cNvSpPr>
          <p:nvPr>
            <p:ph type="sldNum" sz="quarter" idx="10"/>
          </p:nvPr>
        </p:nvSpPr>
        <p:spPr/>
        <p:txBody>
          <a:bodyPr/>
          <a:lstStyle/>
          <a:p>
            <a:fld id="{6C75C586-0B13-4105-9895-CED4323B37DD}" type="slidenum">
              <a:rPr lang="zh-TW" altLang="en-US" smtClean="0"/>
              <a:pPr/>
              <a:t>66</a:t>
            </a:fld>
            <a:endParaRPr lang="zh-TW" altLang="en-US"/>
          </a:p>
        </p:txBody>
      </p:sp>
    </p:spTree>
    <p:extLst>
      <p:ext uri="{BB962C8B-B14F-4D97-AF65-F5344CB8AC3E}">
        <p14:creationId xmlns:p14="http://schemas.microsoft.com/office/powerpoint/2010/main" val="1901068475"/>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標題 7"/>
          <p:cNvSpPr>
            <a:spLocks noGrp="1"/>
          </p:cNvSpPr>
          <p:nvPr>
            <p:ph type="title"/>
          </p:nvPr>
        </p:nvSpPr>
        <p:spPr/>
        <p:txBody>
          <a:bodyPr/>
          <a:lstStyle/>
          <a:p>
            <a:r>
              <a:rPr lang="en-US" altLang="zh-TW" dirty="0" smtClean="0"/>
              <a:t>Fine-Grain Barrier (</a:t>
            </a:r>
            <a:r>
              <a:rPr lang="en-US" altLang="zh-TW" dirty="0" err="1" smtClean="0"/>
              <a:t>fbar</a:t>
            </a:r>
            <a:r>
              <a:rPr lang="en-US" altLang="zh-TW" dirty="0" smtClean="0"/>
              <a:t>) Operations (2)</a:t>
            </a:r>
            <a:endParaRPr lang="zh-TW" altLang="en-US" dirty="0"/>
          </a:p>
        </p:txBody>
      </p:sp>
      <p:sp>
        <p:nvSpPr>
          <p:cNvPr id="10" name="內容版面配置區 9"/>
          <p:cNvSpPr>
            <a:spLocks noGrp="1"/>
          </p:cNvSpPr>
          <p:nvPr>
            <p:ph idx="1"/>
          </p:nvPr>
        </p:nvSpPr>
        <p:spPr>
          <a:xfrm>
            <a:off x="457200" y="1583835"/>
            <a:ext cx="8229600" cy="4229135"/>
          </a:xfrm>
        </p:spPr>
        <p:txBody>
          <a:bodyPr/>
          <a:lstStyle/>
          <a:p>
            <a:r>
              <a:rPr lang="en-US" altLang="zh-TW" sz="1950" dirty="0"/>
              <a:t>An </a:t>
            </a:r>
            <a:r>
              <a:rPr lang="en-US" altLang="zh-TW" sz="1950" i="1" dirty="0" err="1">
                <a:latin typeface="Times New Roman" panose="02020603050405020304" pitchFamily="18" charset="0"/>
                <a:cs typeface="Times New Roman" panose="02020603050405020304" pitchFamily="18" charset="0"/>
              </a:rPr>
              <a:t>fbarrier</a:t>
            </a:r>
            <a:r>
              <a:rPr lang="en-US" altLang="zh-TW" sz="1950" dirty="0"/>
              <a:t> is an opaque entity and its size and representation are implementation-defined. It is also implementation-defined in which kind of memory </a:t>
            </a:r>
            <a:r>
              <a:rPr lang="en-US" altLang="zh-TW" sz="1950" dirty="0" err="1"/>
              <a:t>fbarriers</a:t>
            </a:r>
            <a:r>
              <a:rPr lang="en-US" altLang="zh-TW" sz="1950" dirty="0"/>
              <a:t> are allocated.</a:t>
            </a:r>
          </a:p>
          <a:p>
            <a:endParaRPr lang="en-US" altLang="zh-TW" sz="1950" dirty="0"/>
          </a:p>
          <a:p>
            <a:r>
              <a:rPr lang="en-US" altLang="zh-TW" sz="1950" dirty="0"/>
              <a:t>For example, an </a:t>
            </a:r>
            <a:r>
              <a:rPr lang="en-US" altLang="zh-TW" sz="1950" dirty="0" err="1"/>
              <a:t>fbarrier</a:t>
            </a:r>
            <a:r>
              <a:rPr lang="en-US" altLang="zh-TW" sz="1950" dirty="0"/>
              <a:t> can use dedicated hardware, or can use memory in the group or global segments. </a:t>
            </a:r>
          </a:p>
          <a:p>
            <a:pPr marL="0" indent="0">
              <a:buClrTx/>
              <a:buSzPct val="100000"/>
              <a:buNone/>
            </a:pPr>
            <a:endParaRPr lang="en-US" altLang="zh-TW" sz="1950" dirty="0"/>
          </a:p>
          <a:p>
            <a:r>
              <a:rPr lang="en-US" altLang="zh-TW" sz="1950" dirty="0"/>
              <a:t>An </a:t>
            </a:r>
            <a:r>
              <a:rPr lang="en-US" altLang="zh-TW" sz="1950" dirty="0" err="1"/>
              <a:t>fbarrier</a:t>
            </a:r>
            <a:r>
              <a:rPr lang="en-US" altLang="zh-TW" sz="1950" dirty="0"/>
              <a:t> conceptually contains three </a:t>
            </a:r>
            <a:r>
              <a:rPr lang="en-US" altLang="zh-TW" sz="1950" dirty="0" smtClean="0"/>
              <a:t>fields:</a:t>
            </a:r>
            <a:br>
              <a:rPr lang="en-US" altLang="zh-TW" sz="1950" dirty="0" smtClean="0"/>
            </a:br>
            <a:r>
              <a:rPr lang="en-US" altLang="zh-TW" sz="1950" dirty="0" smtClean="0"/>
              <a:t> (not restricted for implementers)</a:t>
            </a:r>
            <a:endParaRPr lang="en-US" altLang="zh-TW" sz="1950" dirty="0"/>
          </a:p>
          <a:p>
            <a:pPr lvl="1">
              <a:buFont typeface="Calibri" panose="020F0502020204030204" pitchFamily="34" charset="0"/>
              <a:buChar char="–"/>
            </a:pPr>
            <a:r>
              <a:rPr lang="en-US" altLang="zh-TW" dirty="0" err="1" smtClean="0"/>
              <a:t>member_count</a:t>
            </a:r>
            <a:r>
              <a:rPr lang="en-US" altLang="zh-TW" dirty="0" smtClean="0"/>
              <a:t> – # of </a:t>
            </a:r>
            <a:r>
              <a:rPr lang="en-US" altLang="zh-TW" dirty="0" err="1" smtClean="0"/>
              <a:t>wavefronts</a:t>
            </a:r>
            <a:r>
              <a:rPr lang="en-US" altLang="zh-TW" dirty="0" smtClean="0"/>
              <a:t> in the work-group are members of </a:t>
            </a:r>
            <a:r>
              <a:rPr lang="en-US" altLang="zh-TW" dirty="0" err="1" smtClean="0"/>
              <a:t>fbarrier</a:t>
            </a:r>
            <a:r>
              <a:rPr lang="en-US" altLang="zh-TW" dirty="0" smtClean="0"/>
              <a:t>.</a:t>
            </a:r>
          </a:p>
          <a:p>
            <a:pPr lvl="1">
              <a:buFont typeface="Calibri" panose="020F0502020204030204" pitchFamily="34" charset="0"/>
              <a:buChar char="–"/>
            </a:pPr>
            <a:r>
              <a:rPr lang="en-US" altLang="zh-TW" dirty="0" err="1" smtClean="0"/>
              <a:t>arrive_count</a:t>
            </a:r>
            <a:r>
              <a:rPr lang="en-US" altLang="zh-TW" dirty="0" smtClean="0"/>
              <a:t> – # of </a:t>
            </a:r>
            <a:r>
              <a:rPr lang="en-US" altLang="zh-TW" dirty="0" err="1" smtClean="0"/>
              <a:t>wavefronts</a:t>
            </a:r>
            <a:r>
              <a:rPr lang="en-US" altLang="zh-TW" dirty="0" smtClean="0"/>
              <a:t> in the work-group are </a:t>
            </a:r>
            <a:r>
              <a:rPr lang="en-US" altLang="zh-TW" dirty="0" err="1" smtClean="0"/>
              <a:t>watting</a:t>
            </a:r>
            <a:r>
              <a:rPr lang="en-US" altLang="zh-TW" dirty="0" smtClean="0"/>
              <a:t> or arrived.</a:t>
            </a:r>
          </a:p>
          <a:p>
            <a:pPr lvl="1">
              <a:buFont typeface="Calibri" panose="020F0502020204030204" pitchFamily="34" charset="0"/>
              <a:buChar char="–"/>
            </a:pPr>
            <a:r>
              <a:rPr lang="en-US" altLang="zh-TW" dirty="0" err="1" smtClean="0"/>
              <a:t>wait_set</a:t>
            </a:r>
            <a:r>
              <a:rPr lang="en-US" altLang="zh-TW" dirty="0" smtClean="0"/>
              <a:t> - the set of </a:t>
            </a:r>
            <a:r>
              <a:rPr lang="en-US" altLang="zh-TW" dirty="0" err="1" smtClean="0"/>
              <a:t>wavefronts</a:t>
            </a:r>
            <a:r>
              <a:rPr lang="en-US" altLang="zh-TW" dirty="0" smtClean="0"/>
              <a:t> currently waiting on the </a:t>
            </a:r>
            <a:r>
              <a:rPr lang="en-US" altLang="zh-TW" dirty="0" err="1" smtClean="0"/>
              <a:t>fbarrier</a:t>
            </a:r>
            <a:r>
              <a:rPr lang="en-US" altLang="zh-TW" dirty="0" smtClean="0"/>
              <a:t>.</a:t>
            </a:r>
            <a:endParaRPr lang="zh-TW" altLang="en-US" dirty="0"/>
          </a:p>
        </p:txBody>
      </p:sp>
      <p:sp>
        <p:nvSpPr>
          <p:cNvPr id="4" name="投影片編號版面配置區 3"/>
          <p:cNvSpPr>
            <a:spLocks noGrp="1"/>
          </p:cNvSpPr>
          <p:nvPr>
            <p:ph type="sldNum" sz="quarter" idx="10"/>
          </p:nvPr>
        </p:nvSpPr>
        <p:spPr/>
        <p:txBody>
          <a:bodyPr/>
          <a:lstStyle/>
          <a:p>
            <a:fld id="{6C75C586-0B13-4105-9895-CED4323B37DD}" type="slidenum">
              <a:rPr lang="zh-TW" altLang="en-US" smtClean="0"/>
              <a:pPr/>
              <a:t>67</a:t>
            </a:fld>
            <a:endParaRPr lang="zh-TW" altLang="en-US"/>
          </a:p>
        </p:txBody>
      </p:sp>
    </p:spTree>
    <p:extLst>
      <p:ext uri="{BB962C8B-B14F-4D97-AF65-F5344CB8AC3E}">
        <p14:creationId xmlns:p14="http://schemas.microsoft.com/office/powerpoint/2010/main" val="1339015879"/>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標題 7"/>
          <p:cNvSpPr>
            <a:spLocks noGrp="1"/>
          </p:cNvSpPr>
          <p:nvPr>
            <p:ph type="title"/>
          </p:nvPr>
        </p:nvSpPr>
        <p:spPr/>
        <p:txBody>
          <a:bodyPr/>
          <a:lstStyle/>
          <a:p>
            <a:r>
              <a:rPr lang="en-US" altLang="zh-TW" dirty="0" smtClean="0"/>
              <a:t>Fine-Grain Barrier (</a:t>
            </a:r>
            <a:r>
              <a:rPr lang="en-US" altLang="zh-TW" dirty="0" err="1" smtClean="0"/>
              <a:t>fbar</a:t>
            </a:r>
            <a:r>
              <a:rPr lang="en-US" altLang="zh-TW" dirty="0" smtClean="0"/>
              <a:t>) Operations (3)</a:t>
            </a:r>
            <a:endParaRPr lang="zh-TW" altLang="en-US" dirty="0"/>
          </a:p>
        </p:txBody>
      </p:sp>
      <p:sp>
        <p:nvSpPr>
          <p:cNvPr id="10" name="內容版面配置區 9"/>
          <p:cNvSpPr>
            <a:spLocks noGrp="1"/>
          </p:cNvSpPr>
          <p:nvPr>
            <p:ph sz="half" idx="1"/>
          </p:nvPr>
        </p:nvSpPr>
        <p:spPr>
          <a:xfrm>
            <a:off x="226424" y="1701404"/>
            <a:ext cx="4354285" cy="3649469"/>
          </a:xfrm>
        </p:spPr>
        <p:txBody>
          <a:bodyPr/>
          <a:lstStyle/>
          <a:p>
            <a:r>
              <a:rPr lang="en-US" altLang="zh-TW" sz="1950" i="1" dirty="0" err="1">
                <a:latin typeface="Times New Roman" panose="02020603050405020304" pitchFamily="18" charset="0"/>
                <a:cs typeface="Times New Roman" panose="02020603050405020304" pitchFamily="18" charset="0"/>
              </a:rPr>
              <a:t>Initfbar</a:t>
            </a:r>
            <a:r>
              <a:rPr lang="en-US" altLang="zh-TW" sz="1950" dirty="0"/>
              <a:t> - Before an </a:t>
            </a:r>
            <a:r>
              <a:rPr lang="en-US" altLang="zh-TW" sz="1950" dirty="0" err="1"/>
              <a:t>fbarrier</a:t>
            </a:r>
            <a:r>
              <a:rPr lang="en-US" altLang="zh-TW" sz="1950" dirty="0"/>
              <a:t> can be used, it must be initialized.</a:t>
            </a:r>
          </a:p>
          <a:p>
            <a:r>
              <a:rPr lang="en-US" altLang="zh-TW" sz="1950" i="1" dirty="0" err="1">
                <a:latin typeface="Times New Roman" panose="02020603050405020304" pitchFamily="18" charset="0"/>
                <a:cs typeface="Times New Roman" panose="02020603050405020304" pitchFamily="18" charset="0"/>
              </a:rPr>
              <a:t>Joinfbar</a:t>
            </a:r>
            <a:r>
              <a:rPr lang="en-US" altLang="zh-TW" sz="1950" dirty="0"/>
              <a:t> - Causes the work-item to become a member of the </a:t>
            </a:r>
            <a:r>
              <a:rPr lang="en-US" altLang="zh-TW" sz="1950" dirty="0" err="1"/>
              <a:t>fbarrier</a:t>
            </a:r>
            <a:r>
              <a:rPr lang="en-US" altLang="zh-TW" sz="1950" dirty="0"/>
              <a:t>.</a:t>
            </a:r>
          </a:p>
          <a:p>
            <a:r>
              <a:rPr lang="en-US" altLang="zh-TW" sz="1950" i="1" dirty="0" err="1">
                <a:latin typeface="Times New Roman" panose="02020603050405020304" pitchFamily="18" charset="0"/>
                <a:cs typeface="Times New Roman" panose="02020603050405020304" pitchFamily="18" charset="0"/>
              </a:rPr>
              <a:t>Waitfbar</a:t>
            </a:r>
            <a:r>
              <a:rPr lang="en-US" altLang="zh-TW" sz="1950" dirty="0"/>
              <a:t> - Indicates that the work-item has arrived at the </a:t>
            </a:r>
            <a:r>
              <a:rPr lang="en-US" altLang="zh-TW" sz="1950" dirty="0" err="1"/>
              <a:t>fbarrier</a:t>
            </a:r>
            <a:r>
              <a:rPr lang="en-US" altLang="zh-TW" sz="1950" dirty="0"/>
              <a:t>, and causes execution of the work-item to wait until all other work-items of the same work-group that are members of the same </a:t>
            </a:r>
            <a:r>
              <a:rPr lang="en-US" altLang="zh-TW" sz="1950" dirty="0" err="1"/>
              <a:t>fbarrier</a:t>
            </a:r>
            <a:r>
              <a:rPr lang="en-US" altLang="zh-TW" sz="1950" dirty="0"/>
              <a:t> have arrived at the </a:t>
            </a:r>
            <a:r>
              <a:rPr lang="en-US" altLang="zh-TW" sz="1950" dirty="0" err="1"/>
              <a:t>fbarrier</a:t>
            </a:r>
            <a:r>
              <a:rPr lang="en-US" altLang="zh-TW" sz="1950" dirty="0"/>
              <a:t>. </a:t>
            </a:r>
          </a:p>
          <a:p>
            <a:pPr marL="0" indent="0">
              <a:buClrTx/>
              <a:buSzPct val="100000"/>
              <a:buNone/>
            </a:pPr>
            <a:endParaRPr lang="zh-TW" altLang="en-US" sz="1800" dirty="0"/>
          </a:p>
        </p:txBody>
      </p:sp>
      <p:pic>
        <p:nvPicPr>
          <p:cNvPr id="3" name="內容版面配置區 2"/>
          <p:cNvPicPr>
            <a:picLocks noGrp="1" noChangeAspect="1"/>
          </p:cNvPicPr>
          <p:nvPr>
            <p:ph sz="half" idx="2"/>
          </p:nvPr>
        </p:nvPicPr>
        <p:blipFill>
          <a:blip r:embed="rId2" cstate="print"/>
          <a:stretch>
            <a:fillRect/>
          </a:stretch>
        </p:blipFill>
        <p:spPr>
          <a:xfrm>
            <a:off x="4647601" y="1701403"/>
            <a:ext cx="4317012" cy="2447687"/>
          </a:xfrm>
          <a:prstGeom prst="rect">
            <a:avLst/>
          </a:prstGeom>
        </p:spPr>
      </p:pic>
      <p:sp>
        <p:nvSpPr>
          <p:cNvPr id="4" name="投影片編號版面配置區 3"/>
          <p:cNvSpPr>
            <a:spLocks noGrp="1"/>
          </p:cNvSpPr>
          <p:nvPr>
            <p:ph type="sldNum" sz="quarter" idx="10"/>
          </p:nvPr>
        </p:nvSpPr>
        <p:spPr/>
        <p:txBody>
          <a:bodyPr/>
          <a:lstStyle/>
          <a:p>
            <a:fld id="{6C75C586-0B13-4105-9895-CED4323B37DD}" type="slidenum">
              <a:rPr lang="zh-TW" altLang="en-US" smtClean="0"/>
              <a:pPr/>
              <a:t>68</a:t>
            </a:fld>
            <a:endParaRPr lang="zh-TW" altLang="en-US"/>
          </a:p>
        </p:txBody>
      </p:sp>
      <p:sp>
        <p:nvSpPr>
          <p:cNvPr id="9" name="內容版面配置區 9"/>
          <p:cNvSpPr txBox="1">
            <a:spLocks/>
          </p:cNvSpPr>
          <p:nvPr/>
        </p:nvSpPr>
        <p:spPr bwMode="auto">
          <a:xfrm>
            <a:off x="4660142" y="4149090"/>
            <a:ext cx="4354285" cy="1316083"/>
          </a:xfrm>
          <a:prstGeom prst="rect">
            <a:avLst/>
          </a:prstGeom>
          <a:noFill/>
          <a:ln w="9525">
            <a:noFill/>
            <a:miter lim="800000"/>
            <a:headEnd/>
            <a:tailEnd/>
          </a:ln>
        </p:spPr>
        <p:txBody>
          <a:bodyPr vert="horz" wrap="square" lIns="68580" tIns="34290" rIns="68580" bIns="34290" numCol="1" anchor="t" anchorCtr="0" compatLnSpc="1">
            <a:prstTxWarp prst="textNoShape">
              <a:avLst/>
            </a:prstTxWarp>
          </a:bodyPr>
          <a:lstStyle>
            <a:lvl1pPr marL="144661" indent="-144661" algn="l" rtl="0" eaLnBrk="1" fontAlgn="base" hangingPunct="1">
              <a:spcBef>
                <a:spcPct val="20000"/>
              </a:spcBef>
              <a:spcAft>
                <a:spcPct val="0"/>
              </a:spcAft>
              <a:buClr>
                <a:srgbClr val="0000FF"/>
              </a:buClr>
              <a:buSzPct val="80000"/>
              <a:buFont typeface="Wingdings" pitchFamily="2" charset="2"/>
              <a:buChar char="l"/>
              <a:defRPr kumimoji="1" sz="1181">
                <a:solidFill>
                  <a:schemeClr val="tx1"/>
                </a:solidFill>
                <a:latin typeface="Calibri" pitchFamily="34" charset="0"/>
                <a:ea typeface="標楷體" pitchFamily="65" charset="-120"/>
                <a:cs typeface="+mn-cs"/>
              </a:defRPr>
            </a:lvl1pPr>
            <a:lvl2pPr marL="313433" indent="-120551" algn="l" rtl="0" eaLnBrk="1" fontAlgn="base" hangingPunct="1">
              <a:spcBef>
                <a:spcPct val="20000"/>
              </a:spcBef>
              <a:spcAft>
                <a:spcPct val="0"/>
              </a:spcAft>
              <a:buClr>
                <a:srgbClr val="0000FF"/>
              </a:buClr>
              <a:buSzPct val="90000"/>
              <a:buFont typeface="Arial" charset="0"/>
              <a:buChar char="–"/>
              <a:defRPr kumimoji="1" sz="1013">
                <a:solidFill>
                  <a:schemeClr val="tx1"/>
                </a:solidFill>
                <a:latin typeface="Calibri" pitchFamily="34" charset="0"/>
                <a:ea typeface="標楷體" pitchFamily="65" charset="-120"/>
              </a:defRPr>
            </a:lvl2pPr>
            <a:lvl3pPr marL="482204" indent="-96441" algn="l" rtl="0" eaLnBrk="1" fontAlgn="base" hangingPunct="1">
              <a:spcBef>
                <a:spcPct val="20000"/>
              </a:spcBef>
              <a:spcAft>
                <a:spcPct val="0"/>
              </a:spcAft>
              <a:buChar char="•"/>
              <a:defRPr kumimoji="1" sz="844">
                <a:solidFill>
                  <a:schemeClr val="tx1"/>
                </a:solidFill>
                <a:latin typeface="+mn-lt"/>
                <a:ea typeface="+mn-ea"/>
              </a:defRPr>
            </a:lvl3pPr>
            <a:lvl4pPr marL="675085" indent="-96441" algn="l" rtl="0" eaLnBrk="1" fontAlgn="base" hangingPunct="1">
              <a:spcBef>
                <a:spcPct val="20000"/>
              </a:spcBef>
              <a:spcAft>
                <a:spcPct val="0"/>
              </a:spcAft>
              <a:buChar char="–"/>
              <a:defRPr kumimoji="1" sz="760">
                <a:solidFill>
                  <a:schemeClr val="tx1"/>
                </a:solidFill>
                <a:latin typeface="+mn-lt"/>
                <a:ea typeface="+mn-ea"/>
              </a:defRPr>
            </a:lvl4pPr>
            <a:lvl5pPr marL="867966" indent="-96441" algn="l" rtl="0" eaLnBrk="1" fontAlgn="base" hangingPunct="1">
              <a:spcBef>
                <a:spcPct val="20000"/>
              </a:spcBef>
              <a:spcAft>
                <a:spcPct val="0"/>
              </a:spcAft>
              <a:buChar char="»"/>
              <a:defRPr kumimoji="1" sz="760">
                <a:solidFill>
                  <a:schemeClr val="tx1"/>
                </a:solidFill>
                <a:latin typeface="+mn-lt"/>
                <a:ea typeface="+mn-ea"/>
              </a:defRPr>
            </a:lvl5pPr>
            <a:lvl6pPr marL="1060847" indent="-96441" algn="l" rtl="0" eaLnBrk="1" fontAlgn="base" hangingPunct="1">
              <a:spcBef>
                <a:spcPct val="20000"/>
              </a:spcBef>
              <a:spcAft>
                <a:spcPct val="0"/>
              </a:spcAft>
              <a:buChar char="»"/>
              <a:defRPr kumimoji="1" sz="760">
                <a:solidFill>
                  <a:schemeClr val="tx1"/>
                </a:solidFill>
                <a:latin typeface="+mn-lt"/>
                <a:ea typeface="+mn-ea"/>
              </a:defRPr>
            </a:lvl6pPr>
            <a:lvl7pPr marL="1253729" indent="-96441" algn="l" rtl="0" eaLnBrk="1" fontAlgn="base" hangingPunct="1">
              <a:spcBef>
                <a:spcPct val="20000"/>
              </a:spcBef>
              <a:spcAft>
                <a:spcPct val="0"/>
              </a:spcAft>
              <a:buChar char="»"/>
              <a:defRPr kumimoji="1" sz="760">
                <a:solidFill>
                  <a:schemeClr val="tx1"/>
                </a:solidFill>
                <a:latin typeface="+mn-lt"/>
                <a:ea typeface="+mn-ea"/>
              </a:defRPr>
            </a:lvl7pPr>
            <a:lvl8pPr marL="1446610" indent="-96441" algn="l" rtl="0" eaLnBrk="1" fontAlgn="base" hangingPunct="1">
              <a:spcBef>
                <a:spcPct val="20000"/>
              </a:spcBef>
              <a:spcAft>
                <a:spcPct val="0"/>
              </a:spcAft>
              <a:buChar char="»"/>
              <a:defRPr kumimoji="1" sz="760">
                <a:solidFill>
                  <a:schemeClr val="tx1"/>
                </a:solidFill>
                <a:latin typeface="+mn-lt"/>
                <a:ea typeface="+mn-ea"/>
              </a:defRPr>
            </a:lvl8pPr>
            <a:lvl9pPr marL="1639491" indent="-96441" algn="l" rtl="0" eaLnBrk="1" fontAlgn="base" hangingPunct="1">
              <a:spcBef>
                <a:spcPct val="20000"/>
              </a:spcBef>
              <a:spcAft>
                <a:spcPct val="0"/>
              </a:spcAft>
              <a:buChar char="»"/>
              <a:defRPr kumimoji="1" sz="760">
                <a:solidFill>
                  <a:schemeClr val="tx1"/>
                </a:solidFill>
                <a:latin typeface="+mn-lt"/>
                <a:ea typeface="+mn-ea"/>
              </a:defRPr>
            </a:lvl9pPr>
          </a:lstStyle>
          <a:p>
            <a:pPr marL="0" indent="0">
              <a:buClrTx/>
              <a:buSzPct val="100000"/>
              <a:buNone/>
            </a:pPr>
            <a:r>
              <a:rPr lang="en-US" altLang="zh-TW" sz="1500" kern="0" dirty="0" err="1"/>
              <a:t>Src</a:t>
            </a:r>
            <a:r>
              <a:rPr lang="en-US" altLang="zh-TW" sz="1500" kern="0" dirty="0"/>
              <a:t> – the name of an </a:t>
            </a:r>
            <a:r>
              <a:rPr lang="en-US" altLang="zh-TW" sz="1500" kern="0" dirty="0" err="1"/>
              <a:t>fbarrier</a:t>
            </a:r>
            <a:r>
              <a:rPr lang="en-US" altLang="zh-TW" sz="1500" kern="0" dirty="0"/>
              <a:t> or an </a:t>
            </a:r>
            <a:r>
              <a:rPr lang="en-US" altLang="zh-TW" sz="1500" i="1" kern="0" dirty="0">
                <a:latin typeface="Times New Roman" panose="02020603050405020304" pitchFamily="18" charset="0"/>
                <a:cs typeface="Times New Roman" panose="02020603050405020304" pitchFamily="18" charset="0"/>
              </a:rPr>
              <a:t>s</a:t>
            </a:r>
            <a:r>
              <a:rPr lang="en-US" altLang="zh-TW" sz="1500" kern="0" dirty="0"/>
              <a:t> register containing  a value produce by </a:t>
            </a:r>
            <a:r>
              <a:rPr lang="en-US" altLang="zh-TW" sz="1500" i="1" kern="0" dirty="0" err="1">
                <a:latin typeface="Times New Roman" panose="02020603050405020304" pitchFamily="18" charset="0"/>
                <a:cs typeface="Times New Roman" panose="02020603050405020304" pitchFamily="18" charset="0"/>
              </a:rPr>
              <a:t>ldf</a:t>
            </a:r>
            <a:r>
              <a:rPr lang="en-US" altLang="zh-TW" sz="1500" kern="0" dirty="0"/>
              <a:t>. </a:t>
            </a:r>
          </a:p>
          <a:p>
            <a:pPr marL="0" indent="0">
              <a:buClrTx/>
              <a:buSzPct val="100000"/>
              <a:buNone/>
            </a:pPr>
            <a:r>
              <a:rPr lang="en-US" altLang="zh-TW" sz="1500" kern="0" dirty="0" err="1"/>
              <a:t>fbarrierName</a:t>
            </a:r>
            <a:r>
              <a:rPr lang="en-US" altLang="zh-TW" sz="1500" kern="0" dirty="0"/>
              <a:t> - Name of the </a:t>
            </a:r>
            <a:r>
              <a:rPr lang="en-US" altLang="zh-TW" sz="1500" kern="0" dirty="0" err="1"/>
              <a:t>fbarrier</a:t>
            </a:r>
            <a:r>
              <a:rPr lang="en-US" altLang="zh-TW" sz="1500" kern="0" dirty="0"/>
              <a:t>.</a:t>
            </a:r>
            <a:endParaRPr lang="zh-TW" altLang="en-US" sz="1500" kern="0" dirty="0"/>
          </a:p>
        </p:txBody>
      </p:sp>
    </p:spTree>
    <p:extLst>
      <p:ext uri="{BB962C8B-B14F-4D97-AF65-F5344CB8AC3E}">
        <p14:creationId xmlns:p14="http://schemas.microsoft.com/office/powerpoint/2010/main" val="642471937"/>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標題 7"/>
          <p:cNvSpPr>
            <a:spLocks noGrp="1"/>
          </p:cNvSpPr>
          <p:nvPr>
            <p:ph type="title"/>
          </p:nvPr>
        </p:nvSpPr>
        <p:spPr/>
        <p:txBody>
          <a:bodyPr/>
          <a:lstStyle/>
          <a:p>
            <a:r>
              <a:rPr lang="en-US" altLang="zh-TW" dirty="0" smtClean="0"/>
              <a:t>Fine-Grain Barrier (</a:t>
            </a:r>
            <a:r>
              <a:rPr lang="en-US" altLang="zh-TW" dirty="0" err="1" smtClean="0"/>
              <a:t>fbar</a:t>
            </a:r>
            <a:r>
              <a:rPr lang="en-US" altLang="zh-TW" dirty="0" smtClean="0"/>
              <a:t>) Operations (4)</a:t>
            </a:r>
            <a:endParaRPr lang="zh-TW" altLang="en-US" dirty="0"/>
          </a:p>
        </p:txBody>
      </p:sp>
      <p:sp>
        <p:nvSpPr>
          <p:cNvPr id="10" name="內容版面配置區 9"/>
          <p:cNvSpPr>
            <a:spLocks noGrp="1"/>
          </p:cNvSpPr>
          <p:nvPr>
            <p:ph sz="half" idx="1"/>
          </p:nvPr>
        </p:nvSpPr>
        <p:spPr>
          <a:xfrm>
            <a:off x="226424" y="1701404"/>
            <a:ext cx="4354285" cy="3649469"/>
          </a:xfrm>
        </p:spPr>
        <p:txBody>
          <a:bodyPr/>
          <a:lstStyle/>
          <a:p>
            <a:pPr marL="0" indent="0">
              <a:buClrTx/>
              <a:buSzPct val="100000"/>
              <a:buNone/>
            </a:pPr>
            <a:endParaRPr lang="en-US" altLang="zh-TW" sz="1950" dirty="0"/>
          </a:p>
          <a:p>
            <a:r>
              <a:rPr lang="en-US" altLang="zh-TW" sz="1950" i="1" dirty="0" err="1">
                <a:latin typeface="Times New Roman" panose="02020603050405020304" pitchFamily="18" charset="0"/>
                <a:cs typeface="Times New Roman" panose="02020603050405020304" pitchFamily="18" charset="0"/>
              </a:rPr>
              <a:t>Arrivefbar</a:t>
            </a:r>
            <a:r>
              <a:rPr lang="en-US" altLang="zh-TW" sz="1950" dirty="0"/>
              <a:t> - indicates that the work-item has arrived at the </a:t>
            </a:r>
            <a:r>
              <a:rPr lang="en-US" altLang="zh-TW" sz="1950" dirty="0" err="1"/>
              <a:t>fbarrier</a:t>
            </a:r>
            <a:r>
              <a:rPr lang="en-US" altLang="zh-TW" sz="1950" dirty="0"/>
              <a:t>, but does not wait for other work-items that are members of the </a:t>
            </a:r>
            <a:r>
              <a:rPr lang="en-US" altLang="zh-TW" sz="1950" dirty="0" err="1"/>
              <a:t>fbarrier</a:t>
            </a:r>
            <a:r>
              <a:rPr lang="en-US" altLang="zh-TW" sz="1950" dirty="0"/>
              <a:t> to arrive at the same </a:t>
            </a:r>
            <a:r>
              <a:rPr lang="en-US" altLang="zh-TW" sz="1950" dirty="0" err="1"/>
              <a:t>fbarrier</a:t>
            </a:r>
            <a:r>
              <a:rPr lang="en-US" altLang="zh-TW" sz="1950" dirty="0"/>
              <a:t>. </a:t>
            </a:r>
          </a:p>
          <a:p>
            <a:endParaRPr lang="en-US" altLang="zh-TW" sz="1950" dirty="0"/>
          </a:p>
          <a:p>
            <a:r>
              <a:rPr lang="en-US" altLang="zh-TW" sz="1950" dirty="0"/>
              <a:t>If the work-item is the last of the </a:t>
            </a:r>
            <a:r>
              <a:rPr lang="en-US" altLang="zh-TW" sz="1950" dirty="0" err="1"/>
              <a:t>fbarrier</a:t>
            </a:r>
            <a:r>
              <a:rPr lang="en-US" altLang="zh-TW" sz="1950" dirty="0"/>
              <a:t> members to arrive, then any work-items waiting on the </a:t>
            </a:r>
            <a:r>
              <a:rPr lang="en-US" altLang="zh-TW" sz="1950" dirty="0" err="1"/>
              <a:t>fbarrier</a:t>
            </a:r>
            <a:r>
              <a:rPr lang="en-US" altLang="zh-TW" sz="1950" dirty="0"/>
              <a:t> can proceed and the </a:t>
            </a:r>
            <a:r>
              <a:rPr lang="en-US" altLang="zh-TW" sz="1950" dirty="0" err="1"/>
              <a:t>fbarrier</a:t>
            </a:r>
            <a:r>
              <a:rPr lang="en-US" altLang="zh-TW" sz="1950" dirty="0"/>
              <a:t> is reset.</a:t>
            </a:r>
          </a:p>
        </p:txBody>
      </p:sp>
      <p:pic>
        <p:nvPicPr>
          <p:cNvPr id="3" name="內容版面配置區 2"/>
          <p:cNvPicPr>
            <a:picLocks noGrp="1" noChangeAspect="1"/>
          </p:cNvPicPr>
          <p:nvPr>
            <p:ph sz="half" idx="2"/>
          </p:nvPr>
        </p:nvPicPr>
        <p:blipFill>
          <a:blip r:embed="rId2" cstate="print"/>
          <a:stretch>
            <a:fillRect/>
          </a:stretch>
        </p:blipFill>
        <p:spPr>
          <a:xfrm>
            <a:off x="4647601" y="1701403"/>
            <a:ext cx="4366826" cy="2447687"/>
          </a:xfrm>
          <a:prstGeom prst="rect">
            <a:avLst/>
          </a:prstGeom>
        </p:spPr>
      </p:pic>
      <p:sp>
        <p:nvSpPr>
          <p:cNvPr id="4" name="投影片編號版面配置區 3"/>
          <p:cNvSpPr>
            <a:spLocks noGrp="1"/>
          </p:cNvSpPr>
          <p:nvPr>
            <p:ph type="sldNum" sz="quarter" idx="10"/>
          </p:nvPr>
        </p:nvSpPr>
        <p:spPr/>
        <p:txBody>
          <a:bodyPr/>
          <a:lstStyle/>
          <a:p>
            <a:fld id="{6C75C586-0B13-4105-9895-CED4323B37DD}" type="slidenum">
              <a:rPr lang="zh-TW" altLang="en-US" smtClean="0"/>
              <a:pPr/>
              <a:t>69</a:t>
            </a:fld>
            <a:endParaRPr lang="zh-TW" altLang="en-US"/>
          </a:p>
        </p:txBody>
      </p:sp>
      <p:sp>
        <p:nvSpPr>
          <p:cNvPr id="9" name="內容版面配置區 9"/>
          <p:cNvSpPr txBox="1">
            <a:spLocks/>
          </p:cNvSpPr>
          <p:nvPr/>
        </p:nvSpPr>
        <p:spPr bwMode="auto">
          <a:xfrm>
            <a:off x="4660142" y="4149090"/>
            <a:ext cx="4354285" cy="1316083"/>
          </a:xfrm>
          <a:prstGeom prst="rect">
            <a:avLst/>
          </a:prstGeom>
          <a:noFill/>
          <a:ln w="9525">
            <a:noFill/>
            <a:miter lim="800000"/>
            <a:headEnd/>
            <a:tailEnd/>
          </a:ln>
        </p:spPr>
        <p:txBody>
          <a:bodyPr vert="horz" wrap="square" lIns="68580" tIns="34290" rIns="68580" bIns="34290" numCol="1" anchor="t" anchorCtr="0" compatLnSpc="1">
            <a:prstTxWarp prst="textNoShape">
              <a:avLst/>
            </a:prstTxWarp>
          </a:bodyPr>
          <a:lstStyle>
            <a:lvl1pPr marL="144661" indent="-144661" algn="l" rtl="0" eaLnBrk="1" fontAlgn="base" hangingPunct="1">
              <a:spcBef>
                <a:spcPct val="20000"/>
              </a:spcBef>
              <a:spcAft>
                <a:spcPct val="0"/>
              </a:spcAft>
              <a:buClr>
                <a:srgbClr val="0000FF"/>
              </a:buClr>
              <a:buSzPct val="80000"/>
              <a:buFont typeface="Wingdings" pitchFamily="2" charset="2"/>
              <a:buChar char="l"/>
              <a:defRPr kumimoji="1" sz="1181">
                <a:solidFill>
                  <a:schemeClr val="tx1"/>
                </a:solidFill>
                <a:latin typeface="Calibri" pitchFamily="34" charset="0"/>
                <a:ea typeface="標楷體" pitchFamily="65" charset="-120"/>
                <a:cs typeface="+mn-cs"/>
              </a:defRPr>
            </a:lvl1pPr>
            <a:lvl2pPr marL="313433" indent="-120551" algn="l" rtl="0" eaLnBrk="1" fontAlgn="base" hangingPunct="1">
              <a:spcBef>
                <a:spcPct val="20000"/>
              </a:spcBef>
              <a:spcAft>
                <a:spcPct val="0"/>
              </a:spcAft>
              <a:buClr>
                <a:srgbClr val="0000FF"/>
              </a:buClr>
              <a:buSzPct val="90000"/>
              <a:buFont typeface="Arial" charset="0"/>
              <a:buChar char="–"/>
              <a:defRPr kumimoji="1" sz="1013">
                <a:solidFill>
                  <a:schemeClr val="tx1"/>
                </a:solidFill>
                <a:latin typeface="Calibri" pitchFamily="34" charset="0"/>
                <a:ea typeface="標楷體" pitchFamily="65" charset="-120"/>
              </a:defRPr>
            </a:lvl2pPr>
            <a:lvl3pPr marL="482204" indent="-96441" algn="l" rtl="0" eaLnBrk="1" fontAlgn="base" hangingPunct="1">
              <a:spcBef>
                <a:spcPct val="20000"/>
              </a:spcBef>
              <a:spcAft>
                <a:spcPct val="0"/>
              </a:spcAft>
              <a:buChar char="•"/>
              <a:defRPr kumimoji="1" sz="844">
                <a:solidFill>
                  <a:schemeClr val="tx1"/>
                </a:solidFill>
                <a:latin typeface="+mn-lt"/>
                <a:ea typeface="+mn-ea"/>
              </a:defRPr>
            </a:lvl3pPr>
            <a:lvl4pPr marL="675085" indent="-96441" algn="l" rtl="0" eaLnBrk="1" fontAlgn="base" hangingPunct="1">
              <a:spcBef>
                <a:spcPct val="20000"/>
              </a:spcBef>
              <a:spcAft>
                <a:spcPct val="0"/>
              </a:spcAft>
              <a:buChar char="–"/>
              <a:defRPr kumimoji="1" sz="760">
                <a:solidFill>
                  <a:schemeClr val="tx1"/>
                </a:solidFill>
                <a:latin typeface="+mn-lt"/>
                <a:ea typeface="+mn-ea"/>
              </a:defRPr>
            </a:lvl4pPr>
            <a:lvl5pPr marL="867966" indent="-96441" algn="l" rtl="0" eaLnBrk="1" fontAlgn="base" hangingPunct="1">
              <a:spcBef>
                <a:spcPct val="20000"/>
              </a:spcBef>
              <a:spcAft>
                <a:spcPct val="0"/>
              </a:spcAft>
              <a:buChar char="»"/>
              <a:defRPr kumimoji="1" sz="760">
                <a:solidFill>
                  <a:schemeClr val="tx1"/>
                </a:solidFill>
                <a:latin typeface="+mn-lt"/>
                <a:ea typeface="+mn-ea"/>
              </a:defRPr>
            </a:lvl5pPr>
            <a:lvl6pPr marL="1060847" indent="-96441" algn="l" rtl="0" eaLnBrk="1" fontAlgn="base" hangingPunct="1">
              <a:spcBef>
                <a:spcPct val="20000"/>
              </a:spcBef>
              <a:spcAft>
                <a:spcPct val="0"/>
              </a:spcAft>
              <a:buChar char="»"/>
              <a:defRPr kumimoji="1" sz="760">
                <a:solidFill>
                  <a:schemeClr val="tx1"/>
                </a:solidFill>
                <a:latin typeface="+mn-lt"/>
                <a:ea typeface="+mn-ea"/>
              </a:defRPr>
            </a:lvl6pPr>
            <a:lvl7pPr marL="1253729" indent="-96441" algn="l" rtl="0" eaLnBrk="1" fontAlgn="base" hangingPunct="1">
              <a:spcBef>
                <a:spcPct val="20000"/>
              </a:spcBef>
              <a:spcAft>
                <a:spcPct val="0"/>
              </a:spcAft>
              <a:buChar char="»"/>
              <a:defRPr kumimoji="1" sz="760">
                <a:solidFill>
                  <a:schemeClr val="tx1"/>
                </a:solidFill>
                <a:latin typeface="+mn-lt"/>
                <a:ea typeface="+mn-ea"/>
              </a:defRPr>
            </a:lvl7pPr>
            <a:lvl8pPr marL="1446610" indent="-96441" algn="l" rtl="0" eaLnBrk="1" fontAlgn="base" hangingPunct="1">
              <a:spcBef>
                <a:spcPct val="20000"/>
              </a:spcBef>
              <a:spcAft>
                <a:spcPct val="0"/>
              </a:spcAft>
              <a:buChar char="»"/>
              <a:defRPr kumimoji="1" sz="760">
                <a:solidFill>
                  <a:schemeClr val="tx1"/>
                </a:solidFill>
                <a:latin typeface="+mn-lt"/>
                <a:ea typeface="+mn-ea"/>
              </a:defRPr>
            </a:lvl8pPr>
            <a:lvl9pPr marL="1639491" indent="-96441" algn="l" rtl="0" eaLnBrk="1" fontAlgn="base" hangingPunct="1">
              <a:spcBef>
                <a:spcPct val="20000"/>
              </a:spcBef>
              <a:spcAft>
                <a:spcPct val="0"/>
              </a:spcAft>
              <a:buChar char="»"/>
              <a:defRPr kumimoji="1" sz="760">
                <a:solidFill>
                  <a:schemeClr val="tx1"/>
                </a:solidFill>
                <a:latin typeface="+mn-lt"/>
                <a:ea typeface="+mn-ea"/>
              </a:defRPr>
            </a:lvl9pPr>
          </a:lstStyle>
          <a:p>
            <a:pPr marL="0" indent="0">
              <a:buClrTx/>
              <a:buSzPct val="100000"/>
              <a:buNone/>
            </a:pPr>
            <a:r>
              <a:rPr lang="en-US" altLang="zh-TW" sz="1500" kern="0" dirty="0" err="1"/>
              <a:t>Src</a:t>
            </a:r>
            <a:r>
              <a:rPr lang="en-US" altLang="zh-TW" sz="1500" kern="0" dirty="0"/>
              <a:t> – the name of an </a:t>
            </a:r>
            <a:r>
              <a:rPr lang="en-US" altLang="zh-TW" sz="1500" kern="0" dirty="0" err="1"/>
              <a:t>fbarrier</a:t>
            </a:r>
            <a:r>
              <a:rPr lang="en-US" altLang="zh-TW" sz="1500" kern="0" dirty="0"/>
              <a:t> or an </a:t>
            </a:r>
            <a:r>
              <a:rPr lang="en-US" altLang="zh-TW" sz="1500" i="1" kern="0" dirty="0">
                <a:latin typeface="Times New Roman" panose="02020603050405020304" pitchFamily="18" charset="0"/>
                <a:cs typeface="Times New Roman" panose="02020603050405020304" pitchFamily="18" charset="0"/>
              </a:rPr>
              <a:t>s</a:t>
            </a:r>
            <a:r>
              <a:rPr lang="en-US" altLang="zh-TW" sz="1500" kern="0" dirty="0"/>
              <a:t> register containing  a value produce by </a:t>
            </a:r>
            <a:r>
              <a:rPr lang="en-US" altLang="zh-TW" sz="1500" i="1" kern="0" dirty="0" err="1">
                <a:latin typeface="Times New Roman" panose="02020603050405020304" pitchFamily="18" charset="0"/>
                <a:cs typeface="Times New Roman" panose="02020603050405020304" pitchFamily="18" charset="0"/>
              </a:rPr>
              <a:t>ldf</a:t>
            </a:r>
            <a:r>
              <a:rPr lang="en-US" altLang="zh-TW" sz="1500" kern="0" dirty="0"/>
              <a:t>. </a:t>
            </a:r>
          </a:p>
          <a:p>
            <a:pPr marL="0" indent="0">
              <a:buClrTx/>
              <a:buSzPct val="100000"/>
              <a:buNone/>
            </a:pPr>
            <a:r>
              <a:rPr lang="en-US" altLang="zh-TW" sz="1500" kern="0" dirty="0" err="1"/>
              <a:t>fbarrierName</a:t>
            </a:r>
            <a:r>
              <a:rPr lang="en-US" altLang="zh-TW" sz="1500" kern="0" dirty="0"/>
              <a:t> - Name of the </a:t>
            </a:r>
            <a:r>
              <a:rPr lang="en-US" altLang="zh-TW" sz="1500" kern="0" dirty="0" err="1"/>
              <a:t>fbarrier</a:t>
            </a:r>
            <a:r>
              <a:rPr lang="en-US" altLang="zh-TW" sz="1500" kern="0" dirty="0"/>
              <a:t>.</a:t>
            </a:r>
            <a:endParaRPr lang="zh-TW" altLang="en-US" sz="1500" kern="0" dirty="0"/>
          </a:p>
        </p:txBody>
      </p:sp>
    </p:spTree>
    <p:extLst>
      <p:ext uri="{BB962C8B-B14F-4D97-AF65-F5344CB8AC3E}">
        <p14:creationId xmlns:p14="http://schemas.microsoft.com/office/powerpoint/2010/main" val="16779505"/>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標題 7"/>
          <p:cNvSpPr>
            <a:spLocks noGrp="1"/>
          </p:cNvSpPr>
          <p:nvPr>
            <p:ph type="title"/>
          </p:nvPr>
        </p:nvSpPr>
        <p:spPr/>
        <p:txBody>
          <a:bodyPr/>
          <a:lstStyle/>
          <a:p>
            <a:r>
              <a:rPr lang="en-US" altLang="zh-TW" dirty="0" smtClean="0"/>
              <a:t>Fine-Grain Barrier (</a:t>
            </a:r>
            <a:r>
              <a:rPr lang="en-US" altLang="zh-TW" dirty="0" err="1" smtClean="0"/>
              <a:t>fbar</a:t>
            </a:r>
            <a:r>
              <a:rPr lang="en-US" altLang="zh-TW" dirty="0" smtClean="0"/>
              <a:t>) Operations (5)</a:t>
            </a:r>
            <a:endParaRPr lang="zh-TW" altLang="en-US" dirty="0"/>
          </a:p>
        </p:txBody>
      </p:sp>
      <p:sp>
        <p:nvSpPr>
          <p:cNvPr id="10" name="內容版面配置區 9"/>
          <p:cNvSpPr>
            <a:spLocks noGrp="1"/>
          </p:cNvSpPr>
          <p:nvPr>
            <p:ph sz="half" idx="1"/>
          </p:nvPr>
        </p:nvSpPr>
        <p:spPr>
          <a:xfrm>
            <a:off x="226424" y="1701404"/>
            <a:ext cx="4354285" cy="3649469"/>
          </a:xfrm>
        </p:spPr>
        <p:txBody>
          <a:bodyPr/>
          <a:lstStyle/>
          <a:p>
            <a:pPr marL="0" indent="0">
              <a:buClrTx/>
              <a:buSzPct val="100000"/>
              <a:buNone/>
            </a:pPr>
            <a:endParaRPr lang="en-US" altLang="zh-TW" sz="1950" dirty="0"/>
          </a:p>
          <a:p>
            <a:r>
              <a:rPr lang="en-US" altLang="zh-TW" sz="1950" i="1" dirty="0" err="1">
                <a:latin typeface="Times New Roman" panose="02020603050405020304" pitchFamily="18" charset="0"/>
                <a:cs typeface="Times New Roman" panose="02020603050405020304" pitchFamily="18" charset="0"/>
              </a:rPr>
              <a:t>leavefbar</a:t>
            </a:r>
            <a:r>
              <a:rPr lang="en-US" altLang="zh-TW" sz="1950" dirty="0"/>
              <a:t> - indicates that the work-item has arrived at the </a:t>
            </a:r>
            <a:r>
              <a:rPr lang="en-US" altLang="zh-TW" sz="1950" dirty="0" err="1"/>
              <a:t>fbarrier</a:t>
            </a:r>
            <a:r>
              <a:rPr lang="en-US" altLang="zh-TW" sz="1950" dirty="0"/>
              <a:t>, but does not wait for other work-items that are members of the </a:t>
            </a:r>
            <a:r>
              <a:rPr lang="en-US" altLang="zh-TW" sz="1950" dirty="0" err="1"/>
              <a:t>fbarrier</a:t>
            </a:r>
            <a:r>
              <a:rPr lang="en-US" altLang="zh-TW" sz="1950" dirty="0"/>
              <a:t> to arrive at the same </a:t>
            </a:r>
            <a:r>
              <a:rPr lang="en-US" altLang="zh-TW" sz="1950" dirty="0" err="1"/>
              <a:t>fbarrier</a:t>
            </a:r>
            <a:r>
              <a:rPr lang="en-US" altLang="zh-TW" sz="1950" dirty="0"/>
              <a:t>. </a:t>
            </a:r>
          </a:p>
          <a:p>
            <a:endParaRPr lang="en-US" altLang="zh-TW" sz="1950" dirty="0"/>
          </a:p>
          <a:p>
            <a:r>
              <a:rPr lang="en-US" altLang="zh-TW" sz="1950" dirty="0"/>
              <a:t>If the work-item is the last of the </a:t>
            </a:r>
            <a:r>
              <a:rPr lang="en-US" altLang="zh-TW" sz="1950" dirty="0" err="1"/>
              <a:t>fbarrier</a:t>
            </a:r>
            <a:r>
              <a:rPr lang="en-US" altLang="zh-TW" sz="1950" dirty="0"/>
              <a:t> members to arrive, then any work-items waiting on the </a:t>
            </a:r>
            <a:r>
              <a:rPr lang="en-US" altLang="zh-TW" sz="1950" dirty="0" err="1"/>
              <a:t>fbarrier</a:t>
            </a:r>
            <a:r>
              <a:rPr lang="en-US" altLang="zh-TW" sz="1950" dirty="0"/>
              <a:t> can proceed and the </a:t>
            </a:r>
            <a:r>
              <a:rPr lang="en-US" altLang="zh-TW" sz="1950" dirty="0" err="1"/>
              <a:t>fbarrier</a:t>
            </a:r>
            <a:r>
              <a:rPr lang="en-US" altLang="zh-TW" sz="1950" dirty="0"/>
              <a:t> is reset.</a:t>
            </a:r>
          </a:p>
        </p:txBody>
      </p:sp>
      <p:pic>
        <p:nvPicPr>
          <p:cNvPr id="3" name="內容版面配置區 2"/>
          <p:cNvPicPr>
            <a:picLocks noGrp="1" noChangeAspect="1"/>
          </p:cNvPicPr>
          <p:nvPr>
            <p:ph sz="half" idx="2"/>
          </p:nvPr>
        </p:nvPicPr>
        <p:blipFill>
          <a:blip r:embed="rId2" cstate="print"/>
          <a:stretch>
            <a:fillRect/>
          </a:stretch>
        </p:blipFill>
        <p:spPr>
          <a:xfrm>
            <a:off x="4647601" y="1701403"/>
            <a:ext cx="4366826" cy="2447687"/>
          </a:xfrm>
          <a:prstGeom prst="rect">
            <a:avLst/>
          </a:prstGeom>
        </p:spPr>
      </p:pic>
      <p:sp>
        <p:nvSpPr>
          <p:cNvPr id="4" name="投影片編號版面配置區 3"/>
          <p:cNvSpPr>
            <a:spLocks noGrp="1"/>
          </p:cNvSpPr>
          <p:nvPr>
            <p:ph type="sldNum" sz="quarter" idx="10"/>
          </p:nvPr>
        </p:nvSpPr>
        <p:spPr/>
        <p:txBody>
          <a:bodyPr/>
          <a:lstStyle/>
          <a:p>
            <a:fld id="{6C75C586-0B13-4105-9895-CED4323B37DD}" type="slidenum">
              <a:rPr lang="zh-TW" altLang="en-US" smtClean="0"/>
              <a:pPr/>
              <a:t>70</a:t>
            </a:fld>
            <a:endParaRPr lang="zh-TW" altLang="en-US"/>
          </a:p>
        </p:txBody>
      </p:sp>
      <p:sp>
        <p:nvSpPr>
          <p:cNvPr id="9" name="內容版面配置區 9"/>
          <p:cNvSpPr txBox="1">
            <a:spLocks/>
          </p:cNvSpPr>
          <p:nvPr/>
        </p:nvSpPr>
        <p:spPr bwMode="auto">
          <a:xfrm>
            <a:off x="4660142" y="4149090"/>
            <a:ext cx="4354285" cy="1316083"/>
          </a:xfrm>
          <a:prstGeom prst="rect">
            <a:avLst/>
          </a:prstGeom>
          <a:noFill/>
          <a:ln w="9525">
            <a:noFill/>
            <a:miter lim="800000"/>
            <a:headEnd/>
            <a:tailEnd/>
          </a:ln>
        </p:spPr>
        <p:txBody>
          <a:bodyPr vert="horz" wrap="square" lIns="68580" tIns="34290" rIns="68580" bIns="34290" numCol="1" anchor="t" anchorCtr="0" compatLnSpc="1">
            <a:prstTxWarp prst="textNoShape">
              <a:avLst/>
            </a:prstTxWarp>
          </a:bodyPr>
          <a:lstStyle>
            <a:lvl1pPr marL="144661" indent="-144661" algn="l" rtl="0" eaLnBrk="1" fontAlgn="base" hangingPunct="1">
              <a:spcBef>
                <a:spcPct val="20000"/>
              </a:spcBef>
              <a:spcAft>
                <a:spcPct val="0"/>
              </a:spcAft>
              <a:buClr>
                <a:srgbClr val="0000FF"/>
              </a:buClr>
              <a:buSzPct val="80000"/>
              <a:buFont typeface="Wingdings" pitchFamily="2" charset="2"/>
              <a:buChar char="l"/>
              <a:defRPr kumimoji="1" sz="1181">
                <a:solidFill>
                  <a:schemeClr val="tx1"/>
                </a:solidFill>
                <a:latin typeface="Calibri" pitchFamily="34" charset="0"/>
                <a:ea typeface="標楷體" pitchFamily="65" charset="-120"/>
                <a:cs typeface="+mn-cs"/>
              </a:defRPr>
            </a:lvl1pPr>
            <a:lvl2pPr marL="313433" indent="-120551" algn="l" rtl="0" eaLnBrk="1" fontAlgn="base" hangingPunct="1">
              <a:spcBef>
                <a:spcPct val="20000"/>
              </a:spcBef>
              <a:spcAft>
                <a:spcPct val="0"/>
              </a:spcAft>
              <a:buClr>
                <a:srgbClr val="0000FF"/>
              </a:buClr>
              <a:buSzPct val="90000"/>
              <a:buFont typeface="Arial" charset="0"/>
              <a:buChar char="–"/>
              <a:defRPr kumimoji="1" sz="1013">
                <a:solidFill>
                  <a:schemeClr val="tx1"/>
                </a:solidFill>
                <a:latin typeface="Calibri" pitchFamily="34" charset="0"/>
                <a:ea typeface="標楷體" pitchFamily="65" charset="-120"/>
              </a:defRPr>
            </a:lvl2pPr>
            <a:lvl3pPr marL="482204" indent="-96441" algn="l" rtl="0" eaLnBrk="1" fontAlgn="base" hangingPunct="1">
              <a:spcBef>
                <a:spcPct val="20000"/>
              </a:spcBef>
              <a:spcAft>
                <a:spcPct val="0"/>
              </a:spcAft>
              <a:buChar char="•"/>
              <a:defRPr kumimoji="1" sz="844">
                <a:solidFill>
                  <a:schemeClr val="tx1"/>
                </a:solidFill>
                <a:latin typeface="+mn-lt"/>
                <a:ea typeface="+mn-ea"/>
              </a:defRPr>
            </a:lvl3pPr>
            <a:lvl4pPr marL="675085" indent="-96441" algn="l" rtl="0" eaLnBrk="1" fontAlgn="base" hangingPunct="1">
              <a:spcBef>
                <a:spcPct val="20000"/>
              </a:spcBef>
              <a:spcAft>
                <a:spcPct val="0"/>
              </a:spcAft>
              <a:buChar char="–"/>
              <a:defRPr kumimoji="1" sz="760">
                <a:solidFill>
                  <a:schemeClr val="tx1"/>
                </a:solidFill>
                <a:latin typeface="+mn-lt"/>
                <a:ea typeface="+mn-ea"/>
              </a:defRPr>
            </a:lvl4pPr>
            <a:lvl5pPr marL="867966" indent="-96441" algn="l" rtl="0" eaLnBrk="1" fontAlgn="base" hangingPunct="1">
              <a:spcBef>
                <a:spcPct val="20000"/>
              </a:spcBef>
              <a:spcAft>
                <a:spcPct val="0"/>
              </a:spcAft>
              <a:buChar char="»"/>
              <a:defRPr kumimoji="1" sz="760">
                <a:solidFill>
                  <a:schemeClr val="tx1"/>
                </a:solidFill>
                <a:latin typeface="+mn-lt"/>
                <a:ea typeface="+mn-ea"/>
              </a:defRPr>
            </a:lvl5pPr>
            <a:lvl6pPr marL="1060847" indent="-96441" algn="l" rtl="0" eaLnBrk="1" fontAlgn="base" hangingPunct="1">
              <a:spcBef>
                <a:spcPct val="20000"/>
              </a:spcBef>
              <a:spcAft>
                <a:spcPct val="0"/>
              </a:spcAft>
              <a:buChar char="»"/>
              <a:defRPr kumimoji="1" sz="760">
                <a:solidFill>
                  <a:schemeClr val="tx1"/>
                </a:solidFill>
                <a:latin typeface="+mn-lt"/>
                <a:ea typeface="+mn-ea"/>
              </a:defRPr>
            </a:lvl6pPr>
            <a:lvl7pPr marL="1253729" indent="-96441" algn="l" rtl="0" eaLnBrk="1" fontAlgn="base" hangingPunct="1">
              <a:spcBef>
                <a:spcPct val="20000"/>
              </a:spcBef>
              <a:spcAft>
                <a:spcPct val="0"/>
              </a:spcAft>
              <a:buChar char="»"/>
              <a:defRPr kumimoji="1" sz="760">
                <a:solidFill>
                  <a:schemeClr val="tx1"/>
                </a:solidFill>
                <a:latin typeface="+mn-lt"/>
                <a:ea typeface="+mn-ea"/>
              </a:defRPr>
            </a:lvl7pPr>
            <a:lvl8pPr marL="1446610" indent="-96441" algn="l" rtl="0" eaLnBrk="1" fontAlgn="base" hangingPunct="1">
              <a:spcBef>
                <a:spcPct val="20000"/>
              </a:spcBef>
              <a:spcAft>
                <a:spcPct val="0"/>
              </a:spcAft>
              <a:buChar char="»"/>
              <a:defRPr kumimoji="1" sz="760">
                <a:solidFill>
                  <a:schemeClr val="tx1"/>
                </a:solidFill>
                <a:latin typeface="+mn-lt"/>
                <a:ea typeface="+mn-ea"/>
              </a:defRPr>
            </a:lvl8pPr>
            <a:lvl9pPr marL="1639491" indent="-96441" algn="l" rtl="0" eaLnBrk="1" fontAlgn="base" hangingPunct="1">
              <a:spcBef>
                <a:spcPct val="20000"/>
              </a:spcBef>
              <a:spcAft>
                <a:spcPct val="0"/>
              </a:spcAft>
              <a:buChar char="»"/>
              <a:defRPr kumimoji="1" sz="760">
                <a:solidFill>
                  <a:schemeClr val="tx1"/>
                </a:solidFill>
                <a:latin typeface="+mn-lt"/>
                <a:ea typeface="+mn-ea"/>
              </a:defRPr>
            </a:lvl9pPr>
          </a:lstStyle>
          <a:p>
            <a:pPr marL="0" indent="0">
              <a:buClrTx/>
              <a:buSzPct val="100000"/>
              <a:buNone/>
            </a:pPr>
            <a:r>
              <a:rPr lang="en-US" altLang="zh-TW" sz="1500" kern="0" dirty="0" err="1"/>
              <a:t>Src</a:t>
            </a:r>
            <a:r>
              <a:rPr lang="en-US" altLang="zh-TW" sz="1500" kern="0" dirty="0"/>
              <a:t> – the name of an </a:t>
            </a:r>
            <a:r>
              <a:rPr lang="en-US" altLang="zh-TW" sz="1500" kern="0" dirty="0" err="1"/>
              <a:t>fbarrier</a:t>
            </a:r>
            <a:r>
              <a:rPr lang="en-US" altLang="zh-TW" sz="1500" kern="0" dirty="0"/>
              <a:t> or an </a:t>
            </a:r>
            <a:r>
              <a:rPr lang="en-US" altLang="zh-TW" sz="1500" i="1" kern="0" dirty="0">
                <a:latin typeface="Times New Roman" panose="02020603050405020304" pitchFamily="18" charset="0"/>
                <a:cs typeface="Times New Roman" panose="02020603050405020304" pitchFamily="18" charset="0"/>
              </a:rPr>
              <a:t>s</a:t>
            </a:r>
            <a:r>
              <a:rPr lang="en-US" altLang="zh-TW" sz="1500" kern="0" dirty="0"/>
              <a:t> register containing  a value produce by </a:t>
            </a:r>
            <a:r>
              <a:rPr lang="en-US" altLang="zh-TW" sz="1500" i="1" kern="0" dirty="0" err="1">
                <a:latin typeface="Times New Roman" panose="02020603050405020304" pitchFamily="18" charset="0"/>
                <a:cs typeface="Times New Roman" panose="02020603050405020304" pitchFamily="18" charset="0"/>
              </a:rPr>
              <a:t>ldf</a:t>
            </a:r>
            <a:r>
              <a:rPr lang="en-US" altLang="zh-TW" sz="1500" kern="0" dirty="0"/>
              <a:t>. </a:t>
            </a:r>
          </a:p>
          <a:p>
            <a:pPr marL="0" indent="0">
              <a:buClrTx/>
              <a:buSzPct val="100000"/>
              <a:buNone/>
            </a:pPr>
            <a:r>
              <a:rPr lang="en-US" altLang="zh-TW" sz="1500" kern="0" dirty="0" err="1"/>
              <a:t>fbarrierName</a:t>
            </a:r>
            <a:r>
              <a:rPr lang="en-US" altLang="zh-TW" sz="1500" kern="0" dirty="0"/>
              <a:t> - Name of the </a:t>
            </a:r>
            <a:r>
              <a:rPr lang="en-US" altLang="zh-TW" sz="1500" kern="0" dirty="0" err="1"/>
              <a:t>fbarrier</a:t>
            </a:r>
            <a:r>
              <a:rPr lang="en-US" altLang="zh-TW" sz="1500" kern="0" dirty="0"/>
              <a:t>.</a:t>
            </a:r>
            <a:endParaRPr lang="zh-TW" altLang="en-US" sz="1500" kern="0" dirty="0"/>
          </a:p>
        </p:txBody>
      </p:sp>
    </p:spTree>
    <p:extLst>
      <p:ext uri="{BB962C8B-B14F-4D97-AF65-F5344CB8AC3E}">
        <p14:creationId xmlns:p14="http://schemas.microsoft.com/office/powerpoint/2010/main" val="4184279966"/>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標題 7"/>
          <p:cNvSpPr>
            <a:spLocks noGrp="1"/>
          </p:cNvSpPr>
          <p:nvPr>
            <p:ph type="title"/>
          </p:nvPr>
        </p:nvSpPr>
        <p:spPr/>
        <p:txBody>
          <a:bodyPr/>
          <a:lstStyle/>
          <a:p>
            <a:r>
              <a:rPr lang="en-US" altLang="zh-TW" dirty="0" smtClean="0"/>
              <a:t>Fine-Grain Barrier (</a:t>
            </a:r>
            <a:r>
              <a:rPr lang="en-US" altLang="zh-TW" dirty="0" err="1" smtClean="0"/>
              <a:t>fbar</a:t>
            </a:r>
            <a:r>
              <a:rPr lang="en-US" altLang="zh-TW" dirty="0" smtClean="0"/>
              <a:t>) Operations (6)</a:t>
            </a:r>
            <a:endParaRPr lang="zh-TW" altLang="en-US" dirty="0"/>
          </a:p>
        </p:txBody>
      </p:sp>
      <p:sp>
        <p:nvSpPr>
          <p:cNvPr id="10" name="內容版面配置區 9"/>
          <p:cNvSpPr>
            <a:spLocks noGrp="1"/>
          </p:cNvSpPr>
          <p:nvPr>
            <p:ph sz="half" idx="1"/>
          </p:nvPr>
        </p:nvSpPr>
        <p:spPr>
          <a:xfrm>
            <a:off x="226424" y="1701404"/>
            <a:ext cx="4354285" cy="3649469"/>
          </a:xfrm>
        </p:spPr>
        <p:txBody>
          <a:bodyPr/>
          <a:lstStyle/>
          <a:p>
            <a:pPr marL="0" indent="0">
              <a:buClrTx/>
              <a:buSzPct val="100000"/>
              <a:buNone/>
            </a:pPr>
            <a:endParaRPr lang="en-US" altLang="zh-TW" sz="1950" dirty="0"/>
          </a:p>
          <a:p>
            <a:r>
              <a:rPr lang="en-US" altLang="zh-TW" sz="1950" i="1" dirty="0" err="1">
                <a:latin typeface="Times New Roman" panose="02020603050405020304" pitchFamily="18" charset="0"/>
                <a:cs typeface="Times New Roman" panose="02020603050405020304" pitchFamily="18" charset="0"/>
              </a:rPr>
              <a:t>releasefbar</a:t>
            </a:r>
            <a:r>
              <a:rPr lang="en-US" altLang="zh-TW" sz="1950" dirty="0"/>
              <a:t> - Before all work-items of a work-group exit, every </a:t>
            </a:r>
            <a:r>
              <a:rPr lang="en-US" altLang="zh-TW" sz="1950" dirty="0" err="1"/>
              <a:t>fbarrier</a:t>
            </a:r>
            <a:r>
              <a:rPr lang="en-US" altLang="zh-TW" sz="1950" dirty="0"/>
              <a:t> that has been initialized by a work-item of the work-group using </a:t>
            </a:r>
            <a:r>
              <a:rPr lang="en-US" altLang="zh-TW" sz="1950" dirty="0" err="1"/>
              <a:t>initfbar</a:t>
            </a:r>
            <a:r>
              <a:rPr lang="en-US" altLang="zh-TW" sz="1950" dirty="0"/>
              <a:t> must be released.</a:t>
            </a:r>
          </a:p>
          <a:p>
            <a:endParaRPr lang="en-US" altLang="zh-TW" sz="1950" dirty="0"/>
          </a:p>
          <a:p>
            <a:r>
              <a:rPr lang="en-US" altLang="zh-TW" sz="1950" i="1" dirty="0" err="1">
                <a:latin typeface="Times New Roman" panose="02020603050405020304" pitchFamily="18" charset="0"/>
                <a:cs typeface="Times New Roman" panose="02020603050405020304" pitchFamily="18" charset="0"/>
              </a:rPr>
              <a:t>ldf</a:t>
            </a:r>
            <a:r>
              <a:rPr lang="en-US" altLang="zh-TW" sz="1950" dirty="0"/>
              <a:t> - Places the address of an </a:t>
            </a:r>
            <a:r>
              <a:rPr lang="en-US" altLang="zh-TW" sz="1950" dirty="0" err="1"/>
              <a:t>fbarrier</a:t>
            </a:r>
            <a:r>
              <a:rPr lang="en-US" altLang="zh-TW" sz="1950" dirty="0"/>
              <a:t> into the destination </a:t>
            </a:r>
            <a:r>
              <a:rPr lang="en-US" altLang="zh-TW" sz="1950" dirty="0" err="1"/>
              <a:t>dest</a:t>
            </a:r>
            <a:r>
              <a:rPr lang="en-US" altLang="zh-TW" sz="1950" dirty="0"/>
              <a:t>.</a:t>
            </a:r>
          </a:p>
        </p:txBody>
      </p:sp>
      <p:pic>
        <p:nvPicPr>
          <p:cNvPr id="3" name="內容版面配置區 2"/>
          <p:cNvPicPr>
            <a:picLocks noGrp="1" noChangeAspect="1"/>
          </p:cNvPicPr>
          <p:nvPr>
            <p:ph sz="half" idx="2"/>
          </p:nvPr>
        </p:nvPicPr>
        <p:blipFill>
          <a:blip r:embed="rId2" cstate="print"/>
          <a:stretch>
            <a:fillRect/>
          </a:stretch>
        </p:blipFill>
        <p:spPr>
          <a:xfrm>
            <a:off x="4647601" y="1701403"/>
            <a:ext cx="4366826" cy="2447687"/>
          </a:xfrm>
          <a:prstGeom prst="rect">
            <a:avLst/>
          </a:prstGeom>
        </p:spPr>
      </p:pic>
      <p:sp>
        <p:nvSpPr>
          <p:cNvPr id="4" name="投影片編號版面配置區 3"/>
          <p:cNvSpPr>
            <a:spLocks noGrp="1"/>
          </p:cNvSpPr>
          <p:nvPr>
            <p:ph type="sldNum" sz="quarter" idx="10"/>
          </p:nvPr>
        </p:nvSpPr>
        <p:spPr/>
        <p:txBody>
          <a:bodyPr/>
          <a:lstStyle/>
          <a:p>
            <a:fld id="{6C75C586-0B13-4105-9895-CED4323B37DD}" type="slidenum">
              <a:rPr lang="zh-TW" altLang="en-US" smtClean="0"/>
              <a:pPr/>
              <a:t>71</a:t>
            </a:fld>
            <a:endParaRPr lang="zh-TW" altLang="en-US"/>
          </a:p>
        </p:txBody>
      </p:sp>
      <p:sp>
        <p:nvSpPr>
          <p:cNvPr id="9" name="內容版面配置區 9"/>
          <p:cNvSpPr txBox="1">
            <a:spLocks/>
          </p:cNvSpPr>
          <p:nvPr/>
        </p:nvSpPr>
        <p:spPr bwMode="auto">
          <a:xfrm>
            <a:off x="4660142" y="4149090"/>
            <a:ext cx="4354285" cy="1316083"/>
          </a:xfrm>
          <a:prstGeom prst="rect">
            <a:avLst/>
          </a:prstGeom>
          <a:noFill/>
          <a:ln w="9525">
            <a:noFill/>
            <a:miter lim="800000"/>
            <a:headEnd/>
            <a:tailEnd/>
          </a:ln>
        </p:spPr>
        <p:txBody>
          <a:bodyPr vert="horz" wrap="square" lIns="68580" tIns="34290" rIns="68580" bIns="34290" numCol="1" anchor="t" anchorCtr="0" compatLnSpc="1">
            <a:prstTxWarp prst="textNoShape">
              <a:avLst/>
            </a:prstTxWarp>
          </a:bodyPr>
          <a:lstStyle>
            <a:lvl1pPr marL="144661" indent="-144661" algn="l" rtl="0" eaLnBrk="1" fontAlgn="base" hangingPunct="1">
              <a:spcBef>
                <a:spcPct val="20000"/>
              </a:spcBef>
              <a:spcAft>
                <a:spcPct val="0"/>
              </a:spcAft>
              <a:buClr>
                <a:srgbClr val="0000FF"/>
              </a:buClr>
              <a:buSzPct val="80000"/>
              <a:buFont typeface="Wingdings" pitchFamily="2" charset="2"/>
              <a:buChar char="l"/>
              <a:defRPr kumimoji="1" sz="1181">
                <a:solidFill>
                  <a:schemeClr val="tx1"/>
                </a:solidFill>
                <a:latin typeface="Calibri" pitchFamily="34" charset="0"/>
                <a:ea typeface="標楷體" pitchFamily="65" charset="-120"/>
                <a:cs typeface="+mn-cs"/>
              </a:defRPr>
            </a:lvl1pPr>
            <a:lvl2pPr marL="313433" indent="-120551" algn="l" rtl="0" eaLnBrk="1" fontAlgn="base" hangingPunct="1">
              <a:spcBef>
                <a:spcPct val="20000"/>
              </a:spcBef>
              <a:spcAft>
                <a:spcPct val="0"/>
              </a:spcAft>
              <a:buClr>
                <a:srgbClr val="0000FF"/>
              </a:buClr>
              <a:buSzPct val="90000"/>
              <a:buFont typeface="Arial" charset="0"/>
              <a:buChar char="–"/>
              <a:defRPr kumimoji="1" sz="1013">
                <a:solidFill>
                  <a:schemeClr val="tx1"/>
                </a:solidFill>
                <a:latin typeface="Calibri" pitchFamily="34" charset="0"/>
                <a:ea typeface="標楷體" pitchFamily="65" charset="-120"/>
              </a:defRPr>
            </a:lvl2pPr>
            <a:lvl3pPr marL="482204" indent="-96441" algn="l" rtl="0" eaLnBrk="1" fontAlgn="base" hangingPunct="1">
              <a:spcBef>
                <a:spcPct val="20000"/>
              </a:spcBef>
              <a:spcAft>
                <a:spcPct val="0"/>
              </a:spcAft>
              <a:buChar char="•"/>
              <a:defRPr kumimoji="1" sz="844">
                <a:solidFill>
                  <a:schemeClr val="tx1"/>
                </a:solidFill>
                <a:latin typeface="+mn-lt"/>
                <a:ea typeface="+mn-ea"/>
              </a:defRPr>
            </a:lvl3pPr>
            <a:lvl4pPr marL="675085" indent="-96441" algn="l" rtl="0" eaLnBrk="1" fontAlgn="base" hangingPunct="1">
              <a:spcBef>
                <a:spcPct val="20000"/>
              </a:spcBef>
              <a:spcAft>
                <a:spcPct val="0"/>
              </a:spcAft>
              <a:buChar char="–"/>
              <a:defRPr kumimoji="1" sz="760">
                <a:solidFill>
                  <a:schemeClr val="tx1"/>
                </a:solidFill>
                <a:latin typeface="+mn-lt"/>
                <a:ea typeface="+mn-ea"/>
              </a:defRPr>
            </a:lvl4pPr>
            <a:lvl5pPr marL="867966" indent="-96441" algn="l" rtl="0" eaLnBrk="1" fontAlgn="base" hangingPunct="1">
              <a:spcBef>
                <a:spcPct val="20000"/>
              </a:spcBef>
              <a:spcAft>
                <a:spcPct val="0"/>
              </a:spcAft>
              <a:buChar char="»"/>
              <a:defRPr kumimoji="1" sz="760">
                <a:solidFill>
                  <a:schemeClr val="tx1"/>
                </a:solidFill>
                <a:latin typeface="+mn-lt"/>
                <a:ea typeface="+mn-ea"/>
              </a:defRPr>
            </a:lvl5pPr>
            <a:lvl6pPr marL="1060847" indent="-96441" algn="l" rtl="0" eaLnBrk="1" fontAlgn="base" hangingPunct="1">
              <a:spcBef>
                <a:spcPct val="20000"/>
              </a:spcBef>
              <a:spcAft>
                <a:spcPct val="0"/>
              </a:spcAft>
              <a:buChar char="»"/>
              <a:defRPr kumimoji="1" sz="760">
                <a:solidFill>
                  <a:schemeClr val="tx1"/>
                </a:solidFill>
                <a:latin typeface="+mn-lt"/>
                <a:ea typeface="+mn-ea"/>
              </a:defRPr>
            </a:lvl6pPr>
            <a:lvl7pPr marL="1253729" indent="-96441" algn="l" rtl="0" eaLnBrk="1" fontAlgn="base" hangingPunct="1">
              <a:spcBef>
                <a:spcPct val="20000"/>
              </a:spcBef>
              <a:spcAft>
                <a:spcPct val="0"/>
              </a:spcAft>
              <a:buChar char="»"/>
              <a:defRPr kumimoji="1" sz="760">
                <a:solidFill>
                  <a:schemeClr val="tx1"/>
                </a:solidFill>
                <a:latin typeface="+mn-lt"/>
                <a:ea typeface="+mn-ea"/>
              </a:defRPr>
            </a:lvl7pPr>
            <a:lvl8pPr marL="1446610" indent="-96441" algn="l" rtl="0" eaLnBrk="1" fontAlgn="base" hangingPunct="1">
              <a:spcBef>
                <a:spcPct val="20000"/>
              </a:spcBef>
              <a:spcAft>
                <a:spcPct val="0"/>
              </a:spcAft>
              <a:buChar char="»"/>
              <a:defRPr kumimoji="1" sz="760">
                <a:solidFill>
                  <a:schemeClr val="tx1"/>
                </a:solidFill>
                <a:latin typeface="+mn-lt"/>
                <a:ea typeface="+mn-ea"/>
              </a:defRPr>
            </a:lvl8pPr>
            <a:lvl9pPr marL="1639491" indent="-96441" algn="l" rtl="0" eaLnBrk="1" fontAlgn="base" hangingPunct="1">
              <a:spcBef>
                <a:spcPct val="20000"/>
              </a:spcBef>
              <a:spcAft>
                <a:spcPct val="0"/>
              </a:spcAft>
              <a:buChar char="»"/>
              <a:defRPr kumimoji="1" sz="760">
                <a:solidFill>
                  <a:schemeClr val="tx1"/>
                </a:solidFill>
                <a:latin typeface="+mn-lt"/>
                <a:ea typeface="+mn-ea"/>
              </a:defRPr>
            </a:lvl9pPr>
          </a:lstStyle>
          <a:p>
            <a:pPr marL="0" indent="0">
              <a:buClrTx/>
              <a:buSzPct val="100000"/>
              <a:buNone/>
            </a:pPr>
            <a:r>
              <a:rPr lang="en-US" altLang="zh-TW" sz="1500" kern="0" dirty="0" err="1"/>
              <a:t>Src</a:t>
            </a:r>
            <a:r>
              <a:rPr lang="en-US" altLang="zh-TW" sz="1500" kern="0" dirty="0"/>
              <a:t> – the name of an </a:t>
            </a:r>
            <a:r>
              <a:rPr lang="en-US" altLang="zh-TW" sz="1500" kern="0" dirty="0" err="1"/>
              <a:t>fbarrier</a:t>
            </a:r>
            <a:r>
              <a:rPr lang="en-US" altLang="zh-TW" sz="1500" kern="0" dirty="0"/>
              <a:t> or an </a:t>
            </a:r>
            <a:r>
              <a:rPr lang="en-US" altLang="zh-TW" sz="1500" i="1" kern="0" dirty="0">
                <a:latin typeface="Times New Roman" panose="02020603050405020304" pitchFamily="18" charset="0"/>
                <a:cs typeface="Times New Roman" panose="02020603050405020304" pitchFamily="18" charset="0"/>
              </a:rPr>
              <a:t>s</a:t>
            </a:r>
            <a:r>
              <a:rPr lang="en-US" altLang="zh-TW" sz="1500" kern="0" dirty="0"/>
              <a:t> register containing  a value produce by </a:t>
            </a:r>
            <a:r>
              <a:rPr lang="en-US" altLang="zh-TW" sz="1500" i="1" kern="0" dirty="0" err="1">
                <a:latin typeface="Times New Roman" panose="02020603050405020304" pitchFamily="18" charset="0"/>
                <a:cs typeface="Times New Roman" panose="02020603050405020304" pitchFamily="18" charset="0"/>
              </a:rPr>
              <a:t>ldf</a:t>
            </a:r>
            <a:r>
              <a:rPr lang="en-US" altLang="zh-TW" sz="1500" kern="0" dirty="0"/>
              <a:t>. </a:t>
            </a:r>
          </a:p>
          <a:p>
            <a:pPr marL="0" indent="0">
              <a:buClrTx/>
              <a:buSzPct val="100000"/>
              <a:buNone/>
            </a:pPr>
            <a:r>
              <a:rPr lang="en-US" altLang="zh-TW" sz="1500" kern="0" dirty="0" err="1"/>
              <a:t>fbarrierName</a:t>
            </a:r>
            <a:r>
              <a:rPr lang="en-US" altLang="zh-TW" sz="1500" kern="0" dirty="0"/>
              <a:t> - Name of the </a:t>
            </a:r>
            <a:r>
              <a:rPr lang="en-US" altLang="zh-TW" sz="1500" kern="0" dirty="0" err="1"/>
              <a:t>fbarrier</a:t>
            </a:r>
            <a:r>
              <a:rPr lang="en-US" altLang="zh-TW" sz="1500" kern="0" dirty="0"/>
              <a:t>.</a:t>
            </a:r>
            <a:endParaRPr lang="zh-TW" altLang="en-US" sz="1500" kern="0" dirty="0"/>
          </a:p>
        </p:txBody>
      </p:sp>
    </p:spTree>
    <p:extLst>
      <p:ext uri="{BB962C8B-B14F-4D97-AF65-F5344CB8AC3E}">
        <p14:creationId xmlns:p14="http://schemas.microsoft.com/office/powerpoint/2010/main" val="1470047982"/>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sz="2700" dirty="0"/>
              <a:t>Function Operations</a:t>
            </a:r>
            <a:endParaRPr lang="zh-TW" altLang="en-US" sz="2700" dirty="0"/>
          </a:p>
        </p:txBody>
      </p:sp>
      <p:sp>
        <p:nvSpPr>
          <p:cNvPr id="5" name="文字版面配置區 4"/>
          <p:cNvSpPr>
            <a:spLocks noGrp="1"/>
          </p:cNvSpPr>
          <p:nvPr>
            <p:ph type="body" idx="1"/>
          </p:nvPr>
        </p:nvSpPr>
        <p:spPr/>
        <p:txBody>
          <a:bodyPr/>
          <a:lstStyle/>
          <a:p>
            <a:endParaRPr lang="zh-TW" altLang="en-US"/>
          </a:p>
        </p:txBody>
      </p:sp>
      <p:sp>
        <p:nvSpPr>
          <p:cNvPr id="2" name="投影片編號版面配置區 1"/>
          <p:cNvSpPr>
            <a:spLocks noGrp="1"/>
          </p:cNvSpPr>
          <p:nvPr>
            <p:ph type="sldNum" sz="quarter" idx="10"/>
          </p:nvPr>
        </p:nvSpPr>
        <p:spPr/>
        <p:txBody>
          <a:bodyPr/>
          <a:lstStyle/>
          <a:p>
            <a:fld id="{6C75C586-0B13-4105-9895-CED4323B37DD}" type="slidenum">
              <a:rPr lang="zh-TW" altLang="en-US" smtClean="0"/>
              <a:pPr/>
              <a:t>72</a:t>
            </a:fld>
            <a:endParaRPr lang="zh-TW" altLang="en-US"/>
          </a:p>
        </p:txBody>
      </p:sp>
    </p:spTree>
    <p:extLst>
      <p:ext uri="{BB962C8B-B14F-4D97-AF65-F5344CB8AC3E}">
        <p14:creationId xmlns:p14="http://schemas.microsoft.com/office/powerpoint/2010/main" val="2333411690"/>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標題 7"/>
          <p:cNvSpPr>
            <a:spLocks noGrp="1"/>
          </p:cNvSpPr>
          <p:nvPr>
            <p:ph type="title"/>
          </p:nvPr>
        </p:nvSpPr>
        <p:spPr/>
        <p:txBody>
          <a:bodyPr/>
          <a:lstStyle/>
          <a:p>
            <a:r>
              <a:rPr lang="en-US" altLang="zh-TW" dirty="0" smtClean="0"/>
              <a:t>Functions in HSAIL (1)</a:t>
            </a:r>
            <a:endParaRPr lang="zh-TW" altLang="en-US" dirty="0"/>
          </a:p>
        </p:txBody>
      </p:sp>
      <p:sp>
        <p:nvSpPr>
          <p:cNvPr id="10" name="內容版面配置區 9"/>
          <p:cNvSpPr>
            <a:spLocks noGrp="1"/>
          </p:cNvSpPr>
          <p:nvPr>
            <p:ph idx="1"/>
          </p:nvPr>
        </p:nvSpPr>
        <p:spPr>
          <a:xfrm>
            <a:off x="457200" y="1675277"/>
            <a:ext cx="8229600" cy="3433934"/>
          </a:xfrm>
        </p:spPr>
        <p:txBody>
          <a:bodyPr/>
          <a:lstStyle/>
          <a:p>
            <a:pPr marL="0" indent="0">
              <a:buClrTx/>
              <a:buSzPct val="100000"/>
              <a:buNone/>
            </a:pPr>
            <a:r>
              <a:rPr lang="en-US" altLang="zh-TW" sz="1950" dirty="0"/>
              <a:t>    </a:t>
            </a:r>
          </a:p>
          <a:p>
            <a:r>
              <a:rPr lang="en-US" altLang="zh-TW" sz="1950" dirty="0"/>
              <a:t>Like other programming languages, HSAIL provides support for user functions. A call operation transfers control to the start of the code block of the user function.</a:t>
            </a:r>
          </a:p>
          <a:p>
            <a:endParaRPr lang="en-US" altLang="zh-TW" sz="1950" dirty="0"/>
          </a:p>
          <a:p>
            <a:r>
              <a:rPr lang="en-US" altLang="zh-TW" sz="1950" dirty="0"/>
              <a:t>In order that HSAIL can execute efficiently on a wide range of compute units, an abstract method is used for passing arguments, with the </a:t>
            </a:r>
            <a:r>
              <a:rPr lang="en-US" altLang="zh-TW" sz="1950" dirty="0" err="1"/>
              <a:t>finalizer</a:t>
            </a:r>
            <a:r>
              <a:rPr lang="en-US" altLang="zh-TW" sz="1950" dirty="0"/>
              <a:t> determining what to do. </a:t>
            </a:r>
          </a:p>
          <a:p>
            <a:pPr marL="0" indent="0">
              <a:buClrTx/>
              <a:buSzPct val="100000"/>
              <a:buNone/>
            </a:pPr>
            <a:r>
              <a:rPr lang="en-US" altLang="zh-TW" sz="1950" dirty="0"/>
              <a:t>    </a:t>
            </a:r>
          </a:p>
        </p:txBody>
      </p:sp>
      <p:sp>
        <p:nvSpPr>
          <p:cNvPr id="4" name="投影片編號版面配置區 3"/>
          <p:cNvSpPr>
            <a:spLocks noGrp="1"/>
          </p:cNvSpPr>
          <p:nvPr>
            <p:ph type="sldNum" sz="quarter" idx="10"/>
          </p:nvPr>
        </p:nvSpPr>
        <p:spPr/>
        <p:txBody>
          <a:bodyPr/>
          <a:lstStyle/>
          <a:p>
            <a:fld id="{6C75C586-0B13-4105-9895-CED4323B37DD}" type="slidenum">
              <a:rPr lang="zh-TW" altLang="en-US" smtClean="0"/>
              <a:pPr/>
              <a:t>73</a:t>
            </a:fld>
            <a:endParaRPr lang="zh-TW" altLang="en-US"/>
          </a:p>
        </p:txBody>
      </p:sp>
    </p:spTree>
    <p:extLst>
      <p:ext uri="{BB962C8B-B14F-4D97-AF65-F5344CB8AC3E}">
        <p14:creationId xmlns:p14="http://schemas.microsoft.com/office/powerpoint/2010/main" val="4171194218"/>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標題 7"/>
          <p:cNvSpPr>
            <a:spLocks noGrp="1"/>
          </p:cNvSpPr>
          <p:nvPr>
            <p:ph type="title"/>
          </p:nvPr>
        </p:nvSpPr>
        <p:spPr/>
        <p:txBody>
          <a:bodyPr/>
          <a:lstStyle/>
          <a:p>
            <a:r>
              <a:rPr lang="en-US" altLang="zh-TW" dirty="0" smtClean="0"/>
              <a:t>Functions in HSAIL (2)</a:t>
            </a:r>
            <a:endParaRPr lang="zh-TW" altLang="en-US" dirty="0"/>
          </a:p>
        </p:txBody>
      </p:sp>
      <p:sp>
        <p:nvSpPr>
          <p:cNvPr id="10" name="內容版面配置區 9"/>
          <p:cNvSpPr>
            <a:spLocks noGrp="1"/>
          </p:cNvSpPr>
          <p:nvPr>
            <p:ph idx="1"/>
          </p:nvPr>
        </p:nvSpPr>
        <p:spPr>
          <a:xfrm>
            <a:off x="457200" y="1707936"/>
            <a:ext cx="8229600" cy="3616813"/>
          </a:xfrm>
        </p:spPr>
        <p:txBody>
          <a:bodyPr/>
          <a:lstStyle/>
          <a:p>
            <a:pPr marL="0" indent="0">
              <a:buClrTx/>
              <a:buSzPct val="100000"/>
              <a:buNone/>
            </a:pPr>
            <a:endParaRPr lang="en-US" altLang="zh-TW" sz="1950" dirty="0"/>
          </a:p>
          <a:p>
            <a:r>
              <a:rPr lang="en-US" altLang="zh-TW" sz="1950" dirty="0"/>
              <a:t>This is necessary because, on a GPU, stacks are not a good use of resources, especially if each work-item has its own stack. If an application is simultaneously running 30,000 work-items, then the stack-per-work-item is very limited.</a:t>
            </a:r>
          </a:p>
          <a:p>
            <a:endParaRPr lang="en-US" altLang="zh-TW" sz="1950" dirty="0"/>
          </a:p>
          <a:p>
            <a:r>
              <a:rPr lang="en-US" altLang="zh-TW" sz="1950" dirty="0"/>
              <a:t>Having one return address per </a:t>
            </a:r>
            <a:r>
              <a:rPr lang="en-US" altLang="zh-TW" sz="1950" dirty="0" err="1"/>
              <a:t>wavefront</a:t>
            </a:r>
            <a:r>
              <a:rPr lang="en-US" altLang="zh-TW" sz="1950" dirty="0"/>
              <a:t> (not one address per work-item) is desirable.</a:t>
            </a:r>
          </a:p>
          <a:p>
            <a:endParaRPr lang="en-US" altLang="zh-TW" sz="1950" dirty="0"/>
          </a:p>
          <a:p>
            <a:r>
              <a:rPr lang="en-US" altLang="zh-TW" sz="1950" dirty="0"/>
              <a:t>Implementations should map the abstractions into appropriate hardware.</a:t>
            </a:r>
          </a:p>
          <a:p>
            <a:pPr marL="0" indent="0">
              <a:buClrTx/>
              <a:buSzPct val="100000"/>
              <a:buNone/>
            </a:pPr>
            <a:endParaRPr lang="en-US" altLang="zh-TW" sz="1950" dirty="0"/>
          </a:p>
        </p:txBody>
      </p:sp>
      <p:sp>
        <p:nvSpPr>
          <p:cNvPr id="4" name="投影片編號版面配置區 3"/>
          <p:cNvSpPr>
            <a:spLocks noGrp="1"/>
          </p:cNvSpPr>
          <p:nvPr>
            <p:ph type="sldNum" sz="quarter" idx="10"/>
          </p:nvPr>
        </p:nvSpPr>
        <p:spPr/>
        <p:txBody>
          <a:bodyPr/>
          <a:lstStyle/>
          <a:p>
            <a:fld id="{6C75C586-0B13-4105-9895-CED4323B37DD}" type="slidenum">
              <a:rPr lang="zh-TW" altLang="en-US" smtClean="0"/>
              <a:pPr/>
              <a:t>74</a:t>
            </a:fld>
            <a:endParaRPr lang="zh-TW" altLang="en-US"/>
          </a:p>
        </p:txBody>
      </p:sp>
    </p:spTree>
    <p:extLst>
      <p:ext uri="{BB962C8B-B14F-4D97-AF65-F5344CB8AC3E}">
        <p14:creationId xmlns:p14="http://schemas.microsoft.com/office/powerpoint/2010/main" val="2867127897"/>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標題 7"/>
          <p:cNvSpPr>
            <a:spLocks noGrp="1"/>
          </p:cNvSpPr>
          <p:nvPr>
            <p:ph type="title"/>
          </p:nvPr>
        </p:nvSpPr>
        <p:spPr/>
        <p:txBody>
          <a:bodyPr/>
          <a:lstStyle/>
          <a:p>
            <a:r>
              <a:rPr lang="en-US" altLang="zh-TW" dirty="0" smtClean="0"/>
              <a:t>Example of a Simple Function</a:t>
            </a:r>
            <a:endParaRPr lang="zh-TW" altLang="en-US" dirty="0"/>
          </a:p>
        </p:txBody>
      </p:sp>
      <p:sp>
        <p:nvSpPr>
          <p:cNvPr id="10" name="內容版面配置區 9"/>
          <p:cNvSpPr>
            <a:spLocks noGrp="1"/>
          </p:cNvSpPr>
          <p:nvPr>
            <p:ph sz="half" idx="1"/>
          </p:nvPr>
        </p:nvSpPr>
        <p:spPr>
          <a:xfrm>
            <a:off x="468314" y="1701404"/>
            <a:ext cx="4038600" cy="3747441"/>
          </a:xfrm>
        </p:spPr>
        <p:txBody>
          <a:bodyPr/>
          <a:lstStyle/>
          <a:p>
            <a:r>
              <a:rPr lang="en-US" altLang="zh-TW" sz="1950" dirty="0"/>
              <a:t>The simplest function has no arguments and does not return a value. </a:t>
            </a:r>
          </a:p>
          <a:p>
            <a:endParaRPr lang="en-US" altLang="zh-TW" sz="1950" dirty="0"/>
          </a:p>
          <a:p>
            <a:r>
              <a:rPr lang="en-US" altLang="zh-TW" sz="1950" dirty="0"/>
              <a:t>Execution of the call operation transfers control to foo, implicitly saving the return address. </a:t>
            </a:r>
          </a:p>
          <a:p>
            <a:endParaRPr lang="en-US" altLang="zh-TW" sz="1950" dirty="0"/>
          </a:p>
          <a:p>
            <a:r>
              <a:rPr lang="en-US" altLang="zh-TW" sz="1950" dirty="0"/>
              <a:t>Execution of the ret operation within foo transfers control to the operation following the call.</a:t>
            </a:r>
          </a:p>
        </p:txBody>
      </p:sp>
      <p:sp>
        <p:nvSpPr>
          <p:cNvPr id="2" name="內容版面配置區 1"/>
          <p:cNvSpPr>
            <a:spLocks noGrp="1"/>
          </p:cNvSpPr>
          <p:nvPr>
            <p:ph sz="half" idx="2"/>
          </p:nvPr>
        </p:nvSpPr>
        <p:spPr>
          <a:xfrm>
            <a:off x="4648200" y="1701404"/>
            <a:ext cx="4038600" cy="3649469"/>
          </a:xfrm>
          <a:ln w="25400">
            <a:solidFill>
              <a:schemeClr val="accent1"/>
            </a:solidFill>
          </a:ln>
        </p:spPr>
        <p:txBody>
          <a:bodyPr/>
          <a:lstStyle/>
          <a:p>
            <a:pPr marL="0" indent="0">
              <a:buNone/>
            </a:pPr>
            <a:r>
              <a:rPr lang="en-US" altLang="zh-TW" sz="1500"/>
              <a:t>function &amp;foo()()</a:t>
            </a:r>
          </a:p>
          <a:p>
            <a:pPr marL="0" indent="0">
              <a:buNone/>
            </a:pPr>
            <a:r>
              <a:rPr lang="en-US" altLang="zh-TW" sz="1500"/>
              <a:t>{</a:t>
            </a:r>
          </a:p>
          <a:p>
            <a:pPr marL="0" indent="0">
              <a:buNone/>
            </a:pPr>
            <a:r>
              <a:rPr lang="en-US" altLang="zh-TW" sz="1500"/>
              <a:t>    ret;</a:t>
            </a:r>
          </a:p>
          <a:p>
            <a:pPr marL="0" indent="0">
              <a:buNone/>
            </a:pPr>
            <a:r>
              <a:rPr lang="en-US" altLang="zh-TW" sz="1500"/>
              <a:t>};</a:t>
            </a:r>
          </a:p>
          <a:p>
            <a:pPr marL="0" indent="0">
              <a:buNone/>
            </a:pPr>
            <a:endParaRPr lang="en-US" altLang="zh-TW" sz="1500"/>
          </a:p>
          <a:p>
            <a:pPr marL="0" indent="0">
              <a:buNone/>
            </a:pPr>
            <a:r>
              <a:rPr lang="en-US" altLang="zh-TW" sz="1500"/>
              <a:t>function &amp;bar()()</a:t>
            </a:r>
          </a:p>
          <a:p>
            <a:pPr marL="0" indent="0">
              <a:buNone/>
            </a:pPr>
            <a:r>
              <a:rPr lang="en-US" altLang="zh-TW" sz="1500"/>
              <a:t>{</a:t>
            </a:r>
          </a:p>
          <a:p>
            <a:pPr marL="0" indent="0">
              <a:buNone/>
            </a:pPr>
            <a:r>
              <a:rPr lang="en-US" altLang="zh-TW" sz="1500"/>
              <a:t>    { //start argument scope</a:t>
            </a:r>
          </a:p>
          <a:p>
            <a:pPr marL="0" indent="0">
              <a:buNone/>
            </a:pPr>
            <a:r>
              <a:rPr lang="en-US" altLang="zh-TW" sz="1500"/>
              <a:t>        call &amp;foo()();</a:t>
            </a:r>
          </a:p>
          <a:p>
            <a:pPr marL="0" indent="0">
              <a:buNone/>
            </a:pPr>
            <a:r>
              <a:rPr lang="en-US" altLang="zh-TW" sz="1500"/>
              <a:t>    } //end argument scope</a:t>
            </a:r>
          </a:p>
          <a:p>
            <a:pPr marL="0" indent="0">
              <a:buNone/>
            </a:pPr>
            <a:r>
              <a:rPr lang="en-US" altLang="zh-TW" sz="1500"/>
              <a:t>};</a:t>
            </a:r>
            <a:endParaRPr lang="zh-TW" altLang="en-US" sz="1500" dirty="0"/>
          </a:p>
        </p:txBody>
      </p:sp>
      <p:sp>
        <p:nvSpPr>
          <p:cNvPr id="4" name="投影片編號版面配置區 3"/>
          <p:cNvSpPr>
            <a:spLocks noGrp="1"/>
          </p:cNvSpPr>
          <p:nvPr>
            <p:ph type="sldNum" sz="quarter" idx="10"/>
          </p:nvPr>
        </p:nvSpPr>
        <p:spPr/>
        <p:txBody>
          <a:bodyPr/>
          <a:lstStyle/>
          <a:p>
            <a:fld id="{6C75C586-0B13-4105-9895-CED4323B37DD}" type="slidenum">
              <a:rPr lang="zh-TW" altLang="en-US" smtClean="0"/>
              <a:pPr/>
              <a:t>75</a:t>
            </a:fld>
            <a:endParaRPr lang="zh-TW" altLang="en-US"/>
          </a:p>
        </p:txBody>
      </p:sp>
    </p:spTree>
    <p:extLst>
      <p:ext uri="{BB962C8B-B14F-4D97-AF65-F5344CB8AC3E}">
        <p14:creationId xmlns:p14="http://schemas.microsoft.com/office/powerpoint/2010/main" val="3683264175"/>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標題 7"/>
          <p:cNvSpPr>
            <a:spLocks noGrp="1"/>
          </p:cNvSpPr>
          <p:nvPr>
            <p:ph type="title"/>
          </p:nvPr>
        </p:nvSpPr>
        <p:spPr/>
        <p:txBody>
          <a:bodyPr/>
          <a:lstStyle/>
          <a:p>
            <a:r>
              <a:rPr lang="en-US" altLang="zh-TW" dirty="0" smtClean="0"/>
              <a:t>Example of a More Complex Function</a:t>
            </a:r>
            <a:endParaRPr lang="zh-TW" altLang="en-US" dirty="0"/>
          </a:p>
        </p:txBody>
      </p:sp>
      <p:sp>
        <p:nvSpPr>
          <p:cNvPr id="10" name="內容版面配置區 9"/>
          <p:cNvSpPr>
            <a:spLocks noGrp="1"/>
          </p:cNvSpPr>
          <p:nvPr>
            <p:ph sz="half" idx="1"/>
          </p:nvPr>
        </p:nvSpPr>
        <p:spPr>
          <a:xfrm>
            <a:off x="457200" y="1681808"/>
            <a:ext cx="4038600" cy="3747441"/>
          </a:xfrm>
          <a:ln>
            <a:solidFill>
              <a:schemeClr val="accent1"/>
            </a:solidFill>
          </a:ln>
        </p:spPr>
        <p:txBody>
          <a:bodyPr/>
          <a:lstStyle/>
          <a:p>
            <a:pPr marL="0" indent="0">
              <a:buClrTx/>
              <a:buSzPct val="100000"/>
              <a:buNone/>
            </a:pPr>
            <a:r>
              <a:rPr lang="en-US" altLang="zh-TW" sz="1500" dirty="0"/>
              <a:t>// Call a compare function with two floating-point arguments</a:t>
            </a:r>
          </a:p>
          <a:p>
            <a:pPr marL="0" indent="0">
              <a:buClrTx/>
              <a:buSzPct val="100000"/>
              <a:buNone/>
            </a:pPr>
            <a:r>
              <a:rPr lang="en-US" altLang="zh-TW" sz="1500" dirty="0"/>
              <a:t>// Allocate multiple </a:t>
            </a:r>
            <a:r>
              <a:rPr lang="en-US" altLang="zh-TW" sz="1500" dirty="0" err="1"/>
              <a:t>arg</a:t>
            </a:r>
            <a:r>
              <a:rPr lang="en-US" altLang="zh-TW" sz="1500" dirty="0"/>
              <a:t> variables to hold arguments</a:t>
            </a:r>
          </a:p>
          <a:p>
            <a:pPr marL="0" indent="0">
              <a:buClrTx/>
              <a:buSzPct val="100000"/>
              <a:buNone/>
            </a:pPr>
            <a:endParaRPr lang="en-US" altLang="zh-TW" sz="1500" dirty="0"/>
          </a:p>
          <a:p>
            <a:pPr marL="0" indent="0">
              <a:buClrTx/>
              <a:buSzPct val="100000"/>
              <a:buNone/>
            </a:pPr>
            <a:r>
              <a:rPr lang="en-US" altLang="zh-TW" sz="1500" dirty="0"/>
              <a:t>function &amp;compare(arg_f32 %res)(arg_f32 %left, arg_f32 %right)</a:t>
            </a:r>
          </a:p>
          <a:p>
            <a:pPr marL="0" indent="0">
              <a:buClrTx/>
              <a:buSzPct val="100000"/>
              <a:buNone/>
            </a:pPr>
            <a:r>
              <a:rPr lang="en-US" altLang="zh-TW" sz="1500" dirty="0"/>
              <a:t>{</a:t>
            </a:r>
          </a:p>
          <a:p>
            <a:pPr marL="0" indent="0">
              <a:buClrTx/>
              <a:buSzPct val="100000"/>
              <a:buNone/>
            </a:pPr>
            <a:r>
              <a:rPr lang="en-US" altLang="zh-TW" sz="1500" dirty="0"/>
              <a:t>    ld_arg_f32 $s0, [%left];</a:t>
            </a:r>
          </a:p>
          <a:p>
            <a:pPr marL="0" indent="0">
              <a:buClrTx/>
              <a:buSzPct val="100000"/>
              <a:buNone/>
            </a:pPr>
            <a:r>
              <a:rPr lang="en-US" altLang="zh-TW" sz="1500" dirty="0"/>
              <a:t>    ld_arg_f32 $s1, [%right];</a:t>
            </a:r>
          </a:p>
          <a:p>
            <a:pPr marL="0" indent="0">
              <a:buClrTx/>
              <a:buSzPct val="100000"/>
              <a:buNone/>
            </a:pPr>
            <a:r>
              <a:rPr lang="en-US" altLang="zh-TW" sz="1500" dirty="0"/>
              <a:t>    cmp_eq_f32_f32 $s0, $s1, $s0;</a:t>
            </a:r>
          </a:p>
          <a:p>
            <a:pPr marL="0" indent="0">
              <a:buClrTx/>
              <a:buSzPct val="100000"/>
              <a:buNone/>
            </a:pPr>
            <a:r>
              <a:rPr lang="en-US" altLang="zh-TW" sz="1500" dirty="0"/>
              <a:t>    st_arg_f32 $s0, [%res];</a:t>
            </a:r>
          </a:p>
          <a:p>
            <a:pPr marL="0" indent="0">
              <a:buClrTx/>
              <a:buSzPct val="100000"/>
              <a:buNone/>
            </a:pPr>
            <a:r>
              <a:rPr lang="en-US" altLang="zh-TW" sz="1500" dirty="0"/>
              <a:t>    ret;</a:t>
            </a:r>
          </a:p>
          <a:p>
            <a:pPr marL="0" indent="0">
              <a:buClrTx/>
              <a:buSzPct val="100000"/>
              <a:buNone/>
            </a:pPr>
            <a:r>
              <a:rPr lang="en-US" altLang="zh-TW" sz="1500" dirty="0"/>
              <a:t>};</a:t>
            </a:r>
          </a:p>
        </p:txBody>
      </p:sp>
      <p:sp>
        <p:nvSpPr>
          <p:cNvPr id="2" name="內容版面配置區 1"/>
          <p:cNvSpPr>
            <a:spLocks noGrp="1"/>
          </p:cNvSpPr>
          <p:nvPr>
            <p:ph sz="half" idx="2"/>
          </p:nvPr>
        </p:nvSpPr>
        <p:spPr>
          <a:xfrm>
            <a:off x="4648200" y="1636085"/>
            <a:ext cx="4038600" cy="4145859"/>
          </a:xfrm>
          <a:ln w="9525">
            <a:solidFill>
              <a:schemeClr val="accent1"/>
            </a:solidFill>
          </a:ln>
        </p:spPr>
        <p:txBody>
          <a:bodyPr/>
          <a:lstStyle/>
          <a:p>
            <a:pPr marL="0" indent="0">
              <a:buNone/>
            </a:pPr>
            <a:r>
              <a:rPr lang="en-US" altLang="zh-TW" sz="1500" dirty="0"/>
              <a:t>kernel &amp;main()</a:t>
            </a:r>
          </a:p>
          <a:p>
            <a:pPr marL="0" indent="0">
              <a:buNone/>
            </a:pPr>
            <a:r>
              <a:rPr lang="en-US" altLang="zh-TW" sz="1500" dirty="0"/>
              <a:t>{ // ...</a:t>
            </a:r>
          </a:p>
          <a:p>
            <a:pPr marL="0" indent="0">
              <a:buNone/>
            </a:pPr>
            <a:r>
              <a:rPr lang="en-US" altLang="zh-TW" sz="1500" dirty="0"/>
              <a:t>    {   //start argument scope</a:t>
            </a:r>
          </a:p>
          <a:p>
            <a:pPr marL="0" indent="0">
              <a:buNone/>
            </a:pPr>
            <a:r>
              <a:rPr lang="en-US" altLang="zh-TW" sz="1500" dirty="0"/>
              <a:t>        arg_f32 %a;</a:t>
            </a:r>
          </a:p>
          <a:p>
            <a:pPr marL="0" indent="0">
              <a:buNone/>
            </a:pPr>
            <a:r>
              <a:rPr lang="en-US" altLang="zh-TW" sz="1500" dirty="0"/>
              <a:t>        arg_f32 %b;</a:t>
            </a:r>
          </a:p>
          <a:p>
            <a:pPr marL="0" indent="0">
              <a:buNone/>
            </a:pPr>
            <a:r>
              <a:rPr lang="en-US" altLang="zh-TW" sz="1500" dirty="0"/>
              <a:t>        arg_f32 %res;</a:t>
            </a:r>
          </a:p>
          <a:p>
            <a:pPr marL="0" indent="0">
              <a:buNone/>
            </a:pPr>
            <a:r>
              <a:rPr lang="en-US" altLang="zh-TW" sz="1500" dirty="0"/>
              <a:t>        // Fill in the arguments</a:t>
            </a:r>
          </a:p>
          <a:p>
            <a:pPr marL="0" indent="0">
              <a:buNone/>
            </a:pPr>
            <a:r>
              <a:rPr lang="en-US" altLang="zh-TW" sz="1500" dirty="0"/>
              <a:t>        st_arg_f32 4.0f, [%a];</a:t>
            </a:r>
          </a:p>
          <a:p>
            <a:pPr marL="0" indent="0">
              <a:buNone/>
            </a:pPr>
            <a:r>
              <a:rPr lang="en-US" altLang="zh-TW" sz="1500" dirty="0"/>
              <a:t>        st_arg_f32 $s0, [%b];</a:t>
            </a:r>
          </a:p>
          <a:p>
            <a:pPr marL="0" indent="0">
              <a:buNone/>
            </a:pPr>
            <a:r>
              <a:rPr lang="en-US" altLang="zh-TW" sz="1500" dirty="0"/>
              <a:t>        call &amp;compare(%res)(%a, %b);</a:t>
            </a:r>
          </a:p>
          <a:p>
            <a:pPr marL="0" indent="0">
              <a:buNone/>
            </a:pPr>
            <a:r>
              <a:rPr lang="en-US" altLang="zh-TW" sz="1500" dirty="0"/>
              <a:t>        ld_arg_f32 $s0, [%res];</a:t>
            </a:r>
          </a:p>
          <a:p>
            <a:pPr marL="0" indent="0">
              <a:buNone/>
            </a:pPr>
            <a:r>
              <a:rPr lang="en-US" altLang="zh-TW" sz="1500" dirty="0"/>
              <a:t>    } // End argument scope</a:t>
            </a:r>
          </a:p>
          <a:p>
            <a:pPr marL="0" indent="0">
              <a:buNone/>
            </a:pPr>
            <a:r>
              <a:rPr lang="en-US" altLang="zh-TW" sz="1500" dirty="0"/>
              <a:t>         // ...</a:t>
            </a:r>
          </a:p>
          <a:p>
            <a:pPr marL="0" indent="0">
              <a:buNone/>
            </a:pPr>
            <a:r>
              <a:rPr lang="en-US" altLang="zh-TW" sz="1500" dirty="0"/>
              <a:t>};</a:t>
            </a:r>
            <a:endParaRPr lang="zh-TW" altLang="en-US" sz="1500" dirty="0"/>
          </a:p>
        </p:txBody>
      </p:sp>
      <p:sp>
        <p:nvSpPr>
          <p:cNvPr id="4" name="投影片編號版面配置區 3"/>
          <p:cNvSpPr>
            <a:spLocks noGrp="1"/>
          </p:cNvSpPr>
          <p:nvPr>
            <p:ph type="sldNum" sz="quarter" idx="10"/>
          </p:nvPr>
        </p:nvSpPr>
        <p:spPr/>
        <p:txBody>
          <a:bodyPr/>
          <a:lstStyle/>
          <a:p>
            <a:fld id="{6C75C586-0B13-4105-9895-CED4323B37DD}" type="slidenum">
              <a:rPr lang="zh-TW" altLang="en-US" smtClean="0"/>
              <a:pPr/>
              <a:t>76</a:t>
            </a:fld>
            <a:endParaRPr lang="zh-TW" altLang="en-US"/>
          </a:p>
        </p:txBody>
      </p:sp>
    </p:spTree>
    <p:extLst>
      <p:ext uri="{BB962C8B-B14F-4D97-AF65-F5344CB8AC3E}">
        <p14:creationId xmlns:p14="http://schemas.microsoft.com/office/powerpoint/2010/main" val="1271607926"/>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標題 7"/>
          <p:cNvSpPr>
            <a:spLocks noGrp="1"/>
          </p:cNvSpPr>
          <p:nvPr>
            <p:ph type="title"/>
          </p:nvPr>
        </p:nvSpPr>
        <p:spPr/>
        <p:txBody>
          <a:bodyPr/>
          <a:lstStyle/>
          <a:p>
            <a:r>
              <a:rPr lang="en-US" altLang="zh-TW" dirty="0" smtClean="0"/>
              <a:t>Function Declaration</a:t>
            </a:r>
            <a:endParaRPr lang="zh-TW" altLang="en-US" dirty="0"/>
          </a:p>
        </p:txBody>
      </p:sp>
      <p:sp>
        <p:nvSpPr>
          <p:cNvPr id="10" name="內容版面配置區 9"/>
          <p:cNvSpPr>
            <a:spLocks noGrp="1"/>
          </p:cNvSpPr>
          <p:nvPr>
            <p:ph idx="1"/>
          </p:nvPr>
        </p:nvSpPr>
        <p:spPr>
          <a:xfrm>
            <a:off x="457200" y="1747126"/>
            <a:ext cx="8229600" cy="1683510"/>
          </a:xfrm>
        </p:spPr>
        <p:txBody>
          <a:bodyPr/>
          <a:lstStyle/>
          <a:p>
            <a:r>
              <a:rPr lang="en-US" altLang="zh-TW" sz="1950" dirty="0"/>
              <a:t>A function declaration is a function header, prefixed by </a:t>
            </a:r>
            <a:r>
              <a:rPr lang="en-US" altLang="zh-TW" sz="1950" dirty="0" err="1"/>
              <a:t>decl</a:t>
            </a:r>
            <a:r>
              <a:rPr lang="en-US" altLang="zh-TW" sz="1950" dirty="0"/>
              <a:t>, without a code block. </a:t>
            </a:r>
          </a:p>
          <a:p>
            <a:endParaRPr lang="en-US" altLang="zh-TW" sz="1950" dirty="0"/>
          </a:p>
          <a:p>
            <a:r>
              <a:rPr lang="en-US" altLang="zh-TW" sz="1950" dirty="0"/>
              <a:t>A function declaration declares a function, providing attributes, the function name, and names and types of the output and input arguments.</a:t>
            </a:r>
          </a:p>
          <a:p>
            <a:pPr marL="0" indent="0">
              <a:buClrTx/>
              <a:buSzPct val="100000"/>
              <a:buNone/>
            </a:pPr>
            <a:endParaRPr lang="en-US" altLang="zh-TW" sz="1650" dirty="0"/>
          </a:p>
        </p:txBody>
      </p:sp>
      <p:sp>
        <p:nvSpPr>
          <p:cNvPr id="4" name="投影片編號版面配置區 3"/>
          <p:cNvSpPr>
            <a:spLocks noGrp="1"/>
          </p:cNvSpPr>
          <p:nvPr>
            <p:ph type="sldNum" sz="quarter" idx="10"/>
          </p:nvPr>
        </p:nvSpPr>
        <p:spPr/>
        <p:txBody>
          <a:bodyPr/>
          <a:lstStyle/>
          <a:p>
            <a:fld id="{6C75C586-0B13-4105-9895-CED4323B37DD}" type="slidenum">
              <a:rPr lang="zh-TW" altLang="en-US" smtClean="0"/>
              <a:pPr/>
              <a:t>77</a:t>
            </a:fld>
            <a:endParaRPr lang="zh-TW" altLang="en-US"/>
          </a:p>
        </p:txBody>
      </p:sp>
      <p:pic>
        <p:nvPicPr>
          <p:cNvPr id="2" name="圖片 1"/>
          <p:cNvPicPr>
            <a:picLocks noChangeAspect="1"/>
          </p:cNvPicPr>
          <p:nvPr/>
        </p:nvPicPr>
        <p:blipFill>
          <a:blip r:embed="rId2" cstate="print"/>
          <a:stretch>
            <a:fillRect/>
          </a:stretch>
        </p:blipFill>
        <p:spPr>
          <a:xfrm>
            <a:off x="457201" y="4261666"/>
            <a:ext cx="8403771" cy="658031"/>
          </a:xfrm>
          <a:prstGeom prst="rect">
            <a:avLst/>
          </a:prstGeom>
        </p:spPr>
      </p:pic>
    </p:spTree>
    <p:extLst>
      <p:ext uri="{BB962C8B-B14F-4D97-AF65-F5344CB8AC3E}">
        <p14:creationId xmlns:p14="http://schemas.microsoft.com/office/powerpoint/2010/main" val="449255632"/>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標題 7"/>
          <p:cNvSpPr>
            <a:spLocks noGrp="1"/>
          </p:cNvSpPr>
          <p:nvPr>
            <p:ph type="title"/>
          </p:nvPr>
        </p:nvSpPr>
        <p:spPr/>
        <p:txBody>
          <a:bodyPr/>
          <a:lstStyle/>
          <a:p>
            <a:r>
              <a:rPr lang="en-US" altLang="zh-TW" dirty="0" smtClean="0"/>
              <a:t>Function Definition</a:t>
            </a:r>
            <a:endParaRPr lang="zh-TW" altLang="en-US" dirty="0"/>
          </a:p>
        </p:txBody>
      </p:sp>
      <p:sp>
        <p:nvSpPr>
          <p:cNvPr id="10" name="內容版面配置區 9"/>
          <p:cNvSpPr>
            <a:spLocks noGrp="1"/>
          </p:cNvSpPr>
          <p:nvPr>
            <p:ph idx="1"/>
          </p:nvPr>
        </p:nvSpPr>
        <p:spPr>
          <a:xfrm>
            <a:off x="468318" y="1900265"/>
            <a:ext cx="8229600" cy="694788"/>
          </a:xfrm>
        </p:spPr>
        <p:txBody>
          <a:bodyPr/>
          <a:lstStyle/>
          <a:p>
            <a:r>
              <a:rPr lang="en-US" altLang="zh-TW" sz="1950" dirty="0"/>
              <a:t>A function definition defines a function. It is a function header, followed by a code block.</a:t>
            </a:r>
          </a:p>
        </p:txBody>
      </p:sp>
      <p:sp>
        <p:nvSpPr>
          <p:cNvPr id="4" name="投影片編號版面配置區 3"/>
          <p:cNvSpPr>
            <a:spLocks noGrp="1"/>
          </p:cNvSpPr>
          <p:nvPr>
            <p:ph type="sldNum" sz="quarter" idx="10"/>
          </p:nvPr>
        </p:nvSpPr>
        <p:spPr/>
        <p:txBody>
          <a:bodyPr/>
          <a:lstStyle/>
          <a:p>
            <a:fld id="{6C75C586-0B13-4105-9895-CED4323B37DD}" type="slidenum">
              <a:rPr lang="zh-TW" altLang="en-US" smtClean="0"/>
              <a:pPr/>
              <a:t>78</a:t>
            </a:fld>
            <a:endParaRPr lang="zh-TW" altLang="en-US"/>
          </a:p>
        </p:txBody>
      </p:sp>
      <p:pic>
        <p:nvPicPr>
          <p:cNvPr id="5" name="圖片 4"/>
          <p:cNvPicPr>
            <a:picLocks noChangeAspect="1"/>
          </p:cNvPicPr>
          <p:nvPr/>
        </p:nvPicPr>
        <p:blipFill>
          <a:blip r:embed="rId2" cstate="print"/>
          <a:stretch>
            <a:fillRect/>
          </a:stretch>
        </p:blipFill>
        <p:spPr>
          <a:xfrm>
            <a:off x="645873" y="3034499"/>
            <a:ext cx="7548217" cy="1706475"/>
          </a:xfrm>
          <a:prstGeom prst="rect">
            <a:avLst/>
          </a:prstGeom>
        </p:spPr>
      </p:pic>
    </p:spTree>
    <p:extLst>
      <p:ext uri="{BB962C8B-B14F-4D97-AF65-F5344CB8AC3E}">
        <p14:creationId xmlns:p14="http://schemas.microsoft.com/office/powerpoint/2010/main" val="2650679580"/>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標題 7"/>
          <p:cNvSpPr>
            <a:spLocks noGrp="1"/>
          </p:cNvSpPr>
          <p:nvPr>
            <p:ph type="title"/>
          </p:nvPr>
        </p:nvSpPr>
        <p:spPr/>
        <p:txBody>
          <a:bodyPr/>
          <a:lstStyle/>
          <a:p>
            <a:r>
              <a:rPr lang="en-US" altLang="zh-TW" dirty="0" smtClean="0"/>
              <a:t>Function Signature</a:t>
            </a:r>
            <a:endParaRPr lang="zh-TW" altLang="en-US" dirty="0"/>
          </a:p>
        </p:txBody>
      </p:sp>
      <p:sp>
        <p:nvSpPr>
          <p:cNvPr id="10" name="內容版面配置區 9"/>
          <p:cNvSpPr>
            <a:spLocks noGrp="1"/>
          </p:cNvSpPr>
          <p:nvPr>
            <p:ph idx="1"/>
          </p:nvPr>
        </p:nvSpPr>
        <p:spPr>
          <a:xfrm>
            <a:off x="446093" y="1631973"/>
            <a:ext cx="8229600" cy="1986490"/>
          </a:xfrm>
        </p:spPr>
        <p:txBody>
          <a:bodyPr/>
          <a:lstStyle/>
          <a:p>
            <a:r>
              <a:rPr lang="en-US" altLang="zh-TW" sz="1800" dirty="0"/>
              <a:t>A signature is used to describe the type of a function. It cannot be called directly, but instead is used to specify the target of an indirect function call </a:t>
            </a:r>
            <a:r>
              <a:rPr lang="en-US" altLang="zh-TW" sz="1800" i="1" dirty="0" err="1">
                <a:latin typeface="Times New Roman" panose="02020603050405020304" pitchFamily="18" charset="0"/>
                <a:cs typeface="Times New Roman" panose="02020603050405020304" pitchFamily="18" charset="0"/>
              </a:rPr>
              <a:t>icall</a:t>
            </a:r>
            <a:r>
              <a:rPr lang="en-US" altLang="zh-TW" sz="1800" dirty="0"/>
              <a:t> operation.</a:t>
            </a:r>
          </a:p>
          <a:p>
            <a:endParaRPr lang="en-US" altLang="zh-TW" sz="1050" dirty="0"/>
          </a:p>
          <a:p>
            <a:r>
              <a:rPr lang="en-US" altLang="zh-TW" sz="1650" dirty="0"/>
              <a:t>In the following example, assume that $d2 in each work-item contains the address of an indirect function descriptor whose arguments meet this signature:</a:t>
            </a:r>
          </a:p>
        </p:txBody>
      </p:sp>
      <p:sp>
        <p:nvSpPr>
          <p:cNvPr id="4" name="投影片編號版面配置區 3"/>
          <p:cNvSpPr>
            <a:spLocks noGrp="1"/>
          </p:cNvSpPr>
          <p:nvPr>
            <p:ph type="sldNum" sz="quarter" idx="10"/>
          </p:nvPr>
        </p:nvSpPr>
        <p:spPr/>
        <p:txBody>
          <a:bodyPr/>
          <a:lstStyle/>
          <a:p>
            <a:fld id="{6C75C586-0B13-4105-9895-CED4323B37DD}" type="slidenum">
              <a:rPr lang="zh-TW" altLang="en-US" smtClean="0"/>
              <a:pPr/>
              <a:t>79</a:t>
            </a:fld>
            <a:endParaRPr lang="zh-TW" altLang="en-US"/>
          </a:p>
        </p:txBody>
      </p:sp>
      <p:pic>
        <p:nvPicPr>
          <p:cNvPr id="2" name="圖片 1"/>
          <p:cNvPicPr>
            <a:picLocks noChangeAspect="1"/>
          </p:cNvPicPr>
          <p:nvPr/>
        </p:nvPicPr>
        <p:blipFill rotWithShape="1">
          <a:blip r:embed="rId2" cstate="print"/>
          <a:srcRect t="7700"/>
          <a:stretch/>
        </p:blipFill>
        <p:spPr>
          <a:xfrm>
            <a:off x="864600" y="3265714"/>
            <a:ext cx="7392586" cy="2203245"/>
          </a:xfrm>
          <a:prstGeom prst="rect">
            <a:avLst/>
          </a:prstGeom>
        </p:spPr>
      </p:pic>
    </p:spTree>
    <p:extLst>
      <p:ext uri="{BB962C8B-B14F-4D97-AF65-F5344CB8AC3E}">
        <p14:creationId xmlns:p14="http://schemas.microsoft.com/office/powerpoint/2010/main" val="4274477360"/>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標題 7"/>
          <p:cNvSpPr>
            <a:spLocks noGrp="1"/>
          </p:cNvSpPr>
          <p:nvPr>
            <p:ph type="title"/>
          </p:nvPr>
        </p:nvSpPr>
        <p:spPr/>
        <p:txBody>
          <a:bodyPr/>
          <a:lstStyle/>
          <a:p>
            <a:r>
              <a:rPr lang="en-US" altLang="zh-TW" dirty="0" smtClean="0"/>
              <a:t>Direct Call Operation</a:t>
            </a:r>
            <a:endParaRPr lang="zh-TW" altLang="en-US" dirty="0"/>
          </a:p>
        </p:txBody>
      </p:sp>
      <p:sp>
        <p:nvSpPr>
          <p:cNvPr id="10" name="內容版面配置區 9"/>
          <p:cNvSpPr>
            <a:spLocks noGrp="1"/>
          </p:cNvSpPr>
          <p:nvPr>
            <p:ph idx="1"/>
          </p:nvPr>
        </p:nvSpPr>
        <p:spPr>
          <a:xfrm>
            <a:off x="468319" y="2763313"/>
            <a:ext cx="3605258" cy="2125784"/>
          </a:xfrm>
        </p:spPr>
        <p:txBody>
          <a:bodyPr/>
          <a:lstStyle/>
          <a:p>
            <a:r>
              <a:rPr lang="en-US" altLang="zh-TW" sz="1950" i="1" dirty="0">
                <a:latin typeface="Times New Roman" panose="02020603050405020304" pitchFamily="18" charset="0"/>
                <a:cs typeface="Times New Roman" panose="02020603050405020304" pitchFamily="18" charset="0"/>
              </a:rPr>
              <a:t>call</a:t>
            </a:r>
            <a:r>
              <a:rPr lang="en-US" altLang="zh-TW" sz="1950" dirty="0"/>
              <a:t> - transfers control to a specific function specified by the </a:t>
            </a:r>
            <a:r>
              <a:rPr lang="en-US" altLang="zh-TW" sz="1950" i="1" dirty="0">
                <a:latin typeface="Times New Roman" panose="02020603050405020304" pitchFamily="18" charset="0"/>
                <a:cs typeface="Times New Roman" panose="02020603050405020304" pitchFamily="18" charset="0"/>
              </a:rPr>
              <a:t>function</a:t>
            </a:r>
            <a:r>
              <a:rPr lang="en-US" altLang="zh-TW" sz="1950" dirty="0"/>
              <a:t> operand. </a:t>
            </a:r>
          </a:p>
        </p:txBody>
      </p:sp>
      <p:sp>
        <p:nvSpPr>
          <p:cNvPr id="4" name="投影片編號版面配置區 3"/>
          <p:cNvSpPr>
            <a:spLocks noGrp="1"/>
          </p:cNvSpPr>
          <p:nvPr>
            <p:ph type="sldNum" sz="quarter" idx="10"/>
          </p:nvPr>
        </p:nvSpPr>
        <p:spPr/>
        <p:txBody>
          <a:bodyPr/>
          <a:lstStyle/>
          <a:p>
            <a:fld id="{6C75C586-0B13-4105-9895-CED4323B37DD}" type="slidenum">
              <a:rPr lang="zh-TW" altLang="en-US" smtClean="0"/>
              <a:pPr/>
              <a:t>80</a:t>
            </a:fld>
            <a:endParaRPr lang="zh-TW" altLang="en-US"/>
          </a:p>
        </p:txBody>
      </p:sp>
      <p:pic>
        <p:nvPicPr>
          <p:cNvPr id="3" name="圖片 2"/>
          <p:cNvPicPr>
            <a:picLocks noChangeAspect="1"/>
          </p:cNvPicPr>
          <p:nvPr/>
        </p:nvPicPr>
        <p:blipFill>
          <a:blip r:embed="rId2" cstate="print"/>
          <a:stretch>
            <a:fillRect/>
          </a:stretch>
        </p:blipFill>
        <p:spPr>
          <a:xfrm>
            <a:off x="706741" y="1972228"/>
            <a:ext cx="7761570" cy="376226"/>
          </a:xfrm>
          <a:prstGeom prst="rect">
            <a:avLst/>
          </a:prstGeom>
        </p:spPr>
      </p:pic>
      <p:pic>
        <p:nvPicPr>
          <p:cNvPr id="5" name="圖片 4"/>
          <p:cNvPicPr>
            <a:picLocks noChangeAspect="1"/>
          </p:cNvPicPr>
          <p:nvPr/>
        </p:nvPicPr>
        <p:blipFill>
          <a:blip r:embed="rId3" cstate="print"/>
          <a:stretch>
            <a:fillRect/>
          </a:stretch>
        </p:blipFill>
        <p:spPr>
          <a:xfrm>
            <a:off x="4029187" y="2763313"/>
            <a:ext cx="4859047" cy="2335244"/>
          </a:xfrm>
          <a:prstGeom prst="rect">
            <a:avLst/>
          </a:prstGeom>
        </p:spPr>
      </p:pic>
    </p:spTree>
    <p:extLst>
      <p:ext uri="{BB962C8B-B14F-4D97-AF65-F5344CB8AC3E}">
        <p14:creationId xmlns:p14="http://schemas.microsoft.com/office/powerpoint/2010/main" val="3438228790"/>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標題 7"/>
          <p:cNvSpPr>
            <a:spLocks noGrp="1"/>
          </p:cNvSpPr>
          <p:nvPr>
            <p:ph type="title"/>
          </p:nvPr>
        </p:nvSpPr>
        <p:spPr/>
        <p:txBody>
          <a:bodyPr/>
          <a:lstStyle/>
          <a:p>
            <a:r>
              <a:rPr lang="en-US" altLang="zh-TW" dirty="0" smtClean="0"/>
              <a:t>Switch Call Operations</a:t>
            </a:r>
            <a:endParaRPr lang="zh-TW" altLang="en-US" dirty="0"/>
          </a:p>
        </p:txBody>
      </p:sp>
      <p:sp>
        <p:nvSpPr>
          <p:cNvPr id="10" name="內容版面配置區 9"/>
          <p:cNvSpPr>
            <a:spLocks noGrp="1"/>
          </p:cNvSpPr>
          <p:nvPr>
            <p:ph idx="1"/>
          </p:nvPr>
        </p:nvSpPr>
        <p:spPr>
          <a:xfrm>
            <a:off x="446094" y="2832950"/>
            <a:ext cx="3699779" cy="1906062"/>
          </a:xfrm>
        </p:spPr>
        <p:txBody>
          <a:bodyPr/>
          <a:lstStyle/>
          <a:p>
            <a:r>
              <a:rPr lang="en-US" altLang="zh-TW" sz="1800" i="1" dirty="0" err="1">
                <a:latin typeface="Times New Roman" panose="02020603050405020304" pitchFamily="18" charset="0"/>
                <a:cs typeface="Times New Roman" panose="02020603050405020304" pitchFamily="18" charset="0"/>
              </a:rPr>
              <a:t>scall</a:t>
            </a:r>
            <a:r>
              <a:rPr lang="en-US" altLang="zh-TW" sz="1800" dirty="0"/>
              <a:t> - transfers control to the function in the </a:t>
            </a:r>
            <a:r>
              <a:rPr lang="en-US" altLang="zh-TW" sz="1800" i="1" dirty="0" err="1">
                <a:latin typeface="Times New Roman" panose="02020603050405020304" pitchFamily="18" charset="0"/>
                <a:cs typeface="Times New Roman" panose="02020603050405020304" pitchFamily="18" charset="0"/>
              </a:rPr>
              <a:t>functionList</a:t>
            </a:r>
            <a:r>
              <a:rPr lang="en-US" altLang="zh-TW" sz="1800" dirty="0"/>
              <a:t> that corresponds to the index value in </a:t>
            </a:r>
            <a:r>
              <a:rPr lang="en-US" altLang="zh-TW" sz="1800" dirty="0" err="1"/>
              <a:t>src</a:t>
            </a:r>
            <a:r>
              <a:rPr lang="en-US" altLang="zh-TW" sz="1800" dirty="0"/>
              <a:t>. </a:t>
            </a:r>
          </a:p>
        </p:txBody>
      </p:sp>
      <p:sp>
        <p:nvSpPr>
          <p:cNvPr id="4" name="投影片編號版面配置區 3"/>
          <p:cNvSpPr>
            <a:spLocks noGrp="1"/>
          </p:cNvSpPr>
          <p:nvPr>
            <p:ph type="sldNum" sz="quarter" idx="10"/>
          </p:nvPr>
        </p:nvSpPr>
        <p:spPr/>
        <p:txBody>
          <a:bodyPr/>
          <a:lstStyle/>
          <a:p>
            <a:fld id="{6C75C586-0B13-4105-9895-CED4323B37DD}" type="slidenum">
              <a:rPr lang="zh-TW" altLang="en-US" smtClean="0"/>
              <a:pPr/>
              <a:t>81</a:t>
            </a:fld>
            <a:endParaRPr lang="zh-TW" altLang="en-US"/>
          </a:p>
        </p:txBody>
      </p:sp>
      <p:pic>
        <p:nvPicPr>
          <p:cNvPr id="2" name="圖片 1"/>
          <p:cNvPicPr>
            <a:picLocks noChangeAspect="1"/>
          </p:cNvPicPr>
          <p:nvPr/>
        </p:nvPicPr>
        <p:blipFill>
          <a:blip r:embed="rId2" cstate="print"/>
          <a:stretch>
            <a:fillRect/>
          </a:stretch>
        </p:blipFill>
        <p:spPr>
          <a:xfrm>
            <a:off x="563821" y="2049407"/>
            <a:ext cx="8016369" cy="347141"/>
          </a:xfrm>
          <a:prstGeom prst="rect">
            <a:avLst/>
          </a:prstGeom>
        </p:spPr>
      </p:pic>
      <p:pic>
        <p:nvPicPr>
          <p:cNvPr id="5" name="圖片 4"/>
          <p:cNvPicPr>
            <a:picLocks noChangeAspect="1"/>
          </p:cNvPicPr>
          <p:nvPr/>
        </p:nvPicPr>
        <p:blipFill>
          <a:blip r:embed="rId3" cstate="print"/>
          <a:stretch>
            <a:fillRect/>
          </a:stretch>
        </p:blipFill>
        <p:spPr>
          <a:xfrm>
            <a:off x="4030463" y="2662553"/>
            <a:ext cx="4819959" cy="2562510"/>
          </a:xfrm>
          <a:prstGeom prst="rect">
            <a:avLst/>
          </a:prstGeom>
        </p:spPr>
      </p:pic>
    </p:spTree>
    <p:extLst>
      <p:ext uri="{BB962C8B-B14F-4D97-AF65-F5344CB8AC3E}">
        <p14:creationId xmlns:p14="http://schemas.microsoft.com/office/powerpoint/2010/main" val="912428818"/>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標題 7"/>
          <p:cNvSpPr>
            <a:spLocks noGrp="1"/>
          </p:cNvSpPr>
          <p:nvPr>
            <p:ph type="title"/>
          </p:nvPr>
        </p:nvSpPr>
        <p:spPr/>
        <p:txBody>
          <a:bodyPr/>
          <a:lstStyle/>
          <a:p>
            <a:r>
              <a:rPr lang="en-US" altLang="zh-TW" dirty="0" smtClean="0"/>
              <a:t>Indirect Call Operations</a:t>
            </a:r>
            <a:endParaRPr lang="zh-TW" altLang="en-US" dirty="0"/>
          </a:p>
        </p:txBody>
      </p:sp>
      <p:sp>
        <p:nvSpPr>
          <p:cNvPr id="10" name="內容版面配置區 9"/>
          <p:cNvSpPr>
            <a:spLocks noGrp="1"/>
          </p:cNvSpPr>
          <p:nvPr>
            <p:ph idx="1"/>
          </p:nvPr>
        </p:nvSpPr>
        <p:spPr>
          <a:xfrm>
            <a:off x="468314" y="2789071"/>
            <a:ext cx="3895088" cy="3322479"/>
          </a:xfrm>
        </p:spPr>
        <p:txBody>
          <a:bodyPr/>
          <a:lstStyle/>
          <a:p>
            <a:r>
              <a:rPr lang="en-US" altLang="zh-TW" sz="2000" dirty="0"/>
              <a:t>Indirect functions allow an application to incrementally finalize the code for functions that can be called by kernels that have already been finalized</a:t>
            </a:r>
            <a:r>
              <a:rPr lang="en-US" altLang="zh-TW" sz="2000" dirty="0" smtClean="0"/>
              <a:t>.</a:t>
            </a:r>
          </a:p>
          <a:p>
            <a:r>
              <a:rPr lang="en-US" altLang="zh-TW" sz="2000" dirty="0"/>
              <a:t>For example, this may be useful for languages that can incrementally load and finalize derived classes.</a:t>
            </a:r>
            <a:endParaRPr lang="en-US" altLang="zh-TW" sz="1950" dirty="0"/>
          </a:p>
        </p:txBody>
      </p:sp>
      <p:sp>
        <p:nvSpPr>
          <p:cNvPr id="4" name="投影片編號版面配置區 3"/>
          <p:cNvSpPr>
            <a:spLocks noGrp="1"/>
          </p:cNvSpPr>
          <p:nvPr>
            <p:ph type="sldNum" sz="quarter" idx="10"/>
          </p:nvPr>
        </p:nvSpPr>
        <p:spPr/>
        <p:txBody>
          <a:bodyPr/>
          <a:lstStyle/>
          <a:p>
            <a:fld id="{6C75C586-0B13-4105-9895-CED4323B37DD}" type="slidenum">
              <a:rPr lang="zh-TW" altLang="en-US" smtClean="0"/>
              <a:pPr/>
              <a:t>82</a:t>
            </a:fld>
            <a:endParaRPr lang="zh-TW" altLang="en-US"/>
          </a:p>
        </p:txBody>
      </p:sp>
      <p:pic>
        <p:nvPicPr>
          <p:cNvPr id="3" name="圖片 2"/>
          <p:cNvPicPr>
            <a:picLocks noChangeAspect="1"/>
          </p:cNvPicPr>
          <p:nvPr/>
        </p:nvPicPr>
        <p:blipFill rotWithShape="1">
          <a:blip r:embed="rId2" cstate="print"/>
          <a:srcRect b="46275"/>
          <a:stretch/>
        </p:blipFill>
        <p:spPr>
          <a:xfrm>
            <a:off x="353889" y="1763563"/>
            <a:ext cx="8610724" cy="401140"/>
          </a:xfrm>
          <a:prstGeom prst="rect">
            <a:avLst/>
          </a:prstGeom>
        </p:spPr>
      </p:pic>
      <p:sp>
        <p:nvSpPr>
          <p:cNvPr id="9" name="內容版面配置區 9"/>
          <p:cNvSpPr txBox="1">
            <a:spLocks/>
          </p:cNvSpPr>
          <p:nvPr/>
        </p:nvSpPr>
        <p:spPr bwMode="auto">
          <a:xfrm>
            <a:off x="4888764" y="2665271"/>
            <a:ext cx="3699779" cy="2640914"/>
          </a:xfrm>
          <a:prstGeom prst="rect">
            <a:avLst/>
          </a:prstGeom>
          <a:noFill/>
          <a:ln w="9525">
            <a:noFill/>
            <a:miter lim="800000"/>
            <a:headEnd/>
            <a:tailEnd/>
          </a:ln>
        </p:spPr>
        <p:txBody>
          <a:bodyPr vert="horz" wrap="square" lIns="68580" tIns="34290" rIns="68580" bIns="34290" numCol="1" anchor="t" anchorCtr="0" compatLnSpc="1">
            <a:prstTxWarp prst="textNoShape">
              <a:avLst/>
            </a:prstTxWarp>
          </a:bodyPr>
          <a:lstStyle>
            <a:lvl1pPr marL="144661" indent="-144661" algn="l" rtl="0" eaLnBrk="1" fontAlgn="base" hangingPunct="1">
              <a:spcBef>
                <a:spcPct val="20000"/>
              </a:spcBef>
              <a:spcAft>
                <a:spcPct val="0"/>
              </a:spcAft>
              <a:buClr>
                <a:srgbClr val="0000FF"/>
              </a:buClr>
              <a:buSzPct val="80000"/>
              <a:buFont typeface="Wingdings" pitchFamily="2" charset="2"/>
              <a:buChar char="l"/>
              <a:defRPr kumimoji="1" sz="1181">
                <a:solidFill>
                  <a:schemeClr val="tx1"/>
                </a:solidFill>
                <a:latin typeface="Calibri" pitchFamily="34" charset="0"/>
                <a:ea typeface="標楷體" pitchFamily="65" charset="-120"/>
                <a:cs typeface="+mn-cs"/>
              </a:defRPr>
            </a:lvl1pPr>
            <a:lvl2pPr marL="313433" indent="-120551" algn="l" rtl="0" eaLnBrk="1" fontAlgn="base" hangingPunct="1">
              <a:spcBef>
                <a:spcPct val="20000"/>
              </a:spcBef>
              <a:spcAft>
                <a:spcPct val="0"/>
              </a:spcAft>
              <a:buClr>
                <a:srgbClr val="0000FF"/>
              </a:buClr>
              <a:buSzPct val="90000"/>
              <a:buFont typeface="Arial" charset="0"/>
              <a:buChar char="–"/>
              <a:defRPr kumimoji="1" sz="1013">
                <a:solidFill>
                  <a:schemeClr val="tx1"/>
                </a:solidFill>
                <a:latin typeface="Calibri" pitchFamily="34" charset="0"/>
                <a:ea typeface="標楷體" pitchFamily="65" charset="-120"/>
              </a:defRPr>
            </a:lvl2pPr>
            <a:lvl3pPr marL="482204" indent="-96441" algn="l" rtl="0" eaLnBrk="1" fontAlgn="base" hangingPunct="1">
              <a:spcBef>
                <a:spcPct val="20000"/>
              </a:spcBef>
              <a:spcAft>
                <a:spcPct val="0"/>
              </a:spcAft>
              <a:buChar char="•"/>
              <a:defRPr kumimoji="1" sz="844">
                <a:solidFill>
                  <a:schemeClr val="tx1"/>
                </a:solidFill>
                <a:latin typeface="Calibri" pitchFamily="34" charset="0"/>
                <a:ea typeface="標楷體" pitchFamily="65" charset="-120"/>
                <a:cs typeface="Calibri" pitchFamily="34" charset="0"/>
              </a:defRPr>
            </a:lvl3pPr>
            <a:lvl4pPr marL="675085" indent="-96441" algn="l" rtl="0" eaLnBrk="1" fontAlgn="base" hangingPunct="1">
              <a:spcBef>
                <a:spcPct val="20000"/>
              </a:spcBef>
              <a:spcAft>
                <a:spcPct val="0"/>
              </a:spcAft>
              <a:buChar char="–"/>
              <a:defRPr kumimoji="1" sz="760">
                <a:solidFill>
                  <a:schemeClr val="tx1"/>
                </a:solidFill>
                <a:latin typeface="Calibri" pitchFamily="34" charset="0"/>
                <a:ea typeface="標楷體" pitchFamily="65" charset="-120"/>
                <a:cs typeface="Calibri" pitchFamily="34" charset="0"/>
              </a:defRPr>
            </a:lvl4pPr>
            <a:lvl5pPr marL="867966" indent="-96441" algn="l" rtl="0" eaLnBrk="1" fontAlgn="base" hangingPunct="1">
              <a:spcBef>
                <a:spcPct val="20000"/>
              </a:spcBef>
              <a:spcAft>
                <a:spcPct val="0"/>
              </a:spcAft>
              <a:buChar char="»"/>
              <a:defRPr kumimoji="1" sz="760">
                <a:solidFill>
                  <a:schemeClr val="tx1"/>
                </a:solidFill>
                <a:latin typeface="Calibri" pitchFamily="34" charset="0"/>
                <a:ea typeface="標楷體" pitchFamily="65" charset="-120"/>
                <a:cs typeface="Calibri" pitchFamily="34" charset="0"/>
              </a:defRPr>
            </a:lvl5pPr>
            <a:lvl6pPr marL="1060847" indent="-96441" algn="l" rtl="0" eaLnBrk="1" fontAlgn="base" hangingPunct="1">
              <a:spcBef>
                <a:spcPct val="20000"/>
              </a:spcBef>
              <a:spcAft>
                <a:spcPct val="0"/>
              </a:spcAft>
              <a:buChar char="»"/>
              <a:defRPr kumimoji="1" sz="844">
                <a:solidFill>
                  <a:schemeClr val="tx1"/>
                </a:solidFill>
                <a:latin typeface="+mn-lt"/>
                <a:ea typeface="+mn-ea"/>
              </a:defRPr>
            </a:lvl6pPr>
            <a:lvl7pPr marL="1253729" indent="-96441" algn="l" rtl="0" eaLnBrk="1" fontAlgn="base" hangingPunct="1">
              <a:spcBef>
                <a:spcPct val="20000"/>
              </a:spcBef>
              <a:spcAft>
                <a:spcPct val="0"/>
              </a:spcAft>
              <a:buChar char="»"/>
              <a:defRPr kumimoji="1" sz="844">
                <a:solidFill>
                  <a:schemeClr val="tx1"/>
                </a:solidFill>
                <a:latin typeface="+mn-lt"/>
                <a:ea typeface="+mn-ea"/>
              </a:defRPr>
            </a:lvl7pPr>
            <a:lvl8pPr marL="1446610" indent="-96441" algn="l" rtl="0" eaLnBrk="1" fontAlgn="base" hangingPunct="1">
              <a:spcBef>
                <a:spcPct val="20000"/>
              </a:spcBef>
              <a:spcAft>
                <a:spcPct val="0"/>
              </a:spcAft>
              <a:buChar char="»"/>
              <a:defRPr kumimoji="1" sz="844">
                <a:solidFill>
                  <a:schemeClr val="tx1"/>
                </a:solidFill>
                <a:latin typeface="+mn-lt"/>
                <a:ea typeface="+mn-ea"/>
              </a:defRPr>
            </a:lvl8pPr>
            <a:lvl9pPr marL="1639491" indent="-96441" algn="l" rtl="0" eaLnBrk="1" fontAlgn="base" hangingPunct="1">
              <a:spcBef>
                <a:spcPct val="20000"/>
              </a:spcBef>
              <a:spcAft>
                <a:spcPct val="0"/>
              </a:spcAft>
              <a:buChar char="»"/>
              <a:defRPr kumimoji="1" sz="844">
                <a:solidFill>
                  <a:schemeClr val="tx1"/>
                </a:solidFill>
                <a:latin typeface="+mn-lt"/>
                <a:ea typeface="+mn-ea"/>
              </a:defRPr>
            </a:lvl9pPr>
          </a:lstStyle>
          <a:p>
            <a:r>
              <a:rPr lang="en-US" altLang="zh-TW" sz="1950" i="1" dirty="0" err="1">
                <a:latin typeface="Times New Roman" panose="02020603050405020304" pitchFamily="18" charset="0"/>
                <a:cs typeface="Times New Roman" panose="02020603050405020304" pitchFamily="18" charset="0"/>
              </a:rPr>
              <a:t>icall</a:t>
            </a:r>
            <a:r>
              <a:rPr lang="en-US" altLang="zh-TW" sz="1950" kern="0" dirty="0"/>
              <a:t> - </a:t>
            </a:r>
            <a:r>
              <a:rPr lang="en-US" altLang="zh-TW" sz="2000" dirty="0"/>
              <a:t>An indirect call transfers control to the indirect function that corresponds to the indirect function code handle in </a:t>
            </a:r>
            <a:r>
              <a:rPr lang="en-US" altLang="zh-TW" sz="2000" i="1" dirty="0" err="1"/>
              <a:t>src</a:t>
            </a:r>
            <a:r>
              <a:rPr lang="en-US" altLang="zh-TW" sz="2000" dirty="0" smtClean="0"/>
              <a:t>.</a:t>
            </a:r>
            <a:r>
              <a:rPr lang="en-US" altLang="zh-TW" sz="1950" kern="0" dirty="0" smtClean="0"/>
              <a:t>    </a:t>
            </a:r>
            <a:endParaRPr lang="en-US" altLang="zh-TW" sz="1950" kern="0" dirty="0"/>
          </a:p>
          <a:p>
            <a:r>
              <a:rPr lang="en-US" altLang="zh-TW" sz="1950" kern="0" dirty="0"/>
              <a:t>The indirect function being called has formal arguments matching those of signature.</a:t>
            </a:r>
          </a:p>
        </p:txBody>
      </p:sp>
    </p:spTree>
    <p:extLst>
      <p:ext uri="{BB962C8B-B14F-4D97-AF65-F5344CB8AC3E}">
        <p14:creationId xmlns:p14="http://schemas.microsoft.com/office/powerpoint/2010/main" val="1705556523"/>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標題 7"/>
          <p:cNvSpPr>
            <a:spLocks noGrp="1"/>
          </p:cNvSpPr>
          <p:nvPr>
            <p:ph type="title"/>
          </p:nvPr>
        </p:nvSpPr>
        <p:spPr/>
        <p:txBody>
          <a:bodyPr/>
          <a:lstStyle/>
          <a:p>
            <a:r>
              <a:rPr lang="en-US" altLang="zh-TW" dirty="0" smtClean="0"/>
              <a:t>Allocate Memory Operation</a:t>
            </a:r>
            <a:endParaRPr lang="zh-TW" altLang="en-US" dirty="0"/>
          </a:p>
        </p:txBody>
      </p:sp>
      <p:sp>
        <p:nvSpPr>
          <p:cNvPr id="10" name="內容版面配置區 9"/>
          <p:cNvSpPr>
            <a:spLocks noGrp="1"/>
          </p:cNvSpPr>
          <p:nvPr>
            <p:ph idx="1"/>
          </p:nvPr>
        </p:nvSpPr>
        <p:spPr>
          <a:xfrm>
            <a:off x="446094" y="2832950"/>
            <a:ext cx="3895088" cy="2305558"/>
          </a:xfrm>
        </p:spPr>
        <p:txBody>
          <a:bodyPr/>
          <a:lstStyle/>
          <a:p>
            <a:r>
              <a:rPr lang="en-US" altLang="zh-TW" sz="1950" dirty="0"/>
              <a:t>The allocate memory operation is used by kernels or functions to allocate per-work-item private memory at run time.</a:t>
            </a:r>
          </a:p>
          <a:p>
            <a:endParaRPr lang="en-US" altLang="zh-TW" sz="1950" dirty="0"/>
          </a:p>
          <a:p>
            <a:r>
              <a:rPr lang="en-US" altLang="zh-TW" sz="1950" dirty="0"/>
              <a:t>The allocated memory is freed automatically when the kernel or function exits.</a:t>
            </a:r>
          </a:p>
        </p:txBody>
      </p:sp>
      <p:sp>
        <p:nvSpPr>
          <p:cNvPr id="4" name="投影片編號版面配置區 3"/>
          <p:cNvSpPr>
            <a:spLocks noGrp="1"/>
          </p:cNvSpPr>
          <p:nvPr>
            <p:ph type="sldNum" sz="quarter" idx="10"/>
          </p:nvPr>
        </p:nvSpPr>
        <p:spPr/>
        <p:txBody>
          <a:bodyPr/>
          <a:lstStyle/>
          <a:p>
            <a:fld id="{6C75C586-0B13-4105-9895-CED4323B37DD}" type="slidenum">
              <a:rPr lang="zh-TW" altLang="en-US" smtClean="0"/>
              <a:pPr/>
              <a:t>83</a:t>
            </a:fld>
            <a:endParaRPr lang="zh-TW" altLang="en-US"/>
          </a:p>
        </p:txBody>
      </p:sp>
      <p:pic>
        <p:nvPicPr>
          <p:cNvPr id="2" name="圖片 1"/>
          <p:cNvPicPr>
            <a:picLocks noChangeAspect="1"/>
          </p:cNvPicPr>
          <p:nvPr/>
        </p:nvPicPr>
        <p:blipFill>
          <a:blip r:embed="rId2" cstate="print"/>
          <a:stretch>
            <a:fillRect/>
          </a:stretch>
        </p:blipFill>
        <p:spPr>
          <a:xfrm>
            <a:off x="468319" y="1834583"/>
            <a:ext cx="5044208" cy="458663"/>
          </a:xfrm>
          <a:prstGeom prst="rect">
            <a:avLst/>
          </a:prstGeom>
        </p:spPr>
      </p:pic>
      <p:pic>
        <p:nvPicPr>
          <p:cNvPr id="5" name="圖片 4"/>
          <p:cNvPicPr>
            <a:picLocks noChangeAspect="1"/>
          </p:cNvPicPr>
          <p:nvPr/>
        </p:nvPicPr>
        <p:blipFill>
          <a:blip r:embed="rId3" cstate="print"/>
          <a:stretch>
            <a:fillRect/>
          </a:stretch>
        </p:blipFill>
        <p:spPr>
          <a:xfrm>
            <a:off x="4987249" y="2910251"/>
            <a:ext cx="3468775" cy="785349"/>
          </a:xfrm>
          <a:prstGeom prst="rect">
            <a:avLst/>
          </a:prstGeom>
        </p:spPr>
      </p:pic>
    </p:spTree>
    <p:extLst>
      <p:ext uri="{BB962C8B-B14F-4D97-AF65-F5344CB8AC3E}">
        <p14:creationId xmlns:p14="http://schemas.microsoft.com/office/powerpoint/2010/main" val="4117921520"/>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sz="2700" dirty="0"/>
              <a:t>Special Operations</a:t>
            </a:r>
            <a:endParaRPr lang="zh-TW" altLang="en-US" sz="2700" dirty="0"/>
          </a:p>
        </p:txBody>
      </p:sp>
      <p:sp>
        <p:nvSpPr>
          <p:cNvPr id="5" name="文字版面配置區 4"/>
          <p:cNvSpPr>
            <a:spLocks noGrp="1"/>
          </p:cNvSpPr>
          <p:nvPr>
            <p:ph type="body" idx="1"/>
          </p:nvPr>
        </p:nvSpPr>
        <p:spPr/>
        <p:txBody>
          <a:bodyPr/>
          <a:lstStyle/>
          <a:p>
            <a:endParaRPr lang="zh-TW" altLang="en-US"/>
          </a:p>
        </p:txBody>
      </p:sp>
      <p:sp>
        <p:nvSpPr>
          <p:cNvPr id="2" name="投影片編號版面配置區 1"/>
          <p:cNvSpPr>
            <a:spLocks noGrp="1"/>
          </p:cNvSpPr>
          <p:nvPr>
            <p:ph type="sldNum" sz="quarter" idx="10"/>
          </p:nvPr>
        </p:nvSpPr>
        <p:spPr/>
        <p:txBody>
          <a:bodyPr/>
          <a:lstStyle/>
          <a:p>
            <a:fld id="{6C75C586-0B13-4105-9895-CED4323B37DD}" type="slidenum">
              <a:rPr lang="zh-TW" altLang="en-US" smtClean="0"/>
              <a:pPr/>
              <a:t>84</a:t>
            </a:fld>
            <a:endParaRPr lang="zh-TW" altLang="en-US"/>
          </a:p>
        </p:txBody>
      </p:sp>
    </p:spTree>
    <p:extLst>
      <p:ext uri="{BB962C8B-B14F-4D97-AF65-F5344CB8AC3E}">
        <p14:creationId xmlns:p14="http://schemas.microsoft.com/office/powerpoint/2010/main" val="3781573994"/>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標題 7"/>
          <p:cNvSpPr>
            <a:spLocks noGrp="1"/>
          </p:cNvSpPr>
          <p:nvPr>
            <p:ph type="title"/>
          </p:nvPr>
        </p:nvSpPr>
        <p:spPr/>
        <p:txBody>
          <a:bodyPr/>
          <a:lstStyle/>
          <a:p>
            <a:r>
              <a:rPr lang="en-US" altLang="zh-TW" dirty="0" smtClean="0"/>
              <a:t>Kernel Dispatch Packet Operations (1)</a:t>
            </a:r>
            <a:endParaRPr lang="zh-TW" altLang="en-US" dirty="0"/>
          </a:p>
        </p:txBody>
      </p:sp>
      <p:sp>
        <p:nvSpPr>
          <p:cNvPr id="10" name="內容版面配置區 9"/>
          <p:cNvSpPr>
            <a:spLocks noGrp="1"/>
          </p:cNvSpPr>
          <p:nvPr>
            <p:ph idx="1"/>
          </p:nvPr>
        </p:nvSpPr>
        <p:spPr>
          <a:xfrm>
            <a:off x="446094" y="2411730"/>
            <a:ext cx="3895088" cy="2954815"/>
          </a:xfrm>
        </p:spPr>
        <p:txBody>
          <a:bodyPr/>
          <a:lstStyle/>
          <a:p>
            <a:pPr>
              <a:buClrTx/>
              <a:buSzPct val="100000"/>
              <a:buFont typeface="Arial" panose="020B0604020202020204" pitchFamily="34" charset="0"/>
              <a:buChar char="•"/>
            </a:pPr>
            <a:endParaRPr lang="en-US" altLang="zh-TW" sz="1800" dirty="0"/>
          </a:p>
          <a:p>
            <a:r>
              <a:rPr lang="en-US" altLang="zh-TW" sz="1950" i="1" dirty="0" err="1">
                <a:latin typeface="Times New Roman" panose="02020603050405020304" pitchFamily="18" charset="0"/>
                <a:cs typeface="Times New Roman" panose="02020603050405020304" pitchFamily="18" charset="0"/>
              </a:rPr>
              <a:t>packetcompletionsig</a:t>
            </a:r>
            <a:r>
              <a:rPr lang="en-US" altLang="zh-TW" sz="1950" dirty="0"/>
              <a:t> - Returns the signal handle of the completion signal specified for this dispatch.</a:t>
            </a:r>
          </a:p>
          <a:p>
            <a:endParaRPr lang="en-US" altLang="zh-TW" sz="1950" dirty="0"/>
          </a:p>
          <a:p>
            <a:r>
              <a:rPr lang="en-US" altLang="zh-TW" sz="1950" i="1" dirty="0" err="1">
                <a:latin typeface="Times New Roman" panose="02020603050405020304" pitchFamily="18" charset="0"/>
                <a:cs typeface="Times New Roman" panose="02020603050405020304" pitchFamily="18" charset="0"/>
              </a:rPr>
              <a:t>packetid</a:t>
            </a:r>
            <a:r>
              <a:rPr lang="en-US" altLang="zh-TW" sz="1950" dirty="0"/>
              <a:t> - Returns a 64-bit User Mode queue packet ID that is unique for the User Mode Queue used for this dispatch.</a:t>
            </a:r>
          </a:p>
        </p:txBody>
      </p:sp>
      <p:sp>
        <p:nvSpPr>
          <p:cNvPr id="4" name="投影片編號版面配置區 3"/>
          <p:cNvSpPr>
            <a:spLocks noGrp="1"/>
          </p:cNvSpPr>
          <p:nvPr>
            <p:ph type="sldNum" sz="quarter" idx="10"/>
          </p:nvPr>
        </p:nvSpPr>
        <p:spPr/>
        <p:txBody>
          <a:bodyPr/>
          <a:lstStyle/>
          <a:p>
            <a:fld id="{6C75C586-0B13-4105-9895-CED4323B37DD}" type="slidenum">
              <a:rPr lang="zh-TW" altLang="en-US" smtClean="0"/>
              <a:pPr/>
              <a:t>85</a:t>
            </a:fld>
            <a:endParaRPr lang="zh-TW" altLang="en-US"/>
          </a:p>
        </p:txBody>
      </p:sp>
      <p:sp>
        <p:nvSpPr>
          <p:cNvPr id="9" name="內容版面配置區 9"/>
          <p:cNvSpPr txBox="1">
            <a:spLocks/>
          </p:cNvSpPr>
          <p:nvPr/>
        </p:nvSpPr>
        <p:spPr bwMode="auto">
          <a:xfrm>
            <a:off x="446094" y="1784382"/>
            <a:ext cx="8140558" cy="571160"/>
          </a:xfrm>
          <a:prstGeom prst="rect">
            <a:avLst/>
          </a:prstGeom>
          <a:noFill/>
          <a:ln w="9525">
            <a:noFill/>
            <a:miter lim="800000"/>
            <a:headEnd/>
            <a:tailEnd/>
          </a:ln>
        </p:spPr>
        <p:txBody>
          <a:bodyPr vert="horz" wrap="square" lIns="68580" tIns="34290" rIns="68580" bIns="34290" numCol="1" anchor="t" anchorCtr="0" compatLnSpc="1">
            <a:prstTxWarp prst="textNoShape">
              <a:avLst/>
            </a:prstTxWarp>
          </a:bodyPr>
          <a:lstStyle>
            <a:lvl1pPr marL="144661" indent="-144661" algn="l" rtl="0" eaLnBrk="1" fontAlgn="base" hangingPunct="1">
              <a:spcBef>
                <a:spcPct val="20000"/>
              </a:spcBef>
              <a:spcAft>
                <a:spcPct val="0"/>
              </a:spcAft>
              <a:buClr>
                <a:srgbClr val="0000FF"/>
              </a:buClr>
              <a:buSzPct val="80000"/>
              <a:buFont typeface="Wingdings" pitchFamily="2" charset="2"/>
              <a:buChar char="l"/>
              <a:defRPr kumimoji="1" sz="1181">
                <a:solidFill>
                  <a:schemeClr val="tx1"/>
                </a:solidFill>
                <a:latin typeface="Calibri" pitchFamily="34" charset="0"/>
                <a:ea typeface="標楷體" pitchFamily="65" charset="-120"/>
                <a:cs typeface="+mn-cs"/>
              </a:defRPr>
            </a:lvl1pPr>
            <a:lvl2pPr marL="313433" indent="-120551" algn="l" rtl="0" eaLnBrk="1" fontAlgn="base" hangingPunct="1">
              <a:spcBef>
                <a:spcPct val="20000"/>
              </a:spcBef>
              <a:spcAft>
                <a:spcPct val="0"/>
              </a:spcAft>
              <a:buClr>
                <a:srgbClr val="0000FF"/>
              </a:buClr>
              <a:buSzPct val="90000"/>
              <a:buFont typeface="Arial" charset="0"/>
              <a:buChar char="–"/>
              <a:defRPr kumimoji="1" sz="1013">
                <a:solidFill>
                  <a:schemeClr val="tx1"/>
                </a:solidFill>
                <a:latin typeface="Calibri" pitchFamily="34" charset="0"/>
                <a:ea typeface="標楷體" pitchFamily="65" charset="-120"/>
              </a:defRPr>
            </a:lvl2pPr>
            <a:lvl3pPr marL="482204" indent="-96441" algn="l" rtl="0" eaLnBrk="1" fontAlgn="base" hangingPunct="1">
              <a:spcBef>
                <a:spcPct val="20000"/>
              </a:spcBef>
              <a:spcAft>
                <a:spcPct val="0"/>
              </a:spcAft>
              <a:buChar char="•"/>
              <a:defRPr kumimoji="1" sz="844">
                <a:solidFill>
                  <a:schemeClr val="tx1"/>
                </a:solidFill>
                <a:latin typeface="Calibri" pitchFamily="34" charset="0"/>
                <a:ea typeface="標楷體" pitchFamily="65" charset="-120"/>
                <a:cs typeface="Calibri" pitchFamily="34" charset="0"/>
              </a:defRPr>
            </a:lvl3pPr>
            <a:lvl4pPr marL="675085" indent="-96441" algn="l" rtl="0" eaLnBrk="1" fontAlgn="base" hangingPunct="1">
              <a:spcBef>
                <a:spcPct val="20000"/>
              </a:spcBef>
              <a:spcAft>
                <a:spcPct val="0"/>
              </a:spcAft>
              <a:buChar char="–"/>
              <a:defRPr kumimoji="1" sz="760">
                <a:solidFill>
                  <a:schemeClr val="tx1"/>
                </a:solidFill>
                <a:latin typeface="Calibri" pitchFamily="34" charset="0"/>
                <a:ea typeface="標楷體" pitchFamily="65" charset="-120"/>
                <a:cs typeface="Calibri" pitchFamily="34" charset="0"/>
              </a:defRPr>
            </a:lvl4pPr>
            <a:lvl5pPr marL="867966" indent="-96441" algn="l" rtl="0" eaLnBrk="1" fontAlgn="base" hangingPunct="1">
              <a:spcBef>
                <a:spcPct val="20000"/>
              </a:spcBef>
              <a:spcAft>
                <a:spcPct val="0"/>
              </a:spcAft>
              <a:buChar char="»"/>
              <a:defRPr kumimoji="1" sz="760">
                <a:solidFill>
                  <a:schemeClr val="tx1"/>
                </a:solidFill>
                <a:latin typeface="Calibri" pitchFamily="34" charset="0"/>
                <a:ea typeface="標楷體" pitchFamily="65" charset="-120"/>
                <a:cs typeface="Calibri" pitchFamily="34" charset="0"/>
              </a:defRPr>
            </a:lvl5pPr>
            <a:lvl6pPr marL="1060847" indent="-96441" algn="l" rtl="0" eaLnBrk="1" fontAlgn="base" hangingPunct="1">
              <a:spcBef>
                <a:spcPct val="20000"/>
              </a:spcBef>
              <a:spcAft>
                <a:spcPct val="0"/>
              </a:spcAft>
              <a:buChar char="»"/>
              <a:defRPr kumimoji="1" sz="844">
                <a:solidFill>
                  <a:schemeClr val="tx1"/>
                </a:solidFill>
                <a:latin typeface="+mn-lt"/>
                <a:ea typeface="+mn-ea"/>
              </a:defRPr>
            </a:lvl6pPr>
            <a:lvl7pPr marL="1253729" indent="-96441" algn="l" rtl="0" eaLnBrk="1" fontAlgn="base" hangingPunct="1">
              <a:spcBef>
                <a:spcPct val="20000"/>
              </a:spcBef>
              <a:spcAft>
                <a:spcPct val="0"/>
              </a:spcAft>
              <a:buChar char="»"/>
              <a:defRPr kumimoji="1" sz="844">
                <a:solidFill>
                  <a:schemeClr val="tx1"/>
                </a:solidFill>
                <a:latin typeface="+mn-lt"/>
                <a:ea typeface="+mn-ea"/>
              </a:defRPr>
            </a:lvl7pPr>
            <a:lvl8pPr marL="1446610" indent="-96441" algn="l" rtl="0" eaLnBrk="1" fontAlgn="base" hangingPunct="1">
              <a:spcBef>
                <a:spcPct val="20000"/>
              </a:spcBef>
              <a:spcAft>
                <a:spcPct val="0"/>
              </a:spcAft>
              <a:buChar char="»"/>
              <a:defRPr kumimoji="1" sz="844">
                <a:solidFill>
                  <a:schemeClr val="tx1"/>
                </a:solidFill>
                <a:latin typeface="+mn-lt"/>
                <a:ea typeface="+mn-ea"/>
              </a:defRPr>
            </a:lvl8pPr>
            <a:lvl9pPr marL="1639491" indent="-96441" algn="l" rtl="0" eaLnBrk="1" fontAlgn="base" hangingPunct="1">
              <a:spcBef>
                <a:spcPct val="20000"/>
              </a:spcBef>
              <a:spcAft>
                <a:spcPct val="0"/>
              </a:spcAft>
              <a:buChar char="»"/>
              <a:defRPr kumimoji="1" sz="844">
                <a:solidFill>
                  <a:schemeClr val="tx1"/>
                </a:solidFill>
                <a:latin typeface="+mn-lt"/>
                <a:ea typeface="+mn-ea"/>
              </a:defRPr>
            </a:lvl9pPr>
          </a:lstStyle>
          <a:p>
            <a:r>
              <a:rPr lang="en-US" altLang="zh-TW" sz="1950" kern="0" dirty="0"/>
              <a:t>The </a:t>
            </a:r>
            <a:r>
              <a:rPr lang="en-US" altLang="zh-TW" sz="1950" kern="0" dirty="0" smtClean="0"/>
              <a:t>kernel dispatch </a:t>
            </a:r>
            <a:r>
              <a:rPr lang="en-US" altLang="zh-TW" sz="1950" kern="0" dirty="0"/>
              <a:t>packet operations can be used to obtain information about the currently executing kernel dispatch packet.</a:t>
            </a:r>
          </a:p>
        </p:txBody>
      </p:sp>
      <p:graphicFrame>
        <p:nvGraphicFramePr>
          <p:cNvPr id="2" name="表格 1"/>
          <p:cNvGraphicFramePr>
            <a:graphicFrameLocks noGrp="1"/>
          </p:cNvGraphicFramePr>
          <p:nvPr>
            <p:extLst>
              <p:ext uri="{D42A27DB-BD31-4B8C-83A1-F6EECF244321}">
                <p14:modId xmlns:p14="http://schemas.microsoft.com/office/powerpoint/2010/main" val="3697239036"/>
              </p:ext>
            </p:extLst>
          </p:nvPr>
        </p:nvGraphicFramePr>
        <p:xfrm>
          <a:off x="4571999" y="2406422"/>
          <a:ext cx="4264090" cy="3499192"/>
        </p:xfrm>
        <a:graphic>
          <a:graphicData uri="http://schemas.openxmlformats.org/drawingml/2006/table">
            <a:tbl>
              <a:tblPr firstRow="1" firstCol="1" bandRow="1">
                <a:tableStyleId>{5C22544A-7EE6-4342-B048-85BDC9FD1C3A}</a:tableStyleId>
              </a:tblPr>
              <a:tblGrid>
                <a:gridCol w="2584581"/>
                <a:gridCol w="1679509"/>
              </a:tblGrid>
              <a:tr h="267480">
                <a:tc>
                  <a:txBody>
                    <a:bodyPr/>
                    <a:lstStyle/>
                    <a:p>
                      <a:pPr>
                        <a:spcAft>
                          <a:spcPts val="0"/>
                        </a:spcAft>
                      </a:pPr>
                      <a:r>
                        <a:rPr lang="en-US" sz="1200" dirty="0">
                          <a:effectLst/>
                        </a:rPr>
                        <a:t>Opcodes and Modifier</a:t>
                      </a:r>
                      <a:endParaRPr lang="zh-TW" sz="1200" b="1"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200">
                          <a:effectLst/>
                        </a:rPr>
                        <a:t>Operands</a:t>
                      </a:r>
                      <a:endParaRPr lang="zh-TW" sz="12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46500">
                <a:tc>
                  <a:txBody>
                    <a:bodyPr/>
                    <a:lstStyle/>
                    <a:p>
                      <a:pPr>
                        <a:spcAft>
                          <a:spcPts val="0"/>
                        </a:spcAft>
                      </a:pPr>
                      <a:r>
                        <a:rPr lang="en-US" sz="1100" dirty="0">
                          <a:effectLst/>
                        </a:rPr>
                        <a:t>currentworkgroupsize_u32</a:t>
                      </a:r>
                      <a:endParaRPr lang="zh-TW" sz="1100" b="1"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dest, dimNumber</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46500">
                <a:tc>
                  <a:txBody>
                    <a:bodyPr/>
                    <a:lstStyle/>
                    <a:p>
                      <a:pPr>
                        <a:spcAft>
                          <a:spcPts val="0"/>
                        </a:spcAft>
                      </a:pPr>
                      <a:r>
                        <a:rPr lang="en-US" sz="1100" dirty="0">
                          <a:effectLst/>
                        </a:rPr>
                        <a:t>currentworkitemflatid_u32</a:t>
                      </a:r>
                      <a:endParaRPr lang="zh-TW" sz="1100" b="1"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dest</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46500">
                <a:tc>
                  <a:txBody>
                    <a:bodyPr/>
                    <a:lstStyle/>
                    <a:p>
                      <a:pPr>
                        <a:spcAft>
                          <a:spcPts val="0"/>
                        </a:spcAft>
                      </a:pPr>
                      <a:r>
                        <a:rPr lang="en-US" sz="1100" dirty="0">
                          <a:effectLst/>
                        </a:rPr>
                        <a:t>dim_u32</a:t>
                      </a:r>
                      <a:endParaRPr lang="zh-TW" sz="1100" b="1"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dest</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46500">
                <a:tc>
                  <a:txBody>
                    <a:bodyPr/>
                    <a:lstStyle/>
                    <a:p>
                      <a:pPr>
                        <a:spcAft>
                          <a:spcPts val="0"/>
                        </a:spcAft>
                      </a:pPr>
                      <a:r>
                        <a:rPr lang="en-US" sz="1100" dirty="0">
                          <a:effectLst/>
                        </a:rPr>
                        <a:t>gridgroups_u32</a:t>
                      </a:r>
                      <a:endParaRPr lang="zh-TW" sz="1100" b="1"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dest, dimNumber</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46500">
                <a:tc>
                  <a:txBody>
                    <a:bodyPr/>
                    <a:lstStyle/>
                    <a:p>
                      <a:pPr>
                        <a:spcAft>
                          <a:spcPts val="0"/>
                        </a:spcAft>
                      </a:pPr>
                      <a:r>
                        <a:rPr lang="en-US" sz="1100">
                          <a:effectLst/>
                        </a:rPr>
                        <a:t>gridsize_uLength</a:t>
                      </a:r>
                      <a:endParaRPr lang="zh-TW" sz="11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dest, dimNumber</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73712">
                <a:tc>
                  <a:txBody>
                    <a:bodyPr/>
                    <a:lstStyle/>
                    <a:p>
                      <a:pPr>
                        <a:spcAft>
                          <a:spcPts val="0"/>
                        </a:spcAft>
                      </a:pPr>
                      <a:r>
                        <a:rPr lang="en-US" sz="1100" dirty="0" err="1">
                          <a:effectLst/>
                        </a:rPr>
                        <a:t>packetcompletionsig_signalType</a:t>
                      </a:r>
                      <a:endParaRPr lang="zh-TW" sz="1100" b="1"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dest</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46500">
                <a:tc>
                  <a:txBody>
                    <a:bodyPr/>
                    <a:lstStyle/>
                    <a:p>
                      <a:pPr>
                        <a:spcAft>
                          <a:spcPts val="0"/>
                        </a:spcAft>
                      </a:pPr>
                      <a:r>
                        <a:rPr lang="en-US" sz="1100" dirty="0">
                          <a:effectLst/>
                        </a:rPr>
                        <a:t>packetid_u64</a:t>
                      </a:r>
                      <a:endParaRPr lang="zh-TW" sz="1100" b="1"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dest</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46500">
                <a:tc>
                  <a:txBody>
                    <a:bodyPr/>
                    <a:lstStyle/>
                    <a:p>
                      <a:pPr>
                        <a:spcAft>
                          <a:spcPts val="0"/>
                        </a:spcAft>
                      </a:pPr>
                      <a:r>
                        <a:rPr lang="en-US" sz="1100">
                          <a:effectLst/>
                        </a:rPr>
                        <a:t>workgroupid_u32</a:t>
                      </a:r>
                      <a:endParaRPr lang="zh-TW" sz="11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dest, dimNumber</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46500">
                <a:tc>
                  <a:txBody>
                    <a:bodyPr/>
                    <a:lstStyle/>
                    <a:p>
                      <a:pPr>
                        <a:spcAft>
                          <a:spcPts val="0"/>
                        </a:spcAft>
                      </a:pPr>
                      <a:r>
                        <a:rPr lang="en-US" sz="1100">
                          <a:effectLst/>
                        </a:rPr>
                        <a:t>workgroupsize_u32</a:t>
                      </a:r>
                      <a:endParaRPr lang="zh-TW" sz="11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dest, dimNumber</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46500">
                <a:tc>
                  <a:txBody>
                    <a:bodyPr/>
                    <a:lstStyle/>
                    <a:p>
                      <a:pPr>
                        <a:spcAft>
                          <a:spcPts val="0"/>
                        </a:spcAft>
                      </a:pPr>
                      <a:r>
                        <a:rPr lang="en-US" sz="1100">
                          <a:effectLst/>
                        </a:rPr>
                        <a:t>workitemabsid_uLength</a:t>
                      </a:r>
                      <a:endParaRPr lang="zh-TW" sz="11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dest, dimNumber</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46500">
                <a:tc>
                  <a:txBody>
                    <a:bodyPr/>
                    <a:lstStyle/>
                    <a:p>
                      <a:pPr>
                        <a:spcAft>
                          <a:spcPts val="0"/>
                        </a:spcAft>
                      </a:pPr>
                      <a:r>
                        <a:rPr lang="en-US" sz="1100">
                          <a:effectLst/>
                        </a:rPr>
                        <a:t>workitemflatabsid_uLength</a:t>
                      </a:r>
                      <a:endParaRPr lang="zh-TW" sz="11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dest</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46500">
                <a:tc>
                  <a:txBody>
                    <a:bodyPr/>
                    <a:lstStyle/>
                    <a:p>
                      <a:pPr>
                        <a:spcAft>
                          <a:spcPts val="0"/>
                        </a:spcAft>
                      </a:pPr>
                      <a:r>
                        <a:rPr lang="en-US" sz="1100">
                          <a:effectLst/>
                        </a:rPr>
                        <a:t>workitemflatid_u32</a:t>
                      </a:r>
                      <a:endParaRPr lang="zh-TW" sz="11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dest</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46500">
                <a:tc>
                  <a:txBody>
                    <a:bodyPr/>
                    <a:lstStyle/>
                    <a:p>
                      <a:pPr>
                        <a:spcAft>
                          <a:spcPts val="0"/>
                        </a:spcAft>
                      </a:pPr>
                      <a:r>
                        <a:rPr lang="en-US" sz="1100">
                          <a:effectLst/>
                        </a:rPr>
                        <a:t>workitemid_u32</a:t>
                      </a:r>
                      <a:endParaRPr lang="zh-TW" sz="11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dirty="0" err="1">
                          <a:effectLst/>
                        </a:rPr>
                        <a:t>dest</a:t>
                      </a:r>
                      <a:r>
                        <a:rPr lang="en-US" sz="1100" dirty="0">
                          <a:effectLst/>
                        </a:rPr>
                        <a:t>, </a:t>
                      </a:r>
                      <a:r>
                        <a:rPr lang="en-US" sz="1100" dirty="0" err="1">
                          <a:effectLst/>
                        </a:rPr>
                        <a:t>dimNumber</a:t>
                      </a:r>
                      <a:endParaRPr lang="zh-TW" sz="1100"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bl>
          </a:graphicData>
        </a:graphic>
      </p:graphicFrame>
    </p:spTree>
    <p:extLst>
      <p:ext uri="{BB962C8B-B14F-4D97-AF65-F5344CB8AC3E}">
        <p14:creationId xmlns:p14="http://schemas.microsoft.com/office/powerpoint/2010/main" val="1917309438"/>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標題 7"/>
          <p:cNvSpPr>
            <a:spLocks noGrp="1"/>
          </p:cNvSpPr>
          <p:nvPr>
            <p:ph type="title"/>
          </p:nvPr>
        </p:nvSpPr>
        <p:spPr/>
        <p:txBody>
          <a:bodyPr/>
          <a:lstStyle/>
          <a:p>
            <a:r>
              <a:rPr lang="en-US" altLang="zh-TW" dirty="0" smtClean="0"/>
              <a:t>Kernel Dispatch Packet Operations (2)</a:t>
            </a:r>
            <a:endParaRPr lang="zh-TW" altLang="en-US" dirty="0"/>
          </a:p>
        </p:txBody>
      </p:sp>
      <p:sp>
        <p:nvSpPr>
          <p:cNvPr id="10" name="內容版面配置區 9"/>
          <p:cNvSpPr>
            <a:spLocks noGrp="1"/>
          </p:cNvSpPr>
          <p:nvPr>
            <p:ph idx="1"/>
          </p:nvPr>
        </p:nvSpPr>
        <p:spPr>
          <a:xfrm>
            <a:off x="446094" y="2411730"/>
            <a:ext cx="3895088" cy="2954815"/>
          </a:xfrm>
        </p:spPr>
        <p:txBody>
          <a:bodyPr/>
          <a:lstStyle/>
          <a:p>
            <a:pPr>
              <a:buClrTx/>
              <a:buSzPct val="100000"/>
              <a:buFont typeface="Arial" panose="020B0604020202020204" pitchFamily="34" charset="0"/>
              <a:buChar char="•"/>
            </a:pPr>
            <a:endParaRPr lang="en-US" altLang="zh-TW" sz="1800" dirty="0"/>
          </a:p>
          <a:p>
            <a:r>
              <a:rPr lang="en-US" altLang="zh-TW" sz="1950" i="1" dirty="0" err="1">
                <a:latin typeface="Times New Roman" panose="02020603050405020304" pitchFamily="18" charset="0"/>
                <a:cs typeface="Times New Roman" panose="02020603050405020304" pitchFamily="18" charset="0"/>
              </a:rPr>
              <a:t>workitemabsid</a:t>
            </a:r>
            <a:r>
              <a:rPr lang="en-US" altLang="zh-TW" sz="1950" dirty="0"/>
              <a:t> - Accesses the work-item absolute identifier (ID) within the entire grid. </a:t>
            </a:r>
          </a:p>
          <a:p>
            <a:endParaRPr lang="en-US" altLang="zh-TW" sz="1950" dirty="0"/>
          </a:p>
          <a:p>
            <a:r>
              <a:rPr lang="en-US" altLang="zh-TW" sz="1950" i="1" dirty="0" err="1">
                <a:latin typeface="Times New Roman" panose="02020603050405020304" pitchFamily="18" charset="0"/>
                <a:cs typeface="Times New Roman" panose="02020603050405020304" pitchFamily="18" charset="0"/>
              </a:rPr>
              <a:t>workitemflatabsid</a:t>
            </a:r>
            <a:r>
              <a:rPr lang="en-US" altLang="zh-TW" sz="1950" dirty="0"/>
              <a:t> - Accesses the flattened form of the work-item absolute identifier (ID) within the entire grid.</a:t>
            </a:r>
          </a:p>
        </p:txBody>
      </p:sp>
      <p:sp>
        <p:nvSpPr>
          <p:cNvPr id="4" name="投影片編號版面配置區 3"/>
          <p:cNvSpPr>
            <a:spLocks noGrp="1"/>
          </p:cNvSpPr>
          <p:nvPr>
            <p:ph type="sldNum" sz="quarter" idx="10"/>
          </p:nvPr>
        </p:nvSpPr>
        <p:spPr/>
        <p:txBody>
          <a:bodyPr/>
          <a:lstStyle/>
          <a:p>
            <a:fld id="{6C75C586-0B13-4105-9895-CED4323B37DD}" type="slidenum">
              <a:rPr lang="zh-TW" altLang="en-US" smtClean="0"/>
              <a:pPr/>
              <a:t>86</a:t>
            </a:fld>
            <a:endParaRPr lang="zh-TW" altLang="en-US"/>
          </a:p>
        </p:txBody>
      </p:sp>
      <p:sp>
        <p:nvSpPr>
          <p:cNvPr id="9" name="內容版面配置區 9"/>
          <p:cNvSpPr txBox="1">
            <a:spLocks/>
          </p:cNvSpPr>
          <p:nvPr/>
        </p:nvSpPr>
        <p:spPr bwMode="auto">
          <a:xfrm>
            <a:off x="446094" y="1784382"/>
            <a:ext cx="8140558" cy="571160"/>
          </a:xfrm>
          <a:prstGeom prst="rect">
            <a:avLst/>
          </a:prstGeom>
          <a:noFill/>
          <a:ln w="9525">
            <a:noFill/>
            <a:miter lim="800000"/>
            <a:headEnd/>
            <a:tailEnd/>
          </a:ln>
        </p:spPr>
        <p:txBody>
          <a:bodyPr vert="horz" wrap="square" lIns="68580" tIns="34290" rIns="68580" bIns="34290" numCol="1" anchor="t" anchorCtr="0" compatLnSpc="1">
            <a:prstTxWarp prst="textNoShape">
              <a:avLst/>
            </a:prstTxWarp>
          </a:bodyPr>
          <a:lstStyle>
            <a:lvl1pPr marL="144661" indent="-144661" algn="l" rtl="0" eaLnBrk="1" fontAlgn="base" hangingPunct="1">
              <a:spcBef>
                <a:spcPct val="20000"/>
              </a:spcBef>
              <a:spcAft>
                <a:spcPct val="0"/>
              </a:spcAft>
              <a:buClr>
                <a:srgbClr val="0000FF"/>
              </a:buClr>
              <a:buSzPct val="80000"/>
              <a:buFont typeface="Wingdings" pitchFamily="2" charset="2"/>
              <a:buChar char="l"/>
              <a:defRPr kumimoji="1" sz="1181">
                <a:solidFill>
                  <a:schemeClr val="tx1"/>
                </a:solidFill>
                <a:latin typeface="Calibri" pitchFamily="34" charset="0"/>
                <a:ea typeface="標楷體" pitchFamily="65" charset="-120"/>
                <a:cs typeface="+mn-cs"/>
              </a:defRPr>
            </a:lvl1pPr>
            <a:lvl2pPr marL="313433" indent="-120551" algn="l" rtl="0" eaLnBrk="1" fontAlgn="base" hangingPunct="1">
              <a:spcBef>
                <a:spcPct val="20000"/>
              </a:spcBef>
              <a:spcAft>
                <a:spcPct val="0"/>
              </a:spcAft>
              <a:buClr>
                <a:srgbClr val="0000FF"/>
              </a:buClr>
              <a:buSzPct val="90000"/>
              <a:buFont typeface="Arial" charset="0"/>
              <a:buChar char="–"/>
              <a:defRPr kumimoji="1" sz="1013">
                <a:solidFill>
                  <a:schemeClr val="tx1"/>
                </a:solidFill>
                <a:latin typeface="Calibri" pitchFamily="34" charset="0"/>
                <a:ea typeface="標楷體" pitchFamily="65" charset="-120"/>
              </a:defRPr>
            </a:lvl2pPr>
            <a:lvl3pPr marL="482204" indent="-96441" algn="l" rtl="0" eaLnBrk="1" fontAlgn="base" hangingPunct="1">
              <a:spcBef>
                <a:spcPct val="20000"/>
              </a:spcBef>
              <a:spcAft>
                <a:spcPct val="0"/>
              </a:spcAft>
              <a:buChar char="•"/>
              <a:defRPr kumimoji="1" sz="844">
                <a:solidFill>
                  <a:schemeClr val="tx1"/>
                </a:solidFill>
                <a:latin typeface="Calibri" pitchFamily="34" charset="0"/>
                <a:ea typeface="標楷體" pitchFamily="65" charset="-120"/>
                <a:cs typeface="Calibri" pitchFamily="34" charset="0"/>
              </a:defRPr>
            </a:lvl3pPr>
            <a:lvl4pPr marL="675085" indent="-96441" algn="l" rtl="0" eaLnBrk="1" fontAlgn="base" hangingPunct="1">
              <a:spcBef>
                <a:spcPct val="20000"/>
              </a:spcBef>
              <a:spcAft>
                <a:spcPct val="0"/>
              </a:spcAft>
              <a:buChar char="–"/>
              <a:defRPr kumimoji="1" sz="760">
                <a:solidFill>
                  <a:schemeClr val="tx1"/>
                </a:solidFill>
                <a:latin typeface="Calibri" pitchFamily="34" charset="0"/>
                <a:ea typeface="標楷體" pitchFamily="65" charset="-120"/>
                <a:cs typeface="Calibri" pitchFamily="34" charset="0"/>
              </a:defRPr>
            </a:lvl4pPr>
            <a:lvl5pPr marL="867966" indent="-96441" algn="l" rtl="0" eaLnBrk="1" fontAlgn="base" hangingPunct="1">
              <a:spcBef>
                <a:spcPct val="20000"/>
              </a:spcBef>
              <a:spcAft>
                <a:spcPct val="0"/>
              </a:spcAft>
              <a:buChar char="»"/>
              <a:defRPr kumimoji="1" sz="760">
                <a:solidFill>
                  <a:schemeClr val="tx1"/>
                </a:solidFill>
                <a:latin typeface="Calibri" pitchFamily="34" charset="0"/>
                <a:ea typeface="標楷體" pitchFamily="65" charset="-120"/>
                <a:cs typeface="Calibri" pitchFamily="34" charset="0"/>
              </a:defRPr>
            </a:lvl5pPr>
            <a:lvl6pPr marL="1060847" indent="-96441" algn="l" rtl="0" eaLnBrk="1" fontAlgn="base" hangingPunct="1">
              <a:spcBef>
                <a:spcPct val="20000"/>
              </a:spcBef>
              <a:spcAft>
                <a:spcPct val="0"/>
              </a:spcAft>
              <a:buChar char="»"/>
              <a:defRPr kumimoji="1" sz="844">
                <a:solidFill>
                  <a:schemeClr val="tx1"/>
                </a:solidFill>
                <a:latin typeface="+mn-lt"/>
                <a:ea typeface="+mn-ea"/>
              </a:defRPr>
            </a:lvl6pPr>
            <a:lvl7pPr marL="1253729" indent="-96441" algn="l" rtl="0" eaLnBrk="1" fontAlgn="base" hangingPunct="1">
              <a:spcBef>
                <a:spcPct val="20000"/>
              </a:spcBef>
              <a:spcAft>
                <a:spcPct val="0"/>
              </a:spcAft>
              <a:buChar char="»"/>
              <a:defRPr kumimoji="1" sz="844">
                <a:solidFill>
                  <a:schemeClr val="tx1"/>
                </a:solidFill>
                <a:latin typeface="+mn-lt"/>
                <a:ea typeface="+mn-ea"/>
              </a:defRPr>
            </a:lvl7pPr>
            <a:lvl8pPr marL="1446610" indent="-96441" algn="l" rtl="0" eaLnBrk="1" fontAlgn="base" hangingPunct="1">
              <a:spcBef>
                <a:spcPct val="20000"/>
              </a:spcBef>
              <a:spcAft>
                <a:spcPct val="0"/>
              </a:spcAft>
              <a:buChar char="»"/>
              <a:defRPr kumimoji="1" sz="844">
                <a:solidFill>
                  <a:schemeClr val="tx1"/>
                </a:solidFill>
                <a:latin typeface="+mn-lt"/>
                <a:ea typeface="+mn-ea"/>
              </a:defRPr>
            </a:lvl8pPr>
            <a:lvl9pPr marL="1639491" indent="-96441" algn="l" rtl="0" eaLnBrk="1" fontAlgn="base" hangingPunct="1">
              <a:spcBef>
                <a:spcPct val="20000"/>
              </a:spcBef>
              <a:spcAft>
                <a:spcPct val="0"/>
              </a:spcAft>
              <a:buChar char="»"/>
              <a:defRPr kumimoji="1" sz="844">
                <a:solidFill>
                  <a:schemeClr val="tx1"/>
                </a:solidFill>
                <a:latin typeface="+mn-lt"/>
                <a:ea typeface="+mn-ea"/>
              </a:defRPr>
            </a:lvl9pPr>
          </a:lstStyle>
          <a:p>
            <a:r>
              <a:rPr lang="en-US" altLang="zh-TW" sz="1950" kern="0" dirty="0"/>
              <a:t>The </a:t>
            </a:r>
            <a:r>
              <a:rPr lang="en-US" altLang="zh-TW" sz="1950" kern="0" dirty="0" smtClean="0"/>
              <a:t>kernel dispatch </a:t>
            </a:r>
            <a:r>
              <a:rPr lang="en-US" altLang="zh-TW" sz="1950" kern="0" dirty="0"/>
              <a:t>packet operations can be used to obtain information about the currently executing kernel dispatch packet.</a:t>
            </a:r>
          </a:p>
        </p:txBody>
      </p:sp>
      <p:graphicFrame>
        <p:nvGraphicFramePr>
          <p:cNvPr id="7" name="表格 6"/>
          <p:cNvGraphicFramePr>
            <a:graphicFrameLocks noGrp="1"/>
          </p:cNvGraphicFramePr>
          <p:nvPr>
            <p:extLst>
              <p:ext uri="{D42A27DB-BD31-4B8C-83A1-F6EECF244321}">
                <p14:modId xmlns:p14="http://schemas.microsoft.com/office/powerpoint/2010/main" val="169553487"/>
              </p:ext>
            </p:extLst>
          </p:nvPr>
        </p:nvGraphicFramePr>
        <p:xfrm>
          <a:off x="4571999" y="2406422"/>
          <a:ext cx="4264090" cy="3499192"/>
        </p:xfrm>
        <a:graphic>
          <a:graphicData uri="http://schemas.openxmlformats.org/drawingml/2006/table">
            <a:tbl>
              <a:tblPr firstRow="1" firstCol="1" bandRow="1">
                <a:tableStyleId>{5C22544A-7EE6-4342-B048-85BDC9FD1C3A}</a:tableStyleId>
              </a:tblPr>
              <a:tblGrid>
                <a:gridCol w="2584581"/>
                <a:gridCol w="1679509"/>
              </a:tblGrid>
              <a:tr h="267480">
                <a:tc>
                  <a:txBody>
                    <a:bodyPr/>
                    <a:lstStyle/>
                    <a:p>
                      <a:pPr>
                        <a:spcAft>
                          <a:spcPts val="0"/>
                        </a:spcAft>
                      </a:pPr>
                      <a:r>
                        <a:rPr lang="en-US" sz="1200" dirty="0">
                          <a:effectLst/>
                        </a:rPr>
                        <a:t>Opcodes and Modifier</a:t>
                      </a:r>
                      <a:endParaRPr lang="zh-TW" sz="1200" b="1"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200">
                          <a:effectLst/>
                        </a:rPr>
                        <a:t>Operands</a:t>
                      </a:r>
                      <a:endParaRPr lang="zh-TW" sz="12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46500">
                <a:tc>
                  <a:txBody>
                    <a:bodyPr/>
                    <a:lstStyle/>
                    <a:p>
                      <a:pPr>
                        <a:spcAft>
                          <a:spcPts val="0"/>
                        </a:spcAft>
                      </a:pPr>
                      <a:r>
                        <a:rPr lang="en-US" sz="1100" dirty="0">
                          <a:effectLst/>
                        </a:rPr>
                        <a:t>currentworkgroupsize_u32</a:t>
                      </a:r>
                      <a:endParaRPr lang="zh-TW" sz="1100" b="1"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dest, dimNumber</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46500">
                <a:tc>
                  <a:txBody>
                    <a:bodyPr/>
                    <a:lstStyle/>
                    <a:p>
                      <a:pPr>
                        <a:spcAft>
                          <a:spcPts val="0"/>
                        </a:spcAft>
                      </a:pPr>
                      <a:r>
                        <a:rPr lang="en-US" sz="1100">
                          <a:effectLst/>
                        </a:rPr>
                        <a:t>currentworkitemflatid_u32</a:t>
                      </a:r>
                      <a:endParaRPr lang="zh-TW" sz="11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dest</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46500">
                <a:tc>
                  <a:txBody>
                    <a:bodyPr/>
                    <a:lstStyle/>
                    <a:p>
                      <a:pPr>
                        <a:spcAft>
                          <a:spcPts val="0"/>
                        </a:spcAft>
                      </a:pPr>
                      <a:r>
                        <a:rPr lang="en-US" sz="1100" dirty="0">
                          <a:effectLst/>
                        </a:rPr>
                        <a:t>dim_u32</a:t>
                      </a:r>
                      <a:endParaRPr lang="zh-TW" sz="1100" b="1"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dest</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46500">
                <a:tc>
                  <a:txBody>
                    <a:bodyPr/>
                    <a:lstStyle/>
                    <a:p>
                      <a:pPr>
                        <a:spcAft>
                          <a:spcPts val="0"/>
                        </a:spcAft>
                      </a:pPr>
                      <a:r>
                        <a:rPr lang="en-US" sz="1100" dirty="0">
                          <a:effectLst/>
                        </a:rPr>
                        <a:t>gridgroups_u32</a:t>
                      </a:r>
                      <a:endParaRPr lang="zh-TW" sz="1100" b="1"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dest, dimNumber</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46500">
                <a:tc>
                  <a:txBody>
                    <a:bodyPr/>
                    <a:lstStyle/>
                    <a:p>
                      <a:pPr>
                        <a:spcAft>
                          <a:spcPts val="0"/>
                        </a:spcAft>
                      </a:pPr>
                      <a:r>
                        <a:rPr lang="en-US" sz="1100">
                          <a:effectLst/>
                        </a:rPr>
                        <a:t>gridsize_uLength</a:t>
                      </a:r>
                      <a:endParaRPr lang="zh-TW" sz="11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dest, dimNumber</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73712">
                <a:tc>
                  <a:txBody>
                    <a:bodyPr/>
                    <a:lstStyle/>
                    <a:p>
                      <a:pPr>
                        <a:spcAft>
                          <a:spcPts val="0"/>
                        </a:spcAft>
                      </a:pPr>
                      <a:r>
                        <a:rPr lang="en-US" sz="1100" dirty="0" err="1">
                          <a:effectLst/>
                        </a:rPr>
                        <a:t>packetcompletionsig_signalType</a:t>
                      </a:r>
                      <a:endParaRPr lang="zh-TW" sz="1100" b="1"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dest</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46500">
                <a:tc>
                  <a:txBody>
                    <a:bodyPr/>
                    <a:lstStyle/>
                    <a:p>
                      <a:pPr>
                        <a:spcAft>
                          <a:spcPts val="0"/>
                        </a:spcAft>
                      </a:pPr>
                      <a:r>
                        <a:rPr lang="en-US" sz="1100" dirty="0">
                          <a:effectLst/>
                        </a:rPr>
                        <a:t>packetid_u64</a:t>
                      </a:r>
                      <a:endParaRPr lang="zh-TW" sz="1100" b="1"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dest</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46500">
                <a:tc>
                  <a:txBody>
                    <a:bodyPr/>
                    <a:lstStyle/>
                    <a:p>
                      <a:pPr>
                        <a:spcAft>
                          <a:spcPts val="0"/>
                        </a:spcAft>
                      </a:pPr>
                      <a:r>
                        <a:rPr lang="en-US" sz="1100">
                          <a:effectLst/>
                        </a:rPr>
                        <a:t>workgroupid_u32</a:t>
                      </a:r>
                      <a:endParaRPr lang="zh-TW" sz="11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dest, dimNumber</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46500">
                <a:tc>
                  <a:txBody>
                    <a:bodyPr/>
                    <a:lstStyle/>
                    <a:p>
                      <a:pPr>
                        <a:spcAft>
                          <a:spcPts val="0"/>
                        </a:spcAft>
                      </a:pPr>
                      <a:r>
                        <a:rPr lang="en-US" sz="1100">
                          <a:effectLst/>
                        </a:rPr>
                        <a:t>workgroupsize_u32</a:t>
                      </a:r>
                      <a:endParaRPr lang="zh-TW" sz="11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dest, dimNumber</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46500">
                <a:tc>
                  <a:txBody>
                    <a:bodyPr/>
                    <a:lstStyle/>
                    <a:p>
                      <a:pPr>
                        <a:spcAft>
                          <a:spcPts val="0"/>
                        </a:spcAft>
                      </a:pPr>
                      <a:r>
                        <a:rPr lang="en-US" sz="1100">
                          <a:effectLst/>
                        </a:rPr>
                        <a:t>workitemabsid_uLength</a:t>
                      </a:r>
                      <a:endParaRPr lang="zh-TW" sz="11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dest, dimNumber</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46500">
                <a:tc>
                  <a:txBody>
                    <a:bodyPr/>
                    <a:lstStyle/>
                    <a:p>
                      <a:pPr>
                        <a:spcAft>
                          <a:spcPts val="0"/>
                        </a:spcAft>
                      </a:pPr>
                      <a:r>
                        <a:rPr lang="en-US" sz="1100">
                          <a:effectLst/>
                        </a:rPr>
                        <a:t>workitemflatabsid_uLength</a:t>
                      </a:r>
                      <a:endParaRPr lang="zh-TW" sz="11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dest</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46500">
                <a:tc>
                  <a:txBody>
                    <a:bodyPr/>
                    <a:lstStyle/>
                    <a:p>
                      <a:pPr>
                        <a:spcAft>
                          <a:spcPts val="0"/>
                        </a:spcAft>
                      </a:pPr>
                      <a:r>
                        <a:rPr lang="en-US" sz="1100">
                          <a:effectLst/>
                        </a:rPr>
                        <a:t>workitemflatid_u32</a:t>
                      </a:r>
                      <a:endParaRPr lang="zh-TW" sz="11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dest</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46500">
                <a:tc>
                  <a:txBody>
                    <a:bodyPr/>
                    <a:lstStyle/>
                    <a:p>
                      <a:pPr>
                        <a:spcAft>
                          <a:spcPts val="0"/>
                        </a:spcAft>
                      </a:pPr>
                      <a:r>
                        <a:rPr lang="en-US" sz="1100">
                          <a:effectLst/>
                        </a:rPr>
                        <a:t>workitemid_u32</a:t>
                      </a:r>
                      <a:endParaRPr lang="zh-TW" sz="11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dirty="0" err="1">
                          <a:effectLst/>
                        </a:rPr>
                        <a:t>dest</a:t>
                      </a:r>
                      <a:r>
                        <a:rPr lang="en-US" sz="1100" dirty="0">
                          <a:effectLst/>
                        </a:rPr>
                        <a:t>, </a:t>
                      </a:r>
                      <a:r>
                        <a:rPr lang="en-US" sz="1100" dirty="0" err="1">
                          <a:effectLst/>
                        </a:rPr>
                        <a:t>dimNumber</a:t>
                      </a:r>
                      <a:endParaRPr lang="zh-TW" sz="1100"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bl>
          </a:graphicData>
        </a:graphic>
      </p:graphicFrame>
    </p:spTree>
    <p:extLst>
      <p:ext uri="{BB962C8B-B14F-4D97-AF65-F5344CB8AC3E}">
        <p14:creationId xmlns:p14="http://schemas.microsoft.com/office/powerpoint/2010/main" val="4175949741"/>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標題 7"/>
          <p:cNvSpPr>
            <a:spLocks noGrp="1"/>
          </p:cNvSpPr>
          <p:nvPr>
            <p:ph type="title"/>
          </p:nvPr>
        </p:nvSpPr>
        <p:spPr/>
        <p:txBody>
          <a:bodyPr/>
          <a:lstStyle/>
          <a:p>
            <a:r>
              <a:rPr lang="en-US" altLang="zh-TW" dirty="0" smtClean="0"/>
              <a:t>Kernel Dispatch Packet Operations (3)</a:t>
            </a:r>
            <a:endParaRPr lang="zh-TW" altLang="en-US" dirty="0"/>
          </a:p>
        </p:txBody>
      </p:sp>
      <p:sp>
        <p:nvSpPr>
          <p:cNvPr id="10" name="內容版面配置區 9"/>
          <p:cNvSpPr>
            <a:spLocks noGrp="1"/>
          </p:cNvSpPr>
          <p:nvPr>
            <p:ph idx="1"/>
          </p:nvPr>
        </p:nvSpPr>
        <p:spPr>
          <a:xfrm>
            <a:off x="446094" y="2411730"/>
            <a:ext cx="3895088" cy="2954815"/>
          </a:xfrm>
        </p:spPr>
        <p:txBody>
          <a:bodyPr/>
          <a:lstStyle/>
          <a:p>
            <a:pPr>
              <a:buClrTx/>
              <a:buSzPct val="100000"/>
              <a:buFont typeface="Arial" panose="020B0604020202020204" pitchFamily="34" charset="0"/>
              <a:buChar char="•"/>
            </a:pPr>
            <a:endParaRPr lang="en-US" altLang="zh-TW" sz="1950" dirty="0"/>
          </a:p>
          <a:p>
            <a:r>
              <a:rPr lang="en-US" altLang="zh-TW" sz="1950" i="1" dirty="0" err="1">
                <a:latin typeface="Times New Roman" panose="02020603050405020304" pitchFamily="18" charset="0"/>
                <a:cs typeface="Times New Roman" panose="02020603050405020304" pitchFamily="18" charset="0"/>
              </a:rPr>
              <a:t>workitemflatid</a:t>
            </a:r>
            <a:r>
              <a:rPr lang="en-US" altLang="zh-TW" sz="1950" dirty="0"/>
              <a:t> - Accesses the flattened form of the work-item ID within the work-group. </a:t>
            </a:r>
          </a:p>
          <a:p>
            <a:endParaRPr lang="en-US" altLang="zh-TW" sz="1950" dirty="0"/>
          </a:p>
          <a:p>
            <a:r>
              <a:rPr lang="en-US" altLang="zh-TW" sz="1950" i="1" dirty="0" err="1">
                <a:latin typeface="Times New Roman" panose="02020603050405020304" pitchFamily="18" charset="0"/>
                <a:cs typeface="Times New Roman" panose="02020603050405020304" pitchFamily="18" charset="0"/>
              </a:rPr>
              <a:t>workitemid</a:t>
            </a:r>
            <a:r>
              <a:rPr lang="en-US" altLang="zh-TW" sz="1950" dirty="0"/>
              <a:t> - Accesses the work-item ID within the work-group.</a:t>
            </a:r>
          </a:p>
        </p:txBody>
      </p:sp>
      <p:sp>
        <p:nvSpPr>
          <p:cNvPr id="4" name="投影片編號版面配置區 3"/>
          <p:cNvSpPr>
            <a:spLocks noGrp="1"/>
          </p:cNvSpPr>
          <p:nvPr>
            <p:ph type="sldNum" sz="quarter" idx="10"/>
          </p:nvPr>
        </p:nvSpPr>
        <p:spPr/>
        <p:txBody>
          <a:bodyPr/>
          <a:lstStyle/>
          <a:p>
            <a:fld id="{6C75C586-0B13-4105-9895-CED4323B37DD}" type="slidenum">
              <a:rPr lang="zh-TW" altLang="en-US" smtClean="0"/>
              <a:pPr/>
              <a:t>87</a:t>
            </a:fld>
            <a:endParaRPr lang="zh-TW" altLang="en-US"/>
          </a:p>
        </p:txBody>
      </p:sp>
      <p:sp>
        <p:nvSpPr>
          <p:cNvPr id="9" name="內容版面配置區 9"/>
          <p:cNvSpPr txBox="1">
            <a:spLocks/>
          </p:cNvSpPr>
          <p:nvPr/>
        </p:nvSpPr>
        <p:spPr bwMode="auto">
          <a:xfrm>
            <a:off x="446094" y="1784382"/>
            <a:ext cx="8140558" cy="571160"/>
          </a:xfrm>
          <a:prstGeom prst="rect">
            <a:avLst/>
          </a:prstGeom>
          <a:noFill/>
          <a:ln w="9525">
            <a:noFill/>
            <a:miter lim="800000"/>
            <a:headEnd/>
            <a:tailEnd/>
          </a:ln>
        </p:spPr>
        <p:txBody>
          <a:bodyPr vert="horz" wrap="square" lIns="68580" tIns="34290" rIns="68580" bIns="34290" numCol="1" anchor="t" anchorCtr="0" compatLnSpc="1">
            <a:prstTxWarp prst="textNoShape">
              <a:avLst/>
            </a:prstTxWarp>
          </a:bodyPr>
          <a:lstStyle>
            <a:lvl1pPr marL="144661" indent="-144661" algn="l" rtl="0" eaLnBrk="1" fontAlgn="base" hangingPunct="1">
              <a:spcBef>
                <a:spcPct val="20000"/>
              </a:spcBef>
              <a:spcAft>
                <a:spcPct val="0"/>
              </a:spcAft>
              <a:buClr>
                <a:srgbClr val="0000FF"/>
              </a:buClr>
              <a:buSzPct val="80000"/>
              <a:buFont typeface="Wingdings" pitchFamily="2" charset="2"/>
              <a:buChar char="l"/>
              <a:defRPr kumimoji="1" sz="1181">
                <a:solidFill>
                  <a:schemeClr val="tx1"/>
                </a:solidFill>
                <a:latin typeface="Calibri" pitchFamily="34" charset="0"/>
                <a:ea typeface="標楷體" pitchFamily="65" charset="-120"/>
                <a:cs typeface="+mn-cs"/>
              </a:defRPr>
            </a:lvl1pPr>
            <a:lvl2pPr marL="313433" indent="-120551" algn="l" rtl="0" eaLnBrk="1" fontAlgn="base" hangingPunct="1">
              <a:spcBef>
                <a:spcPct val="20000"/>
              </a:spcBef>
              <a:spcAft>
                <a:spcPct val="0"/>
              </a:spcAft>
              <a:buClr>
                <a:srgbClr val="0000FF"/>
              </a:buClr>
              <a:buSzPct val="90000"/>
              <a:buFont typeface="Arial" charset="0"/>
              <a:buChar char="–"/>
              <a:defRPr kumimoji="1" sz="1013">
                <a:solidFill>
                  <a:schemeClr val="tx1"/>
                </a:solidFill>
                <a:latin typeface="Calibri" pitchFamily="34" charset="0"/>
                <a:ea typeface="標楷體" pitchFamily="65" charset="-120"/>
              </a:defRPr>
            </a:lvl2pPr>
            <a:lvl3pPr marL="482204" indent="-96441" algn="l" rtl="0" eaLnBrk="1" fontAlgn="base" hangingPunct="1">
              <a:spcBef>
                <a:spcPct val="20000"/>
              </a:spcBef>
              <a:spcAft>
                <a:spcPct val="0"/>
              </a:spcAft>
              <a:buChar char="•"/>
              <a:defRPr kumimoji="1" sz="844">
                <a:solidFill>
                  <a:schemeClr val="tx1"/>
                </a:solidFill>
                <a:latin typeface="Calibri" pitchFamily="34" charset="0"/>
                <a:ea typeface="標楷體" pitchFamily="65" charset="-120"/>
                <a:cs typeface="Calibri" pitchFamily="34" charset="0"/>
              </a:defRPr>
            </a:lvl3pPr>
            <a:lvl4pPr marL="675085" indent="-96441" algn="l" rtl="0" eaLnBrk="1" fontAlgn="base" hangingPunct="1">
              <a:spcBef>
                <a:spcPct val="20000"/>
              </a:spcBef>
              <a:spcAft>
                <a:spcPct val="0"/>
              </a:spcAft>
              <a:buChar char="–"/>
              <a:defRPr kumimoji="1" sz="760">
                <a:solidFill>
                  <a:schemeClr val="tx1"/>
                </a:solidFill>
                <a:latin typeface="Calibri" pitchFamily="34" charset="0"/>
                <a:ea typeface="標楷體" pitchFamily="65" charset="-120"/>
                <a:cs typeface="Calibri" pitchFamily="34" charset="0"/>
              </a:defRPr>
            </a:lvl4pPr>
            <a:lvl5pPr marL="867966" indent="-96441" algn="l" rtl="0" eaLnBrk="1" fontAlgn="base" hangingPunct="1">
              <a:spcBef>
                <a:spcPct val="20000"/>
              </a:spcBef>
              <a:spcAft>
                <a:spcPct val="0"/>
              </a:spcAft>
              <a:buChar char="»"/>
              <a:defRPr kumimoji="1" sz="760">
                <a:solidFill>
                  <a:schemeClr val="tx1"/>
                </a:solidFill>
                <a:latin typeface="Calibri" pitchFamily="34" charset="0"/>
                <a:ea typeface="標楷體" pitchFamily="65" charset="-120"/>
                <a:cs typeface="Calibri" pitchFamily="34" charset="0"/>
              </a:defRPr>
            </a:lvl5pPr>
            <a:lvl6pPr marL="1060847" indent="-96441" algn="l" rtl="0" eaLnBrk="1" fontAlgn="base" hangingPunct="1">
              <a:spcBef>
                <a:spcPct val="20000"/>
              </a:spcBef>
              <a:spcAft>
                <a:spcPct val="0"/>
              </a:spcAft>
              <a:buChar char="»"/>
              <a:defRPr kumimoji="1" sz="844">
                <a:solidFill>
                  <a:schemeClr val="tx1"/>
                </a:solidFill>
                <a:latin typeface="+mn-lt"/>
                <a:ea typeface="+mn-ea"/>
              </a:defRPr>
            </a:lvl6pPr>
            <a:lvl7pPr marL="1253729" indent="-96441" algn="l" rtl="0" eaLnBrk="1" fontAlgn="base" hangingPunct="1">
              <a:spcBef>
                <a:spcPct val="20000"/>
              </a:spcBef>
              <a:spcAft>
                <a:spcPct val="0"/>
              </a:spcAft>
              <a:buChar char="»"/>
              <a:defRPr kumimoji="1" sz="844">
                <a:solidFill>
                  <a:schemeClr val="tx1"/>
                </a:solidFill>
                <a:latin typeface="+mn-lt"/>
                <a:ea typeface="+mn-ea"/>
              </a:defRPr>
            </a:lvl7pPr>
            <a:lvl8pPr marL="1446610" indent="-96441" algn="l" rtl="0" eaLnBrk="1" fontAlgn="base" hangingPunct="1">
              <a:spcBef>
                <a:spcPct val="20000"/>
              </a:spcBef>
              <a:spcAft>
                <a:spcPct val="0"/>
              </a:spcAft>
              <a:buChar char="»"/>
              <a:defRPr kumimoji="1" sz="844">
                <a:solidFill>
                  <a:schemeClr val="tx1"/>
                </a:solidFill>
                <a:latin typeface="+mn-lt"/>
                <a:ea typeface="+mn-ea"/>
              </a:defRPr>
            </a:lvl8pPr>
            <a:lvl9pPr marL="1639491" indent="-96441" algn="l" rtl="0" eaLnBrk="1" fontAlgn="base" hangingPunct="1">
              <a:spcBef>
                <a:spcPct val="20000"/>
              </a:spcBef>
              <a:spcAft>
                <a:spcPct val="0"/>
              </a:spcAft>
              <a:buChar char="»"/>
              <a:defRPr kumimoji="1" sz="844">
                <a:solidFill>
                  <a:schemeClr val="tx1"/>
                </a:solidFill>
                <a:latin typeface="+mn-lt"/>
                <a:ea typeface="+mn-ea"/>
              </a:defRPr>
            </a:lvl9pPr>
          </a:lstStyle>
          <a:p>
            <a:r>
              <a:rPr lang="en-US" altLang="zh-TW" sz="1950" kern="0" dirty="0"/>
              <a:t>The </a:t>
            </a:r>
            <a:r>
              <a:rPr lang="en-US" altLang="zh-TW" sz="1950" kern="0" dirty="0" smtClean="0"/>
              <a:t>kernel dispatch </a:t>
            </a:r>
            <a:r>
              <a:rPr lang="en-US" altLang="zh-TW" sz="1950" kern="0" dirty="0"/>
              <a:t>packet operations can be used to obtain information about the currently executing kernel dispatch packet.</a:t>
            </a:r>
          </a:p>
        </p:txBody>
      </p:sp>
      <p:graphicFrame>
        <p:nvGraphicFramePr>
          <p:cNvPr id="7" name="表格 6"/>
          <p:cNvGraphicFramePr>
            <a:graphicFrameLocks noGrp="1"/>
          </p:cNvGraphicFramePr>
          <p:nvPr>
            <p:extLst>
              <p:ext uri="{D42A27DB-BD31-4B8C-83A1-F6EECF244321}">
                <p14:modId xmlns:p14="http://schemas.microsoft.com/office/powerpoint/2010/main" val="169553487"/>
              </p:ext>
            </p:extLst>
          </p:nvPr>
        </p:nvGraphicFramePr>
        <p:xfrm>
          <a:off x="4571999" y="2406422"/>
          <a:ext cx="4264090" cy="3499192"/>
        </p:xfrm>
        <a:graphic>
          <a:graphicData uri="http://schemas.openxmlformats.org/drawingml/2006/table">
            <a:tbl>
              <a:tblPr firstRow="1" firstCol="1" bandRow="1">
                <a:tableStyleId>{5C22544A-7EE6-4342-B048-85BDC9FD1C3A}</a:tableStyleId>
              </a:tblPr>
              <a:tblGrid>
                <a:gridCol w="2584581"/>
                <a:gridCol w="1679509"/>
              </a:tblGrid>
              <a:tr h="267480">
                <a:tc>
                  <a:txBody>
                    <a:bodyPr/>
                    <a:lstStyle/>
                    <a:p>
                      <a:pPr>
                        <a:spcAft>
                          <a:spcPts val="0"/>
                        </a:spcAft>
                      </a:pPr>
                      <a:r>
                        <a:rPr lang="en-US" sz="1200" dirty="0">
                          <a:effectLst/>
                        </a:rPr>
                        <a:t>Opcodes and Modifier</a:t>
                      </a:r>
                      <a:endParaRPr lang="zh-TW" sz="1200" b="1"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200">
                          <a:effectLst/>
                        </a:rPr>
                        <a:t>Operands</a:t>
                      </a:r>
                      <a:endParaRPr lang="zh-TW" sz="12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46500">
                <a:tc>
                  <a:txBody>
                    <a:bodyPr/>
                    <a:lstStyle/>
                    <a:p>
                      <a:pPr>
                        <a:spcAft>
                          <a:spcPts val="0"/>
                        </a:spcAft>
                      </a:pPr>
                      <a:r>
                        <a:rPr lang="en-US" sz="1100" dirty="0">
                          <a:effectLst/>
                        </a:rPr>
                        <a:t>currentworkgroupsize_u32</a:t>
                      </a:r>
                      <a:endParaRPr lang="zh-TW" sz="1100" b="1"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dest, dimNumber</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46500">
                <a:tc>
                  <a:txBody>
                    <a:bodyPr/>
                    <a:lstStyle/>
                    <a:p>
                      <a:pPr>
                        <a:spcAft>
                          <a:spcPts val="0"/>
                        </a:spcAft>
                      </a:pPr>
                      <a:r>
                        <a:rPr lang="en-US" sz="1100">
                          <a:effectLst/>
                        </a:rPr>
                        <a:t>currentworkitemflatid_u32</a:t>
                      </a:r>
                      <a:endParaRPr lang="zh-TW" sz="11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dest</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46500">
                <a:tc>
                  <a:txBody>
                    <a:bodyPr/>
                    <a:lstStyle/>
                    <a:p>
                      <a:pPr>
                        <a:spcAft>
                          <a:spcPts val="0"/>
                        </a:spcAft>
                      </a:pPr>
                      <a:r>
                        <a:rPr lang="en-US" sz="1100" dirty="0">
                          <a:effectLst/>
                        </a:rPr>
                        <a:t>dim_u32</a:t>
                      </a:r>
                      <a:endParaRPr lang="zh-TW" sz="1100" b="1"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dest</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46500">
                <a:tc>
                  <a:txBody>
                    <a:bodyPr/>
                    <a:lstStyle/>
                    <a:p>
                      <a:pPr>
                        <a:spcAft>
                          <a:spcPts val="0"/>
                        </a:spcAft>
                      </a:pPr>
                      <a:r>
                        <a:rPr lang="en-US" sz="1100" dirty="0">
                          <a:effectLst/>
                        </a:rPr>
                        <a:t>gridgroups_u32</a:t>
                      </a:r>
                      <a:endParaRPr lang="zh-TW" sz="1100" b="1"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dest, dimNumber</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46500">
                <a:tc>
                  <a:txBody>
                    <a:bodyPr/>
                    <a:lstStyle/>
                    <a:p>
                      <a:pPr>
                        <a:spcAft>
                          <a:spcPts val="0"/>
                        </a:spcAft>
                      </a:pPr>
                      <a:r>
                        <a:rPr lang="en-US" sz="1100">
                          <a:effectLst/>
                        </a:rPr>
                        <a:t>gridsize_uLength</a:t>
                      </a:r>
                      <a:endParaRPr lang="zh-TW" sz="11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dest, dimNumber</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73712">
                <a:tc>
                  <a:txBody>
                    <a:bodyPr/>
                    <a:lstStyle/>
                    <a:p>
                      <a:pPr>
                        <a:spcAft>
                          <a:spcPts val="0"/>
                        </a:spcAft>
                      </a:pPr>
                      <a:r>
                        <a:rPr lang="en-US" sz="1100" dirty="0" err="1">
                          <a:effectLst/>
                        </a:rPr>
                        <a:t>packetcompletionsig_signalType</a:t>
                      </a:r>
                      <a:endParaRPr lang="zh-TW" sz="1100" b="1"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dest</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46500">
                <a:tc>
                  <a:txBody>
                    <a:bodyPr/>
                    <a:lstStyle/>
                    <a:p>
                      <a:pPr>
                        <a:spcAft>
                          <a:spcPts val="0"/>
                        </a:spcAft>
                      </a:pPr>
                      <a:r>
                        <a:rPr lang="en-US" sz="1100" dirty="0">
                          <a:effectLst/>
                        </a:rPr>
                        <a:t>packetid_u64</a:t>
                      </a:r>
                      <a:endParaRPr lang="zh-TW" sz="1100" b="1"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dest</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46500">
                <a:tc>
                  <a:txBody>
                    <a:bodyPr/>
                    <a:lstStyle/>
                    <a:p>
                      <a:pPr>
                        <a:spcAft>
                          <a:spcPts val="0"/>
                        </a:spcAft>
                      </a:pPr>
                      <a:r>
                        <a:rPr lang="en-US" sz="1100">
                          <a:effectLst/>
                        </a:rPr>
                        <a:t>workgroupid_u32</a:t>
                      </a:r>
                      <a:endParaRPr lang="zh-TW" sz="11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dest, dimNumber</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46500">
                <a:tc>
                  <a:txBody>
                    <a:bodyPr/>
                    <a:lstStyle/>
                    <a:p>
                      <a:pPr>
                        <a:spcAft>
                          <a:spcPts val="0"/>
                        </a:spcAft>
                      </a:pPr>
                      <a:r>
                        <a:rPr lang="en-US" sz="1100">
                          <a:effectLst/>
                        </a:rPr>
                        <a:t>workgroupsize_u32</a:t>
                      </a:r>
                      <a:endParaRPr lang="zh-TW" sz="11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dest, dimNumber</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46500">
                <a:tc>
                  <a:txBody>
                    <a:bodyPr/>
                    <a:lstStyle/>
                    <a:p>
                      <a:pPr>
                        <a:spcAft>
                          <a:spcPts val="0"/>
                        </a:spcAft>
                      </a:pPr>
                      <a:r>
                        <a:rPr lang="en-US" sz="1100">
                          <a:effectLst/>
                        </a:rPr>
                        <a:t>workitemabsid_uLength</a:t>
                      </a:r>
                      <a:endParaRPr lang="zh-TW" sz="11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dest, dimNumber</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46500">
                <a:tc>
                  <a:txBody>
                    <a:bodyPr/>
                    <a:lstStyle/>
                    <a:p>
                      <a:pPr>
                        <a:spcAft>
                          <a:spcPts val="0"/>
                        </a:spcAft>
                      </a:pPr>
                      <a:r>
                        <a:rPr lang="en-US" sz="1100">
                          <a:effectLst/>
                        </a:rPr>
                        <a:t>workitemflatabsid_uLength</a:t>
                      </a:r>
                      <a:endParaRPr lang="zh-TW" sz="11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dest</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46500">
                <a:tc>
                  <a:txBody>
                    <a:bodyPr/>
                    <a:lstStyle/>
                    <a:p>
                      <a:pPr>
                        <a:spcAft>
                          <a:spcPts val="0"/>
                        </a:spcAft>
                      </a:pPr>
                      <a:r>
                        <a:rPr lang="en-US" sz="1100">
                          <a:effectLst/>
                        </a:rPr>
                        <a:t>workitemflatid_u32</a:t>
                      </a:r>
                      <a:endParaRPr lang="zh-TW" sz="11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dest</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46500">
                <a:tc>
                  <a:txBody>
                    <a:bodyPr/>
                    <a:lstStyle/>
                    <a:p>
                      <a:pPr>
                        <a:spcAft>
                          <a:spcPts val="0"/>
                        </a:spcAft>
                      </a:pPr>
                      <a:r>
                        <a:rPr lang="en-US" sz="1100">
                          <a:effectLst/>
                        </a:rPr>
                        <a:t>workitemid_u32</a:t>
                      </a:r>
                      <a:endParaRPr lang="zh-TW" sz="11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dirty="0" err="1">
                          <a:effectLst/>
                        </a:rPr>
                        <a:t>dest</a:t>
                      </a:r>
                      <a:r>
                        <a:rPr lang="en-US" sz="1100" dirty="0">
                          <a:effectLst/>
                        </a:rPr>
                        <a:t>, </a:t>
                      </a:r>
                      <a:r>
                        <a:rPr lang="en-US" sz="1100" dirty="0" err="1">
                          <a:effectLst/>
                        </a:rPr>
                        <a:t>dimNumber</a:t>
                      </a:r>
                      <a:endParaRPr lang="zh-TW" sz="1100"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bl>
          </a:graphicData>
        </a:graphic>
      </p:graphicFrame>
    </p:spTree>
    <p:extLst>
      <p:ext uri="{BB962C8B-B14F-4D97-AF65-F5344CB8AC3E}">
        <p14:creationId xmlns:p14="http://schemas.microsoft.com/office/powerpoint/2010/main" val="4114224820"/>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標題 7"/>
          <p:cNvSpPr>
            <a:spLocks noGrp="1"/>
          </p:cNvSpPr>
          <p:nvPr>
            <p:ph type="title"/>
          </p:nvPr>
        </p:nvSpPr>
        <p:spPr/>
        <p:txBody>
          <a:bodyPr/>
          <a:lstStyle/>
          <a:p>
            <a:r>
              <a:rPr lang="en-US" altLang="zh-TW" dirty="0" smtClean="0"/>
              <a:t>Exception Operations (1)</a:t>
            </a:r>
            <a:endParaRPr lang="zh-TW" altLang="en-US" dirty="0"/>
          </a:p>
        </p:txBody>
      </p:sp>
      <p:sp>
        <p:nvSpPr>
          <p:cNvPr id="10" name="內容版面配置區 9"/>
          <p:cNvSpPr>
            <a:spLocks noGrp="1"/>
          </p:cNvSpPr>
          <p:nvPr>
            <p:ph idx="1"/>
          </p:nvPr>
        </p:nvSpPr>
        <p:spPr>
          <a:xfrm>
            <a:off x="446093" y="2483576"/>
            <a:ext cx="3895088" cy="2954815"/>
          </a:xfrm>
        </p:spPr>
        <p:txBody>
          <a:bodyPr/>
          <a:lstStyle/>
          <a:p>
            <a:r>
              <a:rPr lang="en-US" altLang="zh-TW" sz="1950" i="1" dirty="0" err="1">
                <a:latin typeface="Times New Roman" panose="02020603050405020304" pitchFamily="18" charset="0"/>
                <a:cs typeface="Times New Roman" panose="02020603050405020304" pitchFamily="18" charset="0"/>
              </a:rPr>
              <a:t>cleardetectexcept</a:t>
            </a:r>
            <a:r>
              <a:rPr lang="en-US" altLang="zh-TW" sz="1950" dirty="0"/>
              <a:t> - Clears DETECT exception flags specified in </a:t>
            </a:r>
            <a:r>
              <a:rPr lang="en-US" altLang="zh-TW" sz="1950" dirty="0" err="1"/>
              <a:t>exceptionsNumber</a:t>
            </a:r>
            <a:r>
              <a:rPr lang="en-US" altLang="zh-TW" sz="1950" dirty="0"/>
              <a:t> for the work-group containing the work-item. </a:t>
            </a:r>
          </a:p>
          <a:p>
            <a:r>
              <a:rPr lang="en-US" altLang="zh-TW" sz="1950" i="1" dirty="0" err="1">
                <a:latin typeface="Times New Roman" panose="02020603050405020304" pitchFamily="18" charset="0"/>
                <a:cs typeface="Times New Roman" panose="02020603050405020304" pitchFamily="18" charset="0"/>
              </a:rPr>
              <a:t>getdetectexcept</a:t>
            </a:r>
            <a:r>
              <a:rPr lang="en-US" altLang="zh-TW" sz="1950" dirty="0"/>
              <a:t> - Returns the current value of DETECT exception flags, which is a summarization for all work-items in the work-group containing the work-item.</a:t>
            </a:r>
          </a:p>
        </p:txBody>
      </p:sp>
      <p:sp>
        <p:nvSpPr>
          <p:cNvPr id="4" name="投影片編號版面配置區 3"/>
          <p:cNvSpPr>
            <a:spLocks noGrp="1"/>
          </p:cNvSpPr>
          <p:nvPr>
            <p:ph type="sldNum" sz="quarter" idx="10"/>
          </p:nvPr>
        </p:nvSpPr>
        <p:spPr/>
        <p:txBody>
          <a:bodyPr/>
          <a:lstStyle/>
          <a:p>
            <a:fld id="{6C75C586-0B13-4105-9895-CED4323B37DD}" type="slidenum">
              <a:rPr lang="zh-TW" altLang="en-US" smtClean="0"/>
              <a:pPr/>
              <a:t>88</a:t>
            </a:fld>
            <a:endParaRPr lang="zh-TW" altLang="en-US"/>
          </a:p>
        </p:txBody>
      </p:sp>
      <p:sp>
        <p:nvSpPr>
          <p:cNvPr id="9" name="內容版面配置區 9"/>
          <p:cNvSpPr txBox="1">
            <a:spLocks/>
          </p:cNvSpPr>
          <p:nvPr/>
        </p:nvSpPr>
        <p:spPr bwMode="auto">
          <a:xfrm>
            <a:off x="446094" y="1784382"/>
            <a:ext cx="8140558" cy="571160"/>
          </a:xfrm>
          <a:prstGeom prst="rect">
            <a:avLst/>
          </a:prstGeom>
          <a:noFill/>
          <a:ln w="9525">
            <a:noFill/>
            <a:miter lim="800000"/>
            <a:headEnd/>
            <a:tailEnd/>
          </a:ln>
        </p:spPr>
        <p:txBody>
          <a:bodyPr vert="horz" wrap="square" lIns="68580" tIns="34290" rIns="68580" bIns="34290" numCol="1" anchor="t" anchorCtr="0" compatLnSpc="1">
            <a:prstTxWarp prst="textNoShape">
              <a:avLst/>
            </a:prstTxWarp>
          </a:bodyPr>
          <a:lstStyle>
            <a:lvl1pPr marL="144661" indent="-144661" algn="l" rtl="0" eaLnBrk="1" fontAlgn="base" hangingPunct="1">
              <a:spcBef>
                <a:spcPct val="20000"/>
              </a:spcBef>
              <a:spcAft>
                <a:spcPct val="0"/>
              </a:spcAft>
              <a:buClr>
                <a:srgbClr val="0000FF"/>
              </a:buClr>
              <a:buSzPct val="80000"/>
              <a:buFont typeface="Wingdings" pitchFamily="2" charset="2"/>
              <a:buChar char="l"/>
              <a:defRPr kumimoji="1" sz="1181">
                <a:solidFill>
                  <a:schemeClr val="tx1"/>
                </a:solidFill>
                <a:latin typeface="Calibri" pitchFamily="34" charset="0"/>
                <a:ea typeface="標楷體" pitchFamily="65" charset="-120"/>
                <a:cs typeface="+mn-cs"/>
              </a:defRPr>
            </a:lvl1pPr>
            <a:lvl2pPr marL="313433" indent="-120551" algn="l" rtl="0" eaLnBrk="1" fontAlgn="base" hangingPunct="1">
              <a:spcBef>
                <a:spcPct val="20000"/>
              </a:spcBef>
              <a:spcAft>
                <a:spcPct val="0"/>
              </a:spcAft>
              <a:buClr>
                <a:srgbClr val="0000FF"/>
              </a:buClr>
              <a:buSzPct val="90000"/>
              <a:buFont typeface="Arial" charset="0"/>
              <a:buChar char="–"/>
              <a:defRPr kumimoji="1" sz="1013">
                <a:solidFill>
                  <a:schemeClr val="tx1"/>
                </a:solidFill>
                <a:latin typeface="Calibri" pitchFamily="34" charset="0"/>
                <a:ea typeface="標楷體" pitchFamily="65" charset="-120"/>
              </a:defRPr>
            </a:lvl2pPr>
            <a:lvl3pPr marL="482204" indent="-96441" algn="l" rtl="0" eaLnBrk="1" fontAlgn="base" hangingPunct="1">
              <a:spcBef>
                <a:spcPct val="20000"/>
              </a:spcBef>
              <a:spcAft>
                <a:spcPct val="0"/>
              </a:spcAft>
              <a:buChar char="•"/>
              <a:defRPr kumimoji="1" sz="844">
                <a:solidFill>
                  <a:schemeClr val="tx1"/>
                </a:solidFill>
                <a:latin typeface="Calibri" pitchFamily="34" charset="0"/>
                <a:ea typeface="標楷體" pitchFamily="65" charset="-120"/>
                <a:cs typeface="Calibri" pitchFamily="34" charset="0"/>
              </a:defRPr>
            </a:lvl3pPr>
            <a:lvl4pPr marL="675085" indent="-96441" algn="l" rtl="0" eaLnBrk="1" fontAlgn="base" hangingPunct="1">
              <a:spcBef>
                <a:spcPct val="20000"/>
              </a:spcBef>
              <a:spcAft>
                <a:spcPct val="0"/>
              </a:spcAft>
              <a:buChar char="–"/>
              <a:defRPr kumimoji="1" sz="760">
                <a:solidFill>
                  <a:schemeClr val="tx1"/>
                </a:solidFill>
                <a:latin typeface="Calibri" pitchFamily="34" charset="0"/>
                <a:ea typeface="標楷體" pitchFamily="65" charset="-120"/>
                <a:cs typeface="Calibri" pitchFamily="34" charset="0"/>
              </a:defRPr>
            </a:lvl4pPr>
            <a:lvl5pPr marL="867966" indent="-96441" algn="l" rtl="0" eaLnBrk="1" fontAlgn="base" hangingPunct="1">
              <a:spcBef>
                <a:spcPct val="20000"/>
              </a:spcBef>
              <a:spcAft>
                <a:spcPct val="0"/>
              </a:spcAft>
              <a:buChar char="»"/>
              <a:defRPr kumimoji="1" sz="760">
                <a:solidFill>
                  <a:schemeClr val="tx1"/>
                </a:solidFill>
                <a:latin typeface="Calibri" pitchFamily="34" charset="0"/>
                <a:ea typeface="標楷體" pitchFamily="65" charset="-120"/>
                <a:cs typeface="Calibri" pitchFamily="34" charset="0"/>
              </a:defRPr>
            </a:lvl5pPr>
            <a:lvl6pPr marL="1060847" indent="-96441" algn="l" rtl="0" eaLnBrk="1" fontAlgn="base" hangingPunct="1">
              <a:spcBef>
                <a:spcPct val="20000"/>
              </a:spcBef>
              <a:spcAft>
                <a:spcPct val="0"/>
              </a:spcAft>
              <a:buChar char="»"/>
              <a:defRPr kumimoji="1" sz="844">
                <a:solidFill>
                  <a:schemeClr val="tx1"/>
                </a:solidFill>
                <a:latin typeface="+mn-lt"/>
                <a:ea typeface="+mn-ea"/>
              </a:defRPr>
            </a:lvl6pPr>
            <a:lvl7pPr marL="1253729" indent="-96441" algn="l" rtl="0" eaLnBrk="1" fontAlgn="base" hangingPunct="1">
              <a:spcBef>
                <a:spcPct val="20000"/>
              </a:spcBef>
              <a:spcAft>
                <a:spcPct val="0"/>
              </a:spcAft>
              <a:buChar char="»"/>
              <a:defRPr kumimoji="1" sz="844">
                <a:solidFill>
                  <a:schemeClr val="tx1"/>
                </a:solidFill>
                <a:latin typeface="+mn-lt"/>
                <a:ea typeface="+mn-ea"/>
              </a:defRPr>
            </a:lvl7pPr>
            <a:lvl8pPr marL="1446610" indent="-96441" algn="l" rtl="0" eaLnBrk="1" fontAlgn="base" hangingPunct="1">
              <a:spcBef>
                <a:spcPct val="20000"/>
              </a:spcBef>
              <a:spcAft>
                <a:spcPct val="0"/>
              </a:spcAft>
              <a:buChar char="»"/>
              <a:defRPr kumimoji="1" sz="844">
                <a:solidFill>
                  <a:schemeClr val="tx1"/>
                </a:solidFill>
                <a:latin typeface="+mn-lt"/>
                <a:ea typeface="+mn-ea"/>
              </a:defRPr>
            </a:lvl8pPr>
            <a:lvl9pPr marL="1639491" indent="-96441" algn="l" rtl="0" eaLnBrk="1" fontAlgn="base" hangingPunct="1">
              <a:spcBef>
                <a:spcPct val="20000"/>
              </a:spcBef>
              <a:spcAft>
                <a:spcPct val="0"/>
              </a:spcAft>
              <a:buChar char="»"/>
              <a:defRPr kumimoji="1" sz="844">
                <a:solidFill>
                  <a:schemeClr val="tx1"/>
                </a:solidFill>
                <a:latin typeface="+mn-lt"/>
                <a:ea typeface="+mn-ea"/>
              </a:defRPr>
            </a:lvl9pPr>
          </a:lstStyle>
          <a:p>
            <a:r>
              <a:rPr lang="en-US" altLang="zh-TW" sz="1950" kern="0" dirty="0"/>
              <a:t>The exception operations can be used to determine what exceptions have been generated.</a:t>
            </a:r>
          </a:p>
        </p:txBody>
      </p:sp>
      <p:pic>
        <p:nvPicPr>
          <p:cNvPr id="2" name="圖片 1"/>
          <p:cNvPicPr>
            <a:picLocks noChangeAspect="1"/>
          </p:cNvPicPr>
          <p:nvPr/>
        </p:nvPicPr>
        <p:blipFill>
          <a:blip r:embed="rId2" cstate="print"/>
          <a:stretch>
            <a:fillRect/>
          </a:stretch>
        </p:blipFill>
        <p:spPr>
          <a:xfrm>
            <a:off x="4341181" y="2214703"/>
            <a:ext cx="4666476" cy="1196240"/>
          </a:xfrm>
          <a:prstGeom prst="rect">
            <a:avLst/>
          </a:prstGeom>
        </p:spPr>
      </p:pic>
      <p:sp>
        <p:nvSpPr>
          <p:cNvPr id="11" name="內容版面配置區 9"/>
          <p:cNvSpPr txBox="1">
            <a:spLocks/>
          </p:cNvSpPr>
          <p:nvPr/>
        </p:nvSpPr>
        <p:spPr bwMode="auto">
          <a:xfrm>
            <a:off x="4341182" y="3581606"/>
            <a:ext cx="4623431" cy="1579857"/>
          </a:xfrm>
          <a:prstGeom prst="rect">
            <a:avLst/>
          </a:prstGeom>
          <a:noFill/>
          <a:ln w="9525">
            <a:noFill/>
            <a:miter lim="800000"/>
            <a:headEnd/>
            <a:tailEnd/>
          </a:ln>
        </p:spPr>
        <p:txBody>
          <a:bodyPr vert="horz" wrap="square" lIns="68580" tIns="34290" rIns="68580" bIns="34290" numCol="1" anchor="t" anchorCtr="0" compatLnSpc="1">
            <a:prstTxWarp prst="textNoShape">
              <a:avLst/>
            </a:prstTxWarp>
          </a:bodyPr>
          <a:lstStyle>
            <a:lvl1pPr marL="144661" indent="-144661" algn="l" rtl="0" eaLnBrk="1" fontAlgn="base" hangingPunct="1">
              <a:spcBef>
                <a:spcPct val="20000"/>
              </a:spcBef>
              <a:spcAft>
                <a:spcPct val="0"/>
              </a:spcAft>
              <a:buClr>
                <a:srgbClr val="0000FF"/>
              </a:buClr>
              <a:buSzPct val="80000"/>
              <a:buFont typeface="Wingdings" pitchFamily="2" charset="2"/>
              <a:buChar char="l"/>
              <a:defRPr kumimoji="1" sz="1181">
                <a:solidFill>
                  <a:schemeClr val="tx1"/>
                </a:solidFill>
                <a:latin typeface="Calibri" pitchFamily="34" charset="0"/>
                <a:ea typeface="標楷體" pitchFamily="65" charset="-120"/>
                <a:cs typeface="+mn-cs"/>
              </a:defRPr>
            </a:lvl1pPr>
            <a:lvl2pPr marL="313433" indent="-120551" algn="l" rtl="0" eaLnBrk="1" fontAlgn="base" hangingPunct="1">
              <a:spcBef>
                <a:spcPct val="20000"/>
              </a:spcBef>
              <a:spcAft>
                <a:spcPct val="0"/>
              </a:spcAft>
              <a:buClr>
                <a:srgbClr val="0000FF"/>
              </a:buClr>
              <a:buSzPct val="90000"/>
              <a:buFont typeface="Arial" charset="0"/>
              <a:buChar char="–"/>
              <a:defRPr kumimoji="1" sz="1013">
                <a:solidFill>
                  <a:schemeClr val="tx1"/>
                </a:solidFill>
                <a:latin typeface="Calibri" pitchFamily="34" charset="0"/>
                <a:ea typeface="標楷體" pitchFamily="65" charset="-120"/>
              </a:defRPr>
            </a:lvl2pPr>
            <a:lvl3pPr marL="482204" indent="-96441" algn="l" rtl="0" eaLnBrk="1" fontAlgn="base" hangingPunct="1">
              <a:spcBef>
                <a:spcPct val="20000"/>
              </a:spcBef>
              <a:spcAft>
                <a:spcPct val="0"/>
              </a:spcAft>
              <a:buChar char="•"/>
              <a:defRPr kumimoji="1" sz="844">
                <a:solidFill>
                  <a:schemeClr val="tx1"/>
                </a:solidFill>
                <a:latin typeface="Calibri" pitchFamily="34" charset="0"/>
                <a:ea typeface="標楷體" pitchFamily="65" charset="-120"/>
                <a:cs typeface="Calibri" pitchFamily="34" charset="0"/>
              </a:defRPr>
            </a:lvl3pPr>
            <a:lvl4pPr marL="675085" indent="-96441" algn="l" rtl="0" eaLnBrk="1" fontAlgn="base" hangingPunct="1">
              <a:spcBef>
                <a:spcPct val="20000"/>
              </a:spcBef>
              <a:spcAft>
                <a:spcPct val="0"/>
              </a:spcAft>
              <a:buChar char="–"/>
              <a:defRPr kumimoji="1" sz="760">
                <a:solidFill>
                  <a:schemeClr val="tx1"/>
                </a:solidFill>
                <a:latin typeface="Calibri" pitchFamily="34" charset="0"/>
                <a:ea typeface="標楷體" pitchFamily="65" charset="-120"/>
                <a:cs typeface="Calibri" pitchFamily="34" charset="0"/>
              </a:defRPr>
            </a:lvl4pPr>
            <a:lvl5pPr marL="867966" indent="-96441" algn="l" rtl="0" eaLnBrk="1" fontAlgn="base" hangingPunct="1">
              <a:spcBef>
                <a:spcPct val="20000"/>
              </a:spcBef>
              <a:spcAft>
                <a:spcPct val="0"/>
              </a:spcAft>
              <a:buChar char="»"/>
              <a:defRPr kumimoji="1" sz="760">
                <a:solidFill>
                  <a:schemeClr val="tx1"/>
                </a:solidFill>
                <a:latin typeface="Calibri" pitchFamily="34" charset="0"/>
                <a:ea typeface="標楷體" pitchFamily="65" charset="-120"/>
                <a:cs typeface="Calibri" pitchFamily="34" charset="0"/>
              </a:defRPr>
            </a:lvl5pPr>
            <a:lvl6pPr marL="1060847" indent="-96441" algn="l" rtl="0" eaLnBrk="1" fontAlgn="base" hangingPunct="1">
              <a:spcBef>
                <a:spcPct val="20000"/>
              </a:spcBef>
              <a:spcAft>
                <a:spcPct val="0"/>
              </a:spcAft>
              <a:buChar char="»"/>
              <a:defRPr kumimoji="1" sz="844">
                <a:solidFill>
                  <a:schemeClr val="tx1"/>
                </a:solidFill>
                <a:latin typeface="+mn-lt"/>
                <a:ea typeface="+mn-ea"/>
              </a:defRPr>
            </a:lvl6pPr>
            <a:lvl7pPr marL="1253729" indent="-96441" algn="l" rtl="0" eaLnBrk="1" fontAlgn="base" hangingPunct="1">
              <a:spcBef>
                <a:spcPct val="20000"/>
              </a:spcBef>
              <a:spcAft>
                <a:spcPct val="0"/>
              </a:spcAft>
              <a:buChar char="»"/>
              <a:defRPr kumimoji="1" sz="844">
                <a:solidFill>
                  <a:schemeClr val="tx1"/>
                </a:solidFill>
                <a:latin typeface="+mn-lt"/>
                <a:ea typeface="+mn-ea"/>
              </a:defRPr>
            </a:lvl7pPr>
            <a:lvl8pPr marL="1446610" indent="-96441" algn="l" rtl="0" eaLnBrk="1" fontAlgn="base" hangingPunct="1">
              <a:spcBef>
                <a:spcPct val="20000"/>
              </a:spcBef>
              <a:spcAft>
                <a:spcPct val="0"/>
              </a:spcAft>
              <a:buChar char="»"/>
              <a:defRPr kumimoji="1" sz="844">
                <a:solidFill>
                  <a:schemeClr val="tx1"/>
                </a:solidFill>
                <a:latin typeface="+mn-lt"/>
                <a:ea typeface="+mn-ea"/>
              </a:defRPr>
            </a:lvl8pPr>
            <a:lvl9pPr marL="1639491" indent="-96441" algn="l" rtl="0" eaLnBrk="1" fontAlgn="base" hangingPunct="1">
              <a:spcBef>
                <a:spcPct val="20000"/>
              </a:spcBef>
              <a:spcAft>
                <a:spcPct val="0"/>
              </a:spcAft>
              <a:buChar char="»"/>
              <a:defRPr kumimoji="1" sz="844">
                <a:solidFill>
                  <a:schemeClr val="tx1"/>
                </a:solidFill>
                <a:latin typeface="+mn-lt"/>
                <a:ea typeface="+mn-ea"/>
              </a:defRPr>
            </a:lvl9pPr>
          </a:lstStyle>
          <a:p>
            <a:pPr marL="0" indent="0">
              <a:buClrTx/>
              <a:buSzPct val="100000"/>
              <a:buNone/>
            </a:pPr>
            <a:r>
              <a:rPr lang="en-US" altLang="zh-TW" sz="1650" i="1" kern="0" dirty="0" err="1">
                <a:latin typeface="Times New Roman" panose="02020603050405020304" pitchFamily="18" charset="0"/>
                <a:cs typeface="Times New Roman" panose="02020603050405020304" pitchFamily="18" charset="0"/>
              </a:rPr>
              <a:t>exceptionsNumber</a:t>
            </a:r>
            <a:r>
              <a:rPr lang="en-US" altLang="zh-TW" sz="1650" i="1" kern="0" dirty="0">
                <a:latin typeface="Times New Roman" panose="02020603050405020304" pitchFamily="18" charset="0"/>
                <a:cs typeface="Times New Roman" panose="02020603050405020304" pitchFamily="18" charset="0"/>
              </a:rPr>
              <a:t>: </a:t>
            </a:r>
            <a:endParaRPr lang="en-US" altLang="zh-TW" sz="1650" i="1" kern="0" dirty="0" smtClean="0">
              <a:latin typeface="Times New Roman" panose="02020603050405020304" pitchFamily="18" charset="0"/>
              <a:cs typeface="Times New Roman" panose="02020603050405020304" pitchFamily="18" charset="0"/>
            </a:endParaRPr>
          </a:p>
          <a:p>
            <a:pPr marL="0" indent="0">
              <a:buClrTx/>
              <a:buSzPct val="100000"/>
              <a:buNone/>
            </a:pPr>
            <a:r>
              <a:rPr lang="en-US" altLang="zh-TW" sz="1350" kern="0" dirty="0" smtClean="0">
                <a:latin typeface="Times New Roman" panose="02020603050405020304" pitchFamily="18" charset="0"/>
                <a:cs typeface="Times New Roman" panose="02020603050405020304" pitchFamily="18" charset="0"/>
              </a:rPr>
              <a:t>bit:0=INVALID_OPERATION</a:t>
            </a:r>
            <a:endParaRPr lang="en-US" altLang="zh-TW" sz="1350" kern="0" dirty="0">
              <a:latin typeface="Times New Roman" panose="02020603050405020304" pitchFamily="18" charset="0"/>
              <a:cs typeface="Times New Roman" panose="02020603050405020304" pitchFamily="18" charset="0"/>
            </a:endParaRPr>
          </a:p>
          <a:p>
            <a:pPr marL="0" indent="0">
              <a:buClrTx/>
              <a:buSzPct val="100000"/>
              <a:buNone/>
            </a:pPr>
            <a:r>
              <a:rPr lang="en-US" altLang="zh-TW" sz="1350" kern="0" dirty="0">
                <a:latin typeface="Times New Roman" panose="02020603050405020304" pitchFamily="18" charset="0"/>
                <a:cs typeface="Times New Roman" panose="02020603050405020304" pitchFamily="18" charset="0"/>
              </a:rPr>
              <a:t>bit:1=DIVIDE_BY_ZERO</a:t>
            </a:r>
          </a:p>
          <a:p>
            <a:pPr marL="0" indent="0">
              <a:buClrTx/>
              <a:buSzPct val="100000"/>
              <a:buNone/>
            </a:pPr>
            <a:r>
              <a:rPr lang="en-US" altLang="zh-TW" sz="1350" kern="0" dirty="0">
                <a:latin typeface="Times New Roman" panose="02020603050405020304" pitchFamily="18" charset="0"/>
                <a:cs typeface="Times New Roman" panose="02020603050405020304" pitchFamily="18" charset="0"/>
              </a:rPr>
              <a:t>bit:2=OVERFLOW</a:t>
            </a:r>
          </a:p>
          <a:p>
            <a:pPr marL="0" indent="0">
              <a:buClrTx/>
              <a:buSzPct val="100000"/>
              <a:buNone/>
            </a:pPr>
            <a:r>
              <a:rPr lang="en-US" altLang="zh-TW" sz="1350" kern="0" dirty="0">
                <a:latin typeface="Times New Roman" panose="02020603050405020304" pitchFamily="18" charset="0"/>
                <a:cs typeface="Times New Roman" panose="02020603050405020304" pitchFamily="18" charset="0"/>
              </a:rPr>
              <a:t>bit:3=UNDERFLOW</a:t>
            </a:r>
          </a:p>
          <a:p>
            <a:pPr marL="0" indent="0">
              <a:buClrTx/>
              <a:buSzPct val="100000"/>
              <a:buNone/>
            </a:pPr>
            <a:r>
              <a:rPr lang="en-US" altLang="zh-TW" sz="1350" kern="0" dirty="0">
                <a:latin typeface="Times New Roman" panose="02020603050405020304" pitchFamily="18" charset="0"/>
                <a:cs typeface="Times New Roman" panose="02020603050405020304" pitchFamily="18" charset="0"/>
              </a:rPr>
              <a:t>bit:4=INEXACT</a:t>
            </a:r>
          </a:p>
        </p:txBody>
      </p:sp>
    </p:spTree>
    <p:extLst>
      <p:ext uri="{BB962C8B-B14F-4D97-AF65-F5344CB8AC3E}">
        <p14:creationId xmlns:p14="http://schemas.microsoft.com/office/powerpoint/2010/main" val="4071320380"/>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標題 7"/>
          <p:cNvSpPr>
            <a:spLocks noGrp="1"/>
          </p:cNvSpPr>
          <p:nvPr>
            <p:ph type="title"/>
          </p:nvPr>
        </p:nvSpPr>
        <p:spPr/>
        <p:txBody>
          <a:bodyPr/>
          <a:lstStyle/>
          <a:p>
            <a:r>
              <a:rPr lang="en-US" altLang="zh-TW" dirty="0" smtClean="0"/>
              <a:t>Exception Operations (2)</a:t>
            </a:r>
            <a:endParaRPr lang="zh-TW" altLang="en-US" dirty="0"/>
          </a:p>
        </p:txBody>
      </p:sp>
      <p:sp>
        <p:nvSpPr>
          <p:cNvPr id="10" name="內容版面配置區 9"/>
          <p:cNvSpPr>
            <a:spLocks noGrp="1"/>
          </p:cNvSpPr>
          <p:nvPr>
            <p:ph idx="1"/>
          </p:nvPr>
        </p:nvSpPr>
        <p:spPr>
          <a:xfrm>
            <a:off x="446094" y="2411730"/>
            <a:ext cx="3895088" cy="2954815"/>
          </a:xfrm>
        </p:spPr>
        <p:txBody>
          <a:bodyPr/>
          <a:lstStyle/>
          <a:p>
            <a:endParaRPr lang="en-US" altLang="zh-TW" sz="1950" i="1" dirty="0">
              <a:latin typeface="Times New Roman" panose="02020603050405020304" pitchFamily="18" charset="0"/>
              <a:cs typeface="Times New Roman" panose="02020603050405020304" pitchFamily="18" charset="0"/>
            </a:endParaRPr>
          </a:p>
          <a:p>
            <a:r>
              <a:rPr lang="en-US" altLang="zh-TW" sz="1950" i="1" dirty="0" err="1">
                <a:latin typeface="Times New Roman" panose="02020603050405020304" pitchFamily="18" charset="0"/>
                <a:cs typeface="Times New Roman" panose="02020603050405020304" pitchFamily="18" charset="0"/>
              </a:rPr>
              <a:t>setdetectexcept</a:t>
            </a:r>
            <a:r>
              <a:rPr lang="en-US" altLang="zh-TW" sz="1950" dirty="0"/>
              <a:t> - Sets DETECT exception flags specified in </a:t>
            </a:r>
            <a:r>
              <a:rPr lang="en-US" altLang="zh-TW" sz="1950" dirty="0" err="1"/>
              <a:t>exceptionsNumber</a:t>
            </a:r>
            <a:r>
              <a:rPr lang="en-US" altLang="zh-TW" sz="1950" dirty="0"/>
              <a:t> for the work-group containing the current work-item.</a:t>
            </a:r>
          </a:p>
        </p:txBody>
      </p:sp>
      <p:sp>
        <p:nvSpPr>
          <p:cNvPr id="4" name="投影片編號版面配置區 3"/>
          <p:cNvSpPr>
            <a:spLocks noGrp="1"/>
          </p:cNvSpPr>
          <p:nvPr>
            <p:ph type="sldNum" sz="quarter" idx="10"/>
          </p:nvPr>
        </p:nvSpPr>
        <p:spPr/>
        <p:txBody>
          <a:bodyPr/>
          <a:lstStyle/>
          <a:p>
            <a:fld id="{6C75C586-0B13-4105-9895-CED4323B37DD}" type="slidenum">
              <a:rPr lang="zh-TW" altLang="en-US" smtClean="0"/>
              <a:pPr/>
              <a:t>89</a:t>
            </a:fld>
            <a:endParaRPr lang="zh-TW" altLang="en-US"/>
          </a:p>
        </p:txBody>
      </p:sp>
      <p:sp>
        <p:nvSpPr>
          <p:cNvPr id="9" name="內容版面配置區 9"/>
          <p:cNvSpPr txBox="1">
            <a:spLocks/>
          </p:cNvSpPr>
          <p:nvPr/>
        </p:nvSpPr>
        <p:spPr bwMode="auto">
          <a:xfrm>
            <a:off x="446094" y="1784382"/>
            <a:ext cx="8140558" cy="571160"/>
          </a:xfrm>
          <a:prstGeom prst="rect">
            <a:avLst/>
          </a:prstGeom>
          <a:noFill/>
          <a:ln w="9525">
            <a:noFill/>
            <a:miter lim="800000"/>
            <a:headEnd/>
            <a:tailEnd/>
          </a:ln>
        </p:spPr>
        <p:txBody>
          <a:bodyPr vert="horz" wrap="square" lIns="68580" tIns="34290" rIns="68580" bIns="34290" numCol="1" anchor="t" anchorCtr="0" compatLnSpc="1">
            <a:prstTxWarp prst="textNoShape">
              <a:avLst/>
            </a:prstTxWarp>
          </a:bodyPr>
          <a:lstStyle>
            <a:lvl1pPr marL="144661" indent="-144661" algn="l" rtl="0" eaLnBrk="1" fontAlgn="base" hangingPunct="1">
              <a:spcBef>
                <a:spcPct val="20000"/>
              </a:spcBef>
              <a:spcAft>
                <a:spcPct val="0"/>
              </a:spcAft>
              <a:buClr>
                <a:srgbClr val="0000FF"/>
              </a:buClr>
              <a:buSzPct val="80000"/>
              <a:buFont typeface="Wingdings" pitchFamily="2" charset="2"/>
              <a:buChar char="l"/>
              <a:defRPr kumimoji="1" sz="1181">
                <a:solidFill>
                  <a:schemeClr val="tx1"/>
                </a:solidFill>
                <a:latin typeface="Calibri" pitchFamily="34" charset="0"/>
                <a:ea typeface="標楷體" pitchFamily="65" charset="-120"/>
                <a:cs typeface="+mn-cs"/>
              </a:defRPr>
            </a:lvl1pPr>
            <a:lvl2pPr marL="313433" indent="-120551" algn="l" rtl="0" eaLnBrk="1" fontAlgn="base" hangingPunct="1">
              <a:spcBef>
                <a:spcPct val="20000"/>
              </a:spcBef>
              <a:spcAft>
                <a:spcPct val="0"/>
              </a:spcAft>
              <a:buClr>
                <a:srgbClr val="0000FF"/>
              </a:buClr>
              <a:buSzPct val="90000"/>
              <a:buFont typeface="Arial" charset="0"/>
              <a:buChar char="–"/>
              <a:defRPr kumimoji="1" sz="1013">
                <a:solidFill>
                  <a:schemeClr val="tx1"/>
                </a:solidFill>
                <a:latin typeface="Calibri" pitchFamily="34" charset="0"/>
                <a:ea typeface="標楷體" pitchFamily="65" charset="-120"/>
              </a:defRPr>
            </a:lvl2pPr>
            <a:lvl3pPr marL="482204" indent="-96441" algn="l" rtl="0" eaLnBrk="1" fontAlgn="base" hangingPunct="1">
              <a:spcBef>
                <a:spcPct val="20000"/>
              </a:spcBef>
              <a:spcAft>
                <a:spcPct val="0"/>
              </a:spcAft>
              <a:buChar char="•"/>
              <a:defRPr kumimoji="1" sz="844">
                <a:solidFill>
                  <a:schemeClr val="tx1"/>
                </a:solidFill>
                <a:latin typeface="Calibri" pitchFamily="34" charset="0"/>
                <a:ea typeface="標楷體" pitchFamily="65" charset="-120"/>
                <a:cs typeface="Calibri" pitchFamily="34" charset="0"/>
              </a:defRPr>
            </a:lvl3pPr>
            <a:lvl4pPr marL="675085" indent="-96441" algn="l" rtl="0" eaLnBrk="1" fontAlgn="base" hangingPunct="1">
              <a:spcBef>
                <a:spcPct val="20000"/>
              </a:spcBef>
              <a:spcAft>
                <a:spcPct val="0"/>
              </a:spcAft>
              <a:buChar char="–"/>
              <a:defRPr kumimoji="1" sz="760">
                <a:solidFill>
                  <a:schemeClr val="tx1"/>
                </a:solidFill>
                <a:latin typeface="Calibri" pitchFamily="34" charset="0"/>
                <a:ea typeface="標楷體" pitchFamily="65" charset="-120"/>
                <a:cs typeface="Calibri" pitchFamily="34" charset="0"/>
              </a:defRPr>
            </a:lvl4pPr>
            <a:lvl5pPr marL="867966" indent="-96441" algn="l" rtl="0" eaLnBrk="1" fontAlgn="base" hangingPunct="1">
              <a:spcBef>
                <a:spcPct val="20000"/>
              </a:spcBef>
              <a:spcAft>
                <a:spcPct val="0"/>
              </a:spcAft>
              <a:buChar char="»"/>
              <a:defRPr kumimoji="1" sz="760">
                <a:solidFill>
                  <a:schemeClr val="tx1"/>
                </a:solidFill>
                <a:latin typeface="Calibri" pitchFamily="34" charset="0"/>
                <a:ea typeface="標楷體" pitchFamily="65" charset="-120"/>
                <a:cs typeface="Calibri" pitchFamily="34" charset="0"/>
              </a:defRPr>
            </a:lvl5pPr>
            <a:lvl6pPr marL="1060847" indent="-96441" algn="l" rtl="0" eaLnBrk="1" fontAlgn="base" hangingPunct="1">
              <a:spcBef>
                <a:spcPct val="20000"/>
              </a:spcBef>
              <a:spcAft>
                <a:spcPct val="0"/>
              </a:spcAft>
              <a:buChar char="»"/>
              <a:defRPr kumimoji="1" sz="844">
                <a:solidFill>
                  <a:schemeClr val="tx1"/>
                </a:solidFill>
                <a:latin typeface="+mn-lt"/>
                <a:ea typeface="+mn-ea"/>
              </a:defRPr>
            </a:lvl6pPr>
            <a:lvl7pPr marL="1253729" indent="-96441" algn="l" rtl="0" eaLnBrk="1" fontAlgn="base" hangingPunct="1">
              <a:spcBef>
                <a:spcPct val="20000"/>
              </a:spcBef>
              <a:spcAft>
                <a:spcPct val="0"/>
              </a:spcAft>
              <a:buChar char="»"/>
              <a:defRPr kumimoji="1" sz="844">
                <a:solidFill>
                  <a:schemeClr val="tx1"/>
                </a:solidFill>
                <a:latin typeface="+mn-lt"/>
                <a:ea typeface="+mn-ea"/>
              </a:defRPr>
            </a:lvl7pPr>
            <a:lvl8pPr marL="1446610" indent="-96441" algn="l" rtl="0" eaLnBrk="1" fontAlgn="base" hangingPunct="1">
              <a:spcBef>
                <a:spcPct val="20000"/>
              </a:spcBef>
              <a:spcAft>
                <a:spcPct val="0"/>
              </a:spcAft>
              <a:buChar char="»"/>
              <a:defRPr kumimoji="1" sz="844">
                <a:solidFill>
                  <a:schemeClr val="tx1"/>
                </a:solidFill>
                <a:latin typeface="+mn-lt"/>
                <a:ea typeface="+mn-ea"/>
              </a:defRPr>
            </a:lvl8pPr>
            <a:lvl9pPr marL="1639491" indent="-96441" algn="l" rtl="0" eaLnBrk="1" fontAlgn="base" hangingPunct="1">
              <a:spcBef>
                <a:spcPct val="20000"/>
              </a:spcBef>
              <a:spcAft>
                <a:spcPct val="0"/>
              </a:spcAft>
              <a:buChar char="»"/>
              <a:defRPr kumimoji="1" sz="844">
                <a:solidFill>
                  <a:schemeClr val="tx1"/>
                </a:solidFill>
                <a:latin typeface="+mn-lt"/>
                <a:ea typeface="+mn-ea"/>
              </a:defRPr>
            </a:lvl9pPr>
          </a:lstStyle>
          <a:p>
            <a:r>
              <a:rPr lang="en-US" altLang="zh-TW" sz="1950" kern="0" dirty="0"/>
              <a:t>The exception operations can be used to determine what exceptions have been generated.</a:t>
            </a:r>
          </a:p>
        </p:txBody>
      </p:sp>
      <p:pic>
        <p:nvPicPr>
          <p:cNvPr id="2" name="圖片 1"/>
          <p:cNvPicPr>
            <a:picLocks noChangeAspect="1"/>
          </p:cNvPicPr>
          <p:nvPr/>
        </p:nvPicPr>
        <p:blipFill>
          <a:blip r:embed="rId2" cstate="print"/>
          <a:stretch>
            <a:fillRect/>
          </a:stretch>
        </p:blipFill>
        <p:spPr>
          <a:xfrm>
            <a:off x="4341181" y="2214703"/>
            <a:ext cx="4666476" cy="1196240"/>
          </a:xfrm>
          <a:prstGeom prst="rect">
            <a:avLst/>
          </a:prstGeom>
        </p:spPr>
      </p:pic>
      <p:sp>
        <p:nvSpPr>
          <p:cNvPr id="11" name="內容版面配置區 9"/>
          <p:cNvSpPr txBox="1">
            <a:spLocks/>
          </p:cNvSpPr>
          <p:nvPr/>
        </p:nvSpPr>
        <p:spPr bwMode="auto">
          <a:xfrm>
            <a:off x="4341182" y="3581606"/>
            <a:ext cx="4623431" cy="1579857"/>
          </a:xfrm>
          <a:prstGeom prst="rect">
            <a:avLst/>
          </a:prstGeom>
          <a:noFill/>
          <a:ln w="9525">
            <a:noFill/>
            <a:miter lim="800000"/>
            <a:headEnd/>
            <a:tailEnd/>
          </a:ln>
        </p:spPr>
        <p:txBody>
          <a:bodyPr vert="horz" wrap="square" lIns="68580" tIns="34290" rIns="68580" bIns="34290" numCol="1" anchor="t" anchorCtr="0" compatLnSpc="1">
            <a:prstTxWarp prst="textNoShape">
              <a:avLst/>
            </a:prstTxWarp>
          </a:bodyPr>
          <a:lstStyle>
            <a:lvl1pPr marL="144661" indent="-144661" algn="l" rtl="0" eaLnBrk="1" fontAlgn="base" hangingPunct="1">
              <a:spcBef>
                <a:spcPct val="20000"/>
              </a:spcBef>
              <a:spcAft>
                <a:spcPct val="0"/>
              </a:spcAft>
              <a:buClr>
                <a:srgbClr val="0000FF"/>
              </a:buClr>
              <a:buSzPct val="80000"/>
              <a:buFont typeface="Wingdings" pitchFamily="2" charset="2"/>
              <a:buChar char="l"/>
              <a:defRPr kumimoji="1" sz="1181">
                <a:solidFill>
                  <a:schemeClr val="tx1"/>
                </a:solidFill>
                <a:latin typeface="Calibri" pitchFamily="34" charset="0"/>
                <a:ea typeface="標楷體" pitchFamily="65" charset="-120"/>
                <a:cs typeface="+mn-cs"/>
              </a:defRPr>
            </a:lvl1pPr>
            <a:lvl2pPr marL="313433" indent="-120551" algn="l" rtl="0" eaLnBrk="1" fontAlgn="base" hangingPunct="1">
              <a:spcBef>
                <a:spcPct val="20000"/>
              </a:spcBef>
              <a:spcAft>
                <a:spcPct val="0"/>
              </a:spcAft>
              <a:buClr>
                <a:srgbClr val="0000FF"/>
              </a:buClr>
              <a:buSzPct val="90000"/>
              <a:buFont typeface="Arial" charset="0"/>
              <a:buChar char="–"/>
              <a:defRPr kumimoji="1" sz="1013">
                <a:solidFill>
                  <a:schemeClr val="tx1"/>
                </a:solidFill>
                <a:latin typeface="Calibri" pitchFamily="34" charset="0"/>
                <a:ea typeface="標楷體" pitchFamily="65" charset="-120"/>
              </a:defRPr>
            </a:lvl2pPr>
            <a:lvl3pPr marL="482204" indent="-96441" algn="l" rtl="0" eaLnBrk="1" fontAlgn="base" hangingPunct="1">
              <a:spcBef>
                <a:spcPct val="20000"/>
              </a:spcBef>
              <a:spcAft>
                <a:spcPct val="0"/>
              </a:spcAft>
              <a:buChar char="•"/>
              <a:defRPr kumimoji="1" sz="844">
                <a:solidFill>
                  <a:schemeClr val="tx1"/>
                </a:solidFill>
                <a:latin typeface="Calibri" pitchFamily="34" charset="0"/>
                <a:ea typeface="標楷體" pitchFamily="65" charset="-120"/>
                <a:cs typeface="Calibri" pitchFamily="34" charset="0"/>
              </a:defRPr>
            </a:lvl3pPr>
            <a:lvl4pPr marL="675085" indent="-96441" algn="l" rtl="0" eaLnBrk="1" fontAlgn="base" hangingPunct="1">
              <a:spcBef>
                <a:spcPct val="20000"/>
              </a:spcBef>
              <a:spcAft>
                <a:spcPct val="0"/>
              </a:spcAft>
              <a:buChar char="–"/>
              <a:defRPr kumimoji="1" sz="760">
                <a:solidFill>
                  <a:schemeClr val="tx1"/>
                </a:solidFill>
                <a:latin typeface="Calibri" pitchFamily="34" charset="0"/>
                <a:ea typeface="標楷體" pitchFamily="65" charset="-120"/>
                <a:cs typeface="Calibri" pitchFamily="34" charset="0"/>
              </a:defRPr>
            </a:lvl4pPr>
            <a:lvl5pPr marL="867966" indent="-96441" algn="l" rtl="0" eaLnBrk="1" fontAlgn="base" hangingPunct="1">
              <a:spcBef>
                <a:spcPct val="20000"/>
              </a:spcBef>
              <a:spcAft>
                <a:spcPct val="0"/>
              </a:spcAft>
              <a:buChar char="»"/>
              <a:defRPr kumimoji="1" sz="760">
                <a:solidFill>
                  <a:schemeClr val="tx1"/>
                </a:solidFill>
                <a:latin typeface="Calibri" pitchFamily="34" charset="0"/>
                <a:ea typeface="標楷體" pitchFamily="65" charset="-120"/>
                <a:cs typeface="Calibri" pitchFamily="34" charset="0"/>
              </a:defRPr>
            </a:lvl5pPr>
            <a:lvl6pPr marL="1060847" indent="-96441" algn="l" rtl="0" eaLnBrk="1" fontAlgn="base" hangingPunct="1">
              <a:spcBef>
                <a:spcPct val="20000"/>
              </a:spcBef>
              <a:spcAft>
                <a:spcPct val="0"/>
              </a:spcAft>
              <a:buChar char="»"/>
              <a:defRPr kumimoji="1" sz="844">
                <a:solidFill>
                  <a:schemeClr val="tx1"/>
                </a:solidFill>
                <a:latin typeface="+mn-lt"/>
                <a:ea typeface="+mn-ea"/>
              </a:defRPr>
            </a:lvl6pPr>
            <a:lvl7pPr marL="1253729" indent="-96441" algn="l" rtl="0" eaLnBrk="1" fontAlgn="base" hangingPunct="1">
              <a:spcBef>
                <a:spcPct val="20000"/>
              </a:spcBef>
              <a:spcAft>
                <a:spcPct val="0"/>
              </a:spcAft>
              <a:buChar char="»"/>
              <a:defRPr kumimoji="1" sz="844">
                <a:solidFill>
                  <a:schemeClr val="tx1"/>
                </a:solidFill>
                <a:latin typeface="+mn-lt"/>
                <a:ea typeface="+mn-ea"/>
              </a:defRPr>
            </a:lvl7pPr>
            <a:lvl8pPr marL="1446610" indent="-96441" algn="l" rtl="0" eaLnBrk="1" fontAlgn="base" hangingPunct="1">
              <a:spcBef>
                <a:spcPct val="20000"/>
              </a:spcBef>
              <a:spcAft>
                <a:spcPct val="0"/>
              </a:spcAft>
              <a:buChar char="»"/>
              <a:defRPr kumimoji="1" sz="844">
                <a:solidFill>
                  <a:schemeClr val="tx1"/>
                </a:solidFill>
                <a:latin typeface="+mn-lt"/>
                <a:ea typeface="+mn-ea"/>
              </a:defRPr>
            </a:lvl8pPr>
            <a:lvl9pPr marL="1639491" indent="-96441" algn="l" rtl="0" eaLnBrk="1" fontAlgn="base" hangingPunct="1">
              <a:spcBef>
                <a:spcPct val="20000"/>
              </a:spcBef>
              <a:spcAft>
                <a:spcPct val="0"/>
              </a:spcAft>
              <a:buChar char="»"/>
              <a:defRPr kumimoji="1" sz="844">
                <a:solidFill>
                  <a:schemeClr val="tx1"/>
                </a:solidFill>
                <a:latin typeface="+mn-lt"/>
                <a:ea typeface="+mn-ea"/>
              </a:defRPr>
            </a:lvl9pPr>
          </a:lstStyle>
          <a:p>
            <a:pPr marL="0" indent="0">
              <a:buClrTx/>
              <a:buSzPct val="100000"/>
              <a:buNone/>
            </a:pPr>
            <a:r>
              <a:rPr lang="en-US" altLang="zh-TW" sz="1650" i="1" kern="0" dirty="0" err="1">
                <a:latin typeface="Times New Roman" panose="02020603050405020304" pitchFamily="18" charset="0"/>
                <a:cs typeface="Times New Roman" panose="02020603050405020304" pitchFamily="18" charset="0"/>
              </a:rPr>
              <a:t>exceptionsNumber</a:t>
            </a:r>
            <a:r>
              <a:rPr lang="en-US" altLang="zh-TW" sz="1650" i="1" kern="0" dirty="0">
                <a:latin typeface="Times New Roman" panose="02020603050405020304" pitchFamily="18" charset="0"/>
                <a:cs typeface="Times New Roman" panose="02020603050405020304" pitchFamily="18" charset="0"/>
              </a:rPr>
              <a:t>: </a:t>
            </a:r>
            <a:r>
              <a:rPr lang="en-US" altLang="zh-TW" sz="1350" kern="0" dirty="0">
                <a:latin typeface="Times New Roman" panose="02020603050405020304" pitchFamily="18" charset="0"/>
                <a:cs typeface="Times New Roman" panose="02020603050405020304" pitchFamily="18" charset="0"/>
              </a:rPr>
              <a:t>bit:0=INVALID_OPERATION</a:t>
            </a:r>
          </a:p>
          <a:p>
            <a:pPr marL="0" indent="0">
              <a:buClrTx/>
              <a:buSzPct val="100000"/>
              <a:buNone/>
            </a:pPr>
            <a:r>
              <a:rPr lang="en-US" altLang="zh-TW" sz="1350" kern="0" dirty="0">
                <a:latin typeface="Times New Roman" panose="02020603050405020304" pitchFamily="18" charset="0"/>
                <a:cs typeface="Times New Roman" panose="02020603050405020304" pitchFamily="18" charset="0"/>
              </a:rPr>
              <a:t>bit:1=DIVIDE_BY_ZERO</a:t>
            </a:r>
          </a:p>
          <a:p>
            <a:pPr marL="0" indent="0">
              <a:buClrTx/>
              <a:buSzPct val="100000"/>
              <a:buNone/>
            </a:pPr>
            <a:r>
              <a:rPr lang="en-US" altLang="zh-TW" sz="1350" kern="0" dirty="0">
                <a:latin typeface="Times New Roman" panose="02020603050405020304" pitchFamily="18" charset="0"/>
                <a:cs typeface="Times New Roman" panose="02020603050405020304" pitchFamily="18" charset="0"/>
              </a:rPr>
              <a:t>bit:2=OVERFLOW</a:t>
            </a:r>
          </a:p>
          <a:p>
            <a:pPr marL="0" indent="0">
              <a:buClrTx/>
              <a:buSzPct val="100000"/>
              <a:buNone/>
            </a:pPr>
            <a:r>
              <a:rPr lang="en-US" altLang="zh-TW" sz="1350" kern="0" dirty="0">
                <a:latin typeface="Times New Roman" panose="02020603050405020304" pitchFamily="18" charset="0"/>
                <a:cs typeface="Times New Roman" panose="02020603050405020304" pitchFamily="18" charset="0"/>
              </a:rPr>
              <a:t>bit:3=UNDERFLOW</a:t>
            </a:r>
          </a:p>
          <a:p>
            <a:pPr marL="0" indent="0">
              <a:buClrTx/>
              <a:buSzPct val="100000"/>
              <a:buNone/>
            </a:pPr>
            <a:r>
              <a:rPr lang="en-US" altLang="zh-TW" sz="1350" kern="0" dirty="0">
                <a:latin typeface="Times New Roman" panose="02020603050405020304" pitchFamily="18" charset="0"/>
                <a:cs typeface="Times New Roman" panose="02020603050405020304" pitchFamily="18" charset="0"/>
              </a:rPr>
              <a:t>bit:4=INEXACT</a:t>
            </a:r>
          </a:p>
        </p:txBody>
      </p:sp>
    </p:spTree>
    <p:extLst>
      <p:ext uri="{BB962C8B-B14F-4D97-AF65-F5344CB8AC3E}">
        <p14:creationId xmlns:p14="http://schemas.microsoft.com/office/powerpoint/2010/main" val="562076422"/>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標題 7"/>
          <p:cNvSpPr>
            <a:spLocks noGrp="1"/>
          </p:cNvSpPr>
          <p:nvPr>
            <p:ph type="title"/>
          </p:nvPr>
        </p:nvSpPr>
        <p:spPr/>
        <p:txBody>
          <a:bodyPr/>
          <a:lstStyle/>
          <a:p>
            <a:r>
              <a:rPr lang="en-US" altLang="zh-TW" dirty="0" smtClean="0"/>
              <a:t>User Mode Queue Operations (1)</a:t>
            </a:r>
            <a:endParaRPr lang="zh-TW" altLang="en-US" dirty="0"/>
          </a:p>
        </p:txBody>
      </p:sp>
      <p:sp>
        <p:nvSpPr>
          <p:cNvPr id="10" name="內容版面配置區 9"/>
          <p:cNvSpPr>
            <a:spLocks noGrp="1"/>
          </p:cNvSpPr>
          <p:nvPr>
            <p:ph idx="1"/>
          </p:nvPr>
        </p:nvSpPr>
        <p:spPr>
          <a:xfrm>
            <a:off x="157169" y="4110152"/>
            <a:ext cx="8518520" cy="1881050"/>
          </a:xfrm>
        </p:spPr>
        <p:txBody>
          <a:bodyPr/>
          <a:lstStyle/>
          <a:p>
            <a:r>
              <a:rPr lang="en-US" altLang="zh-TW" sz="1950" i="1" dirty="0" err="1">
                <a:latin typeface="Times New Roman" panose="02020603050405020304" pitchFamily="18" charset="0"/>
                <a:cs typeface="Times New Roman" panose="02020603050405020304" pitchFamily="18" charset="0"/>
              </a:rPr>
              <a:t>addqueuewriteindex</a:t>
            </a:r>
            <a:r>
              <a:rPr lang="en-US" altLang="zh-TW" sz="1950" dirty="0"/>
              <a:t> - Atomically adds the value in </a:t>
            </a:r>
            <a:r>
              <a:rPr lang="en-US" altLang="zh-TW" sz="1950" dirty="0" err="1"/>
              <a:t>src</a:t>
            </a:r>
            <a:r>
              <a:rPr lang="en-US" altLang="zh-TW" sz="1950" dirty="0"/>
              <a:t> to the current value of the write index associated with the User Mode Queue.</a:t>
            </a:r>
          </a:p>
          <a:p>
            <a:endParaRPr lang="en-US" altLang="zh-TW" sz="1950" dirty="0"/>
          </a:p>
          <a:p>
            <a:r>
              <a:rPr lang="en-US" altLang="zh-TW" sz="1950" i="1" dirty="0" err="1">
                <a:latin typeface="Times New Roman" panose="02020603050405020304" pitchFamily="18" charset="0"/>
                <a:cs typeface="Times New Roman" panose="02020603050405020304" pitchFamily="18" charset="0"/>
              </a:rPr>
              <a:t>casqueuewriteindex</a:t>
            </a:r>
            <a:r>
              <a:rPr lang="en-US" altLang="zh-TW" sz="1950" dirty="0"/>
              <a:t> - Atomically compares src0 to the current value of the write index associated with the User Mode Queue.</a:t>
            </a:r>
          </a:p>
        </p:txBody>
      </p:sp>
      <p:sp>
        <p:nvSpPr>
          <p:cNvPr id="4" name="投影片編號版面配置區 3"/>
          <p:cNvSpPr>
            <a:spLocks noGrp="1"/>
          </p:cNvSpPr>
          <p:nvPr>
            <p:ph type="sldNum" sz="quarter" idx="10"/>
          </p:nvPr>
        </p:nvSpPr>
        <p:spPr/>
        <p:txBody>
          <a:bodyPr/>
          <a:lstStyle/>
          <a:p>
            <a:fld id="{6C75C586-0B13-4105-9895-CED4323B37DD}" type="slidenum">
              <a:rPr lang="zh-TW" altLang="en-US" smtClean="0"/>
              <a:pPr/>
              <a:t>90</a:t>
            </a:fld>
            <a:endParaRPr lang="zh-TW" altLang="en-US"/>
          </a:p>
        </p:txBody>
      </p:sp>
      <p:sp>
        <p:nvSpPr>
          <p:cNvPr id="9" name="內容版面配置區 9"/>
          <p:cNvSpPr txBox="1">
            <a:spLocks/>
          </p:cNvSpPr>
          <p:nvPr/>
        </p:nvSpPr>
        <p:spPr bwMode="auto">
          <a:xfrm>
            <a:off x="446093" y="1390234"/>
            <a:ext cx="8140558" cy="571160"/>
          </a:xfrm>
          <a:prstGeom prst="rect">
            <a:avLst/>
          </a:prstGeom>
          <a:noFill/>
          <a:ln w="9525">
            <a:noFill/>
            <a:miter lim="800000"/>
            <a:headEnd/>
            <a:tailEnd/>
          </a:ln>
        </p:spPr>
        <p:txBody>
          <a:bodyPr vert="horz" wrap="square" lIns="68580" tIns="34290" rIns="68580" bIns="34290" numCol="1" anchor="t" anchorCtr="0" compatLnSpc="1">
            <a:prstTxWarp prst="textNoShape">
              <a:avLst/>
            </a:prstTxWarp>
          </a:bodyPr>
          <a:lstStyle>
            <a:lvl1pPr marL="144661" indent="-144661" algn="l" rtl="0" eaLnBrk="1" fontAlgn="base" hangingPunct="1">
              <a:spcBef>
                <a:spcPct val="20000"/>
              </a:spcBef>
              <a:spcAft>
                <a:spcPct val="0"/>
              </a:spcAft>
              <a:buClr>
                <a:srgbClr val="0000FF"/>
              </a:buClr>
              <a:buSzPct val="80000"/>
              <a:buFont typeface="Wingdings" pitchFamily="2" charset="2"/>
              <a:buChar char="l"/>
              <a:defRPr kumimoji="1" sz="1181">
                <a:solidFill>
                  <a:schemeClr val="tx1"/>
                </a:solidFill>
                <a:latin typeface="Calibri" pitchFamily="34" charset="0"/>
                <a:ea typeface="標楷體" pitchFamily="65" charset="-120"/>
                <a:cs typeface="+mn-cs"/>
              </a:defRPr>
            </a:lvl1pPr>
            <a:lvl2pPr marL="313433" indent="-120551" algn="l" rtl="0" eaLnBrk="1" fontAlgn="base" hangingPunct="1">
              <a:spcBef>
                <a:spcPct val="20000"/>
              </a:spcBef>
              <a:spcAft>
                <a:spcPct val="0"/>
              </a:spcAft>
              <a:buClr>
                <a:srgbClr val="0000FF"/>
              </a:buClr>
              <a:buSzPct val="90000"/>
              <a:buFont typeface="Arial" charset="0"/>
              <a:buChar char="–"/>
              <a:defRPr kumimoji="1" sz="1013">
                <a:solidFill>
                  <a:schemeClr val="tx1"/>
                </a:solidFill>
                <a:latin typeface="Calibri" pitchFamily="34" charset="0"/>
                <a:ea typeface="標楷體" pitchFamily="65" charset="-120"/>
              </a:defRPr>
            </a:lvl2pPr>
            <a:lvl3pPr marL="482204" indent="-96441" algn="l" rtl="0" eaLnBrk="1" fontAlgn="base" hangingPunct="1">
              <a:spcBef>
                <a:spcPct val="20000"/>
              </a:spcBef>
              <a:spcAft>
                <a:spcPct val="0"/>
              </a:spcAft>
              <a:buChar char="•"/>
              <a:defRPr kumimoji="1" sz="844">
                <a:solidFill>
                  <a:schemeClr val="tx1"/>
                </a:solidFill>
                <a:latin typeface="Calibri" pitchFamily="34" charset="0"/>
                <a:ea typeface="標楷體" pitchFamily="65" charset="-120"/>
                <a:cs typeface="Calibri" pitchFamily="34" charset="0"/>
              </a:defRPr>
            </a:lvl3pPr>
            <a:lvl4pPr marL="675085" indent="-96441" algn="l" rtl="0" eaLnBrk="1" fontAlgn="base" hangingPunct="1">
              <a:spcBef>
                <a:spcPct val="20000"/>
              </a:spcBef>
              <a:spcAft>
                <a:spcPct val="0"/>
              </a:spcAft>
              <a:buChar char="–"/>
              <a:defRPr kumimoji="1" sz="760">
                <a:solidFill>
                  <a:schemeClr val="tx1"/>
                </a:solidFill>
                <a:latin typeface="Calibri" pitchFamily="34" charset="0"/>
                <a:ea typeface="標楷體" pitchFamily="65" charset="-120"/>
                <a:cs typeface="Calibri" pitchFamily="34" charset="0"/>
              </a:defRPr>
            </a:lvl4pPr>
            <a:lvl5pPr marL="867966" indent="-96441" algn="l" rtl="0" eaLnBrk="1" fontAlgn="base" hangingPunct="1">
              <a:spcBef>
                <a:spcPct val="20000"/>
              </a:spcBef>
              <a:spcAft>
                <a:spcPct val="0"/>
              </a:spcAft>
              <a:buChar char="»"/>
              <a:defRPr kumimoji="1" sz="760">
                <a:solidFill>
                  <a:schemeClr val="tx1"/>
                </a:solidFill>
                <a:latin typeface="Calibri" pitchFamily="34" charset="0"/>
                <a:ea typeface="標楷體" pitchFamily="65" charset="-120"/>
                <a:cs typeface="Calibri" pitchFamily="34" charset="0"/>
              </a:defRPr>
            </a:lvl5pPr>
            <a:lvl6pPr marL="1060847" indent="-96441" algn="l" rtl="0" eaLnBrk="1" fontAlgn="base" hangingPunct="1">
              <a:spcBef>
                <a:spcPct val="20000"/>
              </a:spcBef>
              <a:spcAft>
                <a:spcPct val="0"/>
              </a:spcAft>
              <a:buChar char="»"/>
              <a:defRPr kumimoji="1" sz="844">
                <a:solidFill>
                  <a:schemeClr val="tx1"/>
                </a:solidFill>
                <a:latin typeface="+mn-lt"/>
                <a:ea typeface="+mn-ea"/>
              </a:defRPr>
            </a:lvl6pPr>
            <a:lvl7pPr marL="1253729" indent="-96441" algn="l" rtl="0" eaLnBrk="1" fontAlgn="base" hangingPunct="1">
              <a:spcBef>
                <a:spcPct val="20000"/>
              </a:spcBef>
              <a:spcAft>
                <a:spcPct val="0"/>
              </a:spcAft>
              <a:buChar char="»"/>
              <a:defRPr kumimoji="1" sz="844">
                <a:solidFill>
                  <a:schemeClr val="tx1"/>
                </a:solidFill>
                <a:latin typeface="+mn-lt"/>
                <a:ea typeface="+mn-ea"/>
              </a:defRPr>
            </a:lvl7pPr>
            <a:lvl8pPr marL="1446610" indent="-96441" algn="l" rtl="0" eaLnBrk="1" fontAlgn="base" hangingPunct="1">
              <a:spcBef>
                <a:spcPct val="20000"/>
              </a:spcBef>
              <a:spcAft>
                <a:spcPct val="0"/>
              </a:spcAft>
              <a:buChar char="»"/>
              <a:defRPr kumimoji="1" sz="844">
                <a:solidFill>
                  <a:schemeClr val="tx1"/>
                </a:solidFill>
                <a:latin typeface="+mn-lt"/>
                <a:ea typeface="+mn-ea"/>
              </a:defRPr>
            </a:lvl8pPr>
            <a:lvl9pPr marL="1639491" indent="-96441" algn="l" rtl="0" eaLnBrk="1" fontAlgn="base" hangingPunct="1">
              <a:spcBef>
                <a:spcPct val="20000"/>
              </a:spcBef>
              <a:spcAft>
                <a:spcPct val="0"/>
              </a:spcAft>
              <a:buChar char="»"/>
              <a:defRPr kumimoji="1" sz="844">
                <a:solidFill>
                  <a:schemeClr val="tx1"/>
                </a:solidFill>
                <a:latin typeface="+mn-lt"/>
                <a:ea typeface="+mn-ea"/>
              </a:defRPr>
            </a:lvl9pPr>
          </a:lstStyle>
          <a:p>
            <a:r>
              <a:rPr lang="en-US" altLang="zh-TW" sz="1950" kern="0" dirty="0"/>
              <a:t>The User Mode Queue operations can be used to </a:t>
            </a:r>
            <a:r>
              <a:rPr lang="en-US" altLang="zh-TW" sz="1950" kern="0" dirty="0" err="1"/>
              <a:t>enqueue</a:t>
            </a:r>
            <a:r>
              <a:rPr lang="en-US" altLang="zh-TW" sz="1950" kern="0" dirty="0"/>
              <a:t> work to be executed by other agents.</a:t>
            </a:r>
          </a:p>
        </p:txBody>
      </p:sp>
      <p:graphicFrame>
        <p:nvGraphicFramePr>
          <p:cNvPr id="7" name="表格 6"/>
          <p:cNvGraphicFramePr>
            <a:graphicFrameLocks noGrp="1"/>
          </p:cNvGraphicFramePr>
          <p:nvPr>
            <p:extLst>
              <p:ext uri="{D42A27DB-BD31-4B8C-83A1-F6EECF244321}">
                <p14:modId xmlns:p14="http://schemas.microsoft.com/office/powerpoint/2010/main" val="3037984976"/>
              </p:ext>
            </p:extLst>
          </p:nvPr>
        </p:nvGraphicFramePr>
        <p:xfrm>
          <a:off x="645597" y="2078551"/>
          <a:ext cx="5707280" cy="1881051"/>
        </p:xfrm>
        <a:graphic>
          <a:graphicData uri="http://schemas.openxmlformats.org/drawingml/2006/table">
            <a:tbl>
              <a:tblPr firstRow="1" firstCol="1" bandRow="1">
                <a:tableStyleId>{5C22544A-7EE6-4342-B048-85BDC9FD1C3A}</a:tableStyleId>
              </a:tblPr>
              <a:tblGrid>
                <a:gridCol w="3403229"/>
                <a:gridCol w="2304051"/>
              </a:tblGrid>
              <a:tr h="284187">
                <a:tc>
                  <a:txBody>
                    <a:bodyPr/>
                    <a:lstStyle/>
                    <a:p>
                      <a:pPr>
                        <a:spcAft>
                          <a:spcPts val="0"/>
                        </a:spcAft>
                      </a:pPr>
                      <a:r>
                        <a:rPr lang="en-US" sz="1200" dirty="0">
                          <a:effectLst/>
                        </a:rPr>
                        <a:t>Opcodes and Modifier</a:t>
                      </a:r>
                      <a:endParaRPr lang="zh-TW" sz="1200" b="1"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200">
                          <a:effectLst/>
                        </a:rPr>
                        <a:t>Operands</a:t>
                      </a:r>
                      <a:endParaRPr lang="zh-TW" sz="12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66144">
                <a:tc>
                  <a:txBody>
                    <a:bodyPr/>
                    <a:lstStyle/>
                    <a:p>
                      <a:pPr>
                        <a:spcAft>
                          <a:spcPts val="0"/>
                        </a:spcAft>
                      </a:pPr>
                      <a:r>
                        <a:rPr lang="en-US" sz="1100" dirty="0">
                          <a:effectLst/>
                        </a:rPr>
                        <a:t>addqueuewriteindex_segment_order_u64</a:t>
                      </a:r>
                      <a:endParaRPr lang="zh-TW" sz="1100" b="1"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dest, address, src</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66144">
                <a:tc>
                  <a:txBody>
                    <a:bodyPr/>
                    <a:lstStyle/>
                    <a:p>
                      <a:pPr>
                        <a:spcAft>
                          <a:spcPts val="0"/>
                        </a:spcAft>
                      </a:pPr>
                      <a:r>
                        <a:rPr lang="en-US" sz="1100" dirty="0">
                          <a:effectLst/>
                        </a:rPr>
                        <a:t>casqueuewriteindex_segment_order_u64</a:t>
                      </a:r>
                      <a:endParaRPr lang="zh-TW" sz="1100" b="1"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dest, address, src0, src1</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66144">
                <a:tc>
                  <a:txBody>
                    <a:bodyPr/>
                    <a:lstStyle/>
                    <a:p>
                      <a:pPr>
                        <a:spcAft>
                          <a:spcPts val="0"/>
                        </a:spcAft>
                      </a:pPr>
                      <a:r>
                        <a:rPr lang="en-US" sz="1100" dirty="0">
                          <a:effectLst/>
                        </a:rPr>
                        <a:t>ldqueuereadindex_segment_order_u64</a:t>
                      </a:r>
                      <a:endParaRPr lang="zh-TW" sz="1100" b="1"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dest, address</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66144">
                <a:tc>
                  <a:txBody>
                    <a:bodyPr/>
                    <a:lstStyle/>
                    <a:p>
                      <a:pPr>
                        <a:spcAft>
                          <a:spcPts val="0"/>
                        </a:spcAft>
                      </a:pPr>
                      <a:r>
                        <a:rPr lang="en-US" sz="1100" dirty="0">
                          <a:effectLst/>
                        </a:rPr>
                        <a:t>ldqueuewriteindex_segment_order_u64</a:t>
                      </a:r>
                      <a:endParaRPr lang="zh-TW" sz="1100" b="1"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dest, address</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66144">
                <a:tc>
                  <a:txBody>
                    <a:bodyPr/>
                    <a:lstStyle/>
                    <a:p>
                      <a:pPr>
                        <a:spcAft>
                          <a:spcPts val="0"/>
                        </a:spcAft>
                      </a:pPr>
                      <a:r>
                        <a:rPr lang="en-US" sz="1100">
                          <a:effectLst/>
                        </a:rPr>
                        <a:t>stqueuereadindex_segment_order_u64</a:t>
                      </a:r>
                      <a:endParaRPr lang="zh-TW" sz="11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address, src</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66144">
                <a:tc>
                  <a:txBody>
                    <a:bodyPr/>
                    <a:lstStyle/>
                    <a:p>
                      <a:pPr>
                        <a:spcAft>
                          <a:spcPts val="0"/>
                        </a:spcAft>
                      </a:pPr>
                      <a:r>
                        <a:rPr lang="en-US" sz="1100">
                          <a:effectLst/>
                        </a:rPr>
                        <a:t>stqueuewriteindex_segment_order_u64</a:t>
                      </a:r>
                      <a:endParaRPr lang="zh-TW" sz="11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dirty="0">
                          <a:effectLst/>
                        </a:rPr>
                        <a:t>address, </a:t>
                      </a:r>
                      <a:r>
                        <a:rPr lang="en-US" sz="1100" dirty="0" err="1">
                          <a:effectLst/>
                        </a:rPr>
                        <a:t>src</a:t>
                      </a:r>
                      <a:endParaRPr lang="zh-TW" sz="1100"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bl>
          </a:graphicData>
        </a:graphic>
      </p:graphicFrame>
    </p:spTree>
    <p:extLst>
      <p:ext uri="{BB962C8B-B14F-4D97-AF65-F5344CB8AC3E}">
        <p14:creationId xmlns:p14="http://schemas.microsoft.com/office/powerpoint/2010/main" val="1288670302"/>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標題 7"/>
          <p:cNvSpPr>
            <a:spLocks noGrp="1"/>
          </p:cNvSpPr>
          <p:nvPr>
            <p:ph type="title"/>
          </p:nvPr>
        </p:nvSpPr>
        <p:spPr/>
        <p:txBody>
          <a:bodyPr/>
          <a:lstStyle/>
          <a:p>
            <a:r>
              <a:rPr lang="en-US" altLang="zh-TW" dirty="0" smtClean="0"/>
              <a:t>User Mode Queue Operations (2)</a:t>
            </a:r>
            <a:endParaRPr lang="zh-TW" altLang="en-US" dirty="0"/>
          </a:p>
        </p:txBody>
      </p:sp>
      <p:sp>
        <p:nvSpPr>
          <p:cNvPr id="10" name="內容版面配置區 9"/>
          <p:cNvSpPr>
            <a:spLocks noGrp="1"/>
          </p:cNvSpPr>
          <p:nvPr>
            <p:ph idx="1"/>
          </p:nvPr>
        </p:nvSpPr>
        <p:spPr>
          <a:xfrm>
            <a:off x="446093" y="3972990"/>
            <a:ext cx="8518520" cy="2011680"/>
          </a:xfrm>
        </p:spPr>
        <p:txBody>
          <a:bodyPr/>
          <a:lstStyle/>
          <a:p>
            <a:r>
              <a:rPr lang="en-US" altLang="zh-TW" sz="1950" i="1" dirty="0" err="1" smtClean="0">
                <a:latin typeface="Times New Roman" panose="02020603050405020304" pitchFamily="18" charset="0"/>
                <a:cs typeface="Times New Roman" panose="02020603050405020304" pitchFamily="18" charset="0"/>
              </a:rPr>
              <a:t>ldqueuereadindex</a:t>
            </a:r>
            <a:r>
              <a:rPr lang="en-US" altLang="zh-TW" sz="1950" dirty="0" smtClean="0"/>
              <a:t> </a:t>
            </a:r>
            <a:r>
              <a:rPr lang="en-US" altLang="zh-TW" sz="1950" dirty="0"/>
              <a:t>- Atomically loads the current value of the read index associated with the User Mode Queue. </a:t>
            </a:r>
          </a:p>
          <a:p>
            <a:r>
              <a:rPr lang="en-US" altLang="zh-TW" sz="1950" i="1" dirty="0" err="1">
                <a:latin typeface="Times New Roman" panose="02020603050405020304" pitchFamily="18" charset="0"/>
                <a:cs typeface="Times New Roman" panose="02020603050405020304" pitchFamily="18" charset="0"/>
              </a:rPr>
              <a:t>ldqueuewriteindex</a:t>
            </a:r>
            <a:r>
              <a:rPr lang="en-US" altLang="zh-TW" sz="1950" dirty="0"/>
              <a:t> - Atomically loads the current value of the write index associated with the User Mode Queue.</a:t>
            </a:r>
          </a:p>
        </p:txBody>
      </p:sp>
      <p:sp>
        <p:nvSpPr>
          <p:cNvPr id="4" name="投影片編號版面配置區 3"/>
          <p:cNvSpPr>
            <a:spLocks noGrp="1"/>
          </p:cNvSpPr>
          <p:nvPr>
            <p:ph type="sldNum" sz="quarter" idx="10"/>
          </p:nvPr>
        </p:nvSpPr>
        <p:spPr/>
        <p:txBody>
          <a:bodyPr/>
          <a:lstStyle/>
          <a:p>
            <a:fld id="{6C75C586-0B13-4105-9895-CED4323B37DD}" type="slidenum">
              <a:rPr lang="zh-TW" altLang="en-US" smtClean="0"/>
              <a:pPr/>
              <a:t>91</a:t>
            </a:fld>
            <a:endParaRPr lang="zh-TW" altLang="en-US"/>
          </a:p>
        </p:txBody>
      </p:sp>
      <p:graphicFrame>
        <p:nvGraphicFramePr>
          <p:cNvPr id="7" name="表格 6"/>
          <p:cNvGraphicFramePr>
            <a:graphicFrameLocks noGrp="1"/>
          </p:cNvGraphicFramePr>
          <p:nvPr>
            <p:extLst>
              <p:ext uri="{D42A27DB-BD31-4B8C-83A1-F6EECF244321}">
                <p14:modId xmlns:p14="http://schemas.microsoft.com/office/powerpoint/2010/main" val="3067182780"/>
              </p:ext>
            </p:extLst>
          </p:nvPr>
        </p:nvGraphicFramePr>
        <p:xfrm>
          <a:off x="552291" y="1602689"/>
          <a:ext cx="5707280" cy="1881051"/>
        </p:xfrm>
        <a:graphic>
          <a:graphicData uri="http://schemas.openxmlformats.org/drawingml/2006/table">
            <a:tbl>
              <a:tblPr firstRow="1" firstCol="1" bandRow="1">
                <a:tableStyleId>{5C22544A-7EE6-4342-B048-85BDC9FD1C3A}</a:tableStyleId>
              </a:tblPr>
              <a:tblGrid>
                <a:gridCol w="3403229"/>
                <a:gridCol w="2304051"/>
              </a:tblGrid>
              <a:tr h="284187">
                <a:tc>
                  <a:txBody>
                    <a:bodyPr/>
                    <a:lstStyle/>
                    <a:p>
                      <a:pPr>
                        <a:spcAft>
                          <a:spcPts val="0"/>
                        </a:spcAft>
                      </a:pPr>
                      <a:r>
                        <a:rPr lang="en-US" sz="1200" dirty="0">
                          <a:effectLst/>
                        </a:rPr>
                        <a:t>Opcodes and Modifier</a:t>
                      </a:r>
                      <a:endParaRPr lang="zh-TW" sz="1200" b="1"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200">
                          <a:effectLst/>
                        </a:rPr>
                        <a:t>Operands</a:t>
                      </a:r>
                      <a:endParaRPr lang="zh-TW" sz="12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66144">
                <a:tc>
                  <a:txBody>
                    <a:bodyPr/>
                    <a:lstStyle/>
                    <a:p>
                      <a:pPr>
                        <a:spcAft>
                          <a:spcPts val="0"/>
                        </a:spcAft>
                      </a:pPr>
                      <a:r>
                        <a:rPr lang="en-US" sz="1100" dirty="0">
                          <a:effectLst/>
                        </a:rPr>
                        <a:t>addqueuewriteindex_segment_order_u64</a:t>
                      </a:r>
                      <a:endParaRPr lang="zh-TW" sz="1100" b="1"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dest, address, src</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66144">
                <a:tc>
                  <a:txBody>
                    <a:bodyPr/>
                    <a:lstStyle/>
                    <a:p>
                      <a:pPr>
                        <a:spcAft>
                          <a:spcPts val="0"/>
                        </a:spcAft>
                      </a:pPr>
                      <a:r>
                        <a:rPr lang="en-US" sz="1100" dirty="0">
                          <a:effectLst/>
                        </a:rPr>
                        <a:t>casqueuewriteindex_segment_order_u64</a:t>
                      </a:r>
                      <a:endParaRPr lang="zh-TW" sz="1100" b="1"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dest, address, src0, src1</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66144">
                <a:tc>
                  <a:txBody>
                    <a:bodyPr/>
                    <a:lstStyle/>
                    <a:p>
                      <a:pPr>
                        <a:spcAft>
                          <a:spcPts val="0"/>
                        </a:spcAft>
                      </a:pPr>
                      <a:r>
                        <a:rPr lang="en-US" sz="1100" dirty="0">
                          <a:effectLst/>
                        </a:rPr>
                        <a:t>ldqueuereadindex_segment_order_u64</a:t>
                      </a:r>
                      <a:endParaRPr lang="zh-TW" sz="1100" b="1"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dest, address</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66144">
                <a:tc>
                  <a:txBody>
                    <a:bodyPr/>
                    <a:lstStyle/>
                    <a:p>
                      <a:pPr>
                        <a:spcAft>
                          <a:spcPts val="0"/>
                        </a:spcAft>
                      </a:pPr>
                      <a:r>
                        <a:rPr lang="en-US" sz="1100" dirty="0">
                          <a:effectLst/>
                        </a:rPr>
                        <a:t>ldqueuewriteindex_segment_order_u64</a:t>
                      </a:r>
                      <a:endParaRPr lang="zh-TW" sz="1100" b="1"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dest, address</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66144">
                <a:tc>
                  <a:txBody>
                    <a:bodyPr/>
                    <a:lstStyle/>
                    <a:p>
                      <a:pPr>
                        <a:spcAft>
                          <a:spcPts val="0"/>
                        </a:spcAft>
                      </a:pPr>
                      <a:r>
                        <a:rPr lang="en-US" sz="1100">
                          <a:effectLst/>
                        </a:rPr>
                        <a:t>stqueuereadindex_segment_order_u64</a:t>
                      </a:r>
                      <a:endParaRPr lang="zh-TW" sz="11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address, src</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66144">
                <a:tc>
                  <a:txBody>
                    <a:bodyPr/>
                    <a:lstStyle/>
                    <a:p>
                      <a:pPr>
                        <a:spcAft>
                          <a:spcPts val="0"/>
                        </a:spcAft>
                      </a:pPr>
                      <a:r>
                        <a:rPr lang="en-US" sz="1100">
                          <a:effectLst/>
                        </a:rPr>
                        <a:t>stqueuewriteindex_segment_order_u64</a:t>
                      </a:r>
                      <a:endParaRPr lang="zh-TW" sz="11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dirty="0">
                          <a:effectLst/>
                        </a:rPr>
                        <a:t>address, </a:t>
                      </a:r>
                      <a:r>
                        <a:rPr lang="en-US" sz="1100" dirty="0" err="1">
                          <a:effectLst/>
                        </a:rPr>
                        <a:t>src</a:t>
                      </a:r>
                      <a:endParaRPr lang="zh-TW" sz="1100"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bl>
          </a:graphicData>
        </a:graphic>
      </p:graphicFrame>
    </p:spTree>
    <p:extLst>
      <p:ext uri="{BB962C8B-B14F-4D97-AF65-F5344CB8AC3E}">
        <p14:creationId xmlns:p14="http://schemas.microsoft.com/office/powerpoint/2010/main" val="403573277"/>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標題 7"/>
          <p:cNvSpPr>
            <a:spLocks noGrp="1"/>
          </p:cNvSpPr>
          <p:nvPr>
            <p:ph type="title"/>
          </p:nvPr>
        </p:nvSpPr>
        <p:spPr/>
        <p:txBody>
          <a:bodyPr/>
          <a:lstStyle/>
          <a:p>
            <a:r>
              <a:rPr lang="en-US" altLang="zh-TW" dirty="0" smtClean="0"/>
              <a:t>User Mode Queue Operations (2)</a:t>
            </a:r>
            <a:endParaRPr lang="zh-TW" altLang="en-US" dirty="0"/>
          </a:p>
        </p:txBody>
      </p:sp>
      <p:sp>
        <p:nvSpPr>
          <p:cNvPr id="4" name="投影片編號版面配置區 3"/>
          <p:cNvSpPr>
            <a:spLocks noGrp="1"/>
          </p:cNvSpPr>
          <p:nvPr>
            <p:ph type="sldNum" sz="quarter" idx="10"/>
          </p:nvPr>
        </p:nvSpPr>
        <p:spPr/>
        <p:txBody>
          <a:bodyPr/>
          <a:lstStyle/>
          <a:p>
            <a:fld id="{6C75C586-0B13-4105-9895-CED4323B37DD}" type="slidenum">
              <a:rPr lang="zh-TW" altLang="en-US" smtClean="0"/>
              <a:pPr/>
              <a:t>92</a:t>
            </a:fld>
            <a:endParaRPr lang="zh-TW" altLang="en-US"/>
          </a:p>
        </p:txBody>
      </p:sp>
      <p:graphicFrame>
        <p:nvGraphicFramePr>
          <p:cNvPr id="7" name="表格 6"/>
          <p:cNvGraphicFramePr>
            <a:graphicFrameLocks noGrp="1"/>
          </p:cNvGraphicFramePr>
          <p:nvPr>
            <p:extLst>
              <p:ext uri="{D42A27DB-BD31-4B8C-83A1-F6EECF244321}">
                <p14:modId xmlns:p14="http://schemas.microsoft.com/office/powerpoint/2010/main" val="3490776629"/>
              </p:ext>
            </p:extLst>
          </p:nvPr>
        </p:nvGraphicFramePr>
        <p:xfrm>
          <a:off x="598942" y="1425408"/>
          <a:ext cx="5707280" cy="1881051"/>
        </p:xfrm>
        <a:graphic>
          <a:graphicData uri="http://schemas.openxmlformats.org/drawingml/2006/table">
            <a:tbl>
              <a:tblPr firstRow="1" firstCol="1" bandRow="1">
                <a:tableStyleId>{5C22544A-7EE6-4342-B048-85BDC9FD1C3A}</a:tableStyleId>
              </a:tblPr>
              <a:tblGrid>
                <a:gridCol w="3403229"/>
                <a:gridCol w="2304051"/>
              </a:tblGrid>
              <a:tr h="284187">
                <a:tc>
                  <a:txBody>
                    <a:bodyPr/>
                    <a:lstStyle/>
                    <a:p>
                      <a:pPr>
                        <a:spcAft>
                          <a:spcPts val="0"/>
                        </a:spcAft>
                      </a:pPr>
                      <a:r>
                        <a:rPr lang="en-US" sz="1200" dirty="0">
                          <a:effectLst/>
                        </a:rPr>
                        <a:t>Opcodes and Modifier</a:t>
                      </a:r>
                      <a:endParaRPr lang="zh-TW" sz="1200" b="1"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200">
                          <a:effectLst/>
                        </a:rPr>
                        <a:t>Operands</a:t>
                      </a:r>
                      <a:endParaRPr lang="zh-TW" sz="12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66144">
                <a:tc>
                  <a:txBody>
                    <a:bodyPr/>
                    <a:lstStyle/>
                    <a:p>
                      <a:pPr>
                        <a:spcAft>
                          <a:spcPts val="0"/>
                        </a:spcAft>
                      </a:pPr>
                      <a:r>
                        <a:rPr lang="en-US" sz="1100" dirty="0">
                          <a:effectLst/>
                        </a:rPr>
                        <a:t>addqueuewriteindex_segment_order_u64</a:t>
                      </a:r>
                      <a:endParaRPr lang="zh-TW" sz="1100" b="1"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dest, address, src</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66144">
                <a:tc>
                  <a:txBody>
                    <a:bodyPr/>
                    <a:lstStyle/>
                    <a:p>
                      <a:pPr>
                        <a:spcAft>
                          <a:spcPts val="0"/>
                        </a:spcAft>
                      </a:pPr>
                      <a:r>
                        <a:rPr lang="en-US" sz="1100" dirty="0">
                          <a:effectLst/>
                        </a:rPr>
                        <a:t>casqueuewriteindex_segment_order_u64</a:t>
                      </a:r>
                      <a:endParaRPr lang="zh-TW" sz="1100" b="1"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dest, address, src0, src1</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66144">
                <a:tc>
                  <a:txBody>
                    <a:bodyPr/>
                    <a:lstStyle/>
                    <a:p>
                      <a:pPr>
                        <a:spcAft>
                          <a:spcPts val="0"/>
                        </a:spcAft>
                      </a:pPr>
                      <a:r>
                        <a:rPr lang="en-US" sz="1100" dirty="0">
                          <a:effectLst/>
                        </a:rPr>
                        <a:t>ldqueuereadindex_segment_order_u64</a:t>
                      </a:r>
                      <a:endParaRPr lang="zh-TW" sz="1100" b="1"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dest, address</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66144">
                <a:tc>
                  <a:txBody>
                    <a:bodyPr/>
                    <a:lstStyle/>
                    <a:p>
                      <a:pPr>
                        <a:spcAft>
                          <a:spcPts val="0"/>
                        </a:spcAft>
                      </a:pPr>
                      <a:r>
                        <a:rPr lang="en-US" sz="1100" dirty="0">
                          <a:effectLst/>
                        </a:rPr>
                        <a:t>ldqueuewriteindex_segment_order_u64</a:t>
                      </a:r>
                      <a:endParaRPr lang="zh-TW" sz="1100" b="1"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dest, address</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66144">
                <a:tc>
                  <a:txBody>
                    <a:bodyPr/>
                    <a:lstStyle/>
                    <a:p>
                      <a:pPr>
                        <a:spcAft>
                          <a:spcPts val="0"/>
                        </a:spcAft>
                      </a:pPr>
                      <a:r>
                        <a:rPr lang="en-US" sz="1100">
                          <a:effectLst/>
                        </a:rPr>
                        <a:t>stqueuereadindex_segment_order_u64</a:t>
                      </a:r>
                      <a:endParaRPr lang="zh-TW" sz="11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a:effectLst/>
                        </a:rPr>
                        <a:t>address, src</a:t>
                      </a:r>
                      <a:endParaRPr lang="zh-TW" sz="110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r h="266144">
                <a:tc>
                  <a:txBody>
                    <a:bodyPr/>
                    <a:lstStyle/>
                    <a:p>
                      <a:pPr>
                        <a:spcAft>
                          <a:spcPts val="0"/>
                        </a:spcAft>
                      </a:pPr>
                      <a:r>
                        <a:rPr lang="en-US" sz="1100">
                          <a:effectLst/>
                        </a:rPr>
                        <a:t>stqueuewriteindex_segment_order_u64</a:t>
                      </a:r>
                      <a:endParaRPr lang="zh-TW" sz="1100" b="1">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c>
                  <a:txBody>
                    <a:bodyPr/>
                    <a:lstStyle/>
                    <a:p>
                      <a:pPr>
                        <a:spcAft>
                          <a:spcPts val="0"/>
                        </a:spcAft>
                      </a:pPr>
                      <a:r>
                        <a:rPr lang="en-US" sz="1100" dirty="0">
                          <a:effectLst/>
                        </a:rPr>
                        <a:t>address, </a:t>
                      </a:r>
                      <a:r>
                        <a:rPr lang="en-US" sz="1100" dirty="0" err="1">
                          <a:effectLst/>
                        </a:rPr>
                        <a:t>src</a:t>
                      </a:r>
                      <a:endParaRPr lang="zh-TW" sz="1100" dirty="0">
                        <a:solidFill>
                          <a:srgbClr val="000000"/>
                        </a:solidFill>
                        <a:effectLst/>
                        <a:latin typeface="Cambria" panose="02040503050406030204" pitchFamily="18" charset="0"/>
                        <a:ea typeface="新細明體" panose="02020500000000000000" pitchFamily="18" charset="-120"/>
                        <a:cs typeface="Cambria" panose="02040503050406030204" pitchFamily="18" charset="0"/>
                      </a:endParaRPr>
                    </a:p>
                  </a:txBody>
                  <a:tcPr marL="28575" marR="28575" marT="28575" marB="28575"/>
                </a:tc>
              </a:tr>
            </a:tbl>
          </a:graphicData>
        </a:graphic>
      </p:graphicFrame>
      <p:sp>
        <p:nvSpPr>
          <p:cNvPr id="9" name="內容版面配置區 9"/>
          <p:cNvSpPr txBox="1">
            <a:spLocks/>
          </p:cNvSpPr>
          <p:nvPr/>
        </p:nvSpPr>
        <p:spPr bwMode="auto">
          <a:xfrm>
            <a:off x="222488" y="3478219"/>
            <a:ext cx="8518520" cy="22598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57175" indent="-257175" algn="l" rtl="0" eaLnBrk="1" fontAlgn="base" hangingPunct="1">
              <a:spcBef>
                <a:spcPct val="20000"/>
              </a:spcBef>
              <a:spcAft>
                <a:spcPct val="0"/>
              </a:spcAft>
              <a:buClr>
                <a:srgbClr val="0000FF"/>
              </a:buClr>
              <a:buSzPct val="80000"/>
              <a:buFont typeface="Wingdings" pitchFamily="2" charset="2"/>
              <a:buChar char="l"/>
              <a:defRPr kumimoji="1" sz="2100">
                <a:solidFill>
                  <a:schemeClr val="tx1"/>
                </a:solidFill>
                <a:latin typeface="Calibri" pitchFamily="34" charset="0"/>
                <a:ea typeface="標楷體" pitchFamily="65" charset="-120"/>
                <a:cs typeface="+mn-cs"/>
              </a:defRPr>
            </a:lvl1pPr>
            <a:lvl2pPr marL="557213" indent="-214313" algn="l" rtl="0" eaLnBrk="1" fontAlgn="base" hangingPunct="1">
              <a:spcBef>
                <a:spcPct val="20000"/>
              </a:spcBef>
              <a:spcAft>
                <a:spcPct val="0"/>
              </a:spcAft>
              <a:buClr>
                <a:srgbClr val="0000FF"/>
              </a:buClr>
              <a:buSzPct val="90000"/>
              <a:buFont typeface="Arial" charset="0"/>
              <a:buChar char="–"/>
              <a:defRPr kumimoji="1" sz="1800">
                <a:solidFill>
                  <a:schemeClr val="tx1"/>
                </a:solidFill>
                <a:latin typeface="Calibri" pitchFamily="34" charset="0"/>
                <a:ea typeface="標楷體" pitchFamily="65" charset="-120"/>
              </a:defRPr>
            </a:lvl2pPr>
            <a:lvl3pPr marL="857250" indent="-171450" algn="l" rtl="0" eaLnBrk="1" fontAlgn="base" hangingPunct="1">
              <a:spcBef>
                <a:spcPct val="20000"/>
              </a:spcBef>
              <a:spcAft>
                <a:spcPct val="0"/>
              </a:spcAft>
              <a:buChar char="•"/>
              <a:defRPr kumimoji="1" sz="1500">
                <a:solidFill>
                  <a:schemeClr val="tx1"/>
                </a:solidFill>
                <a:latin typeface="Calibri" pitchFamily="34" charset="0"/>
                <a:ea typeface="標楷體" pitchFamily="65" charset="-120"/>
                <a:cs typeface="Calibri" pitchFamily="34" charset="0"/>
              </a:defRPr>
            </a:lvl3pPr>
            <a:lvl4pPr marL="1200150" indent="-171450" algn="l" rtl="0" eaLnBrk="1" fontAlgn="base" hangingPunct="1">
              <a:spcBef>
                <a:spcPct val="20000"/>
              </a:spcBef>
              <a:spcAft>
                <a:spcPct val="0"/>
              </a:spcAft>
              <a:buChar char="–"/>
              <a:defRPr kumimoji="1" sz="1350">
                <a:solidFill>
                  <a:schemeClr val="tx1"/>
                </a:solidFill>
                <a:latin typeface="Calibri" pitchFamily="34" charset="0"/>
                <a:ea typeface="標楷體" pitchFamily="65" charset="-120"/>
                <a:cs typeface="Calibri" pitchFamily="34" charset="0"/>
              </a:defRPr>
            </a:lvl4pPr>
            <a:lvl5pPr marL="1543050" indent="-171450" algn="l" rtl="0" eaLnBrk="1" fontAlgn="base" hangingPunct="1">
              <a:spcBef>
                <a:spcPct val="20000"/>
              </a:spcBef>
              <a:spcAft>
                <a:spcPct val="0"/>
              </a:spcAft>
              <a:buChar char="»"/>
              <a:defRPr kumimoji="1" sz="1350">
                <a:solidFill>
                  <a:schemeClr val="tx1"/>
                </a:solidFill>
                <a:latin typeface="Calibri" pitchFamily="34" charset="0"/>
                <a:ea typeface="標楷體" pitchFamily="65" charset="-120"/>
                <a:cs typeface="Calibri"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r>
              <a:rPr lang="en-US" altLang="zh-TW" sz="1950" i="1" kern="0" dirty="0" err="1" smtClean="0">
                <a:latin typeface="Times New Roman" panose="02020603050405020304" pitchFamily="18" charset="0"/>
                <a:cs typeface="Times New Roman" panose="02020603050405020304" pitchFamily="18" charset="0"/>
              </a:rPr>
              <a:t>stqueuereadindex</a:t>
            </a:r>
            <a:r>
              <a:rPr lang="en-US" altLang="zh-TW" sz="1950" kern="0" dirty="0" smtClean="0"/>
              <a:t> - Atomically stores </a:t>
            </a:r>
            <a:r>
              <a:rPr lang="en-US" altLang="zh-TW" sz="1950" kern="0" dirty="0" err="1" smtClean="0"/>
              <a:t>src</a:t>
            </a:r>
            <a:r>
              <a:rPr lang="en-US" altLang="zh-TW" sz="1950" kern="0" dirty="0" smtClean="0"/>
              <a:t> into the read index associated with the User Mode Queue.</a:t>
            </a:r>
          </a:p>
          <a:p>
            <a:endParaRPr lang="en-US" altLang="zh-TW" sz="1950" kern="0" dirty="0" smtClean="0"/>
          </a:p>
          <a:p>
            <a:r>
              <a:rPr lang="en-US" altLang="zh-TW" sz="1950" i="1" kern="0" dirty="0" err="1" smtClean="0">
                <a:latin typeface="Times New Roman" panose="02020603050405020304" pitchFamily="18" charset="0"/>
                <a:cs typeface="Times New Roman" panose="02020603050405020304" pitchFamily="18" charset="0"/>
              </a:rPr>
              <a:t>stqueuewriteindex</a:t>
            </a:r>
            <a:r>
              <a:rPr lang="en-US" altLang="zh-TW" sz="1950" kern="0" dirty="0" smtClean="0"/>
              <a:t> - Atomically stores </a:t>
            </a:r>
            <a:r>
              <a:rPr lang="en-US" altLang="zh-TW" sz="1950" kern="0" dirty="0" err="1" smtClean="0"/>
              <a:t>src</a:t>
            </a:r>
            <a:r>
              <a:rPr lang="en-US" altLang="zh-TW" sz="1950" kern="0" dirty="0" smtClean="0"/>
              <a:t> into the write index associated with the User Mode Queue.</a:t>
            </a:r>
            <a:endParaRPr lang="en-US" altLang="zh-TW" sz="1950" kern="0" dirty="0"/>
          </a:p>
        </p:txBody>
      </p:sp>
    </p:spTree>
    <p:extLst>
      <p:ext uri="{BB962C8B-B14F-4D97-AF65-F5344CB8AC3E}">
        <p14:creationId xmlns:p14="http://schemas.microsoft.com/office/powerpoint/2010/main" val="4117486421"/>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標題 7"/>
          <p:cNvSpPr>
            <a:spLocks noGrp="1"/>
          </p:cNvSpPr>
          <p:nvPr>
            <p:ph type="title"/>
          </p:nvPr>
        </p:nvSpPr>
        <p:spPr/>
        <p:txBody>
          <a:bodyPr/>
          <a:lstStyle/>
          <a:p>
            <a:r>
              <a:rPr lang="en-US" altLang="zh-TW" dirty="0" smtClean="0"/>
              <a:t>Miscellaneous Operations</a:t>
            </a:r>
            <a:endParaRPr lang="zh-TW" altLang="en-US" dirty="0"/>
          </a:p>
        </p:txBody>
      </p:sp>
      <p:sp>
        <p:nvSpPr>
          <p:cNvPr id="10" name="內容版面配置區 9"/>
          <p:cNvSpPr>
            <a:spLocks noGrp="1"/>
          </p:cNvSpPr>
          <p:nvPr>
            <p:ph sz="half" idx="1"/>
          </p:nvPr>
        </p:nvSpPr>
        <p:spPr>
          <a:xfrm>
            <a:off x="622662" y="2383963"/>
            <a:ext cx="4038600" cy="2940785"/>
          </a:xfrm>
        </p:spPr>
        <p:txBody>
          <a:bodyPr/>
          <a:lstStyle/>
          <a:p>
            <a:r>
              <a:rPr lang="en-US" altLang="zh-TW" sz="1950" i="1" dirty="0" err="1">
                <a:latin typeface="Times New Roman" panose="02020603050405020304" pitchFamily="18" charset="0"/>
                <a:cs typeface="Times New Roman" panose="02020603050405020304" pitchFamily="18" charset="0"/>
              </a:rPr>
              <a:t>groupbaseptr</a:t>
            </a:r>
            <a:r>
              <a:rPr lang="en-US" altLang="zh-TW" sz="1950" dirty="0"/>
              <a:t> - Returns the group segment address of the base of the group segment for the work-group of the work-item executing the operation.</a:t>
            </a:r>
          </a:p>
          <a:p>
            <a:endParaRPr lang="en-US" altLang="zh-TW" sz="1950" dirty="0"/>
          </a:p>
          <a:p>
            <a:r>
              <a:rPr lang="en-US" altLang="zh-TW" sz="1950" i="1" dirty="0" err="1">
                <a:latin typeface="Times New Roman" panose="02020603050405020304" pitchFamily="18" charset="0"/>
                <a:cs typeface="Times New Roman" panose="02020603050405020304" pitchFamily="18" charset="0"/>
              </a:rPr>
              <a:t>nullptr</a:t>
            </a:r>
            <a:r>
              <a:rPr lang="en-US" altLang="zh-TW" sz="1950" dirty="0"/>
              <a:t> - Sets the destination </a:t>
            </a:r>
            <a:r>
              <a:rPr lang="en-US" altLang="zh-TW" sz="1950" dirty="0" err="1"/>
              <a:t>dest</a:t>
            </a:r>
            <a:r>
              <a:rPr lang="en-US" altLang="zh-TW" sz="1950" dirty="0"/>
              <a:t> to a value that is not a legal address within the segment.</a:t>
            </a:r>
          </a:p>
        </p:txBody>
      </p:sp>
      <p:pic>
        <p:nvPicPr>
          <p:cNvPr id="5" name="內容版面配置區 4"/>
          <p:cNvPicPr>
            <a:picLocks noGrp="1" noChangeAspect="1"/>
          </p:cNvPicPr>
          <p:nvPr>
            <p:ph sz="half" idx="2"/>
          </p:nvPr>
        </p:nvPicPr>
        <p:blipFill>
          <a:blip r:embed="rId2" cstate="print"/>
          <a:stretch>
            <a:fillRect/>
          </a:stretch>
        </p:blipFill>
        <p:spPr>
          <a:xfrm>
            <a:off x="5323905" y="2243512"/>
            <a:ext cx="3286883" cy="2839572"/>
          </a:xfrm>
          <a:prstGeom prst="rect">
            <a:avLst/>
          </a:prstGeom>
        </p:spPr>
      </p:pic>
      <p:sp>
        <p:nvSpPr>
          <p:cNvPr id="4" name="投影片編號版面配置區 3"/>
          <p:cNvSpPr>
            <a:spLocks noGrp="1"/>
          </p:cNvSpPr>
          <p:nvPr>
            <p:ph type="sldNum" sz="quarter" idx="10"/>
          </p:nvPr>
        </p:nvSpPr>
        <p:spPr/>
        <p:txBody>
          <a:bodyPr/>
          <a:lstStyle/>
          <a:p>
            <a:fld id="{6C75C586-0B13-4105-9895-CED4323B37DD}" type="slidenum">
              <a:rPr lang="zh-TW" altLang="en-US" smtClean="0"/>
              <a:pPr/>
              <a:t>93</a:t>
            </a:fld>
            <a:endParaRPr lang="zh-TW" altLang="en-US"/>
          </a:p>
        </p:txBody>
      </p:sp>
      <p:sp>
        <p:nvSpPr>
          <p:cNvPr id="9" name="內容版面配置區 9"/>
          <p:cNvSpPr txBox="1">
            <a:spLocks/>
          </p:cNvSpPr>
          <p:nvPr/>
        </p:nvSpPr>
        <p:spPr bwMode="auto">
          <a:xfrm>
            <a:off x="468318" y="1727895"/>
            <a:ext cx="8140558" cy="571160"/>
          </a:xfrm>
          <a:prstGeom prst="rect">
            <a:avLst/>
          </a:prstGeom>
          <a:noFill/>
          <a:ln w="9525">
            <a:noFill/>
            <a:miter lim="800000"/>
            <a:headEnd/>
            <a:tailEnd/>
          </a:ln>
        </p:spPr>
        <p:txBody>
          <a:bodyPr vert="horz" wrap="square" lIns="68580" tIns="34290" rIns="68580" bIns="34290" numCol="1" anchor="t" anchorCtr="0" compatLnSpc="1">
            <a:prstTxWarp prst="textNoShape">
              <a:avLst/>
            </a:prstTxWarp>
          </a:bodyPr>
          <a:lstStyle>
            <a:lvl1pPr marL="144661" indent="-144661" algn="l" rtl="0" eaLnBrk="1" fontAlgn="base" hangingPunct="1">
              <a:spcBef>
                <a:spcPct val="20000"/>
              </a:spcBef>
              <a:spcAft>
                <a:spcPct val="0"/>
              </a:spcAft>
              <a:buClr>
                <a:srgbClr val="0000FF"/>
              </a:buClr>
              <a:buSzPct val="80000"/>
              <a:buFont typeface="Wingdings" pitchFamily="2" charset="2"/>
              <a:buChar char="l"/>
              <a:defRPr kumimoji="1" sz="1181">
                <a:solidFill>
                  <a:schemeClr val="tx1"/>
                </a:solidFill>
                <a:latin typeface="Calibri" pitchFamily="34" charset="0"/>
                <a:ea typeface="標楷體" pitchFamily="65" charset="-120"/>
                <a:cs typeface="+mn-cs"/>
              </a:defRPr>
            </a:lvl1pPr>
            <a:lvl2pPr marL="313433" indent="-120551" algn="l" rtl="0" eaLnBrk="1" fontAlgn="base" hangingPunct="1">
              <a:spcBef>
                <a:spcPct val="20000"/>
              </a:spcBef>
              <a:spcAft>
                <a:spcPct val="0"/>
              </a:spcAft>
              <a:buClr>
                <a:srgbClr val="0000FF"/>
              </a:buClr>
              <a:buSzPct val="90000"/>
              <a:buFont typeface="Arial" charset="0"/>
              <a:buChar char="–"/>
              <a:defRPr kumimoji="1" sz="1013">
                <a:solidFill>
                  <a:schemeClr val="tx1"/>
                </a:solidFill>
                <a:latin typeface="Calibri" pitchFamily="34" charset="0"/>
                <a:ea typeface="標楷體" pitchFamily="65" charset="-120"/>
              </a:defRPr>
            </a:lvl2pPr>
            <a:lvl3pPr marL="482204" indent="-96441" algn="l" rtl="0" eaLnBrk="1" fontAlgn="base" hangingPunct="1">
              <a:spcBef>
                <a:spcPct val="20000"/>
              </a:spcBef>
              <a:spcAft>
                <a:spcPct val="0"/>
              </a:spcAft>
              <a:buChar char="•"/>
              <a:defRPr kumimoji="1" sz="844">
                <a:solidFill>
                  <a:schemeClr val="tx1"/>
                </a:solidFill>
                <a:latin typeface="Calibri" pitchFamily="34" charset="0"/>
                <a:ea typeface="標楷體" pitchFamily="65" charset="-120"/>
                <a:cs typeface="Calibri" pitchFamily="34" charset="0"/>
              </a:defRPr>
            </a:lvl3pPr>
            <a:lvl4pPr marL="675085" indent="-96441" algn="l" rtl="0" eaLnBrk="1" fontAlgn="base" hangingPunct="1">
              <a:spcBef>
                <a:spcPct val="20000"/>
              </a:spcBef>
              <a:spcAft>
                <a:spcPct val="0"/>
              </a:spcAft>
              <a:buChar char="–"/>
              <a:defRPr kumimoji="1" sz="760">
                <a:solidFill>
                  <a:schemeClr val="tx1"/>
                </a:solidFill>
                <a:latin typeface="Calibri" pitchFamily="34" charset="0"/>
                <a:ea typeface="標楷體" pitchFamily="65" charset="-120"/>
                <a:cs typeface="Calibri" pitchFamily="34" charset="0"/>
              </a:defRPr>
            </a:lvl4pPr>
            <a:lvl5pPr marL="867966" indent="-96441" algn="l" rtl="0" eaLnBrk="1" fontAlgn="base" hangingPunct="1">
              <a:spcBef>
                <a:spcPct val="20000"/>
              </a:spcBef>
              <a:spcAft>
                <a:spcPct val="0"/>
              </a:spcAft>
              <a:buChar char="»"/>
              <a:defRPr kumimoji="1" sz="760">
                <a:solidFill>
                  <a:schemeClr val="tx1"/>
                </a:solidFill>
                <a:latin typeface="Calibri" pitchFamily="34" charset="0"/>
                <a:ea typeface="標楷體" pitchFamily="65" charset="-120"/>
                <a:cs typeface="Calibri" pitchFamily="34" charset="0"/>
              </a:defRPr>
            </a:lvl5pPr>
            <a:lvl6pPr marL="1060847" indent="-96441" algn="l" rtl="0" eaLnBrk="1" fontAlgn="base" hangingPunct="1">
              <a:spcBef>
                <a:spcPct val="20000"/>
              </a:spcBef>
              <a:spcAft>
                <a:spcPct val="0"/>
              </a:spcAft>
              <a:buChar char="»"/>
              <a:defRPr kumimoji="1" sz="844">
                <a:solidFill>
                  <a:schemeClr val="tx1"/>
                </a:solidFill>
                <a:latin typeface="+mn-lt"/>
                <a:ea typeface="+mn-ea"/>
              </a:defRPr>
            </a:lvl6pPr>
            <a:lvl7pPr marL="1253729" indent="-96441" algn="l" rtl="0" eaLnBrk="1" fontAlgn="base" hangingPunct="1">
              <a:spcBef>
                <a:spcPct val="20000"/>
              </a:spcBef>
              <a:spcAft>
                <a:spcPct val="0"/>
              </a:spcAft>
              <a:buChar char="»"/>
              <a:defRPr kumimoji="1" sz="844">
                <a:solidFill>
                  <a:schemeClr val="tx1"/>
                </a:solidFill>
                <a:latin typeface="+mn-lt"/>
                <a:ea typeface="+mn-ea"/>
              </a:defRPr>
            </a:lvl7pPr>
            <a:lvl8pPr marL="1446610" indent="-96441" algn="l" rtl="0" eaLnBrk="1" fontAlgn="base" hangingPunct="1">
              <a:spcBef>
                <a:spcPct val="20000"/>
              </a:spcBef>
              <a:spcAft>
                <a:spcPct val="0"/>
              </a:spcAft>
              <a:buChar char="»"/>
              <a:defRPr kumimoji="1" sz="844">
                <a:solidFill>
                  <a:schemeClr val="tx1"/>
                </a:solidFill>
                <a:latin typeface="+mn-lt"/>
                <a:ea typeface="+mn-ea"/>
              </a:defRPr>
            </a:lvl8pPr>
            <a:lvl9pPr marL="1639491" indent="-96441" algn="l" rtl="0" eaLnBrk="1" fontAlgn="base" hangingPunct="1">
              <a:spcBef>
                <a:spcPct val="20000"/>
              </a:spcBef>
              <a:spcAft>
                <a:spcPct val="0"/>
              </a:spcAft>
              <a:buChar char="»"/>
              <a:defRPr kumimoji="1" sz="844">
                <a:solidFill>
                  <a:schemeClr val="tx1"/>
                </a:solidFill>
                <a:latin typeface="+mn-lt"/>
                <a:ea typeface="+mn-ea"/>
              </a:defRPr>
            </a:lvl9pPr>
          </a:lstStyle>
          <a:p>
            <a:r>
              <a:rPr lang="en-US" altLang="zh-TW" sz="1950" kern="0" dirty="0"/>
              <a:t>The miscellaneous operations include various query and special operations.</a:t>
            </a:r>
          </a:p>
        </p:txBody>
      </p:sp>
    </p:spTree>
    <p:extLst>
      <p:ext uri="{BB962C8B-B14F-4D97-AF65-F5344CB8AC3E}">
        <p14:creationId xmlns:p14="http://schemas.microsoft.com/office/powerpoint/2010/main" val="2402117655"/>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sz="2700" dirty="0"/>
              <a:t>BRIG: HSAIL Binary Format</a:t>
            </a:r>
            <a:endParaRPr lang="zh-TW" altLang="en-US" sz="2700" dirty="0"/>
          </a:p>
        </p:txBody>
      </p:sp>
      <p:sp>
        <p:nvSpPr>
          <p:cNvPr id="5" name="文字版面配置區 4"/>
          <p:cNvSpPr>
            <a:spLocks noGrp="1"/>
          </p:cNvSpPr>
          <p:nvPr>
            <p:ph type="body" idx="1"/>
          </p:nvPr>
        </p:nvSpPr>
        <p:spPr/>
        <p:txBody>
          <a:bodyPr/>
          <a:lstStyle/>
          <a:p>
            <a:endParaRPr lang="zh-TW" altLang="en-US" dirty="0"/>
          </a:p>
        </p:txBody>
      </p:sp>
      <p:sp>
        <p:nvSpPr>
          <p:cNvPr id="2" name="投影片編號版面配置區 1"/>
          <p:cNvSpPr>
            <a:spLocks noGrp="1"/>
          </p:cNvSpPr>
          <p:nvPr>
            <p:ph type="sldNum" sz="quarter" idx="10"/>
          </p:nvPr>
        </p:nvSpPr>
        <p:spPr/>
        <p:txBody>
          <a:bodyPr/>
          <a:lstStyle/>
          <a:p>
            <a:fld id="{6C75C586-0B13-4105-9895-CED4323B37DD}" type="slidenum">
              <a:rPr lang="zh-TW" altLang="en-US" smtClean="0"/>
              <a:pPr/>
              <a:t>94</a:t>
            </a:fld>
            <a:endParaRPr lang="zh-TW" altLang="en-US"/>
          </a:p>
        </p:txBody>
      </p:sp>
    </p:spTree>
    <p:extLst>
      <p:ext uri="{BB962C8B-B14F-4D97-AF65-F5344CB8AC3E}">
        <p14:creationId xmlns:p14="http://schemas.microsoft.com/office/powerpoint/2010/main" val="4218269136"/>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BRIG: HSAIL Binary Format</a:t>
            </a:r>
            <a:endParaRPr lang="zh-TW" altLang="en-US" dirty="0"/>
          </a:p>
        </p:txBody>
      </p:sp>
      <p:sp>
        <p:nvSpPr>
          <p:cNvPr id="3" name="內容版面配置區 2"/>
          <p:cNvSpPr>
            <a:spLocks noGrp="1"/>
          </p:cNvSpPr>
          <p:nvPr>
            <p:ph idx="1"/>
          </p:nvPr>
        </p:nvSpPr>
        <p:spPr/>
        <p:txBody>
          <a:bodyPr>
            <a:noAutofit/>
          </a:bodyPr>
          <a:lstStyle/>
          <a:p>
            <a:r>
              <a:rPr lang="en-US" altLang="zh-TW" sz="1800" dirty="0"/>
              <a:t>BRIG is a binary representation of the HSAIL. (HSAIL is  textual representation.)</a:t>
            </a:r>
          </a:p>
          <a:p>
            <a:endParaRPr lang="en-US" altLang="zh-TW" sz="1800" dirty="0"/>
          </a:p>
          <a:p>
            <a:r>
              <a:rPr lang="en-US" altLang="zh-TW" sz="1800" dirty="0"/>
              <a:t>It is an in-memory binary representation, not a file based container format. However, a file container format (e.g. ELF) may choose to use the binary representation of the BRIG segments.</a:t>
            </a:r>
          </a:p>
          <a:p>
            <a:endParaRPr lang="en-US" altLang="zh-TW" sz="1800" dirty="0"/>
          </a:p>
          <a:p>
            <a:r>
              <a:rPr lang="en-US" altLang="zh-TW" sz="1800" dirty="0"/>
              <a:t>The HSA runtime uses the BRIG in the API for the finalization and linking services</a:t>
            </a:r>
            <a:r>
              <a:rPr lang="en-US" altLang="zh-TW" sz="1800" dirty="0" smtClean="0"/>
              <a:t>.</a:t>
            </a:r>
          </a:p>
          <a:p>
            <a:endParaRPr lang="en-US" altLang="zh-TW" sz="1800" dirty="0"/>
          </a:p>
        </p:txBody>
      </p:sp>
      <p:sp>
        <p:nvSpPr>
          <p:cNvPr id="4" name="投影片編號版面配置區 3"/>
          <p:cNvSpPr>
            <a:spLocks noGrp="1"/>
          </p:cNvSpPr>
          <p:nvPr>
            <p:ph type="sldNum" sz="quarter" idx="10"/>
          </p:nvPr>
        </p:nvSpPr>
        <p:spPr/>
        <p:txBody>
          <a:bodyPr/>
          <a:lstStyle/>
          <a:p>
            <a:fld id="{6C75C586-0B13-4105-9895-CED4323B37DD}" type="slidenum">
              <a:rPr lang="zh-TW" altLang="en-US" smtClean="0"/>
              <a:pPr/>
              <a:t>95</a:t>
            </a:fld>
            <a:endParaRPr lang="zh-TW" altLang="en-US"/>
          </a:p>
        </p:txBody>
      </p:sp>
    </p:spTree>
    <p:extLst>
      <p:ext uri="{BB962C8B-B14F-4D97-AF65-F5344CB8AC3E}">
        <p14:creationId xmlns:p14="http://schemas.microsoft.com/office/powerpoint/2010/main" val="122254922"/>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Summary</a:t>
            </a:r>
            <a:endParaRPr lang="zh-TW" altLang="en-US" dirty="0"/>
          </a:p>
        </p:txBody>
      </p:sp>
      <p:sp>
        <p:nvSpPr>
          <p:cNvPr id="3" name="內容版面配置區 2"/>
          <p:cNvSpPr>
            <a:spLocks noGrp="1"/>
          </p:cNvSpPr>
          <p:nvPr>
            <p:ph idx="1"/>
          </p:nvPr>
        </p:nvSpPr>
        <p:spPr/>
        <p:txBody>
          <a:bodyPr>
            <a:noAutofit/>
          </a:bodyPr>
          <a:lstStyle/>
          <a:p>
            <a:r>
              <a:rPr lang="en-US" altLang="zh-TW" sz="1650" dirty="0"/>
              <a:t>Covered </a:t>
            </a:r>
          </a:p>
          <a:p>
            <a:pPr lvl="1"/>
            <a:r>
              <a:rPr lang="en-US" altLang="zh-TW" sz="1650" dirty="0"/>
              <a:t>HSA Programmer’s </a:t>
            </a:r>
            <a:r>
              <a:rPr lang="en-US" altLang="zh-TW" sz="1650"/>
              <a:t>Reference </a:t>
            </a:r>
            <a:r>
              <a:rPr lang="en-US" altLang="zh-TW" sz="1650" smtClean="0"/>
              <a:t>Manual Version 1.0</a:t>
            </a:r>
            <a:endParaRPr lang="en-US" altLang="zh-TW" sz="1650" dirty="0"/>
          </a:p>
          <a:p>
            <a:pPr lvl="1">
              <a:buClrTx/>
            </a:pPr>
            <a:endParaRPr lang="en-US" altLang="zh-TW" sz="1500" dirty="0"/>
          </a:p>
          <a:p>
            <a:pPr marL="298029" lvl="1" indent="-171450">
              <a:buClrTx/>
              <a:buFont typeface="+mj-lt"/>
              <a:buAutoNum type="arabicPeriod"/>
            </a:pPr>
            <a:r>
              <a:rPr lang="en-US" altLang="zh-TW" sz="1674" dirty="0"/>
              <a:t>HSAIL Programming Model</a:t>
            </a:r>
          </a:p>
          <a:p>
            <a:pPr marL="298029" lvl="1" indent="-171450">
              <a:buClrTx/>
              <a:buFont typeface="+mj-lt"/>
              <a:buAutoNum type="arabicPeriod"/>
            </a:pPr>
            <a:r>
              <a:rPr lang="en-US" altLang="zh-TW" sz="1674" dirty="0"/>
              <a:t>Arithmetic Operations</a:t>
            </a:r>
          </a:p>
          <a:p>
            <a:pPr marL="298029" lvl="1" indent="-171450">
              <a:buClrTx/>
              <a:buFont typeface="+mj-lt"/>
              <a:buAutoNum type="arabicPeriod"/>
            </a:pPr>
            <a:r>
              <a:rPr lang="en-US" altLang="zh-TW" sz="1674" dirty="0"/>
              <a:t>Memory Operations</a:t>
            </a:r>
          </a:p>
          <a:p>
            <a:pPr marL="298029" lvl="1" indent="-171450">
              <a:buClrTx/>
              <a:buFont typeface="+mj-lt"/>
              <a:buAutoNum type="arabicPeriod"/>
            </a:pPr>
            <a:r>
              <a:rPr lang="en-US" altLang="zh-TW" sz="1674" dirty="0"/>
              <a:t>Image Operations</a:t>
            </a:r>
          </a:p>
          <a:p>
            <a:pPr marL="298029" lvl="1" indent="-171450">
              <a:buClrTx/>
              <a:buFont typeface="+mj-lt"/>
              <a:buAutoNum type="arabicPeriod"/>
            </a:pPr>
            <a:r>
              <a:rPr lang="en-US" altLang="zh-TW" sz="1674" dirty="0"/>
              <a:t>Branch Operations</a:t>
            </a:r>
          </a:p>
          <a:p>
            <a:pPr marL="298029" lvl="1" indent="-171450">
              <a:buClrTx/>
              <a:buFont typeface="+mj-lt"/>
              <a:buAutoNum type="arabicPeriod"/>
            </a:pPr>
            <a:r>
              <a:rPr lang="en-US" altLang="zh-TW" sz="1674" dirty="0"/>
              <a:t>Parallel Synchronization and Communication Operations</a:t>
            </a:r>
          </a:p>
          <a:p>
            <a:pPr marL="298029" lvl="1" indent="-171450">
              <a:buClrTx/>
              <a:buFont typeface="+mj-lt"/>
              <a:buAutoNum type="arabicPeriod"/>
            </a:pPr>
            <a:r>
              <a:rPr lang="en-US" altLang="zh-TW" sz="1674" dirty="0"/>
              <a:t>Function Operations</a:t>
            </a:r>
          </a:p>
          <a:p>
            <a:pPr marL="298029" lvl="1" indent="-171450">
              <a:buClrTx/>
              <a:buFont typeface="+mj-lt"/>
              <a:buAutoNum type="arabicPeriod"/>
            </a:pPr>
            <a:r>
              <a:rPr lang="en-US" altLang="zh-TW" sz="1674" dirty="0"/>
              <a:t>Special Operations</a:t>
            </a:r>
          </a:p>
          <a:p>
            <a:pPr marL="298029" lvl="1" indent="-171450">
              <a:buClrTx/>
              <a:buFont typeface="+mj-lt"/>
              <a:buAutoNum type="arabicPeriod"/>
            </a:pPr>
            <a:r>
              <a:rPr lang="en-US" altLang="zh-TW" sz="1674" dirty="0"/>
              <a:t>BRIG: HSAIL Binary Format</a:t>
            </a:r>
          </a:p>
          <a:p>
            <a:pPr marL="298029" lvl="1" indent="-171450">
              <a:buClrTx/>
              <a:buFont typeface="+mj-lt"/>
              <a:buAutoNum type="arabicPeriod"/>
            </a:pPr>
            <a:endParaRPr lang="en-US" altLang="zh-TW" sz="1674" dirty="0"/>
          </a:p>
        </p:txBody>
      </p:sp>
      <p:sp>
        <p:nvSpPr>
          <p:cNvPr id="4" name="投影片編號版面配置區 3"/>
          <p:cNvSpPr>
            <a:spLocks noGrp="1"/>
          </p:cNvSpPr>
          <p:nvPr>
            <p:ph type="sldNum" sz="quarter" idx="10"/>
          </p:nvPr>
        </p:nvSpPr>
        <p:spPr/>
        <p:txBody>
          <a:bodyPr/>
          <a:lstStyle/>
          <a:p>
            <a:fld id="{6C75C586-0B13-4105-9895-CED4323B37DD}" type="slidenum">
              <a:rPr lang="zh-TW" altLang="en-US" smtClean="0"/>
              <a:pPr/>
              <a:t>96</a:t>
            </a:fld>
            <a:endParaRPr lang="zh-TW" altLang="en-US"/>
          </a:p>
        </p:txBody>
      </p:sp>
    </p:spTree>
    <p:extLst>
      <p:ext uri="{BB962C8B-B14F-4D97-AF65-F5344CB8AC3E}">
        <p14:creationId xmlns:p14="http://schemas.microsoft.com/office/powerpoint/2010/main" val="1010665883"/>
      </p:ext>
    </p:extLst>
  </p:cSld>
  <p:clrMapOvr>
    <a:masterClrMapping/>
  </p:clrMapOvr>
  <p:timing>
    <p:tnLst>
      <p:par>
        <p:cTn id="1" dur="indefinite" restart="never" nodeType="tmRoot"/>
      </p:par>
    </p:tnLst>
  </p:timing>
</p:sld>
</file>

<file path=ppt/theme/theme1.xml><?xml version="1.0" encoding="utf-8"?>
<a:theme xmlns:a="http://schemas.openxmlformats.org/drawingml/2006/main" name="佈景主題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lnDef>
    <a:txDef>
      <a:spPr>
        <a:noFill/>
      </a:spPr>
      <a:bodyPr wrap="none" rtlCol="0" anchor="ctr" anchorCtr="1">
        <a:spAutoFit/>
      </a:bodyPr>
      <a:lstStyle>
        <a:defPPr>
          <a:defRPr dirty="0" smtClean="0">
            <a:ea typeface="標楷體" pitchFamily="65" charset="-120"/>
            <a:cs typeface="Calibri"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xmlns="" name="佈景主題1" id="{52425C63-842A-4F95-A16C-1C0CCEA90123}" vid="{F27CB42A-B114-46CF-86BE-45D629310C51}"/>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佈景主題1</Template>
  <TotalTime>7441</TotalTime>
  <Words>6253</Words>
  <Application>Microsoft Office PowerPoint</Application>
  <PresentationFormat>如螢幕大小 (4:3)</PresentationFormat>
  <Paragraphs>1027</Paragraphs>
  <Slides>96</Slides>
  <Notes>4</Notes>
  <HiddenSlides>0</HiddenSlides>
  <MMClips>0</MMClips>
  <ScaleCrop>false</ScaleCrop>
  <HeadingPairs>
    <vt:vector size="6" baseType="variant">
      <vt:variant>
        <vt:lpstr>佈景主題</vt:lpstr>
      </vt:variant>
      <vt:variant>
        <vt:i4>1</vt:i4>
      </vt:variant>
      <vt:variant>
        <vt:lpstr>內嵌 OLE 伺服程式</vt:lpstr>
      </vt:variant>
      <vt:variant>
        <vt:i4>1</vt:i4>
      </vt:variant>
      <vt:variant>
        <vt:lpstr>投影片標題</vt:lpstr>
      </vt:variant>
      <vt:variant>
        <vt:i4>96</vt:i4>
      </vt:variant>
    </vt:vector>
  </HeadingPairs>
  <TitlesOfParts>
    <vt:vector size="98" baseType="lpstr">
      <vt:lpstr>佈景主題1</vt:lpstr>
      <vt:lpstr>Microsoft Visio 繪圖</vt:lpstr>
      <vt:lpstr>The Heterogeneous System Architecture Intermediate Language</vt:lpstr>
      <vt:lpstr>Contents</vt:lpstr>
      <vt:lpstr>Note</vt:lpstr>
      <vt:lpstr>Overview</vt:lpstr>
      <vt:lpstr>What is HSAIL?</vt:lpstr>
      <vt:lpstr>HSAIL Virtual Machine (1)</vt:lpstr>
      <vt:lpstr>HSAIL Virtual Machine (2)</vt:lpstr>
      <vt:lpstr>HSAIL Virtual Machine (3)</vt:lpstr>
      <vt:lpstr>Kernels</vt:lpstr>
      <vt:lpstr> HSAIL Virtual Language (1)</vt:lpstr>
      <vt:lpstr> HSAIL Virtual Language (2)</vt:lpstr>
      <vt:lpstr> HSAIL Programming Model (1)</vt:lpstr>
      <vt:lpstr> HSAIL Programming Model (2)</vt:lpstr>
      <vt:lpstr> HSAIL Programming Model (3)</vt:lpstr>
      <vt:lpstr>  HSAIL Programming Model (4)</vt:lpstr>
      <vt:lpstr> HSAIL Programming Model (5)</vt:lpstr>
      <vt:lpstr> HSAIL Example</vt:lpstr>
      <vt:lpstr>HSA Runtime support for HSAIL Life Cycle</vt:lpstr>
      <vt:lpstr>Unified Memory Model (1)</vt:lpstr>
      <vt:lpstr>Unified Memory Model (2)</vt:lpstr>
      <vt:lpstr> Types of Memory</vt:lpstr>
      <vt:lpstr> Segments (1)</vt:lpstr>
      <vt:lpstr> Segments (2)</vt:lpstr>
      <vt:lpstr>Types of Segments</vt:lpstr>
      <vt:lpstr>Memory Segment Access Rules(1)</vt:lpstr>
      <vt:lpstr>Memory Segment Access Rules(2)</vt:lpstr>
      <vt:lpstr>Machine Models</vt:lpstr>
      <vt:lpstr>REGISTERS (1)</vt:lpstr>
      <vt:lpstr>REGISTERS (2)</vt:lpstr>
      <vt:lpstr>REGISTERS (3)</vt:lpstr>
      <vt:lpstr>Data Types</vt:lpstr>
      <vt:lpstr>Packing Controls for Packed Data(1)</vt:lpstr>
      <vt:lpstr>Packing Controls for Packed Data(2)</vt:lpstr>
      <vt:lpstr>Arithmetic Operations</vt:lpstr>
      <vt:lpstr>Arithmetic Operations</vt:lpstr>
      <vt:lpstr>Integer Arithmetic Operations (1)</vt:lpstr>
      <vt:lpstr>PowerPoint 簡報</vt:lpstr>
      <vt:lpstr>Segment Checking Operation</vt:lpstr>
      <vt:lpstr>Segment Conversion Operations</vt:lpstr>
      <vt:lpstr>Memory Operations</vt:lpstr>
      <vt:lpstr>Memory and Addressing (1)</vt:lpstr>
      <vt:lpstr>Memory and Addressing (2)</vt:lpstr>
      <vt:lpstr>Memory and Addressing (3)</vt:lpstr>
      <vt:lpstr>PowerPoint 簡報</vt:lpstr>
      <vt:lpstr>Equivalence Classes (1)</vt:lpstr>
      <vt:lpstr>Equivalence Classes (2)</vt:lpstr>
      <vt:lpstr>Synchronizing and Non-Synchronizing</vt:lpstr>
      <vt:lpstr>Memory Order</vt:lpstr>
      <vt:lpstr>Load Operation</vt:lpstr>
      <vt:lpstr>Store Operation</vt:lpstr>
      <vt:lpstr>Memory Scope (1)</vt:lpstr>
      <vt:lpstr>Memory Scope (2)</vt:lpstr>
      <vt:lpstr>Atomic Memory Operations</vt:lpstr>
      <vt:lpstr>Atomic Operations</vt:lpstr>
      <vt:lpstr>Signal Operations (1)</vt:lpstr>
      <vt:lpstr>Signal Operations (2)</vt:lpstr>
      <vt:lpstr>Signal Operations (3)</vt:lpstr>
      <vt:lpstr>Signal Operations (4)</vt:lpstr>
      <vt:lpstr>Signal Operations (5)</vt:lpstr>
      <vt:lpstr>Memory Fence Operation</vt:lpstr>
      <vt:lpstr>Branch Operations</vt:lpstr>
      <vt:lpstr>Branch Operations (1)</vt:lpstr>
      <vt:lpstr>Branch Operations (2)</vt:lpstr>
      <vt:lpstr>Parallel Synchronization and Communication Operations</vt:lpstr>
      <vt:lpstr>Barrier Operations</vt:lpstr>
      <vt:lpstr>Fine-Grain Barrier (fbar) Operations (1)</vt:lpstr>
      <vt:lpstr>Fine-Grain Barrier (fbar) Operations (2)</vt:lpstr>
      <vt:lpstr>Fine-Grain Barrier (fbar) Operations (3)</vt:lpstr>
      <vt:lpstr>Fine-Grain Barrier (fbar) Operations (4)</vt:lpstr>
      <vt:lpstr>Fine-Grain Barrier (fbar) Operations (5)</vt:lpstr>
      <vt:lpstr>Fine-Grain Barrier (fbar) Operations (6)</vt:lpstr>
      <vt:lpstr>Function Operations</vt:lpstr>
      <vt:lpstr>Functions in HSAIL (1)</vt:lpstr>
      <vt:lpstr>Functions in HSAIL (2)</vt:lpstr>
      <vt:lpstr>Example of a Simple Function</vt:lpstr>
      <vt:lpstr>Example of a More Complex Function</vt:lpstr>
      <vt:lpstr>Function Declaration</vt:lpstr>
      <vt:lpstr>Function Definition</vt:lpstr>
      <vt:lpstr>Function Signature</vt:lpstr>
      <vt:lpstr>Direct Call Operation</vt:lpstr>
      <vt:lpstr>Switch Call Operations</vt:lpstr>
      <vt:lpstr>Indirect Call Operations</vt:lpstr>
      <vt:lpstr>Allocate Memory Operation</vt:lpstr>
      <vt:lpstr>Special Operations</vt:lpstr>
      <vt:lpstr>Kernel Dispatch Packet Operations (1)</vt:lpstr>
      <vt:lpstr>Kernel Dispatch Packet Operations (2)</vt:lpstr>
      <vt:lpstr>Kernel Dispatch Packet Operations (3)</vt:lpstr>
      <vt:lpstr>Exception Operations (1)</vt:lpstr>
      <vt:lpstr>Exception Operations (2)</vt:lpstr>
      <vt:lpstr>User Mode Queue Operations (1)</vt:lpstr>
      <vt:lpstr>User Mode Queue Operations (2)</vt:lpstr>
      <vt:lpstr>User Mode Queue Operations (2)</vt:lpstr>
      <vt:lpstr>Miscellaneous Operations</vt:lpstr>
      <vt:lpstr>BRIG: HSAIL Binary Format</vt:lpstr>
      <vt:lpstr>BRIG: HSAIL Binary Format</vt:lpstr>
      <vt:lpstr>Summary</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Heterogeneous system architecture specification</dc:title>
  <dc:creator>SSlab-Hsaio</dc:creator>
  <cp:lastModifiedBy>Yeh-Ching Chung</cp:lastModifiedBy>
  <cp:revision>622</cp:revision>
  <dcterms:created xsi:type="dcterms:W3CDTF">2014-06-03T12:19:50Z</dcterms:created>
  <dcterms:modified xsi:type="dcterms:W3CDTF">2015-03-29T21:28:08Z</dcterms:modified>
</cp:coreProperties>
</file>