
<file path=[Content_Types].xml><?xml version="1.0" encoding="utf-8"?>
<Types xmlns="http://schemas.openxmlformats.org/package/2006/content-types">
  <Default Extension="png" ContentType="image/png"/>
  <Default Extension="wmf" ContentType="image/x-wmf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2" r:id="rId1"/>
  </p:sldMasterIdLst>
  <p:notesMasterIdLst>
    <p:notesMasterId r:id="rId56"/>
  </p:notesMasterIdLst>
  <p:sldIdLst>
    <p:sldId id="336" r:id="rId2"/>
    <p:sldId id="337" r:id="rId3"/>
    <p:sldId id="343" r:id="rId4"/>
    <p:sldId id="345" r:id="rId5"/>
    <p:sldId id="381" r:id="rId6"/>
    <p:sldId id="382" r:id="rId7"/>
    <p:sldId id="352" r:id="rId8"/>
    <p:sldId id="348" r:id="rId9"/>
    <p:sldId id="349" r:id="rId10"/>
    <p:sldId id="362" r:id="rId11"/>
    <p:sldId id="384" r:id="rId12"/>
    <p:sldId id="385" r:id="rId13"/>
    <p:sldId id="383" r:id="rId14"/>
    <p:sldId id="356" r:id="rId15"/>
    <p:sldId id="353" r:id="rId16"/>
    <p:sldId id="354" r:id="rId17"/>
    <p:sldId id="365" r:id="rId18"/>
    <p:sldId id="342" r:id="rId19"/>
    <p:sldId id="302" r:id="rId20"/>
    <p:sldId id="305" r:id="rId21"/>
    <p:sldId id="306" r:id="rId22"/>
    <p:sldId id="313" r:id="rId23"/>
    <p:sldId id="386" r:id="rId24"/>
    <p:sldId id="387" r:id="rId25"/>
    <p:sldId id="388" r:id="rId26"/>
    <p:sldId id="389" r:id="rId27"/>
    <p:sldId id="390" r:id="rId28"/>
    <p:sldId id="391" r:id="rId29"/>
    <p:sldId id="393" r:id="rId30"/>
    <p:sldId id="312" r:id="rId31"/>
    <p:sldId id="314" r:id="rId32"/>
    <p:sldId id="317" r:id="rId33"/>
    <p:sldId id="394" r:id="rId34"/>
    <p:sldId id="319" r:id="rId35"/>
    <p:sldId id="335" r:id="rId36"/>
    <p:sldId id="333" r:id="rId37"/>
    <p:sldId id="334" r:id="rId38"/>
    <p:sldId id="378" r:id="rId39"/>
    <p:sldId id="325" r:id="rId40"/>
    <p:sldId id="376" r:id="rId41"/>
    <p:sldId id="326" r:id="rId42"/>
    <p:sldId id="328" r:id="rId43"/>
    <p:sldId id="329" r:id="rId44"/>
    <p:sldId id="330" r:id="rId45"/>
    <p:sldId id="331" r:id="rId46"/>
    <p:sldId id="368" r:id="rId47"/>
    <p:sldId id="369" r:id="rId48"/>
    <p:sldId id="370" r:id="rId49"/>
    <p:sldId id="371" r:id="rId50"/>
    <p:sldId id="377" r:id="rId51"/>
    <p:sldId id="380" r:id="rId52"/>
    <p:sldId id="373" r:id="rId53"/>
    <p:sldId id="374" r:id="rId54"/>
    <p:sldId id="375" r:id="rId55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66FF66"/>
    <a:srgbClr val="FFFF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139" autoAdjust="0"/>
    <p:restoredTop sz="94660"/>
  </p:normalViewPr>
  <p:slideViewPr>
    <p:cSldViewPr>
      <p:cViewPr varScale="1">
        <p:scale>
          <a:sx n="85" d="100"/>
          <a:sy n="85" d="100"/>
        </p:scale>
        <p:origin x="-1666" y="-67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6379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58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  <a:ea typeface="+mn-ea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9558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  <a:ea typeface="+mn-ea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20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9558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19559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  <a:ea typeface="+mn-ea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9559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ea typeface="+mn-ea"/>
              </a:defRPr>
            </a:lvl1pPr>
          </a:lstStyle>
          <a:p>
            <a:pPr>
              <a:defRPr/>
            </a:pPr>
            <a:fld id="{72FABAC9-CBA2-4424-8872-C786E385D49C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73490448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TW" smtClean="0"/>
              <a:t>00000</a:t>
            </a:r>
            <a:endParaRPr lang="en-US" altLang="zh-TW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EF1E5AC7-D120-4B34-8768-388EC9206878}" type="slidenum">
              <a:rPr lang="en-US" altLang="zh-TW" smtClean="0"/>
              <a:pPr>
                <a:defRPr/>
              </a:pPr>
              <a:t>1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31398945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TW" smtClean="0"/>
              <a:t>00000</a:t>
            </a:r>
            <a:endParaRPr lang="en-US" altLang="zh-TW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EF1E5AC7-D120-4B34-8768-388EC9206878}" type="slidenum">
              <a:rPr lang="en-US" altLang="zh-TW" smtClean="0"/>
              <a:pPr>
                <a:defRPr/>
              </a:pPr>
              <a:t>2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203983002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D71420-BD5E-634C-B474-39BAC775053C}" type="slidenum">
              <a:rPr lang="en-US" smtClean="0">
                <a:solidFill>
                  <a:prstClr val="black"/>
                </a:solidFill>
              </a:rPr>
              <a:pPr/>
              <a:t>5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636351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Inclusive</a:t>
            </a:r>
            <a:r>
              <a:rPr lang="en-US" baseline="0" dirty="0" smtClean="0"/>
              <a:t> of fixed function devices and all programmable devices in a SOC.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FF771E8-E292-1847-A003-B9063746A93B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17043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14250">
              <a:defRPr/>
            </a:pPr>
            <a:r>
              <a:rPr lang="en-US" dirty="0" smtClean="0"/>
              <a:t>Lets take a deeper dive here into the details of the architecture</a:t>
            </a:r>
            <a:r>
              <a:rPr lang="en-US" baseline="0" dirty="0" smtClean="0"/>
              <a:t> …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D71420-BD5E-634C-B474-39BAC775053C}" type="slidenum">
              <a:rPr lang="en-US" smtClean="0">
                <a:solidFill>
                  <a:prstClr val="black"/>
                </a:solidFill>
              </a:rPr>
              <a:pPr/>
              <a:t>11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890630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The memory model for a new architecture is key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D71420-BD5E-634C-B474-39BAC775053C}" type="slidenum">
              <a:rPr lang="en-US" smtClean="0">
                <a:solidFill>
                  <a:prstClr val="black"/>
                </a:solidFill>
              </a:rPr>
              <a:pPr/>
              <a:t>12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5118695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The memory model for a new architecture is key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D71420-BD5E-634C-B474-39BAC775053C}" type="slidenum">
              <a:rPr lang="en-US" smtClean="0">
                <a:solidFill>
                  <a:prstClr val="black"/>
                </a:solidFill>
              </a:rPr>
              <a:pPr/>
              <a:t>13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7731023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Inclusive</a:t>
            </a:r>
            <a:r>
              <a:rPr lang="en-US" baseline="0" dirty="0" smtClean="0"/>
              <a:t> of fixed function devices and all programmable devices in a SOC.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FF771E8-E292-1847-A003-B9063746A93B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170436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mtClean="0"/>
              <a:t>With HSA, there is an alternate path to the accelerators in the system, besides the legacy driver</a:t>
            </a:r>
            <a:r>
              <a:rPr lang="en-US" baseline="0" smtClean="0"/>
              <a:t> model.</a:t>
            </a:r>
          </a:p>
          <a:p>
            <a:r>
              <a:rPr lang="en-US" baseline="0" smtClean="0"/>
              <a:t>We are moving beyond the platform architecture of the last 25 years, to unlock software innovation for modern workloads.</a:t>
            </a:r>
          </a:p>
          <a:p>
            <a:r>
              <a:rPr lang="en-US" baseline="0" smtClean="0"/>
              <a:t>Applications will be able to deliver work *directly* to the queues fetched by the parallel processor in the GPU.</a:t>
            </a:r>
          </a:p>
          <a:p>
            <a:r>
              <a:rPr lang="en-US" baseline="0" smtClean="0"/>
              <a:t>We abstract the parallel processor with a new virtual ISA, called HSAIL. A low level IL that allows multiple hardware vendors to continue to innovate within a standard platform. There is a “finalizer” between the HSAIL generated by the high level compiler and the GPU ISA. The architecture supports the finalizer being run at multiple possible times: at run time, install time or compile time, depending on the target platform.</a:t>
            </a:r>
          </a:p>
          <a:p>
            <a:r>
              <a:rPr lang="en-US" smtClean="0"/>
              <a:t>Overall Vision:</a:t>
            </a:r>
          </a:p>
          <a:p>
            <a:pPr lvl="1"/>
            <a:r>
              <a:rPr lang="en-US" smtClean="0"/>
              <a:t>Make GPU easily accessible</a:t>
            </a:r>
          </a:p>
          <a:p>
            <a:pPr lvl="2"/>
            <a:r>
              <a:rPr lang="en-US" smtClean="0"/>
              <a:t>Support mainstream languages</a:t>
            </a:r>
          </a:p>
          <a:p>
            <a:pPr lvl="2"/>
            <a:r>
              <a:rPr lang="en-US" smtClean="0"/>
              <a:t>Expandable to domain specific languages</a:t>
            </a:r>
          </a:p>
          <a:p>
            <a:pPr lvl="1"/>
            <a:r>
              <a:rPr lang="en-US" smtClean="0"/>
              <a:t>Make compute offload efficient</a:t>
            </a:r>
          </a:p>
          <a:p>
            <a:pPr lvl="2"/>
            <a:r>
              <a:rPr lang="en-US" smtClean="0"/>
              <a:t>Direct path to GPU (avoid Graphics overhead)</a:t>
            </a:r>
          </a:p>
          <a:p>
            <a:pPr lvl="2"/>
            <a:r>
              <a:rPr lang="en-US" smtClean="0"/>
              <a:t>Eliminate memory copy</a:t>
            </a:r>
          </a:p>
          <a:p>
            <a:pPr lvl="2"/>
            <a:r>
              <a:rPr lang="en-US" smtClean="0"/>
              <a:t>Low-latency dispatch</a:t>
            </a:r>
          </a:p>
          <a:p>
            <a:pPr lvl="1"/>
            <a:r>
              <a:rPr lang="en-US" smtClean="0"/>
              <a:t>Make it ubiquitous</a:t>
            </a:r>
          </a:p>
          <a:p>
            <a:pPr lvl="2"/>
            <a:r>
              <a:rPr lang="en-US" smtClean="0"/>
              <a:t>Drive HSA as a standard through HSA Foundation</a:t>
            </a:r>
          </a:p>
          <a:p>
            <a:pPr lvl="2"/>
            <a:r>
              <a:rPr lang="en-US" smtClean="0"/>
              <a:t>Open Source key components</a:t>
            </a:r>
          </a:p>
          <a:p>
            <a:endParaRPr lang="en-US" dirty="0" smtClean="0"/>
          </a:p>
          <a:p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49034A-F7F8-456A-8D95-3DE97560FB4A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241114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fld id="{B353CC49-CEF2-4BD2-9855-02C839984C40}" type="slidenum">
              <a:rPr lang="en-US" altLang="zh-TW" smtClean="0"/>
              <a:pPr/>
              <a:t>19</a:t>
            </a:fld>
            <a:endParaRPr lang="en-US" altLang="zh-TW" smtClean="0"/>
          </a:p>
        </p:txBody>
      </p:sp>
      <p:sp>
        <p:nvSpPr>
          <p:cNvPr id="7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zh-TW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121463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fld id="{B353CC49-CEF2-4BD2-9855-02C839984C40}" type="slidenum">
              <a:rPr lang="en-US" altLang="zh-TW" smtClean="0"/>
              <a:pPr/>
              <a:t>20</a:t>
            </a:fld>
            <a:endParaRPr lang="en-US" altLang="zh-TW" smtClean="0"/>
          </a:p>
        </p:txBody>
      </p:sp>
      <p:sp>
        <p:nvSpPr>
          <p:cNvPr id="7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zh-TW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344705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21AA25-6FBA-4D70-9A83-A4494620F701}" type="slidenum">
              <a:rPr lang="zh-TW" altLang="en-US" smtClean="0"/>
              <a:pPr/>
              <a:t>51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121347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TW" smtClean="0"/>
              <a:t>00000</a:t>
            </a:r>
            <a:endParaRPr lang="en-US" altLang="zh-TW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EF1E5AC7-D120-4B34-8768-388EC9206878}" type="slidenum">
              <a:rPr lang="en-US" altLang="zh-TW" smtClean="0"/>
              <a:pPr>
                <a:defRPr/>
              </a:pPr>
              <a:t>54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4128421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>
            <a:lvl3pPr>
              <a:defRPr sz="2000">
                <a:latin typeface="Calibri" pitchFamily="34" charset="0"/>
                <a:ea typeface="標楷體" pitchFamily="65" charset="-120"/>
                <a:cs typeface="Calibri" pitchFamily="34" charset="0"/>
              </a:defRPr>
            </a:lvl3pPr>
            <a:lvl4pPr>
              <a:defRPr sz="1800">
                <a:latin typeface="Calibri" pitchFamily="34" charset="0"/>
                <a:ea typeface="標楷體" pitchFamily="65" charset="-120"/>
                <a:cs typeface="Calibri" pitchFamily="34" charset="0"/>
              </a:defRPr>
            </a:lvl4pPr>
            <a:lvl5pPr>
              <a:defRPr sz="1800">
                <a:latin typeface="Calibri" pitchFamily="34" charset="0"/>
                <a:ea typeface="標楷體" pitchFamily="65" charset="-120"/>
                <a:cs typeface="Calibri" pitchFamily="34" charset="0"/>
              </a:defRPr>
            </a:lvl5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 dirty="0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899DAF6-71A8-4A71-B1EB-375E571DCD26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071610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86D0661-96A5-4A79-9BBE-2695289AC129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2118111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125538"/>
            <a:ext cx="4038600" cy="6477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125538"/>
            <a:ext cx="4038600" cy="6477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391128-9DF6-44BC-8AE7-BD055C93C249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9688186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5A010E4-A2D0-41E5-B566-D1CA59823479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2054161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B139CEE-DE8A-418C-9023-16281E618043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801237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5F12146-3B0F-4145-850F-19471F761879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5925065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B2F56DB-289D-4328-B9FD-5183B96042CB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2538046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TW" altLang="en-US" noProof="0" smtClean="0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71A07F1-7B63-4F25-BBDD-02949108C225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8589924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0C797ED-350B-4B30-9C0B-5DDADBCD5807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1734932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73025"/>
            <a:ext cx="2057400" cy="1700213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73025"/>
            <a:ext cx="6019800" cy="1700213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7912C32-88A3-4BAA-ABA3-F7284856F91E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2662280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/>
          </p:nvPr>
        </p:nvSpPr>
        <p:spPr>
          <a:xfrm>
            <a:off x="457200" y="73025"/>
            <a:ext cx="8229600" cy="1700213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3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DAA744D-FBF9-4AE6-B2C2-8A4E69D3633B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58449318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標題及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68313" y="73025"/>
            <a:ext cx="4248150" cy="692150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表格版面配置區 2"/>
          <p:cNvSpPr>
            <a:spLocks noGrp="1"/>
          </p:cNvSpPr>
          <p:nvPr>
            <p:ph type="tbl" idx="1"/>
          </p:nvPr>
        </p:nvSpPr>
        <p:spPr>
          <a:xfrm>
            <a:off x="457200" y="1125538"/>
            <a:ext cx="8229600" cy="647700"/>
          </a:xfrm>
        </p:spPr>
        <p:txBody>
          <a:bodyPr/>
          <a:lstStyle/>
          <a:p>
            <a:pPr lvl="0"/>
            <a:r>
              <a:rPr lang="zh-TW" altLang="en-US" noProof="0" smtClean="0"/>
              <a:t>按一下圖示以新增表格</a:t>
            </a:r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F72DA1A-0328-46C1-8F87-9EFB8B9C9EF8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61650016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23F7B6-464A-4517-9341-E8ECB1AE6CC8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02098201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28600" y="6534965"/>
            <a:ext cx="4800600" cy="323036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© Copyright 2014 HSA Foundation.  All Rights Reserved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F095F-F642-7E4C-BE29-73B8FAFADF3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304800" y="6248400"/>
            <a:ext cx="8534400" cy="228600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675">
                <a:solidFill>
                  <a:schemeClr val="accent3"/>
                </a:solidFill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9191671"/>
      </p:ext>
    </p:extLst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28600" y="6534965"/>
            <a:ext cx="4800600" cy="323036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© Copyright 2014 HSA Foundation.  All Rights Reserved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F095F-F642-7E4C-BE29-73B8FAFADF3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304800" y="6248400"/>
            <a:ext cx="8534400" cy="228600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675">
                <a:solidFill>
                  <a:schemeClr val="accent3"/>
                </a:solidFill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52303112"/>
      </p:ext>
    </p:extLst>
  </p:cSld>
  <p:clrMapOvr>
    <a:masterClrMapping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4800" y="1600201"/>
            <a:ext cx="4038600" cy="4525963"/>
          </a:xfrm>
        </p:spPr>
        <p:txBody>
          <a:bodyPr/>
          <a:lstStyle>
            <a:lvl1pPr>
              <a:defRPr sz="135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00600" y="1600201"/>
            <a:ext cx="4038600" cy="4525963"/>
          </a:xfrm>
        </p:spPr>
        <p:txBody>
          <a:bodyPr/>
          <a:lstStyle>
            <a:lvl1pPr>
              <a:defRPr sz="135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8600" y="6534965"/>
            <a:ext cx="4800600" cy="323036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© Copyright 2014 HSA Foundation.  All Rights Reserved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F095F-F642-7E4C-BE29-73B8FAFADF3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304800" y="6248400"/>
            <a:ext cx="8534400" cy="228600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675">
                <a:solidFill>
                  <a:schemeClr val="accent3"/>
                </a:solidFill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80547120"/>
      </p:ext>
    </p:extLst>
  </p:cSld>
  <p:clrMapOvr>
    <a:masterClrMapping/>
  </p:clrMapOvr>
  <p:transition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28600" y="6534965"/>
            <a:ext cx="4800600" cy="323036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© Copyright 2014 HSA Foundation.  All Rights Reserved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F095F-F642-7E4C-BE29-73B8FAFADF3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304800" y="6248400"/>
            <a:ext cx="8534400" cy="228600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675">
                <a:solidFill>
                  <a:schemeClr val="accent3"/>
                </a:solidFill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59665251"/>
      </p:ext>
    </p:extLst>
  </p:cSld>
  <p:clrMapOvr>
    <a:masterClrMapping/>
  </p:clrMapOvr>
  <p:transition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28600" y="6534965"/>
            <a:ext cx="4800600" cy="323036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© Copyright 2014 HSA Foundation.  All Rights Reserved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F095F-F642-7E4C-BE29-73B8FAFADF3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304800" y="6248400"/>
            <a:ext cx="8534400" cy="228600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675">
                <a:solidFill>
                  <a:schemeClr val="accent3"/>
                </a:solidFill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73231654"/>
      </p:ext>
    </p:extLst>
  </p:cSld>
  <p:clrMapOvr>
    <a:masterClrMapping/>
  </p:clrMapOvr>
  <p:transition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28600" y="6534965"/>
            <a:ext cx="4800600" cy="323036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© Copyright 2014 HSA Foundation.  All Rights Reserved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F095F-F642-7E4C-BE29-73B8FAFADF3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304800" y="6248400"/>
            <a:ext cx="8534400" cy="228600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675">
                <a:solidFill>
                  <a:schemeClr val="accent3"/>
                </a:solidFill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02545192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1.wmf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image" Target="../media/image5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image" Target="../media/image4.emf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3.emf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1" descr="清大LOGO(鳥)"/>
          <p:cNvPicPr>
            <a:picLocks noChangeAspect="1" noChangeArrowheads="1"/>
          </p:cNvPicPr>
          <p:nvPr/>
        </p:nvPicPr>
        <p:blipFill>
          <a:blip r:embed="rId21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0163"/>
            <a:ext cx="1619250" cy="806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Rectangle 17"/>
          <p:cNvSpPr>
            <a:spLocks noGrp="1" noChangeArrowheads="1"/>
          </p:cNvSpPr>
          <p:nvPr>
            <p:ph type="title"/>
          </p:nvPr>
        </p:nvSpPr>
        <p:spPr bwMode="auto">
          <a:xfrm>
            <a:off x="468313" y="144463"/>
            <a:ext cx="8207375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</a:p>
        </p:txBody>
      </p:sp>
      <p:sp>
        <p:nvSpPr>
          <p:cNvPr id="1028" name="Rectangle 18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125538"/>
            <a:ext cx="8229600" cy="4895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</a:t>
            </a:r>
          </a:p>
          <a:p>
            <a:pPr lvl="1"/>
            <a:r>
              <a:rPr lang="zh-TW" altLang="en-US" smtClean="0"/>
              <a:t>按一下以編輯母片</a:t>
            </a:r>
          </a:p>
          <a:p>
            <a:pPr lvl="1"/>
            <a:endParaRPr lang="zh-TW" altLang="en-US" smtClean="0"/>
          </a:p>
          <a:p>
            <a:pPr lvl="0"/>
            <a:endParaRPr lang="en-US" altLang="zh-TW" smtClean="0"/>
          </a:p>
        </p:txBody>
      </p:sp>
      <p:pic>
        <p:nvPicPr>
          <p:cNvPr id="1029" name="Picture 25" descr="name"/>
          <p:cNvPicPr>
            <a:picLocks noChangeAspect="1" noChangeArrowheads="1"/>
          </p:cNvPicPr>
          <p:nvPr/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57938"/>
            <a:ext cx="3833813" cy="198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0" name="矩形 7"/>
          <p:cNvSpPr>
            <a:spLocks noChangeArrowheads="1"/>
          </p:cNvSpPr>
          <p:nvPr/>
        </p:nvSpPr>
        <p:spPr bwMode="auto">
          <a:xfrm>
            <a:off x="142875" y="6581775"/>
            <a:ext cx="35845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defRPr/>
            </a:pPr>
            <a:r>
              <a:rPr lang="en-US" altLang="zh-TW" sz="1200" b="1" smtClean="0">
                <a:solidFill>
                  <a:schemeClr val="bg1"/>
                </a:solidFill>
                <a:cs typeface="Arial" panose="020B0604020202020204" pitchFamily="34" charset="0"/>
              </a:rPr>
              <a:t>National Tsing Hua University ® copyright OIA</a:t>
            </a:r>
            <a:endParaRPr lang="zh-TW" altLang="en-US" sz="1200" b="1" smtClean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1031" name="Rectangle 9"/>
          <p:cNvSpPr>
            <a:spLocks noChangeArrowheads="1"/>
          </p:cNvSpPr>
          <p:nvPr/>
        </p:nvSpPr>
        <p:spPr bwMode="auto">
          <a:xfrm>
            <a:off x="0" y="908050"/>
            <a:ext cx="9144000" cy="144463"/>
          </a:xfrm>
          <a:prstGeom prst="rect">
            <a:avLst/>
          </a:prstGeom>
          <a:solidFill>
            <a:srgbClr val="990099"/>
          </a:solidFill>
          <a:ln>
            <a:noFill/>
          </a:ln>
          <a:effectLst>
            <a:prstShdw prst="shdw17" dist="17961" dir="13500000">
              <a:srgbClr val="5C005C"/>
            </a:prstShdw>
          </a:effectLst>
          <a:extLs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defRPr/>
            </a:pPr>
            <a:endParaRPr lang="zh-TW" altLang="en-US" smtClean="0"/>
          </a:p>
        </p:txBody>
      </p:sp>
      <p:sp>
        <p:nvSpPr>
          <p:cNvPr id="1032" name="Rectangle 10"/>
          <p:cNvSpPr>
            <a:spLocks noChangeArrowheads="1"/>
          </p:cNvSpPr>
          <p:nvPr/>
        </p:nvSpPr>
        <p:spPr bwMode="auto">
          <a:xfrm>
            <a:off x="0" y="6165850"/>
            <a:ext cx="9144000" cy="719138"/>
          </a:xfrm>
          <a:prstGeom prst="rect">
            <a:avLst/>
          </a:prstGeom>
          <a:solidFill>
            <a:srgbClr val="990099"/>
          </a:solidFill>
          <a:ln>
            <a:noFill/>
          </a:ln>
          <a:effectLst>
            <a:prstShdw prst="shdw17" dist="17961" dir="13500000">
              <a:srgbClr val="5C005C"/>
            </a:prstShdw>
          </a:effectLst>
          <a:extLs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defRPr/>
            </a:pPr>
            <a:endParaRPr lang="zh-TW" altLang="en-US" smtClean="0"/>
          </a:p>
        </p:txBody>
      </p:sp>
      <p:sp>
        <p:nvSpPr>
          <p:cNvPr id="1043" name="Rectangle 1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831013" y="6524625"/>
            <a:ext cx="2133600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</a:lstStyle>
          <a:p>
            <a:pPr>
              <a:defRPr/>
            </a:pPr>
            <a:fld id="{13811727-E7B8-45E3-8BAD-7CEEDC2E80AF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  <p:pic>
        <p:nvPicPr>
          <p:cNvPr id="1034" name="Picture 13" descr="清大LOGO(圓)"/>
          <p:cNvPicPr>
            <a:picLocks noChangeAspect="1" noChangeArrowheads="1"/>
          </p:cNvPicPr>
          <p:nvPr/>
        </p:nvPicPr>
        <p:blipFill>
          <a:blip r:embed="rId2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181725"/>
            <a:ext cx="684213" cy="676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5" name="Picture 14" descr="清大書法字 "/>
          <p:cNvPicPr>
            <a:picLocks noChangeAspect="1" noChangeArrowheads="1"/>
          </p:cNvPicPr>
          <p:nvPr/>
        </p:nvPicPr>
        <p:blipFill>
          <a:blip r:embed="rId2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650" y="6237288"/>
            <a:ext cx="2087563" cy="32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11" name="Text Box 15"/>
          <p:cNvSpPr txBox="1">
            <a:spLocks noChangeArrowheads="1"/>
          </p:cNvSpPr>
          <p:nvPr/>
        </p:nvSpPr>
        <p:spPr bwMode="auto">
          <a:xfrm>
            <a:off x="682625" y="6580188"/>
            <a:ext cx="2520950" cy="304800"/>
          </a:xfrm>
          <a:prstGeom prst="rect">
            <a:avLst/>
          </a:prstGeom>
          <a:noFill/>
          <a:ln w="15875">
            <a:noFill/>
            <a:miter lim="800000"/>
            <a:headEnd/>
            <a:tailEnd/>
          </a:ln>
          <a:effectLst>
            <a:prstShdw prst="shdw18" dist="17961" dir="135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TW" sz="1400">
                <a:solidFill>
                  <a:schemeClr val="bg1"/>
                </a:solidFill>
              </a:rPr>
              <a:t>National Tsing Hua University</a:t>
            </a:r>
          </a:p>
        </p:txBody>
      </p:sp>
      <p:pic>
        <p:nvPicPr>
          <p:cNvPr id="1037" name="圖片 12"/>
          <p:cNvPicPr>
            <a:picLocks noChangeAspect="1"/>
          </p:cNvPicPr>
          <p:nvPr/>
        </p:nvPicPr>
        <p:blipFill>
          <a:blip r:embed="rId2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77113" y="152400"/>
            <a:ext cx="1658937" cy="684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  <p:sldLayoutId id="2147483675" r:id="rId13"/>
    <p:sldLayoutId id="2147483676" r:id="rId14"/>
    <p:sldLayoutId id="2147483677" r:id="rId15"/>
    <p:sldLayoutId id="2147483678" r:id="rId16"/>
    <p:sldLayoutId id="2147483679" r:id="rId17"/>
    <p:sldLayoutId id="2147483680" r:id="rId18"/>
    <p:sldLayoutId id="2147483681" r:id="rId19"/>
  </p:sldLayoutIdLst>
  <p:timing>
    <p:tnLst>
      <p:par>
        <p:cTn id="1" dur="indefinite" restart="never" nodeType="tmRoot"/>
      </p:par>
    </p:tnLst>
  </p:timing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Calibri" pitchFamily="34" charset="0"/>
          <a:ea typeface="標楷體" pitchFamily="65" charset="-120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MS Sans Serif"/>
          <a:ea typeface="MS Sans Serif"/>
          <a:cs typeface="MS Sans Serif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MS Sans Serif"/>
          <a:ea typeface="MS Sans Serif"/>
          <a:cs typeface="MS Sans Serif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MS Sans Serif"/>
          <a:ea typeface="MS Sans Serif"/>
          <a:cs typeface="MS Sans Serif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MS Sans Serif"/>
          <a:ea typeface="MS Sans Serif"/>
          <a:cs typeface="MS Sans Serif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80000"/>
        <a:buFont typeface="Wingdings" panose="05000000000000000000" pitchFamily="2" charset="2"/>
        <a:buChar char="l"/>
        <a:defRPr kumimoji="1" sz="2800">
          <a:solidFill>
            <a:schemeClr val="tx1"/>
          </a:solidFill>
          <a:latin typeface="Calibri" pitchFamily="34" charset="0"/>
          <a:ea typeface="標楷體" pitchFamily="65" charset="-120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90000"/>
        <a:buFont typeface="Arial" panose="020B0604020202020204" pitchFamily="34" charset="0"/>
        <a:buChar char="–"/>
        <a:defRPr kumimoji="1" sz="2400">
          <a:solidFill>
            <a:schemeClr val="tx1"/>
          </a:solidFill>
          <a:latin typeface="Calibri" pitchFamily="34" charset="0"/>
          <a:ea typeface="標楷體" pitchFamily="65" charset="-12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6.png"/><Relationship Id="rId18" Type="http://schemas.openxmlformats.org/officeDocument/2006/relationships/image" Target="../media/image20.png"/><Relationship Id="rId26" Type="http://schemas.openxmlformats.org/officeDocument/2006/relationships/image" Target="../media/image28.jpeg"/><Relationship Id="rId39" Type="http://schemas.openxmlformats.org/officeDocument/2006/relationships/image" Target="../media/image41.jpeg"/><Relationship Id="rId21" Type="http://schemas.openxmlformats.org/officeDocument/2006/relationships/image" Target="../media/image23.png"/><Relationship Id="rId34" Type="http://schemas.openxmlformats.org/officeDocument/2006/relationships/image" Target="../media/image36.png"/><Relationship Id="rId42" Type="http://schemas.openxmlformats.org/officeDocument/2006/relationships/image" Target="../media/image44.gif"/><Relationship Id="rId47" Type="http://schemas.openxmlformats.org/officeDocument/2006/relationships/image" Target="../media/image49.png"/><Relationship Id="rId50" Type="http://schemas.openxmlformats.org/officeDocument/2006/relationships/image" Target="../media/image52.png"/><Relationship Id="rId55" Type="http://schemas.openxmlformats.org/officeDocument/2006/relationships/image" Target="../media/image5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6" Type="http://schemas.openxmlformats.org/officeDocument/2006/relationships/image" Target="../media/image18.png"/><Relationship Id="rId20" Type="http://schemas.openxmlformats.org/officeDocument/2006/relationships/image" Target="../media/image22.png"/><Relationship Id="rId29" Type="http://schemas.openxmlformats.org/officeDocument/2006/relationships/image" Target="../media/image31.png"/><Relationship Id="rId41" Type="http://schemas.openxmlformats.org/officeDocument/2006/relationships/image" Target="../media/image43.png"/><Relationship Id="rId54" Type="http://schemas.openxmlformats.org/officeDocument/2006/relationships/image" Target="../media/image56.png"/><Relationship Id="rId62" Type="http://schemas.openxmlformats.org/officeDocument/2006/relationships/image" Target="../media/image6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24" Type="http://schemas.openxmlformats.org/officeDocument/2006/relationships/image" Target="../media/image26.png"/><Relationship Id="rId32" Type="http://schemas.openxmlformats.org/officeDocument/2006/relationships/image" Target="../media/image34.png"/><Relationship Id="rId37" Type="http://schemas.openxmlformats.org/officeDocument/2006/relationships/image" Target="../media/image39.png"/><Relationship Id="rId40" Type="http://schemas.openxmlformats.org/officeDocument/2006/relationships/image" Target="../media/image42.jpeg"/><Relationship Id="rId45" Type="http://schemas.openxmlformats.org/officeDocument/2006/relationships/image" Target="../media/image47.png"/><Relationship Id="rId53" Type="http://schemas.openxmlformats.org/officeDocument/2006/relationships/image" Target="../media/image55.png"/><Relationship Id="rId58" Type="http://schemas.openxmlformats.org/officeDocument/2006/relationships/image" Target="../media/image60.png"/><Relationship Id="rId5" Type="http://schemas.openxmlformats.org/officeDocument/2006/relationships/image" Target="../media/image9.png"/><Relationship Id="rId15" Type="http://schemas.openxmlformats.org/officeDocument/2006/relationships/image" Target="../media/image17.png"/><Relationship Id="rId23" Type="http://schemas.openxmlformats.org/officeDocument/2006/relationships/image" Target="../media/image25.png"/><Relationship Id="rId28" Type="http://schemas.openxmlformats.org/officeDocument/2006/relationships/image" Target="../media/image30.jpeg"/><Relationship Id="rId36" Type="http://schemas.openxmlformats.org/officeDocument/2006/relationships/image" Target="../media/image38.png"/><Relationship Id="rId49" Type="http://schemas.openxmlformats.org/officeDocument/2006/relationships/image" Target="../media/image51.png"/><Relationship Id="rId57" Type="http://schemas.openxmlformats.org/officeDocument/2006/relationships/image" Target="../media/image59.png"/><Relationship Id="rId61" Type="http://schemas.openxmlformats.org/officeDocument/2006/relationships/image" Target="../media/image63.png"/><Relationship Id="rId10" Type="http://schemas.openxmlformats.org/officeDocument/2006/relationships/image" Target="../media/image14.png"/><Relationship Id="rId19" Type="http://schemas.openxmlformats.org/officeDocument/2006/relationships/image" Target="../media/image21.png"/><Relationship Id="rId31" Type="http://schemas.openxmlformats.org/officeDocument/2006/relationships/image" Target="../media/image33.jpeg"/><Relationship Id="rId44" Type="http://schemas.openxmlformats.org/officeDocument/2006/relationships/image" Target="../media/image46.png"/><Relationship Id="rId52" Type="http://schemas.openxmlformats.org/officeDocument/2006/relationships/image" Target="../media/image54.png"/><Relationship Id="rId60" Type="http://schemas.openxmlformats.org/officeDocument/2006/relationships/image" Target="../media/image62.png"/><Relationship Id="rId4" Type="http://schemas.openxmlformats.org/officeDocument/2006/relationships/image" Target="../media/image8.png"/><Relationship Id="rId9" Type="http://schemas.openxmlformats.org/officeDocument/2006/relationships/image" Target="../media/image13.png"/><Relationship Id="rId14" Type="http://schemas.openxmlformats.org/officeDocument/2006/relationships/hyperlink" Target="http://www.multicorewareinc.com/index.php" TargetMode="External"/><Relationship Id="rId22" Type="http://schemas.openxmlformats.org/officeDocument/2006/relationships/image" Target="../media/image24.png"/><Relationship Id="rId27" Type="http://schemas.openxmlformats.org/officeDocument/2006/relationships/image" Target="../media/image29.jpeg"/><Relationship Id="rId30" Type="http://schemas.openxmlformats.org/officeDocument/2006/relationships/image" Target="../media/image32.jpeg"/><Relationship Id="rId35" Type="http://schemas.openxmlformats.org/officeDocument/2006/relationships/image" Target="../media/image37.png"/><Relationship Id="rId43" Type="http://schemas.openxmlformats.org/officeDocument/2006/relationships/image" Target="../media/image45.jpeg"/><Relationship Id="rId48" Type="http://schemas.openxmlformats.org/officeDocument/2006/relationships/image" Target="../media/image50.png"/><Relationship Id="rId56" Type="http://schemas.openxmlformats.org/officeDocument/2006/relationships/image" Target="../media/image58.png"/><Relationship Id="rId8" Type="http://schemas.openxmlformats.org/officeDocument/2006/relationships/image" Target="../media/image12.png"/><Relationship Id="rId51" Type="http://schemas.openxmlformats.org/officeDocument/2006/relationships/image" Target="../media/image53.png"/><Relationship Id="rId3" Type="http://schemas.openxmlformats.org/officeDocument/2006/relationships/image" Target="../media/image7.png"/><Relationship Id="rId12" Type="http://schemas.openxmlformats.org/officeDocument/2006/relationships/hyperlink" Target="http://www.apical.co.uk/" TargetMode="External"/><Relationship Id="rId17" Type="http://schemas.openxmlformats.org/officeDocument/2006/relationships/image" Target="../media/image19.png"/><Relationship Id="rId25" Type="http://schemas.openxmlformats.org/officeDocument/2006/relationships/image" Target="../media/image27.png"/><Relationship Id="rId33" Type="http://schemas.openxmlformats.org/officeDocument/2006/relationships/image" Target="../media/image35.jpeg"/><Relationship Id="rId38" Type="http://schemas.openxmlformats.org/officeDocument/2006/relationships/image" Target="../media/image40.png"/><Relationship Id="rId46" Type="http://schemas.openxmlformats.org/officeDocument/2006/relationships/image" Target="../media/image48.png"/><Relationship Id="rId59" Type="http://schemas.openxmlformats.org/officeDocument/2006/relationships/image" Target="../media/image6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://www.hsafoundation.com/standards" TargetMode="External"/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7.jpe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8.jpe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jpe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jpeg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323528" y="1412776"/>
            <a:ext cx="8424936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TW" sz="4000" dirty="0" err="1" smtClean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</a:rPr>
              <a:t>HSAemu</a:t>
            </a:r>
            <a:r>
              <a:rPr lang="en-US" altLang="zh-TW" sz="4000" dirty="0" smtClean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</a:rPr>
              <a:t> - A Full System Emulator for HSA Platform</a:t>
            </a:r>
          </a:p>
        </p:txBody>
      </p:sp>
      <p:sp>
        <p:nvSpPr>
          <p:cNvPr id="2" name="矩形 1"/>
          <p:cNvSpPr/>
          <p:nvPr/>
        </p:nvSpPr>
        <p:spPr>
          <a:xfrm>
            <a:off x="1447800" y="3717032"/>
            <a:ext cx="609600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TW" sz="2400" dirty="0" smtClean="0">
                <a:ea typeface="標楷體" pitchFamily="65" charset="-120"/>
                <a:cs typeface="Calibri" pitchFamily="34" charset="0"/>
                <a:sym typeface="BiauKai" charset="0"/>
              </a:rPr>
              <a:t>Prof. </a:t>
            </a:r>
            <a:r>
              <a:rPr lang="en-US" altLang="zh-TW" sz="2400" dirty="0" err="1" smtClean="0">
                <a:ea typeface="標楷體" pitchFamily="65" charset="-120"/>
                <a:cs typeface="Calibri" pitchFamily="34" charset="0"/>
                <a:sym typeface="BiauKai" charset="0"/>
              </a:rPr>
              <a:t>Yeh-Ching</a:t>
            </a:r>
            <a:r>
              <a:rPr lang="en-US" altLang="zh-TW" sz="2400" dirty="0" smtClean="0">
                <a:ea typeface="標楷體" pitchFamily="65" charset="-120"/>
                <a:cs typeface="Calibri" pitchFamily="34" charset="0"/>
                <a:sym typeface="BiauKai" charset="0"/>
              </a:rPr>
              <a:t> Chung</a:t>
            </a:r>
          </a:p>
          <a:p>
            <a:pPr algn="ctr"/>
            <a:endParaRPr lang="zh-TW" altLang="en-US" sz="2400" dirty="0">
              <a:latin typeface="標楷體" pitchFamily="65" charset="-120"/>
              <a:ea typeface="標楷體" pitchFamily="65" charset="-120"/>
              <a:sym typeface="BiauKai" charset="0"/>
            </a:endParaRPr>
          </a:p>
          <a:p>
            <a:pPr algn="ctr"/>
            <a:r>
              <a:rPr lang="en-US" altLang="zh-TW" sz="2400" dirty="0" smtClean="0"/>
              <a:t>System Software Laboratory</a:t>
            </a:r>
          </a:p>
          <a:p>
            <a:pPr algn="ctr"/>
            <a:r>
              <a:rPr lang="en-US" altLang="zh-TW" sz="2400" dirty="0" smtClean="0"/>
              <a:t>Department of Computer science </a:t>
            </a:r>
          </a:p>
          <a:p>
            <a:pPr algn="ctr"/>
            <a:r>
              <a:rPr lang="en-US" altLang="zh-TW" sz="2400" dirty="0" smtClean="0"/>
              <a:t>National </a:t>
            </a:r>
            <a:r>
              <a:rPr lang="en-US" altLang="zh-TW" sz="2400" dirty="0" err="1" smtClean="0"/>
              <a:t>Tsing</a:t>
            </a:r>
            <a:r>
              <a:rPr lang="en-US" altLang="zh-TW" sz="2400" dirty="0" smtClean="0"/>
              <a:t> </a:t>
            </a:r>
            <a:r>
              <a:rPr lang="en-US" altLang="zh-TW" sz="2400" dirty="0" err="1" smtClean="0"/>
              <a:t>Hua</a:t>
            </a:r>
            <a:r>
              <a:rPr lang="en-US" altLang="zh-TW" sz="2400" dirty="0" smtClean="0"/>
              <a:t> University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B29114A-B703-401B-BA0D-79DCAE1EDB51}" type="slidenum">
              <a:rPr lang="en-US" altLang="zh-TW" smtClean="0">
                <a:solidFill>
                  <a:schemeClr val="bg1"/>
                </a:solidFill>
              </a:rPr>
              <a:pPr>
                <a:defRPr/>
              </a:pPr>
              <a:t>1</a:t>
            </a:fld>
            <a:endParaRPr lang="en-US" altLang="zh-TW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55728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Outline</a:t>
            </a:r>
            <a:endParaRPr lang="zh-TW" altLang="en-US" dirty="0"/>
          </a:p>
        </p:txBody>
      </p:sp>
      <p:sp>
        <p:nvSpPr>
          <p:cNvPr id="4" name="內容版面配置區 3"/>
          <p:cNvSpPr>
            <a:spLocks noGrp="1"/>
          </p:cNvSpPr>
          <p:nvPr>
            <p:ph idx="1"/>
          </p:nvPr>
        </p:nvSpPr>
        <p:spPr>
          <a:xfrm>
            <a:off x="457200" y="1341562"/>
            <a:ext cx="8229600" cy="3023542"/>
          </a:xfrm>
        </p:spPr>
        <p:txBody>
          <a:bodyPr/>
          <a:lstStyle/>
          <a:p>
            <a:r>
              <a:rPr lang="en-US" altLang="zh-TW" dirty="0" smtClean="0"/>
              <a:t>Introduction to HSA</a:t>
            </a:r>
          </a:p>
          <a:p>
            <a:r>
              <a:rPr lang="en-US" altLang="zh-TW" dirty="0" smtClean="0"/>
              <a:t>Design of </a:t>
            </a:r>
            <a:r>
              <a:rPr lang="en-US" altLang="zh-TW" dirty="0" err="1" smtClean="0"/>
              <a:t>HSAemu</a:t>
            </a:r>
            <a:endParaRPr lang="en-US" altLang="zh-TW" dirty="0" smtClean="0"/>
          </a:p>
          <a:p>
            <a:r>
              <a:rPr lang="en-US" altLang="zh-TW" dirty="0" smtClean="0"/>
              <a:t>Performance Evaluation</a:t>
            </a:r>
          </a:p>
          <a:p>
            <a:r>
              <a:rPr lang="en-US" altLang="zh-TW" dirty="0" smtClean="0"/>
              <a:t>Conclusions and Future Work</a:t>
            </a: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A9115C5-2FF4-4A45-B75E-C3C89F0A7A51}" type="slidenum">
              <a:rPr lang="en-US" altLang="zh-TW" smtClean="0">
                <a:solidFill>
                  <a:schemeClr val="bg1"/>
                </a:solidFill>
              </a:rPr>
              <a:pPr>
                <a:defRPr/>
              </a:pPr>
              <a:t>2</a:t>
            </a:fld>
            <a:endParaRPr lang="en-US" altLang="zh-TW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7234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152718"/>
            <a:ext cx="7715200" cy="900018"/>
          </a:xfrm>
        </p:spPr>
        <p:txBody>
          <a:bodyPr/>
          <a:lstStyle/>
          <a:p>
            <a:r>
              <a:rPr lang="en-US" altLang="zh-TW" dirty="0"/>
              <a:t>Introduction </a:t>
            </a:r>
            <a:r>
              <a:rPr lang="en-US" altLang="zh-TW" dirty="0" smtClean="0"/>
              <a:t>to </a:t>
            </a:r>
            <a:r>
              <a:rPr lang="en-US" altLang="zh-TW" dirty="0"/>
              <a:t>HSA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196752"/>
            <a:ext cx="8229600" cy="4536504"/>
          </a:xfrm>
        </p:spPr>
        <p:txBody>
          <a:bodyPr/>
          <a:lstStyle/>
          <a:p>
            <a:r>
              <a:rPr lang="en-US" altLang="zh-TW" sz="2400" dirty="0" smtClean="0"/>
              <a:t>HSA Foundation is a non-profit industry standards body to create software/hardware standards for heterogeneous computing </a:t>
            </a:r>
          </a:p>
          <a:p>
            <a:pPr lvl="1"/>
            <a:r>
              <a:rPr lang="en-US" altLang="zh-TW" sz="2000" dirty="0" smtClean="0"/>
              <a:t>simplify </a:t>
            </a:r>
            <a:r>
              <a:rPr lang="en-US" altLang="zh-TW" sz="2000" dirty="0"/>
              <a:t>the programing environment</a:t>
            </a:r>
          </a:p>
          <a:p>
            <a:pPr lvl="1"/>
            <a:r>
              <a:rPr lang="en-US" altLang="zh-TW" sz="2000" dirty="0"/>
              <a:t>make compute at low power pervasive</a:t>
            </a:r>
          </a:p>
          <a:p>
            <a:pPr lvl="1"/>
            <a:r>
              <a:rPr lang="en-US" altLang="zh-TW" sz="2000" dirty="0"/>
              <a:t>introduce new capabilities in modern computing devices</a:t>
            </a:r>
            <a:r>
              <a:rPr lang="en-US" altLang="zh-TW" dirty="0"/>
              <a:t> </a:t>
            </a:r>
            <a:endParaRPr lang="en-US" altLang="zh-TW" dirty="0" smtClean="0"/>
          </a:p>
          <a:p>
            <a:r>
              <a:rPr lang="en-US" altLang="zh-TW" sz="2400" dirty="0" smtClean="0"/>
              <a:t>Core founders include </a:t>
            </a:r>
            <a:r>
              <a:rPr lang="en-US" altLang="zh-TW" sz="2400" dirty="0"/>
              <a:t>AMD, ARM, Imagination Technology, </a:t>
            </a:r>
            <a:r>
              <a:rPr lang="en-US" altLang="zh-TW" sz="2400" dirty="0" err="1"/>
              <a:t>MediaTek</a:t>
            </a:r>
            <a:r>
              <a:rPr lang="en-US" altLang="zh-TW" sz="2400" dirty="0"/>
              <a:t>, Qualcomm, Samsung, and Texas </a:t>
            </a:r>
            <a:r>
              <a:rPr lang="en-US" altLang="zh-TW" sz="2400" dirty="0" smtClean="0"/>
              <a:t>Instruments</a:t>
            </a:r>
          </a:p>
          <a:p>
            <a:r>
              <a:rPr lang="en-US" altLang="zh-TW" sz="2400" dirty="0" smtClean="0"/>
              <a:t>Open membership to deliver royalty free specifications, and API’s</a:t>
            </a:r>
          </a:p>
          <a:p>
            <a:r>
              <a:rPr lang="en-US" altLang="zh-TW" sz="2400" dirty="0" smtClean="0"/>
              <a:t>Founded </a:t>
            </a:r>
            <a:r>
              <a:rPr lang="en-US" altLang="zh-TW" sz="2400" dirty="0"/>
              <a:t>June 12, 2012 </a:t>
            </a:r>
          </a:p>
        </p:txBody>
      </p:sp>
      <p:sp>
        <p:nvSpPr>
          <p:cNvPr id="6" name="投影片編號版面配置區 4"/>
          <p:cNvSpPr>
            <a:spLocks noGrp="1"/>
          </p:cNvSpPr>
          <p:nvPr>
            <p:ph type="sldNum" sz="quarter" idx="10"/>
          </p:nvPr>
        </p:nvSpPr>
        <p:spPr>
          <a:xfrm>
            <a:off x="6831013" y="6524625"/>
            <a:ext cx="2133600" cy="339725"/>
          </a:xfrm>
        </p:spPr>
        <p:txBody>
          <a:bodyPr/>
          <a:lstStyle/>
          <a:p>
            <a:pPr>
              <a:defRPr/>
            </a:pPr>
            <a:fld id="{1A9115C5-2FF4-4A45-B75E-C3C89F0A7A51}" type="slidenum">
              <a:rPr lang="en-US" altLang="zh-TW" smtClean="0">
                <a:solidFill>
                  <a:schemeClr val="bg1"/>
                </a:solidFill>
              </a:rPr>
              <a:pPr>
                <a:defRPr/>
              </a:pPr>
              <a:t>3</a:t>
            </a:fld>
            <a:endParaRPr lang="en-US" altLang="zh-TW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921342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1" y="228599"/>
            <a:ext cx="6934200" cy="608013"/>
          </a:xfrm>
          <a:ln/>
        </p:spPr>
        <p:txBody>
          <a:bodyPr/>
          <a:lstStyle/>
          <a:p>
            <a:r>
              <a:rPr lang="en-US" altLang="zh-TW" sz="3200" b="0" dirty="0" smtClean="0">
                <a:effectLst>
                  <a:outerShdw blurRad="38100" dist="38100" dir="2700000" algn="tl">
                    <a:srgbClr val="808080"/>
                  </a:outerShdw>
                </a:effectLst>
              </a:rPr>
              <a:t>Members of HSA Foundation – 2014/6</a:t>
            </a:r>
            <a:endParaRPr lang="en-US" altLang="zh-TW" sz="3200" b="0" dirty="0">
              <a:effectLst>
                <a:outerShdw blurRad="38100" dist="38100" dir="2700000" algn="tl">
                  <a:srgbClr val="808080"/>
                </a:outerShdw>
              </a:effectLst>
            </a:endParaRPr>
          </a:p>
        </p:txBody>
      </p:sp>
      <p:sp>
        <p:nvSpPr>
          <p:cNvPr id="7" name="投影片編號版面配置區 4"/>
          <p:cNvSpPr>
            <a:spLocks noGrp="1"/>
          </p:cNvSpPr>
          <p:nvPr>
            <p:ph type="sldNum" sz="quarter" idx="10"/>
          </p:nvPr>
        </p:nvSpPr>
        <p:spPr>
          <a:xfrm>
            <a:off x="6831013" y="6524625"/>
            <a:ext cx="2133600" cy="339725"/>
          </a:xfrm>
        </p:spPr>
        <p:txBody>
          <a:bodyPr/>
          <a:lstStyle/>
          <a:p>
            <a:pPr>
              <a:defRPr/>
            </a:pPr>
            <a:fld id="{1A9115C5-2FF4-4A45-B75E-C3C89F0A7A51}" type="slidenum">
              <a:rPr lang="en-US" altLang="zh-TW" smtClean="0">
                <a:solidFill>
                  <a:schemeClr val="bg1"/>
                </a:solidFill>
              </a:rPr>
              <a:pPr>
                <a:defRPr/>
              </a:pPr>
              <a:t>4</a:t>
            </a:fld>
            <a:endParaRPr lang="en-US" altLang="zh-TW" dirty="0">
              <a:solidFill>
                <a:schemeClr val="bg1"/>
              </a:solidFill>
            </a:endParaRPr>
          </a:p>
        </p:txBody>
      </p:sp>
      <p:grpSp>
        <p:nvGrpSpPr>
          <p:cNvPr id="8" name="群組 7"/>
          <p:cNvGrpSpPr/>
          <p:nvPr/>
        </p:nvGrpSpPr>
        <p:grpSpPr>
          <a:xfrm>
            <a:off x="139608" y="2133600"/>
            <a:ext cx="8851992" cy="3853754"/>
            <a:chOff x="77761" y="971550"/>
            <a:chExt cx="8851992" cy="3853754"/>
          </a:xfrm>
        </p:grpSpPr>
        <p:pic>
          <p:nvPicPr>
            <p:cNvPr id="9" name="Picture 9" descr="http://hsafoundation.com/wp-content/uploads/2012/11/tensilica.png"/>
            <p:cNvPicPr>
              <a:picLocks noChangeAspect="1" noChangeArrowheads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808" t="134" r="14060"/>
            <a:stretch/>
          </p:blipFill>
          <p:spPr bwMode="auto">
            <a:xfrm>
              <a:off x="2044888" y="3649434"/>
              <a:ext cx="801617" cy="3567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" name="Picture 5" descr="http://hsafoundation.com/wp-content/uploads/2012/11/SystemSoftwareLab.png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87606" y="4149097"/>
              <a:ext cx="1143000" cy="3571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1" name="Picture 3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61883" y="4142299"/>
              <a:ext cx="1143000" cy="3571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2" name="Picture 25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45169" y="1906190"/>
              <a:ext cx="1645444" cy="36076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3" name="Picture 26"/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33081" y="1464338"/>
              <a:ext cx="1298106" cy="4419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4" name="Picture 27"/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175269" y="1011820"/>
              <a:ext cx="1448991" cy="4012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5" name="TextBox 12"/>
            <p:cNvSpPr txBox="1">
              <a:spLocks noChangeArrowheads="1"/>
            </p:cNvSpPr>
            <p:nvPr/>
          </p:nvSpPr>
          <p:spPr bwMode="auto">
            <a:xfrm>
              <a:off x="106062" y="1261175"/>
              <a:ext cx="915635" cy="3000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sz="1350" dirty="0"/>
                <a:t>Founders</a:t>
              </a:r>
            </a:p>
          </p:txBody>
        </p:sp>
        <p:cxnSp>
          <p:nvCxnSpPr>
            <p:cNvPr id="16" name="Straight Connector 15"/>
            <p:cNvCxnSpPr/>
            <p:nvPr/>
          </p:nvCxnSpPr>
          <p:spPr>
            <a:xfrm>
              <a:off x="1442177" y="1885950"/>
              <a:ext cx="6410325" cy="0"/>
            </a:xfrm>
            <a:prstGeom prst="line">
              <a:avLst/>
            </a:prstGeom>
            <a:ln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Box 16"/>
            <p:cNvSpPr txBox="1">
              <a:spLocks noChangeArrowheads="1"/>
            </p:cNvSpPr>
            <p:nvPr/>
          </p:nvSpPr>
          <p:spPr bwMode="auto">
            <a:xfrm>
              <a:off x="77761" y="1917618"/>
              <a:ext cx="982961" cy="3000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sz="1350" dirty="0"/>
                <a:t>Promoters</a:t>
              </a:r>
            </a:p>
          </p:txBody>
        </p:sp>
        <p:sp>
          <p:nvSpPr>
            <p:cNvPr id="18" name="TextBox 17"/>
            <p:cNvSpPr txBox="1">
              <a:spLocks noChangeArrowheads="1"/>
            </p:cNvSpPr>
            <p:nvPr/>
          </p:nvSpPr>
          <p:spPr bwMode="auto">
            <a:xfrm>
              <a:off x="77761" y="2559304"/>
              <a:ext cx="2492990" cy="3000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sz="1350" dirty="0"/>
                <a:t>Supporters		       		</a:t>
              </a:r>
            </a:p>
          </p:txBody>
        </p:sp>
        <p:pic>
          <p:nvPicPr>
            <p:cNvPr id="19" name="Picture 31"/>
            <p:cNvPicPr>
              <a:picLocks noChangeAspect="1" noChangeArrowheads="1"/>
            </p:cNvPicPr>
            <p:nvPr/>
          </p:nvPicPr>
          <p:blipFill rotWithShape="1"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771" r="5256"/>
            <a:stretch/>
          </p:blipFill>
          <p:spPr bwMode="auto">
            <a:xfrm>
              <a:off x="2103085" y="2264277"/>
              <a:ext cx="729973" cy="25964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20" name="Picture 34"/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93493" y="3308197"/>
              <a:ext cx="627460" cy="3405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21" name="Picture 35"/>
            <p:cNvPicPr>
              <a:picLocks noChangeAspect="1" noChangeArrowheads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74181" y="3323955"/>
              <a:ext cx="858441" cy="2690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22" name="Picture 36"/>
            <p:cNvPicPr>
              <a:picLocks noChangeAspect="1" noChangeArrowheads="1"/>
            </p:cNvPicPr>
            <p:nvPr/>
          </p:nvPicPr>
          <p:blipFill rotWithShape="1"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582" r="10461" b="6376"/>
            <a:stretch/>
          </p:blipFill>
          <p:spPr bwMode="auto">
            <a:xfrm>
              <a:off x="6114599" y="3043557"/>
              <a:ext cx="626288" cy="2508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cxnSp>
          <p:nvCxnSpPr>
            <p:cNvPr id="23" name="Straight Connector 24"/>
            <p:cNvCxnSpPr/>
            <p:nvPr/>
          </p:nvCxnSpPr>
          <p:spPr>
            <a:xfrm>
              <a:off x="1401643" y="2975856"/>
              <a:ext cx="6410325" cy="0"/>
            </a:xfrm>
            <a:prstGeom prst="line">
              <a:avLst/>
            </a:prstGeom>
            <a:ln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TextBox 26"/>
            <p:cNvSpPr txBox="1">
              <a:spLocks noChangeArrowheads="1"/>
            </p:cNvSpPr>
            <p:nvPr/>
          </p:nvSpPr>
          <p:spPr bwMode="auto">
            <a:xfrm>
              <a:off x="77761" y="3267683"/>
              <a:ext cx="1348114" cy="7155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sz="1350" dirty="0"/>
                <a:t>Contributors				</a:t>
              </a:r>
            </a:p>
          </p:txBody>
        </p:sp>
        <p:pic>
          <p:nvPicPr>
            <p:cNvPr id="25" name="Picture 40" descr="Apical">
              <a:hlinkClick r:id="rId12" tooltip="Apical : Advanced Imaging"/>
            </p:cNvPr>
            <p:cNvPicPr>
              <a:picLocks noChangeAspect="1" noChangeArrowheads="1"/>
            </p:cNvPicPr>
            <p:nvPr/>
          </p:nvPicPr>
          <p:blipFill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42995" y="3064199"/>
              <a:ext cx="707231" cy="1928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6" name="Picture 43" descr="http://www.multicorewareinc.com/templates/theme495/images/mcw-logo.png">
              <a:hlinkClick r:id="rId14"/>
            </p:cNvPr>
            <p:cNvPicPr>
              <a:picLocks noChangeAspect="1" noChangeArrowheads="1"/>
            </p:cNvPicPr>
            <p:nvPr/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05602" y="2657743"/>
              <a:ext cx="919704" cy="2747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cxnSp>
          <p:nvCxnSpPr>
            <p:cNvPr id="27" name="Straight Connector 29"/>
            <p:cNvCxnSpPr/>
            <p:nvPr/>
          </p:nvCxnSpPr>
          <p:spPr>
            <a:xfrm>
              <a:off x="1260083" y="4054961"/>
              <a:ext cx="6381750" cy="0"/>
            </a:xfrm>
            <a:prstGeom prst="line">
              <a:avLst/>
            </a:prstGeom>
            <a:ln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Box 30"/>
            <p:cNvSpPr txBox="1">
              <a:spLocks noChangeArrowheads="1"/>
            </p:cNvSpPr>
            <p:nvPr/>
          </p:nvSpPr>
          <p:spPr bwMode="auto">
            <a:xfrm>
              <a:off x="113410" y="4141680"/>
              <a:ext cx="1565916" cy="5078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sz="1350" dirty="0"/>
                <a:t>Academic				</a:t>
              </a:r>
            </a:p>
          </p:txBody>
        </p:sp>
        <p:pic>
          <p:nvPicPr>
            <p:cNvPr id="29" name="Picture 2"/>
            <p:cNvPicPr>
              <a:picLocks noChangeAspect="1" noChangeArrowheads="1"/>
            </p:cNvPicPr>
            <p:nvPr/>
          </p:nvPicPr>
          <p:blipFill>
            <a:blip r:embed="rId1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77584" y="3674179"/>
              <a:ext cx="1143000" cy="3571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30" name="Picture 11" descr="http://hsafoundation.com/wp-content/uploads/2012/05/amd.png"/>
            <p:cNvPicPr>
              <a:picLocks noChangeAspect="1" noChangeArrowheads="1"/>
            </p:cNvPicPr>
            <p:nvPr/>
          </p:nvPicPr>
          <p:blipFill rotWithShape="1">
            <a:blip r:embed="rId1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4368"/>
            <a:stretch/>
          </p:blipFill>
          <p:spPr bwMode="auto">
            <a:xfrm>
              <a:off x="1160863" y="971550"/>
              <a:ext cx="1696640" cy="4537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1" name="Picture 13" descr="http://hsafoundation.com/wp-content/uploads/2012/06/thumb_arm.png"/>
            <p:cNvPicPr>
              <a:picLocks noChangeAspect="1" noChangeArrowheads="1"/>
            </p:cNvPicPr>
            <p:nvPr/>
          </p:nvPicPr>
          <p:blipFill rotWithShape="1">
            <a:blip r:embed="rId1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1542" b="10028"/>
            <a:stretch/>
          </p:blipFill>
          <p:spPr bwMode="auto">
            <a:xfrm>
              <a:off x="2743200" y="971550"/>
              <a:ext cx="1552575" cy="381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2" name="Picture 17" descr="http://hsafoundation.com/wp-content/uploads/2012/06/thumb_texasinstruments.png"/>
            <p:cNvPicPr>
              <a:picLocks noChangeAspect="1" noChangeArrowheads="1"/>
            </p:cNvPicPr>
            <p:nvPr/>
          </p:nvPicPr>
          <p:blipFill>
            <a:blip r:embed="rId1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606540" y="1399044"/>
              <a:ext cx="1401366" cy="438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3" name="Picture 18"/>
            <p:cNvPicPr>
              <a:picLocks noChangeAspect="1" noChangeArrowheads="1"/>
            </p:cNvPicPr>
            <p:nvPr/>
          </p:nvPicPr>
          <p:blipFill>
            <a:blip r:embed="rId2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94115" y="1406802"/>
              <a:ext cx="1182248" cy="3952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34" name="Picture 2"/>
            <p:cNvPicPr>
              <a:picLocks noChangeAspect="1" noChangeArrowheads="1"/>
            </p:cNvPicPr>
            <p:nvPr/>
          </p:nvPicPr>
          <p:blipFill>
            <a:blip r:embed="rId2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49735" y="2674507"/>
              <a:ext cx="914414" cy="2857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35" name="Picture 3"/>
            <p:cNvPicPr>
              <a:picLocks noChangeAspect="1" noChangeArrowheads="1"/>
            </p:cNvPicPr>
            <p:nvPr/>
          </p:nvPicPr>
          <p:blipFill>
            <a:blip r:embed="rId2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61512" y="2307791"/>
              <a:ext cx="875687" cy="2736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36" name="Picture 6"/>
            <p:cNvPicPr>
              <a:picLocks noChangeAspect="1" noChangeArrowheads="1"/>
            </p:cNvPicPr>
            <p:nvPr/>
          </p:nvPicPr>
          <p:blipFill>
            <a:blip r:embed="rId2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57641" y="4134709"/>
              <a:ext cx="937256" cy="2928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37" name="Picture 7"/>
            <p:cNvPicPr>
              <a:picLocks noChangeAspect="1" noChangeArrowheads="1"/>
            </p:cNvPicPr>
            <p:nvPr/>
          </p:nvPicPr>
          <p:blipFill>
            <a:blip r:embed="rId2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55092" y="4130922"/>
              <a:ext cx="1004897" cy="3140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38" name="Picture 8"/>
            <p:cNvPicPr>
              <a:picLocks noChangeAspect="1" noChangeArrowheads="1"/>
            </p:cNvPicPr>
            <p:nvPr/>
          </p:nvPicPr>
          <p:blipFill>
            <a:blip r:embed="rId2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893992" y="4190184"/>
              <a:ext cx="1015258" cy="3172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39" name="Picture 9"/>
            <p:cNvPicPr>
              <a:picLocks noChangeAspect="1"/>
            </p:cNvPicPr>
            <p:nvPr/>
          </p:nvPicPr>
          <p:blipFill rotWithShape="1">
            <a:blip r:embed="rId2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8398" b="19282"/>
            <a:stretch/>
          </p:blipFill>
          <p:spPr bwMode="auto">
            <a:xfrm>
              <a:off x="2190683" y="3284398"/>
              <a:ext cx="631293" cy="322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0" name="Picture 2" descr="C:\Users\mseibert\AppData\Local\Microsoft\Windows\Temporary Internet Files\Content.Outlook\1Z3RMBLD\Make_Believe_SB.jpg"/>
            <p:cNvPicPr>
              <a:picLocks noChangeAspect="1" noChangeArrowheads="1"/>
            </p:cNvPicPr>
            <p:nvPr/>
          </p:nvPicPr>
          <p:blipFill>
            <a:blip r:embed="rId2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704760" y="3374487"/>
              <a:ext cx="623567" cy="21373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" name="Picture 44"/>
            <p:cNvPicPr>
              <a:picLocks noChangeAspect="1"/>
            </p:cNvPicPr>
            <p:nvPr/>
          </p:nvPicPr>
          <p:blipFill>
            <a:blip r:embed="rId2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66378" y="3306223"/>
              <a:ext cx="866775" cy="2917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2" name="Picture 2"/>
            <p:cNvPicPr>
              <a:picLocks noChangeAspect="1" noChangeArrowheads="1"/>
            </p:cNvPicPr>
            <p:nvPr/>
          </p:nvPicPr>
          <p:blipFill rotWithShape="1">
            <a:blip r:embed="rId2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73425"/>
            <a:stretch/>
          </p:blipFill>
          <p:spPr bwMode="auto">
            <a:xfrm>
              <a:off x="2486536" y="3032987"/>
              <a:ext cx="742950" cy="2278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43" name="Picture 9"/>
            <p:cNvPicPr>
              <a:picLocks noChangeAspect="1"/>
            </p:cNvPicPr>
            <p:nvPr/>
          </p:nvPicPr>
          <p:blipFill>
            <a:blip r:embed="rId3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450189" y="2646639"/>
              <a:ext cx="693312" cy="266216"/>
            </a:xfrm>
            <a:prstGeom prst="rect">
              <a:avLst/>
            </a:prstGeom>
          </p:spPr>
        </p:pic>
        <p:pic>
          <p:nvPicPr>
            <p:cNvPr id="44" name="Picture 4" descr="https://encrypted-tbn0.gstatic.com/images?q=tbn:ANd9GcQW-t1Jvhf60iJQAQB5yR4nGIsxjcMTb55Qd5SMyIgJwk0KYCIk"/>
            <p:cNvPicPr>
              <a:picLocks noChangeAspect="1" noChangeArrowheads="1"/>
            </p:cNvPicPr>
            <p:nvPr/>
          </p:nvPicPr>
          <p:blipFill>
            <a:blip r:embed="rId31" cstate="print">
              <a:clrChange>
                <a:clrFrom>
                  <a:srgbClr val="F1F8FF"/>
                </a:clrFrom>
                <a:clrTo>
                  <a:srgbClr val="F1F8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14194" y="4521336"/>
              <a:ext cx="757781" cy="30396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5" name="Picture 5"/>
            <p:cNvPicPr>
              <a:picLocks noChangeAspect="1" noChangeArrowheads="1"/>
            </p:cNvPicPr>
            <p:nvPr/>
          </p:nvPicPr>
          <p:blipFill>
            <a:blip r:embed="rId3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968752" y="4173524"/>
              <a:ext cx="326353" cy="3263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6" name="Picture 8"/>
            <p:cNvPicPr>
              <a:picLocks noChangeAspect="1"/>
            </p:cNvPicPr>
            <p:nvPr/>
          </p:nvPicPr>
          <p:blipFill>
            <a:blip r:embed="rId3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748030" y="3672283"/>
              <a:ext cx="554513" cy="306635"/>
            </a:xfrm>
            <a:prstGeom prst="rect">
              <a:avLst/>
            </a:prstGeom>
          </p:spPr>
        </p:pic>
        <p:pic>
          <p:nvPicPr>
            <p:cNvPr id="47" name="Picture 2"/>
            <p:cNvPicPr>
              <a:picLocks noChangeAspect="1" noChangeArrowheads="1"/>
            </p:cNvPicPr>
            <p:nvPr/>
          </p:nvPicPr>
          <p:blipFill>
            <a:blip r:embed="rId3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93220" y="3057310"/>
              <a:ext cx="695939" cy="2174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8" name="Picture 3"/>
            <p:cNvPicPr>
              <a:picLocks noChangeAspect="1" noChangeArrowheads="1"/>
            </p:cNvPicPr>
            <p:nvPr/>
          </p:nvPicPr>
          <p:blipFill>
            <a:blip r:embed="rId3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28955" y="3382326"/>
              <a:ext cx="785740" cy="2455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9" name="Picture 4"/>
            <p:cNvPicPr>
              <a:picLocks noChangeAspect="1" noChangeArrowheads="1"/>
            </p:cNvPicPr>
            <p:nvPr/>
          </p:nvPicPr>
          <p:blipFill>
            <a:blip r:embed="rId3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242577" y="3088173"/>
              <a:ext cx="746468" cy="3732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50" name="Picture 5"/>
            <p:cNvPicPr>
              <a:picLocks noChangeAspect="1" noChangeArrowheads="1"/>
            </p:cNvPicPr>
            <p:nvPr/>
          </p:nvPicPr>
          <p:blipFill rotWithShape="1">
            <a:blip r:embed="rId3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3905" b="25099"/>
            <a:stretch/>
          </p:blipFill>
          <p:spPr bwMode="auto">
            <a:xfrm>
              <a:off x="1234459" y="3706366"/>
              <a:ext cx="906404" cy="2688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51" name="Picture 2" descr="http://malideveloper.arm.com/wp-content/uploads/2012/10/kishonti-thumb.png"/>
            <p:cNvPicPr>
              <a:picLocks noChangeAspect="1" noChangeArrowheads="1"/>
            </p:cNvPicPr>
            <p:nvPr/>
          </p:nvPicPr>
          <p:blipFill rotWithShape="1">
            <a:blip r:embed="rId3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7652" t="13390" r="27159" b="13452"/>
            <a:stretch/>
          </p:blipFill>
          <p:spPr bwMode="auto">
            <a:xfrm>
              <a:off x="4009952" y="2292212"/>
              <a:ext cx="316037" cy="30480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2" name="Picture 2"/>
            <p:cNvPicPr>
              <a:picLocks noChangeAspect="1" noChangeArrowheads="1"/>
            </p:cNvPicPr>
            <p:nvPr/>
          </p:nvPicPr>
          <p:blipFill>
            <a:blip r:embed="rId3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19832" y="3685041"/>
              <a:ext cx="612905" cy="3166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53" name="Picture 59"/>
            <p:cNvPicPr>
              <a:picLocks noChangeAspect="1"/>
            </p:cNvPicPr>
            <p:nvPr/>
          </p:nvPicPr>
          <p:blipFill>
            <a:blip r:embed="rId4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04080" y="3695588"/>
              <a:ext cx="459188" cy="319127"/>
            </a:xfrm>
            <a:prstGeom prst="rect">
              <a:avLst/>
            </a:prstGeom>
          </p:spPr>
        </p:pic>
        <p:pic>
          <p:nvPicPr>
            <p:cNvPr id="54" name="Picture 2" descr="http://kowon.dongseo.ac.kr/%7Elbg/seminar/etri.png"/>
            <p:cNvPicPr>
              <a:picLocks noChangeAspect="1" noChangeArrowheads="1"/>
            </p:cNvPicPr>
            <p:nvPr/>
          </p:nvPicPr>
          <p:blipFill>
            <a:blip r:embed="rId4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951483" y="3032309"/>
              <a:ext cx="706129" cy="27330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5" name="Picture 4" descr="http://www.uctv.tv/images/campus/title_llnl.gif"/>
            <p:cNvPicPr>
              <a:picLocks noChangeAspect="1" noChangeArrowheads="1"/>
            </p:cNvPicPr>
            <p:nvPr/>
          </p:nvPicPr>
          <p:blipFill>
            <a:blip r:embed="rId4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74636" y="2301999"/>
              <a:ext cx="980858" cy="28523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6" name="Picture 6" descr="http://images.htcampus.com/media/uploads/images/institute/nmam-institute-technology/logo_NMAMIT.jpg"/>
            <p:cNvPicPr>
              <a:picLocks noChangeAspect="1" noChangeArrowheads="1"/>
            </p:cNvPicPr>
            <p:nvPr/>
          </p:nvPicPr>
          <p:blipFill>
            <a:blip r:embed="rId4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13099" y="4084668"/>
              <a:ext cx="472001" cy="47200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7" name="Picture 16"/>
            <p:cNvPicPr>
              <a:picLocks noChangeAspect="1"/>
            </p:cNvPicPr>
            <p:nvPr/>
          </p:nvPicPr>
          <p:blipFill>
            <a:blip r:embed="rId44" cstate="print"/>
            <a:stretch>
              <a:fillRect/>
            </a:stretch>
          </p:blipFill>
          <p:spPr>
            <a:xfrm>
              <a:off x="3579255" y="2666784"/>
              <a:ext cx="630406" cy="301202"/>
            </a:xfrm>
            <a:prstGeom prst="rect">
              <a:avLst/>
            </a:prstGeom>
          </p:spPr>
        </p:pic>
        <p:pic>
          <p:nvPicPr>
            <p:cNvPr id="58" name="Picture 17"/>
            <p:cNvPicPr>
              <a:picLocks noChangeAspect="1"/>
            </p:cNvPicPr>
            <p:nvPr/>
          </p:nvPicPr>
          <p:blipFill>
            <a:blip r:embed="rId45" cstate="print"/>
            <a:stretch>
              <a:fillRect/>
            </a:stretch>
          </p:blipFill>
          <p:spPr>
            <a:xfrm>
              <a:off x="6643951" y="2273564"/>
              <a:ext cx="893289" cy="336814"/>
            </a:xfrm>
            <a:prstGeom prst="rect">
              <a:avLst/>
            </a:prstGeom>
          </p:spPr>
        </p:pic>
        <p:pic>
          <p:nvPicPr>
            <p:cNvPr id="59" name="Picture 18"/>
            <p:cNvPicPr>
              <a:picLocks noChangeAspect="1"/>
            </p:cNvPicPr>
            <p:nvPr/>
          </p:nvPicPr>
          <p:blipFill>
            <a:blip r:embed="rId46" cstate="print"/>
            <a:stretch>
              <a:fillRect/>
            </a:stretch>
          </p:blipFill>
          <p:spPr>
            <a:xfrm>
              <a:off x="6066146" y="2600175"/>
              <a:ext cx="794243" cy="408540"/>
            </a:xfrm>
            <a:prstGeom prst="rect">
              <a:avLst/>
            </a:prstGeom>
          </p:spPr>
        </p:pic>
        <p:pic>
          <p:nvPicPr>
            <p:cNvPr id="60" name="Picture 19"/>
            <p:cNvPicPr>
              <a:picLocks noChangeAspect="1"/>
            </p:cNvPicPr>
            <p:nvPr/>
          </p:nvPicPr>
          <p:blipFill>
            <a:blip r:embed="rId47" cstate="print"/>
            <a:stretch>
              <a:fillRect/>
            </a:stretch>
          </p:blipFill>
          <p:spPr>
            <a:xfrm>
              <a:off x="6582722" y="3754279"/>
              <a:ext cx="1134825" cy="225164"/>
            </a:xfrm>
            <a:prstGeom prst="rect">
              <a:avLst/>
            </a:prstGeom>
          </p:spPr>
        </p:pic>
        <p:pic>
          <p:nvPicPr>
            <p:cNvPr id="61" name="Picture 6"/>
            <p:cNvPicPr>
              <a:picLocks noChangeAspect="1" noChangeArrowheads="1"/>
            </p:cNvPicPr>
            <p:nvPr/>
          </p:nvPicPr>
          <p:blipFill>
            <a:blip r:embed="rId4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523019" y="3285880"/>
              <a:ext cx="381596" cy="38014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62" name="Picture 14"/>
            <p:cNvPicPr>
              <a:picLocks noChangeAspect="1"/>
            </p:cNvPicPr>
            <p:nvPr/>
          </p:nvPicPr>
          <p:blipFill rotWithShape="1">
            <a:blip r:embed="rId4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8970" r="52201"/>
            <a:stretch/>
          </p:blipFill>
          <p:spPr>
            <a:xfrm>
              <a:off x="5233040" y="2611485"/>
              <a:ext cx="787544" cy="338909"/>
            </a:xfrm>
            <a:prstGeom prst="rect">
              <a:avLst/>
            </a:prstGeom>
          </p:spPr>
        </p:pic>
        <p:pic>
          <p:nvPicPr>
            <p:cNvPr id="63" name="Picture 20"/>
            <p:cNvPicPr>
              <a:picLocks noChangeAspect="1"/>
            </p:cNvPicPr>
            <p:nvPr/>
          </p:nvPicPr>
          <p:blipFill>
            <a:blip r:embed="rId5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81438" y="981304"/>
              <a:ext cx="1539532" cy="419873"/>
            </a:xfrm>
            <a:prstGeom prst="rect">
              <a:avLst/>
            </a:prstGeom>
          </p:spPr>
        </p:pic>
        <p:cxnSp>
          <p:nvCxnSpPr>
            <p:cNvPr id="64" name="Straight Connector 61"/>
            <p:cNvCxnSpPr/>
            <p:nvPr/>
          </p:nvCxnSpPr>
          <p:spPr>
            <a:xfrm>
              <a:off x="1480935" y="2259311"/>
              <a:ext cx="6410325" cy="0"/>
            </a:xfrm>
            <a:prstGeom prst="line">
              <a:avLst/>
            </a:prstGeom>
            <a:ln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65" name="Picture 2" descr="Allinea - Scale to New Heights"/>
            <p:cNvPicPr>
              <a:picLocks noChangeAspect="1" noChangeArrowheads="1"/>
            </p:cNvPicPr>
            <p:nvPr/>
          </p:nvPicPr>
          <p:blipFill>
            <a:blip r:embed="rId5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26812" y="2348967"/>
              <a:ext cx="829865" cy="1913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6" name="Picture 21"/>
            <p:cNvPicPr>
              <a:picLocks noChangeAspect="1"/>
            </p:cNvPicPr>
            <p:nvPr/>
          </p:nvPicPr>
          <p:blipFill>
            <a:blip r:embed="rId52" cstate="print"/>
            <a:stretch>
              <a:fillRect/>
            </a:stretch>
          </p:blipFill>
          <p:spPr>
            <a:xfrm>
              <a:off x="7837296" y="4108445"/>
              <a:ext cx="435941" cy="424895"/>
            </a:xfrm>
            <a:prstGeom prst="rect">
              <a:avLst/>
            </a:prstGeom>
          </p:spPr>
        </p:pic>
        <p:pic>
          <p:nvPicPr>
            <p:cNvPr id="67" name="Picture 22"/>
            <p:cNvPicPr>
              <a:picLocks noChangeAspect="1"/>
            </p:cNvPicPr>
            <p:nvPr/>
          </p:nvPicPr>
          <p:blipFill>
            <a:blip r:embed="rId53" cstate="print"/>
            <a:stretch>
              <a:fillRect/>
            </a:stretch>
          </p:blipFill>
          <p:spPr>
            <a:xfrm>
              <a:off x="2263720" y="4397004"/>
              <a:ext cx="286501" cy="406831"/>
            </a:xfrm>
            <a:prstGeom prst="rect">
              <a:avLst/>
            </a:prstGeom>
          </p:spPr>
        </p:pic>
        <p:pic>
          <p:nvPicPr>
            <p:cNvPr id="68" name="Picture 23"/>
            <p:cNvPicPr>
              <a:picLocks noChangeAspect="1"/>
            </p:cNvPicPr>
            <p:nvPr/>
          </p:nvPicPr>
          <p:blipFill>
            <a:blip r:embed="rId54" cstate="print"/>
            <a:stretch>
              <a:fillRect/>
            </a:stretch>
          </p:blipFill>
          <p:spPr>
            <a:xfrm>
              <a:off x="2977339" y="4483409"/>
              <a:ext cx="287493" cy="287493"/>
            </a:xfrm>
            <a:prstGeom prst="rect">
              <a:avLst/>
            </a:prstGeom>
          </p:spPr>
        </p:pic>
        <p:pic>
          <p:nvPicPr>
            <p:cNvPr id="69" name="Picture 25"/>
            <p:cNvPicPr>
              <a:picLocks noChangeAspect="1"/>
            </p:cNvPicPr>
            <p:nvPr/>
          </p:nvPicPr>
          <p:blipFill>
            <a:blip r:embed="rId55" cstate="print"/>
            <a:stretch>
              <a:fillRect/>
            </a:stretch>
          </p:blipFill>
          <p:spPr>
            <a:xfrm>
              <a:off x="8368115" y="4149097"/>
              <a:ext cx="561638" cy="421228"/>
            </a:xfrm>
            <a:prstGeom prst="rect">
              <a:avLst/>
            </a:prstGeom>
          </p:spPr>
        </p:pic>
        <p:pic>
          <p:nvPicPr>
            <p:cNvPr id="70" name="Picture 26"/>
            <p:cNvPicPr>
              <a:picLocks noChangeAspect="1"/>
            </p:cNvPicPr>
            <p:nvPr/>
          </p:nvPicPr>
          <p:blipFill>
            <a:blip r:embed="rId56" cstate="print"/>
            <a:stretch>
              <a:fillRect/>
            </a:stretch>
          </p:blipFill>
          <p:spPr>
            <a:xfrm>
              <a:off x="5094070" y="4409089"/>
              <a:ext cx="366746" cy="370064"/>
            </a:xfrm>
            <a:prstGeom prst="rect">
              <a:avLst/>
            </a:prstGeom>
          </p:spPr>
        </p:pic>
        <p:pic>
          <p:nvPicPr>
            <p:cNvPr id="71" name="Picture 27"/>
            <p:cNvPicPr>
              <a:picLocks noChangeAspect="1"/>
            </p:cNvPicPr>
            <p:nvPr/>
          </p:nvPicPr>
          <p:blipFill>
            <a:blip r:embed="rId57" cstate="print"/>
            <a:stretch>
              <a:fillRect/>
            </a:stretch>
          </p:blipFill>
          <p:spPr>
            <a:xfrm>
              <a:off x="5630451" y="4409617"/>
              <a:ext cx="517417" cy="392975"/>
            </a:xfrm>
            <a:prstGeom prst="rect">
              <a:avLst/>
            </a:prstGeom>
          </p:spPr>
        </p:pic>
        <p:pic>
          <p:nvPicPr>
            <p:cNvPr id="72" name="Picture 28"/>
            <p:cNvPicPr>
              <a:picLocks noChangeAspect="1"/>
            </p:cNvPicPr>
            <p:nvPr/>
          </p:nvPicPr>
          <p:blipFill>
            <a:blip r:embed="rId58" cstate="print"/>
            <a:stretch>
              <a:fillRect/>
            </a:stretch>
          </p:blipFill>
          <p:spPr>
            <a:xfrm>
              <a:off x="4152300" y="4419266"/>
              <a:ext cx="334673" cy="334673"/>
            </a:xfrm>
            <a:prstGeom prst="rect">
              <a:avLst/>
            </a:prstGeom>
          </p:spPr>
        </p:pic>
        <p:pic>
          <p:nvPicPr>
            <p:cNvPr id="73" name="Picture 30"/>
            <p:cNvPicPr>
              <a:picLocks noChangeAspect="1"/>
            </p:cNvPicPr>
            <p:nvPr/>
          </p:nvPicPr>
          <p:blipFill>
            <a:blip r:embed="rId59" cstate="print"/>
            <a:stretch>
              <a:fillRect/>
            </a:stretch>
          </p:blipFill>
          <p:spPr>
            <a:xfrm>
              <a:off x="7403478" y="4124719"/>
              <a:ext cx="358690" cy="358690"/>
            </a:xfrm>
            <a:prstGeom prst="rect">
              <a:avLst/>
            </a:prstGeom>
          </p:spPr>
        </p:pic>
        <p:sp>
          <p:nvSpPr>
            <p:cNvPr id="74" name="TextBox 7167"/>
            <p:cNvSpPr txBox="1"/>
            <p:nvPr/>
          </p:nvSpPr>
          <p:spPr>
            <a:xfrm>
              <a:off x="4319636" y="1188847"/>
              <a:ext cx="2830615" cy="5078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350" b="1" dirty="0">
                  <a:solidFill>
                    <a:schemeClr val="bg1"/>
                  </a:solidFill>
                </a:rPr>
                <a:t>Needs Updating – Add Toshiba Logo</a:t>
              </a:r>
            </a:p>
          </p:txBody>
        </p:sp>
        <p:pic>
          <p:nvPicPr>
            <p:cNvPr id="75" name="Picture 7168"/>
            <p:cNvPicPr>
              <a:picLocks noChangeAspect="1"/>
            </p:cNvPicPr>
            <p:nvPr/>
          </p:nvPicPr>
          <p:blipFill>
            <a:blip r:embed="rId60" cstate="print"/>
            <a:stretch>
              <a:fillRect/>
            </a:stretch>
          </p:blipFill>
          <p:spPr>
            <a:xfrm>
              <a:off x="6899765" y="2548637"/>
              <a:ext cx="955548" cy="434340"/>
            </a:xfrm>
            <a:prstGeom prst="rect">
              <a:avLst/>
            </a:prstGeom>
          </p:spPr>
        </p:pic>
        <p:pic>
          <p:nvPicPr>
            <p:cNvPr id="76" name="Picture 7172"/>
            <p:cNvPicPr>
              <a:picLocks noChangeAspect="1"/>
            </p:cNvPicPr>
            <p:nvPr/>
          </p:nvPicPr>
          <p:blipFill>
            <a:blip r:embed="rId61" cstate="print"/>
            <a:stretch>
              <a:fillRect/>
            </a:stretch>
          </p:blipFill>
          <p:spPr>
            <a:xfrm>
              <a:off x="2714256" y="3696879"/>
              <a:ext cx="1025129" cy="275035"/>
            </a:xfrm>
            <a:prstGeom prst="rect">
              <a:avLst/>
            </a:prstGeom>
          </p:spPr>
        </p:pic>
        <p:pic>
          <p:nvPicPr>
            <p:cNvPr id="77" name="Picture 7178"/>
            <p:cNvPicPr>
              <a:picLocks noChangeAspect="1"/>
            </p:cNvPicPr>
            <p:nvPr/>
          </p:nvPicPr>
          <p:blipFill>
            <a:blip r:embed="rId62" cstate="print"/>
            <a:stretch>
              <a:fillRect/>
            </a:stretch>
          </p:blipFill>
          <p:spPr>
            <a:xfrm>
              <a:off x="2942800" y="3276691"/>
              <a:ext cx="322184" cy="322184"/>
            </a:xfrm>
            <a:prstGeom prst="rect">
              <a:avLst/>
            </a:prstGeom>
          </p:spPr>
        </p:pic>
      </p:grpSp>
      <p:sp>
        <p:nvSpPr>
          <p:cNvPr id="78" name="矩形 77"/>
          <p:cNvSpPr/>
          <p:nvPr/>
        </p:nvSpPr>
        <p:spPr bwMode="auto">
          <a:xfrm>
            <a:off x="2590800" y="5316070"/>
            <a:ext cx="914400" cy="304800"/>
          </a:xfrm>
          <a:prstGeom prst="rect">
            <a:avLst/>
          </a:prstGeom>
          <a:noFill/>
          <a:ln w="158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79" name="Content Placeholder 2"/>
          <p:cNvSpPr>
            <a:spLocks noGrp="1"/>
          </p:cNvSpPr>
          <p:nvPr>
            <p:ph sz="half" idx="1"/>
          </p:nvPr>
        </p:nvSpPr>
        <p:spPr>
          <a:xfrm>
            <a:off x="304800" y="1143000"/>
            <a:ext cx="8153400" cy="857249"/>
          </a:xfrm>
        </p:spPr>
        <p:txBody>
          <a:bodyPr>
            <a:noAutofit/>
          </a:bodyPr>
          <a:lstStyle/>
          <a:p>
            <a:pPr>
              <a:spcBef>
                <a:spcPts val="450"/>
              </a:spcBef>
            </a:pPr>
            <a:r>
              <a:rPr lang="en-US" sz="2200" dirty="0" smtClean="0"/>
              <a:t>Membership consists of 43 companies and 16 universities</a:t>
            </a:r>
          </a:p>
          <a:p>
            <a:pPr>
              <a:spcBef>
                <a:spcPts val="450"/>
              </a:spcBef>
            </a:pPr>
            <a:r>
              <a:rPr lang="en-US" sz="2200" dirty="0" smtClean="0"/>
              <a:t>Adding 1-2 new members each month</a:t>
            </a:r>
          </a:p>
        </p:txBody>
      </p:sp>
    </p:spTree>
    <p:extLst>
      <p:ext uri="{BB962C8B-B14F-4D97-AF65-F5344CB8AC3E}">
        <p14:creationId xmlns:p14="http://schemas.microsoft.com/office/powerpoint/2010/main" val="14556163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381000"/>
            <a:ext cx="6923087" cy="457200"/>
          </a:xfrm>
        </p:spPr>
        <p:txBody>
          <a:bodyPr/>
          <a:lstStyle/>
          <a:p>
            <a:r>
              <a:rPr lang="en-US" altLang="zh-TW" dirty="0" smtClean="0"/>
              <a:t>HSA Foundation’s Initial Focus (1)</a:t>
            </a:r>
            <a:endParaRPr lang="en-US" dirty="0"/>
          </a:p>
        </p:txBody>
      </p:sp>
      <p:sp>
        <p:nvSpPr>
          <p:cNvPr id="3" name="Content Placeholder 3"/>
          <p:cNvSpPr>
            <a:spLocks noGrp="1"/>
          </p:cNvSpPr>
          <p:nvPr>
            <p:ph sz="half" idx="1"/>
          </p:nvPr>
        </p:nvSpPr>
        <p:spPr>
          <a:xfrm>
            <a:off x="304800" y="1219200"/>
            <a:ext cx="5943600" cy="4114800"/>
          </a:xfrm>
        </p:spPr>
        <p:txBody>
          <a:bodyPr/>
          <a:lstStyle/>
          <a:p>
            <a:r>
              <a:rPr lang="en-US" sz="2400" dirty="0" smtClean="0"/>
              <a:t>Heterogeneous SOCs have arrived and are a tremendous advance over previous platforms</a:t>
            </a:r>
          </a:p>
          <a:p>
            <a:r>
              <a:rPr lang="en-US" sz="2400" dirty="0" smtClean="0"/>
              <a:t>SOCs combine CPU cores, GPU cores and </a:t>
            </a:r>
            <a:br>
              <a:rPr lang="en-US" sz="2400" dirty="0" smtClean="0"/>
            </a:br>
            <a:r>
              <a:rPr lang="en-US" sz="2400" dirty="0" smtClean="0"/>
              <a:t>other accelerators, with high bandwidth access to memory</a:t>
            </a:r>
          </a:p>
          <a:p>
            <a:pPr lvl="0"/>
            <a:r>
              <a:rPr lang="en-US" sz="2400" dirty="0" smtClean="0"/>
              <a:t>How do we make them even better?</a:t>
            </a:r>
          </a:p>
          <a:p>
            <a:pPr lvl="1">
              <a:spcBef>
                <a:spcPts val="0"/>
              </a:spcBef>
            </a:pPr>
            <a:r>
              <a:rPr lang="en-US" sz="2000" dirty="0" smtClean="0"/>
              <a:t>Easier to program</a:t>
            </a:r>
          </a:p>
          <a:p>
            <a:pPr lvl="1">
              <a:spcBef>
                <a:spcPts val="0"/>
              </a:spcBef>
            </a:pPr>
            <a:r>
              <a:rPr lang="en-US" sz="2000" dirty="0" smtClean="0"/>
              <a:t>Easier to optimize</a:t>
            </a:r>
          </a:p>
          <a:p>
            <a:pPr lvl="1">
              <a:spcBef>
                <a:spcPts val="0"/>
              </a:spcBef>
            </a:pPr>
            <a:r>
              <a:rPr lang="en-US" sz="2000" dirty="0" smtClean="0"/>
              <a:t>Higher performance</a:t>
            </a:r>
          </a:p>
          <a:p>
            <a:pPr lvl="1">
              <a:spcBef>
                <a:spcPts val="0"/>
              </a:spcBef>
            </a:pPr>
            <a:r>
              <a:rPr lang="en-US" sz="2000" dirty="0" smtClean="0"/>
              <a:t>Lower power</a:t>
            </a:r>
          </a:p>
        </p:txBody>
      </p:sp>
      <p:pic>
        <p:nvPicPr>
          <p:cNvPr id="13" name="Picture 3" descr="C:\Users\mseibert\Desktop\HSA\Presentations\Image.png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6138110" y="1600200"/>
            <a:ext cx="2320090" cy="2971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投影片編號版面配置區 4"/>
          <p:cNvSpPr>
            <a:spLocks noGrp="1"/>
          </p:cNvSpPr>
          <p:nvPr>
            <p:ph type="sldNum" sz="quarter" idx="4294967295"/>
          </p:nvPr>
        </p:nvSpPr>
        <p:spPr>
          <a:xfrm>
            <a:off x="6831013" y="6524625"/>
            <a:ext cx="2133600" cy="339725"/>
          </a:xfrm>
          <a:prstGeom prst="rect">
            <a:avLst/>
          </a:prstGeom>
        </p:spPr>
        <p:txBody>
          <a:bodyPr/>
          <a:lstStyle/>
          <a:p>
            <a:pPr algn="r">
              <a:defRPr/>
            </a:pPr>
            <a:fld id="{1A9115C5-2FF4-4A45-B75E-C3C89F0A7A51}" type="slidenum">
              <a:rPr lang="en-US" altLang="zh-TW" sz="1200" smtClean="0">
                <a:solidFill>
                  <a:schemeClr val="bg1"/>
                </a:solidFill>
              </a:rPr>
              <a:pPr algn="r">
                <a:defRPr/>
              </a:pPr>
              <a:t>5</a:t>
            </a:fld>
            <a:endParaRPr lang="en-US" altLang="zh-TW" sz="1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1225510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7715200" cy="533400"/>
          </a:xfrm>
        </p:spPr>
        <p:txBody>
          <a:bodyPr/>
          <a:lstStyle/>
          <a:p>
            <a:r>
              <a:rPr lang="en-US" altLang="zh-TW" dirty="0" smtClean="0"/>
              <a:t>HSA Foundation’s Initial Focus (2) 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124744"/>
            <a:ext cx="8229600" cy="4824536"/>
          </a:xfrm>
        </p:spPr>
        <p:txBody>
          <a:bodyPr/>
          <a:lstStyle/>
          <a:p>
            <a:r>
              <a:rPr lang="en-US" altLang="zh-TW" sz="2400" dirty="0" smtClean="0"/>
              <a:t>HSA unites accelerators architecturally</a:t>
            </a:r>
          </a:p>
          <a:p>
            <a:pPr lvl="1"/>
            <a:r>
              <a:rPr lang="en-US" altLang="zh-TW" sz="2000" dirty="0" smtClean="0">
                <a:cs typeface="Arial" pitchFamily="34" charset="0"/>
              </a:rPr>
              <a:t>Bring the GPU forward as a first class processor</a:t>
            </a:r>
          </a:p>
          <a:p>
            <a:pPr lvl="2"/>
            <a:r>
              <a:rPr lang="en-US" altLang="zh-TW" sz="1600" dirty="0" smtClean="0">
                <a:cs typeface="Arial" pitchFamily="34" charset="0"/>
              </a:rPr>
              <a:t>Unified coherent address space (</a:t>
            </a:r>
            <a:r>
              <a:rPr lang="en-US" altLang="zh-TW" sz="1600" dirty="0" err="1" smtClean="0">
                <a:cs typeface="Arial" pitchFamily="34" charset="0"/>
              </a:rPr>
              <a:t>hUMA</a:t>
            </a:r>
            <a:r>
              <a:rPr lang="en-US" altLang="zh-TW" sz="1600" dirty="0" smtClean="0">
                <a:cs typeface="Arial" pitchFamily="34" charset="0"/>
              </a:rPr>
              <a:t>)</a:t>
            </a:r>
          </a:p>
          <a:p>
            <a:pPr lvl="2"/>
            <a:r>
              <a:rPr lang="en-US" altLang="zh-TW" sz="1600" dirty="0" smtClean="0">
                <a:cs typeface="Arial" pitchFamily="34" charset="0"/>
              </a:rPr>
              <a:t>User mode dispatch/scheduling</a:t>
            </a:r>
          </a:p>
          <a:p>
            <a:pPr lvl="2"/>
            <a:r>
              <a:rPr lang="en-US" altLang="zh-TW" sz="1600" dirty="0" smtClean="0">
                <a:cs typeface="Arial" pitchFamily="34" charset="0"/>
              </a:rPr>
              <a:t>Can utilize </a:t>
            </a:r>
            <a:r>
              <a:rPr lang="en-US" altLang="zh-TW" sz="1600" dirty="0" err="1" smtClean="0">
                <a:cs typeface="Arial" pitchFamily="34" charset="0"/>
              </a:rPr>
              <a:t>pagable</a:t>
            </a:r>
            <a:r>
              <a:rPr lang="en-US" altLang="zh-TW" sz="1600" dirty="0" smtClean="0">
                <a:cs typeface="Arial" pitchFamily="34" charset="0"/>
              </a:rPr>
              <a:t> system memory</a:t>
            </a:r>
          </a:p>
          <a:p>
            <a:pPr lvl="2"/>
            <a:r>
              <a:rPr lang="en-US" altLang="zh-TW" sz="1600" dirty="0" smtClean="0">
                <a:cs typeface="Arial" pitchFamily="34" charset="0"/>
              </a:rPr>
              <a:t>Fully coherent memory between the CPU and GPU</a:t>
            </a:r>
          </a:p>
          <a:p>
            <a:pPr lvl="2"/>
            <a:r>
              <a:rPr lang="en-US" altLang="zh-TW" sz="1600" dirty="0" smtClean="0">
                <a:cs typeface="Arial" pitchFamily="34" charset="0"/>
              </a:rPr>
              <a:t>Pre-emption and context switching</a:t>
            </a:r>
          </a:p>
          <a:p>
            <a:pPr lvl="2"/>
            <a:r>
              <a:rPr lang="en-US" altLang="zh-TW" sz="1600" dirty="0" smtClean="0">
                <a:cs typeface="Arial" pitchFamily="34" charset="0"/>
              </a:rPr>
              <a:t>Relaxed consistency memory model </a:t>
            </a:r>
          </a:p>
          <a:p>
            <a:pPr lvl="2"/>
            <a:r>
              <a:rPr lang="en-US" altLang="zh-TW" sz="1600" dirty="0" smtClean="0">
                <a:cs typeface="Arial" pitchFamily="34" charset="0"/>
              </a:rPr>
              <a:t>Quality of Service </a:t>
            </a:r>
          </a:p>
          <a:p>
            <a:r>
              <a:rPr lang="en-US" altLang="zh-TW" sz="2400" dirty="0" smtClean="0">
                <a:cs typeface="Arial" pitchFamily="34" charset="0"/>
              </a:rPr>
              <a:t>Attract mainstream programmer</a:t>
            </a:r>
            <a:r>
              <a:rPr lang="en-US" altLang="zh-TW" sz="2400" dirty="0" smtClean="0"/>
              <a:t>s</a:t>
            </a:r>
          </a:p>
          <a:p>
            <a:pPr lvl="1"/>
            <a:r>
              <a:rPr lang="en-US" altLang="zh-TW" sz="2000" dirty="0" smtClean="0">
                <a:cs typeface="Arial" pitchFamily="34" charset="0"/>
              </a:rPr>
              <a:t>Support broader set of languages beyond traditional GPGPU languages </a:t>
            </a:r>
          </a:p>
          <a:p>
            <a:pPr lvl="1"/>
            <a:r>
              <a:rPr lang="en-US" altLang="zh-TW" sz="2000" dirty="0" smtClean="0">
                <a:cs typeface="Arial" pitchFamily="34" charset="0"/>
              </a:rPr>
              <a:t>Support for task parallel runtimes &amp; nested data parallel programs</a:t>
            </a:r>
          </a:p>
          <a:p>
            <a:pPr lvl="1"/>
            <a:r>
              <a:rPr lang="en-US" altLang="zh-TW" sz="2000" dirty="0" smtClean="0">
                <a:cs typeface="Arial" pitchFamily="34" charset="0"/>
              </a:rPr>
              <a:t>Rich debugging and performance analysis support</a:t>
            </a:r>
            <a:endParaRPr lang="en-US" altLang="zh-TW" dirty="0" smtClean="0"/>
          </a:p>
        </p:txBody>
      </p:sp>
      <p:sp>
        <p:nvSpPr>
          <p:cNvPr id="6" name="投影片編號版面配置區 4"/>
          <p:cNvSpPr>
            <a:spLocks noGrp="1"/>
          </p:cNvSpPr>
          <p:nvPr>
            <p:ph type="sldNum" sz="quarter" idx="10"/>
          </p:nvPr>
        </p:nvSpPr>
        <p:spPr>
          <a:xfrm>
            <a:off x="6831013" y="6524625"/>
            <a:ext cx="2133600" cy="339725"/>
          </a:xfrm>
        </p:spPr>
        <p:txBody>
          <a:bodyPr/>
          <a:lstStyle/>
          <a:p>
            <a:pPr>
              <a:defRPr/>
            </a:pPr>
            <a:fld id="{1A9115C5-2FF4-4A45-B75E-C3C89F0A7A51}" type="slidenum">
              <a:rPr lang="en-US" altLang="zh-TW" smtClean="0">
                <a:solidFill>
                  <a:schemeClr val="bg1"/>
                </a:solidFill>
              </a:rPr>
              <a:pPr>
                <a:defRPr/>
              </a:pPr>
              <a:t>6</a:t>
            </a:fld>
            <a:endParaRPr lang="en-US" altLang="zh-TW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84683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504" y="216570"/>
            <a:ext cx="8207375" cy="692150"/>
          </a:xfrm>
        </p:spPr>
        <p:txBody>
          <a:bodyPr/>
          <a:lstStyle/>
          <a:p>
            <a:r>
              <a:rPr lang="en-US" altLang="zh-TW" sz="3200" dirty="0" smtClean="0"/>
              <a:t>HSA Foundation’s Initial Focus (3) </a:t>
            </a:r>
            <a:endParaRPr lang="en-US" sz="3200" dirty="0"/>
          </a:p>
        </p:txBody>
      </p:sp>
      <p:grpSp>
        <p:nvGrpSpPr>
          <p:cNvPr id="3" name="群組 18"/>
          <p:cNvGrpSpPr/>
          <p:nvPr/>
        </p:nvGrpSpPr>
        <p:grpSpPr>
          <a:xfrm>
            <a:off x="1632248" y="2286000"/>
            <a:ext cx="5682952" cy="3733800"/>
            <a:chOff x="1170384" y="1347688"/>
            <a:chExt cx="6858000" cy="4673600"/>
          </a:xfrm>
        </p:grpSpPr>
        <p:sp>
          <p:nvSpPr>
            <p:cNvPr id="7" name="Rounded Rectangle 6"/>
            <p:cNvSpPr/>
            <p:nvPr/>
          </p:nvSpPr>
          <p:spPr>
            <a:xfrm>
              <a:off x="1170384" y="1347688"/>
              <a:ext cx="1524000" cy="1320800"/>
            </a:xfrm>
            <a:prstGeom prst="roundRect">
              <a:avLst/>
            </a:prstGeom>
            <a:solidFill>
              <a:srgbClr val="19A6B0"/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0">
              <a:schemeClr val="dk1"/>
            </a:lnRef>
            <a:fillRef idx="3">
              <a:schemeClr val="dk1"/>
            </a:fillRef>
            <a:effectRef idx="3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 smtClean="0"/>
                <a:t>CPU </a:t>
              </a:r>
              <a:endParaRPr lang="en-US" sz="1600" dirty="0"/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1170384" y="3278088"/>
              <a:ext cx="1524000" cy="2641600"/>
            </a:xfrm>
            <a:prstGeom prst="roundRect">
              <a:avLst/>
            </a:prstGeom>
            <a:solidFill>
              <a:srgbClr val="C80000"/>
            </a:solidFill>
            <a:ln>
              <a:solidFill>
                <a:srgbClr val="A9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/>
                <a:t>G</a:t>
              </a:r>
              <a:r>
                <a:rPr lang="en-US" sz="1600" dirty="0" smtClean="0"/>
                <a:t>PU </a:t>
              </a:r>
              <a:endParaRPr lang="en-US" sz="1600" dirty="0"/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3303985" y="2770088"/>
              <a:ext cx="4648201" cy="508000"/>
            </a:xfrm>
            <a:prstGeom prst="round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600" dirty="0" smtClean="0"/>
                <a:t>Shared Memory and Coherency</a:t>
              </a:r>
              <a:endParaRPr lang="en-US" sz="1600" dirty="0"/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3380184" y="1347688"/>
              <a:ext cx="1447800" cy="1320800"/>
            </a:xfrm>
            <a:prstGeom prst="roundRect">
              <a:avLst/>
            </a:prstGeom>
            <a:solidFill>
              <a:schemeClr val="accent1">
                <a:lumMod val="50000"/>
              </a:schemeClr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 smtClean="0"/>
                <a:t>Audio</a:t>
              </a:r>
            </a:p>
            <a:p>
              <a:pPr algn="ctr"/>
              <a:r>
                <a:rPr lang="en-US" sz="1600" dirty="0" smtClean="0"/>
                <a:t>Processor </a:t>
              </a:r>
              <a:endParaRPr lang="en-US" sz="1600" dirty="0"/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4904184" y="1347688"/>
              <a:ext cx="1371600" cy="1320800"/>
            </a:xfrm>
            <a:prstGeom prst="roundRect">
              <a:avLst/>
            </a:prstGeom>
            <a:solidFill>
              <a:schemeClr val="accent2">
                <a:lumMod val="75000"/>
              </a:schemeClr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 smtClean="0"/>
                <a:t>Video</a:t>
              </a:r>
            </a:p>
            <a:p>
              <a:pPr algn="ctr"/>
              <a:r>
                <a:rPr lang="en-US" sz="1600" dirty="0" smtClean="0"/>
                <a:t>Hardware</a:t>
              </a:r>
              <a:endParaRPr lang="en-US" sz="1600" dirty="0"/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4827984" y="3379688"/>
              <a:ext cx="1447800" cy="2641600"/>
            </a:xfrm>
            <a:prstGeom prst="roundRect">
              <a:avLst/>
            </a:prstGeom>
            <a:solidFill>
              <a:schemeClr val="accent2">
                <a:lumMod val="75000"/>
              </a:schemeClr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 smtClean="0"/>
                <a:t>DSP</a:t>
              </a:r>
              <a:endParaRPr lang="en-US" sz="1600" dirty="0"/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6351984" y="1347688"/>
              <a:ext cx="1600200" cy="1320800"/>
            </a:xfrm>
            <a:prstGeom prst="roundRect">
              <a:avLst/>
            </a:prstGeom>
            <a:solidFill>
              <a:srgbClr val="FF6600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 smtClean="0"/>
                <a:t>Security</a:t>
              </a:r>
            </a:p>
            <a:p>
              <a:pPr algn="ctr"/>
              <a:r>
                <a:rPr lang="en-US" sz="1600" dirty="0" smtClean="0"/>
                <a:t>Processor</a:t>
              </a:r>
              <a:endParaRPr lang="en-US" sz="1600" dirty="0"/>
            </a:p>
          </p:txBody>
        </p:sp>
        <p:sp>
          <p:nvSpPr>
            <p:cNvPr id="14" name="Rounded Rectangle 13"/>
            <p:cNvSpPr/>
            <p:nvPr/>
          </p:nvSpPr>
          <p:spPr>
            <a:xfrm>
              <a:off x="6351984" y="3379688"/>
              <a:ext cx="1676400" cy="2641600"/>
            </a:xfrm>
            <a:prstGeom prst="roundRect">
              <a:avLst/>
            </a:prstGeom>
            <a:solidFill>
              <a:schemeClr val="accent2">
                <a:lumMod val="50000"/>
              </a:schemeClr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 smtClean="0"/>
            </a:p>
            <a:p>
              <a:pPr algn="ctr"/>
              <a:r>
                <a:rPr lang="en-US" sz="1600" dirty="0" smtClean="0"/>
                <a:t>Image</a:t>
              </a:r>
            </a:p>
            <a:p>
              <a:pPr algn="ctr"/>
              <a:r>
                <a:rPr lang="en-US" sz="1600" dirty="0" smtClean="0"/>
                <a:t>Signal Processing </a:t>
              </a:r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3303984" y="3379688"/>
              <a:ext cx="1447800" cy="2641600"/>
            </a:xfrm>
            <a:prstGeom prst="roundRect">
              <a:avLst/>
            </a:prstGeom>
            <a:solidFill>
              <a:srgbClr val="01454A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500" dirty="0" smtClean="0"/>
                <a:t>Fixed</a:t>
              </a:r>
            </a:p>
            <a:p>
              <a:pPr algn="ctr"/>
              <a:r>
                <a:rPr lang="en-US" sz="1500" dirty="0" smtClean="0"/>
                <a:t>Function</a:t>
              </a:r>
            </a:p>
            <a:p>
              <a:pPr algn="ctr"/>
              <a:r>
                <a:rPr lang="en-US" sz="1500" dirty="0" smtClean="0"/>
                <a:t>Accelerator</a:t>
              </a:r>
            </a:p>
          </p:txBody>
        </p:sp>
        <p:sp>
          <p:nvSpPr>
            <p:cNvPr id="16" name="Rounded Rectangle 15"/>
            <p:cNvSpPr/>
            <p:nvPr/>
          </p:nvSpPr>
          <p:spPr>
            <a:xfrm>
              <a:off x="1170384" y="2668488"/>
              <a:ext cx="1524000" cy="609600"/>
            </a:xfrm>
            <a:prstGeom prst="round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600" dirty="0" smtClean="0"/>
                <a:t>SM&amp;C</a:t>
              </a:r>
              <a:endParaRPr lang="en-US" sz="1600" dirty="0"/>
            </a:p>
          </p:txBody>
        </p:sp>
        <p:sp>
          <p:nvSpPr>
            <p:cNvPr id="17" name="Plus 16"/>
            <p:cNvSpPr/>
            <p:nvPr/>
          </p:nvSpPr>
          <p:spPr>
            <a:xfrm>
              <a:off x="2541984" y="2465288"/>
              <a:ext cx="914400" cy="1219200"/>
            </a:xfrm>
            <a:prstGeom prst="mathPlus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9" name="投影片編號版面配置區 4"/>
          <p:cNvSpPr>
            <a:spLocks noGrp="1"/>
          </p:cNvSpPr>
          <p:nvPr>
            <p:ph type="sldNum" sz="quarter" idx="10"/>
          </p:nvPr>
        </p:nvSpPr>
        <p:spPr>
          <a:xfrm>
            <a:off x="6831013" y="6524625"/>
            <a:ext cx="2133600" cy="339725"/>
          </a:xfrm>
        </p:spPr>
        <p:txBody>
          <a:bodyPr/>
          <a:lstStyle/>
          <a:p>
            <a:pPr>
              <a:defRPr/>
            </a:pPr>
            <a:fld id="{1A9115C5-2FF4-4A45-B75E-C3C89F0A7A51}" type="slidenum">
              <a:rPr lang="en-US" altLang="zh-TW" smtClean="0">
                <a:solidFill>
                  <a:schemeClr val="bg1"/>
                </a:solidFill>
              </a:rPr>
              <a:pPr>
                <a:defRPr/>
              </a:pPr>
              <a:t>7</a:t>
            </a:fld>
            <a:endParaRPr lang="en-US" altLang="zh-TW" dirty="0">
              <a:solidFill>
                <a:schemeClr val="bg1"/>
              </a:solidFill>
            </a:endParaRPr>
          </a:p>
        </p:txBody>
      </p:sp>
      <p:sp>
        <p:nvSpPr>
          <p:cNvPr id="18" name="內容版面配置區 2"/>
          <p:cNvSpPr>
            <a:spLocks noGrp="1"/>
          </p:cNvSpPr>
          <p:nvPr>
            <p:ph idx="1"/>
          </p:nvPr>
        </p:nvSpPr>
        <p:spPr>
          <a:xfrm>
            <a:off x="457200" y="1124744"/>
            <a:ext cx="8229600" cy="780256"/>
          </a:xfrm>
        </p:spPr>
        <p:txBody>
          <a:bodyPr/>
          <a:lstStyle/>
          <a:p>
            <a:r>
              <a:rPr lang="en-US" altLang="zh-TW" sz="2400" dirty="0" smtClean="0"/>
              <a:t>Early focus on the GPU compute accelerator, but HSA will go well beyond the GPU</a:t>
            </a:r>
            <a:endParaRPr lang="en-US" altLang="zh-TW" sz="2400" dirty="0" smtClean="0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779952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Pillars of HSA*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idx="1"/>
          </p:nvPr>
        </p:nvSpPr>
        <p:spPr>
          <a:xfrm>
            <a:off x="457200" y="1196753"/>
            <a:ext cx="8229600" cy="3832448"/>
          </a:xfrm>
        </p:spPr>
        <p:txBody>
          <a:bodyPr/>
          <a:lstStyle/>
          <a:p>
            <a:pPr>
              <a:spcBef>
                <a:spcPts val="600"/>
              </a:spcBef>
            </a:pPr>
            <a:r>
              <a:rPr lang="en-US" sz="2400" dirty="0" smtClean="0"/>
              <a:t>Unified </a:t>
            </a:r>
            <a:r>
              <a:rPr lang="en-US" sz="2400" dirty="0"/>
              <a:t>addressing across all processors</a:t>
            </a:r>
          </a:p>
          <a:p>
            <a:pPr>
              <a:spcBef>
                <a:spcPts val="600"/>
              </a:spcBef>
            </a:pPr>
            <a:r>
              <a:rPr lang="en-US" sz="2400" dirty="0"/>
              <a:t>Operation into pageable system memory</a:t>
            </a:r>
          </a:p>
          <a:p>
            <a:pPr>
              <a:spcBef>
                <a:spcPts val="600"/>
              </a:spcBef>
            </a:pPr>
            <a:r>
              <a:rPr lang="en-US" sz="2400" dirty="0"/>
              <a:t>Full memory coherency</a:t>
            </a:r>
          </a:p>
          <a:p>
            <a:pPr>
              <a:spcBef>
                <a:spcPts val="600"/>
              </a:spcBef>
            </a:pPr>
            <a:r>
              <a:rPr lang="en-US" sz="2400" dirty="0"/>
              <a:t>User mode dispatch</a:t>
            </a:r>
          </a:p>
          <a:p>
            <a:pPr>
              <a:spcBef>
                <a:spcPts val="600"/>
              </a:spcBef>
            </a:pPr>
            <a:r>
              <a:rPr lang="en-US" sz="2400" dirty="0"/>
              <a:t>Architected queuing language</a:t>
            </a:r>
          </a:p>
          <a:p>
            <a:pPr>
              <a:spcBef>
                <a:spcPts val="600"/>
              </a:spcBef>
            </a:pPr>
            <a:r>
              <a:rPr lang="en-US" sz="2400" dirty="0" smtClean="0"/>
              <a:t>Scheduling and </a:t>
            </a:r>
            <a:r>
              <a:rPr lang="en-US" sz="2400" dirty="0"/>
              <a:t>context </a:t>
            </a:r>
            <a:r>
              <a:rPr lang="en-US" sz="2400" dirty="0" smtClean="0"/>
              <a:t>switching</a:t>
            </a:r>
          </a:p>
          <a:p>
            <a:pPr>
              <a:spcBef>
                <a:spcPts val="600"/>
              </a:spcBef>
            </a:pPr>
            <a:r>
              <a:rPr lang="en-US" sz="2400" dirty="0" smtClean="0"/>
              <a:t>HSA Intermediate Language (HSAIL)</a:t>
            </a:r>
          </a:p>
          <a:p>
            <a:pPr>
              <a:spcBef>
                <a:spcPts val="600"/>
              </a:spcBef>
            </a:pPr>
            <a:r>
              <a:rPr lang="en-US" sz="2400" dirty="0"/>
              <a:t>High level language support for GPU compute processors</a:t>
            </a:r>
          </a:p>
          <a:p>
            <a:pPr marL="342900" lvl="1" indent="0">
              <a:buNone/>
            </a:pPr>
            <a:endParaRPr lang="en-US" dirty="0"/>
          </a:p>
        </p:txBody>
      </p:sp>
      <p:sp>
        <p:nvSpPr>
          <p:cNvPr id="4" name="投影片編號版面配置區 4"/>
          <p:cNvSpPr>
            <a:spLocks noGrp="1"/>
          </p:cNvSpPr>
          <p:nvPr>
            <p:ph type="sldNum" sz="quarter" idx="4294967295"/>
          </p:nvPr>
        </p:nvSpPr>
        <p:spPr>
          <a:xfrm>
            <a:off x="6831013" y="6524625"/>
            <a:ext cx="2133600" cy="339725"/>
          </a:xfrm>
          <a:prstGeom prst="rect">
            <a:avLst/>
          </a:prstGeom>
        </p:spPr>
        <p:txBody>
          <a:bodyPr/>
          <a:lstStyle/>
          <a:p>
            <a:pPr algn="r">
              <a:defRPr/>
            </a:pPr>
            <a:fld id="{1A9115C5-2FF4-4A45-B75E-C3C89F0A7A51}" type="slidenum">
              <a:rPr lang="en-US" altLang="zh-TW" sz="1200" smtClean="0">
                <a:solidFill>
                  <a:schemeClr val="bg1"/>
                </a:solidFill>
              </a:rPr>
              <a:pPr algn="r">
                <a:defRPr/>
              </a:pPr>
              <a:t>8</a:t>
            </a:fld>
            <a:endParaRPr lang="en-US" altLang="zh-TW" sz="1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56908903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HSA Specifications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143000"/>
            <a:ext cx="8382000" cy="4876800"/>
          </a:xfrm>
        </p:spPr>
        <p:txBody>
          <a:bodyPr/>
          <a:lstStyle/>
          <a:p>
            <a:pPr>
              <a:spcBef>
                <a:spcPts val="600"/>
              </a:spcBef>
            </a:pPr>
            <a:r>
              <a:rPr lang="en-US" sz="2400" dirty="0"/>
              <a:t>HSA </a:t>
            </a:r>
            <a:r>
              <a:rPr lang="en-US" sz="2400" dirty="0" smtClean="0"/>
              <a:t>System Architecture Specification</a:t>
            </a:r>
            <a:endParaRPr lang="en-US" sz="2400" dirty="0"/>
          </a:p>
          <a:p>
            <a:pPr lvl="1"/>
            <a:r>
              <a:rPr lang="en-US" sz="2000" dirty="0"/>
              <a:t>Version </a:t>
            </a:r>
            <a:r>
              <a:rPr lang="en-US" sz="2000" dirty="0" smtClean="0"/>
              <a:t>1.01, </a:t>
            </a:r>
            <a:r>
              <a:rPr lang="en-US" sz="2000" dirty="0"/>
              <a:t>r</a:t>
            </a:r>
            <a:r>
              <a:rPr lang="en-US" sz="2000" dirty="0" smtClean="0"/>
              <a:t>eleased March 16, 2015</a:t>
            </a:r>
          </a:p>
          <a:p>
            <a:pPr lvl="1"/>
            <a:r>
              <a:rPr lang="en-US" sz="2000" dirty="0" smtClean="0"/>
              <a:t>Defines discovery, memory model, queue management, atomics, </a:t>
            </a:r>
            <a:r>
              <a:rPr lang="en-US" sz="2000" dirty="0" err="1" smtClean="0"/>
              <a:t>etc</a:t>
            </a:r>
            <a:endParaRPr lang="en-US" sz="2000" dirty="0"/>
          </a:p>
          <a:p>
            <a:pPr>
              <a:spcBef>
                <a:spcPts val="600"/>
              </a:spcBef>
            </a:pPr>
            <a:r>
              <a:rPr lang="en-US" sz="2400" dirty="0" smtClean="0"/>
              <a:t>HSA Programmers Reference Specification</a:t>
            </a:r>
          </a:p>
          <a:p>
            <a:pPr lvl="1"/>
            <a:r>
              <a:rPr lang="en-US" sz="2000" dirty="0" smtClean="0"/>
              <a:t>Version 1.02, </a:t>
            </a:r>
            <a:r>
              <a:rPr lang="en-US" altLang="zh-TW" sz="2000" dirty="0" smtClean="0"/>
              <a:t>released March 16, 2015</a:t>
            </a:r>
            <a:endParaRPr lang="en-US" sz="2000" dirty="0" smtClean="0"/>
          </a:p>
          <a:p>
            <a:pPr lvl="1"/>
            <a:r>
              <a:rPr lang="en-US" sz="2000" dirty="0" smtClean="0"/>
              <a:t>Defines the HSAIL language and object format</a:t>
            </a:r>
          </a:p>
          <a:p>
            <a:pPr>
              <a:spcBef>
                <a:spcPts val="600"/>
              </a:spcBef>
            </a:pPr>
            <a:r>
              <a:rPr lang="en-US" sz="2400" dirty="0"/>
              <a:t>HSA </a:t>
            </a:r>
            <a:r>
              <a:rPr lang="en-US" sz="2400" dirty="0" smtClean="0"/>
              <a:t>Runtime Software </a:t>
            </a:r>
            <a:r>
              <a:rPr lang="en-US" sz="2400" dirty="0"/>
              <a:t>Specification</a:t>
            </a:r>
          </a:p>
          <a:p>
            <a:pPr lvl="1"/>
            <a:r>
              <a:rPr lang="en-US" sz="2000" dirty="0"/>
              <a:t>Version </a:t>
            </a:r>
            <a:r>
              <a:rPr lang="en-US" sz="2000" dirty="0" smtClean="0"/>
              <a:t>1.0, </a:t>
            </a:r>
            <a:r>
              <a:rPr lang="en-US" altLang="zh-TW" sz="2000" dirty="0" smtClean="0"/>
              <a:t>released March 16, 2015</a:t>
            </a:r>
            <a:endParaRPr lang="en-US" sz="2000" dirty="0" smtClean="0"/>
          </a:p>
          <a:p>
            <a:pPr lvl="1"/>
            <a:r>
              <a:rPr lang="en-US" sz="2000" dirty="0" smtClean="0"/>
              <a:t>Defines the APIs through which an HSA application uses the platform</a:t>
            </a:r>
          </a:p>
          <a:p>
            <a:pPr>
              <a:spcBef>
                <a:spcPts val="600"/>
              </a:spcBef>
            </a:pPr>
            <a:r>
              <a:rPr lang="en-US" altLang="zh-TW" sz="2400" dirty="0" smtClean="0"/>
              <a:t>All released specifications can be found at the HSA Foundation web site:</a:t>
            </a:r>
          </a:p>
          <a:p>
            <a:pPr lvl="1"/>
            <a:r>
              <a:rPr lang="en-US" altLang="zh-TW" sz="2000" dirty="0" smtClean="0">
                <a:hlinkClick r:id="rId2"/>
              </a:rPr>
              <a:t>www.hsafoundation.com/standards</a:t>
            </a:r>
            <a:endParaRPr lang="en-US" altLang="zh-TW" sz="2000" dirty="0" smtClean="0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4294967295"/>
          </p:nvPr>
        </p:nvSpPr>
        <p:spPr>
          <a:xfrm>
            <a:off x="6831013" y="6524625"/>
            <a:ext cx="2133600" cy="339725"/>
          </a:xfrm>
          <a:prstGeom prst="rect">
            <a:avLst/>
          </a:prstGeom>
        </p:spPr>
        <p:txBody>
          <a:bodyPr/>
          <a:lstStyle/>
          <a:p>
            <a:pPr algn="r">
              <a:defRPr/>
            </a:pPr>
            <a:fld id="{1A9115C5-2FF4-4A45-B75E-C3C89F0A7A51}" type="slidenum">
              <a:rPr lang="en-US" altLang="zh-TW" sz="1200" smtClean="0">
                <a:solidFill>
                  <a:schemeClr val="bg1"/>
                </a:solidFill>
              </a:rPr>
              <a:pPr algn="r">
                <a:defRPr/>
              </a:pPr>
              <a:t>9</a:t>
            </a:fld>
            <a:endParaRPr lang="en-US" altLang="zh-TW" sz="1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840585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r>
              <a:rPr lang="en-US" altLang="zh-TW" dirty="0" err="1" smtClean="0"/>
              <a:t>hQ</a:t>
            </a:r>
            <a:r>
              <a:rPr lang="en-US" altLang="zh-TW" dirty="0" smtClean="0"/>
              <a:t> and </a:t>
            </a:r>
            <a:r>
              <a:rPr lang="en-US" altLang="zh-TW" dirty="0" err="1" smtClean="0"/>
              <a:t>hUMA</a:t>
            </a:r>
            <a:endParaRPr lang="en-US" altLang="zh-TW" dirty="0"/>
          </a:p>
        </p:txBody>
      </p:sp>
      <p:pic>
        <p:nvPicPr>
          <p:cNvPr id="3" name="Picture 1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9889" y="1196752"/>
            <a:ext cx="9163889" cy="49143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投影片編號版面配置區 4"/>
          <p:cNvSpPr>
            <a:spLocks noGrp="1"/>
          </p:cNvSpPr>
          <p:nvPr>
            <p:ph type="sldNum" sz="quarter" idx="10"/>
          </p:nvPr>
        </p:nvSpPr>
        <p:spPr>
          <a:xfrm>
            <a:off x="6831013" y="6524625"/>
            <a:ext cx="2133600" cy="339725"/>
          </a:xfrm>
        </p:spPr>
        <p:txBody>
          <a:bodyPr/>
          <a:lstStyle/>
          <a:p>
            <a:pPr>
              <a:defRPr/>
            </a:pPr>
            <a:fld id="{1A9115C5-2FF4-4A45-B75E-C3C89F0A7A51}" type="slidenum">
              <a:rPr lang="en-US" altLang="zh-TW" smtClean="0">
                <a:solidFill>
                  <a:schemeClr val="bg1"/>
                </a:solidFill>
              </a:rPr>
              <a:pPr>
                <a:defRPr/>
              </a:pPr>
              <a:t>10</a:t>
            </a:fld>
            <a:endParaRPr lang="en-US" altLang="zh-TW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583287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HSA Intermediate Layer — HSAIL</a:t>
            </a:r>
            <a:endParaRPr lang="en-US" dirty="0"/>
          </a:p>
        </p:txBody>
      </p:sp>
      <p:sp>
        <p:nvSpPr>
          <p:cNvPr id="3" name="Content Placeholder 3"/>
          <p:cNvSpPr>
            <a:spLocks noGrp="1"/>
          </p:cNvSpPr>
          <p:nvPr>
            <p:ph idx="1"/>
          </p:nvPr>
        </p:nvSpPr>
        <p:spPr>
          <a:xfrm>
            <a:off x="228600" y="1219200"/>
            <a:ext cx="8686800" cy="4876800"/>
          </a:xfrm>
        </p:spPr>
        <p:txBody>
          <a:bodyPr/>
          <a:lstStyle/>
          <a:p>
            <a:pPr>
              <a:spcBef>
                <a:spcPts val="600"/>
              </a:spcBef>
            </a:pPr>
            <a:r>
              <a:rPr lang="en-US" sz="2400" dirty="0" smtClean="0"/>
              <a:t>HSAIL is a virtual ISA for parallel programs</a:t>
            </a:r>
          </a:p>
          <a:p>
            <a:pPr lvl="1"/>
            <a:r>
              <a:rPr lang="en-US" sz="2000" dirty="0" smtClean="0"/>
              <a:t>Finalized to ISA by a JIT compiler or “Finalizer”</a:t>
            </a:r>
          </a:p>
          <a:p>
            <a:pPr lvl="1"/>
            <a:r>
              <a:rPr lang="en-US" sz="2000" dirty="0" smtClean="0"/>
              <a:t>ISA independent by design for CPU &amp; GPU</a:t>
            </a:r>
          </a:p>
          <a:p>
            <a:pPr>
              <a:spcBef>
                <a:spcPts val="600"/>
              </a:spcBef>
            </a:pPr>
            <a:r>
              <a:rPr lang="en-US" sz="2400" dirty="0"/>
              <a:t>Explicitly parallel</a:t>
            </a:r>
          </a:p>
          <a:p>
            <a:pPr lvl="1"/>
            <a:r>
              <a:rPr lang="en-US" sz="2000" dirty="0" smtClean="0"/>
              <a:t>Designed for data parallel programming</a:t>
            </a:r>
          </a:p>
          <a:p>
            <a:pPr>
              <a:spcBef>
                <a:spcPts val="600"/>
              </a:spcBef>
            </a:pPr>
            <a:r>
              <a:rPr lang="en-US" sz="2400" dirty="0"/>
              <a:t>Support for exceptions, virtual functions, </a:t>
            </a:r>
            <a:br>
              <a:rPr lang="en-US" sz="2400" dirty="0"/>
            </a:br>
            <a:r>
              <a:rPr lang="en-US" sz="2400" dirty="0"/>
              <a:t>and other high level language features</a:t>
            </a:r>
          </a:p>
          <a:p>
            <a:pPr>
              <a:spcBef>
                <a:spcPts val="600"/>
              </a:spcBef>
            </a:pPr>
            <a:r>
              <a:rPr lang="en-US" sz="2400" dirty="0" smtClean="0"/>
              <a:t>Lower level than OpenCL SPIR</a:t>
            </a:r>
          </a:p>
          <a:p>
            <a:pPr lvl="1"/>
            <a:r>
              <a:rPr lang="en-US" sz="2000" dirty="0" smtClean="0"/>
              <a:t>Fits naturally in the OpenCL compilation stack</a:t>
            </a:r>
          </a:p>
          <a:p>
            <a:pPr>
              <a:spcBef>
                <a:spcPts val="600"/>
              </a:spcBef>
            </a:pPr>
            <a:r>
              <a:rPr lang="en-US" sz="2400" dirty="0" smtClean="0"/>
              <a:t>Suitable to support additional high level languages and programming models:</a:t>
            </a:r>
          </a:p>
          <a:p>
            <a:pPr lvl="1"/>
            <a:r>
              <a:rPr lang="en-US" sz="2000" dirty="0" smtClean="0"/>
              <a:t>Java, C++, </a:t>
            </a:r>
            <a:r>
              <a:rPr lang="en-US" sz="2000" dirty="0" err="1" smtClean="0"/>
              <a:t>OpenMP</a:t>
            </a:r>
            <a:r>
              <a:rPr lang="en-US" sz="2000" dirty="0" smtClean="0"/>
              <a:t>, C++, Python, etc</a:t>
            </a:r>
            <a:endParaRPr lang="en-US" sz="2000" dirty="0"/>
          </a:p>
        </p:txBody>
      </p:sp>
      <p:pic>
        <p:nvPicPr>
          <p:cNvPr id="13" name="Picture 2" descr="C:\Users\mseibert\AppData\Local\Temp\iStock_000018028263_Small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378721" y="1808627"/>
            <a:ext cx="2155679" cy="17727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投影片編號版面配置區 4"/>
          <p:cNvSpPr>
            <a:spLocks noGrp="1"/>
          </p:cNvSpPr>
          <p:nvPr>
            <p:ph type="sldNum" sz="quarter" idx="4294967295"/>
          </p:nvPr>
        </p:nvSpPr>
        <p:spPr>
          <a:xfrm>
            <a:off x="6831013" y="6524625"/>
            <a:ext cx="2133600" cy="339725"/>
          </a:xfrm>
          <a:prstGeom prst="rect">
            <a:avLst/>
          </a:prstGeom>
        </p:spPr>
        <p:txBody>
          <a:bodyPr/>
          <a:lstStyle/>
          <a:p>
            <a:pPr algn="r">
              <a:defRPr/>
            </a:pPr>
            <a:fld id="{1A9115C5-2FF4-4A45-B75E-C3C89F0A7A51}" type="slidenum">
              <a:rPr lang="en-US" altLang="zh-TW" sz="1200" smtClean="0">
                <a:solidFill>
                  <a:schemeClr val="bg1"/>
                </a:solidFill>
              </a:rPr>
              <a:pPr algn="r">
                <a:defRPr/>
              </a:pPr>
              <a:t>11</a:t>
            </a:fld>
            <a:endParaRPr lang="en-US" altLang="zh-TW" sz="1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08942536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HSA Memory Model</a:t>
            </a:r>
            <a:endParaRPr lang="en-US" dirty="0"/>
          </a:p>
        </p:txBody>
      </p:sp>
      <p:sp>
        <p:nvSpPr>
          <p:cNvPr id="3" name="Content Placeholder 3"/>
          <p:cNvSpPr>
            <a:spLocks noGrp="1"/>
          </p:cNvSpPr>
          <p:nvPr>
            <p:ph idx="1"/>
          </p:nvPr>
        </p:nvSpPr>
        <p:spPr>
          <a:xfrm>
            <a:off x="533401" y="1262895"/>
            <a:ext cx="5486400" cy="4525963"/>
          </a:xfrm>
        </p:spPr>
        <p:txBody>
          <a:bodyPr/>
          <a:lstStyle/>
          <a:p>
            <a:pPr>
              <a:spcBef>
                <a:spcPts val="600"/>
              </a:spcBef>
            </a:pPr>
            <a:r>
              <a:rPr lang="en-US" sz="2400" dirty="0" smtClean="0"/>
              <a:t>Defines visibility ordering between all threads in the HSA System</a:t>
            </a:r>
          </a:p>
          <a:p>
            <a:pPr>
              <a:spcBef>
                <a:spcPts val="600"/>
              </a:spcBef>
            </a:pPr>
            <a:r>
              <a:rPr lang="en-US" sz="2400" dirty="0" smtClean="0"/>
              <a:t>Designed to be compatible with C++11, Java, OpenCL and .NET Memory Models</a:t>
            </a:r>
          </a:p>
          <a:p>
            <a:pPr>
              <a:spcBef>
                <a:spcPts val="600"/>
              </a:spcBef>
            </a:pPr>
            <a:r>
              <a:rPr lang="en-US" sz="2400" dirty="0"/>
              <a:t>Relaxed consistency memory model for parallel compute performance</a:t>
            </a:r>
          </a:p>
          <a:p>
            <a:pPr>
              <a:spcBef>
                <a:spcPts val="600"/>
              </a:spcBef>
            </a:pPr>
            <a:r>
              <a:rPr lang="en-US" sz="2400" dirty="0" smtClean="0"/>
              <a:t>Visibility controlled by:</a:t>
            </a:r>
          </a:p>
          <a:p>
            <a:pPr lvl="1"/>
            <a:r>
              <a:rPr lang="en-US" sz="2000" dirty="0" err="1" smtClean="0"/>
              <a:t>Load.Acquire</a:t>
            </a:r>
            <a:r>
              <a:rPr lang="en-US" sz="2000" dirty="0" smtClean="0"/>
              <a:t> </a:t>
            </a:r>
          </a:p>
          <a:p>
            <a:pPr lvl="1"/>
            <a:r>
              <a:rPr lang="en-US" sz="2000" dirty="0" err="1" smtClean="0"/>
              <a:t>Store.Release</a:t>
            </a:r>
            <a:endParaRPr lang="en-US" sz="2000" dirty="0" smtClean="0"/>
          </a:p>
          <a:p>
            <a:pPr lvl="1"/>
            <a:r>
              <a:rPr lang="en-US" sz="2000" dirty="0" smtClean="0"/>
              <a:t>Fences</a:t>
            </a:r>
          </a:p>
        </p:txBody>
      </p:sp>
      <p:pic>
        <p:nvPicPr>
          <p:cNvPr id="7" name="Picture 2" descr="E:\Quardia\Quardia Client Folder - Active\AMD\SQUARE png resource\AMD Content background square archi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036469" y="1419226"/>
            <a:ext cx="2650331" cy="3533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投影片編號版面配置區 4"/>
          <p:cNvSpPr>
            <a:spLocks noGrp="1"/>
          </p:cNvSpPr>
          <p:nvPr>
            <p:ph type="sldNum" sz="quarter" idx="4294967295"/>
          </p:nvPr>
        </p:nvSpPr>
        <p:spPr>
          <a:xfrm>
            <a:off x="6831013" y="6524625"/>
            <a:ext cx="2133600" cy="339725"/>
          </a:xfrm>
          <a:prstGeom prst="rect">
            <a:avLst/>
          </a:prstGeom>
        </p:spPr>
        <p:txBody>
          <a:bodyPr/>
          <a:lstStyle/>
          <a:p>
            <a:pPr algn="r">
              <a:defRPr/>
            </a:pPr>
            <a:fld id="{1A9115C5-2FF4-4A45-B75E-C3C89F0A7A51}" type="slidenum">
              <a:rPr lang="en-US" altLang="zh-TW" sz="1200" smtClean="0">
                <a:solidFill>
                  <a:schemeClr val="bg1"/>
                </a:solidFill>
              </a:rPr>
              <a:pPr algn="r">
                <a:defRPr/>
              </a:pPr>
              <a:t>12</a:t>
            </a:fld>
            <a:endParaRPr lang="en-US" altLang="zh-TW" sz="1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52511957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HSA Queuing Model</a:t>
            </a:r>
            <a:endParaRPr lang="en-US" dirty="0"/>
          </a:p>
        </p:txBody>
      </p:sp>
      <p:sp>
        <p:nvSpPr>
          <p:cNvPr id="3" name="Content Placeholder 3"/>
          <p:cNvSpPr>
            <a:spLocks noGrp="1"/>
          </p:cNvSpPr>
          <p:nvPr>
            <p:ph idx="1"/>
          </p:nvPr>
        </p:nvSpPr>
        <p:spPr>
          <a:xfrm>
            <a:off x="533400" y="1143000"/>
            <a:ext cx="8153400" cy="4800599"/>
          </a:xfrm>
        </p:spPr>
        <p:txBody>
          <a:bodyPr/>
          <a:lstStyle/>
          <a:p>
            <a:pPr>
              <a:spcBef>
                <a:spcPts val="600"/>
              </a:spcBef>
            </a:pPr>
            <a:r>
              <a:rPr lang="en-US" sz="2400" dirty="0" smtClean="0"/>
              <a:t>User mode queuing for low latency dispatch</a:t>
            </a:r>
          </a:p>
          <a:p>
            <a:pPr lvl="1"/>
            <a:r>
              <a:rPr lang="en-US" sz="2000" dirty="0" smtClean="0"/>
              <a:t>Application dispatches directly</a:t>
            </a:r>
          </a:p>
          <a:p>
            <a:pPr lvl="1"/>
            <a:r>
              <a:rPr lang="en-US" sz="2000" dirty="0" smtClean="0"/>
              <a:t>No OS or driver required in the dispatch path</a:t>
            </a:r>
          </a:p>
          <a:p>
            <a:pPr>
              <a:spcBef>
                <a:spcPts val="600"/>
              </a:spcBef>
            </a:pPr>
            <a:r>
              <a:rPr lang="en-US" sz="2400" dirty="0" smtClean="0"/>
              <a:t>Architected Queuing Layer</a:t>
            </a:r>
          </a:p>
          <a:p>
            <a:pPr lvl="1"/>
            <a:r>
              <a:rPr lang="en-US" sz="2000" dirty="0" smtClean="0"/>
              <a:t>Single compute dispatch path for all hardware</a:t>
            </a:r>
          </a:p>
          <a:p>
            <a:pPr lvl="1"/>
            <a:r>
              <a:rPr lang="en-US" sz="2000" dirty="0" smtClean="0"/>
              <a:t>No driver translation, direct to hardware</a:t>
            </a:r>
          </a:p>
          <a:p>
            <a:pPr>
              <a:spcBef>
                <a:spcPts val="600"/>
              </a:spcBef>
            </a:pPr>
            <a:r>
              <a:rPr lang="en-US" sz="2400" dirty="0" smtClean="0"/>
              <a:t>Allows for dispatch to queue from any agent</a:t>
            </a:r>
          </a:p>
          <a:p>
            <a:pPr lvl="1"/>
            <a:r>
              <a:rPr lang="en-US" sz="2000" dirty="0" smtClean="0"/>
              <a:t>CPU or GPU</a:t>
            </a:r>
          </a:p>
          <a:p>
            <a:pPr>
              <a:spcBef>
                <a:spcPts val="600"/>
              </a:spcBef>
            </a:pPr>
            <a:r>
              <a:rPr lang="en-US" sz="2400" dirty="0" smtClean="0"/>
              <a:t>GPU self enqueue enables lots of solutions</a:t>
            </a:r>
          </a:p>
          <a:p>
            <a:pPr lvl="1"/>
            <a:r>
              <a:rPr lang="en-US" sz="2000" dirty="0" smtClean="0"/>
              <a:t>Recursion</a:t>
            </a:r>
          </a:p>
          <a:p>
            <a:pPr lvl="1"/>
            <a:r>
              <a:rPr lang="en-US" sz="2000" dirty="0" smtClean="0"/>
              <a:t>Tree traversal</a:t>
            </a:r>
          </a:p>
          <a:p>
            <a:pPr lvl="1"/>
            <a:r>
              <a:rPr lang="en-US" sz="2000" dirty="0" smtClean="0"/>
              <a:t>Wavefront reforming</a:t>
            </a:r>
          </a:p>
        </p:txBody>
      </p:sp>
      <p:sp>
        <p:nvSpPr>
          <p:cNvPr id="6" name="投影片編號版面配置區 4"/>
          <p:cNvSpPr>
            <a:spLocks noGrp="1"/>
          </p:cNvSpPr>
          <p:nvPr>
            <p:ph type="sldNum" sz="quarter" idx="4294967295"/>
          </p:nvPr>
        </p:nvSpPr>
        <p:spPr>
          <a:xfrm>
            <a:off x="6831013" y="6524625"/>
            <a:ext cx="2133600" cy="339725"/>
          </a:xfrm>
          <a:prstGeom prst="rect">
            <a:avLst/>
          </a:prstGeom>
        </p:spPr>
        <p:txBody>
          <a:bodyPr/>
          <a:lstStyle/>
          <a:p>
            <a:pPr algn="r">
              <a:defRPr/>
            </a:pPr>
            <a:fld id="{1A9115C5-2FF4-4A45-B75E-C3C89F0A7A51}" type="slidenum">
              <a:rPr lang="en-US" altLang="zh-TW" sz="1200" smtClean="0">
                <a:solidFill>
                  <a:schemeClr val="bg1"/>
                </a:solidFill>
              </a:rPr>
              <a:pPr algn="r">
                <a:defRPr/>
              </a:pPr>
              <a:t>13</a:t>
            </a:fld>
            <a:endParaRPr lang="en-US" altLang="zh-TW" sz="1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65173894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HSA Runtime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228600" y="1196752"/>
            <a:ext cx="8686800" cy="4896544"/>
          </a:xfrm>
        </p:spPr>
        <p:txBody>
          <a:bodyPr/>
          <a:lstStyle/>
          <a:p>
            <a:pPr>
              <a:spcAft>
                <a:spcPts val="1200"/>
              </a:spcAft>
            </a:pPr>
            <a:r>
              <a:rPr lang="en-US" altLang="zh-TW" sz="2400" dirty="0"/>
              <a:t>The HSA core runtime is a thin, user-mode API that provides the interface necessary for the host to launch compute kernels to the available HSA components</a:t>
            </a:r>
            <a:r>
              <a:rPr lang="en-US" altLang="zh-TW" sz="2400" dirty="0" smtClean="0"/>
              <a:t>.</a:t>
            </a:r>
            <a:endParaRPr lang="en-US" altLang="zh-TW" sz="2400" dirty="0"/>
          </a:p>
          <a:p>
            <a:r>
              <a:rPr lang="en-US" altLang="zh-TW" sz="2400" dirty="0"/>
              <a:t>The overall goal of the HSA core runtime design is to provide a high-performance dispatch mechanism that is portable across multiple HSA vendor architectures.</a:t>
            </a:r>
          </a:p>
          <a:p>
            <a:pPr lvl="1"/>
            <a:r>
              <a:rPr lang="en-US" altLang="zh-TW" sz="2000" dirty="0"/>
              <a:t>The dispatch mechanism differentiates the HSA runtime from other language runtimes by architected argument setting and kernel launching at the hardware and specification level.</a:t>
            </a:r>
          </a:p>
          <a:p>
            <a:pPr lvl="1"/>
            <a:r>
              <a:rPr lang="en-US" altLang="zh-TW" sz="2000" dirty="0"/>
              <a:t>The HSA core runtime API is standard across all HSA vendors, such that languages which use the HSA runtime can run on different vendor’s platforms that support the API. </a:t>
            </a:r>
          </a:p>
        </p:txBody>
      </p:sp>
      <p:sp>
        <p:nvSpPr>
          <p:cNvPr id="4" name="投影片編號版面配置區 4"/>
          <p:cNvSpPr>
            <a:spLocks noGrp="1"/>
          </p:cNvSpPr>
          <p:nvPr>
            <p:ph type="sldNum" sz="quarter" idx="10"/>
          </p:nvPr>
        </p:nvSpPr>
        <p:spPr>
          <a:xfrm>
            <a:off x="6831013" y="6524625"/>
            <a:ext cx="2133600" cy="339725"/>
          </a:xfrm>
        </p:spPr>
        <p:txBody>
          <a:bodyPr/>
          <a:lstStyle/>
          <a:p>
            <a:pPr>
              <a:defRPr/>
            </a:pPr>
            <a:fld id="{1A9115C5-2FF4-4A45-B75E-C3C89F0A7A51}" type="slidenum">
              <a:rPr lang="en-US" altLang="zh-TW" smtClean="0">
                <a:solidFill>
                  <a:schemeClr val="bg1"/>
                </a:solidFill>
              </a:rPr>
              <a:pPr>
                <a:defRPr/>
              </a:pPr>
              <a:t>14</a:t>
            </a:fld>
            <a:endParaRPr lang="en-US" altLang="zh-TW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77976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504" y="216570"/>
            <a:ext cx="8207375" cy="692150"/>
          </a:xfrm>
        </p:spPr>
        <p:txBody>
          <a:bodyPr/>
          <a:lstStyle/>
          <a:p>
            <a:r>
              <a:rPr lang="en-US" sz="3200" dirty="0" smtClean="0"/>
              <a:t>HSA Platform</a:t>
            </a:r>
            <a:endParaRPr lang="en-US" sz="3200" dirty="0"/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20" y="1099122"/>
            <a:ext cx="8604448" cy="4981993"/>
          </a:xfrm>
          <a:prstGeom prst="rect">
            <a:avLst/>
          </a:prstGeom>
        </p:spPr>
      </p:pic>
      <p:sp>
        <p:nvSpPr>
          <p:cNvPr id="5" name="投影片編號版面配置區 4"/>
          <p:cNvSpPr>
            <a:spLocks noGrp="1"/>
          </p:cNvSpPr>
          <p:nvPr>
            <p:ph type="sldNum" sz="quarter" idx="10"/>
          </p:nvPr>
        </p:nvSpPr>
        <p:spPr>
          <a:xfrm>
            <a:off x="6831013" y="6524625"/>
            <a:ext cx="2133600" cy="339725"/>
          </a:xfrm>
        </p:spPr>
        <p:txBody>
          <a:bodyPr/>
          <a:lstStyle/>
          <a:p>
            <a:pPr>
              <a:defRPr/>
            </a:pPr>
            <a:fld id="{1A9115C5-2FF4-4A45-B75E-C3C89F0A7A51}" type="slidenum">
              <a:rPr lang="en-US" altLang="zh-TW" smtClean="0">
                <a:solidFill>
                  <a:schemeClr val="bg1"/>
                </a:solidFill>
              </a:rPr>
              <a:pPr>
                <a:defRPr/>
              </a:pPr>
              <a:t>15</a:t>
            </a:fld>
            <a:endParaRPr lang="en-US" altLang="zh-TW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136138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520" y="216570"/>
            <a:ext cx="8207375" cy="692150"/>
          </a:xfrm>
        </p:spPr>
        <p:txBody>
          <a:bodyPr/>
          <a:lstStyle/>
          <a:p>
            <a:r>
              <a:rPr lang="en-US" dirty="0" smtClean="0"/>
              <a:t>Simplified HSA Software Stack</a:t>
            </a:r>
            <a:endParaRPr lang="en-US" dirty="0"/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528" y="1108176"/>
            <a:ext cx="8510149" cy="4968552"/>
          </a:xfrm>
          <a:prstGeom prst="rect">
            <a:avLst/>
          </a:prstGeom>
        </p:spPr>
      </p:pic>
      <p:sp>
        <p:nvSpPr>
          <p:cNvPr id="5" name="投影片編號版面配置區 4"/>
          <p:cNvSpPr>
            <a:spLocks noGrp="1"/>
          </p:cNvSpPr>
          <p:nvPr>
            <p:ph type="sldNum" sz="quarter" idx="10"/>
          </p:nvPr>
        </p:nvSpPr>
        <p:spPr>
          <a:xfrm>
            <a:off x="6831013" y="6524625"/>
            <a:ext cx="2133600" cy="339725"/>
          </a:xfrm>
        </p:spPr>
        <p:txBody>
          <a:bodyPr/>
          <a:lstStyle/>
          <a:p>
            <a:pPr>
              <a:defRPr/>
            </a:pPr>
            <a:fld id="{1A9115C5-2FF4-4A45-B75E-C3C89F0A7A51}" type="slidenum">
              <a:rPr lang="en-US" altLang="zh-TW" smtClean="0">
                <a:solidFill>
                  <a:schemeClr val="bg1"/>
                </a:solidFill>
              </a:rPr>
              <a:pPr>
                <a:defRPr/>
              </a:pPr>
              <a:t>16</a:t>
            </a:fld>
            <a:endParaRPr lang="en-US" altLang="zh-TW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79871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r>
              <a:rPr lang="en-US" altLang="zh-TW" dirty="0"/>
              <a:t>First </a:t>
            </a:r>
            <a:r>
              <a:rPr lang="en-US" altLang="zh-TW" dirty="0" smtClean="0"/>
              <a:t>HSA APU</a:t>
            </a:r>
            <a:endParaRPr lang="en-US" altLang="zh-TW" dirty="0"/>
          </a:p>
        </p:txBody>
      </p:sp>
      <p:pic>
        <p:nvPicPr>
          <p:cNvPr id="4" name="Picture 1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68" y="1124744"/>
            <a:ext cx="9098236" cy="49113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投影片編號版面配置區 4"/>
          <p:cNvSpPr>
            <a:spLocks noGrp="1"/>
          </p:cNvSpPr>
          <p:nvPr>
            <p:ph type="sldNum" sz="quarter" idx="10"/>
          </p:nvPr>
        </p:nvSpPr>
        <p:spPr>
          <a:xfrm>
            <a:off x="6831013" y="6524625"/>
            <a:ext cx="2133600" cy="339725"/>
          </a:xfrm>
        </p:spPr>
        <p:txBody>
          <a:bodyPr/>
          <a:lstStyle/>
          <a:p>
            <a:pPr>
              <a:defRPr/>
            </a:pPr>
            <a:fld id="{1A9115C5-2FF4-4A45-B75E-C3C89F0A7A51}" type="slidenum">
              <a:rPr lang="en-US" altLang="zh-TW" smtClean="0">
                <a:solidFill>
                  <a:schemeClr val="bg1"/>
                </a:solidFill>
              </a:rPr>
              <a:pPr>
                <a:defRPr/>
              </a:pPr>
              <a:t>17</a:t>
            </a:fld>
            <a:endParaRPr lang="en-US" altLang="zh-TW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025996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188640"/>
            <a:ext cx="7991351" cy="692150"/>
          </a:xfrm>
        </p:spPr>
        <p:txBody>
          <a:bodyPr/>
          <a:lstStyle/>
          <a:p>
            <a:r>
              <a:rPr lang="en-US" dirty="0" smtClean="0"/>
              <a:t>What Is </a:t>
            </a:r>
            <a:r>
              <a:rPr lang="en-US" dirty="0" err="1" smtClean="0"/>
              <a:t>HSAemu</a:t>
            </a:r>
            <a:endParaRPr lang="en-US" dirty="0"/>
          </a:p>
        </p:txBody>
      </p:sp>
      <p:pic>
        <p:nvPicPr>
          <p:cNvPr id="4" name="Picture 2" descr="E:\Quardia\Quardia Client Folder - Active\AMD\SQUARE png resource\AMD Content background square archi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4600" y="1556792"/>
            <a:ext cx="2615672" cy="3487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投影片編號版面配置區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A9115C5-2FF4-4A45-B75E-C3C89F0A7A51}" type="slidenum">
              <a:rPr lang="en-US" altLang="zh-TW" smtClean="0">
                <a:solidFill>
                  <a:schemeClr val="bg1"/>
                </a:solidFill>
              </a:rPr>
              <a:pPr>
                <a:defRPr/>
              </a:pPr>
              <a:t>18</a:t>
            </a:fld>
            <a:endParaRPr lang="en-US" altLang="zh-TW" dirty="0">
              <a:solidFill>
                <a:schemeClr val="bg1"/>
              </a:solidFill>
            </a:endParaRPr>
          </a:p>
        </p:txBody>
      </p:sp>
      <p:sp>
        <p:nvSpPr>
          <p:cNvPr id="6" name="內容版面配置區 2"/>
          <p:cNvSpPr txBox="1">
            <a:spLocks/>
          </p:cNvSpPr>
          <p:nvPr/>
        </p:nvSpPr>
        <p:spPr bwMode="auto">
          <a:xfrm>
            <a:off x="107504" y="1268760"/>
            <a:ext cx="6804248" cy="48272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indent="-342900" eaLnBrk="0" hangingPunct="0">
              <a:spcBef>
                <a:spcPts val="0"/>
              </a:spcBef>
              <a:buClr>
                <a:srgbClr val="0000FF"/>
              </a:buClr>
              <a:buSzPct val="80000"/>
              <a:buFont typeface="Wingdings" pitchFamily="2" charset="2"/>
              <a:buChar char="l"/>
            </a:pPr>
            <a:r>
              <a:rPr lang="en-US" altLang="zh-TW" sz="2000" dirty="0" err="1" smtClean="0">
                <a:latin typeface="Calibri" pitchFamily="34" charset="0"/>
              </a:rPr>
              <a:t>HSAemu</a:t>
            </a:r>
            <a:r>
              <a:rPr lang="en-US" altLang="zh-TW" sz="2000" dirty="0" smtClean="0">
                <a:latin typeface="Calibri" pitchFamily="34" charset="0"/>
              </a:rPr>
              <a:t> is a </a:t>
            </a:r>
            <a:r>
              <a:rPr lang="en-US" altLang="zh-TW" sz="2000" dirty="0" smtClean="0">
                <a:solidFill>
                  <a:srgbClr val="FF0000"/>
                </a:solidFill>
                <a:latin typeface="Calibri" pitchFamily="34" charset="0"/>
              </a:rPr>
              <a:t>full system emulator</a:t>
            </a:r>
            <a:r>
              <a:rPr lang="en-US" altLang="zh-TW" sz="2000" dirty="0" smtClean="0">
                <a:latin typeface="Calibri" pitchFamily="34" charset="0"/>
              </a:rPr>
              <a:t> that supports the following HSA features</a:t>
            </a:r>
          </a:p>
          <a:p>
            <a:pPr marL="800100" lvl="1" indent="-342900" eaLnBrk="0" hangingPunct="0">
              <a:spcBef>
                <a:spcPts val="0"/>
              </a:spcBef>
              <a:spcAft>
                <a:spcPts val="600"/>
              </a:spcAft>
              <a:buClr>
                <a:srgbClr val="0000FF"/>
              </a:buClr>
              <a:buSzPct val="80000"/>
              <a:buFont typeface="Calibri" pitchFamily="34" charset="0"/>
              <a:buChar char="–"/>
            </a:pPr>
            <a:r>
              <a:rPr lang="en-US" altLang="zh-TW" dirty="0" smtClean="0">
                <a:latin typeface="Calibri" pitchFamily="34" charset="0"/>
              </a:rPr>
              <a:t>Shared virtual memory between CPU and GPU</a:t>
            </a:r>
          </a:p>
          <a:p>
            <a:pPr marL="800100" lvl="1" indent="-342900" eaLnBrk="0" hangingPunct="0">
              <a:spcBef>
                <a:spcPts val="0"/>
              </a:spcBef>
              <a:spcAft>
                <a:spcPts val="600"/>
              </a:spcAft>
              <a:buClr>
                <a:srgbClr val="0000FF"/>
              </a:buClr>
              <a:buSzPct val="80000"/>
              <a:buFont typeface="Calibri" pitchFamily="34" charset="0"/>
              <a:buChar char="–"/>
            </a:pPr>
            <a:r>
              <a:rPr lang="en-US" altLang="zh-TW" dirty="0" smtClean="0">
                <a:latin typeface="Calibri" pitchFamily="34" charset="0"/>
              </a:rPr>
              <a:t>Memory based signaling and synchronization</a:t>
            </a:r>
          </a:p>
          <a:p>
            <a:pPr marL="800100" lvl="1" indent="-342900" eaLnBrk="0" hangingPunct="0">
              <a:spcBef>
                <a:spcPts val="0"/>
              </a:spcBef>
              <a:spcAft>
                <a:spcPts val="600"/>
              </a:spcAft>
              <a:buClr>
                <a:srgbClr val="0000FF"/>
              </a:buClr>
              <a:buSzPct val="80000"/>
              <a:buFont typeface="Calibri" pitchFamily="34" charset="0"/>
              <a:buChar char="–"/>
            </a:pPr>
            <a:r>
              <a:rPr lang="en-US" altLang="zh-TW" dirty="0" smtClean="0">
                <a:latin typeface="Calibri" pitchFamily="34" charset="0"/>
              </a:rPr>
              <a:t>Multiple user level command queues</a:t>
            </a:r>
          </a:p>
          <a:p>
            <a:pPr marL="800100" lvl="1" indent="-342900" eaLnBrk="0" hangingPunct="0">
              <a:spcBef>
                <a:spcPts val="0"/>
              </a:spcBef>
              <a:spcAft>
                <a:spcPts val="600"/>
              </a:spcAft>
              <a:buClr>
                <a:srgbClr val="0000FF"/>
              </a:buClr>
              <a:buSzPct val="80000"/>
              <a:buFont typeface="Calibri" pitchFamily="34" charset="0"/>
              <a:buChar char="–"/>
            </a:pPr>
            <a:r>
              <a:rPr lang="en-US" altLang="zh-TW" dirty="0" smtClean="0">
                <a:latin typeface="Calibri" pitchFamily="34" charset="0"/>
              </a:rPr>
              <a:t>Preemptive GPU context switching</a:t>
            </a:r>
          </a:p>
          <a:p>
            <a:pPr marL="800100" lvl="1" indent="-342900" eaLnBrk="0" hangingPunct="0">
              <a:spcBef>
                <a:spcPts val="0"/>
              </a:spcBef>
              <a:spcAft>
                <a:spcPts val="600"/>
              </a:spcAft>
              <a:buClr>
                <a:srgbClr val="0000FF"/>
              </a:buClr>
              <a:buSzPct val="80000"/>
              <a:buFont typeface="Calibri" pitchFamily="34" charset="0"/>
              <a:buChar char="–"/>
            </a:pPr>
            <a:r>
              <a:rPr lang="en-US" altLang="zh-TW" dirty="0" smtClean="0">
                <a:latin typeface="Calibri" pitchFamily="34" charset="0"/>
              </a:rPr>
              <a:t>Concurrent execution of CPU threads and GPU threads</a:t>
            </a:r>
          </a:p>
          <a:p>
            <a:pPr marL="800100" lvl="1" indent="-342900" eaLnBrk="0" hangingPunct="0">
              <a:spcBef>
                <a:spcPts val="0"/>
              </a:spcBef>
              <a:spcAft>
                <a:spcPts val="600"/>
              </a:spcAft>
              <a:buClr>
                <a:srgbClr val="0000FF"/>
              </a:buClr>
              <a:buSzPct val="80000"/>
              <a:buFont typeface="Calibri" pitchFamily="34" charset="0"/>
              <a:buChar char="–"/>
            </a:pPr>
            <a:r>
              <a:rPr kumimoji="1" lang="en-US" altLang="zh-TW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標楷體" pitchFamily="65" charset="-120"/>
              </a:rPr>
              <a:t>HSA</a:t>
            </a:r>
            <a:r>
              <a:rPr kumimoji="1" lang="en-US" altLang="zh-TW" i="0" u="none" strike="noStrike" kern="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標楷體" pitchFamily="65" charset="-120"/>
              </a:rPr>
              <a:t> runtime</a:t>
            </a:r>
          </a:p>
          <a:p>
            <a:pPr marL="800100" lvl="1" indent="-342900" eaLnBrk="0" hangingPunct="0">
              <a:spcBef>
                <a:spcPts val="0"/>
              </a:spcBef>
              <a:spcAft>
                <a:spcPts val="600"/>
              </a:spcAft>
              <a:buClr>
                <a:srgbClr val="0000FF"/>
              </a:buClr>
              <a:buSzPct val="80000"/>
              <a:buFont typeface="Calibri" pitchFamily="34" charset="0"/>
              <a:buChar char="–"/>
            </a:pPr>
            <a:r>
              <a:rPr lang="en-US" altLang="zh-TW" kern="0" baseline="0" dirty="0" smtClean="0">
                <a:latin typeface="Calibri" pitchFamily="34" charset="0"/>
                <a:ea typeface="標楷體" pitchFamily="65" charset="-120"/>
              </a:rPr>
              <a:t>Finalizer</a:t>
            </a:r>
            <a:endParaRPr lang="en-US" altLang="zh-TW" kern="0" dirty="0" smtClean="0">
              <a:latin typeface="Calibri" pitchFamily="34" charset="0"/>
              <a:ea typeface="標楷體" pitchFamily="65" charset="-12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FF"/>
              </a:buClr>
              <a:buSzPct val="80000"/>
              <a:buFont typeface="Wingdings" pitchFamily="2" charset="2"/>
              <a:buChar char="l"/>
              <a:tabLst/>
              <a:defRPr/>
            </a:pPr>
            <a:r>
              <a:rPr lang="en-US" altLang="zh-TW" sz="2000" kern="0" dirty="0" smtClean="0">
                <a:latin typeface="Calibri" pitchFamily="34" charset="0"/>
                <a:ea typeface="標楷體" pitchFamily="65" charset="-120"/>
              </a:rPr>
              <a:t>A project sponsored by </a:t>
            </a:r>
            <a:r>
              <a:rPr lang="en-US" altLang="zh-TW" sz="2000" kern="0" dirty="0" err="1" smtClean="0">
                <a:latin typeface="Calibri" pitchFamily="34" charset="0"/>
                <a:ea typeface="標楷體" pitchFamily="65" charset="-120"/>
              </a:rPr>
              <a:t>MediaTek</a:t>
            </a:r>
            <a:r>
              <a:rPr lang="en-US" altLang="zh-TW" sz="2000" kern="0" dirty="0" smtClean="0">
                <a:latin typeface="Calibri" pitchFamily="34" charset="0"/>
                <a:ea typeface="標楷體" pitchFamily="65" charset="-120"/>
              </a:rPr>
              <a:t> (MTK)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l"/>
              <a:tabLst/>
              <a:defRPr/>
            </a:pPr>
            <a:r>
              <a:rPr lang="en-US" altLang="zh-TW" sz="2000" kern="0" dirty="0" smtClean="0">
                <a:latin typeface="Calibri" pitchFamily="34" charset="0"/>
                <a:ea typeface="標楷體" pitchFamily="65" charset="-120"/>
              </a:rPr>
              <a:t>Currently, it supports simple HSA platform simulation</a:t>
            </a:r>
          </a:p>
          <a:p>
            <a:pPr marL="800100" lvl="1" indent="-342900" eaLnBrk="0" hangingPunct="0">
              <a:spcBef>
                <a:spcPts val="0"/>
              </a:spcBef>
              <a:buClr>
                <a:srgbClr val="0000FF"/>
              </a:buClr>
              <a:buSzPct val="80000"/>
              <a:buFont typeface="Calibri" pitchFamily="34" charset="0"/>
              <a:buChar char="–"/>
            </a:pPr>
            <a:r>
              <a:rPr kumimoji="1" lang="en-US" altLang="zh-TW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標楷體" pitchFamily="65" charset="-120"/>
              </a:rPr>
              <a:t>Functional-accurate simulation</a:t>
            </a:r>
          </a:p>
          <a:p>
            <a:pPr marL="800100" lvl="1" indent="-342900" eaLnBrk="0" hangingPunct="0">
              <a:spcBef>
                <a:spcPts val="0"/>
              </a:spcBef>
              <a:buClr>
                <a:srgbClr val="0000FF"/>
              </a:buClr>
              <a:buSzPct val="80000"/>
              <a:buFont typeface="Calibri" pitchFamily="34" charset="0"/>
              <a:buChar char="–"/>
            </a:pPr>
            <a:r>
              <a:rPr lang="en-US" altLang="zh-TW" kern="0" dirty="0" smtClean="0">
                <a:latin typeface="Calibri" pitchFamily="34" charset="0"/>
                <a:ea typeface="標楷體" pitchFamily="65" charset="-120"/>
              </a:rPr>
              <a:t>Cycle-accurate simulation</a:t>
            </a:r>
            <a:endParaRPr kumimoji="1" lang="en-US" altLang="zh-TW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itchFamily="34" charset="0"/>
              <a:ea typeface="標楷體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20455673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dirty="0" smtClean="0">
                <a:solidFill>
                  <a:schemeClr val="accent1">
                    <a:lumMod val="75000"/>
                  </a:schemeClr>
                </a:solidFill>
                <a:cs typeface="Times New Roman" panose="02020603050405020304" pitchFamily="18" charset="0"/>
              </a:rPr>
              <a:t>Goals of </a:t>
            </a:r>
            <a:r>
              <a:rPr lang="en-US" altLang="zh-TW" dirty="0" err="1" smtClean="0">
                <a:solidFill>
                  <a:schemeClr val="accent1">
                    <a:lumMod val="75000"/>
                  </a:schemeClr>
                </a:solidFill>
                <a:cs typeface="Times New Roman" panose="02020603050405020304" pitchFamily="18" charset="0"/>
              </a:rPr>
              <a:t>HSAemu</a:t>
            </a:r>
            <a:endParaRPr lang="en-US" altLang="zh-TW" dirty="0" smtClean="0">
              <a:solidFill>
                <a:schemeClr val="accent1">
                  <a:lumMod val="75000"/>
                </a:schemeClr>
              </a:solidFill>
              <a:cs typeface="Times New Roman" panose="02020603050405020304" pitchFamily="18" charset="0"/>
            </a:endParaRPr>
          </a:p>
        </p:txBody>
      </p:sp>
      <p:sp>
        <p:nvSpPr>
          <p:cNvPr id="6147" name="Rectangle 3"/>
          <p:cNvSpPr>
            <a:spLocks noGrp="1" noRot="1" noChangeArrowheads="1"/>
          </p:cNvSpPr>
          <p:nvPr>
            <p:ph idx="1"/>
          </p:nvPr>
        </p:nvSpPr>
        <p:spPr>
          <a:xfrm>
            <a:off x="301625" y="1219200"/>
            <a:ext cx="8540750" cy="4191000"/>
          </a:xfrm>
        </p:spPr>
        <p:txBody>
          <a:bodyPr/>
          <a:lstStyle/>
          <a:p>
            <a:pPr eaLnBrk="1" hangingPunct="1">
              <a:spcBef>
                <a:spcPts val="0"/>
              </a:spcBef>
              <a:spcAft>
                <a:spcPts val="600"/>
              </a:spcAft>
              <a:defRPr/>
            </a:pPr>
            <a:r>
              <a:rPr lang="en-US" altLang="zh-TW" sz="2400" dirty="0" smtClean="0">
                <a:ea typeface="新細明體" panose="02020500000000000000" pitchFamily="18" charset="-120"/>
              </a:rPr>
              <a:t>Verify software stack implementation</a:t>
            </a:r>
          </a:p>
          <a:p>
            <a:pPr lvl="1" eaLnBrk="1" hangingPunct="1">
              <a:spcBef>
                <a:spcPts val="0"/>
              </a:spcBef>
              <a:spcAft>
                <a:spcPts val="600"/>
              </a:spcAft>
              <a:defRPr/>
            </a:pPr>
            <a:r>
              <a:rPr lang="en-US" altLang="zh-TW" sz="2000" dirty="0" smtClean="0">
                <a:ea typeface="新細明體" panose="02020500000000000000" pitchFamily="18" charset="-120"/>
              </a:rPr>
              <a:t>Tool chain/SDK</a:t>
            </a:r>
          </a:p>
          <a:p>
            <a:pPr lvl="1" eaLnBrk="1" hangingPunct="1">
              <a:spcBef>
                <a:spcPts val="0"/>
              </a:spcBef>
              <a:spcAft>
                <a:spcPts val="600"/>
              </a:spcAft>
              <a:defRPr/>
            </a:pPr>
            <a:r>
              <a:rPr lang="en-US" altLang="zh-TW" sz="2000" dirty="0" smtClean="0">
                <a:ea typeface="新細明體" panose="02020500000000000000" pitchFamily="18" charset="-120"/>
              </a:rPr>
              <a:t>HSA runtime</a:t>
            </a:r>
          </a:p>
          <a:p>
            <a:pPr lvl="1" eaLnBrk="1" hangingPunct="1">
              <a:spcBef>
                <a:spcPts val="0"/>
              </a:spcBef>
              <a:spcAft>
                <a:spcPts val="600"/>
              </a:spcAft>
              <a:defRPr/>
            </a:pPr>
            <a:r>
              <a:rPr lang="en-US" altLang="zh-TW" sz="2000" dirty="0" err="1" smtClean="0">
                <a:ea typeface="新細明體" panose="02020500000000000000" pitchFamily="18" charset="-120"/>
              </a:rPr>
              <a:t>Finalizers</a:t>
            </a:r>
            <a:endParaRPr lang="en-US" altLang="zh-TW" sz="2000" dirty="0" smtClean="0">
              <a:ea typeface="新細明體" panose="02020500000000000000" pitchFamily="18" charset="-120"/>
            </a:endParaRPr>
          </a:p>
          <a:p>
            <a:pPr eaLnBrk="1" hangingPunct="1">
              <a:spcBef>
                <a:spcPts val="600"/>
              </a:spcBef>
              <a:spcAft>
                <a:spcPts val="600"/>
              </a:spcAft>
              <a:defRPr/>
            </a:pPr>
            <a:r>
              <a:rPr lang="en-US" altLang="zh-TW" sz="2400" dirty="0" smtClean="0">
                <a:ea typeface="新細明體" panose="02020500000000000000" pitchFamily="18" charset="-120"/>
              </a:rPr>
              <a:t>Assist application software </a:t>
            </a:r>
            <a:r>
              <a:rPr lang="en-US" altLang="zh-TW" sz="2400" dirty="0">
                <a:ea typeface="新細明體" panose="02020500000000000000" pitchFamily="18" charset="-120"/>
              </a:rPr>
              <a:t>development in parallel to hardware </a:t>
            </a:r>
            <a:r>
              <a:rPr lang="en-US" altLang="zh-TW" sz="2400" dirty="0" smtClean="0">
                <a:ea typeface="新細明體" panose="02020500000000000000" pitchFamily="18" charset="-120"/>
              </a:rPr>
              <a:t>development</a:t>
            </a:r>
          </a:p>
          <a:p>
            <a:pPr lvl="1" eaLnBrk="1" hangingPunct="1">
              <a:spcBef>
                <a:spcPts val="0"/>
              </a:spcBef>
              <a:spcAft>
                <a:spcPts val="600"/>
              </a:spcAft>
              <a:defRPr/>
            </a:pPr>
            <a:r>
              <a:rPr lang="en-US" altLang="zh-TW" sz="2000" dirty="0" smtClean="0">
                <a:ea typeface="新細明體" panose="02020500000000000000" pitchFamily="18" charset="-120"/>
              </a:rPr>
              <a:t>HSA feature support</a:t>
            </a:r>
          </a:p>
          <a:p>
            <a:pPr lvl="1" eaLnBrk="1" hangingPunct="1">
              <a:spcBef>
                <a:spcPts val="0"/>
              </a:spcBef>
              <a:spcAft>
                <a:spcPts val="600"/>
              </a:spcAft>
              <a:defRPr/>
            </a:pPr>
            <a:r>
              <a:rPr lang="en-US" altLang="zh-TW" sz="2000" dirty="0" smtClean="0">
                <a:ea typeface="新細明體" panose="02020500000000000000" pitchFamily="18" charset="-120"/>
              </a:rPr>
              <a:t>functional correctness guaranteed</a:t>
            </a:r>
          </a:p>
          <a:p>
            <a:pPr eaLnBrk="1" hangingPunct="1">
              <a:spcBef>
                <a:spcPts val="1200"/>
              </a:spcBef>
              <a:spcAft>
                <a:spcPts val="0"/>
              </a:spcAft>
              <a:defRPr/>
            </a:pPr>
            <a:r>
              <a:rPr lang="en-US" altLang="zh-TW" sz="2400" dirty="0" smtClean="0">
                <a:ea typeface="新細明體" panose="02020500000000000000" pitchFamily="18" charset="-120"/>
              </a:rPr>
              <a:t>Easy to plug-in different simulators/emulators</a:t>
            </a:r>
          </a:p>
          <a:p>
            <a:pPr lvl="1" eaLnBrk="1" hangingPunct="1">
              <a:spcBef>
                <a:spcPts val="600"/>
              </a:spcBef>
              <a:spcAft>
                <a:spcPts val="600"/>
              </a:spcAft>
              <a:defRPr/>
            </a:pPr>
            <a:r>
              <a:rPr lang="en-US" altLang="zh-TW" sz="2000" dirty="0" smtClean="0">
                <a:ea typeface="新細明體" panose="02020500000000000000" pitchFamily="18" charset="-120"/>
              </a:rPr>
              <a:t>Provide a command buffer interface</a:t>
            </a:r>
          </a:p>
        </p:txBody>
      </p:sp>
      <p:sp>
        <p:nvSpPr>
          <p:cNvPr id="4" name="投影片編號版面配置區 4"/>
          <p:cNvSpPr>
            <a:spLocks noGrp="1"/>
          </p:cNvSpPr>
          <p:nvPr>
            <p:ph type="sldNum" sz="quarter" idx="10"/>
          </p:nvPr>
        </p:nvSpPr>
        <p:spPr>
          <a:xfrm>
            <a:off x="6831013" y="6524625"/>
            <a:ext cx="2133600" cy="339725"/>
          </a:xfrm>
        </p:spPr>
        <p:txBody>
          <a:bodyPr/>
          <a:lstStyle/>
          <a:p>
            <a:pPr>
              <a:defRPr/>
            </a:pPr>
            <a:fld id="{1A9115C5-2FF4-4A45-B75E-C3C89F0A7A51}" type="slidenum">
              <a:rPr lang="en-US" altLang="zh-TW" smtClean="0">
                <a:solidFill>
                  <a:schemeClr val="bg1"/>
                </a:solidFill>
              </a:rPr>
              <a:pPr>
                <a:defRPr/>
              </a:pPr>
              <a:t>19</a:t>
            </a:fld>
            <a:endParaRPr lang="en-US" altLang="zh-TW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27024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68472" y="1126634"/>
            <a:ext cx="3646928" cy="4969366"/>
          </a:xfrm>
          <a:prstGeom prst="rect">
            <a:avLst/>
          </a:prstGeom>
        </p:spPr>
      </p:pic>
      <p:sp>
        <p:nvSpPr>
          <p:cNvPr id="6146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dirty="0" smtClean="0">
                <a:solidFill>
                  <a:schemeClr val="accent1">
                    <a:lumMod val="75000"/>
                  </a:schemeClr>
                </a:solidFill>
                <a:cs typeface="Times New Roman" panose="02020603050405020304" pitchFamily="18" charset="0"/>
              </a:rPr>
              <a:t>Architecture of </a:t>
            </a:r>
            <a:r>
              <a:rPr lang="en-US" altLang="zh-TW" dirty="0" err="1" smtClean="0">
                <a:solidFill>
                  <a:schemeClr val="accent1">
                    <a:lumMod val="75000"/>
                  </a:schemeClr>
                </a:solidFill>
                <a:cs typeface="Times New Roman" panose="02020603050405020304" pitchFamily="18" charset="0"/>
              </a:rPr>
              <a:t>HSAemu</a:t>
            </a:r>
            <a:endParaRPr lang="en-US" altLang="zh-TW" dirty="0" smtClean="0">
              <a:solidFill>
                <a:schemeClr val="accent1">
                  <a:lumMod val="75000"/>
                </a:schemeClr>
              </a:solidFill>
              <a:cs typeface="Times New Roman" panose="02020603050405020304" pitchFamily="18" charset="0"/>
            </a:endParaRPr>
          </a:p>
        </p:txBody>
      </p:sp>
      <p:sp>
        <p:nvSpPr>
          <p:cNvPr id="6147" name="Rectangle 3"/>
          <p:cNvSpPr>
            <a:spLocks noGrp="1" noRot="1" noChangeArrowheads="1"/>
          </p:cNvSpPr>
          <p:nvPr>
            <p:ph idx="1"/>
          </p:nvPr>
        </p:nvSpPr>
        <p:spPr>
          <a:xfrm>
            <a:off x="152400" y="1143000"/>
            <a:ext cx="4800600" cy="44196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TW" sz="2400" dirty="0" err="1" smtClean="0">
                <a:ea typeface="新細明體" panose="02020500000000000000" pitchFamily="18" charset="-120"/>
              </a:rPr>
              <a:t>HSAemu</a:t>
            </a:r>
            <a:r>
              <a:rPr lang="en-US" altLang="zh-TW" sz="2400" dirty="0" smtClean="0">
                <a:ea typeface="新細明體" panose="02020500000000000000" pitchFamily="18" charset="-120"/>
              </a:rPr>
              <a:t> consists of 9 components</a:t>
            </a:r>
          </a:p>
          <a:p>
            <a:pPr lvl="1" eaLnBrk="1" hangingPunct="1">
              <a:defRPr/>
            </a:pPr>
            <a:r>
              <a:rPr lang="en-US" altLang="zh-TW" sz="2000" dirty="0" smtClean="0">
                <a:ea typeface="新細明體" panose="02020500000000000000" pitchFamily="18" charset="-120"/>
              </a:rPr>
              <a:t>HSAIL Off-line Compiler</a:t>
            </a:r>
          </a:p>
          <a:p>
            <a:pPr lvl="1" eaLnBrk="1" hangingPunct="1">
              <a:defRPr/>
            </a:pPr>
            <a:r>
              <a:rPr lang="en-US" altLang="zh-TW" sz="2000" dirty="0" smtClean="0">
                <a:ea typeface="新細明體" panose="02020500000000000000" pitchFamily="18" charset="-120"/>
              </a:rPr>
              <a:t>HSA Runtime</a:t>
            </a:r>
          </a:p>
          <a:p>
            <a:pPr lvl="1" eaLnBrk="1" hangingPunct="1">
              <a:defRPr/>
            </a:pPr>
            <a:r>
              <a:rPr lang="en-US" altLang="zh-TW" sz="2000" dirty="0" smtClean="0">
                <a:ea typeface="新細明體" panose="02020500000000000000" pitchFamily="18" charset="-120"/>
              </a:rPr>
              <a:t>HSA Driver</a:t>
            </a:r>
          </a:p>
          <a:p>
            <a:pPr lvl="1" eaLnBrk="1" hangingPunct="1">
              <a:defRPr/>
            </a:pPr>
            <a:r>
              <a:rPr lang="en-US" altLang="zh-TW" sz="2000" dirty="0" smtClean="0">
                <a:ea typeface="新細明體" panose="02020500000000000000" pitchFamily="18" charset="-120"/>
              </a:rPr>
              <a:t>HSA Finalizer</a:t>
            </a:r>
          </a:p>
          <a:p>
            <a:pPr lvl="1" eaLnBrk="1" hangingPunct="1">
              <a:defRPr/>
            </a:pPr>
            <a:r>
              <a:rPr lang="en-US" altLang="zh-TW" sz="2000" dirty="0" smtClean="0">
                <a:ea typeface="新細明體" panose="02020500000000000000" pitchFamily="18" charset="-120"/>
              </a:rPr>
              <a:t>CPU Simulation Module</a:t>
            </a:r>
          </a:p>
          <a:p>
            <a:pPr lvl="1" eaLnBrk="1" hangingPunct="1">
              <a:defRPr/>
            </a:pPr>
            <a:r>
              <a:rPr lang="en-US" altLang="zh-TW" sz="2000" dirty="0" smtClean="0">
                <a:ea typeface="新細明體" panose="02020500000000000000" pitchFamily="18" charset="-120"/>
              </a:rPr>
              <a:t>GPU Task Dispatcher</a:t>
            </a:r>
          </a:p>
          <a:p>
            <a:pPr lvl="1" eaLnBrk="1" hangingPunct="1">
              <a:defRPr/>
            </a:pPr>
            <a:r>
              <a:rPr lang="en-US" altLang="zh-TW" sz="2000" dirty="0" smtClean="0">
                <a:ea typeface="新細明體" panose="02020500000000000000" pitchFamily="18" charset="-120"/>
              </a:rPr>
              <a:t>Functional-Accurate GPU Simulator (Fast-Time GPU Simulator)</a:t>
            </a:r>
          </a:p>
          <a:p>
            <a:pPr lvl="1" eaLnBrk="1" hangingPunct="1">
              <a:defRPr/>
            </a:pPr>
            <a:r>
              <a:rPr lang="en-US" altLang="zh-TW" sz="2000" dirty="0" smtClean="0">
                <a:ea typeface="新細明體" panose="02020500000000000000" pitchFamily="18" charset="-120"/>
              </a:rPr>
              <a:t>Cycle-Accurate GPU Simulator (Multi2Sim)</a:t>
            </a:r>
          </a:p>
          <a:p>
            <a:pPr lvl="1" eaLnBrk="1" hangingPunct="1">
              <a:defRPr/>
            </a:pPr>
            <a:r>
              <a:rPr lang="en-US" altLang="zh-TW" sz="2000" dirty="0" smtClean="0">
                <a:ea typeface="新細明體" panose="02020500000000000000" pitchFamily="18" charset="-120"/>
              </a:rPr>
              <a:t>GPU Helper Functions</a:t>
            </a: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0"/>
          </p:nvPr>
        </p:nvSpPr>
        <p:spPr>
          <a:xfrm>
            <a:off x="6831013" y="6524625"/>
            <a:ext cx="2133600" cy="339725"/>
          </a:xfrm>
        </p:spPr>
        <p:txBody>
          <a:bodyPr/>
          <a:lstStyle/>
          <a:p>
            <a:pPr>
              <a:defRPr/>
            </a:pPr>
            <a:fld id="{1A9115C5-2FF4-4A45-B75E-C3C89F0A7A51}" type="slidenum">
              <a:rPr lang="en-US" altLang="zh-TW" smtClean="0">
                <a:solidFill>
                  <a:schemeClr val="bg1"/>
                </a:solidFill>
              </a:rPr>
              <a:pPr>
                <a:defRPr/>
              </a:pPr>
              <a:t>20</a:t>
            </a:fld>
            <a:endParaRPr lang="en-US" altLang="zh-TW" dirty="0">
              <a:solidFill>
                <a:schemeClr val="bg1"/>
              </a:solidFill>
            </a:endParaRPr>
          </a:p>
        </p:txBody>
      </p:sp>
      <p:sp>
        <p:nvSpPr>
          <p:cNvPr id="8" name="矩形 7"/>
          <p:cNvSpPr/>
          <p:nvPr/>
        </p:nvSpPr>
        <p:spPr bwMode="auto">
          <a:xfrm>
            <a:off x="5181600" y="2469775"/>
            <a:ext cx="3810000" cy="3657600"/>
          </a:xfrm>
          <a:prstGeom prst="rect">
            <a:avLst/>
          </a:prstGeom>
          <a:noFill/>
          <a:ln w="158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7" name="矩形 6"/>
          <p:cNvSpPr/>
          <p:nvPr/>
        </p:nvSpPr>
        <p:spPr bwMode="auto">
          <a:xfrm>
            <a:off x="7153835" y="1694330"/>
            <a:ext cx="1219200" cy="381000"/>
          </a:xfrm>
          <a:prstGeom prst="rect">
            <a:avLst/>
          </a:prstGeom>
          <a:noFill/>
          <a:ln w="158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1102462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367" y="1340961"/>
            <a:ext cx="3064747" cy="4176076"/>
          </a:xfrm>
          <a:prstGeom prst="rect">
            <a:avLst/>
          </a:prstGeom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 smtClean="0"/>
              <a:t>OpenCL</a:t>
            </a:r>
            <a:r>
              <a:rPr lang="en-US" altLang="zh-TW" dirty="0" smtClean="0"/>
              <a:t> 1.2 Benchmarks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733800" y="1295400"/>
            <a:ext cx="5181600" cy="2819400"/>
          </a:xfrm>
        </p:spPr>
        <p:txBody>
          <a:bodyPr/>
          <a:lstStyle/>
          <a:p>
            <a:r>
              <a:rPr lang="en-US" altLang="zh-TW" sz="2400" dirty="0" smtClean="0">
                <a:cs typeface="Times New Roman" pitchFamily="18" charset="0"/>
              </a:rPr>
              <a:t>AMD-APPSDK </a:t>
            </a:r>
            <a:r>
              <a:rPr lang="en-US" altLang="zh-TW" sz="2400" dirty="0" err="1">
                <a:cs typeface="Times New Roman" pitchFamily="18" charset="0"/>
              </a:rPr>
              <a:t>OpenCL</a:t>
            </a:r>
            <a:r>
              <a:rPr lang="en-US" altLang="zh-TW" sz="2400" dirty="0">
                <a:cs typeface="Times New Roman" pitchFamily="18" charset="0"/>
              </a:rPr>
              <a:t> benchmarks</a:t>
            </a:r>
          </a:p>
          <a:p>
            <a:pPr lvl="1"/>
            <a:r>
              <a:rPr lang="en-US" altLang="zh-TW" sz="2000" dirty="0" smtClean="0">
                <a:cs typeface="Times New Roman" pitchFamily="18" charset="0"/>
              </a:rPr>
              <a:t>20+ benchmarks </a:t>
            </a:r>
            <a:r>
              <a:rPr lang="en-US" altLang="zh-TW" sz="2000" dirty="0">
                <a:cs typeface="Times New Roman" pitchFamily="18" charset="0"/>
              </a:rPr>
              <a:t>can </a:t>
            </a:r>
            <a:r>
              <a:rPr lang="en-US" altLang="zh-TW" sz="2000" dirty="0" smtClean="0">
                <a:cs typeface="Times New Roman" pitchFamily="18" charset="0"/>
              </a:rPr>
              <a:t>be run </a:t>
            </a:r>
            <a:r>
              <a:rPr lang="en-US" altLang="zh-TW" sz="2000" dirty="0">
                <a:cs typeface="Times New Roman" pitchFamily="18" charset="0"/>
              </a:rPr>
              <a:t>on </a:t>
            </a:r>
            <a:r>
              <a:rPr lang="en-US" altLang="zh-TW" sz="2000" dirty="0" err="1" smtClean="0">
                <a:cs typeface="Times New Roman" pitchFamily="18" charset="0"/>
              </a:rPr>
              <a:t>HSAemu</a:t>
            </a:r>
            <a:endParaRPr lang="en-US" altLang="zh-TW" sz="2000" dirty="0">
              <a:cs typeface="Times New Roman" pitchFamily="18" charset="0"/>
            </a:endParaRPr>
          </a:p>
          <a:p>
            <a:pPr lvl="1"/>
            <a:r>
              <a:rPr lang="en-US" altLang="zh-TW" sz="2000" dirty="0">
                <a:cs typeface="Times New Roman" pitchFamily="18" charset="0"/>
              </a:rPr>
              <a:t>For example: NBODY, </a:t>
            </a:r>
            <a:r>
              <a:rPr lang="en-US" altLang="zh-TW" sz="2000" dirty="0" smtClean="0">
                <a:cs typeface="Times New Roman" pitchFamily="18" charset="0"/>
              </a:rPr>
              <a:t>Mandelbrot set, Histogram, etc.</a:t>
            </a:r>
          </a:p>
          <a:p>
            <a:pPr lvl="1"/>
            <a:endParaRPr lang="zh-TW" altLang="en-US" dirty="0">
              <a:cs typeface="Times New Roman" pitchFamily="18" charset="0"/>
            </a:endParaRPr>
          </a:p>
          <a:p>
            <a:r>
              <a:rPr lang="en-US" altLang="zh-TW" sz="2400" dirty="0" smtClean="0">
                <a:cs typeface="Times New Roman" pitchFamily="18" charset="0"/>
              </a:rPr>
              <a:t>Rodina </a:t>
            </a:r>
            <a:r>
              <a:rPr lang="en-US" altLang="zh-TW" sz="2400" dirty="0" err="1" smtClean="0">
                <a:cs typeface="Times New Roman" pitchFamily="18" charset="0"/>
              </a:rPr>
              <a:t>OpenCL</a:t>
            </a:r>
            <a:r>
              <a:rPr lang="en-US" altLang="zh-TW" sz="2400" dirty="0" smtClean="0">
                <a:cs typeface="Times New Roman" pitchFamily="18" charset="0"/>
              </a:rPr>
              <a:t> benchmark</a:t>
            </a:r>
          </a:p>
          <a:p>
            <a:pPr lvl="1"/>
            <a:r>
              <a:rPr lang="en-US" altLang="zh-TW" sz="2000" dirty="0" err="1" smtClean="0">
                <a:cs typeface="Times New Roman" pitchFamily="18" charset="0"/>
              </a:rPr>
              <a:t>Kmeans</a:t>
            </a:r>
            <a:r>
              <a:rPr lang="en-US" altLang="zh-TW" sz="2000" dirty="0" smtClean="0">
                <a:cs typeface="Times New Roman" pitchFamily="18" charset="0"/>
              </a:rPr>
              <a:t>, Gaussian…etc</a:t>
            </a:r>
          </a:p>
        </p:txBody>
      </p:sp>
      <p:cxnSp>
        <p:nvCxnSpPr>
          <p:cNvPr id="5" name="直線接點 4"/>
          <p:cNvCxnSpPr/>
          <p:nvPr/>
        </p:nvCxnSpPr>
        <p:spPr bwMode="auto">
          <a:xfrm flipH="1">
            <a:off x="3581400" y="1143000"/>
            <a:ext cx="2512" cy="4787024"/>
          </a:xfrm>
          <a:prstGeom prst="line">
            <a:avLst/>
          </a:prstGeom>
          <a:ln w="38100">
            <a:prstDash val="sysDot"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投影片編號版面配置區 4"/>
          <p:cNvSpPr>
            <a:spLocks noGrp="1"/>
          </p:cNvSpPr>
          <p:nvPr>
            <p:ph type="sldNum" sz="quarter" idx="10"/>
          </p:nvPr>
        </p:nvSpPr>
        <p:spPr>
          <a:xfrm>
            <a:off x="6831013" y="6524625"/>
            <a:ext cx="2133600" cy="339725"/>
          </a:xfrm>
        </p:spPr>
        <p:txBody>
          <a:bodyPr/>
          <a:lstStyle/>
          <a:p>
            <a:pPr>
              <a:defRPr/>
            </a:pPr>
            <a:fld id="{1A9115C5-2FF4-4A45-B75E-C3C89F0A7A51}" type="slidenum">
              <a:rPr lang="en-US" altLang="zh-TW" smtClean="0">
                <a:solidFill>
                  <a:schemeClr val="bg1"/>
                </a:solidFill>
              </a:rPr>
              <a:pPr>
                <a:defRPr/>
              </a:pPr>
              <a:t>21</a:t>
            </a:fld>
            <a:endParaRPr lang="en-US" altLang="zh-TW" dirty="0">
              <a:solidFill>
                <a:schemeClr val="bg1"/>
              </a:solidFill>
            </a:endParaRPr>
          </a:p>
        </p:txBody>
      </p:sp>
      <p:sp>
        <p:nvSpPr>
          <p:cNvPr id="9" name="矩形 8"/>
          <p:cNvSpPr/>
          <p:nvPr/>
        </p:nvSpPr>
        <p:spPr bwMode="auto">
          <a:xfrm>
            <a:off x="747126" y="1349926"/>
            <a:ext cx="2019300" cy="411639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4943086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28600" y="144463"/>
            <a:ext cx="8207375" cy="692150"/>
          </a:xfrm>
        </p:spPr>
        <p:txBody>
          <a:bodyPr/>
          <a:lstStyle/>
          <a:p>
            <a:r>
              <a:rPr lang="en-US" altLang="zh-TW" dirty="0" err="1" smtClean="0"/>
              <a:t>Compliation</a:t>
            </a:r>
            <a:r>
              <a:rPr lang="en-US" altLang="zh-TW" dirty="0" smtClean="0"/>
              <a:t> Framework (1) </a:t>
            </a:r>
            <a:endParaRPr lang="zh-TW" altLang="en-US" dirty="0"/>
          </a:p>
        </p:txBody>
      </p:sp>
      <p:cxnSp>
        <p:nvCxnSpPr>
          <p:cNvPr id="5" name="直線接點 4"/>
          <p:cNvCxnSpPr/>
          <p:nvPr/>
        </p:nvCxnSpPr>
        <p:spPr bwMode="auto">
          <a:xfrm flipH="1">
            <a:off x="3581400" y="1143000"/>
            <a:ext cx="2512" cy="4787024"/>
          </a:xfrm>
          <a:prstGeom prst="line">
            <a:avLst/>
          </a:prstGeom>
          <a:ln w="38100">
            <a:prstDash val="sysDot"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6" name="群組 7"/>
          <p:cNvGrpSpPr/>
          <p:nvPr/>
        </p:nvGrpSpPr>
        <p:grpSpPr>
          <a:xfrm>
            <a:off x="3695594" y="1312323"/>
            <a:ext cx="1988822" cy="4250277"/>
            <a:chOff x="722802" y="1765207"/>
            <a:chExt cx="2651762" cy="4250277"/>
          </a:xfrm>
        </p:grpSpPr>
        <p:sp>
          <p:nvSpPr>
            <p:cNvPr id="7" name="矩形 6"/>
            <p:cNvSpPr/>
            <p:nvPr/>
          </p:nvSpPr>
          <p:spPr>
            <a:xfrm>
              <a:off x="818605" y="2333454"/>
              <a:ext cx="2394857" cy="425494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400" dirty="0">
                  <a:solidFill>
                    <a:prstClr val="white"/>
                  </a:solidFill>
                </a:rPr>
                <a:t>HSAIL Compiler</a:t>
              </a:r>
              <a:endParaRPr lang="zh-TW" altLang="en-US" sz="1400" dirty="0">
                <a:solidFill>
                  <a:prstClr val="white"/>
                </a:solidFill>
              </a:endParaRPr>
            </a:p>
          </p:txBody>
        </p:sp>
        <p:sp>
          <p:nvSpPr>
            <p:cNvPr id="8" name="矩形 7"/>
            <p:cNvSpPr/>
            <p:nvPr/>
          </p:nvSpPr>
          <p:spPr>
            <a:xfrm>
              <a:off x="818605" y="3694022"/>
              <a:ext cx="2394857" cy="425494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400" dirty="0">
                  <a:solidFill>
                    <a:prstClr val="white"/>
                  </a:solidFill>
                </a:rPr>
                <a:t>HSAIL Decoder</a:t>
              </a:r>
              <a:endParaRPr lang="zh-TW" altLang="en-US" sz="1400" dirty="0">
                <a:solidFill>
                  <a:prstClr val="white"/>
                </a:solidFill>
              </a:endParaRPr>
            </a:p>
          </p:txBody>
        </p:sp>
        <p:sp>
          <p:nvSpPr>
            <p:cNvPr id="9" name="矩形 8"/>
            <p:cNvSpPr/>
            <p:nvPr/>
          </p:nvSpPr>
          <p:spPr>
            <a:xfrm>
              <a:off x="853424" y="5020178"/>
              <a:ext cx="2394857" cy="425494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400" dirty="0">
                  <a:solidFill>
                    <a:prstClr val="white"/>
                  </a:solidFill>
                </a:rPr>
                <a:t>HSAIL </a:t>
              </a:r>
              <a:r>
                <a:rPr lang="en-US" altLang="zh-TW" sz="1400" dirty="0" err="1">
                  <a:solidFill>
                    <a:prstClr val="white"/>
                  </a:solidFill>
                </a:rPr>
                <a:t>Finalizer</a:t>
              </a:r>
              <a:endParaRPr lang="zh-TW" altLang="en-US" sz="1400" dirty="0">
                <a:solidFill>
                  <a:prstClr val="white"/>
                </a:solidFill>
              </a:endParaRPr>
            </a:p>
          </p:txBody>
        </p:sp>
        <p:cxnSp>
          <p:nvCxnSpPr>
            <p:cNvPr id="10" name="直線單箭頭接點 9"/>
            <p:cNvCxnSpPr/>
            <p:nvPr/>
          </p:nvCxnSpPr>
          <p:spPr>
            <a:xfrm>
              <a:off x="2042154" y="2048050"/>
              <a:ext cx="4358" cy="276695"/>
            </a:xfrm>
            <a:prstGeom prst="straightConnector1">
              <a:avLst/>
            </a:prstGeom>
            <a:ln w="1905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文字方塊 10"/>
            <p:cNvSpPr txBox="1"/>
            <p:nvPr/>
          </p:nvSpPr>
          <p:spPr>
            <a:xfrm>
              <a:off x="1095435" y="1765207"/>
              <a:ext cx="191350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1400" dirty="0" err="1">
                  <a:solidFill>
                    <a:prstClr val="black"/>
                  </a:solidFill>
                </a:rPr>
                <a:t>OpenCL</a:t>
              </a:r>
              <a:r>
                <a:rPr lang="en-US" altLang="zh-TW" sz="1400" dirty="0">
                  <a:solidFill>
                    <a:prstClr val="black"/>
                  </a:solidFill>
                </a:rPr>
                <a:t> Kernel</a:t>
              </a:r>
              <a:endParaRPr lang="zh-TW" altLang="en-US" sz="1400" dirty="0">
                <a:solidFill>
                  <a:prstClr val="black"/>
                </a:solidFill>
              </a:endParaRPr>
            </a:p>
          </p:txBody>
        </p:sp>
        <p:cxnSp>
          <p:nvCxnSpPr>
            <p:cNvPr id="12" name="直線單箭頭接點 11"/>
            <p:cNvCxnSpPr/>
            <p:nvPr/>
          </p:nvCxnSpPr>
          <p:spPr>
            <a:xfrm flipH="1">
              <a:off x="2046512" y="2718252"/>
              <a:ext cx="2" cy="422750"/>
            </a:xfrm>
            <a:prstGeom prst="straightConnector1">
              <a:avLst/>
            </a:prstGeom>
            <a:ln w="1905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文字方塊 12"/>
            <p:cNvSpPr txBox="1"/>
            <p:nvPr/>
          </p:nvSpPr>
          <p:spPr>
            <a:xfrm>
              <a:off x="1223545" y="3072625"/>
              <a:ext cx="161979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1400" dirty="0">
                  <a:solidFill>
                    <a:prstClr val="black"/>
                  </a:solidFill>
                </a:rPr>
                <a:t>HSAIL</a:t>
              </a:r>
              <a:endParaRPr lang="zh-TW" altLang="en-US" sz="1400" dirty="0">
                <a:solidFill>
                  <a:prstClr val="black"/>
                </a:solidFill>
              </a:endParaRPr>
            </a:p>
          </p:txBody>
        </p:sp>
        <p:cxnSp>
          <p:nvCxnSpPr>
            <p:cNvPr id="14" name="直線單箭頭接點 13"/>
            <p:cNvCxnSpPr/>
            <p:nvPr/>
          </p:nvCxnSpPr>
          <p:spPr>
            <a:xfrm>
              <a:off x="2042154" y="3352230"/>
              <a:ext cx="1" cy="346679"/>
            </a:xfrm>
            <a:prstGeom prst="straightConnector1">
              <a:avLst/>
            </a:prstGeom>
            <a:ln w="1905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線單箭頭接點 14"/>
            <p:cNvCxnSpPr/>
            <p:nvPr/>
          </p:nvCxnSpPr>
          <p:spPr>
            <a:xfrm flipH="1">
              <a:off x="2050863" y="4062315"/>
              <a:ext cx="2" cy="422750"/>
            </a:xfrm>
            <a:prstGeom prst="straightConnector1">
              <a:avLst/>
            </a:prstGeom>
            <a:ln w="1905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文字方塊 15"/>
            <p:cNvSpPr txBox="1"/>
            <p:nvPr/>
          </p:nvSpPr>
          <p:spPr>
            <a:xfrm>
              <a:off x="722802" y="4444619"/>
              <a:ext cx="2651762" cy="2923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1300" dirty="0" smtClean="0">
                  <a:solidFill>
                    <a:prstClr val="black"/>
                  </a:solidFill>
                </a:rPr>
                <a:t>BRIG</a:t>
              </a:r>
              <a:endParaRPr lang="zh-TW" altLang="en-US" sz="1300" dirty="0">
                <a:solidFill>
                  <a:prstClr val="black"/>
                </a:solidFill>
              </a:endParaRPr>
            </a:p>
          </p:txBody>
        </p:sp>
        <p:cxnSp>
          <p:nvCxnSpPr>
            <p:cNvPr id="17" name="直線單箭頭接點 16"/>
            <p:cNvCxnSpPr/>
            <p:nvPr/>
          </p:nvCxnSpPr>
          <p:spPr>
            <a:xfrm flipH="1">
              <a:off x="2050853" y="4705685"/>
              <a:ext cx="10" cy="314493"/>
            </a:xfrm>
            <a:prstGeom prst="straightConnector1">
              <a:avLst/>
            </a:prstGeom>
            <a:ln w="1905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線單箭頭接點 17"/>
            <p:cNvCxnSpPr/>
            <p:nvPr/>
          </p:nvCxnSpPr>
          <p:spPr>
            <a:xfrm flipH="1">
              <a:off x="2046494" y="5458976"/>
              <a:ext cx="10" cy="314493"/>
            </a:xfrm>
            <a:prstGeom prst="straightConnector1">
              <a:avLst/>
            </a:prstGeom>
            <a:ln w="1905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文字方塊 18"/>
            <p:cNvSpPr txBox="1"/>
            <p:nvPr/>
          </p:nvSpPr>
          <p:spPr>
            <a:xfrm>
              <a:off x="735866" y="5707707"/>
              <a:ext cx="263869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1400" smtClean="0">
                  <a:solidFill>
                    <a:prstClr val="black"/>
                  </a:solidFill>
                </a:rPr>
                <a:t>Device </a:t>
              </a:r>
              <a:r>
                <a:rPr lang="en-US" altLang="zh-TW" sz="1400" dirty="0">
                  <a:solidFill>
                    <a:prstClr val="black"/>
                  </a:solidFill>
                </a:rPr>
                <a:t>Native</a:t>
              </a:r>
              <a:endParaRPr lang="zh-TW" altLang="en-US" sz="1400" dirty="0">
                <a:solidFill>
                  <a:prstClr val="black"/>
                </a:solidFill>
              </a:endParaRPr>
            </a:p>
          </p:txBody>
        </p:sp>
      </p:grpSp>
      <p:sp>
        <p:nvSpPr>
          <p:cNvPr id="21" name="內容版面配置區 2"/>
          <p:cNvSpPr txBox="1">
            <a:spLocks/>
          </p:cNvSpPr>
          <p:nvPr/>
        </p:nvSpPr>
        <p:spPr>
          <a:xfrm>
            <a:off x="5652620" y="1891248"/>
            <a:ext cx="3536868" cy="9450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2000" dirty="0" smtClean="0">
                <a:latin typeface="Calibri" panose="020F0502020204030204" pitchFamily="34" charset="0"/>
                <a:cs typeface="Times New Roman" pitchFamily="18" charset="0"/>
              </a:rPr>
              <a:t>HSAIL Compiler</a:t>
            </a:r>
          </a:p>
          <a:p>
            <a:pPr lvl="1"/>
            <a:r>
              <a:rPr lang="en-US" altLang="zh-TW" sz="1800" dirty="0">
                <a:latin typeface="Calibri" panose="020F0502020204030204" pitchFamily="34" charset="0"/>
                <a:cs typeface="Times New Roman" pitchFamily="18" charset="0"/>
              </a:rPr>
              <a:t>C</a:t>
            </a:r>
            <a:r>
              <a:rPr lang="en-US" altLang="zh-TW" sz="1800" dirty="0" smtClean="0">
                <a:latin typeface="Calibri" panose="020F0502020204030204" pitchFamily="34" charset="0"/>
                <a:cs typeface="Times New Roman" pitchFamily="18" charset="0"/>
              </a:rPr>
              <a:t>onvert </a:t>
            </a:r>
            <a:r>
              <a:rPr lang="en-US" altLang="zh-TW" sz="1800" dirty="0" err="1">
                <a:latin typeface="Calibri" panose="020F0502020204030204" pitchFamily="34" charset="0"/>
                <a:cs typeface="Times New Roman" pitchFamily="18" charset="0"/>
              </a:rPr>
              <a:t>OpenCL</a:t>
            </a:r>
            <a:r>
              <a:rPr lang="en-US" altLang="zh-TW" sz="1800" dirty="0">
                <a:latin typeface="Calibri" panose="020F0502020204030204" pitchFamily="34" charset="0"/>
                <a:cs typeface="Times New Roman" pitchFamily="18" charset="0"/>
              </a:rPr>
              <a:t> </a:t>
            </a:r>
            <a:r>
              <a:rPr lang="en-US" altLang="zh-TW" sz="1800" dirty="0" smtClean="0">
                <a:latin typeface="Calibri" panose="020F0502020204030204" pitchFamily="34" charset="0"/>
                <a:cs typeface="Times New Roman" pitchFamily="18" charset="0"/>
              </a:rPr>
              <a:t>kernel </a:t>
            </a:r>
            <a:r>
              <a:rPr lang="en-US" altLang="zh-TW" sz="1800" dirty="0">
                <a:latin typeface="Calibri" panose="020F0502020204030204" pitchFamily="34" charset="0"/>
                <a:cs typeface="Times New Roman" pitchFamily="18" charset="0"/>
              </a:rPr>
              <a:t>to </a:t>
            </a:r>
            <a:r>
              <a:rPr lang="en-US" altLang="zh-TW" sz="1800" dirty="0" smtClean="0">
                <a:latin typeface="Calibri" panose="020F0502020204030204" pitchFamily="34" charset="0"/>
                <a:cs typeface="Times New Roman" pitchFamily="18" charset="0"/>
              </a:rPr>
              <a:t>HSAIL</a:t>
            </a:r>
          </a:p>
        </p:txBody>
      </p:sp>
      <p:sp>
        <p:nvSpPr>
          <p:cNvPr id="22" name="內容版面配置區 2"/>
          <p:cNvSpPr txBox="1">
            <a:spLocks/>
          </p:cNvSpPr>
          <p:nvPr/>
        </p:nvSpPr>
        <p:spPr>
          <a:xfrm>
            <a:off x="5652620" y="3217322"/>
            <a:ext cx="3536868" cy="9906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2000" dirty="0" smtClean="0">
                <a:latin typeface="Calibri" panose="020F0502020204030204" pitchFamily="34" charset="0"/>
                <a:cs typeface="Times New Roman" pitchFamily="18" charset="0"/>
              </a:rPr>
              <a:t>HSAIL Decoder</a:t>
            </a:r>
          </a:p>
          <a:p>
            <a:pPr lvl="1"/>
            <a:r>
              <a:rPr lang="en-US" altLang="zh-TW" sz="1800" dirty="0">
                <a:latin typeface="Calibri" panose="020F0502020204030204" pitchFamily="34" charset="0"/>
                <a:cs typeface="Times New Roman" pitchFamily="18" charset="0"/>
              </a:rPr>
              <a:t>C</a:t>
            </a:r>
            <a:r>
              <a:rPr lang="en-US" altLang="zh-TW" sz="1800" dirty="0" smtClean="0">
                <a:latin typeface="Calibri" panose="020F0502020204030204" pitchFamily="34" charset="0"/>
                <a:cs typeface="Times New Roman" pitchFamily="18" charset="0"/>
              </a:rPr>
              <a:t>onvert </a:t>
            </a:r>
            <a:r>
              <a:rPr lang="en-US" altLang="zh-TW" sz="1800" dirty="0">
                <a:latin typeface="Calibri" panose="020F0502020204030204" pitchFamily="34" charset="0"/>
                <a:cs typeface="Times New Roman" pitchFamily="18" charset="0"/>
              </a:rPr>
              <a:t>HSAIL to binary </a:t>
            </a:r>
            <a:r>
              <a:rPr lang="en-US" altLang="zh-TW" sz="1800" dirty="0" smtClean="0">
                <a:latin typeface="Calibri" panose="020F0502020204030204" pitchFamily="34" charset="0"/>
                <a:cs typeface="Times New Roman" pitchFamily="18" charset="0"/>
              </a:rPr>
              <a:t>format (</a:t>
            </a:r>
            <a:r>
              <a:rPr lang="en-US" altLang="zh-TW" sz="1800" dirty="0">
                <a:latin typeface="Calibri" panose="020F0502020204030204" pitchFamily="34" charset="0"/>
                <a:cs typeface="Times New Roman" pitchFamily="18" charset="0"/>
              </a:rPr>
              <a:t>BRIG</a:t>
            </a:r>
            <a:r>
              <a:rPr lang="en-US" altLang="zh-TW" sz="1800" dirty="0" smtClean="0">
                <a:latin typeface="Calibri" panose="020F0502020204030204" pitchFamily="34" charset="0"/>
                <a:cs typeface="Times New Roman" pitchFamily="18" charset="0"/>
              </a:rPr>
              <a:t>)</a:t>
            </a:r>
          </a:p>
        </p:txBody>
      </p:sp>
      <p:sp>
        <p:nvSpPr>
          <p:cNvPr id="23" name="內容版面配置區 2"/>
          <p:cNvSpPr txBox="1">
            <a:spLocks/>
          </p:cNvSpPr>
          <p:nvPr/>
        </p:nvSpPr>
        <p:spPr>
          <a:xfrm>
            <a:off x="5652620" y="4572000"/>
            <a:ext cx="3536868" cy="1371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2000" dirty="0" smtClean="0">
                <a:latin typeface="Calibri" panose="020F0502020204030204" pitchFamily="34" charset="0"/>
                <a:cs typeface="Times New Roman" pitchFamily="18" charset="0"/>
              </a:rPr>
              <a:t>HSAIL </a:t>
            </a:r>
            <a:r>
              <a:rPr lang="en-US" altLang="zh-TW" sz="2000" dirty="0">
                <a:latin typeface="Calibri" panose="020F0502020204030204" pitchFamily="34" charset="0"/>
                <a:cs typeface="Times New Roman" pitchFamily="18" charset="0"/>
              </a:rPr>
              <a:t>Finalizer</a:t>
            </a:r>
            <a:endParaRPr lang="en-US" altLang="zh-TW" sz="2000" dirty="0" smtClean="0">
              <a:latin typeface="Calibri" panose="020F0502020204030204" pitchFamily="34" charset="0"/>
              <a:cs typeface="Times New Roman" pitchFamily="18" charset="0"/>
            </a:endParaRPr>
          </a:p>
          <a:p>
            <a:pPr lvl="1"/>
            <a:r>
              <a:rPr lang="en-US" altLang="zh-TW" sz="1800" dirty="0">
                <a:latin typeface="Calibri" panose="020F0502020204030204" pitchFamily="34" charset="0"/>
                <a:cs typeface="Times New Roman" pitchFamily="18" charset="0"/>
              </a:rPr>
              <a:t>Finalize the </a:t>
            </a:r>
            <a:r>
              <a:rPr lang="en-US" altLang="zh-TW" sz="1800" dirty="0" smtClean="0">
                <a:latin typeface="Calibri" panose="020F0502020204030204" pitchFamily="34" charset="0"/>
                <a:cs typeface="Times New Roman" pitchFamily="18" charset="0"/>
              </a:rPr>
              <a:t>BRIG </a:t>
            </a:r>
            <a:r>
              <a:rPr lang="en-US" altLang="zh-TW" sz="1800" dirty="0">
                <a:latin typeface="Calibri" panose="020F0502020204030204" pitchFamily="34" charset="0"/>
                <a:cs typeface="Times New Roman" pitchFamily="18" charset="0"/>
              </a:rPr>
              <a:t>to the real </a:t>
            </a:r>
            <a:r>
              <a:rPr lang="en-US" altLang="zh-TW" sz="1800" dirty="0" smtClean="0">
                <a:latin typeface="Calibri" panose="020F0502020204030204" pitchFamily="34" charset="0"/>
                <a:cs typeface="Times New Roman" pitchFamily="18" charset="0"/>
              </a:rPr>
              <a:t>ISA </a:t>
            </a:r>
            <a:r>
              <a:rPr lang="en-US" altLang="zh-TW" sz="1800" dirty="0">
                <a:latin typeface="Calibri" panose="020F0502020204030204" pitchFamily="34" charset="0"/>
                <a:cs typeface="Times New Roman" pitchFamily="18" charset="0"/>
              </a:rPr>
              <a:t>w</a:t>
            </a:r>
            <a:r>
              <a:rPr lang="en-US" altLang="zh-TW" sz="1800" dirty="0" smtClean="0">
                <a:latin typeface="Calibri" panose="020F0502020204030204" pitchFamily="34" charset="0"/>
                <a:cs typeface="Times New Roman" pitchFamily="18" charset="0"/>
              </a:rPr>
              <a:t>hich is selected by the HSA Runtime</a:t>
            </a:r>
            <a:endParaRPr lang="zh-TW" altLang="en-US" sz="1800" dirty="0">
              <a:latin typeface="Calibri" panose="020F0502020204030204" pitchFamily="34" charset="0"/>
              <a:cs typeface="Times New Roman" pitchFamily="18" charset="0"/>
            </a:endParaRPr>
          </a:p>
        </p:txBody>
      </p:sp>
      <p:sp>
        <p:nvSpPr>
          <p:cNvPr id="24" name="投影片編號版面配置區 4"/>
          <p:cNvSpPr>
            <a:spLocks noGrp="1"/>
          </p:cNvSpPr>
          <p:nvPr>
            <p:ph type="sldNum" sz="quarter" idx="10"/>
          </p:nvPr>
        </p:nvSpPr>
        <p:spPr>
          <a:xfrm>
            <a:off x="6831013" y="6524625"/>
            <a:ext cx="2133600" cy="339725"/>
          </a:xfrm>
        </p:spPr>
        <p:txBody>
          <a:bodyPr/>
          <a:lstStyle/>
          <a:p>
            <a:pPr>
              <a:defRPr/>
            </a:pPr>
            <a:fld id="{1A9115C5-2FF4-4A45-B75E-C3C89F0A7A51}" type="slidenum">
              <a:rPr lang="en-US" altLang="zh-TW" smtClean="0">
                <a:solidFill>
                  <a:schemeClr val="bg1"/>
                </a:solidFill>
              </a:rPr>
              <a:pPr>
                <a:defRPr/>
              </a:pPr>
              <a:t>22</a:t>
            </a:fld>
            <a:endParaRPr lang="en-US" altLang="zh-TW" dirty="0">
              <a:solidFill>
                <a:schemeClr val="bg1"/>
              </a:solidFill>
            </a:endParaRPr>
          </a:p>
        </p:txBody>
      </p:sp>
      <p:pic>
        <p:nvPicPr>
          <p:cNvPr id="27" name="圖片 2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367" y="1340961"/>
            <a:ext cx="3064747" cy="4176076"/>
          </a:xfrm>
          <a:prstGeom prst="rect">
            <a:avLst/>
          </a:prstGeom>
        </p:spPr>
      </p:pic>
      <p:sp>
        <p:nvSpPr>
          <p:cNvPr id="28" name="矩形 27"/>
          <p:cNvSpPr/>
          <p:nvPr/>
        </p:nvSpPr>
        <p:spPr bwMode="auto">
          <a:xfrm>
            <a:off x="1828800" y="1828800"/>
            <a:ext cx="914400" cy="284736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29" name="矩形 28"/>
          <p:cNvSpPr/>
          <p:nvPr/>
        </p:nvSpPr>
        <p:spPr bwMode="auto">
          <a:xfrm>
            <a:off x="1647095" y="2773629"/>
            <a:ext cx="715105" cy="198171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7367272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304800" y="144463"/>
            <a:ext cx="8207375" cy="692150"/>
          </a:xfrm>
        </p:spPr>
        <p:txBody>
          <a:bodyPr/>
          <a:lstStyle/>
          <a:p>
            <a:r>
              <a:rPr lang="en-US" altLang="zh-TW" dirty="0" err="1" smtClean="0"/>
              <a:t>Compliation</a:t>
            </a:r>
            <a:r>
              <a:rPr lang="en-US" altLang="zh-TW" dirty="0" smtClean="0"/>
              <a:t> Framework (2) </a:t>
            </a:r>
            <a:endParaRPr lang="en-US" dirty="0"/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57A4102-9134-4DE4-89E3-9E7F1698ADF0}" type="slidenum">
              <a:rPr smtClean="0">
                <a:solidFill>
                  <a:prstClr val="white"/>
                </a:solidFill>
              </a:rPr>
              <a:pPr/>
              <a:t>23</a:t>
            </a:fld>
            <a:endParaRPr>
              <a:solidFill>
                <a:prstClr val="white"/>
              </a:solidFill>
            </a:endParaRPr>
          </a:p>
        </p:txBody>
      </p:sp>
      <p:grpSp>
        <p:nvGrpSpPr>
          <p:cNvPr id="35" name="群組 34"/>
          <p:cNvGrpSpPr/>
          <p:nvPr/>
        </p:nvGrpSpPr>
        <p:grpSpPr>
          <a:xfrm>
            <a:off x="1600200" y="1828800"/>
            <a:ext cx="6172200" cy="4114800"/>
            <a:chOff x="1090970" y="1371600"/>
            <a:chExt cx="6833830" cy="4648200"/>
          </a:xfrm>
        </p:grpSpPr>
        <p:sp>
          <p:nvSpPr>
            <p:cNvPr id="75" name="矩形 74"/>
            <p:cNvSpPr/>
            <p:nvPr/>
          </p:nvSpPr>
          <p:spPr bwMode="auto">
            <a:xfrm>
              <a:off x="1090970" y="3787321"/>
              <a:ext cx="5117588" cy="1470479"/>
            </a:xfrm>
            <a:prstGeom prst="rect">
              <a:avLst/>
            </a:prstGeom>
            <a:ln>
              <a:headEnd type="none" w="med" len="med"/>
              <a:tailEnd type="none" w="med" len="med"/>
            </a:ln>
            <a:effectLst>
              <a:outerShdw blurRad="76200" dist="12700" dir="8100000" sy="-23000" kx="800400" algn="b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US" altLang="zh-TW" sz="1200" b="1" i="0" u="none" strike="noStrike" cap="none" normalizeH="0" baseline="0" dirty="0" smtClean="0">
                  <a:ln>
                    <a:noFill/>
                  </a:ln>
                  <a:solidFill>
                    <a:schemeClr val="bg1"/>
                  </a:solidFill>
                  <a:effectLst/>
                  <a:latin typeface="Arial" pitchFamily="34" charset="0"/>
                  <a:ea typeface="新細明體" pitchFamily="18" charset="-120"/>
                </a:rPr>
                <a:t>HSAIL</a:t>
              </a:r>
              <a:r>
                <a:rPr kumimoji="1" lang="en-US" altLang="zh-TW" sz="1200" b="1" i="0" u="none" strike="noStrike" cap="none" normalizeH="0" dirty="0" smtClean="0">
                  <a:ln>
                    <a:noFill/>
                  </a:ln>
                  <a:solidFill>
                    <a:schemeClr val="bg1"/>
                  </a:solidFill>
                  <a:effectLst/>
                  <a:latin typeface="Arial" pitchFamily="34" charset="0"/>
                  <a:ea typeface="新細明體" pitchFamily="18" charset="-120"/>
                </a:rPr>
                <a:t> Finalization</a:t>
              </a:r>
              <a:endParaRPr kumimoji="1" lang="zh-TW" altLang="en-US" sz="1200" b="1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itchFamily="34" charset="0"/>
                <a:ea typeface="新細明體" pitchFamily="18" charset="-120"/>
              </a:endParaRPr>
            </a:p>
          </p:txBody>
        </p:sp>
        <p:sp>
          <p:nvSpPr>
            <p:cNvPr id="3" name="剪去並圓角化單一角落矩形 2"/>
            <p:cNvSpPr/>
            <p:nvPr/>
          </p:nvSpPr>
          <p:spPr bwMode="auto">
            <a:xfrm>
              <a:off x="1343983" y="1371600"/>
              <a:ext cx="1132795" cy="600503"/>
            </a:xfrm>
            <a:prstGeom prst="snipRoundRect">
              <a:avLst/>
            </a:prstGeom>
            <a:ln>
              <a:headEnd type="none" w="med" len="med"/>
              <a:tailEnd type="none" w="med" len="med"/>
            </a:ln>
            <a:effectLst>
              <a:outerShdw blurRad="76200" dist="12700" dir="8100000" sy="-23000" kx="800400" algn="br" rotWithShape="0">
                <a:prstClr val="black">
                  <a:alpha val="20000"/>
                </a:prstClr>
              </a:outerShdw>
            </a:effectLst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US" altLang="zh-TW" sz="1200" b="1" dirty="0" err="1" smtClean="0">
                  <a:latin typeface="Arial" pitchFamily="34" charset="0"/>
                  <a:ea typeface="新細明體" pitchFamily="18" charset="-120"/>
                </a:rPr>
                <a:t>OpenCL</a:t>
              </a:r>
              <a:endParaRPr kumimoji="1" lang="en-US" altLang="zh-TW" sz="1200" b="1" dirty="0" smtClean="0">
                <a:latin typeface="Arial" pitchFamily="34" charset="0"/>
                <a:ea typeface="新細明體" pitchFamily="18" charset="-120"/>
              </a:endParaRPr>
            </a:p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US" altLang="zh-TW" sz="1200" b="1" dirty="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rPr>
                <a:t>K</a:t>
              </a:r>
              <a:r>
                <a:rPr kumimoji="1" lang="en-US" altLang="zh-TW" sz="1200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ea typeface="新細明體" pitchFamily="18" charset="-120"/>
                </a:rPr>
                <a:t>ernel</a:t>
              </a:r>
              <a:endParaRPr kumimoji="1" lang="zh-TW" altLang="en-US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新細明體" pitchFamily="18" charset="-120"/>
              </a:endParaRPr>
            </a:p>
          </p:txBody>
        </p:sp>
        <p:sp>
          <p:nvSpPr>
            <p:cNvPr id="4" name="圓角矩形 3"/>
            <p:cNvSpPr/>
            <p:nvPr/>
          </p:nvSpPr>
          <p:spPr bwMode="auto">
            <a:xfrm>
              <a:off x="3077458" y="1371600"/>
              <a:ext cx="2799153" cy="568867"/>
            </a:xfrm>
            <a:prstGeom prst="roundRect">
              <a:avLst/>
            </a:prstGeom>
            <a:ln>
              <a:headEnd type="none" w="med" len="med"/>
              <a:tailEnd type="none" w="med" len="med"/>
            </a:ln>
            <a:effectLst>
              <a:outerShdw blurRad="76200" dist="12700" dir="8100000" sy="-23000" kx="800400" algn="br" rotWithShape="0">
                <a:prstClr val="black">
                  <a:alpha val="20000"/>
                </a:prstClr>
              </a:outerShdw>
            </a:effectLst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US" altLang="zh-TW" sz="1200" b="1" i="0" u="none" strike="noStrike" cap="none" normalizeH="0" baseline="0" dirty="0" smtClean="0">
                  <a:ln>
                    <a:noFill/>
                  </a:ln>
                  <a:solidFill>
                    <a:schemeClr val="bg1"/>
                  </a:solidFill>
                  <a:effectLst/>
                  <a:latin typeface="Arial" pitchFamily="34" charset="0"/>
                  <a:ea typeface="新細明體" pitchFamily="18" charset="-120"/>
                </a:rPr>
                <a:t>CL2HSAIL</a:t>
              </a:r>
              <a:endParaRPr kumimoji="1" lang="zh-TW" altLang="en-US" sz="1200" b="1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itchFamily="34" charset="0"/>
                <a:ea typeface="新細明體" pitchFamily="18" charset="-120"/>
              </a:endParaRPr>
            </a:p>
          </p:txBody>
        </p:sp>
        <p:sp>
          <p:nvSpPr>
            <p:cNvPr id="42" name="剪去並圓角化單一角落矩形 41"/>
            <p:cNvSpPr/>
            <p:nvPr/>
          </p:nvSpPr>
          <p:spPr bwMode="auto">
            <a:xfrm>
              <a:off x="6726336" y="1795137"/>
              <a:ext cx="1198464" cy="659099"/>
            </a:xfrm>
            <a:prstGeom prst="snipRoundRect">
              <a:avLst/>
            </a:prstGeom>
            <a:ln>
              <a:headEnd type="none" w="med" len="med"/>
              <a:tailEnd type="none" w="med" len="med"/>
            </a:ln>
            <a:effectLst>
              <a:outerShdw blurRad="76200" dist="12700" dir="8100000" sy="-23000" kx="800400" algn="br" rotWithShape="0">
                <a:prstClr val="black">
                  <a:alpha val="20000"/>
                </a:prstClr>
              </a:outerShdw>
            </a:effectLst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US" altLang="zh-TW" sz="1200" b="1" dirty="0" smtClean="0">
                  <a:latin typeface="Arial" pitchFamily="34" charset="0"/>
                  <a:ea typeface="新細明體" pitchFamily="18" charset="-120"/>
                </a:rPr>
                <a:t>HSAIL</a:t>
              </a:r>
            </a:p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US" altLang="zh-TW" sz="1200" b="1" dirty="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rPr>
                <a:t>T</a:t>
              </a:r>
              <a:r>
                <a:rPr kumimoji="1" lang="en-US" altLang="zh-TW" sz="1200" b="1" dirty="0" smtClean="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rPr>
                <a:t>ext</a:t>
              </a:r>
              <a:endParaRPr kumimoji="1" lang="zh-TW" altLang="en-US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新細明體" pitchFamily="18" charset="-120"/>
              </a:endParaRPr>
            </a:p>
          </p:txBody>
        </p:sp>
        <p:sp>
          <p:nvSpPr>
            <p:cNvPr id="43" name="圓角矩形 42"/>
            <p:cNvSpPr/>
            <p:nvPr/>
          </p:nvSpPr>
          <p:spPr bwMode="auto">
            <a:xfrm>
              <a:off x="3077458" y="2574965"/>
              <a:ext cx="2799153" cy="568867"/>
            </a:xfrm>
            <a:prstGeom prst="roundRect">
              <a:avLst/>
            </a:prstGeom>
            <a:ln>
              <a:headEnd type="none" w="med" len="med"/>
              <a:tailEnd type="none" w="med" len="med"/>
            </a:ln>
            <a:effectLst>
              <a:outerShdw blurRad="76200" dist="12700" dir="8100000" sy="-23000" kx="800400" algn="br" rotWithShape="0">
                <a:prstClr val="black">
                  <a:alpha val="20000"/>
                </a:prstClr>
              </a:outerShdw>
            </a:effectLst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US" altLang="zh-TW" sz="1200" b="1" i="0" u="none" strike="noStrike" cap="none" normalizeH="0" baseline="0" dirty="0" smtClean="0">
                  <a:ln>
                    <a:noFill/>
                  </a:ln>
                  <a:solidFill>
                    <a:schemeClr val="bg1"/>
                  </a:solidFill>
                  <a:effectLst/>
                  <a:latin typeface="Arial" pitchFamily="34" charset="0"/>
                  <a:ea typeface="新細明體" pitchFamily="18" charset="-120"/>
                </a:rPr>
                <a:t>HSAIL2BRIG</a:t>
              </a:r>
              <a:endParaRPr kumimoji="1" lang="zh-TW" altLang="en-US" sz="1200" b="1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itchFamily="34" charset="0"/>
                <a:ea typeface="新細明體" pitchFamily="18" charset="-120"/>
              </a:endParaRPr>
            </a:p>
          </p:txBody>
        </p:sp>
        <p:sp>
          <p:nvSpPr>
            <p:cNvPr id="44" name="剪去並圓角化單一角落矩形 43"/>
            <p:cNvSpPr/>
            <p:nvPr/>
          </p:nvSpPr>
          <p:spPr bwMode="auto">
            <a:xfrm>
              <a:off x="1234372" y="2564131"/>
              <a:ext cx="1352016" cy="822404"/>
            </a:xfrm>
            <a:prstGeom prst="snipRoundRect">
              <a:avLst/>
            </a:prstGeom>
            <a:ln>
              <a:headEnd type="none" w="med" len="med"/>
              <a:tailEnd type="none" w="med" len="med"/>
            </a:ln>
            <a:effectLst>
              <a:outerShdw blurRad="76200" dist="12700" dir="8100000" sy="-23000" kx="800400" algn="br" rotWithShape="0">
                <a:prstClr val="black">
                  <a:alpha val="20000"/>
                </a:prstClr>
              </a:outerShdw>
            </a:effectLst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US" altLang="zh-TW" sz="1200" b="1" dirty="0" smtClean="0">
                  <a:latin typeface="Arial" pitchFamily="34" charset="0"/>
                  <a:ea typeface="新細明體" pitchFamily="18" charset="-120"/>
                </a:rPr>
                <a:t>HSAIL </a:t>
              </a:r>
              <a:r>
                <a:rPr kumimoji="1" lang="en-US" altLang="zh-TW" sz="1200" b="1" dirty="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rPr>
                <a:t>B</a:t>
              </a:r>
              <a:r>
                <a:rPr kumimoji="1" lang="en-US" altLang="zh-TW" sz="1200" b="1" dirty="0" smtClean="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rPr>
                <a:t>inary</a:t>
              </a:r>
            </a:p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US" altLang="zh-TW" sz="1200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ea typeface="新細明體" pitchFamily="18" charset="-120"/>
                </a:rPr>
                <a:t>(BRIG)</a:t>
              </a:r>
              <a:endParaRPr kumimoji="1" lang="zh-TW" altLang="en-US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新細明體" pitchFamily="18" charset="-120"/>
              </a:endParaRPr>
            </a:p>
          </p:txBody>
        </p:sp>
        <p:cxnSp>
          <p:nvCxnSpPr>
            <p:cNvPr id="46" name="直線單箭頭接點 45"/>
            <p:cNvCxnSpPr>
              <a:stCxn id="3" idx="0"/>
            </p:cNvCxnSpPr>
            <p:nvPr/>
          </p:nvCxnSpPr>
          <p:spPr bwMode="auto">
            <a:xfrm flipV="1">
              <a:off x="2476777" y="1671850"/>
              <a:ext cx="596582" cy="0"/>
            </a:xfrm>
            <a:prstGeom prst="straightConnector1">
              <a:avLst/>
            </a:prstGeom>
            <a:ln w="63500">
              <a:headEnd type="none" w="med" len="med"/>
              <a:tailEnd type="triangle"/>
            </a:ln>
            <a:effectLst>
              <a:outerShdw blurRad="76200" dist="12700" dir="8100000" sy="-23000" kx="800400" algn="br" rotWithShape="0">
                <a:prstClr val="black">
                  <a:alpha val="20000"/>
                </a:prstClr>
              </a:outerShdw>
            </a:effectLst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線單箭頭接點 46"/>
            <p:cNvCxnSpPr>
              <a:stCxn id="4" idx="3"/>
              <a:endCxn id="42" idx="2"/>
            </p:cNvCxnSpPr>
            <p:nvPr/>
          </p:nvCxnSpPr>
          <p:spPr bwMode="auto">
            <a:xfrm>
              <a:off x="5876611" y="1656034"/>
              <a:ext cx="849725" cy="468653"/>
            </a:xfrm>
            <a:prstGeom prst="straightConnector1">
              <a:avLst/>
            </a:prstGeom>
            <a:ln w="63500">
              <a:headEnd type="none" w="med" len="med"/>
              <a:tailEnd type="triangle"/>
            </a:ln>
            <a:effectLst>
              <a:outerShdw blurRad="76200" dist="12700" dir="8100000" sy="-23000" kx="800400" algn="br" rotWithShape="0">
                <a:prstClr val="black">
                  <a:alpha val="20000"/>
                </a:prstClr>
              </a:outerShdw>
            </a:effectLst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線單箭頭接點 50"/>
            <p:cNvCxnSpPr>
              <a:stCxn id="42" idx="2"/>
              <a:endCxn id="43" idx="3"/>
            </p:cNvCxnSpPr>
            <p:nvPr/>
          </p:nvCxnSpPr>
          <p:spPr bwMode="auto">
            <a:xfrm flipH="1">
              <a:off x="5876611" y="2124687"/>
              <a:ext cx="849725" cy="734712"/>
            </a:xfrm>
            <a:prstGeom prst="straightConnector1">
              <a:avLst/>
            </a:prstGeom>
            <a:ln w="63500">
              <a:headEnd type="none" w="med" len="med"/>
              <a:tailEnd type="triangle"/>
            </a:ln>
            <a:effectLst>
              <a:outerShdw blurRad="76200" dist="12700" dir="8100000" sy="-23000" kx="800400" algn="br" rotWithShape="0">
                <a:prstClr val="black">
                  <a:alpha val="20000"/>
                </a:prstClr>
              </a:outerShdw>
            </a:effectLst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線單箭頭接點 53"/>
            <p:cNvCxnSpPr>
              <a:stCxn id="43" idx="1"/>
              <a:endCxn id="44" idx="0"/>
            </p:cNvCxnSpPr>
            <p:nvPr/>
          </p:nvCxnSpPr>
          <p:spPr bwMode="auto">
            <a:xfrm flipH="1">
              <a:off x="2586388" y="2859399"/>
              <a:ext cx="491069" cy="115934"/>
            </a:xfrm>
            <a:prstGeom prst="straightConnector1">
              <a:avLst/>
            </a:prstGeom>
            <a:ln w="63500">
              <a:headEnd type="none" w="med" len="med"/>
              <a:tailEnd type="triangle"/>
            </a:ln>
            <a:effectLst>
              <a:outerShdw blurRad="76200" dist="12700" dir="8100000" sy="-23000" kx="800400" algn="br" rotWithShape="0">
                <a:prstClr val="black">
                  <a:alpha val="20000"/>
                </a:prstClr>
              </a:outerShdw>
            </a:effectLst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圓角矩形 57"/>
            <p:cNvSpPr/>
            <p:nvPr/>
          </p:nvSpPr>
          <p:spPr bwMode="auto">
            <a:xfrm>
              <a:off x="1271750" y="4637089"/>
              <a:ext cx="1341348" cy="441386"/>
            </a:xfrm>
            <a:prstGeom prst="roundRect">
              <a:avLst/>
            </a:prstGeom>
            <a:ln>
              <a:headEnd type="none" w="med" len="med"/>
              <a:tailEnd type="none" w="med" len="med"/>
            </a:ln>
            <a:effectLst>
              <a:outerShdw blurRad="76200" dist="12700" dir="8100000" sy="-23000" kx="800400" algn="br" rotWithShape="0">
                <a:prstClr val="black">
                  <a:alpha val="20000"/>
                </a:prstClr>
              </a:outerShdw>
            </a:effectLst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US" altLang="zh-TW" sz="1200" b="1" i="0" u="none" strike="noStrike" cap="none" normalizeH="0" baseline="0" dirty="0" smtClean="0">
                  <a:ln>
                    <a:noFill/>
                  </a:ln>
                  <a:solidFill>
                    <a:schemeClr val="bg1"/>
                  </a:solidFill>
                  <a:effectLst/>
                  <a:latin typeface="Arial" pitchFamily="34" charset="0"/>
                  <a:ea typeface="新細明體" pitchFamily="18" charset="-120"/>
                </a:rPr>
                <a:t>HSA Runtime</a:t>
              </a:r>
              <a:endParaRPr kumimoji="1" lang="zh-TW" altLang="en-US" sz="1200" b="1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itchFamily="34" charset="0"/>
                <a:ea typeface="新細明體" pitchFamily="18" charset="-120"/>
              </a:endParaRPr>
            </a:p>
          </p:txBody>
        </p:sp>
        <p:cxnSp>
          <p:nvCxnSpPr>
            <p:cNvPr id="60" name="直線單箭頭接點 59"/>
            <p:cNvCxnSpPr>
              <a:stCxn id="44" idx="1"/>
            </p:cNvCxnSpPr>
            <p:nvPr/>
          </p:nvCxnSpPr>
          <p:spPr bwMode="auto">
            <a:xfrm>
              <a:off x="1910380" y="3386535"/>
              <a:ext cx="18790" cy="423465"/>
            </a:xfrm>
            <a:prstGeom prst="straightConnector1">
              <a:avLst/>
            </a:prstGeom>
            <a:ln w="63500">
              <a:headEnd type="none" w="med" len="med"/>
              <a:tailEnd type="triangle"/>
            </a:ln>
            <a:effectLst>
              <a:outerShdw blurRad="76200" dist="12700" dir="8100000" sy="-23000" kx="800400" algn="br" rotWithShape="0">
                <a:prstClr val="black">
                  <a:alpha val="20000"/>
                </a:prstClr>
              </a:outerShdw>
            </a:effectLst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63" name="直線單箭頭接點 62"/>
            <p:cNvCxnSpPr>
              <a:stCxn id="84" idx="3"/>
              <a:endCxn id="66" idx="2"/>
            </p:cNvCxnSpPr>
            <p:nvPr/>
          </p:nvCxnSpPr>
          <p:spPr bwMode="auto">
            <a:xfrm flipV="1">
              <a:off x="5527112" y="4495610"/>
              <a:ext cx="1199223" cy="1"/>
            </a:xfrm>
            <a:prstGeom prst="straightConnector1">
              <a:avLst/>
            </a:prstGeom>
            <a:ln w="63500">
              <a:headEnd type="none" w="med" len="med"/>
              <a:tailEnd type="triangle"/>
            </a:ln>
            <a:effectLst>
              <a:outerShdw blurRad="76200" dist="12700" dir="8100000" sy="-23000" kx="800400" algn="br" rotWithShape="0">
                <a:prstClr val="black">
                  <a:alpha val="20000"/>
                </a:prstClr>
              </a:outerShdw>
            </a:effectLst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sp>
          <p:nvSpPr>
            <p:cNvPr id="66" name="剪去並圓角化單一角落矩形 65"/>
            <p:cNvSpPr/>
            <p:nvPr/>
          </p:nvSpPr>
          <p:spPr bwMode="auto">
            <a:xfrm>
              <a:off x="6726335" y="4166060"/>
              <a:ext cx="1198464" cy="659099"/>
            </a:xfrm>
            <a:prstGeom prst="snipRoundRect">
              <a:avLst/>
            </a:prstGeom>
            <a:ln>
              <a:headEnd type="none" w="med" len="med"/>
              <a:tailEnd type="none" w="med" len="med"/>
            </a:ln>
            <a:effectLst>
              <a:outerShdw blurRad="76200" dist="12700" dir="8100000" sy="-23000" kx="800400" algn="br" rotWithShape="0">
                <a:prstClr val="black">
                  <a:alpha val="20000"/>
                </a:prstClr>
              </a:outerShdw>
            </a:effectLst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US" altLang="zh-TW" sz="1200" b="1" dirty="0" smtClean="0">
                  <a:latin typeface="Arial" pitchFamily="34" charset="0"/>
                  <a:ea typeface="新細明體" pitchFamily="18" charset="-120"/>
                </a:rPr>
                <a:t>Object File</a:t>
              </a:r>
              <a:endParaRPr kumimoji="1" lang="zh-TW" altLang="en-US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新細明體" pitchFamily="18" charset="-120"/>
              </a:endParaRPr>
            </a:p>
          </p:txBody>
        </p:sp>
        <p:cxnSp>
          <p:nvCxnSpPr>
            <p:cNvPr id="68" name="直線單箭頭接點 67"/>
            <p:cNvCxnSpPr/>
            <p:nvPr/>
          </p:nvCxnSpPr>
          <p:spPr bwMode="auto">
            <a:xfrm>
              <a:off x="1929170" y="5105400"/>
              <a:ext cx="0" cy="457200"/>
            </a:xfrm>
            <a:prstGeom prst="straightConnector1">
              <a:avLst/>
            </a:prstGeom>
            <a:ln>
              <a:headEnd type="none" w="med" len="med"/>
              <a:tailEnd type="triangle"/>
            </a:ln>
            <a:effectLst>
              <a:outerShdw blurRad="76200" dist="12700" dir="8100000" sy="-23000" kx="800400" algn="br" rotWithShape="0">
                <a:prstClr val="black">
                  <a:alpha val="2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sp>
          <p:nvSpPr>
            <p:cNvPr id="69" name="剪去對角線角落矩形 68"/>
            <p:cNvSpPr/>
            <p:nvPr/>
          </p:nvSpPr>
          <p:spPr bwMode="auto">
            <a:xfrm>
              <a:off x="1110544" y="5564795"/>
              <a:ext cx="1843086" cy="455005"/>
            </a:xfrm>
            <a:prstGeom prst="snip2DiagRect">
              <a:avLst/>
            </a:prstGeom>
            <a:ln>
              <a:headEnd type="none" w="med" len="med"/>
              <a:tailEnd type="none" w="med" len="med"/>
            </a:ln>
            <a:effectLst>
              <a:outerShdw blurRad="76200" dist="12700" dir="8100000" sy="-23000" kx="800400" algn="br" rotWithShape="0">
                <a:prstClr val="black">
                  <a:alpha val="20000"/>
                </a:prstClr>
              </a:outerShdw>
            </a:effectLst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US" altLang="zh-TW" sz="1200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ea typeface="新細明體" pitchFamily="18" charset="-120"/>
                </a:rPr>
                <a:t>Kernel</a:t>
              </a:r>
              <a:r>
                <a:rPr kumimoji="1" lang="en-US" altLang="zh-TW" sz="1200" b="1" i="0" u="none" strike="noStrike" cap="none" normalizeH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ea typeface="新細明體" pitchFamily="18" charset="-120"/>
                </a:rPr>
                <a:t> Descriptor</a:t>
              </a:r>
              <a:endParaRPr kumimoji="1" lang="zh-TW" altLang="en-US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新細明體" pitchFamily="18" charset="-120"/>
              </a:endParaRPr>
            </a:p>
          </p:txBody>
        </p:sp>
        <p:sp>
          <p:nvSpPr>
            <p:cNvPr id="84" name="圓角矩形 83"/>
            <p:cNvSpPr/>
            <p:nvPr/>
          </p:nvSpPr>
          <p:spPr bwMode="auto">
            <a:xfrm>
              <a:off x="3487224" y="4211177"/>
              <a:ext cx="2039889" cy="568867"/>
            </a:xfrm>
            <a:prstGeom prst="roundRect">
              <a:avLst/>
            </a:prstGeom>
            <a:ln>
              <a:headEnd type="none" w="med" len="med"/>
              <a:tailEnd type="none" w="med" len="med"/>
            </a:ln>
            <a:effectLst>
              <a:outerShdw blurRad="76200" dist="12700" dir="8100000" sy="-23000" kx="800400" algn="br" rotWithShape="0">
                <a:prstClr val="black">
                  <a:alpha val="20000"/>
                </a:prstClr>
              </a:outerShdw>
            </a:effectLst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US" altLang="zh-TW" sz="1200" b="1" i="0" u="none" strike="noStrike" cap="none" normalizeH="0" baseline="0" dirty="0" smtClean="0">
                  <a:ln>
                    <a:noFill/>
                  </a:ln>
                  <a:solidFill>
                    <a:schemeClr val="bg1"/>
                  </a:solidFill>
                  <a:effectLst/>
                  <a:latin typeface="Arial" pitchFamily="34" charset="0"/>
                  <a:ea typeface="新細明體" pitchFamily="18" charset="-120"/>
                </a:rPr>
                <a:t>BRIG2OBJ</a:t>
              </a:r>
              <a:endParaRPr kumimoji="1" lang="zh-TW" altLang="en-US" sz="1200" b="1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itchFamily="34" charset="0"/>
                <a:ea typeface="新細明體" pitchFamily="18" charset="-120"/>
              </a:endParaRPr>
            </a:p>
          </p:txBody>
        </p:sp>
        <p:sp>
          <p:nvSpPr>
            <p:cNvPr id="100" name="圓角矩形 99"/>
            <p:cNvSpPr/>
            <p:nvPr/>
          </p:nvSpPr>
          <p:spPr bwMode="auto">
            <a:xfrm>
              <a:off x="1208875" y="3922619"/>
              <a:ext cx="1485110" cy="537517"/>
            </a:xfrm>
            <a:prstGeom prst="roundRect">
              <a:avLst/>
            </a:prstGeom>
            <a:ln>
              <a:headEnd type="none" w="med" len="med"/>
              <a:tailEnd type="none" w="med" len="med"/>
            </a:ln>
            <a:effectLst>
              <a:outerShdw blurRad="76200" dist="12700" dir="8100000" sy="-23000" kx="800400" algn="br" rotWithShape="0">
                <a:prstClr val="black">
                  <a:alpha val="20000"/>
                </a:prstClr>
              </a:outerShdw>
            </a:effectLst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US" altLang="zh-TW" sz="1200" b="1" i="0" u="none" strike="noStrike" cap="none" normalizeH="0" baseline="0" dirty="0" err="1" smtClean="0">
                  <a:ln>
                    <a:noFill/>
                  </a:ln>
                  <a:solidFill>
                    <a:schemeClr val="bg1"/>
                  </a:solidFill>
                  <a:effectLst/>
                  <a:latin typeface="Arial" pitchFamily="34" charset="0"/>
                  <a:ea typeface="新細明體" pitchFamily="18" charset="-120"/>
                </a:rPr>
                <a:t>OpenCL</a:t>
              </a:r>
              <a:r>
                <a:rPr kumimoji="1" lang="en-US" altLang="zh-TW" sz="1200" b="1" i="0" u="none" strike="noStrike" cap="none" normalizeH="0" baseline="0" dirty="0" smtClean="0">
                  <a:ln>
                    <a:noFill/>
                  </a:ln>
                  <a:solidFill>
                    <a:schemeClr val="bg1"/>
                  </a:solidFill>
                  <a:effectLst/>
                  <a:latin typeface="Arial" pitchFamily="34" charset="0"/>
                  <a:ea typeface="新細明體" pitchFamily="18" charset="-120"/>
                </a:rPr>
                <a:t> 2.0 </a:t>
              </a:r>
            </a:p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US" altLang="zh-TW" sz="1200" b="1" i="0" u="none" strike="noStrike" cap="none" normalizeH="0" baseline="0" dirty="0" smtClean="0">
                  <a:ln>
                    <a:noFill/>
                  </a:ln>
                  <a:solidFill>
                    <a:schemeClr val="bg1"/>
                  </a:solidFill>
                  <a:effectLst/>
                  <a:latin typeface="Arial" pitchFamily="34" charset="0"/>
                  <a:ea typeface="新細明體" pitchFamily="18" charset="-120"/>
                </a:rPr>
                <a:t>Runtime</a:t>
              </a:r>
              <a:endParaRPr kumimoji="1" lang="zh-TW" altLang="en-US" sz="1200" b="1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itchFamily="34" charset="0"/>
                <a:ea typeface="新細明體" pitchFamily="18" charset="-120"/>
              </a:endParaRPr>
            </a:p>
          </p:txBody>
        </p:sp>
        <p:cxnSp>
          <p:nvCxnSpPr>
            <p:cNvPr id="106" name="直線單箭頭接點 105"/>
            <p:cNvCxnSpPr>
              <a:endCxn id="58" idx="0"/>
            </p:cNvCxnSpPr>
            <p:nvPr/>
          </p:nvCxnSpPr>
          <p:spPr bwMode="auto">
            <a:xfrm>
              <a:off x="1929170" y="4495800"/>
              <a:ext cx="13254" cy="141289"/>
            </a:xfrm>
            <a:prstGeom prst="straightConnector1">
              <a:avLst/>
            </a:prstGeom>
            <a:ln>
              <a:headEnd type="none" w="med" len="med"/>
              <a:tailEnd type="triangle"/>
            </a:ln>
            <a:effectLst>
              <a:outerShdw blurRad="76200" dist="12700" dir="8100000" sy="-23000" kx="800400" algn="br" rotWithShape="0">
                <a:prstClr val="black">
                  <a:alpha val="2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109" name="直線單箭頭接點 108"/>
            <p:cNvCxnSpPr>
              <a:stCxn id="58" idx="3"/>
              <a:endCxn id="84" idx="1"/>
            </p:cNvCxnSpPr>
            <p:nvPr/>
          </p:nvCxnSpPr>
          <p:spPr bwMode="auto">
            <a:xfrm flipV="1">
              <a:off x="2613098" y="4495611"/>
              <a:ext cx="874126" cy="362171"/>
            </a:xfrm>
            <a:prstGeom prst="straightConnector1">
              <a:avLst/>
            </a:prstGeom>
            <a:ln>
              <a:headEnd type="none" w="med" len="med"/>
              <a:tailEnd type="triangle"/>
            </a:ln>
            <a:effectLst>
              <a:outerShdw blurRad="76200" dist="12700" dir="8100000" sy="-23000" kx="800400" algn="br" rotWithShape="0">
                <a:prstClr val="black">
                  <a:alpha val="2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36" name="Rectangle 3"/>
          <p:cNvSpPr>
            <a:spLocks noGrp="1" noRot="1" noChangeArrowheads="1"/>
          </p:cNvSpPr>
          <p:nvPr>
            <p:ph idx="1"/>
          </p:nvPr>
        </p:nvSpPr>
        <p:spPr>
          <a:xfrm>
            <a:off x="301625" y="1143000"/>
            <a:ext cx="8540750" cy="457200"/>
          </a:xfrm>
        </p:spPr>
        <p:txBody>
          <a:bodyPr/>
          <a:lstStyle/>
          <a:p>
            <a:pPr eaLnBrk="1" hangingPunct="1">
              <a:spcBef>
                <a:spcPts val="0"/>
              </a:spcBef>
              <a:spcAft>
                <a:spcPts val="600"/>
              </a:spcAft>
              <a:defRPr/>
            </a:pPr>
            <a:r>
              <a:rPr lang="en-US" altLang="zh-TW" sz="2400" dirty="0" smtClean="0">
                <a:ea typeface="新細明體" panose="02020500000000000000" pitchFamily="18" charset="-120"/>
              </a:rPr>
              <a:t>Components and compilation flow</a:t>
            </a:r>
          </a:p>
        </p:txBody>
      </p:sp>
    </p:spTree>
    <p:extLst>
      <p:ext uri="{BB962C8B-B14F-4D97-AF65-F5344CB8AC3E}">
        <p14:creationId xmlns:p14="http://schemas.microsoft.com/office/powerpoint/2010/main" val="3775664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 smtClean="0"/>
              <a:t>Compliation</a:t>
            </a:r>
            <a:r>
              <a:rPr lang="en-US" altLang="zh-TW" dirty="0" smtClean="0"/>
              <a:t> Framework (3) </a:t>
            </a:r>
            <a:endParaRPr lang="en-US" dirty="0"/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57A4102-9134-4DE4-89E3-9E7F1698ADF0}" type="slidenum">
              <a:rPr smtClean="0">
                <a:solidFill>
                  <a:prstClr val="white"/>
                </a:solidFill>
              </a:rPr>
              <a:pPr/>
              <a:t>24</a:t>
            </a:fld>
            <a:endParaRPr>
              <a:solidFill>
                <a:prstClr val="white"/>
              </a:solidFill>
            </a:endParaRPr>
          </a:p>
        </p:txBody>
      </p:sp>
      <p:grpSp>
        <p:nvGrpSpPr>
          <p:cNvPr id="18" name="群組 17"/>
          <p:cNvGrpSpPr/>
          <p:nvPr/>
        </p:nvGrpSpPr>
        <p:grpSpPr>
          <a:xfrm>
            <a:off x="990600" y="3429000"/>
            <a:ext cx="7216996" cy="2514601"/>
            <a:chOff x="384736" y="1220884"/>
            <a:chExt cx="7216996" cy="2514601"/>
          </a:xfrm>
        </p:grpSpPr>
        <p:sp>
          <p:nvSpPr>
            <p:cNvPr id="5" name="矩形 4"/>
            <p:cNvSpPr/>
            <p:nvPr/>
          </p:nvSpPr>
          <p:spPr bwMode="auto">
            <a:xfrm>
              <a:off x="1433606" y="2516285"/>
              <a:ext cx="4953000" cy="1219200"/>
            </a:xfrm>
            <a:prstGeom prst="rect">
              <a:avLst/>
            </a:prstGeom>
            <a:ln>
              <a:headEnd type="none" w="med" len="med"/>
              <a:tailEnd type="none" w="med" len="med"/>
            </a:ln>
            <a:effectLst>
              <a:outerShdw blurRad="152400" dist="317500" dir="5400000" sx="90000" sy="-19000" rotWithShape="0">
                <a:prstClr val="black">
                  <a:alpha val="15000"/>
                </a:prstClr>
              </a:outerShdw>
            </a:effectLst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vert="horz" wrap="none" lIns="91440" tIns="45720" rIns="91440" bIns="45720" numCol="1" rtlCol="0" anchor="b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TW" sz="1400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ea typeface="新細明體" pitchFamily="18" charset="-120"/>
                </a:rPr>
                <a:t>Library Header</a:t>
              </a:r>
              <a:endParaRPr kumimoji="1" lang="zh-TW" altLang="en-US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新細明體" pitchFamily="18" charset="-120"/>
              </a:endParaRPr>
            </a:p>
          </p:txBody>
        </p:sp>
        <p:sp>
          <p:nvSpPr>
            <p:cNvPr id="25" name="剪去並圓角化單一角落矩形 24"/>
            <p:cNvSpPr/>
            <p:nvPr/>
          </p:nvSpPr>
          <p:spPr bwMode="auto">
            <a:xfrm>
              <a:off x="384736" y="1274151"/>
              <a:ext cx="1332963" cy="734135"/>
            </a:xfrm>
            <a:prstGeom prst="snipRoundRect">
              <a:avLst/>
            </a:prstGeom>
            <a:ln>
              <a:headEnd type="none" w="med" len="med"/>
              <a:tailEnd type="none" w="med" len="med"/>
            </a:ln>
            <a:effectLst>
              <a:outerShdw blurRad="152400" dist="317500" dir="5400000" sx="90000" sy="-19000" rotWithShape="0">
                <a:prstClr val="black">
                  <a:alpha val="15000"/>
                </a:prstClr>
              </a:outerShdw>
            </a:effectLst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TW" sz="1400" b="1" dirty="0" err="1">
                  <a:solidFill>
                    <a:prstClr val="black"/>
                  </a:solidFill>
                </a:rPr>
                <a:t>OpenCL</a:t>
              </a:r>
              <a:endParaRPr kumimoji="1" lang="en-US" altLang="zh-TW" sz="1400" b="1" dirty="0">
                <a:solidFill>
                  <a:prstClr val="black"/>
                </a:solidFill>
              </a:endParaRPr>
            </a:p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TW" sz="1400" b="1" dirty="0">
                  <a:solidFill>
                    <a:prstClr val="black"/>
                  </a:solidFill>
                </a:rPr>
                <a:t>K</a:t>
              </a:r>
              <a:r>
                <a:rPr kumimoji="1" lang="en-US" altLang="zh-TW" sz="1400" b="1" dirty="0" smtClean="0">
                  <a:solidFill>
                    <a:prstClr val="black"/>
                  </a:solidFill>
                </a:rPr>
                <a:t>ernel</a:t>
              </a:r>
              <a:endParaRPr kumimoji="1" lang="zh-TW" altLang="en-US" sz="1400" b="1" dirty="0">
                <a:solidFill>
                  <a:prstClr val="black"/>
                </a:solidFill>
              </a:endParaRPr>
            </a:p>
          </p:txBody>
        </p:sp>
        <p:sp>
          <p:nvSpPr>
            <p:cNvPr id="26" name="剪去並圓角化單一角落矩形 25"/>
            <p:cNvSpPr/>
            <p:nvPr/>
          </p:nvSpPr>
          <p:spPr bwMode="auto">
            <a:xfrm>
              <a:off x="3239038" y="1274151"/>
              <a:ext cx="1332963" cy="734135"/>
            </a:xfrm>
            <a:prstGeom prst="snipRoundRect">
              <a:avLst/>
            </a:prstGeom>
            <a:ln>
              <a:headEnd type="none" w="med" len="med"/>
              <a:tailEnd type="none" w="med" len="med"/>
            </a:ln>
            <a:effectLst>
              <a:outerShdw blurRad="152400" dist="317500" dir="5400000" sx="90000" sy="-19000" rotWithShape="0">
                <a:prstClr val="black">
                  <a:alpha val="15000"/>
                </a:prstClr>
              </a:outerShdw>
            </a:effectLst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TW" sz="1400" b="1" dirty="0" smtClean="0">
                  <a:solidFill>
                    <a:prstClr val="black"/>
                  </a:solidFill>
                </a:rPr>
                <a:t>LLVM IR</a:t>
              </a:r>
              <a:endParaRPr kumimoji="1" lang="zh-TW" altLang="en-US" sz="1400" b="1" dirty="0">
                <a:solidFill>
                  <a:prstClr val="black"/>
                </a:solidFill>
              </a:endParaRPr>
            </a:p>
          </p:txBody>
        </p:sp>
        <p:sp>
          <p:nvSpPr>
            <p:cNvPr id="27" name="剪去並圓角化單一角落矩形 26"/>
            <p:cNvSpPr/>
            <p:nvPr/>
          </p:nvSpPr>
          <p:spPr bwMode="auto">
            <a:xfrm>
              <a:off x="1645285" y="2668684"/>
              <a:ext cx="1863651" cy="734135"/>
            </a:xfrm>
            <a:prstGeom prst="snipRoundRect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TW" sz="1400" b="1" dirty="0" smtClean="0">
                  <a:solidFill>
                    <a:prstClr val="black"/>
                  </a:solidFill>
                </a:rPr>
                <a:t>Built-In Function</a:t>
              </a:r>
            </a:p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TW" sz="1400" b="1" dirty="0">
                  <a:solidFill>
                    <a:prstClr val="black"/>
                  </a:solidFill>
                </a:rPr>
                <a:t>L</a:t>
              </a:r>
              <a:r>
                <a:rPr kumimoji="1" lang="en-US" altLang="zh-TW" sz="1400" b="1" dirty="0" smtClean="0">
                  <a:solidFill>
                    <a:prstClr val="black"/>
                  </a:solidFill>
                </a:rPr>
                <a:t>ibrary</a:t>
              </a:r>
              <a:endParaRPr kumimoji="1" lang="zh-TW" altLang="en-US" sz="1400" b="1" dirty="0">
                <a:solidFill>
                  <a:prstClr val="black"/>
                </a:solidFill>
              </a:endParaRPr>
            </a:p>
          </p:txBody>
        </p:sp>
        <p:sp>
          <p:nvSpPr>
            <p:cNvPr id="28" name="剪去並圓角化單一角落矩形 27"/>
            <p:cNvSpPr/>
            <p:nvPr/>
          </p:nvSpPr>
          <p:spPr bwMode="auto">
            <a:xfrm>
              <a:off x="3813736" y="2668684"/>
              <a:ext cx="2264580" cy="734135"/>
            </a:xfrm>
            <a:prstGeom prst="snipRoundRect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TW" sz="1400" b="1" dirty="0" err="1" smtClean="0">
                  <a:solidFill>
                    <a:prstClr val="black"/>
                  </a:solidFill>
                </a:rPr>
                <a:t>OpenCL</a:t>
              </a:r>
              <a:r>
                <a:rPr kumimoji="1" lang="en-US" altLang="zh-TW" sz="1400" b="1" dirty="0" smtClean="0">
                  <a:solidFill>
                    <a:prstClr val="black"/>
                  </a:solidFill>
                </a:rPr>
                <a:t> Type </a:t>
              </a:r>
              <a:r>
                <a:rPr kumimoji="1" lang="en-US" altLang="zh-TW" sz="1400" b="1" dirty="0">
                  <a:solidFill>
                    <a:prstClr val="black"/>
                  </a:solidFill>
                </a:rPr>
                <a:t>H</a:t>
              </a:r>
              <a:r>
                <a:rPr kumimoji="1" lang="en-US" altLang="zh-TW" sz="1400" b="1" dirty="0" smtClean="0">
                  <a:solidFill>
                    <a:prstClr val="black"/>
                  </a:solidFill>
                </a:rPr>
                <a:t>eader</a:t>
              </a:r>
            </a:p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TW" sz="1400" b="1" dirty="0">
                  <a:solidFill>
                    <a:prstClr val="black"/>
                  </a:solidFill>
                </a:rPr>
                <a:t>L</a:t>
              </a:r>
              <a:r>
                <a:rPr kumimoji="1" lang="en-US" altLang="zh-TW" sz="1400" b="1" dirty="0" smtClean="0">
                  <a:solidFill>
                    <a:prstClr val="black"/>
                  </a:solidFill>
                </a:rPr>
                <a:t>ibrary</a:t>
              </a:r>
              <a:endParaRPr kumimoji="1" lang="zh-TW" altLang="en-US" sz="1400" b="1" dirty="0">
                <a:solidFill>
                  <a:prstClr val="black"/>
                </a:solidFill>
              </a:endParaRPr>
            </a:p>
          </p:txBody>
        </p:sp>
        <p:cxnSp>
          <p:nvCxnSpPr>
            <p:cNvPr id="7" name="直線單箭頭接點 6"/>
            <p:cNvCxnSpPr>
              <a:stCxn id="25" idx="0"/>
              <a:endCxn id="26" idx="2"/>
            </p:cNvCxnSpPr>
            <p:nvPr/>
          </p:nvCxnSpPr>
          <p:spPr bwMode="auto">
            <a:xfrm>
              <a:off x="1717699" y="1641218"/>
              <a:ext cx="1521339" cy="0"/>
            </a:xfrm>
            <a:prstGeom prst="straightConnector1">
              <a:avLst/>
            </a:prstGeom>
            <a:ln w="63500">
              <a:headEnd type="none" w="med" len="med"/>
              <a:tailEnd type="triangle"/>
            </a:ln>
            <a:effectLst>
              <a:outerShdw blurRad="152400" dist="317500" dir="5400000" sx="90000" sy="-19000" rotWithShape="0">
                <a:prstClr val="black">
                  <a:alpha val="15000"/>
                </a:prstClr>
              </a:outerShdw>
            </a:effectLst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0" name="直線單箭頭接點 9"/>
            <p:cNvCxnSpPr>
              <a:stCxn id="5" idx="0"/>
              <a:endCxn id="26" idx="1"/>
            </p:cNvCxnSpPr>
            <p:nvPr/>
          </p:nvCxnSpPr>
          <p:spPr bwMode="auto">
            <a:xfrm flipH="1" flipV="1">
              <a:off x="3905520" y="2008286"/>
              <a:ext cx="4586" cy="507999"/>
            </a:xfrm>
            <a:prstGeom prst="straightConnector1">
              <a:avLst/>
            </a:prstGeom>
            <a:ln>
              <a:headEnd type="none" w="med" len="med"/>
              <a:tailEnd type="triangle"/>
            </a:ln>
            <a:effectLst>
              <a:outerShdw blurRad="152400" dist="317500" dir="5400000" sx="90000" sy="-19000" rotWithShape="0">
                <a:prstClr val="black">
                  <a:alpha val="15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sp>
          <p:nvSpPr>
            <p:cNvPr id="12" name="文字方塊 11"/>
            <p:cNvSpPr txBox="1"/>
            <p:nvPr/>
          </p:nvSpPr>
          <p:spPr>
            <a:xfrm>
              <a:off x="2056257" y="1220885"/>
              <a:ext cx="652743" cy="307777"/>
            </a:xfrm>
            <a:prstGeom prst="rect">
              <a:avLst/>
            </a:prstGeom>
            <a:noFill/>
          </p:spPr>
          <p:txBody>
            <a:bodyPr wrap="none" rtlCol="0" anchor="ctr" anchorCtr="1">
              <a:spAutoFit/>
            </a:bodyPr>
            <a:lstStyle/>
            <a:p>
              <a:r>
                <a:rPr lang="en-US" altLang="zh-TW" sz="1400" dirty="0" smtClean="0">
                  <a:solidFill>
                    <a:srgbClr val="C00000"/>
                  </a:solidFill>
                  <a:ea typeface="標楷體" pitchFamily="65" charset="-120"/>
                  <a:cs typeface="Calibri" pitchFamily="34" charset="0"/>
                </a:rPr>
                <a:t>Clang</a:t>
              </a:r>
              <a:endParaRPr lang="zh-TW" altLang="en-US" sz="1400" dirty="0" smtClean="0">
                <a:solidFill>
                  <a:srgbClr val="C00000"/>
                </a:solidFill>
                <a:ea typeface="標楷體" pitchFamily="65" charset="-120"/>
                <a:cs typeface="Calibri" pitchFamily="34" charset="0"/>
              </a:endParaRPr>
            </a:p>
          </p:txBody>
        </p:sp>
        <p:cxnSp>
          <p:nvCxnSpPr>
            <p:cNvPr id="36" name="直線單箭頭接點 35"/>
            <p:cNvCxnSpPr>
              <a:stCxn id="26" idx="0"/>
              <a:endCxn id="40" idx="2"/>
            </p:cNvCxnSpPr>
            <p:nvPr/>
          </p:nvCxnSpPr>
          <p:spPr bwMode="auto">
            <a:xfrm flipV="1">
              <a:off x="4572001" y="1636384"/>
              <a:ext cx="1619495" cy="4834"/>
            </a:xfrm>
            <a:prstGeom prst="straightConnector1">
              <a:avLst/>
            </a:prstGeom>
            <a:ln w="63500">
              <a:headEnd type="none" w="med" len="med"/>
              <a:tailEnd type="triangle"/>
            </a:ln>
            <a:effectLst>
              <a:outerShdw blurRad="152400" dist="317500" dir="5400000" sx="90000" sy="-19000" rotWithShape="0">
                <a:prstClr val="black">
                  <a:alpha val="15000"/>
                </a:prstClr>
              </a:outerShdw>
            </a:effectLst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40" name="剪去並圓角化單一角落矩形 39"/>
            <p:cNvSpPr/>
            <p:nvPr/>
          </p:nvSpPr>
          <p:spPr bwMode="auto">
            <a:xfrm>
              <a:off x="6191496" y="1233499"/>
              <a:ext cx="1410236" cy="805771"/>
            </a:xfrm>
            <a:prstGeom prst="snipRoundRect">
              <a:avLst/>
            </a:prstGeom>
            <a:ln>
              <a:headEnd type="none" w="med" len="med"/>
              <a:tailEnd type="none" w="med" len="med"/>
            </a:ln>
            <a:effectLst>
              <a:outerShdw blurRad="152400" dist="317500" dir="5400000" sx="90000" sy="-19000" rotWithShape="0">
                <a:prstClr val="black">
                  <a:alpha val="15000"/>
                </a:prstClr>
              </a:outerShdw>
            </a:effectLst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US" altLang="zh-TW" sz="1400" b="1" dirty="0" smtClean="0">
                  <a:latin typeface="Arial" pitchFamily="34" charset="0"/>
                  <a:ea typeface="新細明體" pitchFamily="18" charset="-120"/>
                </a:rPr>
                <a:t>HSAIL</a:t>
              </a:r>
            </a:p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US" altLang="zh-TW" sz="1400" b="1" dirty="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rPr>
                <a:t>T</a:t>
              </a:r>
              <a:r>
                <a:rPr kumimoji="1" lang="en-US" altLang="zh-TW" sz="1400" b="1" dirty="0" smtClean="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rPr>
                <a:t>ext</a:t>
              </a:r>
              <a:endParaRPr kumimoji="1" lang="zh-TW" altLang="en-US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新細明體" pitchFamily="18" charset="-120"/>
              </a:endParaRPr>
            </a:p>
          </p:txBody>
        </p:sp>
        <p:sp>
          <p:nvSpPr>
            <p:cNvPr id="45" name="文字方塊 44"/>
            <p:cNvSpPr txBox="1"/>
            <p:nvPr/>
          </p:nvSpPr>
          <p:spPr>
            <a:xfrm>
              <a:off x="2269778" y="2146603"/>
              <a:ext cx="752129" cy="307777"/>
            </a:xfrm>
            <a:prstGeom prst="rect">
              <a:avLst/>
            </a:prstGeom>
            <a:noFill/>
          </p:spPr>
          <p:txBody>
            <a:bodyPr wrap="none" rtlCol="0" anchor="ctr" anchorCtr="1">
              <a:spAutoFit/>
            </a:bodyPr>
            <a:lstStyle/>
            <a:p>
              <a:r>
                <a:rPr lang="en-US" altLang="zh-TW" sz="1400" dirty="0" smtClean="0">
                  <a:ea typeface="標楷體" pitchFamily="65" charset="-120"/>
                  <a:cs typeface="Calibri" pitchFamily="34" charset="0"/>
                </a:rPr>
                <a:t>include</a:t>
              </a:r>
              <a:endParaRPr lang="zh-TW" altLang="en-US" sz="1400" dirty="0" smtClean="0">
                <a:ea typeface="標楷體" pitchFamily="65" charset="-120"/>
                <a:cs typeface="Calibri" pitchFamily="34" charset="0"/>
              </a:endParaRPr>
            </a:p>
          </p:txBody>
        </p:sp>
        <p:sp>
          <p:nvSpPr>
            <p:cNvPr id="48" name="文字方塊 47"/>
            <p:cNvSpPr txBox="1"/>
            <p:nvPr/>
          </p:nvSpPr>
          <p:spPr>
            <a:xfrm>
              <a:off x="5035345" y="1220884"/>
              <a:ext cx="413896" cy="307777"/>
            </a:xfrm>
            <a:prstGeom prst="rect">
              <a:avLst/>
            </a:prstGeom>
            <a:noFill/>
          </p:spPr>
          <p:txBody>
            <a:bodyPr wrap="none" rtlCol="0" anchor="ctr" anchorCtr="1">
              <a:spAutoFit/>
            </a:bodyPr>
            <a:lstStyle/>
            <a:p>
              <a:r>
                <a:rPr lang="en-US" altLang="zh-TW" sz="1400" dirty="0" err="1" smtClean="0">
                  <a:solidFill>
                    <a:srgbClr val="C00000"/>
                  </a:solidFill>
                  <a:ea typeface="標楷體" pitchFamily="65" charset="-120"/>
                  <a:cs typeface="Calibri" pitchFamily="34" charset="0"/>
                </a:rPr>
                <a:t>Llc</a:t>
              </a:r>
              <a:endParaRPr lang="zh-TW" altLang="en-US" sz="1400" dirty="0" smtClean="0">
                <a:solidFill>
                  <a:srgbClr val="C00000"/>
                </a:solidFill>
                <a:ea typeface="標楷體" pitchFamily="65" charset="-120"/>
                <a:cs typeface="Calibri" pitchFamily="34" charset="0"/>
              </a:endParaRPr>
            </a:p>
          </p:txBody>
        </p:sp>
        <p:sp>
          <p:nvSpPr>
            <p:cNvPr id="16" name="文字方塊 15"/>
            <p:cNvSpPr txBox="1"/>
            <p:nvPr/>
          </p:nvSpPr>
          <p:spPr>
            <a:xfrm>
              <a:off x="4632552" y="1811602"/>
              <a:ext cx="1240083" cy="307777"/>
            </a:xfrm>
            <a:prstGeom prst="rect">
              <a:avLst/>
            </a:prstGeom>
            <a:noFill/>
          </p:spPr>
          <p:txBody>
            <a:bodyPr wrap="none" rtlCol="0" anchor="ctr" anchorCtr="1">
              <a:spAutoFit/>
            </a:bodyPr>
            <a:lstStyle/>
            <a:p>
              <a:r>
                <a:rPr lang="en-US" altLang="zh-TW" sz="1400" dirty="0" smtClean="0">
                  <a:ea typeface="標楷體" pitchFamily="65" charset="-120"/>
                  <a:cs typeface="Calibri" pitchFamily="34" charset="0"/>
                </a:rPr>
                <a:t>HSAIL Target</a:t>
              </a:r>
              <a:endParaRPr lang="zh-TW" altLang="en-US" sz="1400" dirty="0" smtClean="0">
                <a:ea typeface="標楷體" pitchFamily="65" charset="-120"/>
                <a:cs typeface="Calibri" pitchFamily="34" charset="0"/>
              </a:endParaRPr>
            </a:p>
          </p:txBody>
        </p:sp>
      </p:grpSp>
      <p:sp>
        <p:nvSpPr>
          <p:cNvPr id="19" name="Rectangle 3"/>
          <p:cNvSpPr>
            <a:spLocks noGrp="1" noRot="1" noChangeArrowheads="1"/>
          </p:cNvSpPr>
          <p:nvPr>
            <p:ph idx="1"/>
          </p:nvPr>
        </p:nvSpPr>
        <p:spPr>
          <a:xfrm>
            <a:off x="301625" y="1143000"/>
            <a:ext cx="8540750" cy="1828800"/>
          </a:xfrm>
        </p:spPr>
        <p:txBody>
          <a:bodyPr/>
          <a:lstStyle/>
          <a:p>
            <a:pPr eaLnBrk="1" hangingPunct="1">
              <a:spcBef>
                <a:spcPts val="0"/>
              </a:spcBef>
              <a:spcAft>
                <a:spcPts val="600"/>
              </a:spcAft>
              <a:defRPr/>
            </a:pPr>
            <a:r>
              <a:rPr lang="en-US" altLang="zh-TW" sz="2400" dirty="0" smtClean="0">
                <a:ea typeface="新細明體" panose="02020500000000000000" pitchFamily="18" charset="-120"/>
              </a:rPr>
              <a:t>CL2HSAIL</a:t>
            </a:r>
          </a:p>
          <a:p>
            <a:pPr marL="828000" lvl="1" indent="-457200">
              <a:spcBef>
                <a:spcPts val="0"/>
              </a:spcBef>
            </a:pPr>
            <a:r>
              <a:rPr lang="en-US" altLang="zh-TW" sz="2000" dirty="0" smtClean="0"/>
              <a:t>CL2HSAIL is based on LLVM</a:t>
            </a:r>
          </a:p>
          <a:p>
            <a:pPr marL="828000" lvl="1" indent="-457200"/>
            <a:r>
              <a:rPr lang="en-US" altLang="zh-TW" sz="2000" dirty="0" smtClean="0"/>
              <a:t>Compiling </a:t>
            </a:r>
            <a:r>
              <a:rPr lang="en-US" altLang="zh-TW" sz="2000" dirty="0" err="1" smtClean="0"/>
              <a:t>OpenCL</a:t>
            </a:r>
            <a:r>
              <a:rPr lang="en-US" altLang="zh-TW" sz="2000" dirty="0" smtClean="0"/>
              <a:t> to LLVM should include a self-defined </a:t>
            </a:r>
            <a:r>
              <a:rPr lang="en-US" altLang="zh-TW" sz="2000" dirty="0" err="1" smtClean="0"/>
              <a:t>OpenCL</a:t>
            </a:r>
            <a:r>
              <a:rPr lang="en-US" altLang="zh-TW" sz="2000" dirty="0" smtClean="0"/>
              <a:t> library header</a:t>
            </a:r>
          </a:p>
          <a:p>
            <a:pPr marL="828000" lvl="1" indent="-457200"/>
            <a:r>
              <a:rPr lang="en-US" altLang="zh-TW" sz="2000" dirty="0" smtClean="0"/>
              <a:t>Use LLVM backend and HSAIL Target module to translate LLVM to HSAIL</a:t>
            </a:r>
            <a:endParaRPr lang="zh-TW" altLang="en-US" sz="2000" dirty="0" smtClean="0"/>
          </a:p>
          <a:p>
            <a:pPr eaLnBrk="1" hangingPunct="1">
              <a:spcBef>
                <a:spcPts val="0"/>
              </a:spcBef>
              <a:spcAft>
                <a:spcPts val="600"/>
              </a:spcAft>
              <a:buNone/>
              <a:defRPr/>
            </a:pPr>
            <a:endParaRPr lang="en-US" altLang="zh-TW" sz="2400" dirty="0" smtClean="0">
              <a:ea typeface="新細明體" panose="02020500000000000000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18398612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 smtClean="0"/>
              <a:t>Compliation</a:t>
            </a:r>
            <a:r>
              <a:rPr lang="en-US" altLang="zh-TW" dirty="0" smtClean="0"/>
              <a:t> Framework (4) </a:t>
            </a:r>
            <a:endParaRPr lang="en-US" dirty="0"/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57A4102-9134-4DE4-89E3-9E7F1698ADF0}" type="slidenum">
              <a:rPr smtClean="0">
                <a:solidFill>
                  <a:prstClr val="white"/>
                </a:solidFill>
              </a:rPr>
              <a:pPr/>
              <a:t>25</a:t>
            </a:fld>
            <a:endParaRPr>
              <a:solidFill>
                <a:prstClr val="white"/>
              </a:solidFill>
            </a:endParaRPr>
          </a:p>
        </p:txBody>
      </p:sp>
      <p:sp>
        <p:nvSpPr>
          <p:cNvPr id="42" name="剪去並圓角化單一角落矩形 41"/>
          <p:cNvSpPr/>
          <p:nvPr/>
        </p:nvSpPr>
        <p:spPr bwMode="auto">
          <a:xfrm>
            <a:off x="1057835" y="3527610"/>
            <a:ext cx="1410236" cy="770965"/>
          </a:xfrm>
          <a:prstGeom prst="snipRoundRect">
            <a:avLst/>
          </a:prstGeom>
          <a:ln>
            <a:headEnd type="none" w="med" len="med"/>
            <a:tailEnd type="none" w="med" len="med"/>
          </a:ln>
          <a:effectLst>
            <a:outerShdw blurRad="76200" dist="12700" dir="8100000" sy="-23000" kx="800400" algn="br" rotWithShape="0">
              <a:prstClr val="black">
                <a:alpha val="20000"/>
              </a:prstClr>
            </a:outerShdw>
          </a:effec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TW" sz="1600" b="1" dirty="0">
                <a:solidFill>
                  <a:prstClr val="black"/>
                </a:solidFill>
              </a:rPr>
              <a:t>HSAIL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TW" sz="1600" b="1" dirty="0">
                <a:solidFill>
                  <a:prstClr val="black"/>
                </a:solidFill>
              </a:rPr>
              <a:t>T</a:t>
            </a:r>
            <a:r>
              <a:rPr kumimoji="1" lang="en-US" altLang="zh-TW" sz="1600" b="1" dirty="0" smtClean="0">
                <a:solidFill>
                  <a:prstClr val="black"/>
                </a:solidFill>
              </a:rPr>
              <a:t>ext</a:t>
            </a:r>
            <a:endParaRPr kumimoji="1" lang="zh-TW" altLang="en-US" sz="1600" b="1" dirty="0">
              <a:solidFill>
                <a:prstClr val="black"/>
              </a:solidFill>
            </a:endParaRPr>
          </a:p>
        </p:txBody>
      </p:sp>
      <p:sp>
        <p:nvSpPr>
          <p:cNvPr id="43" name="圓角矩形 42"/>
          <p:cNvSpPr/>
          <p:nvPr/>
        </p:nvSpPr>
        <p:spPr bwMode="auto">
          <a:xfrm>
            <a:off x="3164988" y="3571381"/>
            <a:ext cx="2388647" cy="695459"/>
          </a:xfrm>
          <a:prstGeom prst="roundRect">
            <a:avLst/>
          </a:prstGeom>
          <a:ln>
            <a:headEnd type="none" w="med" len="med"/>
            <a:tailEnd type="none" w="med" len="med"/>
          </a:ln>
          <a:effectLst>
            <a:outerShdw blurRad="76200" dist="12700" dir="8100000" sy="-23000" kx="800400" algn="br" rotWithShape="0">
              <a:prstClr val="black">
                <a:alpha val="20000"/>
              </a:prstClr>
            </a:outerShdw>
          </a:effectLst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TW" sz="1600" b="1" dirty="0" smtClean="0">
                <a:solidFill>
                  <a:prstClr val="white"/>
                </a:solidFill>
              </a:rPr>
              <a:t>HSAIL2BRIG</a:t>
            </a:r>
            <a:endParaRPr kumimoji="1" lang="zh-TW" altLang="en-US" sz="1600" b="1" dirty="0">
              <a:solidFill>
                <a:prstClr val="white"/>
              </a:solidFill>
            </a:endParaRPr>
          </a:p>
        </p:txBody>
      </p:sp>
      <p:cxnSp>
        <p:nvCxnSpPr>
          <p:cNvPr id="51" name="直線單箭頭接點 50"/>
          <p:cNvCxnSpPr>
            <a:stCxn id="42" idx="0"/>
            <a:endCxn id="43" idx="1"/>
          </p:cNvCxnSpPr>
          <p:nvPr/>
        </p:nvCxnSpPr>
        <p:spPr bwMode="auto">
          <a:xfrm>
            <a:off x="2468071" y="3913093"/>
            <a:ext cx="696917" cy="6018"/>
          </a:xfrm>
          <a:prstGeom prst="straightConnector1">
            <a:avLst/>
          </a:prstGeom>
          <a:ln w="63500">
            <a:headEnd type="none" w="med" len="med"/>
            <a:tailEnd type="triangle"/>
          </a:ln>
          <a:effectLst>
            <a:outerShdw blurRad="76200" dist="12700" dir="8100000" sy="-23000" kx="800400" algn="br" rotWithShape="0">
              <a:prstClr val="black">
                <a:alpha val="20000"/>
              </a:prstClr>
            </a:outerShdw>
          </a:effectLst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2" name="Rectangle 3"/>
          <p:cNvSpPr>
            <a:spLocks noGrp="1" noRot="1" noChangeArrowheads="1"/>
          </p:cNvSpPr>
          <p:nvPr>
            <p:ph idx="1"/>
          </p:nvPr>
        </p:nvSpPr>
        <p:spPr>
          <a:xfrm>
            <a:off x="301625" y="1143000"/>
            <a:ext cx="8540750" cy="1828800"/>
          </a:xfrm>
        </p:spPr>
        <p:txBody>
          <a:bodyPr/>
          <a:lstStyle/>
          <a:p>
            <a:pPr eaLnBrk="1" hangingPunct="1">
              <a:spcBef>
                <a:spcPts val="0"/>
              </a:spcBef>
              <a:spcAft>
                <a:spcPts val="600"/>
              </a:spcAft>
              <a:defRPr/>
            </a:pPr>
            <a:r>
              <a:rPr lang="en-US" altLang="zh-TW" sz="2400" dirty="0" smtClean="0">
                <a:cs typeface="Calibri" pitchFamily="34" charset="0"/>
              </a:rPr>
              <a:t>HSAIL2BRIG </a:t>
            </a:r>
          </a:p>
          <a:p>
            <a:pPr lvl="1" eaLnBrk="1" hangingPunct="1">
              <a:spcBef>
                <a:spcPts val="0"/>
              </a:spcBef>
              <a:spcAft>
                <a:spcPts val="600"/>
              </a:spcAft>
              <a:defRPr/>
            </a:pPr>
            <a:r>
              <a:rPr lang="en-US" altLang="zh-TW" sz="2000" dirty="0" smtClean="0">
                <a:cs typeface="Calibri" pitchFamily="34" charset="0"/>
              </a:rPr>
              <a:t>Based on </a:t>
            </a:r>
            <a:r>
              <a:rPr lang="en-US" altLang="zh-TW" sz="2000" dirty="0" err="1" smtClean="0">
                <a:cs typeface="Calibri" pitchFamily="34" charset="0"/>
              </a:rPr>
              <a:t>Lex</a:t>
            </a:r>
            <a:r>
              <a:rPr lang="en-US" altLang="zh-TW" sz="2000" dirty="0" smtClean="0">
                <a:cs typeface="Calibri" pitchFamily="34" charset="0"/>
              </a:rPr>
              <a:t> and </a:t>
            </a:r>
            <a:r>
              <a:rPr lang="en-US" altLang="zh-TW" sz="2000" dirty="0" err="1" smtClean="0">
                <a:cs typeface="Calibri" pitchFamily="34" charset="0"/>
              </a:rPr>
              <a:t>Yacc</a:t>
            </a:r>
            <a:endParaRPr lang="en-US" altLang="zh-TW" sz="2000" dirty="0" smtClean="0">
              <a:ea typeface="新細明體" panose="02020500000000000000" pitchFamily="18" charset="-120"/>
            </a:endParaRPr>
          </a:p>
          <a:p>
            <a:pPr eaLnBrk="1" hangingPunct="1">
              <a:spcBef>
                <a:spcPts val="0"/>
              </a:spcBef>
              <a:spcAft>
                <a:spcPts val="600"/>
              </a:spcAft>
              <a:defRPr/>
            </a:pPr>
            <a:r>
              <a:rPr lang="en-US" altLang="zh-TW" sz="2400" dirty="0" smtClean="0">
                <a:cs typeface="Calibri" pitchFamily="34" charset="0"/>
              </a:rPr>
              <a:t>BRIG is an ELF format binary file following HSAIL specification</a:t>
            </a:r>
            <a:endParaRPr lang="zh-TW" altLang="en-US" sz="2400" dirty="0" smtClean="0">
              <a:cs typeface="Calibri" pitchFamily="34" charset="0"/>
            </a:endParaRPr>
          </a:p>
        </p:txBody>
      </p:sp>
      <p:sp>
        <p:nvSpPr>
          <p:cNvPr id="22" name="剪去並圓角化單一角落矩形 21"/>
          <p:cNvSpPr/>
          <p:nvPr/>
        </p:nvSpPr>
        <p:spPr bwMode="auto">
          <a:xfrm>
            <a:off x="6209764" y="3505200"/>
            <a:ext cx="1410236" cy="770965"/>
          </a:xfrm>
          <a:prstGeom prst="snipRoundRect">
            <a:avLst/>
          </a:prstGeom>
          <a:ln>
            <a:headEnd type="none" w="med" len="med"/>
            <a:tailEnd type="none" w="med" len="med"/>
          </a:ln>
          <a:effectLst>
            <a:outerShdw blurRad="76200" dist="12700" dir="8100000" sy="-23000" kx="800400" algn="br" rotWithShape="0">
              <a:prstClr val="black">
                <a:alpha val="20000"/>
              </a:prstClr>
            </a:outerShdw>
          </a:effec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kumimoji="1" lang="en-US" altLang="zh-TW" sz="1600" b="1" dirty="0" smtClean="0">
                <a:solidFill>
                  <a:prstClr val="black"/>
                </a:solidFill>
              </a:rPr>
              <a:t>HSAIL Binary</a:t>
            </a:r>
          </a:p>
          <a:p>
            <a:pPr algn="ctr"/>
            <a:r>
              <a:rPr kumimoji="1" lang="en-US" altLang="zh-TW" sz="1600" b="1" dirty="0" smtClean="0">
                <a:solidFill>
                  <a:prstClr val="black"/>
                </a:solidFill>
              </a:rPr>
              <a:t>(BRIG)</a:t>
            </a:r>
            <a:endParaRPr kumimoji="1" lang="zh-TW" altLang="en-US" sz="1600" b="1" dirty="0">
              <a:solidFill>
                <a:prstClr val="black"/>
              </a:solidFill>
            </a:endParaRPr>
          </a:p>
        </p:txBody>
      </p:sp>
      <p:cxnSp>
        <p:nvCxnSpPr>
          <p:cNvPr id="23" name="直線單箭頭接點 22"/>
          <p:cNvCxnSpPr>
            <a:stCxn id="43" idx="3"/>
          </p:cNvCxnSpPr>
          <p:nvPr/>
        </p:nvCxnSpPr>
        <p:spPr bwMode="auto">
          <a:xfrm>
            <a:off x="5553635" y="3919111"/>
            <a:ext cx="685800" cy="4482"/>
          </a:xfrm>
          <a:prstGeom prst="straightConnector1">
            <a:avLst/>
          </a:prstGeom>
          <a:ln w="63500">
            <a:headEnd type="none" w="med" len="med"/>
            <a:tailEnd type="triangle"/>
          </a:ln>
          <a:effectLst>
            <a:outerShdw blurRad="76200" dist="12700" dir="8100000" sy="-23000" kx="800400" algn="br" rotWithShape="0">
              <a:prstClr val="black">
                <a:alpha val="20000"/>
              </a:prstClr>
            </a:outerShdw>
          </a:effectLst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5637080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 smtClean="0"/>
              <a:t>Compliation</a:t>
            </a:r>
            <a:r>
              <a:rPr lang="en-US" altLang="zh-TW" dirty="0" smtClean="0"/>
              <a:t> Framework (4) </a:t>
            </a:r>
            <a:endParaRPr lang="en-US" dirty="0"/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57A4102-9134-4DE4-89E3-9E7F1698ADF0}" type="slidenum">
              <a:rPr smtClean="0">
                <a:solidFill>
                  <a:prstClr val="white"/>
                </a:solidFill>
              </a:rPr>
              <a:pPr/>
              <a:t>26</a:t>
            </a:fld>
            <a:endParaRPr>
              <a:solidFill>
                <a:prstClr val="white"/>
              </a:solidFill>
            </a:endParaRPr>
          </a:p>
        </p:txBody>
      </p:sp>
      <p:grpSp>
        <p:nvGrpSpPr>
          <p:cNvPr id="20" name="群組 19"/>
          <p:cNvGrpSpPr/>
          <p:nvPr/>
        </p:nvGrpSpPr>
        <p:grpSpPr>
          <a:xfrm>
            <a:off x="1219200" y="3124200"/>
            <a:ext cx="7086600" cy="2743200"/>
            <a:chOff x="762000" y="2930396"/>
            <a:chExt cx="7311774" cy="2403605"/>
          </a:xfrm>
        </p:grpSpPr>
        <p:sp>
          <p:nvSpPr>
            <p:cNvPr id="44" name="剪去並圓角化單一角落矩形 43"/>
            <p:cNvSpPr/>
            <p:nvPr/>
          </p:nvSpPr>
          <p:spPr bwMode="auto">
            <a:xfrm>
              <a:off x="793845" y="2930396"/>
              <a:ext cx="1590922" cy="1005417"/>
            </a:xfrm>
            <a:prstGeom prst="snipRoundRect">
              <a:avLst/>
            </a:prstGeom>
            <a:ln>
              <a:headEnd type="none" w="med" len="med"/>
              <a:tailEnd type="none" w="med" len="med"/>
            </a:ln>
            <a:effectLst>
              <a:outerShdw blurRad="76200" dist="12700" dir="8100000" sy="-23000" kx="800400" algn="br" rotWithShape="0">
                <a:prstClr val="black">
                  <a:alpha val="20000"/>
                </a:prstClr>
              </a:outerShdw>
            </a:effectLst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US" altLang="zh-TW" sz="1200" b="1" dirty="0" smtClean="0">
                  <a:latin typeface="Arial" pitchFamily="34" charset="0"/>
                  <a:ea typeface="新細明體" pitchFamily="18" charset="-120"/>
                </a:rPr>
                <a:t>HSAIL </a:t>
              </a:r>
              <a:r>
                <a:rPr kumimoji="1" lang="en-US" altLang="zh-TW" sz="1200" b="1" dirty="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rPr>
                <a:t>B</a:t>
              </a:r>
              <a:r>
                <a:rPr kumimoji="1" lang="en-US" altLang="zh-TW" sz="1200" b="1" dirty="0" smtClean="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rPr>
                <a:t>inary</a:t>
              </a:r>
            </a:p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US" altLang="zh-TW" sz="1200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ea typeface="新細明體" pitchFamily="18" charset="-120"/>
                </a:rPr>
                <a:t>(BRIG)</a:t>
              </a:r>
              <a:endParaRPr kumimoji="1" lang="zh-TW" altLang="en-US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新細明體" pitchFamily="18" charset="-120"/>
              </a:endParaRPr>
            </a:p>
          </p:txBody>
        </p:sp>
        <p:cxnSp>
          <p:nvCxnSpPr>
            <p:cNvPr id="60" name="直線單箭頭接點 59"/>
            <p:cNvCxnSpPr>
              <a:stCxn id="44" idx="1"/>
            </p:cNvCxnSpPr>
            <p:nvPr/>
          </p:nvCxnSpPr>
          <p:spPr bwMode="auto">
            <a:xfrm flipH="1">
              <a:off x="1589306" y="3935812"/>
              <a:ext cx="1" cy="331388"/>
            </a:xfrm>
            <a:prstGeom prst="straightConnector1">
              <a:avLst/>
            </a:prstGeom>
            <a:ln w="63500">
              <a:headEnd type="none" w="med" len="med"/>
              <a:tailEnd type="triangle"/>
            </a:ln>
            <a:effectLst>
              <a:outerShdw blurRad="76200" dist="12700" dir="8100000" sy="-23000" kx="800400" algn="br" rotWithShape="0">
                <a:prstClr val="black">
                  <a:alpha val="20000"/>
                </a:prstClr>
              </a:outerShdw>
            </a:effectLst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63" name="直線單箭頭接點 62"/>
            <p:cNvCxnSpPr>
              <a:endCxn id="66" idx="2"/>
            </p:cNvCxnSpPr>
            <p:nvPr/>
          </p:nvCxnSpPr>
          <p:spPr bwMode="auto">
            <a:xfrm flipV="1">
              <a:off x="6036682" y="4787177"/>
              <a:ext cx="626856" cy="13423"/>
            </a:xfrm>
            <a:prstGeom prst="straightConnector1">
              <a:avLst/>
            </a:prstGeom>
            <a:ln w="63500">
              <a:headEnd type="none" w="med" len="med"/>
              <a:tailEnd type="triangle"/>
            </a:ln>
            <a:effectLst>
              <a:outerShdw blurRad="76200" dist="12700" dir="8100000" sy="-23000" kx="800400" algn="br" rotWithShape="0">
                <a:prstClr val="black">
                  <a:alpha val="20000"/>
                </a:prstClr>
              </a:outerShdw>
            </a:effectLst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sp>
          <p:nvSpPr>
            <p:cNvPr id="66" name="剪去並圓角化單一角落矩形 65"/>
            <p:cNvSpPr/>
            <p:nvPr/>
          </p:nvSpPr>
          <p:spPr bwMode="auto">
            <a:xfrm>
              <a:off x="6663538" y="4384291"/>
              <a:ext cx="1410236" cy="805771"/>
            </a:xfrm>
            <a:prstGeom prst="snipRoundRect">
              <a:avLst/>
            </a:prstGeom>
            <a:ln>
              <a:headEnd type="none" w="med" len="med"/>
              <a:tailEnd type="none" w="med" len="med"/>
            </a:ln>
            <a:effectLst>
              <a:outerShdw blurRad="76200" dist="12700" dir="8100000" sy="-23000" kx="800400" algn="br" rotWithShape="0">
                <a:prstClr val="black">
                  <a:alpha val="20000"/>
                </a:prstClr>
              </a:outerShdw>
            </a:effectLst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US" altLang="zh-TW" sz="1200" b="1" dirty="0" smtClean="0">
                  <a:latin typeface="Arial" pitchFamily="34" charset="0"/>
                  <a:ea typeface="新細明體" pitchFamily="18" charset="-120"/>
                </a:rPr>
                <a:t>Object File</a:t>
              </a:r>
              <a:endParaRPr kumimoji="1" lang="zh-TW" altLang="en-US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新細明體" pitchFamily="18" charset="-120"/>
              </a:endParaRPr>
            </a:p>
          </p:txBody>
        </p:sp>
        <p:sp>
          <p:nvSpPr>
            <p:cNvPr id="84" name="圓角矩形 83"/>
            <p:cNvSpPr/>
            <p:nvPr/>
          </p:nvSpPr>
          <p:spPr bwMode="auto">
            <a:xfrm>
              <a:off x="762000" y="4267201"/>
              <a:ext cx="5274682" cy="1066800"/>
            </a:xfrm>
            <a:prstGeom prst="roundRect">
              <a:avLst/>
            </a:prstGeom>
            <a:ln>
              <a:headEnd type="none" w="med" len="med"/>
              <a:tailEnd type="none" w="med" len="med"/>
            </a:ln>
            <a:effectLst>
              <a:outerShdw blurRad="76200" dist="12700" dir="8100000" sy="-23000" kx="800400" algn="br" rotWithShape="0">
                <a:prstClr val="black">
                  <a:alpha val="20000"/>
                </a:prstClr>
              </a:outerShdw>
            </a:effectLst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US" altLang="zh-TW" sz="1200" b="1" i="0" u="none" strike="noStrike" cap="none" normalizeH="0" baseline="0" dirty="0" smtClean="0">
                  <a:ln>
                    <a:noFill/>
                  </a:ln>
                  <a:solidFill>
                    <a:schemeClr val="bg1"/>
                  </a:solidFill>
                  <a:effectLst/>
                  <a:latin typeface="Arial" pitchFamily="34" charset="0"/>
                  <a:ea typeface="新細明體" pitchFamily="18" charset="-120"/>
                </a:rPr>
                <a:t>BRIG2OBJ</a:t>
              </a:r>
              <a:endParaRPr kumimoji="1" lang="zh-TW" altLang="en-US" sz="1200" b="1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itchFamily="34" charset="0"/>
                <a:ea typeface="新細明體" pitchFamily="18" charset="-120"/>
              </a:endParaRPr>
            </a:p>
          </p:txBody>
        </p:sp>
        <p:sp>
          <p:nvSpPr>
            <p:cNvPr id="10" name="圓角矩形 9"/>
            <p:cNvSpPr/>
            <p:nvPr/>
          </p:nvSpPr>
          <p:spPr bwMode="auto">
            <a:xfrm>
              <a:off x="907708" y="4617613"/>
              <a:ext cx="1149255" cy="594764"/>
            </a:xfrm>
            <a:prstGeom prst="roundRect">
              <a:avLst/>
            </a:prstGeom>
            <a:ln>
              <a:headEnd type="none" w="med" len="med"/>
              <a:tailEnd type="none" w="med" len="med"/>
            </a:ln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US" altLang="zh-TW" sz="1200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ea typeface="新細明體" pitchFamily="18" charset="-120"/>
                </a:rPr>
                <a:t>Flow</a:t>
              </a:r>
              <a:endParaRPr kumimoji="1" lang="en-US" altLang="zh-TW" sz="1200" b="1" dirty="0">
                <a:solidFill>
                  <a:schemeClr val="tx1"/>
                </a:solidFill>
                <a:latin typeface="Arial" pitchFamily="34" charset="0"/>
                <a:ea typeface="新細明體" pitchFamily="18" charset="-120"/>
              </a:endParaRPr>
            </a:p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US" altLang="zh-TW" sz="1200" b="1" i="0" u="none" strike="noStrike" cap="none" normalizeH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ea typeface="新細明體" pitchFamily="18" charset="-120"/>
                </a:rPr>
                <a:t>Constructor</a:t>
              </a:r>
              <a:endParaRPr kumimoji="1" lang="zh-TW" altLang="en-US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新細明體" pitchFamily="18" charset="-120"/>
              </a:endParaRPr>
            </a:p>
          </p:txBody>
        </p:sp>
        <p:sp>
          <p:nvSpPr>
            <p:cNvPr id="31" name="圓角矩形 30"/>
            <p:cNvSpPr/>
            <p:nvPr/>
          </p:nvSpPr>
          <p:spPr bwMode="auto">
            <a:xfrm>
              <a:off x="2450293" y="4617613"/>
              <a:ext cx="990382" cy="594764"/>
            </a:xfrm>
            <a:prstGeom prst="roundRect">
              <a:avLst/>
            </a:prstGeom>
            <a:ln>
              <a:headEnd type="none" w="med" len="med"/>
              <a:tailEnd type="none" w="med" len="med"/>
            </a:ln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US" altLang="zh-TW" sz="1200" b="1" i="0" u="none" strike="noStrike" cap="none" normalizeH="0" baseline="0" dirty="0" err="1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ea typeface="新細明體" pitchFamily="18" charset="-120"/>
                </a:rPr>
                <a:t>HDecoder</a:t>
              </a:r>
              <a:endParaRPr kumimoji="1" lang="zh-TW" altLang="en-US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新細明體" pitchFamily="18" charset="-120"/>
              </a:endParaRPr>
            </a:p>
          </p:txBody>
        </p:sp>
        <p:sp>
          <p:nvSpPr>
            <p:cNvPr id="32" name="圓角矩形 31"/>
            <p:cNvSpPr/>
            <p:nvPr/>
          </p:nvSpPr>
          <p:spPr bwMode="auto">
            <a:xfrm>
              <a:off x="4848286" y="4617613"/>
              <a:ext cx="1092787" cy="594764"/>
            </a:xfrm>
            <a:prstGeom prst="roundRect">
              <a:avLst/>
            </a:prstGeom>
            <a:ln>
              <a:headEnd type="none" w="med" len="med"/>
              <a:tailEnd type="none" w="med" len="med"/>
            </a:ln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US" altLang="zh-TW" sz="1200" b="1" i="0" u="none" strike="noStrike" cap="none" normalizeH="0" baseline="0" dirty="0" err="1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ea typeface="新細明體" pitchFamily="18" charset="-120"/>
                </a:rPr>
                <a:t>HAssembler</a:t>
              </a:r>
              <a:endParaRPr kumimoji="1" lang="zh-TW" altLang="en-US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新細明體" pitchFamily="18" charset="-120"/>
              </a:endParaRPr>
            </a:p>
          </p:txBody>
        </p:sp>
        <p:sp>
          <p:nvSpPr>
            <p:cNvPr id="14" name="流程圖: 文件 13"/>
            <p:cNvSpPr/>
            <p:nvPr/>
          </p:nvSpPr>
          <p:spPr bwMode="auto">
            <a:xfrm>
              <a:off x="3839636" y="4563729"/>
              <a:ext cx="689114" cy="702532"/>
            </a:xfrm>
            <a:prstGeom prst="flowChartDocument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US" altLang="zh-TW" sz="1200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ea typeface="新細明體" pitchFamily="18" charset="-120"/>
                </a:rPr>
                <a:t>LLVM</a:t>
              </a:r>
            </a:p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US" altLang="zh-TW" sz="1200" b="1" dirty="0" err="1" smtClean="0">
                  <a:latin typeface="Arial" pitchFamily="34" charset="0"/>
                  <a:ea typeface="新細明體" pitchFamily="18" charset="-120"/>
                </a:rPr>
                <a:t>BitCode</a:t>
              </a:r>
              <a:endParaRPr kumimoji="1" lang="zh-TW" altLang="en-US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新細明體" pitchFamily="18" charset="-120"/>
              </a:endParaRPr>
            </a:p>
          </p:txBody>
        </p:sp>
        <p:cxnSp>
          <p:nvCxnSpPr>
            <p:cNvPr id="16" name="直線單箭頭接點 15"/>
            <p:cNvCxnSpPr/>
            <p:nvPr/>
          </p:nvCxnSpPr>
          <p:spPr bwMode="auto">
            <a:xfrm>
              <a:off x="2056963" y="4914995"/>
              <a:ext cx="393330" cy="0"/>
            </a:xfrm>
            <a:prstGeom prst="straightConnector1">
              <a:avLst/>
            </a:prstGeom>
            <a:ln>
              <a:headEnd type="none" w="med" len="med"/>
              <a:tailEnd type="triangle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37" name="直線單箭頭接點 36"/>
            <p:cNvCxnSpPr>
              <a:stCxn id="31" idx="3"/>
              <a:endCxn id="14" idx="1"/>
            </p:cNvCxnSpPr>
            <p:nvPr/>
          </p:nvCxnSpPr>
          <p:spPr bwMode="auto">
            <a:xfrm>
              <a:off x="3440675" y="4914995"/>
              <a:ext cx="398961" cy="0"/>
            </a:xfrm>
            <a:prstGeom prst="straightConnector1">
              <a:avLst/>
            </a:prstGeom>
            <a:ln>
              <a:headEnd type="none" w="med" len="med"/>
              <a:tailEnd type="triangle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41" name="直線單箭頭接點 40"/>
            <p:cNvCxnSpPr>
              <a:stCxn id="14" idx="3"/>
              <a:endCxn id="32" idx="1"/>
            </p:cNvCxnSpPr>
            <p:nvPr/>
          </p:nvCxnSpPr>
          <p:spPr bwMode="auto">
            <a:xfrm>
              <a:off x="4528751" y="4914995"/>
              <a:ext cx="319535" cy="0"/>
            </a:xfrm>
            <a:prstGeom prst="straightConnector1">
              <a:avLst/>
            </a:prstGeom>
            <a:ln>
              <a:headEnd type="none" w="med" len="med"/>
              <a:tailEnd type="triangle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</p:grpSp>
      <p:sp>
        <p:nvSpPr>
          <p:cNvPr id="21" name="Rectangle 3"/>
          <p:cNvSpPr>
            <a:spLocks noGrp="1" noRot="1" noChangeArrowheads="1"/>
          </p:cNvSpPr>
          <p:nvPr>
            <p:ph idx="1"/>
          </p:nvPr>
        </p:nvSpPr>
        <p:spPr>
          <a:xfrm>
            <a:off x="301625" y="1143000"/>
            <a:ext cx="8540750" cy="1828800"/>
          </a:xfrm>
        </p:spPr>
        <p:txBody>
          <a:bodyPr/>
          <a:lstStyle/>
          <a:p>
            <a:pPr marL="457200" indent="-457200"/>
            <a:r>
              <a:rPr lang="en-US" altLang="zh-TW" sz="2400" dirty="0" smtClean="0">
                <a:cs typeface="Calibri" pitchFamily="34" charset="0"/>
              </a:rPr>
              <a:t>BRIG2OBJ is based on LLVM</a:t>
            </a:r>
          </a:p>
          <a:p>
            <a:pPr marL="914400" lvl="1" indent="-457200"/>
            <a:r>
              <a:rPr lang="en-US" altLang="zh-TW" dirty="0" smtClean="0">
                <a:cs typeface="Calibri" pitchFamily="34" charset="0"/>
              </a:rPr>
              <a:t>Flow Constructor: Covert BRIG to control flow tree</a:t>
            </a:r>
          </a:p>
          <a:p>
            <a:pPr marL="914400" lvl="1" indent="-457200"/>
            <a:r>
              <a:rPr lang="en-US" altLang="zh-TW" dirty="0" err="1" smtClean="0">
                <a:cs typeface="Calibri" pitchFamily="34" charset="0"/>
              </a:rPr>
              <a:t>Hdecoder</a:t>
            </a:r>
            <a:r>
              <a:rPr lang="en-US" altLang="zh-TW" dirty="0" smtClean="0">
                <a:cs typeface="Calibri" pitchFamily="34" charset="0"/>
              </a:rPr>
              <a:t>: Covert control flow tree to LLVM </a:t>
            </a:r>
            <a:r>
              <a:rPr lang="en-US" altLang="zh-TW" dirty="0" err="1" smtClean="0">
                <a:cs typeface="Calibri" pitchFamily="34" charset="0"/>
              </a:rPr>
              <a:t>bitcode</a:t>
            </a:r>
            <a:endParaRPr lang="en-US" altLang="zh-TW" dirty="0" smtClean="0">
              <a:cs typeface="Calibri" pitchFamily="34" charset="0"/>
            </a:endParaRPr>
          </a:p>
          <a:p>
            <a:pPr marL="914400" lvl="1" indent="-457200"/>
            <a:r>
              <a:rPr lang="en-US" altLang="zh-TW" dirty="0" err="1" smtClean="0">
                <a:cs typeface="Calibri" pitchFamily="34" charset="0"/>
              </a:rPr>
              <a:t>Hassembler</a:t>
            </a:r>
            <a:r>
              <a:rPr lang="en-US" altLang="zh-TW" dirty="0" smtClean="0">
                <a:cs typeface="Calibri" pitchFamily="34" charset="0"/>
              </a:rPr>
              <a:t>: Covert LLVM </a:t>
            </a:r>
            <a:r>
              <a:rPr lang="en-US" altLang="zh-TW" dirty="0" err="1" smtClean="0">
                <a:cs typeface="Calibri" pitchFamily="34" charset="0"/>
              </a:rPr>
              <a:t>bitcode</a:t>
            </a:r>
            <a:r>
              <a:rPr lang="en-US" altLang="zh-TW" dirty="0" smtClean="0">
                <a:cs typeface="Calibri" pitchFamily="34" charset="0"/>
              </a:rPr>
              <a:t> to host native</a:t>
            </a:r>
          </a:p>
        </p:txBody>
      </p:sp>
    </p:spTree>
    <p:extLst>
      <p:ext uri="{BB962C8B-B14F-4D97-AF65-F5344CB8AC3E}">
        <p14:creationId xmlns:p14="http://schemas.microsoft.com/office/powerpoint/2010/main" val="203054337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HSAIL Finalization (1)</a:t>
            </a:r>
            <a:endParaRPr lang="en-US" dirty="0"/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57A4102-9134-4DE4-89E3-9E7F1698ADF0}" type="slidenum">
              <a:rPr smtClean="0">
                <a:solidFill>
                  <a:prstClr val="white"/>
                </a:solidFill>
              </a:rPr>
              <a:pPr/>
              <a:t>27</a:t>
            </a:fld>
            <a:endParaRPr dirty="0">
              <a:solidFill>
                <a:prstClr val="white"/>
              </a:solidFill>
            </a:endParaRPr>
          </a:p>
        </p:txBody>
      </p:sp>
      <p:sp>
        <p:nvSpPr>
          <p:cNvPr id="5" name="流程圖: 文件 4"/>
          <p:cNvSpPr/>
          <p:nvPr/>
        </p:nvSpPr>
        <p:spPr bwMode="auto">
          <a:xfrm>
            <a:off x="187780" y="1980524"/>
            <a:ext cx="1121228" cy="812800"/>
          </a:xfrm>
          <a:prstGeom prst="flowChartDocumen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400" b="1" dirty="0" smtClean="0"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BRIG</a:t>
            </a:r>
            <a:endParaRPr kumimoji="1" lang="zh-TW" altLang="en-US" sz="14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1807030" y="1312191"/>
            <a:ext cx="3225594" cy="4029066"/>
          </a:xfrm>
          <a:prstGeom prst="rect">
            <a:avLst/>
          </a:prstGeom>
          <a:gradFill>
            <a:gsLst>
              <a:gs pos="0">
                <a:schemeClr val="dk1">
                  <a:tint val="50000"/>
                  <a:satMod val="300000"/>
                </a:schemeClr>
              </a:gs>
              <a:gs pos="13000">
                <a:schemeClr val="bg1">
                  <a:lumMod val="75000"/>
                </a:schemeClr>
              </a:gs>
              <a:gs pos="72000">
                <a:srgbClr val="DFDFDF"/>
              </a:gs>
              <a:gs pos="99000">
                <a:schemeClr val="bg1"/>
              </a:gs>
            </a:gsLst>
          </a:gradFill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HSAIL Finalization</a:t>
            </a:r>
            <a:endParaRPr kumimoji="1" lang="zh-TW" altLang="en-US" sz="14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sp>
        <p:nvSpPr>
          <p:cNvPr id="7" name="圓角矩形 6"/>
          <p:cNvSpPr/>
          <p:nvPr/>
        </p:nvSpPr>
        <p:spPr bwMode="auto">
          <a:xfrm>
            <a:off x="1940379" y="2900150"/>
            <a:ext cx="1219200" cy="6096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/>
            </a:solidFill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softEdge rad="31750"/>
          </a:effec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HSA Runtime</a:t>
            </a:r>
            <a:endParaRPr kumimoji="1" lang="zh-TW" altLang="en-US" sz="14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sp>
        <p:nvSpPr>
          <p:cNvPr id="28" name="圓角矩形 27"/>
          <p:cNvSpPr/>
          <p:nvPr/>
        </p:nvSpPr>
        <p:spPr bwMode="auto">
          <a:xfrm>
            <a:off x="1932215" y="2052761"/>
            <a:ext cx="1219200" cy="6096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/>
            </a:solidFill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softEdge rad="31750"/>
          </a:effec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4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OpenCL</a:t>
            </a:r>
            <a:endParaRPr kumimoji="1" lang="en-US" altLang="zh-TW" sz="14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Runtime</a:t>
            </a:r>
            <a:endParaRPr kumimoji="1" lang="zh-TW" altLang="en-US" sz="14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sp>
        <p:nvSpPr>
          <p:cNvPr id="29" name="圓角矩形 28"/>
          <p:cNvSpPr/>
          <p:nvPr/>
        </p:nvSpPr>
        <p:spPr bwMode="auto">
          <a:xfrm>
            <a:off x="3646891" y="2900150"/>
            <a:ext cx="1219200" cy="6096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/>
            </a:solidFill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softEdge rad="31750"/>
          </a:effec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BRIG2OBJ</a:t>
            </a:r>
            <a:endParaRPr kumimoji="1" lang="zh-TW" altLang="en-US" sz="14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sp>
        <p:nvSpPr>
          <p:cNvPr id="30" name="圓角矩形 29"/>
          <p:cNvSpPr/>
          <p:nvPr/>
        </p:nvSpPr>
        <p:spPr bwMode="auto">
          <a:xfrm>
            <a:off x="3646891" y="3680528"/>
            <a:ext cx="1219200" cy="6096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/>
            </a:solidFill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softEdge rad="31750"/>
          </a:effec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400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Loader</a:t>
            </a:r>
            <a:endParaRPr kumimoji="1" lang="zh-TW" altLang="en-US" sz="14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sp>
        <p:nvSpPr>
          <p:cNvPr id="31" name="圓角矩形 30"/>
          <p:cNvSpPr/>
          <p:nvPr/>
        </p:nvSpPr>
        <p:spPr bwMode="auto">
          <a:xfrm>
            <a:off x="3646891" y="4549819"/>
            <a:ext cx="1219200" cy="6096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/>
            </a:solidFill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softEdge rad="31750"/>
          </a:effec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400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Linker</a:t>
            </a:r>
            <a:endParaRPr kumimoji="1" lang="zh-TW" altLang="en-US" sz="14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sp>
        <p:nvSpPr>
          <p:cNvPr id="8" name="圓柱 7"/>
          <p:cNvSpPr/>
          <p:nvPr/>
        </p:nvSpPr>
        <p:spPr bwMode="auto">
          <a:xfrm>
            <a:off x="3580216" y="5562835"/>
            <a:ext cx="1352549" cy="508000"/>
          </a:xfrm>
          <a:prstGeom prst="can">
            <a:avLst/>
          </a:prstGeom>
          <a:ln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新細明體" pitchFamily="18" charset="-120"/>
              </a:rPr>
              <a:t>Code</a:t>
            </a:r>
            <a:r>
              <a:rPr kumimoji="1" lang="en-US" altLang="zh-TW" sz="1400" b="1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新細明體" pitchFamily="18" charset="-120"/>
              </a:rPr>
              <a:t> Cache</a:t>
            </a:r>
            <a:endParaRPr kumimoji="1" lang="zh-TW" altLang="en-US" sz="14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10" name="剪去對角線角落矩形 9"/>
          <p:cNvSpPr/>
          <p:nvPr/>
        </p:nvSpPr>
        <p:spPr bwMode="auto">
          <a:xfrm>
            <a:off x="1932215" y="5562835"/>
            <a:ext cx="1219201" cy="508000"/>
          </a:xfrm>
          <a:prstGeom prst="snip2DiagRect">
            <a:avLst/>
          </a:prstGeom>
          <a:ln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新細明體" pitchFamily="18" charset="-120"/>
              </a:rPr>
              <a:t>descriptor</a:t>
            </a:r>
            <a:endParaRPr kumimoji="1" lang="zh-TW" altLang="en-US" sz="14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11" name="矩形 10"/>
          <p:cNvSpPr/>
          <p:nvPr/>
        </p:nvSpPr>
        <p:spPr bwMode="auto">
          <a:xfrm>
            <a:off x="5675445" y="1238451"/>
            <a:ext cx="3000244" cy="4896881"/>
          </a:xfrm>
          <a:prstGeom prst="rect">
            <a:avLst/>
          </a:prstGeom>
          <a:noFill/>
          <a:ln w="15875" cap="flat" cmpd="sng" algn="ctr">
            <a:solidFill>
              <a:schemeClr val="tx1"/>
            </a:solidFill>
            <a:prstDash val="lg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BRIG2OBJ</a:t>
            </a:r>
            <a:endParaRPr kumimoji="1" lang="zh-TW" altLang="en-US" sz="14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sp>
        <p:nvSpPr>
          <p:cNvPr id="36" name="圓角矩形 35"/>
          <p:cNvSpPr/>
          <p:nvPr/>
        </p:nvSpPr>
        <p:spPr bwMode="auto">
          <a:xfrm>
            <a:off x="6249115" y="1861771"/>
            <a:ext cx="1852904" cy="7112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/>
            </a:solidFill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softEdge rad="31750"/>
          </a:effec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Flow Constructor</a:t>
            </a:r>
            <a:endParaRPr kumimoji="1" lang="zh-TW" altLang="en-US" sz="14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sp>
        <p:nvSpPr>
          <p:cNvPr id="37" name="圓角矩形 36"/>
          <p:cNvSpPr/>
          <p:nvPr/>
        </p:nvSpPr>
        <p:spPr bwMode="auto">
          <a:xfrm>
            <a:off x="6249115" y="2963046"/>
            <a:ext cx="1852904" cy="7112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/>
            </a:solidFill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softEdge rad="31750"/>
          </a:effec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4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HDecoder</a:t>
            </a:r>
            <a:endParaRPr kumimoji="1" lang="zh-TW" altLang="en-US" sz="14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sp>
        <p:nvSpPr>
          <p:cNvPr id="38" name="圓角矩形 37"/>
          <p:cNvSpPr/>
          <p:nvPr/>
        </p:nvSpPr>
        <p:spPr bwMode="auto">
          <a:xfrm>
            <a:off x="6249115" y="4069707"/>
            <a:ext cx="1852904" cy="7112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/>
            </a:solidFill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softEdge rad="31750"/>
          </a:effec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4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HAssembler</a:t>
            </a:r>
            <a:endParaRPr kumimoji="1" lang="zh-TW" altLang="en-US" sz="14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cxnSp>
        <p:nvCxnSpPr>
          <p:cNvPr id="13" name="直線單箭頭接點 12"/>
          <p:cNvCxnSpPr>
            <a:stCxn id="5" idx="3"/>
            <a:endCxn id="28" idx="1"/>
          </p:cNvCxnSpPr>
          <p:nvPr/>
        </p:nvCxnSpPr>
        <p:spPr bwMode="auto">
          <a:xfrm flipV="1">
            <a:off x="1309008" y="2357562"/>
            <a:ext cx="623207" cy="29363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5" name="流程圖: 文件 44"/>
          <p:cNvSpPr/>
          <p:nvPr/>
        </p:nvSpPr>
        <p:spPr bwMode="auto">
          <a:xfrm>
            <a:off x="178888" y="1951161"/>
            <a:ext cx="1121228" cy="812800"/>
          </a:xfrm>
          <a:prstGeom prst="flowChartDocumen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400" b="1" dirty="0" smtClean="0"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BRIG</a:t>
            </a:r>
            <a:endParaRPr kumimoji="1" lang="zh-TW" altLang="en-US" sz="14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cxnSp>
        <p:nvCxnSpPr>
          <p:cNvPr id="48" name="直線單箭頭接點 47"/>
          <p:cNvCxnSpPr>
            <a:stCxn id="28" idx="2"/>
            <a:endCxn id="7" idx="0"/>
          </p:cNvCxnSpPr>
          <p:nvPr/>
        </p:nvCxnSpPr>
        <p:spPr bwMode="auto">
          <a:xfrm>
            <a:off x="2541814" y="2662362"/>
            <a:ext cx="8165" cy="237789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9" name="直線單箭頭接點 48"/>
          <p:cNvCxnSpPr>
            <a:stCxn id="7" idx="2"/>
            <a:endCxn id="10" idx="3"/>
          </p:cNvCxnSpPr>
          <p:nvPr/>
        </p:nvCxnSpPr>
        <p:spPr bwMode="auto">
          <a:xfrm flipH="1">
            <a:off x="2541816" y="3509751"/>
            <a:ext cx="8164" cy="2053085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0" name="直線單箭頭接點 49"/>
          <p:cNvCxnSpPr>
            <a:stCxn id="7" idx="3"/>
            <a:endCxn id="29" idx="1"/>
          </p:cNvCxnSpPr>
          <p:nvPr/>
        </p:nvCxnSpPr>
        <p:spPr bwMode="auto">
          <a:xfrm>
            <a:off x="3159579" y="3204950"/>
            <a:ext cx="487312" cy="0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5" name="直線單箭頭接點 54"/>
          <p:cNvCxnSpPr>
            <a:stCxn id="29" idx="3"/>
          </p:cNvCxnSpPr>
          <p:nvPr/>
        </p:nvCxnSpPr>
        <p:spPr bwMode="auto">
          <a:xfrm>
            <a:off x="4866091" y="3204950"/>
            <a:ext cx="809354" cy="0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7" name="直線單箭頭接點 56"/>
          <p:cNvCxnSpPr>
            <a:stCxn id="36" idx="2"/>
            <a:endCxn id="37" idx="0"/>
          </p:cNvCxnSpPr>
          <p:nvPr/>
        </p:nvCxnSpPr>
        <p:spPr bwMode="auto">
          <a:xfrm>
            <a:off x="7175567" y="2572972"/>
            <a:ext cx="0" cy="390075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1" name="直線單箭頭接點 60"/>
          <p:cNvCxnSpPr>
            <a:stCxn id="37" idx="2"/>
            <a:endCxn id="38" idx="0"/>
          </p:cNvCxnSpPr>
          <p:nvPr/>
        </p:nvCxnSpPr>
        <p:spPr bwMode="auto">
          <a:xfrm>
            <a:off x="7175567" y="3674247"/>
            <a:ext cx="0" cy="395461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4" name="直線單箭頭接點 63"/>
          <p:cNvCxnSpPr>
            <a:endCxn id="30" idx="3"/>
          </p:cNvCxnSpPr>
          <p:nvPr/>
        </p:nvCxnSpPr>
        <p:spPr bwMode="auto">
          <a:xfrm flipH="1">
            <a:off x="4866091" y="3985328"/>
            <a:ext cx="767969" cy="0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7" name="直線單箭頭接點 66"/>
          <p:cNvCxnSpPr>
            <a:stCxn id="38" idx="2"/>
            <a:endCxn id="81" idx="0"/>
          </p:cNvCxnSpPr>
          <p:nvPr/>
        </p:nvCxnSpPr>
        <p:spPr bwMode="auto">
          <a:xfrm>
            <a:off x="7175567" y="4780907"/>
            <a:ext cx="8066" cy="485936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0" name="直線單箭頭接點 69"/>
          <p:cNvCxnSpPr>
            <a:stCxn id="30" idx="2"/>
            <a:endCxn id="31" idx="0"/>
          </p:cNvCxnSpPr>
          <p:nvPr/>
        </p:nvCxnSpPr>
        <p:spPr bwMode="auto">
          <a:xfrm>
            <a:off x="4256491" y="4290129"/>
            <a:ext cx="0" cy="259691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4" name="直線單箭頭接點 73"/>
          <p:cNvCxnSpPr>
            <a:stCxn id="31" idx="2"/>
            <a:endCxn id="8" idx="1"/>
          </p:cNvCxnSpPr>
          <p:nvPr/>
        </p:nvCxnSpPr>
        <p:spPr bwMode="auto">
          <a:xfrm>
            <a:off x="4256491" y="5159419"/>
            <a:ext cx="0" cy="403416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2" name="文字方塊 71"/>
          <p:cNvSpPr txBox="1"/>
          <p:nvPr/>
        </p:nvSpPr>
        <p:spPr>
          <a:xfrm>
            <a:off x="7171380" y="2605375"/>
            <a:ext cx="1510413" cy="307777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/>
          <a:p>
            <a:r>
              <a:rPr lang="en-US" altLang="zh-TW" sz="1400" dirty="0" smtClean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Control Flow Tree</a:t>
            </a:r>
            <a:endParaRPr lang="zh-TW" altLang="en-US" sz="1400" dirty="0" smtClean="0">
              <a:latin typeface="Times New Roman" panose="02020603050405020304" pitchFamily="18" charset="0"/>
              <a:ea typeface="標楷體" pitchFamily="65" charset="-120"/>
              <a:cs typeface="Times New Roman" panose="02020603050405020304" pitchFamily="18" charset="0"/>
            </a:endParaRPr>
          </a:p>
        </p:txBody>
      </p:sp>
      <p:sp>
        <p:nvSpPr>
          <p:cNvPr id="79" name="文字方塊 78"/>
          <p:cNvSpPr txBox="1"/>
          <p:nvPr/>
        </p:nvSpPr>
        <p:spPr>
          <a:xfrm>
            <a:off x="7216953" y="3725766"/>
            <a:ext cx="1320746" cy="307777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/>
          <a:p>
            <a:r>
              <a:rPr lang="en-US" altLang="zh-TW" sz="1400" dirty="0" smtClean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LLVM </a:t>
            </a:r>
            <a:r>
              <a:rPr lang="en-US" altLang="zh-TW" sz="1400" dirty="0" err="1" smtClean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BitCode</a:t>
            </a:r>
            <a:endParaRPr lang="zh-TW" altLang="en-US" sz="1400" dirty="0" smtClean="0">
              <a:latin typeface="Times New Roman" panose="02020603050405020304" pitchFamily="18" charset="0"/>
              <a:ea typeface="標楷體" pitchFamily="65" charset="-120"/>
              <a:cs typeface="Times New Roman" panose="02020603050405020304" pitchFamily="18" charset="0"/>
            </a:endParaRPr>
          </a:p>
        </p:txBody>
      </p:sp>
      <p:sp>
        <p:nvSpPr>
          <p:cNvPr id="81" name="流程圖: 文件 80"/>
          <p:cNvSpPr/>
          <p:nvPr/>
        </p:nvSpPr>
        <p:spPr bwMode="auto">
          <a:xfrm>
            <a:off x="6215093" y="5266843"/>
            <a:ext cx="1937079" cy="812800"/>
          </a:xfrm>
          <a:prstGeom prst="flowChartDocument">
            <a:avLst/>
          </a:prstGeom>
          <a:ln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r>
              <a:rPr lang="en-US" altLang="zh-TW" sz="1400" b="1" dirty="0" smtClean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Target Executable</a:t>
            </a:r>
          </a:p>
          <a:p>
            <a:r>
              <a:rPr lang="en-US" altLang="zh-TW" sz="1400" b="1" dirty="0" smtClean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Object File</a:t>
            </a:r>
            <a:endParaRPr lang="zh-TW" altLang="en-US" sz="1400" b="1" dirty="0" smtClean="0">
              <a:latin typeface="Times New Roman" panose="02020603050405020304" pitchFamily="18" charset="0"/>
              <a:ea typeface="標楷體" pitchFamily="65" charset="-120"/>
              <a:cs typeface="Times New Roman" panose="02020603050405020304" pitchFamily="18" charset="0"/>
            </a:endParaRPr>
          </a:p>
        </p:txBody>
      </p:sp>
      <p:sp>
        <p:nvSpPr>
          <p:cNvPr id="78" name="矩形圖說文字 77"/>
          <p:cNvSpPr/>
          <p:nvPr/>
        </p:nvSpPr>
        <p:spPr bwMode="auto">
          <a:xfrm rot="10800000">
            <a:off x="943233" y="2894587"/>
            <a:ext cx="2283233" cy="1709615"/>
          </a:xfrm>
          <a:prstGeom prst="wedgeRectCallout">
            <a:avLst/>
          </a:prstGeom>
          <a:ln>
            <a:noFill/>
            <a:headEnd type="none" w="med" len="med"/>
            <a:tailEnd type="none" w="med" len="med"/>
          </a:ln>
          <a:scene3d>
            <a:camera prst="orthographicFront">
              <a:rot lat="0" lon="0" rev="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14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82" name="文字方塊 81"/>
          <p:cNvSpPr txBox="1"/>
          <p:nvPr/>
        </p:nvSpPr>
        <p:spPr>
          <a:xfrm>
            <a:off x="1075771" y="3463134"/>
            <a:ext cx="2083808" cy="523220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r>
              <a:rPr lang="en-US" altLang="zh-TW" sz="1400" dirty="0" smtClean="0">
                <a:solidFill>
                  <a:schemeClr val="bg1"/>
                </a:solidFill>
                <a:ea typeface="標楷體" pitchFamily="65" charset="-120"/>
                <a:cs typeface="Calibri" pitchFamily="34" charset="0"/>
              </a:rPr>
              <a:t>Call the Coresponding HSA Runtime</a:t>
            </a:r>
            <a:endParaRPr lang="zh-TW" altLang="en-US" sz="1400" dirty="0" smtClean="0">
              <a:solidFill>
                <a:schemeClr val="bg1"/>
              </a:solidFill>
              <a:ea typeface="標楷體" pitchFamily="65" charset="-120"/>
              <a:cs typeface="Calibri" pitchFamily="34" charset="0"/>
            </a:endParaRPr>
          </a:p>
        </p:txBody>
      </p:sp>
      <p:sp>
        <p:nvSpPr>
          <p:cNvPr id="87" name="矩形圖說文字 86"/>
          <p:cNvSpPr/>
          <p:nvPr/>
        </p:nvSpPr>
        <p:spPr bwMode="auto">
          <a:xfrm rot="10800000">
            <a:off x="931759" y="3725868"/>
            <a:ext cx="2283233" cy="1709615"/>
          </a:xfrm>
          <a:prstGeom prst="wedgeRectCallout">
            <a:avLst/>
          </a:prstGeom>
          <a:ln>
            <a:noFill/>
            <a:headEnd type="none" w="med" len="med"/>
            <a:tailEnd type="none" w="med" len="med"/>
          </a:ln>
          <a:scene3d>
            <a:camera prst="orthographicFront">
              <a:rot lat="0" lon="0" rev="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14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88" name="文字方塊 87"/>
          <p:cNvSpPr txBox="1"/>
          <p:nvPr/>
        </p:nvSpPr>
        <p:spPr>
          <a:xfrm>
            <a:off x="980770" y="4228609"/>
            <a:ext cx="2273809" cy="738664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r>
              <a:rPr lang="en-US" altLang="zh-TW" sz="1400" dirty="0" smtClean="0">
                <a:solidFill>
                  <a:schemeClr val="bg1"/>
                </a:solidFill>
                <a:ea typeface="標楷體" pitchFamily="65" charset="-120"/>
                <a:cs typeface="Calibri" pitchFamily="34" charset="0"/>
              </a:rPr>
              <a:t>Read BRIG File, Generate </a:t>
            </a:r>
            <a:r>
              <a:rPr lang="en-US" altLang="zh-TW" sz="1400" dirty="0">
                <a:solidFill>
                  <a:schemeClr val="bg1"/>
                </a:solidFill>
                <a:ea typeface="標楷體" pitchFamily="65" charset="-120"/>
                <a:cs typeface="Calibri" pitchFamily="34" charset="0"/>
              </a:rPr>
              <a:t>T</a:t>
            </a:r>
            <a:r>
              <a:rPr lang="en-US" altLang="zh-TW" sz="1400" dirty="0" smtClean="0">
                <a:solidFill>
                  <a:schemeClr val="bg1"/>
                </a:solidFill>
                <a:ea typeface="標楷體" pitchFamily="65" charset="-120"/>
                <a:cs typeface="Calibri" pitchFamily="34" charset="0"/>
              </a:rPr>
              <a:t>he Kernel Descriptor And </a:t>
            </a:r>
            <a:r>
              <a:rPr lang="en-US" altLang="zh-TW" sz="1400" dirty="0">
                <a:solidFill>
                  <a:schemeClr val="bg1"/>
                </a:solidFill>
                <a:ea typeface="標楷體" pitchFamily="65" charset="-120"/>
                <a:cs typeface="Calibri" pitchFamily="34" charset="0"/>
              </a:rPr>
              <a:t>L</a:t>
            </a:r>
            <a:r>
              <a:rPr lang="en-US" altLang="zh-TW" sz="1400" dirty="0" smtClean="0">
                <a:solidFill>
                  <a:schemeClr val="bg1"/>
                </a:solidFill>
                <a:ea typeface="標楷體" pitchFamily="65" charset="-120"/>
                <a:cs typeface="Calibri" pitchFamily="34" charset="0"/>
              </a:rPr>
              <a:t>aunch BRIG2OBJ</a:t>
            </a:r>
            <a:endParaRPr lang="zh-TW" altLang="en-US" sz="1400" dirty="0" smtClean="0">
              <a:solidFill>
                <a:schemeClr val="bg1"/>
              </a:solidFill>
              <a:ea typeface="標楷體" pitchFamily="65" charset="-120"/>
              <a:cs typeface="Calibri" pitchFamily="34" charset="0"/>
            </a:endParaRPr>
          </a:p>
        </p:txBody>
      </p:sp>
      <p:sp>
        <p:nvSpPr>
          <p:cNvPr id="89" name="矩形圖說文字 88"/>
          <p:cNvSpPr/>
          <p:nvPr/>
        </p:nvSpPr>
        <p:spPr bwMode="auto">
          <a:xfrm rot="10800000">
            <a:off x="5829352" y="2672599"/>
            <a:ext cx="2283233" cy="1709615"/>
          </a:xfrm>
          <a:prstGeom prst="wedgeRectCallout">
            <a:avLst/>
          </a:prstGeom>
          <a:ln>
            <a:noFill/>
            <a:headEnd type="none" w="med" len="med"/>
            <a:tailEnd type="none" w="med" len="med"/>
          </a:ln>
          <a:scene3d>
            <a:camera prst="orthographicFront">
              <a:rot lat="0" lon="0" rev="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14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90" name="文字方塊 89"/>
          <p:cNvSpPr txBox="1"/>
          <p:nvPr/>
        </p:nvSpPr>
        <p:spPr>
          <a:xfrm>
            <a:off x="5878364" y="3175340"/>
            <a:ext cx="2273809" cy="738664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r>
              <a:rPr lang="en-US" altLang="zh-TW" sz="1400" dirty="0" smtClean="0">
                <a:solidFill>
                  <a:schemeClr val="bg1"/>
                </a:solidFill>
                <a:ea typeface="標楷體" pitchFamily="65" charset="-120"/>
                <a:cs typeface="Calibri" pitchFamily="34" charset="0"/>
              </a:rPr>
              <a:t>Construct The Control Flow Graph of HSAIL Program</a:t>
            </a:r>
            <a:endParaRPr lang="zh-TW" altLang="en-US" sz="1400" dirty="0" smtClean="0">
              <a:solidFill>
                <a:schemeClr val="bg1"/>
              </a:solidFill>
              <a:ea typeface="標楷體" pitchFamily="65" charset="-120"/>
              <a:cs typeface="Calibri" pitchFamily="34" charset="0"/>
            </a:endParaRPr>
          </a:p>
        </p:txBody>
      </p:sp>
      <p:sp>
        <p:nvSpPr>
          <p:cNvPr id="91" name="矩形圖說文字 90"/>
          <p:cNvSpPr/>
          <p:nvPr/>
        </p:nvSpPr>
        <p:spPr bwMode="auto">
          <a:xfrm rot="10800000">
            <a:off x="5889668" y="3830159"/>
            <a:ext cx="2283233" cy="1709615"/>
          </a:xfrm>
          <a:prstGeom prst="wedgeRectCallout">
            <a:avLst/>
          </a:prstGeom>
          <a:ln>
            <a:noFill/>
            <a:headEnd type="none" w="med" len="med"/>
            <a:tailEnd type="none" w="med" len="med"/>
          </a:ln>
          <a:scene3d>
            <a:camera prst="orthographicFront">
              <a:rot lat="0" lon="0" rev="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14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92" name="文字方塊 91"/>
          <p:cNvSpPr txBox="1"/>
          <p:nvPr/>
        </p:nvSpPr>
        <p:spPr>
          <a:xfrm>
            <a:off x="5938680" y="4440622"/>
            <a:ext cx="2273809" cy="523220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r>
              <a:rPr lang="en-US" altLang="zh-TW" sz="1400" dirty="0" smtClean="0">
                <a:solidFill>
                  <a:schemeClr val="bg1"/>
                </a:solidFill>
                <a:ea typeface="標楷體" pitchFamily="65" charset="-120"/>
                <a:cs typeface="Calibri" pitchFamily="34" charset="0"/>
              </a:rPr>
              <a:t>Translate HSAIL to LLVM IR</a:t>
            </a:r>
            <a:endParaRPr lang="zh-TW" altLang="en-US" sz="1400" dirty="0" smtClean="0">
              <a:solidFill>
                <a:schemeClr val="bg1"/>
              </a:solidFill>
              <a:ea typeface="標楷體" pitchFamily="65" charset="-120"/>
              <a:cs typeface="Calibri" pitchFamily="34" charset="0"/>
            </a:endParaRPr>
          </a:p>
        </p:txBody>
      </p:sp>
      <p:sp>
        <p:nvSpPr>
          <p:cNvPr id="93" name="矩形圖說文字 92"/>
          <p:cNvSpPr/>
          <p:nvPr/>
        </p:nvSpPr>
        <p:spPr bwMode="auto">
          <a:xfrm rot="10800000" flipH="1" flipV="1">
            <a:off x="6204703" y="2279970"/>
            <a:ext cx="2283233" cy="1709615"/>
          </a:xfrm>
          <a:prstGeom prst="wedgeRectCallout">
            <a:avLst/>
          </a:prstGeom>
          <a:ln>
            <a:noFill/>
            <a:headEnd type="none" w="med" len="med"/>
            <a:tailEnd type="none" w="med" len="med"/>
          </a:ln>
          <a:scene3d>
            <a:camera prst="orthographicFront">
              <a:rot lat="0" lon="0" rev="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14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94" name="文字方塊 93"/>
          <p:cNvSpPr txBox="1"/>
          <p:nvPr/>
        </p:nvSpPr>
        <p:spPr>
          <a:xfrm>
            <a:off x="6253714" y="2890433"/>
            <a:ext cx="2273809" cy="523220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r>
              <a:rPr lang="en-US" altLang="zh-TW" sz="1400" dirty="0" smtClean="0">
                <a:solidFill>
                  <a:schemeClr val="bg1"/>
                </a:solidFill>
                <a:ea typeface="標楷體" pitchFamily="65" charset="-120"/>
                <a:cs typeface="Calibri" pitchFamily="34" charset="0"/>
              </a:rPr>
              <a:t>Translate LLVM IR to LLVM Target Object File</a:t>
            </a:r>
            <a:endParaRPr lang="zh-TW" altLang="en-US" sz="1400" dirty="0" smtClean="0">
              <a:solidFill>
                <a:schemeClr val="bg1"/>
              </a:solidFill>
              <a:ea typeface="標楷體" pitchFamily="65" charset="-120"/>
              <a:cs typeface="Calibri" pitchFamily="34" charset="0"/>
            </a:endParaRPr>
          </a:p>
        </p:txBody>
      </p:sp>
      <p:sp>
        <p:nvSpPr>
          <p:cNvPr id="95" name="矩形圖說文字 94"/>
          <p:cNvSpPr/>
          <p:nvPr/>
        </p:nvSpPr>
        <p:spPr bwMode="auto">
          <a:xfrm rot="10800000">
            <a:off x="2760695" y="4398308"/>
            <a:ext cx="2283233" cy="1709615"/>
          </a:xfrm>
          <a:prstGeom prst="wedgeRectCallout">
            <a:avLst/>
          </a:prstGeom>
          <a:ln>
            <a:noFill/>
            <a:headEnd type="none" w="med" len="med"/>
            <a:tailEnd type="none" w="med" len="med"/>
          </a:ln>
          <a:scene3d>
            <a:camera prst="orthographicFront">
              <a:rot lat="0" lon="0" rev="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14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96" name="文字方塊 95"/>
          <p:cNvSpPr txBox="1"/>
          <p:nvPr/>
        </p:nvSpPr>
        <p:spPr>
          <a:xfrm>
            <a:off x="2809707" y="5116493"/>
            <a:ext cx="2273809" cy="307777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r>
              <a:rPr lang="en-US" altLang="zh-TW" sz="1400" dirty="0" smtClean="0">
                <a:solidFill>
                  <a:schemeClr val="bg1"/>
                </a:solidFill>
                <a:ea typeface="標楷體" pitchFamily="65" charset="-120"/>
                <a:cs typeface="Calibri" pitchFamily="34" charset="0"/>
              </a:rPr>
              <a:t>Load Target Object File</a:t>
            </a:r>
            <a:endParaRPr lang="zh-TW" altLang="en-US" sz="1400" dirty="0" smtClean="0">
              <a:solidFill>
                <a:schemeClr val="bg1"/>
              </a:solidFill>
              <a:ea typeface="標楷體" pitchFamily="65" charset="-120"/>
              <a:cs typeface="Calibri" pitchFamily="34" charset="0"/>
            </a:endParaRPr>
          </a:p>
        </p:txBody>
      </p:sp>
      <p:sp>
        <p:nvSpPr>
          <p:cNvPr id="97" name="矩形圖說文字 96"/>
          <p:cNvSpPr/>
          <p:nvPr/>
        </p:nvSpPr>
        <p:spPr bwMode="auto">
          <a:xfrm rot="10800000" flipH="1" flipV="1">
            <a:off x="3420201" y="2669674"/>
            <a:ext cx="2283233" cy="1709615"/>
          </a:xfrm>
          <a:prstGeom prst="wedgeRectCallout">
            <a:avLst/>
          </a:prstGeom>
          <a:ln>
            <a:noFill/>
            <a:headEnd type="none" w="med" len="med"/>
            <a:tailEnd type="none" w="med" len="med"/>
          </a:ln>
          <a:scene3d>
            <a:camera prst="orthographicFront">
              <a:rot lat="0" lon="0" rev="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14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98" name="文字方塊 97"/>
          <p:cNvSpPr txBox="1"/>
          <p:nvPr/>
        </p:nvSpPr>
        <p:spPr>
          <a:xfrm>
            <a:off x="3469212" y="3387859"/>
            <a:ext cx="2273809" cy="307777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r>
              <a:rPr lang="en-US" altLang="zh-TW" sz="1400" dirty="0" smtClean="0">
                <a:solidFill>
                  <a:schemeClr val="bg1"/>
                </a:solidFill>
                <a:ea typeface="標楷體" pitchFamily="65" charset="-120"/>
                <a:cs typeface="Calibri" pitchFamily="34" charset="0"/>
              </a:rPr>
              <a:t>Link to Helper Functions</a:t>
            </a:r>
            <a:endParaRPr lang="zh-TW" altLang="en-US" sz="1400" dirty="0" smtClean="0">
              <a:solidFill>
                <a:schemeClr val="bg1"/>
              </a:solidFill>
              <a:ea typeface="標楷體" pitchFamily="65" charset="-120"/>
              <a:cs typeface="Calibri" pitchFamily="34" charset="0"/>
            </a:endParaRPr>
          </a:p>
        </p:txBody>
      </p:sp>
      <p:sp>
        <p:nvSpPr>
          <p:cNvPr id="102" name="矩形圖說文字 101"/>
          <p:cNvSpPr/>
          <p:nvPr/>
        </p:nvSpPr>
        <p:spPr bwMode="auto">
          <a:xfrm rot="10800000" flipH="1" flipV="1">
            <a:off x="3420201" y="3773870"/>
            <a:ext cx="2283233" cy="1709615"/>
          </a:xfrm>
          <a:prstGeom prst="wedgeRectCallout">
            <a:avLst/>
          </a:prstGeom>
          <a:ln>
            <a:noFill/>
            <a:headEnd type="none" w="med" len="med"/>
            <a:tailEnd type="none" w="med" len="med"/>
          </a:ln>
          <a:scene3d>
            <a:camera prst="orthographicFront">
              <a:rot lat="0" lon="0" rev="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14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103" name="文字方塊 102"/>
          <p:cNvSpPr txBox="1"/>
          <p:nvPr/>
        </p:nvSpPr>
        <p:spPr>
          <a:xfrm>
            <a:off x="3469212" y="4384332"/>
            <a:ext cx="2273809" cy="523220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r>
              <a:rPr lang="en-US" altLang="zh-TW" sz="1400" dirty="0" smtClean="0">
                <a:solidFill>
                  <a:schemeClr val="bg1"/>
                </a:solidFill>
                <a:ea typeface="標楷體" pitchFamily="65" charset="-120"/>
                <a:cs typeface="Calibri" pitchFamily="34" charset="0"/>
              </a:rPr>
              <a:t>Store The Target Binary Code to Code Cache</a:t>
            </a:r>
            <a:endParaRPr lang="zh-TW" altLang="en-US" sz="1400" dirty="0" smtClean="0">
              <a:solidFill>
                <a:schemeClr val="bg1"/>
              </a:solidFill>
              <a:ea typeface="標楷體" pitchFamily="65" charset="-120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37692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" grpId="0" animBg="1"/>
      <p:bldP spid="78" grpId="1" animBg="1"/>
      <p:bldP spid="82" grpId="0"/>
      <p:bldP spid="82" grpId="1"/>
      <p:bldP spid="87" grpId="0" animBg="1"/>
      <p:bldP spid="87" grpId="1" animBg="1"/>
      <p:bldP spid="88" grpId="0"/>
      <p:bldP spid="88" grpId="1"/>
      <p:bldP spid="89" grpId="0" animBg="1"/>
      <p:bldP spid="89" grpId="1" animBg="1"/>
      <p:bldP spid="90" grpId="0"/>
      <p:bldP spid="90" grpId="1"/>
      <p:bldP spid="91" grpId="0" animBg="1"/>
      <p:bldP spid="91" grpId="1" animBg="1"/>
      <p:bldP spid="92" grpId="0"/>
      <p:bldP spid="92" grpId="1"/>
      <p:bldP spid="93" grpId="0" animBg="1"/>
      <p:bldP spid="93" grpId="1" animBg="1"/>
      <p:bldP spid="94" grpId="0"/>
      <p:bldP spid="94" grpId="1"/>
      <p:bldP spid="95" grpId="0" animBg="1"/>
      <p:bldP spid="95" grpId="1" animBg="1"/>
      <p:bldP spid="96" grpId="0"/>
      <p:bldP spid="96" grpId="1"/>
      <p:bldP spid="97" grpId="0" animBg="1"/>
      <p:bldP spid="97" grpId="1" animBg="1"/>
      <p:bldP spid="98" grpId="0"/>
      <p:bldP spid="98" grpId="1"/>
      <p:bldP spid="102" grpId="0" animBg="1"/>
      <p:bldP spid="102" grpId="1" animBg="1"/>
      <p:bldP spid="103" grpId="0"/>
      <p:bldP spid="103" grpId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5" y="188640"/>
            <a:ext cx="7991351" cy="692150"/>
          </a:xfrm>
        </p:spPr>
        <p:txBody>
          <a:bodyPr/>
          <a:lstStyle/>
          <a:p>
            <a:r>
              <a:rPr lang="en-US" dirty="0" smtClean="0"/>
              <a:t>HSAIL Finalization (2)</a:t>
            </a:r>
            <a:endParaRPr lang="en-US" dirty="0"/>
          </a:p>
        </p:txBody>
      </p:sp>
      <p:sp>
        <p:nvSpPr>
          <p:cNvPr id="8" name="Content Placeholder 2"/>
          <p:cNvSpPr txBox="1">
            <a:spLocks/>
          </p:cNvSpPr>
          <p:nvPr/>
        </p:nvSpPr>
        <p:spPr bwMode="auto">
          <a:xfrm>
            <a:off x="395538" y="1066800"/>
            <a:ext cx="8280920" cy="198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l"/>
              <a:defRPr kumimoji="1" sz="2800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90000"/>
              <a:buFont typeface="Arial" charset="0"/>
              <a:buChar char="–"/>
              <a:defRPr kumimoji="1" sz="2400">
                <a:solidFill>
                  <a:schemeClr val="tx1"/>
                </a:solidFill>
                <a:latin typeface="Calibri" pitchFamily="34" charset="0"/>
                <a:ea typeface="標楷體" pitchFamily="65" charset="-12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Calibri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1800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Calibri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800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Calibri" pitchFamily="34" charset="0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US" altLang="zh-TW" sz="2400" dirty="0" smtClean="0"/>
              <a:t>Host SSE instruction Optimization</a:t>
            </a:r>
          </a:p>
          <a:p>
            <a:pPr lvl="1"/>
            <a:r>
              <a:rPr lang="en-US" altLang="zh-TW" sz="2000" dirty="0" smtClean="0"/>
              <a:t>Reconstruct the </a:t>
            </a:r>
            <a:r>
              <a:rPr lang="en-US" altLang="zh-TW" sz="2000" dirty="0"/>
              <a:t>control flow </a:t>
            </a:r>
            <a:r>
              <a:rPr lang="en-US" altLang="zh-TW" sz="2000" dirty="0" smtClean="0"/>
              <a:t>graph of kernel function</a:t>
            </a:r>
          </a:p>
          <a:p>
            <a:pPr lvl="1"/>
            <a:r>
              <a:rPr lang="en-US" altLang="zh-TW" sz="2000" dirty="0" smtClean="0"/>
              <a:t>Use bitmap </a:t>
            </a:r>
            <a:r>
              <a:rPr lang="en-US" altLang="zh-TW" sz="2000" dirty="0"/>
              <a:t>masking </a:t>
            </a:r>
            <a:r>
              <a:rPr lang="en-US" altLang="zh-TW" sz="2000" dirty="0" smtClean="0"/>
              <a:t>and packing/unpacking algorithms to generate host SSE instructions </a:t>
            </a:r>
          </a:p>
          <a:p>
            <a:pPr>
              <a:spcBef>
                <a:spcPts val="600"/>
              </a:spcBef>
            </a:pPr>
            <a:r>
              <a:rPr lang="en-US" altLang="zh-TW" sz="2400" dirty="0" smtClean="0"/>
              <a:t>Example : The control flow graph for kernel function $</a:t>
            </a:r>
            <a:r>
              <a:rPr lang="en-US" altLang="zh-TW" sz="2400" dirty="0" err="1" smtClean="0"/>
              <a:t>foo</a:t>
            </a:r>
            <a:endParaRPr lang="zh-TW" altLang="en-US" sz="2400" dirty="0" smtClean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125" y="3200400"/>
            <a:ext cx="6894042" cy="28842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79389" y="3245220"/>
            <a:ext cx="1912211" cy="23259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投影片編號版面配置區 1"/>
          <p:cNvSpPr>
            <a:spLocks noGrp="1"/>
          </p:cNvSpPr>
          <p:nvPr>
            <p:ph type="sldNum" sz="quarter" idx="10"/>
          </p:nvPr>
        </p:nvSpPr>
        <p:spPr>
          <a:xfrm>
            <a:off x="6831013" y="6524625"/>
            <a:ext cx="2133600" cy="339725"/>
          </a:xfrm>
        </p:spPr>
        <p:txBody>
          <a:bodyPr/>
          <a:lstStyle/>
          <a:p>
            <a:fld id="{557A4102-9134-4DE4-89E3-9E7F1698ADF0}" type="slidenum">
              <a:rPr smtClean="0">
                <a:solidFill>
                  <a:prstClr val="white"/>
                </a:solidFill>
              </a:rPr>
              <a:pPr/>
              <a:t>28</a:t>
            </a:fld>
            <a:endParaRPr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4229985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內容版面配置區 7"/>
          <p:cNvSpPr txBox="1">
            <a:spLocks/>
          </p:cNvSpPr>
          <p:nvPr/>
        </p:nvSpPr>
        <p:spPr bwMode="auto">
          <a:xfrm>
            <a:off x="395537" y="1052736"/>
            <a:ext cx="8568952" cy="4608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l"/>
              <a:defRPr kumimoji="1" sz="2800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90000"/>
              <a:buFont typeface="Arial" charset="0"/>
              <a:buChar char="–"/>
              <a:defRPr kumimoji="1" sz="2400">
                <a:solidFill>
                  <a:schemeClr val="tx1"/>
                </a:solidFill>
                <a:latin typeface="Calibri" pitchFamily="34" charset="0"/>
                <a:ea typeface="標楷體" pitchFamily="65" charset="-12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Calibri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1800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Calibri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800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Calibri" pitchFamily="34" charset="0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US" altLang="zh-TW" sz="2400" dirty="0">
                <a:cs typeface="Calibri" pitchFamily="34" charset="0"/>
              </a:rPr>
              <a:t>Reconstruct </a:t>
            </a:r>
            <a:r>
              <a:rPr lang="en-US" altLang="zh-TW" sz="2400" dirty="0" smtClean="0">
                <a:cs typeface="Calibri" pitchFamily="34" charset="0"/>
              </a:rPr>
              <a:t>the </a:t>
            </a:r>
            <a:r>
              <a:rPr lang="en-US" altLang="zh-TW" sz="2400" dirty="0">
                <a:cs typeface="Calibri" pitchFamily="34" charset="0"/>
              </a:rPr>
              <a:t>control flow graph by </a:t>
            </a:r>
            <a:r>
              <a:rPr lang="en-US" altLang="zh-TW" sz="2400" dirty="0" smtClean="0">
                <a:cs typeface="Calibri" pitchFamily="34" charset="0"/>
              </a:rPr>
              <a:t>depth-first traversal</a:t>
            </a:r>
          </a:p>
          <a:p>
            <a:endParaRPr lang="en-US" altLang="zh-TW" sz="2400" dirty="0">
              <a:solidFill>
                <a:srgbClr val="FF0000"/>
              </a:solidFill>
              <a:cs typeface="Calibri" pitchFamily="34" charset="0"/>
            </a:endParaRPr>
          </a:p>
          <a:p>
            <a:endParaRPr lang="en-US" altLang="zh-TW" sz="2000" b="1" dirty="0" smtClean="0">
              <a:solidFill>
                <a:srgbClr val="FF0000"/>
              </a:solidFill>
              <a:cs typeface="Calibri" pitchFamily="34" charset="0"/>
            </a:endParaRPr>
          </a:p>
          <a:p>
            <a:endParaRPr lang="en-US" altLang="zh-TW" sz="2000" b="1" dirty="0">
              <a:solidFill>
                <a:srgbClr val="FF0000"/>
              </a:solidFill>
              <a:cs typeface="Calibri" pitchFamily="34" charset="0"/>
            </a:endParaRPr>
          </a:p>
          <a:p>
            <a:endParaRPr lang="en-US" altLang="zh-TW" sz="2000" b="1" dirty="0" smtClean="0">
              <a:solidFill>
                <a:srgbClr val="FF0000"/>
              </a:solidFill>
              <a:cs typeface="Calibri" pitchFamily="34" charset="0"/>
            </a:endParaRPr>
          </a:p>
          <a:p>
            <a:endParaRPr lang="en-US" altLang="zh-TW" sz="2000" b="1" dirty="0">
              <a:solidFill>
                <a:srgbClr val="FF0000"/>
              </a:solidFill>
              <a:cs typeface="Calibri" pitchFamily="34" charset="0"/>
            </a:endParaRPr>
          </a:p>
          <a:p>
            <a:endParaRPr lang="en-US" altLang="zh-TW" sz="2000" b="1" dirty="0" smtClean="0">
              <a:solidFill>
                <a:srgbClr val="FF0000"/>
              </a:solidFill>
              <a:cs typeface="Calibri" pitchFamily="34" charset="0"/>
            </a:endParaRPr>
          </a:p>
          <a:p>
            <a:endParaRPr lang="en-US" altLang="zh-TW" sz="2400" dirty="0" smtClean="0">
              <a:cs typeface="Calibri" pitchFamily="34" charset="0"/>
            </a:endParaRPr>
          </a:p>
          <a:p>
            <a:r>
              <a:rPr lang="en-US" altLang="zh-TW" sz="2400" dirty="0" smtClean="0">
                <a:cs typeface="Calibri" pitchFamily="34" charset="0"/>
              </a:rPr>
              <a:t>Perform bitmap masking</a:t>
            </a:r>
            <a:br>
              <a:rPr lang="en-US" altLang="zh-TW" sz="2400" dirty="0" smtClean="0">
                <a:cs typeface="Calibri" pitchFamily="34" charset="0"/>
              </a:rPr>
            </a:br>
            <a:r>
              <a:rPr lang="en-US" altLang="zh-TW" sz="2400" dirty="0" smtClean="0">
                <a:cs typeface="Calibri" pitchFamily="34" charset="0"/>
              </a:rPr>
              <a:t>and packing &amp; unpacking</a:t>
            </a:r>
            <a:br>
              <a:rPr lang="en-US" altLang="zh-TW" sz="2400" dirty="0" smtClean="0">
                <a:cs typeface="Calibri" pitchFamily="34" charset="0"/>
              </a:rPr>
            </a:br>
            <a:r>
              <a:rPr lang="en-US" altLang="zh-TW" sz="2400" dirty="0" smtClean="0">
                <a:cs typeface="Calibri" pitchFamily="34" charset="0"/>
              </a:rPr>
              <a:t>algorithms </a:t>
            </a:r>
            <a:endParaRPr lang="en-US" altLang="zh-TW" sz="2400" dirty="0">
              <a:cs typeface="Calibri" pitchFamily="34" charset="0"/>
            </a:endParaRPr>
          </a:p>
          <a:p>
            <a:pPr marL="0" indent="0">
              <a:buNone/>
            </a:pPr>
            <a:endParaRPr lang="zh-TW" altLang="en-US" sz="2000" b="1" dirty="0">
              <a:solidFill>
                <a:srgbClr val="FF0000"/>
              </a:solidFill>
              <a:cs typeface="Calibri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5" y="188640"/>
            <a:ext cx="7991351" cy="692150"/>
          </a:xfrm>
        </p:spPr>
        <p:txBody>
          <a:bodyPr/>
          <a:lstStyle/>
          <a:p>
            <a:r>
              <a:rPr lang="en-US" dirty="0" smtClean="0"/>
              <a:t>HSAIL </a:t>
            </a:r>
            <a:r>
              <a:rPr lang="en-US" altLang="zh-TW" dirty="0" smtClean="0"/>
              <a:t>Finalization</a:t>
            </a:r>
            <a:r>
              <a:rPr lang="en-US" dirty="0" smtClean="0"/>
              <a:t> (3)</a:t>
            </a:r>
            <a:endParaRPr lang="en-US" dirty="0"/>
          </a:p>
        </p:txBody>
      </p:sp>
      <p:pic>
        <p:nvPicPr>
          <p:cNvPr id="11" name="圖片 10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577" y="1579325"/>
            <a:ext cx="6009338" cy="2137709"/>
          </a:xfrm>
          <a:prstGeom prst="rect">
            <a:avLst/>
          </a:prstGeom>
        </p:spPr>
      </p:pic>
      <p:sp>
        <p:nvSpPr>
          <p:cNvPr id="6" name="投影片編號版面配置區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A9115C5-2FF4-4A45-B75E-C3C89F0A7A51}" type="slidenum">
              <a:rPr lang="en-US" altLang="zh-TW" smtClean="0"/>
              <a:pPr>
                <a:defRPr/>
              </a:pPr>
              <a:t>29</a:t>
            </a:fld>
            <a:endParaRPr lang="en-US" altLang="zh-TW"/>
          </a:p>
        </p:txBody>
      </p:sp>
      <p:pic>
        <p:nvPicPr>
          <p:cNvPr id="10" name="Picture 3" descr="\\vmware-host\Shared Folders\Desktop\MTK\TACO_figures_5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12926" y="3501008"/>
            <a:ext cx="4023571" cy="26384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1888480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err="1" smtClean="0"/>
              <a:t>OpenCL</a:t>
            </a:r>
            <a:r>
              <a:rPr lang="en-US" altLang="zh-TW" smtClean="0"/>
              <a:t> Runtime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810000" y="1219200"/>
            <a:ext cx="4955163" cy="3955720"/>
          </a:xfrm>
        </p:spPr>
        <p:txBody>
          <a:bodyPr/>
          <a:lstStyle/>
          <a:p>
            <a:r>
              <a:rPr lang="en-US" altLang="zh-TW" sz="2400" dirty="0">
                <a:cs typeface="Times New Roman" pitchFamily="18" charset="0"/>
              </a:rPr>
              <a:t>Most of </a:t>
            </a:r>
            <a:r>
              <a:rPr lang="en-US" altLang="zh-TW" sz="2400" dirty="0" err="1">
                <a:cs typeface="Times New Roman" pitchFamily="18" charset="0"/>
              </a:rPr>
              <a:t>OpenCL</a:t>
            </a:r>
            <a:r>
              <a:rPr lang="en-US" altLang="zh-TW" sz="2400" dirty="0">
                <a:cs typeface="Times New Roman" pitchFamily="18" charset="0"/>
              </a:rPr>
              <a:t> 1.2 APIs </a:t>
            </a:r>
            <a:r>
              <a:rPr lang="en-US" altLang="zh-TW" sz="2400" dirty="0" smtClean="0">
                <a:cs typeface="Times New Roman" pitchFamily="18" charset="0"/>
              </a:rPr>
              <a:t>were </a:t>
            </a:r>
            <a:r>
              <a:rPr lang="en-US" altLang="zh-TW" sz="2400" dirty="0">
                <a:cs typeface="Times New Roman" pitchFamily="18" charset="0"/>
              </a:rPr>
              <a:t>implemented</a:t>
            </a:r>
          </a:p>
          <a:p>
            <a:pPr lvl="1"/>
            <a:r>
              <a:rPr lang="en-US" altLang="zh-TW" sz="2000" dirty="0">
                <a:cs typeface="Times New Roman" pitchFamily="18" charset="0"/>
              </a:rPr>
              <a:t>Based on the Multi2Sim runtime architecture</a:t>
            </a:r>
          </a:p>
          <a:p>
            <a:pPr lvl="1"/>
            <a:endParaRPr lang="en-US" altLang="zh-TW" dirty="0">
              <a:cs typeface="Times New Roman" pitchFamily="18" charset="0"/>
            </a:endParaRPr>
          </a:p>
          <a:p>
            <a:r>
              <a:rPr lang="en-US" altLang="zh-TW" sz="2400" dirty="0">
                <a:cs typeface="Times New Roman" pitchFamily="18" charset="0"/>
              </a:rPr>
              <a:t>In </a:t>
            </a:r>
            <a:r>
              <a:rPr lang="en-US" altLang="zh-TW" sz="2400" dirty="0" err="1">
                <a:cs typeface="Times New Roman" pitchFamily="18" charset="0"/>
              </a:rPr>
              <a:t>OpenCL</a:t>
            </a:r>
            <a:r>
              <a:rPr lang="en-US" altLang="zh-TW" sz="2400" dirty="0">
                <a:cs typeface="Times New Roman" pitchFamily="18" charset="0"/>
              </a:rPr>
              <a:t> APIs, they call HSA runtime APIs to do the tasks</a:t>
            </a:r>
          </a:p>
          <a:p>
            <a:pPr lvl="1"/>
            <a:r>
              <a:rPr lang="en-US" altLang="zh-TW" sz="2000" dirty="0" err="1">
                <a:cs typeface="Times New Roman" pitchFamily="18" charset="0"/>
              </a:rPr>
              <a:t>OpenCL</a:t>
            </a:r>
            <a:r>
              <a:rPr lang="en-US" altLang="zh-TW" sz="2000" dirty="0">
                <a:cs typeface="Times New Roman" pitchFamily="18" charset="0"/>
              </a:rPr>
              <a:t> device init -&gt; </a:t>
            </a:r>
            <a:r>
              <a:rPr lang="en-US" altLang="zh-TW" sz="2000" dirty="0" err="1">
                <a:cs typeface="Times New Roman" pitchFamily="18" charset="0"/>
              </a:rPr>
              <a:t>hsa_init</a:t>
            </a:r>
            <a:r>
              <a:rPr lang="en-US" altLang="zh-TW" sz="2000" dirty="0">
                <a:cs typeface="Times New Roman" pitchFamily="18" charset="0"/>
              </a:rPr>
              <a:t> API</a:t>
            </a:r>
          </a:p>
          <a:p>
            <a:pPr lvl="1"/>
            <a:r>
              <a:rPr lang="en-US" altLang="zh-TW" sz="2000" dirty="0" err="1">
                <a:cs typeface="Times New Roman" pitchFamily="18" charset="0"/>
              </a:rPr>
              <a:t>OpenCL</a:t>
            </a:r>
            <a:r>
              <a:rPr lang="en-US" altLang="zh-TW" sz="2000" dirty="0">
                <a:cs typeface="Times New Roman" pitchFamily="18" charset="0"/>
              </a:rPr>
              <a:t> command queue -&gt; </a:t>
            </a:r>
            <a:r>
              <a:rPr lang="en-US" altLang="zh-TW" sz="2000" dirty="0" err="1">
                <a:cs typeface="Times New Roman" pitchFamily="18" charset="0"/>
              </a:rPr>
              <a:t>hsa_queue</a:t>
            </a:r>
            <a:r>
              <a:rPr lang="en-US" altLang="zh-TW" sz="2000" dirty="0">
                <a:cs typeface="Times New Roman" pitchFamily="18" charset="0"/>
              </a:rPr>
              <a:t> and AQL packet</a:t>
            </a:r>
          </a:p>
        </p:txBody>
      </p:sp>
      <p:cxnSp>
        <p:nvCxnSpPr>
          <p:cNvPr id="5" name="直線接點 4"/>
          <p:cNvCxnSpPr/>
          <p:nvPr/>
        </p:nvCxnSpPr>
        <p:spPr bwMode="auto">
          <a:xfrm flipH="1">
            <a:off x="3581400" y="1143000"/>
            <a:ext cx="2512" cy="4787024"/>
          </a:xfrm>
          <a:prstGeom prst="line">
            <a:avLst/>
          </a:prstGeom>
          <a:ln w="38100">
            <a:prstDash val="sysDot"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投影片編號版面配置區 4"/>
          <p:cNvSpPr>
            <a:spLocks noGrp="1"/>
          </p:cNvSpPr>
          <p:nvPr>
            <p:ph type="sldNum" sz="quarter" idx="10"/>
          </p:nvPr>
        </p:nvSpPr>
        <p:spPr>
          <a:xfrm>
            <a:off x="6831013" y="6524625"/>
            <a:ext cx="2133600" cy="339725"/>
          </a:xfrm>
        </p:spPr>
        <p:txBody>
          <a:bodyPr/>
          <a:lstStyle/>
          <a:p>
            <a:pPr>
              <a:defRPr/>
            </a:pPr>
            <a:fld id="{1A9115C5-2FF4-4A45-B75E-C3C89F0A7A51}" type="slidenum">
              <a:rPr lang="en-US" altLang="zh-TW" smtClean="0">
                <a:solidFill>
                  <a:schemeClr val="bg1"/>
                </a:solidFill>
              </a:rPr>
              <a:pPr>
                <a:defRPr/>
              </a:pPr>
              <a:t>30</a:t>
            </a:fld>
            <a:endParaRPr lang="en-US" altLang="zh-TW" dirty="0">
              <a:solidFill>
                <a:schemeClr val="bg1"/>
              </a:solidFill>
            </a:endParaRPr>
          </a:p>
        </p:txBody>
      </p:sp>
      <p:pic>
        <p:nvPicPr>
          <p:cNvPr id="8" name="圖片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367" y="1340961"/>
            <a:ext cx="3064747" cy="4176076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 bwMode="auto">
          <a:xfrm>
            <a:off x="735105" y="2236695"/>
            <a:ext cx="2057400" cy="152400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561862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mtClean="0"/>
              <a:t>HSA Runtime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810000" y="1378280"/>
            <a:ext cx="4955163" cy="4336720"/>
          </a:xfrm>
        </p:spPr>
        <p:txBody>
          <a:bodyPr/>
          <a:lstStyle/>
          <a:p>
            <a:r>
              <a:rPr lang="en-US" altLang="zh-TW" sz="2400" dirty="0"/>
              <a:t>Follow the HSA runtime </a:t>
            </a:r>
            <a:r>
              <a:rPr lang="en-US" altLang="zh-TW" sz="2400" dirty="0" smtClean="0"/>
              <a:t>specification v1.0</a:t>
            </a:r>
            <a:endParaRPr lang="en-US" altLang="zh-TW" dirty="0"/>
          </a:p>
          <a:p>
            <a:r>
              <a:rPr lang="en-US" altLang="zh-TW" sz="2400" dirty="0"/>
              <a:t>The following </a:t>
            </a:r>
            <a:r>
              <a:rPr lang="en-US" altLang="zh-TW" sz="2400" dirty="0" smtClean="0"/>
              <a:t>features </a:t>
            </a:r>
            <a:r>
              <a:rPr lang="en-US" altLang="zh-TW" sz="2400" dirty="0"/>
              <a:t>were implemented</a:t>
            </a:r>
          </a:p>
          <a:p>
            <a:pPr lvl="1"/>
            <a:r>
              <a:rPr lang="en-US" altLang="zh-TW" sz="2000" dirty="0"/>
              <a:t>HSA init and </a:t>
            </a:r>
            <a:r>
              <a:rPr lang="en-US" altLang="zh-TW" sz="2000" dirty="0" smtClean="0"/>
              <a:t>shutdown</a:t>
            </a:r>
          </a:p>
          <a:p>
            <a:pPr lvl="1"/>
            <a:r>
              <a:rPr lang="en-US" altLang="zh-TW" sz="2000" dirty="0" smtClean="0"/>
              <a:t>HSA notification mechanism</a:t>
            </a:r>
            <a:endParaRPr lang="en-US" altLang="zh-TW" sz="2000" dirty="0"/>
          </a:p>
          <a:p>
            <a:pPr lvl="1"/>
            <a:r>
              <a:rPr lang="en-US" altLang="zh-TW" sz="2000" dirty="0"/>
              <a:t>HSA system and agent information</a:t>
            </a:r>
          </a:p>
          <a:p>
            <a:pPr lvl="1"/>
            <a:r>
              <a:rPr lang="en-US" altLang="zh-TW" sz="2000" dirty="0"/>
              <a:t>HSA queue</a:t>
            </a:r>
          </a:p>
          <a:p>
            <a:pPr lvl="1"/>
            <a:r>
              <a:rPr lang="en-US" altLang="zh-TW" sz="2000" dirty="0"/>
              <a:t>HSA AQL packet</a:t>
            </a:r>
          </a:p>
          <a:p>
            <a:pPr lvl="1"/>
            <a:r>
              <a:rPr lang="en-US" altLang="zh-TW" sz="2000" dirty="0"/>
              <a:t>HSA signal</a:t>
            </a:r>
          </a:p>
          <a:p>
            <a:pPr lvl="1"/>
            <a:r>
              <a:rPr lang="en-US" altLang="zh-TW" sz="2000" dirty="0"/>
              <a:t>HSA memory</a:t>
            </a:r>
          </a:p>
        </p:txBody>
      </p:sp>
      <p:cxnSp>
        <p:nvCxnSpPr>
          <p:cNvPr id="5" name="直線接點 4"/>
          <p:cNvCxnSpPr/>
          <p:nvPr/>
        </p:nvCxnSpPr>
        <p:spPr bwMode="auto">
          <a:xfrm flipH="1">
            <a:off x="3581400" y="1143000"/>
            <a:ext cx="2512" cy="4787024"/>
          </a:xfrm>
          <a:prstGeom prst="line">
            <a:avLst/>
          </a:prstGeom>
          <a:ln w="38100">
            <a:prstDash val="sysDot"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投影片編號版面配置區 4"/>
          <p:cNvSpPr>
            <a:spLocks noGrp="1"/>
          </p:cNvSpPr>
          <p:nvPr>
            <p:ph type="sldNum" sz="quarter" idx="10"/>
          </p:nvPr>
        </p:nvSpPr>
        <p:spPr>
          <a:xfrm>
            <a:off x="6831013" y="6524625"/>
            <a:ext cx="2133600" cy="339725"/>
          </a:xfrm>
        </p:spPr>
        <p:txBody>
          <a:bodyPr/>
          <a:lstStyle/>
          <a:p>
            <a:pPr>
              <a:defRPr/>
            </a:pPr>
            <a:fld id="{1A9115C5-2FF4-4A45-B75E-C3C89F0A7A51}" type="slidenum">
              <a:rPr lang="en-US" altLang="zh-TW" smtClean="0">
                <a:solidFill>
                  <a:schemeClr val="bg1"/>
                </a:solidFill>
              </a:rPr>
              <a:pPr>
                <a:defRPr/>
              </a:pPr>
              <a:t>31</a:t>
            </a:fld>
            <a:endParaRPr lang="en-US" altLang="zh-TW" dirty="0">
              <a:solidFill>
                <a:schemeClr val="bg1"/>
              </a:solidFill>
            </a:endParaRPr>
          </a:p>
        </p:txBody>
      </p:sp>
      <p:pic>
        <p:nvPicPr>
          <p:cNvPr id="8" name="圖片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367" y="1340961"/>
            <a:ext cx="3064747" cy="4176076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 bwMode="auto">
          <a:xfrm>
            <a:off x="756090" y="2514600"/>
            <a:ext cx="2063309" cy="152400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7822567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89193" y="1101306"/>
            <a:ext cx="4668933" cy="2708694"/>
          </a:xfrm>
          <a:prstGeom prst="rect">
            <a:avLst/>
          </a:prstGeom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mtClean="0"/>
              <a:t>HSA Driver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733800" y="3918270"/>
            <a:ext cx="5181600" cy="2101530"/>
          </a:xfrm>
        </p:spPr>
        <p:txBody>
          <a:bodyPr/>
          <a:lstStyle/>
          <a:p>
            <a:r>
              <a:rPr lang="en-US" altLang="zh-TW" sz="2400" dirty="0" smtClean="0">
                <a:cs typeface="Times New Roman" pitchFamily="18" charset="0"/>
              </a:rPr>
              <a:t>HSA Driver</a:t>
            </a:r>
            <a:endParaRPr lang="en-US" altLang="zh-TW" sz="2400" dirty="0">
              <a:cs typeface="Times New Roman" pitchFamily="18" charset="0"/>
            </a:endParaRPr>
          </a:p>
          <a:p>
            <a:pPr lvl="1"/>
            <a:r>
              <a:rPr lang="en-US" altLang="zh-TW" sz="1800" dirty="0">
                <a:cs typeface="Times New Roman" pitchFamily="18" charset="0"/>
              </a:rPr>
              <a:t>Provide hardware information for HSA runtime</a:t>
            </a:r>
          </a:p>
          <a:p>
            <a:pPr lvl="1"/>
            <a:r>
              <a:rPr lang="en-US" altLang="zh-TW" sz="1800" dirty="0" smtClean="0">
                <a:cs typeface="Times New Roman" pitchFamily="18" charset="0"/>
              </a:rPr>
              <a:t>Provide  Memory </a:t>
            </a:r>
            <a:r>
              <a:rPr lang="en-US" altLang="zh-TW" sz="1800" dirty="0">
                <a:cs typeface="Times New Roman" pitchFamily="18" charset="0"/>
              </a:rPr>
              <a:t>Operation for HSA runtime</a:t>
            </a:r>
          </a:p>
          <a:p>
            <a:pPr lvl="1"/>
            <a:r>
              <a:rPr lang="en-US" altLang="zh-TW" sz="1800" dirty="0">
                <a:cs typeface="Times New Roman" pitchFamily="18" charset="0"/>
              </a:rPr>
              <a:t>Pack </a:t>
            </a:r>
            <a:r>
              <a:rPr lang="en-US" altLang="zh-TW" sz="1800" dirty="0" smtClean="0">
                <a:cs typeface="Times New Roman" pitchFamily="18" charset="0"/>
              </a:rPr>
              <a:t>AQL packets to a command</a:t>
            </a:r>
            <a:endParaRPr lang="en-US" altLang="zh-TW" sz="1800" dirty="0">
              <a:cs typeface="Times New Roman" pitchFamily="18" charset="0"/>
            </a:endParaRPr>
          </a:p>
          <a:p>
            <a:pPr lvl="1"/>
            <a:r>
              <a:rPr lang="en-US" altLang="zh-TW" sz="1800" dirty="0">
                <a:cs typeface="Times New Roman" pitchFamily="18" charset="0"/>
              </a:rPr>
              <a:t>Dispatch command to </a:t>
            </a:r>
            <a:r>
              <a:rPr lang="en-US" altLang="zh-TW" sz="1800" dirty="0" smtClean="0">
                <a:cs typeface="Times New Roman" pitchFamily="18" charset="0"/>
              </a:rPr>
              <a:t>Command Buffer</a:t>
            </a:r>
            <a:endParaRPr lang="en-US" altLang="zh-TW" sz="1800" dirty="0">
              <a:cs typeface="Times New Roman" pitchFamily="18" charset="0"/>
            </a:endParaRPr>
          </a:p>
        </p:txBody>
      </p:sp>
      <p:cxnSp>
        <p:nvCxnSpPr>
          <p:cNvPr id="5" name="直線接點 4"/>
          <p:cNvCxnSpPr/>
          <p:nvPr/>
        </p:nvCxnSpPr>
        <p:spPr bwMode="auto">
          <a:xfrm flipH="1">
            <a:off x="3581400" y="1143000"/>
            <a:ext cx="2512" cy="4787024"/>
          </a:xfrm>
          <a:prstGeom prst="line">
            <a:avLst/>
          </a:prstGeom>
          <a:ln w="38100">
            <a:prstDash val="sysDot"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文字方塊 6"/>
          <p:cNvSpPr txBox="1"/>
          <p:nvPr/>
        </p:nvSpPr>
        <p:spPr>
          <a:xfrm>
            <a:off x="4089193" y="1950736"/>
            <a:ext cx="1092407" cy="461665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r>
              <a:rPr lang="en-US" altLang="zh-TW" sz="1200" dirty="0" smtClean="0">
                <a:ea typeface="標楷體" pitchFamily="65" charset="-120"/>
                <a:cs typeface="Calibri" pitchFamily="34" charset="0"/>
              </a:rPr>
              <a:t>Command buffer packet</a:t>
            </a:r>
            <a:endParaRPr lang="zh-TW" altLang="en-US" sz="1200" dirty="0" smtClean="0">
              <a:ea typeface="標楷體" pitchFamily="65" charset="-120"/>
              <a:cs typeface="Calibri" pitchFamily="34" charset="0"/>
            </a:endParaRPr>
          </a:p>
        </p:txBody>
      </p:sp>
      <p:sp>
        <p:nvSpPr>
          <p:cNvPr id="8" name="投影片編號版面配置區 4"/>
          <p:cNvSpPr>
            <a:spLocks noGrp="1"/>
          </p:cNvSpPr>
          <p:nvPr>
            <p:ph type="sldNum" sz="quarter" idx="10"/>
          </p:nvPr>
        </p:nvSpPr>
        <p:spPr>
          <a:xfrm>
            <a:off x="6831013" y="6524625"/>
            <a:ext cx="2133600" cy="339725"/>
          </a:xfrm>
        </p:spPr>
        <p:txBody>
          <a:bodyPr/>
          <a:lstStyle/>
          <a:p>
            <a:pPr>
              <a:defRPr/>
            </a:pPr>
            <a:fld id="{1A9115C5-2FF4-4A45-B75E-C3C89F0A7A51}" type="slidenum">
              <a:rPr lang="en-US" altLang="zh-TW" smtClean="0">
                <a:solidFill>
                  <a:schemeClr val="bg1"/>
                </a:solidFill>
              </a:rPr>
              <a:pPr>
                <a:defRPr/>
              </a:pPr>
              <a:t>32</a:t>
            </a:fld>
            <a:endParaRPr lang="en-US" altLang="zh-TW" dirty="0">
              <a:solidFill>
                <a:schemeClr val="bg1"/>
              </a:solidFill>
            </a:endParaRPr>
          </a:p>
        </p:txBody>
      </p:sp>
      <p:pic>
        <p:nvPicPr>
          <p:cNvPr id="9" name="圖片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367" y="1340961"/>
            <a:ext cx="3064747" cy="4176076"/>
          </a:xfrm>
          <a:prstGeom prst="rect">
            <a:avLst/>
          </a:prstGeom>
        </p:spPr>
      </p:pic>
      <p:sp>
        <p:nvSpPr>
          <p:cNvPr id="11" name="矩形 10"/>
          <p:cNvSpPr/>
          <p:nvPr/>
        </p:nvSpPr>
        <p:spPr bwMode="auto">
          <a:xfrm>
            <a:off x="2389095" y="2810434"/>
            <a:ext cx="609600" cy="143435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8891399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CPU Simulation Module (1)</a:t>
            </a:r>
            <a:endParaRPr lang="zh-TW" altLang="en-US" dirty="0"/>
          </a:p>
        </p:txBody>
      </p:sp>
      <p:cxnSp>
        <p:nvCxnSpPr>
          <p:cNvPr id="5" name="直線接點 4"/>
          <p:cNvCxnSpPr/>
          <p:nvPr/>
        </p:nvCxnSpPr>
        <p:spPr bwMode="auto">
          <a:xfrm flipH="1">
            <a:off x="3581400" y="1143000"/>
            <a:ext cx="2512" cy="4787024"/>
          </a:xfrm>
          <a:prstGeom prst="line">
            <a:avLst/>
          </a:prstGeom>
          <a:ln w="38100">
            <a:prstDash val="sysDot"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內容版面配置區 3"/>
          <p:cNvSpPr>
            <a:spLocks noGrp="1"/>
          </p:cNvSpPr>
          <p:nvPr>
            <p:ph idx="1"/>
          </p:nvPr>
        </p:nvSpPr>
        <p:spPr>
          <a:xfrm>
            <a:off x="3640088" y="1295400"/>
            <a:ext cx="5427712" cy="1524000"/>
          </a:xfrm>
        </p:spPr>
        <p:txBody>
          <a:bodyPr/>
          <a:lstStyle/>
          <a:p>
            <a:r>
              <a:rPr lang="en-US" altLang="zh-TW" sz="2200" dirty="0" smtClean="0"/>
              <a:t>Act as an HSA host</a:t>
            </a:r>
          </a:p>
          <a:p>
            <a:pPr lvl="1"/>
            <a:r>
              <a:rPr lang="en-US" altLang="zh-TW" sz="1800" dirty="0" smtClean="0"/>
              <a:t>PQEMU</a:t>
            </a:r>
          </a:p>
          <a:p>
            <a:r>
              <a:rPr lang="en-US" altLang="zh-TW" sz="2200" dirty="0" smtClean="0"/>
              <a:t>Agent code, HSA runtime, and operating system are running on PQEMU</a:t>
            </a:r>
          </a:p>
        </p:txBody>
      </p:sp>
      <p:sp>
        <p:nvSpPr>
          <p:cNvPr id="24" name="投影片編號版面配置區 4"/>
          <p:cNvSpPr>
            <a:spLocks noGrp="1"/>
          </p:cNvSpPr>
          <p:nvPr>
            <p:ph type="sldNum" sz="quarter" idx="10"/>
          </p:nvPr>
        </p:nvSpPr>
        <p:spPr>
          <a:xfrm>
            <a:off x="6831013" y="6524625"/>
            <a:ext cx="2133600" cy="339725"/>
          </a:xfrm>
        </p:spPr>
        <p:txBody>
          <a:bodyPr/>
          <a:lstStyle/>
          <a:p>
            <a:pPr>
              <a:defRPr/>
            </a:pPr>
            <a:fld id="{1A9115C5-2FF4-4A45-B75E-C3C89F0A7A51}" type="slidenum">
              <a:rPr lang="en-US" altLang="zh-TW" smtClean="0">
                <a:solidFill>
                  <a:schemeClr val="bg1"/>
                </a:solidFill>
              </a:rPr>
              <a:pPr>
                <a:defRPr/>
              </a:pPr>
              <a:t>33</a:t>
            </a:fld>
            <a:endParaRPr lang="en-US" altLang="zh-TW" dirty="0">
              <a:solidFill>
                <a:schemeClr val="bg1"/>
              </a:solidFill>
            </a:endParaRPr>
          </a:p>
        </p:txBody>
      </p:sp>
      <p:pic>
        <p:nvPicPr>
          <p:cNvPr id="25" name="圖片 2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367" y="1340961"/>
            <a:ext cx="3064747" cy="4176076"/>
          </a:xfrm>
          <a:prstGeom prst="rect">
            <a:avLst/>
          </a:prstGeom>
        </p:spPr>
      </p:pic>
      <p:sp>
        <p:nvSpPr>
          <p:cNvPr id="26" name="矩形 25"/>
          <p:cNvSpPr/>
          <p:nvPr/>
        </p:nvSpPr>
        <p:spPr bwMode="auto">
          <a:xfrm>
            <a:off x="533400" y="3106270"/>
            <a:ext cx="1524000" cy="457200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904256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CPU Simulation Module (2)</a:t>
            </a:r>
            <a:endParaRPr lang="zh-TW" altLang="en-US" dirty="0"/>
          </a:p>
        </p:txBody>
      </p:sp>
      <p:cxnSp>
        <p:nvCxnSpPr>
          <p:cNvPr id="5" name="直線接點 4"/>
          <p:cNvCxnSpPr/>
          <p:nvPr/>
        </p:nvCxnSpPr>
        <p:spPr bwMode="auto">
          <a:xfrm flipH="1">
            <a:off x="3581400" y="1143000"/>
            <a:ext cx="2512" cy="4787024"/>
          </a:xfrm>
          <a:prstGeom prst="line">
            <a:avLst/>
          </a:prstGeom>
          <a:ln w="38100">
            <a:prstDash val="sysDot"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內容版面配置區 3"/>
          <p:cNvSpPr>
            <a:spLocks noGrp="1"/>
          </p:cNvSpPr>
          <p:nvPr>
            <p:ph idx="1"/>
          </p:nvPr>
        </p:nvSpPr>
        <p:spPr>
          <a:xfrm>
            <a:off x="3733800" y="1210574"/>
            <a:ext cx="5206042" cy="1761226"/>
          </a:xfrm>
        </p:spPr>
        <p:txBody>
          <a:bodyPr/>
          <a:lstStyle/>
          <a:p>
            <a:pPr lvl="0"/>
            <a:r>
              <a:rPr lang="en-US" altLang="zh-TW" sz="2200" dirty="0" smtClean="0"/>
              <a:t>PQEMU</a:t>
            </a:r>
          </a:p>
          <a:p>
            <a:pPr lvl="1"/>
            <a:r>
              <a:rPr lang="en-US" altLang="zh-TW" sz="1800" dirty="0" smtClean="0"/>
              <a:t>A parallel system emulator based on QEMU</a:t>
            </a:r>
          </a:p>
          <a:p>
            <a:pPr lvl="1"/>
            <a:r>
              <a:rPr lang="en-US" altLang="zh-TW" sz="1800" dirty="0" smtClean="0"/>
              <a:t>Can simulate up to 256 cores</a:t>
            </a:r>
          </a:p>
          <a:p>
            <a:pPr lvl="1"/>
            <a:r>
              <a:rPr lang="en-US" altLang="zh-TW" sz="1800" dirty="0" smtClean="0"/>
              <a:t>Dynamic binary translation (</a:t>
            </a:r>
            <a:r>
              <a:rPr lang="en-US" altLang="zh-TW" sz="1800" dirty="0" smtClean="0">
                <a:solidFill>
                  <a:srgbClr val="FF0000"/>
                </a:solidFill>
              </a:rPr>
              <a:t>DBT</a:t>
            </a:r>
            <a:r>
              <a:rPr lang="en-US" altLang="zh-TW" sz="1800" dirty="0" smtClean="0"/>
              <a:t>) technique</a:t>
            </a:r>
          </a:p>
          <a:p>
            <a:pPr lvl="1"/>
            <a:r>
              <a:rPr lang="en-US" altLang="zh-TW" sz="1800" dirty="0" smtClean="0"/>
              <a:t>A project sponsored by MTK</a:t>
            </a:r>
          </a:p>
        </p:txBody>
      </p:sp>
      <p:grpSp>
        <p:nvGrpSpPr>
          <p:cNvPr id="9" name="群組 7"/>
          <p:cNvGrpSpPr/>
          <p:nvPr/>
        </p:nvGrpSpPr>
        <p:grpSpPr>
          <a:xfrm>
            <a:off x="4191000" y="3352800"/>
            <a:ext cx="4190533" cy="1842404"/>
            <a:chOff x="899592" y="3789040"/>
            <a:chExt cx="4984731" cy="2309059"/>
          </a:xfrm>
        </p:grpSpPr>
        <p:sp>
          <p:nvSpPr>
            <p:cNvPr id="10" name="圓角矩形 9"/>
            <p:cNvSpPr/>
            <p:nvPr/>
          </p:nvSpPr>
          <p:spPr bwMode="auto">
            <a:xfrm>
              <a:off x="899592" y="3789040"/>
              <a:ext cx="4968552" cy="468052"/>
            </a:xfrm>
            <a:prstGeom prst="round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15875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US" altLang="zh-TW" sz="1800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Times New Roman" pitchFamily="18" charset="0"/>
                </a:rPr>
                <a:t>Code </a:t>
              </a:r>
              <a:r>
                <a:rPr lang="en-US" altLang="zh-TW" sz="1800" b="1" dirty="0" smtClean="0">
                  <a:latin typeface="Times New Roman" pitchFamily="18" charset="0"/>
                  <a:cs typeface="Times New Roman" pitchFamily="18" charset="0"/>
                </a:rPr>
                <a:t>Cache</a:t>
              </a:r>
              <a:endParaRPr kumimoji="1" lang="zh-TW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endParaRPr>
            </a:p>
          </p:txBody>
        </p:sp>
        <p:grpSp>
          <p:nvGrpSpPr>
            <p:cNvPr id="11" name="群組 9"/>
            <p:cNvGrpSpPr/>
            <p:nvPr/>
          </p:nvGrpSpPr>
          <p:grpSpPr>
            <a:xfrm>
              <a:off x="915770" y="4266398"/>
              <a:ext cx="4968553" cy="1831701"/>
              <a:chOff x="915770" y="4266398"/>
              <a:chExt cx="4968553" cy="1831701"/>
            </a:xfrm>
          </p:grpSpPr>
          <p:sp>
            <p:nvSpPr>
              <p:cNvPr id="12" name="圓角矩形 11"/>
              <p:cNvSpPr/>
              <p:nvPr/>
            </p:nvSpPr>
            <p:spPr bwMode="auto">
              <a:xfrm>
                <a:off x="915770" y="5119874"/>
                <a:ext cx="1152128" cy="936104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15875" cap="flat" cmpd="sng" algn="ctr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1" lang="en-US" altLang="zh-TW" sz="1800" b="1" i="0" u="none" strike="noStrike" cap="none" normalizeH="0" baseline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itchFamily="18" charset="0"/>
                    <a:cs typeface="Times New Roman" pitchFamily="18" charset="0"/>
                  </a:rPr>
                  <a:t>CPU</a:t>
                </a:r>
                <a:endParaRPr kumimoji="1" lang="zh-TW" altLang="en-US" sz="1800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3" name="圓角矩形 12"/>
              <p:cNvSpPr/>
              <p:nvPr/>
            </p:nvSpPr>
            <p:spPr bwMode="auto">
              <a:xfrm>
                <a:off x="3448973" y="5161995"/>
                <a:ext cx="1152127" cy="936104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15875" cap="flat" cmpd="sng" algn="ctr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1" lang="en-US" altLang="zh-TW" sz="1800" b="1" i="0" u="none" strike="noStrike" cap="none" normalizeH="0" baseline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itchFamily="18" charset="0"/>
                    <a:cs typeface="Times New Roman" pitchFamily="18" charset="0"/>
                  </a:rPr>
                  <a:t>CPU</a:t>
                </a:r>
                <a:endParaRPr kumimoji="1" lang="zh-TW" altLang="en-US" sz="1800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4" name="圓角矩形 13"/>
              <p:cNvSpPr/>
              <p:nvPr/>
            </p:nvSpPr>
            <p:spPr bwMode="auto">
              <a:xfrm>
                <a:off x="2169007" y="5155926"/>
                <a:ext cx="1152128" cy="936104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15875" cap="flat" cmpd="sng" algn="ctr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1" lang="en-US" altLang="zh-TW" sz="1800" b="1" i="0" u="none" strike="noStrike" cap="none" normalizeH="0" baseline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itchFamily="18" charset="0"/>
                    <a:cs typeface="Times New Roman" pitchFamily="18" charset="0"/>
                  </a:rPr>
                  <a:t>CPU</a:t>
                </a:r>
                <a:endParaRPr kumimoji="1" lang="zh-TW" altLang="en-US" sz="1800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5" name="圓角矩形 14"/>
              <p:cNvSpPr/>
              <p:nvPr/>
            </p:nvSpPr>
            <p:spPr bwMode="auto">
              <a:xfrm>
                <a:off x="4732195" y="5161995"/>
                <a:ext cx="1152128" cy="936104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15875" cap="flat" cmpd="sng" algn="ctr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1" lang="en-US" altLang="zh-TW" sz="1800" b="1" i="0" u="none" strike="noStrike" cap="none" normalizeH="0" baseline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itchFamily="18" charset="0"/>
                    <a:cs typeface="Times New Roman" pitchFamily="18" charset="0"/>
                  </a:rPr>
                  <a:t>CPU</a:t>
                </a:r>
                <a:endParaRPr kumimoji="1" lang="zh-TW" altLang="en-US" sz="1800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6" name="圓角矩形 15"/>
              <p:cNvSpPr/>
              <p:nvPr/>
            </p:nvSpPr>
            <p:spPr bwMode="auto">
              <a:xfrm>
                <a:off x="922607" y="4734450"/>
                <a:ext cx="1129113" cy="468052"/>
              </a:xfrm>
              <a:prstGeom prst="round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15875" cap="flat" cmpd="sng" algn="ctr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1" lang="en-US" altLang="zh-TW" sz="1800" b="1" i="0" u="none" strike="noStrike" cap="none" normalizeH="0" baseline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itchFamily="18" charset="0"/>
                    <a:cs typeface="Times New Roman" pitchFamily="18" charset="0"/>
                  </a:rPr>
                  <a:t>DBT</a:t>
                </a:r>
                <a:endParaRPr kumimoji="1" lang="zh-TW" altLang="en-US" sz="1800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7" name="圓角矩形 16"/>
              <p:cNvSpPr/>
              <p:nvPr/>
            </p:nvSpPr>
            <p:spPr bwMode="auto">
              <a:xfrm>
                <a:off x="2175844" y="4736305"/>
                <a:ext cx="1129113" cy="468052"/>
              </a:xfrm>
              <a:prstGeom prst="round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15875" cap="flat" cmpd="sng" algn="ctr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1" lang="en-US" altLang="zh-TW" sz="1800" b="1" i="0" u="none" strike="noStrike" cap="none" normalizeH="0" baseline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itchFamily="18" charset="0"/>
                    <a:cs typeface="Times New Roman" pitchFamily="18" charset="0"/>
                  </a:rPr>
                  <a:t>DBT</a:t>
                </a:r>
                <a:endParaRPr kumimoji="1" lang="zh-TW" altLang="en-US" sz="1800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8" name="圓角矩形 17"/>
              <p:cNvSpPr/>
              <p:nvPr/>
            </p:nvSpPr>
            <p:spPr bwMode="auto">
              <a:xfrm>
                <a:off x="3448972" y="4738160"/>
                <a:ext cx="1129113" cy="468052"/>
              </a:xfrm>
              <a:prstGeom prst="round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15875" cap="flat" cmpd="sng" algn="ctr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1" lang="en-US" altLang="zh-TW" sz="1800" b="1" i="0" u="none" strike="noStrike" cap="none" normalizeH="0" baseline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itchFamily="18" charset="0"/>
                    <a:cs typeface="Times New Roman" pitchFamily="18" charset="0"/>
                  </a:rPr>
                  <a:t>DBT</a:t>
                </a:r>
                <a:endParaRPr kumimoji="1" lang="zh-TW" altLang="en-US" sz="1800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9" name="圓角矩形 18"/>
              <p:cNvSpPr/>
              <p:nvPr/>
            </p:nvSpPr>
            <p:spPr bwMode="auto">
              <a:xfrm>
                <a:off x="4739031" y="4738160"/>
                <a:ext cx="1129113" cy="468052"/>
              </a:xfrm>
              <a:prstGeom prst="round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15875" cap="flat" cmpd="sng" algn="ctr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1" lang="en-US" altLang="zh-TW" sz="1800" b="1" i="0" u="none" strike="noStrike" cap="none" normalizeH="0" baseline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itchFamily="18" charset="0"/>
                    <a:cs typeface="Times New Roman" pitchFamily="18" charset="0"/>
                  </a:rPr>
                  <a:t>DBT</a:t>
                </a:r>
                <a:endParaRPr kumimoji="1" lang="zh-TW" altLang="en-US" sz="1800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20" name="向上箭號 19"/>
              <p:cNvSpPr/>
              <p:nvPr/>
            </p:nvSpPr>
            <p:spPr bwMode="auto">
              <a:xfrm>
                <a:off x="1259632" y="4270108"/>
                <a:ext cx="504057" cy="468052"/>
              </a:xfrm>
              <a:prstGeom prst="upArrow">
                <a:avLst/>
              </a:prstGeom>
              <a:solidFill>
                <a:srgbClr val="FF0000"/>
              </a:solidFill>
              <a:ln w="15875" cap="flat" cmpd="sng" algn="ctr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zh-TW" altLang="en-US" sz="1800" b="1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21" name="向上箭號 20"/>
              <p:cNvSpPr/>
              <p:nvPr/>
            </p:nvSpPr>
            <p:spPr bwMode="auto">
              <a:xfrm>
                <a:off x="2476865" y="4270108"/>
                <a:ext cx="504057" cy="468052"/>
              </a:xfrm>
              <a:prstGeom prst="upArrow">
                <a:avLst/>
              </a:prstGeom>
              <a:solidFill>
                <a:srgbClr val="FF0000"/>
              </a:solidFill>
              <a:ln w="15875" cap="flat" cmpd="sng" algn="ctr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zh-TW" altLang="en-US" sz="1800" b="1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22" name="向上箭號 21"/>
              <p:cNvSpPr/>
              <p:nvPr/>
            </p:nvSpPr>
            <p:spPr bwMode="auto">
              <a:xfrm>
                <a:off x="3761500" y="4270108"/>
                <a:ext cx="504057" cy="468052"/>
              </a:xfrm>
              <a:prstGeom prst="upArrow">
                <a:avLst/>
              </a:prstGeom>
              <a:solidFill>
                <a:srgbClr val="FF0000"/>
              </a:solidFill>
              <a:ln w="15875" cap="flat" cmpd="sng" algn="ctr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zh-TW" altLang="en-US" sz="1800" b="1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23" name="向上箭號 22"/>
              <p:cNvSpPr/>
              <p:nvPr/>
            </p:nvSpPr>
            <p:spPr bwMode="auto">
              <a:xfrm>
                <a:off x="5051559" y="4266398"/>
                <a:ext cx="504057" cy="468052"/>
              </a:xfrm>
              <a:prstGeom prst="upArrow">
                <a:avLst/>
              </a:prstGeom>
              <a:solidFill>
                <a:srgbClr val="FF0000"/>
              </a:solidFill>
              <a:ln w="15875" cap="flat" cmpd="sng" algn="ctr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zh-TW" altLang="en-US" sz="1800" b="1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Times New Roman" pitchFamily="18" charset="0"/>
                </a:endParaRPr>
              </a:p>
            </p:txBody>
          </p:sp>
        </p:grpSp>
      </p:grpSp>
      <p:sp>
        <p:nvSpPr>
          <p:cNvPr id="24" name="投影片編號版面配置區 4"/>
          <p:cNvSpPr>
            <a:spLocks noGrp="1"/>
          </p:cNvSpPr>
          <p:nvPr>
            <p:ph type="sldNum" sz="quarter" idx="10"/>
          </p:nvPr>
        </p:nvSpPr>
        <p:spPr>
          <a:xfrm>
            <a:off x="6831013" y="6524625"/>
            <a:ext cx="2133600" cy="339725"/>
          </a:xfrm>
        </p:spPr>
        <p:txBody>
          <a:bodyPr/>
          <a:lstStyle/>
          <a:p>
            <a:pPr>
              <a:defRPr/>
            </a:pPr>
            <a:fld id="{1A9115C5-2FF4-4A45-B75E-C3C89F0A7A51}" type="slidenum">
              <a:rPr lang="en-US" altLang="zh-TW" smtClean="0">
                <a:solidFill>
                  <a:schemeClr val="bg1"/>
                </a:solidFill>
              </a:rPr>
              <a:pPr>
                <a:defRPr/>
              </a:pPr>
              <a:t>34</a:t>
            </a:fld>
            <a:endParaRPr lang="en-US" altLang="zh-TW" dirty="0">
              <a:solidFill>
                <a:schemeClr val="bg1"/>
              </a:solidFill>
            </a:endParaRPr>
          </a:p>
        </p:txBody>
      </p:sp>
      <p:pic>
        <p:nvPicPr>
          <p:cNvPr id="25" name="圖片 2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367" y="1340961"/>
            <a:ext cx="3064747" cy="4176076"/>
          </a:xfrm>
          <a:prstGeom prst="rect">
            <a:avLst/>
          </a:prstGeom>
        </p:spPr>
      </p:pic>
      <p:sp>
        <p:nvSpPr>
          <p:cNvPr id="26" name="矩形 25"/>
          <p:cNvSpPr/>
          <p:nvPr/>
        </p:nvSpPr>
        <p:spPr bwMode="auto">
          <a:xfrm>
            <a:off x="609600" y="3285565"/>
            <a:ext cx="609600" cy="228600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904256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CPU simulation Module (3)</a:t>
            </a:r>
            <a:endParaRPr lang="zh-TW" altLang="en-US" dirty="0"/>
          </a:p>
        </p:txBody>
      </p:sp>
      <p:cxnSp>
        <p:nvCxnSpPr>
          <p:cNvPr id="5" name="直線接點 4"/>
          <p:cNvCxnSpPr/>
          <p:nvPr/>
        </p:nvCxnSpPr>
        <p:spPr bwMode="auto">
          <a:xfrm flipH="1">
            <a:off x="3581400" y="1143000"/>
            <a:ext cx="2512" cy="4787024"/>
          </a:xfrm>
          <a:prstGeom prst="line">
            <a:avLst/>
          </a:prstGeom>
          <a:ln w="38100">
            <a:prstDash val="sysDot"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內容版面配置區 3"/>
          <p:cNvSpPr>
            <a:spLocks noGrp="1"/>
          </p:cNvSpPr>
          <p:nvPr>
            <p:ph idx="1"/>
          </p:nvPr>
        </p:nvSpPr>
        <p:spPr>
          <a:xfrm>
            <a:off x="3657600" y="1219200"/>
            <a:ext cx="5334000" cy="2819400"/>
          </a:xfrm>
        </p:spPr>
        <p:txBody>
          <a:bodyPr/>
          <a:lstStyle/>
          <a:p>
            <a:pPr lvl="0"/>
            <a:r>
              <a:rPr lang="en-US" altLang="zh-TW" sz="2400" dirty="0" smtClean="0"/>
              <a:t>HSA Signal Handler</a:t>
            </a:r>
          </a:p>
          <a:p>
            <a:pPr lvl="1"/>
            <a:r>
              <a:rPr lang="en-US" altLang="zh-TW" sz="2000" dirty="0" smtClean="0"/>
              <a:t>Receive doorbell signal from HSA runtime and decode the signal handle (start kernel program)</a:t>
            </a:r>
          </a:p>
          <a:p>
            <a:pPr lvl="1"/>
            <a:r>
              <a:rPr lang="en-US" altLang="zh-TW" sz="2000" dirty="0" smtClean="0"/>
              <a:t>Encode completion signal, and send it to the user program (finish kernel program)</a:t>
            </a:r>
          </a:p>
          <a:p>
            <a:pPr lvl="1"/>
            <a:r>
              <a:rPr lang="en-US" altLang="zh-TW" sz="2000" dirty="0" smtClean="0"/>
              <a:t>Inform command packet processor to process commands</a:t>
            </a:r>
          </a:p>
        </p:txBody>
      </p:sp>
      <p:sp>
        <p:nvSpPr>
          <p:cNvPr id="6" name="投影片編號版面配置區 4"/>
          <p:cNvSpPr>
            <a:spLocks noGrp="1"/>
          </p:cNvSpPr>
          <p:nvPr>
            <p:ph type="sldNum" sz="quarter" idx="10"/>
          </p:nvPr>
        </p:nvSpPr>
        <p:spPr>
          <a:xfrm>
            <a:off x="6831013" y="6524625"/>
            <a:ext cx="2133600" cy="339725"/>
          </a:xfrm>
        </p:spPr>
        <p:txBody>
          <a:bodyPr/>
          <a:lstStyle/>
          <a:p>
            <a:pPr>
              <a:defRPr/>
            </a:pPr>
            <a:fld id="{1A9115C5-2FF4-4A45-B75E-C3C89F0A7A51}" type="slidenum">
              <a:rPr lang="en-US" altLang="zh-TW" smtClean="0">
                <a:solidFill>
                  <a:schemeClr val="bg1"/>
                </a:solidFill>
              </a:rPr>
              <a:pPr>
                <a:defRPr/>
              </a:pPr>
              <a:t>35</a:t>
            </a:fld>
            <a:endParaRPr lang="en-US" altLang="zh-TW" dirty="0">
              <a:solidFill>
                <a:schemeClr val="bg1"/>
              </a:solidFill>
            </a:endParaRPr>
          </a:p>
        </p:txBody>
      </p:sp>
      <p:pic>
        <p:nvPicPr>
          <p:cNvPr id="7" name="圖片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367" y="1340961"/>
            <a:ext cx="3064747" cy="4176076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 bwMode="auto">
          <a:xfrm>
            <a:off x="1371600" y="3285565"/>
            <a:ext cx="609600" cy="228600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994481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GPU Task </a:t>
            </a:r>
            <a:r>
              <a:rPr lang="en-US" altLang="zh-TW" dirty="0" smtClean="0"/>
              <a:t>Dispatcher (1)</a:t>
            </a:r>
            <a:endParaRPr lang="zh-TW" altLang="en-US" dirty="0"/>
          </a:p>
        </p:txBody>
      </p:sp>
      <p:cxnSp>
        <p:nvCxnSpPr>
          <p:cNvPr id="5" name="直線接點 4"/>
          <p:cNvCxnSpPr/>
          <p:nvPr/>
        </p:nvCxnSpPr>
        <p:spPr bwMode="auto">
          <a:xfrm flipH="1">
            <a:off x="3581400" y="1143000"/>
            <a:ext cx="2512" cy="4787024"/>
          </a:xfrm>
          <a:prstGeom prst="line">
            <a:avLst/>
          </a:prstGeom>
          <a:ln w="38100">
            <a:prstDash val="sysDot"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內容版面配置區 2"/>
          <p:cNvSpPr>
            <a:spLocks noGrp="1"/>
          </p:cNvSpPr>
          <p:nvPr>
            <p:ph idx="1"/>
          </p:nvPr>
        </p:nvSpPr>
        <p:spPr>
          <a:xfrm>
            <a:off x="3657600" y="3000888"/>
            <a:ext cx="5334000" cy="2929136"/>
          </a:xfrm>
        </p:spPr>
        <p:txBody>
          <a:bodyPr/>
          <a:lstStyle/>
          <a:p>
            <a:r>
              <a:rPr lang="en-US" altLang="zh-TW" sz="2400" dirty="0">
                <a:cs typeface="Times New Roman" pitchFamily="18" charset="0"/>
              </a:rPr>
              <a:t>Command </a:t>
            </a:r>
            <a:r>
              <a:rPr lang="en-US" altLang="zh-TW" sz="2400" dirty="0" smtClean="0">
                <a:cs typeface="Times New Roman" pitchFamily="18" charset="0"/>
              </a:rPr>
              <a:t>Buffer</a:t>
            </a:r>
            <a:endParaRPr lang="en-US" altLang="zh-TW" sz="2400" dirty="0">
              <a:cs typeface="Times New Roman" pitchFamily="18" charset="0"/>
            </a:endParaRPr>
          </a:p>
          <a:p>
            <a:pPr lvl="1"/>
            <a:r>
              <a:rPr lang="en-US" altLang="zh-TW" sz="2000" dirty="0" smtClean="0">
                <a:cs typeface="Times New Roman" pitchFamily="18" charset="0"/>
              </a:rPr>
              <a:t>Define command buffer interface for easy emulator/simulator plug-in</a:t>
            </a:r>
          </a:p>
          <a:p>
            <a:pPr lvl="2"/>
            <a:r>
              <a:rPr lang="en-US" altLang="zh-TW" sz="1800" dirty="0" smtClean="0"/>
              <a:t>MMIO, </a:t>
            </a:r>
            <a:r>
              <a:rPr lang="en-US" altLang="zh-TW" sz="1800" dirty="0" err="1" smtClean="0"/>
              <a:t>syscall</a:t>
            </a:r>
            <a:r>
              <a:rPr lang="en-US" altLang="zh-TW" sz="1800" dirty="0" smtClean="0"/>
              <a:t>, interrupt…etc</a:t>
            </a:r>
            <a:endParaRPr lang="en-US" altLang="zh-TW" sz="1800" dirty="0" smtClean="0">
              <a:cs typeface="Times New Roman" pitchFamily="18" charset="0"/>
            </a:endParaRPr>
          </a:p>
          <a:p>
            <a:pPr lvl="1"/>
            <a:r>
              <a:rPr lang="en-US" altLang="zh-TW" sz="2000" dirty="0" smtClean="0">
                <a:cs typeface="Times New Roman" pitchFamily="18" charset="0"/>
              </a:rPr>
              <a:t>Receive the command packets </a:t>
            </a:r>
            <a:r>
              <a:rPr lang="en-US" altLang="zh-TW" sz="2000" dirty="0">
                <a:cs typeface="Times New Roman" pitchFamily="18" charset="0"/>
              </a:rPr>
              <a:t>from </a:t>
            </a:r>
            <a:r>
              <a:rPr lang="en-US" altLang="zh-TW" sz="2000" dirty="0" smtClean="0">
                <a:cs typeface="Times New Roman" pitchFamily="18" charset="0"/>
              </a:rPr>
              <a:t>applications</a:t>
            </a:r>
            <a:endParaRPr lang="en-US" altLang="zh-TW" sz="2000" dirty="0">
              <a:cs typeface="Times New Roman" pitchFamily="18" charset="0"/>
            </a:endParaRPr>
          </a:p>
          <a:p>
            <a:pPr lvl="2"/>
            <a:r>
              <a:rPr lang="en-US" altLang="zh-TW" sz="1800" dirty="0" smtClean="0">
                <a:cs typeface="Times New Roman" pitchFamily="18" charset="0"/>
              </a:rPr>
              <a:t>A command packet contains </a:t>
            </a:r>
            <a:r>
              <a:rPr lang="en-US" altLang="zh-TW" sz="1800" dirty="0">
                <a:cs typeface="Times New Roman" pitchFamily="18" charset="0"/>
              </a:rPr>
              <a:t>device id </a:t>
            </a:r>
            <a:r>
              <a:rPr lang="en-US" altLang="zh-TW" sz="1800" dirty="0" smtClean="0">
                <a:cs typeface="Times New Roman" pitchFamily="18" charset="0"/>
              </a:rPr>
              <a:t>, </a:t>
            </a:r>
            <a:r>
              <a:rPr lang="en-US" altLang="zh-TW" sz="1800" dirty="0" err="1" smtClean="0">
                <a:cs typeface="Times New Roman" pitchFamily="18" charset="0"/>
              </a:rPr>
              <a:t>opcode</a:t>
            </a:r>
            <a:r>
              <a:rPr lang="en-US" altLang="zh-TW" sz="1800" dirty="0" smtClean="0">
                <a:cs typeface="Times New Roman" pitchFamily="18" charset="0"/>
              </a:rPr>
              <a:t>, and </a:t>
            </a:r>
            <a:r>
              <a:rPr lang="en-US" altLang="zh-TW" sz="1800" dirty="0">
                <a:cs typeface="Times New Roman" pitchFamily="18" charset="0"/>
              </a:rPr>
              <a:t>AQL packets which are </a:t>
            </a:r>
            <a:r>
              <a:rPr lang="en-US" altLang="zh-TW" sz="1800" dirty="0" err="1">
                <a:cs typeface="Times New Roman" pitchFamily="18" charset="0"/>
              </a:rPr>
              <a:t>enqueued</a:t>
            </a:r>
            <a:r>
              <a:rPr lang="en-US" altLang="zh-TW" sz="1800" dirty="0">
                <a:cs typeface="Times New Roman" pitchFamily="18" charset="0"/>
              </a:rPr>
              <a:t> by HSA </a:t>
            </a:r>
            <a:r>
              <a:rPr lang="en-US" altLang="zh-TW" sz="1800" dirty="0" smtClean="0">
                <a:cs typeface="Times New Roman" pitchFamily="18" charset="0"/>
              </a:rPr>
              <a:t>runtime</a:t>
            </a:r>
          </a:p>
        </p:txBody>
      </p:sp>
      <p:grpSp>
        <p:nvGrpSpPr>
          <p:cNvPr id="10" name="群組 9"/>
          <p:cNvGrpSpPr/>
          <p:nvPr/>
        </p:nvGrpSpPr>
        <p:grpSpPr>
          <a:xfrm>
            <a:off x="3731288" y="1258295"/>
            <a:ext cx="4955512" cy="1637305"/>
            <a:chOff x="3731288" y="1182095"/>
            <a:chExt cx="4955512" cy="1637305"/>
          </a:xfrm>
        </p:grpSpPr>
        <p:pic>
          <p:nvPicPr>
            <p:cNvPr id="8" name="Picture 2" descr="Figure2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10000" y="1245538"/>
              <a:ext cx="4876800" cy="15738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" name="文字方塊 8"/>
            <p:cNvSpPr txBox="1"/>
            <p:nvPr/>
          </p:nvSpPr>
          <p:spPr>
            <a:xfrm>
              <a:off x="3731288" y="1182095"/>
              <a:ext cx="1450312" cy="276999"/>
            </a:xfrm>
            <a:prstGeom prst="rect">
              <a:avLst/>
            </a:prstGeom>
            <a:noFill/>
          </p:spPr>
          <p:txBody>
            <a:bodyPr wrap="square" rtlCol="0" anchor="ctr" anchorCtr="1">
              <a:spAutoFit/>
            </a:bodyPr>
            <a:lstStyle/>
            <a:p>
              <a:r>
                <a:rPr lang="en-US" altLang="zh-TW" sz="1200" dirty="0" smtClean="0">
                  <a:ea typeface="標楷體" pitchFamily="65" charset="-120"/>
                  <a:cs typeface="Calibri" pitchFamily="34" charset="0"/>
                </a:rPr>
                <a:t>Command packet</a:t>
              </a:r>
              <a:endParaRPr lang="zh-TW" altLang="en-US" sz="1200" dirty="0" smtClean="0">
                <a:ea typeface="標楷體" pitchFamily="65" charset="-120"/>
                <a:cs typeface="Calibri" pitchFamily="34" charset="0"/>
              </a:endParaRPr>
            </a:p>
          </p:txBody>
        </p:sp>
      </p:grpSp>
      <p:sp>
        <p:nvSpPr>
          <p:cNvPr id="11" name="投影片編號版面配置區 4"/>
          <p:cNvSpPr>
            <a:spLocks noGrp="1"/>
          </p:cNvSpPr>
          <p:nvPr>
            <p:ph type="sldNum" sz="quarter" idx="10"/>
          </p:nvPr>
        </p:nvSpPr>
        <p:spPr>
          <a:xfrm>
            <a:off x="6831013" y="6524625"/>
            <a:ext cx="2133600" cy="339725"/>
          </a:xfrm>
        </p:spPr>
        <p:txBody>
          <a:bodyPr/>
          <a:lstStyle/>
          <a:p>
            <a:pPr>
              <a:defRPr/>
            </a:pPr>
            <a:fld id="{1A9115C5-2FF4-4A45-B75E-C3C89F0A7A51}" type="slidenum">
              <a:rPr lang="en-US" altLang="zh-TW" smtClean="0">
                <a:solidFill>
                  <a:schemeClr val="bg1"/>
                </a:solidFill>
              </a:rPr>
              <a:pPr>
                <a:defRPr/>
              </a:pPr>
              <a:t>36</a:t>
            </a:fld>
            <a:endParaRPr lang="en-US" altLang="zh-TW" dirty="0">
              <a:solidFill>
                <a:schemeClr val="bg1"/>
              </a:solidFill>
            </a:endParaRPr>
          </a:p>
        </p:txBody>
      </p:sp>
      <p:pic>
        <p:nvPicPr>
          <p:cNvPr id="12" name="圖片 1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367" y="1340961"/>
            <a:ext cx="3064747" cy="4176076"/>
          </a:xfrm>
          <a:prstGeom prst="rect">
            <a:avLst/>
          </a:prstGeom>
        </p:spPr>
      </p:pic>
      <p:sp>
        <p:nvSpPr>
          <p:cNvPr id="13" name="矩形 12"/>
          <p:cNvSpPr/>
          <p:nvPr/>
        </p:nvSpPr>
        <p:spPr bwMode="auto">
          <a:xfrm>
            <a:off x="762000" y="3877235"/>
            <a:ext cx="838200" cy="228600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5000619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GPU Task </a:t>
            </a:r>
            <a:r>
              <a:rPr lang="en-US" altLang="zh-TW" dirty="0" smtClean="0"/>
              <a:t>Dispatcher (2)</a:t>
            </a:r>
            <a:endParaRPr lang="zh-TW" altLang="en-US" dirty="0"/>
          </a:p>
        </p:txBody>
      </p:sp>
      <p:cxnSp>
        <p:nvCxnSpPr>
          <p:cNvPr id="5" name="直線接點 4"/>
          <p:cNvCxnSpPr/>
          <p:nvPr/>
        </p:nvCxnSpPr>
        <p:spPr bwMode="auto">
          <a:xfrm flipH="1">
            <a:off x="3581400" y="1143000"/>
            <a:ext cx="2512" cy="4787024"/>
          </a:xfrm>
          <a:prstGeom prst="line">
            <a:avLst/>
          </a:prstGeom>
          <a:ln w="38100">
            <a:prstDash val="sysDot"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內容版面配置區 2"/>
          <p:cNvSpPr>
            <a:spLocks noGrp="1"/>
          </p:cNvSpPr>
          <p:nvPr>
            <p:ph idx="1"/>
          </p:nvPr>
        </p:nvSpPr>
        <p:spPr>
          <a:xfrm>
            <a:off x="3886200" y="1219200"/>
            <a:ext cx="4955163" cy="3886199"/>
          </a:xfrm>
        </p:spPr>
        <p:txBody>
          <a:bodyPr/>
          <a:lstStyle/>
          <a:p>
            <a:r>
              <a:rPr lang="en-US" altLang="zh-TW" sz="2400" dirty="0" smtClean="0">
                <a:cs typeface="Times New Roman" pitchFamily="18" charset="0"/>
              </a:rPr>
              <a:t>Command packet processor </a:t>
            </a:r>
          </a:p>
          <a:p>
            <a:pPr lvl="1"/>
            <a:r>
              <a:rPr lang="en-US" altLang="zh-TW" sz="2000" dirty="0" smtClean="0">
                <a:cs typeface="Times New Roman" pitchFamily="18" charset="0"/>
              </a:rPr>
              <a:t>Fetch command packets from Command Buffer (FIFO)</a:t>
            </a:r>
          </a:p>
          <a:p>
            <a:pPr lvl="1"/>
            <a:r>
              <a:rPr lang="en-US" altLang="zh-TW" sz="2000" dirty="0">
                <a:cs typeface="Times New Roman" pitchFamily="18" charset="0"/>
              </a:rPr>
              <a:t>D</a:t>
            </a:r>
            <a:r>
              <a:rPr lang="en-US" altLang="zh-TW" sz="2000" dirty="0" smtClean="0">
                <a:cs typeface="Times New Roman" pitchFamily="18" charset="0"/>
              </a:rPr>
              <a:t>ecode the command packets to extract AQL packet or custom data</a:t>
            </a:r>
          </a:p>
          <a:p>
            <a:pPr lvl="1"/>
            <a:r>
              <a:rPr lang="en-US" altLang="zh-TW" sz="2000" dirty="0" smtClean="0">
                <a:cs typeface="Times New Roman" pitchFamily="18" charset="0"/>
              </a:rPr>
              <a:t>Copy kernel object (executable code) to shared virtual memory</a:t>
            </a:r>
          </a:p>
          <a:p>
            <a:pPr lvl="1"/>
            <a:r>
              <a:rPr lang="en-US" altLang="zh-TW" sz="2000" dirty="0" smtClean="0">
                <a:cs typeface="Times New Roman" pitchFamily="18" charset="0"/>
              </a:rPr>
              <a:t>Link kernel object to emulator</a:t>
            </a:r>
          </a:p>
          <a:p>
            <a:pPr lvl="1"/>
            <a:r>
              <a:rPr lang="en-US" altLang="zh-TW" sz="2000" dirty="0" smtClean="0">
                <a:cs typeface="Times New Roman" pitchFamily="18" charset="0"/>
              </a:rPr>
              <a:t>Put kernel object to code cache</a:t>
            </a:r>
          </a:p>
          <a:p>
            <a:pPr lvl="1"/>
            <a:r>
              <a:rPr lang="en-US" altLang="zh-TW" sz="2000" dirty="0" smtClean="0">
                <a:cs typeface="Times New Roman" pitchFamily="18" charset="0"/>
              </a:rPr>
              <a:t>Dispatch jobs to HSA kernel agents or other emulation engines</a:t>
            </a:r>
          </a:p>
        </p:txBody>
      </p:sp>
      <p:sp>
        <p:nvSpPr>
          <p:cNvPr id="6" name="投影片編號版面配置區 4"/>
          <p:cNvSpPr>
            <a:spLocks noGrp="1"/>
          </p:cNvSpPr>
          <p:nvPr>
            <p:ph type="sldNum" sz="quarter" idx="10"/>
          </p:nvPr>
        </p:nvSpPr>
        <p:spPr>
          <a:xfrm>
            <a:off x="6831013" y="6524625"/>
            <a:ext cx="2133600" cy="339725"/>
          </a:xfrm>
        </p:spPr>
        <p:txBody>
          <a:bodyPr/>
          <a:lstStyle/>
          <a:p>
            <a:pPr>
              <a:defRPr/>
            </a:pPr>
            <a:fld id="{1A9115C5-2FF4-4A45-B75E-C3C89F0A7A51}" type="slidenum">
              <a:rPr lang="en-US" altLang="zh-TW" smtClean="0">
                <a:solidFill>
                  <a:schemeClr val="bg1"/>
                </a:solidFill>
              </a:rPr>
              <a:pPr>
                <a:defRPr/>
              </a:pPr>
              <a:t>37</a:t>
            </a:fld>
            <a:endParaRPr lang="en-US" altLang="zh-TW" dirty="0">
              <a:solidFill>
                <a:schemeClr val="bg1"/>
              </a:solidFill>
            </a:endParaRPr>
          </a:p>
        </p:txBody>
      </p:sp>
      <p:pic>
        <p:nvPicPr>
          <p:cNvPr id="7" name="圖片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367" y="1340961"/>
            <a:ext cx="3064747" cy="4176076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 bwMode="auto">
          <a:xfrm>
            <a:off x="1955584" y="3877235"/>
            <a:ext cx="814511" cy="228600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7189936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Fast-Time GPU Simulator (1)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693460" y="2971800"/>
            <a:ext cx="5334000" cy="2362200"/>
          </a:xfrm>
        </p:spPr>
        <p:txBody>
          <a:bodyPr/>
          <a:lstStyle/>
          <a:p>
            <a:pPr>
              <a:spcBef>
                <a:spcPts val="0"/>
              </a:spcBef>
            </a:pPr>
            <a:r>
              <a:rPr lang="en-US" altLang="zh-TW" sz="2200" dirty="0" smtClean="0"/>
              <a:t>Simulate a generic GPU model</a:t>
            </a:r>
          </a:p>
          <a:p>
            <a:pPr lvl="1">
              <a:spcBef>
                <a:spcPts val="0"/>
              </a:spcBef>
            </a:pPr>
            <a:r>
              <a:rPr lang="en-US" altLang="zh-TW" sz="1800" dirty="0" smtClean="0"/>
              <a:t>The schedule unite assigns work groups to free CU threads in the GPU Thread Pool</a:t>
            </a:r>
          </a:p>
          <a:p>
            <a:pPr lvl="1">
              <a:spcBef>
                <a:spcPts val="0"/>
              </a:spcBef>
            </a:pPr>
            <a:r>
              <a:rPr lang="en-US" altLang="zh-TW" sz="1800" dirty="0" smtClean="0"/>
              <a:t>Each CU thread executes all work items in a work group </a:t>
            </a:r>
          </a:p>
          <a:p>
            <a:pPr lvl="1">
              <a:spcBef>
                <a:spcPts val="0"/>
              </a:spcBef>
            </a:pPr>
            <a:r>
              <a:rPr lang="en-US" altLang="zh-TW" sz="1800" dirty="0" smtClean="0"/>
              <a:t>The maximum number of CU threads is limited by host operating system   </a:t>
            </a:r>
            <a:endParaRPr lang="en-US" altLang="zh-TW" sz="1800" dirty="0"/>
          </a:p>
        </p:txBody>
      </p:sp>
      <p:cxnSp>
        <p:nvCxnSpPr>
          <p:cNvPr id="5" name="直線接點 4"/>
          <p:cNvCxnSpPr/>
          <p:nvPr/>
        </p:nvCxnSpPr>
        <p:spPr bwMode="auto">
          <a:xfrm flipH="1">
            <a:off x="3581400" y="1143000"/>
            <a:ext cx="2512" cy="4787024"/>
          </a:xfrm>
          <a:prstGeom prst="line">
            <a:avLst/>
          </a:prstGeom>
          <a:ln w="38100">
            <a:prstDash val="sysDot"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投影片編號版面配置區 4"/>
          <p:cNvSpPr>
            <a:spLocks noGrp="1"/>
          </p:cNvSpPr>
          <p:nvPr>
            <p:ph type="sldNum" sz="quarter" idx="10"/>
          </p:nvPr>
        </p:nvSpPr>
        <p:spPr>
          <a:xfrm>
            <a:off x="6831013" y="6524625"/>
            <a:ext cx="2133600" cy="339725"/>
          </a:xfrm>
        </p:spPr>
        <p:txBody>
          <a:bodyPr/>
          <a:lstStyle/>
          <a:p>
            <a:pPr>
              <a:defRPr/>
            </a:pPr>
            <a:fld id="{1A9115C5-2FF4-4A45-B75E-C3C89F0A7A51}" type="slidenum">
              <a:rPr lang="en-US" altLang="zh-TW" smtClean="0">
                <a:solidFill>
                  <a:schemeClr val="bg1"/>
                </a:solidFill>
              </a:rPr>
              <a:pPr>
                <a:defRPr/>
              </a:pPr>
              <a:t>38</a:t>
            </a:fld>
            <a:endParaRPr lang="en-US" altLang="zh-TW" dirty="0">
              <a:solidFill>
                <a:schemeClr val="bg1"/>
              </a:solidFill>
            </a:endParaRPr>
          </a:p>
        </p:txBody>
      </p:sp>
      <p:pic>
        <p:nvPicPr>
          <p:cNvPr id="8" name="圖片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367" y="1340961"/>
            <a:ext cx="3064747" cy="4176076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 bwMode="auto">
          <a:xfrm>
            <a:off x="246530" y="4191000"/>
            <a:ext cx="990600" cy="762000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pic>
        <p:nvPicPr>
          <p:cNvPr id="10" name="圖片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9174" y="1247111"/>
            <a:ext cx="3138821" cy="1648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30510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Fast-Time GPU Simulator (2)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693460" y="2895600"/>
            <a:ext cx="5334000" cy="3048000"/>
          </a:xfrm>
        </p:spPr>
        <p:txBody>
          <a:bodyPr/>
          <a:lstStyle/>
          <a:p>
            <a:r>
              <a:rPr lang="en-US" altLang="zh-TW" sz="2200" dirty="0" smtClean="0">
                <a:cs typeface="Times New Roman" pitchFamily="18" charset="0"/>
              </a:rPr>
              <a:t>Schedule </a:t>
            </a:r>
            <a:r>
              <a:rPr lang="en-US" altLang="zh-TW" sz="2200" dirty="0">
                <a:cs typeface="Times New Roman" pitchFamily="18" charset="0"/>
              </a:rPr>
              <a:t>Unit </a:t>
            </a:r>
          </a:p>
          <a:p>
            <a:pPr lvl="1"/>
            <a:r>
              <a:rPr lang="en-US" altLang="zh-TW" sz="1800" dirty="0">
                <a:cs typeface="Times New Roman" pitchFamily="18" charset="0"/>
              </a:rPr>
              <a:t>Master of compute units</a:t>
            </a:r>
          </a:p>
          <a:p>
            <a:pPr lvl="1"/>
            <a:r>
              <a:rPr lang="en-US" altLang="zh-TW" sz="1800" dirty="0">
                <a:cs typeface="Times New Roman" pitchFamily="18" charset="0"/>
              </a:rPr>
              <a:t>Manages a centralized work pool</a:t>
            </a:r>
          </a:p>
          <a:p>
            <a:pPr lvl="1"/>
            <a:r>
              <a:rPr lang="en-US" altLang="zh-TW" sz="1800" dirty="0">
                <a:cs typeface="Times New Roman" pitchFamily="18" charset="0"/>
              </a:rPr>
              <a:t>Treat a workgroup data as a atomic task(a workgroup as a basic unit)</a:t>
            </a:r>
          </a:p>
          <a:p>
            <a:pPr lvl="1"/>
            <a:r>
              <a:rPr lang="en-US" altLang="zh-TW" sz="1800" dirty="0">
                <a:cs typeface="Times New Roman" pitchFamily="18" charset="0"/>
              </a:rPr>
              <a:t>Use spinlock to keep the synchronization of compute unit threads</a:t>
            </a:r>
          </a:p>
          <a:p>
            <a:pPr lvl="1"/>
            <a:r>
              <a:rPr lang="en-US" altLang="zh-TW" sz="1800" dirty="0">
                <a:cs typeface="Times New Roman" pitchFamily="18" charset="0"/>
              </a:rPr>
              <a:t>Task distribution order is according to workgroup number </a:t>
            </a:r>
            <a:r>
              <a:rPr lang="en-US" altLang="zh-TW" sz="1800" dirty="0" smtClean="0">
                <a:cs typeface="Times New Roman" pitchFamily="18" charset="0"/>
              </a:rPr>
              <a:t>order (increment </a:t>
            </a:r>
            <a:r>
              <a:rPr lang="en-US" altLang="zh-TW" sz="1800" dirty="0">
                <a:cs typeface="Times New Roman" pitchFamily="18" charset="0"/>
              </a:rPr>
              <a:t>order</a:t>
            </a:r>
            <a:r>
              <a:rPr lang="en-US" altLang="zh-TW" sz="1800" dirty="0" smtClean="0">
                <a:cs typeface="Times New Roman" pitchFamily="18" charset="0"/>
              </a:rPr>
              <a:t>)</a:t>
            </a:r>
          </a:p>
        </p:txBody>
      </p:sp>
      <p:cxnSp>
        <p:nvCxnSpPr>
          <p:cNvPr id="5" name="直線接點 4"/>
          <p:cNvCxnSpPr/>
          <p:nvPr/>
        </p:nvCxnSpPr>
        <p:spPr bwMode="auto">
          <a:xfrm flipH="1">
            <a:off x="3581400" y="1143000"/>
            <a:ext cx="2512" cy="4787024"/>
          </a:xfrm>
          <a:prstGeom prst="line">
            <a:avLst/>
          </a:prstGeom>
          <a:ln w="38100">
            <a:prstDash val="sysDot"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投影片編號版面配置區 4"/>
          <p:cNvSpPr>
            <a:spLocks noGrp="1"/>
          </p:cNvSpPr>
          <p:nvPr>
            <p:ph type="sldNum" sz="quarter" idx="10"/>
          </p:nvPr>
        </p:nvSpPr>
        <p:spPr>
          <a:xfrm>
            <a:off x="6831013" y="6524625"/>
            <a:ext cx="2133600" cy="339725"/>
          </a:xfrm>
        </p:spPr>
        <p:txBody>
          <a:bodyPr/>
          <a:lstStyle/>
          <a:p>
            <a:pPr>
              <a:defRPr/>
            </a:pPr>
            <a:fld id="{1A9115C5-2FF4-4A45-B75E-C3C89F0A7A51}" type="slidenum">
              <a:rPr lang="en-US" altLang="zh-TW" smtClean="0">
                <a:solidFill>
                  <a:schemeClr val="bg1"/>
                </a:solidFill>
              </a:rPr>
              <a:pPr>
                <a:defRPr/>
              </a:pPr>
              <a:t>39</a:t>
            </a:fld>
            <a:endParaRPr lang="en-US" altLang="zh-TW" dirty="0">
              <a:solidFill>
                <a:schemeClr val="bg1"/>
              </a:solidFill>
            </a:endParaRPr>
          </a:p>
        </p:txBody>
      </p:sp>
      <p:pic>
        <p:nvPicPr>
          <p:cNvPr id="8" name="圖片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367" y="1340961"/>
            <a:ext cx="3064747" cy="4176076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 bwMode="auto">
          <a:xfrm>
            <a:off x="304800" y="4419600"/>
            <a:ext cx="838200" cy="228600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pic>
        <p:nvPicPr>
          <p:cNvPr id="11" name="圖片 1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3400" y="1143000"/>
            <a:ext cx="4075416" cy="160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30510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Fast-Time GPU Simulator (3)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657600" y="1219200"/>
            <a:ext cx="5334000" cy="2895600"/>
          </a:xfrm>
        </p:spPr>
        <p:txBody>
          <a:bodyPr/>
          <a:lstStyle/>
          <a:p>
            <a:r>
              <a:rPr lang="en-US" altLang="zh-TW" sz="2200" dirty="0" smtClean="0">
                <a:cs typeface="Times New Roman" pitchFamily="18" charset="0"/>
              </a:rPr>
              <a:t>Compute Unit </a:t>
            </a:r>
          </a:p>
          <a:p>
            <a:pPr lvl="1"/>
            <a:r>
              <a:rPr lang="en-US" altLang="zh-TW" sz="1800" dirty="0" smtClean="0">
                <a:cs typeface="Times New Roman" pitchFamily="18" charset="0"/>
              </a:rPr>
              <a:t>Standalone thread</a:t>
            </a:r>
          </a:p>
          <a:p>
            <a:pPr lvl="1"/>
            <a:r>
              <a:rPr lang="en-US" altLang="zh-TW" sz="1800" dirty="0" smtClean="0">
                <a:cs typeface="Times New Roman" pitchFamily="18" charset="0"/>
              </a:rPr>
              <a:t>Has its own MMU (IOMMU) for share virtual memory access</a:t>
            </a:r>
          </a:p>
          <a:p>
            <a:pPr lvl="1"/>
            <a:r>
              <a:rPr lang="en-US" altLang="zh-TW" sz="1800" dirty="0" smtClean="0">
                <a:cs typeface="Times New Roman" pitchFamily="18" charset="0"/>
              </a:rPr>
              <a:t>Send the completion signal to HSA Signal Handler (</a:t>
            </a:r>
            <a:r>
              <a:rPr lang="en-US" altLang="zh-TW" sz="1800" dirty="0" err="1" smtClean="0">
                <a:cs typeface="Times New Roman" pitchFamily="18" charset="0"/>
              </a:rPr>
              <a:t>CompletetionSignal</a:t>
            </a:r>
            <a:r>
              <a:rPr lang="en-US" altLang="zh-TW" sz="1800" dirty="0" smtClean="0">
                <a:cs typeface="Times New Roman" pitchFamily="18" charset="0"/>
              </a:rPr>
              <a:t>) when job is done</a:t>
            </a:r>
          </a:p>
          <a:p>
            <a:pPr lvl="1"/>
            <a:r>
              <a:rPr lang="en-US" altLang="zh-TW" sz="1800" dirty="0" smtClean="0">
                <a:cs typeface="Times New Roman" pitchFamily="18" charset="0"/>
              </a:rPr>
              <a:t>Profile job information (TLB Hits/Misses)</a:t>
            </a:r>
          </a:p>
        </p:txBody>
      </p:sp>
      <p:cxnSp>
        <p:nvCxnSpPr>
          <p:cNvPr id="5" name="直線接點 4"/>
          <p:cNvCxnSpPr/>
          <p:nvPr/>
        </p:nvCxnSpPr>
        <p:spPr bwMode="auto">
          <a:xfrm flipH="1">
            <a:off x="3581400" y="1143000"/>
            <a:ext cx="2512" cy="4787024"/>
          </a:xfrm>
          <a:prstGeom prst="line">
            <a:avLst/>
          </a:prstGeom>
          <a:ln w="38100">
            <a:prstDash val="sysDot"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投影片編號版面配置區 4"/>
          <p:cNvSpPr>
            <a:spLocks noGrp="1"/>
          </p:cNvSpPr>
          <p:nvPr>
            <p:ph type="sldNum" sz="quarter" idx="10"/>
          </p:nvPr>
        </p:nvSpPr>
        <p:spPr>
          <a:xfrm>
            <a:off x="6831013" y="6524625"/>
            <a:ext cx="2133600" cy="339725"/>
          </a:xfrm>
        </p:spPr>
        <p:txBody>
          <a:bodyPr/>
          <a:lstStyle/>
          <a:p>
            <a:pPr>
              <a:defRPr/>
            </a:pPr>
            <a:fld id="{1A9115C5-2FF4-4A45-B75E-C3C89F0A7A51}" type="slidenum">
              <a:rPr lang="en-US" altLang="zh-TW" smtClean="0">
                <a:solidFill>
                  <a:schemeClr val="bg1"/>
                </a:solidFill>
              </a:rPr>
              <a:pPr>
                <a:defRPr/>
              </a:pPr>
              <a:t>40</a:t>
            </a:fld>
            <a:endParaRPr lang="en-US" altLang="zh-TW" dirty="0">
              <a:solidFill>
                <a:schemeClr val="bg1"/>
              </a:solidFill>
            </a:endParaRPr>
          </a:p>
        </p:txBody>
      </p:sp>
      <p:pic>
        <p:nvPicPr>
          <p:cNvPr id="8" name="圖片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367" y="1340961"/>
            <a:ext cx="3064747" cy="4176076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 bwMode="auto">
          <a:xfrm>
            <a:off x="322730" y="4715435"/>
            <a:ext cx="838200" cy="152400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8624049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M2S-GPU Simulator (1)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733800" y="1219200"/>
            <a:ext cx="5181600" cy="2667000"/>
          </a:xfrm>
        </p:spPr>
        <p:txBody>
          <a:bodyPr/>
          <a:lstStyle/>
          <a:p>
            <a:r>
              <a:rPr lang="en-US" altLang="zh-TW" sz="2400" dirty="0"/>
              <a:t>A cycle-accurate simulator for AMD Southern Islands GPU model simulation</a:t>
            </a:r>
          </a:p>
          <a:p>
            <a:pPr lvl="1"/>
            <a:r>
              <a:rPr lang="en-US" altLang="zh-TW" sz="2000" dirty="0" smtClean="0"/>
              <a:t>M2S </a:t>
            </a:r>
            <a:r>
              <a:rPr lang="en-US" altLang="zh-TW" sz="2000" dirty="0"/>
              <a:t>Bridge</a:t>
            </a:r>
          </a:p>
          <a:p>
            <a:pPr lvl="2"/>
            <a:r>
              <a:rPr lang="en-US" altLang="zh-TW" sz="1800" dirty="0"/>
              <a:t>Bridge Multi2Sim GPU Model to </a:t>
            </a:r>
            <a:r>
              <a:rPr lang="en-US" altLang="zh-TW" sz="1800" dirty="0" err="1"/>
              <a:t>HSAemu</a:t>
            </a:r>
            <a:endParaRPr lang="en-US" altLang="zh-TW" sz="1800" dirty="0"/>
          </a:p>
          <a:p>
            <a:pPr lvl="1"/>
            <a:r>
              <a:rPr lang="en-US" altLang="zh-TW" sz="2000" dirty="0"/>
              <a:t>M2S GPU Module</a:t>
            </a:r>
          </a:p>
          <a:p>
            <a:pPr lvl="2"/>
            <a:r>
              <a:rPr lang="en-US" altLang="zh-TW" sz="1800" dirty="0"/>
              <a:t>Simulate a cycle-accurate GPU model</a:t>
            </a:r>
          </a:p>
        </p:txBody>
      </p:sp>
      <p:cxnSp>
        <p:nvCxnSpPr>
          <p:cNvPr id="5" name="直線接點 4"/>
          <p:cNvCxnSpPr/>
          <p:nvPr/>
        </p:nvCxnSpPr>
        <p:spPr bwMode="auto">
          <a:xfrm flipH="1">
            <a:off x="3581400" y="1143000"/>
            <a:ext cx="2512" cy="4787024"/>
          </a:xfrm>
          <a:prstGeom prst="line">
            <a:avLst/>
          </a:prstGeom>
          <a:ln w="38100">
            <a:prstDash val="sysDot"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投影片編號版面配置區 4"/>
          <p:cNvSpPr>
            <a:spLocks noGrp="1"/>
          </p:cNvSpPr>
          <p:nvPr>
            <p:ph type="sldNum" sz="quarter" idx="10"/>
          </p:nvPr>
        </p:nvSpPr>
        <p:spPr>
          <a:xfrm>
            <a:off x="6831013" y="6524625"/>
            <a:ext cx="2133600" cy="339725"/>
          </a:xfrm>
        </p:spPr>
        <p:txBody>
          <a:bodyPr/>
          <a:lstStyle/>
          <a:p>
            <a:pPr>
              <a:defRPr/>
            </a:pPr>
            <a:fld id="{1A9115C5-2FF4-4A45-B75E-C3C89F0A7A51}" type="slidenum">
              <a:rPr lang="en-US" altLang="zh-TW" smtClean="0">
                <a:solidFill>
                  <a:schemeClr val="bg1"/>
                </a:solidFill>
              </a:rPr>
              <a:pPr>
                <a:defRPr/>
              </a:pPr>
              <a:t>41</a:t>
            </a:fld>
            <a:endParaRPr lang="en-US" altLang="zh-TW" dirty="0">
              <a:solidFill>
                <a:schemeClr val="bg1"/>
              </a:solidFill>
            </a:endParaRPr>
          </a:p>
        </p:txBody>
      </p:sp>
      <p:pic>
        <p:nvPicPr>
          <p:cNvPr id="7" name="圖片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367" y="1340961"/>
            <a:ext cx="3064747" cy="4176076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 bwMode="auto">
          <a:xfrm>
            <a:off x="1295400" y="4191000"/>
            <a:ext cx="1066800" cy="762000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5252581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M2S-GPU Simulator (2)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810000" y="1219200"/>
            <a:ext cx="4955163" cy="4710824"/>
          </a:xfrm>
        </p:spPr>
        <p:txBody>
          <a:bodyPr/>
          <a:lstStyle/>
          <a:p>
            <a:r>
              <a:rPr lang="en-US" altLang="zh-TW" sz="2400" dirty="0"/>
              <a:t>M2S Bridge : An interface to launch M2S GPU Module</a:t>
            </a:r>
          </a:p>
          <a:p>
            <a:pPr lvl="1"/>
            <a:r>
              <a:rPr lang="en-US" altLang="zh-TW" sz="2000" dirty="0"/>
              <a:t>Initialize the data structures used by AMD Southern Islands GPU, including a memory register for AMD Southern Islands GPU to access the shared system memory in </a:t>
            </a:r>
            <a:r>
              <a:rPr lang="en-US" altLang="zh-TW" sz="2000" dirty="0" err="1"/>
              <a:t>HSAemu</a:t>
            </a:r>
            <a:endParaRPr lang="en-US" altLang="zh-TW" sz="2000" dirty="0"/>
          </a:p>
          <a:p>
            <a:pPr lvl="1"/>
            <a:r>
              <a:rPr lang="en-US" altLang="zh-TW" sz="2000" dirty="0"/>
              <a:t>Invoke M2S GPU Module (the AMD Southern Islands GPU module in Multi2Sim)  </a:t>
            </a:r>
          </a:p>
        </p:txBody>
      </p:sp>
      <p:cxnSp>
        <p:nvCxnSpPr>
          <p:cNvPr id="5" name="直線接點 4"/>
          <p:cNvCxnSpPr/>
          <p:nvPr/>
        </p:nvCxnSpPr>
        <p:spPr bwMode="auto">
          <a:xfrm flipH="1">
            <a:off x="3581400" y="1143000"/>
            <a:ext cx="2512" cy="4787024"/>
          </a:xfrm>
          <a:prstGeom prst="line">
            <a:avLst/>
          </a:prstGeom>
          <a:ln w="38100">
            <a:prstDash val="sysDot"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投影片編號版面配置區 4"/>
          <p:cNvSpPr>
            <a:spLocks noGrp="1"/>
          </p:cNvSpPr>
          <p:nvPr>
            <p:ph type="sldNum" sz="quarter" idx="10"/>
          </p:nvPr>
        </p:nvSpPr>
        <p:spPr>
          <a:xfrm>
            <a:off x="6831013" y="6524625"/>
            <a:ext cx="2133600" cy="339725"/>
          </a:xfrm>
        </p:spPr>
        <p:txBody>
          <a:bodyPr/>
          <a:lstStyle/>
          <a:p>
            <a:pPr>
              <a:defRPr/>
            </a:pPr>
            <a:fld id="{1A9115C5-2FF4-4A45-B75E-C3C89F0A7A51}" type="slidenum">
              <a:rPr lang="en-US" altLang="zh-TW" smtClean="0">
                <a:solidFill>
                  <a:schemeClr val="bg1"/>
                </a:solidFill>
              </a:rPr>
              <a:pPr>
                <a:defRPr/>
              </a:pPr>
              <a:t>42</a:t>
            </a:fld>
            <a:endParaRPr lang="en-US" altLang="zh-TW" dirty="0">
              <a:solidFill>
                <a:schemeClr val="bg1"/>
              </a:solidFill>
            </a:endParaRPr>
          </a:p>
        </p:txBody>
      </p:sp>
      <p:pic>
        <p:nvPicPr>
          <p:cNvPr id="7" name="圖片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367" y="1340961"/>
            <a:ext cx="3064747" cy="4176076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 bwMode="auto">
          <a:xfrm>
            <a:off x="1447800" y="4419600"/>
            <a:ext cx="762000" cy="228600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7687664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M2S-GPU Simulator (3)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810000" y="1219200"/>
            <a:ext cx="4955163" cy="4710824"/>
          </a:xfrm>
        </p:spPr>
        <p:txBody>
          <a:bodyPr/>
          <a:lstStyle/>
          <a:p>
            <a:r>
              <a:rPr lang="en-US" altLang="zh-TW" sz="2400" dirty="0"/>
              <a:t>M2S GPU Module</a:t>
            </a:r>
          </a:p>
          <a:p>
            <a:pPr lvl="1"/>
            <a:r>
              <a:rPr lang="en-US" altLang="zh-TW" sz="2000" dirty="0"/>
              <a:t>A cycle-accurate AMD Southern Islands GPU simulator in Multi2Sim</a:t>
            </a:r>
          </a:p>
          <a:p>
            <a:endParaRPr lang="en-US" altLang="zh-TW" dirty="0"/>
          </a:p>
          <a:p>
            <a:r>
              <a:rPr lang="en-US" altLang="zh-TW" sz="2400" dirty="0"/>
              <a:t>Memory access is performed by </a:t>
            </a:r>
            <a:r>
              <a:rPr lang="en-US" altLang="zh-TW" sz="2400" dirty="0" err="1"/>
              <a:t>HSAemu</a:t>
            </a:r>
            <a:r>
              <a:rPr lang="en-US" altLang="zh-TW" sz="2400" dirty="0"/>
              <a:t> memory helper function to comply the </a:t>
            </a:r>
            <a:r>
              <a:rPr lang="en-US" altLang="zh-TW" sz="2400" dirty="0" err="1"/>
              <a:t>hUMA</a:t>
            </a:r>
            <a:r>
              <a:rPr lang="en-US" altLang="zh-TW" sz="2400" dirty="0"/>
              <a:t> model</a:t>
            </a:r>
          </a:p>
        </p:txBody>
      </p:sp>
      <p:cxnSp>
        <p:nvCxnSpPr>
          <p:cNvPr id="5" name="直線接點 4"/>
          <p:cNvCxnSpPr/>
          <p:nvPr/>
        </p:nvCxnSpPr>
        <p:spPr bwMode="auto">
          <a:xfrm flipH="1">
            <a:off x="3581400" y="1143000"/>
            <a:ext cx="2512" cy="4787024"/>
          </a:xfrm>
          <a:prstGeom prst="line">
            <a:avLst/>
          </a:prstGeom>
          <a:ln w="38100">
            <a:prstDash val="sysDot"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投影片編號版面配置區 4"/>
          <p:cNvSpPr>
            <a:spLocks noGrp="1"/>
          </p:cNvSpPr>
          <p:nvPr>
            <p:ph type="sldNum" sz="quarter" idx="10"/>
          </p:nvPr>
        </p:nvSpPr>
        <p:spPr>
          <a:xfrm>
            <a:off x="6831013" y="6524625"/>
            <a:ext cx="2133600" cy="339725"/>
          </a:xfrm>
        </p:spPr>
        <p:txBody>
          <a:bodyPr/>
          <a:lstStyle/>
          <a:p>
            <a:pPr>
              <a:defRPr/>
            </a:pPr>
            <a:fld id="{1A9115C5-2FF4-4A45-B75E-C3C89F0A7A51}" type="slidenum">
              <a:rPr lang="en-US" altLang="zh-TW" smtClean="0">
                <a:solidFill>
                  <a:schemeClr val="bg1"/>
                </a:solidFill>
              </a:rPr>
              <a:pPr>
                <a:defRPr/>
              </a:pPr>
              <a:t>43</a:t>
            </a:fld>
            <a:endParaRPr lang="en-US" altLang="zh-TW" dirty="0">
              <a:solidFill>
                <a:schemeClr val="bg1"/>
              </a:solidFill>
            </a:endParaRPr>
          </a:p>
        </p:txBody>
      </p:sp>
      <p:pic>
        <p:nvPicPr>
          <p:cNvPr id="7" name="圖片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367" y="1340961"/>
            <a:ext cx="3064747" cy="4176076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 bwMode="auto">
          <a:xfrm>
            <a:off x="1447800" y="4706470"/>
            <a:ext cx="762000" cy="152400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52165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GPU Helper Functions (1)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810000" y="1219200"/>
            <a:ext cx="4955163" cy="4710824"/>
          </a:xfrm>
        </p:spPr>
        <p:txBody>
          <a:bodyPr/>
          <a:lstStyle/>
          <a:p>
            <a:r>
              <a:rPr lang="en-US" altLang="zh-TW" sz="2400" dirty="0"/>
              <a:t>Memory Helper Function</a:t>
            </a:r>
            <a:endParaRPr lang="zh-TW" altLang="en-US" sz="2400" dirty="0"/>
          </a:p>
          <a:p>
            <a:pPr lvl="1"/>
            <a:r>
              <a:rPr lang="en-US" altLang="zh-TW" sz="2000" dirty="0"/>
              <a:t>A soft-</a:t>
            </a:r>
            <a:r>
              <a:rPr lang="en-US" altLang="zh-TW" sz="2000" dirty="0" err="1"/>
              <a:t>mmu</a:t>
            </a:r>
            <a:r>
              <a:rPr lang="en-US" altLang="zh-TW" sz="2000" dirty="0"/>
              <a:t> of GPU with a page table worker and a TLB to enable </a:t>
            </a:r>
            <a:r>
              <a:rPr lang="en-US" altLang="zh-TW" sz="2000" dirty="0" err="1"/>
              <a:t>hUMA</a:t>
            </a:r>
            <a:r>
              <a:rPr lang="en-US" altLang="zh-TW" sz="2000" dirty="0"/>
              <a:t> model</a:t>
            </a:r>
          </a:p>
          <a:p>
            <a:pPr lvl="1"/>
            <a:r>
              <a:rPr lang="en-US" altLang="zh-TW" sz="2000" dirty="0"/>
              <a:t>Support the redirect access of a local segment memory to a non-shared private memory in GPU </a:t>
            </a:r>
          </a:p>
          <a:p>
            <a:r>
              <a:rPr lang="en-US" altLang="zh-TW" sz="2400" dirty="0"/>
              <a:t>Kernel Information Helper Function</a:t>
            </a:r>
            <a:endParaRPr lang="zh-TW" altLang="en-US" sz="2400" dirty="0"/>
          </a:p>
          <a:p>
            <a:pPr lvl="1"/>
            <a:r>
              <a:rPr lang="en-US" altLang="zh-TW" sz="2000" dirty="0"/>
              <a:t>Collect and return information of GPU simulation and current execution state </a:t>
            </a:r>
            <a:endParaRPr lang="en-US" altLang="zh-TW" dirty="0"/>
          </a:p>
          <a:p>
            <a:pPr lvl="1"/>
            <a:r>
              <a:rPr lang="en-US" altLang="zh-TW" sz="2000" dirty="0"/>
              <a:t>Retrieve kernel information such as working item ID, work group size, etc, from AQL packet</a:t>
            </a:r>
          </a:p>
        </p:txBody>
      </p:sp>
      <p:cxnSp>
        <p:nvCxnSpPr>
          <p:cNvPr id="5" name="直線接點 4"/>
          <p:cNvCxnSpPr/>
          <p:nvPr/>
        </p:nvCxnSpPr>
        <p:spPr bwMode="auto">
          <a:xfrm flipH="1">
            <a:off x="3581400" y="1143000"/>
            <a:ext cx="2512" cy="4787024"/>
          </a:xfrm>
          <a:prstGeom prst="line">
            <a:avLst/>
          </a:prstGeom>
          <a:ln w="38100">
            <a:prstDash val="sysDot"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投影片編號版面配置區 4"/>
          <p:cNvSpPr>
            <a:spLocks noGrp="1"/>
          </p:cNvSpPr>
          <p:nvPr>
            <p:ph type="sldNum" sz="quarter" idx="10"/>
          </p:nvPr>
        </p:nvSpPr>
        <p:spPr>
          <a:xfrm>
            <a:off x="6831013" y="6524625"/>
            <a:ext cx="2133600" cy="339725"/>
          </a:xfrm>
        </p:spPr>
        <p:txBody>
          <a:bodyPr/>
          <a:lstStyle/>
          <a:p>
            <a:pPr>
              <a:defRPr/>
            </a:pPr>
            <a:fld id="{1A9115C5-2FF4-4A45-B75E-C3C89F0A7A51}" type="slidenum">
              <a:rPr lang="en-US" altLang="zh-TW" smtClean="0">
                <a:solidFill>
                  <a:schemeClr val="bg1"/>
                </a:solidFill>
              </a:rPr>
              <a:pPr>
                <a:defRPr/>
              </a:pPr>
              <a:t>44</a:t>
            </a:fld>
            <a:endParaRPr lang="en-US" altLang="zh-TW" dirty="0">
              <a:solidFill>
                <a:schemeClr val="bg1"/>
              </a:solidFill>
            </a:endParaRPr>
          </a:p>
        </p:txBody>
      </p:sp>
      <p:pic>
        <p:nvPicPr>
          <p:cNvPr id="7" name="圖片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367" y="1340961"/>
            <a:ext cx="3064747" cy="4176076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 bwMode="auto">
          <a:xfrm>
            <a:off x="241740" y="5007528"/>
            <a:ext cx="3082237" cy="487837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7158338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868" y="1412422"/>
            <a:ext cx="3101662" cy="4226378"/>
          </a:xfrm>
          <a:prstGeom prst="rect">
            <a:avLst/>
          </a:prstGeom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GPU Helper Functions (2)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810000" y="1219200"/>
            <a:ext cx="4955163" cy="4710824"/>
          </a:xfrm>
        </p:spPr>
        <p:txBody>
          <a:bodyPr/>
          <a:lstStyle/>
          <a:p>
            <a:r>
              <a:rPr lang="en-US" altLang="zh-TW" sz="2400"/>
              <a:t>Mathematic Helper Function</a:t>
            </a:r>
          </a:p>
          <a:p>
            <a:pPr lvl="1"/>
            <a:r>
              <a:rPr lang="en-US" altLang="zh-TW" sz="2000"/>
              <a:t>Simulate special mathematical instructions such as trigonometric instructions by calling the corresponding mathematical functions in standard library </a:t>
            </a:r>
          </a:p>
          <a:p>
            <a:r>
              <a:rPr lang="en-US" altLang="zh-TW" sz="2400"/>
              <a:t>Synchronization Helper Function</a:t>
            </a:r>
          </a:p>
          <a:p>
            <a:pPr lvl="1"/>
            <a:r>
              <a:rPr lang="en-US" altLang="zh-TW" sz="2000"/>
              <a:t>Barrier synchronization implementation for generic GPU model simulation </a:t>
            </a:r>
            <a:endParaRPr lang="en-US" altLang="zh-TW" sz="2000" dirty="0"/>
          </a:p>
        </p:txBody>
      </p:sp>
      <p:cxnSp>
        <p:nvCxnSpPr>
          <p:cNvPr id="5" name="直線接點 4"/>
          <p:cNvCxnSpPr/>
          <p:nvPr/>
        </p:nvCxnSpPr>
        <p:spPr bwMode="auto">
          <a:xfrm flipH="1">
            <a:off x="3581400" y="1143000"/>
            <a:ext cx="2512" cy="4787024"/>
          </a:xfrm>
          <a:prstGeom prst="line">
            <a:avLst/>
          </a:prstGeom>
          <a:ln w="38100">
            <a:prstDash val="sysDot"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投影片編號版面配置區 4"/>
          <p:cNvSpPr>
            <a:spLocks noGrp="1"/>
          </p:cNvSpPr>
          <p:nvPr>
            <p:ph type="sldNum" sz="quarter" idx="10"/>
          </p:nvPr>
        </p:nvSpPr>
        <p:spPr>
          <a:xfrm>
            <a:off x="6831013" y="6524625"/>
            <a:ext cx="2133600" cy="339725"/>
          </a:xfrm>
        </p:spPr>
        <p:txBody>
          <a:bodyPr/>
          <a:lstStyle/>
          <a:p>
            <a:pPr>
              <a:defRPr/>
            </a:pPr>
            <a:fld id="{1A9115C5-2FF4-4A45-B75E-C3C89F0A7A51}" type="slidenum">
              <a:rPr lang="en-US" altLang="zh-TW" smtClean="0">
                <a:solidFill>
                  <a:schemeClr val="bg1"/>
                </a:solidFill>
              </a:rPr>
              <a:pPr>
                <a:defRPr/>
              </a:pPr>
              <a:t>45</a:t>
            </a:fld>
            <a:endParaRPr lang="en-US" altLang="zh-TW" dirty="0">
              <a:solidFill>
                <a:schemeClr val="bg1"/>
              </a:solidFill>
            </a:endParaRPr>
          </a:p>
        </p:txBody>
      </p:sp>
      <p:sp>
        <p:nvSpPr>
          <p:cNvPr id="7" name="矩形 6"/>
          <p:cNvSpPr/>
          <p:nvPr/>
        </p:nvSpPr>
        <p:spPr bwMode="auto">
          <a:xfrm>
            <a:off x="241740" y="5154705"/>
            <a:ext cx="3082237" cy="487837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083823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23528" y="152718"/>
            <a:ext cx="6912768" cy="756002"/>
          </a:xfrm>
        </p:spPr>
        <p:txBody>
          <a:bodyPr>
            <a:normAutofit/>
          </a:bodyPr>
          <a:lstStyle/>
          <a:p>
            <a:r>
              <a:rPr lang="en-US" altLang="zh-TW" smtClean="0"/>
              <a:t>Performance </a:t>
            </a:r>
            <a:r>
              <a:rPr lang="en-US" altLang="zh-TW" dirty="0" smtClean="0"/>
              <a:t>Evaluation</a:t>
            </a:r>
            <a:endParaRPr lang="zh-TW" altLang="en-US" dirty="0"/>
          </a:p>
        </p:txBody>
      </p:sp>
      <p:pic>
        <p:nvPicPr>
          <p:cNvPr id="6" name="Picture 3" descr="\\vmware-host\Shared Folders\Desktop\MTK\Environment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1822735"/>
            <a:ext cx="7323395" cy="28304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內容版面配置區 2"/>
          <p:cNvSpPr>
            <a:spLocks noGrp="1"/>
          </p:cNvSpPr>
          <p:nvPr>
            <p:ph idx="1"/>
          </p:nvPr>
        </p:nvSpPr>
        <p:spPr>
          <a:xfrm>
            <a:off x="251520" y="1124744"/>
            <a:ext cx="7704856" cy="4971256"/>
          </a:xfrm>
        </p:spPr>
        <p:txBody>
          <a:bodyPr/>
          <a:lstStyle/>
          <a:p>
            <a:r>
              <a:rPr lang="en-US" altLang="zh-TW" dirty="0" smtClean="0"/>
              <a:t>Experimental Environment</a:t>
            </a:r>
          </a:p>
          <a:p>
            <a:endParaRPr lang="en-US" altLang="zh-TW" dirty="0" smtClean="0"/>
          </a:p>
          <a:p>
            <a:endParaRPr lang="en-US" altLang="zh-TW" dirty="0" smtClean="0"/>
          </a:p>
          <a:p>
            <a:endParaRPr lang="en-US" altLang="zh-TW" dirty="0" smtClean="0"/>
          </a:p>
          <a:p>
            <a:endParaRPr lang="en-US" altLang="zh-TW" dirty="0" smtClean="0"/>
          </a:p>
          <a:p>
            <a:endParaRPr lang="en-US" altLang="zh-TW" dirty="0" smtClean="0"/>
          </a:p>
          <a:p>
            <a:pPr>
              <a:buNone/>
            </a:pPr>
            <a:endParaRPr lang="en-US" altLang="zh-TW" dirty="0" smtClean="0"/>
          </a:p>
          <a:p>
            <a:r>
              <a:rPr lang="en-US" altLang="zh-TW" dirty="0" smtClean="0"/>
              <a:t>Benchmarks: </a:t>
            </a:r>
          </a:p>
          <a:p>
            <a:pPr lvl="1"/>
            <a:r>
              <a:rPr lang="en-US" altLang="zh-TW" dirty="0" smtClean="0"/>
              <a:t>Nearest </a:t>
            </a:r>
            <a:r>
              <a:rPr lang="en-US" altLang="zh-TW" dirty="0" err="1" smtClean="0"/>
              <a:t>Neightbor</a:t>
            </a:r>
            <a:r>
              <a:rPr lang="en-US" altLang="zh-TW" dirty="0" smtClean="0"/>
              <a:t> (NN), K-Means, FFT, FWT, </a:t>
            </a:r>
            <a:r>
              <a:rPr lang="en-US" altLang="zh-TW" i="1" dirty="0" smtClean="0"/>
              <a:t>N</a:t>
            </a:r>
            <a:r>
              <a:rPr lang="en-US" altLang="zh-TW" dirty="0" smtClean="0"/>
              <a:t>-Body</a:t>
            </a:r>
          </a:p>
          <a:p>
            <a:pPr lvl="1"/>
            <a:r>
              <a:rPr lang="en-US" altLang="zh-TW" dirty="0" smtClean="0"/>
              <a:t>Binary Search, </a:t>
            </a:r>
            <a:r>
              <a:rPr lang="en-US" altLang="zh-TW" dirty="0" err="1" smtClean="0"/>
              <a:t>Bitonic</a:t>
            </a:r>
            <a:r>
              <a:rPr lang="en-US" altLang="zh-TW" dirty="0" smtClean="0"/>
              <a:t> Sort, Reduction, FWT</a:t>
            </a:r>
            <a:endParaRPr lang="en-US" altLang="zh-TW" dirty="0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A9115C5-2FF4-4A45-B75E-C3C89F0A7A51}" type="slidenum">
              <a:rPr lang="en-US" altLang="zh-TW" smtClean="0">
                <a:solidFill>
                  <a:schemeClr val="bg1"/>
                </a:solidFill>
              </a:rPr>
              <a:pPr>
                <a:defRPr/>
              </a:pPr>
              <a:t>46</a:t>
            </a:fld>
            <a:endParaRPr lang="en-US" altLang="zh-TW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963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標題 1"/>
          <p:cNvSpPr>
            <a:spLocks noGrp="1"/>
          </p:cNvSpPr>
          <p:nvPr>
            <p:ph type="title"/>
          </p:nvPr>
        </p:nvSpPr>
        <p:spPr>
          <a:xfrm>
            <a:off x="323528" y="152718"/>
            <a:ext cx="6912768" cy="756002"/>
          </a:xfrm>
        </p:spPr>
        <p:txBody>
          <a:bodyPr>
            <a:normAutofit fontScale="90000"/>
          </a:bodyPr>
          <a:lstStyle/>
          <a:p>
            <a:r>
              <a:rPr lang="en-US" altLang="zh-TW" dirty="0" smtClean="0"/>
              <a:t>Scalability of Fast-Time GPU Simulator</a:t>
            </a:r>
            <a:endParaRPr lang="zh-TW" altLang="en-US" dirty="0"/>
          </a:p>
        </p:txBody>
      </p:sp>
      <p:sp>
        <p:nvSpPr>
          <p:cNvPr id="10" name="內容版面配置區 2"/>
          <p:cNvSpPr>
            <a:spLocks noGrp="1"/>
          </p:cNvSpPr>
          <p:nvPr>
            <p:ph idx="1"/>
          </p:nvPr>
        </p:nvSpPr>
        <p:spPr>
          <a:xfrm>
            <a:off x="457200" y="1125538"/>
            <a:ext cx="8229600" cy="1727398"/>
          </a:xfrm>
        </p:spPr>
        <p:txBody>
          <a:bodyPr/>
          <a:lstStyle/>
          <a:p>
            <a:r>
              <a:rPr lang="en-US" altLang="zh-TW" sz="2400" dirty="0" smtClean="0"/>
              <a:t>Comparison of NN, K-means and </a:t>
            </a:r>
            <a:r>
              <a:rPr lang="en-US" altLang="zh-TW" sz="2400" dirty="0"/>
              <a:t>FWT </a:t>
            </a:r>
            <a:r>
              <a:rPr lang="en-US" altLang="zh-TW" sz="2400" dirty="0" smtClean="0"/>
              <a:t>benchmarks on </a:t>
            </a:r>
            <a:r>
              <a:rPr lang="en-US" altLang="zh-TW" sz="2400" dirty="0"/>
              <a:t>32 physical </a:t>
            </a:r>
            <a:r>
              <a:rPr lang="en-US" altLang="zh-TW" sz="2400" dirty="0" smtClean="0"/>
              <a:t>cores</a:t>
            </a:r>
          </a:p>
          <a:p>
            <a:r>
              <a:rPr lang="en-US" altLang="zh-TW" sz="2400" dirty="0" smtClean="0"/>
              <a:t>The speedup is scalable when # of CU threads &lt; # of host physical cores</a:t>
            </a:r>
          </a:p>
          <a:p>
            <a:endParaRPr lang="en-US" altLang="zh-TW" dirty="0"/>
          </a:p>
        </p:txBody>
      </p:sp>
      <p:pic>
        <p:nvPicPr>
          <p:cNvPr id="7065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051720" y="2924944"/>
            <a:ext cx="5324307" cy="2992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橢圓 1"/>
          <p:cNvSpPr/>
          <p:nvPr/>
        </p:nvSpPr>
        <p:spPr bwMode="auto">
          <a:xfrm>
            <a:off x="3707904" y="4221088"/>
            <a:ext cx="360040" cy="1728192"/>
          </a:xfrm>
          <a:prstGeom prst="ellipse">
            <a:avLst/>
          </a:prstGeom>
          <a:noFill/>
          <a:ln w="158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A9115C5-2FF4-4A45-B75E-C3C89F0A7A51}" type="slidenum">
              <a:rPr lang="en-US" altLang="zh-TW" smtClean="0">
                <a:solidFill>
                  <a:schemeClr val="bg1"/>
                </a:solidFill>
              </a:rPr>
              <a:pPr>
                <a:defRPr/>
              </a:pPr>
              <a:t>47</a:t>
            </a:fld>
            <a:endParaRPr lang="en-US" altLang="zh-TW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08714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標題 1"/>
          <p:cNvSpPr>
            <a:spLocks noGrp="1"/>
          </p:cNvSpPr>
          <p:nvPr>
            <p:ph type="title"/>
          </p:nvPr>
        </p:nvSpPr>
        <p:spPr>
          <a:xfrm>
            <a:off x="251520" y="152718"/>
            <a:ext cx="7344816" cy="756002"/>
          </a:xfrm>
        </p:spPr>
        <p:txBody>
          <a:bodyPr>
            <a:normAutofit/>
          </a:bodyPr>
          <a:lstStyle/>
          <a:p>
            <a:r>
              <a:rPr lang="en-US" altLang="zh-TW" sz="2800" dirty="0" smtClean="0"/>
              <a:t>SSE Optimization of Fast-Time GPU Simulator</a:t>
            </a:r>
            <a:endParaRPr lang="zh-TW" altLang="en-US" sz="2800" dirty="0"/>
          </a:p>
        </p:txBody>
      </p:sp>
      <p:sp>
        <p:nvSpPr>
          <p:cNvPr id="10" name="內容版面配置區 2"/>
          <p:cNvSpPr>
            <a:spLocks noGrp="1"/>
          </p:cNvSpPr>
          <p:nvPr>
            <p:ph idx="1"/>
          </p:nvPr>
        </p:nvSpPr>
        <p:spPr>
          <a:xfrm>
            <a:off x="457200" y="1125538"/>
            <a:ext cx="8229600" cy="935310"/>
          </a:xfrm>
        </p:spPr>
        <p:txBody>
          <a:bodyPr/>
          <a:lstStyle/>
          <a:p>
            <a:r>
              <a:rPr lang="en-US" altLang="zh-TW" dirty="0" smtClean="0"/>
              <a:t>Performance comparison of FFT when turn on/off SSE optimization</a:t>
            </a:r>
            <a:endParaRPr lang="en-US" altLang="zh-TW" dirty="0"/>
          </a:p>
        </p:txBody>
      </p:sp>
      <p:pic>
        <p:nvPicPr>
          <p:cNvPr id="9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92096" y="2492896"/>
            <a:ext cx="5738448" cy="33544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投影片編號版面配置區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A9115C5-2FF4-4A45-B75E-C3C89F0A7A51}" type="slidenum">
              <a:rPr lang="en-US" altLang="zh-TW" smtClean="0">
                <a:solidFill>
                  <a:schemeClr val="bg1"/>
                </a:solidFill>
              </a:rPr>
              <a:pPr>
                <a:defRPr/>
              </a:pPr>
              <a:t>48</a:t>
            </a:fld>
            <a:endParaRPr lang="en-US" altLang="zh-TW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08714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3" descr="\\vmware-host\Shared Folders\Desktop\MTK\N-Body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1988840"/>
            <a:ext cx="5156981" cy="38836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標題 1"/>
          <p:cNvSpPr>
            <a:spLocks noGrp="1"/>
          </p:cNvSpPr>
          <p:nvPr>
            <p:ph type="title"/>
          </p:nvPr>
        </p:nvSpPr>
        <p:spPr>
          <a:xfrm>
            <a:off x="251520" y="152718"/>
            <a:ext cx="7349007" cy="756002"/>
          </a:xfrm>
        </p:spPr>
        <p:txBody>
          <a:bodyPr>
            <a:noAutofit/>
          </a:bodyPr>
          <a:lstStyle/>
          <a:p>
            <a:r>
              <a:rPr lang="en-US" altLang="zh-TW" sz="2800" i="1" dirty="0" smtClean="0"/>
              <a:t>N</a:t>
            </a:r>
            <a:r>
              <a:rPr lang="en-US" altLang="zh-TW" sz="2800" dirty="0" smtClean="0"/>
              <a:t>-Body Simulation by Fast-Time GPU Simulator</a:t>
            </a:r>
            <a:endParaRPr lang="zh-TW" altLang="en-US" sz="2800" dirty="0"/>
          </a:p>
        </p:txBody>
      </p:sp>
      <p:sp>
        <p:nvSpPr>
          <p:cNvPr id="10" name="內容版面配置區 2"/>
          <p:cNvSpPr>
            <a:spLocks noGrp="1"/>
          </p:cNvSpPr>
          <p:nvPr>
            <p:ph idx="1"/>
          </p:nvPr>
        </p:nvSpPr>
        <p:spPr>
          <a:xfrm>
            <a:off x="457200" y="1125538"/>
            <a:ext cx="8229600" cy="503262"/>
          </a:xfrm>
        </p:spPr>
        <p:txBody>
          <a:bodyPr/>
          <a:lstStyle/>
          <a:p>
            <a:r>
              <a:rPr lang="en-US" altLang="zh-TW" i="1" dirty="0" smtClean="0"/>
              <a:t>N</a:t>
            </a:r>
            <a:r>
              <a:rPr lang="en-US" altLang="zh-TW" dirty="0" smtClean="0"/>
              <a:t>-Body Simulation </a:t>
            </a:r>
            <a:endParaRPr lang="en-US" altLang="zh-TW" dirty="0"/>
          </a:p>
        </p:txBody>
      </p:sp>
      <p:sp>
        <p:nvSpPr>
          <p:cNvPr id="2" name="圓角矩形 1"/>
          <p:cNvSpPr/>
          <p:nvPr/>
        </p:nvSpPr>
        <p:spPr bwMode="auto">
          <a:xfrm>
            <a:off x="762000" y="1988840"/>
            <a:ext cx="5410200" cy="1152128"/>
          </a:xfrm>
          <a:prstGeom prst="round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3" name="文字方塊 2"/>
          <p:cNvSpPr txBox="1"/>
          <p:nvPr/>
        </p:nvSpPr>
        <p:spPr>
          <a:xfrm>
            <a:off x="6452591" y="2482543"/>
            <a:ext cx="2583905" cy="830997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r>
              <a:rPr lang="en-US" altLang="zh-TW" dirty="0" smtClean="0">
                <a:ea typeface="標楷體" pitchFamily="65" charset="-120"/>
                <a:cs typeface="Calibri" pitchFamily="34" charset="0"/>
              </a:rPr>
              <a:t>All of host physical CPUs are running</a:t>
            </a:r>
            <a:endParaRPr lang="zh-TW" altLang="en-US" dirty="0" smtClean="0">
              <a:ea typeface="標楷體" pitchFamily="65" charset="-120"/>
              <a:cs typeface="Calibri" pitchFamily="34" charset="0"/>
            </a:endParaRP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A9115C5-2FF4-4A45-B75E-C3C89F0A7A51}" type="slidenum">
              <a:rPr lang="en-US" altLang="zh-TW" smtClean="0">
                <a:solidFill>
                  <a:schemeClr val="bg1"/>
                </a:solidFill>
              </a:rPr>
              <a:pPr>
                <a:defRPr/>
              </a:pPr>
              <a:t>49</a:t>
            </a:fld>
            <a:endParaRPr lang="en-US" altLang="zh-TW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051516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52400" y="188640"/>
            <a:ext cx="7299920" cy="648072"/>
          </a:xfrm>
        </p:spPr>
        <p:txBody>
          <a:bodyPr>
            <a:noAutofit/>
          </a:bodyPr>
          <a:lstStyle/>
          <a:p>
            <a:r>
              <a:rPr lang="en-US" altLang="zh-TW" sz="3000" dirty="0" smtClean="0"/>
              <a:t>Comparison of </a:t>
            </a:r>
            <a:r>
              <a:rPr lang="en-US" altLang="zh-TW" sz="3000" dirty="0" err="1" smtClean="0"/>
              <a:t>HSAemu</a:t>
            </a:r>
            <a:r>
              <a:rPr lang="en-US" altLang="zh-TW" sz="3000" dirty="0" smtClean="0"/>
              <a:t> and Multi2Sim (1)</a:t>
            </a:r>
            <a:endParaRPr lang="zh-TW" altLang="en-US" sz="3000" dirty="0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A9115C5-2FF4-4A45-B75E-C3C89F0A7A51}" type="slidenum">
              <a:rPr lang="en-US" altLang="zh-TW" smtClean="0">
                <a:solidFill>
                  <a:schemeClr val="bg1"/>
                </a:solidFill>
              </a:rPr>
              <a:pPr>
                <a:defRPr/>
              </a:pPr>
              <a:t>50</a:t>
            </a:fld>
            <a:endParaRPr lang="en-US" altLang="zh-TW" dirty="0">
              <a:solidFill>
                <a:schemeClr val="bg1"/>
              </a:solidFill>
            </a:endParaRPr>
          </a:p>
        </p:txBody>
      </p:sp>
      <p:pic>
        <p:nvPicPr>
          <p:cNvPr id="6" name="圖片 5" descr="擷取-1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81000" y="1295400"/>
            <a:ext cx="8401402" cy="4614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74361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/>
          <p:cNvSpPr>
            <a:spLocks noGrp="1"/>
          </p:cNvSpPr>
          <p:nvPr>
            <p:ph type="title"/>
          </p:nvPr>
        </p:nvSpPr>
        <p:spPr>
          <a:xfrm>
            <a:off x="228601" y="144463"/>
            <a:ext cx="8447088" cy="692150"/>
          </a:xfrm>
        </p:spPr>
        <p:txBody>
          <a:bodyPr/>
          <a:lstStyle/>
          <a:p>
            <a:r>
              <a:rPr lang="en-US" altLang="zh-TW" sz="3000" dirty="0" smtClean="0"/>
              <a:t>Comparison of </a:t>
            </a:r>
            <a:r>
              <a:rPr lang="en-US" altLang="zh-TW" sz="3000" dirty="0" err="1" smtClean="0"/>
              <a:t>HSAemu</a:t>
            </a:r>
            <a:r>
              <a:rPr lang="en-US" altLang="zh-TW" sz="3000" dirty="0" smtClean="0"/>
              <a:t> and Multi2Sim (2)</a:t>
            </a:r>
            <a:endParaRPr lang="zh-TW" altLang="en-US" sz="3000" dirty="0"/>
          </a:p>
        </p:txBody>
      </p:sp>
      <p:sp>
        <p:nvSpPr>
          <p:cNvPr id="6" name="投影片編號版面配置區 6"/>
          <p:cNvSpPr>
            <a:spLocks noGrp="1"/>
          </p:cNvSpPr>
          <p:nvPr>
            <p:ph type="sldNum" sz="quarter" idx="10"/>
          </p:nvPr>
        </p:nvSpPr>
        <p:spPr>
          <a:xfrm>
            <a:off x="6831013" y="6524625"/>
            <a:ext cx="2133600" cy="339725"/>
          </a:xfrm>
        </p:spPr>
        <p:txBody>
          <a:bodyPr/>
          <a:lstStyle/>
          <a:p>
            <a:pPr>
              <a:defRPr/>
            </a:pPr>
            <a:fld id="{1A9115C5-2FF4-4A45-B75E-C3C89F0A7A51}" type="slidenum">
              <a:rPr lang="en-US" altLang="zh-TW" smtClean="0">
                <a:solidFill>
                  <a:schemeClr val="bg1"/>
                </a:solidFill>
              </a:rPr>
              <a:pPr>
                <a:defRPr/>
              </a:pPr>
              <a:t>51</a:t>
            </a:fld>
            <a:endParaRPr lang="en-US" altLang="zh-TW" dirty="0">
              <a:solidFill>
                <a:schemeClr val="bg1"/>
              </a:solidFill>
            </a:endParaRPr>
          </a:p>
        </p:txBody>
      </p:sp>
      <p:pic>
        <p:nvPicPr>
          <p:cNvPr id="7" name="圖片 6" descr="擷取-2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42590" y="1295400"/>
            <a:ext cx="8849010" cy="449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5608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11559" y="144463"/>
            <a:ext cx="8064129" cy="692150"/>
          </a:xfrm>
        </p:spPr>
        <p:txBody>
          <a:bodyPr/>
          <a:lstStyle/>
          <a:p>
            <a:r>
              <a:rPr lang="en-US" altLang="zh-TW" dirty="0"/>
              <a:t>Conclusions 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04800" y="1196752"/>
            <a:ext cx="8435280" cy="4824536"/>
          </a:xfrm>
        </p:spPr>
        <p:txBody>
          <a:bodyPr/>
          <a:lstStyle/>
          <a:p>
            <a:r>
              <a:rPr lang="en-US" altLang="zh-TW" sz="2400" dirty="0" smtClean="0"/>
              <a:t>An HSA-compliant full system emulator has been implemented</a:t>
            </a:r>
          </a:p>
          <a:p>
            <a:pPr lvl="1"/>
            <a:r>
              <a:rPr lang="en-US" altLang="zh-TW" sz="2000" dirty="0" smtClean="0"/>
              <a:t>A functional-accurate simulator for generic GPU model</a:t>
            </a:r>
          </a:p>
          <a:p>
            <a:pPr lvl="1"/>
            <a:r>
              <a:rPr lang="en-US" altLang="zh-TW" sz="2000" dirty="0" smtClean="0"/>
              <a:t>A cycle-accurate simulator for AMD Southern Islands GPU model (from Multi2Sim)</a:t>
            </a:r>
          </a:p>
          <a:p>
            <a:pPr eaLnBrk="1" hangingPunct="1">
              <a:spcBef>
                <a:spcPts val="1200"/>
              </a:spcBef>
              <a:spcAft>
                <a:spcPts val="0"/>
              </a:spcAft>
              <a:defRPr/>
            </a:pPr>
            <a:r>
              <a:rPr lang="en-US" altLang="zh-TW" sz="2400" dirty="0" smtClean="0">
                <a:ea typeface="新細明體" panose="02020500000000000000" pitchFamily="18" charset="-120"/>
              </a:rPr>
              <a:t>An HSA tool chain/SDK for </a:t>
            </a:r>
            <a:r>
              <a:rPr lang="en-US" altLang="zh-TW" sz="2400" dirty="0" err="1" smtClean="0">
                <a:ea typeface="新細明體" panose="02020500000000000000" pitchFamily="18" charset="-120"/>
              </a:rPr>
              <a:t>OpenCL</a:t>
            </a:r>
            <a:r>
              <a:rPr lang="en-US" altLang="zh-TW" sz="2400" dirty="0" smtClean="0">
                <a:ea typeface="新細明體" panose="02020500000000000000" pitchFamily="18" charset="-120"/>
              </a:rPr>
              <a:t> 1.2</a:t>
            </a:r>
          </a:p>
          <a:p>
            <a:pPr eaLnBrk="1" hangingPunct="1">
              <a:spcBef>
                <a:spcPts val="1200"/>
              </a:spcBef>
              <a:spcAft>
                <a:spcPts val="0"/>
              </a:spcAft>
              <a:defRPr/>
            </a:pPr>
            <a:r>
              <a:rPr lang="en-US" altLang="zh-TW" sz="2400" dirty="0" smtClean="0">
                <a:ea typeface="新細明體" panose="02020500000000000000" pitchFamily="18" charset="-120"/>
              </a:rPr>
              <a:t>Easy to plug-in different simulators/emulators</a:t>
            </a:r>
          </a:p>
          <a:p>
            <a:pPr lvl="1" eaLnBrk="1" hangingPunct="1">
              <a:spcBef>
                <a:spcPts val="600"/>
              </a:spcBef>
              <a:spcAft>
                <a:spcPts val="600"/>
              </a:spcAft>
              <a:defRPr/>
            </a:pPr>
            <a:r>
              <a:rPr lang="en-US" altLang="zh-TW" sz="2000" dirty="0" smtClean="0">
                <a:ea typeface="新細明體" panose="02020500000000000000" pitchFamily="18" charset="-120"/>
              </a:rPr>
              <a:t>Provide a command buffer interface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A9115C5-2FF4-4A45-B75E-C3C89F0A7A51}" type="slidenum">
              <a:rPr lang="en-US" altLang="zh-TW" smtClean="0">
                <a:solidFill>
                  <a:schemeClr val="bg1"/>
                </a:solidFill>
              </a:rPr>
              <a:pPr>
                <a:defRPr/>
              </a:pPr>
              <a:t>52</a:t>
            </a:fld>
            <a:endParaRPr lang="en-US" altLang="zh-TW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878011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11559" y="144463"/>
            <a:ext cx="8064129" cy="692150"/>
          </a:xfrm>
        </p:spPr>
        <p:txBody>
          <a:bodyPr/>
          <a:lstStyle/>
          <a:p>
            <a:r>
              <a:rPr lang="en-US" altLang="zh-TW" dirty="0" smtClean="0"/>
              <a:t>Future </a:t>
            </a:r>
            <a:r>
              <a:rPr lang="en-US" altLang="zh-TW" dirty="0"/>
              <a:t>work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A9115C5-2FF4-4A45-B75E-C3C89F0A7A51}" type="slidenum">
              <a:rPr lang="en-US" altLang="zh-TW" smtClean="0">
                <a:solidFill>
                  <a:schemeClr val="bg1"/>
                </a:solidFill>
              </a:rPr>
              <a:pPr>
                <a:defRPr/>
              </a:pPr>
              <a:t>53</a:t>
            </a:fld>
            <a:endParaRPr lang="en-US" altLang="zh-TW" dirty="0">
              <a:solidFill>
                <a:schemeClr val="bg1"/>
              </a:solidFill>
            </a:endParaRPr>
          </a:p>
        </p:txBody>
      </p:sp>
      <p:sp>
        <p:nvSpPr>
          <p:cNvPr id="6" name="Content Placeholder 3"/>
          <p:cNvSpPr txBox="1">
            <a:spLocks/>
          </p:cNvSpPr>
          <p:nvPr/>
        </p:nvSpPr>
        <p:spPr bwMode="auto">
          <a:xfrm>
            <a:off x="381000" y="1155576"/>
            <a:ext cx="8367464" cy="44832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l"/>
              <a:tabLst/>
              <a:defRPr/>
            </a:pPr>
            <a:r>
              <a:rPr lang="en-US" altLang="zh-TW" sz="2400" kern="0" dirty="0" err="1" smtClean="0">
                <a:latin typeface="Calibri" pitchFamily="34" charset="0"/>
                <a:ea typeface="標楷體" pitchFamily="65" charset="-120"/>
              </a:rPr>
              <a:t>OpenCL</a:t>
            </a:r>
            <a:r>
              <a:rPr lang="en-US" altLang="zh-TW" sz="2400" kern="0" dirty="0" smtClean="0">
                <a:latin typeface="Calibri" pitchFamily="34" charset="0"/>
                <a:ea typeface="標楷體" pitchFamily="65" charset="-120"/>
              </a:rPr>
              <a:t> 2.0 support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l"/>
              <a:tabLst/>
              <a:defRPr/>
            </a:pPr>
            <a:endParaRPr lang="en-US" altLang="zh-TW" sz="2400" kern="0" dirty="0" smtClean="0">
              <a:latin typeface="Calibri" pitchFamily="34" charset="0"/>
              <a:ea typeface="標楷體" pitchFamily="65" charset="-12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l"/>
              <a:tabLst/>
              <a:defRPr/>
            </a:pPr>
            <a:r>
              <a:rPr lang="en-US" altLang="zh-TW" sz="2400" kern="0" dirty="0" smtClean="0">
                <a:latin typeface="Calibri" pitchFamily="34" charset="0"/>
                <a:ea typeface="標楷體" pitchFamily="65" charset="-120"/>
              </a:rPr>
              <a:t>Enhance </a:t>
            </a:r>
            <a:r>
              <a:rPr lang="en-US" altLang="zh-TW" sz="2400" kern="0" dirty="0" err="1" smtClean="0">
                <a:latin typeface="Calibri" pitchFamily="34" charset="0"/>
                <a:ea typeface="標楷體" pitchFamily="65" charset="-120"/>
              </a:rPr>
              <a:t>HSAemu</a:t>
            </a:r>
            <a:r>
              <a:rPr lang="en-US" altLang="zh-TW" sz="2400" kern="0" dirty="0" smtClean="0">
                <a:latin typeface="Calibri" pitchFamily="34" charset="0"/>
                <a:ea typeface="標楷體" pitchFamily="65" charset="-120"/>
              </a:rPr>
              <a:t> by implementing more HSA features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l"/>
              <a:tabLst/>
              <a:defRPr/>
            </a:pPr>
            <a:endParaRPr lang="en-US" altLang="zh-TW" sz="2400" kern="0" dirty="0" smtClean="0">
              <a:latin typeface="Calibri" pitchFamily="34" charset="0"/>
              <a:ea typeface="標楷體" pitchFamily="65" charset="-12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l"/>
              <a:tabLst/>
              <a:defRPr/>
            </a:pPr>
            <a:r>
              <a:rPr lang="en-US" altLang="zh-TW" sz="2400" kern="0" dirty="0" smtClean="0">
                <a:latin typeface="Calibri" pitchFamily="34" charset="0"/>
                <a:ea typeface="標楷體" pitchFamily="65" charset="-120"/>
              </a:rPr>
              <a:t>Integrate </a:t>
            </a:r>
            <a:r>
              <a:rPr lang="en-US" altLang="zh-TW" sz="2400" kern="0" dirty="0" err="1" smtClean="0">
                <a:latin typeface="Calibri" pitchFamily="34" charset="0"/>
                <a:ea typeface="標楷體" pitchFamily="65" charset="-120"/>
              </a:rPr>
              <a:t>HSAemu</a:t>
            </a:r>
            <a:r>
              <a:rPr lang="en-US" altLang="zh-TW" sz="2400" kern="0" dirty="0" smtClean="0">
                <a:latin typeface="Calibri" pitchFamily="34" charset="0"/>
                <a:ea typeface="標楷體" pitchFamily="65" charset="-120"/>
              </a:rPr>
              <a:t> with some existing cycle-accurate GPU simulators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l"/>
              <a:tabLst/>
              <a:defRPr/>
            </a:pPr>
            <a:endParaRPr lang="en-US" altLang="zh-TW" sz="2400" kern="0" dirty="0" smtClean="0">
              <a:latin typeface="Calibri" pitchFamily="34" charset="0"/>
              <a:ea typeface="標楷體" pitchFamily="65" charset="-12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l"/>
              <a:tabLst/>
              <a:defRPr/>
            </a:pPr>
            <a:r>
              <a:rPr lang="en-US" altLang="zh-TW" sz="2400" kern="0" dirty="0" smtClean="0">
                <a:latin typeface="Calibri" pitchFamily="34" charset="0"/>
                <a:ea typeface="標楷體" pitchFamily="65" charset="-120"/>
              </a:rPr>
              <a:t>Design a cycle-accurate simulator based on PQEMU for generic CPU model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l"/>
              <a:tabLst/>
              <a:defRPr/>
            </a:pPr>
            <a:endParaRPr kumimoji="1" lang="en-US" altLang="zh-TW" sz="240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itchFamily="34" charset="0"/>
              <a:ea typeface="標楷體" pitchFamily="65" charset="-12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l"/>
              <a:tabLst/>
              <a:defRPr/>
            </a:pPr>
            <a:r>
              <a:rPr lang="en-US" altLang="zh-TW" sz="2400" kern="0" dirty="0" err="1" smtClean="0">
                <a:latin typeface="Calibri" pitchFamily="34" charset="0"/>
                <a:ea typeface="標楷體" pitchFamily="65" charset="-120"/>
              </a:rPr>
              <a:t>Deisgn</a:t>
            </a:r>
            <a:r>
              <a:rPr lang="en-US" altLang="zh-TW" sz="2400" kern="0" dirty="0" smtClean="0">
                <a:latin typeface="Calibri" pitchFamily="34" charset="0"/>
                <a:ea typeface="標楷體" pitchFamily="65" charset="-120"/>
              </a:rPr>
              <a:t> a cycle-accurate simulator based on PQEMU for </a:t>
            </a:r>
            <a:r>
              <a:rPr lang="en-US" altLang="zh-TW" sz="2400" kern="0" dirty="0" err="1" smtClean="0">
                <a:latin typeface="Calibri" pitchFamily="34" charset="0"/>
                <a:ea typeface="標楷體" pitchFamily="65" charset="-120"/>
              </a:rPr>
              <a:t>big.LITTLE</a:t>
            </a:r>
            <a:r>
              <a:rPr lang="en-US" altLang="zh-TW" sz="2400" kern="0" dirty="0" smtClean="0">
                <a:latin typeface="Calibri" pitchFamily="34" charset="0"/>
                <a:ea typeface="標楷體" pitchFamily="65" charset="-120"/>
              </a:rPr>
              <a:t> CPU model</a:t>
            </a:r>
            <a:endParaRPr kumimoji="1" lang="en-US" altLang="zh-TW" sz="240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itchFamily="34" charset="0"/>
              <a:ea typeface="標楷體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8878011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5"/>
          <p:cNvSpPr>
            <a:spLocks noGrp="1"/>
          </p:cNvSpPr>
          <p:nvPr>
            <p:ph idx="1"/>
          </p:nvPr>
        </p:nvSpPr>
        <p:spPr>
          <a:xfrm>
            <a:off x="457200" y="2636912"/>
            <a:ext cx="8229600" cy="1944216"/>
          </a:xfrm>
        </p:spPr>
        <p:txBody>
          <a:bodyPr/>
          <a:lstStyle/>
          <a:p>
            <a:pPr algn="ctr">
              <a:buNone/>
            </a:pPr>
            <a:r>
              <a:rPr lang="en-US" altLang="zh-TW" sz="9600" dirty="0" smtClean="0"/>
              <a:t>Q &amp; A</a:t>
            </a: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A9115C5-2FF4-4A45-B75E-C3C89F0A7A51}" type="slidenum">
              <a:rPr lang="en-US" altLang="zh-TW" smtClean="0"/>
              <a:pPr>
                <a:defRPr/>
              </a:pPr>
              <a:t>54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0276191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佈景主題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預設簡報設計">
      <a:majorFont>
        <a:latin typeface="MS Sans Serif"/>
        <a:ea typeface="MS Sans Serif"/>
        <a:cs typeface="MS Sans Serif"/>
      </a:majorFont>
      <a:minorFont>
        <a:latin typeface="Arial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5875" cap="flat" cmpd="sng" algn="ctr">
          <a:solidFill>
            <a:srgbClr val="FF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altLang="zh-TW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新細明體" pitchFamily="18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5875" cap="flat" cmpd="sng" algn="ctr">
          <a:solidFill>
            <a:srgbClr val="FF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altLang="zh-TW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新細明體" pitchFamily="18" charset="-120"/>
          </a:defRPr>
        </a:defPPr>
      </a:lstStyle>
    </a:lnDef>
    <a:txDef>
      <a:spPr>
        <a:noFill/>
      </a:spPr>
      <a:bodyPr wrap="none" rtlCol="0" anchor="ctr" anchorCtr="1">
        <a:spAutoFit/>
      </a:bodyPr>
      <a:lstStyle>
        <a:defPPr>
          <a:defRPr dirty="0" smtClean="0">
            <a:ea typeface="標楷體" pitchFamily="65" charset="-120"/>
            <a:cs typeface="Calibri" pitchFamily="34" charset="0"/>
          </a:defRPr>
        </a:defPPr>
      </a:lstStyle>
    </a:txDef>
  </a:objectDefaults>
  <a:extraClrSchemeLst>
    <a:extraClrScheme>
      <a:clrScheme name="預設簡報設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="" xmlns:thm15="http://schemas.microsoft.com/office/thememl/2012/main" name="佈景主題1" id="{52425C63-842A-4F95-A16C-1C0CCEA90123}" vid="{F27CB42A-B114-46CF-86BE-45D629310C51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佈景主題1</Template>
  <TotalTime>35388</TotalTime>
  <Words>2441</Words>
  <Application>Microsoft Office PowerPoint</Application>
  <PresentationFormat>如螢幕大小 (4:3)</PresentationFormat>
  <Paragraphs>526</Paragraphs>
  <Slides>54</Slides>
  <Notes>13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54</vt:i4>
      </vt:variant>
    </vt:vector>
  </HeadingPairs>
  <TitlesOfParts>
    <vt:vector size="55" baseType="lpstr">
      <vt:lpstr>佈景主題1</vt:lpstr>
      <vt:lpstr>PowerPoint 簡報</vt:lpstr>
      <vt:lpstr>Outline</vt:lpstr>
      <vt:lpstr>Introduction to HSA</vt:lpstr>
      <vt:lpstr>Members of HSA Foundation – 2014/6</vt:lpstr>
      <vt:lpstr>HSA Foundation’s Initial Focus (1)</vt:lpstr>
      <vt:lpstr>HSA Foundation’s Initial Focus (2) </vt:lpstr>
      <vt:lpstr>HSA Foundation’s Initial Focus (3) </vt:lpstr>
      <vt:lpstr>Pillars of HSA*</vt:lpstr>
      <vt:lpstr>HSA Specifications</vt:lpstr>
      <vt:lpstr>hQ and hUMA</vt:lpstr>
      <vt:lpstr>HSA Intermediate Layer — HSAIL</vt:lpstr>
      <vt:lpstr>HSA Memory Model</vt:lpstr>
      <vt:lpstr>HSA Queuing Model</vt:lpstr>
      <vt:lpstr>HSA Runtime</vt:lpstr>
      <vt:lpstr>HSA Platform</vt:lpstr>
      <vt:lpstr>Simplified HSA Software Stack</vt:lpstr>
      <vt:lpstr>First HSA APU</vt:lpstr>
      <vt:lpstr>What Is HSAemu</vt:lpstr>
      <vt:lpstr>Goals of HSAemu</vt:lpstr>
      <vt:lpstr>Architecture of HSAemu</vt:lpstr>
      <vt:lpstr>OpenCL 1.2 Benchmarks</vt:lpstr>
      <vt:lpstr>Compliation Framework (1) </vt:lpstr>
      <vt:lpstr>Compliation Framework (2) </vt:lpstr>
      <vt:lpstr>Compliation Framework (3) </vt:lpstr>
      <vt:lpstr>Compliation Framework (4) </vt:lpstr>
      <vt:lpstr>Compliation Framework (4) </vt:lpstr>
      <vt:lpstr>HSAIL Finalization (1)</vt:lpstr>
      <vt:lpstr>HSAIL Finalization (2)</vt:lpstr>
      <vt:lpstr>HSAIL Finalization (3)</vt:lpstr>
      <vt:lpstr>OpenCL Runtime</vt:lpstr>
      <vt:lpstr>HSA Runtime</vt:lpstr>
      <vt:lpstr>HSA Driver</vt:lpstr>
      <vt:lpstr>CPU Simulation Module (1)</vt:lpstr>
      <vt:lpstr>CPU Simulation Module (2)</vt:lpstr>
      <vt:lpstr>CPU simulation Module (3)</vt:lpstr>
      <vt:lpstr>GPU Task Dispatcher (1)</vt:lpstr>
      <vt:lpstr>GPU Task Dispatcher (2)</vt:lpstr>
      <vt:lpstr>Fast-Time GPU Simulator (1)</vt:lpstr>
      <vt:lpstr>Fast-Time GPU Simulator (2)</vt:lpstr>
      <vt:lpstr>Fast-Time GPU Simulator (3)</vt:lpstr>
      <vt:lpstr>M2S-GPU Simulator (1)</vt:lpstr>
      <vt:lpstr>M2S-GPU Simulator (2)</vt:lpstr>
      <vt:lpstr>M2S-GPU Simulator (3)</vt:lpstr>
      <vt:lpstr>GPU Helper Functions (1)</vt:lpstr>
      <vt:lpstr>GPU Helper Functions (2)</vt:lpstr>
      <vt:lpstr>Performance Evaluation</vt:lpstr>
      <vt:lpstr>Scalability of Fast-Time GPU Simulator</vt:lpstr>
      <vt:lpstr>SSE Optimization of Fast-Time GPU Simulator</vt:lpstr>
      <vt:lpstr>N-Body Simulation by Fast-Time GPU Simulator</vt:lpstr>
      <vt:lpstr>Comparison of HSAemu and Multi2Sim (1)</vt:lpstr>
      <vt:lpstr>Comparison of HSAemu and Multi2Sim (2)</vt:lpstr>
      <vt:lpstr>Conclusions </vt:lpstr>
      <vt:lpstr>Future work</vt:lpstr>
      <vt:lpstr>PowerPoint 簡報</vt:lpstr>
    </vt:vector>
  </TitlesOfParts>
  <Company>IBM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Compiler Enhancements For Productivity &amp; Performance</dc:title>
  <dc:creator>chng1me</dc:creator>
  <cp:lastModifiedBy>Yeh-Ching Chung</cp:lastModifiedBy>
  <cp:revision>448</cp:revision>
  <dcterms:created xsi:type="dcterms:W3CDTF">2005-07-19T20:09:40Z</dcterms:created>
  <dcterms:modified xsi:type="dcterms:W3CDTF">2015-03-28T01:08:57Z</dcterms:modified>
</cp:coreProperties>
</file>