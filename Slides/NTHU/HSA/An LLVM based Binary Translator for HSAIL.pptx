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98" r:id="rId2"/>
  </p:sldMasterIdLst>
  <p:notesMasterIdLst>
    <p:notesMasterId r:id="rId39"/>
  </p:notesMasterIdLst>
  <p:sldIdLst>
    <p:sldId id="256" r:id="rId3"/>
    <p:sldId id="257" r:id="rId4"/>
    <p:sldId id="266" r:id="rId5"/>
    <p:sldId id="331" r:id="rId6"/>
    <p:sldId id="332" r:id="rId7"/>
    <p:sldId id="333" r:id="rId8"/>
    <p:sldId id="334" r:id="rId9"/>
    <p:sldId id="314" r:id="rId10"/>
    <p:sldId id="316" r:id="rId11"/>
    <p:sldId id="349" r:id="rId12"/>
    <p:sldId id="345" r:id="rId13"/>
    <p:sldId id="346" r:id="rId14"/>
    <p:sldId id="260" r:id="rId15"/>
    <p:sldId id="261" r:id="rId16"/>
    <p:sldId id="262" r:id="rId17"/>
    <p:sldId id="263" r:id="rId18"/>
    <p:sldId id="264" r:id="rId19"/>
    <p:sldId id="265" r:id="rId20"/>
    <p:sldId id="336" r:id="rId21"/>
    <p:sldId id="344" r:id="rId22"/>
    <p:sldId id="337" r:id="rId23"/>
    <p:sldId id="338" r:id="rId24"/>
    <p:sldId id="340" r:id="rId25"/>
    <p:sldId id="341" r:id="rId26"/>
    <p:sldId id="343" r:id="rId27"/>
    <p:sldId id="335" r:id="rId28"/>
    <p:sldId id="348" r:id="rId29"/>
    <p:sldId id="351" r:id="rId30"/>
    <p:sldId id="352" r:id="rId31"/>
    <p:sldId id="353" r:id="rId32"/>
    <p:sldId id="357" r:id="rId33"/>
    <p:sldId id="358" r:id="rId34"/>
    <p:sldId id="359" r:id="rId35"/>
    <p:sldId id="355" r:id="rId36"/>
    <p:sldId id="356" r:id="rId37"/>
    <p:sldId id="290" r:id="rId3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87818" autoAdjust="0"/>
  </p:normalViewPr>
  <p:slideViewPr>
    <p:cSldViewPr snapToGrid="0">
      <p:cViewPr varScale="1">
        <p:scale>
          <a:sx n="69" d="100"/>
          <a:sy n="69" d="100"/>
        </p:scale>
        <p:origin x="-792" y="-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5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81228B-4B5F-4CE5-8396-A6FB6B7965EB}" type="datetimeFigureOut">
              <a:rPr lang="zh-TW" altLang="en-US" smtClean="0"/>
              <a:t>2014/4/21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06F167-3805-4DD6-97D8-C1466783F0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6512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確認流程</a:t>
            </a:r>
            <a:r>
              <a:rPr lang="en-US" altLang="zh-TW" dirty="0" smtClean="0"/>
              <a:t>…..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F167-3805-4DD6-97D8-C1466783F0E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8640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56182E-448C-4D3B-8BE7-76EE41A2FDD4}" type="slidenum">
              <a:rPr lang="zh-TW" altLang="en-US" smtClean="0">
                <a:solidFill>
                  <a:prstClr val="black"/>
                </a:solidFill>
              </a:rPr>
              <a:pPr/>
              <a:t>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511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F167-3805-4DD6-97D8-C1466783F0EE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7124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6B76C-4D2A-4F1B-8137-B18D6306E371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79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 smtClean="0"/>
              <a:t>Ssa</a:t>
            </a:r>
            <a:r>
              <a:rPr lang="en-US" altLang="zh-TW" baseline="0" dirty="0" smtClean="0"/>
              <a:t>-based  optimization</a:t>
            </a:r>
            <a:endParaRPr lang="en-US" altLang="zh-TW" dirty="0" smtClean="0"/>
          </a:p>
          <a:p>
            <a:r>
              <a:rPr lang="en-US" altLang="zh-TW" dirty="0" smtClean="0"/>
              <a:t>Peephole</a:t>
            </a:r>
            <a:r>
              <a:rPr lang="en-US" altLang="zh-TW" baseline="0" dirty="0" smtClean="0"/>
              <a:t>  optimization </a:t>
            </a:r>
          </a:p>
          <a:p>
            <a:endParaRPr lang="en-US" altLang="zh-TW" baseline="0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F167-3805-4DD6-97D8-C1466783F0EE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2546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Prologue push</a:t>
            </a:r>
            <a:r>
              <a:rPr lang="en-US" altLang="zh-TW" baseline="0" dirty="0" smtClean="0"/>
              <a:t> stack  </a:t>
            </a:r>
          </a:p>
          <a:p>
            <a:r>
              <a:rPr lang="en-US" altLang="zh-TW" baseline="0" dirty="0" smtClean="0"/>
              <a:t>Epilogue  pop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F167-3805-4DD6-97D8-C1466783F0EE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5138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Hsail </a:t>
            </a:r>
            <a:r>
              <a:rPr lang="zh-TW" altLang="en-US" dirty="0" smtClean="0"/>
              <a:t>有提供這個指令，但是沒有</a:t>
            </a:r>
            <a:r>
              <a:rPr lang="en-US" altLang="zh-TW" dirty="0" smtClean="0"/>
              <a:t>mask</a:t>
            </a:r>
            <a:r>
              <a:rPr lang="zh-TW" altLang="en-US" dirty="0" smtClean="0"/>
              <a:t>的話會生成</a:t>
            </a:r>
            <a:r>
              <a:rPr lang="en-US" altLang="zh-TW" dirty="0" smtClean="0"/>
              <a:t>device</a:t>
            </a:r>
            <a:r>
              <a:rPr lang="zh-TW" altLang="en-US" dirty="0" smtClean="0"/>
              <a:t> </a:t>
            </a:r>
            <a:r>
              <a:rPr lang="en-US" altLang="zh-TW" dirty="0" err="1" smtClean="0"/>
              <a:t>funciton</a:t>
            </a:r>
            <a:r>
              <a:rPr lang="zh-TW" altLang="en-US" dirty="0" smtClean="0"/>
              <a:t> </a:t>
            </a:r>
            <a:r>
              <a:rPr lang="en-US" altLang="zh-TW" dirty="0" smtClean="0"/>
              <a:t>call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F167-3805-4DD6-97D8-C1466783F0EE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3475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16C613-9DCF-4828-978A-159E2EE1B5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1815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16C613-9DCF-4828-978A-159E2EE1B5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800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64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64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16C613-9DCF-4828-978A-159E2EE1B5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5359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16C613-9DCF-4828-978A-159E2EE1B5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1144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16C613-9DCF-4828-978A-159E2EE1B5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7450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16C613-9DCF-4828-978A-159E2EE1B5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4996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16C613-9DCF-4828-978A-159E2EE1B5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0660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16C613-9DCF-4828-978A-159E2EE1B5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1300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16C613-9DCF-4828-978A-159E2EE1B5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7104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73025"/>
            <a:ext cx="2057400" cy="170021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73025"/>
            <a:ext cx="6019800" cy="170021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16C613-9DCF-4828-978A-159E2EE1B5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4891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73025"/>
            <a:ext cx="8229600" cy="170021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16C613-9DCF-4828-978A-159E2EE1B5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7741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8313" y="73025"/>
            <a:ext cx="4248150" cy="69215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1125538"/>
            <a:ext cx="8229600" cy="647700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按一下圖示以新增表格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16C613-9DCF-4828-978A-159E2EE1B5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3929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16C613-9DCF-4828-978A-159E2EE1B5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04394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4ECD-A51C-4929-A164-EAD9C240C716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C48F-0338-45DA-B839-F7423A437AC7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5599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4ECD-A51C-4929-A164-EAD9C240C716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C48F-0338-45DA-B839-F7423A437AC7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103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4ECD-A51C-4929-A164-EAD9C240C716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C48F-0338-45DA-B839-F7423A437AC7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9395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4ECD-A51C-4929-A164-EAD9C240C716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C48F-0338-45DA-B839-F7423A437AC7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3424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4ECD-A51C-4929-A164-EAD9C240C716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C48F-0338-45DA-B839-F7423A437AC7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7838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4ECD-A51C-4929-A164-EAD9C240C716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C48F-0338-45DA-B839-F7423A437AC7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6379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4ECD-A51C-4929-A164-EAD9C240C716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C48F-0338-45DA-B839-F7423A437AC7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304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4ECD-A51C-4929-A164-EAD9C240C716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C48F-0338-45DA-B839-F7423A437AC7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4680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4ECD-A51C-4929-A164-EAD9C240C716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C48F-0338-45DA-B839-F7423A437AC7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7866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4ECD-A51C-4929-A164-EAD9C240C716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C48F-0338-45DA-B839-F7423A437AC7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5346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4ECD-A51C-4929-A164-EAD9C240C716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C48F-0338-45DA-B839-F7423A437AC7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28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1" descr="清大LOGO(鳥)"/>
          <p:cNvPicPr>
            <a:picLocks noChangeAspect="1" noChangeArrowheads="1"/>
          </p:cNvPicPr>
          <p:nvPr/>
        </p:nvPicPr>
        <p:blipFill>
          <a:blip r:embed="rId15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0" y="30163"/>
            <a:ext cx="161925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44463"/>
            <a:ext cx="820737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按一下以編輯母片</a:t>
            </a:r>
          </a:p>
          <a:p>
            <a:pPr lvl="1"/>
            <a:endParaRPr lang="zh-TW" altLang="en-US" smtClean="0"/>
          </a:p>
          <a:p>
            <a:pPr lvl="0"/>
            <a:endParaRPr lang="en-US" altLang="zh-TW" smtClean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0" y="6357938"/>
            <a:ext cx="3833813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42875" y="6581775"/>
            <a:ext cx="3584575" cy="2762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0"/>
            <a:ext cx="9144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0" y="6165850"/>
            <a:ext cx="9144000" cy="719138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6524625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2416C613-9DCF-4828-978A-159E2EE1B59C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034" name="Picture 13" descr="清大LOGO(圓)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0" y="6181725"/>
            <a:ext cx="684213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5" name="Picture 14" descr="清大書法字 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755650" y="6237288"/>
            <a:ext cx="2087563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682625" y="6580188"/>
            <a:ext cx="2520950" cy="304800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4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rPr>
              <a:t>National Tsing Hua University</a:t>
            </a: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96" y="151801"/>
            <a:ext cx="1659800" cy="68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467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04ECD-A51C-4929-A164-EAD9C240C716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0C48F-0338-45DA-B839-F7423A437AC7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255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dirty="0" err="1" smtClean="0"/>
              <a:t>HConverter</a:t>
            </a:r>
            <a:r>
              <a:rPr lang="en-US" altLang="zh-TW" dirty="0" smtClean="0"/>
              <a:t>: An </a:t>
            </a:r>
            <a:r>
              <a:rPr lang="en-US" altLang="zh-TW" dirty="0"/>
              <a:t>LLVM based Binary Translator for HSAIL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4623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73676" y="95564"/>
            <a:ext cx="6268792" cy="690048"/>
          </a:xfrm>
        </p:spPr>
        <p:txBody>
          <a:bodyPr/>
          <a:lstStyle/>
          <a:p>
            <a:r>
              <a:rPr lang="zh-TW" altLang="en-US" dirty="0" smtClean="0"/>
              <a:t>前後對照</a:t>
            </a:r>
            <a:r>
              <a:rPr lang="en-US" altLang="zh-TW" dirty="0" smtClean="0"/>
              <a:t>--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350213" y="2334311"/>
            <a:ext cx="681913" cy="147732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 anchorCtr="1">
            <a:spAutoFit/>
          </a:bodyPr>
          <a:lstStyle/>
          <a:p>
            <a:endParaRPr lang="en-US" altLang="zh-TW" dirty="0" smtClean="0">
              <a:ea typeface="標楷體" pitchFamily="65" charset="-120"/>
              <a:cs typeface="Calibri" pitchFamily="34" charset="0"/>
            </a:endParaRPr>
          </a:p>
          <a:p>
            <a:endParaRPr lang="en-US" altLang="zh-TW" dirty="0" smtClean="0">
              <a:ea typeface="標楷體" pitchFamily="65" charset="-120"/>
              <a:cs typeface="Calibri" pitchFamily="34" charset="0"/>
            </a:endParaRP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.cl</a:t>
            </a:r>
          </a:p>
          <a:p>
            <a:endParaRPr lang="en-US" altLang="zh-TW" dirty="0" smtClean="0">
              <a:ea typeface="標楷體" pitchFamily="65" charset="-120"/>
              <a:cs typeface="Calibri" pitchFamily="34" charset="0"/>
            </a:endParaRPr>
          </a:p>
          <a:p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2460719" y="2460678"/>
            <a:ext cx="817939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PTX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532443" y="2677297"/>
            <a:ext cx="1118722" cy="92333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spAutoFit/>
          </a:bodyPr>
          <a:lstStyle/>
          <a:p>
            <a:endParaRPr lang="en-US" altLang="zh-TW" dirty="0" smtClean="0">
              <a:ea typeface="標楷體" pitchFamily="65" charset="-120"/>
              <a:cs typeface="Calibri" pitchFamily="34" charset="0"/>
            </a:endParaRP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Hsail</a:t>
            </a:r>
          </a:p>
          <a:p>
            <a:endParaRPr lang="en-US" altLang="zh-TW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499058" y="3609762"/>
            <a:ext cx="1482811" cy="36933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brig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499059" y="4896593"/>
            <a:ext cx="1482810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X86-native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10" name="直線單箭頭接點 9"/>
          <p:cNvCxnSpPr/>
          <p:nvPr/>
        </p:nvCxnSpPr>
        <p:spPr bwMode="auto">
          <a:xfrm flipV="1">
            <a:off x="1032126" y="2685535"/>
            <a:ext cx="1381560" cy="350146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直線單箭頭接點 10"/>
          <p:cNvCxnSpPr/>
          <p:nvPr/>
        </p:nvCxnSpPr>
        <p:spPr bwMode="auto">
          <a:xfrm>
            <a:off x="3352803" y="2703643"/>
            <a:ext cx="1105495" cy="166558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直線單箭頭接點 13"/>
          <p:cNvCxnSpPr/>
          <p:nvPr/>
        </p:nvCxnSpPr>
        <p:spPr bwMode="auto">
          <a:xfrm>
            <a:off x="5752667" y="2982012"/>
            <a:ext cx="1281849" cy="441495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V="1">
            <a:off x="3441655" y="3367901"/>
            <a:ext cx="1090788" cy="171753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直線單箭頭接點 25"/>
          <p:cNvCxnSpPr/>
          <p:nvPr/>
        </p:nvCxnSpPr>
        <p:spPr bwMode="auto">
          <a:xfrm>
            <a:off x="7224584" y="4192401"/>
            <a:ext cx="1" cy="554322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7" name="文字方塊 26"/>
          <p:cNvSpPr txBox="1"/>
          <p:nvPr/>
        </p:nvSpPr>
        <p:spPr>
          <a:xfrm>
            <a:off x="1363363" y="2189614"/>
            <a:ext cx="766119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clang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3427755" y="2165520"/>
            <a:ext cx="766119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p2h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2056438" y="4492886"/>
            <a:ext cx="1622854" cy="40011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2000" b="1" dirty="0" smtClean="0">
                <a:ea typeface="標楷體" pitchFamily="65" charset="-120"/>
                <a:cs typeface="Calibri" pitchFamily="34" charset="0"/>
              </a:rPr>
              <a:t>cl2hsail</a:t>
            </a:r>
            <a:endParaRPr lang="zh-TW" altLang="en-US" sz="2000" b="1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285911" y="3306745"/>
            <a:ext cx="1112387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 anchor="ctr" anchorCtr="1">
            <a:spAutoFit/>
          </a:bodyPr>
          <a:lstStyle/>
          <a:p>
            <a:r>
              <a:rPr lang="en-US" altLang="zh-TW" dirty="0" err="1" smtClean="0">
                <a:ea typeface="標楷體" pitchFamily="65" charset="-120"/>
                <a:cs typeface="Calibri" pitchFamily="34" charset="0"/>
              </a:rPr>
              <a:t>llvm</a:t>
            </a:r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-IR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21" name="直線單箭頭接點 20"/>
          <p:cNvCxnSpPr/>
          <p:nvPr/>
        </p:nvCxnSpPr>
        <p:spPr bwMode="auto">
          <a:xfrm>
            <a:off x="1027812" y="3092888"/>
            <a:ext cx="1258099" cy="393995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" name="文字方塊 24"/>
          <p:cNvSpPr txBox="1"/>
          <p:nvPr/>
        </p:nvSpPr>
        <p:spPr>
          <a:xfrm>
            <a:off x="1290319" y="3396814"/>
            <a:ext cx="766119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clang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3208876" y="3464589"/>
            <a:ext cx="1556346" cy="64633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Hsail backend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9" name="左中括弧 18"/>
          <p:cNvSpPr/>
          <p:nvPr/>
        </p:nvSpPr>
        <p:spPr bwMode="auto">
          <a:xfrm rot="16200000">
            <a:off x="2659880" y="2432661"/>
            <a:ext cx="419615" cy="3519479"/>
          </a:xfrm>
          <a:prstGeom prst="leftBracke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0511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 smtClean="0"/>
              <a:t>Hsaemu</a:t>
            </a:r>
            <a:r>
              <a:rPr lang="en-US" altLang="zh-TW" dirty="0" smtClean="0"/>
              <a:t>—architecture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1888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27584" y="3212976"/>
            <a:ext cx="7848872" cy="309634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sz="2400" dirty="0">
                <a:solidFill>
                  <a:prstClr val="black"/>
                </a:solidFill>
              </a:rPr>
              <a:t>PQEMU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27584" y="1124744"/>
            <a:ext cx="7848872" cy="20162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sz="2000" dirty="0">
                <a:solidFill>
                  <a:prstClr val="black"/>
                </a:solidFill>
              </a:rPr>
              <a:t>Guest OS</a:t>
            </a:r>
            <a:endParaRPr lang="zh-TW" altLang="en-US" sz="2000" dirty="0">
              <a:solidFill>
                <a:prstClr val="black"/>
              </a:solidFill>
            </a:endParaRPr>
          </a:p>
        </p:txBody>
      </p:sp>
      <p:sp>
        <p:nvSpPr>
          <p:cNvPr id="14" name="圓角矩形 13"/>
          <p:cNvSpPr/>
          <p:nvPr/>
        </p:nvSpPr>
        <p:spPr>
          <a:xfrm>
            <a:off x="1259632" y="1527944"/>
            <a:ext cx="7272808" cy="8929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prstClr val="white"/>
                </a:solidFill>
                <a:latin typeface="Times New Roman" pitchFamily="18" charset="0"/>
                <a:cs typeface="Times New Roman" pitchFamily="18" charset="0"/>
              </a:rPr>
              <a:t>Application</a:t>
            </a:r>
            <a:endParaRPr lang="zh-TW" altLang="en-US" dirty="0">
              <a:solidFill>
                <a:prstClr val="white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HSA emulator framework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1115616" y="3789040"/>
            <a:ext cx="2448272" cy="2448272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prstClr val="white"/>
                </a:solidFill>
              </a:rPr>
              <a:t>VCPU thread (</a:t>
            </a:r>
            <a:r>
              <a:rPr lang="en-US" altLang="zh-TW" sz="2000" dirty="0">
                <a:solidFill>
                  <a:prstClr val="white"/>
                </a:solidFill>
              </a:rPr>
              <a:t>ARM</a:t>
            </a:r>
            <a:r>
              <a:rPr lang="en-US" altLang="zh-TW" dirty="0">
                <a:solidFill>
                  <a:prstClr val="white"/>
                </a:solidFill>
              </a:rPr>
              <a:t>)</a:t>
            </a:r>
            <a:endParaRPr lang="zh-TW" altLang="en-US" dirty="0">
              <a:solidFill>
                <a:prstClr val="white"/>
              </a:solidFill>
            </a:endParaRPr>
          </a:p>
        </p:txBody>
      </p:sp>
      <p:sp>
        <p:nvSpPr>
          <p:cNvPr id="6" name="圓角矩形 5"/>
          <p:cNvSpPr/>
          <p:nvPr/>
        </p:nvSpPr>
        <p:spPr>
          <a:xfrm>
            <a:off x="1619672" y="5301208"/>
            <a:ext cx="936104" cy="72008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prstClr val="white"/>
                </a:solidFill>
              </a:rPr>
              <a:t>TCG</a:t>
            </a:r>
            <a:endParaRPr lang="zh-TW" altLang="en-US" dirty="0">
              <a:solidFill>
                <a:prstClr val="white"/>
              </a:solidFill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4499992" y="3789040"/>
            <a:ext cx="2304256" cy="2448272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sz="1600" dirty="0">
                <a:solidFill>
                  <a:prstClr val="white"/>
                </a:solidFill>
              </a:rPr>
              <a:t>VGPU </a:t>
            </a:r>
            <a:r>
              <a:rPr lang="en-US" altLang="zh-TW" sz="2000" dirty="0">
                <a:solidFill>
                  <a:prstClr val="white"/>
                </a:solidFill>
              </a:rPr>
              <a:t>thread</a:t>
            </a:r>
          </a:p>
        </p:txBody>
      </p:sp>
      <p:sp>
        <p:nvSpPr>
          <p:cNvPr id="9" name="圓角矩形 8"/>
          <p:cNvSpPr/>
          <p:nvPr/>
        </p:nvSpPr>
        <p:spPr>
          <a:xfrm>
            <a:off x="7164288" y="5373216"/>
            <a:ext cx="1368152" cy="57606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prstClr val="white"/>
                </a:solidFill>
              </a:rPr>
              <a:t>translator</a:t>
            </a:r>
            <a:endParaRPr lang="zh-TW" altLang="en-US" dirty="0">
              <a:solidFill>
                <a:prstClr val="white"/>
              </a:solidFill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971600" y="2501280"/>
            <a:ext cx="7488832" cy="576064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runtime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27584" y="6381328"/>
            <a:ext cx="7848872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prstClr val="black"/>
                </a:solidFill>
              </a:rPr>
              <a:t>Host OS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236296" y="1628800"/>
            <a:ext cx="1224136" cy="720080"/>
          </a:xfrm>
          <a:prstGeom prst="rect">
            <a:avLst/>
          </a:prstGeom>
          <a:solidFill>
            <a:srgbClr val="00B050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white"/>
                </a:solidFill>
              </a:rPr>
              <a:t>Brig file</a:t>
            </a:r>
            <a:endParaRPr lang="zh-TW" altLang="en-US" sz="2400" dirty="0">
              <a:solidFill>
                <a:prstClr val="white"/>
              </a:solidFill>
            </a:endParaRPr>
          </a:p>
        </p:txBody>
      </p:sp>
      <p:cxnSp>
        <p:nvCxnSpPr>
          <p:cNvPr id="17" name="直線單箭頭接點 16"/>
          <p:cNvCxnSpPr>
            <a:stCxn id="13" idx="2"/>
            <a:endCxn id="9" idx="0"/>
          </p:cNvCxnSpPr>
          <p:nvPr/>
        </p:nvCxnSpPr>
        <p:spPr>
          <a:xfrm>
            <a:off x="7848364" y="2348880"/>
            <a:ext cx="0" cy="3024336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5" idx="3"/>
            <a:endCxn id="8" idx="1"/>
          </p:cNvCxnSpPr>
          <p:nvPr/>
        </p:nvCxnSpPr>
        <p:spPr>
          <a:xfrm>
            <a:off x="3563888" y="5013176"/>
            <a:ext cx="936104" cy="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3563888" y="4593718"/>
            <a:ext cx="835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solidFill>
                  <a:srgbClr val="0070C0"/>
                </a:solidFill>
              </a:rPr>
              <a:t>signal</a:t>
            </a:r>
            <a:endParaRPr lang="zh-TW" altLang="en-US" sz="2000" dirty="0">
              <a:solidFill>
                <a:srgbClr val="0070C0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353339" y="1657648"/>
            <a:ext cx="1418461" cy="7200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prstClr val="white"/>
                </a:solidFill>
              </a:rPr>
              <a:t>agent</a:t>
            </a:r>
            <a:endParaRPr lang="zh-TW" altLang="en-US" dirty="0">
              <a:solidFill>
                <a:prstClr val="white"/>
              </a:solidFill>
            </a:endParaRPr>
          </a:p>
        </p:txBody>
      </p:sp>
      <p:cxnSp>
        <p:nvCxnSpPr>
          <p:cNvPr id="30" name="直線單箭頭接點 29"/>
          <p:cNvCxnSpPr>
            <a:stCxn id="28" idx="2"/>
            <a:endCxn id="6" idx="0"/>
          </p:cNvCxnSpPr>
          <p:nvPr/>
        </p:nvCxnSpPr>
        <p:spPr>
          <a:xfrm>
            <a:off x="2062570" y="2377728"/>
            <a:ext cx="25154" cy="2923480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圓角矩形 6"/>
          <p:cNvSpPr/>
          <p:nvPr/>
        </p:nvSpPr>
        <p:spPr>
          <a:xfrm>
            <a:off x="4788024" y="4293095"/>
            <a:ext cx="1152128" cy="50067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prstClr val="white"/>
                </a:solidFill>
              </a:rPr>
              <a:t>Monitor thread</a:t>
            </a:r>
            <a:endParaRPr lang="zh-TW" altLang="en-US" dirty="0">
              <a:solidFill>
                <a:prstClr val="white"/>
              </a:solidFill>
            </a:endParaRPr>
          </a:p>
        </p:txBody>
      </p:sp>
      <p:cxnSp>
        <p:nvCxnSpPr>
          <p:cNvPr id="16" name="直線單箭頭接點 15"/>
          <p:cNvCxnSpPr/>
          <p:nvPr/>
        </p:nvCxnSpPr>
        <p:spPr>
          <a:xfrm>
            <a:off x="5364088" y="4865678"/>
            <a:ext cx="0" cy="43553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圖片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441" y="5301208"/>
            <a:ext cx="198456" cy="686378"/>
          </a:xfrm>
          <a:prstGeom prst="rect">
            <a:avLst/>
          </a:prstGeom>
        </p:spPr>
      </p:pic>
      <p:pic>
        <p:nvPicPr>
          <p:cNvPr id="26" name="圖片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5208" y="5307807"/>
            <a:ext cx="198456" cy="686378"/>
          </a:xfrm>
          <a:prstGeom prst="rect">
            <a:avLst/>
          </a:prstGeom>
        </p:spPr>
      </p:pic>
      <p:pic>
        <p:nvPicPr>
          <p:cNvPr id="27" name="圖片 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664" y="5301208"/>
            <a:ext cx="198456" cy="686378"/>
          </a:xfrm>
          <a:prstGeom prst="rect">
            <a:avLst/>
          </a:prstGeom>
        </p:spPr>
      </p:pic>
      <p:sp>
        <p:nvSpPr>
          <p:cNvPr id="20" name="文字方塊 19"/>
          <p:cNvSpPr txBox="1"/>
          <p:nvPr/>
        </p:nvSpPr>
        <p:spPr>
          <a:xfrm>
            <a:off x="4788024" y="5905348"/>
            <a:ext cx="1214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</a:rPr>
              <a:t>CU thread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035060" y="2597032"/>
            <a:ext cx="1473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err="1">
                <a:solidFill>
                  <a:srgbClr val="00B050"/>
                </a:solidFill>
              </a:rPr>
              <a:t>swi</a:t>
            </a:r>
            <a:r>
              <a:rPr lang="en-US" altLang="zh-TW" sz="2000" dirty="0">
                <a:solidFill>
                  <a:srgbClr val="00B050"/>
                </a:solidFill>
              </a:rPr>
              <a:t> handler</a:t>
            </a:r>
            <a:endParaRPr lang="zh-TW" altLang="en-US" sz="2000" dirty="0">
              <a:solidFill>
                <a:srgbClr val="00B05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40152" y="5314261"/>
            <a:ext cx="702078" cy="673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prstClr val="white"/>
                </a:solidFill>
              </a:rPr>
              <a:t>Code cache</a:t>
            </a:r>
            <a:endParaRPr lang="zh-TW" altLang="en-US" sz="1400" dirty="0">
              <a:solidFill>
                <a:prstClr val="white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699792" y="5275810"/>
            <a:ext cx="702078" cy="673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prstClr val="white"/>
                </a:solidFill>
              </a:rPr>
              <a:t>Code cache</a:t>
            </a:r>
            <a:endParaRPr lang="zh-TW" altLang="en-US" sz="1400" dirty="0">
              <a:solidFill>
                <a:prstClr val="white"/>
              </a:solidFill>
            </a:endParaRPr>
          </a:p>
        </p:txBody>
      </p:sp>
      <p:cxnSp>
        <p:nvCxnSpPr>
          <p:cNvPr id="36" name="直線單箭頭接點 35"/>
          <p:cNvCxnSpPr>
            <a:stCxn id="9" idx="1"/>
            <a:endCxn id="3" idx="3"/>
          </p:cNvCxnSpPr>
          <p:nvPr/>
        </p:nvCxnSpPr>
        <p:spPr>
          <a:xfrm flipH="1" flipV="1">
            <a:off x="6642230" y="5650996"/>
            <a:ext cx="522058" cy="10252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8866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Translator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457200" y="1412776"/>
            <a:ext cx="8229600" cy="4525963"/>
          </a:xfrm>
        </p:spPr>
        <p:txBody>
          <a:bodyPr/>
          <a:lstStyle/>
          <a:p>
            <a:r>
              <a:rPr lang="en-US" altLang="zh-TW" sz="3600" dirty="0" smtClean="0"/>
              <a:t>Current framework</a:t>
            </a:r>
          </a:p>
          <a:p>
            <a:pPr lvl="1"/>
            <a:r>
              <a:rPr lang="en-US" altLang="zh-TW" sz="2000" dirty="0" err="1" smtClean="0"/>
              <a:t>HConvert</a:t>
            </a:r>
            <a:r>
              <a:rPr lang="en-US" altLang="zh-TW" sz="2000" dirty="0" smtClean="0"/>
              <a:t> : Interface between translator and QEMU</a:t>
            </a:r>
          </a:p>
          <a:p>
            <a:pPr lvl="1"/>
            <a:r>
              <a:rPr lang="en-US" altLang="zh-TW" sz="2000" dirty="0" err="1" smtClean="0"/>
              <a:t>HDecoder</a:t>
            </a:r>
            <a:r>
              <a:rPr lang="en-US" altLang="zh-TW" sz="2000" dirty="0" smtClean="0"/>
              <a:t>: </a:t>
            </a:r>
            <a:r>
              <a:rPr lang="en-US" altLang="zh-TW" sz="2000" smtClean="0"/>
              <a:t>Translate HSA </a:t>
            </a:r>
            <a:r>
              <a:rPr lang="en-US" altLang="zh-TW" sz="2000" dirty="0" smtClean="0"/>
              <a:t>Brig to LLVM IR </a:t>
            </a:r>
          </a:p>
          <a:p>
            <a:pPr lvl="1"/>
            <a:r>
              <a:rPr lang="en-US" altLang="zh-TW" sz="2000" dirty="0" err="1" smtClean="0"/>
              <a:t>HAssembler</a:t>
            </a:r>
            <a:r>
              <a:rPr lang="en-US" altLang="zh-TW" sz="2000" dirty="0" smtClean="0"/>
              <a:t> : Generate a object file from LLVM IR</a:t>
            </a:r>
          </a:p>
          <a:p>
            <a:pPr lvl="1"/>
            <a:endParaRPr lang="en-US" altLang="zh-TW" dirty="0" smtClean="0"/>
          </a:p>
        </p:txBody>
      </p:sp>
      <p:sp>
        <p:nvSpPr>
          <p:cNvPr id="6" name="圓角矩形 5"/>
          <p:cNvSpPr/>
          <p:nvPr/>
        </p:nvSpPr>
        <p:spPr>
          <a:xfrm>
            <a:off x="4499992" y="3573016"/>
            <a:ext cx="2088232" cy="5760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>
                <a:solidFill>
                  <a:prstClr val="white"/>
                </a:solidFill>
              </a:rPr>
              <a:t>HConvert</a:t>
            </a:r>
            <a:endParaRPr lang="zh-TW" altLang="en-US" dirty="0">
              <a:solidFill>
                <a:prstClr val="white"/>
              </a:solidFill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5868144" y="4365104"/>
            <a:ext cx="2088232" cy="5760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>
                <a:solidFill>
                  <a:prstClr val="white"/>
                </a:solidFill>
              </a:rPr>
              <a:t>HDecoder</a:t>
            </a:r>
            <a:endParaRPr lang="zh-TW" altLang="en-US" dirty="0">
              <a:solidFill>
                <a:prstClr val="white"/>
              </a:solidFill>
            </a:endParaRPr>
          </a:p>
        </p:txBody>
      </p:sp>
      <p:cxnSp>
        <p:nvCxnSpPr>
          <p:cNvPr id="8" name="肘形接點 7"/>
          <p:cNvCxnSpPr>
            <a:stCxn id="6" idx="3"/>
            <a:endCxn id="7" idx="0"/>
          </p:cNvCxnSpPr>
          <p:nvPr/>
        </p:nvCxnSpPr>
        <p:spPr>
          <a:xfrm>
            <a:off x="6588224" y="3861048"/>
            <a:ext cx="324036" cy="504056"/>
          </a:xfrm>
          <a:prstGeom prst="bentConnector2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>
            <a:stCxn id="19" idx="3"/>
            <a:endCxn id="6" idx="1"/>
          </p:cNvCxnSpPr>
          <p:nvPr/>
        </p:nvCxnSpPr>
        <p:spPr>
          <a:xfrm>
            <a:off x="3347864" y="3861048"/>
            <a:ext cx="1152128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流程圖: 多重文件 9"/>
          <p:cNvSpPr/>
          <p:nvPr/>
        </p:nvSpPr>
        <p:spPr>
          <a:xfrm>
            <a:off x="1619672" y="3356992"/>
            <a:ext cx="1656184" cy="504056"/>
          </a:xfrm>
          <a:prstGeom prst="flowChartMultidocumen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prstClr val="black">
                    <a:lumMod val="95000"/>
                    <a:lumOff val="5000"/>
                  </a:prstClr>
                </a:solidFill>
              </a:rPr>
              <a:t>.brig</a:t>
            </a:r>
            <a:endParaRPr lang="zh-TW" altLang="en-US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948264" y="386104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</a:rPr>
              <a:t>HSAIL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211960" y="3501008"/>
            <a:ext cx="3816425" cy="23042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444208" y="3140968"/>
            <a:ext cx="2016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err="1">
                <a:solidFill>
                  <a:prstClr val="black"/>
                </a:solidFill>
              </a:rPr>
              <a:t>libHSAConvert.a</a:t>
            </a:r>
            <a:r>
              <a:rPr lang="en-US" altLang="zh-TW" dirty="0">
                <a:solidFill>
                  <a:prstClr val="black"/>
                </a:solidFill>
              </a:rPr>
              <a:t> 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4" name="圓柱 13"/>
          <p:cNvSpPr/>
          <p:nvPr/>
        </p:nvSpPr>
        <p:spPr>
          <a:xfrm>
            <a:off x="683569" y="5877272"/>
            <a:ext cx="1296143" cy="86409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>
                <a:solidFill>
                  <a:prstClr val="white"/>
                </a:solidFill>
              </a:rPr>
              <a:t>pqemu</a:t>
            </a:r>
            <a:endParaRPr lang="zh-TW" altLang="en-US" dirty="0">
              <a:solidFill>
                <a:prstClr val="white"/>
              </a:solidFill>
            </a:endParaRPr>
          </a:p>
        </p:txBody>
      </p:sp>
      <p:cxnSp>
        <p:nvCxnSpPr>
          <p:cNvPr id="15" name="肘形接點 14"/>
          <p:cNvCxnSpPr>
            <a:stCxn id="14" idx="2"/>
            <a:endCxn id="19" idx="1"/>
          </p:cNvCxnSpPr>
          <p:nvPr/>
        </p:nvCxnSpPr>
        <p:spPr>
          <a:xfrm rot="10800000" flipH="1">
            <a:off x="683568" y="3861048"/>
            <a:ext cx="792087" cy="2448272"/>
          </a:xfrm>
          <a:prstGeom prst="bentConnector3">
            <a:avLst>
              <a:gd name="adj1" fmla="val -28860"/>
            </a:avLst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流程圖: 多重文件 17"/>
          <p:cNvSpPr/>
          <p:nvPr/>
        </p:nvSpPr>
        <p:spPr>
          <a:xfrm>
            <a:off x="1547664" y="3933056"/>
            <a:ext cx="1656184" cy="432048"/>
          </a:xfrm>
          <a:prstGeom prst="flowChartMultidocumen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prstClr val="black">
                    <a:lumMod val="95000"/>
                    <a:lumOff val="5000"/>
                  </a:prstClr>
                </a:solidFill>
              </a:rPr>
              <a:t>.</a:t>
            </a:r>
            <a:r>
              <a:rPr lang="en-US" altLang="zh-TW" dirty="0" err="1">
                <a:solidFill>
                  <a:prstClr val="black">
                    <a:lumMod val="95000"/>
                    <a:lumOff val="5000"/>
                  </a:prstClr>
                </a:solidFill>
              </a:rPr>
              <a:t>config</a:t>
            </a:r>
            <a:endParaRPr lang="zh-TW" altLang="en-US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475656" y="3212976"/>
            <a:ext cx="1872208" cy="12961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32" name="圓角矩形 31"/>
          <p:cNvSpPr/>
          <p:nvPr/>
        </p:nvSpPr>
        <p:spPr>
          <a:xfrm>
            <a:off x="5868144" y="5157192"/>
            <a:ext cx="2088232" cy="5760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>
                <a:solidFill>
                  <a:prstClr val="white"/>
                </a:solidFill>
              </a:rPr>
              <a:t>HAssembler</a:t>
            </a:r>
            <a:endParaRPr lang="zh-TW" altLang="en-US" dirty="0">
              <a:solidFill>
                <a:prstClr val="white"/>
              </a:solidFill>
            </a:endParaRPr>
          </a:p>
        </p:txBody>
      </p:sp>
      <p:cxnSp>
        <p:nvCxnSpPr>
          <p:cNvPr id="34" name="圖案 33"/>
          <p:cNvCxnSpPr>
            <a:stCxn id="6" idx="2"/>
            <a:endCxn id="32" idx="1"/>
          </p:cNvCxnSpPr>
          <p:nvPr/>
        </p:nvCxnSpPr>
        <p:spPr>
          <a:xfrm rot="16200000" flipH="1">
            <a:off x="5058054" y="4635134"/>
            <a:ext cx="1296144" cy="324036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5220072" y="465313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solidFill>
                  <a:prstClr val="black"/>
                </a:solidFill>
              </a:rPr>
              <a:t>IR</a:t>
            </a:r>
          </a:p>
        </p:txBody>
      </p:sp>
      <p:sp>
        <p:nvSpPr>
          <p:cNvPr id="45" name="文字方塊 44"/>
          <p:cNvSpPr txBox="1"/>
          <p:nvPr/>
        </p:nvSpPr>
        <p:spPr>
          <a:xfrm>
            <a:off x="4283969" y="458112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</a:rPr>
              <a:t>.object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53" name="圓角矩形 52"/>
          <p:cNvSpPr/>
          <p:nvPr/>
        </p:nvSpPr>
        <p:spPr>
          <a:xfrm>
            <a:off x="2483768" y="6093296"/>
            <a:ext cx="1512168" cy="43204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prstClr val="black"/>
                </a:solidFill>
              </a:rPr>
              <a:t>Code cache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55" name="直線單箭頭接點 54"/>
          <p:cNvCxnSpPr>
            <a:endCxn id="39" idx="0"/>
          </p:cNvCxnSpPr>
          <p:nvPr/>
        </p:nvCxnSpPr>
        <p:spPr>
          <a:xfrm>
            <a:off x="5148064" y="4149080"/>
            <a:ext cx="0" cy="18722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>
            <a:stCxn id="14" idx="4"/>
            <a:endCxn id="53" idx="1"/>
          </p:cNvCxnSpPr>
          <p:nvPr/>
        </p:nvCxnSpPr>
        <p:spPr>
          <a:xfrm>
            <a:off x="1979712" y="6309320"/>
            <a:ext cx="504056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圓角矩形 38"/>
          <p:cNvSpPr/>
          <p:nvPr/>
        </p:nvSpPr>
        <p:spPr>
          <a:xfrm>
            <a:off x="4499992" y="6021288"/>
            <a:ext cx="1296144" cy="5760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prstClr val="white"/>
                </a:solidFill>
              </a:rPr>
              <a:t>loader</a:t>
            </a:r>
            <a:endParaRPr lang="zh-TW" altLang="en-US" dirty="0">
              <a:solidFill>
                <a:prstClr val="white"/>
              </a:solidFill>
            </a:endParaRPr>
          </a:p>
        </p:txBody>
      </p:sp>
      <p:cxnSp>
        <p:nvCxnSpPr>
          <p:cNvPr id="56" name="直線單箭頭接點 55"/>
          <p:cNvCxnSpPr>
            <a:stCxn id="39" idx="1"/>
            <a:endCxn id="53" idx="3"/>
          </p:cNvCxnSpPr>
          <p:nvPr/>
        </p:nvCxnSpPr>
        <p:spPr>
          <a:xfrm flipH="1">
            <a:off x="3995936" y="6309320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文字方塊 3"/>
          <p:cNvSpPr txBox="1"/>
          <p:nvPr/>
        </p:nvSpPr>
        <p:spPr>
          <a:xfrm>
            <a:off x="8028385" y="5462669"/>
            <a:ext cx="78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LLVM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728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Overall flow – Monitor &amp; CU thread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792116"/>
            <a:ext cx="396912" cy="1372756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608" y="1792116"/>
            <a:ext cx="396912" cy="1372756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105" y="1765931"/>
            <a:ext cx="396912" cy="1372756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409" y="1792116"/>
            <a:ext cx="396912" cy="1372756"/>
          </a:xfrm>
          <a:prstGeom prst="rect">
            <a:avLst/>
          </a:prstGeom>
        </p:spPr>
      </p:pic>
      <p:cxnSp>
        <p:nvCxnSpPr>
          <p:cNvPr id="11" name="直線單箭頭接點 10"/>
          <p:cNvCxnSpPr/>
          <p:nvPr/>
        </p:nvCxnSpPr>
        <p:spPr>
          <a:xfrm>
            <a:off x="1027378" y="3164872"/>
            <a:ext cx="758869" cy="94604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302608" y="4138909"/>
            <a:ext cx="1253592" cy="5684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prstClr val="white"/>
                </a:solidFill>
                <a:latin typeface="微軟正黑體" pitchFamily="34" charset="-120"/>
                <a:ea typeface="微軟正黑體" pitchFamily="34" charset="-120"/>
              </a:rPr>
              <a:t>translator</a:t>
            </a:r>
            <a:endParaRPr lang="zh-TW" altLang="en-US" dirty="0">
              <a:solidFill>
                <a:prstClr val="white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13" name="群組 12"/>
          <p:cNvGrpSpPr/>
          <p:nvPr/>
        </p:nvGrpSpPr>
        <p:grpSpPr>
          <a:xfrm>
            <a:off x="2011835" y="5546913"/>
            <a:ext cx="4392950" cy="369332"/>
            <a:chOff x="611560" y="2179579"/>
            <a:chExt cx="4392950" cy="369332"/>
          </a:xfrm>
        </p:grpSpPr>
        <p:cxnSp>
          <p:nvCxnSpPr>
            <p:cNvPr id="14" name="直線接點 13"/>
            <p:cNvCxnSpPr/>
            <p:nvPr/>
          </p:nvCxnSpPr>
          <p:spPr>
            <a:xfrm flipV="1">
              <a:off x="611560" y="2349198"/>
              <a:ext cx="3781190" cy="652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字方塊 14"/>
            <p:cNvSpPr txBox="1"/>
            <p:nvPr/>
          </p:nvSpPr>
          <p:spPr>
            <a:xfrm>
              <a:off x="4421915" y="2179579"/>
              <a:ext cx="5825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prstClr val="black"/>
                  </a:solidFill>
                </a:rPr>
                <a:t>HVA</a:t>
              </a:r>
              <a:endParaRPr lang="zh-TW" alt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28" name="矩形 27"/>
          <p:cNvSpPr/>
          <p:nvPr/>
        </p:nvSpPr>
        <p:spPr>
          <a:xfrm>
            <a:off x="6520799" y="4203923"/>
            <a:ext cx="1219553" cy="591898"/>
          </a:xfrm>
          <a:prstGeom prst="rect">
            <a:avLst/>
          </a:prstGeom>
          <a:solidFill>
            <a:srgbClr val="9BBB59">
              <a:alpha val="50196"/>
            </a:srgb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Code cache</a:t>
            </a:r>
            <a:endParaRPr lang="zh-TW" altLang="en-US" sz="20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cxnSp>
        <p:nvCxnSpPr>
          <p:cNvPr id="34" name="直線單箭頭接點 33"/>
          <p:cNvCxnSpPr/>
          <p:nvPr/>
        </p:nvCxnSpPr>
        <p:spPr>
          <a:xfrm flipH="1" flipV="1">
            <a:off x="2381143" y="4788578"/>
            <a:ext cx="2189593" cy="65492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1344132" y="3402605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3. </a:t>
            </a:r>
            <a:r>
              <a:rPr lang="en-US" altLang="zh-TW" b="1" dirty="0">
                <a:solidFill>
                  <a:srgbClr val="00B050"/>
                </a:solidFill>
                <a:latin typeface="微軟正黑體" pitchFamily="34" charset="-120"/>
                <a:ea typeface="微軟正黑體" pitchFamily="34" charset="-120"/>
              </a:rPr>
              <a:t>call</a:t>
            </a:r>
            <a:endParaRPr lang="zh-TW" altLang="en-US" b="1" dirty="0">
              <a:solidFill>
                <a:srgbClr val="00B05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3779912" y="4931373"/>
            <a:ext cx="141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3. </a:t>
            </a:r>
            <a:r>
              <a:rPr lang="en-US" altLang="zh-TW" b="1" dirty="0">
                <a:solidFill>
                  <a:srgbClr val="00B050"/>
                </a:solidFill>
                <a:latin typeface="微軟正黑體" pitchFamily="34" charset="-120"/>
                <a:ea typeface="微軟正黑體" pitchFamily="34" charset="-120"/>
              </a:rPr>
              <a:t>translate</a:t>
            </a:r>
            <a:endParaRPr lang="zh-TW" altLang="en-US" b="1" dirty="0">
              <a:solidFill>
                <a:srgbClr val="00B05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2722294" y="401076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</a:rPr>
              <a:t>.object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42" name="直線單箭頭接點 41"/>
          <p:cNvCxnSpPr/>
          <p:nvPr/>
        </p:nvCxnSpPr>
        <p:spPr>
          <a:xfrm flipV="1">
            <a:off x="2638351" y="4405412"/>
            <a:ext cx="1203456" cy="176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3900595" y="4195434"/>
            <a:ext cx="1340283" cy="455352"/>
          </a:xfrm>
          <a:prstGeom prst="rect">
            <a:avLst/>
          </a:prstGeom>
          <a:solidFill>
            <a:srgbClr val="9BBB59">
              <a:alpha val="50196"/>
            </a:srgb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linkloader</a:t>
            </a:r>
            <a:endParaRPr lang="zh-TW" altLang="en-US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cxnSp>
        <p:nvCxnSpPr>
          <p:cNvPr id="46" name="直線單箭頭接點 45"/>
          <p:cNvCxnSpPr/>
          <p:nvPr/>
        </p:nvCxnSpPr>
        <p:spPr>
          <a:xfrm flipV="1">
            <a:off x="5240879" y="4442164"/>
            <a:ext cx="1203456" cy="176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/>
          <p:cNvSpPr txBox="1"/>
          <p:nvPr/>
        </p:nvSpPr>
        <p:spPr>
          <a:xfrm>
            <a:off x="2567867" y="4419245"/>
            <a:ext cx="1252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3. </a:t>
            </a:r>
            <a:r>
              <a:rPr lang="en-US" altLang="zh-CN" b="1" dirty="0">
                <a:solidFill>
                  <a:srgbClr val="00B050"/>
                </a:solidFill>
                <a:latin typeface="微軟正黑體" pitchFamily="34" charset="-120"/>
                <a:ea typeface="微軟正黑體" pitchFamily="34" charset="-120"/>
              </a:rPr>
              <a:t>deliver </a:t>
            </a:r>
            <a:endParaRPr lang="zh-TW" altLang="en-US" b="1" dirty="0">
              <a:solidFill>
                <a:srgbClr val="00B05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5239286" y="4477474"/>
            <a:ext cx="1425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3. </a:t>
            </a:r>
            <a:r>
              <a:rPr lang="en-US" altLang="zh-CN" b="1" dirty="0">
                <a:solidFill>
                  <a:srgbClr val="00B050"/>
                </a:solidFill>
                <a:latin typeface="微軟正黑體" pitchFamily="34" charset="-120"/>
                <a:ea typeface="微軟正黑體" pitchFamily="34" charset="-120"/>
              </a:rPr>
              <a:t>produce </a:t>
            </a:r>
            <a:endParaRPr lang="zh-TW" altLang="en-US" b="1" dirty="0">
              <a:solidFill>
                <a:srgbClr val="00B05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cxnSp>
        <p:nvCxnSpPr>
          <p:cNvPr id="51" name="直線單箭頭接點 50"/>
          <p:cNvCxnSpPr/>
          <p:nvPr/>
        </p:nvCxnSpPr>
        <p:spPr>
          <a:xfrm flipV="1">
            <a:off x="4864732" y="5916245"/>
            <a:ext cx="0" cy="38378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群組 54"/>
          <p:cNvGrpSpPr/>
          <p:nvPr/>
        </p:nvGrpSpPr>
        <p:grpSpPr>
          <a:xfrm>
            <a:off x="1997717" y="6300028"/>
            <a:ext cx="4446491" cy="369332"/>
            <a:chOff x="611560" y="2179579"/>
            <a:chExt cx="4446491" cy="369332"/>
          </a:xfrm>
        </p:grpSpPr>
        <p:cxnSp>
          <p:nvCxnSpPr>
            <p:cNvPr id="56" name="直線接點 55"/>
            <p:cNvCxnSpPr/>
            <p:nvPr/>
          </p:nvCxnSpPr>
          <p:spPr>
            <a:xfrm flipV="1">
              <a:off x="611560" y="2349198"/>
              <a:ext cx="3781190" cy="652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字方塊 56"/>
            <p:cNvSpPr txBox="1"/>
            <p:nvPr/>
          </p:nvSpPr>
          <p:spPr>
            <a:xfrm>
              <a:off x="4421915" y="2179579"/>
              <a:ext cx="6361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prstClr val="black"/>
                  </a:solidFill>
                </a:rPr>
                <a:t>GVA</a:t>
              </a:r>
              <a:endParaRPr lang="zh-TW" alt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58" name="矩形 57"/>
          <p:cNvSpPr/>
          <p:nvPr/>
        </p:nvSpPr>
        <p:spPr>
          <a:xfrm>
            <a:off x="4305794" y="6291509"/>
            <a:ext cx="1080000" cy="360000"/>
          </a:xfrm>
          <a:prstGeom prst="rect">
            <a:avLst/>
          </a:prstGeom>
          <a:solidFill>
            <a:srgbClr val="9BBB59">
              <a:alpha val="50196"/>
            </a:srgb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brig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438164" y="6289647"/>
            <a:ext cx="687828" cy="360000"/>
          </a:xfrm>
          <a:prstGeom prst="rect">
            <a:avLst/>
          </a:prstGeom>
          <a:solidFill>
            <a:srgbClr val="8064A2">
              <a:alpha val="50196"/>
            </a:srgb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 err="1">
                <a:solidFill>
                  <a:prstClr val="black"/>
                </a:solidFill>
              </a:rPr>
              <a:t>arg</a:t>
            </a:r>
            <a:endParaRPr lang="en-US" altLang="zh-TW" sz="2000" dirty="0">
              <a:solidFill>
                <a:prstClr val="black"/>
              </a:solidFill>
            </a:endParaRPr>
          </a:p>
        </p:txBody>
      </p:sp>
      <p:cxnSp>
        <p:nvCxnSpPr>
          <p:cNvPr id="61" name="直線單箭頭接點 60"/>
          <p:cNvCxnSpPr/>
          <p:nvPr/>
        </p:nvCxnSpPr>
        <p:spPr>
          <a:xfrm flipV="1">
            <a:off x="3782078" y="5914951"/>
            <a:ext cx="0" cy="38378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/>
          <p:cNvSpPr txBox="1"/>
          <p:nvPr/>
        </p:nvSpPr>
        <p:spPr>
          <a:xfrm>
            <a:off x="4902356" y="5896572"/>
            <a:ext cx="150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2. </a:t>
            </a:r>
            <a:r>
              <a:rPr lang="en-US" altLang="zh-CN" b="1" dirty="0">
                <a:solidFill>
                  <a:srgbClr val="00B050"/>
                </a:solidFill>
                <a:latin typeface="微軟正黑體" pitchFamily="34" charset="-120"/>
                <a:ea typeface="微軟正黑體" pitchFamily="34" charset="-120"/>
              </a:rPr>
              <a:t>Duplicate</a:t>
            </a:r>
            <a:endParaRPr lang="zh-TW" altLang="en-US" b="1" dirty="0">
              <a:solidFill>
                <a:srgbClr val="00B05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292665" y="1581265"/>
            <a:ext cx="1705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</a:rPr>
              <a:t>Monitor thread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3419872" y="1456956"/>
            <a:ext cx="1214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</a:rPr>
              <a:t>CU thread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71" name="直線單箭頭接點 70"/>
          <p:cNvCxnSpPr/>
          <p:nvPr/>
        </p:nvCxnSpPr>
        <p:spPr>
          <a:xfrm flipH="1">
            <a:off x="1540004" y="2728220"/>
            <a:ext cx="186563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1882563" y="2722261"/>
            <a:ext cx="1406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5. </a:t>
            </a:r>
            <a:r>
              <a:rPr lang="en-US" altLang="zh-TW" b="1" dirty="0">
                <a:solidFill>
                  <a:srgbClr val="00B050"/>
                </a:solidFill>
                <a:latin typeface="微軟正黑體" pitchFamily="34" charset="-120"/>
                <a:ea typeface="微軟正黑體" pitchFamily="34" charset="-120"/>
              </a:rPr>
              <a:t>Wake up</a:t>
            </a:r>
            <a:endParaRPr lang="zh-TW" altLang="en-US" b="1" dirty="0">
              <a:solidFill>
                <a:srgbClr val="00B05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4284088" y="5538394"/>
            <a:ext cx="1080000" cy="360000"/>
          </a:xfrm>
          <a:prstGeom prst="rect">
            <a:avLst/>
          </a:prstGeom>
          <a:solidFill>
            <a:srgbClr val="9BBB59">
              <a:alpha val="50196"/>
            </a:srgb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brig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3416458" y="5536532"/>
            <a:ext cx="687828" cy="360000"/>
          </a:xfrm>
          <a:prstGeom prst="rect">
            <a:avLst/>
          </a:prstGeom>
          <a:solidFill>
            <a:srgbClr val="8064A2">
              <a:alpha val="50196"/>
            </a:srgb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 err="1">
                <a:solidFill>
                  <a:prstClr val="black"/>
                </a:solidFill>
              </a:rPr>
              <a:t>arg</a:t>
            </a:r>
            <a:endParaRPr lang="en-US" altLang="zh-TW" sz="2000" dirty="0">
              <a:solidFill>
                <a:prstClr val="black"/>
              </a:solidFill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1808820" y="1835026"/>
            <a:ext cx="1406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4. </a:t>
            </a:r>
            <a:r>
              <a:rPr lang="en-US" altLang="zh-TW" b="1" dirty="0">
                <a:solidFill>
                  <a:srgbClr val="00B050"/>
                </a:solidFill>
                <a:latin typeface="微軟正黑體" pitchFamily="34" charset="-120"/>
                <a:ea typeface="微軟正黑體" pitchFamily="34" charset="-120"/>
              </a:rPr>
              <a:t>Wake up</a:t>
            </a:r>
            <a:endParaRPr lang="zh-TW" altLang="en-US" b="1" dirty="0">
              <a:solidFill>
                <a:srgbClr val="00B05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cxnSp>
        <p:nvCxnSpPr>
          <p:cNvPr id="79" name="直線單箭頭接點 78"/>
          <p:cNvCxnSpPr/>
          <p:nvPr/>
        </p:nvCxnSpPr>
        <p:spPr>
          <a:xfrm>
            <a:off x="1552364" y="2267643"/>
            <a:ext cx="1872208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字方塊 74"/>
          <p:cNvSpPr txBox="1"/>
          <p:nvPr/>
        </p:nvSpPr>
        <p:spPr>
          <a:xfrm>
            <a:off x="0" y="2267643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6. </a:t>
            </a:r>
            <a:r>
              <a:rPr lang="en-US" altLang="zh-TW" b="1" dirty="0">
                <a:solidFill>
                  <a:srgbClr val="00B050"/>
                </a:solidFill>
                <a:latin typeface="微軟正黑體" pitchFamily="34" charset="-120"/>
                <a:ea typeface="微軟正黑體" pitchFamily="34" charset="-120"/>
              </a:rPr>
              <a:t>block</a:t>
            </a:r>
            <a:endParaRPr lang="zh-TW" altLang="en-US" b="1" dirty="0">
              <a:solidFill>
                <a:srgbClr val="00B05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2267744" y="5893277"/>
            <a:ext cx="150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2. </a:t>
            </a:r>
            <a:r>
              <a:rPr lang="en-US" altLang="zh-CN" b="1" dirty="0">
                <a:solidFill>
                  <a:srgbClr val="00B050"/>
                </a:solidFill>
                <a:latin typeface="微軟正黑體" pitchFamily="34" charset="-120"/>
                <a:ea typeface="微軟正黑體" pitchFamily="34" charset="-120"/>
              </a:rPr>
              <a:t>Duplicate</a:t>
            </a:r>
            <a:endParaRPr lang="zh-TW" altLang="en-US" b="1" dirty="0">
              <a:solidFill>
                <a:srgbClr val="00B05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cxnSp>
        <p:nvCxnSpPr>
          <p:cNvPr id="52" name="直線單箭頭接點 51"/>
          <p:cNvCxnSpPr/>
          <p:nvPr/>
        </p:nvCxnSpPr>
        <p:spPr>
          <a:xfrm>
            <a:off x="1351151" y="3091593"/>
            <a:ext cx="2054483" cy="104731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/>
          <p:cNvSpPr txBox="1"/>
          <p:nvPr/>
        </p:nvSpPr>
        <p:spPr>
          <a:xfrm>
            <a:off x="431978" y="1391426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1. </a:t>
            </a:r>
            <a:r>
              <a:rPr lang="en-US" altLang="zh-TW" b="1" dirty="0">
                <a:solidFill>
                  <a:srgbClr val="00B050"/>
                </a:solidFill>
                <a:latin typeface="微軟正黑體" pitchFamily="34" charset="-120"/>
                <a:ea typeface="微軟正黑體" pitchFamily="34" charset="-120"/>
              </a:rPr>
              <a:t>initial</a:t>
            </a:r>
            <a:endParaRPr lang="zh-TW" altLang="en-US" b="1" dirty="0">
              <a:solidFill>
                <a:srgbClr val="00B05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-1" y="2264704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4. </a:t>
            </a:r>
            <a:r>
              <a:rPr lang="en-US" altLang="zh-TW" b="1" dirty="0">
                <a:solidFill>
                  <a:srgbClr val="00B050"/>
                </a:solidFill>
                <a:latin typeface="微軟正黑體" pitchFamily="34" charset="-120"/>
                <a:ea typeface="微軟正黑體" pitchFamily="34" charset="-120"/>
              </a:rPr>
              <a:t>block</a:t>
            </a:r>
            <a:endParaRPr lang="zh-TW" altLang="en-US" b="1" dirty="0">
              <a:solidFill>
                <a:srgbClr val="00B05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4" name="內容版面配置區 2"/>
          <p:cNvSpPr>
            <a:spLocks noGrp="1"/>
          </p:cNvSpPr>
          <p:nvPr>
            <p:ph idx="1"/>
          </p:nvPr>
        </p:nvSpPr>
        <p:spPr>
          <a:xfrm>
            <a:off x="4643369" y="1391426"/>
            <a:ext cx="4509565" cy="2015741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>
            <a:normAutofit/>
          </a:bodyPr>
          <a:lstStyle/>
          <a:p>
            <a:pPr marL="180000" indent="-180000">
              <a:buFont typeface="+mj-lt"/>
              <a:buAutoNum type="arabicPeriod"/>
            </a:pPr>
            <a:r>
              <a:rPr lang="en-US" altLang="zh-CN" sz="2800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sz="2800" dirty="0" smtClean="0">
                <a:solidFill>
                  <a:srgbClr val="00B050"/>
                </a:solidFill>
                <a:latin typeface="微軟正黑體" pitchFamily="34" charset="-120"/>
                <a:ea typeface="微軟正黑體" pitchFamily="34" charset="-120"/>
              </a:rPr>
              <a:t>Initialize</a:t>
            </a:r>
            <a:r>
              <a:rPr lang="en-US" altLang="zh-CN" sz="28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 the monitor </a:t>
            </a:r>
            <a:r>
              <a:rPr lang="en-US" altLang="zh-CN" sz="2800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threads </a:t>
            </a:r>
            <a:r>
              <a:rPr lang="en-US" altLang="zh-CN" sz="28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when booting.</a:t>
            </a:r>
            <a:endParaRPr lang="en-US" altLang="zh-CN" sz="2800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4637321" y="1401201"/>
            <a:ext cx="4506679" cy="201574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normAutofit/>
          </a:bodyPr>
          <a:lstStyle/>
          <a:p>
            <a:pPr marL="180000" lvl="1" indent="-180000">
              <a:spcBef>
                <a:spcPct val="20000"/>
              </a:spcBef>
              <a:buFont typeface="+mj-lt"/>
              <a:buAutoNum type="arabicPeriod" startAt="4"/>
            </a:pPr>
            <a:r>
              <a:rPr lang="en-US" altLang="zh-CN" sz="2400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sz="2400" dirty="0">
                <a:solidFill>
                  <a:srgbClr val="00B050"/>
                </a:solidFill>
                <a:latin typeface="微軟正黑體" pitchFamily="34" charset="-120"/>
                <a:ea typeface="微軟正黑體" pitchFamily="34" charset="-120"/>
              </a:rPr>
              <a:t>Wake up </a:t>
            </a:r>
            <a:r>
              <a:rPr lang="en-US" altLang="zh-CN" sz="2400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all CU thread to execute and </a:t>
            </a:r>
            <a:r>
              <a:rPr lang="en-US" altLang="zh-CN" sz="2400" dirty="0">
                <a:solidFill>
                  <a:srgbClr val="00B050"/>
                </a:solidFill>
                <a:latin typeface="微軟正黑體" pitchFamily="34" charset="-120"/>
                <a:ea typeface="微軟正黑體" pitchFamily="34" charset="-120"/>
              </a:rPr>
              <a:t>block</a:t>
            </a:r>
            <a:r>
              <a:rPr lang="en-US" altLang="zh-CN" sz="2400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 itself.</a:t>
            </a:r>
            <a:endParaRPr lang="en-US" altLang="zh-CN" sz="2000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lvl="1">
              <a:spcBef>
                <a:spcPct val="20000"/>
              </a:spcBef>
            </a:pPr>
            <a:endParaRPr lang="en-US" altLang="zh-CN" sz="2400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cxnSp>
        <p:nvCxnSpPr>
          <p:cNvPr id="67" name="直線單箭頭接點 66"/>
          <p:cNvCxnSpPr>
            <a:endCxn id="8" idx="2"/>
          </p:cNvCxnSpPr>
          <p:nvPr/>
        </p:nvCxnSpPr>
        <p:spPr>
          <a:xfrm flipH="1" flipV="1">
            <a:off x="4025561" y="3138687"/>
            <a:ext cx="2495239" cy="105674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字方塊 69"/>
          <p:cNvSpPr txBox="1"/>
          <p:nvPr/>
        </p:nvSpPr>
        <p:spPr>
          <a:xfrm>
            <a:off x="3710021" y="3529189"/>
            <a:ext cx="1529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4. </a:t>
            </a:r>
            <a:r>
              <a:rPr lang="en-US" altLang="zh-TW" b="1" dirty="0">
                <a:solidFill>
                  <a:srgbClr val="00B050"/>
                </a:solidFill>
                <a:latin typeface="微軟正黑體" pitchFamily="34" charset="-120"/>
                <a:ea typeface="微軟正黑體" pitchFamily="34" charset="-120"/>
              </a:rPr>
              <a:t>execution</a:t>
            </a:r>
            <a:endParaRPr lang="zh-TW" altLang="en-US" b="1" dirty="0">
              <a:solidFill>
                <a:srgbClr val="00B05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60" name="內容版面配置區 2"/>
          <p:cNvSpPr txBox="1">
            <a:spLocks/>
          </p:cNvSpPr>
          <p:nvPr/>
        </p:nvSpPr>
        <p:spPr>
          <a:xfrm>
            <a:off x="4637321" y="1386864"/>
            <a:ext cx="4509565" cy="201574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 startAt="2"/>
            </a:pPr>
            <a:r>
              <a:rPr lang="en-US" altLang="zh-CN" sz="24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Collect information from guest</a:t>
            </a:r>
          </a:p>
          <a:p>
            <a:pPr marL="360000" lvl="1" indent="-180000"/>
            <a:r>
              <a:rPr lang="en-US" altLang="zh-CN" sz="20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sz="2000" dirty="0" smtClean="0">
                <a:solidFill>
                  <a:srgbClr val="00B050"/>
                </a:solidFill>
                <a:latin typeface="微軟正黑體" pitchFamily="34" charset="-120"/>
                <a:ea typeface="微軟正黑體" pitchFamily="34" charset="-120"/>
              </a:rPr>
              <a:t>Duplicate</a:t>
            </a:r>
            <a:r>
              <a:rPr lang="en-US" altLang="zh-CN" sz="20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 brig into local cache(host </a:t>
            </a:r>
            <a:r>
              <a:rPr lang="en-US" altLang="zh-CN" sz="2000" dirty="0" err="1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addr</a:t>
            </a:r>
            <a:r>
              <a:rPr lang="en-US" altLang="zh-CN" sz="20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 space)</a:t>
            </a:r>
          </a:p>
        </p:txBody>
      </p:sp>
      <p:sp>
        <p:nvSpPr>
          <p:cNvPr id="65" name="內容版面配置區 2"/>
          <p:cNvSpPr txBox="1">
            <a:spLocks/>
          </p:cNvSpPr>
          <p:nvPr/>
        </p:nvSpPr>
        <p:spPr>
          <a:xfrm>
            <a:off x="4646679" y="1401201"/>
            <a:ext cx="4509565" cy="202551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1" indent="-180000">
              <a:buFont typeface="+mj-lt"/>
              <a:buAutoNum type="arabicPeriod" startAt="3"/>
            </a:pPr>
            <a:r>
              <a:rPr lang="en-US" altLang="zh-CN" sz="18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Prepare for the code cache(include MMU)</a:t>
            </a:r>
          </a:p>
          <a:p>
            <a:pPr marL="360000" lvl="1" indent="-180000"/>
            <a:r>
              <a:rPr lang="en-US" altLang="zh-CN" sz="16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sz="1600" dirty="0" smtClean="0">
                <a:solidFill>
                  <a:srgbClr val="00B050"/>
                </a:solidFill>
                <a:latin typeface="微軟正黑體" pitchFamily="34" charset="-120"/>
                <a:ea typeface="微軟正黑體" pitchFamily="34" charset="-120"/>
              </a:rPr>
              <a:t>Call</a:t>
            </a:r>
            <a:r>
              <a:rPr lang="en-US" altLang="zh-CN" sz="16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 the translator</a:t>
            </a:r>
            <a:r>
              <a:rPr lang="en-US" altLang="zh-CN" sz="14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sz="16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and </a:t>
            </a:r>
            <a:r>
              <a:rPr lang="en-US" altLang="zh-CN" sz="1600" dirty="0" smtClean="0">
                <a:solidFill>
                  <a:srgbClr val="00B050"/>
                </a:solidFill>
                <a:latin typeface="微軟正黑體" pitchFamily="34" charset="-120"/>
                <a:ea typeface="微軟正黑體" pitchFamily="34" charset="-120"/>
              </a:rPr>
              <a:t>deliver</a:t>
            </a:r>
            <a:r>
              <a:rPr lang="en-US" altLang="zh-CN" sz="16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 the brig cache.</a:t>
            </a:r>
          </a:p>
          <a:p>
            <a:pPr marL="360000" lvl="1" indent="-180000"/>
            <a:r>
              <a:rPr lang="en-US" altLang="zh-CN" sz="16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sz="1600" dirty="0" smtClean="0">
                <a:solidFill>
                  <a:srgbClr val="00B050"/>
                </a:solidFill>
                <a:latin typeface="微軟正黑體" pitchFamily="34" charset="-120"/>
                <a:ea typeface="微軟正黑體" pitchFamily="34" charset="-120"/>
              </a:rPr>
              <a:t>Call</a:t>
            </a:r>
            <a:r>
              <a:rPr lang="en-US" altLang="zh-CN" sz="16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 the </a:t>
            </a:r>
            <a:r>
              <a:rPr lang="en-US" altLang="zh-CN" sz="1600" dirty="0" err="1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linkloader</a:t>
            </a:r>
            <a:r>
              <a:rPr lang="en-US" altLang="zh-CN" sz="14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sz="16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to </a:t>
            </a:r>
            <a:r>
              <a:rPr lang="en-US" altLang="zh-CN" sz="1600" dirty="0" smtClean="0">
                <a:solidFill>
                  <a:srgbClr val="00B050"/>
                </a:solidFill>
                <a:latin typeface="微軟正黑體" pitchFamily="34" charset="-120"/>
                <a:ea typeface="微軟正黑體" pitchFamily="34" charset="-120"/>
              </a:rPr>
              <a:t>produce</a:t>
            </a:r>
            <a:r>
              <a:rPr lang="en-US" altLang="zh-CN" sz="16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 the real code cache from the .o </a:t>
            </a:r>
            <a:r>
              <a:rPr lang="en-US" altLang="zh-CN" sz="18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output</a:t>
            </a:r>
            <a:r>
              <a:rPr lang="en-US" altLang="zh-CN" sz="14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sz="16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of the translator</a:t>
            </a:r>
            <a:endParaRPr lang="en-US" altLang="zh-CN" sz="1600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4637321" y="1405424"/>
            <a:ext cx="4537924" cy="201707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normAutofit/>
          </a:bodyPr>
          <a:lstStyle/>
          <a:p>
            <a:pPr marL="342900" lvl="1" indent="-342900">
              <a:spcBef>
                <a:spcPct val="20000"/>
              </a:spcBef>
              <a:buFont typeface="+mj-lt"/>
              <a:buAutoNum type="arabicPeriod" startAt="5"/>
            </a:pPr>
            <a:r>
              <a:rPr lang="en-US" altLang="zh-CN" sz="2000" dirty="0">
                <a:solidFill>
                  <a:srgbClr val="00B050"/>
                </a:solidFill>
                <a:latin typeface="微軟正黑體" pitchFamily="34" charset="-120"/>
                <a:ea typeface="微軟正黑體" pitchFamily="34" charset="-120"/>
              </a:rPr>
              <a:t>Wake up </a:t>
            </a:r>
            <a:r>
              <a:rPr lang="en-US" altLang="zh-CN" sz="2000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by the CU thread and reset all the environment.</a:t>
            </a:r>
          </a:p>
        </p:txBody>
      </p:sp>
      <p:sp>
        <p:nvSpPr>
          <p:cNvPr id="68" name="文字方塊 67"/>
          <p:cNvSpPr txBox="1"/>
          <p:nvPr/>
        </p:nvSpPr>
        <p:spPr>
          <a:xfrm>
            <a:off x="4646679" y="1386864"/>
            <a:ext cx="4490847" cy="200216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normAutofit/>
          </a:bodyPr>
          <a:lstStyle/>
          <a:p>
            <a:pPr marL="342900" lvl="1" indent="-342900">
              <a:spcBef>
                <a:spcPct val="20000"/>
              </a:spcBef>
              <a:buFont typeface="+mj-lt"/>
              <a:buAutoNum type="arabicPeriod" startAt="6"/>
            </a:pPr>
            <a:r>
              <a:rPr lang="en-US" altLang="zh-CN" sz="2400" dirty="0">
                <a:solidFill>
                  <a:srgbClr val="00B050"/>
                </a:solidFill>
                <a:latin typeface="微軟正黑體" pitchFamily="34" charset="-120"/>
                <a:ea typeface="微軟正黑體" pitchFamily="34" charset="-120"/>
              </a:rPr>
              <a:t>Block</a:t>
            </a:r>
            <a:r>
              <a:rPr lang="en-US" altLang="zh-CN" sz="2400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 itself again to wait for a new job.</a:t>
            </a:r>
          </a:p>
        </p:txBody>
      </p:sp>
    </p:spTree>
    <p:extLst>
      <p:ext uri="{BB962C8B-B14F-4D97-AF65-F5344CB8AC3E}">
        <p14:creationId xmlns:p14="http://schemas.microsoft.com/office/powerpoint/2010/main" val="77601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5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3.43201E-6 L -0.34288 -0.29995 " pathEditMode="relative" rAng="0" ptsTypes="AA">
                                      <p:cBhvr>
                                        <p:cTn id="13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53" y="-15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38" grpId="0"/>
      <p:bldP spid="39" grpId="0"/>
      <p:bldP spid="41" grpId="0"/>
      <p:bldP spid="48" grpId="0"/>
      <p:bldP spid="49" grpId="0"/>
      <p:bldP spid="62" grpId="0"/>
      <p:bldP spid="63" grpId="0"/>
      <p:bldP spid="64" grpId="0"/>
      <p:bldP spid="64" grpId="1"/>
      <p:bldP spid="74" grpId="0"/>
      <p:bldP spid="76" grpId="0" animBg="1"/>
      <p:bldP spid="77" grpId="0" animBg="1"/>
      <p:bldP spid="78" grpId="0"/>
      <p:bldP spid="75" grpId="0"/>
      <p:bldP spid="50" grpId="0"/>
      <p:bldP spid="47" grpId="0"/>
      <p:bldP spid="53" grpId="0"/>
      <p:bldP spid="53" grpId="1"/>
      <p:bldP spid="54" grpId="0" build="p" animBg="1"/>
      <p:bldP spid="54" grpId="1" build="p" animBg="1"/>
      <p:bldP spid="5" grpId="0" animBg="1"/>
      <p:bldP spid="5" grpId="1" animBg="1"/>
      <p:bldP spid="70" grpId="0"/>
      <p:bldP spid="60" grpId="0" animBg="1"/>
      <p:bldP spid="60" grpId="1" animBg="1"/>
      <p:bldP spid="65" grpId="0" animBg="1"/>
      <p:bldP spid="65" grpId="1" animBg="1"/>
      <p:bldP spid="66" grpId="0" animBg="1"/>
      <p:bldP spid="66" grpId="1" animBg="1"/>
      <p:bldP spid="6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73980"/>
            <a:ext cx="7772400" cy="1470025"/>
          </a:xfrm>
        </p:spPr>
        <p:txBody>
          <a:bodyPr/>
          <a:lstStyle/>
          <a:p>
            <a:pPr algn="ctr"/>
            <a:r>
              <a:rPr lang="en-US" altLang="zh-TW" sz="4400" dirty="0" smtClean="0"/>
              <a:t>HSA Translator</a:t>
            </a:r>
            <a:endParaRPr lang="zh-TW" altLang="en-US" sz="44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5800" y="3644005"/>
            <a:ext cx="7883434" cy="1752600"/>
          </a:xfrm>
        </p:spPr>
        <p:txBody>
          <a:bodyPr/>
          <a:lstStyle/>
          <a:p>
            <a:r>
              <a:rPr lang="en-US" altLang="zh-TW" sz="2400" b="1" dirty="0" smtClean="0"/>
              <a:t>.cl to </a:t>
            </a:r>
            <a:r>
              <a:rPr lang="en-US" altLang="zh-TW" sz="2400" b="1" dirty="0" err="1" smtClean="0"/>
              <a:t>hsail</a:t>
            </a:r>
            <a:endParaRPr lang="zh-TW" altLang="en-US" sz="2400" b="1" dirty="0"/>
          </a:p>
        </p:txBody>
      </p:sp>
      <p:sp>
        <p:nvSpPr>
          <p:cNvPr id="4" name="文字方塊 3"/>
          <p:cNvSpPr txBox="1"/>
          <p:nvPr/>
        </p:nvSpPr>
        <p:spPr>
          <a:xfrm>
            <a:off x="6035041" y="5874768"/>
            <a:ext cx="3735978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ea typeface="標楷體" pitchFamily="65" charset="-120"/>
                <a:cs typeface="Calibri" pitchFamily="34" charset="0"/>
              </a:rPr>
              <a:t>© Copyright </a:t>
            </a:r>
            <a:r>
              <a:rPr lang="en-US" altLang="zh-TW" sz="1200" dirty="0" err="1">
                <a:solidFill>
                  <a:prstClr val="white">
                    <a:lumMod val="50000"/>
                  </a:prstClr>
                </a:solidFill>
                <a:ea typeface="標楷體" pitchFamily="65" charset="-120"/>
                <a:cs typeface="Calibri" pitchFamily="34" charset="0"/>
              </a:rPr>
              <a:t>Khronos</a:t>
            </a:r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ea typeface="標楷體" pitchFamily="65" charset="-120"/>
                <a:cs typeface="Calibri" pitchFamily="34" charset="0"/>
              </a:rPr>
              <a:t> Group, 2013</a:t>
            </a:r>
            <a:endParaRPr lang="zh-TW" altLang="en-US" sz="1200" dirty="0" smtClean="0">
              <a:solidFill>
                <a:prstClr val="white">
                  <a:lumMod val="50000"/>
                </a:prstClr>
              </a:solidFill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831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73676" y="95564"/>
            <a:ext cx="6268792" cy="690048"/>
          </a:xfrm>
        </p:spPr>
        <p:txBody>
          <a:bodyPr/>
          <a:lstStyle/>
          <a:p>
            <a:r>
              <a:rPr lang="en-US" altLang="zh-TW" dirty="0" smtClean="0"/>
              <a:t>Using clang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1038277" y="2053656"/>
            <a:ext cx="681913" cy="147732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 anchorCtr="1">
            <a:spAutoFit/>
          </a:bodyPr>
          <a:lstStyle/>
          <a:p>
            <a:endParaRPr lang="en-US" altLang="zh-TW" dirty="0" smtClean="0">
              <a:ea typeface="標楷體" pitchFamily="65" charset="-120"/>
              <a:cs typeface="Calibri" pitchFamily="34" charset="0"/>
            </a:endParaRPr>
          </a:p>
          <a:p>
            <a:endParaRPr lang="en-US" altLang="zh-TW" dirty="0" smtClean="0">
              <a:ea typeface="標楷體" pitchFamily="65" charset="-120"/>
              <a:cs typeface="Calibri" pitchFamily="34" charset="0"/>
            </a:endParaRP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.cl</a:t>
            </a:r>
          </a:p>
          <a:p>
            <a:endParaRPr lang="en-US" altLang="zh-TW" dirty="0" smtClean="0">
              <a:ea typeface="標楷體" pitchFamily="65" charset="-120"/>
              <a:cs typeface="Calibri" pitchFamily="34" charset="0"/>
            </a:endParaRPr>
          </a:p>
          <a:p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898427" y="2211976"/>
            <a:ext cx="817939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PTX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5" name="直線單箭頭接點 4"/>
          <p:cNvCxnSpPr/>
          <p:nvPr/>
        </p:nvCxnSpPr>
        <p:spPr bwMode="auto">
          <a:xfrm>
            <a:off x="1808413" y="2396642"/>
            <a:ext cx="1985316" cy="0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文字方塊 5"/>
          <p:cNvSpPr txBox="1"/>
          <p:nvPr/>
        </p:nvSpPr>
        <p:spPr>
          <a:xfrm>
            <a:off x="2100856" y="1888637"/>
            <a:ext cx="1400430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err="1" smtClean="0">
                <a:ea typeface="標楷體" pitchFamily="65" charset="-120"/>
                <a:cs typeface="Calibri" pitchFamily="34" charset="0"/>
              </a:rPr>
              <a:t>clang+libclc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8" name="直線單箭頭接點 7"/>
          <p:cNvCxnSpPr/>
          <p:nvPr/>
        </p:nvCxnSpPr>
        <p:spPr bwMode="auto">
          <a:xfrm>
            <a:off x="4857922" y="2396642"/>
            <a:ext cx="1985316" cy="0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文字方塊 8"/>
          <p:cNvSpPr txBox="1"/>
          <p:nvPr/>
        </p:nvSpPr>
        <p:spPr>
          <a:xfrm>
            <a:off x="7139842" y="1934977"/>
            <a:ext cx="1118722" cy="92333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spAutoFit/>
          </a:bodyPr>
          <a:lstStyle/>
          <a:p>
            <a:endParaRPr lang="en-US" altLang="zh-TW" dirty="0" smtClean="0">
              <a:ea typeface="標楷體" pitchFamily="65" charset="-120"/>
              <a:cs typeface="Calibri" pitchFamily="34" charset="0"/>
            </a:endParaRP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Hsail</a:t>
            </a:r>
          </a:p>
          <a:p>
            <a:endParaRPr lang="en-US" altLang="zh-TW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251011" y="1911807"/>
            <a:ext cx="1376126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ptx2hsail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696437" y="2852419"/>
            <a:ext cx="2308286" cy="64633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1.Instrction mapping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2.String </a:t>
            </a:r>
            <a:r>
              <a:rPr lang="en-US" altLang="zh-TW" dirty="0" err="1" smtClean="0">
                <a:ea typeface="標楷體" pitchFamily="65" charset="-120"/>
                <a:cs typeface="Calibri" pitchFamily="34" charset="0"/>
              </a:rPr>
              <a:t>tranlation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86427" y="4186277"/>
            <a:ext cx="6364135" cy="1754326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>
                <a:ea typeface="標楷體" pitchFamily="65" charset="-120"/>
                <a:cs typeface="Calibri" pitchFamily="34" charset="0"/>
              </a:rPr>
              <a:t>We can use the </a:t>
            </a:r>
            <a:r>
              <a:rPr lang="en-US" altLang="zh-TW" dirty="0" err="1">
                <a:ea typeface="標楷體" pitchFamily="65" charset="-120"/>
                <a:cs typeface="Calibri" pitchFamily="34" charset="0"/>
              </a:rPr>
              <a:t>libclc</a:t>
            </a:r>
            <a:r>
              <a:rPr lang="en-US" altLang="zh-TW" dirty="0">
                <a:ea typeface="標楷體" pitchFamily="65" charset="-120"/>
                <a:cs typeface="Calibri" pitchFamily="34" charset="0"/>
              </a:rPr>
              <a:t> library, written by Peter </a:t>
            </a:r>
            <a:r>
              <a:rPr lang="en-US" altLang="zh-TW" dirty="0" err="1">
                <a:ea typeface="標楷體" pitchFamily="65" charset="-120"/>
                <a:cs typeface="Calibri" pitchFamily="34" charset="0"/>
              </a:rPr>
              <a:t>Collingbourne</a:t>
            </a:r>
            <a:r>
              <a:rPr lang="en-US" altLang="zh-TW" dirty="0">
                <a:ea typeface="標楷體" pitchFamily="65" charset="-120"/>
                <a:cs typeface="Calibri" pitchFamily="34" charset="0"/>
              </a:rPr>
              <a:t>, to provide the </a:t>
            </a:r>
            <a:r>
              <a:rPr lang="en-US" altLang="zh-TW" dirty="0" err="1">
                <a:ea typeface="標楷體" pitchFamily="65" charset="-120"/>
                <a:cs typeface="Calibri" pitchFamily="34" charset="0"/>
              </a:rPr>
              <a:t>OpenCL</a:t>
            </a:r>
            <a:r>
              <a:rPr lang="en-US" altLang="zh-TW" dirty="0">
                <a:ea typeface="標楷體" pitchFamily="65" charset="-120"/>
                <a:cs typeface="Calibri" pitchFamily="34" charset="0"/>
              </a:rPr>
              <a:t> built-in functions for Clang.  This library will map </a:t>
            </a:r>
            <a:r>
              <a:rPr lang="en-US" altLang="zh-TW" dirty="0" err="1">
                <a:ea typeface="標楷體" pitchFamily="65" charset="-120"/>
                <a:cs typeface="Calibri" pitchFamily="34" charset="0"/>
              </a:rPr>
              <a:t>OpenCL</a:t>
            </a:r>
            <a:r>
              <a:rPr lang="en-US" altLang="zh-TW" dirty="0">
                <a:ea typeface="標楷體" pitchFamily="65" charset="-120"/>
                <a:cs typeface="Calibri" pitchFamily="34" charset="0"/>
              </a:rPr>
              <a:t> built-in functions to target-specific functions in the LLVM IR that the PTX back-end knows how to handle.</a:t>
            </a:r>
          </a:p>
          <a:p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876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73676" y="95564"/>
            <a:ext cx="6268792" cy="690048"/>
          </a:xfrm>
        </p:spPr>
        <p:txBody>
          <a:bodyPr/>
          <a:lstStyle/>
          <a:p>
            <a:r>
              <a:rPr lang="en-US" altLang="zh-TW" dirty="0" smtClean="0"/>
              <a:t>ptx2hsail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273676" y="1291049"/>
            <a:ext cx="1620570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Concept: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754266"/>
              </p:ext>
            </p:extLst>
          </p:nvPr>
        </p:nvGraphicFramePr>
        <p:xfrm>
          <a:off x="1249379" y="2257908"/>
          <a:ext cx="6998328" cy="2559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582"/>
                <a:gridCol w="2423430"/>
                <a:gridCol w="2825316"/>
              </a:tblGrid>
              <a:tr h="82266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Platform</a:t>
                      </a:r>
                      <a:r>
                        <a:rPr lang="zh-TW" altLang="en-US" dirty="0" smtClean="0"/>
                        <a:t>  </a:t>
                      </a:r>
                      <a:r>
                        <a:rPr lang="en-US" altLang="zh-TW" dirty="0" smtClean="0"/>
                        <a:t>PTX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   </a:t>
                      </a:r>
                      <a:r>
                        <a:rPr lang="en-US" altLang="zh-TW" dirty="0" smtClean="0"/>
                        <a:t>Platform  </a:t>
                      </a:r>
                      <a:r>
                        <a:rPr lang="en-US" altLang="zh-TW" dirty="0" err="1" smtClean="0"/>
                        <a:t>Hsail</a:t>
                      </a:r>
                      <a:endParaRPr lang="zh-TW" altLang="en-US" dirty="0"/>
                    </a:p>
                  </a:txBody>
                  <a:tcPr/>
                </a:tc>
              </a:tr>
              <a:tr h="822667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Instruction 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822667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Instruction 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selp</a:t>
                      </a:r>
                      <a:r>
                        <a:rPr lang="en-US" altLang="zh-TW" dirty="0" smtClean="0"/>
                        <a:t>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Step1:</a:t>
                      </a:r>
                    </a:p>
                    <a:p>
                      <a:r>
                        <a:rPr lang="en-US" altLang="zh-TW" dirty="0" smtClean="0"/>
                        <a:t>Step2:</a:t>
                      </a:r>
                    </a:p>
                    <a:p>
                      <a:r>
                        <a:rPr lang="en-US" altLang="zh-TW" dirty="0" smtClean="0"/>
                        <a:t>Step3: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447" y="3284687"/>
            <a:ext cx="2362472" cy="319733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817" y="3284687"/>
            <a:ext cx="3440982" cy="39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64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4502" y="87086"/>
            <a:ext cx="7195457" cy="717913"/>
          </a:xfrm>
        </p:spPr>
        <p:txBody>
          <a:bodyPr/>
          <a:lstStyle/>
          <a:p>
            <a:r>
              <a:rPr lang="en-US" altLang="zh-TW" dirty="0" smtClean="0"/>
              <a:t>Implementation of </a:t>
            </a:r>
            <a:r>
              <a:rPr lang="en-US" altLang="zh-TW" dirty="0" err="1" smtClean="0"/>
              <a:t>selp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" y="1041832"/>
            <a:ext cx="4850676" cy="559538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313" y="1488725"/>
            <a:ext cx="5506218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08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8808" y="93396"/>
            <a:ext cx="7181660" cy="703310"/>
          </a:xfrm>
        </p:spPr>
        <p:txBody>
          <a:bodyPr/>
          <a:lstStyle/>
          <a:p>
            <a:r>
              <a:rPr lang="en-US" altLang="zh-TW" dirty="0" err="1" smtClean="0"/>
              <a:t>ptx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31" y="1784519"/>
            <a:ext cx="6746983" cy="300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519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62551" y="72428"/>
            <a:ext cx="6726014" cy="787651"/>
          </a:xfrm>
        </p:spPr>
        <p:txBody>
          <a:bodyPr/>
          <a:lstStyle/>
          <a:p>
            <a:r>
              <a:rPr lang="en-US" altLang="zh-TW" dirty="0" err="1" smtClean="0"/>
              <a:t>hsail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46" y="1277524"/>
            <a:ext cx="6416824" cy="4616282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443" y="4758210"/>
            <a:ext cx="3391373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498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73980"/>
            <a:ext cx="7772400" cy="1470025"/>
          </a:xfrm>
        </p:spPr>
        <p:txBody>
          <a:bodyPr/>
          <a:lstStyle/>
          <a:p>
            <a:pPr algn="ctr"/>
            <a:r>
              <a:rPr lang="en-US" altLang="zh-TW" sz="4400" dirty="0" smtClean="0"/>
              <a:t>HSA Translator</a:t>
            </a:r>
            <a:endParaRPr lang="zh-TW" altLang="en-US" sz="44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5800" y="3644005"/>
            <a:ext cx="7883434" cy="1752600"/>
          </a:xfrm>
        </p:spPr>
        <p:txBody>
          <a:bodyPr/>
          <a:lstStyle/>
          <a:p>
            <a:r>
              <a:rPr lang="en-US" altLang="zh-TW" b="1" dirty="0" smtClean="0"/>
              <a:t>HSAIL to x86 Convertor</a:t>
            </a:r>
            <a:endParaRPr lang="zh-TW" altLang="en-US" b="1" dirty="0"/>
          </a:p>
        </p:txBody>
      </p:sp>
      <p:sp>
        <p:nvSpPr>
          <p:cNvPr id="4" name="文字方塊 3"/>
          <p:cNvSpPr txBox="1"/>
          <p:nvPr/>
        </p:nvSpPr>
        <p:spPr>
          <a:xfrm>
            <a:off x="6035041" y="5874768"/>
            <a:ext cx="3735978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ea typeface="標楷體" pitchFamily="65" charset="-120"/>
                <a:cs typeface="Calibri" pitchFamily="34" charset="0"/>
              </a:rPr>
              <a:t>© Copyright </a:t>
            </a:r>
            <a:r>
              <a:rPr lang="en-US" altLang="zh-TW" sz="1200" dirty="0" err="1">
                <a:solidFill>
                  <a:prstClr val="white">
                    <a:lumMod val="50000"/>
                  </a:prstClr>
                </a:solidFill>
                <a:ea typeface="標楷體" pitchFamily="65" charset="-120"/>
                <a:cs typeface="Calibri" pitchFamily="34" charset="0"/>
              </a:rPr>
              <a:t>Khronos</a:t>
            </a:r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ea typeface="標楷體" pitchFamily="65" charset="-120"/>
                <a:cs typeface="Calibri" pitchFamily="34" charset="0"/>
              </a:rPr>
              <a:t> Group, 2013</a:t>
            </a:r>
            <a:endParaRPr lang="zh-TW" altLang="en-US" sz="1200" dirty="0" smtClean="0">
              <a:solidFill>
                <a:prstClr val="white">
                  <a:lumMod val="50000"/>
                </a:prstClr>
              </a:solidFill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36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93040" y="225370"/>
            <a:ext cx="4357923" cy="519113"/>
          </a:xfrm>
        </p:spPr>
        <p:txBody>
          <a:bodyPr/>
          <a:lstStyle/>
          <a:p>
            <a:r>
              <a:rPr lang="en-US" altLang="zh-TW" sz="3600" dirty="0" smtClean="0"/>
              <a:t>HSA Translator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3200" dirty="0" smtClean="0">
                <a:solidFill>
                  <a:schemeClr val="accent1">
                    <a:lumMod val="75000"/>
                  </a:schemeClr>
                </a:solidFill>
              </a:rPr>
              <a:t>HSAIL(brig)     LLVM IR     x86</a:t>
            </a:r>
            <a:endParaRPr lang="en-US" altLang="zh-TW" sz="2632" dirty="0"/>
          </a:p>
          <a:p>
            <a:pPr lvl="1"/>
            <a:r>
              <a:rPr lang="en-US" altLang="zh-TW" sz="3032" dirty="0" smtClean="0">
                <a:solidFill>
                  <a:schemeClr val="accent1">
                    <a:lumMod val="75000"/>
                  </a:schemeClr>
                </a:solidFill>
              </a:rPr>
              <a:t>Brig is the HSAIL binary format.</a:t>
            </a:r>
          </a:p>
          <a:p>
            <a:pPr lvl="1"/>
            <a:r>
              <a:rPr lang="en-US" altLang="zh-TW" sz="3032" dirty="0" smtClean="0">
                <a:solidFill>
                  <a:schemeClr val="accent1">
                    <a:lumMod val="75000"/>
                  </a:schemeClr>
                </a:solidFill>
              </a:rPr>
              <a:t>In our emulator, brig is Kernel code.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457200" y="4591512"/>
            <a:ext cx="7379594" cy="120032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dirty="0" smtClean="0"/>
              <a:t>HSA Decoder translates brig file to LLVM IR, and HSA Assembler translates LLVM IR to x86 binary file.</a:t>
            </a:r>
            <a:endParaRPr lang="zh-TW" altLang="en-US" sz="2400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5" name="直線單箭頭接點 4"/>
          <p:cNvCxnSpPr/>
          <p:nvPr/>
        </p:nvCxnSpPr>
        <p:spPr bwMode="auto">
          <a:xfrm>
            <a:off x="2871409" y="1442434"/>
            <a:ext cx="347729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 bwMode="auto">
          <a:xfrm>
            <a:off x="4709747" y="1442434"/>
            <a:ext cx="347729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auto">
          <a:xfrm>
            <a:off x="4006986" y="3175556"/>
            <a:ext cx="1277439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  <a:endParaRPr kumimoji="1" lang="en-US" altLang="zh-TW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Optimizer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6" name="矩形 25"/>
          <p:cNvSpPr/>
          <p:nvPr/>
        </p:nvSpPr>
        <p:spPr bwMode="auto">
          <a:xfrm>
            <a:off x="1503167" y="3175556"/>
            <a:ext cx="1779745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HSA Decoder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28" name="直線單箭頭接點 27"/>
          <p:cNvCxnSpPr>
            <a:stCxn id="26" idx="3"/>
            <a:endCxn id="16" idx="1"/>
          </p:cNvCxnSpPr>
          <p:nvPr/>
        </p:nvCxnSpPr>
        <p:spPr bwMode="auto">
          <a:xfrm>
            <a:off x="3282912" y="3502905"/>
            <a:ext cx="72407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 bwMode="auto">
          <a:xfrm>
            <a:off x="796671" y="3497935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-115343" y="3194594"/>
            <a:ext cx="1077632" cy="64633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HSAIL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(brig)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33" name="矩形 32"/>
          <p:cNvSpPr/>
          <p:nvPr/>
        </p:nvSpPr>
        <p:spPr bwMode="auto">
          <a:xfrm>
            <a:off x="6029633" y="3086977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HSA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Assembler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8031146" y="3194594"/>
            <a:ext cx="1159292" cy="646331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X86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object file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37" name="直線單箭頭接點 36"/>
          <p:cNvCxnSpPr/>
          <p:nvPr/>
        </p:nvCxnSpPr>
        <p:spPr bwMode="auto">
          <a:xfrm>
            <a:off x="7380107" y="3498670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16" idx="3"/>
            <a:endCxn id="33" idx="1"/>
          </p:cNvCxnSpPr>
          <p:nvPr/>
        </p:nvCxnSpPr>
        <p:spPr bwMode="auto">
          <a:xfrm flipV="1">
            <a:off x="5284425" y="3497935"/>
            <a:ext cx="745208" cy="497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3" name="文字方塊 42"/>
          <p:cNvSpPr txBox="1"/>
          <p:nvPr/>
        </p:nvSpPr>
        <p:spPr>
          <a:xfrm>
            <a:off x="3114554" y="3825407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5057476" y="3828580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1262130" y="2846231"/>
            <a:ext cx="6375042" cy="1379932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HSA Translator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9" name="圓角矩形 18"/>
          <p:cNvSpPr/>
          <p:nvPr/>
        </p:nvSpPr>
        <p:spPr bwMode="auto">
          <a:xfrm>
            <a:off x="6750963" y="2038405"/>
            <a:ext cx="1133341" cy="51515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LLVM lib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20" name="直線單箭頭接點 19"/>
          <p:cNvCxnSpPr/>
          <p:nvPr/>
        </p:nvCxnSpPr>
        <p:spPr bwMode="auto">
          <a:xfrm flipH="1">
            <a:off x="7317633" y="2553560"/>
            <a:ext cx="1" cy="29402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7319332" y="2534138"/>
            <a:ext cx="530915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link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316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93040" y="225370"/>
            <a:ext cx="4357923" cy="519113"/>
          </a:xfrm>
        </p:spPr>
        <p:txBody>
          <a:bodyPr/>
          <a:lstStyle/>
          <a:p>
            <a:r>
              <a:rPr lang="en-US" altLang="zh-TW" sz="3600" dirty="0" smtClean="0"/>
              <a:t>HSA Translator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3200" dirty="0" smtClean="0">
                <a:solidFill>
                  <a:schemeClr val="accent1">
                    <a:lumMod val="75000"/>
                  </a:schemeClr>
                </a:solidFill>
              </a:rPr>
              <a:t>HSAIL(brig)     LLVM IR</a:t>
            </a:r>
            <a:endParaRPr lang="en-US" altLang="zh-TW" sz="2632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7200" y="4776178"/>
            <a:ext cx="7379594" cy="83099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dirty="0" smtClean="0"/>
              <a:t>HSA Decoder decode the brig file and maps HSAIL instructions to LLVM IR.</a:t>
            </a:r>
            <a:endParaRPr lang="zh-TW" altLang="en-US" sz="2400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5" name="直線單箭頭接點 4"/>
          <p:cNvCxnSpPr/>
          <p:nvPr/>
        </p:nvCxnSpPr>
        <p:spPr bwMode="auto">
          <a:xfrm>
            <a:off x="2854933" y="1413079"/>
            <a:ext cx="347729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 bwMode="auto">
          <a:xfrm>
            <a:off x="4006986" y="3175556"/>
            <a:ext cx="1277439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  <a:endParaRPr kumimoji="1" lang="en-US" altLang="zh-TW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Optimizer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1503167" y="3175556"/>
            <a:ext cx="1779745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HSA Decoder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21" name="直線單箭頭接點 20"/>
          <p:cNvCxnSpPr>
            <a:stCxn id="20" idx="3"/>
            <a:endCxn id="19" idx="1"/>
          </p:cNvCxnSpPr>
          <p:nvPr/>
        </p:nvCxnSpPr>
        <p:spPr bwMode="auto">
          <a:xfrm>
            <a:off x="3282912" y="3502905"/>
            <a:ext cx="72407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 bwMode="auto">
          <a:xfrm>
            <a:off x="796671" y="3497935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-115343" y="3194594"/>
            <a:ext cx="1077632" cy="64633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HSAIL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(brig)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6029633" y="3086977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HSA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Assembler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031146" y="3194594"/>
            <a:ext cx="1159292" cy="646331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X86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object file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26" name="直線單箭頭接點 25"/>
          <p:cNvCxnSpPr/>
          <p:nvPr/>
        </p:nvCxnSpPr>
        <p:spPr bwMode="auto">
          <a:xfrm>
            <a:off x="7380107" y="3498670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19" idx="3"/>
            <a:endCxn id="24" idx="1"/>
          </p:cNvCxnSpPr>
          <p:nvPr/>
        </p:nvCxnSpPr>
        <p:spPr bwMode="auto">
          <a:xfrm flipV="1">
            <a:off x="5284425" y="3497935"/>
            <a:ext cx="745208" cy="497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文字方塊 27"/>
          <p:cNvSpPr txBox="1"/>
          <p:nvPr/>
        </p:nvSpPr>
        <p:spPr>
          <a:xfrm>
            <a:off x="3114554" y="3825407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5057476" y="3828580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1262130" y="2846231"/>
            <a:ext cx="6375042" cy="1379932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HSA Translator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1" name="圓角矩形 30"/>
          <p:cNvSpPr/>
          <p:nvPr/>
        </p:nvSpPr>
        <p:spPr bwMode="auto">
          <a:xfrm>
            <a:off x="6750963" y="2038405"/>
            <a:ext cx="1133341" cy="51515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LLVM lib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32" name="直線單箭頭接點 31"/>
          <p:cNvCxnSpPr/>
          <p:nvPr/>
        </p:nvCxnSpPr>
        <p:spPr bwMode="auto">
          <a:xfrm flipH="1">
            <a:off x="7317633" y="2553560"/>
            <a:ext cx="1" cy="29402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7319332" y="2534138"/>
            <a:ext cx="530915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link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16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93040" y="225370"/>
            <a:ext cx="4357923" cy="519113"/>
          </a:xfrm>
        </p:spPr>
        <p:txBody>
          <a:bodyPr/>
          <a:lstStyle/>
          <a:p>
            <a:r>
              <a:rPr lang="en-US" altLang="zh-TW" sz="3600" dirty="0" smtClean="0"/>
              <a:t>HSA Translator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 smtClean="0">
                <a:solidFill>
                  <a:schemeClr val="accent1">
                    <a:lumMod val="75000"/>
                  </a:schemeClr>
                </a:solidFill>
              </a:rPr>
              <a:t>LLVM </a:t>
            </a:r>
            <a:r>
              <a:rPr lang="en-US" altLang="zh-TW" sz="3200" dirty="0">
                <a:solidFill>
                  <a:schemeClr val="accent1">
                    <a:lumMod val="75000"/>
                  </a:schemeClr>
                </a:solidFill>
              </a:rPr>
              <a:t>IR     x86</a:t>
            </a:r>
            <a:endParaRPr lang="en-US" altLang="zh-TW" sz="2632" dirty="0"/>
          </a:p>
          <a:p>
            <a:endParaRPr lang="en-US" altLang="zh-TW" sz="2632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7200" y="4406847"/>
            <a:ext cx="7379594" cy="156966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dirty="0" smtClean="0"/>
              <a:t>HSA Assembler translates LLVM IR to x86 machine code.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dirty="0" smtClean="0">
                <a:ea typeface="標楷體" pitchFamily="65" charset="-120"/>
                <a:cs typeface="Calibri" pitchFamily="34" charset="0"/>
              </a:rPr>
              <a:t>HSA Assembler includes LLVM code generator(backend).</a:t>
            </a:r>
            <a:endParaRPr lang="zh-TW" altLang="en-US" sz="2400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5" name="直線單箭頭接點 4"/>
          <p:cNvCxnSpPr/>
          <p:nvPr/>
        </p:nvCxnSpPr>
        <p:spPr bwMode="auto">
          <a:xfrm>
            <a:off x="2219175" y="1442434"/>
            <a:ext cx="347729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 bwMode="auto">
          <a:xfrm>
            <a:off x="4006986" y="3175556"/>
            <a:ext cx="1277439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  <a:endParaRPr kumimoji="1" lang="en-US" altLang="zh-TW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Optimizer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1503167" y="3175556"/>
            <a:ext cx="1779745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HSA Decoder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21" name="直線單箭頭接點 20"/>
          <p:cNvCxnSpPr>
            <a:stCxn id="20" idx="3"/>
            <a:endCxn id="19" idx="1"/>
          </p:cNvCxnSpPr>
          <p:nvPr/>
        </p:nvCxnSpPr>
        <p:spPr bwMode="auto">
          <a:xfrm>
            <a:off x="3282912" y="3502905"/>
            <a:ext cx="72407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 bwMode="auto">
          <a:xfrm>
            <a:off x="796671" y="3497935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-115343" y="3194594"/>
            <a:ext cx="1077632" cy="64633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HSAIL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(brig)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6029633" y="3086977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HSA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Assembler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031146" y="3194594"/>
            <a:ext cx="1159292" cy="646331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X86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object file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26" name="直線單箭頭接點 25"/>
          <p:cNvCxnSpPr/>
          <p:nvPr/>
        </p:nvCxnSpPr>
        <p:spPr bwMode="auto">
          <a:xfrm>
            <a:off x="7380107" y="3498670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19" idx="3"/>
            <a:endCxn id="24" idx="1"/>
          </p:cNvCxnSpPr>
          <p:nvPr/>
        </p:nvCxnSpPr>
        <p:spPr bwMode="auto">
          <a:xfrm flipV="1">
            <a:off x="5284425" y="3497935"/>
            <a:ext cx="745208" cy="497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文字方塊 27"/>
          <p:cNvSpPr txBox="1"/>
          <p:nvPr/>
        </p:nvSpPr>
        <p:spPr>
          <a:xfrm>
            <a:off x="3114554" y="3825407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5057476" y="3828580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1262130" y="2846231"/>
            <a:ext cx="6375042" cy="1379932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HSA Translator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1" name="圓角矩形 30"/>
          <p:cNvSpPr/>
          <p:nvPr/>
        </p:nvSpPr>
        <p:spPr bwMode="auto">
          <a:xfrm>
            <a:off x="6750963" y="2038405"/>
            <a:ext cx="1133341" cy="51515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LLVM lib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32" name="直線單箭頭接點 31"/>
          <p:cNvCxnSpPr/>
          <p:nvPr/>
        </p:nvCxnSpPr>
        <p:spPr bwMode="auto">
          <a:xfrm flipH="1">
            <a:off x="7317633" y="2553560"/>
            <a:ext cx="1" cy="29402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7319332" y="2534138"/>
            <a:ext cx="530915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link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274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93040" y="225370"/>
            <a:ext cx="4357923" cy="519113"/>
          </a:xfrm>
        </p:spPr>
        <p:txBody>
          <a:bodyPr/>
          <a:lstStyle/>
          <a:p>
            <a:r>
              <a:rPr lang="en-US" altLang="zh-TW" sz="3600" dirty="0" smtClean="0"/>
              <a:t>HSA Translator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 smtClean="0">
                <a:solidFill>
                  <a:schemeClr val="accent1">
                    <a:lumMod val="75000"/>
                  </a:schemeClr>
                </a:solidFill>
              </a:rPr>
              <a:t>LLVM IR     x86</a:t>
            </a:r>
            <a:endParaRPr lang="en-US" altLang="zh-TW" sz="2632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7200" y="4222181"/>
            <a:ext cx="8686800" cy="193899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b="1" dirty="0" smtClean="0"/>
              <a:t>LLVM </a:t>
            </a:r>
            <a:r>
              <a:rPr lang="en-US" altLang="zh-TW" sz="2400" b="1" dirty="0"/>
              <a:t>code </a:t>
            </a:r>
            <a:r>
              <a:rPr lang="en-US" altLang="zh-TW" sz="2400" b="1" dirty="0" smtClean="0"/>
              <a:t>generator(backend) </a:t>
            </a:r>
            <a:r>
              <a:rPr lang="en-US" altLang="zh-TW" sz="2400" dirty="0"/>
              <a:t>splits the code generation problem into individual passes—instruction selection, register allocation, scheduling, code layout optimization, and assembly emission—and provides many </a:t>
            </a:r>
            <a:r>
              <a:rPr lang="en-US" altLang="zh-TW" sz="2400" dirty="0" smtClean="0"/>
              <a:t>built-in phases </a:t>
            </a:r>
            <a:r>
              <a:rPr lang="en-US" altLang="zh-TW" sz="2400" dirty="0"/>
              <a:t>that are run by default.</a:t>
            </a:r>
            <a:endParaRPr lang="zh-TW" altLang="en-US" sz="2400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5" name="直線單箭頭接點 4"/>
          <p:cNvCxnSpPr/>
          <p:nvPr/>
        </p:nvCxnSpPr>
        <p:spPr bwMode="auto">
          <a:xfrm>
            <a:off x="2219175" y="1442434"/>
            <a:ext cx="347729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 bwMode="auto">
          <a:xfrm>
            <a:off x="4006986" y="3175556"/>
            <a:ext cx="1277439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LLVM</a:t>
            </a:r>
            <a:endParaRPr kumimoji="1" lang="en-US" altLang="zh-TW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Optimizer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1503167" y="3175556"/>
            <a:ext cx="1779745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HSA Decoder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4" name="直線單箭頭接點 13"/>
          <p:cNvCxnSpPr>
            <a:stCxn id="13" idx="3"/>
            <a:endCxn id="12" idx="1"/>
          </p:cNvCxnSpPr>
          <p:nvPr/>
        </p:nvCxnSpPr>
        <p:spPr bwMode="auto">
          <a:xfrm>
            <a:off x="3282912" y="3502905"/>
            <a:ext cx="72407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 bwMode="auto">
          <a:xfrm>
            <a:off x="796671" y="3497935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-115343" y="3194594"/>
            <a:ext cx="1077632" cy="64633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HSAIL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(brig)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029633" y="3086977"/>
            <a:ext cx="1277439" cy="821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HSA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Assembler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8031146" y="3194594"/>
            <a:ext cx="1159292" cy="646331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X86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object file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20" name="直線單箭頭接點 19"/>
          <p:cNvCxnSpPr/>
          <p:nvPr/>
        </p:nvCxnSpPr>
        <p:spPr bwMode="auto">
          <a:xfrm>
            <a:off x="7380107" y="3498670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2" idx="3"/>
            <a:endCxn id="18" idx="1"/>
          </p:cNvCxnSpPr>
          <p:nvPr/>
        </p:nvCxnSpPr>
        <p:spPr bwMode="auto">
          <a:xfrm flipV="1">
            <a:off x="5284425" y="3497935"/>
            <a:ext cx="745208" cy="497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3114554" y="3825407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5057476" y="3828580"/>
            <a:ext cx="106522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LLVM 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1262130" y="2846231"/>
            <a:ext cx="6375042" cy="1379932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HSA Translator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" name="圓角矩形 24"/>
          <p:cNvSpPr/>
          <p:nvPr/>
        </p:nvSpPr>
        <p:spPr bwMode="auto">
          <a:xfrm>
            <a:off x="6750963" y="2038405"/>
            <a:ext cx="1133341" cy="51515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LLVM lib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26" name="直線單箭頭接點 25"/>
          <p:cNvCxnSpPr/>
          <p:nvPr/>
        </p:nvCxnSpPr>
        <p:spPr bwMode="auto">
          <a:xfrm flipH="1">
            <a:off x="7317633" y="2553560"/>
            <a:ext cx="1" cy="29402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7319332" y="2534138"/>
            <a:ext cx="530915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link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092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93040" y="225370"/>
            <a:ext cx="4357923" cy="519113"/>
          </a:xfrm>
        </p:spPr>
        <p:txBody>
          <a:bodyPr/>
          <a:lstStyle/>
          <a:p>
            <a:r>
              <a:rPr lang="en-US" altLang="zh-TW" sz="3200" dirty="0" smtClean="0"/>
              <a:t>Linker Loader and Helper Function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>
                <a:solidFill>
                  <a:schemeClr val="accent1">
                    <a:lumMod val="75000"/>
                  </a:schemeClr>
                </a:solidFill>
              </a:rPr>
              <a:t>Linker Loader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457200" y="4406847"/>
            <a:ext cx="8686800" cy="156966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dirty="0" smtClean="0"/>
              <a:t>In HSAIL, there are some instructions which LLVM IR is not support. We use helper functions to simulate the instructions.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400" dirty="0" smtClean="0">
                <a:ea typeface="標楷體" pitchFamily="65" charset="-120"/>
                <a:cs typeface="Calibri" pitchFamily="34" charset="0"/>
              </a:rPr>
              <a:t>After linking, object codes load in code cache and wait for executing.</a:t>
            </a:r>
            <a:endParaRPr lang="zh-TW" altLang="en-US" sz="2400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2884403" y="2162417"/>
            <a:ext cx="1277439" cy="6546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Linker &amp;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Loader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988478" y="2153731"/>
            <a:ext cx="1159292" cy="646331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X86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object file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37" name="直線單箭頭接點 36"/>
          <p:cNvCxnSpPr/>
          <p:nvPr/>
        </p:nvCxnSpPr>
        <p:spPr bwMode="auto">
          <a:xfrm>
            <a:off x="2160594" y="2476897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剪去並圓角化單一角落矩形 8"/>
          <p:cNvSpPr/>
          <p:nvPr/>
        </p:nvSpPr>
        <p:spPr bwMode="auto">
          <a:xfrm>
            <a:off x="2884403" y="3245476"/>
            <a:ext cx="1277439" cy="579549"/>
          </a:xfrm>
          <a:prstGeom prst="snip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Helper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function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1" name="直線單箭頭接點 10"/>
          <p:cNvCxnSpPr>
            <a:endCxn id="16" idx="2"/>
          </p:cNvCxnSpPr>
          <p:nvPr/>
        </p:nvCxnSpPr>
        <p:spPr bwMode="auto">
          <a:xfrm flipV="1">
            <a:off x="3523122" y="2817115"/>
            <a:ext cx="1" cy="40423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 bwMode="auto">
          <a:xfrm>
            <a:off x="4262649" y="2491773"/>
            <a:ext cx="61870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圓角矩形 13"/>
          <p:cNvSpPr/>
          <p:nvPr/>
        </p:nvSpPr>
        <p:spPr bwMode="auto">
          <a:xfrm>
            <a:off x="4982156" y="2162417"/>
            <a:ext cx="1444401" cy="6546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Code cache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988478" y="3846987"/>
            <a:ext cx="7250703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(memory relative instruction, GPU Kernel information instruction…</a:t>
            </a:r>
            <a:r>
              <a:rPr lang="en-US" altLang="zh-TW" dirty="0" err="1" smtClean="0">
                <a:ea typeface="標楷體" pitchFamily="65" charset="-120"/>
                <a:cs typeface="Calibri" pitchFamily="34" charset="0"/>
              </a:rPr>
              <a:t>etc</a:t>
            </a:r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)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709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50324" y="1829648"/>
            <a:ext cx="7094367" cy="1777749"/>
          </a:xfrm>
        </p:spPr>
        <p:txBody>
          <a:bodyPr>
            <a:noAutofit/>
          </a:bodyPr>
          <a:lstStyle/>
          <a:p>
            <a:r>
              <a:rPr lang="en-US" altLang="zh-TW" sz="4050" dirty="0" smtClean="0">
                <a:solidFill>
                  <a:srgbClr val="20435C"/>
                </a:solidFill>
                <a:latin typeface="Trebuchet MS" panose="020B0603020202020204" pitchFamily="34" charset="0"/>
                <a:ea typeface="+mn-ea"/>
                <a:cs typeface="+mn-cs"/>
              </a:rPr>
              <a:t>Backend-</a:t>
            </a:r>
            <a:r>
              <a:rPr lang="en-US" altLang="zh-TW" sz="4050" dirty="0" err="1" smtClean="0">
                <a:solidFill>
                  <a:srgbClr val="20435C"/>
                </a:solidFill>
                <a:latin typeface="Trebuchet MS" panose="020B0603020202020204" pitchFamily="34" charset="0"/>
                <a:ea typeface="+mn-ea"/>
                <a:cs typeface="+mn-cs"/>
              </a:rPr>
              <a:t>llvm</a:t>
            </a:r>
            <a:endParaRPr lang="zh-TW" altLang="en-US" sz="4050" dirty="0">
              <a:solidFill>
                <a:srgbClr val="20435C"/>
              </a:solidFill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4" name="副標題 3"/>
          <p:cNvSpPr>
            <a:spLocks noGrp="1"/>
          </p:cNvSpPr>
          <p:nvPr>
            <p:ph type="subTitle" idx="1"/>
          </p:nvPr>
        </p:nvSpPr>
        <p:spPr>
          <a:xfrm>
            <a:off x="3476368" y="3886200"/>
            <a:ext cx="4296032" cy="578708"/>
          </a:xfrm>
        </p:spPr>
        <p:txBody>
          <a:bodyPr/>
          <a:lstStyle/>
          <a:p>
            <a:r>
              <a:rPr lang="en-US" altLang="zh-TW" b="0" i="0" dirty="0" smtClean="0">
                <a:solidFill>
                  <a:srgbClr val="20435C"/>
                </a:solidFill>
                <a:effectLst/>
                <a:latin typeface="Trebuchet MS" panose="020B0603020202020204" pitchFamily="34" charset="0"/>
              </a:rPr>
              <a:t>Code Generation Process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50337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538" y="1512963"/>
            <a:ext cx="7358063" cy="3836194"/>
          </a:xfrm>
          <a:prstGeom prst="rect">
            <a:avLst/>
          </a:prstGeom>
        </p:spPr>
      </p:pic>
      <p:sp>
        <p:nvSpPr>
          <p:cNvPr id="2" name="乘號 1"/>
          <p:cNvSpPr/>
          <p:nvPr/>
        </p:nvSpPr>
        <p:spPr bwMode="auto">
          <a:xfrm>
            <a:off x="3326625" y="3665455"/>
            <a:ext cx="733168" cy="873211"/>
          </a:xfrm>
          <a:prstGeom prst="mathMultiply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5" name="乘號 4"/>
          <p:cNvSpPr/>
          <p:nvPr/>
        </p:nvSpPr>
        <p:spPr bwMode="auto">
          <a:xfrm>
            <a:off x="6765232" y="2366225"/>
            <a:ext cx="683741" cy="782595"/>
          </a:xfrm>
          <a:prstGeom prst="mathMultiply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189470" y="205946"/>
            <a:ext cx="5263978" cy="59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TW" kern="0" dirty="0" smtClean="0">
                <a:solidFill>
                  <a:srgbClr val="20435C"/>
                </a:solidFill>
                <a:latin typeface="Trebuchet MS" panose="020B0603020202020204" pitchFamily="34" charset="0"/>
              </a:rPr>
              <a:t>Code Generation Process</a:t>
            </a:r>
            <a:endParaRPr lang="zh-TW" altLang="en-US" kern="0" dirty="0"/>
          </a:p>
        </p:txBody>
      </p:sp>
    </p:spTree>
    <p:extLst>
      <p:ext uri="{BB962C8B-B14F-4D97-AF65-F5344CB8AC3E}">
        <p14:creationId xmlns:p14="http://schemas.microsoft.com/office/powerpoint/2010/main" val="1915170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i="0" dirty="0" smtClean="0">
                <a:solidFill>
                  <a:srgbClr val="20435C"/>
                </a:solidFill>
                <a:effectLst/>
                <a:latin typeface="Trebuchet MS" panose="020B0603020202020204" pitchFamily="34" charset="0"/>
              </a:rPr>
              <a:t>Instruction Selection</a:t>
            </a:r>
            <a:endParaRPr lang="en-US" altLang="zh-TW" b="0" i="0" dirty="0">
              <a:solidFill>
                <a:srgbClr val="20435C"/>
              </a:solidFill>
              <a:effectLst/>
              <a:latin typeface="Trebuchet MS" panose="020B0603020202020204" pitchFamily="34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/>
              <a:t>Backend</a:t>
            </a:r>
            <a:r>
              <a:rPr lang="zh-TW" altLang="en-US" sz="2400" dirty="0" smtClean="0"/>
              <a:t>流程的第一步，將</a:t>
            </a:r>
            <a:r>
              <a:rPr lang="en-US" altLang="zh-TW" sz="2400" dirty="0" smtClean="0"/>
              <a:t>LLVM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IR</a:t>
            </a:r>
            <a:r>
              <a:rPr lang="zh-TW" altLang="en-US" sz="2400" dirty="0" smtClean="0"/>
              <a:t> 轉換成一組</a:t>
            </a:r>
            <a:r>
              <a:rPr lang="en-US" altLang="zh-TW" sz="2400" dirty="0" err="1" smtClean="0"/>
              <a:t>SelectionDAG</a:t>
            </a:r>
            <a:r>
              <a:rPr lang="en-US" altLang="zh-TW" sz="2400" dirty="0" smtClean="0"/>
              <a:t>(</a:t>
            </a:r>
            <a:r>
              <a:rPr lang="zh-TW" altLang="en-US" sz="2400" dirty="0"/>
              <a:t>有</a:t>
            </a:r>
            <a:r>
              <a:rPr lang="zh-TW" altLang="en-US" sz="2400" dirty="0" smtClean="0"/>
              <a:t>向無環圖</a:t>
            </a:r>
            <a:r>
              <a:rPr lang="en-US" altLang="zh-TW" sz="2400" dirty="0" smtClean="0"/>
              <a:t>)</a:t>
            </a:r>
            <a:r>
              <a:rPr lang="zh-TW" altLang="en-US" sz="2400" dirty="0" smtClean="0"/>
              <a:t>，每一</a:t>
            </a:r>
            <a:r>
              <a:rPr lang="en-US" altLang="zh-TW" sz="2400" dirty="0" smtClean="0"/>
              <a:t>node</a:t>
            </a:r>
            <a:r>
              <a:rPr lang="zh-TW" altLang="en-US" sz="2400" dirty="0" smtClean="0"/>
              <a:t>代表一個</a:t>
            </a:r>
            <a:r>
              <a:rPr lang="en-US" altLang="zh-TW" sz="2400" dirty="0" smtClean="0"/>
              <a:t>LLVM instruction.</a:t>
            </a:r>
          </a:p>
          <a:p>
            <a:r>
              <a:rPr lang="zh-TW" altLang="en-US" sz="2400" dirty="0" smtClean="0"/>
              <a:t>任</a:t>
            </a:r>
            <a:r>
              <a:rPr lang="en-US" altLang="zh-TW" sz="2400" dirty="0" smtClean="0"/>
              <a:t>2</a:t>
            </a:r>
            <a:r>
              <a:rPr lang="zh-TW" altLang="en-US" sz="2400" dirty="0" smtClean="0"/>
              <a:t>指令</a:t>
            </a:r>
            <a:r>
              <a:rPr lang="en-US" altLang="zh-TW" sz="2400" dirty="0" smtClean="0"/>
              <a:t>definition-use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relation </a:t>
            </a:r>
            <a:r>
              <a:rPr lang="zh-TW" altLang="en-US" sz="2400" dirty="0" smtClean="0"/>
              <a:t>由</a:t>
            </a:r>
            <a:r>
              <a:rPr lang="en-US" altLang="zh-TW" sz="2400" dirty="0" smtClean="0"/>
              <a:t>using node -&gt; defining node </a:t>
            </a:r>
            <a:r>
              <a:rPr lang="zh-TW" altLang="en-US" sz="2400" dirty="0" smtClean="0"/>
              <a:t>之</a:t>
            </a:r>
            <a:r>
              <a:rPr lang="en-US" altLang="zh-TW" sz="2400" dirty="0" smtClean="0"/>
              <a:t>edge</a:t>
            </a:r>
            <a:r>
              <a:rPr lang="zh-TW" altLang="en-US" sz="2400" dirty="0" smtClean="0"/>
              <a:t>表示</a:t>
            </a:r>
            <a:endParaRPr lang="en-US" altLang="zh-TW" sz="2400" dirty="0" smtClean="0"/>
          </a:p>
          <a:p>
            <a:r>
              <a:rPr lang="zh-TW" altLang="en-US" sz="2400" dirty="0" smtClean="0"/>
              <a:t>如有</a:t>
            </a:r>
            <a:r>
              <a:rPr lang="en-US" altLang="zh-TW" sz="2400" dirty="0"/>
              <a:t>control flow dependency </a:t>
            </a:r>
            <a:r>
              <a:rPr lang="en-US" altLang="zh-TW" sz="2400" dirty="0" smtClean="0"/>
              <a:t>=&gt;</a:t>
            </a:r>
            <a:r>
              <a:rPr lang="zh-TW" altLang="en-US" sz="2400" dirty="0" smtClean="0"/>
              <a:t>額外的</a:t>
            </a:r>
            <a:r>
              <a:rPr lang="en-US" altLang="zh-TW" sz="2400" dirty="0" smtClean="0"/>
              <a:t>edge</a:t>
            </a:r>
          </a:p>
          <a:p>
            <a:r>
              <a:rPr lang="zh-TW" altLang="en-US" sz="2400" dirty="0" smtClean="0"/>
              <a:t>由於不保證支援目標指令提供的</a:t>
            </a:r>
            <a:r>
              <a:rPr lang="en-US" altLang="zh-TW" sz="2400" dirty="0" err="1" smtClean="0"/>
              <a:t>type&amp;op</a:t>
            </a:r>
            <a:r>
              <a:rPr lang="zh-TW" altLang="en-US" sz="2400" dirty="0" smtClean="0"/>
              <a:t>，必須先把前</a:t>
            </a:r>
            <a:r>
              <a:rPr lang="zh-TW" altLang="en-US" sz="2400" dirty="0"/>
              <a:t>述</a:t>
            </a:r>
            <a:r>
              <a:rPr lang="en-US" altLang="zh-TW" sz="2400" dirty="0" smtClean="0"/>
              <a:t>DAG</a:t>
            </a:r>
            <a:r>
              <a:rPr lang="zh-TW" altLang="en-US" sz="2400" dirty="0" smtClean="0"/>
              <a:t>做</a:t>
            </a:r>
            <a:r>
              <a:rPr lang="en-US" altLang="zh-TW" sz="2400" dirty="0" smtClean="0"/>
              <a:t>legalization </a:t>
            </a:r>
            <a:r>
              <a:rPr lang="zh-TW" altLang="en-US" sz="2400" dirty="0" smtClean="0"/>
              <a:t>再由</a:t>
            </a:r>
            <a:r>
              <a:rPr lang="en-US" altLang="zh-TW" sz="2400" dirty="0" smtClean="0"/>
              <a:t>instruction selector </a:t>
            </a:r>
            <a:r>
              <a:rPr lang="zh-TW" altLang="en-US" sz="2400" dirty="0" smtClean="0"/>
              <a:t>建立以目標指令的</a:t>
            </a:r>
            <a:r>
              <a:rPr lang="en-US" altLang="zh-TW" sz="2400" dirty="0" smtClean="0"/>
              <a:t>DAG</a:t>
            </a:r>
          </a:p>
          <a:p>
            <a:r>
              <a:rPr lang="en-US" altLang="zh-TW" sz="2400" dirty="0" smtClean="0"/>
              <a:t>LLVM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instruction</a:t>
            </a:r>
            <a:r>
              <a:rPr lang="zh-TW" altLang="en-US" sz="2400" dirty="0" smtClean="0"/>
              <a:t>的</a:t>
            </a:r>
            <a:r>
              <a:rPr lang="en-US" altLang="zh-TW" sz="2400" dirty="0" smtClean="0"/>
              <a:t>DAG=&gt;</a:t>
            </a:r>
            <a:r>
              <a:rPr lang="zh-TW" altLang="en-US" sz="2400" dirty="0" smtClean="0"/>
              <a:t>透過</a:t>
            </a:r>
            <a:r>
              <a:rPr lang="en-US" altLang="zh-TW" sz="2400" dirty="0" smtClean="0"/>
              <a:t>instruction selector=&gt;</a:t>
            </a:r>
            <a:r>
              <a:rPr lang="zh-TW" altLang="en-US" sz="2400" dirty="0" smtClean="0"/>
              <a:t>目標機器指令的</a:t>
            </a:r>
            <a:r>
              <a:rPr lang="en-US" altLang="zh-TW" sz="2400" dirty="0" smtClean="0"/>
              <a:t>DAG</a:t>
            </a:r>
          </a:p>
        </p:txBody>
      </p:sp>
    </p:spTree>
    <p:extLst>
      <p:ext uri="{BB962C8B-B14F-4D97-AF65-F5344CB8AC3E}">
        <p14:creationId xmlns:p14="http://schemas.microsoft.com/office/powerpoint/2010/main" val="3803341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i="0" dirty="0" smtClean="0">
                <a:solidFill>
                  <a:srgbClr val="20435C"/>
                </a:solidFill>
                <a:effectLst/>
                <a:latin typeface="Trebuchet MS" panose="020B0603020202020204" pitchFamily="34" charset="0"/>
              </a:rPr>
              <a:t>Scheduling and Formation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 smtClean="0"/>
              <a:t>上ㄧ步的目標指令</a:t>
            </a:r>
            <a:r>
              <a:rPr lang="en-US" altLang="zh-TW" sz="2400" dirty="0" smtClean="0"/>
              <a:t>DAG</a:t>
            </a:r>
            <a:r>
              <a:rPr lang="zh-TW" altLang="en-US" sz="2400" dirty="0" smtClean="0"/>
              <a:t>會在這裡轉成目標指令</a:t>
            </a:r>
            <a:r>
              <a:rPr lang="en-US" altLang="zh-TW" sz="2400" dirty="0" smtClean="0"/>
              <a:t>list</a:t>
            </a:r>
          </a:p>
          <a:p>
            <a:r>
              <a:rPr lang="zh-TW" altLang="en-US" sz="2400" dirty="0" smtClean="0"/>
              <a:t>以</a:t>
            </a:r>
            <a:r>
              <a:rPr lang="en-US" altLang="zh-TW" sz="2400" dirty="0" err="1" smtClean="0"/>
              <a:t>llvm</a:t>
            </a:r>
            <a:r>
              <a:rPr lang="en-US" altLang="zh-TW" sz="2400" dirty="0" smtClean="0"/>
              <a:t>::</a:t>
            </a:r>
            <a:r>
              <a:rPr lang="en-US" altLang="zh-TW" sz="2400" dirty="0" err="1" smtClean="0"/>
              <a:t>MachineFunction</a:t>
            </a:r>
            <a:r>
              <a:rPr lang="en-US" altLang="zh-TW" sz="2400" dirty="0" smtClean="0"/>
              <a:t>, </a:t>
            </a:r>
            <a:r>
              <a:rPr lang="en-US" altLang="zh-TW" sz="2400" dirty="0" err="1" smtClean="0"/>
              <a:t>llvm</a:t>
            </a:r>
            <a:r>
              <a:rPr lang="en-US" altLang="zh-TW" sz="2400" dirty="0" smtClean="0"/>
              <a:t>::</a:t>
            </a:r>
            <a:r>
              <a:rPr lang="en-US" altLang="zh-TW" sz="2400" dirty="0" err="1" smtClean="0"/>
              <a:t>MachineBasicBlock</a:t>
            </a:r>
            <a:r>
              <a:rPr lang="en-US" altLang="zh-TW" sz="2400" dirty="0" smtClean="0"/>
              <a:t>, </a:t>
            </a:r>
            <a:r>
              <a:rPr lang="en-US" altLang="zh-TW" sz="2400" dirty="0" err="1" smtClean="0"/>
              <a:t>llvm</a:t>
            </a:r>
            <a:r>
              <a:rPr lang="en-US" altLang="zh-TW" sz="2400" dirty="0" smtClean="0"/>
              <a:t>::</a:t>
            </a:r>
            <a:r>
              <a:rPr lang="en-US" altLang="zh-TW" sz="2400" dirty="0" err="1" smtClean="0"/>
              <a:t>MachineInstr</a:t>
            </a:r>
            <a:r>
              <a:rPr lang="zh-TW" altLang="en-US" sz="2400" dirty="0" smtClean="0"/>
              <a:t>三種</a:t>
            </a:r>
            <a:r>
              <a:rPr lang="en-US" altLang="zh-TW" sz="2400" dirty="0" smtClean="0"/>
              <a:t>class</a:t>
            </a:r>
            <a:r>
              <a:rPr lang="zh-TW" altLang="en-US" sz="2400" dirty="0" smtClean="0"/>
              <a:t>表示</a:t>
            </a:r>
            <a:r>
              <a:rPr lang="en-US" altLang="zh-TW" sz="2400" dirty="0" smtClean="0"/>
              <a:t>function, </a:t>
            </a:r>
            <a:r>
              <a:rPr lang="zh-TW" altLang="en-US" sz="2400" dirty="0" smtClean="0"/>
              <a:t>之中的基本區塊</a:t>
            </a:r>
            <a:r>
              <a:rPr lang="en-US" altLang="zh-TW" sz="2400" dirty="0" smtClean="0"/>
              <a:t>, </a:t>
            </a:r>
            <a:r>
              <a:rPr lang="zh-TW" altLang="en-US" sz="2400" dirty="0" smtClean="0"/>
              <a:t>指令</a:t>
            </a:r>
            <a:endParaRPr lang="en-US" altLang="zh-TW" sz="2400" dirty="0" smtClean="0"/>
          </a:p>
          <a:p>
            <a:r>
              <a:rPr lang="en-US" altLang="zh-TW" sz="2400" dirty="0" smtClean="0"/>
              <a:t>Scheduler </a:t>
            </a:r>
            <a:r>
              <a:rPr lang="zh-TW" altLang="en-US" sz="2400" dirty="0" smtClean="0"/>
              <a:t>必須決定以何種順序將目標指令寫出</a:t>
            </a:r>
            <a:r>
              <a:rPr lang="en-US" altLang="zh-TW" sz="2400" dirty="0" smtClean="0"/>
              <a:t>(</a:t>
            </a:r>
            <a:r>
              <a:rPr lang="zh-TW" altLang="en-US" sz="2400" dirty="0" smtClean="0"/>
              <a:t>受到許多因素如</a:t>
            </a:r>
            <a:r>
              <a:rPr lang="en-US" altLang="zh-TW" sz="2400" dirty="0" smtClean="0"/>
              <a:t>control flow</a:t>
            </a:r>
            <a:r>
              <a:rPr lang="zh-TW" altLang="en-US" sz="2400" dirty="0" smtClean="0"/>
              <a:t>等等影響</a:t>
            </a:r>
            <a:r>
              <a:rPr lang="en-US" altLang="zh-TW" sz="2400" dirty="0" smtClean="0"/>
              <a:t>)</a:t>
            </a:r>
          </a:p>
          <a:p>
            <a:endParaRPr lang="en-US" altLang="zh-TW" sz="2400" dirty="0" smtClean="0"/>
          </a:p>
          <a:p>
            <a:r>
              <a:rPr lang="zh-TW" altLang="en-US" sz="2400" dirty="0" smtClean="0"/>
              <a:t>此時的指令還是</a:t>
            </a:r>
            <a:r>
              <a:rPr lang="en-US" altLang="zh-TW" sz="2400" dirty="0" smtClean="0"/>
              <a:t>SSA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form</a:t>
            </a:r>
          </a:p>
          <a:p>
            <a:r>
              <a:rPr lang="zh-TW" altLang="en-US" sz="2400" dirty="0" smtClean="0"/>
              <a:t>依舊使用</a:t>
            </a:r>
            <a:r>
              <a:rPr lang="en-US" altLang="zh-TW" sz="2400" dirty="0" smtClean="0"/>
              <a:t>LLVM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virtual register set</a:t>
            </a:r>
          </a:p>
          <a:p>
            <a:r>
              <a:rPr lang="zh-TW" altLang="en-US" sz="2400" dirty="0" smtClean="0"/>
              <a:t>虛擬堆疊空間，還未計算為真正的</a:t>
            </a:r>
            <a:r>
              <a:rPr lang="en-US" altLang="zh-TW" sz="2400" dirty="0" smtClean="0"/>
              <a:t>offset</a:t>
            </a:r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35479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324" y="2962776"/>
            <a:ext cx="1764026" cy="2628399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i="0" dirty="0" smtClean="0">
                <a:solidFill>
                  <a:srgbClr val="20435C"/>
                </a:solidFill>
                <a:effectLst/>
                <a:latin typeface="Trebuchet MS" panose="020B0603020202020204" pitchFamily="34" charset="0"/>
              </a:rPr>
              <a:t>Register Allocation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400" dirty="0" smtClean="0"/>
              <a:t>將</a:t>
            </a:r>
            <a:r>
              <a:rPr lang="en-US" altLang="zh-TW" sz="2400" dirty="0" smtClean="0"/>
              <a:t>LLVM virtual register</a:t>
            </a:r>
            <a:r>
              <a:rPr lang="zh-TW" altLang="en-US" sz="2400" dirty="0" smtClean="0"/>
              <a:t> 轉換成對應的目標機器實體暫存器</a:t>
            </a:r>
            <a:endParaRPr lang="en-US" altLang="zh-TW" sz="2400" dirty="0" smtClean="0"/>
          </a:p>
          <a:p>
            <a:r>
              <a:rPr lang="en-US" altLang="zh-TW" sz="2400" dirty="0" smtClean="0"/>
              <a:t>LLVM</a:t>
            </a:r>
            <a:r>
              <a:rPr lang="zh-TW" altLang="en-US" sz="2400" dirty="0" smtClean="0"/>
              <a:t>會對每一</a:t>
            </a:r>
            <a:r>
              <a:rPr lang="en-US" altLang="zh-TW" sz="2400" dirty="0" smtClean="0"/>
              <a:t>virtual register</a:t>
            </a:r>
            <a:r>
              <a:rPr lang="zh-TW" altLang="en-US" sz="2400" dirty="0" smtClean="0"/>
              <a:t> 配置 </a:t>
            </a:r>
            <a:r>
              <a:rPr lang="en-US" altLang="zh-TW" sz="2400" dirty="0" smtClean="0"/>
              <a:t>physical register,</a:t>
            </a:r>
            <a:r>
              <a:rPr lang="zh-TW" altLang="en-US" sz="2400" dirty="0" smtClean="0"/>
              <a:t> 如超過數量</a:t>
            </a:r>
            <a:r>
              <a:rPr lang="en-US" altLang="zh-TW" sz="2400" dirty="0" smtClean="0"/>
              <a:t>LLVM</a:t>
            </a:r>
            <a:r>
              <a:rPr lang="zh-TW" altLang="en-US" sz="2400" dirty="0" smtClean="0"/>
              <a:t>做</a:t>
            </a:r>
            <a:r>
              <a:rPr lang="en-US" altLang="zh-TW" sz="2400" dirty="0" smtClean="0"/>
              <a:t>split code</a:t>
            </a:r>
            <a:r>
              <a:rPr lang="zh-TW" altLang="en-US" sz="2400" dirty="0" smtClean="0"/>
              <a:t>選擇某些</a:t>
            </a:r>
            <a:r>
              <a:rPr lang="en-US" altLang="zh-TW" sz="2400" dirty="0" smtClean="0"/>
              <a:t>register</a:t>
            </a:r>
            <a:r>
              <a:rPr lang="zh-TW" altLang="en-US" sz="2400" dirty="0" smtClean="0"/>
              <a:t>內容搬至</a:t>
            </a:r>
            <a:r>
              <a:rPr lang="en-US" altLang="zh-TW" sz="2400" dirty="0" smtClean="0"/>
              <a:t>memory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SSA form</a:t>
            </a:r>
            <a:r>
              <a:rPr lang="zh-TW" altLang="en-US" sz="2400" dirty="0" smtClean="0"/>
              <a:t>產生的</a:t>
            </a:r>
            <a:r>
              <a:rPr lang="en-US" altLang="zh-TW" sz="2400" dirty="0" smtClean="0"/>
              <a:t>phi function</a:t>
            </a:r>
            <a:r>
              <a:rPr lang="zh-TW" altLang="en-US" sz="2400" dirty="0" smtClean="0"/>
              <a:t>由</a:t>
            </a:r>
            <a:r>
              <a:rPr lang="en-US" altLang="zh-TW" sz="2400" dirty="0" smtClean="0"/>
              <a:t>copy</a:t>
            </a:r>
            <a:r>
              <a:rPr lang="zh-TW" altLang="en-US" sz="2400" dirty="0" smtClean="0"/>
              <a:t>指令取代</a:t>
            </a:r>
            <a:endParaRPr lang="en-US" altLang="zh-TW" sz="2400" dirty="0" smtClean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12075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i="0" dirty="0" smtClean="0">
                <a:solidFill>
                  <a:srgbClr val="20435C"/>
                </a:solidFill>
                <a:effectLst/>
                <a:latin typeface="Trebuchet MS" panose="020B0603020202020204" pitchFamily="34" charset="0"/>
              </a:rPr>
              <a:t>Prologue/Epilogue Code Insertion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25538"/>
            <a:ext cx="8571470" cy="4895850"/>
          </a:xfrm>
        </p:spPr>
        <p:txBody>
          <a:bodyPr/>
          <a:lstStyle/>
          <a:p>
            <a:r>
              <a:rPr lang="zh-TW" altLang="en-US" dirty="0" smtClean="0"/>
              <a:t>經過上ㄧ步</a:t>
            </a:r>
            <a:r>
              <a:rPr lang="en-US" altLang="zh-TW" dirty="0" smtClean="0"/>
              <a:t>register allocation</a:t>
            </a:r>
            <a:r>
              <a:rPr lang="zh-TW" altLang="en-US" dirty="0" smtClean="0"/>
              <a:t>後，此時可計算每一函式需要多少</a:t>
            </a:r>
            <a:r>
              <a:rPr lang="en-US" altLang="zh-TW" dirty="0" smtClean="0"/>
              <a:t>stack space</a:t>
            </a:r>
          </a:p>
          <a:p>
            <a:r>
              <a:rPr lang="zh-TW" altLang="en-US" dirty="0" smtClean="0"/>
              <a:t>之前</a:t>
            </a:r>
            <a:r>
              <a:rPr lang="en-US" altLang="zh-TW" dirty="0" smtClean="0"/>
              <a:t>virtual stack</a:t>
            </a:r>
            <a:r>
              <a:rPr lang="zh-TW" altLang="en-US" dirty="0" smtClean="0"/>
              <a:t>的指令可以存取到對應的</a:t>
            </a:r>
            <a:r>
              <a:rPr lang="en-US" altLang="zh-TW" dirty="0" err="1" smtClean="0"/>
              <a:t>sp</a:t>
            </a:r>
            <a:r>
              <a:rPr lang="en-US" altLang="zh-TW" dirty="0" smtClean="0"/>
              <a:t>(top),</a:t>
            </a:r>
            <a:r>
              <a:rPr lang="en-US" altLang="zh-TW" dirty="0" err="1" smtClean="0"/>
              <a:t>fp</a:t>
            </a:r>
            <a:r>
              <a:rPr lang="en-US" altLang="zh-TW" dirty="0" smtClean="0"/>
              <a:t>(bottom)</a:t>
            </a:r>
            <a:r>
              <a:rPr lang="zh-TW" altLang="en-US" dirty="0" smtClean="0"/>
              <a:t>的</a:t>
            </a:r>
            <a:r>
              <a:rPr lang="en-US" altLang="zh-TW" dirty="0" smtClean="0"/>
              <a:t>offset</a:t>
            </a:r>
          </a:p>
          <a:p>
            <a:r>
              <a:rPr lang="zh-TW" altLang="en-US" dirty="0" smtClean="0"/>
              <a:t>可對各函式的出入口寫相對應的</a:t>
            </a:r>
            <a:r>
              <a:rPr lang="en-US" altLang="zh-TW" dirty="0" smtClean="0"/>
              <a:t>prologue </a:t>
            </a:r>
            <a:r>
              <a:rPr lang="zh-TW" altLang="en-US" dirty="0" smtClean="0"/>
              <a:t>和</a:t>
            </a:r>
            <a:r>
              <a:rPr lang="en-US" altLang="zh-TW" dirty="0" smtClean="0"/>
              <a:t>epilogue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7518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i="0" dirty="0" smtClean="0">
                <a:solidFill>
                  <a:srgbClr val="20435C"/>
                </a:solidFill>
                <a:effectLst/>
                <a:latin typeface="Trebuchet MS" panose="020B0603020202020204" pitchFamily="34" charset="0"/>
              </a:rPr>
              <a:t>Code Emission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做目標機器代碼生成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Static: </a:t>
            </a:r>
            <a:r>
              <a:rPr lang="zh-TW" altLang="en-US" dirty="0" smtClean="0"/>
              <a:t>寫入檔案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JIT:</a:t>
            </a:r>
            <a:r>
              <a:rPr lang="zh-TW" altLang="en-US" dirty="0" smtClean="0"/>
              <a:t>寫入</a:t>
            </a:r>
            <a:r>
              <a:rPr lang="en-US" altLang="zh-TW" dirty="0" smtClean="0"/>
              <a:t>memory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11362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73980"/>
            <a:ext cx="7772400" cy="1470025"/>
          </a:xfrm>
        </p:spPr>
        <p:txBody>
          <a:bodyPr/>
          <a:lstStyle/>
          <a:p>
            <a:pPr algn="ctr"/>
            <a:r>
              <a:rPr lang="en-US" altLang="zh-TW" sz="4400" dirty="0"/>
              <a:t>cl2hsail</a:t>
            </a:r>
            <a:endParaRPr lang="zh-TW" altLang="en-US" sz="44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5800" y="3644005"/>
            <a:ext cx="7883434" cy="1752600"/>
          </a:xfrm>
        </p:spPr>
        <p:txBody>
          <a:bodyPr/>
          <a:lstStyle/>
          <a:p>
            <a:endParaRPr lang="zh-TW" altLang="en-US" sz="24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035041" y="5874768"/>
            <a:ext cx="3735978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ea typeface="標楷體" pitchFamily="65" charset="-120"/>
                <a:cs typeface="Calibri" pitchFamily="34" charset="0"/>
              </a:rPr>
              <a:t>© Copyright </a:t>
            </a:r>
            <a:r>
              <a:rPr lang="en-US" altLang="zh-TW" sz="1200" dirty="0" err="1">
                <a:solidFill>
                  <a:prstClr val="white">
                    <a:lumMod val="50000"/>
                  </a:prstClr>
                </a:solidFill>
                <a:ea typeface="標楷體" pitchFamily="65" charset="-120"/>
                <a:cs typeface="Calibri" pitchFamily="34" charset="0"/>
              </a:rPr>
              <a:t>Khronos</a:t>
            </a:r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ea typeface="標楷體" pitchFamily="65" charset="-120"/>
                <a:cs typeface="Calibri" pitchFamily="34" charset="0"/>
              </a:rPr>
              <a:t> Group, 2013</a:t>
            </a:r>
            <a:endParaRPr lang="zh-TW" altLang="en-US" sz="1200" dirty="0" smtClean="0">
              <a:solidFill>
                <a:prstClr val="white">
                  <a:lumMod val="50000"/>
                </a:prstClr>
              </a:solidFill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675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73676" y="95564"/>
            <a:ext cx="6268792" cy="690048"/>
          </a:xfrm>
        </p:spPr>
        <p:txBody>
          <a:bodyPr/>
          <a:lstStyle/>
          <a:p>
            <a:r>
              <a:rPr lang="en-US" altLang="zh-TW" dirty="0"/>
              <a:t>c</a:t>
            </a:r>
            <a:r>
              <a:rPr lang="en-US" altLang="zh-TW" dirty="0" smtClean="0"/>
              <a:t>l2hsail 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1762555" y="1963123"/>
            <a:ext cx="681913" cy="147732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 anchorCtr="1">
            <a:spAutoFit/>
          </a:bodyPr>
          <a:lstStyle/>
          <a:p>
            <a:endParaRPr lang="en-US" altLang="zh-TW" dirty="0" smtClean="0">
              <a:ea typeface="標楷體" pitchFamily="65" charset="-120"/>
              <a:cs typeface="Calibri" pitchFamily="34" charset="0"/>
            </a:endParaRPr>
          </a:p>
          <a:p>
            <a:endParaRPr lang="en-US" altLang="zh-TW" dirty="0" smtClean="0">
              <a:ea typeface="標楷體" pitchFamily="65" charset="-120"/>
              <a:cs typeface="Calibri" pitchFamily="34" charset="0"/>
            </a:endParaRP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.cl</a:t>
            </a:r>
          </a:p>
          <a:p>
            <a:endParaRPr lang="en-US" altLang="zh-TW" dirty="0" smtClean="0">
              <a:ea typeface="標楷體" pitchFamily="65" charset="-120"/>
              <a:cs typeface="Calibri" pitchFamily="34" charset="0"/>
            </a:endParaRPr>
          </a:p>
          <a:p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873061" y="2089490"/>
            <a:ext cx="817939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PTX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5944785" y="2306109"/>
            <a:ext cx="1118722" cy="92333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spAutoFit/>
          </a:bodyPr>
          <a:lstStyle/>
          <a:p>
            <a:endParaRPr lang="en-US" altLang="zh-TW" dirty="0" smtClean="0">
              <a:ea typeface="標楷體" pitchFamily="65" charset="-120"/>
              <a:cs typeface="Calibri" pitchFamily="34" charset="0"/>
            </a:endParaRP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Hsail</a:t>
            </a:r>
          </a:p>
          <a:p>
            <a:endParaRPr lang="en-US" altLang="zh-TW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6" name="直線單箭頭接點 5"/>
          <p:cNvCxnSpPr/>
          <p:nvPr/>
        </p:nvCxnSpPr>
        <p:spPr bwMode="auto">
          <a:xfrm>
            <a:off x="2532691" y="2306109"/>
            <a:ext cx="1293337" cy="8238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直線單箭頭接點 6"/>
          <p:cNvCxnSpPr/>
          <p:nvPr/>
        </p:nvCxnSpPr>
        <p:spPr bwMode="auto">
          <a:xfrm>
            <a:off x="4765145" y="2332455"/>
            <a:ext cx="1105495" cy="166558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直線單箭頭接點 7"/>
          <p:cNvCxnSpPr/>
          <p:nvPr/>
        </p:nvCxnSpPr>
        <p:spPr bwMode="auto">
          <a:xfrm>
            <a:off x="2592749" y="3153221"/>
            <a:ext cx="3277891" cy="11670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文字方塊 8"/>
          <p:cNvSpPr txBox="1"/>
          <p:nvPr/>
        </p:nvSpPr>
        <p:spPr>
          <a:xfrm>
            <a:off x="2919869" y="1794332"/>
            <a:ext cx="766119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clang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840097" y="1794332"/>
            <a:ext cx="766119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p2h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470603" y="3331730"/>
            <a:ext cx="1622854" cy="40011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2000" b="1" dirty="0" smtClean="0">
                <a:ea typeface="標楷體" pitchFamily="65" charset="-120"/>
                <a:cs typeface="Calibri" pitchFamily="34" charset="0"/>
              </a:rPr>
              <a:t>cl2hsail</a:t>
            </a:r>
            <a:endParaRPr lang="zh-TW" altLang="en-US" sz="2000" b="1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3" name="向下箭號 12"/>
          <p:cNvSpPr/>
          <p:nvPr/>
        </p:nvSpPr>
        <p:spPr bwMode="auto">
          <a:xfrm>
            <a:off x="4100945" y="3755780"/>
            <a:ext cx="362170" cy="677376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3763945" y="4756359"/>
            <a:ext cx="956015" cy="37838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err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</a:t>
            </a:r>
            <a:r>
              <a:rPr kumimoji="1" lang="en-US" altLang="zh-TW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lvm</a:t>
            </a: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-IR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799962" y="4706827"/>
            <a:ext cx="1714954" cy="42791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Hsail</a:t>
            </a: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-backend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867438" y="4756359"/>
            <a:ext cx="87785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clang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17" name="直線單箭頭接點 16"/>
          <p:cNvCxnSpPr/>
          <p:nvPr/>
        </p:nvCxnSpPr>
        <p:spPr bwMode="auto">
          <a:xfrm>
            <a:off x="2812024" y="4964181"/>
            <a:ext cx="902717" cy="823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 bwMode="auto">
          <a:xfrm>
            <a:off x="4786692" y="4972419"/>
            <a:ext cx="946538" cy="171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016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 smtClean="0"/>
              <a:t>Implemetation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063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4503" y="113210"/>
            <a:ext cx="7371806" cy="717913"/>
          </a:xfrm>
        </p:spPr>
        <p:txBody>
          <a:bodyPr/>
          <a:lstStyle/>
          <a:p>
            <a:r>
              <a:rPr lang="en-US" altLang="zh-TW" dirty="0" smtClean="0"/>
              <a:t>instruction without support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0" y="1414964"/>
            <a:ext cx="8915400" cy="3600986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2400" b="1" dirty="0" smtClean="0">
                <a:ea typeface="標楷體" pitchFamily="65" charset="-120"/>
                <a:cs typeface="Calibri" pitchFamily="34" charset="0"/>
              </a:rPr>
              <a:t>There are some instruction without </a:t>
            </a:r>
            <a:r>
              <a:rPr lang="en-US" altLang="zh-TW" sz="2400" b="1" dirty="0" err="1" smtClean="0">
                <a:ea typeface="標楷體" pitchFamily="65" charset="-120"/>
                <a:cs typeface="Calibri" pitchFamily="34" charset="0"/>
              </a:rPr>
              <a:t>llvm</a:t>
            </a:r>
            <a:r>
              <a:rPr lang="en-US" altLang="zh-TW" sz="2400" b="1" dirty="0" smtClean="0">
                <a:ea typeface="標楷體" pitchFamily="65" charset="-120"/>
                <a:cs typeface="Calibri" pitchFamily="34" charset="0"/>
              </a:rPr>
              <a:t> IR supporting for </a:t>
            </a:r>
            <a:r>
              <a:rPr lang="en-US" altLang="zh-TW" sz="2400" b="1" dirty="0" err="1" smtClean="0">
                <a:ea typeface="標楷體" pitchFamily="65" charset="-120"/>
                <a:cs typeface="Calibri" pitchFamily="34" charset="0"/>
              </a:rPr>
              <a:t>hsail</a:t>
            </a:r>
            <a:r>
              <a:rPr lang="en-US" altLang="zh-TW" sz="2400" b="1" dirty="0" smtClean="0">
                <a:ea typeface="標楷體" pitchFamily="65" charset="-120"/>
                <a:cs typeface="Calibri" pitchFamily="34" charset="0"/>
              </a:rPr>
              <a:t>:</a:t>
            </a:r>
          </a:p>
          <a:p>
            <a:endParaRPr lang="en-US" altLang="zh-TW" dirty="0" smtClean="0">
              <a:ea typeface="標楷體" pitchFamily="65" charset="-120"/>
              <a:cs typeface="Calibri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Barrier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Atomic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 smtClean="0">
                <a:ea typeface="標楷體" pitchFamily="65" charset="-120"/>
                <a:cs typeface="Calibri" pitchFamily="34" charset="0"/>
              </a:rPr>
              <a:t>GroupID</a:t>
            </a:r>
            <a:endParaRPr lang="en-US" altLang="zh-TW" dirty="0" smtClean="0">
              <a:ea typeface="標楷體" pitchFamily="65" charset="-120"/>
              <a:cs typeface="Calibri" pitchFamily="34" charset="0"/>
            </a:endParaRP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     .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     .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     .</a:t>
            </a:r>
          </a:p>
          <a:p>
            <a:endParaRPr lang="en-US" altLang="zh-TW" dirty="0">
              <a:ea typeface="標楷體" pitchFamily="65" charset="-120"/>
              <a:cs typeface="Calibri" pitchFamily="34" charset="0"/>
            </a:endParaRPr>
          </a:p>
          <a:p>
            <a:endParaRPr lang="en-US" altLang="zh-TW" dirty="0" smtClean="0">
              <a:ea typeface="標楷體" pitchFamily="65" charset="-120"/>
              <a:cs typeface="Calibri" pitchFamily="34" charset="0"/>
            </a:endParaRPr>
          </a:p>
          <a:p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273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5869" y="101329"/>
            <a:ext cx="6942908" cy="699860"/>
          </a:xfrm>
        </p:spPr>
        <p:txBody>
          <a:bodyPr/>
          <a:lstStyle/>
          <a:p>
            <a:r>
              <a:rPr lang="en-US" altLang="zh-TW" dirty="0" smtClean="0"/>
              <a:t>Example: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145869" y="2614920"/>
            <a:ext cx="2110740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1">
            <a:spAutoFit/>
          </a:bodyPr>
          <a:lstStyle/>
          <a:p>
            <a:r>
              <a:rPr lang="en-US" altLang="zh-TW" dirty="0" err="1" smtClean="0">
                <a:ea typeface="標楷體" pitchFamily="65" charset="-120"/>
                <a:cs typeface="Calibri" pitchFamily="34" charset="0"/>
              </a:rPr>
              <a:t>int</a:t>
            </a:r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   reduction()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{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   </a:t>
            </a:r>
            <a:r>
              <a:rPr lang="en-US" altLang="zh-TW" b="1" dirty="0" smtClean="0">
                <a:ea typeface="標楷體" pitchFamily="65" charset="-120"/>
                <a:cs typeface="Calibri" pitchFamily="34" charset="0"/>
              </a:rPr>
              <a:t>barrier();</a:t>
            </a:r>
            <a:endParaRPr lang="en-US" altLang="zh-TW" b="1" dirty="0">
              <a:ea typeface="標楷體" pitchFamily="65" charset="-120"/>
              <a:cs typeface="Calibri" pitchFamily="34" charset="0"/>
            </a:endParaRPr>
          </a:p>
          <a:p>
            <a:endParaRPr lang="en-US" altLang="zh-TW" dirty="0">
              <a:ea typeface="標楷體" pitchFamily="65" charset="-120"/>
              <a:cs typeface="Calibri" pitchFamily="34" charset="0"/>
            </a:endParaRP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}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533498" y="2556754"/>
            <a:ext cx="1546862" cy="1710446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3369125" y="2070636"/>
            <a:ext cx="1785257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err="1" smtClean="0">
                <a:ea typeface="標楷體" pitchFamily="65" charset="-120"/>
                <a:cs typeface="Calibri" pitchFamily="34" charset="0"/>
              </a:rPr>
              <a:t>llvm</a:t>
            </a:r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-IR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488323" y="2970974"/>
            <a:ext cx="1637212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Call  barrier();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10" name="直線單箭頭接點 9"/>
          <p:cNvCxnSpPr/>
          <p:nvPr/>
        </p:nvCxnSpPr>
        <p:spPr bwMode="auto">
          <a:xfrm flipV="1">
            <a:off x="2356757" y="3211397"/>
            <a:ext cx="1078774" cy="9479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 bwMode="auto">
          <a:xfrm flipV="1">
            <a:off x="5281748" y="2838994"/>
            <a:ext cx="1458686" cy="25211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6740434" y="2279756"/>
            <a:ext cx="2142309" cy="1754326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Load </a:t>
            </a:r>
          </a:p>
          <a:p>
            <a:endParaRPr lang="en-US" altLang="zh-TW" dirty="0" smtClean="0">
              <a:ea typeface="標楷體" pitchFamily="65" charset="-120"/>
              <a:cs typeface="Calibri" pitchFamily="34" charset="0"/>
            </a:endParaRPr>
          </a:p>
          <a:p>
            <a:r>
              <a:rPr lang="en-US" altLang="zh-TW" dirty="0" err="1">
                <a:ea typeface="標楷體" pitchFamily="65" charset="-120"/>
                <a:cs typeface="Calibri" pitchFamily="34" charset="0"/>
              </a:rPr>
              <a:t>a</a:t>
            </a:r>
            <a:r>
              <a:rPr lang="en-US" altLang="zh-TW" dirty="0" err="1" smtClean="0">
                <a:ea typeface="標楷體" pitchFamily="65" charset="-120"/>
                <a:cs typeface="Calibri" pitchFamily="34" charset="0"/>
              </a:rPr>
              <a:t>rg</a:t>
            </a:r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 a1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call barrier(a1)</a:t>
            </a:r>
          </a:p>
          <a:p>
            <a:endParaRPr lang="en-US" altLang="zh-TW" dirty="0" smtClean="0">
              <a:ea typeface="標楷體" pitchFamily="65" charset="-120"/>
              <a:cs typeface="Calibri" pitchFamily="34" charset="0"/>
            </a:endParaRP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store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6" name="乘號 15"/>
          <p:cNvSpPr/>
          <p:nvPr/>
        </p:nvSpPr>
        <p:spPr bwMode="auto">
          <a:xfrm>
            <a:off x="5355770" y="2277963"/>
            <a:ext cx="1368334" cy="1444336"/>
          </a:xfrm>
          <a:prstGeom prst="mathMultiply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normalizeH="0" baseline="0" smtClean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947338" y="1885970"/>
            <a:ext cx="1524000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Pseudo code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12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5869" y="101329"/>
            <a:ext cx="6942908" cy="699860"/>
          </a:xfrm>
        </p:spPr>
        <p:txBody>
          <a:bodyPr/>
          <a:lstStyle/>
          <a:p>
            <a:r>
              <a:rPr lang="en-US" altLang="zh-TW" dirty="0" smtClean="0"/>
              <a:t>Example: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145869" y="2245588"/>
            <a:ext cx="1825388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1">
            <a:spAutoFit/>
          </a:bodyPr>
          <a:lstStyle/>
          <a:p>
            <a:r>
              <a:rPr lang="en-US" altLang="zh-TW" dirty="0" err="1" smtClean="0">
                <a:ea typeface="標楷體" pitchFamily="65" charset="-120"/>
                <a:cs typeface="Calibri" pitchFamily="34" charset="0"/>
              </a:rPr>
              <a:t>int</a:t>
            </a:r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   reduction()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{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   </a:t>
            </a:r>
            <a:r>
              <a:rPr lang="en-US" altLang="zh-TW" b="1" dirty="0" smtClean="0">
                <a:ea typeface="標楷體" pitchFamily="65" charset="-120"/>
                <a:cs typeface="Calibri" pitchFamily="34" charset="0"/>
              </a:rPr>
              <a:t>barrier();</a:t>
            </a:r>
            <a:endParaRPr lang="en-US" altLang="zh-TW" b="1" dirty="0">
              <a:ea typeface="標楷體" pitchFamily="65" charset="-120"/>
              <a:cs typeface="Calibri" pitchFamily="34" charset="0"/>
            </a:endParaRPr>
          </a:p>
          <a:p>
            <a:endParaRPr lang="en-US" altLang="zh-TW" dirty="0">
              <a:ea typeface="標楷體" pitchFamily="65" charset="-120"/>
              <a:cs typeface="Calibri" pitchFamily="34" charset="0"/>
            </a:endParaRP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}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227593" y="2085102"/>
            <a:ext cx="1546862" cy="1710446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3034373" y="1678312"/>
            <a:ext cx="1785257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err="1" smtClean="0">
                <a:ea typeface="標楷體" pitchFamily="65" charset="-120"/>
                <a:cs typeface="Calibri" pitchFamily="34" charset="0"/>
              </a:rPr>
              <a:t>llvm</a:t>
            </a:r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-IR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182418" y="2430254"/>
            <a:ext cx="1637212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Call  </a:t>
            </a:r>
            <a:r>
              <a:rPr lang="en-US" altLang="zh-TW" dirty="0" err="1" smtClean="0">
                <a:ea typeface="標楷體" pitchFamily="65" charset="-120"/>
                <a:cs typeface="Calibri" pitchFamily="34" charset="0"/>
              </a:rPr>
              <a:t>brrier</a:t>
            </a:r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();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10" name="直線單箭頭接點 9"/>
          <p:cNvCxnSpPr/>
          <p:nvPr/>
        </p:nvCxnSpPr>
        <p:spPr bwMode="auto">
          <a:xfrm flipV="1">
            <a:off x="2078702" y="2635574"/>
            <a:ext cx="1078774" cy="9479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 bwMode="auto">
          <a:xfrm>
            <a:off x="5074139" y="2403569"/>
            <a:ext cx="1216558" cy="1340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6290697" y="2082804"/>
            <a:ext cx="1676953" cy="120032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err="1" smtClean="0">
                <a:ea typeface="標楷體" pitchFamily="65" charset="-120"/>
                <a:cs typeface="Calibri" pitchFamily="34" charset="0"/>
              </a:rPr>
              <a:t>Lowercall</a:t>
            </a:r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()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{</a:t>
            </a:r>
          </a:p>
          <a:p>
            <a:endParaRPr lang="en-US" altLang="zh-TW" dirty="0" smtClean="0">
              <a:ea typeface="標楷體" pitchFamily="65" charset="-120"/>
              <a:cs typeface="Calibri" pitchFamily="34" charset="0"/>
            </a:endParaRP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}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725652" y="2614920"/>
            <a:ext cx="2031325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 anchor="ctr" anchorCtr="1">
            <a:spAutoFit/>
          </a:bodyPr>
          <a:lstStyle/>
          <a:p>
            <a:r>
              <a:rPr lang="en-US" altLang="zh-TW" dirty="0" err="1" smtClean="0">
                <a:ea typeface="標楷體" pitchFamily="65" charset="-120"/>
                <a:cs typeface="Calibri" pitchFamily="34" charset="0"/>
              </a:rPr>
              <a:t>HsailISD</a:t>
            </a:r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::Barrier0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15" name="直線單箭頭接點 14"/>
          <p:cNvCxnSpPr/>
          <p:nvPr/>
        </p:nvCxnSpPr>
        <p:spPr bwMode="auto">
          <a:xfrm>
            <a:off x="7423485" y="3343577"/>
            <a:ext cx="48126" cy="94334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6725652" y="4459523"/>
            <a:ext cx="1756611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Barrier();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81946" y="1722340"/>
            <a:ext cx="1082842" cy="38261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.cl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612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3" y="1635265"/>
            <a:ext cx="9313484" cy="153107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17" y="4617567"/>
            <a:ext cx="4887007" cy="1238423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17" y="3874688"/>
            <a:ext cx="5487166" cy="276264"/>
          </a:xfrm>
          <a:prstGeom prst="rect">
            <a:avLst/>
          </a:prstGeom>
        </p:spPr>
      </p:pic>
      <p:sp>
        <p:nvSpPr>
          <p:cNvPr id="7" name="標題 1"/>
          <p:cNvSpPr>
            <a:spLocks noGrp="1"/>
          </p:cNvSpPr>
          <p:nvPr>
            <p:ph type="ctrTitle"/>
          </p:nvPr>
        </p:nvSpPr>
        <p:spPr>
          <a:xfrm>
            <a:off x="438816" y="185652"/>
            <a:ext cx="5000296" cy="602265"/>
          </a:xfrm>
        </p:spPr>
        <p:txBody>
          <a:bodyPr/>
          <a:lstStyle/>
          <a:p>
            <a:r>
              <a:rPr lang="en-US" altLang="zh-TW" dirty="0"/>
              <a:t>HsailInstrInfo.td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5207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16" y="1051035"/>
            <a:ext cx="8118466" cy="5053880"/>
          </a:xfrm>
          <a:prstGeom prst="rect">
            <a:avLst/>
          </a:prstGeom>
        </p:spPr>
      </p:pic>
      <p:sp>
        <p:nvSpPr>
          <p:cNvPr id="6" name="標題 1"/>
          <p:cNvSpPr>
            <a:spLocks noGrp="1"/>
          </p:cNvSpPr>
          <p:nvPr>
            <p:ph type="ctrTitle"/>
          </p:nvPr>
        </p:nvSpPr>
        <p:spPr>
          <a:xfrm>
            <a:off x="438816" y="185652"/>
            <a:ext cx="5000296" cy="602265"/>
          </a:xfrm>
        </p:spPr>
        <p:txBody>
          <a:bodyPr/>
          <a:lstStyle/>
          <a:p>
            <a:r>
              <a:rPr lang="en-US" altLang="zh-TW" dirty="0"/>
              <a:t>HsailISelLowering.cpp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60266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60283" y="154480"/>
            <a:ext cx="5000296" cy="602265"/>
          </a:xfrm>
        </p:spPr>
        <p:txBody>
          <a:bodyPr/>
          <a:lstStyle/>
          <a:p>
            <a:r>
              <a:rPr lang="en-US" altLang="zh-TW" dirty="0" smtClean="0"/>
              <a:t>Non-Mask function-call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16" y="1538123"/>
            <a:ext cx="8267700" cy="123825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41" y="3473669"/>
            <a:ext cx="4095750" cy="2390775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519546" y="2776373"/>
            <a:ext cx="1143000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File:  .</a:t>
            </a:r>
            <a:r>
              <a:rPr lang="en-US" altLang="zh-TW" dirty="0" err="1" smtClean="0">
                <a:ea typeface="標楷體" pitchFamily="65" charset="-120"/>
                <a:cs typeface="Calibri" pitchFamily="34" charset="0"/>
              </a:rPr>
              <a:t>ll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6461891" y="5420319"/>
            <a:ext cx="1143000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.</a:t>
            </a:r>
            <a:r>
              <a:rPr lang="en-US" altLang="zh-TW" dirty="0" err="1" smtClean="0">
                <a:ea typeface="標楷體" pitchFamily="65" charset="-120"/>
                <a:cs typeface="Calibri" pitchFamily="34" charset="0"/>
              </a:rPr>
              <a:t>hsail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0162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 bwMode="auto">
          <a:xfrm>
            <a:off x="160283" y="154480"/>
            <a:ext cx="4411717" cy="686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kern="0" dirty="0" smtClean="0"/>
              <a:t>Mask function call</a:t>
            </a:r>
            <a:endParaRPr lang="zh-TW" altLang="en-US" kern="0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783" y="3737085"/>
            <a:ext cx="4191000" cy="20955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31" y="1308537"/>
            <a:ext cx="7715250" cy="207645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6669710" y="5409928"/>
            <a:ext cx="1143000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.</a:t>
            </a:r>
            <a:r>
              <a:rPr lang="en-US" altLang="zh-TW" dirty="0" err="1" smtClean="0">
                <a:ea typeface="標楷體" pitchFamily="65" charset="-120"/>
                <a:cs typeface="Calibri" pitchFamily="34" charset="0"/>
              </a:rPr>
              <a:t>hsail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67231" y="3384987"/>
            <a:ext cx="1143000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File:   .</a:t>
            </a:r>
            <a:r>
              <a:rPr lang="en-US" altLang="zh-TW" dirty="0" err="1" smtClean="0">
                <a:ea typeface="標楷體" pitchFamily="65" charset="-120"/>
                <a:cs typeface="Calibri" pitchFamily="34" charset="0"/>
              </a:rPr>
              <a:t>ll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4630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32520" y="2549054"/>
            <a:ext cx="6208605" cy="1343936"/>
          </a:xfrm>
        </p:spPr>
        <p:txBody>
          <a:bodyPr/>
          <a:lstStyle/>
          <a:p>
            <a:r>
              <a:rPr lang="en-US" altLang="zh-TW" dirty="0" smtClean="0"/>
              <a:t>Q&amp;A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86529804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佈景主題1" id="{52425C63-842A-4F95-A16C-1C0CCEA90123}" vid="{F27CB42A-B114-46CF-86BE-45D629310C51}"/>
    </a:ext>
  </a:extLst>
</a:theme>
</file>

<file path=ppt/theme/theme2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664</TotalTime>
  <Words>1039</Words>
  <Application>Microsoft Office PowerPoint</Application>
  <PresentationFormat>如螢幕大小 (4:3)</PresentationFormat>
  <Paragraphs>311</Paragraphs>
  <Slides>36</Slides>
  <Notes>7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36</vt:i4>
      </vt:variant>
    </vt:vector>
  </HeadingPairs>
  <TitlesOfParts>
    <vt:vector size="38" baseType="lpstr">
      <vt:lpstr>佈景主題1</vt:lpstr>
      <vt:lpstr>1_Office 佈景主題</vt:lpstr>
      <vt:lpstr>HConverter: An LLVM based Binary Translator for HSAIL</vt:lpstr>
      <vt:lpstr>前後對照--</vt:lpstr>
      <vt:lpstr>Hsaemu—architecture</vt:lpstr>
      <vt:lpstr>HSA emulator framework</vt:lpstr>
      <vt:lpstr>Translator</vt:lpstr>
      <vt:lpstr>Overall flow – Monitor &amp; CU thread</vt:lpstr>
      <vt:lpstr>HSA Translator</vt:lpstr>
      <vt:lpstr>Using clang</vt:lpstr>
      <vt:lpstr>ptx2hsail</vt:lpstr>
      <vt:lpstr>Implementation of selp</vt:lpstr>
      <vt:lpstr>ptx</vt:lpstr>
      <vt:lpstr>hsail</vt:lpstr>
      <vt:lpstr>HSA Translator</vt:lpstr>
      <vt:lpstr>HSA Translator</vt:lpstr>
      <vt:lpstr>HSA Translator</vt:lpstr>
      <vt:lpstr>HSA Translator</vt:lpstr>
      <vt:lpstr>HSA Translator</vt:lpstr>
      <vt:lpstr>Linker Loader and Helper Function</vt:lpstr>
      <vt:lpstr>Backend-llvm</vt:lpstr>
      <vt:lpstr>PowerPoint 簡報</vt:lpstr>
      <vt:lpstr>Instruction Selection</vt:lpstr>
      <vt:lpstr>Scheduling and Formation</vt:lpstr>
      <vt:lpstr>Register Allocation</vt:lpstr>
      <vt:lpstr>Prologue/Epilogue Code Insertion</vt:lpstr>
      <vt:lpstr>Code Emission</vt:lpstr>
      <vt:lpstr>cl2hsail</vt:lpstr>
      <vt:lpstr>cl2hsail </vt:lpstr>
      <vt:lpstr>Implemetation</vt:lpstr>
      <vt:lpstr>instruction without support</vt:lpstr>
      <vt:lpstr>Example:</vt:lpstr>
      <vt:lpstr>Example:</vt:lpstr>
      <vt:lpstr>HsailInstrInfo.td</vt:lpstr>
      <vt:lpstr>HsailISelLowering.cpp</vt:lpstr>
      <vt:lpstr>Non-Mask function-call</vt:lpstr>
      <vt:lpstr>PowerPoint 簡報</vt:lpstr>
      <vt:lpstr>Q&amp;A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HSAemu: A LLVM based Binary Translator for HSAIL</dc:title>
  <dc:creator>sslab</dc:creator>
  <cp:lastModifiedBy>Yeh-Ching Chung</cp:lastModifiedBy>
  <cp:revision>37</cp:revision>
  <dcterms:created xsi:type="dcterms:W3CDTF">2014-04-20T11:58:48Z</dcterms:created>
  <dcterms:modified xsi:type="dcterms:W3CDTF">2014-04-21T07:42:35Z</dcterms:modified>
</cp:coreProperties>
</file>