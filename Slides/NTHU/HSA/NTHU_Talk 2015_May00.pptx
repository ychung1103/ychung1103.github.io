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6.xml" ContentType="application/vnd.openxmlformats-officedocument.presentationml.slideMaster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4"/>
    <p:sldMasterId id="2147483799" r:id="rId5"/>
    <p:sldMasterId id="2147483812" r:id="rId6"/>
    <p:sldMasterId id="2147483826" r:id="rId7"/>
    <p:sldMasterId id="2147483839" r:id="rId8"/>
    <p:sldMasterId id="2147483852" r:id="rId9"/>
  </p:sldMasterIdLst>
  <p:notesMasterIdLst>
    <p:notesMasterId r:id="rId58"/>
  </p:notesMasterIdLst>
  <p:sldIdLst>
    <p:sldId id="357" r:id="rId10"/>
    <p:sldId id="287" r:id="rId11"/>
    <p:sldId id="329" r:id="rId12"/>
    <p:sldId id="294" r:id="rId13"/>
    <p:sldId id="259" r:id="rId14"/>
    <p:sldId id="288" r:id="rId15"/>
    <p:sldId id="289" r:id="rId16"/>
    <p:sldId id="290" r:id="rId17"/>
    <p:sldId id="291" r:id="rId18"/>
    <p:sldId id="312" r:id="rId19"/>
    <p:sldId id="274" r:id="rId20"/>
    <p:sldId id="295" r:id="rId21"/>
    <p:sldId id="296" r:id="rId22"/>
    <p:sldId id="300" r:id="rId23"/>
    <p:sldId id="305" r:id="rId24"/>
    <p:sldId id="335" r:id="rId25"/>
    <p:sldId id="336" r:id="rId26"/>
    <p:sldId id="316" r:id="rId27"/>
    <p:sldId id="315" r:id="rId28"/>
    <p:sldId id="311" r:id="rId29"/>
    <p:sldId id="310" r:id="rId30"/>
    <p:sldId id="298" r:id="rId31"/>
    <p:sldId id="301" r:id="rId32"/>
    <p:sldId id="333" r:id="rId33"/>
    <p:sldId id="334" r:id="rId34"/>
    <p:sldId id="297" r:id="rId35"/>
    <p:sldId id="304" r:id="rId36"/>
    <p:sldId id="338" r:id="rId37"/>
    <p:sldId id="339" r:id="rId38"/>
    <p:sldId id="340" r:id="rId39"/>
    <p:sldId id="341" r:id="rId40"/>
    <p:sldId id="356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2" r:id="rId51"/>
    <p:sldId id="351" r:id="rId52"/>
    <p:sldId id="353" r:id="rId53"/>
    <p:sldId id="354" r:id="rId54"/>
    <p:sldId id="355" r:id="rId55"/>
    <p:sldId id="303" r:id="rId56"/>
    <p:sldId id="292" r:id="rId57"/>
  </p:sldIdLst>
  <p:sldSz cx="9144000" cy="6858000" type="screen4x3"/>
  <p:notesSz cx="7034213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00FF"/>
    <a:srgbClr val="9966FF"/>
    <a:srgbClr val="996633"/>
    <a:srgbClr val="FF66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-166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7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61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tk09521\Documents\benefit%20of%20devEnqueu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title>
      <c:tx>
        <c:rich>
          <a:bodyPr/>
          <a:lstStyle/>
          <a:p>
            <a:pPr>
              <a:defRPr/>
            </a:pPr>
            <a:r>
              <a:rPr lang="en-US" altLang="en-US"/>
              <a:t>Scan Linked list</a:t>
            </a:r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f>Sheet3!$B$1</c:f>
              <c:strCache>
                <c:ptCount val="1"/>
                <c:pt idx="0">
                  <c:v>time</c:v>
                </c:pt>
              </c:strCache>
            </c:strRef>
          </c:tx>
          <c:cat>
            <c:numRef>
              <c:f>Sheet3!$A$2:$A$8</c:f>
              <c:numCache>
                <c:formatCode>General</c:formatCode>
                <c:ptCount val="7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</c:numCache>
            </c:numRef>
          </c:cat>
          <c:val>
            <c:numRef>
              <c:f>Sheet3!$B$2:$B$8</c:f>
              <c:numCache>
                <c:formatCode>0.000_ </c:formatCode>
                <c:ptCount val="7"/>
                <c:pt idx="0">
                  <c:v>2.6320000000000002E-3</c:v>
                </c:pt>
                <c:pt idx="1">
                  <c:v>1.0054E-2</c:v>
                </c:pt>
                <c:pt idx="2">
                  <c:v>4.0883000000000023E-2</c:v>
                </c:pt>
                <c:pt idx="3">
                  <c:v>0.17366100000000001</c:v>
                </c:pt>
                <c:pt idx="4">
                  <c:v>0.76079200000000102</c:v>
                </c:pt>
                <c:pt idx="5">
                  <c:v>3.1590229999999977</c:v>
                </c:pt>
                <c:pt idx="6">
                  <c:v>12.876555000000012</c:v>
                </c:pt>
              </c:numCache>
            </c:numRef>
          </c:val>
        </c:ser>
        <c:marker val="1"/>
        <c:axId val="92709632"/>
        <c:axId val="92711168"/>
      </c:lineChart>
      <c:catAx>
        <c:axId val="92709632"/>
        <c:scaling>
          <c:orientation val="minMax"/>
        </c:scaling>
        <c:axPos val="b"/>
        <c:numFmt formatCode="General" sourceLinked="1"/>
        <c:majorTickMark val="none"/>
        <c:tickLblPos val="nextTo"/>
        <c:crossAx val="92711168"/>
        <c:crosses val="autoZero"/>
        <c:auto val="1"/>
        <c:lblAlgn val="ctr"/>
        <c:lblOffset val="100"/>
      </c:catAx>
      <c:valAx>
        <c:axId val="9271116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altLang="zh-TW" sz="1600" dirty="0" smtClean="0"/>
                  <a:t>Second</a:t>
                </a:r>
                <a:endParaRPr lang="zh-TW" altLang="en-US" sz="1600" dirty="0"/>
              </a:p>
            </c:rich>
          </c:tx>
        </c:title>
        <c:numFmt formatCode="0.000_ " sourceLinked="1"/>
        <c:majorTickMark val="none"/>
        <c:tickLblPos val="nextTo"/>
        <c:crossAx val="92709632"/>
        <c:crosses val="autoZero"/>
        <c:crossBetween val="between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sz="1200"/>
            </a:pPr>
            <a:endParaRPr lang="zh-TW"/>
          </a:p>
        </c:txPr>
      </c:dTable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title>
      <c:tx>
        <c:rich>
          <a:bodyPr/>
          <a:lstStyle/>
          <a:p>
            <a:pPr>
              <a:defRPr/>
            </a:pPr>
            <a:r>
              <a:rPr lang="en-US" altLang="en-US"/>
              <a:t>Scan Linked List</a:t>
            </a:r>
          </a:p>
        </c:rich>
      </c:tx>
    </c:title>
    <c:plotArea>
      <c:layout/>
      <c:lineChart>
        <c:grouping val="standard"/>
        <c:ser>
          <c:idx val="1"/>
          <c:order val="0"/>
          <c:tx>
            <c:strRef>
              <c:f>Sheet3!$C$1</c:f>
              <c:strCache>
                <c:ptCount val="1"/>
                <c:pt idx="0">
                  <c:v>performance</c:v>
                </c:pt>
              </c:strCache>
            </c:strRef>
          </c:tx>
          <c:cat>
            <c:numRef>
              <c:f>Sheet3!$A$2:$A$8</c:f>
              <c:numCache>
                <c:formatCode>General</c:formatCode>
                <c:ptCount val="7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</c:numCache>
            </c:numRef>
          </c:cat>
          <c:val>
            <c:numRef>
              <c:f>Sheet3!$C$2:$C$8</c:f>
              <c:numCache>
                <c:formatCode>General</c:formatCode>
                <c:ptCount val="7"/>
                <c:pt idx="0">
                  <c:v>194528.87537993942</c:v>
                </c:pt>
                <c:pt idx="1">
                  <c:v>101850.00994629005</c:v>
                </c:pt>
                <c:pt idx="2">
                  <c:v>50094.171171391528</c:v>
                </c:pt>
                <c:pt idx="3">
                  <c:v>23586.182274661551</c:v>
                </c:pt>
                <c:pt idx="4">
                  <c:v>10767.726264208877</c:v>
                </c:pt>
                <c:pt idx="5">
                  <c:v>5186.4136475106388</c:v>
                </c:pt>
                <c:pt idx="6">
                  <c:v>2544.780028509178</c:v>
                </c:pt>
              </c:numCache>
            </c:numRef>
          </c:val>
        </c:ser>
        <c:hiLowLines/>
        <c:marker val="1"/>
        <c:axId val="92723840"/>
        <c:axId val="93004544"/>
      </c:lineChart>
      <c:catAx>
        <c:axId val="9272384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altLang="zh-TW" sz="1600"/>
                  <a:t>size of data</a:t>
                </a:r>
                <a:endParaRPr lang="zh-TW" altLang="en-US" sz="1600"/>
              </a:p>
            </c:rich>
          </c:tx>
        </c:title>
        <c:numFmt formatCode="General" sourceLinked="1"/>
        <c:majorTickMark val="none"/>
        <c:tickLblPos val="nextTo"/>
        <c:crossAx val="93004544"/>
        <c:crosses val="autoZero"/>
        <c:auto val="1"/>
        <c:lblAlgn val="ctr"/>
        <c:lblOffset val="100"/>
      </c:catAx>
      <c:valAx>
        <c:axId val="9300454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altLang="zh-TW" sz="1600"/>
                  <a:t>Performance</a:t>
                </a:r>
                <a:br>
                  <a:rPr lang="en-US" altLang="zh-TW" sz="1600"/>
                </a:br>
                <a:r>
                  <a:rPr lang="en-US" altLang="zh-TW" sz="1600"/>
                  <a:t>(size of data/time)</a:t>
                </a:r>
                <a:endParaRPr lang="zh-TW" altLang="en-US" sz="1600"/>
              </a:p>
            </c:rich>
          </c:tx>
        </c:title>
        <c:numFmt formatCode="0.00E+00" sourceLinked="0"/>
        <c:tickLblPos val="nextTo"/>
        <c:crossAx val="92723840"/>
        <c:crosses val="autoZero"/>
        <c:crossBetween val="between"/>
      </c:valAx>
    </c:plotArea>
    <c:legend>
      <c:legendPos val="r"/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zh-TW" sz="1800" b="1" i="0" baseline="0"/>
              <a:t>Scan Linked List</a:t>
            </a:r>
            <a:endParaRPr lang="zh-TW" altLang="zh-TW"/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f>Sheet3!$B$1</c:f>
              <c:strCache>
                <c:ptCount val="1"/>
                <c:pt idx="0">
                  <c:v>time</c:v>
                </c:pt>
              </c:strCache>
            </c:strRef>
          </c:tx>
          <c:cat>
            <c:numRef>
              <c:f>Sheet3!$A$2:$A$8</c:f>
              <c:numCache>
                <c:formatCode>General</c:formatCode>
                <c:ptCount val="7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</c:numCache>
            </c:numRef>
          </c:cat>
          <c:val>
            <c:numRef>
              <c:f>Sheet3!$B$2:$B$8</c:f>
              <c:numCache>
                <c:formatCode>0.000_ </c:formatCode>
                <c:ptCount val="7"/>
                <c:pt idx="0">
                  <c:v>2.6320000000000002E-3</c:v>
                </c:pt>
                <c:pt idx="1">
                  <c:v>1.0054E-2</c:v>
                </c:pt>
                <c:pt idx="2">
                  <c:v>4.0883000000000023E-2</c:v>
                </c:pt>
                <c:pt idx="3">
                  <c:v>0.17366100000000001</c:v>
                </c:pt>
                <c:pt idx="4">
                  <c:v>0.76079200000000102</c:v>
                </c:pt>
                <c:pt idx="5">
                  <c:v>3.1590229999999977</c:v>
                </c:pt>
                <c:pt idx="6">
                  <c:v>12.876555000000012</c:v>
                </c:pt>
              </c:numCache>
            </c:numRef>
          </c:val>
        </c:ser>
        <c:marker val="1"/>
        <c:axId val="93042944"/>
        <c:axId val="93052928"/>
      </c:lineChart>
      <c:catAx>
        <c:axId val="93042944"/>
        <c:scaling>
          <c:orientation val="minMax"/>
        </c:scaling>
        <c:axPos val="b"/>
        <c:numFmt formatCode="General" sourceLinked="1"/>
        <c:majorTickMark val="none"/>
        <c:tickLblPos val="nextTo"/>
        <c:crossAx val="93052928"/>
        <c:crosses val="autoZero"/>
        <c:auto val="1"/>
        <c:lblAlgn val="ctr"/>
        <c:lblOffset val="100"/>
      </c:catAx>
      <c:valAx>
        <c:axId val="93052928"/>
        <c:scaling>
          <c:logBase val="2"/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altLang="zh-TW" sz="1600" i="1"/>
                  <a:t>log</a:t>
                </a:r>
                <a:r>
                  <a:rPr lang="en-US" altLang="zh-TW" sz="1600"/>
                  <a:t>(second)</a:t>
                </a:r>
                <a:endParaRPr lang="zh-TW" altLang="en-US" sz="1600"/>
              </a:p>
            </c:rich>
          </c:tx>
        </c:title>
        <c:numFmt formatCode="0.000_ " sourceLinked="1"/>
        <c:majorTickMark val="none"/>
        <c:tickLblPos val="nextTo"/>
        <c:crossAx val="93042944"/>
        <c:crosses val="autoZero"/>
        <c:crossBetween val="between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sz="1600"/>
            </a:pPr>
            <a:endParaRPr lang="zh-TW"/>
          </a:p>
        </c:txPr>
      </c:dTable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 sz="2000"/>
            </a:pPr>
            <a:r>
              <a:rPr lang="en-US" altLang="zh-TW" sz="2000"/>
              <a:t>Binary Search</a:t>
            </a:r>
            <a:r>
              <a:rPr lang="en-US" altLang="zh-TW" sz="2000" baseline="0"/>
              <a:t> (number of keys = 100000)</a:t>
            </a:r>
            <a:endParaRPr lang="zh-TW" altLang="en-US" sz="2000"/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with device enqueue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 M</c:v>
                </c:pt>
                <c:pt idx="1">
                  <c:v>2 M</c:v>
                </c:pt>
                <c:pt idx="2">
                  <c:v>4 M</c:v>
                </c:pt>
                <c:pt idx="3">
                  <c:v>8 M</c:v>
                </c:pt>
                <c:pt idx="4">
                  <c:v>16 M</c:v>
                </c:pt>
                <c:pt idx="5">
                  <c:v>32 M</c:v>
                </c:pt>
                <c:pt idx="6">
                  <c:v>64 M</c:v>
                </c:pt>
                <c:pt idx="7">
                  <c:v>128 M</c:v>
                </c:pt>
              </c:strCache>
            </c:strRef>
          </c:cat>
          <c:val>
            <c:numRef>
              <c:f>Sheet1!$B$2:$B$9</c:f>
              <c:numCache>
                <c:formatCode>0.00E+00</c:formatCode>
                <c:ptCount val="8"/>
                <c:pt idx="0">
                  <c:v>6473400</c:v>
                </c:pt>
                <c:pt idx="1">
                  <c:v>13092100</c:v>
                </c:pt>
                <c:pt idx="2">
                  <c:v>14083800</c:v>
                </c:pt>
                <c:pt idx="3">
                  <c:v>27822200</c:v>
                </c:pt>
                <c:pt idx="4">
                  <c:v>50965200</c:v>
                </c:pt>
                <c:pt idx="5">
                  <c:v>87488200</c:v>
                </c:pt>
                <c:pt idx="6">
                  <c:v>119171000</c:v>
                </c:pt>
                <c:pt idx="7">
                  <c:v>2650910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device enqueue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 M</c:v>
                </c:pt>
                <c:pt idx="1">
                  <c:v>2 M</c:v>
                </c:pt>
                <c:pt idx="2">
                  <c:v>4 M</c:v>
                </c:pt>
                <c:pt idx="3">
                  <c:v>8 M</c:v>
                </c:pt>
                <c:pt idx="4">
                  <c:v>16 M</c:v>
                </c:pt>
                <c:pt idx="5">
                  <c:v>32 M</c:v>
                </c:pt>
                <c:pt idx="6">
                  <c:v>64 M</c:v>
                </c:pt>
                <c:pt idx="7">
                  <c:v>128 M</c:v>
                </c:pt>
              </c:strCache>
            </c:strRef>
          </c:cat>
          <c:val>
            <c:numRef>
              <c:f>Sheet1!$C$2:$C$9</c:f>
              <c:numCache>
                <c:formatCode>0.00E+00</c:formatCode>
                <c:ptCount val="8"/>
                <c:pt idx="0">
                  <c:v>5372440</c:v>
                </c:pt>
                <c:pt idx="1">
                  <c:v>8333240</c:v>
                </c:pt>
                <c:pt idx="2">
                  <c:v>11795500</c:v>
                </c:pt>
                <c:pt idx="3">
                  <c:v>14983700</c:v>
                </c:pt>
                <c:pt idx="4">
                  <c:v>17222400</c:v>
                </c:pt>
                <c:pt idx="5">
                  <c:v>18800300</c:v>
                </c:pt>
                <c:pt idx="6">
                  <c:v>19997700</c:v>
                </c:pt>
              </c:numCache>
            </c:numRef>
          </c:val>
        </c:ser>
        <c:marker val="1"/>
        <c:axId val="99736576"/>
        <c:axId val="94119040"/>
      </c:lineChart>
      <c:catAx>
        <c:axId val="9973657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altLang="zh-TW" sz="1800"/>
                  <a:t>size of data</a:t>
                </a:r>
                <a:endParaRPr lang="zh-TW" altLang="en-US" sz="1800"/>
              </a:p>
            </c:rich>
          </c:tx>
        </c:title>
        <c:numFmt formatCode="General" sourceLinked="0"/>
        <c:majorTickMark val="none"/>
        <c:tickLblPos val="nextTo"/>
        <c:txPr>
          <a:bodyPr/>
          <a:lstStyle/>
          <a:p>
            <a:pPr>
              <a:defRPr sz="1400"/>
            </a:pPr>
            <a:endParaRPr lang="zh-TW"/>
          </a:p>
        </c:txPr>
        <c:crossAx val="94119040"/>
        <c:crosses val="autoZero"/>
        <c:auto val="1"/>
        <c:lblAlgn val="ctr"/>
        <c:lblOffset val="100"/>
      </c:catAx>
      <c:valAx>
        <c:axId val="94119040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altLang="zh-TW" sz="1800"/>
                  <a:t>performance</a:t>
                </a:r>
                <a:br>
                  <a:rPr lang="en-US" altLang="zh-TW" sz="1800"/>
                </a:br>
                <a:r>
                  <a:rPr lang="en-US" altLang="zh-TW" sz="1800"/>
                  <a:t>(size of data / time)</a:t>
                </a:r>
                <a:endParaRPr lang="zh-TW" altLang="en-US" sz="1800"/>
              </a:p>
            </c:rich>
          </c:tx>
        </c:title>
        <c:numFmt formatCode="0.00E+00" sourceLinked="1"/>
        <c:tickLblPos val="nextTo"/>
        <c:crossAx val="99736576"/>
        <c:crosses val="autoZero"/>
        <c:crossBetween val="between"/>
      </c:valAx>
    </c:plotArea>
    <c:legend>
      <c:legendPos val="r"/>
      <c:txPr>
        <a:bodyPr/>
        <a:lstStyle/>
        <a:p>
          <a:pPr>
            <a:defRPr sz="1600"/>
          </a:pPr>
          <a:endParaRPr lang="zh-TW"/>
        </a:p>
      </c:tx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zh-TW"/>
              <a:t>Prefix Sum</a:t>
            </a:r>
            <a:endParaRPr lang="zh-TW" altLang="en-US"/>
          </a:p>
        </c:rich>
      </c:tx>
    </c:title>
    <c:plotArea>
      <c:layout/>
      <c:lineChart>
        <c:grouping val="standard"/>
        <c:ser>
          <c:idx val="1"/>
          <c:order val="0"/>
          <c:tx>
            <c:strRef>
              <c:f>Sheet2!$C$1</c:f>
              <c:strCache>
                <c:ptCount val="1"/>
                <c:pt idx="0">
                  <c:v>without workgroup func.</c:v>
                </c:pt>
              </c:strCache>
            </c:strRef>
          </c:tx>
          <c:cat>
            <c:strRef>
              <c:f>Sheet2!$A$2:$A$13</c:f>
              <c:strCache>
                <c:ptCount val="12"/>
                <c:pt idx="0">
                  <c:v>512</c:v>
                </c:pt>
                <c:pt idx="1">
                  <c:v>1K</c:v>
                </c:pt>
                <c:pt idx="2">
                  <c:v>2K</c:v>
                </c:pt>
                <c:pt idx="3">
                  <c:v>4K</c:v>
                </c:pt>
                <c:pt idx="4">
                  <c:v>8K</c:v>
                </c:pt>
                <c:pt idx="5">
                  <c:v>16K</c:v>
                </c:pt>
                <c:pt idx="6">
                  <c:v>32K</c:v>
                </c:pt>
                <c:pt idx="7">
                  <c:v>64K</c:v>
                </c:pt>
                <c:pt idx="8">
                  <c:v>128K</c:v>
                </c:pt>
                <c:pt idx="9">
                  <c:v>256K</c:v>
                </c:pt>
                <c:pt idx="10">
                  <c:v>512K</c:v>
                </c:pt>
                <c:pt idx="11">
                  <c:v>1M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241274</c:v>
                </c:pt>
                <c:pt idx="1">
                  <c:v>352137</c:v>
                </c:pt>
                <c:pt idx="2">
                  <c:v>355194</c:v>
                </c:pt>
                <c:pt idx="3">
                  <c:v>864315</c:v>
                </c:pt>
                <c:pt idx="4" formatCode="0.00E+00">
                  <c:v>1373100</c:v>
                </c:pt>
                <c:pt idx="5" formatCode="0.00E+00">
                  <c:v>10536800</c:v>
                </c:pt>
                <c:pt idx="6" formatCode="0.00E+00">
                  <c:v>15930900</c:v>
                </c:pt>
                <c:pt idx="7" formatCode="0.00E+00">
                  <c:v>32392400</c:v>
                </c:pt>
                <c:pt idx="8" formatCode="0.00E+00">
                  <c:v>30319700</c:v>
                </c:pt>
                <c:pt idx="9" formatCode="0.00E+00">
                  <c:v>55944400</c:v>
                </c:pt>
                <c:pt idx="10" formatCode="0.00E+00">
                  <c:v>58170600</c:v>
                </c:pt>
                <c:pt idx="11" formatCode="0.00E+00">
                  <c:v>105395000</c:v>
                </c:pt>
              </c:numCache>
            </c:numRef>
          </c:val>
        </c:ser>
        <c:ser>
          <c:idx val="2"/>
          <c:order val="1"/>
          <c:tx>
            <c:strRef>
              <c:f>Sheet2!$D$1</c:f>
              <c:strCache>
                <c:ptCount val="1"/>
                <c:pt idx="0">
                  <c:v>with workgroup func.</c:v>
                </c:pt>
              </c:strCache>
            </c:strRef>
          </c:tx>
          <c:cat>
            <c:strRef>
              <c:f>Sheet2!$A$2:$A$13</c:f>
              <c:strCache>
                <c:ptCount val="12"/>
                <c:pt idx="0">
                  <c:v>512</c:v>
                </c:pt>
                <c:pt idx="1">
                  <c:v>1K</c:v>
                </c:pt>
                <c:pt idx="2">
                  <c:v>2K</c:v>
                </c:pt>
                <c:pt idx="3">
                  <c:v>4K</c:v>
                </c:pt>
                <c:pt idx="4">
                  <c:v>8K</c:v>
                </c:pt>
                <c:pt idx="5">
                  <c:v>16K</c:v>
                </c:pt>
                <c:pt idx="6">
                  <c:v>32K</c:v>
                </c:pt>
                <c:pt idx="7">
                  <c:v>64K</c:v>
                </c:pt>
                <c:pt idx="8">
                  <c:v>128K</c:v>
                </c:pt>
                <c:pt idx="9">
                  <c:v>256K</c:v>
                </c:pt>
                <c:pt idx="10">
                  <c:v>512K</c:v>
                </c:pt>
                <c:pt idx="11">
                  <c:v>1M</c:v>
                </c:pt>
              </c:strCache>
            </c:strRef>
          </c:cat>
          <c:val>
            <c:numRef>
              <c:f>Sheet2!$D$2:$D$13</c:f>
              <c:numCache>
                <c:formatCode>0.00E+00</c:formatCode>
                <c:ptCount val="12"/>
                <c:pt idx="0">
                  <c:v>3158360</c:v>
                </c:pt>
                <c:pt idx="1">
                  <c:v>3578760</c:v>
                </c:pt>
                <c:pt idx="2">
                  <c:v>6647070</c:v>
                </c:pt>
                <c:pt idx="3">
                  <c:v>14134100</c:v>
                </c:pt>
                <c:pt idx="4">
                  <c:v>20485000</c:v>
                </c:pt>
                <c:pt idx="5">
                  <c:v>27213700</c:v>
                </c:pt>
                <c:pt idx="6">
                  <c:v>42717300</c:v>
                </c:pt>
                <c:pt idx="7">
                  <c:v>47044400</c:v>
                </c:pt>
                <c:pt idx="8">
                  <c:v>53087200</c:v>
                </c:pt>
                <c:pt idx="9">
                  <c:v>50852100</c:v>
                </c:pt>
                <c:pt idx="10">
                  <c:v>60020800</c:v>
                </c:pt>
                <c:pt idx="11">
                  <c:v>51786500</c:v>
                </c:pt>
              </c:numCache>
            </c:numRef>
          </c:val>
        </c:ser>
        <c:marker val="1"/>
        <c:axId val="94155904"/>
        <c:axId val="94157824"/>
      </c:lineChart>
      <c:catAx>
        <c:axId val="9415590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altLang="zh-TW" sz="1800"/>
                  <a:t>size of data</a:t>
                </a:r>
                <a:endParaRPr lang="zh-TW" altLang="en-US" sz="1800"/>
              </a:p>
            </c:rich>
          </c:tx>
        </c:title>
        <c:majorTickMark val="none"/>
        <c:tickLblPos val="nextTo"/>
        <c:crossAx val="94157824"/>
        <c:crosses val="autoZero"/>
        <c:auto val="1"/>
        <c:lblAlgn val="ctr"/>
        <c:lblOffset val="100"/>
      </c:catAx>
      <c:valAx>
        <c:axId val="9415782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altLang="zh-TW" sz="1600"/>
                  <a:t>Performance</a:t>
                </a:r>
                <a:br>
                  <a:rPr lang="en-US" altLang="zh-TW" sz="1600"/>
                </a:br>
                <a:r>
                  <a:rPr lang="en-US" altLang="zh-TW" sz="1600"/>
                  <a:t>(size of data / time)</a:t>
                </a:r>
                <a:endParaRPr lang="zh-TW" altLang="en-US" sz="1600"/>
              </a:p>
            </c:rich>
          </c:tx>
        </c:title>
        <c:numFmt formatCode="0.00E+00" sourceLinked="0"/>
        <c:tickLblPos val="nextTo"/>
        <c:crossAx val="941559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483134334280864"/>
          <c:y val="0.42774299777616936"/>
          <c:w val="0.2635551840936084"/>
          <c:h val="0.23027348680651571"/>
        </c:manualLayout>
      </c:layout>
    </c:legend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plotArea>
      <c:layout/>
      <c:lineChart>
        <c:grouping val="standard"/>
        <c:ser>
          <c:idx val="1"/>
          <c:order val="0"/>
          <c:tx>
            <c:strRef>
              <c:f>Sheet4!$A$2</c:f>
              <c:strCache>
                <c:ptCount val="1"/>
                <c:pt idx="0">
                  <c:v>local Prefix sum (gettimeofday)</c:v>
                </c:pt>
              </c:strCache>
            </c:strRef>
          </c:tx>
          <c:spPr>
            <a:ln>
              <a:solidFill>
                <a:schemeClr val="accent3">
                  <a:lumMod val="20000"/>
                  <a:lumOff val="80000"/>
                </a:schemeClr>
              </a:solidFill>
            </a:ln>
          </c:spPr>
          <c:marker>
            <c:spPr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c:spPr>
          </c:marker>
          <c:cat>
            <c:numRef>
              <c:f>Sheet4!$B$1:$Q$1</c:f>
              <c:numCache>
                <c:formatCode>General</c:formatCode>
                <c:ptCount val="1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  <c:pt idx="7">
                  <c:v>65536</c:v>
                </c:pt>
                <c:pt idx="8">
                  <c:v>131072</c:v>
                </c:pt>
                <c:pt idx="9">
                  <c:v>262144</c:v>
                </c:pt>
                <c:pt idx="10">
                  <c:v>524288</c:v>
                </c:pt>
                <c:pt idx="11">
                  <c:v>1048576</c:v>
                </c:pt>
                <c:pt idx="12">
                  <c:v>2097152</c:v>
                </c:pt>
                <c:pt idx="13">
                  <c:v>4194304</c:v>
                </c:pt>
                <c:pt idx="14">
                  <c:v>8388608</c:v>
                </c:pt>
                <c:pt idx="15">
                  <c:v>16777216</c:v>
                </c:pt>
              </c:numCache>
            </c:numRef>
          </c:cat>
          <c:val>
            <c:numRef>
              <c:f>Sheet4!$B$2:$Q$2</c:f>
              <c:numCache>
                <c:formatCode>0.00E+00</c:formatCode>
                <c:ptCount val="16"/>
                <c:pt idx="0">
                  <c:v>9.9418900000000066E-5</c:v>
                </c:pt>
                <c:pt idx="1">
                  <c:v>7.9567900000000204E-5</c:v>
                </c:pt>
                <c:pt idx="2">
                  <c:v>7.9370100000000136E-5</c:v>
                </c:pt>
                <c:pt idx="3">
                  <c:v>7.4550800000000106E-5</c:v>
                </c:pt>
                <c:pt idx="4">
                  <c:v>5.9101600000000125E-5</c:v>
                </c:pt>
                <c:pt idx="5">
                  <c:v>6.9238300000000106E-5</c:v>
                </c:pt>
                <c:pt idx="6" formatCode="General">
                  <c:v>1.0199E-4</c:v>
                </c:pt>
                <c:pt idx="7" formatCode="General">
                  <c:v>1.6033900000000001E-4</c:v>
                </c:pt>
                <c:pt idx="8" formatCode="General">
                  <c:v>2.503100000000006E-4</c:v>
                </c:pt>
                <c:pt idx="9" formatCode="General">
                  <c:v>5.0044900000000003E-4</c:v>
                </c:pt>
                <c:pt idx="10" formatCode="General">
                  <c:v>7.7219000000000094E-4</c:v>
                </c:pt>
                <c:pt idx="11" formatCode="General">
                  <c:v>2.4116599999999978E-3</c:v>
                </c:pt>
                <c:pt idx="12" formatCode="General">
                  <c:v>3.1068799999999998E-3</c:v>
                </c:pt>
                <c:pt idx="13" formatCode="General">
                  <c:v>6.9974600000000083E-3</c:v>
                </c:pt>
                <c:pt idx="14" formatCode="General">
                  <c:v>1.21437E-2</c:v>
                </c:pt>
                <c:pt idx="15" formatCode="General">
                  <c:v>2.455920000000001E-2</c:v>
                </c:pt>
              </c:numCache>
            </c:numRef>
          </c:val>
        </c:ser>
        <c:ser>
          <c:idx val="2"/>
          <c:order val="1"/>
          <c:tx>
            <c:strRef>
              <c:f>Sheet4!$A$3</c:f>
              <c:strCache>
                <c:ptCount val="1"/>
                <c:pt idx="0">
                  <c:v>local Prefix sum (clGetEventProfile)</c:v>
                </c:pt>
              </c:strCache>
            </c:strRef>
          </c:tx>
          <c:cat>
            <c:numRef>
              <c:f>Sheet4!$B$1:$Q$1</c:f>
              <c:numCache>
                <c:formatCode>General</c:formatCode>
                <c:ptCount val="1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  <c:pt idx="7">
                  <c:v>65536</c:v>
                </c:pt>
                <c:pt idx="8">
                  <c:v>131072</c:v>
                </c:pt>
                <c:pt idx="9">
                  <c:v>262144</c:v>
                </c:pt>
                <c:pt idx="10">
                  <c:v>524288</c:v>
                </c:pt>
                <c:pt idx="11">
                  <c:v>1048576</c:v>
                </c:pt>
                <c:pt idx="12">
                  <c:v>2097152</c:v>
                </c:pt>
                <c:pt idx="13">
                  <c:v>4194304</c:v>
                </c:pt>
                <c:pt idx="14">
                  <c:v>8388608</c:v>
                </c:pt>
                <c:pt idx="15">
                  <c:v>16777216</c:v>
                </c:pt>
              </c:numCache>
            </c:numRef>
          </c:cat>
          <c:val>
            <c:numRef>
              <c:f>Sheet4!$B$3:$Q$3</c:f>
              <c:numCache>
                <c:formatCode>0.00E+00</c:formatCode>
                <c:ptCount val="16"/>
                <c:pt idx="0">
                  <c:v>1.473000000000002E-5</c:v>
                </c:pt>
                <c:pt idx="1">
                  <c:v>1.5930000000000032E-5</c:v>
                </c:pt>
                <c:pt idx="2">
                  <c:v>1.6310000000000032E-5</c:v>
                </c:pt>
                <c:pt idx="3">
                  <c:v>1.7430000000000028E-5</c:v>
                </c:pt>
                <c:pt idx="4">
                  <c:v>2.0060000000000011E-5</c:v>
                </c:pt>
                <c:pt idx="5">
                  <c:v>2.6130000000000033E-5</c:v>
                </c:pt>
                <c:pt idx="6">
                  <c:v>4.6520000000000022E-5</c:v>
                </c:pt>
                <c:pt idx="7">
                  <c:v>7.7030000000000162E-5</c:v>
                </c:pt>
                <c:pt idx="8" formatCode="General">
                  <c:v>1.4978999999999999E-4</c:v>
                </c:pt>
                <c:pt idx="9" formatCode="General">
                  <c:v>2.9229000000000012E-4</c:v>
                </c:pt>
                <c:pt idx="10" formatCode="General">
                  <c:v>6.0237000000000073E-4</c:v>
                </c:pt>
                <c:pt idx="11" formatCode="General">
                  <c:v>1.2282700000000018E-3</c:v>
                </c:pt>
                <c:pt idx="12" formatCode="General">
                  <c:v>2.5693400000000011E-3</c:v>
                </c:pt>
                <c:pt idx="13" formatCode="General">
                  <c:v>5.3561900000000003E-3</c:v>
                </c:pt>
                <c:pt idx="14" formatCode="General">
                  <c:v>1.1175300000000001E-2</c:v>
                </c:pt>
                <c:pt idx="15" formatCode="General">
                  <c:v>2.3286899999999989E-2</c:v>
                </c:pt>
              </c:numCache>
            </c:numRef>
          </c:val>
        </c:ser>
        <c:ser>
          <c:idx val="3"/>
          <c:order val="2"/>
          <c:tx>
            <c:strRef>
              <c:f>Sheet4!$A$4</c:f>
              <c:strCache>
                <c:ptCount val="1"/>
                <c:pt idx="0">
                  <c:v>local Prefix sum with built-in (gettimeofday)</c:v>
                </c:pt>
              </c:strCache>
            </c:strRef>
          </c:tx>
          <c:spPr>
            <a:ln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F39A1E">
                    <a:lumMod val="20000"/>
                    <a:lumOff val="80000"/>
                  </a:srgbClr>
                </a:solidFill>
              </a:ln>
            </c:spPr>
          </c:marker>
          <c:cat>
            <c:numRef>
              <c:f>Sheet4!$B$1:$Q$1</c:f>
              <c:numCache>
                <c:formatCode>General</c:formatCode>
                <c:ptCount val="1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  <c:pt idx="7">
                  <c:v>65536</c:v>
                </c:pt>
                <c:pt idx="8">
                  <c:v>131072</c:v>
                </c:pt>
                <c:pt idx="9">
                  <c:v>262144</c:v>
                </c:pt>
                <c:pt idx="10">
                  <c:v>524288</c:v>
                </c:pt>
                <c:pt idx="11">
                  <c:v>1048576</c:v>
                </c:pt>
                <c:pt idx="12">
                  <c:v>2097152</c:v>
                </c:pt>
                <c:pt idx="13">
                  <c:v>4194304</c:v>
                </c:pt>
                <c:pt idx="14">
                  <c:v>8388608</c:v>
                </c:pt>
                <c:pt idx="15">
                  <c:v>16777216</c:v>
                </c:pt>
              </c:numCache>
            </c:numRef>
          </c:cat>
          <c:val>
            <c:numRef>
              <c:f>Sheet4!$B$4:$Q$4</c:f>
              <c:numCache>
                <c:formatCode>General</c:formatCode>
                <c:ptCount val="16"/>
                <c:pt idx="0">
                  <c:v>1.2549100000000023E-4</c:v>
                </c:pt>
                <c:pt idx="1">
                  <c:v>1.2712200000000002E-4</c:v>
                </c:pt>
                <c:pt idx="2">
                  <c:v>1.1455100000000021E-4</c:v>
                </c:pt>
                <c:pt idx="3">
                  <c:v>1.2817100000000003E-4</c:v>
                </c:pt>
                <c:pt idx="4">
                  <c:v>1.6245800000000039E-4</c:v>
                </c:pt>
                <c:pt idx="5">
                  <c:v>2.5094000000000006E-4</c:v>
                </c:pt>
                <c:pt idx="6">
                  <c:v>4.0547100000000002E-4</c:v>
                </c:pt>
                <c:pt idx="7">
                  <c:v>8.3515900000000231E-4</c:v>
                </c:pt>
                <c:pt idx="8">
                  <c:v>2.4180600000000001E-3</c:v>
                </c:pt>
                <c:pt idx="9">
                  <c:v>3.9311600000000056E-3</c:v>
                </c:pt>
                <c:pt idx="10">
                  <c:v>6.1348899999999996E-3</c:v>
                </c:pt>
                <c:pt idx="11">
                  <c:v>1.1084300000000005E-2</c:v>
                </c:pt>
                <c:pt idx="12">
                  <c:v>2.1211100000000035E-2</c:v>
                </c:pt>
                <c:pt idx="13">
                  <c:v>4.1016900000000064E-2</c:v>
                </c:pt>
                <c:pt idx="14">
                  <c:v>8.0493900000000021E-2</c:v>
                </c:pt>
                <c:pt idx="15">
                  <c:v>0.16001299999999999</c:v>
                </c:pt>
              </c:numCache>
            </c:numRef>
          </c:val>
        </c:ser>
        <c:ser>
          <c:idx val="0"/>
          <c:order val="3"/>
          <c:tx>
            <c:strRef>
              <c:f>Sheet4!$A$5</c:f>
              <c:strCache>
                <c:ptCount val="1"/>
                <c:pt idx="0">
                  <c:v>local Prefix sum with built-in (clGetEventProfile)</c:v>
                </c:pt>
              </c:strCache>
            </c:strRef>
          </c:tx>
          <c:cat>
            <c:numRef>
              <c:f>Sheet4!$B$1:$Q$1</c:f>
              <c:numCache>
                <c:formatCode>General</c:formatCode>
                <c:ptCount val="1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  <c:pt idx="6">
                  <c:v>32768</c:v>
                </c:pt>
                <c:pt idx="7">
                  <c:v>65536</c:v>
                </c:pt>
                <c:pt idx="8">
                  <c:v>131072</c:v>
                </c:pt>
                <c:pt idx="9">
                  <c:v>262144</c:v>
                </c:pt>
                <c:pt idx="10">
                  <c:v>524288</c:v>
                </c:pt>
                <c:pt idx="11">
                  <c:v>1048576</c:v>
                </c:pt>
                <c:pt idx="12">
                  <c:v>2097152</c:v>
                </c:pt>
                <c:pt idx="13">
                  <c:v>4194304</c:v>
                </c:pt>
                <c:pt idx="14">
                  <c:v>8388608</c:v>
                </c:pt>
                <c:pt idx="15">
                  <c:v>16777216</c:v>
                </c:pt>
              </c:numCache>
            </c:numRef>
          </c:cat>
          <c:val>
            <c:numRef>
              <c:f>Sheet4!$B$5:$Q$5</c:f>
              <c:numCache>
                <c:formatCode>0.00E+00</c:formatCode>
                <c:ptCount val="16"/>
                <c:pt idx="0">
                  <c:v>7.3520000000000109E-5</c:v>
                </c:pt>
                <c:pt idx="1">
                  <c:v>7.3610000000000117E-5</c:v>
                </c:pt>
                <c:pt idx="2">
                  <c:v>7.0770000000000137E-5</c:v>
                </c:pt>
                <c:pt idx="3">
                  <c:v>7.6630000000000098E-5</c:v>
                </c:pt>
                <c:pt idx="4" formatCode="General">
                  <c:v>1.2212E-4</c:v>
                </c:pt>
                <c:pt idx="5" formatCode="General">
                  <c:v>2.0647000000000045E-4</c:v>
                </c:pt>
                <c:pt idx="6" formatCode="General">
                  <c:v>3.5307000000000047E-4</c:v>
                </c:pt>
                <c:pt idx="7" formatCode="General">
                  <c:v>6.5825000000000074E-4</c:v>
                </c:pt>
                <c:pt idx="8" formatCode="General">
                  <c:v>1.282050000000002E-3</c:v>
                </c:pt>
                <c:pt idx="9" formatCode="General">
                  <c:v>2.5146999999999999E-3</c:v>
                </c:pt>
                <c:pt idx="10" formatCode="General">
                  <c:v>4.9890000000000099E-3</c:v>
                </c:pt>
                <c:pt idx="11" formatCode="General">
                  <c:v>9.9336300000000145E-3</c:v>
                </c:pt>
                <c:pt idx="12" formatCode="General">
                  <c:v>1.9826900000000001E-2</c:v>
                </c:pt>
                <c:pt idx="13" formatCode="General">
                  <c:v>3.9612599999999998E-2</c:v>
                </c:pt>
                <c:pt idx="14" formatCode="General">
                  <c:v>7.9181800000000011E-2</c:v>
                </c:pt>
                <c:pt idx="15" formatCode="General">
                  <c:v>0.15832700000000019</c:v>
                </c:pt>
              </c:numCache>
            </c:numRef>
          </c:val>
        </c:ser>
        <c:marker val="1"/>
        <c:axId val="101583872"/>
        <c:axId val="101610240"/>
      </c:lineChart>
      <c:catAx>
        <c:axId val="101583872"/>
        <c:scaling>
          <c:orientation val="minMax"/>
        </c:scaling>
        <c:axPos val="b"/>
        <c:numFmt formatCode="General" sourceLinked="1"/>
        <c:tickLblPos val="nextTo"/>
        <c:crossAx val="101610240"/>
        <c:crosses val="autoZero"/>
        <c:auto val="1"/>
        <c:lblAlgn val="ctr"/>
        <c:lblOffset val="100"/>
      </c:catAx>
      <c:valAx>
        <c:axId val="101610240"/>
        <c:scaling>
          <c:logBase val="2"/>
          <c:orientation val="minMax"/>
        </c:scaling>
        <c:axPos val="l"/>
        <c:majorGridlines/>
        <c:numFmt formatCode="General" sourceLinked="0"/>
        <c:tickLblPos val="nextTo"/>
        <c:crossAx val="1015838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4060501594748442"/>
          <c:y val="0.26136418669759998"/>
          <c:w val="0.3480692167875219"/>
          <c:h val="0.47727162660480038"/>
        </c:manualLayout>
      </c:layout>
      <c:txPr>
        <a:bodyPr/>
        <a:lstStyle/>
        <a:p>
          <a:pPr>
            <a:defRPr sz="1100"/>
          </a:pPr>
          <a:endParaRPr lang="zh-TW"/>
        </a:p>
      </c:txPr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8000" cy="4635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84625" y="0"/>
            <a:ext cx="3048000" cy="4635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A052279-333F-4C47-902D-81D08018508E}" type="datetimeFigureOut">
              <a:rPr lang="en-IN"/>
              <a:pPr/>
              <a:t>30-04-2015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3263" y="4410075"/>
            <a:ext cx="5627687" cy="417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IN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48000" cy="463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84625" y="8818563"/>
            <a:ext cx="3048000" cy="463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ECA193-7852-447E-BC6F-CF2C3A0F91F2}" type="slidenum">
              <a:rPr lang="en-IN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CA193-7852-447E-BC6F-CF2C3A0F91F2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9AFB38-0ABE-46A6-A2CD-91E75B392D1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3869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9AFB38-0ABE-46A6-A2CD-91E75B392D1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7866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SW requirements</a:t>
            </a:r>
          </a:p>
          <a:p>
            <a:pPr lvl="1"/>
            <a:r>
              <a:rPr lang="en-US" altLang="zh-TW" dirty="0" smtClean="0"/>
              <a:t>Compilers</a:t>
            </a:r>
          </a:p>
          <a:p>
            <a:pPr lvl="2"/>
            <a:r>
              <a:rPr lang="en-US" altLang="zh-TW" dirty="0" smtClean="0"/>
              <a:t>Implicit and explicit casting rules btw named and generic address space</a:t>
            </a:r>
          </a:p>
          <a:p>
            <a:pPr lvl="2"/>
            <a:r>
              <a:rPr lang="en-US" altLang="zh-TW" dirty="0" smtClean="0"/>
              <a:t>New built-in functions, e.g. </a:t>
            </a:r>
            <a:r>
              <a:rPr lang="en-US" altLang="zh-TW" dirty="0" err="1" smtClean="0"/>
              <a:t>is_global</a:t>
            </a:r>
            <a:r>
              <a:rPr lang="en-US" altLang="zh-TW" dirty="0" smtClean="0"/>
              <a:t>(), </a:t>
            </a:r>
            <a:r>
              <a:rPr lang="en-US" altLang="zh-TW" dirty="0" err="1" smtClean="0"/>
              <a:t>is_local</a:t>
            </a:r>
            <a:r>
              <a:rPr lang="en-US" altLang="zh-TW" dirty="0" smtClean="0"/>
              <a:t>, </a:t>
            </a:r>
            <a:r>
              <a:rPr lang="en-US" dirty="0" err="1" smtClean="0"/>
              <a:t>cl_mem_fence_flags</a:t>
            </a:r>
            <a:r>
              <a:rPr lang="en-US" dirty="0" smtClean="0"/>
              <a:t> </a:t>
            </a:r>
            <a:r>
              <a:rPr lang="en-US" dirty="0" err="1" smtClean="0"/>
              <a:t>get_fence</a:t>
            </a:r>
            <a:r>
              <a:rPr lang="en-US" dirty="0" smtClean="0"/>
              <a:t>()</a:t>
            </a:r>
          </a:p>
          <a:p>
            <a:pPr lvl="1"/>
            <a:r>
              <a:rPr lang="en-US" altLang="zh-TW" dirty="0" smtClean="0"/>
              <a:t>Driver</a:t>
            </a:r>
          </a:p>
          <a:p>
            <a:pPr lvl="2"/>
            <a:r>
              <a:rPr lang="en-US" altLang="zh-TW" dirty="0" smtClean="0"/>
              <a:t>Conversions btw segmented and flat addressing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81AA4-120E-4802-8A60-4AB04DF00BD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3594100" y="1097941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6788" y="6315247"/>
            <a:ext cx="44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CTO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25911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61715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5041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7322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7955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6899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1045348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44404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946555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212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16795" y="1931779"/>
            <a:ext cx="8572500" cy="137576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lang="en-US" sz="1600" kern="1200" baseline="0" dirty="0">
                <a:solidFill>
                  <a:prstClr val="black">
                    <a:lumMod val="75000"/>
                    <a:lumOff val="25000"/>
                  </a:prstClr>
                </a:solidFill>
                <a:latin typeface="Qualcomm Office Regular" pitchFamily="34" charset="0"/>
                <a:ea typeface="+mn-ea"/>
                <a:cs typeface="Arial" pitchFamily="34" charset="0"/>
              </a:defRPr>
            </a:lvl4pPr>
            <a:lvl5pPr marL="1200150" indent="-260604">
              <a:buFont typeface="Qualcomm Regular" pitchFamily="34" charset="0"/>
              <a:buChar char="−"/>
              <a:defRPr/>
            </a:lvl5pPr>
            <a:lvl6pPr marL="1628775" indent="0">
              <a:buNone/>
              <a:defRPr sz="1200"/>
            </a:lvl6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12655" y="740540"/>
            <a:ext cx="8574733" cy="48474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sp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212655" y="1426466"/>
            <a:ext cx="8574733" cy="350865"/>
          </a:xfrm>
        </p:spPr>
        <p:txBody>
          <a:bodyPr tIns="0" bIns="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Tx/>
              <a:buNone/>
              <a:defRPr lang="en-US" sz="2400" b="0" kern="1200" dirty="0" smtClean="0">
                <a:solidFill>
                  <a:schemeClr val="bg2"/>
                </a:solidFill>
                <a:latin typeface="Qualcomm Office Regular" pitchFamily="34" charset="0"/>
                <a:ea typeface="+mn-ea"/>
                <a:cs typeface="Arial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77773" y="504825"/>
            <a:ext cx="8588453" cy="0"/>
          </a:xfrm>
          <a:prstGeom prst="line">
            <a:avLst/>
          </a:prstGeom>
          <a:ln w="47625">
            <a:gradFill flip="none" rotWithShape="1">
              <a:gsLst>
                <a:gs pos="100000">
                  <a:srgbClr val="004274"/>
                </a:gs>
                <a:gs pos="0">
                  <a:srgbClr val="008E9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87987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hor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96334"/>
            <a:ext cx="8382000" cy="703792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058333"/>
            <a:ext cx="7810500" cy="5173133"/>
          </a:xfrm>
        </p:spPr>
        <p:txBody>
          <a:bodyPr/>
          <a:lstStyle>
            <a:lvl1pPr>
              <a:defRPr lang="en-US" sz="2400" b="1" dirty="0" smtClean="0">
                <a:solidFill>
                  <a:schemeClr val="tx1"/>
                </a:solidFill>
                <a:latin typeface="Tahoma" pitchFamily="34" charset="0"/>
                <a:ea typeface="ＭＳ Ｐゴシック" charset="-128"/>
                <a:cs typeface="Tahoma" pitchFamily="34" charset="0"/>
              </a:defRPr>
            </a:lvl1pPr>
            <a:lvl2pPr>
              <a:defRPr lang="en-US" sz="2400" b="0" dirty="0" smtClean="0">
                <a:solidFill>
                  <a:schemeClr val="tx1"/>
                </a:solidFill>
                <a:latin typeface="Tahoma" pitchFamily="34" charset="0"/>
                <a:ea typeface="ＭＳ Ｐゴシック" charset="-128"/>
                <a:cs typeface="Tahoma" pitchFamily="34" charset="0"/>
              </a:defRPr>
            </a:lvl2pPr>
            <a:lvl3pPr>
              <a:defRPr sz="2000" b="0">
                <a:latin typeface="Tahoma" pitchFamily="34" charset="0"/>
                <a:cs typeface="Tahoma" pitchFamily="34" charset="0"/>
              </a:defRPr>
            </a:lvl3pPr>
            <a:lvl4pPr>
              <a:defRPr sz="2000" b="0">
                <a:latin typeface="Tahoma" pitchFamily="34" charset="0"/>
                <a:cs typeface="Tahoma" pitchFamily="34" charset="0"/>
              </a:defRPr>
            </a:lvl4pPr>
            <a:lvl5pPr>
              <a:defRPr sz="2000" b="0">
                <a:latin typeface="Tahoma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0" y="0"/>
            <a:ext cx="508000" cy="6858000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0800000" scaled="1"/>
            <a:tileRect/>
          </a:gradFill>
          <a:ln w="25400" cap="flat" cmpd="sng" algn="ctr">
            <a:noFill/>
            <a:prstDash val="solid"/>
            <a:round/>
            <a:headEnd type="oval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750" algn="l"/>
                <a:tab pos="1757363" algn="l"/>
                <a:tab pos="3357563" algn="l"/>
                <a:tab pos="4956175" algn="l"/>
                <a:tab pos="6553200" algn="l"/>
              </a:tabLst>
            </a:pPr>
            <a:endParaRPr kumimoji="0" lang="en-US" sz="3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Arial Narrow" pitchFamily="34" charset="0"/>
              <a:ea typeface="ヒラギノ角ゴ ProN W3" charset="-128"/>
              <a:sym typeface="Myriad Set Text" charset="0"/>
            </a:endParaRPr>
          </a:p>
        </p:txBody>
      </p:sp>
      <p:pic>
        <p:nvPicPr>
          <p:cNvPr id="7" name="Picture 6" descr="Khronos-1500-Transparent-Aug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1064776" y="5250321"/>
            <a:ext cx="2644240" cy="41911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hor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211667"/>
            <a:ext cx="8382000" cy="70379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913" tIns="48957" rIns="97913" bIns="48957" numCol="1" anchor="ctr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954691"/>
            <a:ext cx="4762500" cy="5691642"/>
          </a:xfrm>
        </p:spPr>
        <p:txBody>
          <a:bodyPr/>
          <a:lstStyle>
            <a:lvl1pPr>
              <a:defRPr lang="en-US" sz="2000" b="1" dirty="0" smtClean="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Tahoma" pitchFamily="34" charset="0"/>
              </a:defRPr>
            </a:lvl1pPr>
            <a:lvl2pPr>
              <a:defRPr lang="en-US" sz="2000" b="0" dirty="0" smtClean="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Tahoma" pitchFamily="34" charset="0"/>
              </a:defRPr>
            </a:lvl2pPr>
            <a:lvl3pPr>
              <a:defRPr sz="1800" b="0">
                <a:latin typeface="Trebuchet MS" pitchFamily="34" charset="0"/>
                <a:cs typeface="Tahoma" pitchFamily="34" charset="0"/>
              </a:defRPr>
            </a:lvl3pPr>
            <a:lvl4pPr>
              <a:defRPr sz="1800" b="0">
                <a:latin typeface="Trebuchet MS" pitchFamily="34" charset="0"/>
                <a:cs typeface="Tahoma" pitchFamily="34" charset="0"/>
              </a:defRPr>
            </a:lvl4pPr>
            <a:lvl5pPr>
              <a:defRPr sz="1800" b="0">
                <a:latin typeface="Trebuchet MS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0" y="0"/>
            <a:ext cx="508000" cy="6858000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0800000" scaled="1"/>
            <a:tileRect/>
          </a:gradFill>
          <a:ln w="25400" cap="flat" cmpd="sng" algn="ctr">
            <a:noFill/>
            <a:prstDash val="solid"/>
            <a:round/>
            <a:headEnd type="oval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750" algn="l"/>
                <a:tab pos="1757363" algn="l"/>
                <a:tab pos="3357563" algn="l"/>
                <a:tab pos="4956175" algn="l"/>
                <a:tab pos="6553200" algn="l"/>
              </a:tabLst>
            </a:pPr>
            <a:endParaRPr kumimoji="0" lang="en-US" sz="3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rebuchet MS" pitchFamily="34" charset="0"/>
              <a:ea typeface="ヒラギノ角ゴ ProN W3" charset="-128"/>
              <a:sym typeface="Myriad Set Text" charset="0"/>
            </a:endParaRPr>
          </a:p>
        </p:txBody>
      </p:sp>
      <p:pic>
        <p:nvPicPr>
          <p:cNvPr id="7" name="Picture 6" descr="Khronos-1500-Transparent-Aug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1064776" y="5250321"/>
            <a:ext cx="2644240" cy="41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04360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457200" y="1854201"/>
            <a:ext cx="8229600" cy="431440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3594100" y="1090518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F3821E"/>
                </a:solidFill>
              </a:rPr>
              <a:t>CONFIDENTIAL A</a:t>
            </a:r>
            <a:endParaRPr lang="en-US" altLang="zh-TW" sz="800" b="1" dirty="0">
              <a:solidFill>
                <a:srgbClr val="F3821E"/>
              </a:solidFill>
            </a:endParaRPr>
          </a:p>
        </p:txBody>
      </p:sp>
      <p:pic>
        <p:nvPicPr>
          <p:cNvPr id="2" name="Picture 1" descr="pattern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75689C7-34F4-4418-B21D-4E5C4A0D89F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3C911-2640-4D2E-8D16-4AAE7E7413A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8" name="Picture 7" descr="pattern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96788" y="6315247"/>
            <a:ext cx="44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CTO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143000"/>
          </a:xfrm>
        </p:spPr>
        <p:txBody>
          <a:bodyPr tIns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1371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7931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22139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9768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1361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591770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76381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155952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4393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3569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9405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/>
            </a:lvl1pPr>
            <a:lvl3pPr marL="1143000" indent="-228600">
              <a:buClr>
                <a:schemeClr val="accent1"/>
              </a:buClr>
              <a:buFont typeface="Wingdings" charset="2"/>
              <a:buChar char="§"/>
              <a:defRPr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2591194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6171517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504124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732258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79556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6899208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0453482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44047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9465554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標題投影片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3212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999A9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999A9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‹#›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45733"/>
            <a:ext cx="8229600" cy="4331760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pc="-15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8993595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1513713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9879311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3022139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1597682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8013617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6591770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376381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2155952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439384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7535699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/>
            </a:lvl1pPr>
            <a:lvl3pPr marL="1143000" indent="-228600">
              <a:buClr>
                <a:schemeClr val="accent1"/>
              </a:buClr>
              <a:buFont typeface="Wingdings" charset="2"/>
              <a:buChar char="§"/>
              <a:defRPr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2591194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6171517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504124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732258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795566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6899208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04534829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440472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9465554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標題投影片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4100" y="4233563"/>
            <a:ext cx="5092700" cy="2329101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pc="-15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77049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8993595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11513713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9879311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3022139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15976821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8013617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6591770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376381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2155952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40439384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FCD6895-D491-9943-8088-4994C1785692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75356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832238" y="6315247"/>
            <a:ext cx="44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CTO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chemeClr val="accent3"/>
                </a:solidFill>
              </a:rPr>
              <a:t>INTERNAL USE</a:t>
            </a:r>
            <a:endParaRPr lang="en-US" altLang="zh-TW" sz="800" b="1" dirty="0">
              <a:solidFill>
                <a:schemeClr val="accent3"/>
              </a:solidFill>
            </a:endParaRP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8167"/>
            <a:ext cx="8229600" cy="461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832238" y="6315247"/>
            <a:ext cx="44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CTO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65" r:id="rId14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Wingdings" charset="2"/>
        <a:buChar char="§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770BDA4A-776A-4546-918F-32281E291F21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Logotype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Wingdings" charset="2"/>
        <a:buChar char="§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ED980830-7102-46C8-B14D-2B58F1625F68}" type="slidenum">
              <a:rPr lang="en-US" altLang="zh-TW" smtClean="0"/>
              <a:pPr/>
              <a:t>‹#›</a:t>
            </a:fld>
            <a:endParaRPr lang="en-US" altLang="zh-TW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Wingdings" charset="2"/>
        <a:buChar char="§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770BDA4A-776A-4546-918F-32281E291F21}" type="datetime1">
              <a:rPr lang="sv-SE" smtClean="0"/>
              <a:pPr/>
              <a:t>2015-04-30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altLang="zh-TW" dirty="0" smtClean="0"/>
              <a:t>Copyright © MediaTek Inc. All rights reserved.</a:t>
            </a:r>
            <a:endParaRPr lang="en-US" altLang="zh-TW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Logotype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="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Wingdings" charset="2"/>
        <a:buChar char="§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ai-Cheng.Jeng@mediatek.com" TargetMode="External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39552" y="3724275"/>
            <a:ext cx="8147248" cy="278130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altLang="zh-TW" sz="2000" dirty="0" smtClean="0">
                <a:solidFill>
                  <a:schemeClr val="tx1"/>
                </a:solidFill>
                <a:ea typeface="新細明體" charset="-120"/>
              </a:rPr>
              <a:t> Jeng Bai-Cheng</a:t>
            </a:r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2000" spc="0" dirty="0" smtClean="0">
                <a:solidFill>
                  <a:schemeClr val="tx1"/>
                </a:solidFill>
              </a:rPr>
              <a:t>Engineer</a:t>
            </a:r>
          </a:p>
          <a:p>
            <a:pPr algn="ctr"/>
            <a:r>
              <a:rPr lang="en-US" altLang="zh-TW" sz="2000" spc="0" dirty="0" smtClean="0">
                <a:solidFill>
                  <a:schemeClr val="tx1"/>
                </a:solidFill>
              </a:rPr>
              <a:t/>
            </a:r>
            <a:br>
              <a:rPr lang="en-US" altLang="zh-TW" sz="2000" spc="0" dirty="0" smtClean="0">
                <a:solidFill>
                  <a:schemeClr val="tx1"/>
                </a:solidFill>
              </a:rPr>
            </a:br>
            <a:r>
              <a:rPr lang="en-US" altLang="zh-TW" sz="2000" dirty="0" smtClean="0">
                <a:solidFill>
                  <a:schemeClr val="tx1"/>
                </a:solidFill>
              </a:rPr>
              <a:t> Computing Platform Technology Division in CTO</a:t>
            </a:r>
          </a:p>
          <a:p>
            <a:pPr algn="ctr"/>
            <a:r>
              <a:rPr lang="en-US" altLang="zh-TW" sz="2000" spc="0" dirty="0" err="1" smtClean="0">
                <a:solidFill>
                  <a:schemeClr val="tx1"/>
                </a:solidFill>
              </a:rPr>
              <a:t>MediaTek</a:t>
            </a:r>
            <a:r>
              <a:rPr lang="en-US" altLang="zh-TW" sz="2000" spc="0" dirty="0" smtClean="0">
                <a:solidFill>
                  <a:schemeClr val="tx1"/>
                </a:solidFill>
              </a:rPr>
              <a:t>, Inc.</a:t>
            </a:r>
          </a:p>
          <a:p>
            <a:pPr algn="ctr"/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2000" spc="0" dirty="0" smtClean="0">
                <a:solidFill>
                  <a:schemeClr val="tx1"/>
                </a:solidFill>
                <a:hlinkClick r:id="rId2"/>
              </a:rPr>
              <a:t>Bai-Cheng.Jeng@mediatek.com</a:t>
            </a:r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endParaRPr lang="en-US" altLang="zh-TW" sz="2000" spc="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TW" sz="2000" spc="0" dirty="0" smtClean="0">
                <a:solidFill>
                  <a:schemeClr val="tx1"/>
                </a:solidFill>
              </a:rPr>
              <a:t>May 4, 2015 – NTHU, </a:t>
            </a:r>
            <a:r>
              <a:rPr lang="en-US" altLang="zh-TW" sz="2000" spc="0" dirty="0" err="1" smtClean="0">
                <a:solidFill>
                  <a:schemeClr val="tx1"/>
                </a:solidFill>
              </a:rPr>
              <a:t>HsinChu</a:t>
            </a:r>
            <a:endParaRPr lang="zh-TW" altLang="en-US" sz="2000" spc="0" dirty="0" smtClean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2276872"/>
            <a:ext cx="8712968" cy="1270499"/>
          </a:xfrm>
        </p:spPr>
        <p:txBody>
          <a:bodyPr>
            <a:normAutofit/>
          </a:bodyPr>
          <a:lstStyle/>
          <a:p>
            <a:pPr algn="ctr"/>
            <a:r>
              <a:rPr lang="ca-ES" altLang="zh-TW" sz="3200" dirty="0" smtClean="0"/>
              <a:t>Introduction to OpenCL 2.0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6167302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866900"/>
            <a:ext cx="3484605" cy="4289426"/>
          </a:xfrm>
        </p:spPr>
        <p:txBody>
          <a:bodyPr>
            <a:normAutofit/>
          </a:bodyPr>
          <a:lstStyle/>
          <a:p>
            <a:r>
              <a:rPr lang="ca-ES" altLang="zh-TW" sz="2400" dirty="0" smtClean="0"/>
              <a:t>It’s a Heterogeneous World today</a:t>
            </a:r>
            <a:endParaRPr lang="en-US" altLang="zh-TW" sz="2400" dirty="0" smtClean="0"/>
          </a:p>
          <a:p>
            <a:r>
              <a:rPr lang="en-US" altLang="zh-TW" sz="2400" dirty="0" smtClean="0"/>
              <a:t>A modern platform includes: </a:t>
            </a:r>
          </a:p>
          <a:p>
            <a:pPr lvl="1"/>
            <a:r>
              <a:rPr lang="en-US" altLang="zh-TW" sz="2000" dirty="0" smtClean="0"/>
              <a:t>One or more CPUs</a:t>
            </a:r>
          </a:p>
          <a:p>
            <a:pPr lvl="1"/>
            <a:r>
              <a:rPr lang="en-US" altLang="zh-TW" sz="2000" dirty="0" smtClean="0"/>
              <a:t>One or more GPUs</a:t>
            </a:r>
          </a:p>
          <a:p>
            <a:pPr lvl="1"/>
            <a:r>
              <a:rPr lang="en-US" altLang="zh-TW" sz="2000" dirty="0" smtClean="0"/>
              <a:t>Optional accelerators (e.g., DSPs) </a:t>
            </a:r>
            <a:endParaRPr lang="zh-TW" altLang="en-US" sz="2000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482" y="1828801"/>
            <a:ext cx="4974388" cy="4274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020"/>
          <a:stretch>
            <a:fillRect/>
          </a:stretch>
        </p:blipFill>
        <p:spPr bwMode="auto">
          <a:xfrm>
            <a:off x="4349750" y="1211991"/>
            <a:ext cx="4506867" cy="292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What is OpenCL?</a:t>
            </a:r>
            <a:endParaRPr lang="zh-TW" altLang="en-US" dirty="0"/>
          </a:p>
        </p:txBody>
      </p:sp>
      <p:pic>
        <p:nvPicPr>
          <p:cNvPr id="593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3806" y="2866617"/>
            <a:ext cx="5686296" cy="3350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33538"/>
          <a:stretch>
            <a:fillRect/>
          </a:stretch>
        </p:blipFill>
        <p:spPr bwMode="auto">
          <a:xfrm>
            <a:off x="5834742" y="1211991"/>
            <a:ext cx="3026229" cy="292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OpenGL-based Ecosystem </a:t>
            </a:r>
            <a:endParaRPr lang="zh-TW" altLang="en-US" dirty="0"/>
          </a:p>
        </p:txBody>
      </p:sp>
      <p:pic>
        <p:nvPicPr>
          <p:cNvPr id="604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49077" y="1744663"/>
            <a:ext cx="8045845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OpenCL Platform Model </a:t>
            </a:r>
            <a:endParaRPr lang="en-IN" dirty="0" smtClean="0"/>
          </a:p>
        </p:txBody>
      </p:sp>
      <p:pic>
        <p:nvPicPr>
          <p:cNvPr id="614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99054" y="1744663"/>
            <a:ext cx="6745891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Execution Model</a:t>
            </a:r>
            <a:endParaRPr lang="zh-TW" altLang="en-US" dirty="0"/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21648" y="1744663"/>
            <a:ext cx="6300703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Decompose task into work-items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a-ES" altLang="zh-TW" sz="2400" dirty="0" smtClean="0"/>
              <a:t>Define N-dimensional computation domain</a:t>
            </a:r>
          </a:p>
          <a:p>
            <a:r>
              <a:rPr lang="ca-ES" altLang="zh-TW" sz="2400" dirty="0" smtClean="0"/>
              <a:t>Execute a kernel at each point in computation domain</a:t>
            </a:r>
            <a:endParaRPr lang="zh-TW" altLang="en-US" sz="2400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383" y="2833278"/>
            <a:ext cx="8694323" cy="3201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 l="5657" b="2041"/>
          <a:stretch>
            <a:fillRect/>
          </a:stretch>
        </p:blipFill>
        <p:spPr bwMode="auto">
          <a:xfrm>
            <a:off x="2903220" y="2476500"/>
            <a:ext cx="6100763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N-dimension domain of work-items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44133"/>
            <a:ext cx="5067300" cy="4289481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Define the  N-dimensioned index space for your algorithm</a:t>
            </a:r>
          </a:p>
          <a:p>
            <a:pPr lvl="1"/>
            <a:r>
              <a:rPr lang="en-US" altLang="zh-TW" sz="2400" dirty="0" smtClean="0"/>
              <a:t>Kernels are executed across a global domain of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work-items</a:t>
            </a:r>
            <a:r>
              <a:rPr lang="en-US" altLang="zh-TW" sz="2400" dirty="0" smtClean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altLang="zh-TW" sz="2400" dirty="0" smtClean="0"/>
              <a:t>Work-items are grouped into local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work-groups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Anatomy of an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Serial code executes in a Host (CPU) thread</a:t>
            </a:r>
          </a:p>
          <a:p>
            <a:r>
              <a:rPr lang="en-US" altLang="zh-TW" sz="2400" dirty="0" smtClean="0"/>
              <a:t>Parallel code executes in many Device (GPU) threads across multiple processing elements</a:t>
            </a:r>
            <a:endParaRPr lang="zh-TW" altLang="en-US" sz="2400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3174" y="3048000"/>
            <a:ext cx="5057652" cy="300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memory hierarchy</a:t>
            </a:r>
            <a:endParaRPr lang="zh-TW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1117" y="1735954"/>
            <a:ext cx="5636858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426" y="1753938"/>
            <a:ext cx="2948078" cy="204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722810" y="1667366"/>
            <a:ext cx="1018903" cy="1006166"/>
          </a:xfrm>
          <a:prstGeom prst="rect">
            <a:avLst/>
          </a:prstGeom>
          <a:noFill/>
          <a:ln w="762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zh-TW" altLang="en-US" dirty="0" smtClean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 r="23814" b="14041"/>
          <a:stretch>
            <a:fillRect/>
          </a:stretch>
        </p:blipFill>
        <p:spPr bwMode="auto">
          <a:xfrm>
            <a:off x="226422" y="3930514"/>
            <a:ext cx="2934789" cy="210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charset="-120"/>
              </a:rPr>
              <a:t>Big Picture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6715AB-D144-43AB-A2A8-D3434D147AB8}" type="slidenum">
              <a:rPr lang="en-US" altLang="zh-TW"/>
              <a:pPr/>
              <a:t>11</a:t>
            </a:fld>
            <a:endParaRPr lang="en-US" altLang="zh-TW"/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3" cstate="print"/>
          <a:srcRect b="3488"/>
          <a:stretch>
            <a:fillRect/>
          </a:stretch>
        </p:blipFill>
        <p:spPr bwMode="auto">
          <a:xfrm>
            <a:off x="500063" y="1608138"/>
            <a:ext cx="8197850" cy="45749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2.0 New Features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Shared Virtual 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dirty="0" smtClean="0"/>
              <a:t>Before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2.0</a:t>
            </a:r>
          </a:p>
          <a:p>
            <a:pPr lvl="1">
              <a:spcBef>
                <a:spcPts val="600"/>
              </a:spcBef>
            </a:pPr>
            <a:r>
              <a:rPr lang="en-US" altLang="zh-TW" sz="2000" dirty="0" smtClean="0"/>
              <a:t>Doesn’t provide any guarantees that a pointer assigned on the host side can be used to access data in device side</a:t>
            </a:r>
          </a:p>
          <a:p>
            <a:pPr lvl="1">
              <a:spcBef>
                <a:spcPts val="600"/>
              </a:spcBef>
            </a:pPr>
            <a:r>
              <a:rPr lang="en-US" altLang="zh-TW" sz="2000" dirty="0" smtClean="0"/>
              <a:t>Data with pointers cannot be shared between the sides, and the application should be designed accordingly, for example, with indices used instead of pointers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7027" y="3840480"/>
            <a:ext cx="4116974" cy="280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字方塊 10"/>
          <p:cNvSpPr txBox="1"/>
          <p:nvPr/>
        </p:nvSpPr>
        <p:spPr>
          <a:xfrm>
            <a:off x="2499359" y="5355772"/>
            <a:ext cx="236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>
                <a:solidFill>
                  <a:schemeClr val="accent6">
                    <a:lumMod val="75000"/>
                  </a:schemeClr>
                </a:solidFill>
              </a:rPr>
              <a:t>■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Device address space</a:t>
            </a:r>
          </a:p>
          <a:p>
            <a:r>
              <a:rPr lang="zh-TW" altLang="en-US" sz="1400" dirty="0" smtClean="0">
                <a:solidFill>
                  <a:srgbClr val="92D050"/>
                </a:solidFill>
              </a:rPr>
              <a:t>■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Host address space</a:t>
            </a:r>
            <a:endParaRPr lang="zh-TW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3451" y="4023366"/>
            <a:ext cx="4150549" cy="278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Shared Virtual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96614"/>
            <a:ext cx="8229600" cy="4289426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After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2.0</a:t>
            </a:r>
          </a:p>
          <a:p>
            <a:pPr lvl="1">
              <a:spcBef>
                <a:spcPts val="600"/>
              </a:spcBef>
            </a:pPr>
            <a:r>
              <a:rPr lang="en-US" altLang="zh-TW" sz="2000" dirty="0" smtClean="0"/>
              <a:t>Enables the host and device portions to seamlessly share pointers and complex pointer-containing data-structures </a:t>
            </a:r>
          </a:p>
          <a:p>
            <a:r>
              <a:rPr lang="en-US" altLang="zh-TW" sz="2400" dirty="0" smtClean="0"/>
              <a:t>Benefits</a:t>
            </a:r>
          </a:p>
          <a:p>
            <a:pPr lvl="1"/>
            <a:r>
              <a:rPr lang="en-US" altLang="zh-TW" sz="2000" dirty="0" smtClean="0"/>
              <a:t>Host-allocated buffers are directly accessible by devices.</a:t>
            </a:r>
          </a:p>
          <a:p>
            <a:pPr lvl="1"/>
            <a:r>
              <a:rPr lang="en-US" altLang="zh-TW" sz="2000" dirty="0" smtClean="0"/>
              <a:t>Host and devices can refer to the same memory locations using the pointer values.</a:t>
            </a:r>
          </a:p>
          <a:p>
            <a:pPr lvl="1"/>
            <a:r>
              <a:rPr lang="en-US" altLang="zh-TW" sz="2000" dirty="0" smtClean="0"/>
              <a:t>Reduce data movements between host and devices.</a:t>
            </a:r>
            <a:endParaRPr lang="en-US" altLang="zh-TW" sz="1200" dirty="0" smtClean="0"/>
          </a:p>
          <a:p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499359" y="5355772"/>
            <a:ext cx="236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>
                <a:solidFill>
                  <a:schemeClr val="accent6">
                    <a:lumMod val="75000"/>
                  </a:schemeClr>
                </a:solidFill>
              </a:rPr>
              <a:t>■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Device address space</a:t>
            </a:r>
          </a:p>
          <a:p>
            <a:r>
              <a:rPr lang="zh-TW" altLang="en-US" sz="1400" dirty="0" smtClean="0">
                <a:solidFill>
                  <a:srgbClr val="92D050"/>
                </a:solidFill>
              </a:rPr>
              <a:t>■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Host address space</a:t>
            </a:r>
            <a:endParaRPr lang="zh-TW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Category of SVM</a:t>
            </a: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33375" y="1456357"/>
          <a:ext cx="8353424" cy="2630082"/>
        </p:xfrm>
        <a:graphic>
          <a:graphicData uri="http://schemas.openxmlformats.org/drawingml/2006/table">
            <a:tbl>
              <a:tblPr/>
              <a:tblGrid>
                <a:gridCol w="2966637"/>
                <a:gridCol w="1639457"/>
                <a:gridCol w="766499"/>
                <a:gridCol w="1000708"/>
                <a:gridCol w="939450"/>
                <a:gridCol w="1040673"/>
              </a:tblGrid>
              <a:tr h="28101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SVM Feature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SVM Type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810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FF0000"/>
                          </a:solidFill>
                          <a:latin typeface="+mn-lt"/>
                        </a:rPr>
                        <a:t>Coarse-grained buffer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Fine-grained buffer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Fine-grained system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1518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w/o atomics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with atomics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w/o atomics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a-ES" sz="1600" b="0" i="0" u="none" strike="noStrike" dirty="0">
                          <a:solidFill>
                            <a:srgbClr val="00B0F0"/>
                          </a:solidFill>
                          <a:latin typeface="+mn-lt"/>
                        </a:rPr>
                        <a:t>with atomics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</a:tr>
              <a:tr h="281010">
                <a:tc>
                  <a:txBody>
                    <a:bodyPr/>
                    <a:lstStyle/>
                    <a:p>
                      <a:pPr algn="l" fontAlgn="ctr"/>
                      <a:r>
                        <a:rPr lang="ca-E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Shared virtual address space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010">
                <a:tc>
                  <a:txBody>
                    <a:bodyPr/>
                    <a:lstStyle/>
                    <a:p>
                      <a:pPr algn="l" fontAlgn="ctr"/>
                      <a:r>
                        <a:rPr lang="ca-E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Fine-grained coherent </a:t>
                      </a:r>
                      <a:r>
                        <a:rPr lang="ca-ES" sz="16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access</a:t>
                      </a:r>
                      <a:br>
                        <a:rPr lang="ca-ES" sz="16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ca-ES" sz="16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(cache coherent)</a:t>
                      </a:r>
                      <a:endParaRPr lang="ca-E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010">
                <a:tc>
                  <a:txBody>
                    <a:bodyPr/>
                    <a:lstStyle/>
                    <a:p>
                      <a:pPr algn="l" fontAlgn="ctr"/>
                      <a:r>
                        <a:rPr lang="ca-E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Fine-grained synchronization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0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Sharing the entire host address space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　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●</a:t>
                      </a:r>
                    </a:p>
                  </a:txBody>
                  <a:tcPr marL="7749" marR="7749" marT="77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961299" y="4182720"/>
            <a:ext cx="3739081" cy="5069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dirty="0" smtClean="0"/>
              <a:t>Coherent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6599981" y="4814953"/>
            <a:ext cx="2107948" cy="5069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dirty="0" smtClean="0"/>
              <a:t>MMU &amp;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5845" y="4172158"/>
            <a:ext cx="1585866" cy="5069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dirty="0" smtClean="0"/>
              <a:t>Non-coherent 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30926" y="4868091"/>
            <a:ext cx="4981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Coarse-grained buffer is </a:t>
            </a:r>
            <a:r>
              <a:rPr lang="en-US" altLang="zh-TW" dirty="0" smtClean="0">
                <a:solidFill>
                  <a:srgbClr val="FF0000"/>
                </a:solidFill>
              </a:rPr>
              <a:t>core feature</a:t>
            </a:r>
          </a:p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The other are optional feature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C11 Atomics Support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9531"/>
            <a:ext cx="8229600" cy="5006795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Core feature</a:t>
            </a:r>
          </a:p>
          <a:p>
            <a:r>
              <a:rPr lang="en-US" altLang="zh-TW" sz="2000" dirty="0" smtClean="0"/>
              <a:t>Before </a:t>
            </a:r>
            <a:r>
              <a:rPr lang="en-US" altLang="zh-TW" sz="2000" dirty="0" err="1" smtClean="0"/>
              <a:t>OpenCL</a:t>
            </a:r>
            <a:r>
              <a:rPr lang="en-US" altLang="zh-TW" sz="2000" dirty="0" smtClean="0"/>
              <a:t> 2.0</a:t>
            </a:r>
          </a:p>
          <a:p>
            <a:pPr lvl="1"/>
            <a:r>
              <a:rPr lang="en-US" altLang="zh-TW" sz="1800" dirty="0" err="1" smtClean="0"/>
              <a:t>OpenCL</a:t>
            </a:r>
            <a:r>
              <a:rPr lang="en-US" altLang="zh-TW" sz="1800" dirty="0" smtClean="0"/>
              <a:t> 1.2 implements atomic operations using built-ins</a:t>
            </a:r>
          </a:p>
          <a:p>
            <a:pPr lvl="1"/>
            <a:endParaRPr lang="en-US" altLang="zh-TW" sz="1800" dirty="0" smtClean="0"/>
          </a:p>
          <a:p>
            <a:pPr lvl="1"/>
            <a:endParaRPr lang="en-US" altLang="zh-TW" sz="1800" dirty="0" smtClean="0"/>
          </a:p>
          <a:p>
            <a:pPr lvl="1">
              <a:buNone/>
            </a:pPr>
            <a:r>
              <a:rPr lang="en-US" altLang="zh-TW" sz="1800" dirty="0" smtClean="0"/>
              <a:t/>
            </a:r>
            <a:br>
              <a:rPr lang="en-US" altLang="zh-TW" sz="1800" dirty="0" smtClean="0"/>
            </a:br>
            <a:endParaRPr lang="en-US" altLang="zh-TW" sz="1800" dirty="0" smtClean="0"/>
          </a:p>
          <a:p>
            <a:r>
              <a:rPr lang="en-US" altLang="zh-TW" sz="2000" dirty="0" smtClean="0"/>
              <a:t>After </a:t>
            </a:r>
            <a:r>
              <a:rPr lang="en-US" altLang="zh-TW" sz="2000" dirty="0" err="1" smtClean="0"/>
              <a:t>OpenCL</a:t>
            </a:r>
            <a:r>
              <a:rPr lang="en-US" altLang="zh-TW" sz="2000" dirty="0" smtClean="0"/>
              <a:t> 2.0</a:t>
            </a:r>
          </a:p>
          <a:p>
            <a:pPr lvl="1"/>
            <a:r>
              <a:rPr lang="en-US" altLang="zh-TW" sz="1800" dirty="0" smtClean="0"/>
              <a:t>mainly aim to achieve compatibility with C++11 standard</a:t>
            </a:r>
          </a:p>
          <a:p>
            <a:pPr lvl="1"/>
            <a:r>
              <a:rPr lang="en-US" altLang="zh-TW" sz="1800" dirty="0" smtClean="0"/>
              <a:t>control atomic operation memory synchronization</a:t>
            </a:r>
            <a:r>
              <a:rPr lang="en-US" altLang="zh-TW" sz="1800" u="sng" dirty="0" smtClean="0"/>
              <a:t> </a:t>
            </a:r>
            <a:r>
              <a:rPr lang="en-US" altLang="zh-TW" sz="1800" b="1" u="sng" dirty="0" smtClean="0"/>
              <a:t>ordering</a:t>
            </a:r>
            <a:r>
              <a:rPr lang="en-US" altLang="zh-TW" sz="1800" dirty="0" smtClean="0"/>
              <a:t> and </a:t>
            </a:r>
            <a:r>
              <a:rPr lang="en-US" altLang="zh-TW" sz="1800" b="1" u="sng" dirty="0" smtClean="0"/>
              <a:t>scope</a:t>
            </a:r>
          </a:p>
          <a:p>
            <a:pPr lvl="2"/>
            <a:r>
              <a:rPr lang="en-US" altLang="zh-TW" sz="1600" dirty="0" smtClean="0"/>
              <a:t>order: relaxed, acquire, release, </a:t>
            </a:r>
            <a:r>
              <a:rPr lang="en-US" altLang="zh-TW" sz="1600" dirty="0" err="1" smtClean="0"/>
              <a:t>acq_rel</a:t>
            </a:r>
            <a:r>
              <a:rPr lang="en-US" altLang="zh-TW" sz="1600" dirty="0" smtClean="0"/>
              <a:t>, </a:t>
            </a:r>
            <a:r>
              <a:rPr lang="en-US" altLang="zh-TW" sz="1600" dirty="0" err="1" smtClean="0"/>
              <a:t>seq_cst</a:t>
            </a:r>
            <a:endParaRPr lang="en-US" altLang="zh-TW" sz="1600" b="1" u="sng" dirty="0" smtClean="0"/>
          </a:p>
          <a:p>
            <a:pPr lvl="2"/>
            <a:r>
              <a:rPr lang="ca-ES" altLang="zh-TW" sz="1600" dirty="0" smtClean="0"/>
              <a:t>scope: work_group, device, </a:t>
            </a:r>
            <a:r>
              <a:rPr lang="ca-ES" altLang="zh-TW" sz="1600" b="1" dirty="0" smtClean="0"/>
              <a:t>all_svm_devices</a:t>
            </a:r>
            <a:endParaRPr lang="zh-TW" altLang="en-US" sz="1600" b="1" u="sng" dirty="0" smtClean="0"/>
          </a:p>
          <a:p>
            <a:endParaRPr lang="en-US" altLang="zh-TW" sz="2200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lum bright="20000" contrast="40000"/>
          </a:blip>
          <a:srcRect/>
          <a:stretch>
            <a:fillRect/>
          </a:stretch>
        </p:blipFill>
        <p:spPr bwMode="auto">
          <a:xfrm>
            <a:off x="1011739" y="2310206"/>
            <a:ext cx="5032009" cy="111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lum bright="20000" contrast="40000"/>
          </a:blip>
          <a:srcRect/>
          <a:stretch>
            <a:fillRect/>
          </a:stretch>
        </p:blipFill>
        <p:spPr bwMode="auto">
          <a:xfrm>
            <a:off x="1011739" y="5080509"/>
            <a:ext cx="6590237" cy="126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C11 Atomics Support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dirty="0" smtClean="0"/>
              <a:t>Benefits: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The work-group scope generally provides more optimization opportunities for the compiler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Platform coherency provides coherent accesses to the shared memory locations across host and devices.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An efficient way to coordinate between host and devices, e.g. when both can dispatch kernels to a task queue.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SVM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2050"/>
            <a:ext cx="8229600" cy="499427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User launches the demo application</a:t>
            </a:r>
          </a:p>
          <a:p>
            <a:pPr lvl="1"/>
            <a:r>
              <a:rPr lang="en-US" sz="2000" dirty="0" smtClean="0"/>
              <a:t>Application immediately starts playing back a 1 minute looping video clip</a:t>
            </a:r>
          </a:p>
          <a:p>
            <a:pPr lvl="1"/>
            <a:r>
              <a:rPr lang="en-US" sz="2000" dirty="0" smtClean="0"/>
              <a:t>Face detection runs on GPU</a:t>
            </a:r>
          </a:p>
          <a:p>
            <a:pPr lvl="2"/>
            <a:r>
              <a:rPr lang="en-US" sz="2000" dirty="0" smtClean="0"/>
              <a:t>Faces are identified on-screen with a blue rectangle</a:t>
            </a:r>
          </a:p>
          <a:p>
            <a:pPr lvl="1"/>
            <a:r>
              <a:rPr lang="en-US" sz="2000" dirty="0" smtClean="0"/>
              <a:t>Face recognition runs on CPU</a:t>
            </a:r>
          </a:p>
          <a:p>
            <a:pPr lvl="2"/>
            <a:r>
              <a:rPr lang="en-US" sz="2000" dirty="0" smtClean="0"/>
              <a:t>Faces are tagged with the person’s name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50350" y="3689624"/>
            <a:ext cx="4062900" cy="30445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06559" y="4047485"/>
            <a:ext cx="689353" cy="188939"/>
          </a:xfrm>
          <a:prstGeom prst="rect">
            <a:avLst/>
          </a:prstGeom>
          <a:solidFill>
            <a:schemeClr val="accent3"/>
          </a:solidFill>
          <a:ln w="12700" cmpd="sng"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 smtClean="0">
                <a:solidFill>
                  <a:srgbClr val="000000"/>
                </a:solidFill>
              </a:rPr>
              <a:t>Anna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43569" y="4163670"/>
            <a:ext cx="689353" cy="188939"/>
          </a:xfrm>
          <a:prstGeom prst="rect">
            <a:avLst/>
          </a:prstGeom>
          <a:solidFill>
            <a:schemeClr val="accent3"/>
          </a:solidFill>
          <a:ln w="12700" cmpd="sng"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dirty="0" smtClean="0">
                <a:solidFill>
                  <a:srgbClr val="000000"/>
                </a:solidFill>
              </a:rPr>
              <a:t>Britney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31448" y="3740863"/>
            <a:ext cx="689353" cy="188939"/>
          </a:xfrm>
          <a:prstGeom prst="rect">
            <a:avLst/>
          </a:prstGeom>
          <a:solidFill>
            <a:schemeClr val="accent3"/>
          </a:solidFill>
          <a:ln w="12700" cmpd="sng"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dirty="0" smtClean="0">
                <a:solidFill>
                  <a:srgbClr val="000000"/>
                </a:solidFill>
              </a:rPr>
              <a:t>Courtney</a:t>
            </a:r>
            <a:endParaRPr lang="en-US"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469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eft Brace 49"/>
          <p:cNvSpPr/>
          <p:nvPr/>
        </p:nvSpPr>
        <p:spPr>
          <a:xfrm rot="5400000">
            <a:off x="3767487" y="2080916"/>
            <a:ext cx="349634" cy="5190695"/>
          </a:xfrm>
          <a:prstGeom prst="leftBrace">
            <a:avLst>
              <a:gd name="adj1" fmla="val 136915"/>
              <a:gd name="adj2" fmla="val 50000"/>
            </a:avLst>
          </a:prstGeom>
          <a:ln w="28575" cmpd="sng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3165090" y="4070814"/>
            <a:ext cx="1548220" cy="535531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Latency for Face 3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4954" y="2259511"/>
            <a:ext cx="4150390" cy="58397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Detect   Faces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65344" y="1354348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6956" y="1360742"/>
            <a:ext cx="667998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Input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Image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18072" y="1360742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0796" y="1354348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7567" y="1426232"/>
            <a:ext cx="700857" cy="374461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CPU: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7567" y="2327565"/>
            <a:ext cx="797130" cy="369332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GPU: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14954" y="5796947"/>
            <a:ext cx="4150390" cy="58397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Detect   Faces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12929" y="4891784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46956" y="4898178"/>
            <a:ext cx="667998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Input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Image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83225" y="4898178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06825" y="4891784"/>
            <a:ext cx="930827" cy="583970"/>
          </a:xfrm>
          <a:prstGeom prst="rect">
            <a:avLst/>
          </a:prstGeom>
          <a:solidFill>
            <a:srgbClr val="5BAD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Recognize Face 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567" y="4963668"/>
            <a:ext cx="700857" cy="374461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CPU: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567" y="5865001"/>
            <a:ext cx="831964" cy="369332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GPU: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6165344" y="1886316"/>
            <a:ext cx="10963" cy="957166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923880" y="5423752"/>
            <a:ext cx="10963" cy="957166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4188039" y="5423752"/>
            <a:ext cx="10963" cy="957166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5616456" y="5423752"/>
            <a:ext cx="10963" cy="957166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019780" y="4891784"/>
            <a:ext cx="2" cy="943424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2019781" y="1354348"/>
            <a:ext cx="2" cy="943424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9506" y="253377"/>
            <a:ext cx="3011497" cy="430887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Without SVM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: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506" y="3295052"/>
            <a:ext cx="3011497" cy="757130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fontAlgn="auto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With </a:t>
            </a:r>
            <a:r>
              <a:rPr lang="ca-ES" altLang="zh-TW" sz="2400" b="1" dirty="0" smtClean="0">
                <a:solidFill>
                  <a:srgbClr val="000000"/>
                </a:solidFill>
                <a:latin typeface="+mn-lt"/>
              </a:rPr>
              <a:t>Fine-grained buffer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: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35" name="Line Callout 2 34"/>
          <p:cNvSpPr/>
          <p:nvPr/>
        </p:nvSpPr>
        <p:spPr>
          <a:xfrm>
            <a:off x="2682960" y="1339749"/>
            <a:ext cx="1281262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141532"/>
              <a:gd name="adj6" fmla="val -47522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Kernel launch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Line Callout 2 35"/>
          <p:cNvSpPr/>
          <p:nvPr/>
        </p:nvSpPr>
        <p:spPr>
          <a:xfrm>
            <a:off x="6942858" y="2390882"/>
            <a:ext cx="1631691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-35887"/>
              <a:gd name="adj6" fmla="val -42824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Kernel completed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65704" y="3316241"/>
            <a:ext cx="9056393" cy="0"/>
          </a:xfrm>
          <a:prstGeom prst="line">
            <a:avLst/>
          </a:prstGeom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8169352" y="6648829"/>
            <a:ext cx="910232" cy="0"/>
          </a:xfrm>
          <a:prstGeom prst="straightConnector1">
            <a:avLst/>
          </a:prstGeom>
          <a:ln w="25400" cmpd="sng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33623" y="6327110"/>
            <a:ext cx="492791" cy="258532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44" name="Line Callout 2 43"/>
          <p:cNvSpPr/>
          <p:nvPr/>
        </p:nvSpPr>
        <p:spPr>
          <a:xfrm>
            <a:off x="3424882" y="4189973"/>
            <a:ext cx="815846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151210"/>
              <a:gd name="adj6" fmla="val -60274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Callback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Line Callout 2 44"/>
          <p:cNvSpPr/>
          <p:nvPr/>
        </p:nvSpPr>
        <p:spPr>
          <a:xfrm>
            <a:off x="4691117" y="4189973"/>
            <a:ext cx="815846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151210"/>
              <a:gd name="adj6" fmla="val -60274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Callback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Line Callout 2 45"/>
          <p:cNvSpPr/>
          <p:nvPr/>
        </p:nvSpPr>
        <p:spPr>
          <a:xfrm>
            <a:off x="6121610" y="4189973"/>
            <a:ext cx="815846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151210"/>
              <a:gd name="adj6" fmla="val -60274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Callback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Left Brace 46"/>
          <p:cNvSpPr/>
          <p:nvPr/>
        </p:nvSpPr>
        <p:spPr>
          <a:xfrm rot="5400000">
            <a:off x="4999472" y="-2732251"/>
            <a:ext cx="349634" cy="7654667"/>
          </a:xfrm>
          <a:prstGeom prst="leftBrace">
            <a:avLst>
              <a:gd name="adj1" fmla="val 136915"/>
              <a:gd name="adj2" fmla="val 50000"/>
            </a:avLst>
          </a:prstGeom>
          <a:ln w="28575" cmpd="sng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321550" y="484951"/>
            <a:ext cx="1703043" cy="590931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 3" pitchFamily="18" charset="2"/>
              <a:buNone/>
              <a:tabLst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Latency for Face 3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52" name="Line Callout 2 51"/>
          <p:cNvSpPr/>
          <p:nvPr/>
        </p:nvSpPr>
        <p:spPr>
          <a:xfrm flipH="1">
            <a:off x="186144" y="4189973"/>
            <a:ext cx="1281262" cy="452577"/>
          </a:xfrm>
          <a:prstGeom prst="borderCallout2">
            <a:avLst>
              <a:gd name="adj1" fmla="val 51556"/>
              <a:gd name="adj2" fmla="val 79"/>
              <a:gd name="adj3" fmla="val 51557"/>
              <a:gd name="adj4" fmla="val -22275"/>
              <a:gd name="adj5" fmla="val 139048"/>
              <a:gd name="adj6" fmla="val -41600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schemeClr val="tx1"/>
                </a:solidFill>
              </a:rPr>
              <a:t>Kernel launch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17260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33" grpId="0"/>
      <p:bldP spid="35" grpId="0" animBg="1"/>
      <p:bldP spid="35" grpId="1" animBg="1"/>
      <p:bldP spid="36" grpId="0" animBg="1"/>
      <p:bldP spid="36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/>
      <p:bldP spid="52" grpId="0" animBg="1"/>
      <p:bldP spid="5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Generic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3737"/>
            <a:ext cx="8229600" cy="5102589"/>
          </a:xfrm>
        </p:spPr>
        <p:txBody>
          <a:bodyPr>
            <a:norm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Core feature</a:t>
            </a:r>
            <a:endParaRPr lang="en-US" altLang="zh-TW" sz="2400" dirty="0" smtClean="0"/>
          </a:p>
          <a:p>
            <a:r>
              <a:rPr lang="en-US" altLang="zh-TW" sz="2400" dirty="0" smtClean="0"/>
              <a:t>Before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2.0 </a:t>
            </a:r>
          </a:p>
          <a:p>
            <a:pPr lvl="1"/>
            <a:r>
              <a:rPr lang="en-US" altLang="zh-TW" sz="2000" dirty="0" smtClean="0"/>
              <a:t>programmer had to specify an address space of what a pointer points to when that pointer was declared or the pointer was passed as an argument to a function.</a:t>
            </a:r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r>
              <a:rPr lang="en-US" altLang="zh-TW" sz="2400" dirty="0" smtClean="0"/>
              <a:t>After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2.0</a:t>
            </a:r>
          </a:p>
          <a:p>
            <a:pPr lvl="1"/>
            <a:r>
              <a:rPr lang="en-US" altLang="zh-TW" sz="2000" dirty="0" smtClean="0"/>
              <a:t> the pointer itself remains in the private address space, but what the pointer points has changed its default to be </a:t>
            </a:r>
            <a:r>
              <a:rPr lang="en-US" altLang="zh-TW" sz="2000" i="1" dirty="0" smtClean="0"/>
              <a:t>generic</a:t>
            </a:r>
            <a:r>
              <a:rPr lang="en-US" altLang="zh-TW" sz="2000" dirty="0" smtClean="0"/>
              <a:t> meaning it can point to any of the named address spaces within the generic address space.</a:t>
            </a:r>
            <a:endParaRPr lang="zh-TW" alt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20000" contrast="40000"/>
          </a:blip>
          <a:srcRect/>
          <a:stretch>
            <a:fillRect/>
          </a:stretch>
        </p:blipFill>
        <p:spPr bwMode="auto">
          <a:xfrm>
            <a:off x="3787005" y="2932214"/>
            <a:ext cx="3352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20000" contrast="40000"/>
          </a:blip>
          <a:srcRect/>
          <a:stretch>
            <a:fillRect/>
          </a:stretch>
        </p:blipFill>
        <p:spPr bwMode="auto">
          <a:xfrm>
            <a:off x="3778296" y="5021455"/>
            <a:ext cx="338137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Address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451"/>
            <a:ext cx="8229600" cy="4884875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Benefits</a:t>
            </a:r>
            <a:endParaRPr lang="en-US" sz="2800" dirty="0" smtClean="0"/>
          </a:p>
          <a:p>
            <a:pPr lvl="1"/>
            <a:r>
              <a:rPr lang="en-US" sz="2400" dirty="0" smtClean="0"/>
              <a:t>Makes it really easy to write functions without having to worry about which address space arguments point to</a:t>
            </a:r>
          </a:p>
          <a:p>
            <a:pPr lvl="1"/>
            <a:r>
              <a:rPr lang="en-US" altLang="zh-TW" sz="2400" dirty="0" smtClean="0"/>
              <a:t>To allow a single pointer to join different memory segments reached from different control flow paths.</a:t>
            </a:r>
            <a:endParaRPr lang="en-US" sz="2400" dirty="0" smtClean="0"/>
          </a:p>
          <a:p>
            <a:pPr lvl="1"/>
            <a:r>
              <a:rPr lang="en-US" altLang="zh-TW" sz="2400" dirty="0" smtClean="0"/>
              <a:t>Simplify compiler implementation</a:t>
            </a:r>
          </a:p>
          <a:p>
            <a:pPr lvl="2"/>
            <a:r>
              <a:rPr lang="en-US" sz="2000" dirty="0" smtClean="0"/>
              <a:t>Reduce the number of function entries to serve arguments with different memory segments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B750-99CA-4669-9B6F-844E64AA3C04}" type="datetime1">
              <a:rPr lang="ja-JP" altLang="en-US" smtClean="0"/>
              <a:pPr/>
              <a:t>2015/4/30</a:t>
            </a:fld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Copyright © MediaTek Inc. All rights reserved.</a:t>
            </a: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98FC-85E0-4078-8155-546406F2C3F2}" type="slidenum">
              <a:rPr lang="en-US" altLang="ja-JP" smtClean="0"/>
              <a:pPr/>
              <a:t>21</a:t>
            </a:fld>
            <a:endParaRPr lang="en-US" altLang="ja-JP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lum bright="20000" contrast="40000"/>
          </a:blip>
          <a:srcRect/>
          <a:stretch>
            <a:fillRect/>
          </a:stretch>
        </p:blipFill>
        <p:spPr bwMode="auto">
          <a:xfrm>
            <a:off x="4682762" y="4438390"/>
            <a:ext cx="37147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向下箭號 7"/>
          <p:cNvSpPr/>
          <p:nvPr/>
        </p:nvSpPr>
        <p:spPr>
          <a:xfrm>
            <a:off x="6043749" y="4833270"/>
            <a:ext cx="313508" cy="2991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TW" altLang="en-US" dirty="0" smtClean="0"/>
          </a:p>
        </p:txBody>
      </p:sp>
      <p:grpSp>
        <p:nvGrpSpPr>
          <p:cNvPr id="12" name="群組 11"/>
          <p:cNvGrpSpPr/>
          <p:nvPr/>
        </p:nvGrpSpPr>
        <p:grpSpPr>
          <a:xfrm>
            <a:off x="5953465" y="4868103"/>
            <a:ext cx="482169" cy="209006"/>
            <a:chOff x="5953465" y="4624251"/>
            <a:chExt cx="482169" cy="209006"/>
          </a:xfrm>
        </p:grpSpPr>
        <p:cxnSp>
          <p:nvCxnSpPr>
            <p:cNvPr id="10" name="直線接點 9"/>
            <p:cNvCxnSpPr/>
            <p:nvPr/>
          </p:nvCxnSpPr>
          <p:spPr>
            <a:xfrm>
              <a:off x="5965371" y="4624251"/>
              <a:ext cx="470263" cy="209006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 flipH="1">
              <a:off x="5953465" y="4624251"/>
              <a:ext cx="470263" cy="209006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90355" y="4655226"/>
            <a:ext cx="2156579" cy="164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Nested Parallelism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75302"/>
            <a:ext cx="8229600" cy="428942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Core feature</a:t>
            </a:r>
          </a:p>
          <a:p>
            <a:pPr>
              <a:spcBef>
                <a:spcPts val="600"/>
              </a:spcBef>
            </a:pPr>
            <a:r>
              <a:rPr lang="en-US" altLang="zh-TW" sz="2400" dirty="0" smtClean="0"/>
              <a:t>The ability to launch new tasks from the device</a:t>
            </a:r>
            <a:endParaRPr lang="zh-TW" alt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1355408" y="2759902"/>
            <a:ext cx="6433185" cy="3473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Nested Parallelism with </a:t>
            </a:r>
            <a:r>
              <a:rPr lang="ca-ES" altLang="zh-TW" dirty="0" smtClean="0"/>
              <a:t>Data-Dependent Parallelism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62392"/>
            <a:ext cx="8229600" cy="428942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dirty="0" smtClean="0"/>
              <a:t>Computational Power allocated to regions of interest</a:t>
            </a:r>
          </a:p>
          <a:p>
            <a:pPr>
              <a:spcBef>
                <a:spcPts val="600"/>
              </a:spcBef>
            </a:pPr>
            <a:r>
              <a:rPr lang="en-US" altLang="zh-TW" sz="2400" dirty="0" smtClean="0"/>
              <a:t>Benefits:</a:t>
            </a:r>
          </a:p>
          <a:p>
            <a:pPr lvl="1">
              <a:spcBef>
                <a:spcPts val="600"/>
              </a:spcBef>
            </a:pPr>
            <a:r>
              <a:rPr lang="en-US" altLang="zh-TW" sz="2000" dirty="0" smtClean="0"/>
              <a:t>Allow kernel to dispatch new kernels</a:t>
            </a:r>
            <a:br>
              <a:rPr lang="en-US" altLang="zh-TW" sz="2000" dirty="0" smtClean="0"/>
            </a:br>
            <a:r>
              <a:rPr lang="en-US" altLang="zh-TW" sz="2000" dirty="0" smtClean="0"/>
              <a:t>without having to go back to host. Reduce overheads.</a:t>
            </a:r>
          </a:p>
          <a:p>
            <a:pPr lvl="1">
              <a:spcBef>
                <a:spcPts val="600"/>
              </a:spcBef>
            </a:pPr>
            <a:r>
              <a:rPr lang="en-US" altLang="zh-TW" sz="2000" dirty="0" smtClean="0"/>
              <a:t>Fit for nested or </a:t>
            </a:r>
            <a:br>
              <a:rPr lang="en-US" altLang="zh-TW" sz="2000" dirty="0" smtClean="0"/>
            </a:br>
            <a:r>
              <a:rPr lang="en-US" altLang="zh-TW" sz="2000" dirty="0" smtClean="0"/>
              <a:t>recursive algorithms</a:t>
            </a:r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  <p:grpSp>
        <p:nvGrpSpPr>
          <p:cNvPr id="9" name="群組 8"/>
          <p:cNvGrpSpPr/>
          <p:nvPr/>
        </p:nvGrpSpPr>
        <p:grpSpPr>
          <a:xfrm>
            <a:off x="3449437" y="3370729"/>
            <a:ext cx="5630073" cy="3196600"/>
            <a:chOff x="1097485" y="2301437"/>
            <a:chExt cx="6949031" cy="3945468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 cstate="print">
              <a:lum bright="20000"/>
            </a:blip>
            <a:srcRect/>
            <a:stretch>
              <a:fillRect/>
            </a:stretch>
          </p:blipFill>
          <p:spPr bwMode="auto">
            <a:xfrm>
              <a:off x="1097485" y="2301437"/>
              <a:ext cx="6949031" cy="3945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矩形 6"/>
            <p:cNvSpPr/>
            <p:nvPr/>
          </p:nvSpPr>
          <p:spPr>
            <a:xfrm>
              <a:off x="3270234" y="5517271"/>
              <a:ext cx="26035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(Nested Parallelism)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788388" y="2743591"/>
              <a:ext cx="15672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(traditional)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Pipe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866900"/>
            <a:ext cx="5220789" cy="4289426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Core feature</a:t>
            </a:r>
          </a:p>
          <a:p>
            <a:r>
              <a:rPr lang="en-US" altLang="zh-TW" sz="2800" dirty="0" smtClean="0"/>
              <a:t>new mechanism for passing data(packets) between kernels</a:t>
            </a:r>
          </a:p>
          <a:p>
            <a:r>
              <a:rPr lang="en-US" altLang="zh-TW" sz="2800" dirty="0" smtClean="0"/>
              <a:t>Before </a:t>
            </a:r>
            <a:r>
              <a:rPr lang="en-US" altLang="zh-TW" sz="2800" dirty="0" err="1" smtClean="0"/>
              <a:t>OpenCL</a:t>
            </a:r>
            <a:r>
              <a:rPr lang="en-US" altLang="zh-TW" sz="2800" dirty="0" smtClean="0"/>
              <a:t> 2.0</a:t>
            </a:r>
          </a:p>
          <a:p>
            <a:pPr lvl="1"/>
            <a:r>
              <a:rPr lang="en-US" altLang="zh-TW" sz="2400" dirty="0" smtClean="0"/>
              <a:t>Data transmission only between host and devices</a:t>
            </a:r>
            <a:endParaRPr lang="en-US" altLang="zh-TW" sz="2800" dirty="0" smtClean="0"/>
          </a:p>
          <a:p>
            <a:r>
              <a:rPr lang="en-US" altLang="zh-TW" sz="2800" dirty="0" smtClean="0"/>
              <a:t>After </a:t>
            </a:r>
            <a:r>
              <a:rPr lang="en-US" altLang="zh-TW" sz="2800" dirty="0" err="1" smtClean="0"/>
              <a:t>OpenCL</a:t>
            </a:r>
            <a:r>
              <a:rPr lang="en-US" altLang="zh-TW" sz="2800" dirty="0" smtClean="0"/>
              <a:t> 2.0</a:t>
            </a:r>
          </a:p>
          <a:p>
            <a:pPr lvl="1"/>
            <a:r>
              <a:rPr lang="en-US" altLang="zh-TW" sz="2400" dirty="0" smtClean="0"/>
              <a:t>Data transmission can be inner of devices</a:t>
            </a:r>
          </a:p>
          <a:p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4018" y="2673533"/>
            <a:ext cx="2240619" cy="1219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7215" y="4180801"/>
            <a:ext cx="3367556" cy="2346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Pipe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Benefits:</a:t>
            </a:r>
          </a:p>
          <a:p>
            <a:pPr lvl="1"/>
            <a:r>
              <a:rPr lang="en-US" altLang="zh-TW" dirty="0" smtClean="0"/>
              <a:t>Enable producer – consumer relationships, like inter-process communication </a:t>
            </a:r>
          </a:p>
          <a:p>
            <a:pPr lvl="1"/>
            <a:r>
              <a:rPr lang="en-US" altLang="zh-TW" dirty="0" smtClean="0"/>
              <a:t>combine pipes with the Nested Parallelism feature in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2.0 to dynamically construct computational data flow graphs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Work-group Functions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sz="2800" dirty="0" smtClean="0">
                <a:solidFill>
                  <a:srgbClr val="FF0000"/>
                </a:solidFill>
              </a:rPr>
              <a:t>Core feature</a:t>
            </a:r>
          </a:p>
          <a:p>
            <a:pPr>
              <a:spcBef>
                <a:spcPts val="600"/>
              </a:spcBef>
            </a:pPr>
            <a:r>
              <a:rPr lang="en-US" altLang="zh-TW" sz="2800" dirty="0" smtClean="0"/>
              <a:t>The built-ins provide popular parallel primitives that operate at the workgroup level</a:t>
            </a:r>
          </a:p>
          <a:p>
            <a:pPr lvl="1"/>
            <a:r>
              <a:rPr lang="en-US" altLang="zh-TW" sz="2400" dirty="0" smtClean="0"/>
              <a:t>value broadcast, reduce, and scan</a:t>
            </a:r>
          </a:p>
          <a:p>
            <a:pPr lvl="1"/>
            <a:r>
              <a:rPr lang="en-US" altLang="zh-TW" sz="2400" dirty="0" smtClean="0"/>
              <a:t>Reduce and scan algorithms support add, min and max operations</a:t>
            </a:r>
            <a:endParaRPr lang="zh-TW" alt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8084" t="11382"/>
          <a:stretch>
            <a:fillRect/>
          </a:stretch>
        </p:blipFill>
        <p:spPr bwMode="auto">
          <a:xfrm>
            <a:off x="4023361" y="4241076"/>
            <a:ext cx="3055484" cy="2093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703070" y="5891739"/>
            <a:ext cx="2591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Reduce with add ops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 l="8084" t="11382"/>
          <a:stretch>
            <a:fillRect/>
          </a:stretch>
        </p:blipFill>
        <p:spPr bwMode="auto">
          <a:xfrm>
            <a:off x="6163497" y="1193076"/>
            <a:ext cx="2440571" cy="167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Work-group Functions example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457200" y="1175657"/>
            <a:ext cx="8229600" cy="4980669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Benefits</a:t>
            </a:r>
          </a:p>
          <a:p>
            <a:pPr lvl="1"/>
            <a:r>
              <a:rPr lang="ca-ES" altLang="zh-TW" sz="2400" dirty="0" smtClean="0"/>
              <a:t>work-group functions are convenient</a:t>
            </a:r>
          </a:p>
          <a:p>
            <a:pPr lvl="1"/>
            <a:r>
              <a:rPr lang="en-US" altLang="zh-TW" sz="2400" dirty="0" smtClean="0"/>
              <a:t>more performance efficient, as they use </a:t>
            </a:r>
            <a:br>
              <a:rPr lang="en-US" altLang="zh-TW" sz="2400" dirty="0" smtClean="0"/>
            </a:br>
            <a:r>
              <a:rPr lang="en-US" altLang="zh-TW" sz="2400" dirty="0" smtClean="0"/>
              <a:t>hardware-specific optimizations internally</a:t>
            </a:r>
            <a:endParaRPr lang="zh-TW" altLang="en-US" sz="2400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189379"/>
            <a:ext cx="7041424" cy="254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 r="35624"/>
          <a:stretch>
            <a:fillRect/>
          </a:stretch>
        </p:blipFill>
        <p:spPr bwMode="auto">
          <a:xfrm>
            <a:off x="4364014" y="5808617"/>
            <a:ext cx="4779986" cy="716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向右箭號 10"/>
          <p:cNvSpPr/>
          <p:nvPr/>
        </p:nvSpPr>
        <p:spPr>
          <a:xfrm rot="1822817">
            <a:off x="3500847" y="5617029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TW" altLang="en-US" dirty="0" smtClean="0"/>
          </a:p>
        </p:txBody>
      </p:sp>
      <p:sp>
        <p:nvSpPr>
          <p:cNvPr id="12" name="矩形 11"/>
          <p:cNvSpPr/>
          <p:nvPr/>
        </p:nvSpPr>
        <p:spPr>
          <a:xfrm>
            <a:off x="4671651" y="3467702"/>
            <a:ext cx="1567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(traditional)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923833" y="5553405"/>
            <a:ext cx="2324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(with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2.0)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2.0 sample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TW" dirty="0" smtClean="0">
              <a:ea typeface="DFKai-SB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altLang="zh-TW" dirty="0" smtClean="0"/>
              <a:t>Linked list with SVM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29</a:t>
            </a:fld>
            <a:endParaRPr lang="en-US" dirty="0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4294967295"/>
          </p:nvPr>
        </p:nvSpPr>
        <p:spPr>
          <a:xfrm>
            <a:off x="468000" y="1255363"/>
            <a:ext cx="8229600" cy="50233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TW" sz="2400" dirty="0" smtClean="0"/>
              <a:t>In both Linked list samples with SVM of Intel and AMD, it only use pointers pointed to an array, not really linked list.</a:t>
            </a:r>
          </a:p>
          <a:p>
            <a:r>
              <a:rPr lang="en-US" altLang="zh-TW" sz="2400" dirty="0" smtClean="0"/>
              <a:t>We wonder what happen if we implement a traditional linked list with SVM</a:t>
            </a: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11511"/>
          <a:stretch>
            <a:fillRect/>
          </a:stretch>
        </p:blipFill>
        <p:spPr bwMode="auto">
          <a:xfrm>
            <a:off x="595740" y="2993275"/>
            <a:ext cx="4192385" cy="3054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群組 31"/>
          <p:cNvGrpSpPr/>
          <p:nvPr/>
        </p:nvGrpSpPr>
        <p:grpSpPr>
          <a:xfrm>
            <a:off x="4980132" y="3032313"/>
            <a:ext cx="3908777" cy="1587689"/>
            <a:chOff x="4930140" y="2662981"/>
            <a:chExt cx="3908777" cy="1587689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b="6162"/>
            <a:stretch>
              <a:fillRect/>
            </a:stretch>
          </p:blipFill>
          <p:spPr bwMode="auto">
            <a:xfrm>
              <a:off x="5254919" y="2993275"/>
              <a:ext cx="3583998" cy="657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文字方塊 12"/>
            <p:cNvSpPr txBox="1"/>
            <p:nvPr/>
          </p:nvSpPr>
          <p:spPr>
            <a:xfrm>
              <a:off x="4998250" y="3727450"/>
              <a:ext cx="37448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zh-TW" sz="1400" dirty="0" smtClean="0"/>
                <a:t>Just give the pointer of header to GPU</a:t>
              </a:r>
            </a:p>
            <a:p>
              <a:pPr>
                <a:buFont typeface="Arial" pitchFamily="34" charset="0"/>
                <a:buChar char="•"/>
              </a:pPr>
              <a:r>
                <a:rPr lang="en-US" altLang="zh-TW" sz="1400" dirty="0" smtClean="0"/>
                <a:t>Each </a:t>
              </a:r>
              <a:r>
                <a:rPr lang="en-US" altLang="zh-TW" sz="1400" dirty="0" err="1" smtClean="0"/>
                <a:t>workitem</a:t>
              </a:r>
              <a:r>
                <a:rPr lang="en-US" altLang="zh-TW" sz="1400" dirty="0" smtClean="0"/>
                <a:t> takes a node in parallel</a:t>
              </a:r>
              <a:endParaRPr lang="zh-TW" altLang="en-US" sz="1400" dirty="0"/>
            </a:p>
          </p:txBody>
        </p:sp>
        <p:grpSp>
          <p:nvGrpSpPr>
            <p:cNvPr id="6" name="群組 24"/>
            <p:cNvGrpSpPr/>
            <p:nvPr/>
          </p:nvGrpSpPr>
          <p:grpSpPr>
            <a:xfrm>
              <a:off x="7446745" y="2662981"/>
              <a:ext cx="1250855" cy="660588"/>
              <a:chOff x="6355080" y="5387340"/>
              <a:chExt cx="1250855" cy="660588"/>
            </a:xfrm>
          </p:grpSpPr>
          <p:sp>
            <p:nvSpPr>
              <p:cNvPr id="17" name="文字方塊 16"/>
              <p:cNvSpPr txBox="1"/>
              <p:nvPr/>
            </p:nvSpPr>
            <p:spPr>
              <a:xfrm>
                <a:off x="6355080" y="5387340"/>
                <a:ext cx="1250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err="1" smtClean="0"/>
                  <a:t>workitem</a:t>
                </a:r>
                <a:r>
                  <a:rPr lang="en-US" altLang="zh-TW" dirty="0" smtClean="0"/>
                  <a:t> 2</a:t>
                </a:r>
                <a:endParaRPr lang="zh-TW" altLang="en-US" dirty="0"/>
              </a:p>
            </p:txBody>
          </p:sp>
          <p:cxnSp>
            <p:nvCxnSpPr>
              <p:cNvPr id="22" name="直線單箭頭接點 21"/>
              <p:cNvCxnSpPr>
                <a:stCxn id="17" idx="2"/>
              </p:cNvCxnSpPr>
              <p:nvPr/>
            </p:nvCxnSpPr>
            <p:spPr>
              <a:xfrm flipH="1">
                <a:off x="6980507" y="5756672"/>
                <a:ext cx="1" cy="291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群組 25"/>
            <p:cNvGrpSpPr/>
            <p:nvPr/>
          </p:nvGrpSpPr>
          <p:grpSpPr>
            <a:xfrm>
              <a:off x="4930140" y="2662981"/>
              <a:ext cx="1250855" cy="660588"/>
              <a:chOff x="6355080" y="5387340"/>
              <a:chExt cx="1250855" cy="660588"/>
            </a:xfrm>
          </p:grpSpPr>
          <p:sp>
            <p:nvSpPr>
              <p:cNvPr id="27" name="文字方塊 26"/>
              <p:cNvSpPr txBox="1"/>
              <p:nvPr/>
            </p:nvSpPr>
            <p:spPr>
              <a:xfrm>
                <a:off x="6355080" y="5387340"/>
                <a:ext cx="1250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err="1" smtClean="0"/>
                  <a:t>workitem</a:t>
                </a:r>
                <a:r>
                  <a:rPr lang="en-US" altLang="zh-TW" dirty="0" smtClean="0"/>
                  <a:t> 0</a:t>
                </a:r>
                <a:endParaRPr lang="zh-TW" altLang="en-US" dirty="0"/>
              </a:p>
            </p:txBody>
          </p:sp>
          <p:cxnSp>
            <p:nvCxnSpPr>
              <p:cNvPr id="28" name="直線單箭頭接點 27"/>
              <p:cNvCxnSpPr>
                <a:stCxn id="27" idx="2"/>
              </p:cNvCxnSpPr>
              <p:nvPr/>
            </p:nvCxnSpPr>
            <p:spPr>
              <a:xfrm flipH="1">
                <a:off x="6980507" y="5756672"/>
                <a:ext cx="1" cy="291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群組 28"/>
            <p:cNvGrpSpPr/>
            <p:nvPr/>
          </p:nvGrpSpPr>
          <p:grpSpPr>
            <a:xfrm>
              <a:off x="6188443" y="2662981"/>
              <a:ext cx="1250855" cy="660588"/>
              <a:chOff x="6355080" y="5387340"/>
              <a:chExt cx="1250855" cy="660588"/>
            </a:xfrm>
          </p:grpSpPr>
          <p:sp>
            <p:nvSpPr>
              <p:cNvPr id="30" name="文字方塊 29"/>
              <p:cNvSpPr txBox="1"/>
              <p:nvPr/>
            </p:nvSpPr>
            <p:spPr>
              <a:xfrm>
                <a:off x="6355080" y="5387340"/>
                <a:ext cx="1250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err="1" smtClean="0"/>
                  <a:t>workitem</a:t>
                </a:r>
                <a:r>
                  <a:rPr lang="en-US" altLang="zh-TW" dirty="0" smtClean="0"/>
                  <a:t> 1</a:t>
                </a:r>
                <a:endParaRPr lang="zh-TW" altLang="en-US" dirty="0"/>
              </a:p>
            </p:txBody>
          </p:sp>
          <p:cxnSp>
            <p:nvCxnSpPr>
              <p:cNvPr id="31" name="直線單箭頭接點 30"/>
              <p:cNvCxnSpPr>
                <a:stCxn id="30" idx="2"/>
              </p:cNvCxnSpPr>
              <p:nvPr/>
            </p:nvCxnSpPr>
            <p:spPr>
              <a:xfrm flipH="1">
                <a:off x="6980507" y="5756672"/>
                <a:ext cx="1" cy="291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矩形 32"/>
          <p:cNvSpPr/>
          <p:nvPr/>
        </p:nvSpPr>
        <p:spPr>
          <a:xfrm>
            <a:off x="4883150" y="2870200"/>
            <a:ext cx="4108450" cy="1955800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The implementation of </a:t>
            </a:r>
            <a:r>
              <a:rPr lang="ca-ES" altLang="zh-TW" sz="3600" dirty="0" smtClean="0"/>
              <a:t>Linked list with SVM</a:t>
            </a:r>
            <a:endParaRPr lang="zh-TW" altLang="en-US" sz="36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30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4294967295"/>
          </p:nvPr>
        </p:nvSpPr>
        <p:spPr>
          <a:xfrm>
            <a:off x="468000" y="1255363"/>
            <a:ext cx="3386986" cy="5023307"/>
          </a:xfrm>
          <a:prstGeom prst="rect">
            <a:avLst/>
          </a:prstGeom>
        </p:spPr>
        <p:txBody>
          <a:bodyPr/>
          <a:lstStyle/>
          <a:p>
            <a:r>
              <a:rPr lang="en-US" altLang="zh-TW" sz="2400" dirty="0" smtClean="0"/>
              <a:t>Yes, we can use traditional linked list with AMD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SDK 3.0 beta</a:t>
            </a:r>
          </a:p>
          <a:p>
            <a:r>
              <a:rPr lang="en-US" altLang="zh-TW" sz="2400" dirty="0" smtClean="0"/>
              <a:t>Input: 0-&gt;1-&gt;2-&gt;3…</a:t>
            </a:r>
          </a:p>
          <a:p>
            <a:r>
              <a:rPr lang="en-US" altLang="zh-TW" sz="2400" dirty="0" smtClean="0"/>
              <a:t>Output: 0-&gt;2-&gt;4-&gt;6…</a:t>
            </a:r>
          </a:p>
          <a:p>
            <a:r>
              <a:rPr lang="en-US" altLang="zh-TW" sz="2400" dirty="0" smtClean="0"/>
              <a:t>However, there is strange bug. It only can create 43645 nodes</a:t>
            </a:r>
            <a:endParaRPr lang="zh-TW" altLang="en-US" sz="24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lum bright="20000" contrast="40000"/>
          </a:blip>
          <a:srcRect/>
          <a:stretch>
            <a:fillRect/>
          </a:stretch>
        </p:blipFill>
        <p:spPr bwMode="auto">
          <a:xfrm>
            <a:off x="4150923" y="1365217"/>
            <a:ext cx="4852887" cy="536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562" y="5253640"/>
            <a:ext cx="3691594" cy="102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altLang="zh-TW" dirty="0" smtClean="0"/>
              <a:t>Performance of Linked list with SVM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31</a:t>
            </a:fld>
            <a:endParaRPr lang="en-US">
              <a:solidFill>
                <a:srgbClr val="F39A1E"/>
              </a:solidFill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4294967295"/>
          </p:nvPr>
        </p:nvGraphicFramePr>
        <p:xfrm>
          <a:off x="210618" y="1112461"/>
          <a:ext cx="4585825" cy="2568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圖表 5"/>
          <p:cNvGraphicFramePr/>
          <p:nvPr/>
        </p:nvGraphicFramePr>
        <p:xfrm>
          <a:off x="3374968" y="3244011"/>
          <a:ext cx="5630558" cy="3165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altLang="zh-TW" dirty="0" smtClean="0"/>
              <a:t>More info. of linked list with SVM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32</a:t>
            </a:fld>
            <a:endParaRPr lang="en-US" dirty="0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4294967295"/>
          </p:nvPr>
        </p:nvSpPr>
        <p:spPr>
          <a:xfrm>
            <a:off x="468000" y="1255363"/>
            <a:ext cx="8229600" cy="50233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TW" sz="2400" dirty="0" smtClean="0"/>
              <a:t>Address: </a:t>
            </a:r>
          </a:p>
          <a:p>
            <a:pPr lvl="1"/>
            <a:r>
              <a:rPr lang="ca-ES" altLang="zh-TW" sz="2000" dirty="0" smtClean="0"/>
              <a:t>0xec00000000  // header </a:t>
            </a:r>
          </a:p>
          <a:p>
            <a:pPr lvl="1"/>
            <a:r>
              <a:rPr lang="ca-ES" altLang="zh-TW" sz="2000" dirty="0" smtClean="0"/>
              <a:t>0xec00010000  // first node</a:t>
            </a:r>
          </a:p>
          <a:p>
            <a:pPr lvl="1"/>
            <a:r>
              <a:rPr lang="ca-ES" altLang="zh-TW" sz="2000" dirty="0" smtClean="0"/>
              <a:t>0xec00020000  </a:t>
            </a:r>
          </a:p>
          <a:p>
            <a:pPr lvl="1"/>
            <a:r>
              <a:rPr lang="ca-ES" altLang="zh-TW" sz="2000" dirty="0" smtClean="0"/>
              <a:t>...</a:t>
            </a:r>
          </a:p>
          <a:p>
            <a:pPr lvl="1"/>
            <a:r>
              <a:rPr lang="ca-ES" altLang="zh-TW" sz="2000" dirty="0" smtClean="0"/>
              <a:t>0xecaa7c0000  </a:t>
            </a:r>
          </a:p>
          <a:p>
            <a:pPr lvl="1"/>
            <a:r>
              <a:rPr lang="ca-ES" altLang="zh-TW" sz="2000" dirty="0" smtClean="0"/>
              <a:t>0xecaa7d0000</a:t>
            </a:r>
          </a:p>
          <a:p>
            <a:pPr lvl="1"/>
            <a:r>
              <a:rPr lang="ca-ES" altLang="zh-TW" sz="2000" dirty="0" smtClean="0"/>
              <a:t>0xee01140000 </a:t>
            </a:r>
          </a:p>
          <a:p>
            <a:r>
              <a:rPr lang="ca-ES" altLang="zh-TW" sz="2400" dirty="0" smtClean="0"/>
              <a:t>Size of page: 64 KB</a:t>
            </a:r>
          </a:p>
          <a:p>
            <a:r>
              <a:rPr lang="ca-ES" altLang="zh-TW" sz="2400" dirty="0" smtClean="0"/>
              <a:t>Max. size of SVM buffer: </a:t>
            </a:r>
            <a:r>
              <a:rPr lang="en-US" altLang="zh-TW" sz="2400" dirty="0" smtClean="0"/>
              <a:t>2.4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GB~</a:t>
            </a:r>
            <a:endParaRPr lang="ca-ES" altLang="zh-TW" sz="2400" dirty="0" smtClean="0"/>
          </a:p>
          <a:p>
            <a:endParaRPr lang="zh-TW" altLang="en-US" sz="2400" dirty="0"/>
          </a:p>
        </p:txBody>
      </p:sp>
      <p:graphicFrame>
        <p:nvGraphicFramePr>
          <p:cNvPr id="19" name="圖表 18"/>
          <p:cNvGraphicFramePr/>
          <p:nvPr/>
        </p:nvGraphicFramePr>
        <p:xfrm>
          <a:off x="4993102" y="2689734"/>
          <a:ext cx="4150898" cy="358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" name="群組 19"/>
          <p:cNvGrpSpPr/>
          <p:nvPr/>
        </p:nvGrpSpPr>
        <p:grpSpPr>
          <a:xfrm>
            <a:off x="5234119" y="1328607"/>
            <a:ext cx="3035777" cy="1282735"/>
            <a:chOff x="4939763" y="2662982"/>
            <a:chExt cx="3899154" cy="1647546"/>
          </a:xfrm>
        </p:grpSpPr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b="6162"/>
            <a:stretch>
              <a:fillRect/>
            </a:stretch>
          </p:blipFill>
          <p:spPr bwMode="auto">
            <a:xfrm>
              <a:off x="5254919" y="2993275"/>
              <a:ext cx="3583998" cy="657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文字方塊 22"/>
            <p:cNvSpPr txBox="1"/>
            <p:nvPr/>
          </p:nvSpPr>
          <p:spPr>
            <a:xfrm>
              <a:off x="4998250" y="3727451"/>
              <a:ext cx="3395709" cy="5830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zh-TW" sz="1400" dirty="0" smtClean="0"/>
                <a:t>Just give the pointer of header to GPU</a:t>
              </a:r>
            </a:p>
            <a:p>
              <a:pPr>
                <a:buFont typeface="Arial" pitchFamily="34" charset="0"/>
                <a:buChar char="•"/>
              </a:pPr>
              <a:r>
                <a:rPr lang="en-US" altLang="zh-TW" sz="1400" dirty="0" smtClean="0"/>
                <a:t>Each </a:t>
              </a:r>
              <a:r>
                <a:rPr lang="en-US" altLang="zh-TW" sz="1400" dirty="0" err="1" smtClean="0"/>
                <a:t>workitem</a:t>
              </a:r>
              <a:r>
                <a:rPr lang="en-US" altLang="zh-TW" sz="1400" dirty="0" smtClean="0"/>
                <a:t> takes a node in parallel</a:t>
              </a:r>
              <a:endParaRPr lang="zh-TW" altLang="en-US" sz="1400" dirty="0"/>
            </a:p>
          </p:txBody>
        </p:sp>
        <p:grpSp>
          <p:nvGrpSpPr>
            <p:cNvPr id="6" name="群組 24"/>
            <p:cNvGrpSpPr/>
            <p:nvPr/>
          </p:nvGrpSpPr>
          <p:grpSpPr>
            <a:xfrm>
              <a:off x="7456369" y="2662982"/>
              <a:ext cx="1130713" cy="660588"/>
              <a:chOff x="6364704" y="5387341"/>
              <a:chExt cx="1130713" cy="660588"/>
            </a:xfrm>
          </p:grpSpPr>
          <p:sp>
            <p:nvSpPr>
              <p:cNvPr id="40" name="文字方塊 39"/>
              <p:cNvSpPr txBox="1"/>
              <p:nvPr/>
            </p:nvSpPr>
            <p:spPr>
              <a:xfrm>
                <a:off x="6364704" y="5387341"/>
                <a:ext cx="1130713" cy="342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err="1" smtClean="0"/>
                  <a:t>workitem</a:t>
                </a:r>
                <a:r>
                  <a:rPr lang="en-US" altLang="zh-TW" sz="1400" dirty="0" smtClean="0"/>
                  <a:t> 2</a:t>
                </a:r>
                <a:endParaRPr lang="zh-TW" altLang="en-US" sz="1400" dirty="0"/>
              </a:p>
            </p:txBody>
          </p:sp>
          <p:cxnSp>
            <p:nvCxnSpPr>
              <p:cNvPr id="41" name="直線單箭頭接點 40"/>
              <p:cNvCxnSpPr>
                <a:stCxn id="40" idx="2"/>
              </p:cNvCxnSpPr>
              <p:nvPr/>
            </p:nvCxnSpPr>
            <p:spPr>
              <a:xfrm>
                <a:off x="6930061" y="5730328"/>
                <a:ext cx="60073" cy="3176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群組 25"/>
            <p:cNvGrpSpPr/>
            <p:nvPr/>
          </p:nvGrpSpPr>
          <p:grpSpPr>
            <a:xfrm>
              <a:off x="4939763" y="2662982"/>
              <a:ext cx="1130713" cy="660588"/>
              <a:chOff x="6364703" y="5387341"/>
              <a:chExt cx="1130713" cy="660588"/>
            </a:xfrm>
          </p:grpSpPr>
          <p:sp>
            <p:nvSpPr>
              <p:cNvPr id="38" name="文字方塊 37"/>
              <p:cNvSpPr txBox="1"/>
              <p:nvPr/>
            </p:nvSpPr>
            <p:spPr>
              <a:xfrm>
                <a:off x="6364703" y="5387341"/>
                <a:ext cx="1130713" cy="342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err="1" smtClean="0"/>
                  <a:t>workitem</a:t>
                </a:r>
                <a:r>
                  <a:rPr lang="en-US" altLang="zh-TW" sz="1400" dirty="0" smtClean="0"/>
                  <a:t> 0</a:t>
                </a:r>
                <a:endParaRPr lang="zh-TW" altLang="en-US" sz="1400" dirty="0"/>
              </a:p>
            </p:txBody>
          </p:sp>
          <p:cxnSp>
            <p:nvCxnSpPr>
              <p:cNvPr id="39" name="直線單箭頭接點 38"/>
              <p:cNvCxnSpPr>
                <a:stCxn id="38" idx="2"/>
              </p:cNvCxnSpPr>
              <p:nvPr/>
            </p:nvCxnSpPr>
            <p:spPr>
              <a:xfrm>
                <a:off x="6930060" y="5730328"/>
                <a:ext cx="60073" cy="3176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群組 28"/>
            <p:cNvGrpSpPr/>
            <p:nvPr/>
          </p:nvGrpSpPr>
          <p:grpSpPr>
            <a:xfrm>
              <a:off x="6198066" y="2662982"/>
              <a:ext cx="1130713" cy="660588"/>
              <a:chOff x="6364703" y="5387341"/>
              <a:chExt cx="1130713" cy="660588"/>
            </a:xfrm>
          </p:grpSpPr>
          <p:sp>
            <p:nvSpPr>
              <p:cNvPr id="36" name="文字方塊 35"/>
              <p:cNvSpPr txBox="1"/>
              <p:nvPr/>
            </p:nvSpPr>
            <p:spPr>
              <a:xfrm>
                <a:off x="6364703" y="5387341"/>
                <a:ext cx="1130713" cy="342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err="1" smtClean="0"/>
                  <a:t>workitem</a:t>
                </a:r>
                <a:r>
                  <a:rPr lang="en-US" altLang="zh-TW" sz="1400" dirty="0" smtClean="0"/>
                  <a:t> 1</a:t>
                </a:r>
                <a:endParaRPr lang="zh-TW" altLang="en-US" sz="1400" dirty="0"/>
              </a:p>
            </p:txBody>
          </p:sp>
          <p:cxnSp>
            <p:nvCxnSpPr>
              <p:cNvPr id="37" name="直線單箭頭接點 36"/>
              <p:cNvCxnSpPr>
                <a:stCxn id="36" idx="2"/>
              </p:cNvCxnSpPr>
              <p:nvPr/>
            </p:nvCxnSpPr>
            <p:spPr>
              <a:xfrm>
                <a:off x="6930060" y="5730328"/>
                <a:ext cx="60073" cy="3176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矩形 41"/>
          <p:cNvSpPr/>
          <p:nvPr/>
        </p:nvSpPr>
        <p:spPr>
          <a:xfrm>
            <a:off x="5173858" y="1166495"/>
            <a:ext cx="3848221" cy="152273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Parallel Binary search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33</a:t>
            </a:fld>
            <a:endParaRPr lang="en-US" dirty="0">
              <a:solidFill>
                <a:srgbClr val="F39A1E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3"/>
          </p:nvPr>
        </p:nvSpPr>
        <p:spPr>
          <a:xfrm>
            <a:off x="457200" y="1147156"/>
            <a:ext cx="8229600" cy="5030337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Parallel binary search</a:t>
            </a:r>
          </a:p>
          <a:p>
            <a:pPr lvl="1"/>
            <a:r>
              <a:rPr lang="en-US" altLang="zh-TW" sz="2000" dirty="0" smtClean="0"/>
              <a:t>divide the array into segments</a:t>
            </a:r>
          </a:p>
          <a:p>
            <a:pPr lvl="1"/>
            <a:r>
              <a:rPr lang="en-US" altLang="zh-TW" sz="2000" dirty="0" smtClean="0"/>
              <a:t>Each </a:t>
            </a:r>
            <a:r>
              <a:rPr lang="en-US" altLang="zh-TW" sz="2000" dirty="0" err="1" smtClean="0"/>
              <a:t>workitem</a:t>
            </a:r>
            <a:r>
              <a:rPr lang="en-US" altLang="zh-TW" sz="2000" dirty="0" smtClean="0"/>
              <a:t> takes 1 segment</a:t>
            </a:r>
            <a:br>
              <a:rPr lang="en-US" altLang="zh-TW" sz="2000" dirty="0" smtClean="0"/>
            </a:br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pPr lvl="1"/>
            <a:r>
              <a:rPr lang="ca-ES" altLang="zh-TW" sz="2000" dirty="0" smtClean="0"/>
              <a:t>Find </a:t>
            </a:r>
            <a:r>
              <a:rPr lang="en-US" altLang="zh-TW" sz="2000" dirty="0" smtClean="0"/>
              <a:t>the segment to which the key belongs and further divide the segment</a:t>
            </a:r>
          </a:p>
          <a:p>
            <a:pPr lvl="1"/>
            <a:r>
              <a:rPr lang="en-US" altLang="zh-TW" sz="2000" dirty="0" smtClean="0"/>
              <a:t>If key is between the lower-bound and upper-bound of segment 0, only </a:t>
            </a:r>
            <a:r>
              <a:rPr lang="en-US" altLang="zh-TW" sz="2000" dirty="0" err="1" smtClean="0"/>
              <a:t>workitem</a:t>
            </a:r>
            <a:r>
              <a:rPr lang="en-US" altLang="zh-TW" sz="2000" smtClean="0"/>
              <a:t> 0 </a:t>
            </a:r>
            <a:r>
              <a:rPr lang="en-US" altLang="zh-TW" sz="2000" dirty="0" smtClean="0"/>
              <a:t>writes to the output buffer</a:t>
            </a:r>
          </a:p>
          <a:p>
            <a:pPr lvl="1">
              <a:buNone/>
            </a:pPr>
            <a:endParaRPr lang="zh-TW" altLang="en-US" sz="2000" dirty="0"/>
          </a:p>
        </p:txBody>
      </p:sp>
      <p:grpSp>
        <p:nvGrpSpPr>
          <p:cNvPr id="4" name="群組 23"/>
          <p:cNvGrpSpPr/>
          <p:nvPr/>
        </p:nvGrpSpPr>
        <p:grpSpPr>
          <a:xfrm>
            <a:off x="635919" y="2282152"/>
            <a:ext cx="5849391" cy="1217506"/>
            <a:chOff x="673331" y="3603876"/>
            <a:chExt cx="5849391" cy="1217506"/>
          </a:xfrm>
        </p:grpSpPr>
        <p:grpSp>
          <p:nvGrpSpPr>
            <p:cNvPr id="7" name="群組 20"/>
            <p:cNvGrpSpPr/>
            <p:nvPr/>
          </p:nvGrpSpPr>
          <p:grpSpPr>
            <a:xfrm>
              <a:off x="781397" y="3603876"/>
              <a:ext cx="5741325" cy="1076224"/>
              <a:chOff x="781397" y="2888958"/>
              <a:chExt cx="5741325" cy="107622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781397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0………………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n</a:t>
                </a:r>
                <a:endParaRPr lang="zh-TW" altLang="en-US" baseline="-25000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45972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n+1………………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2n</a:t>
                </a:r>
                <a:endParaRPr lang="zh-TW" altLang="en-US" baseline="-25000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710547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2n+1………………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3n</a:t>
                </a:r>
                <a:endParaRPr lang="zh-TW" altLang="en-US" baseline="-25000" dirty="0"/>
              </a:p>
            </p:txBody>
          </p:sp>
          <p:grpSp>
            <p:nvGrpSpPr>
              <p:cNvPr id="8" name="群組 12"/>
              <p:cNvGrpSpPr/>
              <p:nvPr/>
            </p:nvGrpSpPr>
            <p:grpSpPr>
              <a:xfrm>
                <a:off x="1062057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1" name="文字方塊 10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0</a:t>
                  </a:r>
                  <a:endParaRPr lang="zh-TW" altLang="en-US" dirty="0"/>
                </a:p>
              </p:txBody>
            </p:sp>
            <p:cxnSp>
              <p:nvCxnSpPr>
                <p:cNvPr id="12" name="直線單箭頭接點 11"/>
                <p:cNvCxnSpPr>
                  <a:stCxn id="11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群組 14"/>
              <p:cNvGrpSpPr/>
              <p:nvPr/>
            </p:nvGrpSpPr>
            <p:grpSpPr>
              <a:xfrm>
                <a:off x="3032970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6" name="文字方塊 15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1</a:t>
                  </a:r>
                  <a:endParaRPr lang="zh-TW" altLang="en-US" dirty="0"/>
                </a:p>
              </p:txBody>
            </p:sp>
            <p:cxnSp>
              <p:nvCxnSpPr>
                <p:cNvPr id="17" name="直線單箭頭接點 16"/>
                <p:cNvCxnSpPr>
                  <a:stCxn id="16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群組 17"/>
              <p:cNvGrpSpPr/>
              <p:nvPr/>
            </p:nvGrpSpPr>
            <p:grpSpPr>
              <a:xfrm>
                <a:off x="5021685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9" name="文字方塊 18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2</a:t>
                  </a:r>
                  <a:endParaRPr lang="zh-TW" altLang="en-US" dirty="0"/>
                </a:p>
              </p:txBody>
            </p:sp>
            <p:cxnSp>
              <p:nvCxnSpPr>
                <p:cNvPr id="20" name="直線單箭頭接點 19"/>
                <p:cNvCxnSpPr>
                  <a:stCxn id="19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圓角矩形 21"/>
            <p:cNvSpPr/>
            <p:nvPr/>
          </p:nvSpPr>
          <p:spPr>
            <a:xfrm>
              <a:off x="673331" y="4139738"/>
              <a:ext cx="681644" cy="68164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1972090" y="4139738"/>
              <a:ext cx="681644" cy="68164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Parallel Binary search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34</a:t>
            </a:fld>
            <a:endParaRPr lang="en-US" dirty="0">
              <a:solidFill>
                <a:srgbClr val="F39A1E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3"/>
          </p:nvPr>
        </p:nvSpPr>
        <p:spPr>
          <a:xfrm>
            <a:off x="457200" y="1147156"/>
            <a:ext cx="8229600" cy="5030337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According output, we narrow our search space by subdividing the array, then go to </a:t>
            </a:r>
            <a:r>
              <a:rPr lang="ca-ES" altLang="zh-TW" sz="2800" dirty="0" smtClean="0"/>
              <a:t>the next pass</a:t>
            </a:r>
            <a:endParaRPr lang="en-US" altLang="zh-TW" sz="2800" dirty="0" smtClean="0"/>
          </a:p>
          <a:p>
            <a:pPr lvl="1">
              <a:buNone/>
            </a:pPr>
            <a:endParaRPr lang="zh-TW" altLang="en-US" sz="2000" dirty="0"/>
          </a:p>
        </p:txBody>
      </p:sp>
      <p:grpSp>
        <p:nvGrpSpPr>
          <p:cNvPr id="4" name="群組 23"/>
          <p:cNvGrpSpPr/>
          <p:nvPr/>
        </p:nvGrpSpPr>
        <p:grpSpPr>
          <a:xfrm>
            <a:off x="517570" y="2539861"/>
            <a:ext cx="5849391" cy="1217506"/>
            <a:chOff x="673331" y="3603876"/>
            <a:chExt cx="5849391" cy="1217506"/>
          </a:xfrm>
        </p:grpSpPr>
        <p:grpSp>
          <p:nvGrpSpPr>
            <p:cNvPr id="7" name="群組 20"/>
            <p:cNvGrpSpPr/>
            <p:nvPr/>
          </p:nvGrpSpPr>
          <p:grpSpPr>
            <a:xfrm>
              <a:off x="781397" y="3603876"/>
              <a:ext cx="5741325" cy="1076224"/>
              <a:chOff x="781397" y="2888958"/>
              <a:chExt cx="5741325" cy="107622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781397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0………………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n</a:t>
                </a:r>
                <a:endParaRPr lang="zh-TW" altLang="en-US" baseline="-25000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45972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n+1………………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2n</a:t>
                </a:r>
                <a:endParaRPr lang="zh-TW" altLang="en-US" baseline="-25000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710547" y="3549546"/>
                <a:ext cx="1812175" cy="4156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2n+1………………</a:t>
                </a:r>
                <a:r>
                  <a:rPr lang="en-US" altLang="zh-TW" dirty="0" smtClean="0"/>
                  <a:t> A</a:t>
                </a:r>
                <a:r>
                  <a:rPr lang="en-US" altLang="zh-TW" baseline="-25000" dirty="0" smtClean="0"/>
                  <a:t>3n</a:t>
                </a:r>
                <a:endParaRPr lang="zh-TW" altLang="en-US" baseline="-25000" dirty="0"/>
              </a:p>
            </p:txBody>
          </p:sp>
          <p:grpSp>
            <p:nvGrpSpPr>
              <p:cNvPr id="8" name="群組 12"/>
              <p:cNvGrpSpPr/>
              <p:nvPr/>
            </p:nvGrpSpPr>
            <p:grpSpPr>
              <a:xfrm>
                <a:off x="1062057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1" name="文字方塊 10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0</a:t>
                  </a:r>
                  <a:endParaRPr lang="zh-TW" altLang="en-US" dirty="0"/>
                </a:p>
              </p:txBody>
            </p:sp>
            <p:cxnSp>
              <p:nvCxnSpPr>
                <p:cNvPr id="12" name="直線單箭頭接點 11"/>
                <p:cNvCxnSpPr>
                  <a:stCxn id="11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群組 14"/>
              <p:cNvGrpSpPr/>
              <p:nvPr/>
            </p:nvGrpSpPr>
            <p:grpSpPr>
              <a:xfrm>
                <a:off x="3032970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6" name="文字方塊 15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1</a:t>
                  </a:r>
                  <a:endParaRPr lang="zh-TW" altLang="en-US" dirty="0"/>
                </a:p>
              </p:txBody>
            </p:sp>
            <p:cxnSp>
              <p:nvCxnSpPr>
                <p:cNvPr id="17" name="直線單箭頭接點 16"/>
                <p:cNvCxnSpPr>
                  <a:stCxn id="16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群組 17"/>
              <p:cNvGrpSpPr/>
              <p:nvPr/>
            </p:nvGrpSpPr>
            <p:grpSpPr>
              <a:xfrm>
                <a:off x="5021685" y="2888958"/>
                <a:ext cx="1250855" cy="660588"/>
                <a:chOff x="4980132" y="3032313"/>
                <a:chExt cx="1250855" cy="660588"/>
              </a:xfrm>
            </p:grpSpPr>
            <p:sp>
              <p:nvSpPr>
                <p:cNvPr id="19" name="文字方塊 18"/>
                <p:cNvSpPr txBox="1"/>
                <p:nvPr/>
              </p:nvSpPr>
              <p:spPr>
                <a:xfrm>
                  <a:off x="4980132" y="3032313"/>
                  <a:ext cx="12508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 err="1" smtClean="0"/>
                    <a:t>workitem</a:t>
                  </a:r>
                  <a:r>
                    <a:rPr lang="en-US" altLang="zh-TW" dirty="0" smtClean="0"/>
                    <a:t> 2</a:t>
                  </a:r>
                  <a:endParaRPr lang="zh-TW" altLang="en-US" dirty="0"/>
                </a:p>
              </p:txBody>
            </p:sp>
            <p:cxnSp>
              <p:nvCxnSpPr>
                <p:cNvPr id="20" name="直線單箭頭接點 19"/>
                <p:cNvCxnSpPr>
                  <a:stCxn id="19" idx="2"/>
                </p:cNvCxnSpPr>
                <p:nvPr/>
              </p:nvCxnSpPr>
              <p:spPr>
                <a:xfrm flipH="1">
                  <a:off x="5605559" y="3401645"/>
                  <a:ext cx="1" cy="29125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圓角矩形 21"/>
            <p:cNvSpPr/>
            <p:nvPr/>
          </p:nvSpPr>
          <p:spPr>
            <a:xfrm>
              <a:off x="673331" y="4139738"/>
              <a:ext cx="681644" cy="68164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1972090" y="4139738"/>
              <a:ext cx="681644" cy="68164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47"/>
          <p:cNvGrpSpPr/>
          <p:nvPr/>
        </p:nvGrpSpPr>
        <p:grpSpPr>
          <a:xfrm>
            <a:off x="592384" y="3898668"/>
            <a:ext cx="5849391" cy="1620997"/>
            <a:chOff x="635919" y="4472240"/>
            <a:chExt cx="5849391" cy="1620997"/>
          </a:xfrm>
        </p:grpSpPr>
        <p:grpSp>
          <p:nvGrpSpPr>
            <p:cNvPr id="18" name="群組 24"/>
            <p:cNvGrpSpPr/>
            <p:nvPr/>
          </p:nvGrpSpPr>
          <p:grpSpPr>
            <a:xfrm>
              <a:off x="635919" y="4875731"/>
              <a:ext cx="5849391" cy="1217506"/>
              <a:chOff x="673331" y="3603876"/>
              <a:chExt cx="5849391" cy="1217506"/>
            </a:xfrm>
          </p:grpSpPr>
          <p:grpSp>
            <p:nvGrpSpPr>
              <p:cNvPr id="21" name="群組 20"/>
              <p:cNvGrpSpPr/>
              <p:nvPr/>
            </p:nvGrpSpPr>
            <p:grpSpPr>
              <a:xfrm>
                <a:off x="781397" y="3603876"/>
                <a:ext cx="5741325" cy="1076224"/>
                <a:chOff x="781397" y="2888958"/>
                <a:chExt cx="5741325" cy="1076224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781397" y="3549546"/>
                  <a:ext cx="1812175" cy="415636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dist"/>
                  <a:r>
                    <a:rPr lang="en-US" altLang="zh-TW" dirty="0" smtClean="0"/>
                    <a:t>A</a:t>
                  </a:r>
                  <a:r>
                    <a:rPr lang="en-US" altLang="zh-TW" baseline="-25000" dirty="0" smtClean="0"/>
                    <a:t>0………………</a:t>
                  </a:r>
                  <a:r>
                    <a:rPr lang="en-US" altLang="zh-TW" dirty="0" smtClean="0"/>
                    <a:t> A</a:t>
                  </a:r>
                  <a:r>
                    <a:rPr lang="en-US" altLang="zh-TW" baseline="-25000" dirty="0" smtClean="0"/>
                    <a:t>m</a:t>
                  </a:r>
                  <a:endParaRPr lang="zh-TW" altLang="en-US" baseline="-25000" dirty="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2745972" y="3549546"/>
                  <a:ext cx="1812175" cy="415636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dist"/>
                  <a:r>
                    <a:rPr lang="en-US" altLang="zh-TW" dirty="0" smtClean="0"/>
                    <a:t>A</a:t>
                  </a:r>
                  <a:r>
                    <a:rPr lang="en-US" altLang="zh-TW" baseline="-25000" dirty="0" smtClean="0"/>
                    <a:t>m+1………………</a:t>
                  </a:r>
                  <a:r>
                    <a:rPr lang="en-US" altLang="zh-TW" dirty="0" smtClean="0"/>
                    <a:t> A</a:t>
                  </a:r>
                  <a:r>
                    <a:rPr lang="en-US" altLang="zh-TW" baseline="-25000" dirty="0" smtClean="0"/>
                    <a:t>2m</a:t>
                  </a:r>
                  <a:endParaRPr lang="zh-TW" altLang="en-US" baseline="-25000" dirty="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4710547" y="3549546"/>
                  <a:ext cx="1812175" cy="415636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dist"/>
                  <a:r>
                    <a:rPr lang="en-US" altLang="zh-TW" dirty="0" smtClean="0"/>
                    <a:t>A</a:t>
                  </a:r>
                  <a:r>
                    <a:rPr lang="en-US" altLang="zh-TW" baseline="-25000" dirty="0" smtClean="0"/>
                    <a:t>n-m………………</a:t>
                  </a:r>
                  <a:r>
                    <a:rPr lang="en-US" altLang="zh-TW" dirty="0" smtClean="0"/>
                    <a:t> A</a:t>
                  </a:r>
                  <a:r>
                    <a:rPr lang="en-US" altLang="zh-TW" baseline="-25000" dirty="0" smtClean="0"/>
                    <a:t>n</a:t>
                  </a:r>
                  <a:endParaRPr lang="zh-TW" altLang="en-US" baseline="-25000" dirty="0"/>
                </a:p>
              </p:txBody>
            </p:sp>
            <p:grpSp>
              <p:nvGrpSpPr>
                <p:cNvPr id="24" name="群組 12"/>
                <p:cNvGrpSpPr/>
                <p:nvPr/>
              </p:nvGrpSpPr>
              <p:grpSpPr>
                <a:xfrm>
                  <a:off x="1062057" y="2888958"/>
                  <a:ext cx="1250855" cy="660588"/>
                  <a:chOff x="4980132" y="3032313"/>
                  <a:chExt cx="1250855" cy="660588"/>
                </a:xfrm>
              </p:grpSpPr>
              <p:sp>
                <p:nvSpPr>
                  <p:cNvPr id="39" name="文字方塊 10"/>
                  <p:cNvSpPr txBox="1"/>
                  <p:nvPr/>
                </p:nvSpPr>
                <p:spPr>
                  <a:xfrm>
                    <a:off x="4980132" y="3032313"/>
                    <a:ext cx="125085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 err="1" smtClean="0"/>
                      <a:t>workitem</a:t>
                    </a:r>
                    <a:r>
                      <a:rPr lang="en-US" altLang="zh-TW" dirty="0" smtClean="0"/>
                      <a:t> 0</a:t>
                    </a:r>
                    <a:endParaRPr lang="zh-TW" altLang="en-US" dirty="0"/>
                  </a:p>
                </p:txBody>
              </p:sp>
              <p:cxnSp>
                <p:nvCxnSpPr>
                  <p:cNvPr id="40" name="直線單箭頭接點 11"/>
                  <p:cNvCxnSpPr/>
                  <p:nvPr/>
                </p:nvCxnSpPr>
                <p:spPr>
                  <a:xfrm flipH="1">
                    <a:off x="5605559" y="3401645"/>
                    <a:ext cx="1" cy="291256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群組 14"/>
                <p:cNvGrpSpPr/>
                <p:nvPr/>
              </p:nvGrpSpPr>
              <p:grpSpPr>
                <a:xfrm>
                  <a:off x="3032970" y="2888958"/>
                  <a:ext cx="1250855" cy="660588"/>
                  <a:chOff x="4980132" y="3032313"/>
                  <a:chExt cx="1250855" cy="660588"/>
                </a:xfrm>
              </p:grpSpPr>
              <p:sp>
                <p:nvSpPr>
                  <p:cNvPr id="37" name="文字方塊 36"/>
                  <p:cNvSpPr txBox="1"/>
                  <p:nvPr/>
                </p:nvSpPr>
                <p:spPr>
                  <a:xfrm>
                    <a:off x="4980132" y="3032313"/>
                    <a:ext cx="125085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 err="1" smtClean="0"/>
                      <a:t>workitem</a:t>
                    </a:r>
                    <a:r>
                      <a:rPr lang="en-US" altLang="zh-TW" dirty="0" smtClean="0"/>
                      <a:t> 1</a:t>
                    </a:r>
                    <a:endParaRPr lang="zh-TW" altLang="en-US" dirty="0"/>
                  </a:p>
                </p:txBody>
              </p:sp>
              <p:cxnSp>
                <p:nvCxnSpPr>
                  <p:cNvPr id="38" name="直線單箭頭接點 37"/>
                  <p:cNvCxnSpPr>
                    <a:stCxn id="37" idx="2"/>
                  </p:cNvCxnSpPr>
                  <p:nvPr/>
                </p:nvCxnSpPr>
                <p:spPr>
                  <a:xfrm flipH="1">
                    <a:off x="5605559" y="3401645"/>
                    <a:ext cx="1" cy="291256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群組 17"/>
                <p:cNvGrpSpPr/>
                <p:nvPr/>
              </p:nvGrpSpPr>
              <p:grpSpPr>
                <a:xfrm>
                  <a:off x="5021685" y="2888958"/>
                  <a:ext cx="1250855" cy="660588"/>
                  <a:chOff x="4980132" y="3032313"/>
                  <a:chExt cx="1250855" cy="660588"/>
                </a:xfrm>
              </p:grpSpPr>
              <p:sp>
                <p:nvSpPr>
                  <p:cNvPr id="35" name="文字方塊 34"/>
                  <p:cNvSpPr txBox="1"/>
                  <p:nvPr/>
                </p:nvSpPr>
                <p:spPr>
                  <a:xfrm>
                    <a:off x="4980132" y="3032313"/>
                    <a:ext cx="125085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 err="1" smtClean="0"/>
                      <a:t>workitem</a:t>
                    </a:r>
                    <a:r>
                      <a:rPr lang="en-US" altLang="zh-TW" dirty="0" smtClean="0"/>
                      <a:t> 2</a:t>
                    </a:r>
                    <a:endParaRPr lang="zh-TW" altLang="en-US" dirty="0"/>
                  </a:p>
                </p:txBody>
              </p:sp>
              <p:cxnSp>
                <p:nvCxnSpPr>
                  <p:cNvPr id="36" name="直線單箭頭接點 35"/>
                  <p:cNvCxnSpPr>
                    <a:stCxn id="35" idx="2"/>
                  </p:cNvCxnSpPr>
                  <p:nvPr/>
                </p:nvCxnSpPr>
                <p:spPr>
                  <a:xfrm flipH="1">
                    <a:off x="5605559" y="3401645"/>
                    <a:ext cx="1" cy="291256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圓角矩形 26"/>
              <p:cNvSpPr/>
              <p:nvPr/>
            </p:nvSpPr>
            <p:spPr>
              <a:xfrm>
                <a:off x="673331" y="4139738"/>
                <a:ext cx="681644" cy="68164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圓角矩形 27"/>
              <p:cNvSpPr/>
              <p:nvPr/>
            </p:nvSpPr>
            <p:spPr>
              <a:xfrm>
                <a:off x="1972090" y="4139738"/>
                <a:ext cx="681644" cy="68164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44" name="直線單箭頭接點 43"/>
            <p:cNvCxnSpPr/>
            <p:nvPr/>
          </p:nvCxnSpPr>
          <p:spPr>
            <a:xfrm>
              <a:off x="743985" y="4472240"/>
              <a:ext cx="0" cy="7728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2556160" y="4472240"/>
              <a:ext cx="3786451" cy="7728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Binary search without Device </a:t>
            </a:r>
            <a:r>
              <a:rPr lang="en-US" altLang="zh-TW" dirty="0" err="1" smtClean="0"/>
              <a:t>Enqueue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35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457200" y="1845733"/>
            <a:ext cx="5411585" cy="4331760"/>
          </a:xfrm>
        </p:spPr>
        <p:txBody>
          <a:bodyPr/>
          <a:lstStyle/>
          <a:p>
            <a:r>
              <a:rPr lang="en-US" altLang="zh-TW" dirty="0" smtClean="0"/>
              <a:t>In AMD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1.x test-case</a:t>
            </a:r>
          </a:p>
          <a:p>
            <a:pPr lvl="1"/>
            <a:r>
              <a:rPr lang="en-US" altLang="zh-TW" dirty="0" smtClean="0"/>
              <a:t>Host have to read the output to decide that which segments should be input  and how many </a:t>
            </a:r>
            <a:r>
              <a:rPr lang="en-US" altLang="zh-TW" dirty="0" err="1" smtClean="0"/>
              <a:t>workitem</a:t>
            </a:r>
            <a:r>
              <a:rPr lang="en-US" altLang="zh-TW" dirty="0" smtClean="0"/>
              <a:t> should be dispatched for the next pass</a:t>
            </a:r>
          </a:p>
          <a:p>
            <a:pPr lvl="1"/>
            <a:r>
              <a:rPr lang="en-US" altLang="zh-TW" dirty="0" smtClean="0"/>
              <a:t>Busy communication between host and devices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8597" y="1997478"/>
            <a:ext cx="1864995" cy="4360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Binary Search with Device </a:t>
            </a:r>
            <a:r>
              <a:rPr lang="en-US" altLang="zh-TW" dirty="0" err="1" smtClean="0"/>
              <a:t>Enqueue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36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TW" dirty="0" smtClean="0"/>
              <a:t>With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2.0</a:t>
            </a:r>
          </a:p>
          <a:p>
            <a:pPr lvl="1"/>
            <a:r>
              <a:rPr lang="en-US" altLang="zh-TW" dirty="0" smtClean="0"/>
              <a:t>Recursively </a:t>
            </a:r>
            <a:r>
              <a:rPr lang="en-US" altLang="zh-TW" dirty="0" err="1" smtClean="0"/>
              <a:t>enqueue</a:t>
            </a:r>
            <a:r>
              <a:rPr lang="en-US" altLang="zh-TW" dirty="0" smtClean="0"/>
              <a:t> kernel by itself until find the key or sub-segment can not be divided any more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8756" y="3353393"/>
            <a:ext cx="5157786" cy="3340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of Binary search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37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457200" y="1213658"/>
            <a:ext cx="8229600" cy="4963835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We can expect device </a:t>
            </a:r>
            <a:r>
              <a:rPr lang="en-US" altLang="zh-TW" sz="2400" dirty="0" err="1" smtClean="0"/>
              <a:t>enqueue</a:t>
            </a:r>
            <a:r>
              <a:rPr lang="en-US" altLang="zh-TW" sz="2400" dirty="0" smtClean="0"/>
              <a:t> can improve the performance of this algorithm. </a:t>
            </a:r>
          </a:p>
          <a:p>
            <a:r>
              <a:rPr lang="en-US" altLang="zh-TW" sz="2400" dirty="0" smtClean="0"/>
              <a:t>However there is bug of AMD’s implementation for </a:t>
            </a:r>
            <a:r>
              <a:rPr lang="en-US" altLang="zh-TW" sz="2400" dirty="0" err="1" smtClean="0"/>
              <a:t>OpenCL</a:t>
            </a:r>
            <a:r>
              <a:rPr lang="en-US" altLang="zh-TW" sz="2400" dirty="0" smtClean="0"/>
              <a:t> 1.x test-case. It only </a:t>
            </a:r>
            <a:r>
              <a:rPr lang="en-US" altLang="zh-TW" sz="2400" dirty="0" err="1" smtClean="0"/>
              <a:t>enqueue</a:t>
            </a:r>
            <a:r>
              <a:rPr lang="en-US" altLang="zh-TW" sz="2400" dirty="0" smtClean="0"/>
              <a:t> kernel 1 times, then let CPU finish remaining jobs</a:t>
            </a:r>
          </a:p>
          <a:p>
            <a:endParaRPr lang="zh-TW" altLang="en-US" sz="2400" dirty="0"/>
          </a:p>
        </p:txBody>
      </p:sp>
      <p:graphicFrame>
        <p:nvGraphicFramePr>
          <p:cNvPr id="9" name="內容版面配置區 4"/>
          <p:cNvGraphicFramePr>
            <a:graphicFrameLocks/>
          </p:cNvGraphicFramePr>
          <p:nvPr/>
        </p:nvGraphicFramePr>
        <p:xfrm>
          <a:off x="847898" y="3262207"/>
          <a:ext cx="7838902" cy="3595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38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altLang="zh-TW" sz="2400" dirty="0" smtClean="0"/>
              <a:t>Input: [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0</a:t>
            </a:r>
            <a:r>
              <a:rPr lang="pt-BR" altLang="zh-TW" sz="2400" dirty="0" smtClean="0"/>
              <a:t>, 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1</a:t>
            </a:r>
            <a:r>
              <a:rPr lang="pt-BR" altLang="zh-TW" sz="2400" dirty="0" smtClean="0"/>
              <a:t>,..., 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i="1" baseline="-25000" dirty="0" smtClean="0"/>
              <a:t>n</a:t>
            </a:r>
            <a:r>
              <a:rPr lang="pt-BR" altLang="zh-TW" sz="2400" baseline="-25000" dirty="0" smtClean="0"/>
              <a:t>–1</a:t>
            </a:r>
            <a:r>
              <a:rPr lang="pt-BR" altLang="zh-TW" sz="2400" dirty="0" smtClean="0"/>
              <a:t>]</a:t>
            </a:r>
          </a:p>
          <a:p>
            <a:r>
              <a:rPr lang="pt-BR" altLang="zh-TW" sz="2400" dirty="0" smtClean="0"/>
              <a:t>Output: [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0</a:t>
            </a:r>
            <a:r>
              <a:rPr lang="pt-BR" altLang="zh-TW" sz="2400" dirty="0" smtClean="0"/>
              <a:t>, (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0</a:t>
            </a:r>
            <a:r>
              <a:rPr lang="pt-BR" altLang="zh-TW" sz="2400" dirty="0" smtClean="0"/>
              <a:t> </a:t>
            </a:r>
            <a:r>
              <a:rPr lang="pt-BR" altLang="zh-TW" sz="2400" i="1" dirty="0" smtClean="0"/>
              <a:t>+</a:t>
            </a:r>
            <a:r>
              <a:rPr lang="pt-BR" altLang="zh-TW" sz="2400" dirty="0" smtClean="0"/>
              <a:t> 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1</a:t>
            </a:r>
            <a:r>
              <a:rPr lang="pt-BR" altLang="zh-TW" sz="2400" dirty="0" smtClean="0"/>
              <a:t>),..., (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0</a:t>
            </a:r>
            <a:r>
              <a:rPr lang="pt-BR" altLang="zh-TW" sz="2400" dirty="0" smtClean="0"/>
              <a:t> </a:t>
            </a:r>
            <a:r>
              <a:rPr lang="pt-BR" altLang="zh-TW" sz="2400" i="1" dirty="0" smtClean="0"/>
              <a:t> + </a:t>
            </a:r>
            <a:r>
              <a:rPr lang="pt-BR" altLang="zh-TW" sz="2400" dirty="0" smtClean="0"/>
              <a:t> </a:t>
            </a:r>
            <a:r>
              <a:rPr lang="pt-BR" altLang="zh-TW" sz="2400" i="1" dirty="0" smtClean="0"/>
              <a:t>a</a:t>
            </a:r>
            <a:r>
              <a:rPr lang="pt-BR" altLang="zh-TW" sz="2400" dirty="0" smtClean="0"/>
              <a:t> </a:t>
            </a:r>
            <a:r>
              <a:rPr lang="pt-BR" altLang="zh-TW" sz="2400" baseline="-25000" dirty="0" smtClean="0"/>
              <a:t>1</a:t>
            </a:r>
            <a:r>
              <a:rPr lang="pt-BR" altLang="zh-TW" sz="2400" dirty="0" smtClean="0"/>
              <a:t> </a:t>
            </a:r>
            <a:r>
              <a:rPr lang="pt-BR" altLang="zh-TW" sz="2400" i="1" dirty="0" smtClean="0"/>
              <a:t> + </a:t>
            </a:r>
            <a:r>
              <a:rPr lang="pt-BR" altLang="zh-TW" sz="2400" dirty="0" smtClean="0"/>
              <a:t> ...  </a:t>
            </a:r>
            <a:r>
              <a:rPr lang="pt-BR" altLang="zh-TW" sz="2400" i="1" dirty="0" smtClean="0"/>
              <a:t> + a</a:t>
            </a:r>
            <a:r>
              <a:rPr lang="pt-BR" altLang="zh-TW" sz="2400" dirty="0" smtClean="0"/>
              <a:t> </a:t>
            </a:r>
            <a:r>
              <a:rPr lang="pt-BR" altLang="zh-TW" sz="2400" i="1" baseline="-25000" dirty="0" smtClean="0"/>
              <a:t>n</a:t>
            </a:r>
            <a:r>
              <a:rPr lang="pt-BR" altLang="zh-TW" sz="2400" baseline="-25000" dirty="0" smtClean="0"/>
              <a:t>–2</a:t>
            </a:r>
            <a:r>
              <a:rPr lang="pt-BR" altLang="zh-TW" sz="2400" dirty="0" smtClean="0"/>
              <a:t>)]</a:t>
            </a:r>
          </a:p>
          <a:p>
            <a:r>
              <a:rPr lang="en-US" altLang="zh-TW" sz="2400" dirty="0" smtClean="0"/>
              <a:t>Example:</a:t>
            </a:r>
          </a:p>
          <a:p>
            <a:pPr lvl="1"/>
            <a:r>
              <a:rPr lang="en-US" altLang="zh-TW" sz="2000" dirty="0" smtClean="0"/>
              <a:t>Input: [3 1 7 0 4 1 6 3]</a:t>
            </a:r>
          </a:p>
          <a:p>
            <a:pPr lvl="1"/>
            <a:r>
              <a:rPr lang="en-US" altLang="zh-TW" sz="2000" dirty="0" smtClean="0"/>
              <a:t>Output: [3 4 11 11 15 16 22]</a:t>
            </a:r>
          </a:p>
          <a:p>
            <a:r>
              <a:rPr lang="ca-ES" altLang="zh-TW" sz="2400" dirty="0" smtClean="0"/>
              <a:t>Sequential algorithm: </a:t>
            </a:r>
            <a:r>
              <a:rPr lang="ca-ES" altLang="zh-TW" sz="2400" i="1" dirty="0" smtClean="0"/>
              <a:t>O</a:t>
            </a:r>
            <a:r>
              <a:rPr lang="ca-ES" altLang="zh-TW" sz="2400" dirty="0" smtClean="0"/>
              <a:t>(n)</a:t>
            </a:r>
            <a:endParaRPr lang="zh-TW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019" y="4440024"/>
            <a:ext cx="5328457" cy="1171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Parallel 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39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457200" y="1371600"/>
            <a:ext cx="8229600" cy="480589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Simple version</a:t>
            </a:r>
            <a:endParaRPr lang="zh-TW" alt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8146" y="2161060"/>
            <a:ext cx="737235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Parallel 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40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457200" y="1205345"/>
            <a:ext cx="8229600" cy="4972148"/>
          </a:xfrm>
        </p:spPr>
        <p:txBody>
          <a:bodyPr/>
          <a:lstStyle/>
          <a:p>
            <a:r>
              <a:rPr lang="ca-ES" altLang="zh-TW" dirty="0" smtClean="0"/>
              <a:t>Work-Efficient version (Blelloch 1990)</a:t>
            </a:r>
            <a:endParaRPr lang="ca-ES" altLang="zh-TW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4000" y="4133373"/>
            <a:ext cx="4320000" cy="260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238" y="2239959"/>
            <a:ext cx="43434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/>
          <p:nvPr/>
        </p:nvSpPr>
        <p:spPr>
          <a:xfrm>
            <a:off x="623454" y="1935867"/>
            <a:ext cx="277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 1. </a:t>
            </a:r>
            <a:r>
              <a:rPr lang="ca-ES" altLang="zh-TW" dirty="0" smtClean="0"/>
              <a:t>The Up-Sweep: </a:t>
            </a:r>
            <a:r>
              <a:rPr lang="ca-ES" altLang="zh-TW" i="1" dirty="0" smtClean="0"/>
              <a:t>O</a:t>
            </a:r>
            <a:r>
              <a:rPr lang="ca-ES" altLang="zh-TW" dirty="0" smtClean="0"/>
              <a:t>(n)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081847" y="3764041"/>
            <a:ext cx="3051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 2. </a:t>
            </a:r>
            <a:r>
              <a:rPr lang="ca-ES" altLang="zh-TW" dirty="0" smtClean="0"/>
              <a:t>The Down-Sweep: </a:t>
            </a:r>
            <a:r>
              <a:rPr lang="ca-ES" altLang="zh-TW" i="1" dirty="0" smtClean="0"/>
              <a:t>O</a:t>
            </a:r>
            <a:r>
              <a:rPr lang="ca-ES" altLang="zh-TW" dirty="0" smtClean="0"/>
              <a:t>(</a:t>
            </a:r>
            <a:r>
              <a:rPr lang="ca-ES" altLang="zh-TW" i="1" dirty="0" smtClean="0"/>
              <a:t>n</a:t>
            </a:r>
            <a:r>
              <a:rPr lang="ca-ES" altLang="zh-TW" dirty="0" smtClean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Parallel Prefix Sum with </a:t>
            </a:r>
            <a:r>
              <a:rPr lang="en-US" altLang="zh-TW" dirty="0" err="1" smtClean="0"/>
              <a:t>OpenCL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41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Local prefix sum</a:t>
            </a:r>
          </a:p>
          <a:p>
            <a:pPr lvl="1"/>
            <a:r>
              <a:rPr lang="en-US" altLang="zh-TW" sz="2000" dirty="0" smtClean="0"/>
              <a:t>Use shared local memory and barrier to implement local prefix sum</a:t>
            </a:r>
            <a:br>
              <a:rPr lang="en-US" altLang="zh-TW" sz="2000" dirty="0" smtClean="0"/>
            </a:br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r>
              <a:rPr lang="en-US" altLang="zh-TW" sz="2400" dirty="0" smtClean="0"/>
              <a:t>Global prefix sum</a:t>
            </a:r>
          </a:p>
          <a:p>
            <a:pPr lvl="1"/>
            <a:r>
              <a:rPr lang="en-US" altLang="zh-TW" sz="2000" dirty="0" smtClean="0"/>
              <a:t>merge results of each local prefix sum</a:t>
            </a:r>
          </a:p>
          <a:p>
            <a:pPr lvl="1"/>
            <a:endParaRPr lang="zh-TW" altLang="en-US" sz="2000" dirty="0"/>
          </a:p>
        </p:txBody>
      </p:sp>
      <p:grpSp>
        <p:nvGrpSpPr>
          <p:cNvPr id="7" name="群組 6"/>
          <p:cNvGrpSpPr/>
          <p:nvPr/>
        </p:nvGrpSpPr>
        <p:grpSpPr>
          <a:xfrm>
            <a:off x="648393" y="2908160"/>
            <a:ext cx="2261062" cy="735092"/>
            <a:chOff x="3890357" y="2980697"/>
            <a:chExt cx="2261062" cy="735092"/>
          </a:xfrm>
        </p:grpSpPr>
        <p:sp>
          <p:nvSpPr>
            <p:cNvPr id="5" name="矩形 4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[3 4 11 11 15 16 22]</a:t>
              </a:r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0</a:t>
              </a:r>
              <a:endParaRPr lang="zh-TW" altLang="en-US" dirty="0"/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3180928" y="2908160"/>
            <a:ext cx="2261062" cy="735092"/>
            <a:chOff x="3890357" y="2980697"/>
            <a:chExt cx="2261062" cy="735092"/>
          </a:xfrm>
        </p:grpSpPr>
        <p:sp>
          <p:nvSpPr>
            <p:cNvPr id="9" name="矩形 8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[4 9 18 19 22 24 24]</a:t>
              </a:r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1</a:t>
              </a:r>
              <a:endParaRPr lang="zh-TW" altLang="en-US" dirty="0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713464" y="2908160"/>
            <a:ext cx="2261062" cy="735092"/>
            <a:chOff x="3890357" y="2980697"/>
            <a:chExt cx="2261062" cy="735092"/>
          </a:xfrm>
        </p:grpSpPr>
        <p:sp>
          <p:nvSpPr>
            <p:cNvPr id="12" name="矩形 11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[3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8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15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15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17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21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27]</a:t>
              </a:r>
              <a:endParaRPr lang="zh-TW" altLang="en-US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2</a:t>
              </a:r>
              <a:endParaRPr lang="zh-TW" altLang="en-US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48393" y="5150333"/>
            <a:ext cx="2261062" cy="735092"/>
            <a:chOff x="3890357" y="2980697"/>
            <a:chExt cx="2261062" cy="735092"/>
          </a:xfrm>
        </p:grpSpPr>
        <p:sp>
          <p:nvSpPr>
            <p:cNvPr id="15" name="矩形 14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[3 4 11 11 15 16 22]</a:t>
              </a:r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0</a:t>
              </a:r>
              <a:endParaRPr lang="zh-TW" altLang="en-US" dirty="0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3180928" y="5150333"/>
            <a:ext cx="2261062" cy="735092"/>
            <a:chOff x="3890357" y="2980697"/>
            <a:chExt cx="2261062" cy="735092"/>
          </a:xfrm>
        </p:grpSpPr>
        <p:sp>
          <p:nvSpPr>
            <p:cNvPr id="18" name="矩形 17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[26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31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40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41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44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46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46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]</a:t>
              </a:r>
              <a:endParaRPr lang="zh-TW" altLang="en-US" sz="1600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1</a:t>
              </a:r>
              <a:endParaRPr lang="zh-TW" altLang="en-US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5713464" y="5150333"/>
            <a:ext cx="2261062" cy="735092"/>
            <a:chOff x="3890357" y="2980697"/>
            <a:chExt cx="2261062" cy="735092"/>
          </a:xfrm>
        </p:grpSpPr>
        <p:sp>
          <p:nvSpPr>
            <p:cNvPr id="21" name="矩形 20"/>
            <p:cNvSpPr/>
            <p:nvPr/>
          </p:nvSpPr>
          <p:spPr>
            <a:xfrm>
              <a:off x="3890357" y="3350029"/>
              <a:ext cx="2261062" cy="3657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[49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54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61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61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63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67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73</a:t>
              </a:r>
              <a:r>
                <a:rPr lang="zh-TW" altLang="en-US" sz="1600" dirty="0" smtClean="0"/>
                <a:t> </a:t>
              </a:r>
              <a:r>
                <a:rPr lang="en-US" altLang="zh-TW" sz="1600" dirty="0" smtClean="0"/>
                <a:t>]</a:t>
              </a:r>
              <a:endParaRPr lang="zh-TW" altLang="en-US" sz="1600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333552" y="2980697"/>
              <a:ext cx="1374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workgroup 2</a:t>
              </a:r>
              <a:endParaRPr lang="zh-TW" altLang="en-US" dirty="0"/>
            </a:p>
          </p:txBody>
        </p:sp>
      </p:grpSp>
      <p:sp>
        <p:nvSpPr>
          <p:cNvPr id="23" name="矩形 22"/>
          <p:cNvSpPr/>
          <p:nvPr/>
        </p:nvSpPr>
        <p:spPr>
          <a:xfrm>
            <a:off x="2344416" y="3207632"/>
            <a:ext cx="448661" cy="502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4874255" y="3207632"/>
            <a:ext cx="448661" cy="50212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/>
          <p:cNvCxnSpPr>
            <a:stCxn id="23" idx="2"/>
            <a:endCxn id="19" idx="0"/>
          </p:cNvCxnSpPr>
          <p:nvPr/>
        </p:nvCxnSpPr>
        <p:spPr>
          <a:xfrm>
            <a:off x="2568747" y="3709756"/>
            <a:ext cx="1742712" cy="14405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3" idx="2"/>
            <a:endCxn id="22" idx="0"/>
          </p:cNvCxnSpPr>
          <p:nvPr/>
        </p:nvCxnSpPr>
        <p:spPr>
          <a:xfrm>
            <a:off x="2568747" y="3709756"/>
            <a:ext cx="4275248" cy="14405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4" idx="2"/>
            <a:endCxn id="22" idx="0"/>
          </p:cNvCxnSpPr>
          <p:nvPr/>
        </p:nvCxnSpPr>
        <p:spPr>
          <a:xfrm>
            <a:off x="5098586" y="3709756"/>
            <a:ext cx="1745409" cy="144057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accent1"/>
                </a:solidFill>
              </a:rPr>
              <a:t>Local Prefix Sum with Workgroup Function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457200" y="1303544"/>
            <a:ext cx="4040188" cy="516468"/>
          </a:xfrm>
        </p:spPr>
        <p:txBody>
          <a:bodyPr/>
          <a:lstStyle/>
          <a:p>
            <a:r>
              <a:rPr lang="en-US" altLang="zh-TW" sz="2400" dirty="0" smtClean="0"/>
              <a:t>Without workgroup function</a:t>
            </a:r>
            <a:endParaRPr lang="zh-TW" altLang="en-US" sz="2400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3"/>
          </p:nvPr>
        </p:nvSpPr>
        <p:spPr>
          <a:xfrm>
            <a:off x="4645027" y="1303544"/>
            <a:ext cx="4041775" cy="516468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With workgroup function</a:t>
            </a:r>
            <a:endParaRPr lang="zh-TW" altLang="en-US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42</a:t>
            </a:fld>
            <a:endParaRPr lang="en-US">
              <a:solidFill>
                <a:srgbClr val="F39A1E"/>
              </a:solidFill>
            </a:endParaRP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lum bright="20000" contrast="40000"/>
          </a:blip>
          <a:srcRect/>
          <a:stretch>
            <a:fillRect/>
          </a:stretch>
        </p:blipFill>
        <p:spPr bwMode="auto">
          <a:xfrm>
            <a:off x="207813" y="1806467"/>
            <a:ext cx="4437213" cy="4481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>
            <a:lum bright="20000" contrast="40000"/>
          </a:blip>
          <a:srcRect/>
          <a:stretch>
            <a:fillRect/>
          </a:stretch>
        </p:blipFill>
        <p:spPr bwMode="auto">
          <a:xfrm>
            <a:off x="4761407" y="3553123"/>
            <a:ext cx="4257902" cy="1114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9077" y="984855"/>
            <a:ext cx="3549832" cy="1797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Global 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43</a:t>
            </a:fld>
            <a:endParaRPr lang="en-US">
              <a:solidFill>
                <a:srgbClr val="F39A1E"/>
              </a:solidFill>
            </a:endParaRPr>
          </a:p>
        </p:txBody>
      </p:sp>
      <p:grpSp>
        <p:nvGrpSpPr>
          <p:cNvPr id="4" name="群組 49"/>
          <p:cNvGrpSpPr/>
          <p:nvPr/>
        </p:nvGrpSpPr>
        <p:grpSpPr>
          <a:xfrm>
            <a:off x="357439" y="2947222"/>
            <a:ext cx="6882938" cy="3188706"/>
            <a:chOff x="357438" y="2741900"/>
            <a:chExt cx="7326133" cy="3394028"/>
          </a:xfrm>
        </p:grpSpPr>
        <p:grpSp>
          <p:nvGrpSpPr>
            <p:cNvPr id="5" name="群組 4"/>
            <p:cNvGrpSpPr/>
            <p:nvPr/>
          </p:nvGrpSpPr>
          <p:grpSpPr>
            <a:xfrm>
              <a:off x="357438" y="2741900"/>
              <a:ext cx="2261062" cy="735092"/>
              <a:chOff x="3890357" y="2980697"/>
              <a:chExt cx="2261062" cy="73509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[3 4 11 11 15 16 22]</a:t>
                </a:r>
                <a:endParaRPr lang="zh-TW" altLang="en-US" dirty="0"/>
              </a:p>
            </p:txBody>
          </p:sp>
          <p:sp>
            <p:nvSpPr>
              <p:cNvPr id="7" name="文字方塊 6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0</a:t>
                </a:r>
                <a:endParaRPr lang="zh-TW" altLang="en-US" dirty="0"/>
              </a:p>
            </p:txBody>
          </p:sp>
        </p:grpSp>
        <p:grpSp>
          <p:nvGrpSpPr>
            <p:cNvPr id="8" name="群組 7"/>
            <p:cNvGrpSpPr/>
            <p:nvPr/>
          </p:nvGrpSpPr>
          <p:grpSpPr>
            <a:xfrm>
              <a:off x="2889973" y="2741900"/>
              <a:ext cx="2261062" cy="735092"/>
              <a:chOff x="3890357" y="2980697"/>
              <a:chExt cx="2261062" cy="73509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[4 9 18 19 22 24 24]</a:t>
                </a:r>
                <a:endParaRPr lang="zh-TW" altLang="en-US" dirty="0"/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1</a:t>
                </a:r>
                <a:endParaRPr lang="zh-TW" altLang="en-US" dirty="0"/>
              </a:p>
            </p:txBody>
          </p:sp>
        </p:grpSp>
        <p:grpSp>
          <p:nvGrpSpPr>
            <p:cNvPr id="11" name="群組 10"/>
            <p:cNvGrpSpPr/>
            <p:nvPr/>
          </p:nvGrpSpPr>
          <p:grpSpPr>
            <a:xfrm>
              <a:off x="5422509" y="2741900"/>
              <a:ext cx="2261062" cy="735092"/>
              <a:chOff x="3890357" y="2980697"/>
              <a:chExt cx="2261062" cy="73509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[3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8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17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27]</a:t>
                </a:r>
                <a:endParaRPr lang="zh-TW" altLang="en-US" dirty="0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2</a:t>
                </a:r>
                <a:endParaRPr lang="zh-TW" altLang="en-US" dirty="0"/>
              </a:p>
            </p:txBody>
          </p:sp>
        </p:grpSp>
        <p:grpSp>
          <p:nvGrpSpPr>
            <p:cNvPr id="14" name="群組 13"/>
            <p:cNvGrpSpPr/>
            <p:nvPr/>
          </p:nvGrpSpPr>
          <p:grpSpPr>
            <a:xfrm>
              <a:off x="357438" y="4069643"/>
              <a:ext cx="2261062" cy="735092"/>
              <a:chOff x="3890357" y="2980697"/>
              <a:chExt cx="2261062" cy="735092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[3 4 11 11 15 16 22]</a:t>
                </a:r>
                <a:endParaRPr lang="zh-TW" altLang="en-US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0</a:t>
                </a:r>
                <a:endParaRPr lang="zh-TW" altLang="en-US" dirty="0"/>
              </a:p>
            </p:txBody>
          </p:sp>
        </p:grpSp>
        <p:grpSp>
          <p:nvGrpSpPr>
            <p:cNvPr id="17" name="群組 16"/>
            <p:cNvGrpSpPr/>
            <p:nvPr/>
          </p:nvGrpSpPr>
          <p:grpSpPr>
            <a:xfrm>
              <a:off x="2889973" y="4069643"/>
              <a:ext cx="2261062" cy="735092"/>
              <a:chOff x="3890357" y="2980697"/>
              <a:chExt cx="2261062" cy="735092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[26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31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40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44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]</a:t>
                </a:r>
                <a:endParaRPr lang="zh-TW" altLang="en-US" sz="1600" dirty="0"/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1</a:t>
                </a:r>
                <a:endParaRPr lang="zh-TW" altLang="en-US" dirty="0"/>
              </a:p>
            </p:txBody>
          </p:sp>
        </p:grpSp>
        <p:grpSp>
          <p:nvGrpSpPr>
            <p:cNvPr id="20" name="群組 19"/>
            <p:cNvGrpSpPr/>
            <p:nvPr/>
          </p:nvGrpSpPr>
          <p:grpSpPr>
            <a:xfrm>
              <a:off x="5422509" y="4069643"/>
              <a:ext cx="2261062" cy="735092"/>
              <a:chOff x="3890357" y="2980697"/>
              <a:chExt cx="2261062" cy="73509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[27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32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39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39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45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51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]</a:t>
                </a:r>
                <a:endParaRPr lang="zh-TW" altLang="en-US" sz="1600" dirty="0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2</a:t>
                </a:r>
                <a:endParaRPr lang="zh-TW" altLang="en-US" dirty="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357438" y="5400836"/>
              <a:ext cx="2261062" cy="735092"/>
              <a:chOff x="3890357" y="2980697"/>
              <a:chExt cx="2261062" cy="735092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[3 4 11 11 15 16 22]</a:t>
                </a:r>
                <a:endParaRPr lang="zh-TW" altLang="en-US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0</a:t>
                </a:r>
                <a:endParaRPr lang="zh-TW" altLang="en-US" dirty="0"/>
              </a:p>
            </p:txBody>
          </p:sp>
        </p:grpSp>
        <p:grpSp>
          <p:nvGrpSpPr>
            <p:cNvPr id="26" name="群組 25"/>
            <p:cNvGrpSpPr/>
            <p:nvPr/>
          </p:nvGrpSpPr>
          <p:grpSpPr>
            <a:xfrm>
              <a:off x="2889973" y="5400836"/>
              <a:ext cx="2261062" cy="735092"/>
              <a:chOff x="3890357" y="2980697"/>
              <a:chExt cx="2261062" cy="735092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[26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31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40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44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46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]</a:t>
                </a:r>
                <a:endParaRPr lang="zh-TW" altLang="en-US" sz="1600" dirty="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1</a:t>
                </a:r>
                <a:endParaRPr lang="zh-TW" altLang="en-US" dirty="0"/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5422509" y="5400836"/>
              <a:ext cx="2261062" cy="735092"/>
              <a:chOff x="3890357" y="2980697"/>
              <a:chExt cx="2261062" cy="735092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[49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54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61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61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63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67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73</a:t>
                </a:r>
                <a:r>
                  <a:rPr lang="zh-TW" altLang="en-US" sz="1600" dirty="0" smtClean="0"/>
                  <a:t> </a:t>
                </a:r>
                <a:r>
                  <a:rPr lang="en-US" altLang="zh-TW" sz="1600" dirty="0" smtClean="0"/>
                  <a:t>]</a:t>
                </a:r>
                <a:endParaRPr lang="zh-TW" altLang="en-US" sz="1600" dirty="0"/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4333552" y="2980697"/>
                <a:ext cx="1374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workgroup 2</a:t>
                </a:r>
                <a:endParaRPr lang="zh-TW" altLang="en-US" dirty="0"/>
              </a:p>
            </p:txBody>
          </p:sp>
        </p:grpSp>
        <p:cxnSp>
          <p:nvCxnSpPr>
            <p:cNvPr id="33" name="直線單箭頭接點 32"/>
            <p:cNvCxnSpPr>
              <a:stCxn id="6" idx="2"/>
              <a:endCxn id="19" idx="0"/>
            </p:cNvCxnSpPr>
            <p:nvPr/>
          </p:nvCxnSpPr>
          <p:spPr>
            <a:xfrm>
              <a:off x="1487969" y="3476992"/>
              <a:ext cx="2532535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9" idx="2"/>
              <a:endCxn id="19" idx="0"/>
            </p:cNvCxnSpPr>
            <p:nvPr/>
          </p:nvCxnSpPr>
          <p:spPr>
            <a:xfrm>
              <a:off x="4020504" y="3476992"/>
              <a:ext cx="0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9" idx="2"/>
              <a:endCxn id="22" idx="0"/>
            </p:cNvCxnSpPr>
            <p:nvPr/>
          </p:nvCxnSpPr>
          <p:spPr>
            <a:xfrm>
              <a:off x="4020504" y="3476992"/>
              <a:ext cx="2532536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2" idx="2"/>
              <a:endCxn id="22" idx="0"/>
            </p:cNvCxnSpPr>
            <p:nvPr/>
          </p:nvCxnSpPr>
          <p:spPr>
            <a:xfrm>
              <a:off x="6553040" y="3476992"/>
              <a:ext cx="0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5" idx="2"/>
              <a:endCxn id="31" idx="0"/>
            </p:cNvCxnSpPr>
            <p:nvPr/>
          </p:nvCxnSpPr>
          <p:spPr>
            <a:xfrm>
              <a:off x="1487969" y="4804735"/>
              <a:ext cx="5065071" cy="5961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1" idx="2"/>
            </p:cNvCxnSpPr>
            <p:nvPr/>
          </p:nvCxnSpPr>
          <p:spPr>
            <a:xfrm>
              <a:off x="6553040" y="4804735"/>
              <a:ext cx="0" cy="5961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2053461" y="3041372"/>
              <a:ext cx="448661" cy="502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597155" y="3041372"/>
              <a:ext cx="448661" cy="502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8" name="矩形 47"/>
          <p:cNvSpPr/>
          <p:nvPr/>
        </p:nvSpPr>
        <p:spPr>
          <a:xfrm>
            <a:off x="3113870" y="1197203"/>
            <a:ext cx="2064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Local prefix sum</a:t>
            </a:r>
            <a:r>
              <a:rPr lang="zh-TW" altLang="en-US" dirty="0" smtClean="0"/>
              <a:t> →</a:t>
            </a:r>
            <a:endParaRPr lang="en-US" altLang="zh-TW" dirty="0" smtClean="0"/>
          </a:p>
        </p:txBody>
      </p:sp>
      <p:sp>
        <p:nvSpPr>
          <p:cNvPr id="49" name="矩形 48"/>
          <p:cNvSpPr/>
          <p:nvPr/>
        </p:nvSpPr>
        <p:spPr>
          <a:xfrm>
            <a:off x="357438" y="2257490"/>
            <a:ext cx="2088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Global prefix sum</a:t>
            </a:r>
            <a:r>
              <a:rPr lang="zh-TW" altLang="en-US" dirty="0" smtClean="0"/>
              <a:t> ↓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of Prefix Sum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44</a:t>
            </a:fld>
            <a:endParaRPr lang="en-US">
              <a:solidFill>
                <a:srgbClr val="F39A1E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3"/>
          </p:nvPr>
        </p:nvSpPr>
        <p:spPr>
          <a:xfrm>
            <a:off x="457200" y="1271847"/>
            <a:ext cx="8229600" cy="4905646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Compare 2 implementations of prefix sum in the AMD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SDK</a:t>
            </a:r>
          </a:p>
          <a:p>
            <a:r>
              <a:rPr lang="en-US" altLang="zh-TW" sz="2400" dirty="0" smtClean="0"/>
              <a:t>In the small size of data, workgroup function provide better performance</a:t>
            </a:r>
          </a:p>
          <a:p>
            <a:r>
              <a:rPr lang="en-US" altLang="zh-TW" sz="2400" dirty="0" smtClean="0"/>
              <a:t>When size of data &gt; 512K, it has the performance drop caused by  global prefix sum, the implementation is simple parallel prefix sum</a:t>
            </a:r>
          </a:p>
        </p:txBody>
      </p:sp>
      <p:graphicFrame>
        <p:nvGraphicFramePr>
          <p:cNvPr id="11" name="圖表 10"/>
          <p:cNvGraphicFramePr/>
          <p:nvPr/>
        </p:nvGraphicFramePr>
        <p:xfrm>
          <a:off x="1795550" y="3558822"/>
          <a:ext cx="7182195" cy="3084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 of Global 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45</a:t>
            </a:fld>
            <a:endParaRPr lang="en-US">
              <a:solidFill>
                <a:srgbClr val="F39A1E"/>
              </a:solidFill>
            </a:endParaRPr>
          </a:p>
        </p:txBody>
      </p:sp>
      <p:grpSp>
        <p:nvGrpSpPr>
          <p:cNvPr id="4" name="群組 49"/>
          <p:cNvGrpSpPr/>
          <p:nvPr/>
        </p:nvGrpSpPr>
        <p:grpSpPr>
          <a:xfrm>
            <a:off x="234788" y="1860458"/>
            <a:ext cx="4691638" cy="2173527"/>
            <a:chOff x="357438" y="2741900"/>
            <a:chExt cx="7326133" cy="3394028"/>
          </a:xfrm>
        </p:grpSpPr>
        <p:grpSp>
          <p:nvGrpSpPr>
            <p:cNvPr id="5" name="群組 4"/>
            <p:cNvGrpSpPr/>
            <p:nvPr/>
          </p:nvGrpSpPr>
          <p:grpSpPr>
            <a:xfrm>
              <a:off x="357438" y="2741900"/>
              <a:ext cx="2261062" cy="735092"/>
              <a:chOff x="3890357" y="2980697"/>
              <a:chExt cx="2261062" cy="73509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 4 11 11 15 16 22]</a:t>
                </a:r>
                <a:endParaRPr lang="zh-TW" altLang="en-US" sz="1100" dirty="0"/>
              </a:p>
            </p:txBody>
          </p:sp>
          <p:sp>
            <p:nvSpPr>
              <p:cNvPr id="7" name="文字方塊 6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0</a:t>
                </a:r>
                <a:endParaRPr lang="zh-TW" altLang="en-US" sz="1100" dirty="0"/>
              </a:p>
            </p:txBody>
          </p:sp>
        </p:grpSp>
        <p:grpSp>
          <p:nvGrpSpPr>
            <p:cNvPr id="8" name="群組 7"/>
            <p:cNvGrpSpPr/>
            <p:nvPr/>
          </p:nvGrpSpPr>
          <p:grpSpPr>
            <a:xfrm>
              <a:off x="2889973" y="2741900"/>
              <a:ext cx="2261062" cy="735092"/>
              <a:chOff x="3890357" y="2980697"/>
              <a:chExt cx="2261062" cy="73509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[4 9 18 19 22 24 24]</a:t>
                </a:r>
                <a:endParaRPr lang="zh-TW" altLang="en-US" sz="1100" dirty="0"/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1</a:t>
                </a:r>
                <a:endParaRPr lang="zh-TW" altLang="en-US" sz="1100" dirty="0"/>
              </a:p>
            </p:txBody>
          </p:sp>
        </p:grpSp>
        <p:grpSp>
          <p:nvGrpSpPr>
            <p:cNvPr id="11" name="群組 10"/>
            <p:cNvGrpSpPr/>
            <p:nvPr/>
          </p:nvGrpSpPr>
          <p:grpSpPr>
            <a:xfrm>
              <a:off x="5422509" y="2741900"/>
              <a:ext cx="2261062" cy="735092"/>
              <a:chOff x="3890357" y="2980697"/>
              <a:chExt cx="2261062" cy="73509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8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15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15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17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21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27]</a:t>
                </a:r>
                <a:endParaRPr lang="zh-TW" altLang="en-US" sz="1100" dirty="0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2</a:t>
                </a:r>
                <a:endParaRPr lang="zh-TW" altLang="en-US" sz="1100" dirty="0"/>
              </a:p>
            </p:txBody>
          </p:sp>
        </p:grpSp>
        <p:grpSp>
          <p:nvGrpSpPr>
            <p:cNvPr id="14" name="群組 13"/>
            <p:cNvGrpSpPr/>
            <p:nvPr/>
          </p:nvGrpSpPr>
          <p:grpSpPr>
            <a:xfrm>
              <a:off x="357438" y="4069643"/>
              <a:ext cx="2261062" cy="735092"/>
              <a:chOff x="3890357" y="2980697"/>
              <a:chExt cx="2261062" cy="735092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 4 11 11 15 16 22]</a:t>
                </a:r>
                <a:endParaRPr lang="zh-TW" altLang="en-US" sz="1100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0</a:t>
                </a:r>
                <a:endParaRPr lang="zh-TW" altLang="en-US" sz="1100" dirty="0"/>
              </a:p>
            </p:txBody>
          </p:sp>
        </p:grpSp>
        <p:grpSp>
          <p:nvGrpSpPr>
            <p:cNvPr id="17" name="群組 16"/>
            <p:cNvGrpSpPr/>
            <p:nvPr/>
          </p:nvGrpSpPr>
          <p:grpSpPr>
            <a:xfrm>
              <a:off x="2889973" y="4069643"/>
              <a:ext cx="2261062" cy="735092"/>
              <a:chOff x="3890357" y="2980697"/>
              <a:chExt cx="2261062" cy="735092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[26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40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44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1</a:t>
                </a:r>
                <a:endParaRPr lang="zh-TW" altLang="en-US" sz="1100" dirty="0"/>
              </a:p>
            </p:txBody>
          </p:sp>
        </p:grpSp>
        <p:grpSp>
          <p:nvGrpSpPr>
            <p:cNvPr id="20" name="群組 19"/>
            <p:cNvGrpSpPr/>
            <p:nvPr/>
          </p:nvGrpSpPr>
          <p:grpSpPr>
            <a:xfrm>
              <a:off x="5422509" y="4069643"/>
              <a:ext cx="2261062" cy="735092"/>
              <a:chOff x="3890357" y="2980697"/>
              <a:chExt cx="2261062" cy="73509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[27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32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39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39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45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51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2</a:t>
                </a:r>
                <a:endParaRPr lang="zh-TW" altLang="en-US" sz="1100" dirty="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357438" y="5400836"/>
              <a:ext cx="2261062" cy="735092"/>
              <a:chOff x="3890357" y="2980697"/>
              <a:chExt cx="2261062" cy="735092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 4 11 11 15 16 22]</a:t>
                </a:r>
                <a:endParaRPr lang="zh-TW" altLang="en-US" sz="1100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0</a:t>
                </a:r>
                <a:endParaRPr lang="zh-TW" altLang="en-US" sz="1100" dirty="0"/>
              </a:p>
            </p:txBody>
          </p:sp>
        </p:grpSp>
        <p:grpSp>
          <p:nvGrpSpPr>
            <p:cNvPr id="26" name="群組 25"/>
            <p:cNvGrpSpPr/>
            <p:nvPr/>
          </p:nvGrpSpPr>
          <p:grpSpPr>
            <a:xfrm>
              <a:off x="2889973" y="5400836"/>
              <a:ext cx="2261062" cy="735092"/>
              <a:chOff x="3890357" y="2980697"/>
              <a:chExt cx="2261062" cy="735092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[26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40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44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1</a:t>
                </a:r>
                <a:endParaRPr lang="zh-TW" altLang="en-US" sz="1100" dirty="0"/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5422509" y="5400836"/>
              <a:ext cx="2261062" cy="735092"/>
              <a:chOff x="3890357" y="2980697"/>
              <a:chExt cx="2261062" cy="735092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3890357" y="3350029"/>
                <a:ext cx="2261062" cy="3657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[49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54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63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67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73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4333552" y="2980697"/>
                <a:ext cx="1427290" cy="408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2</a:t>
                </a:r>
                <a:endParaRPr lang="zh-TW" altLang="en-US" sz="1100" dirty="0"/>
              </a:p>
            </p:txBody>
          </p:sp>
        </p:grpSp>
        <p:cxnSp>
          <p:nvCxnSpPr>
            <p:cNvPr id="33" name="直線單箭頭接點 32"/>
            <p:cNvCxnSpPr>
              <a:stCxn id="6" idx="2"/>
              <a:endCxn id="19" idx="0"/>
            </p:cNvCxnSpPr>
            <p:nvPr/>
          </p:nvCxnSpPr>
          <p:spPr>
            <a:xfrm>
              <a:off x="1487970" y="3476992"/>
              <a:ext cx="2558843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9" idx="2"/>
              <a:endCxn id="19" idx="0"/>
            </p:cNvCxnSpPr>
            <p:nvPr/>
          </p:nvCxnSpPr>
          <p:spPr>
            <a:xfrm>
              <a:off x="4020505" y="3476992"/>
              <a:ext cx="26309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9" idx="2"/>
              <a:endCxn id="22" idx="0"/>
            </p:cNvCxnSpPr>
            <p:nvPr/>
          </p:nvCxnSpPr>
          <p:spPr>
            <a:xfrm>
              <a:off x="4020504" y="3476992"/>
              <a:ext cx="2558845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2" idx="2"/>
              <a:endCxn id="22" idx="0"/>
            </p:cNvCxnSpPr>
            <p:nvPr/>
          </p:nvCxnSpPr>
          <p:spPr>
            <a:xfrm>
              <a:off x="6553041" y="3476992"/>
              <a:ext cx="26309" cy="5926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5" idx="2"/>
              <a:endCxn id="31" idx="0"/>
            </p:cNvCxnSpPr>
            <p:nvPr/>
          </p:nvCxnSpPr>
          <p:spPr>
            <a:xfrm>
              <a:off x="1487970" y="4804734"/>
              <a:ext cx="5091379" cy="5961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1" idx="2"/>
            </p:cNvCxnSpPr>
            <p:nvPr/>
          </p:nvCxnSpPr>
          <p:spPr>
            <a:xfrm>
              <a:off x="6553040" y="4804735"/>
              <a:ext cx="0" cy="5961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2053461" y="3041372"/>
              <a:ext cx="448661" cy="502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4597155" y="3041372"/>
              <a:ext cx="448661" cy="502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1329267"/>
            <a:ext cx="751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altLang="zh-TW" dirty="0" smtClean="0"/>
              <a:t>The implementaion of prefix sum with workgroup function, non-work efficient</a:t>
            </a:r>
            <a:endParaRPr lang="en-US" altLang="zh-TW" dirty="0" smtClean="0"/>
          </a:p>
        </p:txBody>
      </p:sp>
      <p:grpSp>
        <p:nvGrpSpPr>
          <p:cNvPr id="32" name="群組 80"/>
          <p:cNvGrpSpPr/>
          <p:nvPr/>
        </p:nvGrpSpPr>
        <p:grpSpPr>
          <a:xfrm>
            <a:off x="3195901" y="4911607"/>
            <a:ext cx="4691638" cy="1732189"/>
            <a:chOff x="3477792" y="4911607"/>
            <a:chExt cx="4691638" cy="1732189"/>
          </a:xfrm>
        </p:grpSpPr>
        <p:sp>
          <p:nvSpPr>
            <p:cNvPr id="44" name="矩形 43"/>
            <p:cNvSpPr/>
            <p:nvPr/>
          </p:nvSpPr>
          <p:spPr>
            <a:xfrm>
              <a:off x="5099622" y="5717681"/>
              <a:ext cx="1447979" cy="2342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[0 22 46]</a:t>
              </a:r>
              <a:endParaRPr lang="zh-TW" altLang="en-US" sz="1200" dirty="0"/>
            </a:p>
          </p:txBody>
        </p:sp>
        <p:grpSp>
          <p:nvGrpSpPr>
            <p:cNvPr id="34" name="群組 55"/>
            <p:cNvGrpSpPr/>
            <p:nvPr/>
          </p:nvGrpSpPr>
          <p:grpSpPr>
            <a:xfrm>
              <a:off x="3477792" y="6173045"/>
              <a:ext cx="4691638" cy="470751"/>
              <a:chOff x="1730889" y="5680667"/>
              <a:chExt cx="4691638" cy="470751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1730889" y="5917186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 4 11 11 15 16 22]</a:t>
                </a:r>
                <a:endParaRPr lang="zh-TW" altLang="en-US" sz="1100" dirty="0"/>
              </a:p>
            </p:txBody>
          </p:sp>
          <p:sp>
            <p:nvSpPr>
              <p:cNvPr id="51" name="文字方塊 50"/>
              <p:cNvSpPr txBox="1"/>
              <p:nvPr/>
            </p:nvSpPr>
            <p:spPr>
              <a:xfrm>
                <a:off x="2014710" y="5680667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0</a:t>
                </a:r>
                <a:endParaRPr lang="zh-TW" altLang="en-US" sz="1100" dirty="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3352718" y="5917186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[26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31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40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44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46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53" name="文字方塊 52"/>
              <p:cNvSpPr txBox="1"/>
              <p:nvPr/>
            </p:nvSpPr>
            <p:spPr>
              <a:xfrm>
                <a:off x="3636539" y="5680667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1</a:t>
                </a:r>
                <a:endParaRPr lang="zh-TW" altLang="en-US" sz="1100" dirty="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4974548" y="5917186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 smtClean="0"/>
                  <a:t>[49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54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61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63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67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73</a:t>
                </a:r>
                <a:r>
                  <a:rPr lang="zh-TW" altLang="en-US" sz="1050" dirty="0" smtClean="0"/>
                  <a:t> </a:t>
                </a:r>
                <a:r>
                  <a:rPr lang="en-US" altLang="zh-TW" sz="1050" dirty="0" smtClean="0"/>
                  <a:t>]</a:t>
                </a:r>
                <a:endParaRPr lang="zh-TW" altLang="en-US" sz="1050" dirty="0"/>
              </a:p>
            </p:txBody>
          </p:sp>
          <p:sp>
            <p:nvSpPr>
              <p:cNvPr id="55" name="文字方塊 54"/>
              <p:cNvSpPr txBox="1"/>
              <p:nvPr/>
            </p:nvSpPr>
            <p:spPr>
              <a:xfrm>
                <a:off x="5258369" y="5680667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2</a:t>
                </a:r>
                <a:endParaRPr lang="zh-TW" altLang="en-US" sz="1100" dirty="0"/>
              </a:p>
            </p:txBody>
          </p:sp>
        </p:grpSp>
        <p:grpSp>
          <p:nvGrpSpPr>
            <p:cNvPr id="36" name="群組 62"/>
            <p:cNvGrpSpPr/>
            <p:nvPr/>
          </p:nvGrpSpPr>
          <p:grpSpPr>
            <a:xfrm>
              <a:off x="3477792" y="4911607"/>
              <a:ext cx="4691638" cy="470751"/>
              <a:chOff x="-65881" y="1197203"/>
              <a:chExt cx="4691638" cy="470751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-65881" y="1433722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 4 11 11 15 16 22]</a:t>
                </a:r>
                <a:endParaRPr lang="zh-TW" altLang="en-US" sz="1100" dirty="0"/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217940" y="1197203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0</a:t>
                </a:r>
                <a:endParaRPr lang="zh-TW" altLang="en-US" sz="1100" dirty="0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555948" y="1433722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[4 9 18 19 22 24 24]</a:t>
                </a:r>
                <a:endParaRPr lang="zh-TW" altLang="en-US" sz="1100" dirty="0"/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1839769" y="1197203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1</a:t>
                </a:r>
                <a:endParaRPr lang="zh-TW" altLang="en-US" sz="1100" dirty="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177778" y="1433722"/>
                <a:ext cx="1447979" cy="2342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 smtClean="0"/>
                  <a:t>[3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8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15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15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17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21</a:t>
                </a:r>
                <a:r>
                  <a:rPr lang="zh-TW" altLang="en-US" sz="1100" dirty="0" smtClean="0"/>
                  <a:t> </a:t>
                </a:r>
                <a:r>
                  <a:rPr lang="en-US" altLang="zh-TW" sz="1100" dirty="0" smtClean="0"/>
                  <a:t>27]</a:t>
                </a:r>
                <a:endParaRPr lang="zh-TW" altLang="en-US" sz="1100" dirty="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3461599" y="1197203"/>
                <a:ext cx="91403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100" dirty="0" smtClean="0"/>
                  <a:t>workgroup 2</a:t>
                </a:r>
                <a:endParaRPr lang="zh-TW" altLang="en-US" sz="1100" dirty="0"/>
              </a:p>
            </p:txBody>
          </p:sp>
        </p:grpSp>
        <p:cxnSp>
          <p:nvCxnSpPr>
            <p:cNvPr id="65" name="直線單箭頭接點 64"/>
            <p:cNvCxnSpPr>
              <a:stCxn id="57" idx="2"/>
            </p:cNvCxnSpPr>
            <p:nvPr/>
          </p:nvCxnSpPr>
          <p:spPr>
            <a:xfrm>
              <a:off x="4201782" y="5382358"/>
              <a:ext cx="1351120" cy="335323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59" idx="2"/>
              <a:endCxn id="44" idx="0"/>
            </p:cNvCxnSpPr>
            <p:nvPr/>
          </p:nvCxnSpPr>
          <p:spPr>
            <a:xfrm>
              <a:off x="5823611" y="5382358"/>
              <a:ext cx="1" cy="3353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>
              <a:stCxn id="61" idx="2"/>
            </p:cNvCxnSpPr>
            <p:nvPr/>
          </p:nvCxnSpPr>
          <p:spPr>
            <a:xfrm flipH="1">
              <a:off x="6043353" y="5382358"/>
              <a:ext cx="1402088" cy="3353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endCxn id="51" idx="0"/>
            </p:cNvCxnSpPr>
            <p:nvPr/>
          </p:nvCxnSpPr>
          <p:spPr>
            <a:xfrm flipH="1">
              <a:off x="4218630" y="5951913"/>
              <a:ext cx="1334272" cy="221132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>
              <a:stCxn id="44" idx="2"/>
              <a:endCxn id="53" idx="0"/>
            </p:cNvCxnSpPr>
            <p:nvPr/>
          </p:nvCxnSpPr>
          <p:spPr>
            <a:xfrm>
              <a:off x="5823612" y="5951913"/>
              <a:ext cx="16847" cy="2211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>
              <a:endCxn id="55" idx="0"/>
            </p:cNvCxnSpPr>
            <p:nvPr/>
          </p:nvCxnSpPr>
          <p:spPr>
            <a:xfrm>
              <a:off x="6043353" y="5951913"/>
              <a:ext cx="1418936" cy="2211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2" name="矩形 81"/>
          <p:cNvSpPr/>
          <p:nvPr/>
        </p:nvSpPr>
        <p:spPr>
          <a:xfrm>
            <a:off x="1886569" y="4420027"/>
            <a:ext cx="6195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altLang="zh-TW" dirty="0" smtClean="0"/>
              <a:t>The implementation of prefix sum without workgroup function</a:t>
            </a:r>
            <a:endParaRPr lang="en-US" altLang="zh-TW" dirty="0" smtClean="0"/>
          </a:p>
        </p:txBody>
      </p:sp>
      <p:sp>
        <p:nvSpPr>
          <p:cNvPr id="83" name="矩形 82"/>
          <p:cNvSpPr/>
          <p:nvPr/>
        </p:nvSpPr>
        <p:spPr>
          <a:xfrm>
            <a:off x="4259573" y="5102364"/>
            <a:ext cx="287321" cy="321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84" name="矩形 83"/>
          <p:cNvSpPr/>
          <p:nvPr/>
        </p:nvSpPr>
        <p:spPr>
          <a:xfrm>
            <a:off x="5888549" y="5102364"/>
            <a:ext cx="287321" cy="321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540" y="2012466"/>
            <a:ext cx="3549832" cy="1797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More info. of local prefix sum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>
                <a:solidFill>
                  <a:srgbClr val="F39A1E"/>
                </a:solidFill>
              </a:rPr>
              <a:pPr/>
              <a:t>46</a:t>
            </a:fld>
            <a:endParaRPr lang="en-US" dirty="0">
              <a:solidFill>
                <a:srgbClr val="F39A1E"/>
              </a:solidFill>
            </a:endParaRPr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13"/>
          </p:nvPr>
        </p:nvSpPr>
        <p:spPr>
          <a:xfrm>
            <a:off x="457200" y="1263535"/>
            <a:ext cx="4347557" cy="4913958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In order to measures the performance of workgroup function, remove the global prefix sum</a:t>
            </a:r>
            <a:endParaRPr lang="zh-TW" altLang="en-US" sz="2400" dirty="0"/>
          </a:p>
        </p:txBody>
      </p:sp>
      <p:sp>
        <p:nvSpPr>
          <p:cNvPr id="27" name="內容版面配置區 3"/>
          <p:cNvSpPr txBox="1">
            <a:spLocks/>
          </p:cNvSpPr>
          <p:nvPr/>
        </p:nvSpPr>
        <p:spPr>
          <a:xfrm>
            <a:off x="4804757" y="1263535"/>
            <a:ext cx="4206239" cy="1362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▪"/>
              <a:tabLst/>
              <a:defRPr/>
            </a:pP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Input: [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,...,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–1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▪"/>
              <a:tabLst/>
              <a:defRPr/>
            </a:pP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Output: [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(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),..., (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...  </a:t>
            </a:r>
            <a:r>
              <a:rPr kumimoji="0" lang="pt-BR" altLang="zh-TW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a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pt-BR" altLang="zh-TW" sz="1400" b="0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pt-BR" altLang="zh-TW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–2</a:t>
            </a:r>
            <a:r>
              <a:rPr kumimoji="0" lang="pt-BR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)]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▪"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Lucida Grande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Input: [3 1 7 0 4 1 6 3]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Lucida Grande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Output: [3 4 11 11 15 16 22]</a:t>
            </a:r>
          </a:p>
        </p:txBody>
      </p:sp>
      <p:graphicFrame>
        <p:nvGraphicFramePr>
          <p:cNvPr id="28" name="圖表 27"/>
          <p:cNvGraphicFramePr/>
          <p:nvPr/>
        </p:nvGraphicFramePr>
        <p:xfrm>
          <a:off x="1235006" y="2809703"/>
          <a:ext cx="7451794" cy="3468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橢圓 28"/>
          <p:cNvSpPr/>
          <p:nvPr/>
        </p:nvSpPr>
        <p:spPr>
          <a:xfrm>
            <a:off x="2705100" y="5242560"/>
            <a:ext cx="419100" cy="419100"/>
          </a:xfrm>
          <a:prstGeom prst="ellipse">
            <a:avLst/>
          </a:prstGeom>
          <a:noFill/>
          <a:ln>
            <a:solidFill>
              <a:srgbClr val="CC0066"/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3230880" y="5604510"/>
            <a:ext cx="419100" cy="419100"/>
          </a:xfrm>
          <a:prstGeom prst="ellipse">
            <a:avLst/>
          </a:prstGeom>
          <a:noFill/>
          <a:ln>
            <a:solidFill>
              <a:srgbClr val="CC0066"/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 rot="16200000">
            <a:off x="354373" y="4508515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log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(time)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TW" dirty="0" err="1" smtClean="0"/>
              <a:t>OpenCL</a:t>
            </a:r>
            <a:r>
              <a:rPr lang="en-US" altLang="zh-TW" dirty="0" smtClean="0"/>
              <a:t> is the most popular open programming standard for heterogeneous computing.</a:t>
            </a:r>
          </a:p>
          <a:p>
            <a:pPr>
              <a:spcBef>
                <a:spcPts val="600"/>
              </a:spcBef>
            </a:pPr>
            <a:r>
              <a:rPr lang="en-US" altLang="zh-TW" dirty="0" err="1" smtClean="0"/>
              <a:t>OpenCL</a:t>
            </a:r>
            <a:r>
              <a:rPr lang="en-US" altLang="zh-TW" dirty="0" smtClean="0"/>
              <a:t> 2.0 is a big step forward with key features on execution and memory models.</a:t>
            </a:r>
          </a:p>
          <a:p>
            <a:pPr>
              <a:spcBef>
                <a:spcPts val="600"/>
              </a:spcBef>
            </a:pPr>
            <a:r>
              <a:rPr lang="en-US" altLang="zh-TW" dirty="0" err="1" smtClean="0"/>
              <a:t>OpenCl</a:t>
            </a:r>
            <a:r>
              <a:rPr lang="en-US" altLang="zh-TW" dirty="0" smtClean="0"/>
              <a:t> 2.0 is a key driving force to our heterogeneous computing HW and SW technology.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TK_CTO_CPT_W">
  <a:themeElements>
    <a:clrScheme name="Custom 7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 rtlCol="0"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aTek-Confidential_B_CTO_Dark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ediaTek-Confidential_A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MediaTek-Confidential_A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_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SCEnDecrypt xmlns="http://schemas.microsoft.com/sharepoint/v3">Not Encrypted</SCEnDecrypt>
    <SCEncryptBy xmlns="http://schemas.microsoft.com/sharepoint/v3">
      <UserInfo>
        <DisplayName/>
        <AccountId xsi:nil="true"/>
        <AccountType/>
      </UserInfo>
    </SCEncrypt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E069830178444680162A8ACC698BF3" ma:contentTypeVersion="3" ma:contentTypeDescription="Create a new document." ma:contentTypeScope="" ma:versionID="49d14ffe2cce19f5df5a40dce9d85464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7b2659cdc06552897402ca31c6ff9b07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CEncryptBy" minOccurs="0"/>
                <xsd:element ref="ns1:SCEnDecrypt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SCEncryptBy" ma:index="8" nillable="true" ma:displayName="Encrypt By" ma:list="UserInfo" ma:internalName="SCEncryptBy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CEnDecrypt" ma:index="9" nillable="true" ma:displayName="En/Decrypt" ma:default="Not Encrypted" ma:format="RadioButtons" ma:internalName="SCEnDecrypt">
      <xsd:simpleType>
        <xsd:restriction base="dms:Choice">
          <xsd:enumeration value="Not Encrypted"/>
          <xsd:enumeration value="Encrypted"/>
          <xsd:enumeration value="Queu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05F27CA4-E92B-445E-ACF8-1F03CE499104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DC7584C-649D-4B5A-94EF-463F29FAAA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E232C5-AF42-4C4F-9F1E-44BC34A6D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MTK_CTO_CPT_W</Template>
  <TotalTime>95105</TotalTime>
  <Words>1787</Words>
  <Application>Microsoft Office PowerPoint</Application>
  <PresentationFormat>如螢幕大小 (4:3)</PresentationFormat>
  <Paragraphs>414</Paragraphs>
  <Slides>48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6</vt:i4>
      </vt:variant>
      <vt:variant>
        <vt:lpstr>投影片標題</vt:lpstr>
      </vt:variant>
      <vt:variant>
        <vt:i4>48</vt:i4>
      </vt:variant>
    </vt:vector>
  </HeadingPairs>
  <TitlesOfParts>
    <vt:vector size="54" baseType="lpstr">
      <vt:lpstr>MTK_CTO_CPT_W</vt:lpstr>
      <vt:lpstr>MediaTek-Confidential_B_CTO_Dark</vt:lpstr>
      <vt:lpstr>MediaTek-Confidential_A</vt:lpstr>
      <vt:lpstr>Custom Design</vt:lpstr>
      <vt:lpstr>1_MediaTek-Confidential_A</vt:lpstr>
      <vt:lpstr>1_Custom Design</vt:lpstr>
      <vt:lpstr>Introduction to OpenCL 2.0</vt:lpstr>
      <vt:lpstr>Background</vt:lpstr>
      <vt:lpstr>What is OpenCL?</vt:lpstr>
      <vt:lpstr>OpenGL-based Ecosystem </vt:lpstr>
      <vt:lpstr>OpenCL Platform Model </vt:lpstr>
      <vt:lpstr>OpenCL Execution Model</vt:lpstr>
      <vt:lpstr>Decompose task into work-items</vt:lpstr>
      <vt:lpstr>An N-dimension domain of work-items</vt:lpstr>
      <vt:lpstr>Anatomy of an OpenCL Application</vt:lpstr>
      <vt:lpstr>OpenCL memory hierarchy</vt:lpstr>
      <vt:lpstr>Big Picture</vt:lpstr>
      <vt:lpstr>OpenCL 2.0 New Features</vt:lpstr>
      <vt:lpstr>Shared Virtual Memory</vt:lpstr>
      <vt:lpstr>Shared Virtual Memory</vt:lpstr>
      <vt:lpstr>Category of SVM</vt:lpstr>
      <vt:lpstr>C11 Atomics Support</vt:lpstr>
      <vt:lpstr>C11 Atomics Support</vt:lpstr>
      <vt:lpstr>SVM example</vt:lpstr>
      <vt:lpstr>投影片 19</vt:lpstr>
      <vt:lpstr>Generic Address Space</vt:lpstr>
      <vt:lpstr>Generic Address Space</vt:lpstr>
      <vt:lpstr>Nested Parallelism</vt:lpstr>
      <vt:lpstr>Nested Parallelism with Data-Dependent Parallelism </vt:lpstr>
      <vt:lpstr>Pipe</vt:lpstr>
      <vt:lpstr>Pipe</vt:lpstr>
      <vt:lpstr>Work-group Functions</vt:lpstr>
      <vt:lpstr>Work-group Functions example</vt:lpstr>
      <vt:lpstr>OpenCL 2.0 sample</vt:lpstr>
      <vt:lpstr>Linked list with SVM</vt:lpstr>
      <vt:lpstr>The implementation of Linked list with SVM</vt:lpstr>
      <vt:lpstr>Performance of Linked list with SVM</vt:lpstr>
      <vt:lpstr>More info. of linked list with SVM</vt:lpstr>
      <vt:lpstr>Parallel Binary search</vt:lpstr>
      <vt:lpstr>Parallel Binary search</vt:lpstr>
      <vt:lpstr>Binary search without Device Enqueue</vt:lpstr>
      <vt:lpstr>Binary Search with Device Enqueue</vt:lpstr>
      <vt:lpstr>Performance of Binary search</vt:lpstr>
      <vt:lpstr>Prefix Sum</vt:lpstr>
      <vt:lpstr>Parallel Prefix Sum</vt:lpstr>
      <vt:lpstr>Parallel Prefix Sum</vt:lpstr>
      <vt:lpstr>Parallel Prefix Sum with OpenCL</vt:lpstr>
      <vt:lpstr>Local Prefix Sum with Workgroup Function</vt:lpstr>
      <vt:lpstr>Global prefix sum</vt:lpstr>
      <vt:lpstr>Performance of Prefix Sum</vt:lpstr>
      <vt:lpstr>Issue of Global Prefix Sum</vt:lpstr>
      <vt:lpstr>More info. of local prefix sum</vt:lpstr>
      <vt:lpstr>Conclusion</vt:lpstr>
      <vt:lpstr>投影片 48</vt:lpstr>
    </vt:vector>
  </TitlesOfParts>
  <Company>University of Tennessee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Profiling, Tracing, Debugging and Monitoring Frameworks</dc:title>
  <dc:creator>Sathish Vadhiyar</dc:creator>
  <cp:lastModifiedBy>mtk09521</cp:lastModifiedBy>
  <cp:revision>299</cp:revision>
  <dcterms:created xsi:type="dcterms:W3CDTF">2004-02-22T07:22:07Z</dcterms:created>
  <dcterms:modified xsi:type="dcterms:W3CDTF">2015-04-30T13:45:57Z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0x01010084E069830178444680162A8ACC698BF3</vt:lpwstr>
  </property>
</Properties>
</file>