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7F40AFA-F679-4FA8-BA9B-98C653EF4559}">
  <a:tblStyle styleId="{B7F40AFA-F679-4FA8-BA9B-98C653EF4559}" styleName="Table_0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13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728231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kfd_fops: user-space including library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Driver’s help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ring VA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per_device_data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scheduler_class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Start code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priv用來記HW info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Wait for spec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per_device_data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Shape 3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Driver’s help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Shape 3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Shape 3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Shape 3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Shape 3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Shape 4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以前沒差,IOMMU只摸device address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For now, data in AQL packet is VA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Shape 4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46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Shape 4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Shape 4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IO page fault service and need to notify CPU page service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Shape 5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Shape 5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57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Shape 5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Shape 6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4800"/>
            </a:lvl1pPr>
            <a:lvl2pPr algn="ctr">
              <a:spcBef>
                <a:spcPts val="0"/>
              </a:spcBef>
              <a:buSzPct val="100000"/>
              <a:defRPr sz="4800"/>
            </a:lvl2pPr>
            <a:lvl3pPr algn="ctr">
              <a:spcBef>
                <a:spcPts val="0"/>
              </a:spcBef>
              <a:buSzPct val="100000"/>
              <a:defRPr sz="4800"/>
            </a:lvl3pPr>
            <a:lvl4pPr algn="ctr">
              <a:spcBef>
                <a:spcPts val="0"/>
              </a:spcBef>
              <a:buSzPct val="100000"/>
              <a:defRPr sz="4800"/>
            </a:lvl4pPr>
            <a:lvl5pPr algn="ctr">
              <a:spcBef>
                <a:spcPts val="0"/>
              </a:spcBef>
              <a:buSzPct val="100000"/>
              <a:defRPr sz="4800"/>
            </a:lvl5pPr>
            <a:lvl6pPr algn="ctr">
              <a:spcBef>
                <a:spcPts val="0"/>
              </a:spcBef>
              <a:buSzPct val="100000"/>
              <a:defRPr sz="4800"/>
            </a:lvl6pPr>
            <a:lvl7pPr algn="ctr">
              <a:spcBef>
                <a:spcPts val="0"/>
              </a:spcBef>
              <a:buSzPct val="100000"/>
              <a:defRPr sz="4800"/>
            </a:lvl7pPr>
            <a:lvl8pPr algn="ctr">
              <a:spcBef>
                <a:spcPts val="0"/>
              </a:spcBef>
              <a:buSzPct val="100000"/>
              <a:defRPr sz="4800"/>
            </a:lvl8pPr>
            <a:lvl9pPr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HSA Kernel Code Trace</a:t>
            </a:r>
          </a:p>
        </p:txBody>
      </p:sp>
      <p:sp>
        <p:nvSpPr>
          <p:cNvPr id="24" name="Shape 24"/>
          <p:cNvSpPr txBox="1">
            <a:spLocks noGrp="1"/>
          </p:cNvSpPr>
          <p:nvPr>
            <p:ph type="subTitle" idx="1"/>
          </p:nvPr>
        </p:nvSpPr>
        <p:spPr>
          <a:xfrm>
            <a:off x="1252700" y="4156425"/>
            <a:ext cx="5037000" cy="1597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zh-TW" sz="2000"/>
              <a:t>2014/5/26</a:t>
            </a:r>
          </a:p>
          <a:p>
            <a:pPr lvl="0" algn="l" rtl="0">
              <a:spcBef>
                <a:spcPts val="0"/>
              </a:spcBef>
              <a:buNone/>
            </a:pPr>
            <a:r>
              <a:rPr lang="zh-TW" sz="2000"/>
              <a:t>Advisor: Wei-Chung Hsu</a:t>
            </a:r>
          </a:p>
          <a:p>
            <a:pPr lvl="0" algn="l" rtl="0">
              <a:spcBef>
                <a:spcPts val="0"/>
              </a:spcBef>
              <a:buNone/>
            </a:pPr>
            <a:r>
              <a:rPr lang="zh-TW" sz="2000"/>
              <a:t>Student: Yu-Ju Huang</a:t>
            </a:r>
          </a:p>
          <a:p>
            <a:pPr>
              <a:spcBef>
                <a:spcPts val="0"/>
              </a:spcBef>
              <a:buNone/>
            </a:pPr>
            <a:endParaRPr sz="2000"/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hape 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7950" y="1039725"/>
            <a:ext cx="8837350" cy="480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Code Overview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Flow Overview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User &amp; Hardware Queues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GCR3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Flow Review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Code Overview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A new HSA kernel driver ("radeon-kfd") which works with the radeon graphics driver.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Fixes and improvements to the radeon and amd_iommu(v2) drivers, mm and mmu_notifier code.</a:t>
            </a:r>
          </a:p>
          <a:p>
            <a:pPr marL="457200" lvl="0" indent="-3810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KFD driver (HSA driver)</a:t>
            </a:r>
          </a:p>
          <a:p>
            <a:pPr marL="914400" lvl="1" indent="-3429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800"/>
              <a:t>module_init: drivers/gpu/hsa/radeon/kfd_module.c</a:t>
            </a:r>
          </a:p>
          <a:p>
            <a:pPr marL="914400" lvl="1" indent="-3429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800"/>
              <a:t>device_init:  drivers/gpu/hsa/radeon/kfd_device.c</a:t>
            </a:r>
          </a:p>
          <a:p>
            <a:pPr marL="914400" lvl="1" indent="-3429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800"/>
              <a:t>kfd_fops: drivers/gpu/hsa/radeon/kfd_chardev.c</a:t>
            </a:r>
          </a:p>
          <a:p>
            <a:pPr marL="914400" lvl="1" indent="-3429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800"/>
              <a:t>scheduler_class: drivers/gpu/hsa/radeon/kfd_sched_cik_static.c</a:t>
            </a:r>
          </a:p>
          <a:p>
            <a:pPr marL="457200" lvl="0" indent="-3810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IOMMU</a:t>
            </a:r>
          </a:p>
          <a:p>
            <a:pPr marL="914400" lvl="1" indent="-3429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800"/>
              <a:t>drivers/iommu/amd_iommu_v2.c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67700"/>
          </a:xfrm>
          <a:prstGeom prst="rect">
            <a:avLst/>
          </a:prstGeom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Code Overview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Flow Overview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User &amp; Hardware Queues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GCR3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Flow Review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Concepts - HSA Run Flow</a:t>
            </a:r>
          </a:p>
        </p:txBody>
      </p:sp>
      <p:sp>
        <p:nvSpPr>
          <p:cNvPr id="54" name="Shape 54"/>
          <p:cNvSpPr/>
          <p:nvPr/>
        </p:nvSpPr>
        <p:spPr>
          <a:xfrm>
            <a:off x="2516900" y="1942025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 txBox="1"/>
          <p:nvPr/>
        </p:nvSpPr>
        <p:spPr>
          <a:xfrm>
            <a:off x="2538125" y="1940125"/>
            <a:ext cx="1900200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Create user queues</a:t>
            </a:r>
          </a:p>
          <a:p>
            <a:pPr algn="ctr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(Up to 1024 user queues per process)</a:t>
            </a:r>
          </a:p>
        </p:txBody>
      </p:sp>
      <p:sp>
        <p:nvSpPr>
          <p:cNvPr id="56" name="Shape 56"/>
          <p:cNvSpPr txBox="1"/>
          <p:nvPr/>
        </p:nvSpPr>
        <p:spPr>
          <a:xfrm>
            <a:off x="4544525" y="1940125"/>
            <a:ext cx="2155200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Create HW queue with user queue information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(Up to 64 HW queue)</a:t>
            </a:r>
          </a:p>
        </p:txBody>
      </p:sp>
      <p:cxnSp>
        <p:nvCxnSpPr>
          <p:cNvPr id="57" name="Shape 57"/>
          <p:cNvCxnSpPr>
            <a:endCxn id="54" idx="0"/>
          </p:cNvCxnSpPr>
          <p:nvPr/>
        </p:nvCxnSpPr>
        <p:spPr>
          <a:xfrm rot="10800000">
            <a:off x="4571150" y="1942025"/>
            <a:ext cx="0" cy="976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8" name="Shape 58"/>
          <p:cNvSpPr/>
          <p:nvPr/>
        </p:nvSpPr>
        <p:spPr>
          <a:xfrm>
            <a:off x="2516900" y="3514450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2538125" y="3512550"/>
            <a:ext cx="1900200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Enqueu AQL packets, kick doorbell, and wait signal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4544525" y="3512550"/>
            <a:ext cx="2006399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Nothing</a:t>
            </a:r>
          </a:p>
        </p:txBody>
      </p:sp>
      <p:cxnSp>
        <p:nvCxnSpPr>
          <p:cNvPr id="61" name="Shape 61"/>
          <p:cNvCxnSpPr>
            <a:endCxn id="58" idx="0"/>
          </p:cNvCxnSpPr>
          <p:nvPr/>
        </p:nvCxnSpPr>
        <p:spPr>
          <a:xfrm rot="10800000">
            <a:off x="4571150" y="3514450"/>
            <a:ext cx="0" cy="976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2" name="Shape 62"/>
          <p:cNvSpPr/>
          <p:nvPr/>
        </p:nvSpPr>
        <p:spPr>
          <a:xfrm>
            <a:off x="2516900" y="5086875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2538125" y="5084975"/>
            <a:ext cx="1900200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Application finish and destroy queues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x="4544525" y="5084975"/>
            <a:ext cx="2006399" cy="1143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Release HW queue</a:t>
            </a:r>
          </a:p>
        </p:txBody>
      </p:sp>
      <p:cxnSp>
        <p:nvCxnSpPr>
          <p:cNvPr id="65" name="Shape 65"/>
          <p:cNvCxnSpPr>
            <a:endCxn id="62" idx="0"/>
          </p:cNvCxnSpPr>
          <p:nvPr/>
        </p:nvCxnSpPr>
        <p:spPr>
          <a:xfrm rot="10800000">
            <a:off x="4571150" y="5086875"/>
            <a:ext cx="0" cy="976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6" name="Shape 66"/>
          <p:cNvSpPr/>
          <p:nvPr/>
        </p:nvSpPr>
        <p:spPr>
          <a:xfrm>
            <a:off x="4395950" y="3016750"/>
            <a:ext cx="329100" cy="374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4395950" y="4602012"/>
            <a:ext cx="329100" cy="374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2506275" y="1496100"/>
            <a:ext cx="2064900" cy="374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b="1">
                <a:solidFill>
                  <a:srgbClr val="A61C00"/>
                </a:solidFill>
              </a:rPr>
              <a:t>User Space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4571150" y="1496100"/>
            <a:ext cx="2064900" cy="374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>
                <a:solidFill>
                  <a:srgbClr val="1155CC"/>
                </a:solidFill>
              </a:rPr>
              <a:t>Kernel Space</a:t>
            </a:r>
          </a:p>
        </p:txBody>
      </p:sp>
      <p:sp>
        <p:nvSpPr>
          <p:cNvPr id="70" name="Shape 70"/>
          <p:cNvSpPr txBox="1"/>
          <p:nvPr/>
        </p:nvSpPr>
        <p:spPr>
          <a:xfrm>
            <a:off x="519425" y="2243375"/>
            <a:ext cx="2064900" cy="374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Initialization</a:t>
            </a:r>
          </a:p>
        </p:txBody>
      </p:sp>
      <p:sp>
        <p:nvSpPr>
          <p:cNvPr id="71" name="Shape 71"/>
          <p:cNvSpPr txBox="1"/>
          <p:nvPr/>
        </p:nvSpPr>
        <p:spPr>
          <a:xfrm>
            <a:off x="519425" y="3815800"/>
            <a:ext cx="2064900" cy="374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Computation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519425" y="5469425"/>
            <a:ext cx="2064900" cy="374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Finish</a:t>
            </a:r>
          </a:p>
        </p:txBody>
      </p:sp>
      <p:sp>
        <p:nvSpPr>
          <p:cNvPr id="73" name="Shape 73"/>
          <p:cNvSpPr/>
          <p:nvPr/>
        </p:nvSpPr>
        <p:spPr>
          <a:xfrm>
            <a:off x="6435725" y="3273725"/>
            <a:ext cx="2440151" cy="1328292"/>
          </a:xfrm>
          <a:prstGeom prst="irregularSeal1">
            <a:avLst/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User - HW interaction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5391108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79" name="Shape 79"/>
          <p:cNvSpPr/>
          <p:nvPr/>
        </p:nvSpPr>
        <p:spPr>
          <a:xfrm>
            <a:off x="1141524" y="5371500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0" name="Shape 80"/>
          <p:cNvCxnSpPr/>
          <p:nvPr/>
        </p:nvCxnSpPr>
        <p:spPr>
          <a:xfrm>
            <a:off x="1974423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" name="Shape 81"/>
          <p:cNvCxnSpPr/>
          <p:nvPr/>
        </p:nvCxnSpPr>
        <p:spPr>
          <a:xfrm>
            <a:off x="1541943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2" name="Shape 82"/>
          <p:cNvCxnSpPr/>
          <p:nvPr/>
        </p:nvCxnSpPr>
        <p:spPr>
          <a:xfrm>
            <a:off x="483894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3" name="Shape 83"/>
          <p:cNvCxnSpPr/>
          <p:nvPr/>
        </p:nvCxnSpPr>
        <p:spPr>
          <a:xfrm>
            <a:off x="609176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4" name="Shape 84"/>
          <p:cNvCxnSpPr/>
          <p:nvPr/>
        </p:nvCxnSpPr>
        <p:spPr>
          <a:xfrm>
            <a:off x="731411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5" name="Shape 85"/>
          <p:cNvCxnSpPr/>
          <p:nvPr/>
        </p:nvCxnSpPr>
        <p:spPr>
          <a:xfrm>
            <a:off x="805743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" name="Shape 86"/>
          <p:cNvCxnSpPr/>
          <p:nvPr/>
        </p:nvCxnSpPr>
        <p:spPr>
          <a:xfrm>
            <a:off x="770346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7" name="Shape 87"/>
          <p:cNvCxnSpPr/>
          <p:nvPr/>
        </p:nvCxnSpPr>
        <p:spPr>
          <a:xfrm>
            <a:off x="650826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8" name="Shape 88"/>
          <p:cNvCxnSpPr/>
          <p:nvPr/>
        </p:nvCxnSpPr>
        <p:spPr>
          <a:xfrm>
            <a:off x="689761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9" name="Shape 89"/>
          <p:cNvCxnSpPr/>
          <p:nvPr/>
        </p:nvCxnSpPr>
        <p:spPr>
          <a:xfrm>
            <a:off x="5270677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0" name="Shape 90"/>
          <p:cNvCxnSpPr/>
          <p:nvPr/>
        </p:nvCxnSpPr>
        <p:spPr>
          <a:xfrm>
            <a:off x="5660027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1" name="Shape 91"/>
          <p:cNvSpPr/>
          <p:nvPr/>
        </p:nvSpPr>
        <p:spPr>
          <a:xfrm>
            <a:off x="2194550" y="5544846"/>
            <a:ext cx="2468900" cy="486525"/>
          </a:xfrm>
          <a:custGeom>
            <a:avLst/>
            <a:gdLst/>
            <a:ahLst/>
            <a:cxnLst/>
            <a:rect l="0" t="0" r="0" b="0"/>
            <a:pathLst>
              <a:path w="98756" h="19461" extrusionOk="0">
                <a:moveTo>
                  <a:pt x="0" y="12528"/>
                </a:moveTo>
                <a:cubicBezTo>
                  <a:pt x="4011" y="10463"/>
                  <a:pt x="14041" y="-981"/>
                  <a:pt x="24070" y="140"/>
                </a:cubicBezTo>
                <a:cubicBezTo>
                  <a:pt x="34099" y="1261"/>
                  <a:pt x="47726" y="17720"/>
                  <a:pt x="60174" y="19254"/>
                </a:cubicBezTo>
                <a:cubicBezTo>
                  <a:pt x="72621" y="20787"/>
                  <a:pt x="92325" y="10994"/>
                  <a:pt x="98756" y="934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92" name="Shape 92"/>
          <p:cNvSpPr/>
          <p:nvPr/>
        </p:nvSpPr>
        <p:spPr>
          <a:xfrm>
            <a:off x="5274025" y="5376300"/>
            <a:ext cx="2429400" cy="7917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5274025" y="6238575"/>
            <a:ext cx="2429400" cy="274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800">
                <a:solidFill>
                  <a:srgbClr val="FF0000"/>
                </a:solidFill>
              </a:rPr>
              <a:t>HSA GPU’s configuration register mmio address </a:t>
            </a:r>
          </a:p>
        </p:txBody>
      </p:sp>
      <p:grpSp>
        <p:nvGrpSpPr>
          <p:cNvPr id="94" name="Shape 94"/>
          <p:cNvGrpSpPr/>
          <p:nvPr/>
        </p:nvGrpSpPr>
        <p:grpSpPr>
          <a:xfrm>
            <a:off x="0" y="3841750"/>
            <a:ext cx="2117399" cy="1045175"/>
            <a:chOff x="3513300" y="3841750"/>
            <a:chExt cx="2117399" cy="1045175"/>
          </a:xfrm>
        </p:grpSpPr>
        <p:grpSp>
          <p:nvGrpSpPr>
            <p:cNvPr id="95" name="Shape 95"/>
            <p:cNvGrpSpPr/>
            <p:nvPr/>
          </p:nvGrpSpPr>
          <p:grpSpPr>
            <a:xfrm>
              <a:off x="3513300" y="3841750"/>
              <a:ext cx="2117399" cy="552024"/>
              <a:chOff x="6335925" y="5615800"/>
              <a:chExt cx="2117399" cy="552024"/>
            </a:xfrm>
          </p:grpSpPr>
          <p:sp>
            <p:nvSpPr>
              <p:cNvPr id="96" name="Shape 96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97" name="Shape 97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98" name="Shape 98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99" name="Shape 99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0" name="Shape 100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1" name="Shape 101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102" name="Shape 102"/>
            <p:cNvSpPr txBox="1"/>
            <p:nvPr/>
          </p:nvSpPr>
          <p:spPr>
            <a:xfrm>
              <a:off x="3557300" y="4400325"/>
              <a:ext cx="1991099" cy="4866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Free hardware queue_id bitmap</a:t>
              </a:r>
            </a:p>
            <a:p>
              <a:pPr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(Up to 64 hardware queues)</a:t>
              </a:r>
            </a:p>
          </p:txBody>
        </p:sp>
      </p:grpSp>
      <p:sp>
        <p:nvSpPr>
          <p:cNvPr id="103" name="Shape 103"/>
          <p:cNvSpPr txBox="1"/>
          <p:nvPr/>
        </p:nvSpPr>
        <p:spPr>
          <a:xfrm>
            <a:off x="5206675" y="5397900"/>
            <a:ext cx="735899" cy="753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800" b="1">
              <a:solidFill>
                <a:srgbClr val="1155CC"/>
              </a:solidFill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1212825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05" name="Shape 105"/>
          <p:cNvCxnSpPr/>
          <p:nvPr/>
        </p:nvCxnSpPr>
        <p:spPr>
          <a:xfrm>
            <a:off x="1203225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6" name="Shape 106"/>
          <p:cNvCxnSpPr/>
          <p:nvPr/>
        </p:nvCxnSpPr>
        <p:spPr>
          <a:xfrm>
            <a:off x="1203225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7" name="Shape 107"/>
          <p:cNvSpPr txBox="1"/>
          <p:nvPr/>
        </p:nvSpPr>
        <p:spPr>
          <a:xfrm>
            <a:off x="1183800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1183800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109" name="Shape 109"/>
          <p:cNvSpPr/>
          <p:nvPr/>
        </p:nvSpPr>
        <p:spPr>
          <a:xfrm>
            <a:off x="1527600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110" name="Shape 110"/>
          <p:cNvSpPr txBox="1"/>
          <p:nvPr/>
        </p:nvSpPr>
        <p:spPr>
          <a:xfrm>
            <a:off x="1141525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queue_id=0</a:t>
            </a:r>
          </a:p>
        </p:txBody>
      </p:sp>
      <p:sp>
        <p:nvSpPr>
          <p:cNvPr id="111" name="Shape 111"/>
          <p:cNvSpPr/>
          <p:nvPr/>
        </p:nvSpPr>
        <p:spPr>
          <a:xfrm>
            <a:off x="3301966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12" name="Shape 112"/>
          <p:cNvCxnSpPr/>
          <p:nvPr/>
        </p:nvCxnSpPr>
        <p:spPr>
          <a:xfrm>
            <a:off x="3292366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3" name="Shape 113"/>
          <p:cNvCxnSpPr/>
          <p:nvPr/>
        </p:nvCxnSpPr>
        <p:spPr>
          <a:xfrm>
            <a:off x="3292366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4" name="Shape 114"/>
          <p:cNvSpPr txBox="1"/>
          <p:nvPr/>
        </p:nvSpPr>
        <p:spPr>
          <a:xfrm>
            <a:off x="3272941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3272941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3230666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queue_id=1</a:t>
            </a:r>
          </a:p>
        </p:txBody>
      </p:sp>
      <p:cxnSp>
        <p:nvCxnSpPr>
          <p:cNvPr id="117" name="Shape 117"/>
          <p:cNvCxnSpPr/>
          <p:nvPr/>
        </p:nvCxnSpPr>
        <p:spPr>
          <a:xfrm>
            <a:off x="5381508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8" name="Shape 118"/>
          <p:cNvCxnSpPr/>
          <p:nvPr/>
        </p:nvCxnSpPr>
        <p:spPr>
          <a:xfrm>
            <a:off x="5381508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9" name="Shape 119"/>
          <p:cNvSpPr txBox="1"/>
          <p:nvPr/>
        </p:nvSpPr>
        <p:spPr>
          <a:xfrm>
            <a:off x="5362083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5362083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5347270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queue_id=0</a:t>
            </a:r>
          </a:p>
        </p:txBody>
      </p:sp>
      <p:sp>
        <p:nvSpPr>
          <p:cNvPr id="122" name="Shape 122"/>
          <p:cNvSpPr/>
          <p:nvPr/>
        </p:nvSpPr>
        <p:spPr>
          <a:xfrm>
            <a:off x="7480250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23" name="Shape 123"/>
          <p:cNvCxnSpPr/>
          <p:nvPr/>
        </p:nvCxnSpPr>
        <p:spPr>
          <a:xfrm>
            <a:off x="7470650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4" name="Shape 124"/>
          <p:cNvCxnSpPr/>
          <p:nvPr/>
        </p:nvCxnSpPr>
        <p:spPr>
          <a:xfrm>
            <a:off x="7470650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5" name="Shape 125"/>
          <p:cNvSpPr txBox="1"/>
          <p:nvPr/>
        </p:nvSpPr>
        <p:spPr>
          <a:xfrm>
            <a:off x="7451225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7451225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7408950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queue_id=1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2512550" y="-23100"/>
            <a:ext cx="40806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/>
              <a:t>Each process can have up to 1024 queues</a:t>
            </a:r>
          </a:p>
        </p:txBody>
      </p:sp>
      <p:cxnSp>
        <p:nvCxnSpPr>
          <p:cNvPr id="129" name="Shape 129"/>
          <p:cNvCxnSpPr/>
          <p:nvPr/>
        </p:nvCxnSpPr>
        <p:spPr>
          <a:xfrm>
            <a:off x="187775" y="423100"/>
            <a:ext cx="7871400" cy="19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0" name="Shape 130"/>
          <p:cNvCxnSpPr/>
          <p:nvPr/>
        </p:nvCxnSpPr>
        <p:spPr>
          <a:xfrm rot="10800000">
            <a:off x="1732550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1" name="Shape 131"/>
          <p:cNvCxnSpPr/>
          <p:nvPr/>
        </p:nvCxnSpPr>
        <p:spPr>
          <a:xfrm rot="10800000">
            <a:off x="3859025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2" name="Shape 132"/>
          <p:cNvCxnSpPr/>
          <p:nvPr/>
        </p:nvCxnSpPr>
        <p:spPr>
          <a:xfrm rot="10800000">
            <a:off x="5948175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3" name="Shape 133"/>
          <p:cNvCxnSpPr/>
          <p:nvPr/>
        </p:nvCxnSpPr>
        <p:spPr>
          <a:xfrm rot="10800000">
            <a:off x="8057450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4" name="Shape 134"/>
          <p:cNvCxnSpPr/>
          <p:nvPr/>
        </p:nvCxnSpPr>
        <p:spPr>
          <a:xfrm rot="10800000">
            <a:off x="177925" y="413274"/>
            <a:ext cx="0" cy="2961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5" name="Shape 135"/>
          <p:cNvCxnSpPr/>
          <p:nvPr/>
        </p:nvCxnSpPr>
        <p:spPr>
          <a:xfrm rot="10800000" flipH="1">
            <a:off x="187775" y="3364975"/>
            <a:ext cx="1052699" cy="9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6" name="Shape 136"/>
          <p:cNvCxnSpPr/>
          <p:nvPr/>
        </p:nvCxnSpPr>
        <p:spPr>
          <a:xfrm>
            <a:off x="1877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7" name="Shape 137"/>
          <p:cNvCxnSpPr/>
          <p:nvPr/>
        </p:nvCxnSpPr>
        <p:spPr>
          <a:xfrm>
            <a:off x="52232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8" name="Shape 138"/>
          <p:cNvCxnSpPr/>
          <p:nvPr/>
        </p:nvCxnSpPr>
        <p:spPr>
          <a:xfrm>
            <a:off x="9060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9" name="Shape 139"/>
          <p:cNvCxnSpPr/>
          <p:nvPr/>
        </p:nvCxnSpPr>
        <p:spPr>
          <a:xfrm>
            <a:off x="12404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0" name="Shape 140"/>
          <p:cNvSpPr/>
          <p:nvPr/>
        </p:nvSpPr>
        <p:spPr>
          <a:xfrm>
            <a:off x="3602687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141" name="Shape 141"/>
          <p:cNvSpPr/>
          <p:nvPr/>
        </p:nvSpPr>
        <p:spPr>
          <a:xfrm>
            <a:off x="5683962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142" name="Shape 142"/>
          <p:cNvSpPr/>
          <p:nvPr/>
        </p:nvSpPr>
        <p:spPr>
          <a:xfrm>
            <a:off x="7759050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143" name="Shape 143"/>
          <p:cNvGrpSpPr/>
          <p:nvPr/>
        </p:nvGrpSpPr>
        <p:grpSpPr>
          <a:xfrm>
            <a:off x="2165475" y="2558225"/>
            <a:ext cx="5352575" cy="2853400"/>
            <a:chOff x="2165475" y="2558225"/>
            <a:chExt cx="5352575" cy="2853400"/>
          </a:xfrm>
        </p:grpSpPr>
        <p:sp>
          <p:nvSpPr>
            <p:cNvPr id="144" name="Shape 144"/>
            <p:cNvSpPr/>
            <p:nvPr/>
          </p:nvSpPr>
          <p:spPr>
            <a:xfrm>
              <a:off x="2165475" y="2646775"/>
              <a:ext cx="3822650" cy="2735325"/>
            </a:xfrm>
            <a:custGeom>
              <a:avLst/>
              <a:gdLst/>
              <a:ahLst/>
              <a:cxnLst/>
              <a:rect l="0" t="0" r="0" b="0"/>
              <a:pathLst>
                <a:path w="152906" h="109413" extrusionOk="0">
                  <a:moveTo>
                    <a:pt x="0" y="0"/>
                  </a:moveTo>
                  <a:cubicBezTo>
                    <a:pt x="8724" y="8593"/>
                    <a:pt x="28271" y="39226"/>
                    <a:pt x="52345" y="51558"/>
                  </a:cubicBezTo>
                  <a:cubicBezTo>
                    <a:pt x="76418" y="63890"/>
                    <a:pt x="128304" y="64349"/>
                    <a:pt x="144441" y="73992"/>
                  </a:cubicBezTo>
                  <a:cubicBezTo>
                    <a:pt x="160577" y="83634"/>
                    <a:pt x="148376" y="103509"/>
                    <a:pt x="149164" y="109413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45" name="Shape 145"/>
            <p:cNvSpPr/>
            <p:nvPr/>
          </p:nvSpPr>
          <p:spPr>
            <a:xfrm>
              <a:off x="4280925" y="2558225"/>
              <a:ext cx="1475900" cy="2853400"/>
            </a:xfrm>
            <a:custGeom>
              <a:avLst/>
              <a:gdLst/>
              <a:ahLst/>
              <a:cxnLst/>
              <a:rect l="0" t="0" r="0" b="0"/>
              <a:pathLst>
                <a:path w="59036" h="114136" extrusionOk="0">
                  <a:moveTo>
                    <a:pt x="0" y="0"/>
                  </a:moveTo>
                  <a:cubicBezTo>
                    <a:pt x="8068" y="4919"/>
                    <a:pt x="38569" y="10495"/>
                    <a:pt x="48409" y="29518"/>
                  </a:cubicBezTo>
                  <a:cubicBezTo>
                    <a:pt x="58248" y="48540"/>
                    <a:pt x="57264" y="100033"/>
                    <a:pt x="59036" y="11413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46" name="Shape 146"/>
            <p:cNvSpPr/>
            <p:nvPr/>
          </p:nvSpPr>
          <p:spPr>
            <a:xfrm>
              <a:off x="5983125" y="2627100"/>
              <a:ext cx="863600" cy="2755000"/>
            </a:xfrm>
            <a:custGeom>
              <a:avLst/>
              <a:gdLst/>
              <a:ahLst/>
              <a:cxnLst/>
              <a:rect l="0" t="0" r="0" b="0"/>
              <a:pathLst>
                <a:path w="34544" h="110200" extrusionOk="0">
                  <a:moveTo>
                    <a:pt x="14562" y="0"/>
                  </a:moveTo>
                  <a:cubicBezTo>
                    <a:pt x="17841" y="2361"/>
                    <a:pt x="36668" y="-4198"/>
                    <a:pt x="34241" y="14168"/>
                  </a:cubicBezTo>
                  <a:cubicBezTo>
                    <a:pt x="31814" y="32534"/>
                    <a:pt x="5706" y="94194"/>
                    <a:pt x="0" y="110200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47" name="Shape 147"/>
            <p:cNvSpPr/>
            <p:nvPr/>
          </p:nvSpPr>
          <p:spPr>
            <a:xfrm>
              <a:off x="5855200" y="2636925"/>
              <a:ext cx="1662850" cy="2715650"/>
            </a:xfrm>
            <a:custGeom>
              <a:avLst/>
              <a:gdLst/>
              <a:ahLst/>
              <a:cxnLst/>
              <a:rect l="0" t="0" r="0" b="0"/>
              <a:pathLst>
                <a:path w="66514" h="108626" extrusionOk="0">
                  <a:moveTo>
                    <a:pt x="66514" y="0"/>
                  </a:moveTo>
                  <a:cubicBezTo>
                    <a:pt x="57199" y="4723"/>
                    <a:pt x="21712" y="10233"/>
                    <a:pt x="10627" y="28338"/>
                  </a:cubicBezTo>
                  <a:cubicBezTo>
                    <a:pt x="-458" y="46442"/>
                    <a:pt x="1771" y="95244"/>
                    <a:pt x="0" y="10862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148" name="Shape 148"/>
          <p:cNvSpPr/>
          <p:nvPr/>
        </p:nvSpPr>
        <p:spPr>
          <a:xfrm>
            <a:off x="4939025" y="5388300"/>
            <a:ext cx="1052675" cy="753299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700" b="1">
              <a:solidFill>
                <a:schemeClr val="hlink"/>
              </a:solidFill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37500"/>
              <a:buFont typeface="Arial"/>
              <a:buNone/>
            </a:pPr>
            <a:r>
              <a:rPr lang="zh-TW" sz="800" b="1">
                <a:solidFill>
                  <a:schemeClr val="hlink"/>
                </a:solidFill>
              </a:rPr>
              <a:t>queue select register</a:t>
            </a:r>
          </a:p>
        </p:txBody>
      </p:sp>
      <p:grpSp>
        <p:nvGrpSpPr>
          <p:cNvPr id="149" name="Shape 149"/>
          <p:cNvGrpSpPr/>
          <p:nvPr/>
        </p:nvGrpSpPr>
        <p:grpSpPr>
          <a:xfrm>
            <a:off x="2194975" y="2272875"/>
            <a:ext cx="5323075" cy="3109225"/>
            <a:chOff x="2194975" y="2272875"/>
            <a:chExt cx="5323075" cy="3109225"/>
          </a:xfrm>
        </p:grpSpPr>
        <p:sp>
          <p:nvSpPr>
            <p:cNvPr id="150" name="Shape 150"/>
            <p:cNvSpPr/>
            <p:nvPr/>
          </p:nvSpPr>
          <p:spPr>
            <a:xfrm>
              <a:off x="2194975" y="2312250"/>
              <a:ext cx="4574450" cy="3050175"/>
            </a:xfrm>
            <a:custGeom>
              <a:avLst/>
              <a:gdLst/>
              <a:ahLst/>
              <a:cxnLst/>
              <a:rect l="0" t="0" r="0" b="0"/>
              <a:pathLst>
                <a:path w="182978" h="122007" extrusionOk="0">
                  <a:moveTo>
                    <a:pt x="0" y="0"/>
                  </a:moveTo>
                  <a:cubicBezTo>
                    <a:pt x="9905" y="5772"/>
                    <a:pt x="31158" y="24926"/>
                    <a:pt x="59430" y="34634"/>
                  </a:cubicBezTo>
                  <a:cubicBezTo>
                    <a:pt x="87701" y="44342"/>
                    <a:pt x="149164" y="43685"/>
                    <a:pt x="169630" y="58248"/>
                  </a:cubicBezTo>
                  <a:cubicBezTo>
                    <a:pt x="190095" y="72810"/>
                    <a:pt x="180125" y="111380"/>
                    <a:pt x="182224" y="12200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51" name="Shape 151"/>
            <p:cNvSpPr/>
            <p:nvPr/>
          </p:nvSpPr>
          <p:spPr>
            <a:xfrm>
              <a:off x="4280925" y="2272875"/>
              <a:ext cx="2322075" cy="3109225"/>
            </a:xfrm>
            <a:custGeom>
              <a:avLst/>
              <a:gdLst/>
              <a:ahLst/>
              <a:cxnLst/>
              <a:rect l="0" t="0" r="0" b="0"/>
              <a:pathLst>
                <a:path w="92883" h="124369" extrusionOk="0">
                  <a:moveTo>
                    <a:pt x="0" y="0"/>
                  </a:moveTo>
                  <a:cubicBezTo>
                    <a:pt x="10232" y="5838"/>
                    <a:pt x="45916" y="14299"/>
                    <a:pt x="61397" y="35028"/>
                  </a:cubicBezTo>
                  <a:cubicBezTo>
                    <a:pt x="76877" y="55756"/>
                    <a:pt x="87635" y="109478"/>
                    <a:pt x="92883" y="124369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52" name="Shape 152"/>
            <p:cNvSpPr/>
            <p:nvPr/>
          </p:nvSpPr>
          <p:spPr>
            <a:xfrm>
              <a:off x="6386525" y="2312250"/>
              <a:ext cx="893750" cy="3060025"/>
            </a:xfrm>
            <a:custGeom>
              <a:avLst/>
              <a:gdLst/>
              <a:ahLst/>
              <a:cxnLst/>
              <a:rect l="0" t="0" r="0" b="0"/>
              <a:pathLst>
                <a:path w="35750" h="122401" extrusionOk="0">
                  <a:moveTo>
                    <a:pt x="0" y="0"/>
                  </a:moveTo>
                  <a:cubicBezTo>
                    <a:pt x="5903" y="4919"/>
                    <a:pt x="32798" y="9116"/>
                    <a:pt x="35422" y="29517"/>
                  </a:cubicBezTo>
                  <a:cubicBezTo>
                    <a:pt x="38045" y="49917"/>
                    <a:pt x="19022" y="106920"/>
                    <a:pt x="15743" y="122401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53" name="Shape 153"/>
            <p:cNvSpPr/>
            <p:nvPr/>
          </p:nvSpPr>
          <p:spPr>
            <a:xfrm>
              <a:off x="6671875" y="2322075"/>
              <a:ext cx="846175" cy="3020675"/>
            </a:xfrm>
            <a:custGeom>
              <a:avLst/>
              <a:gdLst/>
              <a:ahLst/>
              <a:cxnLst/>
              <a:rect l="0" t="0" r="0" b="0"/>
              <a:pathLst>
                <a:path w="33847" h="120827" extrusionOk="0">
                  <a:moveTo>
                    <a:pt x="33847" y="0"/>
                  </a:moveTo>
                  <a:cubicBezTo>
                    <a:pt x="29780" y="7412"/>
                    <a:pt x="15087" y="24336"/>
                    <a:pt x="9446" y="44474"/>
                  </a:cubicBezTo>
                  <a:cubicBezTo>
                    <a:pt x="3804" y="64611"/>
                    <a:pt x="1574" y="108101"/>
                    <a:pt x="0" y="12082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154" name="Shape 154"/>
          <p:cNvSpPr txBox="1"/>
          <p:nvPr/>
        </p:nvSpPr>
        <p:spPr>
          <a:xfrm>
            <a:off x="2900175" y="6117925"/>
            <a:ext cx="22686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/>
              <a:t>Physical Address</a:t>
            </a:r>
          </a:p>
        </p:txBody>
      </p:sp>
      <p:sp>
        <p:nvSpPr>
          <p:cNvPr id="155" name="Shape 155"/>
          <p:cNvSpPr/>
          <p:nvPr/>
        </p:nvSpPr>
        <p:spPr>
          <a:xfrm>
            <a:off x="925725" y="4378500"/>
            <a:ext cx="4555494" cy="1142964"/>
          </a:xfrm>
          <a:custGeom>
            <a:avLst/>
            <a:gdLst/>
            <a:ahLst/>
            <a:cxnLst/>
            <a:rect l="0" t="0" r="0" b="0"/>
            <a:pathLst>
              <a:path w="181043" h="34241" extrusionOk="0">
                <a:moveTo>
                  <a:pt x="0" y="0"/>
                </a:moveTo>
                <a:lnTo>
                  <a:pt x="393" y="18104"/>
                </a:lnTo>
                <a:lnTo>
                  <a:pt x="179469" y="18498"/>
                </a:lnTo>
                <a:lnTo>
                  <a:pt x="181043" y="34241"/>
                </a:ln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grpSp>
        <p:nvGrpSpPr>
          <p:cNvPr id="156" name="Shape 156"/>
          <p:cNvGrpSpPr/>
          <p:nvPr/>
        </p:nvGrpSpPr>
        <p:grpSpPr>
          <a:xfrm>
            <a:off x="1209950" y="2735125"/>
            <a:ext cx="7263850" cy="534000"/>
            <a:chOff x="1209950" y="2735125"/>
            <a:chExt cx="7263850" cy="534000"/>
          </a:xfrm>
        </p:grpSpPr>
        <p:sp>
          <p:nvSpPr>
            <p:cNvPr id="157" name="Shape 157"/>
            <p:cNvSpPr txBox="1"/>
            <p:nvPr/>
          </p:nvSpPr>
          <p:spPr>
            <a:xfrm>
              <a:off x="1209950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HQ0</a:t>
              </a:r>
            </a:p>
          </p:txBody>
        </p:sp>
        <p:sp>
          <p:nvSpPr>
            <p:cNvPr id="158" name="Shape 158"/>
            <p:cNvSpPr txBox="1"/>
            <p:nvPr/>
          </p:nvSpPr>
          <p:spPr>
            <a:xfrm>
              <a:off x="3300525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HQ1</a:t>
              </a:r>
            </a:p>
          </p:txBody>
        </p:sp>
        <p:sp>
          <p:nvSpPr>
            <p:cNvPr id="159" name="Shape 159"/>
            <p:cNvSpPr txBox="1"/>
            <p:nvPr/>
          </p:nvSpPr>
          <p:spPr>
            <a:xfrm>
              <a:off x="5391125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HQ2</a:t>
              </a:r>
            </a:p>
          </p:txBody>
        </p:sp>
        <p:sp>
          <p:nvSpPr>
            <p:cNvPr id="160" name="Shape 160"/>
            <p:cNvSpPr txBox="1"/>
            <p:nvPr/>
          </p:nvSpPr>
          <p:spPr>
            <a:xfrm>
              <a:off x="7481700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HQ3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67" name="Shape 16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93004" y="0"/>
            <a:ext cx="875799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Shape 168"/>
          <p:cNvGrpSpPr/>
          <p:nvPr/>
        </p:nvGrpSpPr>
        <p:grpSpPr>
          <a:xfrm>
            <a:off x="3247800" y="1627650"/>
            <a:ext cx="3817800" cy="1591375"/>
            <a:chOff x="3247800" y="1627650"/>
            <a:chExt cx="3817800" cy="1591375"/>
          </a:xfrm>
        </p:grpSpPr>
        <p:sp>
          <p:nvSpPr>
            <p:cNvPr id="169" name="Shape 169"/>
            <p:cNvSpPr/>
            <p:nvPr/>
          </p:nvSpPr>
          <p:spPr>
            <a:xfrm>
              <a:off x="3247800" y="1821925"/>
              <a:ext cx="3817800" cy="1397100"/>
            </a:xfrm>
            <a:prstGeom prst="ellips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" name="Shape 170"/>
            <p:cNvSpPr txBox="1"/>
            <p:nvPr/>
          </p:nvSpPr>
          <p:spPr>
            <a:xfrm>
              <a:off x="6012650" y="1627650"/>
              <a:ext cx="1052699" cy="2658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Per Device</a:t>
              </a:r>
            </a:p>
          </p:txBody>
        </p:sp>
      </p:grpSp>
      <p:grpSp>
        <p:nvGrpSpPr>
          <p:cNvPr id="171" name="Shape 171"/>
          <p:cNvGrpSpPr/>
          <p:nvPr/>
        </p:nvGrpSpPr>
        <p:grpSpPr>
          <a:xfrm>
            <a:off x="5004000" y="3000550"/>
            <a:ext cx="2400674" cy="2833425"/>
            <a:chOff x="5004000" y="3000550"/>
            <a:chExt cx="2400674" cy="2833425"/>
          </a:xfrm>
        </p:grpSpPr>
        <p:sp>
          <p:nvSpPr>
            <p:cNvPr id="172" name="Shape 172"/>
            <p:cNvSpPr txBox="1"/>
            <p:nvPr/>
          </p:nvSpPr>
          <p:spPr>
            <a:xfrm>
              <a:off x="5210625" y="5568175"/>
              <a:ext cx="1052699" cy="2658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HWQ</a:t>
              </a:r>
            </a:p>
          </p:txBody>
        </p:sp>
        <p:sp>
          <p:nvSpPr>
            <p:cNvPr id="173" name="Shape 173"/>
            <p:cNvSpPr txBox="1"/>
            <p:nvPr/>
          </p:nvSpPr>
          <p:spPr>
            <a:xfrm>
              <a:off x="5004000" y="4008750"/>
              <a:ext cx="1052699" cy="2658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HWP</a:t>
              </a:r>
            </a:p>
          </p:txBody>
        </p:sp>
        <p:sp>
          <p:nvSpPr>
            <p:cNvPr id="174" name="Shape 174"/>
            <p:cNvSpPr txBox="1"/>
            <p:nvPr/>
          </p:nvSpPr>
          <p:spPr>
            <a:xfrm>
              <a:off x="6351975" y="3000550"/>
              <a:ext cx="1052699" cy="2658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HW Priv</a:t>
              </a:r>
            </a:p>
          </p:txBody>
        </p:sp>
      </p:grpSp>
      <p:grpSp>
        <p:nvGrpSpPr>
          <p:cNvPr id="175" name="Shape 175"/>
          <p:cNvGrpSpPr/>
          <p:nvPr/>
        </p:nvGrpSpPr>
        <p:grpSpPr>
          <a:xfrm>
            <a:off x="2937968" y="3281826"/>
            <a:ext cx="6188275" cy="3514475"/>
            <a:chOff x="2937968" y="3281826"/>
            <a:chExt cx="6188275" cy="3514475"/>
          </a:xfrm>
        </p:grpSpPr>
        <p:sp>
          <p:nvSpPr>
            <p:cNvPr id="176" name="Shape 176"/>
            <p:cNvSpPr txBox="1"/>
            <p:nvPr/>
          </p:nvSpPr>
          <p:spPr>
            <a:xfrm>
              <a:off x="7416105" y="3976748"/>
              <a:ext cx="1535399" cy="403499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4A86E8"/>
                  </a:solidFill>
                </a:rPr>
                <a:t>Per HW Queue</a:t>
              </a:r>
            </a:p>
          </p:txBody>
        </p:sp>
        <p:sp>
          <p:nvSpPr>
            <p:cNvPr id="177" name="Shape 177"/>
            <p:cNvSpPr/>
            <p:nvPr/>
          </p:nvSpPr>
          <p:spPr>
            <a:xfrm>
              <a:off x="2937968" y="3281826"/>
              <a:ext cx="6188275" cy="3514475"/>
            </a:xfrm>
            <a:custGeom>
              <a:avLst/>
              <a:gdLst/>
              <a:ahLst/>
              <a:cxnLst/>
              <a:rect l="0" t="0" r="0" b="0"/>
              <a:pathLst>
                <a:path w="247531" h="140579" extrusionOk="0">
                  <a:moveTo>
                    <a:pt x="60802" y="639"/>
                  </a:moveTo>
                  <a:cubicBezTo>
                    <a:pt x="58506" y="2147"/>
                    <a:pt x="49388" y="3788"/>
                    <a:pt x="47027" y="9692"/>
                  </a:cubicBezTo>
                  <a:cubicBezTo>
                    <a:pt x="44665" y="15595"/>
                    <a:pt x="45781" y="24844"/>
                    <a:pt x="46634" y="36061"/>
                  </a:cubicBezTo>
                  <a:cubicBezTo>
                    <a:pt x="47486" y="47277"/>
                    <a:pt x="49979" y="66300"/>
                    <a:pt x="52144" y="76992"/>
                  </a:cubicBezTo>
                  <a:cubicBezTo>
                    <a:pt x="54308" y="87684"/>
                    <a:pt x="58834" y="95030"/>
                    <a:pt x="59621" y="100213"/>
                  </a:cubicBezTo>
                  <a:cubicBezTo>
                    <a:pt x="60408" y="105395"/>
                    <a:pt x="64868" y="106510"/>
                    <a:pt x="56866" y="108085"/>
                  </a:cubicBezTo>
                  <a:cubicBezTo>
                    <a:pt x="48863" y="109659"/>
                    <a:pt x="20986" y="107100"/>
                    <a:pt x="11606" y="109659"/>
                  </a:cubicBezTo>
                  <a:cubicBezTo>
                    <a:pt x="2226" y="112217"/>
                    <a:pt x="-1250" y="118973"/>
                    <a:pt x="586" y="123434"/>
                  </a:cubicBezTo>
                  <a:cubicBezTo>
                    <a:pt x="2422" y="127894"/>
                    <a:pt x="12918" y="133732"/>
                    <a:pt x="22626" y="136422"/>
                  </a:cubicBezTo>
                  <a:cubicBezTo>
                    <a:pt x="32334" y="139111"/>
                    <a:pt x="39811" y="139176"/>
                    <a:pt x="58834" y="139570"/>
                  </a:cubicBezTo>
                  <a:cubicBezTo>
                    <a:pt x="77856" y="139963"/>
                    <a:pt x="106784" y="141931"/>
                    <a:pt x="136762" y="138783"/>
                  </a:cubicBezTo>
                  <a:cubicBezTo>
                    <a:pt x="166739" y="135634"/>
                    <a:pt x="221314" y="134322"/>
                    <a:pt x="238697" y="120679"/>
                  </a:cubicBezTo>
                  <a:cubicBezTo>
                    <a:pt x="256079" y="107035"/>
                    <a:pt x="242632" y="69514"/>
                    <a:pt x="241058" y="56920"/>
                  </a:cubicBezTo>
                  <a:cubicBezTo>
                    <a:pt x="239483" y="44325"/>
                    <a:pt x="241386" y="47868"/>
                    <a:pt x="229251" y="45113"/>
                  </a:cubicBezTo>
                  <a:cubicBezTo>
                    <a:pt x="217115" y="42358"/>
                    <a:pt x="179857" y="44260"/>
                    <a:pt x="168247" y="40390"/>
                  </a:cubicBezTo>
                  <a:cubicBezTo>
                    <a:pt x="156636" y="36519"/>
                    <a:pt x="166542" y="25040"/>
                    <a:pt x="159589" y="21892"/>
                  </a:cubicBezTo>
                  <a:cubicBezTo>
                    <a:pt x="152636" y="18743"/>
                    <a:pt x="135712" y="21892"/>
                    <a:pt x="126529" y="21499"/>
                  </a:cubicBezTo>
                  <a:cubicBezTo>
                    <a:pt x="117345" y="21105"/>
                    <a:pt x="108228" y="22614"/>
                    <a:pt x="104489" y="19531"/>
                  </a:cubicBezTo>
                  <a:cubicBezTo>
                    <a:pt x="100750" y="16448"/>
                    <a:pt x="106850" y="6215"/>
                    <a:pt x="104095" y="3001"/>
                  </a:cubicBezTo>
                  <a:cubicBezTo>
                    <a:pt x="101340" y="-213"/>
                    <a:pt x="96683" y="-16"/>
                    <a:pt x="87959" y="246"/>
                  </a:cubicBezTo>
                  <a:cubicBezTo>
                    <a:pt x="79234" y="508"/>
                    <a:pt x="57784" y="3853"/>
                    <a:pt x="51750" y="4575"/>
                  </a:cubicBezTo>
                </a:path>
              </a:pathLst>
            </a:custGeom>
            <a:noFill/>
            <a:ln w="19050" cap="flat">
              <a:solidFill>
                <a:srgbClr val="4A86E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178" name="Shape 178"/>
          <p:cNvGrpSpPr/>
          <p:nvPr/>
        </p:nvGrpSpPr>
        <p:grpSpPr>
          <a:xfrm>
            <a:off x="423901" y="2058104"/>
            <a:ext cx="3812339" cy="3859739"/>
            <a:chOff x="423901" y="2058104"/>
            <a:chExt cx="3812339" cy="3859739"/>
          </a:xfrm>
        </p:grpSpPr>
        <p:sp>
          <p:nvSpPr>
            <p:cNvPr id="179" name="Shape 179"/>
            <p:cNvSpPr txBox="1"/>
            <p:nvPr/>
          </p:nvSpPr>
          <p:spPr>
            <a:xfrm>
              <a:off x="423901" y="2058104"/>
              <a:ext cx="1983153" cy="478411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E69138"/>
                  </a:solidFill>
                </a:rPr>
                <a:t>Per Application</a:t>
              </a:r>
            </a:p>
          </p:txBody>
        </p:sp>
        <p:sp>
          <p:nvSpPr>
            <p:cNvPr id="180" name="Shape 180"/>
            <p:cNvSpPr/>
            <p:nvPr/>
          </p:nvSpPr>
          <p:spPr>
            <a:xfrm>
              <a:off x="489441" y="2335069"/>
              <a:ext cx="3746800" cy="3582775"/>
            </a:xfrm>
            <a:custGeom>
              <a:avLst/>
              <a:gdLst/>
              <a:ahLst/>
              <a:cxnLst/>
              <a:rect l="0" t="0" r="0" b="0"/>
              <a:pathLst>
                <a:path w="149872" h="143311" extrusionOk="0">
                  <a:moveTo>
                    <a:pt x="3676" y="3875"/>
                  </a:moveTo>
                  <a:cubicBezTo>
                    <a:pt x="8399" y="-4849"/>
                    <a:pt x="22108" y="4071"/>
                    <a:pt x="31226" y="3875"/>
                  </a:cubicBezTo>
                  <a:cubicBezTo>
                    <a:pt x="40343" y="3678"/>
                    <a:pt x="48280" y="1054"/>
                    <a:pt x="58382" y="2694"/>
                  </a:cubicBezTo>
                  <a:cubicBezTo>
                    <a:pt x="68483" y="4333"/>
                    <a:pt x="84358" y="9187"/>
                    <a:pt x="91836" y="13714"/>
                  </a:cubicBezTo>
                  <a:cubicBezTo>
                    <a:pt x="99313" y="18240"/>
                    <a:pt x="99116" y="24275"/>
                    <a:pt x="103249" y="29851"/>
                  </a:cubicBezTo>
                  <a:cubicBezTo>
                    <a:pt x="107381" y="35426"/>
                    <a:pt x="112432" y="39362"/>
                    <a:pt x="116631" y="47168"/>
                  </a:cubicBezTo>
                  <a:cubicBezTo>
                    <a:pt x="120829" y="54973"/>
                    <a:pt x="124305" y="66453"/>
                    <a:pt x="128438" y="76686"/>
                  </a:cubicBezTo>
                  <a:cubicBezTo>
                    <a:pt x="132570" y="86918"/>
                    <a:pt x="138146" y="101677"/>
                    <a:pt x="141426" y="108565"/>
                  </a:cubicBezTo>
                  <a:cubicBezTo>
                    <a:pt x="144705" y="115452"/>
                    <a:pt x="146870" y="114075"/>
                    <a:pt x="148117" y="118011"/>
                  </a:cubicBezTo>
                  <a:cubicBezTo>
                    <a:pt x="149363" y="121946"/>
                    <a:pt x="150806" y="128047"/>
                    <a:pt x="148904" y="132180"/>
                  </a:cubicBezTo>
                  <a:cubicBezTo>
                    <a:pt x="147001" y="136312"/>
                    <a:pt x="146476" y="141297"/>
                    <a:pt x="136703" y="142806"/>
                  </a:cubicBezTo>
                  <a:cubicBezTo>
                    <a:pt x="126929" y="144314"/>
                    <a:pt x="106464" y="141822"/>
                    <a:pt x="90262" y="141232"/>
                  </a:cubicBezTo>
                  <a:cubicBezTo>
                    <a:pt x="74060" y="140641"/>
                    <a:pt x="54053" y="142937"/>
                    <a:pt x="39491" y="139264"/>
                  </a:cubicBezTo>
                  <a:cubicBezTo>
                    <a:pt x="24928" y="135590"/>
                    <a:pt x="8988" y="133032"/>
                    <a:pt x="2888" y="119192"/>
                  </a:cubicBezTo>
                  <a:cubicBezTo>
                    <a:pt x="-3212" y="105351"/>
                    <a:pt x="2756" y="75439"/>
                    <a:pt x="2888" y="56220"/>
                  </a:cubicBezTo>
                  <a:cubicBezTo>
                    <a:pt x="3019" y="37000"/>
                    <a:pt x="-1047" y="12599"/>
                    <a:pt x="3676" y="3875"/>
                  </a:cubicBezTo>
                  <a:close/>
                </a:path>
              </a:pathLst>
            </a:custGeom>
            <a:noFill/>
            <a:ln w="19050" cap="flat">
              <a:solidFill>
                <a:srgbClr val="E6913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HSA Driver Flow</a:t>
            </a:r>
          </a:p>
        </p:txBody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187" name="Shape 187"/>
          <p:cNvCxnSpPr/>
          <p:nvPr/>
        </p:nvCxnSpPr>
        <p:spPr>
          <a:xfrm>
            <a:off x="4825875" y="2400025"/>
            <a:ext cx="0" cy="562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88" name="Shape 188"/>
          <p:cNvCxnSpPr/>
          <p:nvPr/>
        </p:nvCxnSpPr>
        <p:spPr>
          <a:xfrm>
            <a:off x="4825875" y="3716375"/>
            <a:ext cx="0" cy="562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9" name="Shape 189"/>
          <p:cNvSpPr/>
          <p:nvPr/>
        </p:nvSpPr>
        <p:spPr>
          <a:xfrm>
            <a:off x="3164475" y="1770625"/>
            <a:ext cx="3322799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000">
                <a:solidFill>
                  <a:schemeClr val="dk1"/>
                </a:solidFill>
              </a:rPr>
              <a:t>System intialization</a:t>
            </a:r>
          </a:p>
          <a:p>
            <a:pPr marL="914400" lvl="1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module_init</a:t>
            </a:r>
          </a:p>
          <a:p>
            <a:pPr marL="914400" lvl="1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device_init (Called by radeon)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3176125" y="2948775"/>
            <a:ext cx="3311100" cy="77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open “/dev/kfd” device</a:t>
            </a:r>
          </a:p>
        </p:txBody>
      </p:sp>
      <p:sp>
        <p:nvSpPr>
          <p:cNvPr id="191" name="Shape 191"/>
          <p:cNvSpPr/>
          <p:nvPr/>
        </p:nvSpPr>
        <p:spPr>
          <a:xfrm>
            <a:off x="3176125" y="4277225"/>
            <a:ext cx="3311100" cy="77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send ioctl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/>
              <a:t>KFD_IOC_SET_MEMORY_POLICY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/>
              <a:t>KFD_IOC_CREATE_QUEUE</a:t>
            </a:r>
          </a:p>
        </p:txBody>
      </p:sp>
      <p:cxnSp>
        <p:nvCxnSpPr>
          <p:cNvPr id="192" name="Shape 192"/>
          <p:cNvCxnSpPr/>
          <p:nvPr/>
        </p:nvCxnSpPr>
        <p:spPr>
          <a:xfrm>
            <a:off x="4825875" y="5056925"/>
            <a:ext cx="0" cy="562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3" name="Shape 193"/>
          <p:cNvSpPr/>
          <p:nvPr/>
        </p:nvSpPr>
        <p:spPr>
          <a:xfrm>
            <a:off x="3176125" y="5617775"/>
            <a:ext cx="3311100" cy="77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>
                <a:solidFill>
                  <a:schemeClr val="dk1"/>
                </a:solidFill>
              </a:rPr>
              <a:t>Application send ioctl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KFD_IOC_DESTROY_QUEUE</a:t>
            </a:r>
          </a:p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termination</a:t>
            </a:r>
          </a:p>
        </p:txBody>
      </p:sp>
      <p:grpSp>
        <p:nvGrpSpPr>
          <p:cNvPr id="194" name="Shape 194"/>
          <p:cNvGrpSpPr/>
          <p:nvPr/>
        </p:nvGrpSpPr>
        <p:grpSpPr>
          <a:xfrm>
            <a:off x="2682625" y="2753024"/>
            <a:ext cx="5841024" cy="3814923"/>
            <a:chOff x="2682625" y="2753000"/>
            <a:chExt cx="5841024" cy="2621399"/>
          </a:xfrm>
        </p:grpSpPr>
        <p:sp>
          <p:nvSpPr>
            <p:cNvPr id="195" name="Shape 195"/>
            <p:cNvSpPr/>
            <p:nvPr/>
          </p:nvSpPr>
          <p:spPr>
            <a:xfrm>
              <a:off x="2682625" y="2753000"/>
              <a:ext cx="4298100" cy="2621399"/>
            </a:xfrm>
            <a:prstGeom prst="ellips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" name="Shape 196"/>
            <p:cNvSpPr txBox="1"/>
            <p:nvPr/>
          </p:nvSpPr>
          <p:spPr>
            <a:xfrm>
              <a:off x="6624350" y="2948775"/>
              <a:ext cx="1899299" cy="6849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Application call gate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module_init(kfd_module_init)</a:t>
            </a:r>
          </a:p>
        </p:txBody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radeon_kfd_pasid_init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Initialize pasid bitmap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PASID 0 is reserved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radeon_kfd_chardev_init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register_chrdev: /dev/kfd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kfd_ops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Define open, ioctl, mmap member function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kfd_topology_init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Most related to ACPI (advanced configuration and power interface)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kgd2kfd_device_init</a:t>
            </a:r>
          </a:p>
        </p:txBody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kfd-&gt;regs = gpu_resources-&gt;mmio_registers;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55CC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1155CC"/>
                </a:solidFill>
              </a:rPr>
              <a:t>Hardware MMIO address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radeon_kfd_doorbell_init(kfd);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radeon_kfd_interrupt_init(kfd);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device_iommu_pasid_init(kfd);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kfd_topology_add_device(kfd);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amd_iommu_set_invalidate_ctx_cb(kfd-&gt;pdev, iommu_pasid_shutdown_callback);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scheduler_class-&gt;create();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scheduler_class-&gt;start();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scheduler_class Call Sequence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cik_static_create 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Called in kgd2kfd_device_init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 kfd-&gt;scheduler </a:t>
            </a:r>
            <a:r>
              <a:rPr lang="zh-TW">
                <a:solidFill>
                  <a:srgbClr val="FF0000"/>
                </a:solidFill>
              </a:rPr>
              <a:t>(HW priv)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Initialize free_queues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cik_static_start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Called in kgd2kfd_device_init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init_pipes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init_ats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enable_interrupts</a:t>
            </a:r>
          </a:p>
          <a:p>
            <a:pPr marL="457200" lvl="0" indent="-4191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===== Before application ===== 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User Open “/dev/kfd”</a:t>
            </a:r>
          </a:p>
        </p:txBody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radeon_kfd_create_process(current)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If this user process already open kfd, find its kfd_process and return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Else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Create kfd_process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Assign pasid </a:t>
            </a:r>
          </a:p>
          <a:p>
            <a:pPr marL="1828800" lvl="3" indent="-342900" rtl="0">
              <a:spcBef>
                <a:spcPts val="0"/>
              </a:spcBef>
              <a:buClr>
                <a:schemeClr val="dk1"/>
              </a:buClr>
              <a:buSzPct val="60000"/>
              <a:buFont typeface="Arial"/>
              <a:buChar char="●"/>
            </a:pPr>
            <a:r>
              <a:rPr lang="zh-TW"/>
              <a:t>There are 1&lt;&lt;20 possible pasid</a:t>
            </a:r>
          </a:p>
          <a:p>
            <a:pPr marL="1828800" lvl="3" indent="-342900" rtl="0">
              <a:spcBef>
                <a:spcPts val="0"/>
              </a:spcBef>
              <a:buClr>
                <a:schemeClr val="dk1"/>
              </a:buClr>
              <a:buSzPct val="60000"/>
              <a:buFont typeface="Arial"/>
              <a:buChar char="●"/>
            </a:pPr>
            <a:r>
              <a:rPr lang="zh-TW"/>
              <a:t>Use a bitmap to put&amp;get pasid for kfd_process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KFD_IOC_SET_MEMORY_POLICY</a:t>
            </a:r>
          </a:p>
        </p:txBody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Two policy for now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cache_policy_coherent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cache_policy_noncoherent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Okra 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default policy=cache_policy_coherent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alternate policy=cache_policy_noncoherent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Write to hardware queue register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SH_MEM_CONFIG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SH_MEM_APE1_BASE</a:t>
            </a:r>
          </a:p>
          <a:p>
            <a:pPr marL="914400" lvl="1" indent="-3810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SH_MEM_APE1_LIMIT</a:t>
            </a:r>
          </a:p>
        </p:txBody>
      </p:sp>
      <p:pic>
        <p:nvPicPr>
          <p:cNvPr id="227" name="Shape 2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32275" y="1327900"/>
            <a:ext cx="4511725" cy="1210175"/>
          </a:xfrm>
          <a:prstGeom prst="rect">
            <a:avLst/>
          </a:prstGeom>
        </p:spPr>
      </p:pic>
      <p:pic>
        <p:nvPicPr>
          <p:cNvPr id="228" name="Shape 22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05550" y="2658587"/>
            <a:ext cx="2838450" cy="69532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3400"/>
              <a:t>radeon_kfd_bind_process_to_device</a:t>
            </a:r>
          </a:p>
        </p:txBody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Called when user application send ioctl command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ioctl(SET_MEMORY_POLICY) for now.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amd_iommu_bind_pasid()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Register iommu with this kfd_process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scheduler_class-&gt;register_process()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 and initialize scheduler_process</a:t>
            </a:r>
            <a:r>
              <a:rPr lang="zh-TW">
                <a:solidFill>
                  <a:srgbClr val="FF0000"/>
                </a:solidFill>
              </a:rPr>
              <a:t> (HWP)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KFD_IOC_SET_CREATE_QUEUE</a:t>
            </a:r>
          </a:p>
        </p:txBody>
      </p:sp>
      <p:sp>
        <p:nvSpPr>
          <p:cNvPr id="240" name="Shape 2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Create queue from user-space’s info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Get kfd_dev by gpu_id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Allocate kfd_queue for kfd_process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Get queue_id from kfd_process’ queue_bitmap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software queue_id (up to 1024)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scheduler_class-&gt;create_queue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set hardware queue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Return queue_id and doorbell_address to user-space</a:t>
            </a:r>
          </a:p>
          <a:p>
            <a:pPr marL="914400" lvl="1" indent="-381000">
              <a:spcBef>
                <a:spcPts val="0"/>
              </a:spcBef>
              <a:buClr>
                <a:srgbClr val="FF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FF0000"/>
                </a:solidFill>
              </a:rPr>
              <a:t>*** doorbell_address map to mmio address ***</a:t>
            </a:r>
          </a:p>
        </p:txBody>
      </p:sp>
      <p:pic>
        <p:nvPicPr>
          <p:cNvPr id="241" name="Shape 24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02625" y="143100"/>
            <a:ext cx="4667250" cy="225742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scheduler_class-&gt;create_queue()</a:t>
            </a:r>
          </a:p>
        </p:txBody>
      </p:sp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allocate_hqd()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Get hardware queue_id from free_queues bitmap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activate_queue()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Write value to hardware mmio to activate hardware queue</a:t>
            </a:r>
          </a:p>
          <a:p>
            <a:pPr marL="1371600" lvl="2" indent="-381000">
              <a:spcBef>
                <a:spcPts val="0"/>
              </a:spcBef>
              <a:buClr>
                <a:srgbClr val="FF0000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FF0000"/>
                </a:solidFill>
              </a:rPr>
              <a:t>*** queue_select ***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/>
        </p:nvSpPr>
        <p:spPr>
          <a:xfrm>
            <a:off x="5391108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3" name="Shape 253"/>
          <p:cNvSpPr/>
          <p:nvPr/>
        </p:nvSpPr>
        <p:spPr>
          <a:xfrm>
            <a:off x="1141524" y="5371500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254" name="Shape 254"/>
          <p:cNvCxnSpPr/>
          <p:nvPr/>
        </p:nvCxnSpPr>
        <p:spPr>
          <a:xfrm>
            <a:off x="1974423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5" name="Shape 255"/>
          <p:cNvCxnSpPr/>
          <p:nvPr/>
        </p:nvCxnSpPr>
        <p:spPr>
          <a:xfrm>
            <a:off x="1541943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6" name="Shape 256"/>
          <p:cNvCxnSpPr/>
          <p:nvPr/>
        </p:nvCxnSpPr>
        <p:spPr>
          <a:xfrm>
            <a:off x="483894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7" name="Shape 257"/>
          <p:cNvCxnSpPr/>
          <p:nvPr/>
        </p:nvCxnSpPr>
        <p:spPr>
          <a:xfrm>
            <a:off x="609176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8" name="Shape 258"/>
          <p:cNvCxnSpPr/>
          <p:nvPr/>
        </p:nvCxnSpPr>
        <p:spPr>
          <a:xfrm>
            <a:off x="731411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9" name="Shape 259"/>
          <p:cNvCxnSpPr/>
          <p:nvPr/>
        </p:nvCxnSpPr>
        <p:spPr>
          <a:xfrm>
            <a:off x="8057439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0" name="Shape 260"/>
          <p:cNvCxnSpPr/>
          <p:nvPr/>
        </p:nvCxnSpPr>
        <p:spPr>
          <a:xfrm>
            <a:off x="770346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1" name="Shape 261"/>
          <p:cNvCxnSpPr/>
          <p:nvPr/>
        </p:nvCxnSpPr>
        <p:spPr>
          <a:xfrm>
            <a:off x="650826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2" name="Shape 262"/>
          <p:cNvCxnSpPr/>
          <p:nvPr/>
        </p:nvCxnSpPr>
        <p:spPr>
          <a:xfrm>
            <a:off x="6897614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3" name="Shape 263"/>
          <p:cNvCxnSpPr/>
          <p:nvPr/>
        </p:nvCxnSpPr>
        <p:spPr>
          <a:xfrm>
            <a:off x="5270677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4" name="Shape 264"/>
          <p:cNvCxnSpPr/>
          <p:nvPr/>
        </p:nvCxnSpPr>
        <p:spPr>
          <a:xfrm>
            <a:off x="5660027" y="5376297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65" name="Shape 265"/>
          <p:cNvSpPr/>
          <p:nvPr/>
        </p:nvSpPr>
        <p:spPr>
          <a:xfrm>
            <a:off x="2194550" y="5544846"/>
            <a:ext cx="2468900" cy="486525"/>
          </a:xfrm>
          <a:custGeom>
            <a:avLst/>
            <a:gdLst/>
            <a:ahLst/>
            <a:cxnLst/>
            <a:rect l="0" t="0" r="0" b="0"/>
            <a:pathLst>
              <a:path w="98756" h="19461" extrusionOk="0">
                <a:moveTo>
                  <a:pt x="0" y="12528"/>
                </a:moveTo>
                <a:cubicBezTo>
                  <a:pt x="4011" y="10463"/>
                  <a:pt x="14041" y="-981"/>
                  <a:pt x="24070" y="140"/>
                </a:cubicBezTo>
                <a:cubicBezTo>
                  <a:pt x="34099" y="1261"/>
                  <a:pt x="47726" y="17720"/>
                  <a:pt x="60174" y="19254"/>
                </a:cubicBezTo>
                <a:cubicBezTo>
                  <a:pt x="72621" y="20787"/>
                  <a:pt x="92325" y="10994"/>
                  <a:pt x="98756" y="934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266" name="Shape 266"/>
          <p:cNvSpPr/>
          <p:nvPr/>
        </p:nvSpPr>
        <p:spPr>
          <a:xfrm>
            <a:off x="5274025" y="5376300"/>
            <a:ext cx="2429400" cy="7917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7" name="Shape 267"/>
          <p:cNvSpPr txBox="1"/>
          <p:nvPr/>
        </p:nvSpPr>
        <p:spPr>
          <a:xfrm>
            <a:off x="5274025" y="6238575"/>
            <a:ext cx="2429400" cy="274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>
                <a:solidFill>
                  <a:srgbClr val="FF0000"/>
                </a:solidFill>
              </a:rPr>
              <a:t>HSA GPU’s configuration register mmio address </a:t>
            </a:r>
          </a:p>
        </p:txBody>
      </p:sp>
      <p:grpSp>
        <p:nvGrpSpPr>
          <p:cNvPr id="268" name="Shape 268"/>
          <p:cNvGrpSpPr/>
          <p:nvPr/>
        </p:nvGrpSpPr>
        <p:grpSpPr>
          <a:xfrm>
            <a:off x="0" y="3841750"/>
            <a:ext cx="2117399" cy="1045175"/>
            <a:chOff x="3513300" y="3841750"/>
            <a:chExt cx="2117399" cy="1045175"/>
          </a:xfrm>
        </p:grpSpPr>
        <p:grpSp>
          <p:nvGrpSpPr>
            <p:cNvPr id="269" name="Shape 269"/>
            <p:cNvGrpSpPr/>
            <p:nvPr/>
          </p:nvGrpSpPr>
          <p:grpSpPr>
            <a:xfrm>
              <a:off x="3513300" y="3841750"/>
              <a:ext cx="2117399" cy="552024"/>
              <a:chOff x="6335925" y="5615800"/>
              <a:chExt cx="2117399" cy="552024"/>
            </a:xfrm>
          </p:grpSpPr>
          <p:sp>
            <p:nvSpPr>
              <p:cNvPr id="270" name="Shape 270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271" name="Shape 271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272" name="Shape 272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273" name="Shape 273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274" name="Shape 274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275" name="Shape 275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276" name="Shape 276"/>
            <p:cNvSpPr txBox="1"/>
            <p:nvPr/>
          </p:nvSpPr>
          <p:spPr>
            <a:xfrm>
              <a:off x="3557300" y="4400325"/>
              <a:ext cx="1991099" cy="4866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Free hardware queue_id bitmap</a:t>
              </a:r>
            </a:p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(Up to 64 hardware queues)</a:t>
              </a:r>
            </a:p>
          </p:txBody>
        </p:sp>
      </p:grpSp>
      <p:sp>
        <p:nvSpPr>
          <p:cNvPr id="277" name="Shape 277"/>
          <p:cNvSpPr txBox="1"/>
          <p:nvPr/>
        </p:nvSpPr>
        <p:spPr>
          <a:xfrm>
            <a:off x="5206675" y="5397900"/>
            <a:ext cx="735899" cy="753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700" b="1">
              <a:solidFill>
                <a:srgbClr val="1155CC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zh-TW" sz="800" b="1">
                <a:solidFill>
                  <a:srgbClr val="1155CC"/>
                </a:solidFill>
              </a:rPr>
              <a:t>queue select register</a:t>
            </a:r>
          </a:p>
        </p:txBody>
      </p:sp>
      <p:sp>
        <p:nvSpPr>
          <p:cNvPr id="278" name="Shape 278"/>
          <p:cNvSpPr/>
          <p:nvPr/>
        </p:nvSpPr>
        <p:spPr>
          <a:xfrm>
            <a:off x="1212825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279" name="Shape 279"/>
          <p:cNvCxnSpPr/>
          <p:nvPr/>
        </p:nvCxnSpPr>
        <p:spPr>
          <a:xfrm>
            <a:off x="1203225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0" name="Shape 280"/>
          <p:cNvCxnSpPr/>
          <p:nvPr/>
        </p:nvCxnSpPr>
        <p:spPr>
          <a:xfrm>
            <a:off x="1203225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81" name="Shape 281"/>
          <p:cNvSpPr txBox="1"/>
          <p:nvPr/>
        </p:nvSpPr>
        <p:spPr>
          <a:xfrm>
            <a:off x="1183800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1183800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283" name="Shape 283"/>
          <p:cNvSpPr/>
          <p:nvPr/>
        </p:nvSpPr>
        <p:spPr>
          <a:xfrm>
            <a:off x="1527600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284" name="Shape 284"/>
          <p:cNvSpPr txBox="1"/>
          <p:nvPr/>
        </p:nvSpPr>
        <p:spPr>
          <a:xfrm>
            <a:off x="1141525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queue_id=0</a:t>
            </a:r>
          </a:p>
        </p:txBody>
      </p:sp>
      <p:sp>
        <p:nvSpPr>
          <p:cNvPr id="285" name="Shape 285"/>
          <p:cNvSpPr/>
          <p:nvPr/>
        </p:nvSpPr>
        <p:spPr>
          <a:xfrm>
            <a:off x="3301966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286" name="Shape 286"/>
          <p:cNvCxnSpPr/>
          <p:nvPr/>
        </p:nvCxnSpPr>
        <p:spPr>
          <a:xfrm>
            <a:off x="3292366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7" name="Shape 287"/>
          <p:cNvCxnSpPr/>
          <p:nvPr/>
        </p:nvCxnSpPr>
        <p:spPr>
          <a:xfrm>
            <a:off x="3292366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88" name="Shape 288"/>
          <p:cNvSpPr txBox="1"/>
          <p:nvPr/>
        </p:nvSpPr>
        <p:spPr>
          <a:xfrm>
            <a:off x="3272941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3272941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3230666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queue_id=1</a:t>
            </a:r>
          </a:p>
        </p:txBody>
      </p:sp>
      <p:cxnSp>
        <p:nvCxnSpPr>
          <p:cNvPr id="291" name="Shape 291"/>
          <p:cNvCxnSpPr/>
          <p:nvPr/>
        </p:nvCxnSpPr>
        <p:spPr>
          <a:xfrm>
            <a:off x="5381508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2" name="Shape 292"/>
          <p:cNvCxnSpPr/>
          <p:nvPr/>
        </p:nvCxnSpPr>
        <p:spPr>
          <a:xfrm>
            <a:off x="5381508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3" name="Shape 293"/>
          <p:cNvSpPr txBox="1"/>
          <p:nvPr/>
        </p:nvSpPr>
        <p:spPr>
          <a:xfrm>
            <a:off x="5362083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5362083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5347270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queue_id=0</a:t>
            </a:r>
          </a:p>
        </p:txBody>
      </p:sp>
      <p:sp>
        <p:nvSpPr>
          <p:cNvPr id="296" name="Shape 296"/>
          <p:cNvSpPr/>
          <p:nvPr/>
        </p:nvSpPr>
        <p:spPr>
          <a:xfrm>
            <a:off x="7480250" y="855750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297" name="Shape 297"/>
          <p:cNvCxnSpPr/>
          <p:nvPr/>
        </p:nvCxnSpPr>
        <p:spPr>
          <a:xfrm>
            <a:off x="7470650" y="2458175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8" name="Shape 298"/>
          <p:cNvCxnSpPr/>
          <p:nvPr/>
        </p:nvCxnSpPr>
        <p:spPr>
          <a:xfrm>
            <a:off x="7470650" y="2152950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9" name="Shape 299"/>
          <p:cNvSpPr txBox="1"/>
          <p:nvPr/>
        </p:nvSpPr>
        <p:spPr>
          <a:xfrm>
            <a:off x="7451225" y="2431200"/>
            <a:ext cx="9921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7451225" y="2152950"/>
            <a:ext cx="11595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408950" y="422825"/>
            <a:ext cx="1201799" cy="534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queue_id=1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2512550" y="-23100"/>
            <a:ext cx="40806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/>
              <a:t>Each process can have up to 1024 queues</a:t>
            </a:r>
          </a:p>
        </p:txBody>
      </p:sp>
      <p:cxnSp>
        <p:nvCxnSpPr>
          <p:cNvPr id="303" name="Shape 303"/>
          <p:cNvCxnSpPr/>
          <p:nvPr/>
        </p:nvCxnSpPr>
        <p:spPr>
          <a:xfrm>
            <a:off x="187775" y="423100"/>
            <a:ext cx="7871400" cy="19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4" name="Shape 304"/>
          <p:cNvCxnSpPr/>
          <p:nvPr/>
        </p:nvCxnSpPr>
        <p:spPr>
          <a:xfrm rot="10800000">
            <a:off x="1732550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5" name="Shape 305"/>
          <p:cNvCxnSpPr/>
          <p:nvPr/>
        </p:nvCxnSpPr>
        <p:spPr>
          <a:xfrm rot="10800000">
            <a:off x="3859025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6" name="Shape 306"/>
          <p:cNvCxnSpPr/>
          <p:nvPr/>
        </p:nvCxnSpPr>
        <p:spPr>
          <a:xfrm rot="10800000">
            <a:off x="5948175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7" name="Shape 307"/>
          <p:cNvCxnSpPr/>
          <p:nvPr/>
        </p:nvCxnSpPr>
        <p:spPr>
          <a:xfrm rot="10800000">
            <a:off x="8057450" y="432899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8" name="Shape 308"/>
          <p:cNvCxnSpPr/>
          <p:nvPr/>
        </p:nvCxnSpPr>
        <p:spPr>
          <a:xfrm rot="10800000">
            <a:off x="177925" y="413274"/>
            <a:ext cx="0" cy="2961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9" name="Shape 309"/>
          <p:cNvCxnSpPr/>
          <p:nvPr/>
        </p:nvCxnSpPr>
        <p:spPr>
          <a:xfrm rot="10800000" flipH="1">
            <a:off x="187775" y="3364975"/>
            <a:ext cx="1052699" cy="9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0" name="Shape 310"/>
          <p:cNvCxnSpPr/>
          <p:nvPr/>
        </p:nvCxnSpPr>
        <p:spPr>
          <a:xfrm>
            <a:off x="1877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1" name="Shape 311"/>
          <p:cNvCxnSpPr/>
          <p:nvPr/>
        </p:nvCxnSpPr>
        <p:spPr>
          <a:xfrm>
            <a:off x="52232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2" name="Shape 312"/>
          <p:cNvCxnSpPr/>
          <p:nvPr/>
        </p:nvCxnSpPr>
        <p:spPr>
          <a:xfrm>
            <a:off x="9060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13" name="Shape 313"/>
          <p:cNvCxnSpPr/>
          <p:nvPr/>
        </p:nvCxnSpPr>
        <p:spPr>
          <a:xfrm>
            <a:off x="1240475" y="3374875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4" name="Shape 314"/>
          <p:cNvSpPr/>
          <p:nvPr/>
        </p:nvSpPr>
        <p:spPr>
          <a:xfrm>
            <a:off x="3602687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15" name="Shape 315"/>
          <p:cNvSpPr/>
          <p:nvPr/>
        </p:nvSpPr>
        <p:spPr>
          <a:xfrm>
            <a:off x="5683962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16" name="Shape 316"/>
          <p:cNvSpPr/>
          <p:nvPr/>
        </p:nvSpPr>
        <p:spPr>
          <a:xfrm>
            <a:off x="7759050" y="910950"/>
            <a:ext cx="327622" cy="1142985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317" name="Shape 317"/>
          <p:cNvGrpSpPr/>
          <p:nvPr/>
        </p:nvGrpSpPr>
        <p:grpSpPr>
          <a:xfrm>
            <a:off x="2165475" y="2558225"/>
            <a:ext cx="5352575" cy="2853400"/>
            <a:chOff x="2165475" y="2558225"/>
            <a:chExt cx="5352575" cy="2853400"/>
          </a:xfrm>
        </p:grpSpPr>
        <p:sp>
          <p:nvSpPr>
            <p:cNvPr id="318" name="Shape 318"/>
            <p:cNvSpPr/>
            <p:nvPr/>
          </p:nvSpPr>
          <p:spPr>
            <a:xfrm>
              <a:off x="2165475" y="2646775"/>
              <a:ext cx="3822650" cy="2735325"/>
            </a:xfrm>
            <a:custGeom>
              <a:avLst/>
              <a:gdLst/>
              <a:ahLst/>
              <a:cxnLst/>
              <a:rect l="0" t="0" r="0" b="0"/>
              <a:pathLst>
                <a:path w="152906" h="109413" extrusionOk="0">
                  <a:moveTo>
                    <a:pt x="0" y="0"/>
                  </a:moveTo>
                  <a:cubicBezTo>
                    <a:pt x="8724" y="8593"/>
                    <a:pt x="28271" y="39226"/>
                    <a:pt x="52345" y="51558"/>
                  </a:cubicBezTo>
                  <a:cubicBezTo>
                    <a:pt x="76418" y="63890"/>
                    <a:pt x="128304" y="64349"/>
                    <a:pt x="144441" y="73992"/>
                  </a:cubicBezTo>
                  <a:cubicBezTo>
                    <a:pt x="160577" y="83634"/>
                    <a:pt x="148376" y="103509"/>
                    <a:pt x="149164" y="109413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19" name="Shape 319"/>
            <p:cNvSpPr/>
            <p:nvPr/>
          </p:nvSpPr>
          <p:spPr>
            <a:xfrm>
              <a:off x="4280925" y="2558225"/>
              <a:ext cx="1475900" cy="2853400"/>
            </a:xfrm>
            <a:custGeom>
              <a:avLst/>
              <a:gdLst/>
              <a:ahLst/>
              <a:cxnLst/>
              <a:rect l="0" t="0" r="0" b="0"/>
              <a:pathLst>
                <a:path w="59036" h="114136" extrusionOk="0">
                  <a:moveTo>
                    <a:pt x="0" y="0"/>
                  </a:moveTo>
                  <a:cubicBezTo>
                    <a:pt x="8068" y="4919"/>
                    <a:pt x="38569" y="10495"/>
                    <a:pt x="48409" y="29518"/>
                  </a:cubicBezTo>
                  <a:cubicBezTo>
                    <a:pt x="58248" y="48540"/>
                    <a:pt x="57264" y="100033"/>
                    <a:pt x="59036" y="11413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20" name="Shape 320"/>
            <p:cNvSpPr/>
            <p:nvPr/>
          </p:nvSpPr>
          <p:spPr>
            <a:xfrm>
              <a:off x="5983125" y="2627100"/>
              <a:ext cx="863600" cy="2755000"/>
            </a:xfrm>
            <a:custGeom>
              <a:avLst/>
              <a:gdLst/>
              <a:ahLst/>
              <a:cxnLst/>
              <a:rect l="0" t="0" r="0" b="0"/>
              <a:pathLst>
                <a:path w="34544" h="110200" extrusionOk="0">
                  <a:moveTo>
                    <a:pt x="14562" y="0"/>
                  </a:moveTo>
                  <a:cubicBezTo>
                    <a:pt x="17841" y="2361"/>
                    <a:pt x="36668" y="-4198"/>
                    <a:pt x="34241" y="14168"/>
                  </a:cubicBezTo>
                  <a:cubicBezTo>
                    <a:pt x="31814" y="32534"/>
                    <a:pt x="5706" y="94194"/>
                    <a:pt x="0" y="110200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21" name="Shape 321"/>
            <p:cNvSpPr/>
            <p:nvPr/>
          </p:nvSpPr>
          <p:spPr>
            <a:xfrm>
              <a:off x="5855200" y="2636925"/>
              <a:ext cx="1662850" cy="2715650"/>
            </a:xfrm>
            <a:custGeom>
              <a:avLst/>
              <a:gdLst/>
              <a:ahLst/>
              <a:cxnLst/>
              <a:rect l="0" t="0" r="0" b="0"/>
              <a:pathLst>
                <a:path w="66514" h="108626" extrusionOk="0">
                  <a:moveTo>
                    <a:pt x="66514" y="0"/>
                  </a:moveTo>
                  <a:cubicBezTo>
                    <a:pt x="57199" y="4723"/>
                    <a:pt x="21712" y="10233"/>
                    <a:pt x="10627" y="28338"/>
                  </a:cubicBezTo>
                  <a:cubicBezTo>
                    <a:pt x="-458" y="46442"/>
                    <a:pt x="1771" y="95244"/>
                    <a:pt x="0" y="10862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grpSp>
        <p:nvGrpSpPr>
          <p:cNvPr id="322" name="Shape 322"/>
          <p:cNvGrpSpPr/>
          <p:nvPr/>
        </p:nvGrpSpPr>
        <p:grpSpPr>
          <a:xfrm>
            <a:off x="2194975" y="2272875"/>
            <a:ext cx="5323075" cy="3109225"/>
            <a:chOff x="2194975" y="2272875"/>
            <a:chExt cx="5323075" cy="3109225"/>
          </a:xfrm>
        </p:grpSpPr>
        <p:sp>
          <p:nvSpPr>
            <p:cNvPr id="323" name="Shape 323"/>
            <p:cNvSpPr/>
            <p:nvPr/>
          </p:nvSpPr>
          <p:spPr>
            <a:xfrm>
              <a:off x="2194975" y="2312250"/>
              <a:ext cx="4574450" cy="3050175"/>
            </a:xfrm>
            <a:custGeom>
              <a:avLst/>
              <a:gdLst/>
              <a:ahLst/>
              <a:cxnLst/>
              <a:rect l="0" t="0" r="0" b="0"/>
              <a:pathLst>
                <a:path w="182978" h="122007" extrusionOk="0">
                  <a:moveTo>
                    <a:pt x="0" y="0"/>
                  </a:moveTo>
                  <a:cubicBezTo>
                    <a:pt x="9905" y="5772"/>
                    <a:pt x="31158" y="24926"/>
                    <a:pt x="59430" y="34634"/>
                  </a:cubicBezTo>
                  <a:cubicBezTo>
                    <a:pt x="87701" y="44342"/>
                    <a:pt x="149164" y="43685"/>
                    <a:pt x="169630" y="58248"/>
                  </a:cubicBezTo>
                  <a:cubicBezTo>
                    <a:pt x="190095" y="72810"/>
                    <a:pt x="180125" y="111380"/>
                    <a:pt x="182224" y="12200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24" name="Shape 324"/>
            <p:cNvSpPr/>
            <p:nvPr/>
          </p:nvSpPr>
          <p:spPr>
            <a:xfrm>
              <a:off x="4280925" y="2272875"/>
              <a:ext cx="2322075" cy="3109225"/>
            </a:xfrm>
            <a:custGeom>
              <a:avLst/>
              <a:gdLst/>
              <a:ahLst/>
              <a:cxnLst/>
              <a:rect l="0" t="0" r="0" b="0"/>
              <a:pathLst>
                <a:path w="92883" h="124369" extrusionOk="0">
                  <a:moveTo>
                    <a:pt x="0" y="0"/>
                  </a:moveTo>
                  <a:cubicBezTo>
                    <a:pt x="10232" y="5838"/>
                    <a:pt x="45916" y="14299"/>
                    <a:pt x="61397" y="35028"/>
                  </a:cubicBezTo>
                  <a:cubicBezTo>
                    <a:pt x="76877" y="55756"/>
                    <a:pt x="87635" y="109478"/>
                    <a:pt x="92883" y="124369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25" name="Shape 325"/>
            <p:cNvSpPr/>
            <p:nvPr/>
          </p:nvSpPr>
          <p:spPr>
            <a:xfrm>
              <a:off x="6386525" y="2312250"/>
              <a:ext cx="893750" cy="3060025"/>
            </a:xfrm>
            <a:custGeom>
              <a:avLst/>
              <a:gdLst/>
              <a:ahLst/>
              <a:cxnLst/>
              <a:rect l="0" t="0" r="0" b="0"/>
              <a:pathLst>
                <a:path w="35750" h="122401" extrusionOk="0">
                  <a:moveTo>
                    <a:pt x="0" y="0"/>
                  </a:moveTo>
                  <a:cubicBezTo>
                    <a:pt x="5903" y="4919"/>
                    <a:pt x="32798" y="9116"/>
                    <a:pt x="35422" y="29517"/>
                  </a:cubicBezTo>
                  <a:cubicBezTo>
                    <a:pt x="38045" y="49917"/>
                    <a:pt x="19022" y="106920"/>
                    <a:pt x="15743" y="122401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26" name="Shape 326"/>
            <p:cNvSpPr/>
            <p:nvPr/>
          </p:nvSpPr>
          <p:spPr>
            <a:xfrm>
              <a:off x="6671875" y="2322075"/>
              <a:ext cx="846175" cy="3020675"/>
            </a:xfrm>
            <a:custGeom>
              <a:avLst/>
              <a:gdLst/>
              <a:ahLst/>
              <a:cxnLst/>
              <a:rect l="0" t="0" r="0" b="0"/>
              <a:pathLst>
                <a:path w="33847" h="120827" extrusionOk="0">
                  <a:moveTo>
                    <a:pt x="33847" y="0"/>
                  </a:moveTo>
                  <a:cubicBezTo>
                    <a:pt x="29780" y="7412"/>
                    <a:pt x="15087" y="24336"/>
                    <a:pt x="9446" y="44474"/>
                  </a:cubicBezTo>
                  <a:cubicBezTo>
                    <a:pt x="3804" y="64611"/>
                    <a:pt x="1574" y="108101"/>
                    <a:pt x="0" y="12082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327" name="Shape 327"/>
          <p:cNvSpPr txBox="1"/>
          <p:nvPr/>
        </p:nvSpPr>
        <p:spPr>
          <a:xfrm>
            <a:off x="2900175" y="6117925"/>
            <a:ext cx="2268600" cy="333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/>
              <a:t>Physical Address</a:t>
            </a:r>
          </a:p>
        </p:txBody>
      </p:sp>
      <p:grpSp>
        <p:nvGrpSpPr>
          <p:cNvPr id="328" name="Shape 328"/>
          <p:cNvGrpSpPr/>
          <p:nvPr/>
        </p:nvGrpSpPr>
        <p:grpSpPr>
          <a:xfrm>
            <a:off x="925725" y="2735125"/>
            <a:ext cx="7548075" cy="2786339"/>
            <a:chOff x="925725" y="2735125"/>
            <a:chExt cx="7548075" cy="2786339"/>
          </a:xfrm>
        </p:grpSpPr>
        <p:sp>
          <p:nvSpPr>
            <p:cNvPr id="329" name="Shape 329"/>
            <p:cNvSpPr/>
            <p:nvPr/>
          </p:nvSpPr>
          <p:spPr>
            <a:xfrm>
              <a:off x="925725" y="4378500"/>
              <a:ext cx="4555494" cy="1142964"/>
            </a:xfrm>
            <a:custGeom>
              <a:avLst/>
              <a:gdLst/>
              <a:ahLst/>
              <a:cxnLst/>
              <a:rect l="0" t="0" r="0" b="0"/>
              <a:pathLst>
                <a:path w="181043" h="34241" extrusionOk="0">
                  <a:moveTo>
                    <a:pt x="0" y="0"/>
                  </a:moveTo>
                  <a:lnTo>
                    <a:pt x="393" y="18104"/>
                  </a:lnTo>
                  <a:lnTo>
                    <a:pt x="179469" y="18498"/>
                  </a:lnTo>
                  <a:lnTo>
                    <a:pt x="181043" y="34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330" name="Shape 330"/>
            <p:cNvSpPr txBox="1"/>
            <p:nvPr/>
          </p:nvSpPr>
          <p:spPr>
            <a:xfrm>
              <a:off x="1209950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HQ0</a:t>
              </a:r>
            </a:p>
          </p:txBody>
        </p:sp>
        <p:sp>
          <p:nvSpPr>
            <p:cNvPr id="331" name="Shape 331"/>
            <p:cNvSpPr txBox="1"/>
            <p:nvPr/>
          </p:nvSpPr>
          <p:spPr>
            <a:xfrm>
              <a:off x="3300525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HQ1</a:t>
              </a:r>
            </a:p>
          </p:txBody>
        </p:sp>
        <p:sp>
          <p:nvSpPr>
            <p:cNvPr id="332" name="Shape 332"/>
            <p:cNvSpPr txBox="1"/>
            <p:nvPr/>
          </p:nvSpPr>
          <p:spPr>
            <a:xfrm>
              <a:off x="5391125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HQ2</a:t>
              </a:r>
            </a:p>
          </p:txBody>
        </p:sp>
        <p:sp>
          <p:nvSpPr>
            <p:cNvPr id="333" name="Shape 333"/>
            <p:cNvSpPr txBox="1"/>
            <p:nvPr/>
          </p:nvSpPr>
          <p:spPr>
            <a:xfrm>
              <a:off x="7481700" y="2735125"/>
              <a:ext cx="992100" cy="5340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HQ3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340" name="Shape 3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341274" y="2431475"/>
            <a:ext cx="6166525" cy="4426525"/>
          </a:xfrm>
          <a:prstGeom prst="rect">
            <a:avLst/>
          </a:prstGeom>
        </p:spPr>
      </p:pic>
      <p:pic>
        <p:nvPicPr>
          <p:cNvPr id="341" name="Shape 34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257150" y="200225"/>
            <a:ext cx="4613122" cy="223125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Application Computation ...</a:t>
            </a:r>
          </a:p>
        </p:txBody>
      </p:sp>
      <p:sp>
        <p:nvSpPr>
          <p:cNvPr id="347" name="Shape 3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HW has ring_base_addr </a:t>
            </a:r>
            <a:r>
              <a:rPr lang="zh-TW">
                <a:solidFill>
                  <a:srgbClr val="1155CC"/>
                </a:solidFill>
              </a:rPr>
              <a:t>user-space address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Including write&amp;read ring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Use to write&amp;read AQL packet and wait signal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User application has HW doorbell </a:t>
            </a:r>
            <a:r>
              <a:rPr lang="zh-TW">
                <a:solidFill>
                  <a:srgbClr val="1155CC"/>
                </a:solidFill>
              </a:rPr>
              <a:t>mmio address</a:t>
            </a:r>
          </a:p>
          <a:p>
            <a:pPr marL="914400" lvl="1" indent="-381000" rtl="0"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Use to kick hardware</a:t>
            </a:r>
          </a:p>
          <a:p>
            <a:pPr lvl="0">
              <a:spcBef>
                <a:spcPts val="0"/>
              </a:spcBef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348" name="Shape 348"/>
          <p:cNvSpPr txBox="1"/>
          <p:nvPr/>
        </p:nvSpPr>
        <p:spPr>
          <a:xfrm>
            <a:off x="457200" y="4214250"/>
            <a:ext cx="3901800" cy="561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3000"/>
              <a:t>Driver do nothing</a:t>
            </a:r>
          </a:p>
        </p:txBody>
      </p:sp>
      <p:sp>
        <p:nvSpPr>
          <p:cNvPr id="349" name="Shape 349"/>
          <p:cNvSpPr txBox="1"/>
          <p:nvPr/>
        </p:nvSpPr>
        <p:spPr>
          <a:xfrm>
            <a:off x="457200" y="4685675"/>
            <a:ext cx="8681699" cy="561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3000">
                <a:solidFill>
                  <a:schemeClr val="dk1"/>
                </a:solidFill>
              </a:rPr>
              <a:t>Until application send ioctl(KFD_IOC_DESTROY_QUEUE) or application finish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Haredware Queue Deactivation</a:t>
            </a:r>
          </a:p>
        </p:txBody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zh-TW"/>
              <a:t>Task exit notifier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zh-TW"/>
              <a:t>Application send ioctl(KFD_IOC_DESTROY_QUEUE)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Haredware Queue Deactivation (1)</a:t>
            </a:r>
          </a:p>
        </p:txBody>
      </p:sp>
      <p:sp>
        <p:nvSpPr>
          <p:cNvPr id="361" name="Shape 3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Task exit notifier will call iommu_pasid_shutdown_callback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amd_iommu_v2’s profile_nb-&gt;task_exit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task_exit will check whether there is pasid-&gt;task map to this task which is exiting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3000"/>
              <a:t>scheduler_class-&gt;destroy_queue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release hardware queue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scheduler_class-&gt;deregister_process</a:t>
            </a:r>
          </a:p>
          <a:p>
            <a:pPr marL="914400" lvl="1" indent="-3810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release pasid, vmid, iommu binding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Haredware Queue Deactivation (2)</a:t>
            </a:r>
          </a:p>
        </p:txBody>
      </p:sp>
      <p:sp>
        <p:nvSpPr>
          <p:cNvPr id="367" name="Shape 3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For now, Okra don’t use this call gate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scheduler_class-&gt;destroy_queue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Only release hardware 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WRITE_REG(CP_HQD_DEQUEUE_REQUEST)</a:t>
            </a:r>
          </a:p>
          <a:p>
            <a:pPr marL="914400" lvl="1" indent="-381000" rtl="0">
              <a:spcBef>
                <a:spcPts val="0"/>
              </a:spcBef>
              <a:buClr>
                <a:srgbClr val="1155CC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1155CC"/>
                </a:solidFill>
              </a:rPr>
              <a:t>wait_event(dequeue_wait)</a:t>
            </a:r>
          </a:p>
          <a:p>
            <a:pPr marL="914400" lvl="1" indent="-3810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Keep user-level pasid, vmid, iommu binding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scheduler_class-&gt;interrupt_isr()</a:t>
            </a:r>
          </a:p>
        </p:txBody>
      </p:sp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wake_up_all(dequeue_wait)</a:t>
            </a:r>
          </a:p>
          <a:p>
            <a: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/>
              <a:t>Wait event will check CP_HQD_ACTIVE==0? </a:t>
            </a:r>
          </a:p>
          <a:p>
            <a:pPr marL="1371600" marR="0" lvl="2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zh-TW"/>
              <a:t>If so, release hqd</a:t>
            </a:r>
          </a:p>
          <a:p>
            <a: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Else, keep waiting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KFD_IOC_GET_CLOCK_COUNTERS</a:t>
            </a:r>
          </a:p>
        </p:txBody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Get clock count from GPU</a:t>
            </a:r>
          </a:p>
        </p:txBody>
      </p:sp>
      <p:pic>
        <p:nvPicPr>
          <p:cNvPr id="380" name="Shape 38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47175" y="2605262"/>
            <a:ext cx="4686300" cy="124777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386" name="Shape 386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67700"/>
          </a:xfrm>
          <a:prstGeom prst="rect">
            <a:avLst/>
          </a:prstGeom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Code Overview</a:t>
            </a:r>
          </a:p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Flow Overview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User &amp; Hardware Queues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GCR3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Flow Review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Introduction to IOMMU</a:t>
            </a:r>
          </a:p>
        </p:txBody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User application send AQL packet into ring address which is </a:t>
            </a:r>
            <a:r>
              <a:rPr lang="zh-TW" b="1">
                <a:solidFill>
                  <a:srgbClr val="1155CC"/>
                </a:solidFill>
              </a:rPr>
              <a:t>virtual address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Device accessing need translate VA to PA</a:t>
            </a:r>
          </a:p>
        </p:txBody>
      </p:sp>
      <p:pic>
        <p:nvPicPr>
          <p:cNvPr id="393" name="Shape 39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81350" y="3276600"/>
            <a:ext cx="3581400" cy="3581400"/>
          </a:xfrm>
          <a:prstGeom prst="rect">
            <a:avLst/>
          </a:prstGeom>
        </p:spPr>
      </p:pic>
      <p:sp>
        <p:nvSpPr>
          <p:cNvPr id="394" name="Shape 394"/>
          <p:cNvSpPr/>
          <p:nvPr/>
        </p:nvSpPr>
        <p:spPr>
          <a:xfrm>
            <a:off x="6360875" y="5275025"/>
            <a:ext cx="1775574" cy="1143017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Doorbell</a:t>
            </a:r>
          </a:p>
        </p:txBody>
      </p:sp>
      <p:sp>
        <p:nvSpPr>
          <p:cNvPr id="395" name="Shape 395"/>
          <p:cNvSpPr/>
          <p:nvPr/>
        </p:nvSpPr>
        <p:spPr>
          <a:xfrm>
            <a:off x="1306650" y="5275025"/>
            <a:ext cx="1775574" cy="1143017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Ring Address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Shape 400"/>
          <p:cNvGrpSpPr/>
          <p:nvPr/>
        </p:nvGrpSpPr>
        <p:grpSpPr>
          <a:xfrm>
            <a:off x="345178" y="754485"/>
            <a:ext cx="8453642" cy="5349029"/>
            <a:chOff x="0" y="905889"/>
            <a:chExt cx="8453642" cy="5349029"/>
          </a:xfrm>
        </p:grpSpPr>
        <p:sp>
          <p:nvSpPr>
            <p:cNvPr id="401" name="Shape 401"/>
            <p:cNvSpPr/>
            <p:nvPr/>
          </p:nvSpPr>
          <p:spPr>
            <a:xfrm>
              <a:off x="460526" y="367901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402" name="Shape 402"/>
            <p:cNvCxnSpPr/>
            <p:nvPr/>
          </p:nvCxnSpPr>
          <p:spPr>
            <a:xfrm>
              <a:off x="449494" y="552046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03" name="Shape 403"/>
            <p:cNvCxnSpPr/>
            <p:nvPr/>
          </p:nvCxnSpPr>
          <p:spPr>
            <a:xfrm>
              <a:off x="449494" y="516971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04" name="Shape 404"/>
            <p:cNvCxnSpPr/>
            <p:nvPr/>
          </p:nvCxnSpPr>
          <p:spPr>
            <a:xfrm>
              <a:off x="449494" y="405169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05" name="Shape 405"/>
            <p:cNvSpPr txBox="1"/>
            <p:nvPr/>
          </p:nvSpPr>
          <p:spPr>
            <a:xfrm>
              <a:off x="427172" y="4051693"/>
              <a:ext cx="1139999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HSA GPU</a:t>
              </a:r>
            </a:p>
          </p:txBody>
        </p:sp>
        <p:cxnSp>
          <p:nvCxnSpPr>
            <p:cNvPr id="406" name="Shape 406"/>
            <p:cNvCxnSpPr/>
            <p:nvPr/>
          </p:nvCxnSpPr>
          <p:spPr>
            <a:xfrm>
              <a:off x="449494" y="480255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07" name="Shape 407"/>
            <p:cNvCxnSpPr/>
            <p:nvPr/>
          </p:nvCxnSpPr>
          <p:spPr>
            <a:xfrm>
              <a:off x="449494" y="441885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08" name="Shape 408"/>
            <p:cNvSpPr txBox="1"/>
            <p:nvPr/>
          </p:nvSpPr>
          <p:spPr>
            <a:xfrm>
              <a:off x="392180" y="5871219"/>
              <a:ext cx="1210200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Device table</a:t>
              </a:r>
            </a:p>
          </p:txBody>
        </p:sp>
        <p:sp>
          <p:nvSpPr>
            <p:cNvPr id="409" name="Shape 409"/>
            <p:cNvSpPr/>
            <p:nvPr/>
          </p:nvSpPr>
          <p:spPr>
            <a:xfrm>
              <a:off x="2280771" y="90588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410" name="Shape 410"/>
            <p:cNvCxnSpPr/>
            <p:nvPr/>
          </p:nvCxnSpPr>
          <p:spPr>
            <a:xfrm>
              <a:off x="2269739" y="274733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11" name="Shape 411"/>
            <p:cNvCxnSpPr/>
            <p:nvPr/>
          </p:nvCxnSpPr>
          <p:spPr>
            <a:xfrm>
              <a:off x="2269739" y="239658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12" name="Shape 412"/>
            <p:cNvCxnSpPr/>
            <p:nvPr/>
          </p:nvCxnSpPr>
          <p:spPr>
            <a:xfrm>
              <a:off x="2269739" y="127856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13" name="Shape 413"/>
            <p:cNvSpPr txBox="1"/>
            <p:nvPr/>
          </p:nvSpPr>
          <p:spPr>
            <a:xfrm>
              <a:off x="2247416" y="1278563"/>
              <a:ext cx="1139999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PASID=2</a:t>
              </a:r>
            </a:p>
          </p:txBody>
        </p:sp>
        <p:cxnSp>
          <p:nvCxnSpPr>
            <p:cNvPr id="414" name="Shape 414"/>
            <p:cNvCxnSpPr/>
            <p:nvPr/>
          </p:nvCxnSpPr>
          <p:spPr>
            <a:xfrm>
              <a:off x="2269739" y="2029425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15" name="Shape 415"/>
            <p:cNvCxnSpPr/>
            <p:nvPr/>
          </p:nvCxnSpPr>
          <p:spPr>
            <a:xfrm>
              <a:off x="2269739" y="164572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16" name="Shape 416"/>
            <p:cNvSpPr txBox="1"/>
            <p:nvPr/>
          </p:nvSpPr>
          <p:spPr>
            <a:xfrm>
              <a:off x="2212425" y="3098089"/>
              <a:ext cx="1210200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GCR3</a:t>
              </a:r>
            </a:p>
          </p:txBody>
        </p:sp>
        <p:sp>
          <p:nvSpPr>
            <p:cNvPr id="417" name="Shape 417"/>
            <p:cNvSpPr/>
            <p:nvPr/>
          </p:nvSpPr>
          <p:spPr>
            <a:xfrm>
              <a:off x="1566049" y="3063729"/>
              <a:ext cx="714743" cy="1179309"/>
            </a:xfrm>
            <a:custGeom>
              <a:avLst/>
              <a:gdLst/>
              <a:ahLst/>
              <a:cxnLst/>
              <a:rect l="0" t="0" r="0" b="0"/>
              <a:pathLst>
                <a:path w="23008" h="41048" extrusionOk="0">
                  <a:moveTo>
                    <a:pt x="0" y="41048"/>
                  </a:moveTo>
                  <a:cubicBezTo>
                    <a:pt x="2595" y="39219"/>
                    <a:pt x="15516" y="36505"/>
                    <a:pt x="15575" y="30075"/>
                  </a:cubicBezTo>
                  <a:cubicBezTo>
                    <a:pt x="15634" y="23644"/>
                    <a:pt x="-884" y="7245"/>
                    <a:pt x="354" y="2467"/>
                  </a:cubicBezTo>
                  <a:cubicBezTo>
                    <a:pt x="1592" y="-2311"/>
                    <a:pt x="19232" y="1582"/>
                    <a:pt x="23008" y="140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8" name="Shape 418"/>
            <p:cNvSpPr/>
            <p:nvPr/>
          </p:nvSpPr>
          <p:spPr>
            <a:xfrm>
              <a:off x="2888046" y="5520466"/>
              <a:ext cx="2433300" cy="6267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419" name="Shape 419"/>
            <p:cNvCxnSpPr/>
            <p:nvPr/>
          </p:nvCxnSpPr>
          <p:spPr>
            <a:xfrm>
              <a:off x="3284622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20" name="Shape 420"/>
            <p:cNvCxnSpPr/>
            <p:nvPr/>
          </p:nvCxnSpPr>
          <p:spPr>
            <a:xfrm>
              <a:off x="3701538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21" name="Shape 421"/>
            <p:cNvCxnSpPr/>
            <p:nvPr/>
          </p:nvCxnSpPr>
          <p:spPr>
            <a:xfrm>
              <a:off x="4118483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22" name="Shape 422"/>
            <p:cNvCxnSpPr/>
            <p:nvPr/>
          </p:nvCxnSpPr>
          <p:spPr>
            <a:xfrm>
              <a:off x="4535399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23" name="Shape 423"/>
            <p:cNvCxnSpPr/>
            <p:nvPr/>
          </p:nvCxnSpPr>
          <p:spPr>
            <a:xfrm>
              <a:off x="4942174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grpSp>
          <p:nvGrpSpPr>
            <p:cNvPr id="424" name="Shape 424"/>
            <p:cNvGrpSpPr/>
            <p:nvPr/>
          </p:nvGrpSpPr>
          <p:grpSpPr>
            <a:xfrm>
              <a:off x="6020326" y="5520677"/>
              <a:ext cx="2433315" cy="634387"/>
              <a:chOff x="6335925" y="5615800"/>
              <a:chExt cx="2117399" cy="552024"/>
            </a:xfrm>
          </p:grpSpPr>
          <p:sp>
            <p:nvSpPr>
              <p:cNvPr id="425" name="Shape 425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426" name="Shape 426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27" name="Shape 427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28" name="Shape 428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29" name="Shape 429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30" name="Shape 430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431" name="Shape 431"/>
            <p:cNvGrpSpPr/>
            <p:nvPr/>
          </p:nvGrpSpPr>
          <p:grpSpPr>
            <a:xfrm>
              <a:off x="4535637" y="3482005"/>
              <a:ext cx="2433315" cy="634387"/>
              <a:chOff x="6335925" y="5615800"/>
              <a:chExt cx="2117399" cy="552024"/>
            </a:xfrm>
          </p:grpSpPr>
          <p:sp>
            <p:nvSpPr>
              <p:cNvPr id="432" name="Shape 432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433" name="Shape 433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34" name="Shape 434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35" name="Shape 435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36" name="Shape 436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437" name="Shape 437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438" name="Shape 438"/>
            <p:cNvSpPr/>
            <p:nvPr/>
          </p:nvSpPr>
          <p:spPr>
            <a:xfrm>
              <a:off x="3386294" y="1401472"/>
              <a:ext cx="1253920" cy="2089101"/>
            </a:xfrm>
            <a:custGeom>
              <a:avLst/>
              <a:gdLst/>
              <a:ahLst/>
              <a:cxnLst/>
              <a:rect l="0" t="0" r="0" b="0"/>
              <a:pathLst>
                <a:path w="43645" h="72715" extrusionOk="0">
                  <a:moveTo>
                    <a:pt x="0" y="2631"/>
                  </a:moveTo>
                  <a:cubicBezTo>
                    <a:pt x="4837" y="2513"/>
                    <a:pt x="21827" y="-2501"/>
                    <a:pt x="29025" y="1923"/>
                  </a:cubicBezTo>
                  <a:cubicBezTo>
                    <a:pt x="36222" y="6347"/>
                    <a:pt x="41355" y="17379"/>
                    <a:pt x="43184" y="29178"/>
                  </a:cubicBezTo>
                  <a:cubicBezTo>
                    <a:pt x="45012" y="40976"/>
                    <a:pt x="40529" y="65458"/>
                    <a:pt x="39998" y="7271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39" name="Shape 439"/>
            <p:cNvSpPr/>
            <p:nvPr/>
          </p:nvSpPr>
          <p:spPr>
            <a:xfrm>
              <a:off x="2888017" y="4120987"/>
              <a:ext cx="1888221" cy="1413515"/>
            </a:xfrm>
            <a:custGeom>
              <a:avLst/>
              <a:gdLst/>
              <a:ahLst/>
              <a:cxnLst/>
              <a:rect l="0" t="0" r="0" b="0"/>
              <a:pathLst>
                <a:path w="65723" h="49200" extrusionOk="0">
                  <a:moveTo>
                    <a:pt x="64421" y="0"/>
                  </a:moveTo>
                  <a:cubicBezTo>
                    <a:pt x="63772" y="3362"/>
                    <a:pt x="69672" y="15751"/>
                    <a:pt x="60528" y="20176"/>
                  </a:cubicBezTo>
                  <a:cubicBezTo>
                    <a:pt x="51384" y="24600"/>
                    <a:pt x="19645" y="21709"/>
                    <a:pt x="9557" y="26547"/>
                  </a:cubicBezTo>
                  <a:cubicBezTo>
                    <a:pt x="-531" y="31384"/>
                    <a:pt x="1592" y="45424"/>
                    <a:pt x="0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40" name="Shape 440"/>
            <p:cNvSpPr/>
            <p:nvPr/>
          </p:nvSpPr>
          <p:spPr>
            <a:xfrm>
              <a:off x="5684504" y="4110817"/>
              <a:ext cx="447441" cy="1413515"/>
            </a:xfrm>
            <a:custGeom>
              <a:avLst/>
              <a:gdLst/>
              <a:ahLst/>
              <a:cxnLst/>
              <a:rect l="0" t="0" r="0" b="0"/>
              <a:pathLst>
                <a:path w="15574" h="49200" extrusionOk="0">
                  <a:moveTo>
                    <a:pt x="9203" y="0"/>
                  </a:moveTo>
                  <a:cubicBezTo>
                    <a:pt x="7669" y="4188"/>
                    <a:pt x="-1061" y="20175"/>
                    <a:pt x="0" y="25131"/>
                  </a:cubicBezTo>
                  <a:cubicBezTo>
                    <a:pt x="1061" y="30086"/>
                    <a:pt x="13568" y="25721"/>
                    <a:pt x="15574" y="29733"/>
                  </a:cubicBezTo>
                  <a:cubicBezTo>
                    <a:pt x="17579" y="33744"/>
                    <a:pt x="12624" y="45955"/>
                    <a:pt x="12034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41" name="Shape 441"/>
            <p:cNvSpPr/>
            <p:nvPr/>
          </p:nvSpPr>
          <p:spPr>
            <a:xfrm>
              <a:off x="0" y="1251845"/>
              <a:ext cx="2280899" cy="437099"/>
            </a:xfrm>
            <a:prstGeom prst="chevron">
              <a:avLst>
                <a:gd name="adj" fmla="val 50000"/>
              </a:avLst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Assign this entry with kfd_process-&gt;mm-&gt;pgd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</a:t>
            </a:r>
          </a:p>
        </p:txBody>
      </p:sp>
      <p:sp>
        <p:nvSpPr>
          <p:cNvPr id="447" name="Shape 4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The operating system is usually required to pin memory pages used for I/O.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 Provide mechnism to let peripheral to use unpinned pages for I/O.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Only support in AMD IOMMU_v2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4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 </a:t>
            </a:r>
          </a:p>
        </p:txBody>
      </p:sp>
      <p:sp>
        <p:nvSpPr>
          <p:cNvPr id="453" name="Shape 4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PRI(page request interface)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peripheral request memory management service from a host OS or hypervisor (eg, page fault service for peripheral)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Issued by peripheral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﻿PPR(peripheral page service request)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When IOMMU receives a valid PRI request, it creates a PPR message in </a:t>
            </a:r>
            <a:r>
              <a:rPr lang="zh-TW">
                <a:solidFill>
                  <a:srgbClr val="E69138"/>
                </a:solidFill>
              </a:rPr>
              <a:t>request log</a:t>
            </a:r>
            <a:r>
              <a:rPr lang="zh-TW"/>
              <a:t> to request changes to virtual address space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Issued by IOMMU as interrupt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Above use to request IO page table change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IOMMU driver can register PPR notifier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9" name="Shape 4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460" name="Shape 46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1668325"/>
            <a:ext cx="9143999" cy="4300349"/>
          </a:xfrm>
          <a:prstGeom prst="rect">
            <a:avLst/>
          </a:prstGeom>
        </p:spPr>
      </p:pic>
      <p:cxnSp>
        <p:nvCxnSpPr>
          <p:cNvPr id="461" name="Shape 461"/>
          <p:cNvCxnSpPr/>
          <p:nvPr/>
        </p:nvCxnSpPr>
        <p:spPr>
          <a:xfrm>
            <a:off x="1589775" y="3610950"/>
            <a:ext cx="715499" cy="0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2" name="Shape 462"/>
          <p:cNvCxnSpPr/>
          <p:nvPr/>
        </p:nvCxnSpPr>
        <p:spPr>
          <a:xfrm>
            <a:off x="7829575" y="3589900"/>
            <a:ext cx="768000" cy="0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Shape 46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37825" y="686475"/>
            <a:ext cx="8859574" cy="1948599"/>
          </a:xfrm>
          <a:prstGeom prst="rect">
            <a:avLst/>
          </a:prstGeom>
        </p:spPr>
      </p:pic>
      <p:graphicFrame>
        <p:nvGraphicFramePr>
          <p:cNvPr id="468" name="Shape 468"/>
          <p:cNvGraphicFramePr/>
          <p:nvPr/>
        </p:nvGraphicFramePr>
        <p:xfrm>
          <a:off x="952500" y="31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{B7F40AFA-F679-4FA8-BA9B-98C653EF4559}</a:tableStyleId>
              </a:tblPr>
              <a:tblGrid>
                <a:gridCol w="1112275"/>
                <a:gridCol w="6126725"/>
              </a:tblGrid>
              <a:tr h="552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GN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Guest/nested.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1=Address[63:12] is a GVA and PASID is valid. 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0=Address[63:12] is a GPA and PASID should be ignored by software.</a:t>
                      </a:r>
                    </a:p>
                  </a:txBody>
                  <a:tcPr marL="91425" marR="91425" marT="91425" marB="91425"/>
                </a:tc>
              </a:tr>
              <a:tr h="7451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US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User/Supervisor. The U/S request received from the peripheral.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1=user and supervisor access are allowed. </a:t>
                      </a:r>
                    </a:p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0=supervisor access is allowed.</a:t>
                      </a:r>
                    </a:p>
                  </a:txBody>
                  <a:tcPr marL="91425" marR="91425" marT="91425" marB="91425"/>
                </a:tc>
              </a:tr>
              <a:tr h="360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WP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Write permission requested. </a:t>
                      </a:r>
                    </a:p>
                  </a:txBody>
                  <a:tcPr marL="91425" marR="91425" marT="91425" marB="91425"/>
                </a:tc>
              </a:tr>
              <a:tr h="360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RP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Read permission requested. </a:t>
                      </a:r>
                    </a:p>
                  </a:txBody>
                  <a:tcPr marL="91425" marR="91425" marT="91425" marB="91425"/>
                </a:tc>
              </a:tr>
              <a:tr h="3603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NX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Execute permission requested. </a:t>
                      </a:r>
                    </a:p>
                  </a:txBody>
                  <a:tcPr marL="91425" marR="91425" marT="91425" marB="91425"/>
                </a:tc>
              </a:tr>
              <a:tr h="3359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PPR tag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zh-TW"/>
                        <a:t>Protocol tag.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module_init(amd_iommu_v2_init)</a:t>
            </a:r>
          </a:p>
        </p:txBody>
      </p:sp>
      <p:sp>
        <p:nvSpPr>
          <p:cNvPr id="474" name="Shape 4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amd_iommu_register_ppr_notifier(&amp;ppr_nb);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PPR callback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ppr_notifier function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profile_event_register(PROFILE_TASK_EXIT, &amp;profile_nb);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Task exit callback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Clear gcr3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Call scheduler_class-&gt;destroy_queue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Set IOMMU With PASID</a:t>
            </a:r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481" name="Shape 48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2425" y="3046025"/>
            <a:ext cx="8334375" cy="294322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amd_iommu_bind_pasid</a:t>
            </a:r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Called when kfd_process create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mmu_notifier_register(&amp;pasid_state-&gt;mn, pasid_state-&gt;mm);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amd_iommu_domain_set_gcr3(dev_state-&gt;domain, pasid,	__pa(pasid_state-&gt;mm-&gt;pgd));</a:t>
            </a: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Shape 492"/>
          <p:cNvGrpSpPr/>
          <p:nvPr/>
        </p:nvGrpSpPr>
        <p:grpSpPr>
          <a:xfrm>
            <a:off x="345178" y="754485"/>
            <a:ext cx="8453642" cy="5349029"/>
            <a:chOff x="0" y="905889"/>
            <a:chExt cx="8453642" cy="5349029"/>
          </a:xfrm>
        </p:grpSpPr>
        <p:sp>
          <p:nvSpPr>
            <p:cNvPr id="493" name="Shape 493"/>
            <p:cNvSpPr/>
            <p:nvPr/>
          </p:nvSpPr>
          <p:spPr>
            <a:xfrm>
              <a:off x="460526" y="367901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494" name="Shape 494"/>
            <p:cNvCxnSpPr/>
            <p:nvPr/>
          </p:nvCxnSpPr>
          <p:spPr>
            <a:xfrm>
              <a:off x="449494" y="552046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5" name="Shape 495"/>
            <p:cNvCxnSpPr/>
            <p:nvPr/>
          </p:nvCxnSpPr>
          <p:spPr>
            <a:xfrm>
              <a:off x="449494" y="516971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6" name="Shape 496"/>
            <p:cNvCxnSpPr/>
            <p:nvPr/>
          </p:nvCxnSpPr>
          <p:spPr>
            <a:xfrm>
              <a:off x="449494" y="405169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97" name="Shape 497"/>
            <p:cNvSpPr txBox="1"/>
            <p:nvPr/>
          </p:nvSpPr>
          <p:spPr>
            <a:xfrm>
              <a:off x="427172" y="4051693"/>
              <a:ext cx="1139999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HSA GPU</a:t>
              </a:r>
            </a:p>
          </p:txBody>
        </p:sp>
        <p:cxnSp>
          <p:nvCxnSpPr>
            <p:cNvPr id="498" name="Shape 498"/>
            <p:cNvCxnSpPr/>
            <p:nvPr/>
          </p:nvCxnSpPr>
          <p:spPr>
            <a:xfrm>
              <a:off x="449494" y="480255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9" name="Shape 499"/>
            <p:cNvCxnSpPr/>
            <p:nvPr/>
          </p:nvCxnSpPr>
          <p:spPr>
            <a:xfrm>
              <a:off x="449494" y="441885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500" name="Shape 500"/>
            <p:cNvSpPr txBox="1"/>
            <p:nvPr/>
          </p:nvSpPr>
          <p:spPr>
            <a:xfrm>
              <a:off x="392180" y="5871219"/>
              <a:ext cx="1210200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Device table</a:t>
              </a:r>
            </a:p>
          </p:txBody>
        </p:sp>
        <p:sp>
          <p:nvSpPr>
            <p:cNvPr id="501" name="Shape 501"/>
            <p:cNvSpPr/>
            <p:nvPr/>
          </p:nvSpPr>
          <p:spPr>
            <a:xfrm>
              <a:off x="2280771" y="90588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502" name="Shape 502"/>
            <p:cNvCxnSpPr/>
            <p:nvPr/>
          </p:nvCxnSpPr>
          <p:spPr>
            <a:xfrm>
              <a:off x="2269739" y="274733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3" name="Shape 503"/>
            <p:cNvCxnSpPr/>
            <p:nvPr/>
          </p:nvCxnSpPr>
          <p:spPr>
            <a:xfrm>
              <a:off x="2269739" y="239658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4" name="Shape 504"/>
            <p:cNvCxnSpPr/>
            <p:nvPr/>
          </p:nvCxnSpPr>
          <p:spPr>
            <a:xfrm>
              <a:off x="2269739" y="127856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505" name="Shape 505"/>
            <p:cNvSpPr txBox="1"/>
            <p:nvPr/>
          </p:nvSpPr>
          <p:spPr>
            <a:xfrm>
              <a:off x="2247416" y="1278563"/>
              <a:ext cx="1139999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PASID=2</a:t>
              </a:r>
            </a:p>
          </p:txBody>
        </p:sp>
        <p:cxnSp>
          <p:nvCxnSpPr>
            <p:cNvPr id="506" name="Shape 506"/>
            <p:cNvCxnSpPr/>
            <p:nvPr/>
          </p:nvCxnSpPr>
          <p:spPr>
            <a:xfrm>
              <a:off x="2269739" y="2029425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7" name="Shape 507"/>
            <p:cNvCxnSpPr/>
            <p:nvPr/>
          </p:nvCxnSpPr>
          <p:spPr>
            <a:xfrm>
              <a:off x="2269739" y="164572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508" name="Shape 508"/>
            <p:cNvSpPr txBox="1"/>
            <p:nvPr/>
          </p:nvSpPr>
          <p:spPr>
            <a:xfrm>
              <a:off x="2212425" y="3098089"/>
              <a:ext cx="1210200" cy="383700"/>
            </a:xfrm>
            <a:prstGeom prst="rect">
              <a:avLst/>
            </a:prstGeom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GCR3</a:t>
              </a:r>
            </a:p>
          </p:txBody>
        </p:sp>
        <p:sp>
          <p:nvSpPr>
            <p:cNvPr id="509" name="Shape 509"/>
            <p:cNvSpPr/>
            <p:nvPr/>
          </p:nvSpPr>
          <p:spPr>
            <a:xfrm>
              <a:off x="1566049" y="3063729"/>
              <a:ext cx="714743" cy="1179309"/>
            </a:xfrm>
            <a:custGeom>
              <a:avLst/>
              <a:gdLst/>
              <a:ahLst/>
              <a:cxnLst/>
              <a:rect l="0" t="0" r="0" b="0"/>
              <a:pathLst>
                <a:path w="23008" h="41048" extrusionOk="0">
                  <a:moveTo>
                    <a:pt x="0" y="41048"/>
                  </a:moveTo>
                  <a:cubicBezTo>
                    <a:pt x="2595" y="39219"/>
                    <a:pt x="15516" y="36505"/>
                    <a:pt x="15575" y="30075"/>
                  </a:cubicBezTo>
                  <a:cubicBezTo>
                    <a:pt x="15634" y="23644"/>
                    <a:pt x="-884" y="7245"/>
                    <a:pt x="354" y="2467"/>
                  </a:cubicBezTo>
                  <a:cubicBezTo>
                    <a:pt x="1592" y="-2311"/>
                    <a:pt x="19232" y="1582"/>
                    <a:pt x="23008" y="140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510" name="Shape 510"/>
            <p:cNvSpPr/>
            <p:nvPr/>
          </p:nvSpPr>
          <p:spPr>
            <a:xfrm>
              <a:off x="2888046" y="5520466"/>
              <a:ext cx="2433300" cy="6267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511" name="Shape 511"/>
            <p:cNvCxnSpPr/>
            <p:nvPr/>
          </p:nvCxnSpPr>
          <p:spPr>
            <a:xfrm>
              <a:off x="3284622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2" name="Shape 512"/>
            <p:cNvCxnSpPr/>
            <p:nvPr/>
          </p:nvCxnSpPr>
          <p:spPr>
            <a:xfrm>
              <a:off x="3701538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3" name="Shape 513"/>
            <p:cNvCxnSpPr/>
            <p:nvPr/>
          </p:nvCxnSpPr>
          <p:spPr>
            <a:xfrm>
              <a:off x="4118483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4" name="Shape 514"/>
            <p:cNvCxnSpPr/>
            <p:nvPr/>
          </p:nvCxnSpPr>
          <p:spPr>
            <a:xfrm>
              <a:off x="4535399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5" name="Shape 515"/>
            <p:cNvCxnSpPr/>
            <p:nvPr/>
          </p:nvCxnSpPr>
          <p:spPr>
            <a:xfrm>
              <a:off x="4942174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grpSp>
          <p:nvGrpSpPr>
            <p:cNvPr id="516" name="Shape 516"/>
            <p:cNvGrpSpPr/>
            <p:nvPr/>
          </p:nvGrpSpPr>
          <p:grpSpPr>
            <a:xfrm>
              <a:off x="6020326" y="5520677"/>
              <a:ext cx="2433315" cy="634387"/>
              <a:chOff x="6335925" y="5615800"/>
              <a:chExt cx="2117399" cy="552024"/>
            </a:xfrm>
          </p:grpSpPr>
          <p:sp>
            <p:nvSpPr>
              <p:cNvPr id="517" name="Shape 517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518" name="Shape 518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19" name="Shape 519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0" name="Shape 520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1" name="Shape 521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2" name="Shape 522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523" name="Shape 523"/>
            <p:cNvGrpSpPr/>
            <p:nvPr/>
          </p:nvGrpSpPr>
          <p:grpSpPr>
            <a:xfrm>
              <a:off x="4535637" y="3482005"/>
              <a:ext cx="2433315" cy="634387"/>
              <a:chOff x="6335925" y="5615800"/>
              <a:chExt cx="2117399" cy="552024"/>
            </a:xfrm>
          </p:grpSpPr>
          <p:sp>
            <p:nvSpPr>
              <p:cNvPr id="524" name="Shape 524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525" name="Shape 525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6" name="Shape 526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7" name="Shape 527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8" name="Shape 528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529" name="Shape 529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530" name="Shape 530"/>
            <p:cNvSpPr/>
            <p:nvPr/>
          </p:nvSpPr>
          <p:spPr>
            <a:xfrm>
              <a:off x="3386294" y="1401472"/>
              <a:ext cx="1253920" cy="2089101"/>
            </a:xfrm>
            <a:custGeom>
              <a:avLst/>
              <a:gdLst/>
              <a:ahLst/>
              <a:cxnLst/>
              <a:rect l="0" t="0" r="0" b="0"/>
              <a:pathLst>
                <a:path w="43645" h="72715" extrusionOk="0">
                  <a:moveTo>
                    <a:pt x="0" y="2631"/>
                  </a:moveTo>
                  <a:cubicBezTo>
                    <a:pt x="4837" y="2513"/>
                    <a:pt x="21827" y="-2501"/>
                    <a:pt x="29025" y="1923"/>
                  </a:cubicBezTo>
                  <a:cubicBezTo>
                    <a:pt x="36222" y="6347"/>
                    <a:pt x="41355" y="17379"/>
                    <a:pt x="43184" y="29178"/>
                  </a:cubicBezTo>
                  <a:cubicBezTo>
                    <a:pt x="45012" y="40976"/>
                    <a:pt x="40529" y="65458"/>
                    <a:pt x="39998" y="7271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531" name="Shape 531"/>
            <p:cNvSpPr/>
            <p:nvPr/>
          </p:nvSpPr>
          <p:spPr>
            <a:xfrm>
              <a:off x="2888017" y="4120987"/>
              <a:ext cx="1888221" cy="1413515"/>
            </a:xfrm>
            <a:custGeom>
              <a:avLst/>
              <a:gdLst/>
              <a:ahLst/>
              <a:cxnLst/>
              <a:rect l="0" t="0" r="0" b="0"/>
              <a:pathLst>
                <a:path w="65723" h="49200" extrusionOk="0">
                  <a:moveTo>
                    <a:pt x="64421" y="0"/>
                  </a:moveTo>
                  <a:cubicBezTo>
                    <a:pt x="63772" y="3362"/>
                    <a:pt x="69672" y="15751"/>
                    <a:pt x="60528" y="20176"/>
                  </a:cubicBezTo>
                  <a:cubicBezTo>
                    <a:pt x="51384" y="24600"/>
                    <a:pt x="19645" y="21709"/>
                    <a:pt x="9557" y="26547"/>
                  </a:cubicBezTo>
                  <a:cubicBezTo>
                    <a:pt x="-531" y="31384"/>
                    <a:pt x="1592" y="45424"/>
                    <a:pt x="0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532" name="Shape 532"/>
            <p:cNvSpPr/>
            <p:nvPr/>
          </p:nvSpPr>
          <p:spPr>
            <a:xfrm>
              <a:off x="5684504" y="4110817"/>
              <a:ext cx="447441" cy="1413515"/>
            </a:xfrm>
            <a:custGeom>
              <a:avLst/>
              <a:gdLst/>
              <a:ahLst/>
              <a:cxnLst/>
              <a:rect l="0" t="0" r="0" b="0"/>
              <a:pathLst>
                <a:path w="15574" h="49200" extrusionOk="0">
                  <a:moveTo>
                    <a:pt x="9203" y="0"/>
                  </a:moveTo>
                  <a:cubicBezTo>
                    <a:pt x="7669" y="4188"/>
                    <a:pt x="-1061" y="20175"/>
                    <a:pt x="0" y="25131"/>
                  </a:cubicBezTo>
                  <a:cubicBezTo>
                    <a:pt x="1061" y="30086"/>
                    <a:pt x="13568" y="25721"/>
                    <a:pt x="15574" y="29733"/>
                  </a:cubicBezTo>
                  <a:cubicBezTo>
                    <a:pt x="17579" y="33744"/>
                    <a:pt x="12624" y="45955"/>
                    <a:pt x="12034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533" name="Shape 533"/>
            <p:cNvSpPr/>
            <p:nvPr/>
          </p:nvSpPr>
          <p:spPr>
            <a:xfrm>
              <a:off x="0" y="1251845"/>
              <a:ext cx="2280899" cy="437099"/>
            </a:xfrm>
            <a:prstGeom prst="chevron">
              <a:avLst>
                <a:gd name="adj" fmla="val 50000"/>
              </a:avLst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Assign this entry with kfd_process-&gt;mm-&gt;pgd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5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 Flow</a:t>
            </a:r>
          </a:p>
        </p:txBody>
      </p:sp>
      <p:sp>
        <p:nvSpPr>
          <p:cNvPr id="539" name="Shape 539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40" name="Shape 540"/>
          <p:cNvSpPr/>
          <p:nvPr/>
        </p:nvSpPr>
        <p:spPr>
          <a:xfrm>
            <a:off x="3164475" y="2185625"/>
            <a:ext cx="3322799" cy="7535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000"/>
              <a:t>Peripheral issue PRI to IOMMU</a:t>
            </a:r>
          </a:p>
        </p:txBody>
      </p:sp>
      <p:sp>
        <p:nvSpPr>
          <p:cNvPr id="541" name="Shape 541"/>
          <p:cNvSpPr/>
          <p:nvPr/>
        </p:nvSpPr>
        <p:spPr>
          <a:xfrm>
            <a:off x="3164475" y="3502000"/>
            <a:ext cx="3322799" cy="7535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/>
              <a:t>IOMMU write PPR request to PPR log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1000"/>
              <a:t>(log contains fault address, pasid, device_id, tag, flags) </a:t>
            </a:r>
          </a:p>
        </p:txBody>
      </p:sp>
      <p:cxnSp>
        <p:nvCxnSpPr>
          <p:cNvPr id="542" name="Shape 542"/>
          <p:cNvCxnSpPr>
            <a:stCxn id="540" idx="4"/>
            <a:endCxn id="541" idx="0"/>
          </p:cNvCxnSpPr>
          <p:nvPr/>
        </p:nvCxnSpPr>
        <p:spPr>
          <a:xfrm>
            <a:off x="4825874" y="2939224"/>
            <a:ext cx="0" cy="562775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3" name="Shape 543"/>
          <p:cNvSpPr/>
          <p:nvPr/>
        </p:nvSpPr>
        <p:spPr>
          <a:xfrm>
            <a:off x="3164475" y="4818375"/>
            <a:ext cx="3322799" cy="7535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/>
              <a:t>IOMMU send interrupt to CPU</a:t>
            </a:r>
          </a:p>
        </p:txBody>
      </p:sp>
      <p:cxnSp>
        <p:nvCxnSpPr>
          <p:cNvPr id="544" name="Shape 544"/>
          <p:cNvCxnSpPr>
            <a:endCxn id="543" idx="0"/>
          </p:cNvCxnSpPr>
          <p:nvPr/>
        </p:nvCxnSpPr>
        <p:spPr>
          <a:xfrm>
            <a:off x="4825874" y="4255574"/>
            <a:ext cx="0" cy="562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5" name="Shape 545"/>
          <p:cNvSpPr txBox="1"/>
          <p:nvPr/>
        </p:nvSpPr>
        <p:spPr>
          <a:xfrm>
            <a:off x="674325" y="2017175"/>
            <a:ext cx="2227199" cy="10904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>
                <a:solidFill>
                  <a:srgbClr val="FF0000"/>
                </a:solidFill>
              </a:rPr>
              <a:t>IOMMU driver can stop the IOMMU from processing PRI request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PPR Flow</a:t>
            </a:r>
          </a:p>
        </p:txBody>
      </p:sp>
      <p:pic>
        <p:nvPicPr>
          <p:cNvPr id="551" name="Shape 55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41000" y="1870100"/>
            <a:ext cx="6115050" cy="3409950"/>
          </a:xfrm>
          <a:prstGeom prst="rect">
            <a:avLst/>
          </a:prstGeom>
        </p:spPr>
      </p:pic>
      <p:sp>
        <p:nvSpPr>
          <p:cNvPr id="552" name="Shape 552"/>
          <p:cNvSpPr/>
          <p:nvPr/>
        </p:nvSpPr>
        <p:spPr>
          <a:xfrm>
            <a:off x="3413625" y="843194"/>
            <a:ext cx="5127075" cy="3092400"/>
          </a:xfrm>
          <a:custGeom>
            <a:avLst/>
            <a:gdLst/>
            <a:ahLst/>
            <a:cxnLst/>
            <a:rect l="0" t="0" r="0" b="0"/>
            <a:pathLst>
              <a:path w="205083" h="123696" extrusionOk="0">
                <a:moveTo>
                  <a:pt x="118768" y="100037"/>
                </a:moveTo>
                <a:cubicBezTo>
                  <a:pt x="125387" y="103567"/>
                  <a:pt x="144362" y="132061"/>
                  <a:pt x="158484" y="121219"/>
                </a:cubicBezTo>
                <a:cubicBezTo>
                  <a:pt x="172605" y="110376"/>
                  <a:pt x="200280" y="54648"/>
                  <a:pt x="203495" y="34980"/>
                </a:cubicBezTo>
                <a:cubicBezTo>
                  <a:pt x="206710" y="15311"/>
                  <a:pt x="207718" y="7998"/>
                  <a:pt x="177774" y="3207"/>
                </a:cubicBezTo>
                <a:cubicBezTo>
                  <a:pt x="147829" y="-1584"/>
                  <a:pt x="53459" y="-953"/>
                  <a:pt x="23830" y="6233"/>
                </a:cubicBezTo>
                <a:cubicBezTo>
                  <a:pt x="-5799" y="13419"/>
                  <a:pt x="3971" y="39644"/>
                  <a:pt x="0" y="46327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553" name="Shape 553"/>
          <p:cNvSpPr txBox="1"/>
          <p:nvPr/>
        </p:nvSpPr>
        <p:spPr>
          <a:xfrm>
            <a:off x="2895500" y="1127300"/>
            <a:ext cx="1588500" cy="3452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When irq comes</a:t>
            </a:r>
          </a:p>
        </p:txBody>
      </p:sp>
      <p:sp>
        <p:nvSpPr>
          <p:cNvPr id="554" name="Shape 554"/>
          <p:cNvSpPr/>
          <p:nvPr/>
        </p:nvSpPr>
        <p:spPr>
          <a:xfrm>
            <a:off x="1814050" y="5489350"/>
            <a:ext cx="3345000" cy="398099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/>
              <a:t>ppr_notifier</a:t>
            </a:r>
          </a:p>
        </p:txBody>
      </p:sp>
      <p:cxnSp>
        <p:nvCxnSpPr>
          <p:cNvPr id="555" name="Shape 555"/>
          <p:cNvCxnSpPr>
            <a:endCxn id="554" idx="0"/>
          </p:cNvCxnSpPr>
          <p:nvPr/>
        </p:nvCxnSpPr>
        <p:spPr>
          <a:xfrm>
            <a:off x="3433450" y="5135349"/>
            <a:ext cx="53099" cy="354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6" name="Shape 556"/>
          <p:cNvSpPr txBox="1"/>
          <p:nvPr/>
        </p:nvSpPr>
        <p:spPr>
          <a:xfrm>
            <a:off x="0" y="1689625"/>
            <a:ext cx="3486599" cy="235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readl(iommu-&gt;mmio_base + MMIO_STATUS_OFFSET);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276900" y="2578800"/>
            <a:ext cx="2932799" cy="235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if (status &amp; MMIO_STATUS_PPR_INT_MASK)</a:t>
            </a:r>
          </a:p>
        </p:txBody>
      </p:sp>
      <p:sp>
        <p:nvSpPr>
          <p:cNvPr id="558" name="Shape 558"/>
          <p:cNvSpPr txBox="1"/>
          <p:nvPr/>
        </p:nvSpPr>
        <p:spPr>
          <a:xfrm>
            <a:off x="4735950" y="5478487"/>
            <a:ext cx="2932799" cy="235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Register in amd_iommv_v2_init</a:t>
            </a:r>
          </a:p>
        </p:txBody>
      </p:sp>
      <p:sp>
        <p:nvSpPr>
          <p:cNvPr id="559" name="Shape 559"/>
          <p:cNvSpPr/>
          <p:nvPr/>
        </p:nvSpPr>
        <p:spPr>
          <a:xfrm>
            <a:off x="1814050" y="6173800"/>
            <a:ext cx="3345000" cy="398099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do_fault</a:t>
            </a:r>
          </a:p>
        </p:txBody>
      </p:sp>
      <p:cxnSp>
        <p:nvCxnSpPr>
          <p:cNvPr id="560" name="Shape 560"/>
          <p:cNvCxnSpPr>
            <a:stCxn id="554" idx="4"/>
            <a:endCxn id="559" idx="0"/>
          </p:cNvCxnSpPr>
          <p:nvPr/>
        </p:nvCxnSpPr>
        <p:spPr>
          <a:xfrm>
            <a:off x="3486550" y="5887449"/>
            <a:ext cx="0" cy="28635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1" name="Shape 561"/>
          <p:cNvSpPr txBox="1"/>
          <p:nvPr/>
        </p:nvSpPr>
        <p:spPr>
          <a:xfrm>
            <a:off x="3545050" y="5912725"/>
            <a:ext cx="2932799" cy="235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>
                <a:solidFill>
                  <a:srgbClr val="B45F06"/>
                </a:solidFill>
              </a:rPr>
              <a:t>deferred work</a:t>
            </a:r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do_fault</a:t>
            </a:r>
          </a:p>
        </p:txBody>
      </p:sp>
      <p:sp>
        <p:nvSpPr>
          <p:cNvPr id="567" name="Shape 5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get_user_pages() - pin user pages in memory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@tsk: task_struct to use for page fault accounting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@mm: mm_struct of target mm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@start: starting user address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@nr_pages: number of pages from start to pin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@write: whether pages will be written by the caller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@force: whether to force write access even if user mapping is readonly. 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@pages: pointers to the pages pinned.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@vmas: pointers to vmas corresponding to each page.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zh-TW"/>
              <a:t>         	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573" name="Shape 573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67700"/>
          </a:xfrm>
          <a:prstGeom prst="rect">
            <a:avLst/>
          </a:prstGeom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Code Overview</a:t>
            </a:r>
          </a:p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Flow Overview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User &amp; Hardware Queues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rgbClr val="D9D9D9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D9D9D9"/>
                </a:solidFill>
              </a:rPr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GCR3</a:t>
            </a:r>
          </a:p>
          <a:p>
            <a:pPr marL="1371600" lvl="2" indent="-381000" rtl="0">
              <a:spcBef>
                <a:spcPts val="0"/>
              </a:spcBef>
              <a:buClr>
                <a:srgbClr val="D9D9D9"/>
              </a:buClr>
              <a:buSzPct val="80000"/>
              <a:buFont typeface="Wingdings"/>
              <a:buChar char="§"/>
            </a:pPr>
            <a:r>
              <a:rPr lang="zh-TW">
                <a:solidFill>
                  <a:srgbClr val="D9D9D9"/>
                </a:solidFill>
              </a:rPr>
              <a:t>PPR</a:t>
            </a:r>
          </a:p>
          <a:p>
            <a:pPr marL="914400" lvl="1" indent="-381000" rtl="0">
              <a:spcBef>
                <a:spcPts val="0"/>
              </a:spcBef>
              <a:buClr>
                <a:srgbClr val="D9D9D9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D9D9D9"/>
                </a:solidFill>
              </a:rPr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Flow Review</a:t>
            </a:r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Flow Review</a:t>
            </a:r>
          </a:p>
        </p:txBody>
      </p:sp>
      <p:sp>
        <p:nvSpPr>
          <p:cNvPr id="579" name="Shape 57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80" name="Shape 580"/>
          <p:cNvSpPr/>
          <p:nvPr/>
        </p:nvSpPr>
        <p:spPr>
          <a:xfrm>
            <a:off x="2115300" y="4429200"/>
            <a:ext cx="4913399" cy="93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b="1"/>
          </a:p>
          <a:p>
            <a:pPr algn="ctr">
              <a:spcBef>
                <a:spcPts val="0"/>
              </a:spcBef>
              <a:buNone/>
            </a:pPr>
            <a:r>
              <a:rPr lang="zh-TW" b="1"/>
              <a:t>HSA-aware Kernel </a:t>
            </a:r>
          </a:p>
        </p:txBody>
      </p:sp>
      <p:sp>
        <p:nvSpPr>
          <p:cNvPr id="581" name="Shape 581"/>
          <p:cNvSpPr/>
          <p:nvPr/>
        </p:nvSpPr>
        <p:spPr>
          <a:xfrm>
            <a:off x="2678225" y="4438600"/>
            <a:ext cx="14093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/>
              <a:t>KFD  </a:t>
            </a:r>
          </a:p>
        </p:txBody>
      </p:sp>
      <p:sp>
        <p:nvSpPr>
          <p:cNvPr id="582" name="Shape 582"/>
          <p:cNvSpPr/>
          <p:nvPr/>
        </p:nvSpPr>
        <p:spPr>
          <a:xfrm>
            <a:off x="5139575" y="4438600"/>
            <a:ext cx="14750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IOMMU Driver</a:t>
            </a:r>
          </a:p>
        </p:txBody>
      </p:sp>
      <p:sp>
        <p:nvSpPr>
          <p:cNvPr id="583" name="Shape 583"/>
          <p:cNvSpPr/>
          <p:nvPr/>
        </p:nvSpPr>
        <p:spPr>
          <a:xfrm>
            <a:off x="2115300" y="2681825"/>
            <a:ext cx="4913399" cy="1371599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Runtime Library</a:t>
            </a:r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>
              <a:spcBef>
                <a:spcPts val="0"/>
              </a:spcBef>
              <a:buNone/>
            </a:pPr>
            <a:endParaRPr b="1"/>
          </a:p>
        </p:txBody>
      </p:sp>
      <p:sp>
        <p:nvSpPr>
          <p:cNvPr id="584" name="Shape 584"/>
          <p:cNvSpPr/>
          <p:nvPr/>
        </p:nvSpPr>
        <p:spPr>
          <a:xfrm>
            <a:off x="2115300" y="3433375"/>
            <a:ext cx="4913399" cy="620099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open(“/dev/kfd”)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ioctl(KFD_IOC_SET_MEMORY_POLICY)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ioctl(KFD_IOC_CREATE_QUEUE)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ioctl(KFD_IOC_DESTROY_QUEUE)</a:t>
            </a:r>
          </a:p>
          <a:p>
            <a:pPr marL="457200" lvl="0" indent="-2794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ioctl(KFD_IOC_GET_CLOCK_COUNTERS)</a:t>
            </a:r>
          </a:p>
        </p:txBody>
      </p:sp>
      <p:sp>
        <p:nvSpPr>
          <p:cNvPr id="585" name="Shape 585"/>
          <p:cNvSpPr/>
          <p:nvPr/>
        </p:nvSpPr>
        <p:spPr>
          <a:xfrm>
            <a:off x="2115300" y="1600200"/>
            <a:ext cx="4913399" cy="724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b="1"/>
              <a:t>Application</a:t>
            </a:r>
          </a:p>
        </p:txBody>
      </p:sp>
      <p:cxnSp>
        <p:nvCxnSpPr>
          <p:cNvPr id="586" name="Shape 586"/>
          <p:cNvCxnSpPr>
            <a:stCxn id="585" idx="2"/>
            <a:endCxn id="583" idx="0"/>
          </p:cNvCxnSpPr>
          <p:nvPr/>
        </p:nvCxnSpPr>
        <p:spPr>
          <a:xfrm>
            <a:off x="4571999" y="2324700"/>
            <a:ext cx="0" cy="357124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587" name="Shape 587"/>
          <p:cNvCxnSpPr>
            <a:stCxn id="584" idx="2"/>
            <a:endCxn id="581" idx="0"/>
          </p:cNvCxnSpPr>
          <p:nvPr/>
        </p:nvCxnSpPr>
        <p:spPr>
          <a:xfrm flipH="1">
            <a:off x="3382924" y="4053474"/>
            <a:ext cx="1189074" cy="385125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88" name="Shape 588"/>
          <p:cNvSpPr/>
          <p:nvPr/>
        </p:nvSpPr>
        <p:spPr>
          <a:xfrm>
            <a:off x="27628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HSA Device</a:t>
            </a:r>
          </a:p>
        </p:txBody>
      </p:sp>
      <p:cxnSp>
        <p:nvCxnSpPr>
          <p:cNvPr id="589" name="Shape 589"/>
          <p:cNvCxnSpPr/>
          <p:nvPr/>
        </p:nvCxnSpPr>
        <p:spPr>
          <a:xfrm>
            <a:off x="4087625" y="4673500"/>
            <a:ext cx="105195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590" name="Shape 590"/>
          <p:cNvSpPr/>
          <p:nvPr/>
        </p:nvSpPr>
        <p:spPr>
          <a:xfrm>
            <a:off x="52570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IOMMU</a:t>
            </a:r>
          </a:p>
        </p:txBody>
      </p:sp>
      <p:grpSp>
        <p:nvGrpSpPr>
          <p:cNvPr id="591" name="Shape 591"/>
          <p:cNvGrpSpPr/>
          <p:nvPr/>
        </p:nvGrpSpPr>
        <p:grpSpPr>
          <a:xfrm>
            <a:off x="3382925" y="4908400"/>
            <a:ext cx="2494200" cy="720199"/>
            <a:chOff x="3382925" y="4908400"/>
            <a:chExt cx="2494200" cy="720199"/>
          </a:xfrm>
        </p:grpSpPr>
        <p:cxnSp>
          <p:nvCxnSpPr>
            <p:cNvPr id="592" name="Shape 592"/>
            <p:cNvCxnSpPr/>
            <p:nvPr/>
          </p:nvCxnSpPr>
          <p:spPr>
            <a:xfrm>
              <a:off x="3382925" y="4908400"/>
              <a:ext cx="0" cy="7201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cxnSp>
          <p:nvCxnSpPr>
            <p:cNvPr id="593" name="Shape 593"/>
            <p:cNvCxnSpPr/>
            <p:nvPr/>
          </p:nvCxnSpPr>
          <p:spPr>
            <a:xfrm>
              <a:off x="5877125" y="4908400"/>
              <a:ext cx="0" cy="7201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594" name="Shape 594"/>
          <p:cNvGrpSpPr/>
          <p:nvPr/>
        </p:nvGrpSpPr>
        <p:grpSpPr>
          <a:xfrm>
            <a:off x="1344200" y="1955625"/>
            <a:ext cx="1437350" cy="4180436"/>
            <a:chOff x="1344200" y="1955625"/>
            <a:chExt cx="1437350" cy="4180436"/>
          </a:xfrm>
        </p:grpSpPr>
        <p:sp>
          <p:nvSpPr>
            <p:cNvPr id="595" name="Shape 595"/>
            <p:cNvSpPr/>
            <p:nvPr/>
          </p:nvSpPr>
          <p:spPr>
            <a:xfrm>
              <a:off x="1344200" y="1955625"/>
              <a:ext cx="1437350" cy="4180436"/>
            </a:xfrm>
            <a:custGeom>
              <a:avLst/>
              <a:gdLst/>
              <a:ahLst/>
              <a:cxnLst/>
              <a:rect l="0" t="0" r="0" b="0"/>
              <a:pathLst>
                <a:path w="57494" h="176241" extrusionOk="0">
                  <a:moveTo>
                    <a:pt x="31190" y="0"/>
                  </a:moveTo>
                  <a:lnTo>
                    <a:pt x="0" y="0"/>
                  </a:lnTo>
                  <a:lnTo>
                    <a:pt x="0" y="176241"/>
                  </a:lnTo>
                  <a:lnTo>
                    <a:pt x="57494" y="176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sp>
        <p:cxnSp>
          <p:nvCxnSpPr>
            <p:cNvPr id="596" name="Shape 596"/>
            <p:cNvCxnSpPr/>
            <p:nvPr/>
          </p:nvCxnSpPr>
          <p:spPr>
            <a:xfrm rot="10800000">
              <a:off x="1353649" y="3158125"/>
              <a:ext cx="7797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none" w="lg" len="lg"/>
            </a:ln>
          </p:spPr>
        </p:cxn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601"/>
          <p:cNvSpPr txBox="1"/>
          <p:nvPr/>
        </p:nvSpPr>
        <p:spPr>
          <a:xfrm>
            <a:off x="27375" y="2078850"/>
            <a:ext cx="9144000" cy="19847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5600" b="1"/>
              <a:t>Q&amp;A</a:t>
            </a:r>
          </a:p>
          <a:p>
            <a:pPr algn="ctr">
              <a:spcBef>
                <a:spcPts val="0"/>
              </a:spcBef>
              <a:buNone/>
            </a:pPr>
            <a:r>
              <a:rPr lang="zh-TW" sz="5600" b="1"/>
              <a:t>Thanks!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1937</Words>
  <Application>Microsoft Office PowerPoint</Application>
  <PresentationFormat>如螢幕大小 (4:3)</PresentationFormat>
  <Paragraphs>377</Paragraphs>
  <Slides>42</Slides>
  <Notes>42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3" baseType="lpstr">
      <vt:lpstr>simple-light</vt:lpstr>
      <vt:lpstr>HSA Kernel Code Trace</vt:lpstr>
      <vt:lpstr>PowerPoint 簡報</vt:lpstr>
      <vt:lpstr>Agenda</vt:lpstr>
      <vt:lpstr>Code Overview</vt:lpstr>
      <vt:lpstr>Agenda</vt:lpstr>
      <vt:lpstr>Concepts - HSA Run Flow</vt:lpstr>
      <vt:lpstr>PowerPoint 簡報</vt:lpstr>
      <vt:lpstr>PowerPoint 簡報</vt:lpstr>
      <vt:lpstr>HSA Driver Flow</vt:lpstr>
      <vt:lpstr>module_init(kfd_module_init)</vt:lpstr>
      <vt:lpstr>kgd2kfd_device_init</vt:lpstr>
      <vt:lpstr>scheduler_class Call Sequence</vt:lpstr>
      <vt:lpstr>User Open “/dev/kfd”</vt:lpstr>
      <vt:lpstr>KFD_IOC_SET_MEMORY_POLICY</vt:lpstr>
      <vt:lpstr>radeon_kfd_bind_process_to_device</vt:lpstr>
      <vt:lpstr>KFD_IOC_SET_CREATE_QUEUE</vt:lpstr>
      <vt:lpstr>scheduler_class-&gt;create_queue()</vt:lpstr>
      <vt:lpstr>PowerPoint 簡報</vt:lpstr>
      <vt:lpstr>PowerPoint 簡報</vt:lpstr>
      <vt:lpstr>Application Computation ...</vt:lpstr>
      <vt:lpstr>Haredware Queue Deactivation</vt:lpstr>
      <vt:lpstr>Haredware Queue Deactivation (1)</vt:lpstr>
      <vt:lpstr>Haredware Queue Deactivation (2)</vt:lpstr>
      <vt:lpstr>scheduler_class-&gt;interrupt_isr()</vt:lpstr>
      <vt:lpstr>KFD_IOC_GET_CLOCK_COUNTERS</vt:lpstr>
      <vt:lpstr>Agenda</vt:lpstr>
      <vt:lpstr>Introduction to IOMMU</vt:lpstr>
      <vt:lpstr>PowerPoint 簡報</vt:lpstr>
      <vt:lpstr>PRI &amp; PPR</vt:lpstr>
      <vt:lpstr>PRI &amp; PPR </vt:lpstr>
      <vt:lpstr>PowerPoint 簡報</vt:lpstr>
      <vt:lpstr>PowerPoint 簡報</vt:lpstr>
      <vt:lpstr>module_init(amd_iommu_v2_init)</vt:lpstr>
      <vt:lpstr>Set IOMMU With PASID</vt:lpstr>
      <vt:lpstr>amd_iommu_bind_pasid</vt:lpstr>
      <vt:lpstr>PowerPoint 簡報</vt:lpstr>
      <vt:lpstr>PRI &amp; PPR Flow</vt:lpstr>
      <vt:lpstr>PPR Flow</vt:lpstr>
      <vt:lpstr>do_fault</vt:lpstr>
      <vt:lpstr>Agenda</vt:lpstr>
      <vt:lpstr>Flow Review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HSA Kernel Code Trace</dc:title>
  <dc:creator>Yeh-Ching Chung</dc:creator>
  <cp:lastModifiedBy>Yeh-Ching Chung</cp:lastModifiedBy>
  <cp:revision>1</cp:revision>
  <dcterms:modified xsi:type="dcterms:W3CDTF">2014-05-30T02:27:02Z</dcterms:modified>
</cp:coreProperties>
</file>