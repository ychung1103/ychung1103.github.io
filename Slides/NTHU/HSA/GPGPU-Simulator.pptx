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6" r:id="rId2"/>
    <p:sldId id="292" r:id="rId3"/>
    <p:sldId id="273" r:id="rId4"/>
    <p:sldId id="275" r:id="rId5"/>
    <p:sldId id="276" r:id="rId6"/>
    <p:sldId id="293" r:id="rId7"/>
    <p:sldId id="279" r:id="rId8"/>
    <p:sldId id="282" r:id="rId9"/>
    <p:sldId id="283" r:id="rId10"/>
    <p:sldId id="294" r:id="rId11"/>
    <p:sldId id="290" r:id="rId12"/>
    <p:sldId id="291" r:id="rId13"/>
    <p:sldId id="295" r:id="rId14"/>
    <p:sldId id="269" r:id="rId15"/>
    <p:sldId id="296" r:id="rId16"/>
    <p:sldId id="297" r:id="rId17"/>
    <p:sldId id="262" r:id="rId18"/>
    <p:sldId id="264" r:id="rId19"/>
    <p:sldId id="265" r:id="rId20"/>
    <p:sldId id="266" r:id="rId21"/>
    <p:sldId id="268" r:id="rId22"/>
    <p:sldId id="298" r:id="rId23"/>
    <p:sldId id="301" r:id="rId24"/>
    <p:sldId id="259" r:id="rId25"/>
    <p:sldId id="285" r:id="rId26"/>
    <p:sldId id="284" r:id="rId27"/>
    <p:sldId id="287" r:id="rId28"/>
    <p:sldId id="286" r:id="rId29"/>
    <p:sldId id="288" r:id="rId30"/>
    <p:sldId id="289" r:id="rId31"/>
    <p:sldId id="272" r:id="rId32"/>
    <p:sldId id="260" r:id="rId33"/>
    <p:sldId id="304" r:id="rId3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922" autoAdjust="0"/>
  </p:normalViewPr>
  <p:slideViewPr>
    <p:cSldViewPr>
      <p:cViewPr varScale="1">
        <p:scale>
          <a:sx n="72" d="100"/>
          <a:sy n="72" d="100"/>
        </p:scale>
        <p:origin x="-696" y="-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lfung\AppData\Local\Opera\Opera\temporary_downloads\Correlation.xls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lfung\AppData\Local\Opera\Opera\temporary_downloads\Correlation.xls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900" b="1"/>
            </a:pPr>
            <a:r>
              <a:rPr lang="en-CA" sz="1900" b="1" dirty="0" smtClean="0"/>
              <a:t>RODINIA</a:t>
            </a:r>
            <a:r>
              <a:rPr lang="en-CA" sz="1900" b="1" baseline="0" dirty="0" smtClean="0"/>
              <a:t> Benchmark Suite</a:t>
            </a:r>
            <a:endParaRPr lang="en-CA" sz="1900" b="1" dirty="0" smtClean="0"/>
          </a:p>
          <a:p>
            <a:pPr>
              <a:defRPr sz="1900" b="1"/>
            </a:pPr>
            <a:r>
              <a:rPr lang="en-CA" sz="1900" b="1" dirty="0" err="1" smtClean="0"/>
              <a:t>Quadro</a:t>
            </a:r>
            <a:r>
              <a:rPr lang="en-CA" sz="1900" b="1" dirty="0" smtClean="0"/>
              <a:t> FX5800 SASS</a:t>
            </a:r>
            <a:r>
              <a:rPr lang="en-CA" sz="1900" b="1" dirty="0"/>
              <a:t>
GPGPU-</a:t>
            </a:r>
            <a:r>
              <a:rPr lang="en-CA" sz="1900" b="1" dirty="0" err="1"/>
              <a:t>Sim</a:t>
            </a:r>
            <a:r>
              <a:rPr lang="en-CA" sz="1900" b="1" dirty="0"/>
              <a:t> </a:t>
            </a:r>
            <a:r>
              <a:rPr lang="en-CA" sz="1900" b="1" dirty="0" smtClean="0"/>
              <a:t>3.1.0 –</a:t>
            </a:r>
            <a:r>
              <a:rPr lang="en-CA" sz="1900" b="1" baseline="0" dirty="0" smtClean="0"/>
              <a:t> </a:t>
            </a:r>
            <a:r>
              <a:rPr lang="en-CA" sz="1900" b="1" dirty="0" smtClean="0"/>
              <a:t>Correlation: </a:t>
            </a:r>
            <a:r>
              <a:rPr lang="en-CA" sz="1900" b="1" dirty="0">
                <a:solidFill>
                  <a:srgbClr val="FF0000"/>
                </a:solidFill>
              </a:rPr>
              <a:t>98.37</a:t>
            </a:r>
            <a:r>
              <a:rPr lang="en-CA" sz="1900" b="1" dirty="0" smtClean="0">
                <a:solidFill>
                  <a:srgbClr val="FF0000"/>
                </a:solidFill>
              </a:rPr>
              <a:t>%</a:t>
            </a:r>
          </a:p>
        </c:rich>
      </c:tx>
      <c:layout>
        <c:manualLayout>
          <c:xMode val="edge"/>
          <c:yMode val="edge"/>
          <c:x val="0.22881614798150307"/>
          <c:y val="2.1723019916628158E-3"/>
        </c:manualLayout>
      </c:layout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26670378702662167"/>
          <c:y val="0.1767841979311415"/>
          <c:w val="0.51349118860142451"/>
          <c:h val="0.69045410683958941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Sheet2!$H$1</c:f>
              <c:strCache>
                <c:ptCount val="1"/>
                <c:pt idx="0">
                  <c:v>sim ipc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4"/>
            <c:spPr>
              <a:solidFill>
                <a:srgbClr val="0084D1"/>
              </a:solidFill>
              <a:ln>
                <a:solidFill>
                  <a:srgbClr val="0084D1"/>
                </a:solidFill>
                <a:prstDash val="solid"/>
              </a:ln>
            </c:spPr>
          </c:marker>
          <c:xVal>
            <c:numRef>
              <c:f>Sheet2!$G$2:$G$261</c:f>
              <c:numCache>
                <c:formatCode>General</c:formatCode>
                <c:ptCount val="260"/>
                <c:pt idx="0">
                  <c:v>197.49580521272233</c:v>
                </c:pt>
                <c:pt idx="1">
                  <c:v>20.373993489806498</c:v>
                </c:pt>
                <c:pt idx="2">
                  <c:v>0.96297011506499064</c:v>
                </c:pt>
                <c:pt idx="3">
                  <c:v>6.2287768537768455</c:v>
                </c:pt>
                <c:pt idx="4">
                  <c:v>0.96830626213096338</c:v>
                </c:pt>
                <c:pt idx="5">
                  <c:v>5.9509452411994745</c:v>
                </c:pt>
                <c:pt idx="6">
                  <c:v>1.0507618091329778</c:v>
                </c:pt>
                <c:pt idx="7">
                  <c:v>4.9212158808933024</c:v>
                </c:pt>
                <c:pt idx="8">
                  <c:v>1.7238529014844821</c:v>
                </c:pt>
                <c:pt idx="9">
                  <c:v>6.3159167876148965</c:v>
                </c:pt>
                <c:pt idx="10">
                  <c:v>3.4123453514856577</c:v>
                </c:pt>
                <c:pt idx="11">
                  <c:v>6.9442785475394055</c:v>
                </c:pt>
                <c:pt idx="12">
                  <c:v>4.5077850449043364</c:v>
                </c:pt>
                <c:pt idx="13">
                  <c:v>5.1188660477453416</c:v>
                </c:pt>
                <c:pt idx="14">
                  <c:v>2.3005989911727607</c:v>
                </c:pt>
                <c:pt idx="15">
                  <c:v>6.3857727920227934</c:v>
                </c:pt>
                <c:pt idx="16">
                  <c:v>3.7126499172870138</c:v>
                </c:pt>
                <c:pt idx="17">
                  <c:v>7.3322422258592503</c:v>
                </c:pt>
                <c:pt idx="18">
                  <c:v>99.218579110462727</c:v>
                </c:pt>
                <c:pt idx="19">
                  <c:v>96.921852742165242</c:v>
                </c:pt>
                <c:pt idx="20">
                  <c:v>97.827664450035996</c:v>
                </c:pt>
                <c:pt idx="21">
                  <c:v>99.218579110462727</c:v>
                </c:pt>
                <c:pt idx="22">
                  <c:v>98.379324211972232</c:v>
                </c:pt>
                <c:pt idx="23">
                  <c:v>97.645150150688465</c:v>
                </c:pt>
                <c:pt idx="24">
                  <c:v>101.14468503937032</c:v>
                </c:pt>
                <c:pt idx="25">
                  <c:v>168.71161055439399</c:v>
                </c:pt>
                <c:pt idx="26">
                  <c:v>3.5290988403021601</c:v>
                </c:pt>
                <c:pt idx="27">
                  <c:v>6.6643532715710645</c:v>
                </c:pt>
                <c:pt idx="28">
                  <c:v>6.6831977421233093</c:v>
                </c:pt>
                <c:pt idx="29">
                  <c:v>6.5926377726750856</c:v>
                </c:pt>
                <c:pt idx="30">
                  <c:v>6.669246895661991</c:v>
                </c:pt>
                <c:pt idx="31">
                  <c:v>6.6349162414556382</c:v>
                </c:pt>
                <c:pt idx="32">
                  <c:v>6.6332721177904714</c:v>
                </c:pt>
                <c:pt idx="33">
                  <c:v>6.6499911564188325</c:v>
                </c:pt>
                <c:pt idx="34">
                  <c:v>6.630707506332767</c:v>
                </c:pt>
                <c:pt idx="35">
                  <c:v>6.6679629569926933</c:v>
                </c:pt>
                <c:pt idx="36">
                  <c:v>6.6497034620206534</c:v>
                </c:pt>
                <c:pt idx="37">
                  <c:v>6.6506008611271765</c:v>
                </c:pt>
                <c:pt idx="38">
                  <c:v>6.6201743312773402</c:v>
                </c:pt>
                <c:pt idx="39">
                  <c:v>6.6595277893857086</c:v>
                </c:pt>
                <c:pt idx="40">
                  <c:v>6.6401642628204955</c:v>
                </c:pt>
                <c:pt idx="41">
                  <c:v>6.6567460317460307</c:v>
                </c:pt>
                <c:pt idx="42">
                  <c:v>6.6761061519126104</c:v>
                </c:pt>
                <c:pt idx="43">
                  <c:v>0.28409511701392315</c:v>
                </c:pt>
                <c:pt idx="44">
                  <c:v>1.2393042046660738</c:v>
                </c:pt>
                <c:pt idx="45">
                  <c:v>24.247990815154992</c:v>
                </c:pt>
                <c:pt idx="46">
                  <c:v>0.28446027783270894</c:v>
                </c:pt>
                <c:pt idx="47">
                  <c:v>0.8252731797035594</c:v>
                </c:pt>
                <c:pt idx="48">
                  <c:v>11.583710407239819</c:v>
                </c:pt>
                <c:pt idx="49">
                  <c:v>0.28391288794592395</c:v>
                </c:pt>
                <c:pt idx="50">
                  <c:v>0.41356726160786123</c:v>
                </c:pt>
                <c:pt idx="51">
                  <c:v>2.8652828652828637</c:v>
                </c:pt>
                <c:pt idx="52">
                  <c:v>0.28482637857637882</c:v>
                </c:pt>
                <c:pt idx="53">
                  <c:v>0.26337412587412684</c:v>
                </c:pt>
                <c:pt idx="54">
                  <c:v>0.5283872377622354</c:v>
                </c:pt>
                <c:pt idx="55">
                  <c:v>0.79467165696655484</c:v>
                </c:pt>
                <c:pt idx="56">
                  <c:v>1.0591810284433241</c:v>
                </c:pt>
                <c:pt idx="57">
                  <c:v>1.3226840834324898</c:v>
                </c:pt>
                <c:pt idx="58">
                  <c:v>1.5844642981904498</c:v>
                </c:pt>
                <c:pt idx="59">
                  <c:v>1.8429051700111483</c:v>
                </c:pt>
                <c:pt idx="60">
                  <c:v>2.0991564843099138</c:v>
                </c:pt>
                <c:pt idx="61">
                  <c:v>1.8848157051282086</c:v>
                </c:pt>
                <c:pt idx="62">
                  <c:v>1.6150771725957127</c:v>
                </c:pt>
                <c:pt idx="63">
                  <c:v>1.3486583184257603</c:v>
                </c:pt>
                <c:pt idx="64">
                  <c:v>1.0754812156274498</c:v>
                </c:pt>
                <c:pt idx="65">
                  <c:v>0.80734762211717737</c:v>
                </c:pt>
                <c:pt idx="66">
                  <c:v>0.54203579660040535</c:v>
                </c:pt>
                <c:pt idx="67">
                  <c:v>0.26703980982117514</c:v>
                </c:pt>
                <c:pt idx="68">
                  <c:v>17.491433030159918</c:v>
                </c:pt>
                <c:pt idx="69">
                  <c:v>17.429381173301323</c:v>
                </c:pt>
                <c:pt idx="70">
                  <c:v>17.4380855865491</c:v>
                </c:pt>
                <c:pt idx="71">
                  <c:v>17.51749838848303</c:v>
                </c:pt>
                <c:pt idx="72">
                  <c:v>75.909927295574903</c:v>
                </c:pt>
                <c:pt idx="73">
                  <c:v>59.17832167832168</c:v>
                </c:pt>
                <c:pt idx="74">
                  <c:v>75.416193687678586</c:v>
                </c:pt>
                <c:pt idx="75">
                  <c:v>61.370111370111381</c:v>
                </c:pt>
                <c:pt idx="76">
                  <c:v>1.4850427350427351</c:v>
                </c:pt>
                <c:pt idx="77">
                  <c:v>2.0742585727525484</c:v>
                </c:pt>
                <c:pt idx="78">
                  <c:v>2.0805252149663112</c:v>
                </c:pt>
                <c:pt idx="79">
                  <c:v>2.0805252149663112</c:v>
                </c:pt>
                <c:pt idx="80">
                  <c:v>1.6683673469387807</c:v>
                </c:pt>
                <c:pt idx="81">
                  <c:v>1.9098123435238996</c:v>
                </c:pt>
                <c:pt idx="82">
                  <c:v>157.30993216434084</c:v>
                </c:pt>
                <c:pt idx="83">
                  <c:v>156.01199543031183</c:v>
                </c:pt>
                <c:pt idx="84">
                  <c:v>1.0286935286935301</c:v>
                </c:pt>
                <c:pt idx="85">
                  <c:v>67.039780799675256</c:v>
                </c:pt>
                <c:pt idx="86">
                  <c:v>153.49338161838162</c:v>
                </c:pt>
                <c:pt idx="87">
                  <c:v>154.73058038524488</c:v>
                </c:pt>
                <c:pt idx="88">
                  <c:v>153.23058222166713</c:v>
                </c:pt>
                <c:pt idx="89">
                  <c:v>1.0254381694255121</c:v>
                </c:pt>
                <c:pt idx="90">
                  <c:v>81.965397062484016</c:v>
                </c:pt>
                <c:pt idx="91">
                  <c:v>155.75972627043467</c:v>
                </c:pt>
                <c:pt idx="92">
                  <c:v>156.69792164357381</c:v>
                </c:pt>
                <c:pt idx="93">
                  <c:v>1.0385848126232742</c:v>
                </c:pt>
                <c:pt idx="94">
                  <c:v>150.55579372856397</c:v>
                </c:pt>
                <c:pt idx="95">
                  <c:v>152.50306296526009</c:v>
                </c:pt>
                <c:pt idx="96">
                  <c:v>1.9452247191011192</c:v>
                </c:pt>
                <c:pt idx="97">
                  <c:v>10.221509971509972</c:v>
                </c:pt>
                <c:pt idx="98">
                  <c:v>1.9173904052936273</c:v>
                </c:pt>
                <c:pt idx="99">
                  <c:v>9.0661136249371488</c:v>
                </c:pt>
                <c:pt idx="100">
                  <c:v>1.7339743589743548</c:v>
                </c:pt>
                <c:pt idx="101">
                  <c:v>7.9748603351955314</c:v>
                </c:pt>
                <c:pt idx="102">
                  <c:v>1.8748792037108619</c:v>
                </c:pt>
                <c:pt idx="103">
                  <c:v>8.2527899561578568</c:v>
                </c:pt>
                <c:pt idx="104">
                  <c:v>1.9346081208687487</c:v>
                </c:pt>
                <c:pt idx="105">
                  <c:v>9.3590600575895095</c:v>
                </c:pt>
                <c:pt idx="106">
                  <c:v>2.0757780015592444</c:v>
                </c:pt>
                <c:pt idx="107">
                  <c:v>8.6685222672064786</c:v>
                </c:pt>
                <c:pt idx="108">
                  <c:v>2.1399756852343037</c:v>
                </c:pt>
                <c:pt idx="109">
                  <c:v>8.4971999154691567</c:v>
                </c:pt>
                <c:pt idx="110">
                  <c:v>1.9877315515848943</c:v>
                </c:pt>
                <c:pt idx="111">
                  <c:v>7.7079138139347556</c:v>
                </c:pt>
                <c:pt idx="112">
                  <c:v>2.0517460822528037</c:v>
                </c:pt>
                <c:pt idx="113">
                  <c:v>8.3142150247413404</c:v>
                </c:pt>
                <c:pt idx="114">
                  <c:v>2.1750663129973482</c:v>
                </c:pt>
                <c:pt idx="115">
                  <c:v>8.7884010643444519</c:v>
                </c:pt>
                <c:pt idx="116">
                  <c:v>1.9617729831144426</c:v>
                </c:pt>
                <c:pt idx="117">
                  <c:v>9.2512820512820522</c:v>
                </c:pt>
                <c:pt idx="118">
                  <c:v>2.0290375047837732</c:v>
                </c:pt>
                <c:pt idx="119">
                  <c:v>9.4612750263435199</c:v>
                </c:pt>
                <c:pt idx="120">
                  <c:v>1.9737667224080258</c:v>
                </c:pt>
                <c:pt idx="121">
                  <c:v>9.8564560439560847</c:v>
                </c:pt>
                <c:pt idx="122">
                  <c:v>2.4703103913630233</c:v>
                </c:pt>
                <c:pt idx="123">
                  <c:v>10.062815833801281</c:v>
                </c:pt>
                <c:pt idx="124">
                  <c:v>3.0417655032192394</c:v>
                </c:pt>
                <c:pt idx="125">
                  <c:v>11.781722550953321</c:v>
                </c:pt>
                <c:pt idx="126">
                  <c:v>5.478937728937729</c:v>
                </c:pt>
                <c:pt idx="127">
                  <c:v>5.7126473991624422</c:v>
                </c:pt>
                <c:pt idx="128">
                  <c:v>5.6249326653738345</c:v>
                </c:pt>
                <c:pt idx="129">
                  <c:v>5.479819482288856</c:v>
                </c:pt>
                <c:pt idx="130">
                  <c:v>5.6765881590319776</c:v>
                </c:pt>
                <c:pt idx="131">
                  <c:v>5.6170656266809909</c:v>
                </c:pt>
                <c:pt idx="132">
                  <c:v>5.6570850914205346</c:v>
                </c:pt>
                <c:pt idx="133">
                  <c:v>5.6765881590319776</c:v>
                </c:pt>
                <c:pt idx="134">
                  <c:v>5.494120277806978</c:v>
                </c:pt>
                <c:pt idx="135">
                  <c:v>5.6890912305516323</c:v>
                </c:pt>
                <c:pt idx="136">
                  <c:v>5.4493920258845971</c:v>
                </c:pt>
                <c:pt idx="137">
                  <c:v>5.5023084815321717</c:v>
                </c:pt>
                <c:pt idx="138">
                  <c:v>5.5290434599600129</c:v>
                </c:pt>
                <c:pt idx="139">
                  <c:v>5.479129499422851</c:v>
                </c:pt>
                <c:pt idx="140">
                  <c:v>5.5863715277777777</c:v>
                </c:pt>
                <c:pt idx="141">
                  <c:v>5.5748010610079426</c:v>
                </c:pt>
                <c:pt idx="142">
                  <c:v>5.4716647453364233</c:v>
                </c:pt>
                <c:pt idx="143">
                  <c:v>5.6254370629370403</c:v>
                </c:pt>
                <c:pt idx="144">
                  <c:v>5.5748010610079426</c:v>
                </c:pt>
                <c:pt idx="145">
                  <c:v>5.5780582264957266</c:v>
                </c:pt>
                <c:pt idx="146">
                  <c:v>5.7574512382204519</c:v>
                </c:pt>
                <c:pt idx="147">
                  <c:v>5.5023084815321717</c:v>
                </c:pt>
                <c:pt idx="148">
                  <c:v>5.6328217714963857</c:v>
                </c:pt>
                <c:pt idx="149">
                  <c:v>5.7006075729630039</c:v>
                </c:pt>
                <c:pt idx="150">
                  <c:v>5.6254370629370403</c:v>
                </c:pt>
                <c:pt idx="151">
                  <c:v>5.5626065416577726</c:v>
                </c:pt>
                <c:pt idx="152">
                  <c:v>5.7086592785745331</c:v>
                </c:pt>
                <c:pt idx="153">
                  <c:v>5.6333158263305245</c:v>
                </c:pt>
                <c:pt idx="154">
                  <c:v>5.4716647453364233</c:v>
                </c:pt>
                <c:pt idx="155">
                  <c:v>5.7006075729630039</c:v>
                </c:pt>
                <c:pt idx="156">
                  <c:v>5.5139573932206964</c:v>
                </c:pt>
                <c:pt idx="157">
                  <c:v>5.5858163046966949</c:v>
                </c:pt>
                <c:pt idx="158">
                  <c:v>5.5249828296703054</c:v>
                </c:pt>
                <c:pt idx="159">
                  <c:v>5.6606873518638228</c:v>
                </c:pt>
                <c:pt idx="160">
                  <c:v>5.494120277806978</c:v>
                </c:pt>
                <c:pt idx="161">
                  <c:v>5.5631915629322268</c:v>
                </c:pt>
                <c:pt idx="162">
                  <c:v>5.7086592785745331</c:v>
                </c:pt>
                <c:pt idx="163">
                  <c:v>5.5703216686226424</c:v>
                </c:pt>
                <c:pt idx="164">
                  <c:v>5.5478448275861849</c:v>
                </c:pt>
                <c:pt idx="165">
                  <c:v>5.5064451896877014</c:v>
                </c:pt>
                <c:pt idx="166">
                  <c:v>5.6730430183356884</c:v>
                </c:pt>
                <c:pt idx="167">
                  <c:v>5.6135149572649254</c:v>
                </c:pt>
                <c:pt idx="168">
                  <c:v>5.6407330380293867</c:v>
                </c:pt>
                <c:pt idx="169">
                  <c:v>5.5941411682892754</c:v>
                </c:pt>
                <c:pt idx="170">
                  <c:v>5.716733761288217</c:v>
                </c:pt>
                <c:pt idx="171">
                  <c:v>5.6170656266809909</c:v>
                </c:pt>
                <c:pt idx="172">
                  <c:v>5.4575135685210245</c:v>
                </c:pt>
                <c:pt idx="173">
                  <c:v>5.5748010610079426</c:v>
                </c:pt>
                <c:pt idx="174">
                  <c:v>5.5243492752089685</c:v>
                </c:pt>
                <c:pt idx="175">
                  <c:v>5.6333158263305245</c:v>
                </c:pt>
                <c:pt idx="176">
                  <c:v>5.6765881590319776</c:v>
                </c:pt>
                <c:pt idx="177">
                  <c:v>5.5243492752089685</c:v>
                </c:pt>
                <c:pt idx="178">
                  <c:v>5.5708968144044322</c:v>
                </c:pt>
                <c:pt idx="179">
                  <c:v>5.5671222716677056</c:v>
                </c:pt>
                <c:pt idx="180">
                  <c:v>5.656622426868906</c:v>
                </c:pt>
                <c:pt idx="181">
                  <c:v>5.5402031680440915</c:v>
                </c:pt>
                <c:pt idx="182">
                  <c:v>5.6057292222340784</c:v>
                </c:pt>
                <c:pt idx="183">
                  <c:v>5.5935959931433494</c:v>
                </c:pt>
                <c:pt idx="184">
                  <c:v>5.578623439667151</c:v>
                </c:pt>
                <c:pt idx="185">
                  <c:v>5.5902223640812894</c:v>
                </c:pt>
                <c:pt idx="186">
                  <c:v>5.5626065416577726</c:v>
                </c:pt>
                <c:pt idx="187">
                  <c:v>5.5555075966850662</c:v>
                </c:pt>
                <c:pt idx="188">
                  <c:v>5.7006075729630039</c:v>
                </c:pt>
                <c:pt idx="189">
                  <c:v>5.5703216686226424</c:v>
                </c:pt>
                <c:pt idx="190">
                  <c:v>5.5863715277777777</c:v>
                </c:pt>
                <c:pt idx="191">
                  <c:v>5.7248311178906075</c:v>
                </c:pt>
                <c:pt idx="192">
                  <c:v>5.6886712791457672</c:v>
                </c:pt>
                <c:pt idx="193">
                  <c:v>5.4280533063427807</c:v>
                </c:pt>
                <c:pt idx="194">
                  <c:v>5.716733761288217</c:v>
                </c:pt>
                <c:pt idx="195">
                  <c:v>5.6328217714963857</c:v>
                </c:pt>
                <c:pt idx="196">
                  <c:v>5.6333158263305245</c:v>
                </c:pt>
                <c:pt idx="197">
                  <c:v>5.6328217714963857</c:v>
                </c:pt>
                <c:pt idx="198">
                  <c:v>5.6213223494169258</c:v>
                </c:pt>
                <c:pt idx="199">
                  <c:v>5.5954861111111107</c:v>
                </c:pt>
                <c:pt idx="200">
                  <c:v>5.5825010624734386</c:v>
                </c:pt>
                <c:pt idx="201">
                  <c:v>5.5594646069198985</c:v>
                </c:pt>
                <c:pt idx="202">
                  <c:v>5.5645718232044015</c:v>
                </c:pt>
                <c:pt idx="203">
                  <c:v>5.5290434599600129</c:v>
                </c:pt>
                <c:pt idx="204">
                  <c:v>5.5518279797125949</c:v>
                </c:pt>
                <c:pt idx="205">
                  <c:v>5.5568965517241384</c:v>
                </c:pt>
                <c:pt idx="206">
                  <c:v>5.4691891329239102</c:v>
                </c:pt>
                <c:pt idx="207">
                  <c:v>5.5037568306010876</c:v>
                </c:pt>
                <c:pt idx="208">
                  <c:v>5.4691891329239102</c:v>
                </c:pt>
                <c:pt idx="209">
                  <c:v>5.5366174920969504</c:v>
                </c:pt>
                <c:pt idx="210">
                  <c:v>5.6188981868898189</c:v>
                </c:pt>
                <c:pt idx="211">
                  <c:v>5.5594646069198985</c:v>
                </c:pt>
                <c:pt idx="212">
                  <c:v>5.5902223640812894</c:v>
                </c:pt>
                <c:pt idx="213">
                  <c:v>5.5037568306010876</c:v>
                </c:pt>
                <c:pt idx="214">
                  <c:v>5.716733761288217</c:v>
                </c:pt>
                <c:pt idx="215">
                  <c:v>5.5979650543362345</c:v>
                </c:pt>
                <c:pt idx="216">
                  <c:v>5.4989534275248584</c:v>
                </c:pt>
                <c:pt idx="217">
                  <c:v>5.5290434599600129</c:v>
                </c:pt>
                <c:pt idx="218">
                  <c:v>5.6188981868898189</c:v>
                </c:pt>
                <c:pt idx="219">
                  <c:v>5.5671222716677056</c:v>
                </c:pt>
                <c:pt idx="220">
                  <c:v>5.5748010610079426</c:v>
                </c:pt>
                <c:pt idx="221">
                  <c:v>5.5492424242424532</c:v>
                </c:pt>
                <c:pt idx="222">
                  <c:v>5.5518279797125949</c:v>
                </c:pt>
                <c:pt idx="223">
                  <c:v>5.6291514891793444</c:v>
                </c:pt>
                <c:pt idx="224">
                  <c:v>5.5492424242424532</c:v>
                </c:pt>
                <c:pt idx="225">
                  <c:v>5.5214901218999577</c:v>
                </c:pt>
                <c:pt idx="226">
                  <c:v>5.4738451086956523</c:v>
                </c:pt>
                <c:pt idx="227">
                  <c:v>5.5366174920969504</c:v>
                </c:pt>
                <c:pt idx="228">
                  <c:v>5.5290434599600129</c:v>
                </c:pt>
                <c:pt idx="229">
                  <c:v>5.5954861111111107</c:v>
                </c:pt>
                <c:pt idx="230">
                  <c:v>5.5902223640812894</c:v>
                </c:pt>
                <c:pt idx="231">
                  <c:v>5.5366174920969504</c:v>
                </c:pt>
                <c:pt idx="232">
                  <c:v>5.5877253814147023</c:v>
                </c:pt>
                <c:pt idx="233">
                  <c:v>5.5671222716677056</c:v>
                </c:pt>
                <c:pt idx="234">
                  <c:v>5.491482023411387</c:v>
                </c:pt>
                <c:pt idx="235">
                  <c:v>5.6504207573632446</c:v>
                </c:pt>
                <c:pt idx="236">
                  <c:v>5.5902223640812894</c:v>
                </c:pt>
                <c:pt idx="237">
                  <c:v>5.6425070028011213</c:v>
                </c:pt>
                <c:pt idx="238">
                  <c:v>5.4840308944786553</c:v>
                </c:pt>
                <c:pt idx="239">
                  <c:v>5.4397453152500521</c:v>
                </c:pt>
                <c:pt idx="240">
                  <c:v>5.5442123034715634</c:v>
                </c:pt>
                <c:pt idx="241">
                  <c:v>5.5366174920969504</c:v>
                </c:pt>
                <c:pt idx="242">
                  <c:v>5.4765999583072764</c:v>
                </c:pt>
                <c:pt idx="243">
                  <c:v>5.6291514891793444</c:v>
                </c:pt>
                <c:pt idx="244">
                  <c:v>5.5214901218999577</c:v>
                </c:pt>
                <c:pt idx="245">
                  <c:v>5.5825010624734386</c:v>
                </c:pt>
                <c:pt idx="246">
                  <c:v>5.5214901218999577</c:v>
                </c:pt>
                <c:pt idx="247">
                  <c:v>5.5748010610079426</c:v>
                </c:pt>
                <c:pt idx="248">
                  <c:v>5.5671222716677056</c:v>
                </c:pt>
                <c:pt idx="249">
                  <c:v>5.5825010624734386</c:v>
                </c:pt>
                <c:pt idx="250">
                  <c:v>5.5064451896877014</c:v>
                </c:pt>
                <c:pt idx="251">
                  <c:v>5.6213223494169258</c:v>
                </c:pt>
                <c:pt idx="252">
                  <c:v>5.5064451896877014</c:v>
                </c:pt>
                <c:pt idx="253">
                  <c:v>5.5366174920969504</c:v>
                </c:pt>
                <c:pt idx="254">
                  <c:v>5.4765999583072764</c:v>
                </c:pt>
                <c:pt idx="255">
                  <c:v>5.5902223640812894</c:v>
                </c:pt>
                <c:pt idx="256">
                  <c:v>18.785009503577669</c:v>
                </c:pt>
                <c:pt idx="257">
                  <c:v>18.894863360323885</c:v>
                </c:pt>
                <c:pt idx="258">
                  <c:v>18.894863360323885</c:v>
                </c:pt>
                <c:pt idx="259">
                  <c:v>18.096620144069909</c:v>
                </c:pt>
              </c:numCache>
            </c:numRef>
          </c:xVal>
          <c:yVal>
            <c:numRef>
              <c:f>Sheet2!$H$2:$H$261</c:f>
              <c:numCache>
                <c:formatCode>General</c:formatCode>
                <c:ptCount val="260"/>
                <c:pt idx="0">
                  <c:v>154.79330751808286</c:v>
                </c:pt>
                <c:pt idx="1">
                  <c:v>25.459858702633291</c:v>
                </c:pt>
                <c:pt idx="2">
                  <c:v>1.0809911795485125</c:v>
                </c:pt>
                <c:pt idx="3">
                  <c:v>12.354810996563574</c:v>
                </c:pt>
                <c:pt idx="4">
                  <c:v>1.1176123802505527</c:v>
                </c:pt>
                <c:pt idx="5">
                  <c:v>12.336148648648654</c:v>
                </c:pt>
                <c:pt idx="6">
                  <c:v>1.2058491983967936</c:v>
                </c:pt>
                <c:pt idx="7">
                  <c:v>12.001512859304118</c:v>
                </c:pt>
                <c:pt idx="8">
                  <c:v>1.9850427350427353</c:v>
                </c:pt>
                <c:pt idx="9">
                  <c:v>14.094466936572232</c:v>
                </c:pt>
                <c:pt idx="10">
                  <c:v>3.5830785432803411</c:v>
                </c:pt>
                <c:pt idx="11">
                  <c:v>15.462101063829786</c:v>
                </c:pt>
                <c:pt idx="12">
                  <c:v>4.5765857284440044</c:v>
                </c:pt>
                <c:pt idx="13">
                  <c:v>13.150340715502555</c:v>
                </c:pt>
                <c:pt idx="14">
                  <c:v>2.9673250072611186</c:v>
                </c:pt>
                <c:pt idx="15">
                  <c:v>17.886533665835412</c:v>
                </c:pt>
                <c:pt idx="16">
                  <c:v>7.3283163265305946</c:v>
                </c:pt>
                <c:pt idx="17">
                  <c:v>26.256410256410252</c:v>
                </c:pt>
                <c:pt idx="18">
                  <c:v>90.62822594072594</c:v>
                </c:pt>
                <c:pt idx="19">
                  <c:v>94.253354978354949</c:v>
                </c:pt>
                <c:pt idx="20">
                  <c:v>94.057909970623811</c:v>
                </c:pt>
                <c:pt idx="21">
                  <c:v>93.855181481162163</c:v>
                </c:pt>
                <c:pt idx="22">
                  <c:v>94.13924680041508</c:v>
                </c:pt>
                <c:pt idx="23">
                  <c:v>93.911857315389909</c:v>
                </c:pt>
                <c:pt idx="24">
                  <c:v>127.49751861042184</c:v>
                </c:pt>
                <c:pt idx="25">
                  <c:v>151.43241931570103</c:v>
                </c:pt>
                <c:pt idx="26">
                  <c:v>2.6351539225422047</c:v>
                </c:pt>
                <c:pt idx="27">
                  <c:v>12.326591536681875</c:v>
                </c:pt>
                <c:pt idx="28">
                  <c:v>13.271519190621483</c:v>
                </c:pt>
                <c:pt idx="29">
                  <c:v>13.398282427286722</c:v>
                </c:pt>
                <c:pt idx="30">
                  <c:v>13.572694453560919</c:v>
                </c:pt>
                <c:pt idx="31">
                  <c:v>13.56408889617845</c:v>
                </c:pt>
                <c:pt idx="32">
                  <c:v>13.528663722603818</c:v>
                </c:pt>
                <c:pt idx="33">
                  <c:v>13.569887622016273</c:v>
                </c:pt>
                <c:pt idx="34">
                  <c:v>13.57347390876272</c:v>
                </c:pt>
                <c:pt idx="35">
                  <c:v>13.571317257217849</c:v>
                </c:pt>
                <c:pt idx="36">
                  <c:v>13.563847225637279</c:v>
                </c:pt>
                <c:pt idx="37">
                  <c:v>13.590282337491796</c:v>
                </c:pt>
                <c:pt idx="38">
                  <c:v>13.591527925859099</c:v>
                </c:pt>
                <c:pt idx="39">
                  <c:v>13.581660247480128</c:v>
                </c:pt>
                <c:pt idx="40">
                  <c:v>13.591807446285058</c:v>
                </c:pt>
                <c:pt idx="41">
                  <c:v>13.591684434968053</c:v>
                </c:pt>
                <c:pt idx="42">
                  <c:v>13.576882116818261</c:v>
                </c:pt>
                <c:pt idx="43">
                  <c:v>0.53278356481481459</c:v>
                </c:pt>
                <c:pt idx="44">
                  <c:v>2.7594356686361992</c:v>
                </c:pt>
                <c:pt idx="45">
                  <c:v>34.156334231806007</c:v>
                </c:pt>
                <c:pt idx="46">
                  <c:v>0.53235226089973198</c:v>
                </c:pt>
                <c:pt idx="47">
                  <c:v>1.8402895054282307</c:v>
                </c:pt>
                <c:pt idx="48">
                  <c:v>15.568762957843814</c:v>
                </c:pt>
                <c:pt idx="49">
                  <c:v>0.54111320089338188</c:v>
                </c:pt>
                <c:pt idx="50">
                  <c:v>0.92053339769504616</c:v>
                </c:pt>
                <c:pt idx="51">
                  <c:v>3.9689922480620297</c:v>
                </c:pt>
                <c:pt idx="52">
                  <c:v>0.53235226089973198</c:v>
                </c:pt>
                <c:pt idx="53">
                  <c:v>0.49143695971293438</c:v>
                </c:pt>
                <c:pt idx="54">
                  <c:v>0.98883526909864228</c:v>
                </c:pt>
                <c:pt idx="55">
                  <c:v>1.4763475004071001</c:v>
                </c:pt>
                <c:pt idx="56">
                  <c:v>1.9628367413177539</c:v>
                </c:pt>
                <c:pt idx="57">
                  <c:v>2.4474259349198553</c:v>
                </c:pt>
                <c:pt idx="58">
                  <c:v>2.9645016339869281</c:v>
                </c:pt>
                <c:pt idx="59">
                  <c:v>3.4416883539362377</c:v>
                </c:pt>
                <c:pt idx="60">
                  <c:v>3.9472911227154119</c:v>
                </c:pt>
                <c:pt idx="61">
                  <c:v>3.6238017802122644</c:v>
                </c:pt>
                <c:pt idx="62">
                  <c:v>3.1145815432204915</c:v>
                </c:pt>
                <c:pt idx="63">
                  <c:v>2.6639575971731451</c:v>
                </c:pt>
                <c:pt idx="64">
                  <c:v>2.1290650406504072</c:v>
                </c:pt>
                <c:pt idx="65">
                  <c:v>1.5938052315305762</c:v>
                </c:pt>
                <c:pt idx="66">
                  <c:v>1.0678432068109258</c:v>
                </c:pt>
                <c:pt idx="67">
                  <c:v>0.64080459770114961</c:v>
                </c:pt>
                <c:pt idx="68">
                  <c:v>12.486744381914956</c:v>
                </c:pt>
                <c:pt idx="69">
                  <c:v>12.728210382513613</c:v>
                </c:pt>
                <c:pt idx="70">
                  <c:v>12.679975501633225</c:v>
                </c:pt>
                <c:pt idx="71">
                  <c:v>12.640737654081716</c:v>
                </c:pt>
                <c:pt idx="72">
                  <c:v>85.242534962832323</c:v>
                </c:pt>
                <c:pt idx="73">
                  <c:v>81.724509592584269</c:v>
                </c:pt>
                <c:pt idx="74">
                  <c:v>85.834040531982268</c:v>
                </c:pt>
                <c:pt idx="75">
                  <c:v>76.543508984453851</c:v>
                </c:pt>
                <c:pt idx="76">
                  <c:v>1.5596072931276257</c:v>
                </c:pt>
                <c:pt idx="77">
                  <c:v>2.9485384932070797</c:v>
                </c:pt>
                <c:pt idx="78">
                  <c:v>2.9730178497301791</c:v>
                </c:pt>
                <c:pt idx="79">
                  <c:v>2.9316414244780851</c:v>
                </c:pt>
                <c:pt idx="80">
                  <c:v>1.9071332436069945</c:v>
                </c:pt>
                <c:pt idx="81">
                  <c:v>2.9304374642054718</c:v>
                </c:pt>
                <c:pt idx="82">
                  <c:v>160.39967373572549</c:v>
                </c:pt>
                <c:pt idx="83">
                  <c:v>160.58304752572269</c:v>
                </c:pt>
                <c:pt idx="84">
                  <c:v>1.5873763542157324</c:v>
                </c:pt>
                <c:pt idx="85">
                  <c:v>95.29174179588891</c:v>
                </c:pt>
                <c:pt idx="86">
                  <c:v>164.41063367329878</c:v>
                </c:pt>
                <c:pt idx="87">
                  <c:v>167.35659574468085</c:v>
                </c:pt>
                <c:pt idx="88">
                  <c:v>167.27628445049382</c:v>
                </c:pt>
                <c:pt idx="89">
                  <c:v>1.5866290018832401</c:v>
                </c:pt>
                <c:pt idx="90">
                  <c:v>144.48930334613274</c:v>
                </c:pt>
                <c:pt idx="91">
                  <c:v>165.61899949469429</c:v>
                </c:pt>
                <c:pt idx="92">
                  <c:v>169.21960657852253</c:v>
                </c:pt>
                <c:pt idx="93">
                  <c:v>1.6001899335232723</c:v>
                </c:pt>
                <c:pt idx="94">
                  <c:v>159.68009093861644</c:v>
                </c:pt>
                <c:pt idx="95">
                  <c:v>167.37697872340425</c:v>
                </c:pt>
                <c:pt idx="96">
                  <c:v>1.8957620426428008</c:v>
                </c:pt>
                <c:pt idx="97">
                  <c:v>15.365096359743113</c:v>
                </c:pt>
                <c:pt idx="98">
                  <c:v>1.874178878221328</c:v>
                </c:pt>
                <c:pt idx="99">
                  <c:v>16.69675925925926</c:v>
                </c:pt>
                <c:pt idx="100">
                  <c:v>1.8727823453050627</c:v>
                </c:pt>
                <c:pt idx="101">
                  <c:v>16.368246968026462</c:v>
                </c:pt>
                <c:pt idx="102">
                  <c:v>2.6436722875149052</c:v>
                </c:pt>
                <c:pt idx="103">
                  <c:v>15.627358490566008</c:v>
                </c:pt>
                <c:pt idx="104">
                  <c:v>3.4645528455284551</c:v>
                </c:pt>
                <c:pt idx="105">
                  <c:v>16.652790484903889</c:v>
                </c:pt>
                <c:pt idx="106">
                  <c:v>4.0095846144192757</c:v>
                </c:pt>
                <c:pt idx="107">
                  <c:v>17.180541624874625</c:v>
                </c:pt>
                <c:pt idx="108">
                  <c:v>4.0634837355718814</c:v>
                </c:pt>
                <c:pt idx="109">
                  <c:v>15.814650934119976</c:v>
                </c:pt>
                <c:pt idx="110">
                  <c:v>3.4155192974848223</c:v>
                </c:pt>
                <c:pt idx="111">
                  <c:v>14.73628488931665</c:v>
                </c:pt>
                <c:pt idx="112">
                  <c:v>3.3125702359929372</c:v>
                </c:pt>
                <c:pt idx="113">
                  <c:v>15.434237995824654</c:v>
                </c:pt>
                <c:pt idx="114">
                  <c:v>2.8215053763440827</c:v>
                </c:pt>
                <c:pt idx="115">
                  <c:v>18.800129366106081</c:v>
                </c:pt>
                <c:pt idx="116">
                  <c:v>2.1950579488300899</c:v>
                </c:pt>
                <c:pt idx="117">
                  <c:v>19.03957783641161</c:v>
                </c:pt>
                <c:pt idx="118">
                  <c:v>2.1768026687195277</c:v>
                </c:pt>
                <c:pt idx="119">
                  <c:v>19.413513513513486</c:v>
                </c:pt>
                <c:pt idx="120">
                  <c:v>2.0047770700636942</c:v>
                </c:pt>
                <c:pt idx="121">
                  <c:v>20.127629733520259</c:v>
                </c:pt>
                <c:pt idx="122">
                  <c:v>3.1210571184995741</c:v>
                </c:pt>
                <c:pt idx="123">
                  <c:v>23.620263591433279</c:v>
                </c:pt>
                <c:pt idx="124">
                  <c:v>4.8065595716198075</c:v>
                </c:pt>
                <c:pt idx="125">
                  <c:v>23.3866231647634</c:v>
                </c:pt>
                <c:pt idx="126">
                  <c:v>5.5789263354202774</c:v>
                </c:pt>
                <c:pt idx="127">
                  <c:v>5.8696744515215853</c:v>
                </c:pt>
                <c:pt idx="128">
                  <c:v>5.6497362369809245</c:v>
                </c:pt>
                <c:pt idx="129">
                  <c:v>5.6658201273195026</c:v>
                </c:pt>
                <c:pt idx="130">
                  <c:v>5.7392135445112125</c:v>
                </c:pt>
                <c:pt idx="131">
                  <c:v>5.6612225535375442</c:v>
                </c:pt>
                <c:pt idx="132">
                  <c:v>5.656626098715348</c:v>
                </c:pt>
                <c:pt idx="133">
                  <c:v>5.8146354959192141</c:v>
                </c:pt>
                <c:pt idx="134">
                  <c:v>5.6466810869271322</c:v>
                </c:pt>
                <c:pt idx="135">
                  <c:v>5.6665876456244773</c:v>
                </c:pt>
                <c:pt idx="136">
                  <c:v>5.6102753525856279</c:v>
                </c:pt>
                <c:pt idx="137">
                  <c:v>5.6866163675910775</c:v>
                </c:pt>
                <c:pt idx="138">
                  <c:v>5.8307670966847134</c:v>
                </c:pt>
                <c:pt idx="139">
                  <c:v>5.6140456989247305</c:v>
                </c:pt>
                <c:pt idx="140">
                  <c:v>5.6299798115746968</c:v>
                </c:pt>
                <c:pt idx="141">
                  <c:v>5.6285484734868776</c:v>
                </c:pt>
                <c:pt idx="142">
                  <c:v>6.0141828653707519</c:v>
                </c:pt>
                <c:pt idx="143">
                  <c:v>6.1138190587547445</c:v>
                </c:pt>
                <c:pt idx="144">
                  <c:v>6.1615362063910659</c:v>
                </c:pt>
                <c:pt idx="145">
                  <c:v>5.8978395933352008</c:v>
                </c:pt>
                <c:pt idx="146">
                  <c:v>6.11492580739014</c:v>
                </c:pt>
                <c:pt idx="147">
                  <c:v>6.0387974592175544</c:v>
                </c:pt>
                <c:pt idx="148">
                  <c:v>5.9389307550120884</c:v>
                </c:pt>
                <c:pt idx="149">
                  <c:v>6.1805616821055729</c:v>
                </c:pt>
                <c:pt idx="150">
                  <c:v>6.0344417195614541</c:v>
                </c:pt>
                <c:pt idx="151">
                  <c:v>6.1190301787283845</c:v>
                </c:pt>
                <c:pt idx="152">
                  <c:v>6.2226498889711479</c:v>
                </c:pt>
                <c:pt idx="153">
                  <c:v>6.0986659862953783</c:v>
                </c:pt>
                <c:pt idx="154">
                  <c:v>6.0385282636981374</c:v>
                </c:pt>
                <c:pt idx="155">
                  <c:v>6.1887514723203774</c:v>
                </c:pt>
                <c:pt idx="156">
                  <c:v>6.1805616821055729</c:v>
                </c:pt>
                <c:pt idx="157">
                  <c:v>6.0481465392412375</c:v>
                </c:pt>
                <c:pt idx="158">
                  <c:v>6.0580376538740044</c:v>
                </c:pt>
                <c:pt idx="159">
                  <c:v>6.1733000440593333</c:v>
                </c:pt>
                <c:pt idx="160">
                  <c:v>6.0604323853743534</c:v>
                </c:pt>
                <c:pt idx="161">
                  <c:v>5.9800929235167981</c:v>
                </c:pt>
                <c:pt idx="162">
                  <c:v>6.2355733570686844</c:v>
                </c:pt>
                <c:pt idx="163">
                  <c:v>5.9220898908265855</c:v>
                </c:pt>
                <c:pt idx="164">
                  <c:v>6.0387974592175544</c:v>
                </c:pt>
                <c:pt idx="165">
                  <c:v>6.1543191800878478</c:v>
                </c:pt>
                <c:pt idx="166">
                  <c:v>6.1040055450167596</c:v>
                </c:pt>
                <c:pt idx="167">
                  <c:v>6.1247267958618714</c:v>
                </c:pt>
                <c:pt idx="168">
                  <c:v>5.9567170564746164</c:v>
                </c:pt>
                <c:pt idx="169">
                  <c:v>6.0335713255444974</c:v>
                </c:pt>
                <c:pt idx="170">
                  <c:v>6.1597303634232095</c:v>
                </c:pt>
                <c:pt idx="171">
                  <c:v>5.9170562402606555</c:v>
                </c:pt>
                <c:pt idx="172">
                  <c:v>6.0162160218610694</c:v>
                </c:pt>
                <c:pt idx="173">
                  <c:v>6.1318745441283715</c:v>
                </c:pt>
                <c:pt idx="174">
                  <c:v>6.0437708001736414</c:v>
                </c:pt>
                <c:pt idx="175">
                  <c:v>6.0222790095018714</c:v>
                </c:pt>
                <c:pt idx="176">
                  <c:v>6.1723935389133624</c:v>
                </c:pt>
                <c:pt idx="177">
                  <c:v>5.9465404328018439</c:v>
                </c:pt>
                <c:pt idx="178">
                  <c:v>6.0335713255444974</c:v>
                </c:pt>
                <c:pt idx="179">
                  <c:v>6.1282985857996914</c:v>
                </c:pt>
                <c:pt idx="180">
                  <c:v>6.0437708001736414</c:v>
                </c:pt>
                <c:pt idx="181">
                  <c:v>6.0318312905551554</c:v>
                </c:pt>
                <c:pt idx="182">
                  <c:v>6.1805616821055729</c:v>
                </c:pt>
                <c:pt idx="183">
                  <c:v>6.0272005772005617</c:v>
                </c:pt>
                <c:pt idx="184">
                  <c:v>5.963893641288851</c:v>
                </c:pt>
                <c:pt idx="185">
                  <c:v>6.1851088875809275</c:v>
                </c:pt>
                <c:pt idx="186">
                  <c:v>6.0842680262199567</c:v>
                </c:pt>
                <c:pt idx="187">
                  <c:v>6.0712264150943769</c:v>
                </c:pt>
                <c:pt idx="188">
                  <c:v>6.2420552420552253</c:v>
                </c:pt>
                <c:pt idx="189">
                  <c:v>5.9397753128555184</c:v>
                </c:pt>
                <c:pt idx="190">
                  <c:v>6.0344417195614541</c:v>
                </c:pt>
                <c:pt idx="191">
                  <c:v>6.265315248174077</c:v>
                </c:pt>
                <c:pt idx="192">
                  <c:v>5.9977742676622441</c:v>
                </c:pt>
                <c:pt idx="193">
                  <c:v>5.9903694687097389</c:v>
                </c:pt>
                <c:pt idx="194">
                  <c:v>6.0963016678752675</c:v>
                </c:pt>
                <c:pt idx="195">
                  <c:v>5.8961744776961931</c:v>
                </c:pt>
                <c:pt idx="196">
                  <c:v>5.9886542591266965</c:v>
                </c:pt>
                <c:pt idx="197">
                  <c:v>6.0081271576524742</c:v>
                </c:pt>
                <c:pt idx="198">
                  <c:v>6.1113695841814524</c:v>
                </c:pt>
                <c:pt idx="199">
                  <c:v>5.9591807708718525</c:v>
                </c:pt>
                <c:pt idx="200">
                  <c:v>6.1860191317144961</c:v>
                </c:pt>
                <c:pt idx="201">
                  <c:v>6.0350323043790404</c:v>
                </c:pt>
                <c:pt idx="202">
                  <c:v>5.9889937106918447</c:v>
                </c:pt>
                <c:pt idx="203">
                  <c:v>6.2143701951507984</c:v>
                </c:pt>
                <c:pt idx="204">
                  <c:v>6.0901188061431455</c:v>
                </c:pt>
                <c:pt idx="205">
                  <c:v>5.9296631757713305</c:v>
                </c:pt>
                <c:pt idx="206">
                  <c:v>6.11492580739014</c:v>
                </c:pt>
                <c:pt idx="207">
                  <c:v>6.0173775671405796</c:v>
                </c:pt>
                <c:pt idx="208">
                  <c:v>6.0550273696341108</c:v>
                </c:pt>
                <c:pt idx="209">
                  <c:v>6.1408327246165086</c:v>
                </c:pt>
                <c:pt idx="210">
                  <c:v>5.9524080125017784</c:v>
                </c:pt>
                <c:pt idx="211">
                  <c:v>6.1453216374268864</c:v>
                </c:pt>
                <c:pt idx="212">
                  <c:v>6.0246524294109216</c:v>
                </c:pt>
                <c:pt idx="213">
                  <c:v>6.0451594286538803</c:v>
                </c:pt>
                <c:pt idx="214">
                  <c:v>6.069015304649148</c:v>
                </c:pt>
                <c:pt idx="215">
                  <c:v>6.1372463133304125</c:v>
                </c:pt>
                <c:pt idx="216">
                  <c:v>6.1841989112843905</c:v>
                </c:pt>
                <c:pt idx="217">
                  <c:v>6.1354546781491655</c:v>
                </c:pt>
                <c:pt idx="218">
                  <c:v>5.9872820805944729</c:v>
                </c:pt>
                <c:pt idx="219">
                  <c:v>6.1660554496112656</c:v>
                </c:pt>
                <c:pt idx="220">
                  <c:v>6.0655122655122655</c:v>
                </c:pt>
                <c:pt idx="221">
                  <c:v>6.0208363270584604</c:v>
                </c:pt>
                <c:pt idx="222">
                  <c:v>6.1399357288927785</c:v>
                </c:pt>
                <c:pt idx="223">
                  <c:v>6.0541552642949537</c:v>
                </c:pt>
                <c:pt idx="224">
                  <c:v>6.0416726748377814</c:v>
                </c:pt>
                <c:pt idx="225">
                  <c:v>6.0963016678752675</c:v>
                </c:pt>
                <c:pt idx="226">
                  <c:v>5.9727726300784036</c:v>
                </c:pt>
                <c:pt idx="227">
                  <c:v>6.1078174949142694</c:v>
                </c:pt>
                <c:pt idx="228">
                  <c:v>6.1642469570318079</c:v>
                </c:pt>
                <c:pt idx="229">
                  <c:v>5.9347025495750705</c:v>
                </c:pt>
                <c:pt idx="230">
                  <c:v>6.1778365667254169</c:v>
                </c:pt>
                <c:pt idx="231">
                  <c:v>6.1480181366096254</c:v>
                </c:pt>
                <c:pt idx="232">
                  <c:v>5.8764375876577795</c:v>
                </c:pt>
                <c:pt idx="233">
                  <c:v>6.2504089219330874</c:v>
                </c:pt>
                <c:pt idx="234">
                  <c:v>6.2466934165552104</c:v>
                </c:pt>
                <c:pt idx="235">
                  <c:v>5.9932770705192393</c:v>
                </c:pt>
                <c:pt idx="236">
                  <c:v>6.1769287288758274</c:v>
                </c:pt>
                <c:pt idx="237">
                  <c:v>5.9975665616948186</c:v>
                </c:pt>
                <c:pt idx="238">
                  <c:v>6.1597303634232095</c:v>
                </c:pt>
                <c:pt idx="239">
                  <c:v>6.0681391655839469</c:v>
                </c:pt>
                <c:pt idx="240">
                  <c:v>6.1489174956114683</c:v>
                </c:pt>
                <c:pt idx="241">
                  <c:v>6.069015304649148</c:v>
                </c:pt>
                <c:pt idx="242">
                  <c:v>6.0910013041588194</c:v>
                </c:pt>
                <c:pt idx="243">
                  <c:v>6.1309801633605545</c:v>
                </c:pt>
                <c:pt idx="244">
                  <c:v>6.1104811745893297</c:v>
                </c:pt>
                <c:pt idx="245">
                  <c:v>6.1229424617625625</c:v>
                </c:pt>
                <c:pt idx="246">
                  <c:v>6.0558997262642293</c:v>
                </c:pt>
                <c:pt idx="247">
                  <c:v>6.1534182403747471</c:v>
                </c:pt>
                <c:pt idx="248">
                  <c:v>6.0954176334106727</c:v>
                </c:pt>
                <c:pt idx="249">
                  <c:v>6.1705813270698755</c:v>
                </c:pt>
                <c:pt idx="250">
                  <c:v>6.1426275025573576</c:v>
                </c:pt>
                <c:pt idx="251">
                  <c:v>6.1642469570318079</c:v>
                </c:pt>
                <c:pt idx="252">
                  <c:v>6.1140363636363384</c:v>
                </c:pt>
                <c:pt idx="253">
                  <c:v>6.1997050147492629</c:v>
                </c:pt>
                <c:pt idx="254">
                  <c:v>6.1633431085044004</c:v>
                </c:pt>
                <c:pt idx="255">
                  <c:v>6.1471190406551441</c:v>
                </c:pt>
                <c:pt idx="256">
                  <c:v>19.190533980582526</c:v>
                </c:pt>
                <c:pt idx="257">
                  <c:v>19.245489690721513</c:v>
                </c:pt>
                <c:pt idx="258">
                  <c:v>19.168639475185262</c:v>
                </c:pt>
                <c:pt idx="259">
                  <c:v>19.043401015228433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3196160"/>
        <c:axId val="83202432"/>
      </c:scatterChart>
      <c:valAx>
        <c:axId val="83196160"/>
        <c:scaling>
          <c:orientation val="minMax"/>
          <c:max val="240"/>
          <c:min val="0"/>
        </c:scaling>
        <c:delete val="0"/>
        <c:axPos val="b"/>
        <c:majorGridlines>
          <c:spPr>
            <a:ln>
              <a:solidFill>
                <a:schemeClr val="bg2">
                  <a:lumMod val="60000"/>
                  <a:lumOff val="40000"/>
                </a:schemeClr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b="1"/>
                </a:pPr>
                <a:r>
                  <a:rPr lang="en-CA" b="1"/>
                  <a:t>Hardware IPC</a:t>
                </a:r>
              </a:p>
            </c:rich>
          </c:tx>
          <c:layout>
            <c:manualLayout>
              <c:xMode val="edge"/>
              <c:yMode val="edge"/>
              <c:x val="0.44687876853231401"/>
              <c:y val="0.94115794349235748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B3B3B3"/>
            </a:solidFill>
            <a:prstDash val="solid"/>
          </a:ln>
        </c:spPr>
        <c:txPr>
          <a:bodyPr rot="0" vert="horz"/>
          <a:lstStyle/>
          <a:p>
            <a:pPr>
              <a:defRPr/>
            </a:pPr>
            <a:endParaRPr lang="zh-TW"/>
          </a:p>
        </c:txPr>
        <c:crossAx val="83202432"/>
        <c:crossesAt val="0"/>
        <c:crossBetween val="midCat"/>
        <c:majorUnit val="50"/>
      </c:valAx>
      <c:valAx>
        <c:axId val="83202432"/>
        <c:scaling>
          <c:orientation val="minMax"/>
          <c:max val="240"/>
          <c:min val="0"/>
        </c:scaling>
        <c:delete val="0"/>
        <c:axPos val="l"/>
        <c:majorGridlines>
          <c:spPr>
            <a:ln w="3175">
              <a:solidFill>
                <a:srgbClr val="B3B3B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b="1"/>
                </a:pPr>
                <a:r>
                  <a:rPr lang="en-CA" b="1"/>
                  <a:t>GPGPU-Sim IPC</a:t>
                </a:r>
              </a:p>
            </c:rich>
          </c:tx>
          <c:layout>
            <c:manualLayout>
              <c:xMode val="edge"/>
              <c:yMode val="edge"/>
              <c:x val="0.15320922384701996"/>
              <c:y val="0.32370870001544044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B3B3B3"/>
            </a:solidFill>
            <a:prstDash val="solid"/>
          </a:ln>
        </c:spPr>
        <c:txPr>
          <a:bodyPr rot="0" vert="horz"/>
          <a:lstStyle/>
          <a:p>
            <a:pPr>
              <a:defRPr/>
            </a:pPr>
            <a:endParaRPr lang="zh-TW"/>
          </a:p>
        </c:txPr>
        <c:crossAx val="83196160"/>
        <c:crossesAt val="0"/>
        <c:crossBetween val="midCat"/>
      </c:valAx>
      <c:spPr>
        <a:noFill/>
        <a:ln w="3175">
          <a:solidFill>
            <a:srgbClr val="B3B3B3"/>
          </a:solidFill>
          <a:prstDash val="solid"/>
        </a:ln>
      </c:spPr>
    </c:plotArea>
    <c:plotVisOnly val="1"/>
    <c:dispBlanksAs val="span"/>
    <c:showDLblsOverMax val="0"/>
  </c:chart>
  <c:spPr>
    <a:solidFill>
      <a:srgbClr val="FFFFFF"/>
    </a:solidFill>
    <a:ln w="9525">
      <a:noFill/>
    </a:ln>
  </c:spPr>
  <c:txPr>
    <a:bodyPr/>
    <a:lstStyle/>
    <a:p>
      <a:pPr>
        <a:defRPr sz="16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zh-TW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900" b="1"/>
            </a:pPr>
            <a:r>
              <a:rPr lang="en-CA" sz="1900" b="1" dirty="0" smtClean="0"/>
              <a:t>RODINIA</a:t>
            </a:r>
            <a:r>
              <a:rPr lang="en-CA" sz="1900" b="1" baseline="0" dirty="0" smtClean="0"/>
              <a:t> Benchmark Suite</a:t>
            </a:r>
            <a:endParaRPr lang="en-CA" sz="1900" b="1" dirty="0" smtClean="0"/>
          </a:p>
          <a:p>
            <a:pPr>
              <a:defRPr sz="1900" b="1"/>
            </a:pPr>
            <a:r>
              <a:rPr lang="en-CA" sz="1900" b="1" dirty="0" smtClean="0"/>
              <a:t>Tesla</a:t>
            </a:r>
            <a:r>
              <a:rPr lang="en-CA" sz="1900" b="1" baseline="0" dirty="0" smtClean="0"/>
              <a:t> C2050 (</a:t>
            </a:r>
            <a:r>
              <a:rPr lang="en-CA" sz="1900" b="1" dirty="0" smtClean="0"/>
              <a:t>Fermi) SASS</a:t>
            </a:r>
            <a:r>
              <a:rPr lang="en-CA" sz="1900" b="1" dirty="0"/>
              <a:t>
GPGPU-</a:t>
            </a:r>
            <a:r>
              <a:rPr lang="en-CA" sz="1900" b="1" dirty="0" err="1"/>
              <a:t>Sim</a:t>
            </a:r>
            <a:r>
              <a:rPr lang="en-CA" sz="1900" b="1" dirty="0"/>
              <a:t> </a:t>
            </a:r>
            <a:r>
              <a:rPr lang="en-CA" sz="1900" b="1" dirty="0" smtClean="0"/>
              <a:t>3.1.0 – Correlation: </a:t>
            </a:r>
            <a:r>
              <a:rPr lang="en-CA" sz="1900" b="1" dirty="0">
                <a:solidFill>
                  <a:srgbClr val="FF0000"/>
                </a:solidFill>
              </a:rPr>
              <a:t>97.35%</a:t>
            </a:r>
          </a:p>
        </c:rich>
      </c:tx>
      <c:layout>
        <c:manualLayout>
          <c:xMode val="edge"/>
          <c:yMode val="edge"/>
          <c:x val="0.23013498312710967"/>
          <c:y val="2.0304539138490028E-3"/>
        </c:manualLayout>
      </c:layout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2659111361079865"/>
          <c:y val="0.17926607121870961"/>
          <c:w val="0.51444594425696577"/>
          <c:h val="0.68782866296124745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Sheet4!$H$1</c:f>
              <c:strCache>
                <c:ptCount val="1"/>
                <c:pt idx="0">
                  <c:v>sim ipc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4"/>
            <c:spPr>
              <a:solidFill>
                <a:srgbClr val="0084D1"/>
              </a:solidFill>
              <a:ln>
                <a:solidFill>
                  <a:srgbClr val="0084D1"/>
                </a:solidFill>
                <a:prstDash val="solid"/>
              </a:ln>
            </c:spPr>
          </c:marker>
          <c:xVal>
            <c:numRef>
              <c:f>Sheet4!$G$2:$G$261</c:f>
              <c:numCache>
                <c:formatCode>General</c:formatCode>
                <c:ptCount val="260"/>
                <c:pt idx="0">
                  <c:v>417.18966603654752</c:v>
                </c:pt>
                <c:pt idx="1">
                  <c:v>242.18104062722747</c:v>
                </c:pt>
                <c:pt idx="2">
                  <c:v>2.1415560952493782</c:v>
                </c:pt>
                <c:pt idx="3">
                  <c:v>10.421014492753621</c:v>
                </c:pt>
                <c:pt idx="4">
                  <c:v>2.6001234398573612</c:v>
                </c:pt>
                <c:pt idx="5">
                  <c:v>10.309147374364784</c:v>
                </c:pt>
                <c:pt idx="6">
                  <c:v>3.1711133069828752</c:v>
                </c:pt>
                <c:pt idx="7">
                  <c:v>11.976147342995169</c:v>
                </c:pt>
                <c:pt idx="8">
                  <c:v>4.9367149758454065</c:v>
                </c:pt>
                <c:pt idx="9">
                  <c:v>15.988977342314739</c:v>
                </c:pt>
                <c:pt idx="10">
                  <c:v>8.0394764924690545</c:v>
                </c:pt>
                <c:pt idx="11">
                  <c:v>17.079171562867216</c:v>
                </c:pt>
                <c:pt idx="12">
                  <c:v>9.9196060319642854</c:v>
                </c:pt>
                <c:pt idx="13">
                  <c:v>11.653457125603866</c:v>
                </c:pt>
                <c:pt idx="14">
                  <c:v>5.875603864734309</c:v>
                </c:pt>
                <c:pt idx="15">
                  <c:v>11.994147157190636</c:v>
                </c:pt>
                <c:pt idx="16">
                  <c:v>6.2450000000000001</c:v>
                </c:pt>
                <c:pt idx="17">
                  <c:v>12.17391304347826</c:v>
                </c:pt>
                <c:pt idx="18">
                  <c:v>126.96238220750119</c:v>
                </c:pt>
                <c:pt idx="19">
                  <c:v>143.42901844532281</c:v>
                </c:pt>
                <c:pt idx="20">
                  <c:v>145.36724842431391</c:v>
                </c:pt>
                <c:pt idx="21">
                  <c:v>143.9524820162915</c:v>
                </c:pt>
                <c:pt idx="22">
                  <c:v>143.42901844532281</c:v>
                </c:pt>
                <c:pt idx="23">
                  <c:v>141.54179451841065</c:v>
                </c:pt>
                <c:pt idx="24">
                  <c:v>134.45239533011281</c:v>
                </c:pt>
                <c:pt idx="25">
                  <c:v>430.67839889579022</c:v>
                </c:pt>
                <c:pt idx="26">
                  <c:v>1.4300187536375593</c:v>
                </c:pt>
                <c:pt idx="27">
                  <c:v>7.2918800550983693</c:v>
                </c:pt>
                <c:pt idx="28">
                  <c:v>7.3599335625100117</c:v>
                </c:pt>
                <c:pt idx="29">
                  <c:v>7.3489548153151452</c:v>
                </c:pt>
                <c:pt idx="30">
                  <c:v>7.3541388814794946</c:v>
                </c:pt>
                <c:pt idx="31">
                  <c:v>7.3772323419742794</c:v>
                </c:pt>
                <c:pt idx="32">
                  <c:v>7.4058314232504836</c:v>
                </c:pt>
                <c:pt idx="33">
                  <c:v>7.3514211312168936</c:v>
                </c:pt>
                <c:pt idx="34">
                  <c:v>7.3877987567432379</c:v>
                </c:pt>
                <c:pt idx="35">
                  <c:v>7.3648426094078268</c:v>
                </c:pt>
                <c:pt idx="36">
                  <c:v>7.3934711127789985</c:v>
                </c:pt>
                <c:pt idx="37">
                  <c:v>7.4158470826391589</c:v>
                </c:pt>
                <c:pt idx="38">
                  <c:v>7.4067461026887962</c:v>
                </c:pt>
                <c:pt idx="39">
                  <c:v>7.3680537032097444</c:v>
                </c:pt>
                <c:pt idx="40">
                  <c:v>7.3681203876589265</c:v>
                </c:pt>
                <c:pt idx="41">
                  <c:v>7.3740856751321395</c:v>
                </c:pt>
                <c:pt idx="42">
                  <c:v>7.367875878011894</c:v>
                </c:pt>
                <c:pt idx="43">
                  <c:v>0.3047218397500398</c:v>
                </c:pt>
                <c:pt idx="44">
                  <c:v>1.6699505232278142</c:v>
                </c:pt>
                <c:pt idx="45">
                  <c:v>51.977030352748145</c:v>
                </c:pt>
                <c:pt idx="46">
                  <c:v>0.32280855539972075</c:v>
                </c:pt>
                <c:pt idx="47">
                  <c:v>1.1181799525052041</c:v>
                </c:pt>
                <c:pt idx="48">
                  <c:v>28.473205257836202</c:v>
                </c:pt>
                <c:pt idx="49">
                  <c:v>0.32301695343419373</c:v>
                </c:pt>
                <c:pt idx="50">
                  <c:v>0.55984499310101865</c:v>
                </c:pt>
                <c:pt idx="51">
                  <c:v>7.2020460358056324</c:v>
                </c:pt>
                <c:pt idx="52">
                  <c:v>0.32280855539972075</c:v>
                </c:pt>
                <c:pt idx="53">
                  <c:v>0.38988095238095383</c:v>
                </c:pt>
                <c:pt idx="54">
                  <c:v>0.80618164843958551</c:v>
                </c:pt>
                <c:pt idx="55">
                  <c:v>1.255365549709222</c:v>
                </c:pt>
                <c:pt idx="56">
                  <c:v>1.6392442806028398</c:v>
                </c:pt>
                <c:pt idx="57">
                  <c:v>2.1067098662207382</c:v>
                </c:pt>
                <c:pt idx="58">
                  <c:v>2.4619700917331593</c:v>
                </c:pt>
                <c:pt idx="59">
                  <c:v>2.9261395065825901</c:v>
                </c:pt>
                <c:pt idx="60">
                  <c:v>3.2701979234263492</c:v>
                </c:pt>
                <c:pt idx="61">
                  <c:v>2.9653532608695654</c:v>
                </c:pt>
                <c:pt idx="62">
                  <c:v>2.4686376266753842</c:v>
                </c:pt>
                <c:pt idx="63">
                  <c:v>2.1201979863884404</c:v>
                </c:pt>
                <c:pt idx="64">
                  <c:v>1.6408208020050119</c:v>
                </c:pt>
                <c:pt idx="65">
                  <c:v>1.2680339164182461</c:v>
                </c:pt>
                <c:pt idx="66">
                  <c:v>0.82005284951509205</c:v>
                </c:pt>
                <c:pt idx="67">
                  <c:v>0.42060187772437746</c:v>
                </c:pt>
                <c:pt idx="68">
                  <c:v>30.510247511786272</c:v>
                </c:pt>
                <c:pt idx="69">
                  <c:v>32.281742496238195</c:v>
                </c:pt>
                <c:pt idx="70">
                  <c:v>32.250539027574483</c:v>
                </c:pt>
                <c:pt idx="71">
                  <c:v>32.519570203430398</c:v>
                </c:pt>
                <c:pt idx="72">
                  <c:v>131.79250428549165</c:v>
                </c:pt>
                <c:pt idx="73">
                  <c:v>144.08634843417479</c:v>
                </c:pt>
                <c:pt idx="74">
                  <c:v>146.73041529534004</c:v>
                </c:pt>
                <c:pt idx="75">
                  <c:v>148.76785433997773</c:v>
                </c:pt>
                <c:pt idx="76">
                  <c:v>2.5446224256292855</c:v>
                </c:pt>
                <c:pt idx="77">
                  <c:v>2.6751830270431798</c:v>
                </c:pt>
                <c:pt idx="78">
                  <c:v>2.6844077961019552</c:v>
                </c:pt>
                <c:pt idx="79">
                  <c:v>2.6751830270431798</c:v>
                </c:pt>
                <c:pt idx="80">
                  <c:v>2.9337474120082772</c:v>
                </c:pt>
                <c:pt idx="81">
                  <c:v>5.0952906210742404</c:v>
                </c:pt>
                <c:pt idx="82">
                  <c:v>377.65017667844535</c:v>
                </c:pt>
                <c:pt idx="83">
                  <c:v>381.6964285714285</c:v>
                </c:pt>
                <c:pt idx="84">
                  <c:v>1.3417741678611239</c:v>
                </c:pt>
                <c:pt idx="85">
                  <c:v>156.95177001663131</c:v>
                </c:pt>
                <c:pt idx="86">
                  <c:v>380.37289184589201</c:v>
                </c:pt>
                <c:pt idx="87">
                  <c:v>394.36066099791435</c:v>
                </c:pt>
                <c:pt idx="88">
                  <c:v>397.30483271375539</c:v>
                </c:pt>
                <c:pt idx="89">
                  <c:v>1.3822805578342905</c:v>
                </c:pt>
                <c:pt idx="90">
                  <c:v>265.10064412238393</c:v>
                </c:pt>
                <c:pt idx="91">
                  <c:v>401.79797319385432</c:v>
                </c:pt>
                <c:pt idx="92">
                  <c:v>414.82213438735175</c:v>
                </c:pt>
                <c:pt idx="93">
                  <c:v>1.3822805578342905</c:v>
                </c:pt>
                <c:pt idx="94">
                  <c:v>377.6732216930414</c:v>
                </c:pt>
                <c:pt idx="95">
                  <c:v>384.47753753518862</c:v>
                </c:pt>
                <c:pt idx="96">
                  <c:v>3.4334477498093059</c:v>
                </c:pt>
                <c:pt idx="97">
                  <c:v>16.955340264650282</c:v>
                </c:pt>
                <c:pt idx="98">
                  <c:v>5.3397638928879934</c:v>
                </c:pt>
                <c:pt idx="99">
                  <c:v>17.231247013855711</c:v>
                </c:pt>
                <c:pt idx="100">
                  <c:v>5.4385524001005372</c:v>
                </c:pt>
                <c:pt idx="101">
                  <c:v>17.166975023126735</c:v>
                </c:pt>
                <c:pt idx="102">
                  <c:v>3.8429731603446569</c:v>
                </c:pt>
                <c:pt idx="103">
                  <c:v>18.755661231884059</c:v>
                </c:pt>
                <c:pt idx="104">
                  <c:v>3.1791053683865012</c:v>
                </c:pt>
                <c:pt idx="105">
                  <c:v>20.82551487414181</c:v>
                </c:pt>
                <c:pt idx="106">
                  <c:v>3.1414444575541269</c:v>
                </c:pt>
                <c:pt idx="107">
                  <c:v>19.394248188405797</c:v>
                </c:pt>
                <c:pt idx="108">
                  <c:v>3.2906103951281667</c:v>
                </c:pt>
                <c:pt idx="109">
                  <c:v>18.402173913043477</c:v>
                </c:pt>
                <c:pt idx="110">
                  <c:v>3.1707679146537804</c:v>
                </c:pt>
                <c:pt idx="111">
                  <c:v>17.518306636155589</c:v>
                </c:pt>
                <c:pt idx="112">
                  <c:v>3.6350503840462225</c:v>
                </c:pt>
                <c:pt idx="113">
                  <c:v>17.097594819611491</c:v>
                </c:pt>
                <c:pt idx="114">
                  <c:v>4.0629258020562249</c:v>
                </c:pt>
                <c:pt idx="115">
                  <c:v>17.1697778827977</c:v>
                </c:pt>
                <c:pt idx="116">
                  <c:v>4.9821322215604456</c:v>
                </c:pt>
                <c:pt idx="117">
                  <c:v>17.429951690821252</c:v>
                </c:pt>
                <c:pt idx="118">
                  <c:v>5.9106744704570788</c:v>
                </c:pt>
                <c:pt idx="119">
                  <c:v>17.159579550883887</c:v>
                </c:pt>
                <c:pt idx="120">
                  <c:v>5.3317334839074073</c:v>
                </c:pt>
                <c:pt idx="121">
                  <c:v>18.13827098078869</c:v>
                </c:pt>
                <c:pt idx="122">
                  <c:v>6.0753401924991861</c:v>
                </c:pt>
                <c:pt idx="123">
                  <c:v>17.510381045432339</c:v>
                </c:pt>
                <c:pt idx="124">
                  <c:v>7.1609493418428407</c:v>
                </c:pt>
                <c:pt idx="125">
                  <c:v>19.478260869565172</c:v>
                </c:pt>
                <c:pt idx="126">
                  <c:v>9.1411297363366479</c:v>
                </c:pt>
                <c:pt idx="127">
                  <c:v>9.5296557588013648</c:v>
                </c:pt>
                <c:pt idx="128">
                  <c:v>9.5781737295908691</c:v>
                </c:pt>
                <c:pt idx="129">
                  <c:v>9.6127286515304551</c:v>
                </c:pt>
                <c:pt idx="130">
                  <c:v>9.5185688405797109</c:v>
                </c:pt>
                <c:pt idx="131">
                  <c:v>9.4584465579710422</c:v>
                </c:pt>
                <c:pt idx="132">
                  <c:v>9.5924486332783161</c:v>
                </c:pt>
                <c:pt idx="133">
                  <c:v>9.6187643020594802</c:v>
                </c:pt>
                <c:pt idx="134">
                  <c:v>9.5781737295908691</c:v>
                </c:pt>
                <c:pt idx="135">
                  <c:v>9.5121770965981458</c:v>
                </c:pt>
                <c:pt idx="136">
                  <c:v>9.438782427912848</c:v>
                </c:pt>
                <c:pt idx="137">
                  <c:v>9.633094602063375</c:v>
                </c:pt>
                <c:pt idx="138">
                  <c:v>9.5185688405797109</c:v>
                </c:pt>
                <c:pt idx="139">
                  <c:v>9.5580091533180784</c:v>
                </c:pt>
                <c:pt idx="140">
                  <c:v>9.6535470322163768</c:v>
                </c:pt>
                <c:pt idx="141">
                  <c:v>9.6187643020594802</c:v>
                </c:pt>
                <c:pt idx="142">
                  <c:v>9.6391812055755519</c:v>
                </c:pt>
                <c:pt idx="143">
                  <c:v>9.633094602063375</c:v>
                </c:pt>
                <c:pt idx="144">
                  <c:v>9.6799005158437748</c:v>
                </c:pt>
                <c:pt idx="145">
                  <c:v>9.59842356834268</c:v>
                </c:pt>
                <c:pt idx="146">
                  <c:v>9.5985568140299886</c:v>
                </c:pt>
                <c:pt idx="147">
                  <c:v>9.5121770965981458</c:v>
                </c:pt>
                <c:pt idx="148">
                  <c:v>9.4980216481717061</c:v>
                </c:pt>
                <c:pt idx="149">
                  <c:v>9.5185688405797109</c:v>
                </c:pt>
                <c:pt idx="150">
                  <c:v>9.5121770965981458</c:v>
                </c:pt>
                <c:pt idx="151">
                  <c:v>9.5179336432412729</c:v>
                </c:pt>
                <c:pt idx="152">
                  <c:v>9.659435609890636</c:v>
                </c:pt>
                <c:pt idx="153">
                  <c:v>9.5121770965981458</c:v>
                </c:pt>
                <c:pt idx="154">
                  <c:v>9.5580091533180784</c:v>
                </c:pt>
                <c:pt idx="155">
                  <c:v>9.659435609890636</c:v>
                </c:pt>
                <c:pt idx="156">
                  <c:v>9.6390570537516052</c:v>
                </c:pt>
                <c:pt idx="157">
                  <c:v>9.5781737295908691</c:v>
                </c:pt>
                <c:pt idx="158">
                  <c:v>9.5521442272561394</c:v>
                </c:pt>
                <c:pt idx="159">
                  <c:v>9.6390570537516052</c:v>
                </c:pt>
                <c:pt idx="160">
                  <c:v>9.4980216481717061</c:v>
                </c:pt>
                <c:pt idx="161">
                  <c:v>9.4923186892983509</c:v>
                </c:pt>
                <c:pt idx="162">
                  <c:v>9.5384405918126536</c:v>
                </c:pt>
                <c:pt idx="163">
                  <c:v>9.5781737295908691</c:v>
                </c:pt>
                <c:pt idx="164">
                  <c:v>9.5722540045766724</c:v>
                </c:pt>
                <c:pt idx="165">
                  <c:v>9.5985568140299886</c:v>
                </c:pt>
                <c:pt idx="166">
                  <c:v>9.5521442272561394</c:v>
                </c:pt>
                <c:pt idx="167">
                  <c:v>9.6390570537516052</c:v>
                </c:pt>
                <c:pt idx="168">
                  <c:v>9.5379293021556411</c:v>
                </c:pt>
                <c:pt idx="169">
                  <c:v>9.633094602063375</c:v>
                </c:pt>
                <c:pt idx="170">
                  <c:v>9.5384405918126536</c:v>
                </c:pt>
                <c:pt idx="171">
                  <c:v>9.4980216481717061</c:v>
                </c:pt>
                <c:pt idx="172">
                  <c:v>9.6127286515304551</c:v>
                </c:pt>
                <c:pt idx="173">
                  <c:v>9.5185688405797109</c:v>
                </c:pt>
                <c:pt idx="174">
                  <c:v>9.6187592114959504</c:v>
                </c:pt>
                <c:pt idx="175">
                  <c:v>9.6535470322163768</c:v>
                </c:pt>
                <c:pt idx="176">
                  <c:v>9.5784340534135506</c:v>
                </c:pt>
                <c:pt idx="177">
                  <c:v>9.5179336432412729</c:v>
                </c:pt>
                <c:pt idx="178">
                  <c:v>9.633094602063375</c:v>
                </c:pt>
                <c:pt idx="179">
                  <c:v>9.5784340534135506</c:v>
                </c:pt>
                <c:pt idx="180">
                  <c:v>9.4980216481717061</c:v>
                </c:pt>
                <c:pt idx="181">
                  <c:v>9.6127286515304551</c:v>
                </c:pt>
                <c:pt idx="182">
                  <c:v>9.5583954884482463</c:v>
                </c:pt>
                <c:pt idx="183">
                  <c:v>9.6187592114959504</c:v>
                </c:pt>
                <c:pt idx="184">
                  <c:v>9.6127286515304551</c:v>
                </c:pt>
                <c:pt idx="185">
                  <c:v>9.6390570537516052</c:v>
                </c:pt>
                <c:pt idx="186">
                  <c:v>9.5781737295908691</c:v>
                </c:pt>
                <c:pt idx="187">
                  <c:v>9.6127286515304551</c:v>
                </c:pt>
                <c:pt idx="188">
                  <c:v>9.6799005158437748</c:v>
                </c:pt>
                <c:pt idx="189">
                  <c:v>9.6187592114959504</c:v>
                </c:pt>
                <c:pt idx="190">
                  <c:v>9.5722540045766724</c:v>
                </c:pt>
                <c:pt idx="191">
                  <c:v>9.6390570537516052</c:v>
                </c:pt>
                <c:pt idx="192">
                  <c:v>9.4980216481717061</c:v>
                </c:pt>
                <c:pt idx="193">
                  <c:v>9.6127286515304551</c:v>
                </c:pt>
                <c:pt idx="194">
                  <c:v>9.659435609890636</c:v>
                </c:pt>
                <c:pt idx="195">
                  <c:v>9.4584465579710422</c:v>
                </c:pt>
                <c:pt idx="196">
                  <c:v>9.5722540045766724</c:v>
                </c:pt>
                <c:pt idx="197">
                  <c:v>9.59842356834268</c:v>
                </c:pt>
                <c:pt idx="198">
                  <c:v>9.4594472949860879</c:v>
                </c:pt>
                <c:pt idx="199">
                  <c:v>9.3901837740923355</c:v>
                </c:pt>
                <c:pt idx="200">
                  <c:v>9.5583954884482463</c:v>
                </c:pt>
                <c:pt idx="201">
                  <c:v>9.4987797161710184</c:v>
                </c:pt>
                <c:pt idx="202">
                  <c:v>9.4095849802371543</c:v>
                </c:pt>
                <c:pt idx="203">
                  <c:v>9.5985568140299886</c:v>
                </c:pt>
                <c:pt idx="204">
                  <c:v>9.4987797161710184</c:v>
                </c:pt>
                <c:pt idx="205">
                  <c:v>9.4095849802371543</c:v>
                </c:pt>
                <c:pt idx="206">
                  <c:v>9.5784340534135506</c:v>
                </c:pt>
                <c:pt idx="207">
                  <c:v>9.3324572344975252</c:v>
                </c:pt>
                <c:pt idx="208">
                  <c:v>9.5985568140299886</c:v>
                </c:pt>
                <c:pt idx="209">
                  <c:v>9.5185688405797109</c:v>
                </c:pt>
                <c:pt idx="210">
                  <c:v>9.4290665226393067</c:v>
                </c:pt>
                <c:pt idx="211">
                  <c:v>9.4987797161710184</c:v>
                </c:pt>
                <c:pt idx="212">
                  <c:v>9.5185688405797109</c:v>
                </c:pt>
                <c:pt idx="213">
                  <c:v>9.4682726204465339</c:v>
                </c:pt>
                <c:pt idx="214">
                  <c:v>9.6799005158437748</c:v>
                </c:pt>
                <c:pt idx="215">
                  <c:v>9.5384405918126536</c:v>
                </c:pt>
                <c:pt idx="216">
                  <c:v>9.5384405918126536</c:v>
                </c:pt>
                <c:pt idx="217">
                  <c:v>9.5384405918126536</c:v>
                </c:pt>
                <c:pt idx="218">
                  <c:v>9.3901837740923355</c:v>
                </c:pt>
                <c:pt idx="219">
                  <c:v>9.4987797161710184</c:v>
                </c:pt>
                <c:pt idx="220">
                  <c:v>9.5985568140299886</c:v>
                </c:pt>
                <c:pt idx="221">
                  <c:v>9.4290665226393067</c:v>
                </c:pt>
                <c:pt idx="222">
                  <c:v>9.4594472949860879</c:v>
                </c:pt>
                <c:pt idx="223">
                  <c:v>9.5784340534135506</c:v>
                </c:pt>
                <c:pt idx="224">
                  <c:v>9.294365572315856</c:v>
                </c:pt>
                <c:pt idx="225">
                  <c:v>9.5384405918126536</c:v>
                </c:pt>
                <c:pt idx="226">
                  <c:v>9.3901837740923355</c:v>
                </c:pt>
                <c:pt idx="227">
                  <c:v>9.5784340534135506</c:v>
                </c:pt>
                <c:pt idx="228">
                  <c:v>9.5185688405797109</c:v>
                </c:pt>
                <c:pt idx="229">
                  <c:v>9.3516203910365157</c:v>
                </c:pt>
                <c:pt idx="230">
                  <c:v>9.5985568140299886</c:v>
                </c:pt>
                <c:pt idx="231">
                  <c:v>9.4399029823930984</c:v>
                </c:pt>
                <c:pt idx="232">
                  <c:v>9.3324572344975252</c:v>
                </c:pt>
                <c:pt idx="233">
                  <c:v>9.5784340534135506</c:v>
                </c:pt>
                <c:pt idx="234">
                  <c:v>9.4790727043117453</c:v>
                </c:pt>
                <c:pt idx="235">
                  <c:v>9.4095849802371543</c:v>
                </c:pt>
                <c:pt idx="236">
                  <c:v>9.5185688405797109</c:v>
                </c:pt>
                <c:pt idx="237">
                  <c:v>9.4290665226393067</c:v>
                </c:pt>
                <c:pt idx="238">
                  <c:v>9.4987797161710184</c:v>
                </c:pt>
                <c:pt idx="239">
                  <c:v>9.3817516293188117</c:v>
                </c:pt>
                <c:pt idx="240">
                  <c:v>9.5583954884482463</c:v>
                </c:pt>
                <c:pt idx="241">
                  <c:v>9.3433804570107579</c:v>
                </c:pt>
                <c:pt idx="242">
                  <c:v>9.2675720963047876</c:v>
                </c:pt>
                <c:pt idx="243">
                  <c:v>9.5185688405797109</c:v>
                </c:pt>
                <c:pt idx="244">
                  <c:v>9.4594472949860879</c:v>
                </c:pt>
                <c:pt idx="245">
                  <c:v>9.3817516293188117</c:v>
                </c:pt>
                <c:pt idx="246">
                  <c:v>9.4987797161710184</c:v>
                </c:pt>
                <c:pt idx="247">
                  <c:v>9.4399029823930984</c:v>
                </c:pt>
                <c:pt idx="248">
                  <c:v>9.4987797161710184</c:v>
                </c:pt>
                <c:pt idx="249">
                  <c:v>9.4790727043117453</c:v>
                </c:pt>
                <c:pt idx="250">
                  <c:v>9.4399029823930984</c:v>
                </c:pt>
                <c:pt idx="251">
                  <c:v>9.4987797161710184</c:v>
                </c:pt>
                <c:pt idx="252">
                  <c:v>9.4790727043117453</c:v>
                </c:pt>
                <c:pt idx="253">
                  <c:v>9.4010556450169975</c:v>
                </c:pt>
                <c:pt idx="254">
                  <c:v>9.5384405918126536</c:v>
                </c:pt>
                <c:pt idx="255">
                  <c:v>9.5185688405797109</c:v>
                </c:pt>
                <c:pt idx="256">
                  <c:v>29.5745687378983</c:v>
                </c:pt>
                <c:pt idx="257">
                  <c:v>39.273755259467038</c:v>
                </c:pt>
                <c:pt idx="258">
                  <c:v>39.273755259467038</c:v>
                </c:pt>
                <c:pt idx="259">
                  <c:v>37.525506801813812</c:v>
                </c:pt>
              </c:numCache>
            </c:numRef>
          </c:xVal>
          <c:yVal>
            <c:numRef>
              <c:f>Sheet4!$H$2:$H$261</c:f>
              <c:numCache>
                <c:formatCode>General</c:formatCode>
                <c:ptCount val="260"/>
                <c:pt idx="0">
                  <c:v>271.10121561100425</c:v>
                </c:pt>
                <c:pt idx="1">
                  <c:v>152.88188976377961</c:v>
                </c:pt>
                <c:pt idx="2">
                  <c:v>2.6632596685082874</c:v>
                </c:pt>
                <c:pt idx="3">
                  <c:v>16.978748524203027</c:v>
                </c:pt>
                <c:pt idx="4">
                  <c:v>3.5351981351981303</c:v>
                </c:pt>
                <c:pt idx="5">
                  <c:v>19.397078353253693</c:v>
                </c:pt>
                <c:pt idx="6">
                  <c:v>4.5954653937947514</c:v>
                </c:pt>
                <c:pt idx="7">
                  <c:v>19.660470879801704</c:v>
                </c:pt>
                <c:pt idx="8">
                  <c:v>8.454188210961755</c:v>
                </c:pt>
                <c:pt idx="9">
                  <c:v>25.947826086956521</c:v>
                </c:pt>
                <c:pt idx="10">
                  <c:v>10.855444627418731</c:v>
                </c:pt>
                <c:pt idx="11">
                  <c:v>29.436708860759492</c:v>
                </c:pt>
                <c:pt idx="12">
                  <c:v>15.9261079496465</c:v>
                </c:pt>
                <c:pt idx="13">
                  <c:v>20.28712220762149</c:v>
                </c:pt>
                <c:pt idx="14">
                  <c:v>11.682675814751303</c:v>
                </c:pt>
                <c:pt idx="15">
                  <c:v>24.068791946308693</c:v>
                </c:pt>
                <c:pt idx="16">
                  <c:v>19.254021447721179</c:v>
                </c:pt>
                <c:pt idx="17">
                  <c:v>44.246913580246904</c:v>
                </c:pt>
                <c:pt idx="18">
                  <c:v>146.5867164882518</c:v>
                </c:pt>
                <c:pt idx="19">
                  <c:v>163.61708123543997</c:v>
                </c:pt>
                <c:pt idx="20">
                  <c:v>163.70319548872178</c:v>
                </c:pt>
                <c:pt idx="21">
                  <c:v>164.14750452352183</c:v>
                </c:pt>
                <c:pt idx="22">
                  <c:v>165.64611229458265</c:v>
                </c:pt>
                <c:pt idx="23">
                  <c:v>166.63496862084739</c:v>
                </c:pt>
                <c:pt idx="24">
                  <c:v>233.87937675070029</c:v>
                </c:pt>
                <c:pt idx="25">
                  <c:v>288.02446153846222</c:v>
                </c:pt>
                <c:pt idx="26">
                  <c:v>1.8499076301021298</c:v>
                </c:pt>
                <c:pt idx="27">
                  <c:v>23.647218841720917</c:v>
                </c:pt>
                <c:pt idx="28">
                  <c:v>32.957826520438573</c:v>
                </c:pt>
                <c:pt idx="29">
                  <c:v>34.136649809061822</c:v>
                </c:pt>
                <c:pt idx="30">
                  <c:v>34.30609705516374</c:v>
                </c:pt>
                <c:pt idx="31">
                  <c:v>34.501564455569344</c:v>
                </c:pt>
                <c:pt idx="32">
                  <c:v>34.101937744794888</c:v>
                </c:pt>
                <c:pt idx="33">
                  <c:v>34.169265723432822</c:v>
                </c:pt>
                <c:pt idx="34">
                  <c:v>34.558909546688952</c:v>
                </c:pt>
                <c:pt idx="35">
                  <c:v>33.965205788771463</c:v>
                </c:pt>
                <c:pt idx="36">
                  <c:v>34.252820035185763</c:v>
                </c:pt>
                <c:pt idx="37">
                  <c:v>34.339278307756096</c:v>
                </c:pt>
                <c:pt idx="38">
                  <c:v>34.648024252561157</c:v>
                </c:pt>
                <c:pt idx="39">
                  <c:v>34.331848783013868</c:v>
                </c:pt>
                <c:pt idx="40">
                  <c:v>34.254107677999315</c:v>
                </c:pt>
                <c:pt idx="41">
                  <c:v>34.410256410256302</c:v>
                </c:pt>
                <c:pt idx="42">
                  <c:v>34.430871507219159</c:v>
                </c:pt>
                <c:pt idx="43">
                  <c:v>0.63978457261987787</c:v>
                </c:pt>
                <c:pt idx="44">
                  <c:v>3.4073853484216841</c:v>
                </c:pt>
                <c:pt idx="45">
                  <c:v>26.868804664723029</c:v>
                </c:pt>
                <c:pt idx="46">
                  <c:v>0.69346941849954913</c:v>
                </c:pt>
                <c:pt idx="47">
                  <c:v>2.4373527179773986</c:v>
                </c:pt>
                <c:pt idx="48">
                  <c:v>14.557673667205169</c:v>
                </c:pt>
                <c:pt idx="49">
                  <c:v>0.68689845556964979</c:v>
                </c:pt>
                <c:pt idx="50">
                  <c:v>1.2316635046219675</c:v>
                </c:pt>
                <c:pt idx="51">
                  <c:v>3.4372902044552944</c:v>
                </c:pt>
                <c:pt idx="52">
                  <c:v>0.68689845556964979</c:v>
                </c:pt>
                <c:pt idx="53">
                  <c:v>0.60605451071105298</c:v>
                </c:pt>
                <c:pt idx="54">
                  <c:v>1.3474699063753899</c:v>
                </c:pt>
                <c:pt idx="55">
                  <c:v>2.0516519574564382</c:v>
                </c:pt>
                <c:pt idx="56">
                  <c:v>2.6723376049491825</c:v>
                </c:pt>
                <c:pt idx="57">
                  <c:v>3.4179855301831337</c:v>
                </c:pt>
                <c:pt idx="58">
                  <c:v>4.3633357383357287</c:v>
                </c:pt>
                <c:pt idx="59">
                  <c:v>5.0379761904761908</c:v>
                </c:pt>
                <c:pt idx="60">
                  <c:v>5.3657941437444547</c:v>
                </c:pt>
                <c:pt idx="61">
                  <c:v>4.7186559679037066</c:v>
                </c:pt>
                <c:pt idx="62">
                  <c:v>4.4766580214894498</c:v>
                </c:pt>
                <c:pt idx="63">
                  <c:v>3.7884422110552762</c:v>
                </c:pt>
                <c:pt idx="64">
                  <c:v>3.8591222168829091</c:v>
                </c:pt>
                <c:pt idx="65">
                  <c:v>2.8541699636018327</c:v>
                </c:pt>
                <c:pt idx="66">
                  <c:v>1.4591614154144406</c:v>
                </c:pt>
                <c:pt idx="67">
                  <c:v>0.7348059555772517</c:v>
                </c:pt>
                <c:pt idx="68">
                  <c:v>35.219387755101998</c:v>
                </c:pt>
                <c:pt idx="69">
                  <c:v>48.24280642059324</c:v>
                </c:pt>
                <c:pt idx="70">
                  <c:v>47.58884267367192</c:v>
                </c:pt>
                <c:pt idx="71">
                  <c:v>47.812660362143447</c:v>
                </c:pt>
                <c:pt idx="72">
                  <c:v>153.835834470214</c:v>
                </c:pt>
                <c:pt idx="73">
                  <c:v>119.67171717171718</c:v>
                </c:pt>
                <c:pt idx="74">
                  <c:v>159.58077240080058</c:v>
                </c:pt>
                <c:pt idx="75">
                  <c:v>121.70786516853933</c:v>
                </c:pt>
                <c:pt idx="76">
                  <c:v>2.0554528650646908</c:v>
                </c:pt>
                <c:pt idx="77">
                  <c:v>3.7595800524934422</c:v>
                </c:pt>
                <c:pt idx="78">
                  <c:v>4.3015015015015017</c:v>
                </c:pt>
                <c:pt idx="79">
                  <c:v>4.3015015015015017</c:v>
                </c:pt>
                <c:pt idx="80">
                  <c:v>2.7408123791102517</c:v>
                </c:pt>
                <c:pt idx="81">
                  <c:v>5.5298029761409833</c:v>
                </c:pt>
                <c:pt idx="82">
                  <c:v>360.82568807339447</c:v>
                </c:pt>
                <c:pt idx="83">
                  <c:v>350.28500178126114</c:v>
                </c:pt>
                <c:pt idx="84">
                  <c:v>2</c:v>
                </c:pt>
                <c:pt idx="85">
                  <c:v>210.05087440381558</c:v>
                </c:pt>
                <c:pt idx="86">
                  <c:v>357.90354868061866</c:v>
                </c:pt>
                <c:pt idx="87">
                  <c:v>368.52323838080929</c:v>
                </c:pt>
                <c:pt idx="88">
                  <c:v>388.86691714455213</c:v>
                </c:pt>
                <c:pt idx="89">
                  <c:v>2.1492346938775548</c:v>
                </c:pt>
                <c:pt idx="90">
                  <c:v>376.56040028591872</c:v>
                </c:pt>
                <c:pt idx="91">
                  <c:v>366.62192393736018</c:v>
                </c:pt>
                <c:pt idx="92">
                  <c:v>375.02233339288864</c:v>
                </c:pt>
                <c:pt idx="93">
                  <c:v>2.1485495696525385</c:v>
                </c:pt>
                <c:pt idx="94">
                  <c:v>362.57743362831872</c:v>
                </c:pt>
                <c:pt idx="95">
                  <c:v>366.23454376163869</c:v>
                </c:pt>
                <c:pt idx="96">
                  <c:v>3.1615452151009658</c:v>
                </c:pt>
                <c:pt idx="97">
                  <c:v>24.03852596314908</c:v>
                </c:pt>
                <c:pt idx="98">
                  <c:v>3.8625357979692789</c:v>
                </c:pt>
                <c:pt idx="99">
                  <c:v>29.055387713997987</c:v>
                </c:pt>
                <c:pt idx="100">
                  <c:v>4.7404162102957255</c:v>
                </c:pt>
                <c:pt idx="101">
                  <c:v>26.346051464063891</c:v>
                </c:pt>
                <c:pt idx="102">
                  <c:v>6.9321125502456455</c:v>
                </c:pt>
                <c:pt idx="103">
                  <c:v>29.061403508771871</c:v>
                </c:pt>
                <c:pt idx="104">
                  <c:v>8.6754885993485615</c:v>
                </c:pt>
                <c:pt idx="105">
                  <c:v>31.820804195804236</c:v>
                </c:pt>
                <c:pt idx="106">
                  <c:v>10.489289231779408</c:v>
                </c:pt>
                <c:pt idx="107">
                  <c:v>31.545119705340689</c:v>
                </c:pt>
                <c:pt idx="108">
                  <c:v>9.9560792715586679</c:v>
                </c:pt>
                <c:pt idx="109">
                  <c:v>26.828190158465389</c:v>
                </c:pt>
                <c:pt idx="110">
                  <c:v>8.6456503841931909</c:v>
                </c:pt>
                <c:pt idx="111">
                  <c:v>25.475873544093179</c:v>
                </c:pt>
                <c:pt idx="112">
                  <c:v>7.7615196539401916</c:v>
                </c:pt>
                <c:pt idx="113">
                  <c:v>28.407300672430313</c:v>
                </c:pt>
                <c:pt idx="114">
                  <c:v>7.4885844748858448</c:v>
                </c:pt>
                <c:pt idx="115">
                  <c:v>29.388270980788676</c:v>
                </c:pt>
                <c:pt idx="116">
                  <c:v>6.0873256519102465</c:v>
                </c:pt>
                <c:pt idx="117">
                  <c:v>28.749003984063698</c:v>
                </c:pt>
                <c:pt idx="118">
                  <c:v>5.5827574860151374</c:v>
                </c:pt>
                <c:pt idx="119">
                  <c:v>32.066964285714214</c:v>
                </c:pt>
                <c:pt idx="120">
                  <c:v>4.3351506456241031</c:v>
                </c:pt>
                <c:pt idx="121">
                  <c:v>32.431638418079103</c:v>
                </c:pt>
                <c:pt idx="122">
                  <c:v>5.9601139601139606</c:v>
                </c:pt>
                <c:pt idx="123">
                  <c:v>38.855013550135496</c:v>
                </c:pt>
                <c:pt idx="124">
                  <c:v>8.340301974448316</c:v>
                </c:pt>
                <c:pt idx="125">
                  <c:v>41.795918367346999</c:v>
                </c:pt>
                <c:pt idx="126">
                  <c:v>6.741951062459755</c:v>
                </c:pt>
                <c:pt idx="127">
                  <c:v>11.071752769990653</c:v>
                </c:pt>
                <c:pt idx="128">
                  <c:v>11.129363176125763</c:v>
                </c:pt>
                <c:pt idx="129">
                  <c:v>11.147435043304464</c:v>
                </c:pt>
                <c:pt idx="130">
                  <c:v>12.217410260136608</c:v>
                </c:pt>
                <c:pt idx="131">
                  <c:v>12.077056527396286</c:v>
                </c:pt>
                <c:pt idx="132">
                  <c:v>12.103804976851851</c:v>
                </c:pt>
                <c:pt idx="133">
                  <c:v>12.997526283240569</c:v>
                </c:pt>
                <c:pt idx="134">
                  <c:v>11.866051136363657</c:v>
                </c:pt>
                <c:pt idx="135">
                  <c:v>11.984171322160133</c:v>
                </c:pt>
                <c:pt idx="136">
                  <c:v>12.182732973603645</c:v>
                </c:pt>
                <c:pt idx="137">
                  <c:v>12.119585687382306</c:v>
                </c:pt>
                <c:pt idx="138">
                  <c:v>12.919625019210082</c:v>
                </c:pt>
                <c:pt idx="139">
                  <c:v>12.084044553739355</c:v>
                </c:pt>
                <c:pt idx="140">
                  <c:v>12.27608217168012</c:v>
                </c:pt>
                <c:pt idx="141">
                  <c:v>13.029758214507146</c:v>
                </c:pt>
                <c:pt idx="142">
                  <c:v>12.140241244005232</c:v>
                </c:pt>
                <c:pt idx="143">
                  <c:v>12.216924649532711</c:v>
                </c:pt>
                <c:pt idx="144">
                  <c:v>12.983474903474919</c:v>
                </c:pt>
                <c:pt idx="145">
                  <c:v>12.035297507563754</c:v>
                </c:pt>
                <c:pt idx="146">
                  <c:v>12.983474903474919</c:v>
                </c:pt>
                <c:pt idx="147">
                  <c:v>12.037625899280568</c:v>
                </c:pt>
                <c:pt idx="148">
                  <c:v>12.216583796431705</c:v>
                </c:pt>
                <c:pt idx="149">
                  <c:v>12.9935085007728</c:v>
                </c:pt>
                <c:pt idx="150">
                  <c:v>12.124855072463768</c:v>
                </c:pt>
                <c:pt idx="151">
                  <c:v>12.134950610110398</c:v>
                </c:pt>
                <c:pt idx="152">
                  <c:v>12.963454124903649</c:v>
                </c:pt>
                <c:pt idx="153">
                  <c:v>12.167175683536938</c:v>
                </c:pt>
                <c:pt idx="154">
                  <c:v>12.182732973603645</c:v>
                </c:pt>
                <c:pt idx="155">
                  <c:v>12.945488142901139</c:v>
                </c:pt>
                <c:pt idx="156">
                  <c:v>12.997526283240569</c:v>
                </c:pt>
                <c:pt idx="157">
                  <c:v>12.112077714948528</c:v>
                </c:pt>
                <c:pt idx="158">
                  <c:v>11.953350478639805</c:v>
                </c:pt>
                <c:pt idx="159">
                  <c:v>12.872148216199692</c:v>
                </c:pt>
                <c:pt idx="160">
                  <c:v>11.899857549857552</c:v>
                </c:pt>
                <c:pt idx="161">
                  <c:v>11.941407365115616</c:v>
                </c:pt>
                <c:pt idx="162">
                  <c:v>13.293485135989879</c:v>
                </c:pt>
                <c:pt idx="163">
                  <c:v>12.173856018653456</c:v>
                </c:pt>
                <c:pt idx="164">
                  <c:v>12.20622993872192</c:v>
                </c:pt>
                <c:pt idx="165">
                  <c:v>13.001546551190852</c:v>
                </c:pt>
                <c:pt idx="166">
                  <c:v>11.939703153988869</c:v>
                </c:pt>
                <c:pt idx="167">
                  <c:v>12.939510543327708</c:v>
                </c:pt>
                <c:pt idx="168">
                  <c:v>12.209441683718214</c:v>
                </c:pt>
                <c:pt idx="169">
                  <c:v>12.140690756058627</c:v>
                </c:pt>
                <c:pt idx="170">
                  <c:v>12.971455022373092</c:v>
                </c:pt>
                <c:pt idx="171">
                  <c:v>12.024902835756444</c:v>
                </c:pt>
                <c:pt idx="172">
                  <c:v>12.117830243337195</c:v>
                </c:pt>
                <c:pt idx="173">
                  <c:v>12.955463091385441</c:v>
                </c:pt>
                <c:pt idx="174">
                  <c:v>12.028365730741513</c:v>
                </c:pt>
                <c:pt idx="175">
                  <c:v>12.137168141592888</c:v>
                </c:pt>
                <c:pt idx="176">
                  <c:v>12.868207561610287</c:v>
                </c:pt>
                <c:pt idx="177">
                  <c:v>12.01798302402532</c:v>
                </c:pt>
                <c:pt idx="178">
                  <c:v>11.982454883987426</c:v>
                </c:pt>
                <c:pt idx="179">
                  <c:v>12.874119448698316</c:v>
                </c:pt>
                <c:pt idx="180">
                  <c:v>11.997271291110136</c:v>
                </c:pt>
                <c:pt idx="181">
                  <c:v>11.999641422834195</c:v>
                </c:pt>
                <c:pt idx="182">
                  <c:v>12.883984674329525</c:v>
                </c:pt>
                <c:pt idx="183">
                  <c:v>11.993826274228315</c:v>
                </c:pt>
                <c:pt idx="184">
                  <c:v>12.109060645534798</c:v>
                </c:pt>
                <c:pt idx="185">
                  <c:v>12.870177587262706</c:v>
                </c:pt>
                <c:pt idx="186">
                  <c:v>12.085792824074074</c:v>
                </c:pt>
                <c:pt idx="187">
                  <c:v>12.121341640104301</c:v>
                </c:pt>
                <c:pt idx="188">
                  <c:v>12.844614209320104</c:v>
                </c:pt>
                <c:pt idx="189">
                  <c:v>12.266813509544789</c:v>
                </c:pt>
                <c:pt idx="190">
                  <c:v>12.123098101724388</c:v>
                </c:pt>
                <c:pt idx="191">
                  <c:v>12.959457376291065</c:v>
                </c:pt>
                <c:pt idx="192">
                  <c:v>12.275826598089672</c:v>
                </c:pt>
                <c:pt idx="193">
                  <c:v>12.063662581110314</c:v>
                </c:pt>
                <c:pt idx="194">
                  <c:v>13.017652524001258</c:v>
                </c:pt>
                <c:pt idx="195">
                  <c:v>12.092790966994789</c:v>
                </c:pt>
                <c:pt idx="196">
                  <c:v>12.176029690001455</c:v>
                </c:pt>
                <c:pt idx="197">
                  <c:v>12.119106339765006</c:v>
                </c:pt>
                <c:pt idx="198">
                  <c:v>12.485964651715436</c:v>
                </c:pt>
                <c:pt idx="199">
                  <c:v>11.824185127698604</c:v>
                </c:pt>
                <c:pt idx="200">
                  <c:v>12.957459926017284</c:v>
                </c:pt>
                <c:pt idx="201">
                  <c:v>12.786007604562737</c:v>
                </c:pt>
                <c:pt idx="202">
                  <c:v>11.855970571590284</c:v>
                </c:pt>
                <c:pt idx="203">
                  <c:v>12.660843373493975</c:v>
                </c:pt>
                <c:pt idx="204">
                  <c:v>12.758840491728639</c:v>
                </c:pt>
                <c:pt idx="205">
                  <c:v>11.78096443132293</c:v>
                </c:pt>
                <c:pt idx="206">
                  <c:v>12.639903773868591</c:v>
                </c:pt>
                <c:pt idx="207">
                  <c:v>11.908199516839566</c:v>
                </c:pt>
                <c:pt idx="208">
                  <c:v>12.704851141000429</c:v>
                </c:pt>
                <c:pt idx="209">
                  <c:v>12.626614598978676</c:v>
                </c:pt>
                <c:pt idx="210">
                  <c:v>11.757822365651743</c:v>
                </c:pt>
                <c:pt idx="211">
                  <c:v>12.70293139921427</c:v>
                </c:pt>
                <c:pt idx="212">
                  <c:v>12.622822822822823</c:v>
                </c:pt>
                <c:pt idx="213">
                  <c:v>11.837547676225471</c:v>
                </c:pt>
                <c:pt idx="214">
                  <c:v>12.689509433962282</c:v>
                </c:pt>
                <c:pt idx="215">
                  <c:v>12.399410029498526</c:v>
                </c:pt>
                <c:pt idx="216">
                  <c:v>12.716381787929208</c:v>
                </c:pt>
                <c:pt idx="217">
                  <c:v>12.693341386078799</c:v>
                </c:pt>
                <c:pt idx="218">
                  <c:v>11.817515160062051</c:v>
                </c:pt>
                <c:pt idx="219">
                  <c:v>12.720229989408383</c:v>
                </c:pt>
                <c:pt idx="220">
                  <c:v>12.626614598978676</c:v>
                </c:pt>
                <c:pt idx="221">
                  <c:v>11.834204208445136</c:v>
                </c:pt>
                <c:pt idx="222">
                  <c:v>12.704851141000429</c:v>
                </c:pt>
                <c:pt idx="223">
                  <c:v>12.741436799030009</c:v>
                </c:pt>
                <c:pt idx="224">
                  <c:v>11.78096443132293</c:v>
                </c:pt>
                <c:pt idx="225">
                  <c:v>12.724080520659907</c:v>
                </c:pt>
                <c:pt idx="226">
                  <c:v>11.785935302391</c:v>
                </c:pt>
                <c:pt idx="227">
                  <c:v>12.710613849410342</c:v>
                </c:pt>
                <c:pt idx="228">
                  <c:v>12.609569521523939</c:v>
                </c:pt>
                <c:pt idx="229">
                  <c:v>11.705266098617125</c:v>
                </c:pt>
                <c:pt idx="230">
                  <c:v>12.613353338334568</c:v>
                </c:pt>
                <c:pt idx="231">
                  <c:v>12.737575757575748</c:v>
                </c:pt>
                <c:pt idx="232">
                  <c:v>11.916666666666684</c:v>
                </c:pt>
                <c:pt idx="233">
                  <c:v>12.724080520659907</c:v>
                </c:pt>
                <c:pt idx="234">
                  <c:v>12.714458560193565</c:v>
                </c:pt>
                <c:pt idx="235">
                  <c:v>11.643462553841879</c:v>
                </c:pt>
                <c:pt idx="236">
                  <c:v>12.681852466435348</c:v>
                </c:pt>
                <c:pt idx="237">
                  <c:v>11.913278362240526</c:v>
                </c:pt>
                <c:pt idx="238">
                  <c:v>12.554958183990419</c:v>
                </c:pt>
                <c:pt idx="239">
                  <c:v>12.526896140664581</c:v>
                </c:pt>
                <c:pt idx="240">
                  <c:v>12.521298778671412</c:v>
                </c:pt>
                <c:pt idx="241">
                  <c:v>12.58691420871388</c:v>
                </c:pt>
                <c:pt idx="242">
                  <c:v>12.500817843866171</c:v>
                </c:pt>
                <c:pt idx="243">
                  <c:v>12.382972455442646</c:v>
                </c:pt>
                <c:pt idx="244">
                  <c:v>12.443457667258732</c:v>
                </c:pt>
                <c:pt idx="245">
                  <c:v>12.285255005114715</c:v>
                </c:pt>
                <c:pt idx="246">
                  <c:v>12.421394799054369</c:v>
                </c:pt>
                <c:pt idx="247">
                  <c:v>12.375680847931722</c:v>
                </c:pt>
                <c:pt idx="248">
                  <c:v>12.2085390647691</c:v>
                </c:pt>
                <c:pt idx="249">
                  <c:v>12.281665449233001</c:v>
                </c:pt>
                <c:pt idx="250">
                  <c:v>12.485964651715436</c:v>
                </c:pt>
                <c:pt idx="251">
                  <c:v>12.525029797377831</c:v>
                </c:pt>
                <c:pt idx="252">
                  <c:v>12.355673133450924</c:v>
                </c:pt>
                <c:pt idx="253">
                  <c:v>12.532498509242716</c:v>
                </c:pt>
                <c:pt idx="254">
                  <c:v>12.36112336421113</c:v>
                </c:pt>
                <c:pt idx="255">
                  <c:v>12.445299777942274</c:v>
                </c:pt>
                <c:pt idx="256">
                  <c:v>33.669964929859795</c:v>
                </c:pt>
                <c:pt idx="257">
                  <c:v>41.331642066420585</c:v>
                </c:pt>
                <c:pt idx="258">
                  <c:v>41.293548387096813</c:v>
                </c:pt>
                <c:pt idx="259">
                  <c:v>40.896257267441854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3061376"/>
        <c:axId val="83083264"/>
      </c:scatterChart>
      <c:valAx>
        <c:axId val="83061376"/>
        <c:scaling>
          <c:orientation val="minMax"/>
          <c:max val="500"/>
          <c:min val="0"/>
        </c:scaling>
        <c:delete val="0"/>
        <c:axPos val="b"/>
        <c:majorGridlines>
          <c:spPr>
            <a:ln>
              <a:solidFill>
                <a:schemeClr val="bg2">
                  <a:lumMod val="60000"/>
                  <a:lumOff val="40000"/>
                </a:schemeClr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b="1"/>
                </a:pPr>
                <a:r>
                  <a:rPr lang="en-CA" b="1"/>
                  <a:t>Hardware IPC</a:t>
                </a:r>
              </a:p>
            </c:rich>
          </c:tx>
          <c:layout>
            <c:manualLayout>
              <c:xMode val="edge"/>
              <c:yMode val="edge"/>
              <c:x val="0.44773065866766643"/>
              <c:y val="0.94013856723791756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B3B3B3"/>
            </a:solidFill>
            <a:prstDash val="solid"/>
          </a:ln>
        </c:spPr>
        <c:txPr>
          <a:bodyPr rot="0" vert="horz"/>
          <a:lstStyle/>
          <a:p>
            <a:pPr>
              <a:defRPr/>
            </a:pPr>
            <a:endParaRPr lang="zh-TW"/>
          </a:p>
        </c:txPr>
        <c:crossAx val="83083264"/>
        <c:crossesAt val="0"/>
        <c:crossBetween val="midCat"/>
        <c:majorUnit val="100"/>
      </c:valAx>
      <c:valAx>
        <c:axId val="83083264"/>
        <c:scaling>
          <c:orientation val="minMax"/>
          <c:max val="500"/>
          <c:min val="0"/>
        </c:scaling>
        <c:delete val="0"/>
        <c:axPos val="l"/>
        <c:majorGridlines>
          <c:spPr>
            <a:ln w="3175">
              <a:solidFill>
                <a:srgbClr val="B3B3B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b="1"/>
                </a:pPr>
                <a:r>
                  <a:rPr lang="en-CA" b="1"/>
                  <a:t>GPGPU-Sim IPC</a:t>
                </a:r>
              </a:p>
            </c:rich>
          </c:tx>
          <c:layout>
            <c:manualLayout>
              <c:xMode val="edge"/>
              <c:yMode val="edge"/>
              <c:x val="0.14957267841519811"/>
              <c:y val="0.32626254438783525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B3B3B3"/>
            </a:solidFill>
            <a:prstDash val="solid"/>
          </a:ln>
        </c:spPr>
        <c:txPr>
          <a:bodyPr rot="0" vert="horz"/>
          <a:lstStyle/>
          <a:p>
            <a:pPr>
              <a:defRPr/>
            </a:pPr>
            <a:endParaRPr lang="zh-TW"/>
          </a:p>
        </c:txPr>
        <c:crossAx val="83061376"/>
        <c:crossesAt val="0"/>
        <c:crossBetween val="midCat"/>
        <c:majorUnit val="100"/>
      </c:valAx>
      <c:spPr>
        <a:noFill/>
        <a:ln w="3175">
          <a:solidFill>
            <a:srgbClr val="B3B3B3"/>
          </a:solidFill>
          <a:prstDash val="solid"/>
        </a:ln>
      </c:spPr>
    </c:plotArea>
    <c:plotVisOnly val="1"/>
    <c:dispBlanksAs val="span"/>
    <c:showDLblsOverMax val="0"/>
  </c:chart>
  <c:spPr>
    <a:solidFill>
      <a:srgbClr val="FFFFFF"/>
    </a:solidFill>
    <a:ln w="9525">
      <a:noFill/>
    </a:ln>
  </c:spPr>
  <c:txPr>
    <a:bodyPr/>
    <a:lstStyle/>
    <a:p>
      <a:pPr>
        <a:defRPr sz="16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zh-TW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400"/>
            </a:pPr>
            <a:r>
              <a:rPr lang="en-US" sz="2400"/>
              <a:t>NVIDIA GTX 480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Sheet2!$D$2</c:f>
              <c:strCache>
                <c:ptCount val="1"/>
                <c:pt idx="0">
                  <c:v>Simulator</c:v>
                </c:pt>
              </c:strCache>
            </c:strRef>
          </c:tx>
          <c:spPr>
            <a:ln w="28575">
              <a:noFill/>
            </a:ln>
          </c:spPr>
          <c:marker>
            <c:spPr>
              <a:solidFill>
                <a:srgbClr val="002060"/>
              </a:solidFill>
            </c:spPr>
          </c:marker>
          <c:xVal>
            <c:numRef>
              <c:f>Sheet2!$C$3:$C$131</c:f>
              <c:numCache>
                <c:formatCode>General</c:formatCode>
                <c:ptCount val="129"/>
                <c:pt idx="0">
                  <c:v>173.10299999999998</c:v>
                </c:pt>
                <c:pt idx="1">
                  <c:v>171.42100000000008</c:v>
                </c:pt>
                <c:pt idx="2">
                  <c:v>113.813</c:v>
                </c:pt>
                <c:pt idx="3">
                  <c:v>125.712</c:v>
                </c:pt>
                <c:pt idx="4">
                  <c:v>155.25800000000001</c:v>
                </c:pt>
                <c:pt idx="5">
                  <c:v>143.15700000000001</c:v>
                </c:pt>
                <c:pt idx="6">
                  <c:v>126.48699999999999</c:v>
                </c:pt>
                <c:pt idx="7">
                  <c:v>123.46899999999999</c:v>
                </c:pt>
                <c:pt idx="8">
                  <c:v>142.31399999999999</c:v>
                </c:pt>
                <c:pt idx="9">
                  <c:v>117.05825233049293</c:v>
                </c:pt>
                <c:pt idx="10">
                  <c:v>152.45400000000001</c:v>
                </c:pt>
                <c:pt idx="11">
                  <c:v>122.11799999999999</c:v>
                </c:pt>
                <c:pt idx="12">
                  <c:v>145.82700000000008</c:v>
                </c:pt>
                <c:pt idx="13">
                  <c:v>138.23299999999998</c:v>
                </c:pt>
                <c:pt idx="14">
                  <c:v>133.48800000000008</c:v>
                </c:pt>
                <c:pt idx="15">
                  <c:v>135.53495890590699</c:v>
                </c:pt>
                <c:pt idx="16">
                  <c:v>151.72654514519999</c:v>
                </c:pt>
                <c:pt idx="17">
                  <c:v>112.05378547863194</c:v>
                </c:pt>
                <c:pt idx="18">
                  <c:v>89.768600000000006</c:v>
                </c:pt>
                <c:pt idx="19">
                  <c:v>146.50442285454599</c:v>
                </c:pt>
                <c:pt idx="20">
                  <c:v>94.722462596547757</c:v>
                </c:pt>
                <c:pt idx="21">
                  <c:v>144.1125554325499</c:v>
                </c:pt>
                <c:pt idx="22">
                  <c:v>152.59200000000001</c:v>
                </c:pt>
                <c:pt idx="23">
                  <c:v>90.535299999999992</c:v>
                </c:pt>
                <c:pt idx="24">
                  <c:v>151.35300000000001</c:v>
                </c:pt>
                <c:pt idx="25">
                  <c:v>152.518</c:v>
                </c:pt>
                <c:pt idx="26">
                  <c:v>147.506</c:v>
                </c:pt>
                <c:pt idx="27">
                  <c:v>147.77699999999999</c:v>
                </c:pt>
                <c:pt idx="28">
                  <c:v>150.202</c:v>
                </c:pt>
                <c:pt idx="29">
                  <c:v>156.70999999999998</c:v>
                </c:pt>
                <c:pt idx="30">
                  <c:v>153.95100000000008</c:v>
                </c:pt>
                <c:pt idx="31">
                  <c:v>159.24499999999998</c:v>
                </c:pt>
                <c:pt idx="32">
                  <c:v>160.42400000000001</c:v>
                </c:pt>
                <c:pt idx="33">
                  <c:v>166.17299999999997</c:v>
                </c:pt>
                <c:pt idx="34">
                  <c:v>163.941</c:v>
                </c:pt>
                <c:pt idx="35">
                  <c:v>162.09300000000002</c:v>
                </c:pt>
                <c:pt idx="36">
                  <c:v>124.02800000000001</c:v>
                </c:pt>
                <c:pt idx="37">
                  <c:v>145.00300000000001</c:v>
                </c:pt>
                <c:pt idx="38">
                  <c:v>146.524</c:v>
                </c:pt>
                <c:pt idx="39">
                  <c:v>145.44200000000001</c:v>
                </c:pt>
                <c:pt idx="40">
                  <c:v>115.801</c:v>
                </c:pt>
                <c:pt idx="41">
                  <c:v>119.422</c:v>
                </c:pt>
                <c:pt idx="42">
                  <c:v>129.09300000000002</c:v>
                </c:pt>
                <c:pt idx="43">
                  <c:v>137.37800000000001</c:v>
                </c:pt>
                <c:pt idx="44">
                  <c:v>141.63499999999999</c:v>
                </c:pt>
                <c:pt idx="45">
                  <c:v>143.61499999999998</c:v>
                </c:pt>
                <c:pt idx="46">
                  <c:v>144.67499999999998</c:v>
                </c:pt>
                <c:pt idx="47">
                  <c:v>138.40300000000002</c:v>
                </c:pt>
                <c:pt idx="48">
                  <c:v>147.04</c:v>
                </c:pt>
                <c:pt idx="49">
                  <c:v>148.69399999999999</c:v>
                </c:pt>
                <c:pt idx="50">
                  <c:v>141.23999999999998</c:v>
                </c:pt>
                <c:pt idx="51">
                  <c:v>148.53700000000001</c:v>
                </c:pt>
                <c:pt idx="52">
                  <c:v>145.84100000000001</c:v>
                </c:pt>
                <c:pt idx="53">
                  <c:v>141.39400000000001</c:v>
                </c:pt>
                <c:pt idx="54">
                  <c:v>143.708</c:v>
                </c:pt>
                <c:pt idx="55">
                  <c:v>144.94800000000001</c:v>
                </c:pt>
                <c:pt idx="56">
                  <c:v>149.69999999999999</c:v>
                </c:pt>
                <c:pt idx="57">
                  <c:v>150.50200000000001</c:v>
                </c:pt>
                <c:pt idx="58">
                  <c:v>136.60929306114178</c:v>
                </c:pt>
                <c:pt idx="59">
                  <c:v>156.6696492616889</c:v>
                </c:pt>
                <c:pt idx="60">
                  <c:v>190.9971438535641</c:v>
                </c:pt>
                <c:pt idx="61">
                  <c:v>181.47000335866801</c:v>
                </c:pt>
                <c:pt idx="62">
                  <c:v>171.84731983972009</c:v>
                </c:pt>
                <c:pt idx="63">
                  <c:v>177.54910815552299</c:v>
                </c:pt>
                <c:pt idx="64">
                  <c:v>170.50248474095901</c:v>
                </c:pt>
                <c:pt idx="65">
                  <c:v>172.78685392818591</c:v>
                </c:pt>
                <c:pt idx="66">
                  <c:v>163.90375271252191</c:v>
                </c:pt>
                <c:pt idx="67">
                  <c:v>169.50346193887893</c:v>
                </c:pt>
                <c:pt idx="68">
                  <c:v>175.099707435813</c:v>
                </c:pt>
                <c:pt idx="69">
                  <c:v>183.89426413371891</c:v>
                </c:pt>
                <c:pt idx="70">
                  <c:v>173.08566634039008</c:v>
                </c:pt>
                <c:pt idx="71">
                  <c:v>195.89788213294199</c:v>
                </c:pt>
                <c:pt idx="72">
                  <c:v>201.476866073445</c:v>
                </c:pt>
                <c:pt idx="73">
                  <c:v>205.44043485663016</c:v>
                </c:pt>
                <c:pt idx="74">
                  <c:v>191.36611397590104</c:v>
                </c:pt>
                <c:pt idx="75">
                  <c:v>196.55930675551008</c:v>
                </c:pt>
                <c:pt idx="76">
                  <c:v>212.50174212036998</c:v>
                </c:pt>
                <c:pt idx="77">
                  <c:v>143.77315912989383</c:v>
                </c:pt>
                <c:pt idx="78">
                  <c:v>139.32000000000008</c:v>
                </c:pt>
                <c:pt idx="79">
                  <c:v>131.554</c:v>
                </c:pt>
                <c:pt idx="80">
                  <c:v>162.22279043868608</c:v>
                </c:pt>
                <c:pt idx="81">
                  <c:v>165.38803156166009</c:v>
                </c:pt>
                <c:pt idx="82">
                  <c:v>168.29484594861901</c:v>
                </c:pt>
                <c:pt idx="83">
                  <c:v>169.66338303946691</c:v>
                </c:pt>
                <c:pt idx="84">
                  <c:v>155.19863184680798</c:v>
                </c:pt>
                <c:pt idx="85">
                  <c:v>155.92778560401399</c:v>
                </c:pt>
                <c:pt idx="86">
                  <c:v>175.49014982068809</c:v>
                </c:pt>
                <c:pt idx="87">
                  <c:v>173.754223881587</c:v>
                </c:pt>
                <c:pt idx="88">
                  <c:v>155.153621849883</c:v>
                </c:pt>
                <c:pt idx="89">
                  <c:v>131.65175122106882</c:v>
                </c:pt>
                <c:pt idx="90">
                  <c:v>150.70662111602599</c:v>
                </c:pt>
                <c:pt idx="91">
                  <c:v>192.65125918165401</c:v>
                </c:pt>
                <c:pt idx="92">
                  <c:v>144.27924956456189</c:v>
                </c:pt>
                <c:pt idx="93">
                  <c:v>116.07762843933504</c:v>
                </c:pt>
                <c:pt idx="94">
                  <c:v>132.07588182350591</c:v>
                </c:pt>
                <c:pt idx="95">
                  <c:v>146.34374169528198</c:v>
                </c:pt>
                <c:pt idx="96">
                  <c:v>143.45126686747017</c:v>
                </c:pt>
                <c:pt idx="97">
                  <c:v>139.14536063163598</c:v>
                </c:pt>
                <c:pt idx="98">
                  <c:v>122.19825490119804</c:v>
                </c:pt>
                <c:pt idx="99">
                  <c:v>156.70532721637198</c:v>
                </c:pt>
                <c:pt idx="100">
                  <c:v>163.982653560497</c:v>
                </c:pt>
                <c:pt idx="101">
                  <c:v>138.24335667311783</c:v>
                </c:pt>
                <c:pt idx="102">
                  <c:v>150.72800537113699</c:v>
                </c:pt>
                <c:pt idx="103">
                  <c:v>143.3229496076502</c:v>
                </c:pt>
                <c:pt idx="104">
                  <c:v>138.24335667311783</c:v>
                </c:pt>
                <c:pt idx="105">
                  <c:v>146.34374169528198</c:v>
                </c:pt>
                <c:pt idx="106">
                  <c:v>131.65175122106882</c:v>
                </c:pt>
                <c:pt idx="107">
                  <c:v>168.29484594861901</c:v>
                </c:pt>
                <c:pt idx="108">
                  <c:v>155.153621849883</c:v>
                </c:pt>
                <c:pt idx="109">
                  <c:v>116.07762843933504</c:v>
                </c:pt>
                <c:pt idx="110">
                  <c:v>143.45126686747017</c:v>
                </c:pt>
                <c:pt idx="111">
                  <c:v>155.19863184680798</c:v>
                </c:pt>
                <c:pt idx="112">
                  <c:v>173.754223881587</c:v>
                </c:pt>
                <c:pt idx="113">
                  <c:v>162.22279043868608</c:v>
                </c:pt>
                <c:pt idx="114">
                  <c:v>155.92778560401399</c:v>
                </c:pt>
                <c:pt idx="115">
                  <c:v>141.13981518320691</c:v>
                </c:pt>
                <c:pt idx="116">
                  <c:v>192.65125918165401</c:v>
                </c:pt>
                <c:pt idx="117">
                  <c:v>144.27924956456189</c:v>
                </c:pt>
                <c:pt idx="118">
                  <c:v>143.3229496076502</c:v>
                </c:pt>
                <c:pt idx="119">
                  <c:v>150.70662111602599</c:v>
                </c:pt>
                <c:pt idx="120">
                  <c:v>163.982653560497</c:v>
                </c:pt>
                <c:pt idx="121">
                  <c:v>165.38803156166009</c:v>
                </c:pt>
                <c:pt idx="122">
                  <c:v>169.66338303946691</c:v>
                </c:pt>
                <c:pt idx="123">
                  <c:v>156.70532721637198</c:v>
                </c:pt>
                <c:pt idx="124">
                  <c:v>132.07588182350591</c:v>
                </c:pt>
                <c:pt idx="125">
                  <c:v>175.49014982068809</c:v>
                </c:pt>
                <c:pt idx="126">
                  <c:v>139.14536063163598</c:v>
                </c:pt>
                <c:pt idx="127">
                  <c:v>150.72800537113699</c:v>
                </c:pt>
                <c:pt idx="128">
                  <c:v>122.19825490119804</c:v>
                </c:pt>
              </c:numCache>
            </c:numRef>
          </c:xVal>
          <c:yVal>
            <c:numRef>
              <c:f>Sheet2!$D$3:$D$131</c:f>
              <c:numCache>
                <c:formatCode>General</c:formatCode>
                <c:ptCount val="129"/>
                <c:pt idx="0">
                  <c:v>168.41474275372818</c:v>
                </c:pt>
                <c:pt idx="1">
                  <c:v>158.10523850895785</c:v>
                </c:pt>
                <c:pt idx="2">
                  <c:v>127.38705562309683</c:v>
                </c:pt>
                <c:pt idx="3">
                  <c:v>107.70498153915813</c:v>
                </c:pt>
                <c:pt idx="4">
                  <c:v>139.05874876808647</c:v>
                </c:pt>
                <c:pt idx="5">
                  <c:v>115.92444936679618</c:v>
                </c:pt>
                <c:pt idx="6">
                  <c:v>113.74479538341187</c:v>
                </c:pt>
                <c:pt idx="7">
                  <c:v>117.17449116345992</c:v>
                </c:pt>
                <c:pt idx="8">
                  <c:v>153.76116704919278</c:v>
                </c:pt>
                <c:pt idx="9">
                  <c:v>125.5832180125668</c:v>
                </c:pt>
                <c:pt idx="10">
                  <c:v>133.16168692185488</c:v>
                </c:pt>
                <c:pt idx="11">
                  <c:v>116.14766619194015</c:v>
                </c:pt>
                <c:pt idx="12">
                  <c:v>135.33244168032977</c:v>
                </c:pt>
                <c:pt idx="13">
                  <c:v>91.669874517217863</c:v>
                </c:pt>
                <c:pt idx="14">
                  <c:v>114.18280716800864</c:v>
                </c:pt>
                <c:pt idx="15">
                  <c:v>95.912324377155002</c:v>
                </c:pt>
                <c:pt idx="16">
                  <c:v>141.92513305618581</c:v>
                </c:pt>
                <c:pt idx="17">
                  <c:v>108.15280561590225</c:v>
                </c:pt>
                <c:pt idx="18">
                  <c:v>86.778851817084572</c:v>
                </c:pt>
                <c:pt idx="19">
                  <c:v>108.49390456892294</c:v>
                </c:pt>
                <c:pt idx="20">
                  <c:v>64.324654002104708</c:v>
                </c:pt>
                <c:pt idx="21">
                  <c:v>101.29196192674782</c:v>
                </c:pt>
                <c:pt idx="22">
                  <c:v>149.00013242463561</c:v>
                </c:pt>
                <c:pt idx="23">
                  <c:v>91.750825781592837</c:v>
                </c:pt>
                <c:pt idx="24">
                  <c:v>139.4437821467526</c:v>
                </c:pt>
                <c:pt idx="25">
                  <c:v>142.41259005712121</c:v>
                </c:pt>
                <c:pt idx="26">
                  <c:v>138.3511419542707</c:v>
                </c:pt>
                <c:pt idx="27">
                  <c:v>139.04894093396103</c:v>
                </c:pt>
                <c:pt idx="28">
                  <c:v>141.82467647753606</c:v>
                </c:pt>
                <c:pt idx="29">
                  <c:v>143.92028019396525</c:v>
                </c:pt>
                <c:pt idx="30">
                  <c:v>155.13677878085849</c:v>
                </c:pt>
                <c:pt idx="31">
                  <c:v>155.10522396244218</c:v>
                </c:pt>
                <c:pt idx="32">
                  <c:v>124.07073126738281</c:v>
                </c:pt>
                <c:pt idx="33">
                  <c:v>141.86208036999403</c:v>
                </c:pt>
                <c:pt idx="34">
                  <c:v>114.60182745245403</c:v>
                </c:pt>
                <c:pt idx="35">
                  <c:v>127.37265301020736</c:v>
                </c:pt>
                <c:pt idx="36">
                  <c:v>77.497695541340889</c:v>
                </c:pt>
                <c:pt idx="37">
                  <c:v>133.63010589188099</c:v>
                </c:pt>
                <c:pt idx="38">
                  <c:v>134.02408983129143</c:v>
                </c:pt>
                <c:pt idx="39">
                  <c:v>134.56872817887768</c:v>
                </c:pt>
                <c:pt idx="40">
                  <c:v>82.737960970395747</c:v>
                </c:pt>
                <c:pt idx="41">
                  <c:v>93.023648265203434</c:v>
                </c:pt>
                <c:pt idx="42">
                  <c:v>115.2861066371035</c:v>
                </c:pt>
                <c:pt idx="43">
                  <c:v>127.15834979429268</c:v>
                </c:pt>
                <c:pt idx="44">
                  <c:v>135.74942055212506</c:v>
                </c:pt>
                <c:pt idx="45">
                  <c:v>130.019464345632</c:v>
                </c:pt>
                <c:pt idx="46">
                  <c:v>134.59437225687498</c:v>
                </c:pt>
                <c:pt idx="47">
                  <c:v>155.82283874003431</c:v>
                </c:pt>
                <c:pt idx="48">
                  <c:v>148.03480437977842</c:v>
                </c:pt>
                <c:pt idx="49">
                  <c:v>142.68020559943966</c:v>
                </c:pt>
                <c:pt idx="50">
                  <c:v>130.42684993706649</c:v>
                </c:pt>
                <c:pt idx="51">
                  <c:v>153.85289863028427</c:v>
                </c:pt>
                <c:pt idx="52">
                  <c:v>126.28454693010474</c:v>
                </c:pt>
                <c:pt idx="53">
                  <c:v>140.78960096220175</c:v>
                </c:pt>
                <c:pt idx="54">
                  <c:v>139.55508379516613</c:v>
                </c:pt>
                <c:pt idx="55">
                  <c:v>141.27975675868228</c:v>
                </c:pt>
                <c:pt idx="56">
                  <c:v>137.19080333694802</c:v>
                </c:pt>
                <c:pt idx="57">
                  <c:v>140.44046283473054</c:v>
                </c:pt>
                <c:pt idx="58">
                  <c:v>117.49919484963043</c:v>
                </c:pt>
                <c:pt idx="59">
                  <c:v>106.20663534624711</c:v>
                </c:pt>
                <c:pt idx="60">
                  <c:v>180.8767502967674</c:v>
                </c:pt>
                <c:pt idx="61">
                  <c:v>134.46317250060298</c:v>
                </c:pt>
                <c:pt idx="62">
                  <c:v>100.56392180375515</c:v>
                </c:pt>
                <c:pt idx="63">
                  <c:v>107.2243706879928</c:v>
                </c:pt>
                <c:pt idx="64">
                  <c:v>110.26658119808279</c:v>
                </c:pt>
                <c:pt idx="65">
                  <c:v>114.16794522043476</c:v>
                </c:pt>
                <c:pt idx="66">
                  <c:v>101.17546578501069</c:v>
                </c:pt>
                <c:pt idx="67">
                  <c:v>103.34702690296552</c:v>
                </c:pt>
                <c:pt idx="68">
                  <c:v>111.70908485520484</c:v>
                </c:pt>
                <c:pt idx="69">
                  <c:v>130.92038167908728</c:v>
                </c:pt>
                <c:pt idx="70">
                  <c:v>103.81535079695065</c:v>
                </c:pt>
                <c:pt idx="71">
                  <c:v>121.73971183156549</c:v>
                </c:pt>
                <c:pt idx="72">
                  <c:v>154.52890699176677</c:v>
                </c:pt>
                <c:pt idx="73">
                  <c:v>174.74424089316577</c:v>
                </c:pt>
                <c:pt idx="74">
                  <c:v>191.73693053282796</c:v>
                </c:pt>
                <c:pt idx="75">
                  <c:v>196.39610005546669</c:v>
                </c:pt>
                <c:pt idx="76">
                  <c:v>221.84336852735757</c:v>
                </c:pt>
                <c:pt idx="77">
                  <c:v>131.95767724542591</c:v>
                </c:pt>
                <c:pt idx="78">
                  <c:v>158.04850629657236</c:v>
                </c:pt>
                <c:pt idx="79">
                  <c:v>141.86920843268612</c:v>
                </c:pt>
                <c:pt idx="80">
                  <c:v>130.842750291415</c:v>
                </c:pt>
                <c:pt idx="81">
                  <c:v>128.53710366883718</c:v>
                </c:pt>
                <c:pt idx="82">
                  <c:v>143.78605869008243</c:v>
                </c:pt>
                <c:pt idx="83">
                  <c:v>131.11020946471132</c:v>
                </c:pt>
                <c:pt idx="84">
                  <c:v>136.27998414183156</c:v>
                </c:pt>
                <c:pt idx="85">
                  <c:v>136.29114956166003</c:v>
                </c:pt>
                <c:pt idx="86">
                  <c:v>200.02128829290425</c:v>
                </c:pt>
                <c:pt idx="87">
                  <c:v>156.52943657313645</c:v>
                </c:pt>
                <c:pt idx="88">
                  <c:v>144.56690204183298</c:v>
                </c:pt>
                <c:pt idx="89">
                  <c:v>117.70515977025198</c:v>
                </c:pt>
                <c:pt idx="90">
                  <c:v>121.51941978594729</c:v>
                </c:pt>
                <c:pt idx="91">
                  <c:v>165.30618083999624</c:v>
                </c:pt>
                <c:pt idx="92">
                  <c:v>139.44489440262527</c:v>
                </c:pt>
                <c:pt idx="93">
                  <c:v>104.16861940655484</c:v>
                </c:pt>
                <c:pt idx="94">
                  <c:v>112.87597752266328</c:v>
                </c:pt>
                <c:pt idx="95">
                  <c:v>135.82371259850655</c:v>
                </c:pt>
                <c:pt idx="96">
                  <c:v>132.01385270057031</c:v>
                </c:pt>
                <c:pt idx="97">
                  <c:v>154.01008692889113</c:v>
                </c:pt>
                <c:pt idx="98">
                  <c:v>138.38205061328179</c:v>
                </c:pt>
                <c:pt idx="99">
                  <c:v>132.37764459742644</c:v>
                </c:pt>
                <c:pt idx="100">
                  <c:v>175.86836338585277</c:v>
                </c:pt>
                <c:pt idx="101">
                  <c:v>131.50358886260003</c:v>
                </c:pt>
                <c:pt idx="102">
                  <c:v>109.32124444656411</c:v>
                </c:pt>
                <c:pt idx="103">
                  <c:v>128.28877071113033</c:v>
                </c:pt>
                <c:pt idx="104">
                  <c:v>138.45757429455705</c:v>
                </c:pt>
                <c:pt idx="105">
                  <c:v>142.80901043897822</c:v>
                </c:pt>
                <c:pt idx="106">
                  <c:v>127.97356809237158</c:v>
                </c:pt>
                <c:pt idx="107">
                  <c:v>163.47735993807041</c:v>
                </c:pt>
                <c:pt idx="108">
                  <c:v>150.41919342315043</c:v>
                </c:pt>
                <c:pt idx="109">
                  <c:v>111.36378853887099</c:v>
                </c:pt>
                <c:pt idx="110">
                  <c:v>137.01366586994831</c:v>
                </c:pt>
                <c:pt idx="111">
                  <c:v>145.71956952488264</c:v>
                </c:pt>
                <c:pt idx="112">
                  <c:v>162.75449132037878</c:v>
                </c:pt>
                <c:pt idx="113">
                  <c:v>151.68850472584668</c:v>
                </c:pt>
                <c:pt idx="114">
                  <c:v>145.73189472076319</c:v>
                </c:pt>
                <c:pt idx="115">
                  <c:v>150.48420024873121</c:v>
                </c:pt>
                <c:pt idx="116">
                  <c:v>179.76120089160219</c:v>
                </c:pt>
                <c:pt idx="117">
                  <c:v>156.36255643677924</c:v>
                </c:pt>
                <c:pt idx="118">
                  <c:v>131.22324308738521</c:v>
                </c:pt>
                <c:pt idx="119">
                  <c:v>132.91876819310161</c:v>
                </c:pt>
                <c:pt idx="120">
                  <c:v>183.97772457128625</c:v>
                </c:pt>
                <c:pt idx="121">
                  <c:v>145.10061147696234</c:v>
                </c:pt>
                <c:pt idx="122">
                  <c:v>148.35434575487321</c:v>
                </c:pt>
                <c:pt idx="123">
                  <c:v>135.25916899693158</c:v>
                </c:pt>
                <c:pt idx="124">
                  <c:v>154.67442431303064</c:v>
                </c:pt>
                <c:pt idx="125">
                  <c:v>206.47068163327305</c:v>
                </c:pt>
                <c:pt idx="126">
                  <c:v>167.24385438315048</c:v>
                </c:pt>
                <c:pt idx="127">
                  <c:v>119.60905861794764</c:v>
                </c:pt>
                <c:pt idx="128">
                  <c:v>152.74155091424836</c:v>
                </c:pt>
              </c:numCache>
            </c:numRef>
          </c:yVal>
          <c:smooth val="0"/>
        </c:ser>
        <c:ser>
          <c:idx val="1"/>
          <c:order val="1"/>
          <c:spPr>
            <a:ln w="28575">
              <a:noFill/>
            </a:ln>
          </c:spPr>
          <c:marker>
            <c:symbol val="none"/>
          </c:marker>
          <c:trendline>
            <c:spPr>
              <a:ln w="19050">
                <a:prstDash val="dash"/>
              </a:ln>
            </c:spPr>
            <c:trendlineType val="linear"/>
            <c:dispRSqr val="0"/>
            <c:dispEq val="0"/>
          </c:trendline>
          <c:xVal>
            <c:numRef>
              <c:f>Sheet2!$F$3:$F$253</c:f>
              <c:numCache>
                <c:formatCode>General</c:formatCode>
                <c:ptCount val="25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</c:numCache>
            </c:numRef>
          </c:xVal>
          <c:yVal>
            <c:numRef>
              <c:f>Sheet2!$G$3:$G$253</c:f>
              <c:numCache>
                <c:formatCode>General</c:formatCode>
                <c:ptCount val="25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5423616"/>
        <c:axId val="85425536"/>
      </c:scatterChart>
      <c:valAx>
        <c:axId val="85423616"/>
        <c:scaling>
          <c:orientation val="minMax"/>
          <c:max val="250"/>
        </c:scaling>
        <c:delete val="0"/>
        <c:axPos val="b"/>
        <c:title>
          <c:tx>
            <c:rich>
              <a:bodyPr/>
              <a:lstStyle/>
              <a:p>
                <a:pPr>
                  <a:defRPr sz="1800"/>
                </a:pPr>
                <a:r>
                  <a:rPr lang="en-US" sz="1800" dirty="0"/>
                  <a:t>Measured Power (W)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zh-TW"/>
          </a:p>
        </c:txPr>
        <c:crossAx val="85425536"/>
        <c:crosses val="autoZero"/>
        <c:crossBetween val="midCat"/>
      </c:valAx>
      <c:valAx>
        <c:axId val="85425536"/>
        <c:scaling>
          <c:orientation val="minMax"/>
          <c:max val="25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800"/>
                </a:pPr>
                <a:r>
                  <a:rPr lang="en-US" sz="1800" dirty="0"/>
                  <a:t>Estimated Power </a:t>
                </a:r>
                <a:r>
                  <a:rPr lang="en-US" sz="1800" b="1" i="0" u="none" strike="noStrike" baseline="0" dirty="0">
                    <a:effectLst/>
                  </a:rPr>
                  <a:t>(W)</a:t>
                </a:r>
                <a:endParaRPr lang="en-US" sz="1800" dirty="0"/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zh-TW"/>
          </a:p>
        </c:txPr>
        <c:crossAx val="85423616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0.15771</cdr:x>
      <cdr:y>0.27522</cdr:y>
    </cdr:from>
    <cdr:to>
      <cdr:x>0.43245</cdr:x>
      <cdr:y>0.37317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1224136" y="1368152"/>
          <a:ext cx="2132547" cy="48691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CA" sz="1800" dirty="0" smtClean="0"/>
            <a:t>Average Absolute </a:t>
          </a:r>
          <a:r>
            <a:rPr lang="en-CA" sz="1800" dirty="0"/>
            <a:t>Error ≈ </a:t>
          </a:r>
          <a:r>
            <a:rPr lang="en-CA" sz="1800" dirty="0" smtClean="0"/>
            <a:t>12% </a:t>
          </a:r>
          <a:endParaRPr lang="en-CA" sz="18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63254C-CA38-427A-B876-BC4208E2BFAD}" type="datetimeFigureOut">
              <a:rPr lang="zh-TW" altLang="en-US" smtClean="0"/>
              <a:t>2014/4/28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A5081-183D-43AC-819D-30E2AF5A1A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1100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2DD43E-DB87-4654-8BF5-31CE5D2042F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2DD43E-DB87-4654-8BF5-31CE5D2042F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856CB7-4BA0-4567-BFBD-7D3A93B8BD66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856CB7-4BA0-4567-BFBD-7D3A93B8BD66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0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FB188E1D-7BCB-4254-A273-A4F27ACA9010}" type="datetimeFigureOut">
              <a:rPr lang="zh-TW" altLang="en-US" smtClean="0"/>
              <a:t>2014/4/28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7456E0B6-CC3A-4D3D-938F-6067AC5F188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矩形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矩形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88E1D-7BCB-4254-A273-A4F27ACA9010}" type="datetimeFigureOut">
              <a:rPr lang="zh-TW" altLang="en-US" smtClean="0"/>
              <a:t>2014/4/28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E0B6-CC3A-4D3D-938F-6067AC5F188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FB188E1D-7BCB-4254-A273-A4F27ACA9010}" type="datetimeFigureOut">
              <a:rPr lang="zh-TW" altLang="en-US" smtClean="0"/>
              <a:t>2014/4/28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7456E0B6-CC3A-4D3D-938F-6067AC5F188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88E1D-7BCB-4254-A273-A4F27ACA9010}" type="datetimeFigureOut">
              <a:rPr lang="zh-TW" altLang="en-US" smtClean="0"/>
              <a:t>2014/4/28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E0B6-CC3A-4D3D-938F-6067AC5F188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88E1D-7BCB-4254-A273-A4F27ACA9010}" type="datetimeFigureOut">
              <a:rPr lang="zh-TW" altLang="en-US" smtClean="0"/>
              <a:t>2014/4/28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E0B6-CC3A-4D3D-938F-6067AC5F188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88E1D-7BCB-4254-A273-A4F27ACA9010}" type="datetimeFigureOut">
              <a:rPr lang="zh-TW" altLang="en-US" smtClean="0"/>
              <a:t>2014/4/28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E0B6-CC3A-4D3D-938F-6067AC5F188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88E1D-7BCB-4254-A273-A4F27ACA9010}" type="datetimeFigureOut">
              <a:rPr lang="zh-TW" altLang="en-US" smtClean="0"/>
              <a:t>2014/4/28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E0B6-CC3A-4D3D-938F-6067AC5F188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直線接點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88E1D-7BCB-4254-A273-A4F27ACA9010}" type="datetimeFigureOut">
              <a:rPr lang="zh-TW" altLang="en-US" smtClean="0"/>
              <a:t>2014/4/28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E0B6-CC3A-4D3D-938F-6067AC5F188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88E1D-7BCB-4254-A273-A4F27ACA9010}" type="datetimeFigureOut">
              <a:rPr lang="zh-TW" altLang="en-US" smtClean="0"/>
              <a:t>2014/4/28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E0B6-CC3A-4D3D-938F-6067AC5F188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88E1D-7BCB-4254-A273-A4F27ACA9010}" type="datetimeFigureOut">
              <a:rPr lang="zh-TW" altLang="en-US" smtClean="0"/>
              <a:t>2014/4/28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E0B6-CC3A-4D3D-938F-6067AC5F188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88E1D-7BCB-4254-A273-A4F27ACA9010}" type="datetimeFigureOut">
              <a:rPr lang="zh-TW" altLang="en-US" smtClean="0"/>
              <a:t>2014/4/28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6E0B6-CC3A-4D3D-938F-6067AC5F188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等腰三角形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81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December 2012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GPGPU-Sim Tutorial (MICRO 2012) 4: Microarchitecture Model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81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4.</a:t>
            </a:r>
            <a:fld id="{7470AF0A-1FE3-4FFF-9E20-989BD40880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471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B188E1D-7BCB-4254-A273-A4F27ACA9010}" type="datetimeFigureOut">
              <a:rPr lang="zh-TW" altLang="en-US" smtClean="0"/>
              <a:t>2014/4/28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456E0B6-CC3A-4D3D-938F-6067AC5F188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8" name="直線接點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直線接點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等腰三角形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://gem5-gpu.cs.wisc.edu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GPU simulation Technology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GPGPU-</a:t>
            </a:r>
            <a:r>
              <a:rPr lang="en-US" altLang="zh-TW" dirty="0" err="1" smtClean="0"/>
              <a:t>sim</a:t>
            </a:r>
            <a:r>
              <a:rPr lang="en-US" altLang="zh-TW" dirty="0" smtClean="0"/>
              <a:t>, Gem5-gpu, </a:t>
            </a:r>
            <a:r>
              <a:rPr lang="en-US" altLang="zh-TW" dirty="0" err="1" smtClean="0"/>
              <a:t>GPUWattch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9735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smtClean="0"/>
              <a:t>GPGPU-</a:t>
            </a:r>
            <a:r>
              <a:rPr lang="en-US" altLang="zh-TW" dirty="0" err="1"/>
              <a:t>S</a:t>
            </a:r>
            <a:r>
              <a:rPr lang="en-US" altLang="zh-TW" dirty="0" err="1" smtClean="0"/>
              <a:t>im</a:t>
            </a:r>
            <a:endParaRPr lang="en-US" altLang="zh-TW" dirty="0" smtClean="0"/>
          </a:p>
          <a:p>
            <a:pPr lvl="1"/>
            <a:r>
              <a:rPr lang="en-US" altLang="zh-TW" dirty="0"/>
              <a:t>functional/timing </a:t>
            </a:r>
            <a:r>
              <a:rPr lang="en-US" altLang="zh-TW" dirty="0" smtClean="0"/>
              <a:t>GPU simulator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smtClean="0"/>
              <a:t>Gem5-gpu</a:t>
            </a:r>
          </a:p>
          <a:p>
            <a:pPr lvl="1"/>
            <a:r>
              <a:rPr lang="en-US" altLang="zh-TW" dirty="0" smtClean="0"/>
              <a:t>Merge Gem5 and GPGPU-</a:t>
            </a:r>
            <a:r>
              <a:rPr lang="en-US" altLang="zh-TW" dirty="0" err="1"/>
              <a:t>S</a:t>
            </a:r>
            <a:r>
              <a:rPr lang="en-US" altLang="zh-TW" dirty="0" err="1" smtClean="0"/>
              <a:t>im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pPr lvl="1"/>
            <a:r>
              <a:rPr lang="en-US" altLang="zh-TW" b="1" dirty="0" smtClean="0"/>
              <a:t>Case study:  GPU MMU design</a:t>
            </a:r>
          </a:p>
          <a:p>
            <a:pPr lvl="1"/>
            <a:endParaRPr lang="en-US" altLang="zh-TW" dirty="0"/>
          </a:p>
          <a:p>
            <a:r>
              <a:rPr lang="en-US" altLang="zh-TW" dirty="0" err="1" smtClean="0"/>
              <a:t>GPUWattch</a:t>
            </a:r>
            <a:endParaRPr lang="en-US" altLang="zh-TW" dirty="0" smtClean="0"/>
          </a:p>
          <a:p>
            <a:pPr lvl="1"/>
            <a:r>
              <a:rPr lang="en-US" altLang="zh-TW" dirty="0"/>
              <a:t> A</a:t>
            </a:r>
            <a:r>
              <a:rPr lang="en-US" altLang="zh-TW" dirty="0" smtClean="0"/>
              <a:t>dd power model for GPGPU-</a:t>
            </a:r>
            <a:r>
              <a:rPr lang="en-US" altLang="zh-TW" dirty="0" err="1"/>
              <a:t>S</a:t>
            </a:r>
            <a:r>
              <a:rPr lang="en-US" altLang="zh-TW" dirty="0" err="1" smtClean="0"/>
              <a:t>im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56892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What GPGPU-</a:t>
            </a:r>
            <a:r>
              <a:rPr lang="en-US" dirty="0" err="1" smtClean="0"/>
              <a:t>Sim</a:t>
            </a:r>
            <a:r>
              <a:rPr lang="en-US" dirty="0" smtClean="0"/>
              <a:t> Simulates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371600"/>
            <a:ext cx="8382000" cy="4953000"/>
          </a:xfrm>
        </p:spPr>
        <p:txBody>
          <a:bodyPr>
            <a:normAutofit/>
          </a:bodyPr>
          <a:lstStyle/>
          <a:p>
            <a:pPr marL="514350" indent="-514350" eaLnBrk="1" hangingPunct="1">
              <a:lnSpc>
                <a:spcPct val="80000"/>
              </a:lnSpc>
              <a:buFont typeface="+mj-lt"/>
              <a:buAutoNum type="arabicPeriod"/>
            </a:pPr>
            <a:r>
              <a:rPr lang="en-CA" sz="2800" dirty="0" smtClean="0">
                <a:solidFill>
                  <a:srgbClr val="000000"/>
                </a:solidFill>
              </a:rPr>
              <a:t>Functional model for PTX/SASS</a:t>
            </a:r>
          </a:p>
          <a:p>
            <a:pPr lvl="1" eaLnBrk="1" hangingPunct="1">
              <a:lnSpc>
                <a:spcPct val="80000"/>
              </a:lnSpc>
            </a:pPr>
            <a:r>
              <a:rPr lang="en-CA" sz="2400" dirty="0" smtClean="0">
                <a:solidFill>
                  <a:srgbClr val="000000"/>
                </a:solidFill>
              </a:rPr>
              <a:t>PTX = </a:t>
            </a:r>
            <a:r>
              <a:rPr lang="en-CA" sz="2400" dirty="0" smtClean="0">
                <a:solidFill>
                  <a:srgbClr val="FF0000"/>
                </a:solidFill>
              </a:rPr>
              <a:t>P</a:t>
            </a:r>
            <a:r>
              <a:rPr lang="en-CA" sz="2400" dirty="0" smtClean="0">
                <a:solidFill>
                  <a:srgbClr val="000000"/>
                </a:solidFill>
              </a:rPr>
              <a:t>arallel </a:t>
            </a:r>
            <a:r>
              <a:rPr lang="en-CA" sz="2400" dirty="0" smtClean="0">
                <a:solidFill>
                  <a:srgbClr val="FF0000"/>
                </a:solidFill>
              </a:rPr>
              <a:t>T</a:t>
            </a:r>
            <a:r>
              <a:rPr lang="en-CA" sz="2400" dirty="0" smtClean="0">
                <a:solidFill>
                  <a:srgbClr val="000000"/>
                </a:solidFill>
              </a:rPr>
              <a:t>hread </a:t>
            </a:r>
            <a:r>
              <a:rPr lang="en-CA" sz="2400" dirty="0" err="1" smtClean="0">
                <a:solidFill>
                  <a:srgbClr val="000000"/>
                </a:solidFill>
              </a:rPr>
              <a:t>e</a:t>
            </a:r>
            <a:r>
              <a:rPr lang="en-CA" sz="2400" dirty="0" err="1" smtClean="0">
                <a:solidFill>
                  <a:srgbClr val="FF0000"/>
                </a:solidFill>
              </a:rPr>
              <a:t>X</a:t>
            </a:r>
            <a:r>
              <a:rPr lang="en-CA" sz="2400" dirty="0" err="1" smtClean="0">
                <a:solidFill>
                  <a:srgbClr val="000000"/>
                </a:solidFill>
              </a:rPr>
              <a:t>ecution</a:t>
            </a:r>
            <a:endParaRPr lang="en-CA" sz="2400" dirty="0" smtClean="0">
              <a:solidFill>
                <a:srgbClr val="000000"/>
              </a:solidFill>
            </a:endParaRPr>
          </a:p>
          <a:p>
            <a:pPr lvl="2" eaLnBrk="1" hangingPunct="1">
              <a:lnSpc>
                <a:spcPct val="80000"/>
              </a:lnSpc>
            </a:pPr>
            <a:r>
              <a:rPr lang="en-CA" sz="2000" dirty="0" smtClean="0">
                <a:solidFill>
                  <a:srgbClr val="000000"/>
                </a:solidFill>
              </a:rPr>
              <a:t>Virtual ISA defined by </a:t>
            </a:r>
            <a:r>
              <a:rPr lang="en-CA" sz="2000" dirty="0" err="1" smtClean="0">
                <a:solidFill>
                  <a:srgbClr val="000000"/>
                </a:solidFill>
              </a:rPr>
              <a:t>Nvidia</a:t>
            </a:r>
            <a:endParaRPr lang="en-CA" sz="2000" dirty="0" smtClean="0">
              <a:solidFill>
                <a:srgbClr val="000000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CA" sz="2400" dirty="0" smtClean="0">
                <a:solidFill>
                  <a:srgbClr val="000000"/>
                </a:solidFill>
              </a:rPr>
              <a:t>SASS = Native ISA for </a:t>
            </a:r>
            <a:r>
              <a:rPr lang="en-CA" sz="2400" dirty="0" err="1" smtClean="0">
                <a:solidFill>
                  <a:srgbClr val="000000"/>
                </a:solidFill>
              </a:rPr>
              <a:t>Nvidia</a:t>
            </a:r>
            <a:r>
              <a:rPr lang="en-CA" sz="2400" dirty="0" smtClean="0">
                <a:solidFill>
                  <a:srgbClr val="000000"/>
                </a:solidFill>
              </a:rPr>
              <a:t> GPUs</a:t>
            </a:r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 startAt="2"/>
            </a:pPr>
            <a:r>
              <a:rPr lang="en-CA" sz="2800" dirty="0" smtClean="0">
                <a:solidFill>
                  <a:srgbClr val="000000"/>
                </a:solidFill>
              </a:rPr>
              <a:t>Timing model for the compute part of a GPU</a:t>
            </a:r>
          </a:p>
          <a:p>
            <a:pPr lvl="1" eaLnBrk="1" hangingPunct="1">
              <a:lnSpc>
                <a:spcPct val="80000"/>
              </a:lnSpc>
            </a:pPr>
            <a:r>
              <a:rPr lang="en-CA" sz="2400" dirty="0" smtClean="0">
                <a:solidFill>
                  <a:srgbClr val="000000"/>
                </a:solidFill>
              </a:rPr>
              <a:t>Not for CPU or </a:t>
            </a:r>
            <a:r>
              <a:rPr lang="en-CA" sz="2400" dirty="0" err="1" smtClean="0">
                <a:solidFill>
                  <a:srgbClr val="000000"/>
                </a:solidFill>
              </a:rPr>
              <a:t>PCIe</a:t>
            </a:r>
            <a:r>
              <a:rPr lang="en-CA" sz="2400" dirty="0" smtClean="0">
                <a:solidFill>
                  <a:srgbClr val="000000"/>
                </a:solidFill>
              </a:rPr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n-CA" sz="2400" dirty="0" smtClean="0">
                <a:solidFill>
                  <a:srgbClr val="000000"/>
                </a:solidFill>
              </a:rPr>
              <a:t>Only model micro-architecture timing relevant to GPU compute.</a:t>
            </a:r>
          </a:p>
          <a:p>
            <a:pPr lvl="1" eaLnBrk="1" hangingPunct="1">
              <a:lnSpc>
                <a:spcPct val="80000"/>
              </a:lnSpc>
            </a:pPr>
            <a:endParaRPr lang="en-CA" sz="24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064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Functional Model (PTX)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95400"/>
            <a:ext cx="8382000" cy="3657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CA" sz="2800" dirty="0" smtClean="0">
                <a:solidFill>
                  <a:srgbClr val="000000"/>
                </a:solidFill>
              </a:rPr>
              <a:t>Low-level, data-parallel virtual machine by </a:t>
            </a:r>
            <a:r>
              <a:rPr lang="en-CA" sz="2800" dirty="0" err="1" smtClean="0">
                <a:solidFill>
                  <a:srgbClr val="000000"/>
                </a:solidFill>
              </a:rPr>
              <a:t>Nvidia</a:t>
            </a:r>
            <a:endParaRPr lang="en-CA" sz="2800" dirty="0" smtClean="0">
              <a:solidFill>
                <a:srgbClr val="00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CA" sz="2400" dirty="0" smtClean="0">
                <a:solidFill>
                  <a:srgbClr val="000000"/>
                </a:solidFill>
              </a:rPr>
              <a:t>Instruction level</a:t>
            </a:r>
          </a:p>
          <a:p>
            <a:pPr lvl="1" eaLnBrk="1" hangingPunct="1">
              <a:lnSpc>
                <a:spcPct val="90000"/>
              </a:lnSpc>
            </a:pPr>
            <a:r>
              <a:rPr lang="en-CA" sz="2400" dirty="0" smtClean="0">
                <a:solidFill>
                  <a:srgbClr val="000000"/>
                </a:solidFill>
              </a:rPr>
              <a:t>Unlimited registers</a:t>
            </a:r>
          </a:p>
          <a:p>
            <a:pPr lvl="1" eaLnBrk="1" hangingPunct="1">
              <a:lnSpc>
                <a:spcPct val="90000"/>
              </a:lnSpc>
            </a:pPr>
            <a:r>
              <a:rPr lang="en-CA" sz="2400" dirty="0" smtClean="0">
                <a:solidFill>
                  <a:srgbClr val="000000"/>
                </a:solidFill>
              </a:rPr>
              <a:t>Parallel threads running in blocks; barrier synchronization instruction</a:t>
            </a:r>
          </a:p>
          <a:p>
            <a:pPr eaLnBrk="1" hangingPunct="1">
              <a:lnSpc>
                <a:spcPct val="90000"/>
              </a:lnSpc>
            </a:pPr>
            <a:r>
              <a:rPr lang="en-CA" sz="2800" dirty="0" smtClean="0">
                <a:solidFill>
                  <a:srgbClr val="000000"/>
                </a:solidFill>
              </a:rPr>
              <a:t>Intermediate representation in CUDA tool chain:</a:t>
            </a:r>
            <a:endParaRPr lang="en-US" sz="2800" dirty="0" smtClean="0"/>
          </a:p>
        </p:txBody>
      </p:sp>
      <p:sp>
        <p:nvSpPr>
          <p:cNvPr id="6151" name="Rectangle 4"/>
          <p:cNvSpPr>
            <a:spLocks noChangeArrowheads="1"/>
          </p:cNvSpPr>
          <p:nvPr/>
        </p:nvSpPr>
        <p:spPr bwMode="auto">
          <a:xfrm>
            <a:off x="1062038" y="4694584"/>
            <a:ext cx="936625" cy="360363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1"/>
              <a:t>.cu</a:t>
            </a:r>
          </a:p>
        </p:txBody>
      </p:sp>
      <p:sp>
        <p:nvSpPr>
          <p:cNvPr id="6152" name="Rectangle 5"/>
          <p:cNvSpPr>
            <a:spLocks noChangeArrowheads="1"/>
          </p:cNvSpPr>
          <p:nvPr/>
        </p:nvSpPr>
        <p:spPr bwMode="auto">
          <a:xfrm>
            <a:off x="1062038" y="5342284"/>
            <a:ext cx="936625" cy="360363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1"/>
              <a:t>.cl</a:t>
            </a:r>
          </a:p>
        </p:txBody>
      </p:sp>
      <p:sp>
        <p:nvSpPr>
          <p:cNvPr id="6153" name="Rectangle 6"/>
          <p:cNvSpPr>
            <a:spLocks noChangeArrowheads="1"/>
          </p:cNvSpPr>
          <p:nvPr/>
        </p:nvSpPr>
        <p:spPr bwMode="auto">
          <a:xfrm>
            <a:off x="2286000" y="4694584"/>
            <a:ext cx="1368425" cy="360363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1"/>
              <a:t>NVCC</a:t>
            </a:r>
          </a:p>
        </p:txBody>
      </p:sp>
      <p:sp>
        <p:nvSpPr>
          <p:cNvPr id="6154" name="Rectangle 7"/>
          <p:cNvSpPr>
            <a:spLocks noChangeArrowheads="1"/>
          </p:cNvSpPr>
          <p:nvPr/>
        </p:nvSpPr>
        <p:spPr bwMode="auto">
          <a:xfrm>
            <a:off x="2286000" y="5342284"/>
            <a:ext cx="1368425" cy="360363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600" b="1"/>
              <a:t>OpenCL Drv</a:t>
            </a:r>
          </a:p>
        </p:txBody>
      </p:sp>
      <p:cxnSp>
        <p:nvCxnSpPr>
          <p:cNvPr id="6155" name="AutoShape 8"/>
          <p:cNvCxnSpPr>
            <a:cxnSpLocks noChangeShapeType="1"/>
            <a:stCxn id="6151" idx="3"/>
            <a:endCxn id="6153" idx="1"/>
          </p:cNvCxnSpPr>
          <p:nvPr/>
        </p:nvCxnSpPr>
        <p:spPr bwMode="auto">
          <a:xfrm>
            <a:off x="2012950" y="4875559"/>
            <a:ext cx="258763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156" name="AutoShape 9"/>
          <p:cNvCxnSpPr>
            <a:cxnSpLocks noChangeShapeType="1"/>
            <a:stCxn id="6152" idx="3"/>
            <a:endCxn id="6154" idx="1"/>
          </p:cNvCxnSpPr>
          <p:nvPr/>
        </p:nvCxnSpPr>
        <p:spPr bwMode="auto">
          <a:xfrm>
            <a:off x="2012950" y="5523259"/>
            <a:ext cx="258763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6157" name="Rectangle 11"/>
          <p:cNvSpPr>
            <a:spLocks noChangeArrowheads="1"/>
          </p:cNvSpPr>
          <p:nvPr/>
        </p:nvSpPr>
        <p:spPr bwMode="auto">
          <a:xfrm>
            <a:off x="4157663" y="4983509"/>
            <a:ext cx="936625" cy="360363"/>
          </a:xfrm>
          <a:prstGeom prst="rect">
            <a:avLst/>
          </a:prstGeom>
          <a:solidFill>
            <a:srgbClr val="CC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1"/>
              <a:t>PTX</a:t>
            </a:r>
          </a:p>
        </p:txBody>
      </p:sp>
      <p:cxnSp>
        <p:nvCxnSpPr>
          <p:cNvPr id="6158" name="AutoShape 12"/>
          <p:cNvCxnSpPr>
            <a:cxnSpLocks noChangeShapeType="1"/>
            <a:stCxn id="6154" idx="3"/>
          </p:cNvCxnSpPr>
          <p:nvPr/>
        </p:nvCxnSpPr>
        <p:spPr bwMode="auto">
          <a:xfrm flipV="1">
            <a:off x="3668713" y="5348634"/>
            <a:ext cx="495300" cy="1746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159" name="AutoShape 13"/>
          <p:cNvCxnSpPr>
            <a:cxnSpLocks noChangeShapeType="1"/>
            <a:stCxn id="6153" idx="3"/>
          </p:cNvCxnSpPr>
          <p:nvPr/>
        </p:nvCxnSpPr>
        <p:spPr bwMode="auto">
          <a:xfrm>
            <a:off x="3668713" y="4875559"/>
            <a:ext cx="487362" cy="1079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6160" name="Rectangle 14"/>
          <p:cNvSpPr>
            <a:spLocks noChangeArrowheads="1"/>
          </p:cNvSpPr>
          <p:nvPr/>
        </p:nvSpPr>
        <p:spPr bwMode="auto">
          <a:xfrm>
            <a:off x="5599113" y="4983509"/>
            <a:ext cx="936625" cy="360363"/>
          </a:xfrm>
          <a:prstGeom prst="rect">
            <a:avLst/>
          </a:prstGeom>
          <a:solidFill>
            <a:srgbClr val="CC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1"/>
              <a:t>ptxas</a:t>
            </a:r>
          </a:p>
        </p:txBody>
      </p:sp>
      <p:cxnSp>
        <p:nvCxnSpPr>
          <p:cNvPr id="6161" name="AutoShape 15"/>
          <p:cNvCxnSpPr>
            <a:cxnSpLocks noChangeShapeType="1"/>
            <a:stCxn id="6157" idx="3"/>
            <a:endCxn id="6160" idx="1"/>
          </p:cNvCxnSpPr>
          <p:nvPr/>
        </p:nvCxnSpPr>
        <p:spPr bwMode="auto">
          <a:xfrm>
            <a:off x="5108575" y="5164484"/>
            <a:ext cx="47625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6162" name="Rectangle 16"/>
          <p:cNvSpPr>
            <a:spLocks noChangeArrowheads="1"/>
          </p:cNvSpPr>
          <p:nvPr/>
        </p:nvSpPr>
        <p:spPr bwMode="auto">
          <a:xfrm>
            <a:off x="7123113" y="4373909"/>
            <a:ext cx="936625" cy="360363"/>
          </a:xfrm>
          <a:prstGeom prst="rect">
            <a:avLst/>
          </a:prstGeom>
          <a:solidFill>
            <a:srgbClr val="FFCC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1"/>
              <a:t>G80</a:t>
            </a:r>
          </a:p>
        </p:txBody>
      </p:sp>
      <p:sp>
        <p:nvSpPr>
          <p:cNvPr id="6163" name="Rectangle 17"/>
          <p:cNvSpPr>
            <a:spLocks noChangeArrowheads="1"/>
          </p:cNvSpPr>
          <p:nvPr/>
        </p:nvSpPr>
        <p:spPr bwMode="auto">
          <a:xfrm>
            <a:off x="7123113" y="4754909"/>
            <a:ext cx="936625" cy="360363"/>
          </a:xfrm>
          <a:prstGeom prst="rect">
            <a:avLst/>
          </a:prstGeom>
          <a:solidFill>
            <a:srgbClr val="FFCC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1"/>
              <a:t>GT200</a:t>
            </a:r>
          </a:p>
        </p:txBody>
      </p:sp>
      <p:sp>
        <p:nvSpPr>
          <p:cNvPr id="6164" name="Rectangle 18"/>
          <p:cNvSpPr>
            <a:spLocks noChangeArrowheads="1"/>
          </p:cNvSpPr>
          <p:nvPr/>
        </p:nvSpPr>
        <p:spPr bwMode="auto">
          <a:xfrm>
            <a:off x="7123113" y="5135909"/>
            <a:ext cx="936625" cy="360363"/>
          </a:xfrm>
          <a:prstGeom prst="rect">
            <a:avLst/>
          </a:prstGeom>
          <a:solidFill>
            <a:srgbClr val="FFCC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1"/>
              <a:t>Fermi</a:t>
            </a:r>
          </a:p>
        </p:txBody>
      </p:sp>
      <p:cxnSp>
        <p:nvCxnSpPr>
          <p:cNvPr id="6165" name="AutoShape 19"/>
          <p:cNvCxnSpPr>
            <a:cxnSpLocks noChangeShapeType="1"/>
            <a:stCxn id="6160" idx="3"/>
            <a:endCxn id="6162" idx="1"/>
          </p:cNvCxnSpPr>
          <p:nvPr/>
        </p:nvCxnSpPr>
        <p:spPr bwMode="auto">
          <a:xfrm flipV="1">
            <a:off x="6550025" y="4554884"/>
            <a:ext cx="558800" cy="6096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166" name="AutoShape 20"/>
          <p:cNvCxnSpPr>
            <a:cxnSpLocks noChangeShapeType="1"/>
            <a:stCxn id="6160" idx="3"/>
            <a:endCxn id="6163" idx="1"/>
          </p:cNvCxnSpPr>
          <p:nvPr/>
        </p:nvCxnSpPr>
        <p:spPr bwMode="auto">
          <a:xfrm flipV="1">
            <a:off x="6550025" y="4935884"/>
            <a:ext cx="558800" cy="2286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167" name="AutoShape 21"/>
          <p:cNvCxnSpPr>
            <a:cxnSpLocks noChangeShapeType="1"/>
            <a:stCxn id="6160" idx="3"/>
            <a:endCxn id="6164" idx="1"/>
          </p:cNvCxnSpPr>
          <p:nvPr/>
        </p:nvCxnSpPr>
        <p:spPr bwMode="auto">
          <a:xfrm>
            <a:off x="6550025" y="5164484"/>
            <a:ext cx="558800" cy="1524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6168" name="Rectangle 18"/>
          <p:cNvSpPr>
            <a:spLocks noChangeArrowheads="1"/>
          </p:cNvSpPr>
          <p:nvPr/>
        </p:nvSpPr>
        <p:spPr bwMode="auto">
          <a:xfrm>
            <a:off x="7123113" y="5516909"/>
            <a:ext cx="936625" cy="360363"/>
          </a:xfrm>
          <a:prstGeom prst="rect">
            <a:avLst/>
          </a:prstGeom>
          <a:solidFill>
            <a:srgbClr val="FFCC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1"/>
              <a:t>Kepler</a:t>
            </a:r>
          </a:p>
        </p:txBody>
      </p:sp>
      <p:cxnSp>
        <p:nvCxnSpPr>
          <p:cNvPr id="6169" name="AutoShape 21"/>
          <p:cNvCxnSpPr>
            <a:cxnSpLocks noChangeShapeType="1"/>
            <a:stCxn id="6160" idx="3"/>
            <a:endCxn id="6168" idx="1"/>
          </p:cNvCxnSpPr>
          <p:nvPr/>
        </p:nvCxnSpPr>
        <p:spPr bwMode="auto">
          <a:xfrm>
            <a:off x="6550025" y="5164484"/>
            <a:ext cx="558800" cy="5334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152692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Functional Model (SASS)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371600"/>
            <a:ext cx="8229600" cy="46482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smtClean="0"/>
              <a:t>SASS = Native ISA for </a:t>
            </a:r>
            <a:r>
              <a:rPr lang="en-US" dirty="0" err="1" smtClean="0"/>
              <a:t>Nvidia</a:t>
            </a:r>
            <a:r>
              <a:rPr lang="en-US" dirty="0" smtClean="0"/>
              <a:t> GPUs</a:t>
            </a:r>
          </a:p>
          <a:p>
            <a:pPr lvl="1" eaLnBrk="1" hangingPunct="1"/>
            <a:r>
              <a:rPr lang="en-US" dirty="0" smtClean="0"/>
              <a:t>Better correlation with HW GPU</a:t>
            </a:r>
          </a:p>
          <a:p>
            <a:pPr lvl="1" eaLnBrk="1" hangingPunct="1"/>
            <a:r>
              <a:rPr lang="en-US" dirty="0" smtClean="0"/>
              <a:t>“SASS” is what NVIDIA’s </a:t>
            </a:r>
            <a:r>
              <a:rPr lang="en-US" dirty="0" err="1" smtClean="0"/>
              <a:t>cuobjdump</a:t>
            </a:r>
            <a:r>
              <a:rPr lang="en-US" dirty="0" smtClean="0"/>
              <a:t> calls it.</a:t>
            </a:r>
          </a:p>
          <a:p>
            <a:pPr eaLnBrk="1" hangingPunct="1"/>
            <a:r>
              <a:rPr lang="en-US" dirty="0" smtClean="0"/>
              <a:t>For simplicity GPGPU-</a:t>
            </a:r>
            <a:r>
              <a:rPr lang="en-US" dirty="0" err="1" smtClean="0"/>
              <a:t>Sim</a:t>
            </a:r>
            <a:r>
              <a:rPr lang="en-US" dirty="0" smtClean="0"/>
              <a:t> uses assembly syntax that can represent both SASS and PTX. Called </a:t>
            </a:r>
            <a:r>
              <a:rPr lang="en-US" dirty="0" err="1" smtClean="0"/>
              <a:t>PTXPlus</a:t>
            </a:r>
            <a:r>
              <a:rPr lang="en-US" dirty="0" smtClean="0"/>
              <a:t>.</a:t>
            </a:r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SASS mapped into </a:t>
            </a:r>
            <a:r>
              <a:rPr lang="en-US" dirty="0" err="1" smtClean="0"/>
              <a:t>PTXPlus</a:t>
            </a:r>
            <a:r>
              <a:rPr lang="en-US" dirty="0" smtClean="0"/>
              <a:t> instructions.</a:t>
            </a:r>
          </a:p>
          <a:p>
            <a:pPr lvl="1" eaLnBrk="1" hangingPunct="1"/>
            <a:endParaRPr lang="en-US" dirty="0" smtClean="0"/>
          </a:p>
        </p:txBody>
      </p:sp>
      <p:sp>
        <p:nvSpPr>
          <p:cNvPr id="8199" name="Rectangle 4"/>
          <p:cNvSpPr>
            <a:spLocks noChangeArrowheads="1"/>
          </p:cNvSpPr>
          <p:nvPr/>
        </p:nvSpPr>
        <p:spPr bwMode="auto">
          <a:xfrm>
            <a:off x="1066800" y="4149080"/>
            <a:ext cx="1371600" cy="9906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b="1"/>
              <a:t>CUDA</a:t>
            </a:r>
          </a:p>
          <a:p>
            <a:pPr algn="ctr">
              <a:defRPr/>
            </a:pPr>
            <a:r>
              <a:rPr lang="en-US" b="1"/>
              <a:t>Executable</a:t>
            </a:r>
          </a:p>
        </p:txBody>
      </p:sp>
      <p:sp>
        <p:nvSpPr>
          <p:cNvPr id="8200" name="AutoShape 6"/>
          <p:cNvSpPr>
            <a:spLocks noChangeArrowheads="1"/>
          </p:cNvSpPr>
          <p:nvPr/>
        </p:nvSpPr>
        <p:spPr bwMode="auto">
          <a:xfrm>
            <a:off x="2514600" y="4301480"/>
            <a:ext cx="1371600" cy="609600"/>
          </a:xfrm>
          <a:prstGeom prst="rightArrow">
            <a:avLst>
              <a:gd name="adj1" fmla="val 50000"/>
              <a:gd name="adj2" fmla="val 56250"/>
            </a:avLst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solidFill>
                  <a:schemeClr val="bg1"/>
                </a:solidFill>
              </a:rPr>
              <a:t>cuobjdump</a:t>
            </a:r>
          </a:p>
        </p:txBody>
      </p:sp>
      <p:sp>
        <p:nvSpPr>
          <p:cNvPr id="8201" name="Rectangle 7"/>
          <p:cNvSpPr>
            <a:spLocks noChangeArrowheads="1"/>
          </p:cNvSpPr>
          <p:nvPr/>
        </p:nvSpPr>
        <p:spPr bwMode="auto">
          <a:xfrm>
            <a:off x="3962400" y="4301480"/>
            <a:ext cx="990600" cy="685800"/>
          </a:xfrm>
          <a:prstGeom prst="rect">
            <a:avLst/>
          </a:prstGeom>
          <a:solidFill>
            <a:srgbClr val="C5E2FF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b="1"/>
              <a:t>SASS</a:t>
            </a:r>
          </a:p>
        </p:txBody>
      </p:sp>
      <p:sp>
        <p:nvSpPr>
          <p:cNvPr id="8202" name="AutoShape 8"/>
          <p:cNvSpPr>
            <a:spLocks noChangeArrowheads="1"/>
          </p:cNvSpPr>
          <p:nvPr/>
        </p:nvSpPr>
        <p:spPr bwMode="auto">
          <a:xfrm>
            <a:off x="5029200" y="4301480"/>
            <a:ext cx="1371600" cy="609600"/>
          </a:xfrm>
          <a:prstGeom prst="rightArrow">
            <a:avLst>
              <a:gd name="adj1" fmla="val 50000"/>
              <a:gd name="adj2" fmla="val 56250"/>
            </a:avLst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solidFill>
                  <a:schemeClr val="bg1"/>
                </a:solidFill>
              </a:rPr>
              <a:t>conversion</a:t>
            </a:r>
          </a:p>
        </p:txBody>
      </p:sp>
      <p:sp>
        <p:nvSpPr>
          <p:cNvPr id="8203" name="Rectangle 9"/>
          <p:cNvSpPr>
            <a:spLocks noChangeArrowheads="1"/>
          </p:cNvSpPr>
          <p:nvPr/>
        </p:nvSpPr>
        <p:spPr bwMode="auto">
          <a:xfrm>
            <a:off x="6477000" y="4301480"/>
            <a:ext cx="990600" cy="685800"/>
          </a:xfrm>
          <a:prstGeom prst="rect">
            <a:avLst/>
          </a:prstGeom>
          <a:solidFill>
            <a:srgbClr val="C5E2FF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b="1"/>
              <a:t>PTXPlus</a:t>
            </a:r>
          </a:p>
        </p:txBody>
      </p:sp>
    </p:spTree>
    <p:extLst>
      <p:ext uri="{BB962C8B-B14F-4D97-AF65-F5344CB8AC3E}">
        <p14:creationId xmlns:p14="http://schemas.microsoft.com/office/powerpoint/2010/main" val="102093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altLang="zh-TW" dirty="0"/>
              <a:t>Timing Model for Compute Parts of a GPU</a:t>
            </a:r>
            <a:endParaRPr lang="zh-TW" altLang="en-US" dirty="0"/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228600" y="1752600"/>
            <a:ext cx="89154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solidFill>
                  <a:srgbClr val="000000"/>
                </a:solidFill>
              </a:rPr>
              <a:t>GPGPU-</a:t>
            </a:r>
            <a:r>
              <a:rPr lang="en-US" sz="2800" dirty="0" err="1" smtClean="0">
                <a:solidFill>
                  <a:srgbClr val="000000"/>
                </a:solidFill>
              </a:rPr>
              <a:t>Sim</a:t>
            </a:r>
            <a:r>
              <a:rPr lang="en-US" sz="2800" dirty="0" smtClean="0">
                <a:solidFill>
                  <a:srgbClr val="000000"/>
                </a:solidFill>
              </a:rPr>
              <a:t> models timing for:</a:t>
            </a:r>
          </a:p>
          <a:p>
            <a:pPr lvl="1"/>
            <a:r>
              <a:rPr lang="en-US" sz="2400" dirty="0" smtClean="0">
                <a:solidFill>
                  <a:srgbClr val="000000"/>
                </a:solidFill>
              </a:rPr>
              <a:t>SIMT Core (SM, SIMD Unit)</a:t>
            </a:r>
          </a:p>
          <a:p>
            <a:pPr lvl="1"/>
            <a:r>
              <a:rPr lang="en-US" sz="2400" dirty="0" smtClean="0">
                <a:solidFill>
                  <a:srgbClr val="000000"/>
                </a:solidFill>
              </a:rPr>
              <a:t>Caches (Texture, Constant, …)</a:t>
            </a:r>
          </a:p>
          <a:p>
            <a:pPr lvl="1"/>
            <a:r>
              <a:rPr lang="en-US" sz="2400" dirty="0" smtClean="0">
                <a:solidFill>
                  <a:srgbClr val="000000"/>
                </a:solidFill>
              </a:rPr>
              <a:t>Interconnection Network</a:t>
            </a:r>
          </a:p>
          <a:p>
            <a:pPr lvl="1"/>
            <a:r>
              <a:rPr lang="en-US" sz="2400" dirty="0" smtClean="0">
                <a:solidFill>
                  <a:srgbClr val="000000"/>
                </a:solidFill>
              </a:rPr>
              <a:t>Memory Partition</a:t>
            </a:r>
          </a:p>
          <a:p>
            <a:pPr lvl="1"/>
            <a:r>
              <a:rPr lang="en-US" sz="2400" dirty="0" smtClean="0">
                <a:solidFill>
                  <a:srgbClr val="000000"/>
                </a:solidFill>
              </a:rPr>
              <a:t>Graphics DRAM</a:t>
            </a:r>
          </a:p>
          <a:p>
            <a:r>
              <a:rPr lang="en-US" sz="2800" dirty="0" smtClean="0">
                <a:solidFill>
                  <a:srgbClr val="000000"/>
                </a:solidFill>
              </a:rPr>
              <a:t>It </a:t>
            </a:r>
            <a:r>
              <a:rPr lang="en-US" sz="2800" u="sng" dirty="0" smtClean="0">
                <a:solidFill>
                  <a:srgbClr val="000000"/>
                </a:solidFill>
              </a:rPr>
              <a:t>does NOT</a:t>
            </a:r>
            <a:r>
              <a:rPr lang="en-US" sz="2800" dirty="0" smtClean="0">
                <a:solidFill>
                  <a:srgbClr val="000000"/>
                </a:solidFill>
              </a:rPr>
              <a:t> model timing for:</a:t>
            </a:r>
          </a:p>
          <a:p>
            <a:pPr lvl="1"/>
            <a:r>
              <a:rPr lang="en-US" sz="2400" dirty="0" smtClean="0">
                <a:solidFill>
                  <a:srgbClr val="000000"/>
                </a:solidFill>
              </a:rPr>
              <a:t>CPU, </a:t>
            </a:r>
            <a:r>
              <a:rPr lang="en-US" sz="2400" dirty="0" err="1" smtClean="0">
                <a:solidFill>
                  <a:srgbClr val="000000"/>
                </a:solidFill>
              </a:rPr>
              <a:t>PCIe</a:t>
            </a:r>
            <a:r>
              <a:rPr lang="en-US" sz="2400" dirty="0" smtClean="0">
                <a:solidFill>
                  <a:srgbClr val="000000"/>
                </a:solidFill>
              </a:rPr>
              <a:t> </a:t>
            </a:r>
          </a:p>
          <a:p>
            <a:pPr lvl="1"/>
            <a:r>
              <a:rPr lang="en-US" sz="2400" dirty="0" smtClean="0">
                <a:solidFill>
                  <a:srgbClr val="000000"/>
                </a:solidFill>
              </a:rPr>
              <a:t>Graphics Specific HW (Rasterizer, Clipping, Display… etc.)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692775" y="2190750"/>
            <a:ext cx="3168650" cy="2089150"/>
          </a:xfrm>
          <a:prstGeom prst="rect">
            <a:avLst/>
          </a:prstGeom>
          <a:solidFill>
            <a:srgbClr val="CCECFF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b="1"/>
              <a:t>          GPU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918325" y="3990975"/>
            <a:ext cx="574675" cy="287338"/>
          </a:xfrm>
          <a:prstGeom prst="rect">
            <a:avLst/>
          </a:prstGeom>
          <a:solidFill>
            <a:srgbClr val="99CCFF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PCIe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7061200" y="2335213"/>
            <a:ext cx="288925" cy="1368425"/>
          </a:xfrm>
          <a:prstGeom prst="rect">
            <a:avLst/>
          </a:prstGeom>
          <a:solidFill>
            <a:srgbClr val="CCFFCC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r>
              <a:rPr lang="en-US"/>
              <a:t>Interconnect</a:t>
            </a:r>
          </a:p>
        </p:txBody>
      </p:sp>
      <p:grpSp>
        <p:nvGrpSpPr>
          <p:cNvPr id="8" name="Group 11"/>
          <p:cNvGrpSpPr>
            <a:grpSpLocks/>
          </p:cNvGrpSpPr>
          <p:nvPr/>
        </p:nvGrpSpPr>
        <p:grpSpPr bwMode="auto">
          <a:xfrm>
            <a:off x="5903913" y="1574800"/>
            <a:ext cx="2886075" cy="1984375"/>
            <a:chOff x="3602" y="683"/>
            <a:chExt cx="1818" cy="1250"/>
          </a:xfrm>
        </p:grpSpPr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3602" y="683"/>
              <a:ext cx="635" cy="226"/>
            </a:xfrm>
            <a:prstGeom prst="rect">
              <a:avLst/>
            </a:prstGeom>
            <a:solidFill>
              <a:srgbClr val="FFFF99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3606" y="1706"/>
              <a:ext cx="635" cy="227"/>
            </a:xfrm>
            <a:prstGeom prst="rect">
              <a:avLst/>
            </a:prstGeom>
            <a:solidFill>
              <a:srgbClr val="FFFF99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4785" y="1706"/>
              <a:ext cx="635" cy="227"/>
            </a:xfrm>
            <a:prstGeom prst="rect">
              <a:avLst/>
            </a:prstGeom>
            <a:solidFill>
              <a:srgbClr val="FFFF99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4785" y="1344"/>
              <a:ext cx="635" cy="227"/>
            </a:xfrm>
            <a:prstGeom prst="rect">
              <a:avLst/>
            </a:prstGeom>
            <a:solidFill>
              <a:srgbClr val="FFFF99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5827713" y="1498600"/>
            <a:ext cx="2879725" cy="2001838"/>
            <a:chOff x="3606" y="672"/>
            <a:chExt cx="1814" cy="1261"/>
          </a:xfrm>
        </p:grpSpPr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3606" y="672"/>
              <a:ext cx="635" cy="226"/>
            </a:xfrm>
            <a:prstGeom prst="rect">
              <a:avLst/>
            </a:prstGeom>
            <a:solidFill>
              <a:srgbClr val="FFFF99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3606" y="1706"/>
              <a:ext cx="635" cy="227"/>
            </a:xfrm>
            <a:prstGeom prst="rect">
              <a:avLst/>
            </a:prstGeom>
            <a:solidFill>
              <a:srgbClr val="FFFF99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4785" y="1706"/>
              <a:ext cx="635" cy="227"/>
            </a:xfrm>
            <a:prstGeom prst="rect">
              <a:avLst/>
            </a:prstGeom>
            <a:solidFill>
              <a:srgbClr val="FFFF99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4785" y="1344"/>
              <a:ext cx="635" cy="227"/>
            </a:xfrm>
            <a:prstGeom prst="rect">
              <a:avLst/>
            </a:prstGeom>
            <a:solidFill>
              <a:srgbClr val="FFFF99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8" name="Group 37"/>
          <p:cNvGrpSpPr>
            <a:grpSpLocks/>
          </p:cNvGrpSpPr>
          <p:nvPr/>
        </p:nvGrpSpPr>
        <p:grpSpPr bwMode="auto">
          <a:xfrm>
            <a:off x="5751513" y="1422400"/>
            <a:ext cx="2879725" cy="2001838"/>
            <a:chOff x="3623" y="896"/>
            <a:chExt cx="1814" cy="1261"/>
          </a:xfrm>
        </p:grpSpPr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3623" y="896"/>
              <a:ext cx="635" cy="226"/>
            </a:xfrm>
            <a:prstGeom prst="rect">
              <a:avLst/>
            </a:prstGeom>
            <a:solidFill>
              <a:srgbClr val="FFFF99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400"/>
                <a:t>Gfx DRAM</a:t>
              </a:r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3623" y="1930"/>
              <a:ext cx="635" cy="227"/>
            </a:xfrm>
            <a:prstGeom prst="rect">
              <a:avLst/>
            </a:prstGeom>
            <a:solidFill>
              <a:srgbClr val="FFFF99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/>
                <a:t>Mem Part.</a:t>
              </a:r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4802" y="1930"/>
              <a:ext cx="635" cy="227"/>
            </a:xfrm>
            <a:prstGeom prst="rect">
              <a:avLst/>
            </a:prstGeom>
            <a:solidFill>
              <a:srgbClr val="FFFF99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/>
                <a:t>SIMT Cores</a:t>
              </a: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4802" y="1568"/>
              <a:ext cx="635" cy="227"/>
            </a:xfrm>
            <a:prstGeom prst="rect">
              <a:avLst/>
            </a:prstGeom>
            <a:solidFill>
              <a:srgbClr val="FFFF99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Cache</a:t>
              </a:r>
            </a:p>
          </p:txBody>
        </p:sp>
      </p:grpSp>
      <p:cxnSp>
        <p:nvCxnSpPr>
          <p:cNvPr id="23" name="AutoShape 22"/>
          <p:cNvCxnSpPr>
            <a:cxnSpLocks noChangeShapeType="1"/>
          </p:cNvCxnSpPr>
          <p:nvPr/>
        </p:nvCxnSpPr>
        <p:spPr bwMode="auto">
          <a:xfrm rot="16200000" flipH="1">
            <a:off x="5611812" y="2422526"/>
            <a:ext cx="1262063" cy="238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24" name="AutoShape 23"/>
          <p:cNvCxnSpPr>
            <a:cxnSpLocks noChangeShapeType="1"/>
          </p:cNvCxnSpPr>
          <p:nvPr/>
        </p:nvCxnSpPr>
        <p:spPr bwMode="auto">
          <a:xfrm rot="5400000">
            <a:off x="8020051" y="2955925"/>
            <a:ext cx="214312" cy="1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25" name="Line 26"/>
          <p:cNvSpPr>
            <a:spLocks noChangeShapeType="1"/>
          </p:cNvSpPr>
          <p:nvPr/>
        </p:nvSpPr>
        <p:spPr bwMode="auto">
          <a:xfrm>
            <a:off x="6818313" y="3327400"/>
            <a:ext cx="2873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26" name="Line 27"/>
          <p:cNvSpPr>
            <a:spLocks noChangeShapeType="1"/>
          </p:cNvSpPr>
          <p:nvPr/>
        </p:nvSpPr>
        <p:spPr bwMode="auto">
          <a:xfrm>
            <a:off x="7351713" y="3327400"/>
            <a:ext cx="2873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cxnSp>
        <p:nvCxnSpPr>
          <p:cNvPr id="27" name="AutoShape 28"/>
          <p:cNvCxnSpPr>
            <a:cxnSpLocks noChangeShapeType="1"/>
            <a:stCxn id="7" idx="2"/>
            <a:endCxn id="6" idx="0"/>
          </p:cNvCxnSpPr>
          <p:nvPr/>
        </p:nvCxnSpPr>
        <p:spPr bwMode="auto">
          <a:xfrm>
            <a:off x="7205663" y="3713163"/>
            <a:ext cx="0" cy="2682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28" name="Rectangle 29"/>
          <p:cNvSpPr>
            <a:spLocks noChangeArrowheads="1"/>
          </p:cNvSpPr>
          <p:nvPr/>
        </p:nvSpPr>
        <p:spPr bwMode="auto">
          <a:xfrm>
            <a:off x="7637463" y="3919538"/>
            <a:ext cx="1081087" cy="287337"/>
          </a:xfrm>
          <a:prstGeom prst="rect">
            <a:avLst/>
          </a:prstGeom>
          <a:solidFill>
            <a:srgbClr val="99CCFF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600"/>
              <a:t>Raster…</a:t>
            </a:r>
          </a:p>
        </p:txBody>
      </p:sp>
      <p:sp>
        <p:nvSpPr>
          <p:cNvPr id="29" name="Rectangle 30"/>
          <p:cNvSpPr>
            <a:spLocks noChangeArrowheads="1"/>
          </p:cNvSpPr>
          <p:nvPr/>
        </p:nvSpPr>
        <p:spPr bwMode="auto">
          <a:xfrm>
            <a:off x="5837238" y="3919538"/>
            <a:ext cx="865187" cy="287337"/>
          </a:xfrm>
          <a:prstGeom prst="rect">
            <a:avLst/>
          </a:prstGeom>
          <a:solidFill>
            <a:srgbClr val="99CCFF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Gfx HW</a:t>
            </a:r>
          </a:p>
        </p:txBody>
      </p:sp>
      <p:sp>
        <p:nvSpPr>
          <p:cNvPr id="30" name="Line 31"/>
          <p:cNvSpPr>
            <a:spLocks noChangeShapeType="1"/>
          </p:cNvSpPr>
          <p:nvPr/>
        </p:nvSpPr>
        <p:spPr bwMode="auto">
          <a:xfrm>
            <a:off x="8189913" y="3556000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1" name="Line 32"/>
          <p:cNvSpPr>
            <a:spLocks noChangeShapeType="1"/>
          </p:cNvSpPr>
          <p:nvPr/>
        </p:nvSpPr>
        <p:spPr bwMode="auto">
          <a:xfrm>
            <a:off x="6284913" y="3556000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32" name="Rectangle 33"/>
          <p:cNvSpPr>
            <a:spLocks noChangeArrowheads="1"/>
          </p:cNvSpPr>
          <p:nvPr/>
        </p:nvSpPr>
        <p:spPr bwMode="auto">
          <a:xfrm>
            <a:off x="6629400" y="4495800"/>
            <a:ext cx="1152525" cy="576263"/>
          </a:xfrm>
          <a:prstGeom prst="rect">
            <a:avLst/>
          </a:prstGeom>
          <a:solidFill>
            <a:srgbClr val="FFCC99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CPU</a:t>
            </a:r>
          </a:p>
        </p:txBody>
      </p:sp>
      <p:sp>
        <p:nvSpPr>
          <p:cNvPr id="33" name="Rectangle 36"/>
          <p:cNvSpPr>
            <a:spLocks noChangeArrowheads="1"/>
          </p:cNvSpPr>
          <p:nvPr/>
        </p:nvSpPr>
        <p:spPr bwMode="auto">
          <a:xfrm>
            <a:off x="5621338" y="1346200"/>
            <a:ext cx="3313112" cy="25019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4" name="AutoShape 37"/>
          <p:cNvCxnSpPr>
            <a:cxnSpLocks noChangeShapeType="1"/>
            <a:stCxn id="6" idx="2"/>
            <a:endCxn id="32" idx="0"/>
          </p:cNvCxnSpPr>
          <p:nvPr/>
        </p:nvCxnSpPr>
        <p:spPr bwMode="auto">
          <a:xfrm>
            <a:off x="7205663" y="4287838"/>
            <a:ext cx="0" cy="1984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977699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435280" cy="990600"/>
          </a:xfrm>
        </p:spPr>
        <p:txBody>
          <a:bodyPr>
            <a:noAutofit/>
          </a:bodyPr>
          <a:lstStyle/>
          <a:p>
            <a:r>
              <a:rPr lang="en-US" altLang="zh-TW" dirty="0"/>
              <a:t>Timing Model for GPU </a:t>
            </a:r>
            <a:r>
              <a:rPr lang="en-US" altLang="zh-TW" dirty="0" smtClean="0"/>
              <a:t>Micro-architecture</a:t>
            </a:r>
            <a:endParaRPr lang="en-US" dirty="0" smtClean="0"/>
          </a:p>
        </p:txBody>
      </p:sp>
      <p:sp>
        <p:nvSpPr>
          <p:cNvPr id="1229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77688" y="1600200"/>
            <a:ext cx="8686800" cy="4525963"/>
          </a:xfrm>
        </p:spPr>
        <p:txBody>
          <a:bodyPr/>
          <a:lstStyle/>
          <a:p>
            <a:pPr eaLnBrk="1" hangingPunct="1"/>
            <a:r>
              <a:rPr lang="en-US" sz="2800" dirty="0" smtClean="0"/>
              <a:t>GPGPU-</a:t>
            </a:r>
            <a:r>
              <a:rPr lang="en-US" sz="2800" dirty="0" err="1" smtClean="0"/>
              <a:t>Sim</a:t>
            </a:r>
            <a:r>
              <a:rPr lang="en-US" sz="2800" dirty="0" smtClean="0"/>
              <a:t> is a </a:t>
            </a:r>
            <a:r>
              <a:rPr lang="en-US" sz="2800" i="1" u="sng" dirty="0" smtClean="0"/>
              <a:t>detailed cycle-level</a:t>
            </a:r>
            <a:r>
              <a:rPr lang="en-US" sz="2800" dirty="0" smtClean="0"/>
              <a:t> simulator:</a:t>
            </a:r>
          </a:p>
          <a:p>
            <a:pPr lvl="1" eaLnBrk="1" hangingPunct="1"/>
            <a:r>
              <a:rPr lang="en-US" sz="2400" dirty="0" smtClean="0"/>
              <a:t>Cycle-level model for each part of the </a:t>
            </a:r>
            <a:r>
              <a:rPr lang="en-US" sz="2400" dirty="0" err="1" smtClean="0"/>
              <a:t>microarchitecture</a:t>
            </a:r>
            <a:endParaRPr lang="en-US" sz="2400" dirty="0" smtClean="0"/>
          </a:p>
          <a:p>
            <a:pPr lvl="1" eaLnBrk="1" hangingPunct="1"/>
            <a:r>
              <a:rPr lang="en-US" sz="2400" dirty="0" smtClean="0"/>
              <a:t>Research focused</a:t>
            </a:r>
          </a:p>
          <a:p>
            <a:pPr lvl="2" eaLnBrk="1" hangingPunct="1"/>
            <a:r>
              <a:rPr lang="en-US" sz="2000" dirty="0" smtClean="0"/>
              <a:t>Ignoring rare corner cases to reduce complexity</a:t>
            </a:r>
            <a:r>
              <a:rPr lang="en-US" sz="2800" dirty="0" smtClean="0"/>
              <a:t> </a:t>
            </a:r>
          </a:p>
          <a:p>
            <a:pPr lvl="1"/>
            <a:r>
              <a:rPr lang="en-US" altLang="zh-TW" sz="2400" dirty="0">
                <a:solidFill>
                  <a:schemeClr val="tx1"/>
                </a:solidFill>
              </a:rPr>
              <a:t>In most cases we can only guess at details.  </a:t>
            </a:r>
            <a:r>
              <a:rPr lang="en-US" altLang="zh-TW" sz="2400" dirty="0" smtClean="0">
                <a:solidFill>
                  <a:schemeClr val="tx1"/>
                </a:solidFill>
              </a:rPr>
              <a:t/>
            </a:r>
            <a:br>
              <a:rPr lang="en-US" altLang="zh-TW" sz="2400" dirty="0" smtClean="0">
                <a:solidFill>
                  <a:schemeClr val="tx1"/>
                </a:solidFill>
              </a:rPr>
            </a:br>
            <a:r>
              <a:rPr lang="en-US" altLang="zh-TW" sz="2400" dirty="0" smtClean="0">
                <a:solidFill>
                  <a:schemeClr val="tx1"/>
                </a:solidFill>
              </a:rPr>
              <a:t>Guesses </a:t>
            </a:r>
            <a:r>
              <a:rPr lang="en-US" altLang="zh-TW" sz="2400" dirty="0">
                <a:solidFill>
                  <a:schemeClr val="tx1"/>
                </a:solidFill>
              </a:rPr>
              <a:t>“informed” by studying patents and </a:t>
            </a:r>
            <a:r>
              <a:rPr lang="en-US" altLang="zh-TW" sz="2400" dirty="0" err="1">
                <a:solidFill>
                  <a:schemeClr val="tx1"/>
                </a:solidFill>
              </a:rPr>
              <a:t>microbenchmarking</a:t>
            </a:r>
            <a:r>
              <a:rPr lang="en-US" altLang="zh-TW" sz="2400" dirty="0">
                <a:solidFill>
                  <a:schemeClr val="tx1"/>
                </a:solidFill>
              </a:rPr>
              <a:t>. </a:t>
            </a:r>
          </a:p>
          <a:p>
            <a:pPr lvl="1" eaLnBrk="1" hangingPunct="1"/>
            <a:r>
              <a:rPr lang="en-US" sz="2400" dirty="0" smtClean="0">
                <a:solidFill>
                  <a:schemeClr val="tx1"/>
                </a:solidFill>
              </a:rPr>
              <a:t>CUDA manual provides some hints. </a:t>
            </a:r>
            <a:br>
              <a:rPr lang="en-US" sz="2400" dirty="0" smtClean="0">
                <a:solidFill>
                  <a:schemeClr val="tx1"/>
                </a:solidFill>
              </a:rPr>
            </a:br>
            <a:r>
              <a:rPr lang="en-US" sz="2400" dirty="0" smtClean="0">
                <a:solidFill>
                  <a:schemeClr val="tx1"/>
                </a:solidFill>
              </a:rPr>
              <a:t>NVIDIA IEEE Micro articles provide other hints.  </a:t>
            </a:r>
          </a:p>
          <a:p>
            <a:pPr lvl="1" eaLnBrk="1" hangingPunct="1"/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45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GPU Microarchitecture Overview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/>
              <a:t>SIMT </a:t>
            </a:r>
            <a:r>
              <a:rPr lang="en-US" altLang="zh-TW" sz="2000" dirty="0" smtClean="0"/>
              <a:t>Core</a:t>
            </a:r>
            <a:endParaRPr lang="en-US" altLang="zh-TW" sz="2000" dirty="0"/>
          </a:p>
          <a:p>
            <a:r>
              <a:rPr lang="en-US" altLang="zh-TW" sz="2000" dirty="0"/>
              <a:t>Interconnection </a:t>
            </a:r>
            <a:r>
              <a:rPr lang="en-US" altLang="zh-TW" sz="2000" dirty="0" smtClean="0"/>
              <a:t>Network</a:t>
            </a:r>
          </a:p>
          <a:p>
            <a:r>
              <a:rPr lang="en-US" altLang="zh-TW" sz="2000" dirty="0" smtClean="0"/>
              <a:t>Clock Domains</a:t>
            </a:r>
            <a:endParaRPr lang="en-US" altLang="zh-TW" sz="2000" dirty="0"/>
          </a:p>
          <a:p>
            <a:r>
              <a:rPr lang="en-US" altLang="zh-TW" sz="2000" dirty="0" smtClean="0"/>
              <a:t>Memory Partition</a:t>
            </a:r>
            <a:endParaRPr lang="en-US" altLang="zh-TW" sz="2000" dirty="0"/>
          </a:p>
        </p:txBody>
      </p:sp>
      <p:sp>
        <p:nvSpPr>
          <p:cNvPr id="4" name="AutoShape 2" descr="File:Overall-arch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780928"/>
            <a:ext cx="7980425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3923928" y="6514160"/>
            <a:ext cx="5268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Figure from: </a:t>
            </a:r>
            <a:r>
              <a:rPr lang="en-US" altLang="zh-TW" sz="1400" dirty="0" smtClean="0"/>
              <a:t> http://gpgpu-sim.org/manual/images/2/21/Overall-arch.png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18037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Inside a SIMT Core </a:t>
            </a:r>
            <a:r>
              <a:rPr lang="en-US" dirty="0" smtClean="0"/>
              <a:t>(3.0</a:t>
            </a:r>
            <a:r>
              <a:rPr lang="en-US" dirty="0"/>
              <a:t>)</a:t>
            </a:r>
          </a:p>
        </p:txBody>
      </p:sp>
      <p:sp>
        <p:nvSpPr>
          <p:cNvPr id="50272" name="Rectangle 96"/>
          <p:cNvSpPr>
            <a:spLocks noGrp="1" noChangeArrowheads="1"/>
          </p:cNvSpPr>
          <p:nvPr>
            <p:ph sz="quarter" idx="1"/>
          </p:nvPr>
        </p:nvSpPr>
        <p:spPr>
          <a:xfrm>
            <a:off x="457200" y="4005064"/>
            <a:ext cx="8229600" cy="2362200"/>
          </a:xfrm>
        </p:spPr>
        <p:txBody>
          <a:bodyPr>
            <a:normAutofit fontScale="70000" lnSpcReduction="20000"/>
          </a:bodyPr>
          <a:lstStyle/>
          <a:p>
            <a:r>
              <a:rPr lang="en-US" sz="2800" dirty="0"/>
              <a:t>D</a:t>
            </a:r>
            <a:r>
              <a:rPr lang="en-US" sz="2800" dirty="0" smtClean="0"/>
              <a:t>esign </a:t>
            </a:r>
            <a:r>
              <a:rPr lang="en-US" sz="2800" dirty="0"/>
              <a:t>Model</a:t>
            </a:r>
          </a:p>
          <a:p>
            <a:pPr lvl="1"/>
            <a:r>
              <a:rPr lang="en-US" altLang="zh-TW" sz="2400" dirty="0"/>
              <a:t>Fetch + Decode </a:t>
            </a:r>
            <a:endParaRPr lang="en-US" altLang="zh-TW" sz="2400" dirty="0" smtClean="0"/>
          </a:p>
          <a:p>
            <a:pPr lvl="1"/>
            <a:r>
              <a:rPr lang="en-US" altLang="zh-TW" sz="2400" dirty="0"/>
              <a:t>Instruction </a:t>
            </a:r>
            <a:r>
              <a:rPr lang="en-US" altLang="zh-TW" sz="2400" dirty="0" smtClean="0"/>
              <a:t>Issue</a:t>
            </a:r>
          </a:p>
          <a:p>
            <a:pPr lvl="1"/>
            <a:r>
              <a:rPr lang="en-US" sz="2400" dirty="0" smtClean="0"/>
              <a:t>Scoreboard</a:t>
            </a:r>
          </a:p>
          <a:p>
            <a:pPr lvl="1"/>
            <a:r>
              <a:rPr lang="en-US" altLang="zh-TW" sz="2400" dirty="0"/>
              <a:t>SIMT Stack</a:t>
            </a:r>
            <a:endParaRPr lang="en-US" sz="2400" dirty="0"/>
          </a:p>
          <a:p>
            <a:pPr lvl="1"/>
            <a:r>
              <a:rPr lang="en-US" sz="2400" dirty="0"/>
              <a:t>Operand collector</a:t>
            </a:r>
          </a:p>
          <a:p>
            <a:pPr lvl="1"/>
            <a:r>
              <a:rPr lang="en-US" sz="2400" dirty="0" smtClean="0"/>
              <a:t>ALU</a:t>
            </a:r>
          </a:p>
          <a:p>
            <a:pPr lvl="1"/>
            <a:r>
              <a:rPr lang="en-US" sz="2400" dirty="0" smtClean="0"/>
              <a:t>Memory unit</a:t>
            </a:r>
            <a:endParaRPr lang="en-US" sz="2400" dirty="0"/>
          </a:p>
        </p:txBody>
      </p:sp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457200" y="1196752"/>
            <a:ext cx="5105400" cy="243840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r>
              <a:rPr lang="en-US" sz="2400" b="1">
                <a:solidFill>
                  <a:srgbClr val="009900"/>
                </a:solidFill>
              </a:rPr>
              <a:t>SIMT Front End</a:t>
            </a:r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5562600" y="1196752"/>
            <a:ext cx="3124200" cy="24384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algn="r"/>
            <a:r>
              <a:rPr lang="en-US" sz="2400" b="1">
                <a:solidFill>
                  <a:srgbClr val="FF9933"/>
                </a:solidFill>
              </a:rPr>
              <a:t>SIMD Datapath</a:t>
            </a:r>
          </a:p>
        </p:txBody>
      </p:sp>
      <p:grpSp>
        <p:nvGrpSpPr>
          <p:cNvPr id="50181" name="Group 5"/>
          <p:cNvGrpSpPr>
            <a:grpSpLocks/>
          </p:cNvGrpSpPr>
          <p:nvPr/>
        </p:nvGrpSpPr>
        <p:grpSpPr bwMode="auto">
          <a:xfrm>
            <a:off x="561975" y="1766665"/>
            <a:ext cx="7867650" cy="1690687"/>
            <a:chOff x="354" y="2471"/>
            <a:chExt cx="4956" cy="1065"/>
          </a:xfrm>
        </p:grpSpPr>
        <p:sp>
          <p:nvSpPr>
            <p:cNvPr id="50182" name="Rectangle 6"/>
            <p:cNvSpPr>
              <a:spLocks noChangeArrowheads="1"/>
            </p:cNvSpPr>
            <p:nvPr/>
          </p:nvSpPr>
          <p:spPr bwMode="auto">
            <a:xfrm>
              <a:off x="4573" y="2671"/>
              <a:ext cx="590" cy="222"/>
            </a:xfrm>
            <a:prstGeom prst="rect">
              <a:avLst/>
            </a:prstGeom>
            <a:solidFill>
              <a:srgbClr val="FFFF6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183" name="Rectangle 7"/>
            <p:cNvSpPr>
              <a:spLocks noChangeArrowheads="1"/>
            </p:cNvSpPr>
            <p:nvPr/>
          </p:nvSpPr>
          <p:spPr bwMode="auto">
            <a:xfrm>
              <a:off x="4573" y="2671"/>
              <a:ext cx="590" cy="222"/>
            </a:xfrm>
            <a:prstGeom prst="rect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184" name="Rectangle 8"/>
            <p:cNvSpPr>
              <a:spLocks noChangeArrowheads="1"/>
            </p:cNvSpPr>
            <p:nvPr/>
          </p:nvSpPr>
          <p:spPr bwMode="auto">
            <a:xfrm>
              <a:off x="4736" y="2697"/>
              <a:ext cx="26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</a:rPr>
                <a:t>ALU</a:t>
              </a:r>
              <a:endParaRPr lang="en-US"/>
            </a:p>
          </p:txBody>
        </p:sp>
        <p:sp>
          <p:nvSpPr>
            <p:cNvPr id="50185" name="Rectangle 9"/>
            <p:cNvSpPr>
              <a:spLocks noChangeArrowheads="1"/>
            </p:cNvSpPr>
            <p:nvPr/>
          </p:nvSpPr>
          <p:spPr bwMode="auto">
            <a:xfrm>
              <a:off x="4543" y="2701"/>
              <a:ext cx="590" cy="221"/>
            </a:xfrm>
            <a:prstGeom prst="rect">
              <a:avLst/>
            </a:prstGeom>
            <a:solidFill>
              <a:srgbClr val="FFFF6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186" name="Rectangle 10"/>
            <p:cNvSpPr>
              <a:spLocks noChangeArrowheads="1"/>
            </p:cNvSpPr>
            <p:nvPr/>
          </p:nvSpPr>
          <p:spPr bwMode="auto">
            <a:xfrm>
              <a:off x="4543" y="2701"/>
              <a:ext cx="590" cy="221"/>
            </a:xfrm>
            <a:prstGeom prst="rect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187" name="Rectangle 11"/>
            <p:cNvSpPr>
              <a:spLocks noChangeArrowheads="1"/>
            </p:cNvSpPr>
            <p:nvPr/>
          </p:nvSpPr>
          <p:spPr bwMode="auto">
            <a:xfrm>
              <a:off x="4713" y="2728"/>
              <a:ext cx="26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</a:rPr>
                <a:t>ALU</a:t>
              </a:r>
              <a:endParaRPr lang="en-US"/>
            </a:p>
          </p:txBody>
        </p:sp>
        <p:sp>
          <p:nvSpPr>
            <p:cNvPr id="50188" name="Rectangle 12"/>
            <p:cNvSpPr>
              <a:spLocks noChangeArrowheads="1"/>
            </p:cNvSpPr>
            <p:nvPr/>
          </p:nvSpPr>
          <p:spPr bwMode="auto">
            <a:xfrm>
              <a:off x="4514" y="2730"/>
              <a:ext cx="590" cy="222"/>
            </a:xfrm>
            <a:prstGeom prst="rect">
              <a:avLst/>
            </a:prstGeom>
            <a:solidFill>
              <a:srgbClr val="FFFF6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189" name="Rectangle 13"/>
            <p:cNvSpPr>
              <a:spLocks noChangeArrowheads="1"/>
            </p:cNvSpPr>
            <p:nvPr/>
          </p:nvSpPr>
          <p:spPr bwMode="auto">
            <a:xfrm>
              <a:off x="4514" y="2730"/>
              <a:ext cx="590" cy="222"/>
            </a:xfrm>
            <a:prstGeom prst="rect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190" name="Rectangle 14"/>
            <p:cNvSpPr>
              <a:spLocks noChangeArrowheads="1"/>
            </p:cNvSpPr>
            <p:nvPr/>
          </p:nvSpPr>
          <p:spPr bwMode="auto">
            <a:xfrm>
              <a:off x="4683" y="2758"/>
              <a:ext cx="26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</a:rPr>
                <a:t>ALU</a:t>
              </a:r>
              <a:endParaRPr lang="en-US"/>
            </a:p>
          </p:txBody>
        </p:sp>
        <p:sp>
          <p:nvSpPr>
            <p:cNvPr id="50191" name="Oval 15"/>
            <p:cNvSpPr>
              <a:spLocks noChangeArrowheads="1"/>
            </p:cNvSpPr>
            <p:nvPr/>
          </p:nvSpPr>
          <p:spPr bwMode="auto">
            <a:xfrm>
              <a:off x="5177" y="2767"/>
              <a:ext cx="15" cy="15"/>
            </a:xfrm>
            <a:prstGeom prst="ellipse">
              <a:avLst/>
            </a:prstGeom>
            <a:solidFill>
              <a:srgbClr val="FFFF66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192" name="Oval 16"/>
            <p:cNvSpPr>
              <a:spLocks noChangeArrowheads="1"/>
            </p:cNvSpPr>
            <p:nvPr/>
          </p:nvSpPr>
          <p:spPr bwMode="auto">
            <a:xfrm>
              <a:off x="5177" y="2767"/>
              <a:ext cx="15" cy="15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193" name="Oval 17"/>
            <p:cNvSpPr>
              <a:spLocks noChangeArrowheads="1"/>
            </p:cNvSpPr>
            <p:nvPr/>
          </p:nvSpPr>
          <p:spPr bwMode="auto">
            <a:xfrm>
              <a:off x="5200" y="2745"/>
              <a:ext cx="14" cy="15"/>
            </a:xfrm>
            <a:prstGeom prst="ellipse">
              <a:avLst/>
            </a:prstGeom>
            <a:solidFill>
              <a:srgbClr val="FFFF66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194" name="Oval 18"/>
            <p:cNvSpPr>
              <a:spLocks noChangeArrowheads="1"/>
            </p:cNvSpPr>
            <p:nvPr/>
          </p:nvSpPr>
          <p:spPr bwMode="auto">
            <a:xfrm>
              <a:off x="5200" y="2745"/>
              <a:ext cx="14" cy="15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195" name="Oval 19"/>
            <p:cNvSpPr>
              <a:spLocks noChangeArrowheads="1"/>
            </p:cNvSpPr>
            <p:nvPr/>
          </p:nvSpPr>
          <p:spPr bwMode="auto">
            <a:xfrm>
              <a:off x="5222" y="2723"/>
              <a:ext cx="14" cy="15"/>
            </a:xfrm>
            <a:prstGeom prst="ellipse">
              <a:avLst/>
            </a:prstGeom>
            <a:solidFill>
              <a:srgbClr val="FFFF66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196" name="Oval 20"/>
            <p:cNvSpPr>
              <a:spLocks noChangeArrowheads="1"/>
            </p:cNvSpPr>
            <p:nvPr/>
          </p:nvSpPr>
          <p:spPr bwMode="auto">
            <a:xfrm>
              <a:off x="5222" y="2723"/>
              <a:ext cx="14" cy="15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197" name="Line 21"/>
            <p:cNvSpPr>
              <a:spLocks noChangeShapeType="1"/>
            </p:cNvSpPr>
            <p:nvPr/>
          </p:nvSpPr>
          <p:spPr bwMode="auto">
            <a:xfrm>
              <a:off x="944" y="3092"/>
              <a:ext cx="74" cy="0"/>
            </a:xfrm>
            <a:prstGeom prst="line">
              <a:avLst/>
            </a:prstGeom>
            <a:noFill/>
            <a:ln w="365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198" name="Freeform 22"/>
            <p:cNvSpPr>
              <a:spLocks/>
            </p:cNvSpPr>
            <p:nvPr/>
          </p:nvSpPr>
          <p:spPr bwMode="auto">
            <a:xfrm>
              <a:off x="994" y="3043"/>
              <a:ext cx="97" cy="98"/>
            </a:xfrm>
            <a:custGeom>
              <a:avLst/>
              <a:gdLst/>
              <a:ahLst/>
              <a:cxnLst>
                <a:cxn ang="0">
                  <a:pos x="206" y="103"/>
                </a:cxn>
                <a:cxn ang="0">
                  <a:pos x="0" y="20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06" y="103"/>
                </a:cxn>
              </a:cxnLst>
              <a:rect l="0" t="0" r="r" b="b"/>
              <a:pathLst>
                <a:path w="206" h="207">
                  <a:moveTo>
                    <a:pt x="206" y="103"/>
                  </a:moveTo>
                  <a:lnTo>
                    <a:pt x="0" y="207"/>
                  </a:lnTo>
                  <a:cubicBezTo>
                    <a:pt x="33" y="142"/>
                    <a:pt x="33" y="65"/>
                    <a:pt x="0" y="0"/>
                  </a:cubicBezTo>
                  <a:lnTo>
                    <a:pt x="0" y="0"/>
                  </a:lnTo>
                  <a:lnTo>
                    <a:pt x="206" y="10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199" name="Line 23"/>
            <p:cNvSpPr>
              <a:spLocks noChangeShapeType="1"/>
            </p:cNvSpPr>
            <p:nvPr/>
          </p:nvSpPr>
          <p:spPr bwMode="auto">
            <a:xfrm>
              <a:off x="1682" y="3173"/>
              <a:ext cx="150" cy="41"/>
            </a:xfrm>
            <a:prstGeom prst="line">
              <a:avLst/>
            </a:prstGeom>
            <a:noFill/>
            <a:ln w="365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00" name="Freeform 24"/>
            <p:cNvSpPr>
              <a:spLocks/>
            </p:cNvSpPr>
            <p:nvPr/>
          </p:nvSpPr>
          <p:spPr bwMode="auto">
            <a:xfrm>
              <a:off x="1796" y="3160"/>
              <a:ext cx="107" cy="94"/>
            </a:xfrm>
            <a:custGeom>
              <a:avLst/>
              <a:gdLst/>
              <a:ahLst/>
              <a:cxnLst>
                <a:cxn ang="0">
                  <a:pos x="227" y="154"/>
                </a:cxn>
                <a:cxn ang="0">
                  <a:pos x="0" y="199"/>
                </a:cxn>
                <a:cxn ang="0">
                  <a:pos x="55" y="0"/>
                </a:cxn>
                <a:cxn ang="0">
                  <a:pos x="55" y="0"/>
                </a:cxn>
                <a:cxn ang="0">
                  <a:pos x="227" y="154"/>
                </a:cxn>
              </a:cxnLst>
              <a:rect l="0" t="0" r="r" b="b"/>
              <a:pathLst>
                <a:path w="227" h="199">
                  <a:moveTo>
                    <a:pt x="227" y="154"/>
                  </a:moveTo>
                  <a:lnTo>
                    <a:pt x="0" y="199"/>
                  </a:lnTo>
                  <a:cubicBezTo>
                    <a:pt x="49" y="145"/>
                    <a:pt x="69" y="71"/>
                    <a:pt x="55" y="0"/>
                  </a:cubicBezTo>
                  <a:lnTo>
                    <a:pt x="55" y="0"/>
                  </a:lnTo>
                  <a:lnTo>
                    <a:pt x="227" y="15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01" name="Line 25"/>
            <p:cNvSpPr>
              <a:spLocks noChangeShapeType="1"/>
            </p:cNvSpPr>
            <p:nvPr/>
          </p:nvSpPr>
          <p:spPr bwMode="auto">
            <a:xfrm flipV="1">
              <a:off x="1682" y="2970"/>
              <a:ext cx="150" cy="42"/>
            </a:xfrm>
            <a:prstGeom prst="line">
              <a:avLst/>
            </a:prstGeom>
            <a:noFill/>
            <a:ln w="365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02" name="Freeform 26"/>
            <p:cNvSpPr>
              <a:spLocks/>
            </p:cNvSpPr>
            <p:nvPr/>
          </p:nvSpPr>
          <p:spPr bwMode="auto">
            <a:xfrm>
              <a:off x="1796" y="2930"/>
              <a:ext cx="107" cy="94"/>
            </a:xfrm>
            <a:custGeom>
              <a:avLst/>
              <a:gdLst/>
              <a:ahLst/>
              <a:cxnLst>
                <a:cxn ang="0">
                  <a:pos x="227" y="45"/>
                </a:cxn>
                <a:cxn ang="0">
                  <a:pos x="55" y="19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27" y="45"/>
                </a:cxn>
              </a:cxnLst>
              <a:rect l="0" t="0" r="r" b="b"/>
              <a:pathLst>
                <a:path w="227" h="199">
                  <a:moveTo>
                    <a:pt x="227" y="45"/>
                  </a:moveTo>
                  <a:lnTo>
                    <a:pt x="55" y="199"/>
                  </a:lnTo>
                  <a:cubicBezTo>
                    <a:pt x="69" y="128"/>
                    <a:pt x="49" y="54"/>
                    <a:pt x="0" y="0"/>
                  </a:cubicBezTo>
                  <a:lnTo>
                    <a:pt x="0" y="0"/>
                  </a:lnTo>
                  <a:lnTo>
                    <a:pt x="227" y="4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03" name="Line 27"/>
            <p:cNvSpPr>
              <a:spLocks noChangeShapeType="1"/>
            </p:cNvSpPr>
            <p:nvPr/>
          </p:nvSpPr>
          <p:spPr bwMode="auto">
            <a:xfrm flipV="1">
              <a:off x="2198" y="3055"/>
              <a:ext cx="0" cy="74"/>
            </a:xfrm>
            <a:prstGeom prst="line">
              <a:avLst/>
            </a:prstGeom>
            <a:noFill/>
            <a:ln w="365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04" name="Freeform 28"/>
            <p:cNvSpPr>
              <a:spLocks/>
            </p:cNvSpPr>
            <p:nvPr/>
          </p:nvSpPr>
          <p:spPr bwMode="auto">
            <a:xfrm>
              <a:off x="2149" y="3105"/>
              <a:ext cx="98" cy="98"/>
            </a:xfrm>
            <a:custGeom>
              <a:avLst/>
              <a:gdLst/>
              <a:ahLst/>
              <a:cxnLst>
                <a:cxn ang="0">
                  <a:pos x="103" y="207"/>
                </a:cxn>
                <a:cxn ang="0">
                  <a:pos x="0" y="0"/>
                </a:cxn>
                <a:cxn ang="0">
                  <a:pos x="206" y="0"/>
                </a:cxn>
                <a:cxn ang="0">
                  <a:pos x="206" y="0"/>
                </a:cxn>
                <a:cxn ang="0">
                  <a:pos x="103" y="207"/>
                </a:cxn>
              </a:cxnLst>
              <a:rect l="0" t="0" r="r" b="b"/>
              <a:pathLst>
                <a:path w="206" h="207">
                  <a:moveTo>
                    <a:pt x="103" y="207"/>
                  </a:moveTo>
                  <a:lnTo>
                    <a:pt x="0" y="0"/>
                  </a:lnTo>
                  <a:cubicBezTo>
                    <a:pt x="65" y="33"/>
                    <a:pt x="141" y="33"/>
                    <a:pt x="206" y="0"/>
                  </a:cubicBezTo>
                  <a:lnTo>
                    <a:pt x="206" y="0"/>
                  </a:lnTo>
                  <a:lnTo>
                    <a:pt x="103" y="20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05" name="Freeform 29"/>
            <p:cNvSpPr>
              <a:spLocks/>
            </p:cNvSpPr>
            <p:nvPr/>
          </p:nvSpPr>
          <p:spPr bwMode="auto">
            <a:xfrm>
              <a:off x="2149" y="2981"/>
              <a:ext cx="98" cy="98"/>
            </a:xfrm>
            <a:custGeom>
              <a:avLst/>
              <a:gdLst/>
              <a:ahLst/>
              <a:cxnLst>
                <a:cxn ang="0">
                  <a:pos x="103" y="0"/>
                </a:cxn>
                <a:cxn ang="0">
                  <a:pos x="206" y="206"/>
                </a:cxn>
                <a:cxn ang="0">
                  <a:pos x="0" y="206"/>
                </a:cxn>
                <a:cxn ang="0">
                  <a:pos x="103" y="0"/>
                </a:cxn>
              </a:cxnLst>
              <a:rect l="0" t="0" r="r" b="b"/>
              <a:pathLst>
                <a:path w="206" h="206">
                  <a:moveTo>
                    <a:pt x="103" y="0"/>
                  </a:moveTo>
                  <a:lnTo>
                    <a:pt x="206" y="206"/>
                  </a:lnTo>
                  <a:cubicBezTo>
                    <a:pt x="141" y="174"/>
                    <a:pt x="65" y="174"/>
                    <a:pt x="0" y="206"/>
                  </a:cubicBezTo>
                  <a:lnTo>
                    <a:pt x="10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06" name="Line 30"/>
            <p:cNvSpPr>
              <a:spLocks noChangeShapeType="1"/>
            </p:cNvSpPr>
            <p:nvPr/>
          </p:nvSpPr>
          <p:spPr bwMode="auto">
            <a:xfrm flipV="1">
              <a:off x="2493" y="3192"/>
              <a:ext cx="150" cy="41"/>
            </a:xfrm>
            <a:prstGeom prst="line">
              <a:avLst/>
            </a:prstGeom>
            <a:noFill/>
            <a:ln w="365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07" name="Freeform 31"/>
            <p:cNvSpPr>
              <a:spLocks/>
            </p:cNvSpPr>
            <p:nvPr/>
          </p:nvSpPr>
          <p:spPr bwMode="auto">
            <a:xfrm>
              <a:off x="2608" y="3151"/>
              <a:ext cx="106" cy="94"/>
            </a:xfrm>
            <a:custGeom>
              <a:avLst/>
              <a:gdLst/>
              <a:ahLst/>
              <a:cxnLst>
                <a:cxn ang="0">
                  <a:pos x="226" y="45"/>
                </a:cxn>
                <a:cxn ang="0">
                  <a:pos x="54" y="19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26" y="45"/>
                </a:cxn>
              </a:cxnLst>
              <a:rect l="0" t="0" r="r" b="b"/>
              <a:pathLst>
                <a:path w="226" h="199">
                  <a:moveTo>
                    <a:pt x="226" y="45"/>
                  </a:moveTo>
                  <a:lnTo>
                    <a:pt x="54" y="199"/>
                  </a:lnTo>
                  <a:cubicBezTo>
                    <a:pt x="68" y="128"/>
                    <a:pt x="48" y="54"/>
                    <a:pt x="0" y="0"/>
                  </a:cubicBezTo>
                  <a:lnTo>
                    <a:pt x="0" y="0"/>
                  </a:lnTo>
                  <a:lnTo>
                    <a:pt x="226" y="4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08" name="Line 32"/>
            <p:cNvSpPr>
              <a:spLocks noChangeShapeType="1"/>
            </p:cNvSpPr>
            <p:nvPr/>
          </p:nvSpPr>
          <p:spPr bwMode="auto">
            <a:xfrm>
              <a:off x="2493" y="2951"/>
              <a:ext cx="150" cy="41"/>
            </a:xfrm>
            <a:prstGeom prst="line">
              <a:avLst/>
            </a:prstGeom>
            <a:noFill/>
            <a:ln w="365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09" name="Freeform 33"/>
            <p:cNvSpPr>
              <a:spLocks/>
            </p:cNvSpPr>
            <p:nvPr/>
          </p:nvSpPr>
          <p:spPr bwMode="auto">
            <a:xfrm>
              <a:off x="2608" y="2939"/>
              <a:ext cx="106" cy="94"/>
            </a:xfrm>
            <a:custGeom>
              <a:avLst/>
              <a:gdLst/>
              <a:ahLst/>
              <a:cxnLst>
                <a:cxn ang="0">
                  <a:pos x="226" y="154"/>
                </a:cxn>
                <a:cxn ang="0">
                  <a:pos x="0" y="199"/>
                </a:cxn>
                <a:cxn ang="0">
                  <a:pos x="54" y="0"/>
                </a:cxn>
                <a:cxn ang="0">
                  <a:pos x="226" y="154"/>
                </a:cxn>
              </a:cxnLst>
              <a:rect l="0" t="0" r="r" b="b"/>
              <a:pathLst>
                <a:path w="226" h="199">
                  <a:moveTo>
                    <a:pt x="226" y="154"/>
                  </a:moveTo>
                  <a:lnTo>
                    <a:pt x="0" y="199"/>
                  </a:lnTo>
                  <a:cubicBezTo>
                    <a:pt x="48" y="145"/>
                    <a:pt x="68" y="71"/>
                    <a:pt x="54" y="0"/>
                  </a:cubicBezTo>
                  <a:lnTo>
                    <a:pt x="226" y="15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10" name="Line 34"/>
            <p:cNvSpPr>
              <a:spLocks noChangeShapeType="1"/>
            </p:cNvSpPr>
            <p:nvPr/>
          </p:nvSpPr>
          <p:spPr bwMode="auto">
            <a:xfrm>
              <a:off x="3304" y="3099"/>
              <a:ext cx="222" cy="0"/>
            </a:xfrm>
            <a:prstGeom prst="line">
              <a:avLst/>
            </a:prstGeom>
            <a:noFill/>
            <a:ln w="365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11" name="Freeform 35"/>
            <p:cNvSpPr>
              <a:spLocks/>
            </p:cNvSpPr>
            <p:nvPr/>
          </p:nvSpPr>
          <p:spPr bwMode="auto">
            <a:xfrm>
              <a:off x="3502" y="3051"/>
              <a:ext cx="97" cy="97"/>
            </a:xfrm>
            <a:custGeom>
              <a:avLst/>
              <a:gdLst/>
              <a:ahLst/>
              <a:cxnLst>
                <a:cxn ang="0">
                  <a:pos x="206" y="103"/>
                </a:cxn>
                <a:cxn ang="0">
                  <a:pos x="0" y="20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06" y="103"/>
                </a:cxn>
              </a:cxnLst>
              <a:rect l="0" t="0" r="r" b="b"/>
              <a:pathLst>
                <a:path w="206" h="206">
                  <a:moveTo>
                    <a:pt x="206" y="103"/>
                  </a:moveTo>
                  <a:lnTo>
                    <a:pt x="0" y="206"/>
                  </a:lnTo>
                  <a:cubicBezTo>
                    <a:pt x="32" y="141"/>
                    <a:pt x="32" y="65"/>
                    <a:pt x="0" y="0"/>
                  </a:cubicBezTo>
                  <a:lnTo>
                    <a:pt x="0" y="0"/>
                  </a:lnTo>
                  <a:lnTo>
                    <a:pt x="206" y="10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12" name="Line 36"/>
            <p:cNvSpPr>
              <a:spLocks noChangeShapeType="1"/>
            </p:cNvSpPr>
            <p:nvPr/>
          </p:nvSpPr>
          <p:spPr bwMode="auto">
            <a:xfrm>
              <a:off x="4302" y="3192"/>
              <a:ext cx="113" cy="27"/>
            </a:xfrm>
            <a:prstGeom prst="line">
              <a:avLst/>
            </a:prstGeom>
            <a:noFill/>
            <a:ln w="984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13" name="Freeform 37"/>
            <p:cNvSpPr>
              <a:spLocks/>
            </p:cNvSpPr>
            <p:nvPr/>
          </p:nvSpPr>
          <p:spPr bwMode="auto">
            <a:xfrm>
              <a:off x="4233" y="3110"/>
              <a:ext cx="107" cy="172"/>
            </a:xfrm>
            <a:custGeom>
              <a:avLst/>
              <a:gdLst/>
              <a:ahLst/>
              <a:cxnLst>
                <a:cxn ang="0">
                  <a:pos x="66" y="172"/>
                </a:cxn>
                <a:cxn ang="0">
                  <a:pos x="0" y="66"/>
                </a:cxn>
                <a:cxn ang="0">
                  <a:pos x="107" y="0"/>
                </a:cxn>
                <a:cxn ang="0">
                  <a:pos x="66" y="172"/>
                </a:cxn>
              </a:cxnLst>
              <a:rect l="0" t="0" r="r" b="b"/>
              <a:pathLst>
                <a:path w="107" h="172">
                  <a:moveTo>
                    <a:pt x="66" y="172"/>
                  </a:moveTo>
                  <a:lnTo>
                    <a:pt x="0" y="66"/>
                  </a:lnTo>
                  <a:lnTo>
                    <a:pt x="107" y="0"/>
                  </a:lnTo>
                  <a:lnTo>
                    <a:pt x="66" y="17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14" name="Freeform 38"/>
            <p:cNvSpPr>
              <a:spLocks/>
            </p:cNvSpPr>
            <p:nvPr/>
          </p:nvSpPr>
          <p:spPr bwMode="auto">
            <a:xfrm>
              <a:off x="4377" y="3129"/>
              <a:ext cx="107" cy="172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107" y="107"/>
                </a:cxn>
                <a:cxn ang="0">
                  <a:pos x="0" y="172"/>
                </a:cxn>
                <a:cxn ang="0">
                  <a:pos x="42" y="0"/>
                </a:cxn>
              </a:cxnLst>
              <a:rect l="0" t="0" r="r" b="b"/>
              <a:pathLst>
                <a:path w="107" h="172">
                  <a:moveTo>
                    <a:pt x="42" y="0"/>
                  </a:moveTo>
                  <a:lnTo>
                    <a:pt x="107" y="107"/>
                  </a:lnTo>
                  <a:lnTo>
                    <a:pt x="0" y="17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15" name="Line 39"/>
            <p:cNvSpPr>
              <a:spLocks noChangeShapeType="1"/>
            </p:cNvSpPr>
            <p:nvPr/>
          </p:nvSpPr>
          <p:spPr bwMode="auto">
            <a:xfrm flipV="1">
              <a:off x="4302" y="2967"/>
              <a:ext cx="114" cy="30"/>
            </a:xfrm>
            <a:prstGeom prst="line">
              <a:avLst/>
            </a:prstGeom>
            <a:noFill/>
            <a:ln w="984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16" name="Freeform 40"/>
            <p:cNvSpPr>
              <a:spLocks/>
            </p:cNvSpPr>
            <p:nvPr/>
          </p:nvSpPr>
          <p:spPr bwMode="auto">
            <a:xfrm>
              <a:off x="4233" y="2907"/>
              <a:ext cx="109" cy="171"/>
            </a:xfrm>
            <a:custGeom>
              <a:avLst/>
              <a:gdLst/>
              <a:ahLst/>
              <a:cxnLst>
                <a:cxn ang="0">
                  <a:pos x="109" y="171"/>
                </a:cxn>
                <a:cxn ang="0">
                  <a:pos x="0" y="108"/>
                </a:cxn>
                <a:cxn ang="0">
                  <a:pos x="64" y="0"/>
                </a:cxn>
                <a:cxn ang="0">
                  <a:pos x="109" y="171"/>
                </a:cxn>
              </a:cxnLst>
              <a:rect l="0" t="0" r="r" b="b"/>
              <a:pathLst>
                <a:path w="109" h="171">
                  <a:moveTo>
                    <a:pt x="109" y="171"/>
                  </a:moveTo>
                  <a:lnTo>
                    <a:pt x="0" y="108"/>
                  </a:lnTo>
                  <a:lnTo>
                    <a:pt x="64" y="0"/>
                  </a:lnTo>
                  <a:lnTo>
                    <a:pt x="109" y="17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17" name="Freeform 41"/>
            <p:cNvSpPr>
              <a:spLocks/>
            </p:cNvSpPr>
            <p:nvPr/>
          </p:nvSpPr>
          <p:spPr bwMode="auto">
            <a:xfrm>
              <a:off x="4376" y="2885"/>
              <a:ext cx="108" cy="17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" y="64"/>
                </a:cxn>
                <a:cxn ang="0">
                  <a:pos x="45" y="172"/>
                </a:cxn>
                <a:cxn ang="0">
                  <a:pos x="0" y="0"/>
                </a:cxn>
              </a:cxnLst>
              <a:rect l="0" t="0" r="r" b="b"/>
              <a:pathLst>
                <a:path w="108" h="172">
                  <a:moveTo>
                    <a:pt x="0" y="0"/>
                  </a:moveTo>
                  <a:lnTo>
                    <a:pt x="108" y="64"/>
                  </a:lnTo>
                  <a:lnTo>
                    <a:pt x="45" y="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18" name="Rectangle 42"/>
            <p:cNvSpPr>
              <a:spLocks noChangeArrowheads="1"/>
            </p:cNvSpPr>
            <p:nvPr/>
          </p:nvSpPr>
          <p:spPr bwMode="auto">
            <a:xfrm>
              <a:off x="354" y="2981"/>
              <a:ext cx="590" cy="222"/>
            </a:xfrm>
            <a:prstGeom prst="rect">
              <a:avLst/>
            </a:prstGeom>
            <a:solidFill>
              <a:srgbClr val="99FF9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19" name="Rectangle 43"/>
            <p:cNvSpPr>
              <a:spLocks noChangeArrowheads="1"/>
            </p:cNvSpPr>
            <p:nvPr/>
          </p:nvSpPr>
          <p:spPr bwMode="auto">
            <a:xfrm>
              <a:off x="354" y="2981"/>
              <a:ext cx="590" cy="222"/>
            </a:xfrm>
            <a:prstGeom prst="rect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20" name="Rectangle 44"/>
            <p:cNvSpPr>
              <a:spLocks noChangeArrowheads="1"/>
            </p:cNvSpPr>
            <p:nvPr/>
          </p:nvSpPr>
          <p:spPr bwMode="auto">
            <a:xfrm>
              <a:off x="427" y="3007"/>
              <a:ext cx="46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</a:rPr>
                <a:t>I-Cache</a:t>
              </a:r>
              <a:endParaRPr lang="en-US"/>
            </a:p>
          </p:txBody>
        </p:sp>
        <p:sp>
          <p:nvSpPr>
            <p:cNvPr id="50221" name="Rectangle 45"/>
            <p:cNvSpPr>
              <a:spLocks noChangeArrowheads="1"/>
            </p:cNvSpPr>
            <p:nvPr/>
          </p:nvSpPr>
          <p:spPr bwMode="auto">
            <a:xfrm>
              <a:off x="1091" y="2981"/>
              <a:ext cx="591" cy="222"/>
            </a:xfrm>
            <a:prstGeom prst="rect">
              <a:avLst/>
            </a:prstGeom>
            <a:solidFill>
              <a:srgbClr val="99FF9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22" name="Rectangle 46"/>
            <p:cNvSpPr>
              <a:spLocks noChangeArrowheads="1"/>
            </p:cNvSpPr>
            <p:nvPr/>
          </p:nvSpPr>
          <p:spPr bwMode="auto">
            <a:xfrm>
              <a:off x="1091" y="2981"/>
              <a:ext cx="591" cy="222"/>
            </a:xfrm>
            <a:prstGeom prst="rect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23" name="Rectangle 47"/>
            <p:cNvSpPr>
              <a:spLocks noChangeArrowheads="1"/>
            </p:cNvSpPr>
            <p:nvPr/>
          </p:nvSpPr>
          <p:spPr bwMode="auto">
            <a:xfrm>
              <a:off x="1160" y="3007"/>
              <a:ext cx="46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</a:rPr>
                <a:t>Decode</a:t>
              </a:r>
              <a:endParaRPr lang="en-US"/>
            </a:p>
          </p:txBody>
        </p:sp>
        <p:sp>
          <p:nvSpPr>
            <p:cNvPr id="50224" name="Rectangle 48"/>
            <p:cNvSpPr>
              <a:spLocks noChangeArrowheads="1"/>
            </p:cNvSpPr>
            <p:nvPr/>
          </p:nvSpPr>
          <p:spPr bwMode="auto">
            <a:xfrm>
              <a:off x="1903" y="2760"/>
              <a:ext cx="590" cy="221"/>
            </a:xfrm>
            <a:prstGeom prst="rect">
              <a:avLst/>
            </a:prstGeom>
            <a:solidFill>
              <a:srgbClr val="99FF9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25" name="Rectangle 49"/>
            <p:cNvSpPr>
              <a:spLocks noChangeArrowheads="1"/>
            </p:cNvSpPr>
            <p:nvPr/>
          </p:nvSpPr>
          <p:spPr bwMode="auto">
            <a:xfrm>
              <a:off x="1903" y="2760"/>
              <a:ext cx="590" cy="221"/>
            </a:xfrm>
            <a:prstGeom prst="rect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26" name="Rectangle 50"/>
            <p:cNvSpPr>
              <a:spLocks noChangeArrowheads="1"/>
            </p:cNvSpPr>
            <p:nvPr/>
          </p:nvSpPr>
          <p:spPr bwMode="auto">
            <a:xfrm>
              <a:off x="1976" y="2788"/>
              <a:ext cx="45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</a:rPr>
                <a:t>I-Buffer</a:t>
              </a:r>
              <a:endParaRPr lang="en-US"/>
            </a:p>
          </p:txBody>
        </p:sp>
        <p:sp>
          <p:nvSpPr>
            <p:cNvPr id="50227" name="Rectangle 51"/>
            <p:cNvSpPr>
              <a:spLocks noChangeArrowheads="1"/>
            </p:cNvSpPr>
            <p:nvPr/>
          </p:nvSpPr>
          <p:spPr bwMode="auto">
            <a:xfrm>
              <a:off x="1903" y="3203"/>
              <a:ext cx="590" cy="221"/>
            </a:xfrm>
            <a:prstGeom prst="rect">
              <a:avLst/>
            </a:prstGeom>
            <a:solidFill>
              <a:srgbClr val="99FF9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28" name="Rectangle 52"/>
            <p:cNvSpPr>
              <a:spLocks noChangeArrowheads="1"/>
            </p:cNvSpPr>
            <p:nvPr/>
          </p:nvSpPr>
          <p:spPr bwMode="auto">
            <a:xfrm>
              <a:off x="1903" y="3203"/>
              <a:ext cx="590" cy="221"/>
            </a:xfrm>
            <a:prstGeom prst="rect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29" name="Rectangle 53"/>
            <p:cNvSpPr>
              <a:spLocks noChangeArrowheads="1"/>
            </p:cNvSpPr>
            <p:nvPr/>
          </p:nvSpPr>
          <p:spPr bwMode="auto">
            <a:xfrm>
              <a:off x="2022" y="3189"/>
              <a:ext cx="35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</a:rPr>
                <a:t>Score</a:t>
              </a:r>
              <a:endParaRPr lang="en-US"/>
            </a:p>
          </p:txBody>
        </p:sp>
        <p:sp>
          <p:nvSpPr>
            <p:cNvPr id="50230" name="Rectangle 54"/>
            <p:cNvSpPr>
              <a:spLocks noChangeArrowheads="1"/>
            </p:cNvSpPr>
            <p:nvPr/>
          </p:nvSpPr>
          <p:spPr bwMode="auto">
            <a:xfrm>
              <a:off x="2014" y="3287"/>
              <a:ext cx="369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</a:rPr>
                <a:t>Board</a:t>
              </a:r>
              <a:endParaRPr lang="en-US"/>
            </a:p>
          </p:txBody>
        </p:sp>
        <p:sp>
          <p:nvSpPr>
            <p:cNvPr id="50231" name="Rectangle 55"/>
            <p:cNvSpPr>
              <a:spLocks noChangeArrowheads="1"/>
            </p:cNvSpPr>
            <p:nvPr/>
          </p:nvSpPr>
          <p:spPr bwMode="auto">
            <a:xfrm>
              <a:off x="2714" y="2981"/>
              <a:ext cx="590" cy="222"/>
            </a:xfrm>
            <a:prstGeom prst="rect">
              <a:avLst/>
            </a:prstGeom>
            <a:solidFill>
              <a:srgbClr val="99FF9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32" name="Rectangle 56"/>
            <p:cNvSpPr>
              <a:spLocks noChangeArrowheads="1"/>
            </p:cNvSpPr>
            <p:nvPr/>
          </p:nvSpPr>
          <p:spPr bwMode="auto">
            <a:xfrm>
              <a:off x="2714" y="2981"/>
              <a:ext cx="590" cy="222"/>
            </a:xfrm>
            <a:prstGeom prst="rect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33" name="Rectangle 57"/>
            <p:cNvSpPr>
              <a:spLocks noChangeArrowheads="1"/>
            </p:cNvSpPr>
            <p:nvPr/>
          </p:nvSpPr>
          <p:spPr bwMode="auto">
            <a:xfrm>
              <a:off x="2846" y="3007"/>
              <a:ext cx="32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</a:rPr>
                <a:t>Issue</a:t>
              </a:r>
              <a:endParaRPr lang="en-US"/>
            </a:p>
          </p:txBody>
        </p:sp>
        <p:sp>
          <p:nvSpPr>
            <p:cNvPr id="50234" name="Rectangle 58"/>
            <p:cNvSpPr>
              <a:spLocks noChangeArrowheads="1"/>
            </p:cNvSpPr>
            <p:nvPr/>
          </p:nvSpPr>
          <p:spPr bwMode="auto">
            <a:xfrm>
              <a:off x="3599" y="2908"/>
              <a:ext cx="634" cy="384"/>
            </a:xfrm>
            <a:prstGeom prst="rect">
              <a:avLst/>
            </a:prstGeom>
            <a:solidFill>
              <a:srgbClr val="FFFF6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35" name="Rectangle 59"/>
            <p:cNvSpPr>
              <a:spLocks noChangeArrowheads="1"/>
            </p:cNvSpPr>
            <p:nvPr/>
          </p:nvSpPr>
          <p:spPr bwMode="auto">
            <a:xfrm>
              <a:off x="3599" y="2908"/>
              <a:ext cx="634" cy="384"/>
            </a:xfrm>
            <a:prstGeom prst="rect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36" name="Rectangle 60"/>
            <p:cNvSpPr>
              <a:spLocks noChangeArrowheads="1"/>
            </p:cNvSpPr>
            <p:nvPr/>
          </p:nvSpPr>
          <p:spPr bwMode="auto">
            <a:xfrm>
              <a:off x="3662" y="2939"/>
              <a:ext cx="52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</a:rPr>
                <a:t>Operand</a:t>
              </a:r>
              <a:endParaRPr lang="en-US"/>
            </a:p>
          </p:txBody>
        </p:sp>
        <p:sp>
          <p:nvSpPr>
            <p:cNvPr id="50237" name="Rectangle 61"/>
            <p:cNvSpPr>
              <a:spLocks noChangeArrowheads="1"/>
            </p:cNvSpPr>
            <p:nvPr/>
          </p:nvSpPr>
          <p:spPr bwMode="auto">
            <a:xfrm>
              <a:off x="3647" y="3090"/>
              <a:ext cx="55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</a:rPr>
                <a:t>Collector</a:t>
              </a:r>
              <a:endParaRPr lang="en-US"/>
            </a:p>
          </p:txBody>
        </p:sp>
        <p:sp>
          <p:nvSpPr>
            <p:cNvPr id="50238" name="Rectangle 62"/>
            <p:cNvSpPr>
              <a:spLocks noChangeArrowheads="1"/>
            </p:cNvSpPr>
            <p:nvPr/>
          </p:nvSpPr>
          <p:spPr bwMode="auto">
            <a:xfrm>
              <a:off x="4484" y="3114"/>
              <a:ext cx="590" cy="384"/>
            </a:xfrm>
            <a:prstGeom prst="rect">
              <a:avLst/>
            </a:prstGeom>
            <a:solidFill>
              <a:srgbClr val="FFFF6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39" name="Rectangle 63"/>
            <p:cNvSpPr>
              <a:spLocks noChangeArrowheads="1"/>
            </p:cNvSpPr>
            <p:nvPr/>
          </p:nvSpPr>
          <p:spPr bwMode="auto">
            <a:xfrm>
              <a:off x="4484" y="3114"/>
              <a:ext cx="590" cy="384"/>
            </a:xfrm>
            <a:prstGeom prst="rect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40" name="Rectangle 64"/>
            <p:cNvSpPr>
              <a:spLocks noChangeArrowheads="1"/>
            </p:cNvSpPr>
            <p:nvPr/>
          </p:nvSpPr>
          <p:spPr bwMode="auto">
            <a:xfrm>
              <a:off x="4630" y="3219"/>
              <a:ext cx="299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</a:rPr>
                <a:t>MEM</a:t>
              </a:r>
              <a:endParaRPr lang="en-US"/>
            </a:p>
          </p:txBody>
        </p:sp>
        <p:sp>
          <p:nvSpPr>
            <p:cNvPr id="50241" name="Rectangle 65"/>
            <p:cNvSpPr>
              <a:spLocks noChangeArrowheads="1"/>
            </p:cNvSpPr>
            <p:nvPr/>
          </p:nvSpPr>
          <p:spPr bwMode="auto">
            <a:xfrm>
              <a:off x="4484" y="2760"/>
              <a:ext cx="590" cy="221"/>
            </a:xfrm>
            <a:prstGeom prst="rect">
              <a:avLst/>
            </a:prstGeom>
            <a:solidFill>
              <a:srgbClr val="FFFF6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42" name="Rectangle 66"/>
            <p:cNvSpPr>
              <a:spLocks noChangeArrowheads="1"/>
            </p:cNvSpPr>
            <p:nvPr/>
          </p:nvSpPr>
          <p:spPr bwMode="auto">
            <a:xfrm>
              <a:off x="4484" y="2760"/>
              <a:ext cx="590" cy="221"/>
            </a:xfrm>
            <a:prstGeom prst="rect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43" name="Rectangle 67"/>
            <p:cNvSpPr>
              <a:spLocks noChangeArrowheads="1"/>
            </p:cNvSpPr>
            <p:nvPr/>
          </p:nvSpPr>
          <p:spPr bwMode="auto">
            <a:xfrm>
              <a:off x="4652" y="2788"/>
              <a:ext cx="26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</a:rPr>
                <a:t>ALU</a:t>
              </a:r>
              <a:endParaRPr lang="en-US"/>
            </a:p>
          </p:txBody>
        </p:sp>
        <p:sp>
          <p:nvSpPr>
            <p:cNvPr id="50244" name="Rectangle 68"/>
            <p:cNvSpPr>
              <a:spLocks noChangeArrowheads="1"/>
            </p:cNvSpPr>
            <p:nvPr/>
          </p:nvSpPr>
          <p:spPr bwMode="auto">
            <a:xfrm>
              <a:off x="354" y="2538"/>
              <a:ext cx="590" cy="222"/>
            </a:xfrm>
            <a:prstGeom prst="rect">
              <a:avLst/>
            </a:prstGeom>
            <a:solidFill>
              <a:srgbClr val="99FF9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45" name="Rectangle 69"/>
            <p:cNvSpPr>
              <a:spLocks noChangeArrowheads="1"/>
            </p:cNvSpPr>
            <p:nvPr/>
          </p:nvSpPr>
          <p:spPr bwMode="auto">
            <a:xfrm>
              <a:off x="354" y="2538"/>
              <a:ext cx="590" cy="222"/>
            </a:xfrm>
            <a:prstGeom prst="rect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46" name="Rectangle 70"/>
            <p:cNvSpPr>
              <a:spLocks noChangeArrowheads="1"/>
            </p:cNvSpPr>
            <p:nvPr/>
          </p:nvSpPr>
          <p:spPr bwMode="auto">
            <a:xfrm>
              <a:off x="480" y="2569"/>
              <a:ext cx="34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</a:rPr>
                <a:t>Fetch</a:t>
              </a:r>
              <a:endParaRPr lang="en-US"/>
            </a:p>
          </p:txBody>
        </p:sp>
        <p:sp>
          <p:nvSpPr>
            <p:cNvPr id="50247" name="Rectangle 71"/>
            <p:cNvSpPr>
              <a:spLocks noChangeArrowheads="1"/>
            </p:cNvSpPr>
            <p:nvPr/>
          </p:nvSpPr>
          <p:spPr bwMode="auto">
            <a:xfrm>
              <a:off x="2603" y="2542"/>
              <a:ext cx="812" cy="218"/>
            </a:xfrm>
            <a:prstGeom prst="rect">
              <a:avLst/>
            </a:prstGeom>
            <a:solidFill>
              <a:srgbClr val="99FF9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48" name="Rectangle 72"/>
            <p:cNvSpPr>
              <a:spLocks noChangeArrowheads="1"/>
            </p:cNvSpPr>
            <p:nvPr/>
          </p:nvSpPr>
          <p:spPr bwMode="auto">
            <a:xfrm>
              <a:off x="2603" y="2542"/>
              <a:ext cx="812" cy="218"/>
            </a:xfrm>
            <a:prstGeom prst="rect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49" name="Rectangle 73"/>
            <p:cNvSpPr>
              <a:spLocks noChangeArrowheads="1"/>
            </p:cNvSpPr>
            <p:nvPr/>
          </p:nvSpPr>
          <p:spPr bwMode="auto">
            <a:xfrm>
              <a:off x="2672" y="2569"/>
              <a:ext cx="69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rgbClr val="000000"/>
                  </a:solidFill>
                </a:rPr>
                <a:t>SIMT-Stack</a:t>
              </a:r>
              <a:endParaRPr lang="en-US"/>
            </a:p>
          </p:txBody>
        </p:sp>
        <p:sp>
          <p:nvSpPr>
            <p:cNvPr id="50250" name="Freeform 74"/>
            <p:cNvSpPr>
              <a:spLocks/>
            </p:cNvSpPr>
            <p:nvPr/>
          </p:nvSpPr>
          <p:spPr bwMode="auto">
            <a:xfrm>
              <a:off x="1682" y="2612"/>
              <a:ext cx="3628" cy="924"/>
            </a:xfrm>
            <a:custGeom>
              <a:avLst/>
              <a:gdLst/>
              <a:ahLst/>
              <a:cxnLst>
                <a:cxn ang="0">
                  <a:pos x="1733" y="0"/>
                </a:cxn>
                <a:cxn ang="0">
                  <a:pos x="3628" y="0"/>
                </a:cxn>
                <a:cxn ang="0">
                  <a:pos x="3628" y="924"/>
                </a:cxn>
                <a:cxn ang="0">
                  <a:pos x="0" y="924"/>
                </a:cxn>
                <a:cxn ang="0">
                  <a:pos x="0" y="739"/>
                </a:cxn>
                <a:cxn ang="0">
                  <a:pos x="162" y="739"/>
                </a:cxn>
              </a:cxnLst>
              <a:rect l="0" t="0" r="r" b="b"/>
              <a:pathLst>
                <a:path w="3628" h="924">
                  <a:moveTo>
                    <a:pt x="1733" y="0"/>
                  </a:moveTo>
                  <a:lnTo>
                    <a:pt x="3628" y="0"/>
                  </a:lnTo>
                  <a:lnTo>
                    <a:pt x="3628" y="924"/>
                  </a:lnTo>
                  <a:lnTo>
                    <a:pt x="0" y="924"/>
                  </a:lnTo>
                  <a:lnTo>
                    <a:pt x="0" y="739"/>
                  </a:lnTo>
                  <a:lnTo>
                    <a:pt x="162" y="739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51" name="Freeform 75"/>
            <p:cNvSpPr>
              <a:spLocks/>
            </p:cNvSpPr>
            <p:nvPr/>
          </p:nvSpPr>
          <p:spPr bwMode="auto">
            <a:xfrm>
              <a:off x="1826" y="3312"/>
              <a:ext cx="77" cy="78"/>
            </a:xfrm>
            <a:custGeom>
              <a:avLst/>
              <a:gdLst/>
              <a:ahLst/>
              <a:cxnLst>
                <a:cxn ang="0">
                  <a:pos x="164" y="82"/>
                </a:cxn>
                <a:cxn ang="0">
                  <a:pos x="0" y="16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64" y="82"/>
                </a:cxn>
              </a:cxnLst>
              <a:rect l="0" t="0" r="r" b="b"/>
              <a:pathLst>
                <a:path w="164" h="164">
                  <a:moveTo>
                    <a:pt x="164" y="82"/>
                  </a:moveTo>
                  <a:lnTo>
                    <a:pt x="0" y="164"/>
                  </a:lnTo>
                  <a:cubicBezTo>
                    <a:pt x="25" y="112"/>
                    <a:pt x="25" y="51"/>
                    <a:pt x="0" y="0"/>
                  </a:cubicBezTo>
                  <a:lnTo>
                    <a:pt x="0" y="0"/>
                  </a:lnTo>
                  <a:lnTo>
                    <a:pt x="164" y="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52" name="Line 76"/>
            <p:cNvSpPr>
              <a:spLocks noChangeShapeType="1"/>
            </p:cNvSpPr>
            <p:nvPr/>
          </p:nvSpPr>
          <p:spPr bwMode="auto">
            <a:xfrm flipH="1">
              <a:off x="1003" y="2642"/>
              <a:ext cx="16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53" name="Freeform 77"/>
            <p:cNvSpPr>
              <a:spLocks/>
            </p:cNvSpPr>
            <p:nvPr/>
          </p:nvSpPr>
          <p:spPr bwMode="auto">
            <a:xfrm>
              <a:off x="944" y="2603"/>
              <a:ext cx="78" cy="77"/>
            </a:xfrm>
            <a:custGeom>
              <a:avLst/>
              <a:gdLst/>
              <a:ahLst/>
              <a:cxnLst>
                <a:cxn ang="0">
                  <a:pos x="0" y="82"/>
                </a:cxn>
                <a:cxn ang="0">
                  <a:pos x="164" y="0"/>
                </a:cxn>
                <a:cxn ang="0">
                  <a:pos x="164" y="164"/>
                </a:cxn>
                <a:cxn ang="0">
                  <a:pos x="164" y="164"/>
                </a:cxn>
                <a:cxn ang="0">
                  <a:pos x="0" y="82"/>
                </a:cxn>
              </a:cxnLst>
              <a:rect l="0" t="0" r="r" b="b"/>
              <a:pathLst>
                <a:path w="164" h="164">
                  <a:moveTo>
                    <a:pt x="0" y="82"/>
                  </a:moveTo>
                  <a:lnTo>
                    <a:pt x="164" y="0"/>
                  </a:lnTo>
                  <a:cubicBezTo>
                    <a:pt x="138" y="51"/>
                    <a:pt x="138" y="112"/>
                    <a:pt x="164" y="164"/>
                  </a:cubicBezTo>
                  <a:lnTo>
                    <a:pt x="164" y="164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54" name="Line 78"/>
            <p:cNvSpPr>
              <a:spLocks noChangeShapeType="1"/>
            </p:cNvSpPr>
            <p:nvPr/>
          </p:nvSpPr>
          <p:spPr bwMode="auto">
            <a:xfrm>
              <a:off x="586" y="2760"/>
              <a:ext cx="0" cy="148"/>
            </a:xfrm>
            <a:prstGeom prst="line">
              <a:avLst/>
            </a:prstGeom>
            <a:noFill/>
            <a:ln w="365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55" name="Freeform 79"/>
            <p:cNvSpPr>
              <a:spLocks/>
            </p:cNvSpPr>
            <p:nvPr/>
          </p:nvSpPr>
          <p:spPr bwMode="auto">
            <a:xfrm>
              <a:off x="538" y="2884"/>
              <a:ext cx="97" cy="97"/>
            </a:xfrm>
            <a:custGeom>
              <a:avLst/>
              <a:gdLst/>
              <a:ahLst/>
              <a:cxnLst>
                <a:cxn ang="0">
                  <a:pos x="103" y="207"/>
                </a:cxn>
                <a:cxn ang="0">
                  <a:pos x="0" y="0"/>
                </a:cxn>
                <a:cxn ang="0">
                  <a:pos x="206" y="0"/>
                </a:cxn>
                <a:cxn ang="0">
                  <a:pos x="206" y="0"/>
                </a:cxn>
                <a:cxn ang="0">
                  <a:pos x="103" y="207"/>
                </a:cxn>
              </a:cxnLst>
              <a:rect l="0" t="0" r="r" b="b"/>
              <a:pathLst>
                <a:path w="206" h="207">
                  <a:moveTo>
                    <a:pt x="103" y="207"/>
                  </a:moveTo>
                  <a:lnTo>
                    <a:pt x="0" y="0"/>
                  </a:lnTo>
                  <a:cubicBezTo>
                    <a:pt x="65" y="33"/>
                    <a:pt x="141" y="33"/>
                    <a:pt x="206" y="0"/>
                  </a:cubicBezTo>
                  <a:lnTo>
                    <a:pt x="206" y="0"/>
                  </a:lnTo>
                  <a:lnTo>
                    <a:pt x="103" y="20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56" name="Freeform 80"/>
            <p:cNvSpPr>
              <a:spLocks/>
            </p:cNvSpPr>
            <p:nvPr/>
          </p:nvSpPr>
          <p:spPr bwMode="auto">
            <a:xfrm>
              <a:off x="856" y="2818"/>
              <a:ext cx="1047" cy="60"/>
            </a:xfrm>
            <a:custGeom>
              <a:avLst/>
              <a:gdLst/>
              <a:ahLst/>
              <a:cxnLst>
                <a:cxn ang="0">
                  <a:pos x="1047" y="60"/>
                </a:cxn>
                <a:cxn ang="0">
                  <a:pos x="0" y="60"/>
                </a:cxn>
                <a:cxn ang="0">
                  <a:pos x="0" y="0"/>
                </a:cxn>
              </a:cxnLst>
              <a:rect l="0" t="0" r="r" b="b"/>
              <a:pathLst>
                <a:path w="1047" h="60">
                  <a:moveTo>
                    <a:pt x="1047" y="60"/>
                  </a:moveTo>
                  <a:lnTo>
                    <a:pt x="0" y="60"/>
                  </a:lnTo>
                  <a:lnTo>
                    <a:pt x="0" y="0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57" name="Freeform 81"/>
            <p:cNvSpPr>
              <a:spLocks/>
            </p:cNvSpPr>
            <p:nvPr/>
          </p:nvSpPr>
          <p:spPr bwMode="auto">
            <a:xfrm>
              <a:off x="817" y="2760"/>
              <a:ext cx="77" cy="77"/>
            </a:xfrm>
            <a:custGeom>
              <a:avLst/>
              <a:gdLst/>
              <a:ahLst/>
              <a:cxnLst>
                <a:cxn ang="0">
                  <a:pos x="82" y="0"/>
                </a:cxn>
                <a:cxn ang="0">
                  <a:pos x="164" y="164"/>
                </a:cxn>
                <a:cxn ang="0">
                  <a:pos x="0" y="164"/>
                </a:cxn>
                <a:cxn ang="0">
                  <a:pos x="0" y="164"/>
                </a:cxn>
                <a:cxn ang="0">
                  <a:pos x="82" y="0"/>
                </a:cxn>
              </a:cxnLst>
              <a:rect l="0" t="0" r="r" b="b"/>
              <a:pathLst>
                <a:path w="164" h="164">
                  <a:moveTo>
                    <a:pt x="82" y="0"/>
                  </a:moveTo>
                  <a:lnTo>
                    <a:pt x="164" y="164"/>
                  </a:lnTo>
                  <a:cubicBezTo>
                    <a:pt x="112" y="138"/>
                    <a:pt x="52" y="138"/>
                    <a:pt x="0" y="164"/>
                  </a:cubicBezTo>
                  <a:lnTo>
                    <a:pt x="0" y="164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58" name="Line 82"/>
            <p:cNvSpPr>
              <a:spLocks noChangeShapeType="1"/>
            </p:cNvSpPr>
            <p:nvPr/>
          </p:nvSpPr>
          <p:spPr bwMode="auto">
            <a:xfrm flipV="1">
              <a:off x="2980" y="2760"/>
              <a:ext cx="0" cy="148"/>
            </a:xfrm>
            <a:prstGeom prst="line">
              <a:avLst/>
            </a:prstGeom>
            <a:noFill/>
            <a:ln w="365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59" name="Freeform 83"/>
            <p:cNvSpPr>
              <a:spLocks/>
            </p:cNvSpPr>
            <p:nvPr/>
          </p:nvSpPr>
          <p:spPr bwMode="auto">
            <a:xfrm>
              <a:off x="2931" y="2884"/>
              <a:ext cx="98" cy="97"/>
            </a:xfrm>
            <a:custGeom>
              <a:avLst/>
              <a:gdLst/>
              <a:ahLst/>
              <a:cxnLst>
                <a:cxn ang="0">
                  <a:pos x="104" y="207"/>
                </a:cxn>
                <a:cxn ang="0">
                  <a:pos x="0" y="0"/>
                </a:cxn>
                <a:cxn ang="0">
                  <a:pos x="207" y="0"/>
                </a:cxn>
                <a:cxn ang="0">
                  <a:pos x="207" y="0"/>
                </a:cxn>
                <a:cxn ang="0">
                  <a:pos x="104" y="207"/>
                </a:cxn>
              </a:cxnLst>
              <a:rect l="0" t="0" r="r" b="b"/>
              <a:pathLst>
                <a:path w="207" h="207">
                  <a:moveTo>
                    <a:pt x="104" y="207"/>
                  </a:moveTo>
                  <a:lnTo>
                    <a:pt x="0" y="0"/>
                  </a:lnTo>
                  <a:cubicBezTo>
                    <a:pt x="65" y="33"/>
                    <a:pt x="142" y="33"/>
                    <a:pt x="207" y="0"/>
                  </a:cubicBezTo>
                  <a:lnTo>
                    <a:pt x="207" y="0"/>
                  </a:lnTo>
                  <a:lnTo>
                    <a:pt x="104" y="20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60" name="Rectangle 84"/>
            <p:cNvSpPr>
              <a:spLocks noChangeArrowheads="1"/>
            </p:cNvSpPr>
            <p:nvPr/>
          </p:nvSpPr>
          <p:spPr bwMode="auto">
            <a:xfrm>
              <a:off x="2747" y="3386"/>
              <a:ext cx="550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</a:rPr>
                <a:t>Done (WID)</a:t>
              </a:r>
              <a:endParaRPr lang="en-US"/>
            </a:p>
          </p:txBody>
        </p:sp>
        <p:sp>
          <p:nvSpPr>
            <p:cNvPr id="50261" name="Rectangle 85"/>
            <p:cNvSpPr>
              <a:spLocks noChangeArrowheads="1"/>
            </p:cNvSpPr>
            <p:nvPr/>
          </p:nvSpPr>
          <p:spPr bwMode="auto">
            <a:xfrm>
              <a:off x="1213" y="2751"/>
              <a:ext cx="451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</a:rPr>
                <a:t>Valid[1:N]</a:t>
              </a:r>
              <a:endParaRPr lang="en-US"/>
            </a:p>
          </p:txBody>
        </p:sp>
        <p:sp>
          <p:nvSpPr>
            <p:cNvPr id="50262" name="Rectangle 86"/>
            <p:cNvSpPr>
              <a:spLocks noChangeArrowheads="1"/>
            </p:cNvSpPr>
            <p:nvPr/>
          </p:nvSpPr>
          <p:spPr bwMode="auto">
            <a:xfrm>
              <a:off x="1115" y="2471"/>
              <a:ext cx="834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</a:rPr>
                <a:t>Branch Target PC</a:t>
              </a:r>
              <a:endParaRPr lang="en-US"/>
            </a:p>
          </p:txBody>
        </p:sp>
        <p:sp>
          <p:nvSpPr>
            <p:cNvPr id="50263" name="Line 87"/>
            <p:cNvSpPr>
              <a:spLocks noChangeShapeType="1"/>
            </p:cNvSpPr>
            <p:nvPr/>
          </p:nvSpPr>
          <p:spPr bwMode="auto">
            <a:xfrm>
              <a:off x="3472" y="2806"/>
              <a:ext cx="127" cy="102"/>
            </a:xfrm>
            <a:prstGeom prst="line">
              <a:avLst/>
            </a:prstGeom>
            <a:noFill/>
            <a:ln w="365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64" name="Freeform 88"/>
            <p:cNvSpPr>
              <a:spLocks/>
            </p:cNvSpPr>
            <p:nvPr/>
          </p:nvSpPr>
          <p:spPr bwMode="auto">
            <a:xfrm>
              <a:off x="3415" y="2760"/>
              <a:ext cx="106" cy="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5" y="48"/>
                </a:cxn>
                <a:cxn ang="0">
                  <a:pos x="96" y="209"/>
                </a:cxn>
                <a:cxn ang="0">
                  <a:pos x="96" y="209"/>
                </a:cxn>
                <a:cxn ang="0">
                  <a:pos x="0" y="0"/>
                </a:cxn>
              </a:cxnLst>
              <a:rect l="0" t="0" r="r" b="b"/>
              <a:pathLst>
                <a:path w="225" h="209">
                  <a:moveTo>
                    <a:pt x="0" y="0"/>
                  </a:moveTo>
                  <a:lnTo>
                    <a:pt x="225" y="48"/>
                  </a:lnTo>
                  <a:cubicBezTo>
                    <a:pt x="159" y="79"/>
                    <a:pt x="111" y="138"/>
                    <a:pt x="96" y="209"/>
                  </a:cubicBezTo>
                  <a:lnTo>
                    <a:pt x="96" y="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65" name="Rectangle 89"/>
            <p:cNvSpPr>
              <a:spLocks noChangeArrowheads="1"/>
            </p:cNvSpPr>
            <p:nvPr/>
          </p:nvSpPr>
          <p:spPr bwMode="auto">
            <a:xfrm>
              <a:off x="3549" y="2773"/>
              <a:ext cx="249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</a:rPr>
                <a:t>Pred.</a:t>
              </a:r>
              <a:endParaRPr lang="en-US"/>
            </a:p>
          </p:txBody>
        </p:sp>
        <p:sp>
          <p:nvSpPr>
            <p:cNvPr id="50266" name="Line 90"/>
            <p:cNvSpPr>
              <a:spLocks noChangeShapeType="1"/>
            </p:cNvSpPr>
            <p:nvPr/>
          </p:nvSpPr>
          <p:spPr bwMode="auto">
            <a:xfrm>
              <a:off x="5074" y="2878"/>
              <a:ext cx="17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67" name="Freeform 91"/>
            <p:cNvSpPr>
              <a:spLocks/>
            </p:cNvSpPr>
            <p:nvPr/>
          </p:nvSpPr>
          <p:spPr bwMode="auto">
            <a:xfrm>
              <a:off x="5233" y="2839"/>
              <a:ext cx="77" cy="78"/>
            </a:xfrm>
            <a:custGeom>
              <a:avLst/>
              <a:gdLst/>
              <a:ahLst/>
              <a:cxnLst>
                <a:cxn ang="0">
                  <a:pos x="164" y="82"/>
                </a:cxn>
                <a:cxn ang="0">
                  <a:pos x="0" y="16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64" y="82"/>
                </a:cxn>
              </a:cxnLst>
              <a:rect l="0" t="0" r="r" b="b"/>
              <a:pathLst>
                <a:path w="164" h="164">
                  <a:moveTo>
                    <a:pt x="164" y="82"/>
                  </a:moveTo>
                  <a:lnTo>
                    <a:pt x="0" y="164"/>
                  </a:lnTo>
                  <a:cubicBezTo>
                    <a:pt x="26" y="112"/>
                    <a:pt x="26" y="52"/>
                    <a:pt x="0" y="0"/>
                  </a:cubicBezTo>
                  <a:lnTo>
                    <a:pt x="0" y="0"/>
                  </a:lnTo>
                  <a:lnTo>
                    <a:pt x="164" y="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68" name="Line 92"/>
            <p:cNvSpPr>
              <a:spLocks noChangeShapeType="1"/>
            </p:cNvSpPr>
            <p:nvPr/>
          </p:nvSpPr>
          <p:spPr bwMode="auto">
            <a:xfrm>
              <a:off x="5074" y="3319"/>
              <a:ext cx="177" cy="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69" name="Freeform 93"/>
            <p:cNvSpPr>
              <a:spLocks/>
            </p:cNvSpPr>
            <p:nvPr/>
          </p:nvSpPr>
          <p:spPr bwMode="auto">
            <a:xfrm>
              <a:off x="5233" y="3282"/>
              <a:ext cx="77" cy="77"/>
            </a:xfrm>
            <a:custGeom>
              <a:avLst/>
              <a:gdLst/>
              <a:ahLst/>
              <a:cxnLst>
                <a:cxn ang="0">
                  <a:pos x="164" y="83"/>
                </a:cxn>
                <a:cxn ang="0">
                  <a:pos x="0" y="164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64" y="83"/>
                </a:cxn>
              </a:cxnLst>
              <a:rect l="0" t="0" r="r" b="b"/>
              <a:pathLst>
                <a:path w="164" h="164">
                  <a:moveTo>
                    <a:pt x="164" y="83"/>
                  </a:moveTo>
                  <a:lnTo>
                    <a:pt x="0" y="164"/>
                  </a:lnTo>
                  <a:cubicBezTo>
                    <a:pt x="26" y="112"/>
                    <a:pt x="26" y="52"/>
                    <a:pt x="1" y="0"/>
                  </a:cubicBezTo>
                  <a:lnTo>
                    <a:pt x="1" y="0"/>
                  </a:lnTo>
                  <a:lnTo>
                    <a:pt x="164" y="8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270" name="Rectangle 94"/>
            <p:cNvSpPr>
              <a:spLocks noChangeArrowheads="1"/>
            </p:cNvSpPr>
            <p:nvPr/>
          </p:nvSpPr>
          <p:spPr bwMode="auto">
            <a:xfrm>
              <a:off x="3020" y="2758"/>
              <a:ext cx="283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</a:rPr>
                <a:t>Active</a:t>
              </a:r>
              <a:endParaRPr lang="en-US"/>
            </a:p>
          </p:txBody>
        </p:sp>
        <p:sp>
          <p:nvSpPr>
            <p:cNvPr id="50271" name="Rectangle 95"/>
            <p:cNvSpPr>
              <a:spLocks noChangeArrowheads="1"/>
            </p:cNvSpPr>
            <p:nvPr/>
          </p:nvSpPr>
          <p:spPr bwMode="auto">
            <a:xfrm>
              <a:off x="3035" y="2841"/>
              <a:ext cx="249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</a:rPr>
                <a:t>Mask</a:t>
              </a:r>
              <a:endParaRPr lang="en-US"/>
            </a:p>
          </p:txBody>
        </p:sp>
      </p:grpSp>
      <p:sp>
        <p:nvSpPr>
          <p:cNvPr id="50273" name="Rectangle 97"/>
          <p:cNvSpPr>
            <a:spLocks noChangeArrowheads="1"/>
          </p:cNvSpPr>
          <p:nvPr/>
        </p:nvSpPr>
        <p:spPr bwMode="auto">
          <a:xfrm>
            <a:off x="304800" y="2111152"/>
            <a:ext cx="1447800" cy="381000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Scheduler 1</a:t>
            </a:r>
          </a:p>
        </p:txBody>
      </p:sp>
      <p:sp>
        <p:nvSpPr>
          <p:cNvPr id="50274" name="Rectangle 98"/>
          <p:cNvSpPr>
            <a:spLocks noChangeArrowheads="1"/>
          </p:cNvSpPr>
          <p:nvPr/>
        </p:nvSpPr>
        <p:spPr bwMode="auto">
          <a:xfrm>
            <a:off x="4114800" y="2873152"/>
            <a:ext cx="1447800" cy="381000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Scheduler 2</a:t>
            </a:r>
          </a:p>
        </p:txBody>
      </p:sp>
      <p:sp>
        <p:nvSpPr>
          <p:cNvPr id="50275" name="Rectangle 99"/>
          <p:cNvSpPr>
            <a:spLocks noChangeArrowheads="1"/>
          </p:cNvSpPr>
          <p:nvPr/>
        </p:nvSpPr>
        <p:spPr bwMode="auto">
          <a:xfrm>
            <a:off x="6019800" y="2111152"/>
            <a:ext cx="1447800" cy="381000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Scheduler 3</a:t>
            </a:r>
          </a:p>
        </p:txBody>
      </p:sp>
    </p:spTree>
    <p:extLst>
      <p:ext uri="{BB962C8B-B14F-4D97-AF65-F5344CB8AC3E}">
        <p14:creationId xmlns:p14="http://schemas.microsoft.com/office/powerpoint/2010/main" val="1207446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73" grpId="0" animBg="1"/>
      <p:bldP spid="50274" grpId="0" animBg="1"/>
      <p:bldP spid="5027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76672"/>
            <a:ext cx="8229600" cy="652934"/>
          </a:xfrm>
        </p:spPr>
        <p:txBody>
          <a:bodyPr>
            <a:normAutofit/>
          </a:bodyPr>
          <a:lstStyle/>
          <a:p>
            <a:r>
              <a:rPr lang="en-US" dirty="0"/>
              <a:t>Memory Partition</a:t>
            </a:r>
          </a:p>
        </p:txBody>
      </p:sp>
      <p:sp>
        <p:nvSpPr>
          <p:cNvPr id="118790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518864" y="1405136"/>
            <a:ext cx="8229600" cy="1447800"/>
          </a:xfrm>
        </p:spPr>
        <p:txBody>
          <a:bodyPr/>
          <a:lstStyle/>
          <a:p>
            <a:r>
              <a:rPr lang="en-US" sz="2800" dirty="0"/>
              <a:t>Service memory request (Load/Store/</a:t>
            </a:r>
            <a:r>
              <a:rPr lang="en-US" sz="2800" dirty="0" err="1"/>
              <a:t>AtomicOp</a:t>
            </a:r>
            <a:r>
              <a:rPr lang="en-US" sz="2800" dirty="0"/>
              <a:t>)</a:t>
            </a:r>
          </a:p>
          <a:p>
            <a:pPr lvl="1"/>
            <a:r>
              <a:rPr lang="en-US" sz="2400" dirty="0"/>
              <a:t>Contains L2 cache bank, DRAM timing </a:t>
            </a:r>
            <a:r>
              <a:rPr lang="en-US" sz="2400" dirty="0" smtClean="0"/>
              <a:t>model</a:t>
            </a:r>
          </a:p>
        </p:txBody>
      </p:sp>
      <p:pic>
        <p:nvPicPr>
          <p:cNvPr id="118789" name="Picture 5" descr="Mempart-arch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990600" y="2892772"/>
            <a:ext cx="7216775" cy="2984500"/>
          </a:xfrm>
          <a:noFill/>
          <a:ln/>
        </p:spPr>
      </p:pic>
      <p:sp>
        <p:nvSpPr>
          <p:cNvPr id="2" name="文字方塊 1"/>
          <p:cNvSpPr txBox="1"/>
          <p:nvPr/>
        </p:nvSpPr>
        <p:spPr>
          <a:xfrm>
            <a:off x="3131840" y="5877272"/>
            <a:ext cx="55969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Figure </a:t>
            </a:r>
            <a:r>
              <a:rPr lang="en-US" altLang="zh-TW" sz="1400" dirty="0" err="1"/>
              <a:t>from:http</a:t>
            </a:r>
            <a:r>
              <a:rPr lang="en-US" altLang="zh-TW" sz="1400" dirty="0"/>
              <a:t>://gpgpu-sim.org/manual/index.php5/</a:t>
            </a:r>
            <a:r>
              <a:rPr lang="en-US" altLang="zh-TW" sz="1400" dirty="0" err="1"/>
              <a:t>File:Mempart-arch.png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52445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Accuracy</a:t>
            </a:r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3820709"/>
              </p:ext>
            </p:extLst>
          </p:nvPr>
        </p:nvGraphicFramePr>
        <p:xfrm>
          <a:off x="533400" y="1219200"/>
          <a:ext cx="8001000" cy="5018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9" name="Straight Connector 8"/>
          <p:cNvCxnSpPr/>
          <p:nvPr/>
        </p:nvCxnSpPr>
        <p:spPr>
          <a:xfrm flipV="1">
            <a:off x="2667000" y="2133600"/>
            <a:ext cx="4114800" cy="3581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943600" y="1676400"/>
            <a:ext cx="10668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15" name="Group 14"/>
          <p:cNvGrpSpPr/>
          <p:nvPr/>
        </p:nvGrpSpPr>
        <p:grpSpPr>
          <a:xfrm>
            <a:off x="2696165" y="2971800"/>
            <a:ext cx="1875835" cy="685800"/>
            <a:chOff x="2667000" y="2971800"/>
            <a:chExt cx="1875835" cy="685800"/>
          </a:xfrm>
        </p:grpSpPr>
        <p:sp>
          <p:nvSpPr>
            <p:cNvPr id="13" name="TextBox 12"/>
            <p:cNvSpPr txBox="1"/>
            <p:nvPr/>
          </p:nvSpPr>
          <p:spPr>
            <a:xfrm>
              <a:off x="2667000" y="2971800"/>
              <a:ext cx="18758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i="1" dirty="0" smtClean="0"/>
                <a:t>Similarity Score</a:t>
              </a:r>
            </a:p>
            <a:p>
              <a:r>
                <a:rPr lang="en-CA" sz="1400" dirty="0" err="1" smtClean="0"/>
                <a:t>copyChunks_kernel</a:t>
              </a:r>
              <a:r>
                <a:rPr lang="en-CA" sz="1400" dirty="0" smtClean="0"/>
                <a:t>()</a:t>
              </a:r>
              <a:endParaRPr lang="en-CA" sz="1400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3962400" y="3505200"/>
              <a:ext cx="152400" cy="1524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988396" y="3200400"/>
            <a:ext cx="2546004" cy="523220"/>
            <a:chOff x="2514600" y="2971800"/>
            <a:chExt cx="2546004" cy="523220"/>
          </a:xfrm>
        </p:grpSpPr>
        <p:sp>
          <p:nvSpPr>
            <p:cNvPr id="17" name="TextBox 16"/>
            <p:cNvSpPr txBox="1"/>
            <p:nvPr/>
          </p:nvSpPr>
          <p:spPr>
            <a:xfrm>
              <a:off x="2667000" y="2971800"/>
              <a:ext cx="239360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i="1" dirty="0" smtClean="0"/>
                <a:t>Back Propagation</a:t>
              </a:r>
            </a:p>
            <a:p>
              <a:r>
                <a:rPr lang="en-CA" sz="1400" dirty="0" err="1" smtClean="0"/>
                <a:t>bpnn_layerforward_CUDA</a:t>
              </a:r>
              <a:r>
                <a:rPr lang="en-CA" sz="1400" dirty="0" smtClean="0"/>
                <a:t>()</a:t>
              </a:r>
              <a:endParaRPr lang="en-CA" sz="1400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2514600" y="3124200"/>
              <a:ext cx="152400" cy="1524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895600" y="3657600"/>
            <a:ext cx="1600200" cy="523220"/>
            <a:chOff x="3200400" y="2971800"/>
            <a:chExt cx="1600200" cy="523220"/>
          </a:xfrm>
        </p:grpSpPr>
        <p:sp>
          <p:nvSpPr>
            <p:cNvPr id="20" name="TextBox 19"/>
            <p:cNvSpPr txBox="1"/>
            <p:nvPr/>
          </p:nvSpPr>
          <p:spPr>
            <a:xfrm>
              <a:off x="3200400" y="2971800"/>
              <a:ext cx="15071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400" i="1" dirty="0" err="1" smtClean="0"/>
                <a:t>HotSpot</a:t>
              </a:r>
              <a:endParaRPr lang="en-CA" sz="1400" i="1" dirty="0" smtClean="0"/>
            </a:p>
            <a:p>
              <a:r>
                <a:rPr lang="en-CA" sz="1400" dirty="0" err="1" smtClean="0"/>
                <a:t>calculate_temp</a:t>
              </a:r>
              <a:r>
                <a:rPr lang="en-CA" sz="1400" dirty="0" smtClean="0"/>
                <a:t>()</a:t>
              </a:r>
              <a:endParaRPr lang="en-CA" sz="1400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4648200" y="3048000"/>
              <a:ext cx="152400" cy="1524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2981532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Accuracy</a:t>
            </a:r>
            <a:endParaRPr lang="en-CA" dirty="0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7566877"/>
              </p:ext>
            </p:extLst>
          </p:nvPr>
        </p:nvGraphicFramePr>
        <p:xfrm>
          <a:off x="533400" y="1219200"/>
          <a:ext cx="8001000" cy="5018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7" name="Straight Connector 6"/>
          <p:cNvCxnSpPr/>
          <p:nvPr/>
        </p:nvCxnSpPr>
        <p:spPr>
          <a:xfrm flipV="1">
            <a:off x="2667000" y="2133600"/>
            <a:ext cx="4114800" cy="3581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050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Gem5-gpu</a:t>
            </a:r>
            <a:endParaRPr lang="zh-TW" altLang="en-US" dirty="0"/>
          </a:p>
        </p:txBody>
      </p:sp>
      <p:sp>
        <p:nvSpPr>
          <p:cNvPr id="4" name="內容版面配置區 2"/>
          <p:cNvSpPr txBox="1">
            <a:spLocks/>
          </p:cNvSpPr>
          <p:nvPr/>
        </p:nvSpPr>
        <p:spPr>
          <a:xfrm>
            <a:off x="622300" y="1283517"/>
            <a:ext cx="8198172" cy="5169819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 smtClean="0"/>
              <a:t>Gem5 simulator</a:t>
            </a:r>
          </a:p>
          <a:p>
            <a:pPr lvl="1"/>
            <a:r>
              <a:rPr lang="en-US" altLang="zh-TW" sz="1800" dirty="0" smtClean="0">
                <a:solidFill>
                  <a:schemeClr val="tx1"/>
                </a:solidFill>
              </a:rPr>
              <a:t>Full-system simulation</a:t>
            </a:r>
          </a:p>
          <a:p>
            <a:pPr lvl="1"/>
            <a:r>
              <a:rPr lang="en-US" altLang="zh-TW" sz="1800" dirty="0" smtClean="0">
                <a:solidFill>
                  <a:schemeClr val="tx1"/>
                </a:solidFill>
              </a:rPr>
              <a:t>Multiple ISA support(arm, x86…</a:t>
            </a:r>
            <a:r>
              <a:rPr lang="en-US" altLang="zh-TW" sz="1800" dirty="0" err="1" smtClean="0">
                <a:solidFill>
                  <a:schemeClr val="tx1"/>
                </a:solidFill>
              </a:rPr>
              <a:t>etc</a:t>
            </a:r>
            <a:r>
              <a:rPr lang="en-US" altLang="zh-TW" sz="1800" dirty="0" smtClean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altLang="zh-TW" sz="1800" dirty="0" smtClean="0">
                <a:solidFill>
                  <a:schemeClr val="tx1"/>
                </a:solidFill>
              </a:rPr>
              <a:t>detailed, event-driven memory system</a:t>
            </a:r>
            <a:endParaRPr lang="en-US" altLang="zh-TW" sz="2000" dirty="0" smtClean="0">
              <a:solidFill>
                <a:schemeClr val="tx1"/>
              </a:solidFill>
            </a:endParaRPr>
          </a:p>
          <a:p>
            <a:r>
              <a:rPr lang="en-US" altLang="zh-TW" sz="2000" dirty="0" smtClean="0"/>
              <a:t>Gem5-gpu merges 2 popular simulators: </a:t>
            </a:r>
          </a:p>
          <a:p>
            <a:pPr lvl="1"/>
            <a:r>
              <a:rPr lang="en-US" altLang="zh-TW" sz="1800" dirty="0" smtClean="0">
                <a:solidFill>
                  <a:schemeClr val="tx1"/>
                </a:solidFill>
              </a:rPr>
              <a:t>gem5 and </a:t>
            </a:r>
            <a:r>
              <a:rPr lang="en-US" altLang="zh-TW" sz="1800" dirty="0" err="1" smtClean="0">
                <a:solidFill>
                  <a:schemeClr val="tx1"/>
                </a:solidFill>
              </a:rPr>
              <a:t>gpgpu-sim</a:t>
            </a:r>
            <a:r>
              <a:rPr lang="en-US" altLang="zh-TW" sz="1800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altLang="zh-TW" sz="2000" dirty="0" smtClean="0"/>
              <a:t>Support detail timing simulation of CPU, GPU and memory hierarchy.</a:t>
            </a:r>
            <a:endParaRPr lang="en-US" altLang="zh-TW" sz="1800" dirty="0" smtClean="0">
              <a:solidFill>
                <a:schemeClr val="tx1"/>
              </a:solidFill>
            </a:endParaRPr>
          </a:p>
          <a:p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66588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Gem5-gpu: Gem5 </a:t>
            </a:r>
            <a:r>
              <a:rPr lang="en-US" altLang="zh-TW" dirty="0"/>
              <a:t>+ </a:t>
            </a:r>
            <a:r>
              <a:rPr lang="en-US" altLang="zh-TW" dirty="0" smtClean="0"/>
              <a:t>GPGPU-</a:t>
            </a:r>
            <a:r>
              <a:rPr lang="en-US" altLang="zh-TW" dirty="0" err="1" smtClean="0"/>
              <a:t>Sim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622300" y="1283517"/>
            <a:ext cx="5029820" cy="5169819"/>
          </a:xfrm>
        </p:spPr>
        <p:txBody>
          <a:bodyPr>
            <a:normAutofit/>
          </a:bodyPr>
          <a:lstStyle/>
          <a:p>
            <a:r>
              <a:rPr lang="en-US" altLang="zh-TW" sz="2000" dirty="0" err="1" smtClean="0"/>
              <a:t>CudaCore</a:t>
            </a:r>
            <a:endParaRPr lang="en-US" altLang="zh-TW" sz="2000" dirty="0"/>
          </a:p>
          <a:p>
            <a:pPr lvl="1"/>
            <a:r>
              <a:rPr lang="en-US" altLang="zh-TW" sz="1800" dirty="0">
                <a:solidFill>
                  <a:schemeClr val="tx1"/>
                </a:solidFill>
              </a:rPr>
              <a:t>Wrapper for GPGPU-</a:t>
            </a:r>
            <a:r>
              <a:rPr lang="en-US" altLang="zh-TW" sz="1800" dirty="0" err="1">
                <a:solidFill>
                  <a:schemeClr val="tx1"/>
                </a:solidFill>
              </a:rPr>
              <a:t>Sim</a:t>
            </a:r>
            <a:r>
              <a:rPr lang="en-US" altLang="zh-TW" sz="1800" dirty="0">
                <a:solidFill>
                  <a:schemeClr val="tx1"/>
                </a:solidFill>
              </a:rPr>
              <a:t> </a:t>
            </a:r>
            <a:r>
              <a:rPr lang="en-US" altLang="zh-TW" sz="1800" dirty="0" err="1">
                <a:solidFill>
                  <a:schemeClr val="tx1"/>
                </a:solidFill>
              </a:rPr>
              <a:t>shader_core_ctx</a:t>
            </a:r>
            <a:r>
              <a:rPr lang="en-US" altLang="zh-TW" sz="1800" dirty="0">
                <a:solidFill>
                  <a:schemeClr val="tx1"/>
                </a:solidFill>
              </a:rPr>
              <a:t> </a:t>
            </a:r>
          </a:p>
          <a:p>
            <a:pPr lvl="1"/>
            <a:r>
              <a:rPr lang="en-US" altLang="zh-TW" sz="1800" dirty="0">
                <a:solidFill>
                  <a:schemeClr val="tx1"/>
                </a:solidFill>
              </a:rPr>
              <a:t>Sends instruction, </a:t>
            </a:r>
            <a:r>
              <a:rPr lang="en-US" altLang="zh-TW" sz="1800" b="1" dirty="0"/>
              <a:t>global</a:t>
            </a:r>
            <a:r>
              <a:rPr lang="en-US" altLang="zh-TW" sz="1800" dirty="0"/>
              <a:t> </a:t>
            </a:r>
            <a:r>
              <a:rPr lang="en-US" altLang="zh-TW" sz="1800" dirty="0">
                <a:solidFill>
                  <a:schemeClr val="tx1"/>
                </a:solidFill>
              </a:rPr>
              <a:t>and </a:t>
            </a:r>
            <a:r>
              <a:rPr lang="en-US" altLang="zh-TW" sz="1800" b="1" dirty="0" err="1"/>
              <a:t>const</a:t>
            </a:r>
            <a:r>
              <a:rPr lang="en-US" altLang="zh-TW" sz="1800" dirty="0"/>
              <a:t> </a:t>
            </a:r>
            <a:r>
              <a:rPr lang="en-US" altLang="zh-TW" sz="1800" dirty="0">
                <a:solidFill>
                  <a:schemeClr val="tx1"/>
                </a:solidFill>
              </a:rPr>
              <a:t>memory requests to Ruby cache </a:t>
            </a:r>
            <a:r>
              <a:rPr lang="en-US" altLang="zh-TW" sz="1800" dirty="0" smtClean="0">
                <a:solidFill>
                  <a:schemeClr val="tx1"/>
                </a:solidFill>
              </a:rPr>
              <a:t>hierarchy.</a:t>
            </a:r>
            <a:endParaRPr lang="en-US" altLang="zh-TW" sz="1800" dirty="0">
              <a:solidFill>
                <a:schemeClr val="tx1"/>
              </a:solidFill>
            </a:endParaRPr>
          </a:p>
          <a:p>
            <a:r>
              <a:rPr lang="en-US" altLang="zh-TW" sz="2000" dirty="0" err="1"/>
              <a:t>CudaGPU</a:t>
            </a:r>
            <a:endParaRPr lang="en-US" altLang="zh-TW" sz="2000" dirty="0"/>
          </a:p>
          <a:p>
            <a:pPr lvl="1"/>
            <a:r>
              <a:rPr lang="en-US" altLang="zh-TW" sz="1800" dirty="0">
                <a:solidFill>
                  <a:schemeClr val="tx1"/>
                </a:solidFill>
              </a:rPr>
              <a:t>Acts as gem5 structure for organizing the GPU </a:t>
            </a:r>
            <a:r>
              <a:rPr lang="en-US" altLang="zh-TW" sz="1800" dirty="0" smtClean="0">
                <a:solidFill>
                  <a:schemeClr val="tx1"/>
                </a:solidFill>
              </a:rPr>
              <a:t>hardware</a:t>
            </a:r>
          </a:p>
          <a:p>
            <a:r>
              <a:rPr lang="en-US" altLang="zh-TW" sz="2000" dirty="0" err="1" smtClean="0"/>
              <a:t>Shader</a:t>
            </a:r>
            <a:r>
              <a:rPr lang="en-US" altLang="zh-TW" sz="2000" dirty="0" smtClean="0"/>
              <a:t> TLB</a:t>
            </a:r>
          </a:p>
          <a:p>
            <a:pPr lvl="1"/>
            <a:r>
              <a:rPr lang="en-US" altLang="zh-TW" sz="1800" dirty="0" smtClean="0">
                <a:solidFill>
                  <a:schemeClr val="tx1"/>
                </a:solidFill>
              </a:rPr>
              <a:t>Manages </a:t>
            </a:r>
            <a:r>
              <a:rPr lang="en-US" altLang="zh-TW" sz="1800" dirty="0">
                <a:solidFill>
                  <a:schemeClr val="tx1"/>
                </a:solidFill>
              </a:rPr>
              <a:t>GPU memory space page table</a:t>
            </a:r>
            <a:endParaRPr lang="en-US" altLang="zh-TW" sz="1800" dirty="0" smtClean="0">
              <a:solidFill>
                <a:schemeClr val="tx1"/>
              </a:solidFill>
            </a:endParaRPr>
          </a:p>
          <a:p>
            <a:pPr lvl="1"/>
            <a:r>
              <a:rPr lang="en-US" altLang="zh-TW" sz="1800" dirty="0" smtClean="0">
                <a:solidFill>
                  <a:schemeClr val="tx1"/>
                </a:solidFill>
              </a:rPr>
              <a:t>If flag “</a:t>
            </a:r>
            <a:r>
              <a:rPr lang="en-US" altLang="zh-TW" sz="1800" dirty="0"/>
              <a:t>--access-host-</a:t>
            </a:r>
            <a:r>
              <a:rPr lang="en-US" altLang="zh-TW" sz="1800" dirty="0" err="1"/>
              <a:t>pagetable</a:t>
            </a:r>
            <a:r>
              <a:rPr lang="en-US" altLang="zh-TW" sz="1800" dirty="0" smtClean="0">
                <a:solidFill>
                  <a:schemeClr val="tx1"/>
                </a:solidFill>
              </a:rPr>
              <a:t>” is set,</a:t>
            </a:r>
            <a:r>
              <a:rPr lang="en-US" altLang="zh-TW" sz="1800" dirty="0">
                <a:solidFill>
                  <a:schemeClr val="tx1"/>
                </a:solidFill>
              </a:rPr>
              <a:t/>
            </a:r>
            <a:br>
              <a:rPr lang="en-US" altLang="zh-TW" sz="1800" dirty="0">
                <a:solidFill>
                  <a:schemeClr val="tx1"/>
                </a:solidFill>
              </a:rPr>
            </a:br>
            <a:r>
              <a:rPr lang="en-US" altLang="zh-TW" sz="1800" dirty="0">
                <a:solidFill>
                  <a:schemeClr val="tx1"/>
                </a:solidFill>
              </a:rPr>
              <a:t>GPU will use </a:t>
            </a:r>
            <a:r>
              <a:rPr lang="en-US" altLang="zh-TW" sz="1800" dirty="0" smtClean="0">
                <a:solidFill>
                  <a:schemeClr val="tx1"/>
                </a:solidFill>
              </a:rPr>
              <a:t>CPU </a:t>
            </a:r>
            <a:r>
              <a:rPr lang="en-US" altLang="zh-TW" sz="1800" dirty="0">
                <a:solidFill>
                  <a:schemeClr val="tx1"/>
                </a:solidFill>
              </a:rPr>
              <a:t>page table for </a:t>
            </a:r>
            <a:r>
              <a:rPr lang="en-US" altLang="zh-TW" sz="1800" dirty="0" smtClean="0">
                <a:solidFill>
                  <a:schemeClr val="tx1"/>
                </a:solidFill>
              </a:rPr>
              <a:t>translations.</a:t>
            </a:r>
          </a:p>
          <a:p>
            <a:pPr lvl="1"/>
            <a:r>
              <a:rPr lang="en-US" altLang="zh-TW" sz="1800" dirty="0" err="1" smtClean="0">
                <a:solidFill>
                  <a:schemeClr val="tx1"/>
                </a:solidFill>
              </a:rPr>
              <a:t>Const</a:t>
            </a:r>
            <a:r>
              <a:rPr lang="en-US" altLang="zh-TW" sz="1800" dirty="0" smtClean="0">
                <a:solidFill>
                  <a:schemeClr val="tx1"/>
                </a:solidFill>
              </a:rPr>
              <a:t> latency for each event(hit, miss…)</a:t>
            </a:r>
          </a:p>
          <a:p>
            <a:pPr lvl="1"/>
            <a:endParaRPr lang="en-US" altLang="zh-TW" sz="1800" dirty="0" smtClean="0">
              <a:solidFill>
                <a:schemeClr val="tx1"/>
              </a:solidFill>
            </a:endParaRPr>
          </a:p>
          <a:p>
            <a:endParaRPr lang="zh-TW" altLang="en-US" sz="20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1268760"/>
            <a:ext cx="3353544" cy="5084656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2843808" y="6353416"/>
            <a:ext cx="6003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Figure </a:t>
            </a:r>
            <a:r>
              <a:rPr lang="en-US" altLang="zh-TW" sz="900" dirty="0" err="1"/>
              <a:t>from:https</a:t>
            </a:r>
            <a:r>
              <a:rPr lang="en-US" altLang="zh-TW" sz="900" dirty="0"/>
              <a:t>://gem5-gpu.cs.wisc.edu/wiki/_detail/current_gem5-gpu_architecture_1_31_2013-cropped.png?id=cur-arch</a:t>
            </a:r>
            <a:endParaRPr lang="zh-TW" altLang="en-US" sz="900" dirty="0"/>
          </a:p>
        </p:txBody>
      </p:sp>
    </p:spTree>
    <p:extLst>
      <p:ext uri="{BB962C8B-B14F-4D97-AF65-F5344CB8AC3E}">
        <p14:creationId xmlns:p14="http://schemas.microsoft.com/office/powerpoint/2010/main" val="2804967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Case study:  GPU MMU design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Related </a:t>
            </a:r>
            <a:r>
              <a:rPr lang="en-US" altLang="zh-TW" dirty="0" smtClean="0"/>
              <a:t>paper:   </a:t>
            </a:r>
          </a:p>
          <a:p>
            <a:pPr lvl="1"/>
            <a:r>
              <a:rPr lang="en-US" altLang="zh-TW" dirty="0" smtClean="0"/>
              <a:t>Topic: Address </a:t>
            </a:r>
            <a:r>
              <a:rPr lang="en-US" altLang="zh-TW" dirty="0"/>
              <a:t>translation(VA-&gt;PA) on </a:t>
            </a:r>
            <a:r>
              <a:rPr lang="en-US" altLang="zh-TW" dirty="0" smtClean="0"/>
              <a:t>GPU</a:t>
            </a:r>
          </a:p>
          <a:p>
            <a:pPr lvl="2"/>
            <a:r>
              <a:rPr lang="en-US" altLang="zh-TW" sz="2100" b="1" dirty="0" smtClean="0"/>
              <a:t>Supporting x86-64 address translation for 100s of </a:t>
            </a:r>
            <a:r>
              <a:rPr lang="en-US" altLang="zh-TW" sz="2100" b="1" dirty="0" err="1" smtClean="0"/>
              <a:t>gpu</a:t>
            </a:r>
            <a:r>
              <a:rPr lang="en-US" altLang="zh-TW" sz="2100" b="1" dirty="0" smtClean="0"/>
              <a:t> lanes(HPCA '14</a:t>
            </a:r>
            <a:r>
              <a:rPr lang="en-US" altLang="zh-TW" dirty="0" smtClean="0"/>
              <a:t>)</a:t>
            </a:r>
          </a:p>
          <a:p>
            <a:pPr lvl="3"/>
            <a:r>
              <a:rPr lang="en-US" altLang="zh-TW" dirty="0" smtClean="0"/>
              <a:t>Jason </a:t>
            </a:r>
            <a:r>
              <a:rPr lang="en-US" altLang="zh-TW" dirty="0"/>
              <a:t>Power(gem5-gpu author), Mark D. Hill , David A. Wood</a:t>
            </a:r>
            <a:br>
              <a:rPr lang="en-US" altLang="zh-TW" dirty="0"/>
            </a:br>
            <a:r>
              <a:rPr lang="en-US" altLang="zh-TW" dirty="0"/>
              <a:t>(University of Wisconsin–Madison 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09884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Target simulation architecture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smtClean="0"/>
              <a:t>Simulate GPU  TLB, MMU behavior</a:t>
            </a:r>
          </a:p>
          <a:p>
            <a:r>
              <a:rPr lang="en-US" altLang="zh-TW" dirty="0" smtClean="0"/>
              <a:t>Assign constant delay latency for each event(hit, miss...)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531" y="2492896"/>
            <a:ext cx="5350749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071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MMU design for HSA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IOMMU in HSA architecture</a:t>
            </a:r>
            <a:endParaRPr lang="en-US" altLang="zh-TW" sz="2400" dirty="0" smtClean="0"/>
          </a:p>
          <a:p>
            <a:pPr lvl="1"/>
            <a:r>
              <a:rPr lang="en-US" altLang="zh-TW" sz="2000" dirty="0" smtClean="0"/>
              <a:t>Use Device ID, PASID ID to separate different device process.</a:t>
            </a:r>
          </a:p>
          <a:p>
            <a:pPr lvl="1"/>
            <a:r>
              <a:rPr lang="en-US" altLang="zh-TW" sz="2000" dirty="0" smtClean="0"/>
              <a:t>Walk page table to find physical address.</a:t>
            </a:r>
          </a:p>
          <a:p>
            <a:endParaRPr lang="en-US" altLang="zh-TW" sz="24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285" y="2636912"/>
            <a:ext cx="5420227" cy="3900637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4355976" y="6525344"/>
            <a:ext cx="31294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Figure from HSA hardware specification</a:t>
            </a:r>
            <a:endParaRPr lang="zh-TW" altLang="en-US" sz="1400" dirty="0"/>
          </a:p>
        </p:txBody>
      </p:sp>
      <p:sp>
        <p:nvSpPr>
          <p:cNvPr id="6" name="矩形 5"/>
          <p:cNvSpPr/>
          <p:nvPr/>
        </p:nvSpPr>
        <p:spPr>
          <a:xfrm>
            <a:off x="7912344" y="4587230"/>
            <a:ext cx="1152128" cy="183071"/>
          </a:xfrm>
          <a:prstGeom prst="rect">
            <a:avLst/>
          </a:prstGeom>
          <a:noFill/>
          <a:ln w="31750"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4731670" y="5517232"/>
            <a:ext cx="1856554" cy="936104"/>
          </a:xfrm>
          <a:prstGeom prst="rect">
            <a:avLst/>
          </a:prstGeom>
          <a:noFill/>
          <a:ln w="50800"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內容版面配置區 1"/>
          <p:cNvSpPr txBox="1">
            <a:spLocks/>
          </p:cNvSpPr>
          <p:nvPr/>
        </p:nvSpPr>
        <p:spPr>
          <a:xfrm>
            <a:off x="0" y="3140968"/>
            <a:ext cx="4067944" cy="187220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altLang="zh-TW" sz="2000" dirty="0" smtClean="0"/>
              <a:t>Problem</a:t>
            </a:r>
            <a:endParaRPr lang="en-US" altLang="zh-TW" sz="2000" dirty="0"/>
          </a:p>
          <a:p>
            <a:pPr lvl="1">
              <a:buClr>
                <a:srgbClr val="ED6D00"/>
              </a:buClr>
              <a:buSzPct val="70000"/>
              <a:buFont typeface="Wingdings" pitchFamily="2" charset="2"/>
              <a:buChar char="n"/>
            </a:pPr>
            <a:r>
              <a:rPr lang="en-US" altLang="zh-TW" sz="1800" dirty="0" smtClean="0"/>
              <a:t>The overhead of address translation mechanism.</a:t>
            </a:r>
          </a:p>
          <a:p>
            <a:pPr lvl="1">
              <a:buClr>
                <a:srgbClr val="ED6D00"/>
              </a:buClr>
              <a:buSzPct val="70000"/>
              <a:buFont typeface="Wingdings" pitchFamily="2" charset="2"/>
              <a:buChar char="n"/>
            </a:pPr>
            <a:r>
              <a:rPr lang="en-US" altLang="zh-TW" sz="1800" dirty="0"/>
              <a:t>Unlike a simple IO device, GPU issues much more </a:t>
            </a:r>
            <a:r>
              <a:rPr lang="en-US" altLang="zh-TW" sz="1800" b="1" dirty="0"/>
              <a:t>memory requests</a:t>
            </a:r>
            <a:r>
              <a:rPr lang="en-US" altLang="zh-TW" sz="1800" dirty="0"/>
              <a:t> than accesses to I/O</a:t>
            </a:r>
            <a:r>
              <a:rPr lang="en-US" altLang="zh-TW" sz="1400" dirty="0"/>
              <a:t>.</a:t>
            </a:r>
          </a:p>
          <a:p>
            <a:pPr lvl="1">
              <a:buClr>
                <a:srgbClr val="ED6D00"/>
              </a:buClr>
              <a:buSzPct val="70000"/>
              <a:buFont typeface="Wingdings" pitchFamily="2" charset="2"/>
              <a:buChar char="n"/>
            </a:pPr>
            <a:endParaRPr lang="zh-TW" altLang="en-US" sz="1800" dirty="0"/>
          </a:p>
        </p:txBody>
      </p:sp>
      <p:cxnSp>
        <p:nvCxnSpPr>
          <p:cNvPr id="10" name="直線單箭頭接點 9"/>
          <p:cNvCxnSpPr>
            <a:stCxn id="9" idx="2"/>
          </p:cNvCxnSpPr>
          <p:nvPr/>
        </p:nvCxnSpPr>
        <p:spPr bwMode="auto">
          <a:xfrm>
            <a:off x="2033972" y="5013176"/>
            <a:ext cx="3625975" cy="50405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565637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Discussion of </a:t>
            </a:r>
            <a:r>
              <a:rPr lang="en-US" altLang="zh-TW" dirty="0"/>
              <a:t>GPU MMU design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467544" y="1139501"/>
            <a:ext cx="8054975" cy="5025803"/>
          </a:xfrm>
        </p:spPr>
        <p:txBody>
          <a:bodyPr>
            <a:noAutofit/>
          </a:bodyPr>
          <a:lstStyle/>
          <a:p>
            <a:r>
              <a:rPr lang="en-US" altLang="zh-TW" sz="2400" dirty="0"/>
              <a:t>The fundamental </a:t>
            </a:r>
            <a:r>
              <a:rPr lang="en-US" altLang="zh-TW" sz="2400" dirty="0" smtClean="0"/>
              <a:t>problems</a:t>
            </a:r>
            <a:endParaRPr lang="en-US" altLang="zh-TW" sz="2400" dirty="0"/>
          </a:p>
          <a:p>
            <a:pPr marL="731520" lvl="1" indent="-457200">
              <a:buFont typeface="+mj-lt"/>
              <a:buAutoNum type="arabicPeriod"/>
            </a:pPr>
            <a:r>
              <a:rPr lang="en-US" altLang="zh-TW" sz="2000" dirty="0"/>
              <a:t>Low temporal locality, increase </a:t>
            </a:r>
            <a:r>
              <a:rPr lang="en-US" altLang="zh-TW" sz="2000" b="1" dirty="0"/>
              <a:t>TLB </a:t>
            </a:r>
            <a:r>
              <a:rPr lang="en-US" altLang="zh-TW" sz="2000" b="1" dirty="0" smtClean="0"/>
              <a:t>miss</a:t>
            </a:r>
            <a:r>
              <a:rPr lang="en-US" altLang="zh-TW" sz="2000" dirty="0" smtClean="0"/>
              <a:t>.</a:t>
            </a:r>
            <a:endParaRPr lang="en-US" altLang="zh-TW" sz="2000" dirty="0"/>
          </a:p>
          <a:p>
            <a:pPr marL="731520" lvl="1" indent="-457200">
              <a:buFont typeface="+mj-lt"/>
              <a:buAutoNum type="arabicPeriod"/>
            </a:pPr>
            <a:r>
              <a:rPr lang="en-US" altLang="zh-TW" sz="2000" dirty="0"/>
              <a:t>GPU has </a:t>
            </a:r>
            <a:r>
              <a:rPr lang="en-US" altLang="zh-TW" sz="2000" b="1" dirty="0"/>
              <a:t>hundreds of </a:t>
            </a:r>
            <a:r>
              <a:rPr lang="en-US" altLang="zh-TW" sz="2000" b="1" dirty="0" smtClean="0"/>
              <a:t>cores.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altLang="zh-TW" sz="2000" dirty="0" smtClean="0"/>
              <a:t>Memory </a:t>
            </a:r>
            <a:r>
              <a:rPr lang="en-US" altLang="zh-TW" sz="2000" dirty="0"/>
              <a:t>instructions dispatch on several lanes </a:t>
            </a: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en-US" altLang="zh-TW" sz="2000" b="1" dirty="0" smtClean="0"/>
              <a:t>at </a:t>
            </a:r>
            <a:r>
              <a:rPr lang="en-US" altLang="zh-TW" sz="2000" b="1" dirty="0"/>
              <a:t>the same time</a:t>
            </a:r>
            <a:r>
              <a:rPr lang="en-US" altLang="zh-TW" sz="2000" dirty="0"/>
              <a:t>.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altLang="zh-TW" sz="2000" dirty="0"/>
              <a:t>Some </a:t>
            </a:r>
            <a:r>
              <a:rPr lang="en-US" altLang="zh-TW" sz="2000" dirty="0" smtClean="0"/>
              <a:t>memory </a:t>
            </a:r>
            <a:r>
              <a:rPr lang="en-US" altLang="zh-TW" sz="2000" dirty="0"/>
              <a:t>instructions </a:t>
            </a:r>
            <a:r>
              <a:rPr lang="en-US" altLang="zh-TW" sz="2000" dirty="0" smtClean="0"/>
              <a:t>will hit </a:t>
            </a:r>
            <a:r>
              <a:rPr lang="en-US" altLang="zh-TW" sz="2000" dirty="0"/>
              <a:t>and </a:t>
            </a:r>
            <a:r>
              <a:rPr lang="en-US" altLang="zh-TW" sz="2000" dirty="0" smtClean="0"/>
              <a:t>others will miss in TLB.</a:t>
            </a:r>
            <a:endParaRPr lang="en-US" altLang="zh-TW" sz="2000" dirty="0"/>
          </a:p>
          <a:p>
            <a:pPr marL="731520" lvl="1" indent="-457200">
              <a:buFont typeface="+mj-lt"/>
              <a:buAutoNum type="arabicPeriod"/>
            </a:pPr>
            <a:r>
              <a:rPr lang="en-US" altLang="zh-TW" sz="2000" dirty="0"/>
              <a:t>What is the frequency of TLB miss or page fault?</a:t>
            </a:r>
          </a:p>
          <a:p>
            <a:r>
              <a:rPr lang="en-US" altLang="zh-TW" sz="2400" dirty="0"/>
              <a:t>Simulation </a:t>
            </a:r>
            <a:r>
              <a:rPr lang="en-US" altLang="zh-TW" sz="2400" dirty="0" smtClean="0"/>
              <a:t>target platform</a:t>
            </a:r>
          </a:p>
          <a:p>
            <a:pPr lvl="1"/>
            <a:endParaRPr lang="en-US" altLang="zh-TW" sz="20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4276089"/>
            <a:ext cx="5876925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3575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609" y="2371626"/>
            <a:ext cx="5031675" cy="256954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400" dirty="0" smtClean="0"/>
              <a:t>Paper’s observation 1: global memory access</a:t>
            </a:r>
            <a:endParaRPr lang="zh-TW" altLang="en-US" sz="24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79512" y="1052735"/>
            <a:ext cx="8054975" cy="5328593"/>
          </a:xfrm>
        </p:spPr>
        <p:txBody>
          <a:bodyPr>
            <a:noAutofit/>
          </a:bodyPr>
          <a:lstStyle/>
          <a:p>
            <a:endParaRPr lang="en-US" altLang="zh-TW" sz="2400" b="1" i="1" dirty="0" smtClean="0"/>
          </a:p>
          <a:p>
            <a:r>
              <a:rPr lang="en-US" altLang="zh-TW" sz="2400" b="1" i="1" dirty="0" smtClean="0"/>
              <a:t>Frequently</a:t>
            </a:r>
            <a:r>
              <a:rPr lang="en-US" altLang="zh-TW" sz="2400" dirty="0" smtClean="0"/>
              <a:t> </a:t>
            </a:r>
            <a:r>
              <a:rPr lang="en-US" altLang="zh-TW" sz="2400" b="1" dirty="0"/>
              <a:t>global memory </a:t>
            </a:r>
            <a:r>
              <a:rPr lang="en-US" altLang="zh-TW" sz="2400" b="1" dirty="0" smtClean="0"/>
              <a:t>access</a:t>
            </a:r>
          </a:p>
          <a:p>
            <a:pPr lvl="1"/>
            <a:r>
              <a:rPr lang="en-US" altLang="zh-TW" sz="2000" dirty="0"/>
              <a:t>Every 1000 cycles</a:t>
            </a:r>
          </a:p>
          <a:p>
            <a:pPr lvl="2"/>
            <a:r>
              <a:rPr lang="en-US" altLang="zh-TW" sz="1800" dirty="0"/>
              <a:t>Average 602 </a:t>
            </a:r>
            <a:r>
              <a:rPr lang="en-US" altLang="zh-TW" sz="1800" dirty="0" err="1"/>
              <a:t>mem</a:t>
            </a:r>
            <a:r>
              <a:rPr lang="en-US" altLang="zh-TW" sz="1800" dirty="0"/>
              <a:t> inst.</a:t>
            </a:r>
          </a:p>
          <a:p>
            <a:pPr lvl="2"/>
            <a:r>
              <a:rPr lang="en-US" altLang="zh-TW" sz="1800" dirty="0"/>
              <a:t>268 global instructions.</a:t>
            </a:r>
          </a:p>
          <a:p>
            <a:pPr lvl="2"/>
            <a:r>
              <a:rPr lang="en-US" altLang="zh-TW" sz="1800" dirty="0"/>
              <a:t>Coalescing can reduce</a:t>
            </a:r>
            <a:br>
              <a:rPr lang="en-US" altLang="zh-TW" sz="1800" dirty="0"/>
            </a:br>
            <a:r>
              <a:rPr lang="en-US" altLang="zh-TW" sz="1800" dirty="0"/>
              <a:t>global </a:t>
            </a:r>
            <a:r>
              <a:rPr lang="en-US" altLang="zh-TW" sz="1800" dirty="0" err="1"/>
              <a:t>inst</a:t>
            </a:r>
            <a:r>
              <a:rPr lang="en-US" altLang="zh-TW" sz="1800" dirty="0"/>
              <a:t> to 39 accesses</a:t>
            </a:r>
            <a:r>
              <a:rPr lang="en-US" altLang="zh-TW" sz="1800" dirty="0" smtClean="0"/>
              <a:t>.</a:t>
            </a:r>
          </a:p>
          <a:p>
            <a:pPr lvl="1"/>
            <a:r>
              <a:rPr lang="en-US" altLang="zh-TW" sz="2000" dirty="0" smtClean="0"/>
              <a:t>Solution: </a:t>
            </a:r>
            <a:br>
              <a:rPr lang="en-US" altLang="zh-TW" sz="2000" dirty="0" smtClean="0"/>
            </a:br>
            <a:r>
              <a:rPr lang="en-US" altLang="zh-TW" sz="2000" dirty="0" smtClean="0"/>
              <a:t>Use </a:t>
            </a:r>
            <a:r>
              <a:rPr lang="en-US" altLang="zh-TW" sz="2000" dirty="0" err="1" smtClean="0"/>
              <a:t>coalescer</a:t>
            </a:r>
            <a:r>
              <a:rPr lang="en-US" altLang="zh-TW" sz="2000" dirty="0" smtClean="0"/>
              <a:t> to reduce </a:t>
            </a:r>
            <a:br>
              <a:rPr lang="en-US" altLang="zh-TW" sz="2000" dirty="0" smtClean="0"/>
            </a:br>
            <a:r>
              <a:rPr lang="en-US" altLang="zh-TW" sz="2000" dirty="0" smtClean="0"/>
              <a:t>global memory access.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5148064" y="5157192"/>
            <a:ext cx="28825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Memory instructions every 1000 cycles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74725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400" dirty="0"/>
              <a:t>Paper’s observation </a:t>
            </a:r>
            <a:r>
              <a:rPr lang="en-US" altLang="zh-TW" sz="2400" dirty="0" smtClean="0"/>
              <a:t>2: memory </a:t>
            </a:r>
            <a:r>
              <a:rPr lang="en-US" altLang="zh-TW" sz="2400" dirty="0"/>
              <a:t>bandwidth</a:t>
            </a:r>
            <a:endParaRPr lang="zh-TW" altLang="en-US" sz="24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281392" y="1283517"/>
            <a:ext cx="4722656" cy="5025803"/>
          </a:xfrm>
        </p:spPr>
        <p:txBody>
          <a:bodyPr>
            <a:normAutofit/>
          </a:bodyPr>
          <a:lstStyle/>
          <a:p>
            <a:r>
              <a:rPr lang="en-US" altLang="zh-TW" dirty="0"/>
              <a:t>Average 60 page table walks </a:t>
            </a:r>
            <a:br>
              <a:rPr lang="en-US" altLang="zh-TW" dirty="0"/>
            </a:br>
            <a:r>
              <a:rPr lang="en-US" altLang="zh-TW" dirty="0"/>
              <a:t>are active at that CU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Worst workload averages </a:t>
            </a:r>
            <a:r>
              <a:rPr lang="en-US" altLang="zh-TW" dirty="0" smtClean="0"/>
              <a:t>140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concurrent PTW</a:t>
            </a:r>
            <a:r>
              <a:rPr lang="en-US" altLang="zh-TW" dirty="0" smtClean="0"/>
              <a:t>.</a:t>
            </a:r>
          </a:p>
          <a:p>
            <a:r>
              <a:rPr lang="en-US" altLang="zh-TW" sz="2800" dirty="0"/>
              <a:t>observation</a:t>
            </a:r>
            <a:r>
              <a:rPr lang="en-US" altLang="zh-TW" sz="2800" dirty="0" smtClean="0"/>
              <a:t>:</a:t>
            </a:r>
          </a:p>
          <a:p>
            <a:pPr lvl="1"/>
            <a:r>
              <a:rPr lang="en-US" altLang="zh-TW" sz="2400" dirty="0"/>
              <a:t>90% page walks issued within</a:t>
            </a:r>
            <a:br>
              <a:rPr lang="en-US" altLang="zh-TW" sz="2400" dirty="0"/>
            </a:br>
            <a:r>
              <a:rPr lang="en-US" altLang="zh-TW" sz="2400" dirty="0"/>
              <a:t>500 cycles of previous PTW</a:t>
            </a:r>
            <a:r>
              <a:rPr lang="en-US" altLang="zh-TW" sz="2400" dirty="0" smtClean="0"/>
              <a:t>.</a:t>
            </a:r>
          </a:p>
          <a:p>
            <a:pPr marL="342900" lvl="1" indent="-342900">
              <a:spcBef>
                <a:spcPct val="50000"/>
              </a:spcBef>
              <a:buClr>
                <a:srgbClr val="ED6D00"/>
              </a:buClr>
              <a:buFont typeface="Arial" charset="0"/>
              <a:buChar char="▪"/>
            </a:pPr>
            <a:r>
              <a:rPr lang="en-US" altLang="zh-TW" sz="2400" dirty="0"/>
              <a:t>Solution: </a:t>
            </a:r>
            <a:r>
              <a:rPr lang="en-US" altLang="zh-TW" sz="2400" dirty="0" smtClean="0"/>
              <a:t>shared </a:t>
            </a:r>
            <a:r>
              <a:rPr lang="en-US" altLang="zh-TW" sz="2400" b="1" dirty="0"/>
              <a:t>multi-threaded</a:t>
            </a:r>
            <a:r>
              <a:rPr lang="en-US" altLang="zh-TW" sz="2400" dirty="0"/>
              <a:t> page table </a:t>
            </a:r>
            <a:r>
              <a:rPr lang="en-US" altLang="zh-TW" sz="2400" dirty="0" smtClean="0"/>
              <a:t>walker(PTW)</a:t>
            </a:r>
            <a:br>
              <a:rPr lang="en-US" altLang="zh-TW" sz="2400" dirty="0" smtClean="0"/>
            </a:br>
            <a:r>
              <a:rPr lang="en-US" altLang="zh-TW" sz="2400" dirty="0" smtClean="0"/>
              <a:t>(</a:t>
            </a:r>
            <a:r>
              <a:rPr lang="en-US" altLang="zh-TW" sz="2400" dirty="0"/>
              <a:t>up to 32 threads).</a:t>
            </a:r>
            <a:endParaRPr lang="zh-TW" altLang="en-US" sz="2400" dirty="0"/>
          </a:p>
          <a:p>
            <a:endParaRPr lang="zh-TW" altLang="en-US" sz="28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1591949"/>
            <a:ext cx="4248472" cy="237092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860032" y="1591949"/>
            <a:ext cx="504056" cy="20882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4747216" y="1305053"/>
            <a:ext cx="7296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smtClean="0"/>
              <a:t>Log scale</a:t>
            </a:r>
            <a:endParaRPr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869262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400" dirty="0" smtClean="0"/>
              <a:t>Paper’s observation 3:TLB miss rate</a:t>
            </a:r>
            <a:endParaRPr lang="zh-TW" altLang="en-US" sz="24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79512" y="1052735"/>
            <a:ext cx="8054975" cy="5328593"/>
          </a:xfrm>
        </p:spPr>
        <p:txBody>
          <a:bodyPr>
            <a:noAutofit/>
          </a:bodyPr>
          <a:lstStyle/>
          <a:p>
            <a:endParaRPr lang="en-US" altLang="zh-TW" sz="2400" b="1" i="1" dirty="0" smtClean="0"/>
          </a:p>
          <a:p>
            <a:r>
              <a:rPr lang="en-US" altLang="zh-TW" sz="2400" b="1" i="1" dirty="0" smtClean="0"/>
              <a:t>High</a:t>
            </a:r>
            <a:r>
              <a:rPr lang="en-US" altLang="zh-TW" sz="2400" dirty="0" smtClean="0"/>
              <a:t> </a:t>
            </a:r>
            <a:r>
              <a:rPr lang="en-US" altLang="zh-TW" sz="2400" b="1" dirty="0"/>
              <a:t>TLB</a:t>
            </a:r>
            <a:r>
              <a:rPr lang="en-US" altLang="zh-TW" sz="2400" dirty="0"/>
              <a:t> </a:t>
            </a:r>
            <a:r>
              <a:rPr lang="en-US" altLang="zh-TW" sz="2400" b="1" dirty="0"/>
              <a:t>miss </a:t>
            </a:r>
            <a:r>
              <a:rPr lang="en-US" altLang="zh-TW" sz="2400" b="1" dirty="0" smtClean="0"/>
              <a:t>rate</a:t>
            </a:r>
          </a:p>
          <a:p>
            <a:pPr lvl="1"/>
            <a:r>
              <a:rPr lang="en-US" altLang="zh-TW" sz="2000" dirty="0"/>
              <a:t>Average 29%, </a:t>
            </a: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en-US" altLang="zh-TW" sz="2000" dirty="0" smtClean="0"/>
              <a:t>the highest is </a:t>
            </a:r>
            <a:r>
              <a:rPr lang="en-US" altLang="zh-TW" sz="2000" dirty="0"/>
              <a:t>67</a:t>
            </a:r>
            <a:r>
              <a:rPr lang="en-US" altLang="zh-TW" sz="2000" dirty="0" smtClean="0"/>
              <a:t>%.</a:t>
            </a:r>
          </a:p>
          <a:p>
            <a:pPr lvl="1"/>
            <a:r>
              <a:rPr lang="en-US" altLang="zh-TW" sz="2000" dirty="0" smtClean="0"/>
              <a:t>Solution:</a:t>
            </a:r>
            <a:br>
              <a:rPr lang="en-US" altLang="zh-TW" sz="2000" dirty="0" smtClean="0"/>
            </a:br>
            <a:r>
              <a:rPr lang="en-US" altLang="zh-TW" sz="2000" dirty="0" smtClean="0"/>
              <a:t>Add </a:t>
            </a:r>
            <a:r>
              <a:rPr lang="en-US" altLang="zh-TW" sz="2000" dirty="0"/>
              <a:t>page walk cache </a:t>
            </a:r>
            <a:r>
              <a:rPr lang="en-US" altLang="zh-TW" sz="2000" dirty="0" smtClean="0"/>
              <a:t>to </a:t>
            </a:r>
            <a:br>
              <a:rPr lang="en-US" altLang="zh-TW" sz="2000" dirty="0" smtClean="0"/>
            </a:br>
            <a:r>
              <a:rPr lang="en-US" altLang="zh-TW" sz="2000" dirty="0" smtClean="0"/>
              <a:t>reduce </a:t>
            </a:r>
            <a:r>
              <a:rPr lang="en-US" altLang="zh-TW" sz="2000" dirty="0"/>
              <a:t>PTW latency.</a:t>
            </a:r>
            <a:endParaRPr lang="zh-TW" altLang="en-US" sz="2000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722" y="2060848"/>
            <a:ext cx="5179447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15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Paper’s</a:t>
            </a:r>
            <a:r>
              <a:rPr lang="en-US" altLang="zh-TW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dirty="0"/>
              <a:t>p</a:t>
            </a:r>
            <a:r>
              <a:rPr lang="en-US" altLang="zh-TW" dirty="0" smtClean="0"/>
              <a:t>roposed architecture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err="1" smtClean="0"/>
              <a:t>Coalescer</a:t>
            </a:r>
            <a:r>
              <a:rPr lang="en-US" altLang="zh-TW" dirty="0" smtClean="0"/>
              <a:t> for global </a:t>
            </a:r>
            <a:r>
              <a:rPr lang="en-US" altLang="zh-TW" dirty="0"/>
              <a:t>memory </a:t>
            </a:r>
            <a:r>
              <a:rPr lang="en-US" altLang="zh-TW" dirty="0" smtClean="0"/>
              <a:t>accesses</a:t>
            </a:r>
          </a:p>
          <a:p>
            <a:r>
              <a:rPr lang="en-US" altLang="zh-TW" dirty="0"/>
              <a:t>multi-threaded page table walker</a:t>
            </a:r>
            <a:endParaRPr lang="zh-TW" altLang="en-US" dirty="0"/>
          </a:p>
          <a:p>
            <a:r>
              <a:rPr lang="en-US" altLang="zh-TW" dirty="0" smtClean="0"/>
              <a:t>page </a:t>
            </a:r>
            <a:r>
              <a:rPr lang="en-US" altLang="zh-TW" dirty="0"/>
              <a:t>walk </a:t>
            </a:r>
            <a:r>
              <a:rPr lang="en-US" altLang="zh-TW" dirty="0" smtClean="0"/>
              <a:t>cache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2717392"/>
            <a:ext cx="4968552" cy="3410093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 bwMode="auto">
          <a:xfrm>
            <a:off x="2123728" y="2717392"/>
            <a:ext cx="792088" cy="99964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標楷體" pitchFamily="65" charset="-120"/>
              <a:cs typeface="Arial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436096" y="4869160"/>
            <a:ext cx="1512168" cy="79208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標楷體" pitchFamily="65" charset="-120"/>
              <a:cs typeface="Arial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436096" y="3140968"/>
            <a:ext cx="1512168" cy="79208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標楷體" pitchFamily="65" charset="-12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5957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MMU performance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smtClean="0"/>
              <a:t>Design 1: </a:t>
            </a:r>
            <a:r>
              <a:rPr lang="en-US" altLang="zh-TW" dirty="0" err="1" smtClean="0"/>
              <a:t>Coalescer</a:t>
            </a:r>
            <a:endParaRPr lang="en-US" altLang="zh-TW" dirty="0" smtClean="0"/>
          </a:p>
          <a:p>
            <a:r>
              <a:rPr lang="en-US" altLang="zh-TW" dirty="0" smtClean="0"/>
              <a:t>Design 2: </a:t>
            </a:r>
            <a:r>
              <a:rPr lang="en-US" altLang="zh-TW" dirty="0" err="1" smtClean="0"/>
              <a:t>Coalescer</a:t>
            </a:r>
            <a:r>
              <a:rPr lang="en-US" altLang="zh-TW" dirty="0" smtClean="0"/>
              <a:t> + </a:t>
            </a:r>
            <a:r>
              <a:rPr lang="en-US" altLang="zh-TW" dirty="0"/>
              <a:t>multi-threaded </a:t>
            </a:r>
            <a:r>
              <a:rPr lang="en-US" altLang="zh-TW" dirty="0" smtClean="0"/>
              <a:t>PTW</a:t>
            </a:r>
            <a:endParaRPr lang="zh-TW" altLang="en-US" dirty="0"/>
          </a:p>
          <a:p>
            <a:r>
              <a:rPr lang="en-US" altLang="zh-TW" dirty="0" smtClean="0"/>
              <a:t>Design 3: </a:t>
            </a:r>
            <a:r>
              <a:rPr lang="en-US" altLang="zh-TW" dirty="0" err="1"/>
              <a:t>Coalescer</a:t>
            </a:r>
            <a:r>
              <a:rPr lang="en-US" altLang="zh-TW" dirty="0"/>
              <a:t> + multi-threaded </a:t>
            </a:r>
            <a:r>
              <a:rPr lang="en-US" altLang="zh-TW" dirty="0" smtClean="0"/>
              <a:t>PTW + PTW </a:t>
            </a:r>
            <a:r>
              <a:rPr lang="en-US" altLang="zh-TW" dirty="0"/>
              <a:t>cache</a:t>
            </a:r>
            <a:endParaRPr lang="zh-TW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726804"/>
            <a:ext cx="6904957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453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GPUWattch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405527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1066800"/>
          </a:xfrm>
        </p:spPr>
        <p:txBody>
          <a:bodyPr>
            <a:normAutofit/>
          </a:bodyPr>
          <a:lstStyle/>
          <a:p>
            <a:r>
              <a:rPr lang="en-CA" dirty="0" smtClean="0"/>
              <a:t>Power Model: </a:t>
            </a:r>
            <a:r>
              <a:rPr lang="en-CA" dirty="0" err="1"/>
              <a:t>GPUWattch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7544" y="1484784"/>
            <a:ext cx="8229600" cy="4824536"/>
          </a:xfrm>
        </p:spPr>
        <p:txBody>
          <a:bodyPr>
            <a:normAutofit lnSpcReduction="10000"/>
          </a:bodyPr>
          <a:lstStyle/>
          <a:p>
            <a:r>
              <a:rPr lang="en-CA" dirty="0" smtClean="0"/>
              <a:t>GPGPU-</a:t>
            </a:r>
            <a:r>
              <a:rPr lang="en-CA" dirty="0" err="1" smtClean="0"/>
              <a:t>Sim</a:t>
            </a:r>
            <a:r>
              <a:rPr lang="en-CA" dirty="0" smtClean="0"/>
              <a:t> introduces such a power model </a:t>
            </a:r>
          </a:p>
          <a:p>
            <a:pPr lvl="1"/>
            <a:r>
              <a:rPr lang="en-CA" sz="2400" b="1" dirty="0"/>
              <a:t>Cycle-accurate</a:t>
            </a:r>
            <a:r>
              <a:rPr lang="en-CA" sz="2400" dirty="0"/>
              <a:t>: Integrates GPGPU-Sim v3.1.2 with </a:t>
            </a:r>
            <a:r>
              <a:rPr lang="en-CA" sz="2400" dirty="0" err="1"/>
              <a:t>McPAT</a:t>
            </a:r>
            <a:r>
              <a:rPr lang="en-CA" sz="2400" dirty="0"/>
              <a:t> </a:t>
            </a:r>
            <a:r>
              <a:rPr lang="en-CA" sz="2400" dirty="0" smtClean="0"/>
              <a:t>v0.8</a:t>
            </a:r>
            <a:endParaRPr lang="en-CA" sz="2400" b="1" dirty="0" smtClean="0"/>
          </a:p>
          <a:p>
            <a:pPr lvl="1"/>
            <a:r>
              <a:rPr lang="en-CA" sz="2400" b="1" dirty="0" smtClean="0"/>
              <a:t>Configurable</a:t>
            </a:r>
            <a:r>
              <a:rPr lang="en-CA" sz="2400" dirty="0" smtClean="0"/>
              <a:t>: GPGPU-Sim/McPAT configuration files</a:t>
            </a:r>
            <a:endParaRPr lang="en-CA" sz="2400" b="1" dirty="0" smtClean="0"/>
          </a:p>
          <a:p>
            <a:pPr lvl="1"/>
            <a:r>
              <a:rPr lang="en-CA" sz="2400" b="1" dirty="0" smtClean="0"/>
              <a:t>Fine-grained</a:t>
            </a:r>
            <a:r>
              <a:rPr lang="en-CA" sz="2400" dirty="0" smtClean="0"/>
              <a:t>: Performance/event </a:t>
            </a:r>
            <a:r>
              <a:rPr lang="en-CA" sz="2400" dirty="0"/>
              <a:t>counter </a:t>
            </a:r>
            <a:r>
              <a:rPr lang="en-CA" sz="2400" dirty="0" smtClean="0"/>
              <a:t>driven. </a:t>
            </a:r>
            <a:br>
              <a:rPr lang="en-CA" sz="2400" dirty="0" smtClean="0"/>
            </a:br>
            <a:r>
              <a:rPr lang="en-CA" sz="2400" dirty="0" err="1" smtClean="0"/>
              <a:t>McPAT</a:t>
            </a:r>
            <a:r>
              <a:rPr lang="en-CA" sz="2400" dirty="0" smtClean="0"/>
              <a:t>: Circuit level implementation</a:t>
            </a:r>
            <a:endParaRPr lang="en-CA" sz="2400" b="1" dirty="0" smtClean="0"/>
          </a:p>
          <a:p>
            <a:pPr lvl="1"/>
            <a:r>
              <a:rPr lang="en-CA" sz="2400" b="1" dirty="0" smtClean="0"/>
              <a:t>Extensible</a:t>
            </a:r>
            <a:r>
              <a:rPr lang="en-CA" sz="2400" dirty="0"/>
              <a:t>: Can model new components </a:t>
            </a:r>
            <a:r>
              <a:rPr lang="en-CA" sz="2400" dirty="0" smtClean="0"/>
              <a:t>or add more fine-grained per-component metrics</a:t>
            </a:r>
            <a:endParaRPr lang="en-CA" sz="2400" b="1" dirty="0" smtClean="0"/>
          </a:p>
          <a:p>
            <a:pPr lvl="1"/>
            <a:r>
              <a:rPr lang="en-CA" sz="2400" b="1" dirty="0" smtClean="0"/>
              <a:t>Validated</a:t>
            </a:r>
            <a:r>
              <a:rPr lang="en-CA" sz="2400" dirty="0" smtClean="0"/>
              <a:t>: Rigorously validated against NVIDIA GTX480 and </a:t>
            </a:r>
            <a:r>
              <a:rPr lang="en-CA" sz="2400" dirty="0" err="1" smtClean="0"/>
              <a:t>Quadro</a:t>
            </a:r>
            <a:r>
              <a:rPr lang="en-CA" sz="2400" dirty="0" smtClean="0"/>
              <a:t> </a:t>
            </a:r>
            <a:r>
              <a:rPr lang="en-CA" sz="2400" dirty="0" err="1" smtClean="0"/>
              <a:t>Fx</a:t>
            </a:r>
            <a:r>
              <a:rPr lang="en-CA" sz="2400" dirty="0" smtClean="0"/>
              <a:t> 5600 GPUs</a:t>
            </a:r>
          </a:p>
          <a:p>
            <a:r>
              <a:rPr lang="en-CA" dirty="0" smtClean="0"/>
              <a:t>Enables the exploration of new energy-efficiency optimizations for GPGPU research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36157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066800"/>
          </a:xfrm>
        </p:spPr>
        <p:txBody>
          <a:bodyPr>
            <a:normAutofit/>
          </a:bodyPr>
          <a:lstStyle/>
          <a:p>
            <a:r>
              <a:rPr lang="en-CA" dirty="0" err="1" smtClean="0"/>
              <a:t>GPUWattch</a:t>
            </a:r>
            <a:r>
              <a:rPr lang="en-US" dirty="0" smtClean="0"/>
              <a:t>: GPGPU-</a:t>
            </a:r>
            <a:r>
              <a:rPr lang="en-US" dirty="0" err="1" smtClean="0"/>
              <a:t>Sim</a:t>
            </a:r>
            <a:r>
              <a:rPr lang="en-US" dirty="0" smtClean="0"/>
              <a:t> with McPAT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02759" y="1882685"/>
            <a:ext cx="2071702" cy="178595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Modified McPAT</a:t>
            </a:r>
            <a:endParaRPr lang="en-US" baseline="30000" dirty="0" smtClean="0"/>
          </a:p>
          <a:p>
            <a:endParaRPr lang="en-US" baseline="30000" dirty="0" smtClean="0"/>
          </a:p>
          <a:p>
            <a:pPr>
              <a:buFont typeface="Arial" charset="0"/>
              <a:buChar char="•"/>
            </a:pPr>
            <a:r>
              <a:rPr lang="en-US" sz="1200" dirty="0" smtClean="0"/>
              <a:t> Modifications: Specific </a:t>
            </a:r>
            <a:r>
              <a:rPr lang="en-US" sz="1200" dirty="0"/>
              <a:t>micro-architectural </a:t>
            </a:r>
            <a:r>
              <a:rPr lang="en-US" sz="1200" dirty="0" smtClean="0"/>
              <a:t>components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6460738" y="1882685"/>
            <a:ext cx="2071702" cy="178595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GPGPU-</a:t>
            </a:r>
            <a:r>
              <a:rPr lang="en-US" dirty="0" err="1" smtClean="0"/>
              <a:t>Sim</a:t>
            </a:r>
            <a:endParaRPr lang="en-US" dirty="0" smtClean="0"/>
          </a:p>
          <a:p>
            <a:pPr>
              <a:buFont typeface="Arial" charset="0"/>
              <a:buChar char="•"/>
            </a:pPr>
            <a:endParaRPr lang="en-US" sz="1100" dirty="0" smtClean="0"/>
          </a:p>
          <a:p>
            <a:pPr>
              <a:buFont typeface="Arial" charset="0"/>
              <a:buChar char="•"/>
            </a:pPr>
            <a:r>
              <a:rPr lang="en-US" sz="1200" dirty="0" smtClean="0"/>
              <a:t> Modifications: Add required performance counters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2758" y="5528717"/>
            <a:ext cx="7529681" cy="36004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A Comprehensive Framework for Performance and Energy Optimization Research</a:t>
            </a:r>
            <a:endParaRPr lang="en-US" sz="1400" dirty="0"/>
          </a:p>
        </p:txBody>
      </p:sp>
      <p:sp>
        <p:nvSpPr>
          <p:cNvPr id="14" name="Rectangle 13"/>
          <p:cNvSpPr/>
          <p:nvPr/>
        </p:nvSpPr>
        <p:spPr>
          <a:xfrm>
            <a:off x="3074461" y="1882685"/>
            <a:ext cx="285752" cy="178595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 smtClean="0"/>
              <a:t>Interface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174986" y="1882685"/>
            <a:ext cx="285752" cy="178595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 smtClean="0"/>
              <a:t>Interface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02759" y="3933056"/>
            <a:ext cx="1092469" cy="64807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Static Power</a:t>
            </a:r>
            <a:endParaRPr lang="en-CA" dirty="0"/>
          </a:p>
        </p:txBody>
      </p:sp>
      <p:sp>
        <p:nvSpPr>
          <p:cNvPr id="13" name="Rectangle 12"/>
          <p:cNvSpPr/>
          <p:nvPr/>
        </p:nvSpPr>
        <p:spPr>
          <a:xfrm>
            <a:off x="2267745" y="3933056"/>
            <a:ext cx="1092468" cy="64807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Dynamic Power</a:t>
            </a:r>
            <a:endParaRPr lang="en-CA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545214" y="3668634"/>
            <a:ext cx="0" cy="267495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3" idx="0"/>
          </p:cNvCxnSpPr>
          <p:nvPr/>
        </p:nvCxnSpPr>
        <p:spPr>
          <a:xfrm>
            <a:off x="2813979" y="3647658"/>
            <a:ext cx="0" cy="285398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13" idx="3"/>
          </p:cNvCxnSpPr>
          <p:nvPr/>
        </p:nvCxnSpPr>
        <p:spPr>
          <a:xfrm flipV="1">
            <a:off x="3360213" y="3284984"/>
            <a:ext cx="2814773" cy="972108"/>
          </a:xfrm>
          <a:prstGeom prst="bentConnector3">
            <a:avLst/>
          </a:prstGeom>
          <a:ln w="38100">
            <a:solidFill>
              <a:srgbClr val="00206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3360213" y="3284984"/>
            <a:ext cx="1357322" cy="0"/>
          </a:xfrm>
          <a:prstGeom prst="line">
            <a:avLst/>
          </a:prstGeom>
          <a:ln w="3810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519475" y="4847371"/>
            <a:ext cx="15193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Detailed Power </a:t>
            </a:r>
            <a:r>
              <a:rPr lang="en-US" sz="1400" dirty="0" smtClean="0"/>
              <a:t>Stats</a:t>
            </a:r>
            <a:endParaRPr lang="en-US" sz="1400" dirty="0"/>
          </a:p>
        </p:txBody>
      </p:sp>
      <p:cxnSp>
        <p:nvCxnSpPr>
          <p:cNvPr id="43" name="Straight Connector 42"/>
          <p:cNvCxnSpPr>
            <a:stCxn id="6" idx="2"/>
          </p:cNvCxnSpPr>
          <p:nvPr/>
        </p:nvCxnSpPr>
        <p:spPr>
          <a:xfrm>
            <a:off x="1548994" y="4581128"/>
            <a:ext cx="629006" cy="631338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>
            <a:off x="2178000" y="4581128"/>
            <a:ext cx="635981" cy="631338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2178000" y="5212466"/>
            <a:ext cx="0" cy="316251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020271" y="4365104"/>
            <a:ext cx="1901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Detailed Performance </a:t>
            </a:r>
            <a:r>
              <a:rPr lang="en-US" sz="1400" dirty="0" smtClean="0"/>
              <a:t>Stats</a:t>
            </a:r>
            <a:endParaRPr lang="en-US" sz="1400" dirty="0"/>
          </a:p>
        </p:txBody>
      </p:sp>
      <p:cxnSp>
        <p:nvCxnSpPr>
          <p:cNvPr id="72" name="Straight Arrow Connector 71"/>
          <p:cNvCxnSpPr/>
          <p:nvPr/>
        </p:nvCxnSpPr>
        <p:spPr>
          <a:xfrm>
            <a:off x="7020272" y="3647658"/>
            <a:ext cx="0" cy="1860082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752520" y="3284984"/>
            <a:ext cx="1515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 smtClean="0"/>
              <a:t>Feedback-driven</a:t>
            </a:r>
            <a:br>
              <a:rPr lang="en-CA" sz="1400" dirty="0" smtClean="0"/>
            </a:br>
            <a:r>
              <a:rPr lang="en-CA" sz="1400" dirty="0" smtClean="0"/>
              <a:t>Optimizations</a:t>
            </a:r>
          </a:p>
        </p:txBody>
      </p:sp>
      <p:cxnSp>
        <p:nvCxnSpPr>
          <p:cNvPr id="75" name="Straight Arrow Connector 74"/>
          <p:cNvCxnSpPr/>
          <p:nvPr/>
        </p:nvCxnSpPr>
        <p:spPr>
          <a:xfrm flipH="1">
            <a:off x="3360213" y="2348880"/>
            <a:ext cx="2814773" cy="0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785748" y="2040116"/>
            <a:ext cx="1933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Performance </a:t>
            </a:r>
            <a:r>
              <a:rPr lang="en-US" sz="1400" dirty="0" smtClean="0"/>
              <a:t>counters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38463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29952"/>
            <a:ext cx="8229600" cy="1066800"/>
          </a:xfrm>
        </p:spPr>
        <p:txBody>
          <a:bodyPr>
            <a:normAutofit/>
          </a:bodyPr>
          <a:lstStyle/>
          <a:p>
            <a:r>
              <a:rPr lang="en-CA" dirty="0" smtClean="0"/>
              <a:t>Modeling </a:t>
            </a:r>
            <a:r>
              <a:rPr lang="en-CA" sz="2200" dirty="0" smtClean="0"/>
              <a:t>Bottom </a:t>
            </a:r>
            <a:r>
              <a:rPr lang="en-CA" sz="2200" dirty="0"/>
              <a:t>Up: McPAT </a:t>
            </a:r>
            <a:r>
              <a:rPr lang="en-CA" sz="2200" dirty="0" smtClean="0"/>
              <a:t>Modifications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sz="2400" dirty="0" smtClean="0"/>
              <a:t>Baseline </a:t>
            </a:r>
            <a:r>
              <a:rPr lang="en-CA" sz="2400" dirty="0" err="1" smtClean="0"/>
              <a:t>McPAT</a:t>
            </a:r>
            <a:endParaRPr lang="en-CA" sz="2400" dirty="0" smtClean="0"/>
          </a:p>
          <a:p>
            <a:pPr lvl="1"/>
            <a:r>
              <a:rPr lang="en-CA" sz="2200" dirty="0" smtClean="0"/>
              <a:t>Multi-core CPU power simulator</a:t>
            </a:r>
          </a:p>
          <a:p>
            <a:pPr lvl="1"/>
            <a:r>
              <a:rPr lang="en-CA" sz="2200" dirty="0" smtClean="0"/>
              <a:t>Detailed models for CPU </a:t>
            </a:r>
            <a:r>
              <a:rPr lang="en-CA" sz="2200" dirty="0" err="1" smtClean="0"/>
              <a:t>microarchitectural</a:t>
            </a:r>
            <a:r>
              <a:rPr lang="en-CA" sz="2200" dirty="0" smtClean="0"/>
              <a:t> blocks</a:t>
            </a:r>
            <a:br>
              <a:rPr lang="en-CA" sz="2200" dirty="0" smtClean="0"/>
            </a:br>
            <a:endParaRPr lang="en-CA" sz="2200" dirty="0" smtClean="0"/>
          </a:p>
          <a:p>
            <a:r>
              <a:rPr lang="en-CA" sz="2400" dirty="0" smtClean="0"/>
              <a:t>Modified </a:t>
            </a:r>
            <a:r>
              <a:rPr lang="en-CA" sz="2400" dirty="0" err="1" smtClean="0"/>
              <a:t>McPAT</a:t>
            </a:r>
            <a:r>
              <a:rPr lang="en-CA" sz="2400" dirty="0" smtClean="0"/>
              <a:t> to account for GPU specific </a:t>
            </a:r>
            <a:r>
              <a:rPr lang="en-CA" sz="2400" dirty="0" err="1" smtClean="0"/>
              <a:t>microarchitectural</a:t>
            </a:r>
            <a:r>
              <a:rPr lang="en-CA" sz="2400" dirty="0" smtClean="0"/>
              <a:t> components </a:t>
            </a:r>
            <a:br>
              <a:rPr lang="en-CA" sz="2400" dirty="0" smtClean="0"/>
            </a:br>
            <a:endParaRPr lang="en-CA" sz="2400" dirty="0" smtClean="0"/>
          </a:p>
          <a:p>
            <a:r>
              <a:rPr lang="en-CA" sz="2400" dirty="0" smtClean="0"/>
              <a:t>Some of the main components that were added/modified:</a:t>
            </a:r>
          </a:p>
          <a:p>
            <a:pPr lvl="1"/>
            <a:r>
              <a:rPr lang="en-CA" sz="2200" dirty="0" smtClean="0"/>
              <a:t>SM Pipeline</a:t>
            </a:r>
          </a:p>
          <a:p>
            <a:pPr lvl="1"/>
            <a:r>
              <a:rPr lang="en-CA" sz="2200" dirty="0" smtClean="0"/>
              <a:t>Register File</a:t>
            </a:r>
          </a:p>
          <a:p>
            <a:pPr lvl="1"/>
            <a:r>
              <a:rPr lang="en-CA" sz="2200" dirty="0"/>
              <a:t>Caches</a:t>
            </a:r>
            <a:endParaRPr lang="en-CA" sz="2200" dirty="0" smtClean="0"/>
          </a:p>
          <a:p>
            <a:pPr lvl="1"/>
            <a:r>
              <a:rPr lang="en-CA" sz="2200" dirty="0" smtClean="0"/>
              <a:t>Shared Memory</a:t>
            </a:r>
          </a:p>
          <a:p>
            <a:pPr lvl="1"/>
            <a:r>
              <a:rPr lang="en-CA" sz="2200" dirty="0" smtClean="0"/>
              <a:t>Execution Units</a:t>
            </a:r>
          </a:p>
          <a:p>
            <a:pPr lvl="1"/>
            <a:r>
              <a:rPr lang="en-CA" sz="2200" dirty="0" smtClean="0"/>
              <a:t>Main Memory</a:t>
            </a:r>
          </a:p>
          <a:p>
            <a:pPr lvl="1"/>
            <a:endParaRPr lang="en-CA" sz="2200" dirty="0"/>
          </a:p>
        </p:txBody>
      </p:sp>
    </p:spTree>
    <p:extLst>
      <p:ext uri="{BB962C8B-B14F-4D97-AF65-F5344CB8AC3E}">
        <p14:creationId xmlns:p14="http://schemas.microsoft.com/office/powerpoint/2010/main" val="1429522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066800"/>
          </a:xfrm>
        </p:spPr>
        <p:txBody>
          <a:bodyPr>
            <a:normAutofit/>
          </a:bodyPr>
          <a:lstStyle/>
          <a:p>
            <a:r>
              <a:rPr lang="en-CA" dirty="0" smtClean="0"/>
              <a:t>Modeling: </a:t>
            </a:r>
            <a:r>
              <a:rPr lang="en-CA" sz="2200" dirty="0" smtClean="0"/>
              <a:t>Bottom </a:t>
            </a:r>
            <a:r>
              <a:rPr lang="en-CA" sz="2200" dirty="0"/>
              <a:t>Up: </a:t>
            </a:r>
            <a:r>
              <a:rPr lang="en-US" sz="2200" dirty="0" smtClean="0"/>
              <a:t>GPGPU-</a:t>
            </a:r>
            <a:r>
              <a:rPr lang="en-US" sz="2200" dirty="0" err="1" smtClean="0"/>
              <a:t>Sim</a:t>
            </a:r>
            <a:r>
              <a:rPr lang="en-US" sz="2200" dirty="0" smtClean="0"/>
              <a:t> modifications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00808"/>
            <a:ext cx="8229600" cy="4320480"/>
          </a:xfrm>
        </p:spPr>
        <p:txBody>
          <a:bodyPr>
            <a:normAutofit/>
          </a:bodyPr>
          <a:lstStyle/>
          <a:p>
            <a:r>
              <a:rPr lang="en-CA" dirty="0" smtClean="0"/>
              <a:t>Added performance counters required by </a:t>
            </a:r>
            <a:r>
              <a:rPr lang="en-CA" dirty="0" err="1" smtClean="0"/>
              <a:t>McPAT</a:t>
            </a:r>
            <a:r>
              <a:rPr lang="en-CA" dirty="0" smtClean="0"/>
              <a:t/>
            </a:r>
            <a:br>
              <a:rPr lang="en-CA" dirty="0" smtClean="0"/>
            </a:br>
            <a:endParaRPr lang="en-CA" dirty="0" smtClean="0"/>
          </a:p>
          <a:p>
            <a:r>
              <a:rPr lang="en-CA" dirty="0" smtClean="0"/>
              <a:t>Structures added to manage performance counters</a:t>
            </a:r>
            <a:br>
              <a:rPr lang="en-CA" dirty="0" smtClean="0"/>
            </a:br>
            <a:endParaRPr lang="en-CA" dirty="0" smtClean="0"/>
          </a:p>
          <a:p>
            <a:r>
              <a:rPr lang="en-CA" dirty="0" smtClean="0"/>
              <a:t>Files added to interface with </a:t>
            </a:r>
            <a:r>
              <a:rPr lang="en-CA" dirty="0" err="1" smtClean="0"/>
              <a:t>McPAT</a:t>
            </a:r>
            <a:r>
              <a:rPr lang="en-CA" dirty="0" smtClean="0"/>
              <a:t/>
            </a:r>
            <a:br>
              <a:rPr lang="en-CA" dirty="0" smtClean="0"/>
            </a:br>
            <a:endParaRPr lang="en-CA" dirty="0"/>
          </a:p>
          <a:p>
            <a:r>
              <a:rPr lang="en-CA" dirty="0" smtClean="0"/>
              <a:t>Existing timing model </a:t>
            </a:r>
            <a:r>
              <a:rPr lang="en-CA" b="1" dirty="0" smtClean="0"/>
              <a:t>not</a:t>
            </a:r>
            <a:r>
              <a:rPr lang="en-CA" dirty="0" smtClean="0"/>
              <a:t> affected by any GPGPU-</a:t>
            </a:r>
            <a:r>
              <a:rPr lang="en-CA" dirty="0" err="1" smtClean="0"/>
              <a:t>Sim</a:t>
            </a:r>
            <a:r>
              <a:rPr lang="en-CA" dirty="0" smtClean="0"/>
              <a:t> modifications</a:t>
            </a:r>
          </a:p>
        </p:txBody>
      </p:sp>
    </p:spTree>
    <p:extLst>
      <p:ext uri="{BB962C8B-B14F-4D97-AF65-F5344CB8AC3E}">
        <p14:creationId xmlns:p14="http://schemas.microsoft.com/office/powerpoint/2010/main" val="334782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00808"/>
            <a:ext cx="8229600" cy="1008112"/>
          </a:xfrm>
        </p:spPr>
        <p:txBody>
          <a:bodyPr/>
          <a:lstStyle/>
          <a:p>
            <a:r>
              <a:rPr lang="en-CA" sz="2400" dirty="0" smtClean="0"/>
              <a:t>Current version utilizes 30 performance counters</a:t>
            </a:r>
          </a:p>
          <a:p>
            <a:endParaRPr lang="en-CA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60559"/>
              </p:ext>
            </p:extLst>
          </p:nvPr>
        </p:nvGraphicFramePr>
        <p:xfrm>
          <a:off x="467544" y="2420885"/>
          <a:ext cx="7776864" cy="3969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9769"/>
                <a:gridCol w="1959769"/>
                <a:gridCol w="1928663"/>
                <a:gridCol w="1928663"/>
              </a:tblGrid>
              <a:tr h="56953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b="1" u="none" strike="noStrike" dirty="0">
                          <a:effectLst/>
                        </a:rPr>
                        <a:t>Main Component</a:t>
                      </a:r>
                      <a:endParaRPr lang="en-CA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b="1" u="none" strike="noStrike" dirty="0">
                          <a:effectLst/>
                        </a:rPr>
                        <a:t>Performance Counters</a:t>
                      </a:r>
                      <a:endParaRPr lang="en-CA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b="1" u="none" strike="noStrike" dirty="0">
                          <a:effectLst/>
                        </a:rPr>
                        <a:t>Main Component</a:t>
                      </a:r>
                      <a:endParaRPr lang="en-CA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b="1" u="none" strike="noStrike" dirty="0">
                          <a:effectLst/>
                        </a:rPr>
                        <a:t>Performance Counters</a:t>
                      </a:r>
                      <a:endParaRPr lang="en-CA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0906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dirty="0">
                          <a:effectLst/>
                        </a:rPr>
                        <a:t>Instruction cache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>
                          <a:effectLst/>
                        </a:rPr>
                        <a:t>Read hit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dirty="0">
                          <a:effectLst/>
                        </a:rPr>
                        <a:t>L2 Data cache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>
                          <a:effectLst/>
                        </a:rPr>
                        <a:t>Read hit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068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>
                          <a:effectLst/>
                        </a:rPr>
                        <a:t>Read miss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>
                          <a:effectLst/>
                        </a:rPr>
                        <a:t>Read miss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068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dirty="0">
                          <a:effectLst/>
                        </a:rPr>
                        <a:t>L1 Data cache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>
                          <a:effectLst/>
                        </a:rPr>
                        <a:t>Read hit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>
                          <a:effectLst/>
                        </a:rPr>
                        <a:t>Write hit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068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>
                          <a:effectLst/>
                        </a:rPr>
                        <a:t>Read miss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>
                          <a:effectLst/>
                        </a:rPr>
                        <a:t>Write miss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068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>
                          <a:effectLst/>
                        </a:rPr>
                        <a:t>Write hit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dirty="0">
                          <a:effectLst/>
                        </a:rPr>
                        <a:t>Memory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>
                          <a:effectLst/>
                        </a:rPr>
                        <a:t>Reads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068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>
                          <a:effectLst/>
                        </a:rPr>
                        <a:t>Write miss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dirty="0">
                          <a:effectLst/>
                        </a:rPr>
                        <a:t>Writes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06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dirty="0">
                          <a:effectLst/>
                        </a:rPr>
                        <a:t>Texture cache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>
                          <a:effectLst/>
                        </a:rPr>
                        <a:t>Read hit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dirty="0" err="1">
                          <a:effectLst/>
                        </a:rPr>
                        <a:t>Precharges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068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>
                          <a:effectLst/>
                        </a:rPr>
                        <a:t>Read miss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dirty="0">
                          <a:effectLst/>
                        </a:rPr>
                        <a:t>Register file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>
                          <a:effectLst/>
                        </a:rPr>
                        <a:t>Reads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06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dirty="0">
                          <a:effectLst/>
                        </a:rPr>
                        <a:t>Constant cache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>
                          <a:effectLst/>
                        </a:rPr>
                        <a:t>Read hit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dirty="0">
                          <a:effectLst/>
                        </a:rPr>
                        <a:t>Writes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8136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dirty="0">
                          <a:effectLst/>
                        </a:rPr>
                        <a:t>Read miss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dirty="0">
                          <a:effectLst/>
                        </a:rPr>
                        <a:t>Non-register file operand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066800"/>
          </a:xfrm>
        </p:spPr>
        <p:txBody>
          <a:bodyPr>
            <a:normAutofit/>
          </a:bodyPr>
          <a:lstStyle/>
          <a:p>
            <a:r>
              <a:rPr lang="en-CA" dirty="0" smtClean="0"/>
              <a:t>Modeling: </a:t>
            </a:r>
            <a:r>
              <a:rPr lang="en-CA" sz="2200" dirty="0" smtClean="0"/>
              <a:t>Bottom </a:t>
            </a:r>
            <a:r>
              <a:rPr lang="en-CA" sz="2200" dirty="0"/>
              <a:t>Up: </a:t>
            </a:r>
            <a:r>
              <a:rPr lang="en-US" sz="2200" dirty="0" smtClean="0"/>
              <a:t>GPGPU-</a:t>
            </a:r>
            <a:r>
              <a:rPr lang="en-US" sz="2200" dirty="0" err="1" smtClean="0"/>
              <a:t>Sim</a:t>
            </a:r>
            <a:r>
              <a:rPr lang="en-US" sz="2200" dirty="0" smtClean="0"/>
              <a:t> modifications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24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00808"/>
            <a:ext cx="8229600" cy="1008112"/>
          </a:xfrm>
        </p:spPr>
        <p:txBody>
          <a:bodyPr/>
          <a:lstStyle/>
          <a:p>
            <a:r>
              <a:rPr lang="en-CA" sz="2400" dirty="0" smtClean="0"/>
              <a:t>Current version utilizes 30 performance counters</a:t>
            </a:r>
          </a:p>
          <a:p>
            <a:endParaRPr lang="en-CA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88722"/>
              </p:ext>
            </p:extLst>
          </p:nvPr>
        </p:nvGraphicFramePr>
        <p:xfrm>
          <a:off x="467545" y="2420888"/>
          <a:ext cx="7776864" cy="38185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4216"/>
                <a:gridCol w="2232248"/>
                <a:gridCol w="1872208"/>
                <a:gridCol w="1728192"/>
              </a:tblGrid>
              <a:tr h="593765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b="1" u="none" strike="noStrike" dirty="0">
                          <a:effectLst/>
                        </a:rPr>
                        <a:t>Main Component</a:t>
                      </a:r>
                      <a:endParaRPr lang="en-CA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b="1" u="none" strike="noStrike" dirty="0">
                          <a:effectLst/>
                        </a:rPr>
                        <a:t>Performance Counters</a:t>
                      </a:r>
                      <a:endParaRPr lang="en-CA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b="1" u="none" strike="noStrike" dirty="0">
                          <a:effectLst/>
                        </a:rPr>
                        <a:t>Main Component</a:t>
                      </a:r>
                      <a:endParaRPr lang="en-CA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b="1" u="none" strike="noStrike" dirty="0">
                          <a:effectLst/>
                        </a:rPr>
                        <a:t>Performance Counters</a:t>
                      </a:r>
                      <a:endParaRPr lang="en-CA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2804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Decoding/Scheduling</a:t>
                      </a:r>
                      <a:endParaRPr lang="en-CA" sz="1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6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# instructions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dirty="0">
                          <a:effectLst/>
                        </a:rPr>
                        <a:t>Shared Memory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dirty="0">
                          <a:effectLst/>
                        </a:rPr>
                        <a:t>Accesses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804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600" u="none" strike="noStrike" dirty="0" smtClean="0">
                          <a:effectLst/>
                        </a:rPr>
                        <a:t>FP_INT instructions</a:t>
                      </a:r>
                      <a:endParaRPr lang="en-CA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</a:tr>
              <a:tr h="656094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dirty="0">
                          <a:effectLst/>
                        </a:rPr>
                        <a:t>Pipeline </a:t>
                      </a:r>
                      <a:r>
                        <a:rPr lang="en-CA" sz="1600" u="none" strike="noStrike" dirty="0" err="1">
                          <a:effectLst/>
                        </a:rPr>
                        <a:t>dutycycle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dirty="0">
                          <a:effectLst/>
                        </a:rPr>
                        <a:t>Fraction of </a:t>
                      </a:r>
                      <a:r>
                        <a:rPr lang="en-CA" sz="1600" u="none" strike="noStrike" dirty="0" smtClean="0">
                          <a:effectLst/>
                        </a:rPr>
                        <a:t>committed </a:t>
                      </a:r>
                      <a:r>
                        <a:rPr lang="en-CA" sz="1600" u="none" strike="noStrike" dirty="0">
                          <a:effectLst/>
                        </a:rPr>
                        <a:t>instructions per cycle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dirty="0">
                          <a:effectLst/>
                        </a:rPr>
                        <a:t>Execution Units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dirty="0">
                          <a:effectLst/>
                        </a:rPr>
                        <a:t>SP accesses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6094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dirty="0">
                          <a:effectLst/>
                        </a:rPr>
                        <a:t>Idle core 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dirty="0">
                          <a:effectLst/>
                        </a:rPr>
                        <a:t>Number of cycles each SM is idle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dirty="0">
                          <a:effectLst/>
                        </a:rPr>
                        <a:t>SFU accesses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06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dirty="0">
                          <a:effectLst/>
                        </a:rPr>
                        <a:t>Interconnect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dirty="0">
                          <a:effectLst/>
                        </a:rPr>
                        <a:t># of flits from SIMT cores to Memory Partition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dirty="0">
                          <a:effectLst/>
                        </a:rPr>
                        <a:t>FPU accesses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4420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600" u="none" strike="noStrike" dirty="0">
                          <a:effectLst/>
                        </a:rPr>
                        <a:t># of flits from Memory Partition to SIMT cores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066800"/>
          </a:xfrm>
        </p:spPr>
        <p:txBody>
          <a:bodyPr>
            <a:normAutofit/>
          </a:bodyPr>
          <a:lstStyle/>
          <a:p>
            <a:r>
              <a:rPr lang="en-CA" dirty="0" smtClean="0"/>
              <a:t>Modeling: </a:t>
            </a:r>
            <a:r>
              <a:rPr lang="en-CA" sz="2200" dirty="0" smtClean="0"/>
              <a:t>Bottom </a:t>
            </a:r>
            <a:r>
              <a:rPr lang="en-CA" sz="2200" dirty="0"/>
              <a:t>Up: </a:t>
            </a:r>
            <a:r>
              <a:rPr lang="en-US" sz="2200" dirty="0" smtClean="0"/>
              <a:t>GPGPU-</a:t>
            </a:r>
            <a:r>
              <a:rPr lang="en-US" sz="2200" dirty="0" err="1" smtClean="0"/>
              <a:t>Sim</a:t>
            </a:r>
            <a:r>
              <a:rPr lang="en-US" sz="2200" dirty="0" smtClean="0"/>
              <a:t> modifications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079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Accuracy (Average Power)</a:t>
            </a:r>
            <a:endParaRPr lang="en-CA" dirty="0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4237261"/>
              </p:ext>
            </p:extLst>
          </p:nvPr>
        </p:nvGraphicFramePr>
        <p:xfrm>
          <a:off x="539552" y="1340768"/>
          <a:ext cx="7762057" cy="4971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109692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Status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916832"/>
            <a:ext cx="4867275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字方塊 10"/>
          <p:cNvSpPr txBox="1"/>
          <p:nvPr/>
        </p:nvSpPr>
        <p:spPr>
          <a:xfrm>
            <a:off x="827584" y="5084966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Gem5-gpu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7164288" y="1893786"/>
            <a:ext cx="1269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GPUWattch</a:t>
            </a:r>
            <a:endParaRPr lang="zh-TW" altLang="en-US" dirty="0"/>
          </a:p>
        </p:txBody>
      </p:sp>
      <p:cxnSp>
        <p:nvCxnSpPr>
          <p:cNvPr id="8" name="直線單箭頭接點 7"/>
          <p:cNvCxnSpPr>
            <a:stCxn id="12" idx="1"/>
          </p:cNvCxnSpPr>
          <p:nvPr/>
        </p:nvCxnSpPr>
        <p:spPr>
          <a:xfrm flipH="1">
            <a:off x="5076056" y="2078452"/>
            <a:ext cx="2088232" cy="9185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11" idx="0"/>
          </p:cNvCxnSpPr>
          <p:nvPr/>
        </p:nvCxnSpPr>
        <p:spPr>
          <a:xfrm flipV="1">
            <a:off x="1412841" y="3593232"/>
            <a:ext cx="2079039" cy="149173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單箭頭接點 3"/>
          <p:cNvCxnSpPr/>
          <p:nvPr/>
        </p:nvCxnSpPr>
        <p:spPr>
          <a:xfrm>
            <a:off x="1412841" y="2078452"/>
            <a:ext cx="782895" cy="630468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>
            <a:off x="1412841" y="2078452"/>
            <a:ext cx="3519199" cy="0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518761" y="1628800"/>
            <a:ext cx="1944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CPU power model</a:t>
            </a:r>
            <a:endParaRPr lang="zh-TW" altLang="en-US" dirty="0"/>
          </a:p>
        </p:txBody>
      </p:sp>
      <p:cxnSp>
        <p:nvCxnSpPr>
          <p:cNvPr id="14" name="直線單箭頭接點 13"/>
          <p:cNvCxnSpPr/>
          <p:nvPr/>
        </p:nvCxnSpPr>
        <p:spPr>
          <a:xfrm flipH="1" flipV="1">
            <a:off x="4788024" y="3717032"/>
            <a:ext cx="864096" cy="1552600"/>
          </a:xfrm>
          <a:prstGeom prst="straightConnector1">
            <a:avLst/>
          </a:prstGeom>
          <a:ln w="3810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5436095" y="5454298"/>
            <a:ext cx="2997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Different GPGPU-</a:t>
            </a:r>
            <a:r>
              <a:rPr lang="en-US" altLang="zh-TW" dirty="0" err="1" smtClean="0"/>
              <a:t>Sim</a:t>
            </a:r>
            <a:r>
              <a:rPr lang="en-US" altLang="zh-TW" dirty="0" smtClean="0"/>
              <a:t> version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57957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Reference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smtClean="0"/>
              <a:t>Slides p3~p12, p25~p31 are from </a:t>
            </a:r>
            <a:r>
              <a:rPr lang="en-US" altLang="zh-TW" dirty="0" err="1" smtClean="0"/>
              <a:t>gpgpusim</a:t>
            </a:r>
            <a:r>
              <a:rPr lang="en-US" altLang="zh-TW" dirty="0" smtClean="0"/>
              <a:t> tutorial at MICRO 2012.</a:t>
            </a:r>
          </a:p>
          <a:p>
            <a:pPr lvl="1"/>
            <a:r>
              <a:rPr lang="en-US" altLang="zh-TW" dirty="0" smtClean="0"/>
              <a:t>Following pages are used:</a:t>
            </a:r>
          </a:p>
          <a:p>
            <a:pPr lvl="2"/>
            <a:r>
              <a:rPr lang="en-US" altLang="zh-TW" dirty="0"/>
              <a:t>1-Tutorial-Intro: </a:t>
            </a:r>
            <a:r>
              <a:rPr lang="en-US" altLang="zh-TW" dirty="0" smtClean="0"/>
              <a:t>21,22</a:t>
            </a:r>
          </a:p>
          <a:p>
            <a:pPr lvl="2"/>
            <a:r>
              <a:rPr lang="en-US" altLang="zh-TW" dirty="0"/>
              <a:t>2-GPGPU-Sim-Overview</a:t>
            </a:r>
            <a:r>
              <a:rPr lang="en-US" altLang="zh-TW" dirty="0" smtClean="0"/>
              <a:t>:  4,5,7,10,12</a:t>
            </a:r>
          </a:p>
          <a:p>
            <a:pPr lvl="2"/>
            <a:r>
              <a:rPr lang="en-US" altLang="zh-TW" dirty="0" smtClean="0"/>
              <a:t>4-Microarchitecture: 9,47</a:t>
            </a:r>
          </a:p>
          <a:p>
            <a:pPr lvl="2"/>
            <a:r>
              <a:rPr lang="en-US" altLang="zh-TW" dirty="0" smtClean="0"/>
              <a:t>5c-GPUWattch</a:t>
            </a:r>
            <a:r>
              <a:rPr lang="en-US" altLang="zh-TW" dirty="0"/>
              <a:t>: 5,9,13,15,19~21</a:t>
            </a:r>
            <a:endParaRPr lang="en-US" altLang="zh-TW" dirty="0" smtClean="0"/>
          </a:p>
          <a:p>
            <a:r>
              <a:rPr lang="en-US" altLang="zh-TW" dirty="0" smtClean="0"/>
              <a:t>Slides p13~p23 are mainly from</a:t>
            </a:r>
          </a:p>
          <a:p>
            <a:pPr lvl="1"/>
            <a:r>
              <a:rPr lang="en-US" altLang="zh-TW" dirty="0"/>
              <a:t>Gem5-gpu </a:t>
            </a:r>
            <a:r>
              <a:rPr lang="en-US" altLang="zh-TW" dirty="0" smtClean="0"/>
              <a:t>simulator(</a:t>
            </a:r>
            <a:r>
              <a:rPr lang="en-US" altLang="zh-TW" dirty="0" smtClean="0">
                <a:hlinkClick r:id="rId2"/>
              </a:rPr>
              <a:t>http://gem5-gpu.cs.wisc.edu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 lvl="1"/>
            <a:r>
              <a:rPr lang="en-US" altLang="zh-TW" sz="2000" dirty="0"/>
              <a:t>Supporting x86-64 address translation for 100s of </a:t>
            </a:r>
            <a:r>
              <a:rPr lang="en-US" altLang="zh-TW" sz="2000" dirty="0" err="1"/>
              <a:t>gpu</a:t>
            </a:r>
            <a:r>
              <a:rPr lang="en-US" altLang="zh-TW" sz="2000" dirty="0"/>
              <a:t> lanes(HPCA '14)</a:t>
            </a:r>
            <a:endParaRPr lang="en-US" altLang="zh-TW" sz="2000" dirty="0" smtClean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21684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原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原創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原創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498</TotalTime>
  <Words>1022</Words>
  <Application>Microsoft Office PowerPoint</Application>
  <PresentationFormat>如螢幕大小 (4:3)</PresentationFormat>
  <Paragraphs>333</Paragraphs>
  <Slides>33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34" baseType="lpstr">
      <vt:lpstr>原創</vt:lpstr>
      <vt:lpstr>GPU simulation Technology</vt:lpstr>
      <vt:lpstr>Outline</vt:lpstr>
      <vt:lpstr>What GPGPU-Sim Simulates</vt:lpstr>
      <vt:lpstr>Functional Model (PTX)</vt:lpstr>
      <vt:lpstr>Functional Model (SASS)</vt:lpstr>
      <vt:lpstr>Timing Model for Compute Parts of a GPU</vt:lpstr>
      <vt:lpstr>Timing Model for GPU Micro-architecture</vt:lpstr>
      <vt:lpstr>GPU Microarchitecture Overview</vt:lpstr>
      <vt:lpstr>Inside a SIMT Core (3.0)</vt:lpstr>
      <vt:lpstr>Memory Partition</vt:lpstr>
      <vt:lpstr>Accuracy</vt:lpstr>
      <vt:lpstr>Accuracy</vt:lpstr>
      <vt:lpstr>Gem5-gpu</vt:lpstr>
      <vt:lpstr>Gem5-gpu: Gem5 + GPGPU-Sim</vt:lpstr>
      <vt:lpstr>Case study:  GPU MMU design</vt:lpstr>
      <vt:lpstr>Target simulation architecture</vt:lpstr>
      <vt:lpstr>MMU design for HSA</vt:lpstr>
      <vt:lpstr>Discussion of GPU MMU design</vt:lpstr>
      <vt:lpstr>Paper’s observation 1: global memory access</vt:lpstr>
      <vt:lpstr>Paper’s observation 2: memory bandwidth</vt:lpstr>
      <vt:lpstr>Paper’s observation 3:TLB miss rate</vt:lpstr>
      <vt:lpstr>Paper’s proposed architecture</vt:lpstr>
      <vt:lpstr>MMU performance</vt:lpstr>
      <vt:lpstr>GPUWattch</vt:lpstr>
      <vt:lpstr>Power Model: GPUWattch</vt:lpstr>
      <vt:lpstr>GPUWattch: GPGPU-Sim with McPAT</vt:lpstr>
      <vt:lpstr>Modeling Bottom Up: McPAT Modifications</vt:lpstr>
      <vt:lpstr>Modeling: Bottom Up: GPGPU-Sim modifications</vt:lpstr>
      <vt:lpstr>Modeling: Bottom Up: GPGPU-Sim modifications</vt:lpstr>
      <vt:lpstr>Modeling: Bottom Up: GPGPU-Sim modifications</vt:lpstr>
      <vt:lpstr>Accuracy (Average Power)</vt:lpstr>
      <vt:lpstr>Status</vt:lpstr>
      <vt:lpstr>Reference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GPU sumulation Technology</dc:title>
  <dc:creator>Yenkai</dc:creator>
  <cp:lastModifiedBy>Yeh-Ching Chung</cp:lastModifiedBy>
  <cp:revision>211</cp:revision>
  <dcterms:created xsi:type="dcterms:W3CDTF">2014-04-11T05:43:33Z</dcterms:created>
  <dcterms:modified xsi:type="dcterms:W3CDTF">2014-04-28T07:31:54Z</dcterms:modified>
</cp:coreProperties>
</file>