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6" r:id="rId2"/>
    <p:sldMasterId id="2147483700" r:id="rId3"/>
  </p:sldMasterIdLst>
  <p:sldIdLst>
    <p:sldId id="257" r:id="rId4"/>
    <p:sldId id="28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9" r:id="rId24"/>
    <p:sldId id="290" r:id="rId25"/>
    <p:sldId id="287" r:id="rId26"/>
    <p:sldId id="288" r:id="rId27"/>
    <p:sldId id="291" r:id="rId28"/>
    <p:sldId id="292" r:id="rId29"/>
    <p:sldId id="293" r:id="rId30"/>
    <p:sldId id="294" r:id="rId31"/>
    <p:sldId id="295" r:id="rId32"/>
    <p:sldId id="286" r:id="rId33"/>
    <p:sldId id="268" r:id="rId34"/>
    <p:sldId id="269" r:id="rId35"/>
    <p:sldId id="273" r:id="rId36"/>
    <p:sldId id="271" r:id="rId37"/>
    <p:sldId id="272" r:id="rId3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41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844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76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76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80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1688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844"/>
            </a:lvl1pPr>
            <a:lvl2pPr marL="192881" indent="0">
              <a:buNone/>
              <a:defRPr sz="760"/>
            </a:lvl2pPr>
            <a:lvl3pPr marL="385763" indent="0">
              <a:buNone/>
              <a:defRPr sz="675"/>
            </a:lvl3pPr>
            <a:lvl4pPr marL="578644" indent="0">
              <a:buNone/>
              <a:defRPr sz="591"/>
            </a:lvl4pPr>
            <a:lvl5pPr marL="771525" indent="0">
              <a:buNone/>
              <a:defRPr sz="591"/>
            </a:lvl5pPr>
            <a:lvl6pPr marL="964406" indent="0">
              <a:buNone/>
              <a:defRPr sz="591"/>
            </a:lvl6pPr>
            <a:lvl7pPr marL="1157288" indent="0">
              <a:buNone/>
              <a:defRPr sz="591"/>
            </a:lvl7pPr>
            <a:lvl8pPr marL="1350169" indent="0">
              <a:buNone/>
              <a:defRPr sz="591"/>
            </a:lvl8pPr>
            <a:lvl9pPr marL="1543050" indent="0">
              <a:buNone/>
              <a:defRPr sz="59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33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647700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647700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02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30" y="1535113"/>
            <a:ext cx="4041775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294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92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8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60"/>
            <a:ext cx="5111750" cy="5853113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109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702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26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73029"/>
            <a:ext cx="2057400" cy="17002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73029"/>
            <a:ext cx="6019800" cy="17002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59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73029"/>
            <a:ext cx="8229600" cy="170021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213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8313" y="73025"/>
            <a:ext cx="4248150" cy="6921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647700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848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3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192881" indent="0" algn="ctr">
              <a:buNone/>
              <a:defRPr/>
            </a:lvl2pPr>
            <a:lvl3pPr marL="385763" indent="0" algn="ctr">
              <a:buNone/>
              <a:defRPr/>
            </a:lvl3pPr>
            <a:lvl4pPr marL="578644" indent="0" algn="ctr">
              <a:buNone/>
              <a:defRPr/>
            </a:lvl4pPr>
            <a:lvl5pPr marL="771525" indent="0" algn="ctr">
              <a:buNone/>
              <a:defRPr/>
            </a:lvl5pPr>
            <a:lvl6pPr marL="964406" indent="0" algn="ctr">
              <a:buNone/>
              <a:defRPr/>
            </a:lvl6pPr>
            <a:lvl7pPr marL="1157288" indent="0" algn="ctr">
              <a:buNone/>
              <a:defRPr/>
            </a:lvl7pPr>
            <a:lvl8pPr marL="1350169" indent="0" algn="ctr">
              <a:buNone/>
              <a:defRPr/>
            </a:lvl8pPr>
            <a:lvl9pPr marL="154305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107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844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76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76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69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1688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844"/>
            </a:lvl1pPr>
            <a:lvl2pPr marL="192881" indent="0">
              <a:buNone/>
              <a:defRPr sz="760"/>
            </a:lvl2pPr>
            <a:lvl3pPr marL="385763" indent="0">
              <a:buNone/>
              <a:defRPr sz="675"/>
            </a:lvl3pPr>
            <a:lvl4pPr marL="578644" indent="0">
              <a:buNone/>
              <a:defRPr sz="591"/>
            </a:lvl4pPr>
            <a:lvl5pPr marL="771525" indent="0">
              <a:buNone/>
              <a:defRPr sz="591"/>
            </a:lvl5pPr>
            <a:lvl6pPr marL="964406" indent="0">
              <a:buNone/>
              <a:defRPr sz="591"/>
            </a:lvl6pPr>
            <a:lvl7pPr marL="1157288" indent="0">
              <a:buNone/>
              <a:defRPr sz="591"/>
            </a:lvl7pPr>
            <a:lvl8pPr marL="1350169" indent="0">
              <a:buNone/>
              <a:defRPr sz="591"/>
            </a:lvl8pPr>
            <a:lvl9pPr marL="1543050" indent="0">
              <a:buNone/>
              <a:defRPr sz="59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292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647700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647700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821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30" y="1535113"/>
            <a:ext cx="4041775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480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5815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871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60"/>
            <a:ext cx="5111750" cy="5853113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8985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068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538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73029"/>
            <a:ext cx="2057400" cy="17002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73029"/>
            <a:ext cx="6019800" cy="17002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936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73029"/>
            <a:ext cx="8229600" cy="170021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9077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8313" y="73025"/>
            <a:ext cx="4248150" cy="6921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647700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9642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3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192881" indent="0" algn="ctr">
              <a:buNone/>
              <a:defRPr/>
            </a:lvl2pPr>
            <a:lvl3pPr marL="385763" indent="0" algn="ctr">
              <a:buNone/>
              <a:defRPr/>
            </a:lvl3pPr>
            <a:lvl4pPr marL="578644" indent="0" algn="ctr">
              <a:buNone/>
              <a:defRPr/>
            </a:lvl4pPr>
            <a:lvl5pPr marL="771525" indent="0" algn="ctr">
              <a:buNone/>
              <a:defRPr/>
            </a:lvl5pPr>
            <a:lvl6pPr marL="964406" indent="0" algn="ctr">
              <a:buNone/>
              <a:defRPr/>
            </a:lvl6pPr>
            <a:lvl7pPr marL="1157288" indent="0" algn="ctr">
              <a:buNone/>
              <a:defRPr/>
            </a:lvl7pPr>
            <a:lvl8pPr marL="1350169" indent="0" algn="ctr">
              <a:buNone/>
              <a:defRPr/>
            </a:lvl8pPr>
            <a:lvl9pPr marL="154305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0894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844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76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76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3365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1688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844"/>
            </a:lvl1pPr>
            <a:lvl2pPr marL="192881" indent="0">
              <a:buNone/>
              <a:defRPr sz="760"/>
            </a:lvl2pPr>
            <a:lvl3pPr marL="385763" indent="0">
              <a:buNone/>
              <a:defRPr sz="675"/>
            </a:lvl3pPr>
            <a:lvl4pPr marL="578644" indent="0">
              <a:buNone/>
              <a:defRPr sz="591"/>
            </a:lvl4pPr>
            <a:lvl5pPr marL="771525" indent="0">
              <a:buNone/>
              <a:defRPr sz="591"/>
            </a:lvl5pPr>
            <a:lvl6pPr marL="964406" indent="0">
              <a:buNone/>
              <a:defRPr sz="591"/>
            </a:lvl6pPr>
            <a:lvl7pPr marL="1157288" indent="0">
              <a:buNone/>
              <a:defRPr sz="591"/>
            </a:lvl7pPr>
            <a:lvl8pPr marL="1350169" indent="0">
              <a:buNone/>
              <a:defRPr sz="591"/>
            </a:lvl8pPr>
            <a:lvl9pPr marL="1543050" indent="0">
              <a:buNone/>
              <a:defRPr sz="59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7489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647700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647700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2492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30" y="1535113"/>
            <a:ext cx="4041775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6926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903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1602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60"/>
            <a:ext cx="5111750" cy="5853113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1055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7804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6673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73029"/>
            <a:ext cx="2057400" cy="17002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73029"/>
            <a:ext cx="6019800" cy="17002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20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73029"/>
            <a:ext cx="8229600" cy="170021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5143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8313" y="73025"/>
            <a:ext cx="4248150" cy="6921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647700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536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3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192881" indent="0" algn="ctr">
              <a:buNone/>
              <a:defRPr/>
            </a:lvl2pPr>
            <a:lvl3pPr marL="385763" indent="0" algn="ctr">
              <a:buNone/>
              <a:defRPr/>
            </a:lvl3pPr>
            <a:lvl4pPr marL="578644" indent="0" algn="ctr">
              <a:buNone/>
              <a:defRPr/>
            </a:lvl4pPr>
            <a:lvl5pPr marL="771525" indent="0" algn="ctr">
              <a:buNone/>
              <a:defRPr/>
            </a:lvl5pPr>
            <a:lvl6pPr marL="964406" indent="0" algn="ctr">
              <a:buNone/>
              <a:defRPr/>
            </a:lvl6pPr>
            <a:lvl7pPr marL="1157288" indent="0" algn="ctr">
              <a:buNone/>
              <a:defRPr/>
            </a:lvl7pPr>
            <a:lvl8pPr marL="1350169" indent="0" algn="ctr">
              <a:buNone/>
              <a:defRPr/>
            </a:lvl8pPr>
            <a:lvl9pPr marL="154305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318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4.emf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image" Target="../media/image4.emf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36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清大LOGO(鳥)"/>
          <p:cNvPicPr>
            <a:picLocks noChangeAspect="1" noChangeArrowheads="1"/>
          </p:cNvPicPr>
          <p:nvPr/>
        </p:nvPicPr>
        <p:blipFill>
          <a:blip r:embed="rId1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0" y="30163"/>
            <a:ext cx="161925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468318" y="144463"/>
            <a:ext cx="820737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按一下以編輯母片</a:t>
            </a:r>
          </a:p>
          <a:p>
            <a:pPr lvl="1"/>
            <a:endParaRPr lang="zh-TW" altLang="en-US" smtClean="0"/>
          </a:p>
          <a:p>
            <a:pPr lvl="0"/>
            <a:endParaRPr lang="en-US" altLang="zh-TW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" y="6357948"/>
            <a:ext cx="38338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124685" y="6581781"/>
            <a:ext cx="1620958" cy="1701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506" b="1" dirty="0">
                <a:solidFill>
                  <a:prstClr val="white"/>
                </a:solidFill>
                <a:cs typeface="Arial" pitchFamily="34" charset="0"/>
              </a:rPr>
              <a:t>National Tsing Hua University ® copyright OIA</a:t>
            </a:r>
            <a:endParaRPr lang="zh-TW" altLang="en-US" sz="506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1"/>
            <a:ext cx="9144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760">
              <a:solidFill>
                <a:prstClr val="black"/>
              </a:solidFill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6165850"/>
            <a:ext cx="9144000" cy="719138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760">
              <a:solidFill>
                <a:prstClr val="black"/>
              </a:solidFill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6524635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506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  <p:pic>
        <p:nvPicPr>
          <p:cNvPr id="1034" name="Picture 13" descr="清大LOGO(圓)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" y="6181735"/>
            <a:ext cx="684213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4" descr="清大書法字 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55655" y="6237288"/>
            <a:ext cx="208756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682629" y="6580195"/>
            <a:ext cx="1183337" cy="18325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591">
                <a:solidFill>
                  <a:prstClr val="white"/>
                </a:solidFill>
              </a:rPr>
              <a:t>National Tsing Hua University</a:t>
            </a: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8" y="151801"/>
            <a:ext cx="1659800" cy="68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192881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385763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578644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771525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144661" indent="-144661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1181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313433" indent="-120551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1013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482204" indent="-96441" algn="l" rtl="0" eaLnBrk="1" fontAlgn="base" hangingPunct="1">
        <a:spcBef>
          <a:spcPct val="20000"/>
        </a:spcBef>
        <a:spcAft>
          <a:spcPct val="0"/>
        </a:spcAft>
        <a:buChar char="•"/>
        <a:defRPr kumimoji="1" sz="1013">
          <a:solidFill>
            <a:schemeClr val="tx1"/>
          </a:solidFill>
          <a:latin typeface="+mn-lt"/>
          <a:ea typeface="+mn-ea"/>
        </a:defRPr>
      </a:lvl3pPr>
      <a:lvl4pPr marL="675085" indent="-96441" algn="l" rtl="0" eaLnBrk="1" fontAlgn="base" hangingPunct="1">
        <a:spcBef>
          <a:spcPct val="20000"/>
        </a:spcBef>
        <a:spcAft>
          <a:spcPct val="0"/>
        </a:spcAft>
        <a:buChar char="–"/>
        <a:defRPr kumimoji="1" sz="844">
          <a:solidFill>
            <a:schemeClr val="tx1"/>
          </a:solidFill>
          <a:latin typeface="+mn-lt"/>
          <a:ea typeface="+mn-ea"/>
        </a:defRPr>
      </a:lvl4pPr>
      <a:lvl5pPr marL="867966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5pPr>
      <a:lvl6pPr marL="1060847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6pPr>
      <a:lvl7pPr marL="1253729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7pPr>
      <a:lvl8pPr marL="1446610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8pPr>
      <a:lvl9pPr marL="1639491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清大LOGO(鳥)"/>
          <p:cNvPicPr>
            <a:picLocks noChangeAspect="1" noChangeArrowheads="1"/>
          </p:cNvPicPr>
          <p:nvPr/>
        </p:nvPicPr>
        <p:blipFill>
          <a:blip r:embed="rId1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0" y="30163"/>
            <a:ext cx="161925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468318" y="144463"/>
            <a:ext cx="820737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按一下以編輯母片</a:t>
            </a:r>
          </a:p>
          <a:p>
            <a:pPr lvl="1"/>
            <a:endParaRPr lang="zh-TW" altLang="en-US" smtClean="0"/>
          </a:p>
          <a:p>
            <a:pPr lvl="0"/>
            <a:endParaRPr lang="en-US" altLang="zh-TW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" y="6357948"/>
            <a:ext cx="38338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124685" y="6581781"/>
            <a:ext cx="1620958" cy="1701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506" b="1" dirty="0">
                <a:solidFill>
                  <a:prstClr val="white"/>
                </a:solidFill>
                <a:cs typeface="Arial" pitchFamily="34" charset="0"/>
              </a:rPr>
              <a:t>National Tsing Hua University ® copyright OIA</a:t>
            </a:r>
            <a:endParaRPr lang="zh-TW" altLang="en-US" sz="506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1"/>
            <a:ext cx="9144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760">
              <a:solidFill>
                <a:prstClr val="black"/>
              </a:solidFill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6165850"/>
            <a:ext cx="9144000" cy="719138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760">
              <a:solidFill>
                <a:prstClr val="black"/>
              </a:solidFill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6524635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506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  <p:pic>
        <p:nvPicPr>
          <p:cNvPr id="1034" name="Picture 13" descr="清大LOGO(圓)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" y="6181735"/>
            <a:ext cx="684213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4" descr="清大書法字 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55655" y="6237288"/>
            <a:ext cx="208756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682629" y="6580195"/>
            <a:ext cx="1183337" cy="18325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591">
                <a:solidFill>
                  <a:prstClr val="white"/>
                </a:solidFill>
              </a:rPr>
              <a:t>National Tsing Hua University</a:t>
            </a: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8" y="151801"/>
            <a:ext cx="1659800" cy="68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9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192881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385763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578644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771525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144661" indent="-144661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1181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313433" indent="-120551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1013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482204" indent="-96441" algn="l" rtl="0" eaLnBrk="1" fontAlgn="base" hangingPunct="1">
        <a:spcBef>
          <a:spcPct val="20000"/>
        </a:spcBef>
        <a:spcAft>
          <a:spcPct val="0"/>
        </a:spcAft>
        <a:buChar char="•"/>
        <a:defRPr kumimoji="1" sz="1013">
          <a:solidFill>
            <a:schemeClr val="tx1"/>
          </a:solidFill>
          <a:latin typeface="+mn-lt"/>
          <a:ea typeface="+mn-ea"/>
        </a:defRPr>
      </a:lvl3pPr>
      <a:lvl4pPr marL="675085" indent="-96441" algn="l" rtl="0" eaLnBrk="1" fontAlgn="base" hangingPunct="1">
        <a:spcBef>
          <a:spcPct val="20000"/>
        </a:spcBef>
        <a:spcAft>
          <a:spcPct val="0"/>
        </a:spcAft>
        <a:buChar char="–"/>
        <a:defRPr kumimoji="1" sz="844">
          <a:solidFill>
            <a:schemeClr val="tx1"/>
          </a:solidFill>
          <a:latin typeface="+mn-lt"/>
          <a:ea typeface="+mn-ea"/>
        </a:defRPr>
      </a:lvl4pPr>
      <a:lvl5pPr marL="867966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5pPr>
      <a:lvl6pPr marL="1060847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6pPr>
      <a:lvl7pPr marL="1253729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7pPr>
      <a:lvl8pPr marL="1446610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8pPr>
      <a:lvl9pPr marL="1639491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清大LOGO(鳥)"/>
          <p:cNvPicPr>
            <a:picLocks noChangeAspect="1" noChangeArrowheads="1"/>
          </p:cNvPicPr>
          <p:nvPr/>
        </p:nvPicPr>
        <p:blipFill>
          <a:blip r:embed="rId1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0" y="30163"/>
            <a:ext cx="161925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468318" y="144463"/>
            <a:ext cx="820737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按一下以編輯母片</a:t>
            </a:r>
          </a:p>
          <a:p>
            <a:pPr lvl="1"/>
            <a:endParaRPr lang="zh-TW" altLang="en-US" smtClean="0"/>
          </a:p>
          <a:p>
            <a:pPr lvl="0"/>
            <a:endParaRPr lang="en-US" altLang="zh-TW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" y="6357948"/>
            <a:ext cx="38338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124685" y="6581781"/>
            <a:ext cx="1620958" cy="1701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506" b="1" dirty="0">
                <a:solidFill>
                  <a:prstClr val="white"/>
                </a:solidFill>
                <a:cs typeface="Arial" pitchFamily="34" charset="0"/>
              </a:rPr>
              <a:t>National Tsing Hua University ® copyright OIA</a:t>
            </a:r>
            <a:endParaRPr lang="zh-TW" altLang="en-US" sz="506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1"/>
            <a:ext cx="9144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760">
              <a:solidFill>
                <a:prstClr val="black"/>
              </a:solidFill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6165850"/>
            <a:ext cx="9144000" cy="719138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760">
              <a:solidFill>
                <a:prstClr val="black"/>
              </a:solidFill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6524635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506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6C75C586-0B13-4105-9895-CED4323B37DD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  <p:pic>
        <p:nvPicPr>
          <p:cNvPr id="1034" name="Picture 13" descr="清大LOGO(圓)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" y="6181735"/>
            <a:ext cx="684213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4" descr="清大書法字 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55655" y="6237288"/>
            <a:ext cx="208756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682629" y="6580195"/>
            <a:ext cx="1183337" cy="18325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591">
                <a:solidFill>
                  <a:prstClr val="white"/>
                </a:solidFill>
              </a:rPr>
              <a:t>National Tsing Hua University</a:t>
            </a: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8" y="151801"/>
            <a:ext cx="1659800" cy="68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0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1519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192881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385763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578644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771525" algn="l" rtl="0" eaLnBrk="1" fontAlgn="base" hangingPunct="1">
        <a:spcBef>
          <a:spcPct val="0"/>
        </a:spcBef>
        <a:spcAft>
          <a:spcPct val="0"/>
        </a:spcAft>
        <a:defRPr kumimoji="1" sz="1266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144661" indent="-144661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1181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313433" indent="-120551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1013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482204" indent="-96441" algn="l" rtl="0" eaLnBrk="1" fontAlgn="base" hangingPunct="1">
        <a:spcBef>
          <a:spcPct val="20000"/>
        </a:spcBef>
        <a:spcAft>
          <a:spcPct val="0"/>
        </a:spcAft>
        <a:buChar char="•"/>
        <a:defRPr kumimoji="1" sz="1013">
          <a:solidFill>
            <a:schemeClr val="tx1"/>
          </a:solidFill>
          <a:latin typeface="+mn-lt"/>
          <a:ea typeface="+mn-ea"/>
        </a:defRPr>
      </a:lvl3pPr>
      <a:lvl4pPr marL="675085" indent="-96441" algn="l" rtl="0" eaLnBrk="1" fontAlgn="base" hangingPunct="1">
        <a:spcBef>
          <a:spcPct val="20000"/>
        </a:spcBef>
        <a:spcAft>
          <a:spcPct val="0"/>
        </a:spcAft>
        <a:buChar char="–"/>
        <a:defRPr kumimoji="1" sz="844">
          <a:solidFill>
            <a:schemeClr val="tx1"/>
          </a:solidFill>
          <a:latin typeface="+mn-lt"/>
          <a:ea typeface="+mn-ea"/>
        </a:defRPr>
      </a:lvl4pPr>
      <a:lvl5pPr marL="867966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5pPr>
      <a:lvl6pPr marL="1060847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6pPr>
      <a:lvl7pPr marL="1253729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7pPr>
      <a:lvl8pPr marL="1446610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8pPr>
      <a:lvl9pPr marL="1639491" indent="-96441" algn="l" rtl="0" eaLnBrk="1" fontAlgn="base" hangingPunct="1">
        <a:spcBef>
          <a:spcPct val="20000"/>
        </a:spcBef>
        <a:spcAft>
          <a:spcPct val="0"/>
        </a:spcAft>
        <a:buChar char="»"/>
        <a:defRPr kumimoji="1" sz="844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/>
              <a:t>A HSA Full System Simulator – </a:t>
            </a:r>
            <a:r>
              <a:rPr lang="en-US" altLang="zh-TW" sz="4400" dirty="0" smtClean="0"/>
              <a:t>Translator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44005"/>
            <a:ext cx="7883434" cy="1752600"/>
          </a:xfrm>
        </p:spPr>
        <p:txBody>
          <a:bodyPr/>
          <a:lstStyle/>
          <a:p>
            <a:r>
              <a:rPr lang="en-US" altLang="zh-TW" sz="2400" dirty="0" smtClean="0"/>
              <a:t>HSA translator based on LLVM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9774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 smtClean="0"/>
              <a:t>LLVM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44005"/>
            <a:ext cx="7883434" cy="1752600"/>
          </a:xfrm>
        </p:spPr>
        <p:txBody>
          <a:bodyPr/>
          <a:lstStyle/>
          <a:p>
            <a:r>
              <a:rPr lang="en-US" altLang="zh-TW" sz="2400" dirty="0" smtClean="0"/>
              <a:t>Low Level Virtual Machine</a:t>
            </a:r>
            <a:endParaRPr lang="zh-TW" altLang="en-US" sz="2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prstClr val="white">
                  <a:lumMod val="50000"/>
                </a:prstClr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11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4000" dirty="0"/>
              <a:t>What is </a:t>
            </a:r>
            <a:r>
              <a:rPr lang="en-US" altLang="zh-TW" sz="4000" dirty="0" smtClean="0"/>
              <a:t>LLVM?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</a:t>
            </a:r>
            <a:r>
              <a:rPr lang="zh-TW" altLang="en-US" sz="3200" dirty="0" smtClean="0">
                <a:solidFill>
                  <a:schemeClr val="accent1">
                    <a:lumMod val="75000"/>
                  </a:schemeClr>
                </a:solidFill>
              </a:rPr>
              <a:t>－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Low-Level Virtual Machine</a:t>
            </a:r>
          </a:p>
          <a:p>
            <a:pPr lvl="1"/>
            <a:r>
              <a:rPr lang="en-US" altLang="zh-TW" sz="2800" dirty="0" smtClean="0">
                <a:solidFill>
                  <a:srgbClr val="0070C0"/>
                </a:solidFill>
              </a:rPr>
              <a:t>A</a:t>
            </a:r>
            <a:r>
              <a:rPr lang="zh-TW" altLang="en-US" sz="2800" dirty="0" smtClean="0">
                <a:solidFill>
                  <a:srgbClr val="0070C0"/>
                </a:solidFill>
              </a:rPr>
              <a:t> </a:t>
            </a:r>
            <a:r>
              <a:rPr lang="en-US" altLang="zh-TW" sz="2800" dirty="0" smtClean="0">
                <a:solidFill>
                  <a:srgbClr val="0070C0"/>
                </a:solidFill>
              </a:rPr>
              <a:t>compiler </a:t>
            </a:r>
            <a:r>
              <a:rPr lang="en-US" altLang="zh-TW" sz="2800" dirty="0">
                <a:solidFill>
                  <a:srgbClr val="0070C0"/>
                </a:solidFill>
              </a:rPr>
              <a:t>framework that aims to make </a:t>
            </a:r>
            <a:r>
              <a:rPr lang="en-US" altLang="zh-TW" sz="2800" dirty="0" smtClean="0">
                <a:solidFill>
                  <a:srgbClr val="0070C0"/>
                </a:solidFill>
              </a:rPr>
              <a:t>lifelong</a:t>
            </a:r>
            <a:r>
              <a:rPr lang="zh-TW" altLang="en-US" sz="2800" dirty="0" smtClean="0">
                <a:solidFill>
                  <a:srgbClr val="0070C0"/>
                </a:solidFill>
              </a:rPr>
              <a:t> </a:t>
            </a:r>
            <a:r>
              <a:rPr lang="en-US" altLang="zh-TW" sz="2800" dirty="0" smtClean="0">
                <a:solidFill>
                  <a:srgbClr val="0070C0"/>
                </a:solidFill>
              </a:rPr>
              <a:t>program </a:t>
            </a:r>
            <a:r>
              <a:rPr lang="en-US" altLang="zh-TW" sz="2800" dirty="0">
                <a:solidFill>
                  <a:srgbClr val="0070C0"/>
                </a:solidFill>
              </a:rPr>
              <a:t>analysis and transformation available for </a:t>
            </a:r>
            <a:r>
              <a:rPr lang="en-US" altLang="zh-TW" sz="2800" dirty="0" smtClean="0">
                <a:solidFill>
                  <a:srgbClr val="0070C0"/>
                </a:solidFill>
              </a:rPr>
              <a:t>arbitrary</a:t>
            </a:r>
            <a:r>
              <a:rPr lang="zh-TW" altLang="en-US" sz="2800" dirty="0" smtClean="0">
                <a:solidFill>
                  <a:srgbClr val="0070C0"/>
                </a:solidFill>
              </a:rPr>
              <a:t> </a:t>
            </a:r>
            <a:r>
              <a:rPr lang="en-US" altLang="zh-TW" sz="2800" dirty="0" smtClean="0">
                <a:solidFill>
                  <a:srgbClr val="0070C0"/>
                </a:solidFill>
              </a:rPr>
              <a:t>software</a:t>
            </a:r>
            <a:r>
              <a:rPr lang="en-US" altLang="zh-TW" sz="2800" dirty="0">
                <a:solidFill>
                  <a:srgbClr val="0070C0"/>
                </a:solidFill>
              </a:rPr>
              <a:t>, and in a manner that is transparent to programmers</a:t>
            </a:r>
            <a:r>
              <a:rPr lang="en-US" altLang="zh-TW" sz="2800" dirty="0" smtClean="0">
                <a:solidFill>
                  <a:srgbClr val="0070C0"/>
                </a:solidFill>
              </a:rPr>
              <a:t>.</a:t>
            </a:r>
            <a:endParaRPr lang="en-US" altLang="zh-TW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2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2800" dirty="0" smtClean="0"/>
              <a:t>Introduction to Classical Compiler Design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Three major components of a Three-Phase Compiler</a:t>
            </a:r>
            <a:endParaRPr lang="en-US" altLang="zh-TW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6215" y="2619655"/>
            <a:ext cx="1077632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Source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Code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741380" y="2619655"/>
            <a:ext cx="1056700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Machine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Code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037140" y="265304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933280" y="265304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29420" y="265304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0" name="直線單箭頭接點 9"/>
          <p:cNvCxnSpPr>
            <a:stCxn id="5" idx="3"/>
          </p:cNvCxnSpPr>
          <p:nvPr/>
        </p:nvCxnSpPr>
        <p:spPr bwMode="auto">
          <a:xfrm>
            <a:off x="3314579" y="2980395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>
            <a:off x="5210719" y="2980395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>
            <a:off x="1373847" y="297612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>
            <a:off x="7143209" y="297612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96215" y="3510404"/>
            <a:ext cx="8169498" cy="230832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b="1" dirty="0"/>
              <a:t>The </a:t>
            </a:r>
            <a:r>
              <a:rPr lang="en-US" altLang="zh-TW" sz="2400" b="1" dirty="0" smtClean="0"/>
              <a:t>frontend </a:t>
            </a:r>
            <a:r>
              <a:rPr lang="en-US" altLang="zh-TW" sz="2400" dirty="0"/>
              <a:t>parses source code, checking it for errors, and builds a language-specific Abstract Syntax Tree (AST) to represent the input code</a:t>
            </a:r>
            <a:r>
              <a:rPr lang="en-US" altLang="zh-TW" sz="24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b="1" dirty="0" smtClean="0">
                <a:ea typeface="標楷體" pitchFamily="65" charset="-120"/>
                <a:cs typeface="Calibri" pitchFamily="34" charset="0"/>
              </a:rPr>
              <a:t>The optimizer </a:t>
            </a:r>
            <a:r>
              <a:rPr lang="en-US" altLang="zh-TW" sz="2400" dirty="0" smtClean="0">
                <a:ea typeface="標楷體" pitchFamily="65" charset="-120"/>
                <a:cs typeface="Calibri" pitchFamily="34" charset="0"/>
              </a:rPr>
              <a:t>improves the code’s running time.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b="1" dirty="0"/>
              <a:t>The </a:t>
            </a:r>
            <a:r>
              <a:rPr lang="en-US" altLang="zh-TW" sz="2400" b="1" dirty="0" smtClean="0"/>
              <a:t>backend </a:t>
            </a:r>
            <a:r>
              <a:rPr lang="en-US" altLang="zh-TW" sz="2400" dirty="0"/>
              <a:t>(also known as the </a:t>
            </a:r>
            <a:r>
              <a:rPr lang="en-US" altLang="zh-TW" sz="2400" b="1" dirty="0"/>
              <a:t>code generator</a:t>
            </a:r>
            <a:r>
              <a:rPr lang="en-US" altLang="zh-TW" sz="2400" dirty="0"/>
              <a:t>) then maps the code onto the target instruction set.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42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Common Example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Example of a Three-Phase Compiler</a:t>
            </a:r>
            <a:endParaRPr lang="en-US" altLang="zh-TW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69441" y="2164070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741380" y="2912702"/>
            <a:ext cx="69762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ARM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037140" y="2807594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Fortran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933280" y="2807594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Common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45240" y="2722534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ARM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0" name="直線單箭頭接點 9"/>
          <p:cNvCxnSpPr>
            <a:stCxn id="5" idx="3"/>
          </p:cNvCxnSpPr>
          <p:nvPr/>
        </p:nvCxnSpPr>
        <p:spPr bwMode="auto">
          <a:xfrm>
            <a:off x="331457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>
            <a:off x="521071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>
            <a:off x="1347073" y="2348736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>
            <a:off x="7143209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 bwMode="auto">
          <a:xfrm>
            <a:off x="2037139" y="2021387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037138" y="3596119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7" name="直線單箭頭接點 16"/>
          <p:cNvCxnSpPr>
            <a:stCxn id="15" idx="3"/>
            <a:endCxn id="8" idx="1"/>
          </p:cNvCxnSpPr>
          <p:nvPr/>
        </p:nvCxnSpPr>
        <p:spPr bwMode="auto">
          <a:xfrm>
            <a:off x="3314578" y="2348736"/>
            <a:ext cx="618702" cy="78620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6" idx="3"/>
            <a:endCxn id="8" idx="1"/>
          </p:cNvCxnSpPr>
          <p:nvPr/>
        </p:nvCxnSpPr>
        <p:spPr bwMode="auto">
          <a:xfrm flipV="1">
            <a:off x="3314577" y="3134943"/>
            <a:ext cx="618703" cy="7885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 bwMode="auto">
          <a:xfrm>
            <a:off x="1365733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269440" y="2946006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Fortran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5" name="直線單箭頭接點 24"/>
          <p:cNvCxnSpPr/>
          <p:nvPr/>
        </p:nvCxnSpPr>
        <p:spPr bwMode="auto">
          <a:xfrm>
            <a:off x="1365733" y="3931759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269440" y="3727942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5845239" y="1768950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X86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829420" y="367475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GPU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794248" y="2039047"/>
            <a:ext cx="59503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0" name="直線單箭頭接點 29"/>
          <p:cNvCxnSpPr/>
          <p:nvPr/>
        </p:nvCxnSpPr>
        <p:spPr bwMode="auto">
          <a:xfrm>
            <a:off x="7143209" y="220462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 bwMode="auto">
          <a:xfrm>
            <a:off x="7143208" y="408571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7689648" y="3901048"/>
            <a:ext cx="68480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GPU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3" name="直線單箭頭接點 32"/>
          <p:cNvCxnSpPr>
            <a:stCxn id="8" idx="3"/>
            <a:endCxn id="27" idx="1"/>
          </p:cNvCxnSpPr>
          <p:nvPr/>
        </p:nvCxnSpPr>
        <p:spPr bwMode="auto">
          <a:xfrm flipV="1">
            <a:off x="5210719" y="2179908"/>
            <a:ext cx="634520" cy="9550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8" idx="3"/>
            <a:endCxn id="28" idx="1"/>
          </p:cNvCxnSpPr>
          <p:nvPr/>
        </p:nvCxnSpPr>
        <p:spPr bwMode="auto">
          <a:xfrm>
            <a:off x="5210719" y="3134943"/>
            <a:ext cx="618701" cy="9507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269509" y="4509878"/>
            <a:ext cx="8169498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/>
              <a:t>If the compiler uses a common code representation in its optimizer, then a </a:t>
            </a:r>
            <a:r>
              <a:rPr lang="en-US" altLang="zh-TW" sz="2400" dirty="0" smtClean="0"/>
              <a:t>frontend </a:t>
            </a:r>
            <a:r>
              <a:rPr lang="en-US" altLang="zh-TW" sz="2400" dirty="0"/>
              <a:t>can be written for any language that can compile to it, and a </a:t>
            </a:r>
            <a:r>
              <a:rPr lang="en-US" altLang="zh-TW" sz="2400" dirty="0" smtClean="0"/>
              <a:t>backend </a:t>
            </a:r>
            <a:r>
              <a:rPr lang="en-US" altLang="zh-TW" sz="2400" dirty="0"/>
              <a:t>can be written for any target that can compile from </a:t>
            </a:r>
            <a:r>
              <a:rPr lang="en-US" altLang="zh-TW" sz="2400" dirty="0" smtClean="0"/>
              <a:t>it.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03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LLVM Example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 Example of a Three-Phase Compiler</a:t>
            </a:r>
            <a:endParaRPr lang="en-US" altLang="zh-TW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-65798" y="2164070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741380" y="2912702"/>
            <a:ext cx="69762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ARM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564684" y="2807594"/>
            <a:ext cx="174989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err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lvm-gcc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933280" y="2807594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45240" y="2722534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ARM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0" name="直線單箭頭接點 9"/>
          <p:cNvCxnSpPr>
            <a:stCxn id="5" idx="3"/>
          </p:cNvCxnSpPr>
          <p:nvPr/>
        </p:nvCxnSpPr>
        <p:spPr bwMode="auto">
          <a:xfrm>
            <a:off x="331457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>
            <a:off x="521071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>
            <a:off x="702483" y="2345419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>
            <a:off x="7143209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 bwMode="auto">
          <a:xfrm>
            <a:off x="1341715" y="2021387"/>
            <a:ext cx="1972864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Clan</a:t>
            </a: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 </a:t>
            </a: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C/C++/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ObjC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1534832" y="3596119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7" name="直線單箭頭接點 16"/>
          <p:cNvCxnSpPr>
            <a:stCxn id="15" idx="3"/>
            <a:endCxn id="8" idx="1"/>
          </p:cNvCxnSpPr>
          <p:nvPr/>
        </p:nvCxnSpPr>
        <p:spPr bwMode="auto">
          <a:xfrm>
            <a:off x="3314579" y="2348736"/>
            <a:ext cx="618701" cy="78620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6" idx="3"/>
            <a:endCxn id="8" idx="1"/>
          </p:cNvCxnSpPr>
          <p:nvPr/>
        </p:nvCxnSpPr>
        <p:spPr bwMode="auto">
          <a:xfrm flipV="1">
            <a:off x="3314577" y="3134943"/>
            <a:ext cx="618703" cy="7885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 bwMode="auto">
          <a:xfrm>
            <a:off x="930163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-58516" y="2946006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Fortran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5" name="直線單箭頭接點 24"/>
          <p:cNvCxnSpPr/>
          <p:nvPr/>
        </p:nvCxnSpPr>
        <p:spPr bwMode="auto">
          <a:xfrm>
            <a:off x="916131" y="3923468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-73706" y="3739501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5845239" y="1768950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X86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829420" y="367475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GPU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794248" y="2039047"/>
            <a:ext cx="59503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0" name="直線單箭頭接點 29"/>
          <p:cNvCxnSpPr/>
          <p:nvPr/>
        </p:nvCxnSpPr>
        <p:spPr bwMode="auto">
          <a:xfrm>
            <a:off x="7143209" y="220462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 bwMode="auto">
          <a:xfrm>
            <a:off x="7143208" y="408571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7689648" y="3901048"/>
            <a:ext cx="68480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GPU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3" name="直線單箭頭接點 32"/>
          <p:cNvCxnSpPr>
            <a:stCxn id="8" idx="3"/>
            <a:endCxn id="27" idx="1"/>
          </p:cNvCxnSpPr>
          <p:nvPr/>
        </p:nvCxnSpPr>
        <p:spPr bwMode="auto">
          <a:xfrm flipV="1">
            <a:off x="5210719" y="2179908"/>
            <a:ext cx="634520" cy="9550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8" idx="3"/>
            <a:endCxn id="28" idx="1"/>
          </p:cNvCxnSpPr>
          <p:nvPr/>
        </p:nvCxnSpPr>
        <p:spPr bwMode="auto">
          <a:xfrm>
            <a:off x="5210719" y="3134943"/>
            <a:ext cx="618701" cy="9507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-73706" y="4509878"/>
            <a:ext cx="9063159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/>
              <a:t>The </a:t>
            </a:r>
            <a:r>
              <a:rPr lang="en-US" altLang="zh-TW" sz="2400" b="1" dirty="0"/>
              <a:t>Clang</a:t>
            </a:r>
            <a:r>
              <a:rPr lang="en-US" altLang="zh-TW" sz="2400" dirty="0"/>
              <a:t> Compiler is an open-source compiler for the C family of programming </a:t>
            </a:r>
            <a:r>
              <a:rPr lang="en-US" altLang="zh-TW" sz="2400" dirty="0" smtClean="0"/>
              <a:t>languages. </a:t>
            </a:r>
            <a:r>
              <a:rPr lang="en-US" altLang="zh-TW" sz="2400" dirty="0"/>
              <a:t>Clang builds on the LLVM optimizer and code generator, allowing it to provide high-quality optimization and code generation support for many targets. 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312869" y="3509863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780011" y="3509863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0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LLVM Example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 Example of a Three-Phase Compiler</a:t>
            </a:r>
            <a:endParaRPr lang="en-US" altLang="zh-TW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-65798" y="2164070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741380" y="2912702"/>
            <a:ext cx="69762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ARM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564684" y="2807594"/>
            <a:ext cx="174989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err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lvm-gcc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933280" y="2807594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45240" y="2722534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ARM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0" name="直線單箭頭接點 9"/>
          <p:cNvCxnSpPr>
            <a:stCxn id="5" idx="3"/>
          </p:cNvCxnSpPr>
          <p:nvPr/>
        </p:nvCxnSpPr>
        <p:spPr bwMode="auto">
          <a:xfrm>
            <a:off x="331457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>
            <a:off x="521071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>
            <a:off x="702483" y="2345419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>
            <a:off x="7143209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 bwMode="auto">
          <a:xfrm>
            <a:off x="1341715" y="2021387"/>
            <a:ext cx="1972864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Clan</a:t>
            </a: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 </a:t>
            </a: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C/C++/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ObjC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1534832" y="3596119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7" name="直線單箭頭接點 16"/>
          <p:cNvCxnSpPr>
            <a:stCxn id="15" idx="3"/>
            <a:endCxn id="8" idx="1"/>
          </p:cNvCxnSpPr>
          <p:nvPr/>
        </p:nvCxnSpPr>
        <p:spPr bwMode="auto">
          <a:xfrm>
            <a:off x="3314579" y="2348736"/>
            <a:ext cx="618701" cy="78620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6" idx="3"/>
            <a:endCxn id="8" idx="1"/>
          </p:cNvCxnSpPr>
          <p:nvPr/>
        </p:nvCxnSpPr>
        <p:spPr bwMode="auto">
          <a:xfrm flipV="1">
            <a:off x="3314577" y="3134943"/>
            <a:ext cx="618703" cy="7885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 bwMode="auto">
          <a:xfrm>
            <a:off x="930163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-58516" y="2946006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Fortran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5" name="直線單箭頭接點 24"/>
          <p:cNvCxnSpPr/>
          <p:nvPr/>
        </p:nvCxnSpPr>
        <p:spPr bwMode="auto">
          <a:xfrm>
            <a:off x="916131" y="3923468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-73706" y="3739501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5845239" y="1768950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X86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829420" y="367475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GPU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794248" y="2039047"/>
            <a:ext cx="59503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0" name="直線單箭頭接點 29"/>
          <p:cNvCxnSpPr/>
          <p:nvPr/>
        </p:nvCxnSpPr>
        <p:spPr bwMode="auto">
          <a:xfrm>
            <a:off x="7143209" y="220462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 bwMode="auto">
          <a:xfrm>
            <a:off x="7143208" y="408571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7689648" y="3901048"/>
            <a:ext cx="68480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GPU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3" name="直線單箭頭接點 32"/>
          <p:cNvCxnSpPr>
            <a:stCxn id="8" idx="3"/>
            <a:endCxn id="27" idx="1"/>
          </p:cNvCxnSpPr>
          <p:nvPr/>
        </p:nvCxnSpPr>
        <p:spPr bwMode="auto">
          <a:xfrm flipV="1">
            <a:off x="5210719" y="2179908"/>
            <a:ext cx="634520" cy="9550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8" idx="3"/>
            <a:endCxn id="28" idx="1"/>
          </p:cNvCxnSpPr>
          <p:nvPr/>
        </p:nvCxnSpPr>
        <p:spPr bwMode="auto">
          <a:xfrm>
            <a:off x="5210719" y="3134943"/>
            <a:ext cx="618701" cy="9507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-73706" y="4879208"/>
            <a:ext cx="9063159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/>
              <a:t>The </a:t>
            </a:r>
            <a:r>
              <a:rPr lang="en-US" altLang="zh-TW" sz="2400" b="1" dirty="0" err="1" smtClean="0"/>
              <a:t>llvm-gcc</a:t>
            </a:r>
            <a:r>
              <a:rPr lang="en-US" altLang="zh-TW" sz="2400" b="1" dirty="0" smtClean="0"/>
              <a:t> </a:t>
            </a:r>
            <a:r>
              <a:rPr lang="en-US" altLang="zh-TW" sz="2400" dirty="0" smtClean="0"/>
              <a:t>Compiler </a:t>
            </a:r>
            <a:r>
              <a:rPr lang="en-US" altLang="zh-TW" sz="2400" dirty="0"/>
              <a:t>is </a:t>
            </a:r>
            <a:r>
              <a:rPr lang="en-US" altLang="zh-TW" sz="2400" dirty="0" smtClean="0"/>
              <a:t>a </a:t>
            </a:r>
            <a:r>
              <a:rPr lang="en-US" altLang="zh-TW" sz="2400" dirty="0" err="1" smtClean="0"/>
              <a:t>gcc</a:t>
            </a:r>
            <a:r>
              <a:rPr lang="en-US" altLang="zh-TW" sz="2400" dirty="0" smtClean="0"/>
              <a:t>-compatible compiler for better and faster optimization.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312869" y="3509863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780011" y="3509863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7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LLVM Example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 Example of a Three-Phase Compiler</a:t>
            </a:r>
            <a:endParaRPr lang="en-US" altLang="zh-TW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-65798" y="2164070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741380" y="2912702"/>
            <a:ext cx="69762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ARM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564684" y="2807594"/>
            <a:ext cx="174989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err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lvm-gcc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933280" y="2807594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45240" y="2722534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ARM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0" name="直線單箭頭接點 9"/>
          <p:cNvCxnSpPr>
            <a:stCxn id="5" idx="3"/>
          </p:cNvCxnSpPr>
          <p:nvPr/>
        </p:nvCxnSpPr>
        <p:spPr bwMode="auto">
          <a:xfrm>
            <a:off x="331457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>
            <a:off x="521071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>
            <a:off x="702483" y="2345419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>
            <a:off x="7143209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 bwMode="auto">
          <a:xfrm>
            <a:off x="1341715" y="2021387"/>
            <a:ext cx="1972864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Clan</a:t>
            </a: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 </a:t>
            </a: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C/C++/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ObjC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1534832" y="3596119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7" name="直線單箭頭接點 16"/>
          <p:cNvCxnSpPr>
            <a:stCxn id="15" idx="3"/>
            <a:endCxn id="8" idx="1"/>
          </p:cNvCxnSpPr>
          <p:nvPr/>
        </p:nvCxnSpPr>
        <p:spPr bwMode="auto">
          <a:xfrm>
            <a:off x="3314579" y="2348736"/>
            <a:ext cx="618701" cy="78620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6" idx="3"/>
            <a:endCxn id="8" idx="1"/>
          </p:cNvCxnSpPr>
          <p:nvPr/>
        </p:nvCxnSpPr>
        <p:spPr bwMode="auto">
          <a:xfrm flipV="1">
            <a:off x="3314577" y="3134943"/>
            <a:ext cx="618703" cy="7885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 bwMode="auto">
          <a:xfrm>
            <a:off x="930163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-58516" y="2946006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Fortran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5" name="直線單箭頭接點 24"/>
          <p:cNvCxnSpPr/>
          <p:nvPr/>
        </p:nvCxnSpPr>
        <p:spPr bwMode="auto">
          <a:xfrm>
            <a:off x="916131" y="3923468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-73706" y="3739501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5845239" y="1768950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X86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829420" y="367475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GPU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794248" y="2039047"/>
            <a:ext cx="59503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0" name="直線單箭頭接點 29"/>
          <p:cNvCxnSpPr/>
          <p:nvPr/>
        </p:nvCxnSpPr>
        <p:spPr bwMode="auto">
          <a:xfrm>
            <a:off x="7143209" y="220462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 bwMode="auto">
          <a:xfrm>
            <a:off x="7143208" y="408571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7689648" y="3901048"/>
            <a:ext cx="68480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GPU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3" name="直線單箭頭接點 32"/>
          <p:cNvCxnSpPr>
            <a:stCxn id="8" idx="3"/>
            <a:endCxn id="27" idx="1"/>
          </p:cNvCxnSpPr>
          <p:nvPr/>
        </p:nvCxnSpPr>
        <p:spPr bwMode="auto">
          <a:xfrm flipV="1">
            <a:off x="5210719" y="2179908"/>
            <a:ext cx="634520" cy="9550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8" idx="3"/>
            <a:endCxn id="28" idx="1"/>
          </p:cNvCxnSpPr>
          <p:nvPr/>
        </p:nvCxnSpPr>
        <p:spPr bwMode="auto">
          <a:xfrm>
            <a:off x="5210719" y="3134943"/>
            <a:ext cx="618701" cy="9507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-73706" y="4879208"/>
            <a:ext cx="9063159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/>
              <a:t>The </a:t>
            </a:r>
            <a:r>
              <a:rPr lang="en-US" altLang="zh-TW" sz="2400" b="1" dirty="0" smtClean="0"/>
              <a:t>HSA Translator</a:t>
            </a:r>
            <a:r>
              <a:rPr lang="en-US" altLang="zh-TW" sz="2400" dirty="0" smtClean="0"/>
              <a:t> frontend is a compiler frontend for translating HSAIL to LLVM IR.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312869" y="3509863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780011" y="3509863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2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LLVM Example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 Example of a Three-Phase Compiler</a:t>
            </a:r>
            <a:endParaRPr lang="en-US" altLang="zh-TW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-65798" y="2164070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741380" y="2912702"/>
            <a:ext cx="69762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ARM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564684" y="2807594"/>
            <a:ext cx="174989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err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lvm-gcc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933280" y="2807594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45240" y="2722534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ARM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0" name="直線單箭頭接點 9"/>
          <p:cNvCxnSpPr>
            <a:stCxn id="5" idx="3"/>
          </p:cNvCxnSpPr>
          <p:nvPr/>
        </p:nvCxnSpPr>
        <p:spPr bwMode="auto">
          <a:xfrm>
            <a:off x="331457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>
            <a:off x="521071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>
            <a:off x="702483" y="2345419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>
            <a:off x="7143209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 bwMode="auto">
          <a:xfrm>
            <a:off x="1341715" y="2021387"/>
            <a:ext cx="1972864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Clan</a:t>
            </a: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 </a:t>
            </a: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C/C++/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ObjC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1534832" y="3596119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</a:t>
            </a: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Translato</a:t>
            </a: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7" name="直線單箭頭接點 16"/>
          <p:cNvCxnSpPr>
            <a:stCxn id="15" idx="3"/>
            <a:endCxn id="8" idx="1"/>
          </p:cNvCxnSpPr>
          <p:nvPr/>
        </p:nvCxnSpPr>
        <p:spPr bwMode="auto">
          <a:xfrm>
            <a:off x="3314579" y="2348736"/>
            <a:ext cx="618701" cy="78620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6" idx="3"/>
            <a:endCxn id="8" idx="1"/>
          </p:cNvCxnSpPr>
          <p:nvPr/>
        </p:nvCxnSpPr>
        <p:spPr bwMode="auto">
          <a:xfrm flipV="1">
            <a:off x="3314577" y="3134943"/>
            <a:ext cx="618703" cy="7885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 bwMode="auto">
          <a:xfrm>
            <a:off x="930163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-58516" y="2946006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Fortran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5" name="直線單箭頭接點 24"/>
          <p:cNvCxnSpPr/>
          <p:nvPr/>
        </p:nvCxnSpPr>
        <p:spPr bwMode="auto">
          <a:xfrm>
            <a:off x="916131" y="3923468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-73706" y="3739501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5845239" y="1768950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X86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829420" y="367475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GPU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794248" y="2039047"/>
            <a:ext cx="59503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0" name="直線單箭頭接點 29"/>
          <p:cNvCxnSpPr/>
          <p:nvPr/>
        </p:nvCxnSpPr>
        <p:spPr bwMode="auto">
          <a:xfrm>
            <a:off x="7143209" y="220462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 bwMode="auto">
          <a:xfrm>
            <a:off x="7143208" y="408571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7689648" y="3901048"/>
            <a:ext cx="68480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GPU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3" name="直線單箭頭接點 32"/>
          <p:cNvCxnSpPr>
            <a:stCxn id="8" idx="3"/>
            <a:endCxn id="27" idx="1"/>
          </p:cNvCxnSpPr>
          <p:nvPr/>
        </p:nvCxnSpPr>
        <p:spPr bwMode="auto">
          <a:xfrm flipV="1">
            <a:off x="5210719" y="2179908"/>
            <a:ext cx="634520" cy="9550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8" idx="3"/>
            <a:endCxn id="28" idx="1"/>
          </p:cNvCxnSpPr>
          <p:nvPr/>
        </p:nvCxnSpPr>
        <p:spPr bwMode="auto">
          <a:xfrm>
            <a:off x="5210719" y="3134943"/>
            <a:ext cx="618701" cy="9507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-73706" y="4694542"/>
            <a:ext cx="9063159" cy="120032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/>
              <a:t>In an LLVM-based compiler, a </a:t>
            </a:r>
            <a:r>
              <a:rPr lang="en-US" altLang="zh-TW" sz="2400" b="1" dirty="0" smtClean="0"/>
              <a:t>frontend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is responsible for parsing, validating and diagnosing errors in the input code, then translating the parsed code into LLVM IR 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312869" y="3509863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780011" y="3509863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66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LLVM Example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 Example of a Three-Phase Compiler</a:t>
            </a:r>
            <a:endParaRPr lang="en-US" altLang="zh-TW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-65798" y="2164070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741380" y="2912702"/>
            <a:ext cx="69762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ARM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564684" y="2807594"/>
            <a:ext cx="174989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err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lvm-gcc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933280" y="2807594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45240" y="2722534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ARM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0" name="直線單箭頭接點 9"/>
          <p:cNvCxnSpPr>
            <a:stCxn id="5" idx="3"/>
          </p:cNvCxnSpPr>
          <p:nvPr/>
        </p:nvCxnSpPr>
        <p:spPr bwMode="auto">
          <a:xfrm>
            <a:off x="331457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>
            <a:off x="5210719" y="313494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>
            <a:off x="702483" y="2345419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>
            <a:off x="7143209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 bwMode="auto">
          <a:xfrm>
            <a:off x="1341715" y="2021387"/>
            <a:ext cx="1972864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Clan</a:t>
            </a: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 </a:t>
            </a: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C/C++/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ObjC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1534832" y="3596119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Frontend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7" name="直線單箭頭接點 16"/>
          <p:cNvCxnSpPr>
            <a:stCxn id="15" idx="3"/>
            <a:endCxn id="8" idx="1"/>
          </p:cNvCxnSpPr>
          <p:nvPr/>
        </p:nvCxnSpPr>
        <p:spPr bwMode="auto">
          <a:xfrm>
            <a:off x="3314579" y="2348736"/>
            <a:ext cx="618701" cy="78620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6" idx="3"/>
            <a:endCxn id="8" idx="1"/>
          </p:cNvCxnSpPr>
          <p:nvPr/>
        </p:nvCxnSpPr>
        <p:spPr bwMode="auto">
          <a:xfrm flipV="1">
            <a:off x="3314577" y="3134943"/>
            <a:ext cx="618703" cy="7885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 bwMode="auto">
          <a:xfrm>
            <a:off x="930163" y="3130672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-58516" y="2946006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Fortran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5" name="直線單箭頭接點 24"/>
          <p:cNvCxnSpPr/>
          <p:nvPr/>
        </p:nvCxnSpPr>
        <p:spPr bwMode="auto">
          <a:xfrm>
            <a:off x="916131" y="3923468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-73706" y="3739501"/>
            <a:ext cx="107763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5845239" y="1768950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X86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829420" y="367475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GPU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794248" y="2039047"/>
            <a:ext cx="59503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0" name="直線單箭頭接點 29"/>
          <p:cNvCxnSpPr/>
          <p:nvPr/>
        </p:nvCxnSpPr>
        <p:spPr bwMode="auto">
          <a:xfrm>
            <a:off x="7143209" y="220462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 bwMode="auto">
          <a:xfrm>
            <a:off x="7143208" y="4085714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7689648" y="3901048"/>
            <a:ext cx="68480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GPU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3" name="直線單箭頭接點 32"/>
          <p:cNvCxnSpPr>
            <a:stCxn id="8" idx="3"/>
            <a:endCxn id="27" idx="1"/>
          </p:cNvCxnSpPr>
          <p:nvPr/>
        </p:nvCxnSpPr>
        <p:spPr bwMode="auto">
          <a:xfrm flipV="1">
            <a:off x="5210719" y="2179908"/>
            <a:ext cx="634520" cy="9550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8" idx="3"/>
            <a:endCxn id="28" idx="1"/>
          </p:cNvCxnSpPr>
          <p:nvPr/>
        </p:nvCxnSpPr>
        <p:spPr bwMode="auto">
          <a:xfrm>
            <a:off x="5210719" y="3134943"/>
            <a:ext cx="618701" cy="9507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-73706" y="4879208"/>
            <a:ext cx="9063159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/>
              <a:t>The </a:t>
            </a:r>
            <a:r>
              <a:rPr lang="en-US" altLang="zh-TW" sz="2400" b="1" dirty="0"/>
              <a:t>LLVM </a:t>
            </a:r>
            <a:r>
              <a:rPr lang="en-US" altLang="zh-TW" sz="2400" b="1" dirty="0" smtClean="0"/>
              <a:t>backend(code generator) </a:t>
            </a:r>
            <a:r>
              <a:rPr lang="en-US" altLang="zh-TW" sz="2400" dirty="0"/>
              <a:t>is responsible for transforming LLVM IR into target specific machine code.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312869" y="3509863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780011" y="3509863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21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LLVM IR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 IR</a:t>
            </a:r>
            <a:endParaRPr lang="en-US" altLang="zh-TW" sz="2632" dirty="0"/>
          </a:p>
          <a:p>
            <a:pPr lvl="1"/>
            <a:r>
              <a:rPr lang="en-US" altLang="zh-TW" sz="2800" dirty="0">
                <a:solidFill>
                  <a:srgbClr val="0070C0"/>
                </a:solidFill>
              </a:rPr>
              <a:t>LLVM Intermediate Representation</a:t>
            </a:r>
            <a:endParaRPr lang="en-US" altLang="zh-TW" sz="2464" dirty="0">
              <a:solidFill>
                <a:srgbClr val="0070C0"/>
              </a:solidFill>
            </a:endParaRPr>
          </a:p>
          <a:p>
            <a:endParaRPr lang="en-US" altLang="zh-TW" sz="32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776178"/>
            <a:ext cx="7379594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/>
              <a:t>LLVM </a:t>
            </a:r>
            <a:r>
              <a:rPr lang="en-US" altLang="zh-TW" sz="2400" dirty="0" smtClean="0"/>
              <a:t>IR is </a:t>
            </a:r>
            <a:r>
              <a:rPr lang="en-US" altLang="zh-TW" sz="2400" dirty="0"/>
              <a:t>the form it uses to represent code in the compiler.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921200" y="3309456"/>
            <a:ext cx="4346259" cy="146672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093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define i32 @</a:t>
            </a:r>
            <a:r>
              <a:rPr kumimoji="0" lang="en-US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sub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1(i32 %a, i32 %b) { </a:t>
            </a: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Menlo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entry: </a:t>
            </a: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Menlo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rgbClr val="333333"/>
                </a:solidFill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	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%tmp1 = </a:t>
            </a:r>
            <a:r>
              <a:rPr kumimoji="0" lang="en-US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sub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 i32 %a, %b </a:t>
            </a: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Menlo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rgbClr val="333333"/>
                </a:solidFill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	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ret</a:t>
            </a:r>
            <a:r>
              <a:rPr kumimoji="0" lang="en-US" altLang="zh-TW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 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i32 %tmp1 </a:t>
            </a: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Menlo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}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zh-TW" altLang="zh-TW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985594" y="2220498"/>
            <a:ext cx="4925809" cy="91272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093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unsigned </a:t>
            </a:r>
            <a:r>
              <a:rPr kumimoji="0" lang="en-US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sub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1(unsigned a, unsigned b) { </a:t>
            </a: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Menlo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rgbClr val="333333"/>
                </a:solidFill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	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return a</a:t>
            </a:r>
            <a:r>
              <a:rPr kumimoji="0" lang="en-US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-</a:t>
            </a: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b; </a:t>
            </a: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Menlo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Menlo"/>
                <a:cs typeface="Consolas" panose="020B0609020204030204" pitchFamily="49" charset="0"/>
              </a:rPr>
              <a:t>}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zh-TW" altLang="zh-TW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486406" y="3858850"/>
            <a:ext cx="198855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IR(</a:t>
            </a: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Bitcode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6093816" y="2483374"/>
            <a:ext cx="91563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 code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37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 smtClean="0"/>
              <a:t>SPIR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44005"/>
            <a:ext cx="7883434" cy="1752600"/>
          </a:xfrm>
        </p:spPr>
        <p:txBody>
          <a:bodyPr/>
          <a:lstStyle/>
          <a:p>
            <a:r>
              <a:rPr lang="en-US" altLang="zh-TW" sz="2400" dirty="0" smtClean="0"/>
              <a:t>Standard Portable Intermediate Representation</a:t>
            </a:r>
            <a:endParaRPr lang="zh-TW" altLang="en-US" sz="2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schemeClr val="bg1">
                  <a:lumMod val="50000"/>
                </a:schemeClr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39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2800" dirty="0" smtClean="0"/>
              <a:t>What is SPIR ?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</a:rPr>
              <a:t> Standard Portable Intermediate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</a:rPr>
              <a:t>Representation</a:t>
            </a:r>
            <a:endParaRPr lang="en-US" altLang="zh-TW" sz="2400" dirty="0"/>
          </a:p>
          <a:p>
            <a:endParaRPr lang="fr-FR" altLang="zh-TW" sz="2400" dirty="0" smtClean="0"/>
          </a:p>
          <a:p>
            <a:r>
              <a:rPr lang="fr-FR" altLang="zh-TW" sz="2400" dirty="0" smtClean="0"/>
              <a:t>Portable </a:t>
            </a:r>
            <a:r>
              <a:rPr lang="fr-FR" altLang="zh-TW" sz="2400" dirty="0"/>
              <a:t>non-source representation for OpenCL 1.2 </a:t>
            </a:r>
            <a:r>
              <a:rPr lang="fr-FR" altLang="zh-TW" sz="2400" dirty="0" smtClean="0"/>
              <a:t>device side code</a:t>
            </a:r>
          </a:p>
          <a:p>
            <a:pPr marL="0" indent="0">
              <a:buNone/>
            </a:pPr>
            <a:endParaRPr lang="en-US" altLang="zh-TW" sz="2400" dirty="0" smtClean="0"/>
          </a:p>
          <a:p>
            <a:r>
              <a:rPr lang="en-US" altLang="zh-TW" sz="2400" dirty="0"/>
              <a:t>SPIR is a mapping from the </a:t>
            </a:r>
            <a:r>
              <a:rPr lang="en-US" altLang="zh-TW" sz="2400" dirty="0" err="1"/>
              <a:t>OpenCL</a:t>
            </a:r>
            <a:r>
              <a:rPr lang="en-US" altLang="zh-TW" sz="2400" dirty="0"/>
              <a:t> C programming language into LLVM </a:t>
            </a:r>
            <a:r>
              <a:rPr lang="en-US" altLang="zh-TW" sz="2400" dirty="0" smtClean="0"/>
              <a:t>IR</a:t>
            </a:r>
          </a:p>
          <a:p>
            <a:r>
              <a:rPr lang="en-US" altLang="zh-TW" sz="2400" dirty="0" err="1" smtClean="0">
                <a:solidFill>
                  <a:schemeClr val="accent1">
                    <a:lumMod val="75000"/>
                  </a:schemeClr>
                </a:solidFill>
              </a:rPr>
              <a:t>OpenCL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</a:rPr>
              <a:t>1.2 Extension standardizes an API for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</a:rPr>
              <a:t>reading SPIR 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</a:rPr>
              <a:t>files, </a:t>
            </a:r>
            <a:r>
              <a:rPr lang="en-US" altLang="zh-TW" sz="2400" dirty="0" err="1" smtClean="0">
                <a:solidFill>
                  <a:schemeClr val="accent1">
                    <a:lumMod val="75000"/>
                  </a:schemeClr>
                </a:solidFill>
              </a:rPr>
              <a:t>cl_khr_spir</a:t>
            </a:r>
            <a:endParaRPr lang="en-US" altLang="zh-TW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TW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TW" sz="2400" dirty="0"/>
              <a:t>SPIR 1.2 public review draft defines the IR and </a:t>
            </a:r>
            <a:r>
              <a:rPr lang="en-US" altLang="zh-TW" sz="2400" dirty="0" smtClean="0"/>
              <a:t>clarifies changes </a:t>
            </a:r>
            <a:r>
              <a:rPr lang="en-US" altLang="zh-TW" sz="2400" dirty="0"/>
              <a:t>to support SPIR with LLVM</a:t>
            </a:r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zh-TW" altLang="en-US" sz="15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schemeClr val="bg1">
                  <a:lumMod val="50000"/>
                </a:schemeClr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89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err="1"/>
              <a:t>OpenCL</a:t>
            </a:r>
            <a:r>
              <a:rPr lang="en-US" altLang="zh-TW" sz="2800" dirty="0"/>
              <a:t> C mapping to SPIR</a:t>
            </a:r>
            <a:endParaRPr lang="zh-TW" altLang="en-US" sz="2800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468318" y="1001279"/>
          <a:ext cx="3871732" cy="4943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866"/>
                <a:gridCol w="1935866"/>
              </a:tblGrid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err="1" smtClean="0"/>
                        <a:t>OpenCL</a:t>
                      </a:r>
                      <a:r>
                        <a:rPr lang="en-US" altLang="zh-TW" sz="1450" dirty="0" smtClean="0"/>
                        <a:t> C Type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LLVM Type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err="1" smtClean="0"/>
                        <a:t>bool</a:t>
                      </a:r>
                      <a:r>
                        <a:rPr lang="en-US" altLang="zh-TW" sz="1450" dirty="0" smtClean="0"/>
                        <a:t> 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i1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char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i8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unsigned char, </a:t>
                      </a:r>
                      <a:r>
                        <a:rPr lang="en-US" altLang="zh-TW" sz="1450" dirty="0" err="1" smtClean="0"/>
                        <a:t>uchar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i8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short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i16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unsigned short, </a:t>
                      </a:r>
                      <a:r>
                        <a:rPr lang="en-US" altLang="zh-TW" sz="1450" dirty="0" err="1" smtClean="0"/>
                        <a:t>ushort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i16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err="1" smtClean="0"/>
                        <a:t>int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i32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unsigned </a:t>
                      </a:r>
                      <a:r>
                        <a:rPr lang="en-US" altLang="zh-TW" sz="1450" dirty="0" err="1" smtClean="0"/>
                        <a:t>int</a:t>
                      </a:r>
                      <a:r>
                        <a:rPr lang="en-US" altLang="zh-TW" sz="1450" dirty="0" smtClean="0"/>
                        <a:t>, </a:t>
                      </a:r>
                      <a:r>
                        <a:rPr lang="en-US" altLang="zh-TW" sz="1450" dirty="0" err="1" smtClean="0"/>
                        <a:t>uint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i32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long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i64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unsigned long, </a:t>
                      </a:r>
                      <a:r>
                        <a:rPr lang="en-US" altLang="zh-TW" sz="1450" dirty="0" err="1" smtClean="0"/>
                        <a:t>ulong</a:t>
                      </a:r>
                      <a:r>
                        <a:rPr lang="en-US" altLang="zh-TW" sz="1450" dirty="0" smtClean="0"/>
                        <a:t> 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i64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float 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float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double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double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half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err="1" smtClean="0"/>
                        <a:t>hald</a:t>
                      </a:r>
                      <a:endParaRPr lang="zh-TW" altLang="en-US" sz="145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void</a:t>
                      </a:r>
                      <a:endParaRPr lang="zh-TW" alt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50" dirty="0" smtClean="0"/>
                        <a:t>void</a:t>
                      </a:r>
                      <a:endParaRPr lang="zh-TW" altLang="en-US" sz="145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746944" y="5775405"/>
            <a:ext cx="373597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 </a:t>
            </a:r>
            <a:r>
              <a:rPr lang="en-US" altLang="zh-TW" sz="1600" dirty="0">
                <a:ea typeface="標楷體" pitchFamily="65" charset="-120"/>
                <a:cs typeface="Calibri" pitchFamily="34" charset="0"/>
              </a:rPr>
              <a:t>Mapping for built-in vector types</a:t>
            </a:r>
            <a:endParaRPr lang="zh-TW" altLang="en-US" sz="1600" dirty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94445" y="5878826"/>
            <a:ext cx="353027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600" dirty="0">
                <a:ea typeface="標楷體" pitchFamily="65" charset="-120"/>
                <a:cs typeface="Calibri" pitchFamily="34" charset="0"/>
              </a:rPr>
              <a:t>Mapping for built-in scalar data types</a:t>
            </a:r>
            <a:endParaRPr lang="zh-TW" altLang="en-US" sz="1600" dirty="0" smtClean="0">
              <a:ea typeface="標楷體" pitchFamily="65" charset="-120"/>
              <a:cs typeface="Calibri" pitchFamily="34" charset="0"/>
            </a:endParaRPr>
          </a:p>
        </p:txBody>
      </p:sp>
      <p:graphicFrame>
        <p:nvGraphicFramePr>
          <p:cNvPr id="8" name="內容版面配置區 5"/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4803961" y="1102370"/>
          <a:ext cx="3871732" cy="464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866"/>
                <a:gridCol w="1935866"/>
              </a:tblGrid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OpenCL</a:t>
                      </a:r>
                      <a:r>
                        <a:rPr lang="en-US" altLang="zh-TW" sz="1600" dirty="0" smtClean="0"/>
                        <a:t> C 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LLVM Type</a:t>
                      </a:r>
                      <a:endParaRPr lang="zh-TW" altLang="en-US" sz="160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charn</a:t>
                      </a:r>
                      <a:r>
                        <a:rPr lang="en-US" altLang="zh-TW" sz="1600" dirty="0" smtClean="0"/>
                        <a:t>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&lt; n x i8 &gt;</a:t>
                      </a:r>
                      <a:endParaRPr lang="zh-TW" altLang="en-US" sz="160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ucharn</a:t>
                      </a:r>
                      <a:r>
                        <a:rPr lang="en-US" altLang="zh-TW" sz="1600" dirty="0" smtClean="0"/>
                        <a:t>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&lt; n x i8 &gt;</a:t>
                      </a:r>
                      <a:endParaRPr lang="zh-TW" altLang="en-US" sz="160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shortn</a:t>
                      </a:r>
                      <a:r>
                        <a:rPr lang="en-US" altLang="zh-TW" sz="1600" dirty="0" smtClean="0"/>
                        <a:t>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&lt; n x i16 &gt;</a:t>
                      </a:r>
                      <a:endParaRPr lang="zh-TW" altLang="en-US" sz="160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ushortn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&lt; n x i16 &gt;</a:t>
                      </a:r>
                      <a:endParaRPr lang="zh-TW" altLang="en-US" sz="160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intn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&lt; n x i32 &gt;</a:t>
                      </a:r>
                      <a:endParaRPr lang="zh-TW" altLang="en-US" sz="160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uintn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&lt; n x i32 &gt;</a:t>
                      </a:r>
                      <a:endParaRPr lang="zh-TW" altLang="en-US" sz="160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longn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&lt; n x i64 &gt;</a:t>
                      </a:r>
                      <a:endParaRPr lang="zh-TW" altLang="en-US" sz="160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ulongn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&lt; n x i64 &gt;</a:t>
                      </a:r>
                      <a:endParaRPr lang="zh-TW" altLang="en-US" sz="160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unsigned long, </a:t>
                      </a:r>
                      <a:r>
                        <a:rPr lang="en-US" altLang="zh-TW" sz="1600" dirty="0" err="1" smtClean="0"/>
                        <a:t>ulong</a:t>
                      </a:r>
                      <a:r>
                        <a:rPr lang="en-US" altLang="zh-TW" sz="1600" dirty="0" smtClean="0"/>
                        <a:t>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i64</a:t>
                      </a:r>
                      <a:endParaRPr lang="zh-TW" altLang="en-US" sz="1600" dirty="0"/>
                    </a:p>
                  </a:txBody>
                  <a:tcPr/>
                </a:tc>
              </a:tr>
              <a:tr h="339231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halfn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&lt; n x half &gt;</a:t>
                      </a:r>
                      <a:endParaRPr lang="zh-TW" altLang="en-US" sz="1600" dirty="0"/>
                    </a:p>
                  </a:txBody>
                  <a:tcPr/>
                </a:tc>
              </a:tr>
              <a:tr h="333234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floatn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floatn</a:t>
                      </a:r>
                      <a:endParaRPr lang="zh-TW" altLang="en-US" sz="1600" dirty="0"/>
                    </a:p>
                  </a:txBody>
                  <a:tcPr/>
                </a:tc>
              </a:tr>
              <a:tr h="293129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doublen</a:t>
                      </a:r>
                      <a:endParaRPr lang="zh-TW" altLang="en-US" sz="16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3857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&lt; n x double &gt;</a:t>
                      </a:r>
                      <a:endParaRPr lang="zh-TW" altLang="en-US" sz="1600" dirty="0" smtClean="0"/>
                    </a:p>
                  </a:txBody>
                  <a:tcPr>
                    <a:lnB w="12700" cmpd="sng"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57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76500" y="144463"/>
            <a:ext cx="8207375" cy="692150"/>
          </a:xfrm>
        </p:spPr>
        <p:txBody>
          <a:bodyPr/>
          <a:lstStyle/>
          <a:p>
            <a:r>
              <a:rPr lang="en-US" altLang="zh-TW" sz="2800" dirty="0"/>
              <a:t>Why use </a:t>
            </a:r>
            <a:r>
              <a:rPr lang="en-US" altLang="zh-TW" sz="2800" dirty="0" smtClean="0"/>
              <a:t>SPIR ?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25537"/>
            <a:ext cx="4038600" cy="5014005"/>
          </a:xfrm>
        </p:spPr>
        <p:txBody>
          <a:bodyPr/>
          <a:lstStyle/>
          <a:p>
            <a:r>
              <a:rPr lang="en-US" altLang="zh-TW" sz="2400" dirty="0"/>
              <a:t>Without SPIR</a:t>
            </a:r>
            <a:r>
              <a:rPr lang="en-US" altLang="zh-TW" sz="2400" dirty="0" smtClean="0"/>
              <a:t>:</a:t>
            </a:r>
          </a:p>
          <a:p>
            <a:pPr lvl="1"/>
            <a:r>
              <a:rPr lang="en-US" altLang="zh-TW" sz="2200" dirty="0"/>
              <a:t>Some vendors </a:t>
            </a:r>
            <a:r>
              <a:rPr lang="en-US" altLang="zh-TW" sz="2200" dirty="0" smtClean="0"/>
              <a:t>shipping source</a:t>
            </a:r>
          </a:p>
          <a:p>
            <a:pPr lvl="3"/>
            <a:r>
              <a:rPr lang="en-US" altLang="zh-TW" sz="2000" dirty="0"/>
              <a:t> </a:t>
            </a:r>
            <a:r>
              <a:rPr lang="en-US" altLang="zh-TW" sz="2000" dirty="0">
                <a:latin typeface="Calibri" panose="020F0502020204030204" pitchFamily="34" charset="0"/>
              </a:rPr>
              <a:t>Risk IP </a:t>
            </a:r>
            <a:r>
              <a:rPr lang="en-US" altLang="zh-TW" sz="2000" dirty="0" smtClean="0">
                <a:latin typeface="Calibri" panose="020F0502020204030204" pitchFamily="34" charset="0"/>
              </a:rPr>
              <a:t>leakage</a:t>
            </a:r>
          </a:p>
          <a:p>
            <a:pPr lvl="1"/>
            <a:r>
              <a:rPr lang="en-US" altLang="zh-TW" sz="2253" dirty="0" smtClean="0">
                <a:latin typeface="Calibri" panose="020F0502020204030204" pitchFamily="34" charset="0"/>
              </a:rPr>
              <a:t>Some </a:t>
            </a:r>
            <a:r>
              <a:rPr lang="en-US" altLang="zh-TW" sz="2253" dirty="0">
                <a:latin typeface="Calibri" panose="020F0502020204030204" pitchFamily="34" charset="0"/>
              </a:rPr>
              <a:t>vendors </a:t>
            </a:r>
            <a:r>
              <a:rPr lang="en-US" altLang="zh-TW" sz="2253" dirty="0" smtClean="0">
                <a:latin typeface="Calibri" panose="020F0502020204030204" pitchFamily="34" charset="0"/>
              </a:rPr>
              <a:t>shipping </a:t>
            </a:r>
            <a:r>
              <a:rPr lang="en-US" altLang="zh-TW" sz="2000" dirty="0" smtClean="0">
                <a:latin typeface="Calibri" panose="020F0502020204030204" pitchFamily="34" charset="0"/>
              </a:rPr>
              <a:t>multiple binaries</a:t>
            </a:r>
          </a:p>
          <a:p>
            <a:pPr lvl="3"/>
            <a:r>
              <a:rPr lang="en-US" altLang="zh-TW" sz="1747" dirty="0" smtClean="0"/>
              <a:t>Complexity</a:t>
            </a:r>
          </a:p>
          <a:p>
            <a:pPr lvl="3"/>
            <a:r>
              <a:rPr lang="en-US" altLang="zh-TW" sz="1747" dirty="0"/>
              <a:t>Miss optimizations in </a:t>
            </a:r>
            <a:r>
              <a:rPr lang="en-US" altLang="zh-TW" sz="1747" dirty="0" smtClean="0"/>
              <a:t>new compilers</a:t>
            </a:r>
          </a:p>
          <a:p>
            <a:pPr lvl="3"/>
            <a:r>
              <a:rPr lang="en-US" altLang="zh-TW" sz="1747" dirty="0" err="1"/>
              <a:t>Fwd</a:t>
            </a:r>
            <a:r>
              <a:rPr lang="en-US" altLang="zh-TW" sz="1747" dirty="0"/>
              <a:t> compatibility issues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25537"/>
            <a:ext cx="4038600" cy="4744039"/>
          </a:xfrm>
        </p:spPr>
        <p:txBody>
          <a:bodyPr/>
          <a:lstStyle/>
          <a:p>
            <a:r>
              <a:rPr lang="en-US" altLang="zh-TW" sz="2400" dirty="0"/>
              <a:t>With SPIR </a:t>
            </a:r>
            <a:r>
              <a:rPr lang="en-US" altLang="zh-TW" sz="2400" dirty="0" smtClean="0"/>
              <a:t>extension:</a:t>
            </a:r>
          </a:p>
          <a:p>
            <a:pPr lvl="1"/>
            <a:r>
              <a:rPr lang="en-US" altLang="zh-TW" sz="2200" dirty="0"/>
              <a:t>Ship a single binary </a:t>
            </a:r>
            <a:r>
              <a:rPr lang="en-US" altLang="zh-TW" sz="2200" dirty="0" smtClean="0"/>
              <a:t>per platform</a:t>
            </a:r>
            <a:r>
              <a:rPr lang="en-US" altLang="zh-TW" sz="2200" dirty="0"/>
              <a:t>:</a:t>
            </a:r>
            <a:r>
              <a:rPr lang="en-US" altLang="zh-TW" sz="2000" dirty="0" smtClean="0"/>
              <a:t> </a:t>
            </a:r>
          </a:p>
          <a:p>
            <a:pPr lvl="3"/>
            <a:r>
              <a:rPr lang="en-US" altLang="zh-TW" sz="1747" dirty="0">
                <a:latin typeface="Calibri" panose="020F0502020204030204" pitchFamily="34" charset="0"/>
              </a:rPr>
              <a:t> (example: one SPIR file can </a:t>
            </a:r>
            <a:r>
              <a:rPr lang="en-US" altLang="zh-TW" sz="1747" dirty="0" smtClean="0">
                <a:latin typeface="Calibri" panose="020F0502020204030204" pitchFamily="34" charset="0"/>
              </a:rPr>
              <a:t>be supported </a:t>
            </a:r>
            <a:r>
              <a:rPr lang="en-US" altLang="zh-TW" sz="1747" dirty="0">
                <a:latin typeface="Calibri" panose="020F0502020204030204" pitchFamily="34" charset="0"/>
              </a:rPr>
              <a:t>on both Intel </a:t>
            </a:r>
            <a:r>
              <a:rPr lang="en-US" altLang="zh-TW" sz="1747" dirty="0" smtClean="0">
                <a:latin typeface="Calibri" panose="020F0502020204030204" pitchFamily="34" charset="0"/>
              </a:rPr>
              <a:t>and AMD</a:t>
            </a:r>
            <a:r>
              <a:rPr lang="en-US" altLang="zh-TW" sz="1747" dirty="0">
                <a:latin typeface="Calibri" panose="020F0502020204030204" pitchFamily="34" charset="0"/>
              </a:rPr>
              <a:t>)</a:t>
            </a:r>
          </a:p>
          <a:p>
            <a:pPr lvl="1"/>
            <a:r>
              <a:rPr lang="en-US" altLang="zh-TW" sz="2253" dirty="0"/>
              <a:t>Shipped application </a:t>
            </a:r>
            <a:r>
              <a:rPr lang="en-US" altLang="zh-TW" sz="2253" dirty="0" smtClean="0"/>
              <a:t>can retarget </a:t>
            </a:r>
            <a:r>
              <a:rPr lang="en-US" altLang="zh-TW" sz="2253" dirty="0"/>
              <a:t>new devices </a:t>
            </a:r>
            <a:r>
              <a:rPr lang="en-US" altLang="zh-TW" sz="2253" dirty="0" smtClean="0"/>
              <a:t>and new vendors</a:t>
            </a:r>
            <a:endParaRPr lang="en-US" altLang="zh-TW" sz="1747" dirty="0"/>
          </a:p>
          <a:p>
            <a:pPr lvl="3"/>
            <a:r>
              <a:rPr lang="en-US" altLang="zh-TW" sz="1747" dirty="0"/>
              <a:t>Vendor must support extension</a:t>
            </a:r>
            <a:endParaRPr lang="zh-TW" altLang="en-US" sz="2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schemeClr val="bg1">
                  <a:lumMod val="50000"/>
                </a:schemeClr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53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Compilation Flow for source  without SPIR</a:t>
            </a:r>
            <a:endParaRPr lang="zh-TW" altLang="en-US" sz="2800" dirty="0"/>
          </a:p>
        </p:txBody>
      </p:sp>
      <p:sp>
        <p:nvSpPr>
          <p:cNvPr id="6" name="直排文字版面配置區 5"/>
          <p:cNvSpPr>
            <a:spLocks noGrp="1"/>
          </p:cNvSpPr>
          <p:nvPr>
            <p:ph type="body" orient="vert" idx="1"/>
          </p:nvPr>
        </p:nvSpPr>
        <p:spPr>
          <a:xfrm>
            <a:off x="609600" y="3152502"/>
            <a:ext cx="8229600" cy="2742609"/>
          </a:xfrm>
        </p:spPr>
        <p:txBody>
          <a:bodyPr vert="horz"/>
          <a:lstStyle/>
          <a:p>
            <a:r>
              <a:rPr lang="en-US" altLang="zh-TW" sz="2400" dirty="0"/>
              <a:t>Supports only </a:t>
            </a:r>
            <a:r>
              <a:rPr lang="en-US" altLang="zh-TW" sz="2400" dirty="0" err="1"/>
              <a:t>OpenCL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C</a:t>
            </a:r>
          </a:p>
          <a:p>
            <a:r>
              <a:rPr lang="en-US" altLang="zh-TW" sz="2400" dirty="0"/>
              <a:t>ISV is shipping their source code</a:t>
            </a:r>
            <a:r>
              <a:rPr lang="en-US" altLang="zh-TW" sz="2400" dirty="0" smtClean="0"/>
              <a:t>:</a:t>
            </a:r>
          </a:p>
          <a:p>
            <a:pPr lvl="1"/>
            <a:r>
              <a:rPr lang="en-US" altLang="zh-TW" sz="2000" dirty="0"/>
              <a:t> </a:t>
            </a:r>
            <a:r>
              <a:rPr lang="en-US" altLang="zh-TW" sz="2200" dirty="0"/>
              <a:t>IP risk</a:t>
            </a:r>
            <a:endParaRPr lang="zh-TW" altLang="en-US" sz="22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609600" y="1241561"/>
            <a:ext cx="8229600" cy="1754187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schemeClr val="bg1">
                  <a:lumMod val="50000"/>
                </a:schemeClr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92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Compilation Flow for binaries  without SPIR</a:t>
            </a:r>
            <a:endParaRPr lang="zh-TW" altLang="en-US" sz="2800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468318" y="4916489"/>
            <a:ext cx="7959736" cy="1265236"/>
          </a:xfrm>
        </p:spPr>
        <p:txBody>
          <a:bodyPr/>
          <a:lstStyle/>
          <a:p>
            <a:r>
              <a:rPr lang="en-US" altLang="zh-TW" sz="2400" dirty="0"/>
              <a:t>ISV ships vendor-specific </a:t>
            </a:r>
            <a:r>
              <a:rPr lang="en-US" altLang="zh-TW" sz="2400" dirty="0" smtClean="0"/>
              <a:t>binary</a:t>
            </a:r>
          </a:p>
          <a:p>
            <a:pPr lvl="1"/>
            <a:r>
              <a:rPr lang="fr-FR" altLang="zh-TW" sz="2232" dirty="0"/>
              <a:t>Proliferation: devices, driver revisions, </a:t>
            </a:r>
            <a:r>
              <a:rPr lang="fr-FR" altLang="zh-TW" sz="2232" dirty="0" smtClean="0"/>
              <a:t>vendors</a:t>
            </a:r>
          </a:p>
          <a:p>
            <a:pPr lvl="1"/>
            <a:r>
              <a:rPr lang="en-US" altLang="zh-TW" sz="2232" dirty="0"/>
              <a:t>Market-lagging: target  shipped products</a:t>
            </a:r>
            <a:endParaRPr lang="zh-TW" altLang="en-US" sz="2232" dirty="0"/>
          </a:p>
        </p:txBody>
      </p:sp>
      <p:sp>
        <p:nvSpPr>
          <p:cNvPr id="9" name="文字方塊 8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schemeClr val="bg1">
                  <a:lumMod val="50000"/>
                </a:schemeClr>
              </a:solidFill>
              <a:ea typeface="標楷體" pitchFamily="65" charset="-120"/>
              <a:cs typeface="Calibri" pitchFamily="34" charset="0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73204" y="1179513"/>
            <a:ext cx="8997602" cy="3832031"/>
            <a:chOff x="0" y="1071579"/>
            <a:chExt cx="8997602" cy="3832031"/>
          </a:xfrm>
        </p:grpSpPr>
        <p:grpSp>
          <p:nvGrpSpPr>
            <p:cNvPr id="6" name="群組 5"/>
            <p:cNvGrpSpPr/>
            <p:nvPr/>
          </p:nvGrpSpPr>
          <p:grpSpPr>
            <a:xfrm>
              <a:off x="0" y="1071579"/>
              <a:ext cx="8997602" cy="3832031"/>
              <a:chOff x="0" y="1144591"/>
              <a:chExt cx="8997602" cy="3832031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0" y="1144591"/>
                <a:ext cx="8997602" cy="3771898"/>
                <a:chOff x="965915" y="1732133"/>
                <a:chExt cx="8997602" cy="3771898"/>
              </a:xfrm>
            </p:grpSpPr>
            <p:pic>
              <p:nvPicPr>
                <p:cNvPr id="8" name="圖片 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65915" y="1732133"/>
                  <a:ext cx="8997602" cy="3771898"/>
                </a:xfrm>
                <a:prstGeom prst="rect">
                  <a:avLst/>
                </a:prstGeom>
              </p:spPr>
            </p:pic>
            <p:sp>
              <p:nvSpPr>
                <p:cNvPr id="3" name="矩形 2"/>
                <p:cNvSpPr/>
                <p:nvPr/>
              </p:nvSpPr>
              <p:spPr bwMode="auto">
                <a:xfrm>
                  <a:off x="1841678" y="1732133"/>
                  <a:ext cx="502277" cy="321972"/>
                </a:xfrm>
                <a:prstGeom prst="rect">
                  <a:avLst/>
                </a:prstGeom>
                <a:solidFill>
                  <a:schemeClr val="bg1"/>
                </a:solidFill>
                <a:ln w="158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zh-TW" altLang="en-US" sz="18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新細明體" pitchFamily="18" charset="-120"/>
                  </a:endParaRPr>
                </a:p>
              </p:txBody>
            </p:sp>
          </p:grpSp>
          <p:sp>
            <p:nvSpPr>
              <p:cNvPr id="5" name="矩形 4"/>
              <p:cNvSpPr/>
              <p:nvPr/>
            </p:nvSpPr>
            <p:spPr bwMode="auto">
              <a:xfrm>
                <a:off x="1188930" y="4907871"/>
                <a:ext cx="3309871" cy="68751"/>
              </a:xfrm>
              <a:prstGeom prst="rect">
                <a:avLst/>
              </a:prstGeom>
              <a:solidFill>
                <a:schemeClr val="bg1"/>
              </a:solidFill>
              <a:ln w="158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 bwMode="auto">
            <a:xfrm>
              <a:off x="1034702" y="4828420"/>
              <a:ext cx="3464099" cy="50800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66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48478" y="144463"/>
            <a:ext cx="8207375" cy="692150"/>
          </a:xfrm>
        </p:spPr>
        <p:txBody>
          <a:bodyPr/>
          <a:lstStyle/>
          <a:p>
            <a:r>
              <a:rPr lang="en-US" altLang="zh-TW" sz="2800" dirty="0"/>
              <a:t> SPIR Binary Compilation Flow</a:t>
            </a:r>
            <a:endParaRPr lang="zh-TW" altLang="en-US" sz="2800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468318" y="4916489"/>
            <a:ext cx="7959736" cy="1265236"/>
          </a:xfrm>
        </p:spPr>
        <p:txBody>
          <a:bodyPr/>
          <a:lstStyle/>
          <a:p>
            <a:r>
              <a:rPr lang="en-US" altLang="zh-TW" sz="2400" dirty="0"/>
              <a:t>ISV ships kernels in SPIR </a:t>
            </a:r>
            <a:r>
              <a:rPr lang="en-US" altLang="zh-TW" sz="2400" dirty="0" smtClean="0"/>
              <a:t>form</a:t>
            </a:r>
          </a:p>
          <a:p>
            <a:r>
              <a:rPr lang="en-US" altLang="zh-TW" sz="2232" dirty="0"/>
              <a:t>User runs application on vendor of their choice</a:t>
            </a:r>
            <a:endParaRPr lang="zh-TW" altLang="en-US" sz="2232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7" y="1153630"/>
            <a:ext cx="8505370" cy="3445842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schemeClr val="bg1">
                  <a:lumMod val="50000"/>
                </a:schemeClr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67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48478" y="144463"/>
            <a:ext cx="8207375" cy="692150"/>
          </a:xfrm>
        </p:spPr>
        <p:txBody>
          <a:bodyPr/>
          <a:lstStyle/>
          <a:p>
            <a:r>
              <a:rPr lang="en-US" altLang="zh-TW" sz="2800" dirty="0"/>
              <a:t> Sample SPIR consumption flow</a:t>
            </a:r>
            <a:endParaRPr lang="zh-TW" altLang="en-US" sz="28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schemeClr val="bg1">
                  <a:lumMod val="50000"/>
                </a:schemeClr>
              </a:solidFill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547069"/>
            <a:ext cx="8661558" cy="376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9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625" y="226926"/>
            <a:ext cx="8207375" cy="692150"/>
          </a:xfrm>
        </p:spPr>
        <p:txBody>
          <a:bodyPr/>
          <a:lstStyle/>
          <a:p>
            <a:r>
              <a:rPr lang="en-US" altLang="zh-TW" sz="2800" dirty="0"/>
              <a:t> Sample SPIR flow: Room for optimizations</a:t>
            </a:r>
            <a:endParaRPr lang="zh-TW" altLang="en-US" sz="28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schemeClr val="bg1">
                  <a:lumMod val="50000"/>
                </a:schemeClr>
              </a:solidFill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37" y="1447799"/>
            <a:ext cx="8727775" cy="417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6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800" dirty="0" smtClean="0"/>
              <a:t>HSAIL AND SPIR</a:t>
            </a:r>
            <a:endParaRPr lang="zh-TW" altLang="en-US" sz="2800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/>
          </p:nvPr>
        </p:nvGraphicFramePr>
        <p:xfrm>
          <a:off x="0" y="1384665"/>
          <a:ext cx="91440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292787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Feature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HSAIL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SPIR</a:t>
                      </a:r>
                      <a:endParaRPr lang="zh-TW" altLang="en-US" sz="1600" dirty="0"/>
                    </a:p>
                  </a:txBody>
                  <a:tcPr/>
                </a:tc>
              </a:tr>
              <a:tr h="931596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Intended Users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Compiler developers who want to control their</a:t>
                      </a:r>
                    </a:p>
                    <a:p>
                      <a:r>
                        <a:rPr lang="en-US" altLang="zh-TW" sz="1600" dirty="0" smtClean="0"/>
                        <a:t>own code generation.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Compiler developers who want a fast path to</a:t>
                      </a:r>
                    </a:p>
                    <a:p>
                      <a:r>
                        <a:rPr lang="en-US" altLang="zh-TW" sz="1600" dirty="0" smtClean="0"/>
                        <a:t>acceleration across a wide variety of devices.</a:t>
                      </a:r>
                      <a:endParaRPr lang="zh-TW" altLang="en-US" sz="1600" dirty="0"/>
                    </a:p>
                  </a:txBody>
                  <a:tcPr/>
                </a:tc>
              </a:tr>
              <a:tr h="71866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IR Level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Low-level, just above the machine instruction</a:t>
                      </a:r>
                    </a:p>
                    <a:p>
                      <a:r>
                        <a:rPr lang="en-US" altLang="zh-TW" sz="1600" dirty="0" smtClean="0"/>
                        <a:t>set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High-level, just below LLVM-IR</a:t>
                      </a:r>
                      <a:endParaRPr lang="zh-TW" altLang="en-US" sz="1600" dirty="0"/>
                    </a:p>
                  </a:txBody>
                  <a:tcPr/>
                </a:tc>
              </a:tr>
              <a:tr h="931596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Back-end code generation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Thin, fast, robust.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Flexible. Can include many optimizations and</a:t>
                      </a:r>
                    </a:p>
                    <a:p>
                      <a:r>
                        <a:rPr lang="en-US" altLang="zh-TW" sz="1600" dirty="0" smtClean="0"/>
                        <a:t>compiler transformation including register allocation.</a:t>
                      </a:r>
                      <a:endParaRPr lang="zh-TW" altLang="en-US" sz="1600" dirty="0"/>
                    </a:p>
                  </a:txBody>
                  <a:tcPr/>
                </a:tc>
              </a:tr>
              <a:tr h="931596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Where are compiler optimizations</a:t>
                      </a:r>
                    </a:p>
                    <a:p>
                      <a:r>
                        <a:rPr lang="en-US" altLang="zh-TW" sz="1600" dirty="0" smtClean="0"/>
                        <a:t>performed?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Most done in high-level compiler, before HSAIL</a:t>
                      </a:r>
                    </a:p>
                    <a:p>
                      <a:r>
                        <a:rPr lang="en-US" altLang="zh-TW" sz="1600" dirty="0" smtClean="0"/>
                        <a:t>generation.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Most done in back-end code generator, between SPIR</a:t>
                      </a:r>
                    </a:p>
                    <a:p>
                      <a:r>
                        <a:rPr lang="en-US" altLang="zh-TW" sz="1600" dirty="0" smtClean="0"/>
                        <a:t>and device machine instruction set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416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800" dirty="0" smtClean="0"/>
              <a:t>HSAIL AND SPIR</a:t>
            </a:r>
            <a:endParaRPr lang="zh-TW" altLang="en-US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16041" y="1564104"/>
          <a:ext cx="9127959" cy="4101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2653"/>
                <a:gridCol w="3042653"/>
                <a:gridCol w="3042653"/>
              </a:tblGrid>
              <a:tr h="360954">
                <a:tc>
                  <a:txBody>
                    <a:bodyPr/>
                    <a:lstStyle/>
                    <a:p>
                      <a:pPr marL="0" marR="0" indent="0" algn="l" defTabSz="3857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Feature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3857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HSAIL 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SPIR</a:t>
                      </a:r>
                      <a:endParaRPr lang="zh-TW" altLang="en-US" sz="1600" dirty="0"/>
                    </a:p>
                  </a:txBody>
                  <a:tcPr/>
                </a:tc>
              </a:tr>
              <a:tr h="360954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Registers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Fixed-size register pool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Infinite</a:t>
                      </a:r>
                      <a:endParaRPr lang="zh-TW" altLang="en-US" sz="1600" dirty="0"/>
                    </a:p>
                  </a:txBody>
                  <a:tcPr/>
                </a:tc>
              </a:tr>
              <a:tr h="360954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SSA Form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No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Yes</a:t>
                      </a:r>
                      <a:endParaRPr lang="zh-TW" altLang="en-US" sz="1600" dirty="0"/>
                    </a:p>
                  </a:txBody>
                  <a:tcPr/>
                </a:tc>
              </a:tr>
              <a:tr h="360954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Binary format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Yes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Yes</a:t>
                      </a:r>
                      <a:endParaRPr lang="zh-TW" altLang="en-US" sz="1600" dirty="0"/>
                    </a:p>
                  </a:txBody>
                  <a:tcPr/>
                </a:tc>
              </a:tr>
              <a:tr h="360954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Code generator for LLVM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Yes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Yes</a:t>
                      </a:r>
                      <a:endParaRPr lang="zh-TW" altLang="en-US" sz="1600" dirty="0"/>
                    </a:p>
                  </a:txBody>
                  <a:tcPr/>
                </a:tc>
              </a:tr>
              <a:tr h="1148489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Back-end device targets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Modern GPU architectures supported by</a:t>
                      </a:r>
                    </a:p>
                    <a:p>
                      <a:r>
                        <a:rPr lang="en-US" altLang="zh-TW" sz="1600" dirty="0" smtClean="0"/>
                        <a:t>members of the HSA Foundation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Any </a:t>
                      </a:r>
                      <a:r>
                        <a:rPr lang="en-US" altLang="zh-TW" sz="1600" dirty="0" err="1" smtClean="0"/>
                        <a:t>OpenCL</a:t>
                      </a:r>
                      <a:r>
                        <a:rPr lang="en-US" altLang="zh-TW" sz="1600" dirty="0" smtClean="0"/>
                        <a:t>(tm) device including GPUs, CPUs, FPGAs</a:t>
                      </a:r>
                      <a:endParaRPr lang="zh-TW" altLang="en-US" sz="1600" dirty="0"/>
                    </a:p>
                  </a:txBody>
                  <a:tcPr/>
                </a:tc>
              </a:tr>
              <a:tr h="1148489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Memory Model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Relaxed consistency with acquire/release,</a:t>
                      </a:r>
                    </a:p>
                    <a:p>
                      <a:r>
                        <a:rPr lang="en-US" altLang="zh-TW" sz="1600" dirty="0" smtClean="0"/>
                        <a:t>barriers, and fine-grained barriers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Flexible. Can support the </a:t>
                      </a:r>
                      <a:r>
                        <a:rPr lang="en-US" altLang="zh-TW" sz="1600" dirty="0" err="1" smtClean="0"/>
                        <a:t>OpenCL</a:t>
                      </a:r>
                      <a:r>
                        <a:rPr lang="en-US" altLang="zh-TW" sz="1600" dirty="0" smtClean="0"/>
                        <a:t>™ 1.2 Memory</a:t>
                      </a:r>
                    </a:p>
                    <a:p>
                      <a:r>
                        <a:rPr lang="en-US" altLang="zh-TW" sz="1600" dirty="0" smtClean="0"/>
                        <a:t>Model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21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 smtClean="0"/>
              <a:t>Ocelot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44005"/>
            <a:ext cx="7883434" cy="1752600"/>
          </a:xfrm>
        </p:spPr>
        <p:txBody>
          <a:bodyPr/>
          <a:lstStyle/>
          <a:p>
            <a:r>
              <a:rPr lang="en-US" altLang="zh-TW" sz="2400" dirty="0"/>
              <a:t>An Open Source Debugging </a:t>
            </a:r>
            <a:r>
              <a:rPr lang="en-US" altLang="zh-TW" sz="2400" dirty="0" smtClean="0"/>
              <a:t>and Compilation </a:t>
            </a:r>
            <a:r>
              <a:rPr lang="en-US" altLang="zh-TW" sz="2400" dirty="0"/>
              <a:t>Framework for CUDA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6309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625" y="226926"/>
            <a:ext cx="8207375" cy="692150"/>
          </a:xfrm>
        </p:spPr>
        <p:txBody>
          <a:bodyPr/>
          <a:lstStyle/>
          <a:p>
            <a:r>
              <a:rPr lang="en-US" altLang="zh-TW" sz="2800" dirty="0"/>
              <a:t> </a:t>
            </a:r>
            <a:r>
              <a:rPr lang="en-US" altLang="zh-TW" sz="2800" dirty="0" smtClean="0"/>
              <a:t>Ocelot Vision</a:t>
            </a:r>
            <a:endParaRPr lang="zh-TW" altLang="en-US" sz="2800" dirty="0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4895850"/>
          </a:xfrm>
        </p:spPr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/>
              <a:t>An Open Source Debugging and Compilation </a:t>
            </a:r>
            <a:r>
              <a:rPr lang="en-US" altLang="zh-TW" sz="3200" dirty="0" smtClean="0"/>
              <a:t>Framework </a:t>
            </a:r>
            <a:r>
              <a:rPr lang="en-US" altLang="zh-TW" sz="3200" dirty="0"/>
              <a:t>for </a:t>
            </a:r>
            <a:r>
              <a:rPr lang="en-US" altLang="zh-TW" sz="3200" dirty="0" smtClean="0"/>
              <a:t>CUDA</a:t>
            </a:r>
          </a:p>
          <a:p>
            <a:pPr lvl="1"/>
            <a:r>
              <a:rPr lang="en-US" altLang="zh-TW" sz="3032" dirty="0"/>
              <a:t>Just-in-time code generation and optimization for CUDA applications</a:t>
            </a:r>
          </a:p>
          <a:p>
            <a:pPr lvl="1"/>
            <a:r>
              <a:rPr lang="en-US" altLang="zh-TW" sz="3032" dirty="0" smtClean="0"/>
              <a:t>Basis </a:t>
            </a:r>
            <a:r>
              <a:rPr lang="en-US" altLang="zh-TW" sz="3032" dirty="0"/>
              <a:t>for a range of productivity and workload characterization </a:t>
            </a:r>
            <a:r>
              <a:rPr lang="en-US" altLang="zh-TW" sz="3032" dirty="0" smtClean="0"/>
              <a:t>tools</a:t>
            </a:r>
          </a:p>
          <a:p>
            <a:endParaRPr lang="zh-TW" altLang="en-US" sz="3200" dirty="0"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74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625" y="226926"/>
            <a:ext cx="8207375" cy="692150"/>
          </a:xfrm>
        </p:spPr>
        <p:txBody>
          <a:bodyPr/>
          <a:lstStyle/>
          <a:p>
            <a:r>
              <a:rPr lang="en-US" altLang="zh-TW" sz="2800" dirty="0"/>
              <a:t> </a:t>
            </a:r>
            <a:r>
              <a:rPr lang="en-US" altLang="zh-TW" sz="2800" dirty="0" smtClean="0"/>
              <a:t>Ocelot Vision</a:t>
            </a:r>
            <a:endParaRPr lang="zh-TW" altLang="en-US" sz="2800" dirty="0"/>
          </a:p>
        </p:txBody>
      </p:sp>
      <p:sp>
        <p:nvSpPr>
          <p:cNvPr id="4" name="剪去並圓角化單一角落矩形 3"/>
          <p:cNvSpPr/>
          <p:nvPr/>
        </p:nvSpPr>
        <p:spPr bwMode="auto">
          <a:xfrm>
            <a:off x="437881" y="1429555"/>
            <a:ext cx="1609860" cy="515155"/>
          </a:xfrm>
          <a:prstGeom prst="snip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CUDA App.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502275" y="2455187"/>
            <a:ext cx="1481071" cy="8757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nvcc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剪去並圓角化單一角落矩形 7"/>
          <p:cNvSpPr/>
          <p:nvPr/>
        </p:nvSpPr>
        <p:spPr bwMode="auto">
          <a:xfrm>
            <a:off x="437881" y="3841431"/>
            <a:ext cx="1609860" cy="515155"/>
          </a:xfrm>
          <a:prstGeom prst="snip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PTX kernel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671" y="2455187"/>
            <a:ext cx="1391824" cy="1453267"/>
          </a:xfrm>
          <a:prstGeom prst="rect">
            <a:avLst/>
          </a:prstGeom>
        </p:spPr>
      </p:pic>
      <p:cxnSp>
        <p:nvCxnSpPr>
          <p:cNvPr id="11" name="直線單箭頭接點 10"/>
          <p:cNvCxnSpPr>
            <a:stCxn id="4" idx="1"/>
            <a:endCxn id="7" idx="0"/>
          </p:cNvCxnSpPr>
          <p:nvPr/>
        </p:nvCxnSpPr>
        <p:spPr bwMode="auto">
          <a:xfrm>
            <a:off x="1242811" y="1944710"/>
            <a:ext cx="0" cy="51047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7" idx="4"/>
            <a:endCxn id="8" idx="3"/>
          </p:cNvCxnSpPr>
          <p:nvPr/>
        </p:nvCxnSpPr>
        <p:spPr bwMode="auto">
          <a:xfrm>
            <a:off x="1242811" y="3330950"/>
            <a:ext cx="0" cy="51048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8" idx="0"/>
            <a:endCxn id="9" idx="1"/>
          </p:cNvCxnSpPr>
          <p:nvPr/>
        </p:nvCxnSpPr>
        <p:spPr bwMode="auto">
          <a:xfrm flipV="1">
            <a:off x="2047741" y="3181821"/>
            <a:ext cx="804930" cy="91718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auto">
          <a:xfrm>
            <a:off x="5604504" y="1718306"/>
            <a:ext cx="1756677" cy="52803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PTX emulation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5604503" y="2733844"/>
            <a:ext cx="1756677" cy="52803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GPU execution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479962" y="3749382"/>
            <a:ext cx="2014257" cy="52803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LLVM Translation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2" name="直線單箭頭接點 21"/>
          <p:cNvCxnSpPr>
            <a:stCxn id="9" idx="3"/>
            <a:endCxn id="19" idx="1"/>
          </p:cNvCxnSpPr>
          <p:nvPr/>
        </p:nvCxnSpPr>
        <p:spPr bwMode="auto">
          <a:xfrm flipV="1">
            <a:off x="4244495" y="1982323"/>
            <a:ext cx="1360009" cy="119949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9" idx="3"/>
            <a:endCxn id="20" idx="1"/>
          </p:cNvCxnSpPr>
          <p:nvPr/>
        </p:nvCxnSpPr>
        <p:spPr bwMode="auto">
          <a:xfrm flipV="1">
            <a:off x="4244495" y="2997861"/>
            <a:ext cx="1360008" cy="18396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9" idx="3"/>
            <a:endCxn id="21" idx="1"/>
          </p:cNvCxnSpPr>
          <p:nvPr/>
        </p:nvCxnSpPr>
        <p:spPr bwMode="auto">
          <a:xfrm>
            <a:off x="4244495" y="3181821"/>
            <a:ext cx="1235467" cy="83157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2509068" y="3939247"/>
            <a:ext cx="2274982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Ocelot Infrastructure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128" y="1487343"/>
            <a:ext cx="1151755" cy="1047936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327" y="3939247"/>
            <a:ext cx="1129359" cy="818329"/>
          </a:xfrm>
          <a:prstGeom prst="rect">
            <a:avLst/>
          </a:prstGeom>
        </p:spPr>
      </p:pic>
      <p:pic>
        <p:nvPicPr>
          <p:cNvPr id="35" name="圖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5500" y="2837408"/>
            <a:ext cx="1319932" cy="897772"/>
          </a:xfrm>
          <a:prstGeom prst="rect">
            <a:avLst/>
          </a:prstGeom>
        </p:spPr>
      </p:pic>
      <p:sp>
        <p:nvSpPr>
          <p:cNvPr id="36" name="文字方塊 35"/>
          <p:cNvSpPr txBox="1"/>
          <p:nvPr/>
        </p:nvSpPr>
        <p:spPr>
          <a:xfrm>
            <a:off x="8525619" y="1865782"/>
            <a:ext cx="55656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510405" y="2600521"/>
            <a:ext cx="95410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NVIDIA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7500108" y="3619702"/>
            <a:ext cx="526619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ATI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57200" y="4960844"/>
            <a:ext cx="7379594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/>
              <a:t>NVCC is the CUDA compile driver.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524733" y="1223493"/>
            <a:ext cx="1557449" cy="4043966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053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625" y="226926"/>
            <a:ext cx="8207375" cy="692150"/>
          </a:xfrm>
        </p:spPr>
        <p:txBody>
          <a:bodyPr/>
          <a:lstStyle/>
          <a:p>
            <a:r>
              <a:rPr lang="en-US" altLang="zh-TW" sz="2800" dirty="0"/>
              <a:t> </a:t>
            </a:r>
            <a:r>
              <a:rPr lang="en-US" altLang="zh-TW" sz="2800" b="0" dirty="0"/>
              <a:t>Ocelot PTX Intermediate Representation (IR)</a:t>
            </a:r>
            <a:endParaRPr lang="zh-TW" altLang="en-US" sz="2800" dirty="0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489585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3200" dirty="0" smtClean="0"/>
              <a:t>Full-featured </a:t>
            </a:r>
            <a:r>
              <a:rPr lang="en-US" altLang="zh-TW" sz="3200" dirty="0"/>
              <a:t>PTX IR</a:t>
            </a:r>
          </a:p>
          <a:p>
            <a:pPr lvl="1"/>
            <a:r>
              <a:rPr lang="en-US" altLang="zh-TW" sz="3032" dirty="0" smtClean="0"/>
              <a:t>Class </a:t>
            </a:r>
            <a:r>
              <a:rPr lang="en-US" altLang="zh-TW" sz="3032" dirty="0"/>
              <a:t>hierarchy for PTX instructions/directives</a:t>
            </a:r>
          </a:p>
          <a:p>
            <a:pPr lvl="1"/>
            <a:r>
              <a:rPr lang="en-US" altLang="zh-TW" sz="3032" dirty="0" smtClean="0"/>
              <a:t>PTX </a:t>
            </a:r>
            <a:r>
              <a:rPr lang="en-US" altLang="zh-TW" sz="3032" dirty="0"/>
              <a:t>control flow graph</a:t>
            </a:r>
          </a:p>
          <a:p>
            <a:pPr lvl="1"/>
            <a:r>
              <a:rPr lang="en-US" altLang="zh-TW" sz="3032" dirty="0" smtClean="0"/>
              <a:t>Static </a:t>
            </a:r>
            <a:r>
              <a:rPr lang="en-US" altLang="zh-TW" sz="3032" dirty="0"/>
              <a:t>single-assignment form</a:t>
            </a:r>
          </a:p>
          <a:p>
            <a:pPr lvl="1"/>
            <a:r>
              <a:rPr lang="en-US" altLang="zh-TW" sz="3032" dirty="0" smtClean="0"/>
              <a:t>Dataflow/dominance </a:t>
            </a:r>
            <a:r>
              <a:rPr lang="en-US" altLang="zh-TW" sz="3032" dirty="0"/>
              <a:t>analysis</a:t>
            </a:r>
          </a:p>
          <a:p>
            <a:pPr lvl="1"/>
            <a:r>
              <a:rPr lang="en-US" altLang="zh-TW" sz="3032" b="1" dirty="0" smtClean="0"/>
              <a:t>Enables </a:t>
            </a:r>
            <a:r>
              <a:rPr lang="en-US" altLang="zh-TW" sz="3032" b="1" dirty="0"/>
              <a:t>PTX optimization</a:t>
            </a:r>
          </a:p>
          <a:p>
            <a:r>
              <a:rPr lang="en-US" altLang="zh-TW" sz="3200" dirty="0" smtClean="0"/>
              <a:t>IR </a:t>
            </a:r>
            <a:r>
              <a:rPr lang="en-US" altLang="zh-TW" sz="3200" dirty="0"/>
              <a:t>to IR translation</a:t>
            </a:r>
          </a:p>
          <a:p>
            <a:pPr lvl="1"/>
            <a:r>
              <a:rPr lang="en-US" altLang="zh-TW" sz="3032" dirty="0" smtClean="0"/>
              <a:t>From </a:t>
            </a:r>
            <a:r>
              <a:rPr lang="en-US" altLang="zh-TW" sz="3032" dirty="0"/>
              <a:t>PTX to other IRs</a:t>
            </a:r>
          </a:p>
          <a:p>
            <a:pPr lvl="1"/>
            <a:r>
              <a:rPr lang="en-US" altLang="zh-TW" sz="3032" dirty="0" smtClean="0"/>
              <a:t>LLVM </a:t>
            </a:r>
            <a:r>
              <a:rPr lang="en-US" altLang="zh-TW" sz="3032" dirty="0"/>
              <a:t>(x86/PowerPC/ARM)</a:t>
            </a:r>
          </a:p>
          <a:p>
            <a:pPr lvl="1"/>
            <a:r>
              <a:rPr lang="en-US" altLang="zh-TW" sz="3032" dirty="0" smtClean="0"/>
              <a:t>CAL </a:t>
            </a:r>
            <a:r>
              <a:rPr lang="en-US" altLang="zh-TW" sz="3032" dirty="0"/>
              <a:t>(AMD GPUs)</a:t>
            </a:r>
            <a:endParaRPr lang="zh-TW" altLang="en-US" sz="3032" dirty="0"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31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625" y="226926"/>
            <a:ext cx="8207375" cy="692150"/>
          </a:xfrm>
        </p:spPr>
        <p:txBody>
          <a:bodyPr/>
          <a:lstStyle/>
          <a:p>
            <a:r>
              <a:rPr lang="en-US" altLang="zh-TW" sz="2800" b="0" dirty="0" smtClean="0"/>
              <a:t>PTX -&gt; PTX Optimization</a:t>
            </a:r>
            <a:endParaRPr lang="zh-TW" altLang="en-US" sz="2800" dirty="0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70078" y="5246206"/>
            <a:ext cx="8351949" cy="980729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000" dirty="0"/>
              <a:t>Ocelot includes a comprehensive optimization framework for PTX</a:t>
            </a:r>
          </a:p>
          <a:p>
            <a:pPr lvl="1"/>
            <a:r>
              <a:rPr lang="en-US" altLang="zh-TW" sz="1832" dirty="0" smtClean="0"/>
              <a:t>Implementation </a:t>
            </a:r>
            <a:r>
              <a:rPr lang="en-US" altLang="zh-TW" sz="1832" dirty="0"/>
              <a:t>modeled after LLVM passes</a:t>
            </a:r>
          </a:p>
          <a:p>
            <a:pPr lvl="1"/>
            <a:r>
              <a:rPr lang="en-US" altLang="zh-TW" sz="1832" dirty="0" smtClean="0"/>
              <a:t>Optimizations </a:t>
            </a:r>
            <a:r>
              <a:rPr lang="en-US" altLang="zh-TW" sz="1832" dirty="0"/>
              <a:t>can be applied dynamically between </a:t>
            </a:r>
            <a:r>
              <a:rPr lang="en-US" altLang="zh-TW" sz="1832" dirty="0" smtClean="0"/>
              <a:t>kernel </a:t>
            </a:r>
            <a:r>
              <a:rPr lang="en-US" altLang="zh-TW" sz="2000" dirty="0" smtClean="0"/>
              <a:t>executions</a:t>
            </a:r>
            <a:endParaRPr lang="en-US" altLang="zh-TW" sz="3032" dirty="0"/>
          </a:p>
        </p:txBody>
      </p:sp>
      <p:sp>
        <p:nvSpPr>
          <p:cNvPr id="4" name="矩形 3"/>
          <p:cNvSpPr/>
          <p:nvPr/>
        </p:nvSpPr>
        <p:spPr bwMode="auto">
          <a:xfrm>
            <a:off x="1584101" y="1596980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584098" y="2404822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584098" y="3232597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584097" y="4040439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34976" y="2828676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2333220" y="2815797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等腰三角形 11"/>
          <p:cNvSpPr/>
          <p:nvPr/>
        </p:nvSpPr>
        <p:spPr bwMode="auto">
          <a:xfrm>
            <a:off x="1492870" y="4822352"/>
            <a:ext cx="749123" cy="321972"/>
          </a:xfrm>
          <a:prstGeom prst="triangl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Exit</a:t>
            </a:r>
            <a:endParaRPr kumimoji="1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4" name="直線單箭頭接點 13"/>
          <p:cNvCxnSpPr>
            <a:stCxn id="4" idx="2"/>
            <a:endCxn id="7" idx="0"/>
          </p:cNvCxnSpPr>
          <p:nvPr/>
        </p:nvCxnSpPr>
        <p:spPr bwMode="auto">
          <a:xfrm flipH="1">
            <a:off x="1867434" y="2150772"/>
            <a:ext cx="3" cy="2540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 bwMode="auto">
          <a:xfrm flipH="1">
            <a:off x="1867431" y="2987985"/>
            <a:ext cx="3" cy="2540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 bwMode="auto">
          <a:xfrm flipH="1">
            <a:off x="1867428" y="3798102"/>
            <a:ext cx="3" cy="2540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H="1">
            <a:off x="1867428" y="4610466"/>
            <a:ext cx="3" cy="2540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7" idx="1"/>
            <a:endCxn id="10" idx="3"/>
          </p:cNvCxnSpPr>
          <p:nvPr/>
        </p:nvCxnSpPr>
        <p:spPr bwMode="auto">
          <a:xfrm flipH="1">
            <a:off x="1401647" y="2681718"/>
            <a:ext cx="182451" cy="42385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0" idx="3"/>
            <a:endCxn id="8" idx="1"/>
          </p:cNvCxnSpPr>
          <p:nvPr/>
        </p:nvCxnSpPr>
        <p:spPr bwMode="auto">
          <a:xfrm>
            <a:off x="1401647" y="3105572"/>
            <a:ext cx="182451" cy="4039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 bwMode="auto">
          <a:xfrm>
            <a:off x="2150769" y="2704649"/>
            <a:ext cx="182451" cy="4039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1" idx="1"/>
            <a:endCxn id="8" idx="3"/>
          </p:cNvCxnSpPr>
          <p:nvPr/>
        </p:nvCxnSpPr>
        <p:spPr bwMode="auto">
          <a:xfrm flipH="1">
            <a:off x="2150769" y="3092693"/>
            <a:ext cx="182451" cy="41680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 bwMode="auto">
          <a:xfrm rot="10800000">
            <a:off x="1492870" y="911659"/>
            <a:ext cx="749123" cy="457200"/>
          </a:xfrm>
          <a:prstGeom prst="triangle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  <a:tileRect/>
          </a:gra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Entry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9" name="直線單箭頭接點 28"/>
          <p:cNvCxnSpPr>
            <a:stCxn id="28" idx="0"/>
            <a:endCxn id="4" idx="0"/>
          </p:cNvCxnSpPr>
          <p:nvPr/>
        </p:nvCxnSpPr>
        <p:spPr bwMode="auto">
          <a:xfrm>
            <a:off x="1867431" y="1368859"/>
            <a:ext cx="6" cy="2281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弧形接點 33"/>
          <p:cNvCxnSpPr>
            <a:endCxn id="9" idx="1"/>
          </p:cNvCxnSpPr>
          <p:nvPr/>
        </p:nvCxnSpPr>
        <p:spPr bwMode="auto">
          <a:xfrm rot="5400000">
            <a:off x="576054" y="3169036"/>
            <a:ext cx="2156343" cy="140255"/>
          </a:xfrm>
          <a:prstGeom prst="curvedConnector4">
            <a:avLst>
              <a:gd name="adj1" fmla="val 16702"/>
              <a:gd name="adj2" fmla="val 832303"/>
            </a:avLst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弧形接點 38"/>
          <p:cNvCxnSpPr/>
          <p:nvPr/>
        </p:nvCxnSpPr>
        <p:spPr bwMode="auto">
          <a:xfrm rot="16200000" flipV="1">
            <a:off x="1325344" y="3024454"/>
            <a:ext cx="1393280" cy="182448"/>
          </a:xfrm>
          <a:prstGeom prst="curvedConnector5">
            <a:avLst>
              <a:gd name="adj1" fmla="val -22562"/>
              <a:gd name="adj2" fmla="val -604127"/>
              <a:gd name="adj3" fmla="val 116407"/>
            </a:avLst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 bwMode="auto">
          <a:xfrm>
            <a:off x="5097887" y="1602634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7" name="矩形 56"/>
          <p:cNvSpPr/>
          <p:nvPr/>
        </p:nvSpPr>
        <p:spPr bwMode="auto">
          <a:xfrm>
            <a:off x="5097884" y="2410476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8" name="矩形 57"/>
          <p:cNvSpPr/>
          <p:nvPr/>
        </p:nvSpPr>
        <p:spPr bwMode="auto">
          <a:xfrm>
            <a:off x="5097884" y="3238251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5097883" y="4046093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0" name="矩形 59"/>
          <p:cNvSpPr/>
          <p:nvPr/>
        </p:nvSpPr>
        <p:spPr bwMode="auto">
          <a:xfrm>
            <a:off x="4348762" y="2834330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1" name="矩形 60"/>
          <p:cNvSpPr/>
          <p:nvPr/>
        </p:nvSpPr>
        <p:spPr bwMode="auto">
          <a:xfrm>
            <a:off x="5847006" y="2821451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2" name="等腰三角形 61"/>
          <p:cNvSpPr/>
          <p:nvPr/>
        </p:nvSpPr>
        <p:spPr bwMode="auto">
          <a:xfrm>
            <a:off x="5006656" y="4828006"/>
            <a:ext cx="749123" cy="321972"/>
          </a:xfrm>
          <a:prstGeom prst="triangl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Exit</a:t>
            </a:r>
            <a:endParaRPr kumimoji="1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63" name="直線單箭頭接點 62"/>
          <p:cNvCxnSpPr>
            <a:stCxn id="56" idx="2"/>
            <a:endCxn id="57" idx="0"/>
          </p:cNvCxnSpPr>
          <p:nvPr/>
        </p:nvCxnSpPr>
        <p:spPr bwMode="auto">
          <a:xfrm flipH="1">
            <a:off x="5381220" y="2156426"/>
            <a:ext cx="3" cy="2540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 bwMode="auto">
          <a:xfrm flipH="1">
            <a:off x="5381217" y="2993639"/>
            <a:ext cx="3" cy="2540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 bwMode="auto">
          <a:xfrm flipH="1">
            <a:off x="5381214" y="3803756"/>
            <a:ext cx="3" cy="2540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 bwMode="auto">
          <a:xfrm flipH="1">
            <a:off x="5381214" y="4616120"/>
            <a:ext cx="3" cy="2540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7" idx="1"/>
            <a:endCxn id="60" idx="3"/>
          </p:cNvCxnSpPr>
          <p:nvPr/>
        </p:nvCxnSpPr>
        <p:spPr bwMode="auto">
          <a:xfrm flipH="1">
            <a:off x="4915433" y="2687372"/>
            <a:ext cx="182451" cy="42385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60" idx="3"/>
            <a:endCxn id="58" idx="1"/>
          </p:cNvCxnSpPr>
          <p:nvPr/>
        </p:nvCxnSpPr>
        <p:spPr bwMode="auto">
          <a:xfrm>
            <a:off x="4915433" y="3111226"/>
            <a:ext cx="182451" cy="4039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 bwMode="auto">
          <a:xfrm>
            <a:off x="5664555" y="2710303"/>
            <a:ext cx="182451" cy="4039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stCxn id="61" idx="1"/>
            <a:endCxn id="58" idx="3"/>
          </p:cNvCxnSpPr>
          <p:nvPr/>
        </p:nvCxnSpPr>
        <p:spPr bwMode="auto">
          <a:xfrm flipH="1">
            <a:off x="5664555" y="3098347"/>
            <a:ext cx="182451" cy="41680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1" name="等腰三角形 70"/>
          <p:cNvSpPr/>
          <p:nvPr/>
        </p:nvSpPr>
        <p:spPr bwMode="auto">
          <a:xfrm rot="10800000">
            <a:off x="5006656" y="917313"/>
            <a:ext cx="749123" cy="457200"/>
          </a:xfrm>
          <a:prstGeom prst="triangle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  <a:tileRect/>
          </a:gra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Entry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72" name="直線單箭頭接點 71"/>
          <p:cNvCxnSpPr>
            <a:stCxn id="71" idx="0"/>
            <a:endCxn id="56" idx="0"/>
          </p:cNvCxnSpPr>
          <p:nvPr/>
        </p:nvCxnSpPr>
        <p:spPr bwMode="auto">
          <a:xfrm>
            <a:off x="5381217" y="1374513"/>
            <a:ext cx="6" cy="2281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3" name="弧形接點 72"/>
          <p:cNvCxnSpPr>
            <a:endCxn id="59" idx="1"/>
          </p:cNvCxnSpPr>
          <p:nvPr/>
        </p:nvCxnSpPr>
        <p:spPr bwMode="auto">
          <a:xfrm rot="5400000">
            <a:off x="4089840" y="3174690"/>
            <a:ext cx="2156343" cy="140255"/>
          </a:xfrm>
          <a:prstGeom prst="curvedConnector4">
            <a:avLst>
              <a:gd name="adj1" fmla="val 16702"/>
              <a:gd name="adj2" fmla="val 832303"/>
            </a:avLst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 bwMode="auto">
          <a:xfrm>
            <a:off x="7348457" y="2419485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7348457" y="3247260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7" name="矩形 76"/>
          <p:cNvSpPr/>
          <p:nvPr/>
        </p:nvSpPr>
        <p:spPr bwMode="auto">
          <a:xfrm>
            <a:off x="6599335" y="2843339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8097579" y="2830460"/>
            <a:ext cx="566671" cy="5537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79" name="直線單箭頭接點 78"/>
          <p:cNvCxnSpPr/>
          <p:nvPr/>
        </p:nvCxnSpPr>
        <p:spPr bwMode="auto">
          <a:xfrm flipH="1">
            <a:off x="7631790" y="3002648"/>
            <a:ext cx="3" cy="2540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75" idx="1"/>
            <a:endCxn id="77" idx="3"/>
          </p:cNvCxnSpPr>
          <p:nvPr/>
        </p:nvCxnSpPr>
        <p:spPr bwMode="auto">
          <a:xfrm flipH="1">
            <a:off x="7166006" y="2696381"/>
            <a:ext cx="182451" cy="42385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77" idx="3"/>
            <a:endCxn id="76" idx="1"/>
          </p:cNvCxnSpPr>
          <p:nvPr/>
        </p:nvCxnSpPr>
        <p:spPr bwMode="auto">
          <a:xfrm>
            <a:off x="7166006" y="3120235"/>
            <a:ext cx="182451" cy="4039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 bwMode="auto">
          <a:xfrm>
            <a:off x="7915128" y="2719312"/>
            <a:ext cx="182451" cy="4039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78" idx="1"/>
            <a:endCxn id="76" idx="3"/>
          </p:cNvCxnSpPr>
          <p:nvPr/>
        </p:nvCxnSpPr>
        <p:spPr bwMode="auto">
          <a:xfrm flipH="1">
            <a:off x="7915128" y="3107356"/>
            <a:ext cx="182451" cy="41680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4" name="弧形接點 83"/>
          <p:cNvCxnSpPr>
            <a:stCxn id="76" idx="2"/>
            <a:endCxn id="57" idx="0"/>
          </p:cNvCxnSpPr>
          <p:nvPr/>
        </p:nvCxnSpPr>
        <p:spPr bwMode="auto">
          <a:xfrm rot="5400000" flipH="1">
            <a:off x="5811219" y="1980478"/>
            <a:ext cx="1390576" cy="2250573"/>
          </a:xfrm>
          <a:prstGeom prst="curvedConnector5">
            <a:avLst>
              <a:gd name="adj1" fmla="val -16439"/>
              <a:gd name="adj2" fmla="val -57583"/>
              <a:gd name="adj3" fmla="val 125701"/>
            </a:avLst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8" name="弧形接點 87"/>
          <p:cNvCxnSpPr>
            <a:stCxn id="58" idx="2"/>
            <a:endCxn id="75" idx="0"/>
          </p:cNvCxnSpPr>
          <p:nvPr/>
        </p:nvCxnSpPr>
        <p:spPr bwMode="auto">
          <a:xfrm rot="5400000" flipH="1" flipV="1">
            <a:off x="5820227" y="1980477"/>
            <a:ext cx="1372558" cy="2250573"/>
          </a:xfrm>
          <a:prstGeom prst="curvedConnector5">
            <a:avLst>
              <a:gd name="adj1" fmla="val -16655"/>
              <a:gd name="adj2" fmla="val 50000"/>
              <a:gd name="adj3" fmla="val 116655"/>
            </a:avLst>
          </a:prstGeom>
          <a:ln>
            <a:headEnd type="none" w="med" len="med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9" name="文字方塊 98"/>
          <p:cNvSpPr txBox="1"/>
          <p:nvPr/>
        </p:nvSpPr>
        <p:spPr>
          <a:xfrm>
            <a:off x="5791193" y="4541095"/>
            <a:ext cx="269817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Example: Loop Unrolling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3043353" y="2255679"/>
            <a:ext cx="1342162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sz="2000" dirty="0" smtClean="0">
                <a:ea typeface="標楷體" pitchFamily="65" charset="-120"/>
                <a:cs typeface="Calibri" pitchFamily="34" charset="0"/>
              </a:rPr>
              <a:t>Transform</a:t>
            </a:r>
            <a:endParaRPr lang="zh-TW" altLang="en-US" sz="2000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02" name="直線單箭頭接點 101"/>
          <p:cNvCxnSpPr/>
          <p:nvPr/>
        </p:nvCxnSpPr>
        <p:spPr bwMode="auto">
          <a:xfrm>
            <a:off x="3228434" y="2782814"/>
            <a:ext cx="918563" cy="0"/>
          </a:xfrm>
          <a:prstGeom prst="straightConnector1">
            <a:avLst/>
          </a:prstGeom>
          <a:ln w="76200"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1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625" y="226926"/>
            <a:ext cx="8207375" cy="692150"/>
          </a:xfrm>
        </p:spPr>
        <p:txBody>
          <a:bodyPr/>
          <a:lstStyle/>
          <a:p>
            <a:r>
              <a:rPr lang="en-US" altLang="zh-TW" sz="2800" dirty="0"/>
              <a:t> </a:t>
            </a:r>
            <a:r>
              <a:rPr lang="en-US" altLang="zh-TW" sz="2800" b="0" dirty="0" smtClean="0"/>
              <a:t>Switchable Compute (Ocelot)</a:t>
            </a:r>
            <a:endParaRPr lang="zh-TW" altLang="en-US" sz="2800" dirty="0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5575142" y="1617647"/>
            <a:ext cx="3352826" cy="2920597"/>
          </a:xfrm>
        </p:spPr>
        <p:txBody>
          <a:bodyPr>
            <a:normAutofit lnSpcReduction="10000"/>
          </a:bodyPr>
          <a:lstStyle/>
          <a:p>
            <a:r>
              <a:rPr lang="en-US" altLang="zh-TW" sz="3200" dirty="0"/>
              <a:t>Switch devices at runtime</a:t>
            </a:r>
          </a:p>
          <a:p>
            <a:pPr lvl="1"/>
            <a:r>
              <a:rPr lang="en-US" altLang="zh-TW" sz="2800" dirty="0" smtClean="0"/>
              <a:t>Load </a:t>
            </a:r>
            <a:r>
              <a:rPr lang="en-US" altLang="zh-TW" sz="2800" dirty="0"/>
              <a:t>balancing</a:t>
            </a:r>
          </a:p>
          <a:p>
            <a:pPr lvl="1"/>
            <a:r>
              <a:rPr lang="en-US" altLang="zh-TW" sz="2800" dirty="0" smtClean="0"/>
              <a:t>Instrumentation</a:t>
            </a:r>
            <a:endParaRPr lang="en-US" altLang="zh-TW" sz="2800" dirty="0"/>
          </a:p>
          <a:p>
            <a:pPr lvl="1"/>
            <a:r>
              <a:rPr lang="en-US" altLang="zh-TW" sz="2800" dirty="0" smtClean="0"/>
              <a:t>Fault-and-emulate</a:t>
            </a:r>
            <a:endParaRPr lang="en-US" altLang="zh-TW" sz="2800" dirty="0"/>
          </a:p>
          <a:p>
            <a:pPr lvl="1"/>
            <a:r>
              <a:rPr lang="en-US" altLang="zh-TW" sz="2800" dirty="0" smtClean="0"/>
              <a:t>Remote </a:t>
            </a:r>
            <a:r>
              <a:rPr lang="en-US" altLang="zh-TW" sz="2800" dirty="0"/>
              <a:t>execution</a:t>
            </a:r>
          </a:p>
        </p:txBody>
      </p:sp>
      <p:sp>
        <p:nvSpPr>
          <p:cNvPr id="3" name="剪去並圓角化單一角落矩形 2"/>
          <p:cNvSpPr/>
          <p:nvPr/>
        </p:nvSpPr>
        <p:spPr bwMode="auto">
          <a:xfrm>
            <a:off x="631062" y="1734271"/>
            <a:ext cx="1043189" cy="553791"/>
          </a:xfrm>
          <a:prstGeom prst="snip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Kernel 1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剪去並圓角化單一角落矩形 6"/>
          <p:cNvSpPr/>
          <p:nvPr/>
        </p:nvSpPr>
        <p:spPr bwMode="auto">
          <a:xfrm>
            <a:off x="631062" y="3296567"/>
            <a:ext cx="1043189" cy="553791"/>
          </a:xfrm>
          <a:prstGeom prst="snip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Kernel 2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剪去並圓角化單一角落矩形 7"/>
          <p:cNvSpPr/>
          <p:nvPr/>
        </p:nvSpPr>
        <p:spPr bwMode="auto">
          <a:xfrm>
            <a:off x="631062" y="4858863"/>
            <a:ext cx="1043189" cy="553791"/>
          </a:xfrm>
          <a:prstGeom prst="snip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Kernel 3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805171"/>
              </p:ext>
            </p:extLst>
          </p:nvPr>
        </p:nvGraphicFramePr>
        <p:xfrm>
          <a:off x="4724969" y="1493006"/>
          <a:ext cx="63068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686"/>
              </a:tblGrid>
              <a:tr h="16679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667159"/>
              </p:ext>
            </p:extLst>
          </p:nvPr>
        </p:nvGraphicFramePr>
        <p:xfrm>
          <a:off x="4724969" y="3055302"/>
          <a:ext cx="63068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686"/>
              </a:tblGrid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607526"/>
              </p:ext>
            </p:extLst>
          </p:nvPr>
        </p:nvGraphicFramePr>
        <p:xfrm>
          <a:off x="4724969" y="4743816"/>
          <a:ext cx="63068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686"/>
              </a:tblGrid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3954117" y="1142007"/>
            <a:ext cx="2172390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Memory allocations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3" name="直線單箭頭接點 12"/>
          <p:cNvCxnSpPr/>
          <p:nvPr/>
        </p:nvCxnSpPr>
        <p:spPr bwMode="auto">
          <a:xfrm>
            <a:off x="5040312" y="2543994"/>
            <a:ext cx="0" cy="4726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>
            <a:off x="5040312" y="4130258"/>
            <a:ext cx="0" cy="59715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 bwMode="auto">
          <a:xfrm>
            <a:off x="1152656" y="2355520"/>
            <a:ext cx="0" cy="83844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>
            <a:off x="1152656" y="3901847"/>
            <a:ext cx="0" cy="83844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 bwMode="auto">
          <a:xfrm>
            <a:off x="1313948" y="3016666"/>
            <a:ext cx="252395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8664" y="2543994"/>
            <a:ext cx="671979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copy</a:t>
            </a:r>
            <a:endParaRPr lang="zh-TW" altLang="en-US" dirty="0" smtClean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309691" y="4244167"/>
            <a:ext cx="671979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copy</a:t>
            </a:r>
            <a:endParaRPr lang="zh-TW" altLang="en-US" dirty="0" smtClean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573302" y="2543994"/>
            <a:ext cx="1518364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switch to </a:t>
            </a:r>
            <a:r>
              <a:rPr lang="en-US" altLang="zh-TW" dirty="0" err="1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cpu</a:t>
            </a:r>
            <a:endParaRPr lang="zh-TW" altLang="en-US" dirty="0" smtClean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5" name="直線單箭頭接點 24"/>
          <p:cNvCxnSpPr/>
          <p:nvPr/>
        </p:nvCxnSpPr>
        <p:spPr bwMode="auto">
          <a:xfrm>
            <a:off x="1353765" y="4538244"/>
            <a:ext cx="252395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1613119" y="4065572"/>
            <a:ext cx="153118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switch to </a:t>
            </a:r>
            <a:r>
              <a:rPr lang="en-US" altLang="zh-TW" dirty="0" err="1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gpu</a:t>
            </a:r>
            <a:endParaRPr lang="zh-TW" altLang="en-US" dirty="0" smtClean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27" name="圖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589" y="1562401"/>
            <a:ext cx="1319932" cy="897772"/>
          </a:xfrm>
          <a:prstGeom prst="rect">
            <a:avLst/>
          </a:prstGeom>
        </p:spPr>
      </p:pic>
      <p:pic>
        <p:nvPicPr>
          <p:cNvPr id="28" name="圖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589" y="4777245"/>
            <a:ext cx="1319932" cy="897772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766" y="3180413"/>
            <a:ext cx="1151755" cy="104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0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625" y="226926"/>
            <a:ext cx="8207375" cy="692150"/>
          </a:xfrm>
        </p:spPr>
        <p:txBody>
          <a:bodyPr/>
          <a:lstStyle/>
          <a:p>
            <a:r>
              <a:rPr lang="en-US" altLang="zh-TW" sz="2800" dirty="0"/>
              <a:t> </a:t>
            </a:r>
            <a:r>
              <a:rPr lang="en-US" altLang="zh-TW" sz="2800" b="0" dirty="0" smtClean="0"/>
              <a:t>Switchable Compute (HSA)</a:t>
            </a:r>
            <a:endParaRPr lang="zh-TW" altLang="en-US" sz="2800" dirty="0"/>
          </a:p>
        </p:txBody>
      </p:sp>
      <p:sp>
        <p:nvSpPr>
          <p:cNvPr id="3" name="剪去並圓角化單一角落矩形 2"/>
          <p:cNvSpPr/>
          <p:nvPr/>
        </p:nvSpPr>
        <p:spPr bwMode="auto">
          <a:xfrm>
            <a:off x="631062" y="1734271"/>
            <a:ext cx="1043189" cy="553791"/>
          </a:xfrm>
          <a:prstGeom prst="snip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b="1" dirty="0" smtClean="0">
                <a:solidFill>
                  <a:prstClr val="black"/>
                </a:solidFill>
              </a:rPr>
              <a:t>Kernel 1</a:t>
            </a:r>
            <a:endParaRPr kumimoji="1" lang="zh-TW" altLang="en-US" b="1" dirty="0" smtClean="0">
              <a:solidFill>
                <a:prstClr val="black"/>
              </a:solidFill>
            </a:endParaRPr>
          </a:p>
        </p:txBody>
      </p:sp>
      <p:sp>
        <p:nvSpPr>
          <p:cNvPr id="7" name="剪去並圓角化單一角落矩形 6"/>
          <p:cNvSpPr/>
          <p:nvPr/>
        </p:nvSpPr>
        <p:spPr bwMode="auto">
          <a:xfrm>
            <a:off x="631062" y="3296567"/>
            <a:ext cx="1043189" cy="553791"/>
          </a:xfrm>
          <a:prstGeom prst="snip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b="1" dirty="0" smtClean="0">
                <a:solidFill>
                  <a:prstClr val="black"/>
                </a:solidFill>
              </a:rPr>
              <a:t>Kernel 2</a:t>
            </a:r>
            <a:endParaRPr kumimoji="1" lang="zh-TW" altLang="en-US" b="1" dirty="0" smtClean="0">
              <a:solidFill>
                <a:prstClr val="black"/>
              </a:solidFill>
            </a:endParaRPr>
          </a:p>
        </p:txBody>
      </p:sp>
      <p:sp>
        <p:nvSpPr>
          <p:cNvPr id="8" name="剪去並圓角化單一角落矩形 7"/>
          <p:cNvSpPr/>
          <p:nvPr/>
        </p:nvSpPr>
        <p:spPr bwMode="auto">
          <a:xfrm>
            <a:off x="631062" y="4858863"/>
            <a:ext cx="1043189" cy="553791"/>
          </a:xfrm>
          <a:prstGeom prst="snip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b="1" dirty="0" smtClean="0">
                <a:solidFill>
                  <a:prstClr val="black"/>
                </a:solidFill>
              </a:rPr>
              <a:t>Kernel 3</a:t>
            </a:r>
            <a:endParaRPr kumimoji="1" lang="zh-TW" altLang="en-US" b="1" dirty="0" smtClean="0">
              <a:solidFill>
                <a:prstClr val="black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458695"/>
              </p:ext>
            </p:extLst>
          </p:nvPr>
        </p:nvGraphicFramePr>
        <p:xfrm>
          <a:off x="4699211" y="1681902"/>
          <a:ext cx="630686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686"/>
              </a:tblGrid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6679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3954117" y="1142007"/>
            <a:ext cx="2172390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ea typeface="標楷體" pitchFamily="65" charset="-120"/>
                <a:cs typeface="Calibri" pitchFamily="34" charset="0"/>
              </a:rPr>
              <a:t>Memory allocations</a:t>
            </a:r>
            <a:endParaRPr lang="zh-TW" altLang="en-US" dirty="0" smtClean="0">
              <a:solidFill>
                <a:prstClr val="black"/>
              </a:solidFill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6" name="直線單箭頭接點 15"/>
          <p:cNvCxnSpPr/>
          <p:nvPr/>
        </p:nvCxnSpPr>
        <p:spPr bwMode="auto">
          <a:xfrm>
            <a:off x="1152656" y="2355520"/>
            <a:ext cx="0" cy="83844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>
            <a:off x="1152656" y="3901847"/>
            <a:ext cx="0" cy="83844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 bwMode="auto">
          <a:xfrm>
            <a:off x="1313948" y="3016666"/>
            <a:ext cx="252395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1573302" y="2543994"/>
            <a:ext cx="1518364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switch to </a:t>
            </a:r>
            <a:r>
              <a:rPr lang="en-US" altLang="zh-TW" dirty="0" err="1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cpu</a:t>
            </a:r>
            <a:endParaRPr lang="zh-TW" altLang="en-US" dirty="0" smtClean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5" name="直線單箭頭接點 24"/>
          <p:cNvCxnSpPr/>
          <p:nvPr/>
        </p:nvCxnSpPr>
        <p:spPr bwMode="auto">
          <a:xfrm>
            <a:off x="1353765" y="4538244"/>
            <a:ext cx="252395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1613119" y="4065572"/>
            <a:ext cx="153118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switch to </a:t>
            </a:r>
            <a:r>
              <a:rPr lang="en-US" altLang="zh-TW" dirty="0" err="1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gpu</a:t>
            </a:r>
            <a:endParaRPr lang="zh-TW" altLang="en-US" dirty="0" smtClean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27" name="圖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589" y="1562401"/>
            <a:ext cx="1319932" cy="897772"/>
          </a:xfrm>
          <a:prstGeom prst="rect">
            <a:avLst/>
          </a:prstGeom>
        </p:spPr>
      </p:pic>
      <p:pic>
        <p:nvPicPr>
          <p:cNvPr id="28" name="圖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589" y="4777245"/>
            <a:ext cx="1319932" cy="897772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766" y="3180413"/>
            <a:ext cx="1151755" cy="1047936"/>
          </a:xfrm>
          <a:prstGeom prst="rect">
            <a:avLst/>
          </a:prstGeom>
        </p:spPr>
      </p:pic>
      <p:sp>
        <p:nvSpPr>
          <p:cNvPr id="30" name="內容版面配置區 2"/>
          <p:cNvSpPr>
            <a:spLocks noGrp="1"/>
          </p:cNvSpPr>
          <p:nvPr>
            <p:ph idx="1"/>
          </p:nvPr>
        </p:nvSpPr>
        <p:spPr>
          <a:xfrm>
            <a:off x="5418236" y="1730662"/>
            <a:ext cx="3725764" cy="1182664"/>
          </a:xfrm>
        </p:spPr>
        <p:txBody>
          <a:bodyPr>
            <a:noAutofit/>
          </a:bodyPr>
          <a:lstStyle/>
          <a:p>
            <a:pPr marL="285750" indent="-285750"/>
            <a:r>
              <a:rPr lang="en-US" altLang="zh-TW" sz="2400" dirty="0" smtClean="0">
                <a:cs typeface="Calibri" pitchFamily="34" charset="0"/>
              </a:rPr>
              <a:t>Shared memory architecture reduces the </a:t>
            </a:r>
            <a:r>
              <a:rPr lang="en-US" altLang="zh-TW" sz="2400" dirty="0">
                <a:cs typeface="Calibri" pitchFamily="34" charset="0"/>
              </a:rPr>
              <a:t>overhead of data copy</a:t>
            </a:r>
            <a:r>
              <a:rPr lang="en-US" altLang="zh-TW" sz="2400" dirty="0" smtClean="0">
                <a:cs typeface="Calibri" pitchFamily="34" charset="0"/>
              </a:rPr>
              <a:t>.</a:t>
            </a:r>
            <a:endParaRPr lang="zh-TW" altLang="en-US" sz="2400" dirty="0"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71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 smtClean="0"/>
              <a:t>HSA Translator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44005"/>
            <a:ext cx="7883434" cy="1752600"/>
          </a:xfrm>
        </p:spPr>
        <p:txBody>
          <a:bodyPr/>
          <a:lstStyle/>
          <a:p>
            <a:r>
              <a:rPr lang="en-US" altLang="zh-TW" sz="2400" dirty="0" smtClean="0"/>
              <a:t>HSAIL to x86 Convertor</a:t>
            </a:r>
            <a:endParaRPr lang="zh-TW" altLang="en-US" sz="2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prstClr val="white">
                  <a:lumMod val="50000"/>
                </a:prstClr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81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HSA Translator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HSAIL(brig)     LLVM IR     x86</a:t>
            </a:r>
            <a:endParaRPr lang="en-US" altLang="zh-TW" sz="2632" dirty="0"/>
          </a:p>
          <a:p>
            <a:pPr lvl="1"/>
            <a:r>
              <a:rPr lang="en-US" altLang="zh-TW" sz="3032" dirty="0" smtClean="0">
                <a:solidFill>
                  <a:schemeClr val="accent1">
                    <a:lumMod val="75000"/>
                  </a:schemeClr>
                </a:solidFill>
              </a:rPr>
              <a:t>Brig is the HSAIL binary format.</a:t>
            </a:r>
          </a:p>
          <a:p>
            <a:pPr lvl="1"/>
            <a:r>
              <a:rPr lang="en-US" altLang="zh-TW" sz="3032" dirty="0" smtClean="0">
                <a:solidFill>
                  <a:schemeClr val="accent1">
                    <a:lumMod val="75000"/>
                  </a:schemeClr>
                </a:solidFill>
              </a:rPr>
              <a:t>In our emulator, brig is Kernel code.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591512"/>
            <a:ext cx="7379594" cy="120032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/>
              <a:t>HSA Decoder translates brig file to LLVM IR, and HSA Assembler translates LLVM IR to x86 binary file.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5" name="直線單箭頭接點 4"/>
          <p:cNvCxnSpPr/>
          <p:nvPr/>
        </p:nvCxnSpPr>
        <p:spPr bwMode="auto">
          <a:xfrm>
            <a:off x="2756079" y="1429555"/>
            <a:ext cx="34772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>
            <a:off x="4544097" y="1442434"/>
            <a:ext cx="34772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auto">
          <a:xfrm>
            <a:off x="4006986" y="317555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1503167" y="3175556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Decoder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8" name="直線單箭頭接點 27"/>
          <p:cNvCxnSpPr>
            <a:stCxn id="26" idx="3"/>
            <a:endCxn id="16" idx="1"/>
          </p:cNvCxnSpPr>
          <p:nvPr/>
        </p:nvCxnSpPr>
        <p:spPr bwMode="auto">
          <a:xfrm>
            <a:off x="3282912" y="3502905"/>
            <a:ext cx="72407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 bwMode="auto">
          <a:xfrm>
            <a:off x="796671" y="3497935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-115343" y="3194594"/>
            <a:ext cx="1077632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(brig)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6029633" y="308697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HSA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Assembler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031146" y="3194594"/>
            <a:ext cx="1159292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object file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7" name="直線單箭頭接點 36"/>
          <p:cNvCxnSpPr/>
          <p:nvPr/>
        </p:nvCxnSpPr>
        <p:spPr bwMode="auto">
          <a:xfrm>
            <a:off x="7380107" y="3498670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6" idx="3"/>
            <a:endCxn id="33" idx="1"/>
          </p:cNvCxnSpPr>
          <p:nvPr/>
        </p:nvCxnSpPr>
        <p:spPr bwMode="auto">
          <a:xfrm flipV="1">
            <a:off x="5284425" y="3497935"/>
            <a:ext cx="745208" cy="497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3114554" y="3825407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057476" y="3828580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1262130" y="2846231"/>
            <a:ext cx="6375042" cy="1379932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" name="圓角矩形 18"/>
          <p:cNvSpPr/>
          <p:nvPr/>
        </p:nvSpPr>
        <p:spPr bwMode="auto">
          <a:xfrm>
            <a:off x="6750963" y="2038405"/>
            <a:ext cx="1133341" cy="51515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LLVM lib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0" name="直線單箭頭接點 19"/>
          <p:cNvCxnSpPr/>
          <p:nvPr/>
        </p:nvCxnSpPr>
        <p:spPr bwMode="auto">
          <a:xfrm flipH="1">
            <a:off x="7317633" y="2553560"/>
            <a:ext cx="1" cy="2940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7319332" y="2534138"/>
            <a:ext cx="53091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link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68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HSA Translator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HSAIL(brig)     LLVM IR</a:t>
            </a:r>
            <a:endParaRPr lang="en-US" altLang="zh-TW" sz="2632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776178"/>
            <a:ext cx="7379594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/>
              <a:t>HSA Decoder decode the brig file and maps HSAIL instructions to LLVM IR.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5" name="直線單箭頭接點 4"/>
          <p:cNvCxnSpPr/>
          <p:nvPr/>
        </p:nvCxnSpPr>
        <p:spPr bwMode="auto">
          <a:xfrm>
            <a:off x="2756079" y="1429555"/>
            <a:ext cx="34772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auto">
          <a:xfrm>
            <a:off x="4006986" y="317555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1503167" y="3175556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Decoder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1" name="直線單箭頭接點 20"/>
          <p:cNvCxnSpPr>
            <a:stCxn id="20" idx="3"/>
            <a:endCxn id="19" idx="1"/>
          </p:cNvCxnSpPr>
          <p:nvPr/>
        </p:nvCxnSpPr>
        <p:spPr bwMode="auto">
          <a:xfrm>
            <a:off x="3282912" y="3502905"/>
            <a:ext cx="72407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 bwMode="auto">
          <a:xfrm>
            <a:off x="796671" y="3497935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-115343" y="3194594"/>
            <a:ext cx="1077632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(brig)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6029633" y="308697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HSA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Assembler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031146" y="3194594"/>
            <a:ext cx="1159292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object file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>
            <a:off x="7380107" y="3498670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9" idx="3"/>
            <a:endCxn id="24" idx="1"/>
          </p:cNvCxnSpPr>
          <p:nvPr/>
        </p:nvCxnSpPr>
        <p:spPr bwMode="auto">
          <a:xfrm flipV="1">
            <a:off x="5284425" y="3497935"/>
            <a:ext cx="745208" cy="497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3114554" y="3825407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057476" y="3828580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1262130" y="2846231"/>
            <a:ext cx="6375042" cy="1379932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1" name="圓角矩形 30"/>
          <p:cNvSpPr/>
          <p:nvPr/>
        </p:nvSpPr>
        <p:spPr bwMode="auto">
          <a:xfrm>
            <a:off x="6750963" y="2038405"/>
            <a:ext cx="1133341" cy="51515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LLVM lib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32" name="直線單箭頭接點 31"/>
          <p:cNvCxnSpPr/>
          <p:nvPr/>
        </p:nvCxnSpPr>
        <p:spPr bwMode="auto">
          <a:xfrm flipH="1">
            <a:off x="7317633" y="2553560"/>
            <a:ext cx="1" cy="2940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7319332" y="2534138"/>
            <a:ext cx="53091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link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HSA Translator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 </a:t>
            </a:r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IR     x86</a:t>
            </a:r>
            <a:endParaRPr lang="en-US" altLang="zh-TW" sz="2632" dirty="0"/>
          </a:p>
          <a:p>
            <a:endParaRPr lang="en-US" altLang="zh-TW" sz="2632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406847"/>
            <a:ext cx="7379594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/>
              <a:t>HSA Assembler translates LLVM IR to x86 machine code.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>
                <a:ea typeface="標楷體" pitchFamily="65" charset="-120"/>
                <a:cs typeface="Calibri" pitchFamily="34" charset="0"/>
              </a:rPr>
              <a:t>HSA Assembler includes LLVM code generator(backend).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5" name="直線單箭頭接點 4"/>
          <p:cNvCxnSpPr/>
          <p:nvPr/>
        </p:nvCxnSpPr>
        <p:spPr bwMode="auto">
          <a:xfrm>
            <a:off x="2219175" y="1442434"/>
            <a:ext cx="34772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auto">
          <a:xfrm>
            <a:off x="4006986" y="317555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1503167" y="3175556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Decoder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1" name="直線單箭頭接點 20"/>
          <p:cNvCxnSpPr>
            <a:stCxn id="20" idx="3"/>
            <a:endCxn id="19" idx="1"/>
          </p:cNvCxnSpPr>
          <p:nvPr/>
        </p:nvCxnSpPr>
        <p:spPr bwMode="auto">
          <a:xfrm>
            <a:off x="3282912" y="3502905"/>
            <a:ext cx="72407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 bwMode="auto">
          <a:xfrm>
            <a:off x="796671" y="3497935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-115343" y="3194594"/>
            <a:ext cx="1077632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(brig)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6029633" y="308697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HSA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Assembler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031146" y="3194594"/>
            <a:ext cx="1159292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object file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>
            <a:off x="7380107" y="3498670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9" idx="3"/>
            <a:endCxn id="24" idx="1"/>
          </p:cNvCxnSpPr>
          <p:nvPr/>
        </p:nvCxnSpPr>
        <p:spPr bwMode="auto">
          <a:xfrm flipV="1">
            <a:off x="5284425" y="3497935"/>
            <a:ext cx="745208" cy="497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3114554" y="3825407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057476" y="3828580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1262130" y="2846231"/>
            <a:ext cx="6375042" cy="1379932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1" name="圓角矩形 30"/>
          <p:cNvSpPr/>
          <p:nvPr/>
        </p:nvSpPr>
        <p:spPr bwMode="auto">
          <a:xfrm>
            <a:off x="6750963" y="2038405"/>
            <a:ext cx="1133341" cy="51515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LLVM lib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32" name="直線單箭頭接點 31"/>
          <p:cNvCxnSpPr/>
          <p:nvPr/>
        </p:nvCxnSpPr>
        <p:spPr bwMode="auto">
          <a:xfrm flipH="1">
            <a:off x="7317633" y="2553560"/>
            <a:ext cx="1" cy="2940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7319332" y="2534138"/>
            <a:ext cx="53091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link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46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HSA Translator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 IR     x86</a:t>
            </a:r>
            <a:endParaRPr lang="en-US" altLang="zh-TW" sz="2632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222181"/>
            <a:ext cx="8686800" cy="193899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b="1" dirty="0" smtClean="0"/>
              <a:t>LLVM </a:t>
            </a:r>
            <a:r>
              <a:rPr lang="en-US" altLang="zh-TW" sz="2400" b="1" dirty="0"/>
              <a:t>code </a:t>
            </a:r>
            <a:r>
              <a:rPr lang="en-US" altLang="zh-TW" sz="2400" b="1" dirty="0" smtClean="0"/>
              <a:t>generator(backend) </a:t>
            </a:r>
            <a:r>
              <a:rPr lang="en-US" altLang="zh-TW" sz="2400" dirty="0"/>
              <a:t>splits the code generation problem into individual passes—instruction selection, register allocation, scheduling, code layout optimization, and assembly emission—and provides many </a:t>
            </a:r>
            <a:r>
              <a:rPr lang="en-US" altLang="zh-TW" sz="2400" dirty="0" smtClean="0"/>
              <a:t>built-in </a:t>
            </a:r>
            <a:r>
              <a:rPr lang="en-US" altLang="zh-TW" sz="2400" dirty="0"/>
              <a:t>passes that are run by default.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5" name="直線單箭頭接點 4"/>
          <p:cNvCxnSpPr/>
          <p:nvPr/>
        </p:nvCxnSpPr>
        <p:spPr bwMode="auto">
          <a:xfrm>
            <a:off x="2219175" y="1442434"/>
            <a:ext cx="34772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auto">
          <a:xfrm>
            <a:off x="4006986" y="317555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1503167" y="3175556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Decoder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4" name="直線單箭頭接點 13"/>
          <p:cNvCxnSpPr>
            <a:stCxn id="13" idx="3"/>
            <a:endCxn id="12" idx="1"/>
          </p:cNvCxnSpPr>
          <p:nvPr/>
        </p:nvCxnSpPr>
        <p:spPr bwMode="auto">
          <a:xfrm>
            <a:off x="3282912" y="3502905"/>
            <a:ext cx="72407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 bwMode="auto">
          <a:xfrm>
            <a:off x="796671" y="3497935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-115343" y="3194594"/>
            <a:ext cx="1077632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(brig)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029633" y="308697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HSA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Assembler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8031146" y="3194594"/>
            <a:ext cx="1159292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object file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0" name="直線單箭頭接點 19"/>
          <p:cNvCxnSpPr/>
          <p:nvPr/>
        </p:nvCxnSpPr>
        <p:spPr bwMode="auto">
          <a:xfrm>
            <a:off x="7380107" y="3498670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2" idx="3"/>
            <a:endCxn id="18" idx="1"/>
          </p:cNvCxnSpPr>
          <p:nvPr/>
        </p:nvCxnSpPr>
        <p:spPr bwMode="auto">
          <a:xfrm flipV="1">
            <a:off x="5284425" y="3497935"/>
            <a:ext cx="745208" cy="497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114554" y="3825407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057476" y="3828580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1262130" y="2846231"/>
            <a:ext cx="6375042" cy="1379932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" name="圓角矩形 24"/>
          <p:cNvSpPr/>
          <p:nvPr/>
        </p:nvSpPr>
        <p:spPr bwMode="auto">
          <a:xfrm>
            <a:off x="6750963" y="2038405"/>
            <a:ext cx="1133341" cy="51515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LLVM lib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H="1">
            <a:off x="7317633" y="2553560"/>
            <a:ext cx="1" cy="2940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7319332" y="2534138"/>
            <a:ext cx="53091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link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15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200" dirty="0" smtClean="0"/>
              <a:t>Linker Loader and Helper Function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Linker Loader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406847"/>
            <a:ext cx="8686800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/>
              <a:t>In HSAIL, there are some instructions which LLVM IR is not support. We use helper functions to simulate the instructions.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>
                <a:ea typeface="標楷體" pitchFamily="65" charset="-120"/>
                <a:cs typeface="Calibri" pitchFamily="34" charset="0"/>
              </a:rPr>
              <a:t>After linking, object codes load in code cache and wait for executing.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884403" y="2162417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Linker &amp;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Loader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988478" y="2153731"/>
            <a:ext cx="1159292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object file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7" name="直線單箭頭接點 36"/>
          <p:cNvCxnSpPr/>
          <p:nvPr/>
        </p:nvCxnSpPr>
        <p:spPr bwMode="auto">
          <a:xfrm>
            <a:off x="2160594" y="2476897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剪去並圓角化單一角落矩形 8"/>
          <p:cNvSpPr/>
          <p:nvPr/>
        </p:nvSpPr>
        <p:spPr bwMode="auto">
          <a:xfrm>
            <a:off x="2884403" y="3245476"/>
            <a:ext cx="1277439" cy="579549"/>
          </a:xfrm>
          <a:prstGeom prst="snip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Helper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function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1" name="直線單箭頭接點 10"/>
          <p:cNvCxnSpPr>
            <a:endCxn id="16" idx="2"/>
          </p:cNvCxnSpPr>
          <p:nvPr/>
        </p:nvCxnSpPr>
        <p:spPr bwMode="auto">
          <a:xfrm flipV="1">
            <a:off x="3523122" y="2817115"/>
            <a:ext cx="1" cy="40423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 bwMode="auto">
          <a:xfrm>
            <a:off x="4262649" y="249177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圓角矩形 13"/>
          <p:cNvSpPr/>
          <p:nvPr/>
        </p:nvSpPr>
        <p:spPr bwMode="auto">
          <a:xfrm>
            <a:off x="4982156" y="2162417"/>
            <a:ext cx="1444401" cy="6546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Code cache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988478" y="3846987"/>
            <a:ext cx="725070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(memory relative instruction, GPU Kernel information instruction…</a:t>
            </a: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etc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86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52425C63-842A-4F95-A16C-1C0CCEA90123}" vid="{F27CB42A-B114-46CF-86BE-45D629310C51}"/>
    </a:ext>
  </a:extLst>
</a:theme>
</file>

<file path=ppt/theme/theme2.xml><?xml version="1.0" encoding="utf-8"?>
<a:theme xmlns:a="http://schemas.openxmlformats.org/drawingml/2006/main" name="1_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52425C63-842A-4F95-A16C-1C0CCEA90123}" vid="{F27CB42A-B114-46CF-86BE-45D629310C51}"/>
    </a:ext>
  </a:extLst>
</a:theme>
</file>

<file path=ppt/theme/theme3.xml><?xml version="1.0" encoding="utf-8"?>
<a:theme xmlns:a="http://schemas.openxmlformats.org/drawingml/2006/main" name="2_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52425C63-842A-4F95-A16C-1C0CCEA90123}" vid="{F27CB42A-B114-46CF-86BE-45D629310C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1228</TotalTime>
  <Words>1632</Words>
  <Application>Microsoft Office PowerPoint</Application>
  <PresentationFormat>如螢幕大小 (4:3)</PresentationFormat>
  <Paragraphs>495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35</vt:i4>
      </vt:variant>
    </vt:vector>
  </HeadingPairs>
  <TitlesOfParts>
    <vt:vector size="46" baseType="lpstr">
      <vt:lpstr>Menlo</vt:lpstr>
      <vt:lpstr>MS Sans Serif</vt:lpstr>
      <vt:lpstr>新細明體</vt:lpstr>
      <vt:lpstr>標楷體</vt:lpstr>
      <vt:lpstr>Arial</vt:lpstr>
      <vt:lpstr>Calibri</vt:lpstr>
      <vt:lpstr>Consolas</vt:lpstr>
      <vt:lpstr>Wingdings</vt:lpstr>
      <vt:lpstr>佈景主題1</vt:lpstr>
      <vt:lpstr>1_佈景主題1</vt:lpstr>
      <vt:lpstr>2_佈景主題1</vt:lpstr>
      <vt:lpstr>A HSA Full System Simulator – Translator</vt:lpstr>
      <vt:lpstr>LLVM</vt:lpstr>
      <vt:lpstr>What is LLVM?</vt:lpstr>
      <vt:lpstr>Introduction to Classical Compiler Design</vt:lpstr>
      <vt:lpstr>Common Example</vt:lpstr>
      <vt:lpstr>LLVM Example</vt:lpstr>
      <vt:lpstr>LLVM Example</vt:lpstr>
      <vt:lpstr>LLVM Example</vt:lpstr>
      <vt:lpstr>LLVM Example</vt:lpstr>
      <vt:lpstr>LLVM Example</vt:lpstr>
      <vt:lpstr>LLVM IR</vt:lpstr>
      <vt:lpstr>SPIR</vt:lpstr>
      <vt:lpstr>What is SPIR ?</vt:lpstr>
      <vt:lpstr>OpenCL C mapping to SPIR</vt:lpstr>
      <vt:lpstr>Why use SPIR ?</vt:lpstr>
      <vt:lpstr>Compilation Flow for source  without SPIR</vt:lpstr>
      <vt:lpstr>Compilation Flow for binaries  without SPIR</vt:lpstr>
      <vt:lpstr> SPIR Binary Compilation Flow</vt:lpstr>
      <vt:lpstr> Sample SPIR consumption flow</vt:lpstr>
      <vt:lpstr> Sample SPIR flow: Room for optimizations</vt:lpstr>
      <vt:lpstr>HSAIL AND SPIR</vt:lpstr>
      <vt:lpstr>HSAIL AND SPIR</vt:lpstr>
      <vt:lpstr>Ocelot</vt:lpstr>
      <vt:lpstr> Ocelot Vision</vt:lpstr>
      <vt:lpstr> Ocelot Vision</vt:lpstr>
      <vt:lpstr> Ocelot PTX Intermediate Representation (IR)</vt:lpstr>
      <vt:lpstr>PTX -&gt; PTX Optimization</vt:lpstr>
      <vt:lpstr> Switchable Compute (Ocelot)</vt:lpstr>
      <vt:lpstr> Switchable Compute (HSA)</vt:lpstr>
      <vt:lpstr>HSA Translator</vt:lpstr>
      <vt:lpstr>HSA Translator</vt:lpstr>
      <vt:lpstr>HSA Translator</vt:lpstr>
      <vt:lpstr>HSA Translator</vt:lpstr>
      <vt:lpstr>HSA Translator</vt:lpstr>
      <vt:lpstr>Linker Loader and Helper Function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HSA Full System Simulator – Translator</dc:title>
  <dc:creator>Tubou</dc:creator>
  <cp:lastModifiedBy>Tubou</cp:lastModifiedBy>
  <cp:revision>191</cp:revision>
  <dcterms:created xsi:type="dcterms:W3CDTF">2013-12-30T03:20:23Z</dcterms:created>
  <dcterms:modified xsi:type="dcterms:W3CDTF">2014-01-20T11:36:57Z</dcterms:modified>
</cp:coreProperties>
</file>