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05" r:id="rId1"/>
  </p:sldMasterIdLst>
  <p:notesMasterIdLst>
    <p:notesMasterId r:id="rId51"/>
  </p:notesMasterIdLst>
  <p:handoutMasterIdLst>
    <p:handoutMasterId r:id="rId52"/>
  </p:handoutMasterIdLst>
  <p:sldIdLst>
    <p:sldId id="373" r:id="rId2"/>
    <p:sldId id="704" r:id="rId3"/>
    <p:sldId id="640" r:id="rId4"/>
    <p:sldId id="642" r:id="rId5"/>
    <p:sldId id="643" r:id="rId6"/>
    <p:sldId id="644" r:id="rId7"/>
    <p:sldId id="645" r:id="rId8"/>
    <p:sldId id="646" r:id="rId9"/>
    <p:sldId id="647" r:id="rId10"/>
    <p:sldId id="648" r:id="rId11"/>
    <p:sldId id="649" r:id="rId12"/>
    <p:sldId id="650" r:id="rId13"/>
    <p:sldId id="651" r:id="rId14"/>
    <p:sldId id="693" r:id="rId15"/>
    <p:sldId id="671" r:id="rId16"/>
    <p:sldId id="672" r:id="rId17"/>
    <p:sldId id="673" r:id="rId18"/>
    <p:sldId id="682" r:id="rId19"/>
    <p:sldId id="683" r:id="rId20"/>
    <p:sldId id="674" r:id="rId21"/>
    <p:sldId id="684" r:id="rId22"/>
    <p:sldId id="686" r:id="rId23"/>
    <p:sldId id="705" r:id="rId24"/>
    <p:sldId id="706" r:id="rId25"/>
    <p:sldId id="707" r:id="rId26"/>
    <p:sldId id="687" r:id="rId27"/>
    <p:sldId id="688" r:id="rId28"/>
    <p:sldId id="694" r:id="rId29"/>
    <p:sldId id="689" r:id="rId30"/>
    <p:sldId id="690" r:id="rId31"/>
    <p:sldId id="708" r:id="rId32"/>
    <p:sldId id="709" r:id="rId33"/>
    <p:sldId id="691" r:id="rId34"/>
    <p:sldId id="692" r:id="rId35"/>
    <p:sldId id="675" r:id="rId36"/>
    <p:sldId id="676" r:id="rId37"/>
    <p:sldId id="677" r:id="rId38"/>
    <p:sldId id="678" r:id="rId39"/>
    <p:sldId id="679" r:id="rId40"/>
    <p:sldId id="680" r:id="rId41"/>
    <p:sldId id="668" r:id="rId42"/>
    <p:sldId id="669" r:id="rId43"/>
    <p:sldId id="697" r:id="rId44"/>
    <p:sldId id="698" r:id="rId45"/>
    <p:sldId id="699" r:id="rId46"/>
    <p:sldId id="700" r:id="rId47"/>
    <p:sldId id="701" r:id="rId48"/>
    <p:sldId id="702" r:id="rId49"/>
    <p:sldId id="703" r:id="rId50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06A87FC-69DC-43E8-BD3A-BCC9DD2B7A9C}">
          <p14:sldIdLst>
            <p14:sldId id="373"/>
            <p14:sldId id="704"/>
            <p14:sldId id="640"/>
            <p14:sldId id="642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93"/>
            <p14:sldId id="671"/>
            <p14:sldId id="672"/>
            <p14:sldId id="673"/>
            <p14:sldId id="682"/>
            <p14:sldId id="683"/>
            <p14:sldId id="674"/>
            <p14:sldId id="684"/>
            <p14:sldId id="686"/>
            <p14:sldId id="705"/>
            <p14:sldId id="706"/>
            <p14:sldId id="707"/>
            <p14:sldId id="687"/>
            <p14:sldId id="688"/>
            <p14:sldId id="694"/>
            <p14:sldId id="689"/>
            <p14:sldId id="690"/>
            <p14:sldId id="708"/>
            <p14:sldId id="709"/>
            <p14:sldId id="691"/>
            <p14:sldId id="692"/>
            <p14:sldId id="675"/>
            <p14:sldId id="676"/>
            <p14:sldId id="677"/>
            <p14:sldId id="678"/>
            <p14:sldId id="679"/>
            <p14:sldId id="680"/>
            <p14:sldId id="668"/>
            <p14:sldId id="669"/>
            <p14:sldId id="697"/>
            <p14:sldId id="698"/>
            <p14:sldId id="699"/>
            <p14:sldId id="700"/>
            <p14:sldId id="701"/>
            <p14:sldId id="702"/>
            <p14:sldId id="7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66"/>
    <a:srgbClr val="990033"/>
    <a:srgbClr val="99FF66"/>
    <a:srgbClr val="FF99FF"/>
    <a:srgbClr val="A50021"/>
    <a:srgbClr val="003366"/>
    <a:srgbClr val="66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000" autoAdjust="0"/>
    <p:restoredTop sz="86832" autoAdjust="0"/>
  </p:normalViewPr>
  <p:slideViewPr>
    <p:cSldViewPr>
      <p:cViewPr>
        <p:scale>
          <a:sx n="66" d="100"/>
          <a:sy n="66" d="100"/>
        </p:scale>
        <p:origin x="79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3366" y="-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8" tIns="47374" rIns="94748" bIns="47374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8" tIns="47374" rIns="94748" bIns="47374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8" tIns="47374" rIns="94748" bIns="47374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00000</a:t>
            </a:r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8" tIns="47374" rIns="94748" bIns="47374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F891EE84-5ED7-43ED-8EE4-7D70B2081353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363824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8" tIns="47374" rIns="94748" bIns="47374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8" tIns="47374" rIns="94748" bIns="47374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9938"/>
            <a:ext cx="5114925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8" tIns="47374" rIns="94748" bIns="473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8" tIns="47374" rIns="94748" bIns="47374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00000</a:t>
            </a:r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8" tIns="47374" rIns="94748" bIns="47374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EF1E5AC7-D120-4B34-8768-388EC9206878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8513241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00000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E5AC7-D120-4B34-8768-388EC9206878}" type="slidenum">
              <a:rPr lang="en-US" altLang="zh-TW" smtClean="0"/>
              <a:pPr>
                <a:defRPr/>
              </a:pPr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39894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ISV: Independent Software Vendor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00000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E5AC7-D120-4B34-8768-388EC9206878}" type="slidenum">
              <a:rPr lang="en-US" altLang="zh-TW" smtClean="0"/>
              <a:pPr>
                <a:defRPr/>
              </a:pPr>
              <a:t>19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5992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71420-BD5E-634C-B474-39BAC775053C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91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will be open on this.</a:t>
            </a:r>
          </a:p>
          <a:p>
            <a:r>
              <a:rPr lang="en-US" baseline="0" dirty="0" smtClean="0"/>
              <a:t>We will reach out to partners and collaborate to bring this to market in the right form</a:t>
            </a:r>
          </a:p>
          <a:p>
            <a:pPr marL="185684" indent="-185684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71420-BD5E-634C-B474-39BAC775053C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612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Inclusive</a:t>
            </a:r>
            <a:r>
              <a:rPr lang="en-US" baseline="0" dirty="0" smtClean="0"/>
              <a:t> of fixed function devices and all programmable devices in a SOC.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F771E8-E292-1847-A003-B9063746A93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04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Inclusive</a:t>
            </a:r>
            <a:r>
              <a:rPr lang="en-US" baseline="0" dirty="0" smtClean="0"/>
              <a:t> of fixed function devices and all programmable devices in a SOC.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F771E8-E292-1847-A003-B9063746A93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04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With HSA, there is an alternate path to the accelerators in the system, besides the legacy driver</a:t>
            </a:r>
            <a:r>
              <a:rPr lang="en-US" baseline="0" smtClean="0"/>
              <a:t> model.</a:t>
            </a:r>
          </a:p>
          <a:p>
            <a:r>
              <a:rPr lang="en-US" baseline="0" smtClean="0"/>
              <a:t>We are moving beyond the platform architecture of the last 25 years, to unlock software innovation for modern workloads.</a:t>
            </a:r>
          </a:p>
          <a:p>
            <a:r>
              <a:rPr lang="en-US" baseline="0" smtClean="0"/>
              <a:t>Applications will be able to deliver work *directly* to the queues fetched by the parallel processor in the GPU.</a:t>
            </a:r>
          </a:p>
          <a:p>
            <a:r>
              <a:rPr lang="en-US" baseline="0" smtClean="0"/>
              <a:t>We abstract the parallel processor with a new virtual ISA, called HSAIL. A low level IL that allows multiple hardware vendors to continue to innovate within a standard platform. There is a “finalizer” between the HSAIL generated by the high level compiler and the GPU ISA. The architecture supports the finalizer being run at multiple possible times: at run time, install time or compile time, depending on the target platform.</a:t>
            </a:r>
          </a:p>
          <a:p>
            <a:r>
              <a:rPr lang="en-US" smtClean="0"/>
              <a:t>Overall Vision:</a:t>
            </a:r>
          </a:p>
          <a:p>
            <a:pPr lvl="1"/>
            <a:r>
              <a:rPr lang="en-US" smtClean="0"/>
              <a:t>Make GPU easily accessible</a:t>
            </a:r>
          </a:p>
          <a:p>
            <a:pPr lvl="2"/>
            <a:r>
              <a:rPr lang="en-US" smtClean="0"/>
              <a:t>Support mainstream languages</a:t>
            </a:r>
          </a:p>
          <a:p>
            <a:pPr lvl="2"/>
            <a:r>
              <a:rPr lang="en-US" smtClean="0"/>
              <a:t>Expandable to domain specific languages</a:t>
            </a:r>
          </a:p>
          <a:p>
            <a:pPr lvl="1"/>
            <a:r>
              <a:rPr lang="en-US" smtClean="0"/>
              <a:t>Make compute offload efficient</a:t>
            </a:r>
          </a:p>
          <a:p>
            <a:pPr lvl="2"/>
            <a:r>
              <a:rPr lang="en-US" smtClean="0"/>
              <a:t>Direct path to GPU (avoid Graphics overhead)</a:t>
            </a:r>
          </a:p>
          <a:p>
            <a:pPr lvl="2"/>
            <a:r>
              <a:rPr lang="en-US" smtClean="0"/>
              <a:t>Eliminate memory copy</a:t>
            </a:r>
          </a:p>
          <a:p>
            <a:pPr lvl="2"/>
            <a:r>
              <a:rPr lang="en-US" smtClean="0"/>
              <a:t>Low-latency dispatch</a:t>
            </a:r>
          </a:p>
          <a:p>
            <a:pPr lvl="1"/>
            <a:r>
              <a:rPr lang="en-US" smtClean="0"/>
              <a:t>Make it ubiquitous</a:t>
            </a:r>
          </a:p>
          <a:p>
            <a:pPr lvl="2"/>
            <a:r>
              <a:rPr lang="en-US" smtClean="0"/>
              <a:t>Drive HSA as a standard through HSA Foundation</a:t>
            </a:r>
          </a:p>
          <a:p>
            <a:pPr lvl="2"/>
            <a:r>
              <a:rPr lang="en-US" smtClean="0"/>
              <a:t>Open Source key components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9034A-F7F8-456A-8D95-3DE97560FB4A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411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316">
              <a:defRPr/>
            </a:pPr>
            <a:r>
              <a:rPr lang="en-US" dirty="0" smtClean="0"/>
              <a:t>Lets take a deeper dive here into the details of the architecture</a:t>
            </a:r>
            <a:r>
              <a:rPr lang="en-US" baseline="0" dirty="0" smtClean="0"/>
              <a:t> 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71420-BD5E-634C-B474-39BAC775053C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91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9034A-F7F8-456A-8D95-3DE97560FB4A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734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memory model for a new architecture is key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71420-BD5E-634C-B474-39BAC775053C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91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115C5-2FF4-4A45-B75E-C3C89F0A7A5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8D942-9EBA-4C8E-A531-121CDCE47CD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550DB-C242-4BAF-B06C-65FCC794B50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E1A867-3965-4DC6-8FAB-CF11C08707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348599-3B42-451E-B007-3FD1EC231F4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9114A-B703-401B-BA0D-79DCAE1EDB5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23121-32E2-406F-A7A4-C80BA31A93E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7FE09-B7FA-4B86-847F-07697E78D3A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1713D1-CC06-49D8-A39E-5BEF99EF1EA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73025"/>
            <a:ext cx="2057400" cy="17002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73025"/>
            <a:ext cx="6019800" cy="170021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85CD5-6783-46AB-9C91-4E0804BA03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73025"/>
            <a:ext cx="8229600" cy="170021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53AF1-DCC9-4279-A8F9-5230AC5E273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8313" y="73025"/>
            <a:ext cx="4248150" cy="6921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647700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524DC-632B-4D51-9569-E587C21C5E7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137A-285F-437B-8D74-C63871369A8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" y="6534965"/>
            <a:ext cx="4800600" cy="32303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© Copyright 2014 HSA Foundation.  All Rights Reserved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F095F-F642-7E4C-BE29-73B8FAFADF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6248400"/>
            <a:ext cx="8534400" cy="22860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75">
                <a:solidFill>
                  <a:schemeClr val="accent3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919167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" y="6534965"/>
            <a:ext cx="4800600" cy="32303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© Copyright 2014 HSA Foundation.  All Rights Reserved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F095F-F642-7E4C-BE29-73B8FAFADF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6248400"/>
            <a:ext cx="8534400" cy="22860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75">
                <a:solidFill>
                  <a:schemeClr val="accent3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230311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600201"/>
            <a:ext cx="4038600" cy="452596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600201"/>
            <a:ext cx="4038600" cy="452596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8600" y="6534965"/>
            <a:ext cx="4800600" cy="32303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© Copyright 2014 HSA Foundation.  All Rights Reserved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F095F-F642-7E4C-BE29-73B8FAFADF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6248400"/>
            <a:ext cx="8534400" cy="22860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75">
                <a:solidFill>
                  <a:schemeClr val="accent3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3033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清大LOGO(鳥)"/>
          <p:cNvPicPr>
            <a:picLocks noChangeAspect="1" noChangeArrowheads="1"/>
          </p:cNvPicPr>
          <p:nvPr/>
        </p:nvPicPr>
        <p:blipFill>
          <a:blip r:embed="rId18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0" y="30163"/>
            <a:ext cx="161925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44463"/>
            <a:ext cx="820737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按一下以編輯母片</a:t>
            </a:r>
          </a:p>
          <a:p>
            <a:pPr lvl="1"/>
            <a:endParaRPr lang="zh-TW" altLang="en-US" smtClean="0"/>
          </a:p>
          <a:p>
            <a:pPr lvl="0"/>
            <a:endParaRPr lang="en-US" altLang="zh-TW" smtClean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0" y="6357938"/>
            <a:ext cx="38338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42875" y="6581775"/>
            <a:ext cx="3584575" cy="2762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0"/>
            <a:ext cx="9144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6165850"/>
            <a:ext cx="9144000" cy="719138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6524625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1380780D-8C00-4CCB-85A1-E92E6E7B57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4" name="Picture 13" descr="清大LOGO(圓)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0" y="6181725"/>
            <a:ext cx="684213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4" descr="清大書法字 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755650" y="6237288"/>
            <a:ext cx="2087563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682625" y="6580188"/>
            <a:ext cx="2520950" cy="30480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4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rPr>
              <a:t>National Tsing Hua University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44" r:id="rId1"/>
    <p:sldLayoutId id="2147486845" r:id="rId2"/>
    <p:sldLayoutId id="2147486846" r:id="rId3"/>
    <p:sldLayoutId id="2147486847" r:id="rId4"/>
    <p:sldLayoutId id="2147486848" r:id="rId5"/>
    <p:sldLayoutId id="2147486849" r:id="rId6"/>
    <p:sldLayoutId id="2147486850" r:id="rId7"/>
    <p:sldLayoutId id="2147486851" r:id="rId8"/>
    <p:sldLayoutId id="2147486852" r:id="rId9"/>
    <p:sldLayoutId id="2147486853" r:id="rId10"/>
    <p:sldLayoutId id="2147486854" r:id="rId11"/>
    <p:sldLayoutId id="2147486855" r:id="rId12"/>
    <p:sldLayoutId id="2147486856" r:id="rId13"/>
    <p:sldLayoutId id="2147486857" r:id="rId14"/>
    <p:sldLayoutId id="2147486858" r:id="rId15"/>
    <p:sldLayoutId id="2147486859" r:id="rId1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8D942-9EBA-4C8E-A531-121CDCE47CDD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  <p:sp>
        <p:nvSpPr>
          <p:cNvPr id="8" name="矩形 7"/>
          <p:cNvSpPr/>
          <p:nvPr/>
        </p:nvSpPr>
        <p:spPr>
          <a:xfrm>
            <a:off x="323528" y="1412776"/>
            <a:ext cx="842493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4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Heterogeneous System Architecture (HSA)</a:t>
            </a:r>
            <a:endParaRPr lang="en-US" altLang="zh-TW" sz="4400" dirty="0" smtClean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6000" y="3717032"/>
            <a:ext cx="457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  <a:sym typeface="BiauKai" charset="0"/>
              </a:rPr>
              <a:t>鍾葉青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  <a:sym typeface="BiauKai" charset="0"/>
              </a:rPr>
              <a:t>教授</a:t>
            </a:r>
            <a:endParaRPr lang="en-US" altLang="zh-TW" dirty="0" smtClean="0">
              <a:latin typeface="標楷體" pitchFamily="65" charset="-120"/>
              <a:ea typeface="標楷體" pitchFamily="65" charset="-120"/>
              <a:sym typeface="BiauKai" charset="0"/>
            </a:endParaRPr>
          </a:p>
          <a:p>
            <a:pPr algn="ctr"/>
            <a:endParaRPr lang="zh-TW" altLang="en-US" dirty="0">
              <a:latin typeface="標楷體" pitchFamily="65" charset="-120"/>
              <a:ea typeface="標楷體" pitchFamily="65" charset="-120"/>
              <a:sym typeface="BiauKai" charset="0"/>
            </a:endParaRPr>
          </a:p>
          <a:p>
            <a:pPr algn="ctr"/>
            <a:r>
              <a:rPr lang="en-US" altLang="zh-TW" dirty="0" smtClean="0"/>
              <a:t>System Software Laboratory</a:t>
            </a:r>
          </a:p>
          <a:p>
            <a:pPr algn="ctr"/>
            <a:r>
              <a:rPr lang="en-US" altLang="zh-TW" dirty="0" smtClean="0"/>
              <a:t>Department of Computer science </a:t>
            </a:r>
          </a:p>
          <a:p>
            <a:pPr algn="ctr"/>
            <a:r>
              <a:rPr lang="en-US" altLang="zh-TW" dirty="0" smtClean="0"/>
              <a:t>National </a:t>
            </a:r>
            <a:r>
              <a:rPr lang="en-US" altLang="zh-TW" dirty="0" err="1" smtClean="0"/>
              <a:t>Tsing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Hua</a:t>
            </a:r>
            <a:r>
              <a:rPr lang="en-US" altLang="zh-TW" dirty="0" smtClean="0"/>
              <a:t> University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460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7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 smtClean="0">
                <a:ea typeface="新細明體" charset="-120"/>
              </a:rPr>
              <a:t>Agenda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2663502"/>
          </a:xfrm>
          <a:ln/>
        </p:spPr>
        <p:txBody>
          <a:bodyPr/>
          <a:lstStyle/>
          <a:p>
            <a:pPr marL="570364"/>
            <a:r>
              <a:rPr lang="en-US" altLang="zh-TW" dirty="0" smtClean="0">
                <a:ea typeface="新細明體" charset="-120"/>
              </a:rPr>
              <a:t>Computing Trend</a:t>
            </a:r>
            <a:endParaRPr lang="en-US" altLang="zh-TW" dirty="0">
              <a:ea typeface="新細明體" charset="-120"/>
            </a:endParaRPr>
          </a:p>
          <a:p>
            <a:pPr marL="570364"/>
            <a:r>
              <a:rPr lang="en-US" altLang="zh-TW" dirty="0" smtClean="0">
                <a:ea typeface="新細明體" charset="-120"/>
              </a:rPr>
              <a:t>HSA </a:t>
            </a:r>
          </a:p>
          <a:p>
            <a:pPr marL="570364"/>
            <a:r>
              <a:rPr lang="en-US" altLang="zh-TW" dirty="0" smtClean="0">
                <a:ea typeface="新細明體" charset="-120"/>
              </a:rPr>
              <a:t>Challenges and </a:t>
            </a:r>
            <a:r>
              <a:rPr lang="en-US" altLang="zh-TW" dirty="0" err="1" smtClean="0">
                <a:ea typeface="新細明體" charset="-120"/>
              </a:rPr>
              <a:t>Opportinuty</a:t>
            </a:r>
            <a:endParaRPr lang="en-US" altLang="zh-TW" dirty="0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701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0063" y="0"/>
            <a:ext cx="9929813" cy="693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8" name="Rectangle 2"/>
          <p:cNvSpPr>
            <a:spLocks/>
          </p:cNvSpPr>
          <p:nvPr/>
        </p:nvSpPr>
        <p:spPr bwMode="auto">
          <a:xfrm>
            <a:off x="0" y="5482828"/>
            <a:ext cx="9179719" cy="89296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rgbClr val="000000">
                    <a:alpha val="70000"/>
                  </a:srgbClr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altLang="zh-TW" sz="3400" b="1">
                <a:effectLst>
                  <a:outerShdw blurRad="38100" dist="38100" dir="2700000" algn="tl">
                    <a:srgbClr val="808080"/>
                  </a:outerShdw>
                </a:effectLst>
              </a:rPr>
              <a:t>Computing trend</a:t>
            </a:r>
          </a:p>
        </p:txBody>
      </p:sp>
    </p:spTree>
    <p:extLst>
      <p:ext uri="{BB962C8B-B14F-4D97-AF65-F5344CB8AC3E}">
        <p14:creationId xmlns:p14="http://schemas.microsoft.com/office/powerpoint/2010/main" val="754809306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>
                <a:ea typeface="新細明體" charset="-120"/>
              </a:rPr>
              <a:t>Computing (1)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570364"/>
            <a:r>
              <a:rPr lang="en-US" altLang="zh-TW">
                <a:ea typeface="新細明體" charset="-120"/>
              </a:rPr>
              <a:t>Single Processor</a:t>
            </a:r>
          </a:p>
          <a:p>
            <a:pPr marL="570364"/>
            <a:r>
              <a:rPr lang="en-US" altLang="zh-TW">
                <a:ea typeface="新細明體" charset="-120"/>
              </a:rPr>
              <a:t>SISD </a:t>
            </a:r>
            <a:br>
              <a:rPr lang="en-US" altLang="zh-TW">
                <a:ea typeface="新細明體" charset="-120"/>
              </a:rPr>
            </a:br>
            <a:r>
              <a:rPr lang="en-US" altLang="zh-TW" sz="1700">
                <a:ea typeface="新細明體" charset="-120"/>
              </a:rPr>
              <a:t>(Single Instruction Single Data)</a:t>
            </a:r>
            <a:endParaRPr lang="en-US" altLang="zh-TW">
              <a:ea typeface="新細明體" charset="-120"/>
            </a:endParaRPr>
          </a:p>
          <a:p>
            <a:pPr marL="570364"/>
            <a:r>
              <a:rPr lang="en-US" altLang="zh-TW">
                <a:ea typeface="新細明體" charset="-120"/>
              </a:rPr>
              <a:t>Sequential Program</a:t>
            </a:r>
          </a:p>
        </p:txBody>
      </p:sp>
      <p:sp>
        <p:nvSpPr>
          <p:cNvPr id="26627" name="Rectangle 3"/>
          <p:cNvSpPr>
            <a:spLocks/>
          </p:cNvSpPr>
          <p:nvPr/>
        </p:nvSpPr>
        <p:spPr bwMode="auto">
          <a:xfrm>
            <a:off x="4679156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  <p:sp>
        <p:nvSpPr>
          <p:cNvPr id="26628" name="Rectangle 4"/>
          <p:cNvSpPr>
            <a:spLocks/>
          </p:cNvSpPr>
          <p:nvPr/>
        </p:nvSpPr>
        <p:spPr bwMode="auto">
          <a:xfrm>
            <a:off x="6813352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Memory</a:t>
            </a:r>
          </a:p>
        </p:txBody>
      </p:sp>
      <p:sp>
        <p:nvSpPr>
          <p:cNvPr id="26629" name="Rectangle 5"/>
          <p:cNvSpPr>
            <a:spLocks/>
          </p:cNvSpPr>
          <p:nvPr/>
        </p:nvSpPr>
        <p:spPr bwMode="auto">
          <a:xfrm>
            <a:off x="5866805" y="4455914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IO</a:t>
            </a:r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>
            <a:off x="4375547" y="3955852"/>
            <a:ext cx="4013895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 rot="10800000" flipH="1">
            <a:off x="6511975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 rot="10800000" flipH="1">
            <a:off x="7456289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 rot="10800000" flipH="1">
            <a:off x="5322094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01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>
                <a:ea typeface="新細明體" charset="-120"/>
              </a:rPr>
              <a:t>Computing </a:t>
            </a:r>
            <a:r>
              <a:rPr lang="en-US" altLang="zh-TW" dirty="0" smtClean="0">
                <a:ea typeface="新細明體" charset="-120"/>
              </a:rPr>
              <a:t>(2)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570364"/>
            <a:r>
              <a:rPr lang="en-US" altLang="zh-TW">
                <a:ea typeface="新細明體" charset="-120"/>
              </a:rPr>
              <a:t>Single Processor</a:t>
            </a:r>
          </a:p>
          <a:p>
            <a:pPr marL="570364"/>
            <a:r>
              <a:rPr lang="en-US" altLang="zh-TW">
                <a:ea typeface="新細明體" charset="-120"/>
              </a:rPr>
              <a:t>SIMD </a:t>
            </a:r>
            <a:br>
              <a:rPr lang="en-US" altLang="zh-TW">
                <a:ea typeface="新細明體" charset="-120"/>
              </a:rPr>
            </a:br>
            <a:r>
              <a:rPr lang="en-US" altLang="zh-TW" sz="1700">
                <a:ea typeface="新細明體" charset="-120"/>
              </a:rPr>
              <a:t>(Single Instruction Multiple Data)</a:t>
            </a:r>
            <a:endParaRPr lang="en-US" altLang="zh-TW">
              <a:ea typeface="新細明體" charset="-120"/>
            </a:endParaRPr>
          </a:p>
          <a:p>
            <a:pPr marL="570364"/>
            <a:r>
              <a:rPr lang="en-US" altLang="zh-TW">
                <a:ea typeface="新細明體" charset="-120"/>
              </a:rPr>
              <a:t>Sequential Program</a:t>
            </a:r>
          </a:p>
        </p:txBody>
      </p:sp>
      <p:sp>
        <p:nvSpPr>
          <p:cNvPr id="27651" name="Rectangle 3"/>
          <p:cNvSpPr>
            <a:spLocks/>
          </p:cNvSpPr>
          <p:nvPr/>
        </p:nvSpPr>
        <p:spPr bwMode="auto">
          <a:xfrm>
            <a:off x="4679156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6813352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Memory</a:t>
            </a: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5866805" y="4455914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IO</a:t>
            </a:r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4375547" y="3955852"/>
            <a:ext cx="4013895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rot="10800000" flipH="1">
            <a:off x="6511975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 rot="10800000" flipH="1">
            <a:off x="7456289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 rot="10800000" flipH="1">
            <a:off x="5322094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7658" name="AutoShape 10"/>
          <p:cNvSpPr>
            <a:spLocks/>
          </p:cNvSpPr>
          <p:nvPr/>
        </p:nvSpPr>
        <p:spPr bwMode="auto">
          <a:xfrm>
            <a:off x="5036344" y="3000375"/>
            <a:ext cx="562570" cy="375047"/>
          </a:xfrm>
          <a:prstGeom prst="roundRect">
            <a:avLst>
              <a:gd name="adj" fmla="val 35713"/>
            </a:avLst>
          </a:prstGeom>
          <a:solidFill>
            <a:srgbClr val="D90B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altLang="zh-TW" sz="1300">
                <a:effectLst>
                  <a:outerShdw blurRad="38100" dist="38100" dir="2700000" algn="tl">
                    <a:srgbClr val="000000"/>
                  </a:outerShdw>
                </a:effectLst>
              </a:rPr>
              <a:t>SIMD</a:t>
            </a:r>
          </a:p>
        </p:txBody>
      </p:sp>
    </p:spTree>
    <p:extLst>
      <p:ext uri="{BB962C8B-B14F-4D97-AF65-F5344CB8AC3E}">
        <p14:creationId xmlns:p14="http://schemas.microsoft.com/office/powerpoint/2010/main" val="353829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>
                <a:ea typeface="新細明體" charset="-120"/>
              </a:rPr>
              <a:t>Computing (3)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570364"/>
            <a:r>
              <a:rPr lang="en-US" altLang="zh-TW" dirty="0">
                <a:ea typeface="新細明體" charset="-120"/>
              </a:rPr>
              <a:t>Single Processor</a:t>
            </a:r>
          </a:p>
          <a:p>
            <a:pPr marL="570364"/>
            <a:r>
              <a:rPr lang="en-US" altLang="zh-TW" dirty="0">
                <a:ea typeface="新細明體" charset="-120"/>
              </a:rPr>
              <a:t>S</a:t>
            </a:r>
            <a:r>
              <a:rPr lang="en-US" altLang="zh-TW" dirty="0" smtClean="0">
                <a:ea typeface="新細明體" charset="-120"/>
              </a:rPr>
              <a:t>IMT </a:t>
            </a:r>
            <a:r>
              <a:rPr lang="en-US" altLang="zh-TW" dirty="0">
                <a:ea typeface="新細明體" charset="-120"/>
              </a:rPr>
              <a:t/>
            </a:r>
            <a:br>
              <a:rPr lang="en-US" altLang="zh-TW" dirty="0">
                <a:ea typeface="新細明體" charset="-120"/>
              </a:rPr>
            </a:br>
            <a:r>
              <a:rPr lang="en-US" altLang="zh-TW" sz="1700" dirty="0" smtClean="0">
                <a:ea typeface="新細明體" charset="-120"/>
              </a:rPr>
              <a:t>(Single Instruction </a:t>
            </a:r>
            <a:r>
              <a:rPr lang="en-US" altLang="zh-TW" sz="1700" dirty="0">
                <a:ea typeface="新細明體" charset="-120"/>
              </a:rPr>
              <a:t>Multiple Threads)</a:t>
            </a:r>
            <a:endParaRPr lang="en-US" altLang="zh-TW" dirty="0">
              <a:ea typeface="新細明體" charset="-120"/>
            </a:endParaRPr>
          </a:p>
          <a:p>
            <a:pPr marL="570364"/>
            <a:r>
              <a:rPr lang="en-US" altLang="zh-TW" dirty="0">
                <a:ea typeface="新細明體" charset="-120"/>
              </a:rPr>
              <a:t>Sequential Program</a:t>
            </a:r>
          </a:p>
        </p:txBody>
      </p:sp>
      <p:sp>
        <p:nvSpPr>
          <p:cNvPr id="28675" name="Rectangle 3"/>
          <p:cNvSpPr>
            <a:spLocks/>
          </p:cNvSpPr>
          <p:nvPr/>
        </p:nvSpPr>
        <p:spPr bwMode="auto">
          <a:xfrm>
            <a:off x="4679156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  <p:sp>
        <p:nvSpPr>
          <p:cNvPr id="28676" name="Rectangle 4"/>
          <p:cNvSpPr>
            <a:spLocks/>
          </p:cNvSpPr>
          <p:nvPr/>
        </p:nvSpPr>
        <p:spPr bwMode="auto">
          <a:xfrm>
            <a:off x="6813352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Memory</a:t>
            </a:r>
          </a:p>
        </p:txBody>
      </p:sp>
      <p:sp>
        <p:nvSpPr>
          <p:cNvPr id="28677" name="Rectangle 5"/>
          <p:cNvSpPr>
            <a:spLocks/>
          </p:cNvSpPr>
          <p:nvPr/>
        </p:nvSpPr>
        <p:spPr bwMode="auto">
          <a:xfrm>
            <a:off x="5866805" y="4455914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IO</a:t>
            </a:r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>
            <a:off x="4375547" y="3955852"/>
            <a:ext cx="4013895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 rot="10800000" flipH="1">
            <a:off x="6511975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 rot="10800000" flipH="1">
            <a:off x="7456289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 rot="10800000" flipH="1">
            <a:off x="5322094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8682" name="AutoShape 10"/>
          <p:cNvSpPr>
            <a:spLocks/>
          </p:cNvSpPr>
          <p:nvPr/>
        </p:nvSpPr>
        <p:spPr bwMode="auto">
          <a:xfrm>
            <a:off x="4741664" y="3018234"/>
            <a:ext cx="562570" cy="375047"/>
          </a:xfrm>
          <a:prstGeom prst="roundRect">
            <a:avLst>
              <a:gd name="adj" fmla="val 35713"/>
            </a:avLst>
          </a:prstGeom>
          <a:solidFill>
            <a:srgbClr val="D90B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altLang="zh-TW" sz="1300">
                <a:effectLst>
                  <a:outerShdw blurRad="38100" dist="38100" dir="2700000" algn="tl">
                    <a:srgbClr val="000000"/>
                  </a:outerShdw>
                </a:effectLst>
              </a:rPr>
              <a:t>SIMD</a:t>
            </a:r>
          </a:p>
        </p:txBody>
      </p:sp>
      <p:sp>
        <p:nvSpPr>
          <p:cNvPr id="28683" name="AutoShape 11"/>
          <p:cNvSpPr>
            <a:spLocks/>
          </p:cNvSpPr>
          <p:nvPr/>
        </p:nvSpPr>
        <p:spPr bwMode="auto">
          <a:xfrm>
            <a:off x="5339953" y="3018234"/>
            <a:ext cx="562570" cy="375047"/>
          </a:xfrm>
          <a:prstGeom prst="roundRect">
            <a:avLst>
              <a:gd name="adj" fmla="val 35713"/>
            </a:avLst>
          </a:prstGeom>
          <a:solidFill>
            <a:srgbClr val="D90B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altLang="zh-TW" sz="13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altLang="zh-TW" sz="13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IMT</a:t>
            </a:r>
            <a:endParaRPr lang="en-US" altLang="zh-TW" sz="13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868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>
                <a:ea typeface="新細明體" charset="-120"/>
              </a:rPr>
              <a:t>Computing (4)</a:t>
            </a:r>
          </a:p>
        </p:txBody>
      </p:sp>
      <p:sp>
        <p:nvSpPr>
          <p:cNvPr id="29698" name="Rectangle 2"/>
          <p:cNvSpPr>
            <a:spLocks/>
          </p:cNvSpPr>
          <p:nvPr/>
        </p:nvSpPr>
        <p:spPr bwMode="auto">
          <a:xfrm>
            <a:off x="4848820" y="1964531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570364"/>
            <a:r>
              <a:rPr lang="en-US" altLang="zh-TW" dirty="0">
                <a:ea typeface="新細明體" charset="-120"/>
              </a:rPr>
              <a:t>Multi-Processors</a:t>
            </a:r>
          </a:p>
          <a:p>
            <a:pPr marL="570364"/>
            <a:r>
              <a:rPr lang="en-US" altLang="zh-TW" dirty="0">
                <a:ea typeface="新細明體" charset="-120"/>
              </a:rPr>
              <a:t>S</a:t>
            </a:r>
            <a:r>
              <a:rPr lang="en-US" altLang="zh-TW" dirty="0" smtClean="0">
                <a:ea typeface="新細明體" charset="-120"/>
              </a:rPr>
              <a:t>IMT </a:t>
            </a:r>
            <a:br>
              <a:rPr lang="en-US" altLang="zh-TW" dirty="0" smtClean="0">
                <a:ea typeface="新細明體" charset="-120"/>
              </a:rPr>
            </a:br>
            <a:r>
              <a:rPr lang="en-US" altLang="zh-TW" sz="1700" dirty="0" smtClean="0">
                <a:ea typeface="新細明體" charset="-120"/>
              </a:rPr>
              <a:t>(Single Instruction Multiple Threads)</a:t>
            </a:r>
            <a:endParaRPr lang="en-US" altLang="zh-TW" dirty="0">
              <a:ea typeface="新細明體" charset="-120"/>
            </a:endParaRPr>
          </a:p>
          <a:p>
            <a:pPr marL="570364"/>
            <a:r>
              <a:rPr lang="en-US" altLang="zh-TW" dirty="0">
                <a:ea typeface="新細明體" charset="-120"/>
              </a:rPr>
              <a:t>Parallel Program</a:t>
            </a:r>
          </a:p>
        </p:txBody>
      </p:sp>
      <p:sp>
        <p:nvSpPr>
          <p:cNvPr id="29700" name="Rectangle 4"/>
          <p:cNvSpPr>
            <a:spLocks/>
          </p:cNvSpPr>
          <p:nvPr/>
        </p:nvSpPr>
        <p:spPr bwMode="auto">
          <a:xfrm>
            <a:off x="4679156" y="2143125"/>
            <a:ext cx="1285875" cy="1312664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  <p:sp>
        <p:nvSpPr>
          <p:cNvPr id="29701" name="Rectangle 5"/>
          <p:cNvSpPr>
            <a:spLocks/>
          </p:cNvSpPr>
          <p:nvPr/>
        </p:nvSpPr>
        <p:spPr bwMode="auto">
          <a:xfrm>
            <a:off x="6813352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Memory</a:t>
            </a:r>
          </a:p>
        </p:txBody>
      </p:sp>
      <p:sp>
        <p:nvSpPr>
          <p:cNvPr id="29702" name="Rectangle 6"/>
          <p:cNvSpPr>
            <a:spLocks/>
          </p:cNvSpPr>
          <p:nvPr/>
        </p:nvSpPr>
        <p:spPr bwMode="auto">
          <a:xfrm>
            <a:off x="5866805" y="4455914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IO</a:t>
            </a:r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>
            <a:off x="4375547" y="3955852"/>
            <a:ext cx="4013895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 rot="10800000" flipH="1">
            <a:off x="6511975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 rot="10800000" flipH="1">
            <a:off x="7456289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9706" name="Line 10"/>
          <p:cNvSpPr>
            <a:spLocks noChangeShapeType="1"/>
          </p:cNvSpPr>
          <p:nvPr/>
        </p:nvSpPr>
        <p:spPr bwMode="auto">
          <a:xfrm rot="10800000" flipH="1">
            <a:off x="5322094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29707" name="AutoShape 11"/>
          <p:cNvSpPr>
            <a:spLocks/>
          </p:cNvSpPr>
          <p:nvPr/>
        </p:nvSpPr>
        <p:spPr bwMode="auto">
          <a:xfrm>
            <a:off x="4741664" y="3018234"/>
            <a:ext cx="562570" cy="375047"/>
          </a:xfrm>
          <a:prstGeom prst="roundRect">
            <a:avLst>
              <a:gd name="adj" fmla="val 35713"/>
            </a:avLst>
          </a:prstGeom>
          <a:solidFill>
            <a:srgbClr val="D90B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altLang="zh-TW" sz="1300">
                <a:effectLst>
                  <a:outerShdw blurRad="38100" dist="38100" dir="2700000" algn="tl">
                    <a:srgbClr val="000000"/>
                  </a:outerShdw>
                </a:effectLst>
              </a:rPr>
              <a:t>SIMD</a:t>
            </a:r>
          </a:p>
        </p:txBody>
      </p:sp>
      <p:sp>
        <p:nvSpPr>
          <p:cNvPr id="29708" name="AutoShape 12"/>
          <p:cNvSpPr>
            <a:spLocks/>
          </p:cNvSpPr>
          <p:nvPr/>
        </p:nvSpPr>
        <p:spPr bwMode="auto">
          <a:xfrm>
            <a:off x="5339953" y="3018234"/>
            <a:ext cx="562570" cy="375047"/>
          </a:xfrm>
          <a:prstGeom prst="roundRect">
            <a:avLst>
              <a:gd name="adj" fmla="val 35713"/>
            </a:avLst>
          </a:prstGeom>
          <a:solidFill>
            <a:srgbClr val="D90B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altLang="zh-TW" sz="13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SIMT</a:t>
            </a:r>
            <a:endParaRPr lang="en-US" altLang="zh-TW" sz="13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829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>
                <a:ea typeface="新細明體" charset="-120"/>
              </a:rPr>
              <a:t>Computing (5)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570364"/>
            <a:r>
              <a:rPr lang="en-US" altLang="zh-TW" dirty="0">
                <a:ea typeface="新細明體" charset="-120"/>
              </a:rPr>
              <a:t>Multi-core Processor</a:t>
            </a:r>
          </a:p>
          <a:p>
            <a:pPr marL="570364"/>
            <a:r>
              <a:rPr lang="en-US" altLang="zh-TW" dirty="0" smtClean="0">
                <a:ea typeface="新細明體" charset="-120"/>
              </a:rPr>
              <a:t>Parallel </a:t>
            </a:r>
            <a:r>
              <a:rPr lang="en-US" altLang="zh-TW" dirty="0">
                <a:ea typeface="新細明體" charset="-120"/>
              </a:rPr>
              <a:t>Program</a:t>
            </a:r>
          </a:p>
        </p:txBody>
      </p:sp>
      <p:sp>
        <p:nvSpPr>
          <p:cNvPr id="30723" name="Rectangle 3"/>
          <p:cNvSpPr>
            <a:spLocks/>
          </p:cNvSpPr>
          <p:nvPr/>
        </p:nvSpPr>
        <p:spPr bwMode="auto">
          <a:xfrm>
            <a:off x="4679156" y="2143125"/>
            <a:ext cx="1285875" cy="1312664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0724" name="Rectangle 4"/>
          <p:cNvSpPr>
            <a:spLocks/>
          </p:cNvSpPr>
          <p:nvPr/>
        </p:nvSpPr>
        <p:spPr bwMode="auto">
          <a:xfrm>
            <a:off x="6813352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Memory</a:t>
            </a:r>
          </a:p>
        </p:txBody>
      </p:sp>
      <p:sp>
        <p:nvSpPr>
          <p:cNvPr id="30725" name="Rectangle 5"/>
          <p:cNvSpPr>
            <a:spLocks/>
          </p:cNvSpPr>
          <p:nvPr/>
        </p:nvSpPr>
        <p:spPr bwMode="auto">
          <a:xfrm>
            <a:off x="5866805" y="4455914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IO</a:t>
            </a:r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>
            <a:off x="4375547" y="3955852"/>
            <a:ext cx="4013895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 rot="10800000" flipH="1">
            <a:off x="6511975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 rot="10800000" flipH="1">
            <a:off x="7456289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 rot="10800000" flipH="1">
            <a:off x="5322094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0730" name="Rectangle 10"/>
          <p:cNvSpPr>
            <a:spLocks/>
          </p:cNvSpPr>
          <p:nvPr/>
        </p:nvSpPr>
        <p:spPr bwMode="auto">
          <a:xfrm>
            <a:off x="4679156" y="2143125"/>
            <a:ext cx="634008" cy="6607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  <p:sp>
        <p:nvSpPr>
          <p:cNvPr id="30731" name="Rectangle 11"/>
          <p:cNvSpPr>
            <a:spLocks/>
          </p:cNvSpPr>
          <p:nvPr/>
        </p:nvSpPr>
        <p:spPr bwMode="auto">
          <a:xfrm>
            <a:off x="4679156" y="2794992"/>
            <a:ext cx="634008" cy="6607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  <p:sp>
        <p:nvSpPr>
          <p:cNvPr id="30732" name="Rectangle 12"/>
          <p:cNvSpPr>
            <a:spLocks/>
          </p:cNvSpPr>
          <p:nvPr/>
        </p:nvSpPr>
        <p:spPr bwMode="auto">
          <a:xfrm>
            <a:off x="5322094" y="2143125"/>
            <a:ext cx="634008" cy="6607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  <p:sp>
        <p:nvSpPr>
          <p:cNvPr id="30733" name="Rectangle 13"/>
          <p:cNvSpPr>
            <a:spLocks/>
          </p:cNvSpPr>
          <p:nvPr/>
        </p:nvSpPr>
        <p:spPr bwMode="auto">
          <a:xfrm>
            <a:off x="5313164" y="2794992"/>
            <a:ext cx="634008" cy="6607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243128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>
                <a:ea typeface="新細明體" charset="-120"/>
              </a:rPr>
              <a:t>Computing (6)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570364"/>
            <a:r>
              <a:rPr lang="en-US" altLang="zh-TW" dirty="0">
                <a:ea typeface="新細明體" charset="-120"/>
              </a:rPr>
              <a:t>Multi-core Processor</a:t>
            </a:r>
          </a:p>
          <a:p>
            <a:pPr marL="570364"/>
            <a:r>
              <a:rPr lang="en-US" altLang="zh-TW" dirty="0">
                <a:ea typeface="新細明體" charset="-120"/>
              </a:rPr>
              <a:t>GPU</a:t>
            </a:r>
          </a:p>
          <a:p>
            <a:pPr marL="570364"/>
            <a:r>
              <a:rPr lang="en-US" altLang="zh-TW" dirty="0" smtClean="0">
                <a:ea typeface="新細明體" charset="-120"/>
              </a:rPr>
              <a:t>Parallel </a:t>
            </a:r>
            <a:r>
              <a:rPr lang="en-US" altLang="zh-TW" dirty="0">
                <a:ea typeface="新細明體" charset="-120"/>
              </a:rPr>
              <a:t>Program </a:t>
            </a:r>
            <a:r>
              <a:rPr lang="en-US" altLang="zh-TW" dirty="0" smtClean="0">
                <a:ea typeface="新細明體" charset="-120"/>
              </a:rPr>
              <a:t/>
            </a:r>
            <a:br>
              <a:rPr lang="en-US" altLang="zh-TW" dirty="0" smtClean="0">
                <a:ea typeface="新細明體" charset="-120"/>
              </a:rPr>
            </a:br>
            <a:r>
              <a:rPr lang="en-US" altLang="zh-TW" dirty="0" smtClean="0">
                <a:ea typeface="新細明體" charset="-120"/>
              </a:rPr>
              <a:t>+ </a:t>
            </a:r>
            <a:r>
              <a:rPr lang="en-US" altLang="zh-TW" dirty="0">
                <a:ea typeface="新細明體" charset="-120"/>
              </a:rPr>
              <a:t>Kernel Program</a:t>
            </a:r>
          </a:p>
        </p:txBody>
      </p:sp>
      <p:sp>
        <p:nvSpPr>
          <p:cNvPr id="31747" name="Rectangle 3"/>
          <p:cNvSpPr>
            <a:spLocks/>
          </p:cNvSpPr>
          <p:nvPr/>
        </p:nvSpPr>
        <p:spPr bwMode="auto">
          <a:xfrm>
            <a:off x="4679156" y="2143125"/>
            <a:ext cx="1285875" cy="1312664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1748" name="Rectangle 4"/>
          <p:cNvSpPr>
            <a:spLocks/>
          </p:cNvSpPr>
          <p:nvPr/>
        </p:nvSpPr>
        <p:spPr bwMode="auto">
          <a:xfrm>
            <a:off x="6813352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Memory</a:t>
            </a:r>
          </a:p>
        </p:txBody>
      </p:sp>
      <p:sp>
        <p:nvSpPr>
          <p:cNvPr id="31749" name="Rectangle 5"/>
          <p:cNvSpPr>
            <a:spLocks/>
          </p:cNvSpPr>
          <p:nvPr/>
        </p:nvSpPr>
        <p:spPr bwMode="auto">
          <a:xfrm>
            <a:off x="6509742" y="4455914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IO</a:t>
            </a:r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>
            <a:off x="4375547" y="3955852"/>
            <a:ext cx="4013895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 rot="10800000" flipH="1">
            <a:off x="7154912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 rot="10800000" flipH="1">
            <a:off x="7456289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 rot="10800000" flipH="1">
            <a:off x="5322094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1754" name="Rectangle 10"/>
          <p:cNvSpPr>
            <a:spLocks/>
          </p:cNvSpPr>
          <p:nvPr/>
        </p:nvSpPr>
        <p:spPr bwMode="auto">
          <a:xfrm>
            <a:off x="4679156" y="2143125"/>
            <a:ext cx="634008" cy="6607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  <p:sp>
        <p:nvSpPr>
          <p:cNvPr id="31755" name="Rectangle 11"/>
          <p:cNvSpPr>
            <a:spLocks/>
          </p:cNvSpPr>
          <p:nvPr/>
        </p:nvSpPr>
        <p:spPr bwMode="auto">
          <a:xfrm>
            <a:off x="4679156" y="2794992"/>
            <a:ext cx="634008" cy="6607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  <p:sp>
        <p:nvSpPr>
          <p:cNvPr id="31756" name="Rectangle 12"/>
          <p:cNvSpPr>
            <a:spLocks/>
          </p:cNvSpPr>
          <p:nvPr/>
        </p:nvSpPr>
        <p:spPr bwMode="auto">
          <a:xfrm>
            <a:off x="5322094" y="2143125"/>
            <a:ext cx="634008" cy="6607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  <p:sp>
        <p:nvSpPr>
          <p:cNvPr id="31757" name="Rectangle 13"/>
          <p:cNvSpPr>
            <a:spLocks/>
          </p:cNvSpPr>
          <p:nvPr/>
        </p:nvSpPr>
        <p:spPr bwMode="auto">
          <a:xfrm>
            <a:off x="5313164" y="2794992"/>
            <a:ext cx="634008" cy="6607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808080"/>
                  </a:outerShdw>
                </a:effectLst>
              </a:rPr>
              <a:t>CPU</a:t>
            </a:r>
          </a:p>
        </p:txBody>
      </p:sp>
      <p:sp>
        <p:nvSpPr>
          <p:cNvPr id="31758" name="Rectangle 14"/>
          <p:cNvSpPr>
            <a:spLocks/>
          </p:cNvSpPr>
          <p:nvPr/>
        </p:nvSpPr>
        <p:spPr bwMode="auto">
          <a:xfrm>
            <a:off x="4822031" y="4455914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GPU</a:t>
            </a:r>
          </a:p>
        </p:txBody>
      </p:sp>
      <p:sp>
        <p:nvSpPr>
          <p:cNvPr id="31759" name="Line 15"/>
          <p:cNvSpPr>
            <a:spLocks noChangeShapeType="1"/>
          </p:cNvSpPr>
          <p:nvPr/>
        </p:nvSpPr>
        <p:spPr bwMode="auto">
          <a:xfrm rot="10800000" flipH="1">
            <a:off x="5464969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022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>
                <a:ea typeface="新細明體" charset="-120"/>
              </a:rPr>
              <a:t>Computing (7)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570364"/>
            <a:r>
              <a:rPr lang="en-US" altLang="zh-TW" dirty="0">
                <a:ea typeface="新細明體" charset="-120"/>
              </a:rPr>
              <a:t>APU</a:t>
            </a:r>
          </a:p>
          <a:p>
            <a:pPr marL="570364"/>
            <a:r>
              <a:rPr lang="en-US" altLang="zh-TW" dirty="0" smtClean="0">
                <a:ea typeface="新細明體" charset="-120"/>
              </a:rPr>
              <a:t>Parallel </a:t>
            </a:r>
            <a:r>
              <a:rPr lang="en-US" altLang="zh-TW" dirty="0">
                <a:ea typeface="新細明體" charset="-120"/>
              </a:rPr>
              <a:t>Program </a:t>
            </a:r>
            <a:r>
              <a:rPr lang="en-US" altLang="zh-TW" dirty="0" smtClean="0">
                <a:ea typeface="新細明體" charset="-120"/>
              </a:rPr>
              <a:t/>
            </a:r>
            <a:br>
              <a:rPr lang="en-US" altLang="zh-TW" dirty="0" smtClean="0">
                <a:ea typeface="新細明體" charset="-120"/>
              </a:rPr>
            </a:br>
            <a:r>
              <a:rPr lang="en-US" altLang="zh-TW" dirty="0" smtClean="0">
                <a:ea typeface="新細明體" charset="-120"/>
              </a:rPr>
              <a:t>+ </a:t>
            </a:r>
            <a:r>
              <a:rPr lang="en-US" altLang="zh-TW" dirty="0">
                <a:ea typeface="新細明體" charset="-120"/>
              </a:rPr>
              <a:t>Kernel Program</a:t>
            </a:r>
          </a:p>
        </p:txBody>
      </p:sp>
      <p:sp>
        <p:nvSpPr>
          <p:cNvPr id="32771" name="Rectangle 3"/>
          <p:cNvSpPr>
            <a:spLocks/>
          </p:cNvSpPr>
          <p:nvPr/>
        </p:nvSpPr>
        <p:spPr bwMode="auto">
          <a:xfrm>
            <a:off x="4679156" y="2143125"/>
            <a:ext cx="1285875" cy="1312664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2772" name="Rectangle 4"/>
          <p:cNvSpPr>
            <a:spLocks/>
          </p:cNvSpPr>
          <p:nvPr/>
        </p:nvSpPr>
        <p:spPr bwMode="auto">
          <a:xfrm>
            <a:off x="6813352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Memory</a:t>
            </a:r>
          </a:p>
        </p:txBody>
      </p:sp>
      <p:sp>
        <p:nvSpPr>
          <p:cNvPr id="32773" name="Rectangle 5"/>
          <p:cNvSpPr>
            <a:spLocks/>
          </p:cNvSpPr>
          <p:nvPr/>
        </p:nvSpPr>
        <p:spPr bwMode="auto">
          <a:xfrm>
            <a:off x="6509742" y="4455914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IO</a:t>
            </a:r>
          </a:p>
        </p:txBody>
      </p:sp>
      <p:sp>
        <p:nvSpPr>
          <p:cNvPr id="32774" name="Line 6"/>
          <p:cNvSpPr>
            <a:spLocks noChangeShapeType="1"/>
          </p:cNvSpPr>
          <p:nvPr/>
        </p:nvSpPr>
        <p:spPr bwMode="auto">
          <a:xfrm>
            <a:off x="4375547" y="3955852"/>
            <a:ext cx="4013895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 rot="10800000" flipH="1">
            <a:off x="7154912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 rot="10800000" flipH="1">
            <a:off x="7456289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 rot="10800000" flipH="1">
            <a:off x="5322094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2778" name="Rectangle 10"/>
          <p:cNvSpPr>
            <a:spLocks/>
          </p:cNvSpPr>
          <p:nvPr/>
        </p:nvSpPr>
        <p:spPr bwMode="auto">
          <a:xfrm>
            <a:off x="4679156" y="2143125"/>
            <a:ext cx="634008" cy="660797"/>
          </a:xfrm>
          <a:prstGeom prst="rect">
            <a:avLst/>
          </a:prstGeom>
          <a:solidFill>
            <a:srgbClr val="2E6FF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CPU</a:t>
            </a:r>
          </a:p>
        </p:txBody>
      </p:sp>
      <p:sp>
        <p:nvSpPr>
          <p:cNvPr id="32779" name="Rectangle 11"/>
          <p:cNvSpPr>
            <a:spLocks/>
          </p:cNvSpPr>
          <p:nvPr/>
        </p:nvSpPr>
        <p:spPr bwMode="auto">
          <a:xfrm>
            <a:off x="4679156" y="2794992"/>
            <a:ext cx="634008" cy="660797"/>
          </a:xfrm>
          <a:prstGeom prst="rect">
            <a:avLst/>
          </a:prstGeom>
          <a:solidFill>
            <a:srgbClr val="2E6FF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CPU</a:t>
            </a:r>
          </a:p>
        </p:txBody>
      </p:sp>
      <p:sp>
        <p:nvSpPr>
          <p:cNvPr id="32780" name="Rectangle 12"/>
          <p:cNvSpPr>
            <a:spLocks/>
          </p:cNvSpPr>
          <p:nvPr/>
        </p:nvSpPr>
        <p:spPr bwMode="auto">
          <a:xfrm>
            <a:off x="5322094" y="2143125"/>
            <a:ext cx="634008" cy="660797"/>
          </a:xfrm>
          <a:prstGeom prst="rect">
            <a:avLst/>
          </a:prstGeom>
          <a:solidFill>
            <a:srgbClr val="D90B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GPU</a:t>
            </a:r>
          </a:p>
        </p:txBody>
      </p:sp>
      <p:sp>
        <p:nvSpPr>
          <p:cNvPr id="32781" name="Rectangle 13"/>
          <p:cNvSpPr>
            <a:spLocks/>
          </p:cNvSpPr>
          <p:nvPr/>
        </p:nvSpPr>
        <p:spPr bwMode="auto">
          <a:xfrm>
            <a:off x="5313164" y="2794992"/>
            <a:ext cx="634008" cy="660797"/>
          </a:xfrm>
          <a:prstGeom prst="rect">
            <a:avLst/>
          </a:prstGeom>
          <a:solidFill>
            <a:srgbClr val="D90B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GPU</a:t>
            </a:r>
          </a:p>
        </p:txBody>
      </p:sp>
    </p:spTree>
    <p:extLst>
      <p:ext uri="{BB962C8B-B14F-4D97-AF65-F5344CB8AC3E}">
        <p14:creationId xmlns:p14="http://schemas.microsoft.com/office/powerpoint/2010/main" val="109556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>
                <a:ea typeface="新細明體" charset="-120"/>
              </a:rPr>
              <a:t>Computing (8)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570364"/>
            <a:r>
              <a:rPr lang="en-US" altLang="zh-TW" dirty="0">
                <a:ea typeface="新細明體" charset="-120"/>
              </a:rPr>
              <a:t>APU with </a:t>
            </a:r>
            <a:r>
              <a:rPr lang="en-US" altLang="zh-TW" dirty="0" err="1">
                <a:ea typeface="新細明體" charset="-120"/>
              </a:rPr>
              <a:t>big.LITTLE</a:t>
            </a:r>
            <a:endParaRPr lang="en-US" altLang="zh-TW" dirty="0">
              <a:ea typeface="新細明體" charset="-120"/>
            </a:endParaRPr>
          </a:p>
          <a:p>
            <a:pPr marL="570364"/>
            <a:r>
              <a:rPr lang="en-US" altLang="zh-TW" dirty="0">
                <a:ea typeface="新細明體" charset="-120"/>
              </a:rPr>
              <a:t>MIMT + SPMD</a:t>
            </a:r>
          </a:p>
          <a:p>
            <a:pPr marL="570364"/>
            <a:r>
              <a:rPr lang="en-US" altLang="zh-TW" dirty="0">
                <a:ea typeface="新細明體" charset="-120"/>
              </a:rPr>
              <a:t>Parallel Program </a:t>
            </a:r>
            <a:r>
              <a:rPr lang="en-US" altLang="zh-TW" dirty="0" smtClean="0">
                <a:ea typeface="新細明體" charset="-120"/>
              </a:rPr>
              <a:t/>
            </a:r>
            <a:br>
              <a:rPr lang="en-US" altLang="zh-TW" dirty="0" smtClean="0">
                <a:ea typeface="新細明體" charset="-120"/>
              </a:rPr>
            </a:br>
            <a:r>
              <a:rPr lang="en-US" altLang="zh-TW" dirty="0" smtClean="0">
                <a:ea typeface="新細明體" charset="-120"/>
              </a:rPr>
              <a:t>+ </a:t>
            </a:r>
            <a:r>
              <a:rPr lang="en-US" altLang="zh-TW" dirty="0">
                <a:ea typeface="新細明體" charset="-120"/>
              </a:rPr>
              <a:t>Kernel Program</a:t>
            </a:r>
          </a:p>
        </p:txBody>
      </p:sp>
      <p:sp>
        <p:nvSpPr>
          <p:cNvPr id="33795" name="Rectangle 3"/>
          <p:cNvSpPr>
            <a:spLocks/>
          </p:cNvSpPr>
          <p:nvPr/>
        </p:nvSpPr>
        <p:spPr bwMode="auto">
          <a:xfrm>
            <a:off x="4679156" y="2143125"/>
            <a:ext cx="1285875" cy="1312664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3796" name="Rectangle 4"/>
          <p:cNvSpPr>
            <a:spLocks/>
          </p:cNvSpPr>
          <p:nvPr/>
        </p:nvSpPr>
        <p:spPr bwMode="auto">
          <a:xfrm>
            <a:off x="6813352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Memory</a:t>
            </a:r>
          </a:p>
        </p:txBody>
      </p:sp>
      <p:sp>
        <p:nvSpPr>
          <p:cNvPr id="33797" name="Rectangle 5"/>
          <p:cNvSpPr>
            <a:spLocks/>
          </p:cNvSpPr>
          <p:nvPr/>
        </p:nvSpPr>
        <p:spPr bwMode="auto">
          <a:xfrm>
            <a:off x="6509742" y="4455914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IO</a:t>
            </a:r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>
            <a:off x="4375547" y="3955852"/>
            <a:ext cx="4013895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 rot="10800000" flipH="1">
            <a:off x="7154912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 rot="10800000" flipH="1">
            <a:off x="7456289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 rot="10800000" flipH="1">
            <a:off x="5322094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3802" name="Rectangle 10"/>
          <p:cNvSpPr>
            <a:spLocks/>
          </p:cNvSpPr>
          <p:nvPr/>
        </p:nvSpPr>
        <p:spPr bwMode="auto">
          <a:xfrm>
            <a:off x="4679156" y="2143125"/>
            <a:ext cx="634008" cy="660797"/>
          </a:xfrm>
          <a:prstGeom prst="rect">
            <a:avLst/>
          </a:prstGeom>
          <a:solidFill>
            <a:srgbClr val="2E6FF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CPU</a:t>
            </a:r>
          </a:p>
          <a:p>
            <a:pPr algn="ctr"/>
            <a:r>
              <a:rPr lang="en-US" altLang="zh-TW" sz="13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(Big)</a:t>
            </a:r>
          </a:p>
        </p:txBody>
      </p:sp>
      <p:sp>
        <p:nvSpPr>
          <p:cNvPr id="33803" name="Rectangle 11"/>
          <p:cNvSpPr>
            <a:spLocks/>
          </p:cNvSpPr>
          <p:nvPr/>
        </p:nvSpPr>
        <p:spPr bwMode="auto">
          <a:xfrm>
            <a:off x="4679156" y="2794992"/>
            <a:ext cx="634008" cy="660797"/>
          </a:xfrm>
          <a:prstGeom prst="rect">
            <a:avLst/>
          </a:prstGeom>
          <a:solidFill>
            <a:srgbClr val="A3D979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CPU</a:t>
            </a:r>
          </a:p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altLang="zh-TW" sz="1000" b="1">
                <a:effectLst>
                  <a:outerShdw blurRad="38100" dist="38100" dir="2700000" algn="tl">
                    <a:srgbClr val="000000"/>
                  </a:outerShdw>
                </a:effectLst>
              </a:rPr>
              <a:t>Little</a:t>
            </a:r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</p:txBody>
      </p:sp>
      <p:sp>
        <p:nvSpPr>
          <p:cNvPr id="33804" name="Rectangle 12"/>
          <p:cNvSpPr>
            <a:spLocks/>
          </p:cNvSpPr>
          <p:nvPr/>
        </p:nvSpPr>
        <p:spPr bwMode="auto">
          <a:xfrm>
            <a:off x="5322094" y="2143125"/>
            <a:ext cx="634008" cy="660797"/>
          </a:xfrm>
          <a:prstGeom prst="rect">
            <a:avLst/>
          </a:prstGeom>
          <a:solidFill>
            <a:srgbClr val="D90B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GPU</a:t>
            </a:r>
          </a:p>
        </p:txBody>
      </p:sp>
      <p:sp>
        <p:nvSpPr>
          <p:cNvPr id="33805" name="Rectangle 13"/>
          <p:cNvSpPr>
            <a:spLocks/>
          </p:cNvSpPr>
          <p:nvPr/>
        </p:nvSpPr>
        <p:spPr bwMode="auto">
          <a:xfrm>
            <a:off x="5313164" y="2794992"/>
            <a:ext cx="634008" cy="660797"/>
          </a:xfrm>
          <a:prstGeom prst="rect">
            <a:avLst/>
          </a:prstGeom>
          <a:solidFill>
            <a:srgbClr val="D90B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GPU</a:t>
            </a:r>
          </a:p>
        </p:txBody>
      </p:sp>
    </p:spTree>
    <p:extLst>
      <p:ext uri="{BB962C8B-B14F-4D97-AF65-F5344CB8AC3E}">
        <p14:creationId xmlns:p14="http://schemas.microsoft.com/office/powerpoint/2010/main" val="407515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>
                <a:ea typeface="新細明體" charset="-120"/>
              </a:rPr>
              <a:t>Computing (9)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570364"/>
            <a:r>
              <a:rPr lang="en-US" altLang="zh-TW" dirty="0">
                <a:ea typeface="新細明體" charset="-120"/>
              </a:rPr>
              <a:t>APU with </a:t>
            </a:r>
            <a:r>
              <a:rPr lang="en-US" altLang="zh-TW" dirty="0" err="1">
                <a:ea typeface="新細明體" charset="-120"/>
              </a:rPr>
              <a:t>big.LITTLE</a:t>
            </a:r>
            <a:endParaRPr lang="en-US" altLang="zh-TW" dirty="0">
              <a:ea typeface="新細明體" charset="-120"/>
            </a:endParaRPr>
          </a:p>
          <a:p>
            <a:pPr marL="570364"/>
            <a:r>
              <a:rPr lang="en-US" altLang="zh-TW" dirty="0">
                <a:ea typeface="新細明體" charset="-120"/>
              </a:rPr>
              <a:t>DSP &amp; ASIC</a:t>
            </a:r>
          </a:p>
          <a:p>
            <a:pPr marL="570364"/>
            <a:r>
              <a:rPr lang="en-US" altLang="zh-TW" dirty="0">
                <a:ea typeface="新細明體" charset="-120"/>
              </a:rPr>
              <a:t>MIMT + SPMD</a:t>
            </a:r>
          </a:p>
          <a:p>
            <a:pPr marL="570364"/>
            <a:r>
              <a:rPr lang="en-US" altLang="zh-TW" dirty="0">
                <a:ea typeface="新細明體" charset="-120"/>
              </a:rPr>
              <a:t>Parallel Program </a:t>
            </a:r>
            <a:r>
              <a:rPr lang="en-US" altLang="zh-TW" dirty="0" smtClean="0">
                <a:ea typeface="新細明體" charset="-120"/>
              </a:rPr>
              <a:t/>
            </a:r>
            <a:br>
              <a:rPr lang="en-US" altLang="zh-TW" dirty="0" smtClean="0">
                <a:ea typeface="新細明體" charset="-120"/>
              </a:rPr>
            </a:br>
            <a:r>
              <a:rPr lang="en-US" altLang="zh-TW" dirty="0" smtClean="0">
                <a:ea typeface="新細明體" charset="-120"/>
              </a:rPr>
              <a:t>+ </a:t>
            </a:r>
            <a:r>
              <a:rPr lang="en-US" altLang="zh-TW" dirty="0">
                <a:ea typeface="新細明體" charset="-120"/>
              </a:rPr>
              <a:t>Heterogeneous </a:t>
            </a:r>
            <a:r>
              <a:rPr lang="en-US" altLang="zh-TW" dirty="0" smtClean="0">
                <a:ea typeface="新細明體" charset="-120"/>
              </a:rPr>
              <a:t/>
            </a:r>
            <a:br>
              <a:rPr lang="en-US" altLang="zh-TW" dirty="0" smtClean="0">
                <a:ea typeface="新細明體" charset="-120"/>
              </a:rPr>
            </a:br>
            <a:r>
              <a:rPr lang="en-US" altLang="zh-TW" dirty="0" smtClean="0">
                <a:ea typeface="新細明體" charset="-120"/>
              </a:rPr>
              <a:t>Program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34819" name="Rectangle 3"/>
          <p:cNvSpPr>
            <a:spLocks/>
          </p:cNvSpPr>
          <p:nvPr/>
        </p:nvSpPr>
        <p:spPr bwMode="auto">
          <a:xfrm>
            <a:off x="4679156" y="2143125"/>
            <a:ext cx="1285875" cy="1312664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4820" name="Rectangle 4"/>
          <p:cNvSpPr>
            <a:spLocks/>
          </p:cNvSpPr>
          <p:nvPr/>
        </p:nvSpPr>
        <p:spPr bwMode="auto">
          <a:xfrm>
            <a:off x="6813352" y="2143125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Memory</a:t>
            </a:r>
          </a:p>
        </p:txBody>
      </p:sp>
      <p:sp>
        <p:nvSpPr>
          <p:cNvPr id="34821" name="Rectangle 5"/>
          <p:cNvSpPr>
            <a:spLocks/>
          </p:cNvSpPr>
          <p:nvPr/>
        </p:nvSpPr>
        <p:spPr bwMode="auto">
          <a:xfrm>
            <a:off x="6509742" y="4455914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IO</a:t>
            </a:r>
          </a:p>
        </p:txBody>
      </p:sp>
      <p:sp>
        <p:nvSpPr>
          <p:cNvPr id="34822" name="Line 6"/>
          <p:cNvSpPr>
            <a:spLocks noChangeShapeType="1"/>
          </p:cNvSpPr>
          <p:nvPr/>
        </p:nvSpPr>
        <p:spPr bwMode="auto">
          <a:xfrm>
            <a:off x="4375547" y="3955852"/>
            <a:ext cx="4013895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 rot="10800000" flipH="1">
            <a:off x="7154912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 rot="10800000" flipH="1">
            <a:off x="7456289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 rot="10800000" flipH="1">
            <a:off x="5322094" y="3429000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4826" name="Rectangle 10"/>
          <p:cNvSpPr>
            <a:spLocks/>
          </p:cNvSpPr>
          <p:nvPr/>
        </p:nvSpPr>
        <p:spPr bwMode="auto">
          <a:xfrm>
            <a:off x="4679156" y="2143125"/>
            <a:ext cx="634008" cy="660797"/>
          </a:xfrm>
          <a:prstGeom prst="rect">
            <a:avLst/>
          </a:prstGeom>
          <a:solidFill>
            <a:srgbClr val="2E6FF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CPU</a:t>
            </a:r>
          </a:p>
          <a:p>
            <a:pPr algn="ctr"/>
            <a:r>
              <a:rPr lang="en-US" altLang="zh-TW" sz="13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(Big)</a:t>
            </a:r>
          </a:p>
        </p:txBody>
      </p:sp>
      <p:sp>
        <p:nvSpPr>
          <p:cNvPr id="34827" name="Rectangle 11"/>
          <p:cNvSpPr>
            <a:spLocks/>
          </p:cNvSpPr>
          <p:nvPr/>
        </p:nvSpPr>
        <p:spPr bwMode="auto">
          <a:xfrm>
            <a:off x="4679156" y="2794992"/>
            <a:ext cx="634008" cy="660797"/>
          </a:xfrm>
          <a:prstGeom prst="rect">
            <a:avLst/>
          </a:prstGeom>
          <a:solidFill>
            <a:srgbClr val="A3D979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CPU</a:t>
            </a:r>
          </a:p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altLang="zh-TW" sz="1000" b="1">
                <a:effectLst>
                  <a:outerShdw blurRad="38100" dist="38100" dir="2700000" algn="tl">
                    <a:srgbClr val="000000"/>
                  </a:outerShdw>
                </a:effectLst>
              </a:rPr>
              <a:t>Little</a:t>
            </a:r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</p:txBody>
      </p:sp>
      <p:sp>
        <p:nvSpPr>
          <p:cNvPr id="34828" name="Rectangle 12"/>
          <p:cNvSpPr>
            <a:spLocks/>
          </p:cNvSpPr>
          <p:nvPr/>
        </p:nvSpPr>
        <p:spPr bwMode="auto">
          <a:xfrm>
            <a:off x="5322094" y="2143125"/>
            <a:ext cx="634008" cy="660797"/>
          </a:xfrm>
          <a:prstGeom prst="rect">
            <a:avLst/>
          </a:prstGeom>
          <a:solidFill>
            <a:srgbClr val="D90B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GPU</a:t>
            </a:r>
          </a:p>
        </p:txBody>
      </p:sp>
      <p:sp>
        <p:nvSpPr>
          <p:cNvPr id="34829" name="Rectangle 13"/>
          <p:cNvSpPr>
            <a:spLocks/>
          </p:cNvSpPr>
          <p:nvPr/>
        </p:nvSpPr>
        <p:spPr bwMode="auto">
          <a:xfrm>
            <a:off x="5313164" y="2794992"/>
            <a:ext cx="634008" cy="660797"/>
          </a:xfrm>
          <a:prstGeom prst="rect">
            <a:avLst/>
          </a:prstGeom>
          <a:solidFill>
            <a:srgbClr val="D90B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GPU</a:t>
            </a:r>
          </a:p>
        </p:txBody>
      </p:sp>
      <p:sp>
        <p:nvSpPr>
          <p:cNvPr id="34830" name="Rectangle 14"/>
          <p:cNvSpPr>
            <a:spLocks/>
          </p:cNvSpPr>
          <p:nvPr/>
        </p:nvSpPr>
        <p:spPr bwMode="auto">
          <a:xfrm>
            <a:off x="4509492" y="4464844"/>
            <a:ext cx="821531" cy="839391"/>
          </a:xfrm>
          <a:prstGeom prst="rect">
            <a:avLst/>
          </a:prstGeom>
          <a:solidFill>
            <a:srgbClr val="B7B1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000000"/>
                  </a:outerShdw>
                </a:effectLst>
              </a:rPr>
              <a:t>DSP</a:t>
            </a:r>
          </a:p>
        </p:txBody>
      </p:sp>
      <p:sp>
        <p:nvSpPr>
          <p:cNvPr id="34831" name="Rectangle 15"/>
          <p:cNvSpPr>
            <a:spLocks/>
          </p:cNvSpPr>
          <p:nvPr/>
        </p:nvSpPr>
        <p:spPr bwMode="auto">
          <a:xfrm>
            <a:off x="5509617" y="4464844"/>
            <a:ext cx="821531" cy="839391"/>
          </a:xfrm>
          <a:prstGeom prst="rect">
            <a:avLst/>
          </a:prstGeom>
          <a:solidFill>
            <a:srgbClr val="002D99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000000"/>
                  </a:outerShdw>
                </a:effectLst>
              </a:rPr>
              <a:t>ASIC</a:t>
            </a:r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 rot="10800000" flipH="1">
            <a:off x="4920258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 rot="10800000" flipH="1">
            <a:off x="5911453" y="3946922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772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/>
          </p:cNvSpPr>
          <p:nvPr/>
        </p:nvSpPr>
        <p:spPr bwMode="auto">
          <a:xfrm>
            <a:off x="348258" y="1711474"/>
            <a:ext cx="4348758" cy="358973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>
                <a:ea typeface="新細明體" charset="-120"/>
              </a:rPr>
              <a:t>Computing (10)</a:t>
            </a:r>
          </a:p>
        </p:txBody>
      </p:sp>
      <p:sp>
        <p:nvSpPr>
          <p:cNvPr id="35843" name="Rectangle 3"/>
          <p:cNvSpPr>
            <a:spLocks/>
          </p:cNvSpPr>
          <p:nvPr/>
        </p:nvSpPr>
        <p:spPr bwMode="auto">
          <a:xfrm>
            <a:off x="821531" y="1845419"/>
            <a:ext cx="1285875" cy="1312664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5844" name="Rectangle 4"/>
          <p:cNvSpPr>
            <a:spLocks/>
          </p:cNvSpPr>
          <p:nvPr/>
        </p:nvSpPr>
        <p:spPr bwMode="auto">
          <a:xfrm>
            <a:off x="2955727" y="1845419"/>
            <a:ext cx="1285875" cy="1312664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Memory</a:t>
            </a:r>
          </a:p>
        </p:txBody>
      </p:sp>
      <p:sp>
        <p:nvSpPr>
          <p:cNvPr id="35845" name="Rectangle 5"/>
          <p:cNvSpPr>
            <a:spLocks/>
          </p:cNvSpPr>
          <p:nvPr/>
        </p:nvSpPr>
        <p:spPr bwMode="auto">
          <a:xfrm>
            <a:off x="2875360" y="4167137"/>
            <a:ext cx="821531" cy="839391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808080"/>
                  </a:outerShdw>
                </a:effectLst>
              </a:rPr>
              <a:t>IO</a:t>
            </a:r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>
            <a:off x="517922" y="3658145"/>
            <a:ext cx="4013895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rot="10800000" flipH="1">
            <a:off x="3297287" y="3649216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 rot="10800000" flipH="1">
            <a:off x="3598664" y="3131294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rot="10800000" flipH="1">
            <a:off x="1464469" y="3131294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5850" name="Rectangle 10"/>
          <p:cNvSpPr>
            <a:spLocks/>
          </p:cNvSpPr>
          <p:nvPr/>
        </p:nvSpPr>
        <p:spPr bwMode="auto">
          <a:xfrm>
            <a:off x="821531" y="1845419"/>
            <a:ext cx="634008" cy="660797"/>
          </a:xfrm>
          <a:prstGeom prst="rect">
            <a:avLst/>
          </a:prstGeom>
          <a:solidFill>
            <a:srgbClr val="2E6FF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CPU</a:t>
            </a:r>
          </a:p>
          <a:p>
            <a:pPr algn="ctr"/>
            <a:r>
              <a:rPr lang="en-US" altLang="zh-TW" sz="13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(Big)</a:t>
            </a:r>
          </a:p>
        </p:txBody>
      </p:sp>
      <p:sp>
        <p:nvSpPr>
          <p:cNvPr id="35851" name="Rectangle 11"/>
          <p:cNvSpPr>
            <a:spLocks/>
          </p:cNvSpPr>
          <p:nvPr/>
        </p:nvSpPr>
        <p:spPr bwMode="auto">
          <a:xfrm>
            <a:off x="821531" y="2497286"/>
            <a:ext cx="634008" cy="660797"/>
          </a:xfrm>
          <a:prstGeom prst="rect">
            <a:avLst/>
          </a:prstGeom>
          <a:solidFill>
            <a:srgbClr val="A3D979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CPU</a:t>
            </a:r>
          </a:p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altLang="zh-TW" sz="1000" b="1">
                <a:effectLst>
                  <a:outerShdw blurRad="38100" dist="38100" dir="2700000" algn="tl">
                    <a:srgbClr val="000000"/>
                  </a:outerShdw>
                </a:effectLst>
              </a:rPr>
              <a:t>Little</a:t>
            </a:r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</p:txBody>
      </p:sp>
      <p:sp>
        <p:nvSpPr>
          <p:cNvPr id="35852" name="Rectangle 12"/>
          <p:cNvSpPr>
            <a:spLocks/>
          </p:cNvSpPr>
          <p:nvPr/>
        </p:nvSpPr>
        <p:spPr bwMode="auto">
          <a:xfrm>
            <a:off x="1464469" y="1845419"/>
            <a:ext cx="634008" cy="660797"/>
          </a:xfrm>
          <a:prstGeom prst="rect">
            <a:avLst/>
          </a:prstGeom>
          <a:solidFill>
            <a:srgbClr val="D90B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GPU</a:t>
            </a:r>
          </a:p>
        </p:txBody>
      </p:sp>
      <p:sp>
        <p:nvSpPr>
          <p:cNvPr id="35853" name="Rectangle 13"/>
          <p:cNvSpPr>
            <a:spLocks/>
          </p:cNvSpPr>
          <p:nvPr/>
        </p:nvSpPr>
        <p:spPr bwMode="auto">
          <a:xfrm>
            <a:off x="1455539" y="2497286"/>
            <a:ext cx="634008" cy="660797"/>
          </a:xfrm>
          <a:prstGeom prst="rect">
            <a:avLst/>
          </a:prstGeom>
          <a:solidFill>
            <a:srgbClr val="D90B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300" b="1">
                <a:effectLst>
                  <a:outerShdw blurRad="38100" dist="38100" dir="2700000" algn="tl">
                    <a:srgbClr val="000000"/>
                  </a:outerShdw>
                </a:effectLst>
              </a:rPr>
              <a:t>GPU</a:t>
            </a:r>
          </a:p>
        </p:txBody>
      </p:sp>
      <p:sp>
        <p:nvSpPr>
          <p:cNvPr id="35854" name="Rectangle 14"/>
          <p:cNvSpPr>
            <a:spLocks/>
          </p:cNvSpPr>
          <p:nvPr/>
        </p:nvSpPr>
        <p:spPr bwMode="auto">
          <a:xfrm>
            <a:off x="651867" y="4167137"/>
            <a:ext cx="821531" cy="839391"/>
          </a:xfrm>
          <a:prstGeom prst="rect">
            <a:avLst/>
          </a:prstGeom>
          <a:solidFill>
            <a:srgbClr val="B7B1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000000"/>
                  </a:outerShdw>
                </a:effectLst>
              </a:rPr>
              <a:t>DSP</a:t>
            </a:r>
          </a:p>
        </p:txBody>
      </p:sp>
      <p:sp>
        <p:nvSpPr>
          <p:cNvPr id="35855" name="Rectangle 15"/>
          <p:cNvSpPr>
            <a:spLocks/>
          </p:cNvSpPr>
          <p:nvPr/>
        </p:nvSpPr>
        <p:spPr bwMode="auto">
          <a:xfrm>
            <a:off x="1651992" y="4167137"/>
            <a:ext cx="821531" cy="839391"/>
          </a:xfrm>
          <a:prstGeom prst="rect">
            <a:avLst/>
          </a:prstGeom>
          <a:solidFill>
            <a:srgbClr val="002D99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2100" b="1">
                <a:effectLst>
                  <a:outerShdw blurRad="38100" dist="38100" dir="2700000" algn="tl">
                    <a:srgbClr val="000000"/>
                  </a:outerShdw>
                </a:effectLst>
              </a:rPr>
              <a:t>ASIC</a:t>
            </a:r>
          </a:p>
        </p:txBody>
      </p:sp>
      <p:sp>
        <p:nvSpPr>
          <p:cNvPr id="35856" name="Line 16"/>
          <p:cNvSpPr>
            <a:spLocks noChangeShapeType="1"/>
          </p:cNvSpPr>
          <p:nvPr/>
        </p:nvSpPr>
        <p:spPr bwMode="auto">
          <a:xfrm rot="10800000" flipH="1">
            <a:off x="1062633" y="3649216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5857" name="Line 17"/>
          <p:cNvSpPr>
            <a:spLocks noChangeShapeType="1"/>
          </p:cNvSpPr>
          <p:nvPr/>
        </p:nvSpPr>
        <p:spPr bwMode="auto">
          <a:xfrm rot="10800000" flipH="1">
            <a:off x="2053828" y="3649216"/>
            <a:ext cx="0" cy="535781"/>
          </a:xfrm>
          <a:prstGeom prst="line">
            <a:avLst/>
          </a:prstGeom>
          <a:noFill/>
          <a:ln w="76200" cap="flat">
            <a:solidFill>
              <a:schemeClr val="tx1"/>
            </a:solidFill>
            <a:prstDash val="solid"/>
            <a:miter lim="800000"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TW" altLang="en-US"/>
          </a:p>
        </p:txBody>
      </p:sp>
      <p:sp>
        <p:nvSpPr>
          <p:cNvPr id="35860" name="Rectangle 20"/>
          <p:cNvSpPr>
            <a:spLocks/>
          </p:cNvSpPr>
          <p:nvPr/>
        </p:nvSpPr>
        <p:spPr bwMode="auto">
          <a:xfrm>
            <a:off x="5920383" y="3859063"/>
            <a:ext cx="3223617" cy="946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altLang="zh-TW" b="1">
                <a:solidFill>
                  <a:schemeClr val="tx1"/>
                </a:solidFill>
                <a:ea typeface="新細明體" charset="-120"/>
              </a:rPr>
              <a:t>Mobile Computing</a:t>
            </a:r>
          </a:p>
        </p:txBody>
      </p:sp>
      <p:sp>
        <p:nvSpPr>
          <p:cNvPr id="35861" name="Rectangle 21"/>
          <p:cNvSpPr>
            <a:spLocks/>
          </p:cNvSpPr>
          <p:nvPr/>
        </p:nvSpPr>
        <p:spPr bwMode="auto">
          <a:xfrm>
            <a:off x="5920383" y="1702544"/>
            <a:ext cx="3223617" cy="946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altLang="zh-TW" b="1" dirty="0">
                <a:solidFill>
                  <a:schemeClr val="tx1"/>
                </a:solidFill>
                <a:ea typeface="新細明體" charset="-120"/>
              </a:rPr>
              <a:t>Cloud Computing</a:t>
            </a:r>
          </a:p>
        </p:txBody>
      </p:sp>
      <p:sp>
        <p:nvSpPr>
          <p:cNvPr id="2" name="向右箭號 1"/>
          <p:cNvSpPr/>
          <p:nvPr/>
        </p:nvSpPr>
        <p:spPr bwMode="auto">
          <a:xfrm>
            <a:off x="4932040" y="4006402"/>
            <a:ext cx="792088" cy="651867"/>
          </a:xfrm>
          <a:prstGeom prst="stripedRightArrow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4" name="向右箭號 23"/>
          <p:cNvSpPr/>
          <p:nvPr/>
        </p:nvSpPr>
        <p:spPr bwMode="auto">
          <a:xfrm>
            <a:off x="4932040" y="1871519"/>
            <a:ext cx="792088" cy="651867"/>
          </a:xfrm>
          <a:prstGeom prst="stripedRightArrow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107406" y="5509010"/>
            <a:ext cx="5899436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b="1" dirty="0" smtClean="0">
                <a:ea typeface="標楷體" pitchFamily="65" charset="-120"/>
                <a:cs typeface="Calibri" pitchFamily="34" charset="0"/>
              </a:rPr>
              <a:t>Heterogeneous System Architecture is future</a:t>
            </a:r>
            <a:endParaRPr lang="zh-TW" altLang="en-US" b="1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64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>
                <a:ea typeface="新細明體" charset="-120"/>
              </a:rPr>
              <a:t>Computing </a:t>
            </a:r>
            <a:r>
              <a:rPr lang="en-US" altLang="zh-TW" dirty="0" smtClean="0">
                <a:ea typeface="新細明體" charset="-120"/>
              </a:rPr>
              <a:t>System Era</a:t>
            </a:r>
            <a:endParaRPr lang="en-US" altLang="zh-TW" dirty="0">
              <a:ea typeface="新細明體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12776"/>
            <a:ext cx="8860206" cy="416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3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>
                <a:ea typeface="新細明體" charset="-120"/>
              </a:rPr>
              <a:t>Computing demand is increasing</a:t>
            </a:r>
          </a:p>
        </p:txBody>
      </p:sp>
      <p:pic>
        <p:nvPicPr>
          <p:cNvPr id="2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7" y="1196752"/>
            <a:ext cx="9018984" cy="4652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398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b="0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What’s next computing system?</a:t>
            </a: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459" y="1196752"/>
            <a:ext cx="9244459" cy="4911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338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b="0" dirty="0" smtClean="0">
                <a:effectLst>
                  <a:outerShdw blurRad="38100" dist="38100" dir="2700000" algn="tl">
                    <a:srgbClr val="808080"/>
                  </a:outerShdw>
                </a:effectLst>
              </a:rPr>
              <a:t>HSA is coming</a:t>
            </a:r>
            <a:endParaRPr lang="en-US" altLang="zh-TW" b="0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7850" r="8069" b="865"/>
          <a:stretch>
            <a:fillRect/>
          </a:stretch>
        </p:blipFill>
        <p:spPr bwMode="auto">
          <a:xfrm>
            <a:off x="203532" y="1157461"/>
            <a:ext cx="8904972" cy="5007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561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15200" cy="900018"/>
          </a:xfrm>
        </p:spPr>
        <p:txBody>
          <a:bodyPr/>
          <a:lstStyle/>
          <a:p>
            <a:r>
              <a:rPr lang="en-US" altLang="zh-TW" dirty="0"/>
              <a:t>Introduction </a:t>
            </a:r>
            <a:r>
              <a:rPr lang="en-US" altLang="zh-TW" dirty="0" smtClean="0"/>
              <a:t>to </a:t>
            </a:r>
            <a:r>
              <a:rPr lang="en-US" altLang="zh-TW" dirty="0"/>
              <a:t>HSA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36504"/>
          </a:xfrm>
        </p:spPr>
        <p:txBody>
          <a:bodyPr/>
          <a:lstStyle/>
          <a:p>
            <a:r>
              <a:rPr lang="en-US" altLang="zh-TW" sz="2400" dirty="0" smtClean="0"/>
              <a:t>HSA Foundation is not for profit - industry standards body to create software/hardware standards for heterogeneous computing </a:t>
            </a:r>
          </a:p>
          <a:p>
            <a:pPr lvl="1"/>
            <a:r>
              <a:rPr lang="en-US" altLang="zh-TW" sz="2000" dirty="0" smtClean="0"/>
              <a:t>simplify </a:t>
            </a:r>
            <a:r>
              <a:rPr lang="en-US" altLang="zh-TW" sz="2000" dirty="0"/>
              <a:t>the programing environment</a:t>
            </a:r>
          </a:p>
          <a:p>
            <a:pPr lvl="1"/>
            <a:r>
              <a:rPr lang="en-US" altLang="zh-TW" sz="2000" dirty="0"/>
              <a:t>make compute at low power pervasive</a:t>
            </a:r>
          </a:p>
          <a:p>
            <a:pPr lvl="1"/>
            <a:r>
              <a:rPr lang="en-US" altLang="zh-TW" sz="2000" dirty="0"/>
              <a:t>introduce new capabilities in modern computing devices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r>
              <a:rPr lang="en-US" altLang="zh-TW" sz="2400" dirty="0" smtClean="0"/>
              <a:t>Core founders include </a:t>
            </a:r>
            <a:r>
              <a:rPr lang="en-US" altLang="zh-TW" sz="2400" dirty="0"/>
              <a:t>AMD, ARM, Imagination Technology, </a:t>
            </a:r>
            <a:r>
              <a:rPr lang="en-US" altLang="zh-TW" sz="2400" dirty="0" err="1"/>
              <a:t>MediaTek</a:t>
            </a:r>
            <a:r>
              <a:rPr lang="en-US" altLang="zh-TW" sz="2400" dirty="0"/>
              <a:t>, Qualcomm, Samsung, and Texas </a:t>
            </a:r>
            <a:r>
              <a:rPr lang="en-US" altLang="zh-TW" sz="2400" dirty="0" smtClean="0"/>
              <a:t>Instruments</a:t>
            </a:r>
          </a:p>
          <a:p>
            <a:r>
              <a:rPr lang="en-US" altLang="zh-TW" sz="2400" dirty="0" smtClean="0"/>
              <a:t>Open membership to deliver royalty free specifications, and API’s</a:t>
            </a:r>
          </a:p>
          <a:p>
            <a:r>
              <a:rPr lang="en-US" altLang="zh-TW" sz="2400" dirty="0" smtClean="0"/>
              <a:t>Founded </a:t>
            </a:r>
            <a:r>
              <a:rPr lang="en-US" altLang="zh-TW" sz="2400" dirty="0"/>
              <a:t>June 12, 2012 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13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HSA </a:t>
            </a:r>
            <a:r>
              <a:rPr lang="en-US" dirty="0" smtClean="0"/>
              <a:t>Foundation </a:t>
            </a:r>
            <a:r>
              <a:rPr lang="en-US" dirty="0"/>
              <a:t>B</a:t>
            </a:r>
            <a:r>
              <a:rPr lang="en-US" dirty="0" smtClean="0"/>
              <a:t>enefits</a:t>
            </a: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2938108"/>
              </p:ext>
            </p:extLst>
          </p:nvPr>
        </p:nvGraphicFramePr>
        <p:xfrm>
          <a:off x="436820" y="1196752"/>
          <a:ext cx="8270360" cy="487544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25380"/>
                <a:gridCol w="6344980"/>
              </a:tblGrid>
              <a:tr h="1434561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300"/>
                        </a:spcAft>
                      </a:pPr>
                      <a:r>
                        <a:rPr lang="en-US" sz="1900" b="0" dirty="0" smtClean="0">
                          <a:latin typeface="Calibri" pitchFamily="34" charset="0"/>
                        </a:rPr>
                        <a:t>Semiconductor </a:t>
                      </a:r>
                      <a:endParaRPr lang="en-US" sz="1900" b="0" dirty="0">
                        <a:solidFill>
                          <a:schemeClr val="tx2"/>
                        </a:solidFill>
                        <a:latin typeface="Calibri" pitchFamily="34" charset="0"/>
                      </a:endParaRPr>
                    </a:p>
                  </a:txBody>
                  <a:tcPr marT="60960" marB="6096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b="0" dirty="0" smtClean="0">
                          <a:latin typeface="Calibri" pitchFamily="34" charset="0"/>
                        </a:rPr>
                        <a:t>Neutral platform</a:t>
                      </a:r>
                      <a:r>
                        <a:rPr lang="en-US" sz="1500" b="0" baseline="0" dirty="0" smtClean="0">
                          <a:latin typeface="Calibri" pitchFamily="34" charset="0"/>
                        </a:rPr>
                        <a:t> governance gives vendors the opportunity to influence heterogeneous architecture standards</a:t>
                      </a:r>
                    </a:p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b="0" baseline="0" dirty="0" smtClean="0">
                          <a:latin typeface="Calibri" pitchFamily="34" charset="0"/>
                        </a:rPr>
                        <a:t>Ability to lower development cost for critical runtime foundations</a:t>
                      </a:r>
                    </a:p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b="0" baseline="0" dirty="0" smtClean="0">
                          <a:latin typeface="Calibri" pitchFamily="34" charset="0"/>
                        </a:rPr>
                        <a:t>Technical sustainability of HSA via close alignment with key industry initiatives </a:t>
                      </a:r>
                    </a:p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b="0" baseline="0" dirty="0" smtClean="0">
                          <a:latin typeface="Calibri" pitchFamily="34" charset="0"/>
                        </a:rPr>
                        <a:t>Diverse application ecosystem </a:t>
                      </a:r>
                      <a:endParaRPr lang="en-US" sz="1500" b="0" i="1" dirty="0">
                        <a:solidFill>
                          <a:schemeClr val="tx2"/>
                        </a:solidFill>
                        <a:latin typeface="Calibri" pitchFamily="34" charset="0"/>
                      </a:endParaRPr>
                    </a:p>
                  </a:txBody>
                  <a:tcPr marT="60960" marB="60960" anchor="ctr"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300"/>
                        </a:spcAft>
                      </a:pPr>
                      <a:r>
                        <a:rPr lang="en-US" sz="1900" dirty="0" smtClean="0">
                          <a:latin typeface="Calibri" pitchFamily="34" charset="0"/>
                        </a:rPr>
                        <a:t>Platform &amp; OS Vendors </a:t>
                      </a:r>
                      <a:endParaRPr lang="en-US" sz="1900" b="1" dirty="0">
                        <a:solidFill>
                          <a:schemeClr val="tx2"/>
                        </a:solidFill>
                        <a:latin typeface="Calibri" pitchFamily="34" charset="0"/>
                      </a:endParaRPr>
                    </a:p>
                  </a:txBody>
                  <a:tcPr marT="60960" marB="6096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500" dirty="0" smtClean="0">
                          <a:latin typeface="Calibri" pitchFamily="34" charset="0"/>
                        </a:rPr>
                        <a:t>Commercial sustainability</a:t>
                      </a:r>
                      <a:r>
                        <a:rPr lang="en-US" sz="1500" baseline="0" dirty="0" smtClean="0">
                          <a:latin typeface="Calibri" pitchFamily="34" charset="0"/>
                        </a:rPr>
                        <a:t> via multiple semiconductor members’ support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500" baseline="0" dirty="0" smtClean="0">
                          <a:latin typeface="Calibri" pitchFamily="34" charset="0"/>
                        </a:rPr>
                        <a:t>Foundation that opens up innovative solutions to drive differentiation</a:t>
                      </a:r>
                      <a:endParaRPr lang="en-US" sz="1500" dirty="0" smtClean="0">
                        <a:latin typeface="Calibri" pitchFamily="34" charset="0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500" baseline="0" dirty="0" smtClean="0">
                          <a:latin typeface="Calibri" pitchFamily="34" charset="0"/>
                        </a:rPr>
                        <a:t>Diverse application ecosystem </a:t>
                      </a:r>
                      <a:endParaRPr lang="en-US" sz="1500" b="0" i="1" dirty="0" smtClean="0">
                        <a:solidFill>
                          <a:schemeClr val="tx2"/>
                        </a:solidFill>
                        <a:latin typeface="Calibri" pitchFamily="34" charset="0"/>
                      </a:endParaRPr>
                    </a:p>
                  </a:txBody>
                  <a:tcPr marT="60960" marB="60960" anchor="ctr"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300"/>
                        </a:spcAft>
                      </a:pPr>
                      <a:r>
                        <a:rPr lang="en-US" sz="1900" dirty="0" smtClean="0">
                          <a:latin typeface="Calibri" pitchFamily="34" charset="0"/>
                        </a:rPr>
                        <a:t>Device Manufacturers</a:t>
                      </a:r>
                      <a:r>
                        <a:rPr lang="en-US" sz="1900" baseline="0" dirty="0" smtClean="0">
                          <a:latin typeface="Calibri" pitchFamily="34" charset="0"/>
                        </a:rPr>
                        <a:t> </a:t>
                      </a:r>
                      <a:endParaRPr lang="en-US" sz="1900" b="1" dirty="0">
                        <a:solidFill>
                          <a:schemeClr val="tx2"/>
                        </a:solidFill>
                        <a:latin typeface="Calibri" pitchFamily="34" charset="0"/>
                      </a:endParaRPr>
                    </a:p>
                  </a:txBody>
                  <a:tcPr marT="60960" marB="6096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dirty="0" smtClean="0">
                          <a:latin typeface="Calibri" pitchFamily="34" charset="0"/>
                        </a:rPr>
                        <a:t>Commercial sustainability</a:t>
                      </a:r>
                      <a:r>
                        <a:rPr lang="en-US" sz="1500" baseline="0" dirty="0" smtClean="0">
                          <a:latin typeface="Calibri" pitchFamily="34" charset="0"/>
                        </a:rPr>
                        <a:t> via multiple semiconductor members’ support </a:t>
                      </a:r>
                    </a:p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baseline="0" dirty="0" smtClean="0">
                          <a:latin typeface="Calibri" pitchFamily="34" charset="0"/>
                        </a:rPr>
                        <a:t>Foundation that opens up innovative solutions to drive differentiation</a:t>
                      </a:r>
                    </a:p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baseline="0" dirty="0" smtClean="0">
                          <a:latin typeface="Calibri" pitchFamily="34" charset="0"/>
                        </a:rPr>
                        <a:t>Strong platform &amp; OS support </a:t>
                      </a:r>
                      <a:endParaRPr lang="en-US" sz="1500" b="0" i="1" dirty="0">
                        <a:solidFill>
                          <a:schemeClr val="tx2"/>
                        </a:solidFill>
                        <a:latin typeface="Calibri" pitchFamily="34" charset="0"/>
                      </a:endParaRPr>
                    </a:p>
                  </a:txBody>
                  <a:tcPr marT="60960" marB="60960" anchor="ctr"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490165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300"/>
                        </a:spcAft>
                      </a:pPr>
                      <a:r>
                        <a:rPr lang="en-US" sz="1900" dirty="0" smtClean="0">
                          <a:latin typeface="Calibri" pitchFamily="34" charset="0"/>
                        </a:rPr>
                        <a:t>ISVs &amp; Developers</a:t>
                      </a:r>
                      <a:endParaRPr lang="en-US" sz="1900" b="1" dirty="0">
                        <a:solidFill>
                          <a:schemeClr val="tx2"/>
                        </a:solidFill>
                        <a:latin typeface="Calibri" pitchFamily="34" charset="0"/>
                      </a:endParaRPr>
                    </a:p>
                  </a:txBody>
                  <a:tcPr marT="60960" marB="6096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dirty="0" smtClean="0">
                          <a:latin typeface="Calibri" pitchFamily="34" charset="0"/>
                        </a:rPr>
                        <a:t>Programming environment for advanced innovation</a:t>
                      </a:r>
                    </a:p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dirty="0" smtClean="0">
                          <a:latin typeface="Calibri" pitchFamily="34" charset="0"/>
                        </a:rPr>
                        <a:t>Large addressable market</a:t>
                      </a:r>
                    </a:p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dirty="0" smtClean="0">
                          <a:latin typeface="Calibri" pitchFamily="34" charset="0"/>
                        </a:rPr>
                        <a:t>Diverse routes to market</a:t>
                      </a:r>
                    </a:p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dirty="0" smtClean="0">
                          <a:latin typeface="Calibri" pitchFamily="34" charset="0"/>
                        </a:rPr>
                        <a:t>Ability to contribute</a:t>
                      </a:r>
                      <a:r>
                        <a:rPr lang="en-US" sz="1500" baseline="0" dirty="0" smtClean="0">
                          <a:latin typeface="Calibri" pitchFamily="34" charset="0"/>
                        </a:rPr>
                        <a:t> to HSA future in verticals of interest</a:t>
                      </a:r>
                    </a:p>
                    <a:p>
                      <a:pPr marL="285750" indent="-285750">
                        <a:lnSpc>
                          <a:spcPct val="85000"/>
                        </a:lnSpc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en-US" sz="1500" dirty="0" smtClean="0">
                          <a:latin typeface="Calibri" pitchFamily="34" charset="0"/>
                        </a:rPr>
                        <a:t>Commercial</a:t>
                      </a:r>
                      <a:r>
                        <a:rPr lang="en-US" sz="1500" baseline="0" dirty="0" smtClean="0">
                          <a:latin typeface="Calibri" pitchFamily="34" charset="0"/>
                        </a:rPr>
                        <a:t> sustainability via </a:t>
                      </a:r>
                      <a:r>
                        <a:rPr lang="en-US" sz="1500" dirty="0" smtClean="0">
                          <a:latin typeface="Calibri" pitchFamily="34" charset="0"/>
                        </a:rPr>
                        <a:t>strong</a:t>
                      </a:r>
                      <a:r>
                        <a:rPr lang="en-US" sz="1500" baseline="0" dirty="0" smtClean="0">
                          <a:latin typeface="Calibri" pitchFamily="34" charset="0"/>
                        </a:rPr>
                        <a:t> commitments of HSA members </a:t>
                      </a:r>
                      <a:endParaRPr lang="en-US" sz="1500" dirty="0" smtClean="0">
                        <a:latin typeface="Calibri" pitchFamily="34" charset="0"/>
                      </a:endParaRPr>
                    </a:p>
                  </a:txBody>
                  <a:tcPr marT="60960" marB="60960" anchor="ctr"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圖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277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b="0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HSA </a:t>
            </a:r>
            <a:r>
              <a:rPr lang="en-US" altLang="zh-TW" b="0" dirty="0" smtClean="0">
                <a:effectLst>
                  <a:outerShdw blurRad="38100" dist="38100" dir="2700000" algn="tl">
                    <a:srgbClr val="808080"/>
                  </a:outerShdw>
                </a:effectLst>
              </a:rPr>
              <a:t>Foundation</a:t>
            </a:r>
            <a:endParaRPr lang="en-US" altLang="zh-TW" b="0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2" y="1239416"/>
            <a:ext cx="9090422" cy="4728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3572098" y="4989885"/>
            <a:ext cx="1169789" cy="803672"/>
            <a:chOff x="0" y="0"/>
            <a:chExt cx="1048" cy="720"/>
          </a:xfrm>
        </p:grpSpPr>
        <p:sp>
          <p:nvSpPr>
            <p:cNvPr id="5" name="Rectangle 3"/>
            <p:cNvSpPr>
              <a:spLocks/>
            </p:cNvSpPr>
            <p:nvPr/>
          </p:nvSpPr>
          <p:spPr bwMode="auto">
            <a:xfrm>
              <a:off x="32" y="32"/>
              <a:ext cx="984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zh-TW" altLang="en-US"/>
            </a:p>
          </p:txBody>
        </p:sp>
        <p:pic>
          <p:nvPicPr>
            <p:cNvPr id="6" name="Picture 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4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5561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15200" cy="900018"/>
          </a:xfrm>
        </p:spPr>
        <p:txBody>
          <a:bodyPr/>
          <a:lstStyle/>
          <a:p>
            <a:r>
              <a:rPr lang="en-US" altLang="zh-TW" dirty="0" smtClean="0"/>
              <a:t>HSA Foundation’s Initial Focus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24536"/>
          </a:xfrm>
        </p:spPr>
        <p:txBody>
          <a:bodyPr/>
          <a:lstStyle/>
          <a:p>
            <a:r>
              <a:rPr lang="en-US" altLang="zh-TW" sz="2400" dirty="0" smtClean="0">
                <a:cs typeface="Arial" pitchFamily="34" charset="0"/>
              </a:rPr>
              <a:t>Attract mainstream programmer</a:t>
            </a:r>
            <a:r>
              <a:rPr lang="en-US" altLang="zh-TW" sz="2400" dirty="0" smtClean="0"/>
              <a:t>s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Support broader set of languages beyond traditional GPGPU languages 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Support for task parallel runtimes &amp; nested data parallel programs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Rich debugging and performance analysis support</a:t>
            </a:r>
            <a:endParaRPr lang="en-US" altLang="zh-TW" dirty="0" smtClean="0"/>
          </a:p>
          <a:p>
            <a:r>
              <a:rPr lang="en-US" altLang="zh-TW" sz="2400" dirty="0" smtClean="0">
                <a:cs typeface="Arial" pitchFamily="34" charset="0"/>
              </a:rPr>
              <a:t>Bring the GPU forward as a first class processor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Unified coherent address space (</a:t>
            </a:r>
            <a:r>
              <a:rPr lang="en-US" altLang="zh-TW" sz="2000" dirty="0" err="1" smtClean="0">
                <a:cs typeface="Arial" pitchFamily="34" charset="0"/>
              </a:rPr>
              <a:t>hUMA</a:t>
            </a:r>
            <a:r>
              <a:rPr lang="en-US" altLang="zh-TW" sz="2000" dirty="0" smtClean="0">
                <a:cs typeface="Arial" pitchFamily="34" charset="0"/>
              </a:rPr>
              <a:t>)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User mode dispatch/scheduling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Can utilize </a:t>
            </a:r>
            <a:r>
              <a:rPr lang="en-US" altLang="zh-TW" sz="2000" dirty="0" err="1" smtClean="0">
                <a:cs typeface="Arial" pitchFamily="34" charset="0"/>
              </a:rPr>
              <a:t>pagable</a:t>
            </a:r>
            <a:r>
              <a:rPr lang="en-US" altLang="zh-TW" sz="2000" dirty="0" smtClean="0">
                <a:cs typeface="Arial" pitchFamily="34" charset="0"/>
              </a:rPr>
              <a:t> system memory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Fully coherent memory between the CPU and GPU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Pre-emption and context switching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Relaxed consistency memory model </a:t>
            </a:r>
          </a:p>
          <a:p>
            <a:pPr lvl="1"/>
            <a:r>
              <a:rPr lang="en-US" altLang="zh-TW" sz="2000" dirty="0" smtClean="0">
                <a:cs typeface="Arial" pitchFamily="34" charset="0"/>
              </a:rPr>
              <a:t>Quality of Service </a:t>
            </a:r>
            <a:endParaRPr lang="en-US" altLang="zh-TW" sz="2000" dirty="0">
              <a:cs typeface="Arial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46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00" y="188640"/>
            <a:ext cx="8001000" cy="801960"/>
          </a:xfrm>
        </p:spPr>
        <p:txBody>
          <a:bodyPr/>
          <a:lstStyle/>
          <a:p>
            <a:r>
              <a:rPr lang="en-US" dirty="0" smtClean="0"/>
              <a:t>What HSA Are Trying to Solve</a:t>
            </a:r>
            <a:endParaRPr lang="en-US" dirty="0"/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79513" y="1196752"/>
            <a:ext cx="5760640" cy="4536504"/>
          </a:xfrm>
        </p:spPr>
        <p:txBody>
          <a:bodyPr/>
          <a:lstStyle/>
          <a:p>
            <a:r>
              <a:rPr lang="en-US" altLang="zh-TW" sz="2400" dirty="0" smtClean="0"/>
              <a:t>The SOC are quickly following into the same many CPU core bottlenecks of the PC</a:t>
            </a:r>
          </a:p>
          <a:p>
            <a:pPr lvl="1"/>
            <a:r>
              <a:rPr lang="en-US" altLang="zh-TW" sz="2000" dirty="0" smtClean="0"/>
              <a:t>To move beyond this we need to look at right processor(s) and/or execution device for given workload at reasonable power</a:t>
            </a:r>
          </a:p>
          <a:p>
            <a:r>
              <a:rPr lang="en-US" sz="2400" dirty="0" smtClean="0"/>
              <a:t>While </a:t>
            </a:r>
            <a:r>
              <a:rPr lang="en-US" sz="2400" dirty="0"/>
              <a:t>addressing the core issues of</a:t>
            </a:r>
          </a:p>
          <a:p>
            <a:pPr lvl="1"/>
            <a:r>
              <a:rPr lang="en-US" sz="2000" dirty="0"/>
              <a:t>Easier to program</a:t>
            </a:r>
          </a:p>
          <a:p>
            <a:pPr lvl="1"/>
            <a:r>
              <a:rPr lang="en-US" sz="2000" dirty="0"/>
              <a:t>Easier to optimize</a:t>
            </a:r>
          </a:p>
          <a:p>
            <a:pPr lvl="1"/>
            <a:r>
              <a:rPr lang="en-US" sz="2000" dirty="0"/>
              <a:t>Easier to load balance</a:t>
            </a:r>
          </a:p>
          <a:p>
            <a:pPr lvl="1"/>
            <a:r>
              <a:rPr lang="en-US" sz="2000" dirty="0" smtClean="0"/>
              <a:t>High </a:t>
            </a:r>
            <a:r>
              <a:rPr lang="en-US" sz="2000" dirty="0"/>
              <a:t>performance</a:t>
            </a:r>
          </a:p>
          <a:p>
            <a:pPr lvl="1"/>
            <a:r>
              <a:rPr lang="en-US" sz="2000" dirty="0"/>
              <a:t>Lower power </a:t>
            </a:r>
          </a:p>
          <a:p>
            <a:pPr lvl="1">
              <a:buNone/>
            </a:pPr>
            <a:endParaRPr lang="en-US" i="1" dirty="0" smtClean="0"/>
          </a:p>
          <a:p>
            <a:endParaRPr lang="en-US" sz="1600" dirty="0"/>
          </a:p>
        </p:txBody>
      </p:sp>
      <p:pic>
        <p:nvPicPr>
          <p:cNvPr id="2051" name="Picture 3" descr="C:\Users\mseibert\Desktop\HSA\Presentations\Image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2" t="6760" r="25024" b="7606"/>
          <a:stretch/>
        </p:blipFill>
        <p:spPr bwMode="auto">
          <a:xfrm>
            <a:off x="5814848" y="1498600"/>
            <a:ext cx="3221648" cy="412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77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Pillars of HSA*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228600" y="1196752"/>
            <a:ext cx="8686800" cy="488597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 smtClean="0"/>
              <a:t>Unified </a:t>
            </a:r>
            <a:r>
              <a:rPr lang="en-US" dirty="0"/>
              <a:t>addressing across all processors</a:t>
            </a:r>
          </a:p>
          <a:p>
            <a:pPr>
              <a:spcBef>
                <a:spcPts val="600"/>
              </a:spcBef>
            </a:pPr>
            <a:r>
              <a:rPr lang="en-US" dirty="0"/>
              <a:t>Operation into pageable system memory</a:t>
            </a:r>
          </a:p>
          <a:p>
            <a:pPr>
              <a:spcBef>
                <a:spcPts val="600"/>
              </a:spcBef>
            </a:pPr>
            <a:r>
              <a:rPr lang="en-US" dirty="0"/>
              <a:t>Full memory coherency</a:t>
            </a:r>
          </a:p>
          <a:p>
            <a:pPr>
              <a:spcBef>
                <a:spcPts val="600"/>
              </a:spcBef>
            </a:pPr>
            <a:r>
              <a:rPr lang="en-US" dirty="0"/>
              <a:t>User mode dispatch</a:t>
            </a:r>
          </a:p>
          <a:p>
            <a:pPr>
              <a:spcBef>
                <a:spcPts val="600"/>
              </a:spcBef>
            </a:pPr>
            <a:r>
              <a:rPr lang="en-US" dirty="0"/>
              <a:t>Architected queuing language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Scheduling and </a:t>
            </a:r>
            <a:r>
              <a:rPr lang="en-US" dirty="0"/>
              <a:t>context </a:t>
            </a:r>
            <a:r>
              <a:rPr lang="en-US" dirty="0" smtClean="0"/>
              <a:t>switching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HSA Intermediate Language (HSAIL)</a:t>
            </a:r>
          </a:p>
          <a:p>
            <a:pPr>
              <a:spcBef>
                <a:spcPts val="600"/>
              </a:spcBef>
            </a:pPr>
            <a:r>
              <a:rPr lang="en-US" dirty="0"/>
              <a:t>High level language support for GPU compute processors</a:t>
            </a:r>
          </a:p>
          <a:p>
            <a:pPr marL="3429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9089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HSA Specifications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31664"/>
            <a:ext cx="8686800" cy="488962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HSA </a:t>
            </a:r>
            <a:r>
              <a:rPr lang="en-US" dirty="0" smtClean="0"/>
              <a:t>System Architecture Specification</a:t>
            </a:r>
            <a:endParaRPr lang="en-US" dirty="0"/>
          </a:p>
          <a:p>
            <a:pPr lvl="1"/>
            <a:r>
              <a:rPr lang="en-US" dirty="0"/>
              <a:t>Version 1.0 Provisional, Released April </a:t>
            </a:r>
            <a:r>
              <a:rPr lang="en-US" dirty="0" smtClean="0"/>
              <a:t>2014</a:t>
            </a:r>
          </a:p>
          <a:p>
            <a:pPr lvl="1"/>
            <a:r>
              <a:rPr lang="en-US" dirty="0" smtClean="0"/>
              <a:t>Defines discovery, memory model, queue management, atomics, </a:t>
            </a:r>
            <a:r>
              <a:rPr lang="en-US" dirty="0" err="1" smtClean="0"/>
              <a:t>etc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dirty="0" smtClean="0"/>
              <a:t>HSA Programmers Reference Specification</a:t>
            </a:r>
          </a:p>
          <a:p>
            <a:pPr lvl="1"/>
            <a:r>
              <a:rPr lang="en-US" dirty="0" smtClean="0"/>
              <a:t>Version 1.0 Provisional, Released June 2014</a:t>
            </a:r>
          </a:p>
          <a:p>
            <a:pPr lvl="1"/>
            <a:r>
              <a:rPr lang="en-US" dirty="0" smtClean="0"/>
              <a:t>Defines the HSAIL language and object format</a:t>
            </a:r>
          </a:p>
          <a:p>
            <a:pPr>
              <a:spcBef>
                <a:spcPts val="600"/>
              </a:spcBef>
            </a:pPr>
            <a:r>
              <a:rPr lang="en-US" dirty="0"/>
              <a:t>HSA </a:t>
            </a:r>
            <a:r>
              <a:rPr lang="en-US" dirty="0" smtClean="0"/>
              <a:t>Runtime Software </a:t>
            </a:r>
            <a:r>
              <a:rPr lang="en-US" dirty="0"/>
              <a:t>Specification</a:t>
            </a:r>
          </a:p>
          <a:p>
            <a:pPr lvl="1"/>
            <a:r>
              <a:rPr lang="en-US" dirty="0"/>
              <a:t>Version 1.0 Provisional, </a:t>
            </a:r>
            <a:r>
              <a:rPr lang="en-US" dirty="0" smtClean="0"/>
              <a:t>expected to be released in July 2014</a:t>
            </a:r>
          </a:p>
          <a:p>
            <a:pPr lvl="1"/>
            <a:r>
              <a:rPr lang="en-US" dirty="0" smtClean="0"/>
              <a:t>Defines the APIs through which an HSA application uses the platform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4058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HSA - </a:t>
            </a:r>
            <a:r>
              <a:rPr lang="en-US" dirty="0"/>
              <a:t>A</a:t>
            </a:r>
            <a:r>
              <a:rPr lang="en-US" dirty="0" smtClean="0"/>
              <a:t>n Open Platform</a:t>
            </a:r>
            <a:endParaRPr lang="en-US" dirty="0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251520" y="1052736"/>
            <a:ext cx="6048672" cy="504056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 smtClean="0"/>
              <a:t>Open Architecture, membership open to all</a:t>
            </a:r>
          </a:p>
          <a:p>
            <a:pPr lvl="1"/>
            <a:r>
              <a:rPr lang="en-US" sz="2000" dirty="0" smtClean="0"/>
              <a:t>HSA Programmers Reference Manual</a:t>
            </a:r>
          </a:p>
          <a:p>
            <a:pPr lvl="1"/>
            <a:r>
              <a:rPr lang="en-US" sz="2000" dirty="0" smtClean="0"/>
              <a:t>HSA System Architecture</a:t>
            </a:r>
          </a:p>
          <a:p>
            <a:pPr lvl="1"/>
            <a:r>
              <a:rPr lang="en-US" sz="2000" dirty="0" smtClean="0"/>
              <a:t>HSA Runtime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Delivered via royalty free standards</a:t>
            </a:r>
          </a:p>
          <a:p>
            <a:pPr lvl="1"/>
            <a:r>
              <a:rPr lang="en-US" sz="2000" dirty="0" smtClean="0"/>
              <a:t>Royalty Free IP, Specifications and APIs</a:t>
            </a: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400" dirty="0" smtClean="0"/>
              <a:t>ISA agnostic for both CPU and GPU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Membership from all areas of computing</a:t>
            </a:r>
          </a:p>
          <a:p>
            <a:pPr lvl="1"/>
            <a:r>
              <a:rPr lang="en-US" sz="2000" dirty="0" smtClean="0"/>
              <a:t>Hardware companies</a:t>
            </a:r>
          </a:p>
          <a:p>
            <a:pPr lvl="1"/>
            <a:r>
              <a:rPr lang="en-US" sz="2000" dirty="0" smtClean="0"/>
              <a:t>Operating Systems</a:t>
            </a:r>
          </a:p>
          <a:p>
            <a:pPr lvl="1"/>
            <a:r>
              <a:rPr lang="en-US" sz="2000" dirty="0" smtClean="0"/>
              <a:t>Tools and Middleware</a:t>
            </a:r>
          </a:p>
          <a:p>
            <a:pPr lvl="1"/>
            <a:r>
              <a:rPr lang="en-US" sz="2000" dirty="0" smtClean="0"/>
              <a:t>Applications</a:t>
            </a:r>
          </a:p>
          <a:p>
            <a:pPr lvl="1"/>
            <a:r>
              <a:rPr lang="en-US" sz="2000" dirty="0" smtClean="0"/>
              <a:t>Universities</a:t>
            </a:r>
          </a:p>
        </p:txBody>
      </p:sp>
      <p:pic>
        <p:nvPicPr>
          <p:cNvPr id="15" name="Picture 2" descr="E:\Quardia\Quardia Client Folder - Active\AMD\SQUARE png resource\AMD Content background square master 06touch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77272" y="1295401"/>
            <a:ext cx="2743200" cy="3705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2845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07375" cy="692150"/>
          </a:xfrm>
        </p:spPr>
        <p:txBody>
          <a:bodyPr/>
          <a:lstStyle/>
          <a:p>
            <a:r>
              <a:rPr lang="en-US" sz="3200" dirty="0"/>
              <a:t>HSA </a:t>
            </a:r>
            <a:r>
              <a:rPr lang="en-US" sz="3200" dirty="0" smtClean="0"/>
              <a:t>Taking </a:t>
            </a:r>
            <a:r>
              <a:rPr lang="en-US" sz="3200" dirty="0"/>
              <a:t>P</a:t>
            </a:r>
            <a:r>
              <a:rPr lang="en-US" sz="3200" dirty="0" smtClean="0"/>
              <a:t>latform to Programmers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712968" cy="4896544"/>
          </a:xfrm>
        </p:spPr>
        <p:txBody>
          <a:bodyPr/>
          <a:lstStyle/>
          <a:p>
            <a:r>
              <a:rPr lang="en-US" sz="2400" dirty="0"/>
              <a:t>Balance between CPU and GPU for performance and power efficiency</a:t>
            </a:r>
          </a:p>
          <a:p>
            <a:r>
              <a:rPr lang="en-US" sz="2400" dirty="0"/>
              <a:t>Make GPUs accessible to wider audience of programmers</a:t>
            </a:r>
          </a:p>
          <a:p>
            <a:pPr lvl="1"/>
            <a:r>
              <a:rPr lang="en-US" sz="2000" dirty="0"/>
              <a:t>Programming models close to today’s CPU programming models</a:t>
            </a:r>
          </a:p>
          <a:p>
            <a:pPr lvl="1"/>
            <a:r>
              <a:rPr lang="en-US" sz="2000" dirty="0"/>
              <a:t>Enabling more advanced language features on GPU</a:t>
            </a:r>
          </a:p>
          <a:p>
            <a:pPr lvl="1"/>
            <a:r>
              <a:rPr lang="en-US" sz="2000" dirty="0"/>
              <a:t>Shared virtual memory enables complex pointer-containing data structures (lists, trees, etc.) and hence more applications on GPU</a:t>
            </a:r>
          </a:p>
          <a:p>
            <a:pPr lvl="1"/>
            <a:r>
              <a:rPr lang="en-US" sz="2000" dirty="0"/>
              <a:t>Kernel can enqueue work to any other device in the </a:t>
            </a:r>
            <a:r>
              <a:rPr lang="en-US" sz="2000" dirty="0" smtClean="0"/>
              <a:t>system</a:t>
            </a:r>
            <a:endParaRPr lang="en-US" sz="2000" dirty="0"/>
          </a:p>
          <a:p>
            <a:pPr lvl="2">
              <a:buFont typeface="Arial" charset="0"/>
              <a:buChar char="•"/>
            </a:pPr>
            <a:r>
              <a:rPr lang="en-US" sz="1800" dirty="0"/>
              <a:t>Enabling task-graph style algorithms, Ray-Tracing, </a:t>
            </a:r>
            <a:r>
              <a:rPr lang="en-US" sz="1800" dirty="0" err="1"/>
              <a:t>etc</a:t>
            </a:r>
            <a:endParaRPr lang="en-US" sz="1800" dirty="0"/>
          </a:p>
          <a:p>
            <a:r>
              <a:rPr lang="en-US" sz="2400" dirty="0"/>
              <a:t>Clearly defined HSA memory model enables effective reasoning for parallel programming</a:t>
            </a:r>
          </a:p>
          <a:p>
            <a:r>
              <a:rPr lang="en-US" sz="2400" dirty="0"/>
              <a:t>HSA provides a compatible architecture across a wide range of programming models and HW </a:t>
            </a:r>
            <a:r>
              <a:rPr lang="en-US" sz="2400" dirty="0" smtClean="0"/>
              <a:t>implementations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6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16570"/>
            <a:ext cx="8207375" cy="692150"/>
          </a:xfrm>
        </p:spPr>
        <p:txBody>
          <a:bodyPr/>
          <a:lstStyle/>
          <a:p>
            <a:r>
              <a:rPr lang="en-US" sz="3200" dirty="0"/>
              <a:t>HSA </a:t>
            </a:r>
            <a:r>
              <a:rPr lang="en-US" sz="3200" dirty="0" smtClean="0"/>
              <a:t>Is </a:t>
            </a:r>
            <a:r>
              <a:rPr lang="en-US" sz="3200" dirty="0"/>
              <a:t>D</a:t>
            </a:r>
            <a:r>
              <a:rPr lang="en-US" sz="3200" dirty="0" smtClean="0"/>
              <a:t>esigned </a:t>
            </a:r>
            <a:r>
              <a:rPr lang="en-US" sz="3200" dirty="0"/>
              <a:t>to </a:t>
            </a:r>
            <a:r>
              <a:rPr lang="en-US" sz="3200" dirty="0" smtClean="0"/>
              <a:t>Go </a:t>
            </a:r>
            <a:r>
              <a:rPr lang="en-US" sz="3200" dirty="0"/>
              <a:t>B</a:t>
            </a:r>
            <a:r>
              <a:rPr lang="en-US" sz="3200" dirty="0" smtClean="0"/>
              <a:t>eyond </a:t>
            </a:r>
            <a:r>
              <a:rPr lang="en-US" sz="3200" dirty="0"/>
              <a:t>the GPU</a:t>
            </a:r>
          </a:p>
        </p:txBody>
      </p:sp>
      <p:grpSp>
        <p:nvGrpSpPr>
          <p:cNvPr id="19" name="群組 18"/>
          <p:cNvGrpSpPr/>
          <p:nvPr/>
        </p:nvGrpSpPr>
        <p:grpSpPr>
          <a:xfrm>
            <a:off x="1403648" y="1419696"/>
            <a:ext cx="6480720" cy="4385568"/>
            <a:chOff x="1170384" y="1347688"/>
            <a:chExt cx="6858000" cy="4673600"/>
          </a:xfrm>
        </p:grpSpPr>
        <p:sp>
          <p:nvSpPr>
            <p:cNvPr id="7" name="Rounded Rectangle 6"/>
            <p:cNvSpPr/>
            <p:nvPr/>
          </p:nvSpPr>
          <p:spPr>
            <a:xfrm>
              <a:off x="1170384" y="1347688"/>
              <a:ext cx="1524000" cy="1320800"/>
            </a:xfrm>
            <a:prstGeom prst="roundRect">
              <a:avLst/>
            </a:prstGeom>
            <a:solidFill>
              <a:srgbClr val="19A6B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CPU </a:t>
              </a:r>
              <a:endParaRPr lang="en-US" sz="1600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384" y="3278088"/>
              <a:ext cx="1524000" cy="2641600"/>
            </a:xfrm>
            <a:prstGeom prst="roundRect">
              <a:avLst/>
            </a:prstGeom>
            <a:solidFill>
              <a:srgbClr val="C80000"/>
            </a:solidFill>
            <a:ln>
              <a:solidFill>
                <a:srgbClr val="A9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G</a:t>
              </a:r>
              <a:r>
                <a:rPr lang="en-US" sz="1600" dirty="0" smtClean="0"/>
                <a:t>PU </a:t>
              </a:r>
              <a:endParaRPr lang="en-US" sz="1600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03984" y="2770088"/>
              <a:ext cx="4648200" cy="5080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Shared Memory and Coherency</a:t>
              </a:r>
              <a:endParaRPr lang="en-US" sz="1600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380184" y="1347688"/>
              <a:ext cx="1447800" cy="132080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Audio</a:t>
              </a:r>
            </a:p>
            <a:p>
              <a:pPr algn="ctr"/>
              <a:r>
                <a:rPr lang="en-US" sz="1600" dirty="0" smtClean="0"/>
                <a:t>Processor </a:t>
              </a:r>
              <a:endParaRPr lang="en-US" sz="1600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904184" y="1347688"/>
              <a:ext cx="1371600" cy="13208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Video</a:t>
              </a:r>
            </a:p>
            <a:p>
              <a:pPr algn="ctr"/>
              <a:r>
                <a:rPr lang="en-US" sz="1600" dirty="0" smtClean="0"/>
                <a:t>Hardware</a:t>
              </a:r>
              <a:endParaRPr lang="en-US" sz="1600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827984" y="3379688"/>
              <a:ext cx="1447800" cy="26416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DSP</a:t>
              </a:r>
              <a:endParaRPr lang="en-US" sz="1600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51984" y="1347688"/>
              <a:ext cx="1600200" cy="1320800"/>
            </a:xfrm>
            <a:prstGeom prst="roundRect">
              <a:avLst/>
            </a:prstGeom>
            <a:solidFill>
              <a:srgbClr val="FF6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Security</a:t>
              </a:r>
            </a:p>
            <a:p>
              <a:pPr algn="ctr"/>
              <a:r>
                <a:rPr lang="en-US" sz="1600" dirty="0" smtClean="0"/>
                <a:t>Processor</a:t>
              </a:r>
              <a:endParaRPr lang="en-US" sz="1600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351984" y="3379688"/>
              <a:ext cx="1676400" cy="264160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 smtClean="0"/>
            </a:p>
            <a:p>
              <a:pPr algn="ctr"/>
              <a:r>
                <a:rPr lang="en-US" sz="1600" dirty="0" smtClean="0"/>
                <a:t>Image</a:t>
              </a:r>
            </a:p>
            <a:p>
              <a:pPr algn="ctr"/>
              <a:r>
                <a:rPr lang="en-US" sz="1600" dirty="0" smtClean="0"/>
                <a:t>Signal Processing 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303984" y="3379688"/>
              <a:ext cx="1447800" cy="2641600"/>
            </a:xfrm>
            <a:prstGeom prst="roundRect">
              <a:avLst/>
            </a:prstGeom>
            <a:solidFill>
              <a:srgbClr val="0145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smtClean="0"/>
                <a:t>Fixed</a:t>
              </a:r>
            </a:p>
            <a:p>
              <a:pPr algn="ctr"/>
              <a:r>
                <a:rPr lang="en-US" sz="1500" dirty="0" smtClean="0"/>
                <a:t>Function</a:t>
              </a:r>
            </a:p>
            <a:p>
              <a:pPr algn="ctr"/>
              <a:r>
                <a:rPr lang="en-US" sz="1500" dirty="0" smtClean="0"/>
                <a:t>Accelerator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170384" y="2668488"/>
              <a:ext cx="1524000" cy="6096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SM&amp;C</a:t>
              </a:r>
              <a:endParaRPr lang="en-US" sz="1600" dirty="0"/>
            </a:p>
          </p:txBody>
        </p:sp>
        <p:sp>
          <p:nvSpPr>
            <p:cNvPr id="17" name="Plus 16"/>
            <p:cNvSpPr/>
            <p:nvPr/>
          </p:nvSpPr>
          <p:spPr>
            <a:xfrm>
              <a:off x="2541984" y="2465288"/>
              <a:ext cx="914400" cy="1219200"/>
            </a:xfrm>
            <a:prstGeom prst="mathPlus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圖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995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16570"/>
            <a:ext cx="8207375" cy="692150"/>
          </a:xfrm>
        </p:spPr>
        <p:txBody>
          <a:bodyPr/>
          <a:lstStyle/>
          <a:p>
            <a:r>
              <a:rPr lang="en-US" sz="3200" dirty="0" smtClean="0"/>
              <a:t>HSA Platform</a:t>
            </a:r>
            <a:endParaRPr lang="en-US" sz="3200" dirty="0"/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50372"/>
            <a:ext cx="2118044" cy="87387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99122"/>
            <a:ext cx="8604448" cy="498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613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16570"/>
            <a:ext cx="8207375" cy="692150"/>
          </a:xfrm>
        </p:spPr>
        <p:txBody>
          <a:bodyPr/>
          <a:lstStyle/>
          <a:p>
            <a:r>
              <a:rPr lang="en-US" dirty="0" smtClean="0"/>
              <a:t>Simplified HSA Solution Stack</a:t>
            </a:r>
            <a:endParaRPr lang="en-US" dirty="0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08176"/>
            <a:ext cx="8510149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987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76305"/>
            <a:ext cx="7696200" cy="711200"/>
          </a:xfrm>
        </p:spPr>
        <p:txBody>
          <a:bodyPr/>
          <a:lstStyle/>
          <a:p>
            <a:r>
              <a:rPr lang="en-US" dirty="0" smtClean="0"/>
              <a:t>HSA Intermediate Layer - HSAIL</a:t>
            </a:r>
            <a:endParaRPr lang="en-US" dirty="0"/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381000" y="1196752"/>
            <a:ext cx="7215336" cy="465388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 smtClean="0"/>
              <a:t>HSAIL is a virtual ISA for parallel programs</a:t>
            </a:r>
          </a:p>
          <a:p>
            <a:pPr lvl="1">
              <a:spcAft>
                <a:spcPts val="200"/>
              </a:spcAft>
            </a:pPr>
            <a:r>
              <a:rPr lang="en-US" sz="2000" dirty="0" smtClean="0"/>
              <a:t>Finalized to ISA by a JIT compiler or “Finalizer”</a:t>
            </a:r>
          </a:p>
          <a:p>
            <a:pPr lvl="1">
              <a:spcAft>
                <a:spcPts val="200"/>
              </a:spcAft>
            </a:pPr>
            <a:r>
              <a:rPr lang="en-US" sz="2000" dirty="0" smtClean="0"/>
              <a:t>ISA independent by design for CPU &amp; GPU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Explicitly parallel</a:t>
            </a:r>
          </a:p>
          <a:p>
            <a:pPr lvl="1">
              <a:spcAft>
                <a:spcPts val="200"/>
              </a:spcAft>
            </a:pPr>
            <a:r>
              <a:rPr lang="en-US" sz="2000" dirty="0" smtClean="0"/>
              <a:t>Designed for data parallel programming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Support  for exceptions, virtual functions,  </a:t>
            </a:r>
            <a:br>
              <a:rPr lang="en-US" sz="2400" dirty="0"/>
            </a:br>
            <a:r>
              <a:rPr lang="en-US" sz="2400" dirty="0"/>
              <a:t>and other high level language features</a:t>
            </a:r>
          </a:p>
          <a:p>
            <a:pPr>
              <a:spcBef>
                <a:spcPts val="1200"/>
              </a:spcBef>
            </a:pPr>
            <a:r>
              <a:rPr lang="en-US" sz="2400" dirty="0" err="1"/>
              <a:t>Syscall</a:t>
            </a:r>
            <a:r>
              <a:rPr lang="en-US" sz="2400" dirty="0"/>
              <a:t> methods </a:t>
            </a:r>
          </a:p>
          <a:p>
            <a:pPr lvl="1">
              <a:spcAft>
                <a:spcPts val="200"/>
              </a:spcAft>
            </a:pPr>
            <a:r>
              <a:rPr lang="en-US" sz="2000" dirty="0" smtClean="0"/>
              <a:t>GPU code can call directly  to system services, IO, </a:t>
            </a:r>
            <a:r>
              <a:rPr lang="en-US" sz="2000" dirty="0" err="1" smtClean="0"/>
              <a:t>printf</a:t>
            </a:r>
            <a:r>
              <a:rPr lang="en-US" sz="2000" dirty="0" smtClean="0"/>
              <a:t>, etc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Debugging support</a:t>
            </a:r>
          </a:p>
        </p:txBody>
      </p:sp>
      <p:pic>
        <p:nvPicPr>
          <p:cNvPr id="3074" name="Picture 2" descr="C:\Users\mseibert\AppData\Local\Temp\iStock_000018028263_Small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068413"/>
            <a:ext cx="2880320" cy="236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3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HSA Runtime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8600" y="1196752"/>
            <a:ext cx="8686800" cy="4896544"/>
          </a:xfrm>
        </p:spPr>
        <p:txBody>
          <a:bodyPr/>
          <a:lstStyle/>
          <a:p>
            <a:r>
              <a:rPr lang="en-US" altLang="zh-TW" sz="2400" dirty="0"/>
              <a:t>The HSA core runtime is a thin, user-mode API that provides the interface necessary for the host to launch compute kernels to the available HSA components</a:t>
            </a:r>
            <a:r>
              <a:rPr lang="en-US" altLang="zh-TW" sz="2400" dirty="0" smtClean="0"/>
              <a:t>.</a:t>
            </a:r>
          </a:p>
          <a:p>
            <a:endParaRPr lang="en-US" altLang="zh-TW" sz="2400" dirty="0"/>
          </a:p>
          <a:p>
            <a:r>
              <a:rPr lang="en-US" altLang="zh-TW" sz="2400" dirty="0"/>
              <a:t>The overall goal of the HSA core runtime design is to provide a high-performance dispatch mechanism that is portable across multiple HSA vendor architectures.</a:t>
            </a:r>
          </a:p>
          <a:p>
            <a:pPr lvl="1"/>
            <a:r>
              <a:rPr lang="en-US" altLang="zh-TW" sz="2000" dirty="0"/>
              <a:t>The dispatch mechanism differentiates the HSA runtime from other language runtimes by architected argument setting and kernel launching at the hardware and specification level.</a:t>
            </a:r>
          </a:p>
          <a:p>
            <a:pPr lvl="1"/>
            <a:r>
              <a:rPr lang="en-US" altLang="zh-TW" sz="2000" dirty="0"/>
              <a:t>The HSA core runtime API is standard across all HSA vendors, such that languages which use the HSA runtime can run on different vendor’s platforms that support the API. </a:t>
            </a:r>
          </a:p>
        </p:txBody>
      </p:sp>
    </p:spTree>
    <p:extLst>
      <p:ext uri="{BB962C8B-B14F-4D97-AF65-F5344CB8AC3E}">
        <p14:creationId xmlns:p14="http://schemas.microsoft.com/office/powerpoint/2010/main" val="296779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群組 90"/>
          <p:cNvGrpSpPr/>
          <p:nvPr/>
        </p:nvGrpSpPr>
        <p:grpSpPr>
          <a:xfrm>
            <a:off x="4800600" y="4079785"/>
            <a:ext cx="2590800" cy="1145977"/>
            <a:chOff x="4114800" y="3562352"/>
            <a:chExt cx="2590800" cy="1145977"/>
          </a:xfrm>
        </p:grpSpPr>
        <p:sp>
          <p:nvSpPr>
            <p:cNvPr id="38" name="矩形 37"/>
            <p:cNvSpPr/>
            <p:nvPr/>
          </p:nvSpPr>
          <p:spPr>
            <a:xfrm>
              <a:off x="4114800" y="3562352"/>
              <a:ext cx="2590800" cy="1143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4267200" y="4095752"/>
              <a:ext cx="990600" cy="23083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b="1" dirty="0"/>
                <a:t>Component 1</a:t>
              </a:r>
              <a:endParaRPr lang="zh-TW" altLang="en-US" sz="900" b="1" dirty="0"/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4267200" y="3787975"/>
              <a:ext cx="2286000" cy="30777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/>
                <a:t>Driver</a:t>
              </a:r>
              <a:endParaRPr lang="zh-TW" altLang="en-US" sz="1400" b="1" dirty="0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5562600" y="4095752"/>
              <a:ext cx="990600" cy="23083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b="1" dirty="0"/>
                <a:t>Component N</a:t>
              </a:r>
              <a:endParaRPr lang="zh-TW" altLang="en-US" sz="900" b="1" dirty="0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5181600" y="3993909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…</a:t>
              </a:r>
              <a:endParaRPr lang="zh-TW" altLang="en-US" b="1" dirty="0"/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5486400" y="4400552"/>
              <a:ext cx="1219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/>
                <a:t>Vendor </a:t>
              </a:r>
              <a:r>
                <a:rPr lang="en-US" altLang="zh-TW" sz="1400" b="1" i="1" dirty="0"/>
                <a:t>m</a:t>
              </a:r>
              <a:endParaRPr lang="zh-TW" altLang="en-US" sz="1400" b="1" dirty="0"/>
            </a:p>
          </p:txBody>
        </p:sp>
      </p:grpSp>
      <p:sp>
        <p:nvSpPr>
          <p:cNvPr id="66" name="文字方塊 65"/>
          <p:cNvSpPr txBox="1"/>
          <p:nvPr/>
        </p:nvSpPr>
        <p:spPr>
          <a:xfrm>
            <a:off x="3886200" y="4308378"/>
            <a:ext cx="457200" cy="461655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b="1" dirty="0"/>
              <a:t>…</a:t>
            </a:r>
            <a:endParaRPr lang="zh-TW" altLang="en-US" b="1" dirty="0"/>
          </a:p>
        </p:txBody>
      </p:sp>
      <p:grpSp>
        <p:nvGrpSpPr>
          <p:cNvPr id="111" name="群組 110"/>
          <p:cNvGrpSpPr/>
          <p:nvPr/>
        </p:nvGrpSpPr>
        <p:grpSpPr>
          <a:xfrm>
            <a:off x="762000" y="4079784"/>
            <a:ext cx="2590800" cy="1145977"/>
            <a:chOff x="762000" y="3562350"/>
            <a:chExt cx="2590800" cy="1145977"/>
          </a:xfrm>
        </p:grpSpPr>
        <p:sp>
          <p:nvSpPr>
            <p:cNvPr id="72" name="矩形 71"/>
            <p:cNvSpPr/>
            <p:nvPr/>
          </p:nvSpPr>
          <p:spPr>
            <a:xfrm>
              <a:off x="762000" y="3562350"/>
              <a:ext cx="2590800" cy="1143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914400" y="4095750"/>
              <a:ext cx="990600" cy="23083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b="1" dirty="0"/>
                <a:t>Component 1</a:t>
              </a:r>
              <a:endParaRPr lang="zh-TW" altLang="en-US" sz="900" b="1" dirty="0"/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914400" y="3787973"/>
              <a:ext cx="2286000" cy="30777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/>
                <a:t>Driver</a:t>
              </a:r>
              <a:endParaRPr lang="zh-TW" altLang="en-US" sz="1400" b="1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2209800" y="4095750"/>
              <a:ext cx="990600" cy="23083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b="1" dirty="0"/>
                <a:t>Component N</a:t>
              </a:r>
              <a:endParaRPr lang="zh-TW" altLang="en-US" sz="900" b="1" dirty="0"/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1828800" y="3993911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…</a:t>
              </a:r>
              <a:endParaRPr lang="zh-TW" altLang="en-US" b="1" dirty="0"/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2133600" y="4400550"/>
              <a:ext cx="1219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/>
                <a:t>Vendor 1</a:t>
              </a:r>
              <a:endParaRPr lang="zh-TW" altLang="en-US" sz="1400" b="1" dirty="0"/>
            </a:p>
          </p:txBody>
        </p:sp>
      </p:grpSp>
      <p:grpSp>
        <p:nvGrpSpPr>
          <p:cNvPr id="92" name="群組 91"/>
          <p:cNvGrpSpPr/>
          <p:nvPr/>
        </p:nvGrpSpPr>
        <p:grpSpPr>
          <a:xfrm>
            <a:off x="304800" y="4079784"/>
            <a:ext cx="4038600" cy="1145977"/>
            <a:chOff x="4114800" y="3562352"/>
            <a:chExt cx="4038600" cy="1145977"/>
          </a:xfrm>
        </p:grpSpPr>
        <p:sp>
          <p:nvSpPr>
            <p:cNvPr id="93" name="矩形 92"/>
            <p:cNvSpPr/>
            <p:nvPr/>
          </p:nvSpPr>
          <p:spPr>
            <a:xfrm>
              <a:off x="4114800" y="3562352"/>
              <a:ext cx="4038600" cy="1143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4267200" y="4095752"/>
              <a:ext cx="990600" cy="23083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b="1" dirty="0"/>
                <a:t>Component 1</a:t>
              </a:r>
              <a:endParaRPr lang="zh-TW" altLang="en-US" sz="900" b="1" dirty="0"/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4267200" y="3787975"/>
              <a:ext cx="2286000" cy="30777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/>
                <a:t>HSA Runtime</a:t>
              </a:r>
              <a:endParaRPr lang="zh-TW" altLang="en-US" sz="1400" b="1" dirty="0"/>
            </a:p>
          </p:txBody>
        </p:sp>
        <p:sp>
          <p:nvSpPr>
            <p:cNvPr id="96" name="文字方塊 95"/>
            <p:cNvSpPr txBox="1"/>
            <p:nvPr/>
          </p:nvSpPr>
          <p:spPr>
            <a:xfrm>
              <a:off x="5562600" y="4095752"/>
              <a:ext cx="990600" cy="23083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b="1" dirty="0"/>
                <a:t>Component N</a:t>
              </a:r>
              <a:endParaRPr lang="zh-TW" altLang="en-US" sz="900" b="1" dirty="0"/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5181600" y="3993909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…</a:t>
              </a:r>
              <a:endParaRPr lang="zh-TW" altLang="en-US" b="1" dirty="0"/>
            </a:p>
          </p:txBody>
        </p:sp>
        <p:sp>
          <p:nvSpPr>
            <p:cNvPr id="98" name="文字方塊 97"/>
            <p:cNvSpPr txBox="1"/>
            <p:nvPr/>
          </p:nvSpPr>
          <p:spPr>
            <a:xfrm>
              <a:off x="5486400" y="4400552"/>
              <a:ext cx="1524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/>
                <a:t>HSA Vendor 1</a:t>
              </a:r>
              <a:endParaRPr lang="zh-TW" altLang="en-US" sz="1400" b="1" dirty="0"/>
            </a:p>
          </p:txBody>
        </p:sp>
        <p:sp>
          <p:nvSpPr>
            <p:cNvPr id="99" name="文字方塊 98"/>
            <p:cNvSpPr txBox="1"/>
            <p:nvPr/>
          </p:nvSpPr>
          <p:spPr>
            <a:xfrm>
              <a:off x="7086600" y="3790946"/>
              <a:ext cx="990600" cy="52322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/>
                <a:t>HSA</a:t>
              </a:r>
            </a:p>
            <a:p>
              <a:pPr algn="ctr"/>
              <a:r>
                <a:rPr lang="en-US" altLang="zh-TW" sz="1400" b="1" dirty="0" err="1"/>
                <a:t>Finalizer</a:t>
              </a:r>
              <a:endParaRPr lang="zh-TW" altLang="en-US" sz="1400" b="1" dirty="0"/>
            </a:p>
          </p:txBody>
        </p:sp>
        <p:cxnSp>
          <p:nvCxnSpPr>
            <p:cNvPr id="100" name="直線單箭頭接點 99"/>
            <p:cNvCxnSpPr/>
            <p:nvPr/>
          </p:nvCxnSpPr>
          <p:spPr>
            <a:xfrm>
              <a:off x="6596148" y="3925238"/>
              <a:ext cx="457200" cy="1486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群組 100"/>
          <p:cNvGrpSpPr/>
          <p:nvPr/>
        </p:nvGrpSpPr>
        <p:grpSpPr>
          <a:xfrm>
            <a:off x="4800600" y="4079785"/>
            <a:ext cx="4038600" cy="1145977"/>
            <a:chOff x="4114800" y="3562352"/>
            <a:chExt cx="4038600" cy="1145977"/>
          </a:xfrm>
        </p:grpSpPr>
        <p:sp>
          <p:nvSpPr>
            <p:cNvPr id="102" name="矩形 101"/>
            <p:cNvSpPr/>
            <p:nvPr/>
          </p:nvSpPr>
          <p:spPr>
            <a:xfrm>
              <a:off x="4114800" y="3562352"/>
              <a:ext cx="4038600" cy="1143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文字方塊 102"/>
            <p:cNvSpPr txBox="1"/>
            <p:nvPr/>
          </p:nvSpPr>
          <p:spPr>
            <a:xfrm>
              <a:off x="4267200" y="4095752"/>
              <a:ext cx="990600" cy="23083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b="1" dirty="0"/>
                <a:t>Component 1</a:t>
              </a:r>
              <a:endParaRPr lang="zh-TW" altLang="en-US" sz="900" b="1" dirty="0"/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4267200" y="3787975"/>
              <a:ext cx="2286000" cy="30777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/>
                <a:t>HSA Runtime</a:t>
              </a:r>
              <a:endParaRPr lang="zh-TW" altLang="en-US" sz="1400" b="1" dirty="0"/>
            </a:p>
          </p:txBody>
        </p:sp>
        <p:sp>
          <p:nvSpPr>
            <p:cNvPr id="105" name="文字方塊 104"/>
            <p:cNvSpPr txBox="1"/>
            <p:nvPr/>
          </p:nvSpPr>
          <p:spPr>
            <a:xfrm>
              <a:off x="5562600" y="4095752"/>
              <a:ext cx="990600" cy="23083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b="1" dirty="0"/>
                <a:t>Component N</a:t>
              </a:r>
              <a:endParaRPr lang="zh-TW" altLang="en-US" sz="900" b="1" dirty="0"/>
            </a:p>
          </p:txBody>
        </p:sp>
        <p:sp>
          <p:nvSpPr>
            <p:cNvPr id="106" name="文字方塊 105"/>
            <p:cNvSpPr txBox="1"/>
            <p:nvPr/>
          </p:nvSpPr>
          <p:spPr>
            <a:xfrm>
              <a:off x="5181600" y="3993909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…</a:t>
              </a:r>
              <a:endParaRPr lang="zh-TW" altLang="en-US" b="1" dirty="0"/>
            </a:p>
          </p:txBody>
        </p:sp>
        <p:sp>
          <p:nvSpPr>
            <p:cNvPr id="107" name="文字方塊 106"/>
            <p:cNvSpPr txBox="1"/>
            <p:nvPr/>
          </p:nvSpPr>
          <p:spPr>
            <a:xfrm>
              <a:off x="5410200" y="4400552"/>
              <a:ext cx="1752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/>
                <a:t>HSA Vendor </a:t>
              </a:r>
              <a:r>
                <a:rPr lang="en-US" altLang="zh-TW" sz="1400" b="1" i="1" dirty="0"/>
                <a:t>m</a:t>
              </a:r>
              <a:endParaRPr lang="zh-TW" altLang="en-US" sz="1400" b="1" dirty="0"/>
            </a:p>
          </p:txBody>
        </p:sp>
        <p:sp>
          <p:nvSpPr>
            <p:cNvPr id="108" name="文字方塊 107"/>
            <p:cNvSpPr txBox="1"/>
            <p:nvPr/>
          </p:nvSpPr>
          <p:spPr>
            <a:xfrm>
              <a:off x="7086600" y="3790946"/>
              <a:ext cx="990600" cy="52322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/>
                <a:t>HSA</a:t>
              </a:r>
            </a:p>
            <a:p>
              <a:pPr algn="ctr"/>
              <a:r>
                <a:rPr lang="en-US" altLang="zh-TW" sz="1400" b="1" dirty="0" err="1"/>
                <a:t>Finalizer</a:t>
              </a:r>
              <a:endParaRPr lang="zh-TW" altLang="en-US" sz="1400" b="1" dirty="0"/>
            </a:p>
          </p:txBody>
        </p:sp>
        <p:cxnSp>
          <p:nvCxnSpPr>
            <p:cNvPr id="109" name="直線單箭頭接點 108"/>
            <p:cNvCxnSpPr/>
            <p:nvPr/>
          </p:nvCxnSpPr>
          <p:spPr>
            <a:xfrm>
              <a:off x="6596148" y="3925238"/>
              <a:ext cx="457200" cy="1486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31815"/>
            <a:ext cx="8207375" cy="519113"/>
          </a:xfrm>
        </p:spPr>
        <p:txBody>
          <a:bodyPr/>
          <a:lstStyle/>
          <a:p>
            <a:r>
              <a:rPr lang="en-US" altLang="zh-TW" dirty="0" smtClean="0"/>
              <a:t>HSA </a:t>
            </a:r>
            <a:r>
              <a:rPr lang="en-US" altLang="zh-TW" dirty="0"/>
              <a:t>Runtime</a:t>
            </a:r>
            <a:r>
              <a:rPr lang="en-US" dirty="0" smtClean="0"/>
              <a:t> (2)</a:t>
            </a:r>
            <a:endParaRPr lang="en-US" dirty="0"/>
          </a:p>
        </p:txBody>
      </p:sp>
      <p:sp>
        <p:nvSpPr>
          <p:cNvPr id="39" name="投影片編號版面配置區 38"/>
          <p:cNvSpPr>
            <a:spLocks noGrp="1"/>
          </p:cNvSpPr>
          <p:nvPr>
            <p:ph type="sldNum" sz="quarter" idx="4294967295"/>
          </p:nvPr>
        </p:nvSpPr>
        <p:spPr>
          <a:xfrm>
            <a:off x="6831013" y="5750721"/>
            <a:ext cx="2133600" cy="254794"/>
          </a:xfrm>
          <a:prstGeom prst="rect">
            <a:avLst/>
          </a:prstGeom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F348599-3B42-451E-B007-3FD1EC231F49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  <p:cxnSp>
        <p:nvCxnSpPr>
          <p:cNvPr id="44" name="直線接點 43"/>
          <p:cNvCxnSpPr/>
          <p:nvPr/>
        </p:nvCxnSpPr>
        <p:spPr>
          <a:xfrm>
            <a:off x="228600" y="2784376"/>
            <a:ext cx="8686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6400800" y="1988840"/>
            <a:ext cx="2362200" cy="830970"/>
          </a:xfrm>
          <a:prstGeom prst="rect">
            <a:avLst/>
          </a:prstGeom>
          <a:noFill/>
        </p:spPr>
        <p:txBody>
          <a:bodyPr wrap="square" lIns="91414" tIns="45707" rIns="91414" bIns="45707" rtlCol="0">
            <a:spAutoFit/>
          </a:bodyPr>
          <a:lstStyle/>
          <a:p>
            <a:r>
              <a:rPr lang="en-US" altLang="zh-TW" dirty="0"/>
              <a:t>Programming Model</a:t>
            </a:r>
            <a:endParaRPr lang="zh-TW" altLang="en-US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6400800" y="2996952"/>
            <a:ext cx="2362200" cy="830970"/>
          </a:xfrm>
          <a:prstGeom prst="rect">
            <a:avLst/>
          </a:prstGeom>
          <a:noFill/>
        </p:spPr>
        <p:txBody>
          <a:bodyPr wrap="square" lIns="91414" tIns="45707" rIns="91414" bIns="45707" rtlCol="0">
            <a:spAutoFit/>
          </a:bodyPr>
          <a:lstStyle/>
          <a:p>
            <a:r>
              <a:rPr lang="en-US" altLang="zh-TW" dirty="0"/>
              <a:t>Language Runtime</a:t>
            </a:r>
            <a:endParaRPr lang="zh-TW" altLang="en-US" dirty="0"/>
          </a:p>
        </p:txBody>
      </p:sp>
      <p:sp>
        <p:nvSpPr>
          <p:cNvPr id="10" name="內容版面配置區 2"/>
          <p:cNvSpPr txBox="1">
            <a:spLocks/>
          </p:cNvSpPr>
          <p:nvPr/>
        </p:nvSpPr>
        <p:spPr>
          <a:xfrm>
            <a:off x="228600" y="1412776"/>
            <a:ext cx="8686800" cy="381000"/>
          </a:xfrm>
          <a:prstGeom prst="rect">
            <a:avLst/>
          </a:prstGeom>
        </p:spPr>
        <p:txBody>
          <a:bodyPr lIns="91430" tIns="45715" rIns="91430" bIns="45715"/>
          <a:lstStyle/>
          <a:p>
            <a:pPr marL="342821" indent="-342821">
              <a:spcBef>
                <a:spcPts val="1800"/>
              </a:spcBef>
              <a:buSzPct val="60000"/>
              <a:buFont typeface="Wingdings" charset="2"/>
              <a:buChar char="u"/>
              <a:defRPr/>
            </a:pPr>
            <a:r>
              <a:rPr lang="en-US" altLang="zh-TW" dirty="0">
                <a:solidFill>
                  <a:srgbClr val="0090A3"/>
                </a:solidFill>
              </a:rPr>
              <a:t>The software architecture stack without HSA runtime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1219200" y="2022376"/>
            <a:ext cx="990600" cy="52321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sz="1400" b="1" dirty="0" err="1"/>
              <a:t>OpenCL</a:t>
            </a:r>
            <a:endParaRPr lang="en-US" altLang="zh-TW" sz="1400" b="1" dirty="0"/>
          </a:p>
          <a:p>
            <a:pPr algn="ctr"/>
            <a:r>
              <a:rPr lang="en-US" altLang="zh-TW" sz="1400" b="1" dirty="0"/>
              <a:t>App</a:t>
            </a:r>
            <a:endParaRPr lang="zh-TW" altLang="en-US" sz="1400" b="1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362200" y="2022376"/>
            <a:ext cx="990600" cy="52321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sz="1400" b="1" dirty="0"/>
              <a:t>Java</a:t>
            </a:r>
          </a:p>
          <a:p>
            <a:pPr algn="ctr"/>
            <a:r>
              <a:rPr lang="en-US" altLang="zh-TW" sz="1400" b="1" dirty="0"/>
              <a:t>App</a:t>
            </a:r>
            <a:endParaRPr lang="zh-TW" altLang="en-US" sz="1400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114800" y="2022376"/>
            <a:ext cx="990600" cy="52321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sz="1400" b="1" dirty="0" err="1"/>
              <a:t>OpenMP</a:t>
            </a:r>
            <a:endParaRPr lang="en-US" altLang="zh-TW" sz="1400" b="1" dirty="0"/>
          </a:p>
          <a:p>
            <a:pPr algn="ctr"/>
            <a:r>
              <a:rPr lang="en-US" altLang="zh-TW" sz="1400" b="1" dirty="0"/>
              <a:t>App</a:t>
            </a:r>
            <a:endParaRPr lang="zh-TW" altLang="en-US" sz="1400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5257800" y="2022376"/>
            <a:ext cx="990600" cy="52321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sz="1400" b="1" dirty="0"/>
              <a:t>DSL</a:t>
            </a:r>
          </a:p>
          <a:p>
            <a:pPr algn="ctr"/>
            <a:r>
              <a:rPr lang="en-US" altLang="zh-TW" sz="1400" b="1" dirty="0"/>
              <a:t>App</a:t>
            </a:r>
            <a:endParaRPr lang="zh-TW" altLang="en-US" sz="1400" b="1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219200" y="3099356"/>
            <a:ext cx="990600" cy="52321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sz="1400" b="1" dirty="0" err="1"/>
              <a:t>OpenCL</a:t>
            </a:r>
            <a:endParaRPr lang="en-US" altLang="zh-TW" sz="1400" b="1" dirty="0"/>
          </a:p>
          <a:p>
            <a:pPr algn="ctr"/>
            <a:r>
              <a:rPr lang="en-US" altLang="zh-TW" sz="1400" b="1" dirty="0"/>
              <a:t>Runtime</a:t>
            </a:r>
            <a:endParaRPr lang="zh-TW" altLang="en-US" sz="1400" b="1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362200" y="3099356"/>
            <a:ext cx="990600" cy="52321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sz="1400" b="1" dirty="0"/>
              <a:t>Java</a:t>
            </a:r>
          </a:p>
          <a:p>
            <a:pPr algn="ctr"/>
            <a:r>
              <a:rPr lang="en-US" altLang="zh-TW" sz="1400" b="1" dirty="0"/>
              <a:t>Runtime</a:t>
            </a:r>
            <a:endParaRPr lang="zh-TW" altLang="en-US" sz="1400" b="1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4114800" y="3099356"/>
            <a:ext cx="990600" cy="52321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sz="1400" b="1" dirty="0" err="1"/>
              <a:t>OpenMP</a:t>
            </a:r>
            <a:endParaRPr lang="en-US" altLang="zh-TW" sz="1400" b="1" dirty="0"/>
          </a:p>
          <a:p>
            <a:pPr algn="ctr"/>
            <a:r>
              <a:rPr lang="en-US" altLang="zh-TW" sz="1400" b="1" dirty="0"/>
              <a:t>Runtime</a:t>
            </a:r>
            <a:endParaRPr lang="zh-TW" altLang="en-US" sz="1400" b="1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257800" y="3099356"/>
            <a:ext cx="990600" cy="52321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sz="1400" b="1" dirty="0"/>
              <a:t>DSL</a:t>
            </a:r>
          </a:p>
          <a:p>
            <a:pPr algn="ctr"/>
            <a:r>
              <a:rPr lang="en-US" altLang="zh-TW" sz="1400" b="1" dirty="0"/>
              <a:t>Runtime</a:t>
            </a:r>
            <a:endParaRPr lang="zh-TW" altLang="en-US" sz="1400" b="1" dirty="0"/>
          </a:p>
        </p:txBody>
      </p:sp>
      <p:cxnSp>
        <p:nvCxnSpPr>
          <p:cNvPr id="25" name="直線單箭頭接點 24"/>
          <p:cNvCxnSpPr>
            <a:stCxn id="11" idx="2"/>
            <a:endCxn id="20" idx="0"/>
          </p:cNvCxnSpPr>
          <p:nvPr/>
        </p:nvCxnSpPr>
        <p:spPr>
          <a:xfrm>
            <a:off x="1714500" y="2545586"/>
            <a:ext cx="0" cy="5537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2819400" y="2535416"/>
            <a:ext cx="0" cy="5537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4610100" y="2535416"/>
            <a:ext cx="0" cy="5537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5715000" y="2525237"/>
            <a:ext cx="0" cy="5537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20" idx="2"/>
            <a:endCxn id="41" idx="0"/>
          </p:cNvCxnSpPr>
          <p:nvPr/>
        </p:nvCxnSpPr>
        <p:spPr>
          <a:xfrm>
            <a:off x="1714500" y="3622567"/>
            <a:ext cx="4381500" cy="6828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21" idx="2"/>
            <a:endCxn id="41" idx="0"/>
          </p:cNvCxnSpPr>
          <p:nvPr/>
        </p:nvCxnSpPr>
        <p:spPr>
          <a:xfrm>
            <a:off x="2857500" y="3622567"/>
            <a:ext cx="3238500" cy="6828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H="1">
            <a:off x="2057400" y="3622577"/>
            <a:ext cx="2590800" cy="6828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22" idx="2"/>
            <a:endCxn id="41" idx="0"/>
          </p:cNvCxnSpPr>
          <p:nvPr/>
        </p:nvCxnSpPr>
        <p:spPr>
          <a:xfrm>
            <a:off x="4610100" y="3622567"/>
            <a:ext cx="1485900" cy="6828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stCxn id="23" idx="2"/>
            <a:endCxn id="41" idx="0"/>
          </p:cNvCxnSpPr>
          <p:nvPr/>
        </p:nvCxnSpPr>
        <p:spPr>
          <a:xfrm>
            <a:off x="5753100" y="3622567"/>
            <a:ext cx="342900" cy="6828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 flipH="1">
            <a:off x="2057400" y="3622577"/>
            <a:ext cx="3657600" cy="6828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3505200" y="2022377"/>
            <a:ext cx="457200" cy="461655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b="1" dirty="0"/>
              <a:t>…</a:t>
            </a:r>
            <a:endParaRPr lang="zh-TW" altLang="en-US" b="1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3505200" y="3100845"/>
            <a:ext cx="457200" cy="461655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b="1" dirty="0"/>
              <a:t>…</a:t>
            </a:r>
            <a:endParaRPr lang="zh-TW" altLang="en-US" b="1" dirty="0"/>
          </a:p>
        </p:txBody>
      </p:sp>
      <p:cxnSp>
        <p:nvCxnSpPr>
          <p:cNvPr id="86" name="直線接點 85"/>
          <p:cNvCxnSpPr/>
          <p:nvPr/>
        </p:nvCxnSpPr>
        <p:spPr>
          <a:xfrm>
            <a:off x="228600" y="3851176"/>
            <a:ext cx="8686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20" idx="2"/>
          </p:cNvCxnSpPr>
          <p:nvPr/>
        </p:nvCxnSpPr>
        <p:spPr>
          <a:xfrm>
            <a:off x="1714500" y="3622566"/>
            <a:ext cx="342900" cy="6828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>
            <a:off x="2057400" y="3622576"/>
            <a:ext cx="76200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內容版面配置區 2"/>
          <p:cNvSpPr txBox="1">
            <a:spLocks/>
          </p:cNvSpPr>
          <p:nvPr/>
        </p:nvSpPr>
        <p:spPr>
          <a:xfrm>
            <a:off x="228600" y="1412776"/>
            <a:ext cx="8686800" cy="381000"/>
          </a:xfrm>
          <a:prstGeom prst="rect">
            <a:avLst/>
          </a:prstGeom>
          <a:solidFill>
            <a:schemeClr val="bg1"/>
          </a:solidFill>
        </p:spPr>
        <p:txBody>
          <a:bodyPr lIns="91430" tIns="45715" rIns="91430" bIns="45715"/>
          <a:lstStyle/>
          <a:p>
            <a:pPr marL="342821" indent="-342821">
              <a:spcBef>
                <a:spcPts val="1800"/>
              </a:spcBef>
              <a:buSzPct val="60000"/>
              <a:buFont typeface="Wingdings" charset="2"/>
              <a:buChar char="u"/>
              <a:defRPr/>
            </a:pPr>
            <a:r>
              <a:rPr lang="en-US" altLang="zh-TW" dirty="0">
                <a:solidFill>
                  <a:srgbClr val="0090A3"/>
                </a:solidFill>
              </a:rPr>
              <a:t>The software architecture stack with HSA runtime</a:t>
            </a:r>
          </a:p>
        </p:txBody>
      </p:sp>
      <p:sp>
        <p:nvSpPr>
          <p:cNvPr id="64" name="文字方塊 63"/>
          <p:cNvSpPr txBox="1"/>
          <p:nvPr/>
        </p:nvSpPr>
        <p:spPr>
          <a:xfrm>
            <a:off x="4343400" y="4308378"/>
            <a:ext cx="457200" cy="461655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/>
            <a:r>
              <a:rPr lang="en-US" altLang="zh-TW" b="1" dirty="0"/>
              <a:t>…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29335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112" grpId="0" animBg="1"/>
      <p:bldP spid="6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77800"/>
            <a:ext cx="7696200" cy="812800"/>
          </a:xfrm>
        </p:spPr>
        <p:txBody>
          <a:bodyPr/>
          <a:lstStyle/>
          <a:p>
            <a:r>
              <a:rPr lang="en-US" dirty="0" smtClean="0"/>
              <a:t>HSA Memory Model</a:t>
            </a:r>
            <a:endParaRPr lang="en-US" dirty="0"/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304800" y="1252219"/>
            <a:ext cx="5347320" cy="475488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 smtClean="0"/>
              <a:t>Designed to be compatible with C++11, Java and .NET Memory Models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Relaxed consistency memory model for parallel compute performance</a:t>
            </a:r>
          </a:p>
          <a:p>
            <a:pPr>
              <a:spcAft>
                <a:spcPts val="1200"/>
              </a:spcAft>
            </a:pPr>
            <a:r>
              <a:rPr lang="en-US" sz="2400" dirty="0" smtClean="0"/>
              <a:t>Loads and stores can be re-ordered by the finalizer </a:t>
            </a:r>
          </a:p>
          <a:p>
            <a:pPr>
              <a:spcAft>
                <a:spcPts val="600"/>
              </a:spcAft>
            </a:pPr>
            <a:r>
              <a:rPr lang="en-US" sz="2400" dirty="0" smtClean="0"/>
              <a:t>Visibility controlled by: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000" dirty="0" err="1" smtClean="0"/>
              <a:t>Load.Acquire</a:t>
            </a:r>
            <a:r>
              <a:rPr lang="en-US" sz="2000" dirty="0" smtClean="0"/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000" dirty="0" err="1" smtClean="0"/>
              <a:t>Store.Release</a:t>
            </a:r>
            <a:endParaRPr lang="en-US" sz="2000" dirty="0" smtClean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/>
              <a:t>Barriers</a:t>
            </a:r>
            <a:endParaRPr lang="en-US" sz="2000" dirty="0"/>
          </a:p>
        </p:txBody>
      </p:sp>
      <p:pic>
        <p:nvPicPr>
          <p:cNvPr id="5" name="Picture 2" descr="E:\Quardia\Quardia Client Folder - Active\AMD\SQUARE png resource\AMD Content background square archi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722" y="1295400"/>
            <a:ext cx="3533774" cy="471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19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07375" cy="692150"/>
          </a:xfrm>
        </p:spPr>
        <p:txBody>
          <a:bodyPr/>
          <a:lstStyle/>
          <a:p>
            <a:r>
              <a:rPr lang="en-US" dirty="0" smtClean="0"/>
              <a:t>Intersection</a:t>
            </a:r>
            <a:r>
              <a:rPr lang="en-US" baseline="0" dirty="0" smtClean="0"/>
              <a:t> of HSA and Graphics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673600"/>
          </a:xfrm>
        </p:spPr>
        <p:txBody>
          <a:bodyPr/>
          <a:lstStyle/>
          <a:p>
            <a:pPr lvl="0"/>
            <a:r>
              <a:rPr lang="en-US" dirty="0" smtClean="0"/>
              <a:t>OpenGL can share data with HSA Runtime</a:t>
            </a:r>
          </a:p>
          <a:p>
            <a:pPr lvl="1"/>
            <a:r>
              <a:rPr lang="en-US" dirty="0" smtClean="0"/>
              <a:t>Buffer (Vertex/</a:t>
            </a:r>
            <a:r>
              <a:rPr lang="en-US" dirty="0" err="1" smtClean="0"/>
              <a:t>Pixelbuffer</a:t>
            </a:r>
            <a:r>
              <a:rPr lang="en-US" dirty="0" smtClean="0"/>
              <a:t>) </a:t>
            </a:r>
          </a:p>
          <a:p>
            <a:pPr lvl="1"/>
            <a:r>
              <a:rPr lang="en-US" dirty="0" smtClean="0"/>
              <a:t>Texture </a:t>
            </a:r>
          </a:p>
          <a:p>
            <a:pPr lvl="1"/>
            <a:r>
              <a:rPr lang="en-US" dirty="0" err="1" smtClean="0"/>
              <a:t>Renderbuffer</a:t>
            </a:r>
            <a:endParaRPr lang="en-US" dirty="0" smtClean="0"/>
          </a:p>
          <a:p>
            <a:r>
              <a:rPr lang="en-US" dirty="0" smtClean="0"/>
              <a:t>Mapping </a:t>
            </a:r>
          </a:p>
          <a:p>
            <a:pPr lvl="1"/>
            <a:r>
              <a:rPr lang="en-US" dirty="0" smtClean="0"/>
              <a:t>HSA Image -&gt; </a:t>
            </a:r>
            <a:r>
              <a:rPr lang="en-US" dirty="0" err="1" smtClean="0"/>
              <a:t>OpenGLTexture</a:t>
            </a:r>
            <a:r>
              <a:rPr lang="en-US" dirty="0" smtClean="0"/>
              <a:t>, </a:t>
            </a:r>
            <a:r>
              <a:rPr lang="en-US" dirty="0" err="1" smtClean="0"/>
              <a:t>renderbuffer</a:t>
            </a:r>
            <a:endParaRPr lang="en-US" dirty="0" smtClean="0"/>
          </a:p>
          <a:p>
            <a:pPr lvl="1"/>
            <a:r>
              <a:rPr lang="en-US" dirty="0" smtClean="0"/>
              <a:t>HSA buffer -&gt; OpenGL buffer </a:t>
            </a:r>
          </a:p>
          <a:p>
            <a:r>
              <a:rPr lang="en-US" dirty="0" smtClean="0"/>
              <a:t>Sync </a:t>
            </a:r>
          </a:p>
          <a:p>
            <a:pPr lvl="1"/>
            <a:r>
              <a:rPr lang="en-US" dirty="0" smtClean="0"/>
              <a:t>Acquire and Release mechanism</a:t>
            </a:r>
            <a:endParaRPr 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7325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Big market size for HSA</a:t>
            </a: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08281" cy="4589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561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 smtClean="0">
                <a:effectLst>
                  <a:outerShdw blurRad="38100" dist="38100" dir="2700000" algn="tl">
                    <a:srgbClr val="808080"/>
                  </a:outerShdw>
                </a:effectLst>
              </a:rPr>
              <a:t>HSA is Everywhere</a:t>
            </a:r>
            <a:endParaRPr lang="en-US" altLang="zh-TW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9092"/>
            <a:ext cx="9144000" cy="510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236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 err="1" smtClean="0">
                <a:effectLst>
                  <a:outerShdw blurRad="38100" dist="38100" dir="2700000" algn="tl">
                    <a:srgbClr val="808080"/>
                  </a:outerShdw>
                </a:effectLst>
              </a:rPr>
              <a:t>hQ</a:t>
            </a:r>
            <a:r>
              <a:rPr lang="en-US" altLang="zh-TW" dirty="0" smtClean="0">
                <a:effectLst>
                  <a:outerShdw blurRad="38100" dist="38100" dir="2700000" algn="tl">
                    <a:srgbClr val="808080"/>
                  </a:outerShdw>
                </a:effectLst>
              </a:rPr>
              <a:t> and </a:t>
            </a:r>
            <a:r>
              <a:rPr lang="en-US" altLang="zh-TW" dirty="0" err="1" smtClean="0">
                <a:effectLst>
                  <a:outerShdw blurRad="38100" dist="38100" dir="2700000" algn="tl">
                    <a:srgbClr val="808080"/>
                  </a:outerShdw>
                </a:effectLst>
              </a:rPr>
              <a:t>hUMA</a:t>
            </a:r>
            <a:endParaRPr lang="en-US" altLang="zh-TW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889" y="1196752"/>
            <a:ext cx="9163889" cy="491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32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 smtClean="0">
                <a:effectLst>
                  <a:outerShdw blurRad="38100" dist="38100" dir="2700000" algn="tl">
                    <a:srgbClr val="808080"/>
                  </a:outerShdw>
                </a:effectLst>
              </a:rPr>
              <a:t>HSA Programming</a:t>
            </a:r>
            <a:endParaRPr lang="en-US" altLang="zh-TW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75" y="1052736"/>
            <a:ext cx="9144000" cy="5112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32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 smtClean="0">
                <a:effectLst>
                  <a:outerShdw blurRad="38100" dist="38100" dir="2700000" algn="tl">
                    <a:srgbClr val="808080"/>
                  </a:outerShdw>
                </a:effectLst>
              </a:rPr>
              <a:t>C++ AMP</a:t>
            </a:r>
            <a:endParaRPr lang="en-US" altLang="zh-TW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64092" cy="4830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59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First APU is coming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8" y="1124744"/>
            <a:ext cx="9098236" cy="4911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59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641" y="0"/>
            <a:ext cx="1024235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0" name="Rectangle 2"/>
          <p:cNvSpPr>
            <a:spLocks/>
          </p:cNvSpPr>
          <p:nvPr/>
        </p:nvSpPr>
        <p:spPr bwMode="auto">
          <a:xfrm>
            <a:off x="0" y="5482828"/>
            <a:ext cx="9179719" cy="89296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rgbClr val="000000">
                    <a:alpha val="70000"/>
                  </a:srgbClr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altLang="zh-TW" sz="3400" b="1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Challenges </a:t>
            </a:r>
            <a:r>
              <a:rPr lang="en-US" altLang="zh-TW" sz="3400" b="1" dirty="0" smtClean="0">
                <a:effectLst>
                  <a:outerShdw blurRad="38100" dist="38100" dir="2700000" algn="tl">
                    <a:srgbClr val="808080"/>
                  </a:outerShdw>
                </a:effectLst>
              </a:rPr>
              <a:t>and Opportunities</a:t>
            </a:r>
            <a:endParaRPr lang="en-US" altLang="zh-TW" sz="3400" b="1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997098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294680" y="1124744"/>
            <a:ext cx="8554641" cy="5669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600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Domain Specific Applications</a:t>
            </a:r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294680" y="1844824"/>
            <a:ext cx="8554641" cy="5669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600">
                <a:effectLst>
                  <a:outerShdw blurRad="38100" dist="38100" dir="2700000" algn="tl">
                    <a:srgbClr val="808080"/>
                  </a:outerShdw>
                </a:effectLst>
              </a:rPr>
              <a:t>HSA Programming Languages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309633" y="3250402"/>
            <a:ext cx="8554641" cy="5669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600">
                <a:effectLst>
                  <a:outerShdw blurRad="38100" dist="38100" dir="2700000" algn="tl">
                    <a:srgbClr val="808080"/>
                  </a:outerShdw>
                </a:effectLst>
              </a:rPr>
              <a:t>HSA Runtime System &amp; Libraries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294680" y="2532956"/>
            <a:ext cx="8554641" cy="5669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600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HSA Frontend Compiler &amp; Developing Tool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294680" y="3934779"/>
            <a:ext cx="8554641" cy="5669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600">
                <a:effectLst>
                  <a:outerShdw blurRad="38100" dist="38100" dir="2700000" algn="tl">
                    <a:srgbClr val="808080"/>
                  </a:outerShdw>
                </a:effectLst>
              </a:rPr>
              <a:t>HSA Backend Compiler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294680" y="4672229"/>
            <a:ext cx="8554641" cy="5669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600">
                <a:effectLst>
                  <a:outerShdw blurRad="38100" dist="38100" dir="2700000" algn="tl">
                    <a:srgbClr val="808080"/>
                  </a:outerShdw>
                </a:effectLst>
              </a:rPr>
              <a:t>HSA Operating System</a:t>
            </a:r>
          </a:p>
        </p:txBody>
      </p:sp>
      <p:sp>
        <p:nvSpPr>
          <p:cNvPr id="54279" name="Rectangle 7"/>
          <p:cNvSpPr>
            <a:spLocks/>
          </p:cNvSpPr>
          <p:nvPr/>
        </p:nvSpPr>
        <p:spPr bwMode="auto">
          <a:xfrm>
            <a:off x="309633" y="5461368"/>
            <a:ext cx="8554641" cy="5669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altLang="zh-TW" sz="1600">
                <a:effectLst>
                  <a:outerShdw blurRad="38100" dist="38100" dir="2700000" algn="tl">
                    <a:srgbClr val="808080"/>
                  </a:outerShdw>
                </a:effectLst>
              </a:rPr>
              <a:t>HSA SoC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4463"/>
            <a:ext cx="8207375" cy="692150"/>
          </a:xfrm>
          <a:ln/>
        </p:spPr>
        <p:txBody>
          <a:bodyPr/>
          <a:lstStyle/>
          <a:p>
            <a:r>
              <a:rPr lang="en-US" altLang="zh-TW" dirty="0" smtClean="0">
                <a:effectLst>
                  <a:outerShdw blurRad="38100" dist="38100" dir="2700000" algn="tl">
                    <a:srgbClr val="808080"/>
                  </a:outerShdw>
                </a:effectLst>
              </a:rPr>
              <a:t>Challenges and Opportunities</a:t>
            </a:r>
            <a:endParaRPr lang="en-US" altLang="zh-TW" dirty="0">
              <a:effectLst>
                <a:outerShdw blurRad="38100" dist="38100" dir="2700000" algn="tl">
                  <a:srgbClr val="80808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158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07375" cy="692150"/>
          </a:xfrm>
        </p:spPr>
        <p:txBody>
          <a:bodyPr/>
          <a:lstStyle/>
          <a:p>
            <a:r>
              <a:rPr lang="en-US" dirty="0" smtClean="0"/>
              <a:t>HSA </a:t>
            </a:r>
            <a:r>
              <a:rPr lang="en-US" dirty="0" err="1" smtClean="0"/>
              <a:t>SoC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673600"/>
          </a:xfrm>
        </p:spPr>
        <p:txBody>
          <a:bodyPr/>
          <a:lstStyle/>
          <a:p>
            <a:pPr lvl="0"/>
            <a:r>
              <a:rPr lang="en-US" dirty="0" smtClean="0"/>
              <a:t>Compatible with HSA specifications with the following features</a:t>
            </a:r>
          </a:p>
          <a:p>
            <a:pPr lvl="1"/>
            <a:r>
              <a:rPr lang="en-US" dirty="0" err="1" smtClean="0"/>
              <a:t>hMMU</a:t>
            </a:r>
            <a:r>
              <a:rPr lang="en-US" dirty="0" smtClean="0"/>
              <a:t>  and cache coherence</a:t>
            </a:r>
          </a:p>
          <a:p>
            <a:pPr lvl="1"/>
            <a:r>
              <a:rPr lang="en-US" dirty="0" err="1" smtClean="0"/>
              <a:t>hQ</a:t>
            </a:r>
            <a:endParaRPr lang="en-US" dirty="0" smtClean="0"/>
          </a:p>
          <a:p>
            <a:pPr lvl="1"/>
            <a:r>
              <a:rPr lang="en-US" dirty="0" err="1" smtClean="0"/>
              <a:t>Hardwaer</a:t>
            </a:r>
            <a:r>
              <a:rPr lang="en-US" dirty="0" smtClean="0"/>
              <a:t> Preemptive scheduling</a:t>
            </a:r>
          </a:p>
          <a:p>
            <a:pPr lvl="1"/>
            <a:r>
              <a:rPr lang="en-US" dirty="0" smtClean="0"/>
              <a:t>Interrupt mechanism</a:t>
            </a:r>
          </a:p>
          <a:p>
            <a:pPr lvl="1"/>
            <a:r>
              <a:rPr lang="en-US" dirty="0" smtClean="0"/>
              <a:t>Exception handling</a:t>
            </a:r>
          </a:p>
          <a:p>
            <a:pPr lvl="1"/>
            <a:r>
              <a:rPr lang="en-US" dirty="0" smtClean="0"/>
              <a:t>Debugging infrastructure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728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07375" cy="692150"/>
          </a:xfrm>
        </p:spPr>
        <p:txBody>
          <a:bodyPr/>
          <a:lstStyle/>
          <a:p>
            <a:r>
              <a:rPr lang="en-US" dirty="0" smtClean="0"/>
              <a:t>HSA Operating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673600"/>
          </a:xfrm>
        </p:spPr>
        <p:txBody>
          <a:bodyPr/>
          <a:lstStyle/>
          <a:p>
            <a:pPr lvl="0"/>
            <a:r>
              <a:rPr lang="en-US" dirty="0" smtClean="0"/>
              <a:t>Enable operating system to aware HSA architecture</a:t>
            </a:r>
          </a:p>
          <a:p>
            <a:pPr lvl="1"/>
            <a:r>
              <a:rPr lang="en-US" dirty="0" smtClean="0"/>
              <a:t>Implement </a:t>
            </a:r>
            <a:r>
              <a:rPr lang="en-US" dirty="0" err="1" smtClean="0"/>
              <a:t>hUMA</a:t>
            </a:r>
            <a:r>
              <a:rPr lang="en-US" dirty="0" smtClean="0"/>
              <a:t> mechanism by IO-MMU</a:t>
            </a:r>
          </a:p>
          <a:p>
            <a:pPr lvl="1"/>
            <a:r>
              <a:rPr lang="en-US" dirty="0" smtClean="0"/>
              <a:t>New scheduling algorithms to support </a:t>
            </a:r>
            <a:r>
              <a:rPr lang="en-US" dirty="0" err="1" smtClean="0"/>
              <a:t>QoS</a:t>
            </a:r>
            <a:endParaRPr lang="en-US" dirty="0" smtClean="0"/>
          </a:p>
          <a:p>
            <a:pPr lvl="1"/>
            <a:r>
              <a:rPr lang="en-US" dirty="0" smtClean="0"/>
              <a:t>Exception handling for heterogeneous processors</a:t>
            </a:r>
          </a:p>
          <a:p>
            <a:pPr lvl="1"/>
            <a:r>
              <a:rPr lang="en-US" dirty="0" smtClean="0"/>
              <a:t>Software interrupt</a:t>
            </a:r>
          </a:p>
          <a:p>
            <a:pPr lvl="1"/>
            <a:r>
              <a:rPr lang="en-US" dirty="0" smtClean="0"/>
              <a:t>Virtualization </a:t>
            </a:r>
            <a:endParaRPr 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136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07375" cy="692150"/>
          </a:xfrm>
        </p:spPr>
        <p:txBody>
          <a:bodyPr/>
          <a:lstStyle/>
          <a:p>
            <a:r>
              <a:rPr lang="en-US" dirty="0" smtClean="0"/>
              <a:t>HSA Backend Compiler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673600"/>
          </a:xfrm>
        </p:spPr>
        <p:txBody>
          <a:bodyPr/>
          <a:lstStyle/>
          <a:p>
            <a:pPr lvl="0"/>
            <a:r>
              <a:rPr lang="en-US" dirty="0" err="1" smtClean="0"/>
              <a:t>Finalizer</a:t>
            </a:r>
            <a:r>
              <a:rPr lang="en-US" dirty="0" smtClean="0"/>
              <a:t> to translate HSAIL to binary code of target heterogeneous processors, such as GPUs, DSPs, CPUs, ASOC and so on.</a:t>
            </a:r>
          </a:p>
          <a:p>
            <a:pPr lvl="0"/>
            <a:r>
              <a:rPr lang="en-US" dirty="0" smtClean="0"/>
              <a:t> Just-in-time compilation</a:t>
            </a:r>
          </a:p>
          <a:p>
            <a:pPr lvl="0"/>
            <a:r>
              <a:rPr lang="en-US" dirty="0" smtClean="0"/>
              <a:t>Compilation optimization</a:t>
            </a:r>
            <a:endParaRPr 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1925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07375" cy="692150"/>
          </a:xfrm>
        </p:spPr>
        <p:txBody>
          <a:bodyPr/>
          <a:lstStyle/>
          <a:p>
            <a:r>
              <a:rPr lang="en-US" dirty="0" smtClean="0"/>
              <a:t>HSA Runtime System and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3285728"/>
          </a:xfrm>
        </p:spPr>
        <p:txBody>
          <a:bodyPr/>
          <a:lstStyle/>
          <a:p>
            <a:pPr lvl="0"/>
            <a:r>
              <a:rPr lang="en-US" dirty="0" smtClean="0"/>
              <a:t>HSA Runtime System is aware of underlying HSA platform to run compute tasks adaptively</a:t>
            </a:r>
          </a:p>
          <a:p>
            <a:pPr lvl="0"/>
            <a:r>
              <a:rPr lang="en-US" dirty="0" smtClean="0"/>
              <a:t> Support user-level heterogeneous queuing and AQL specification</a:t>
            </a:r>
          </a:p>
          <a:p>
            <a:pPr lvl="0"/>
            <a:r>
              <a:rPr lang="en-US" dirty="0" smtClean="0"/>
              <a:t>Implement HSA Runtime API Specification to run on different platforms and support different high-level parallel programming languages</a:t>
            </a:r>
            <a:endParaRPr 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04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07375" cy="692150"/>
          </a:xfrm>
        </p:spPr>
        <p:txBody>
          <a:bodyPr/>
          <a:lstStyle/>
          <a:p>
            <a:r>
              <a:rPr lang="en-US" sz="2800" dirty="0" smtClean="0"/>
              <a:t>HSA Frontend Compiler and Developing Tool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673600"/>
          </a:xfrm>
        </p:spPr>
        <p:txBody>
          <a:bodyPr/>
          <a:lstStyle/>
          <a:p>
            <a:pPr lvl="0"/>
            <a:r>
              <a:rPr lang="en-US" dirty="0" smtClean="0"/>
              <a:t>Translate high-level parallel programming languages to HSAIL binaries</a:t>
            </a:r>
          </a:p>
          <a:p>
            <a:pPr lvl="0"/>
            <a:r>
              <a:rPr lang="en-US" dirty="0" smtClean="0"/>
              <a:t>Debugging tools</a:t>
            </a:r>
          </a:p>
          <a:p>
            <a:pPr lvl="0"/>
            <a:r>
              <a:rPr lang="en-US" dirty="0" smtClean="0"/>
              <a:t>Performance profiling tools</a:t>
            </a:r>
          </a:p>
          <a:p>
            <a:pPr lvl="0"/>
            <a:r>
              <a:rPr lang="en-US" dirty="0" smtClean="0"/>
              <a:t>Benchmarking</a:t>
            </a:r>
          </a:p>
          <a:p>
            <a:pPr lvl="0"/>
            <a:r>
              <a:rPr lang="en-US" dirty="0" smtClean="0"/>
              <a:t>Emulator/Simulator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735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07375" cy="692150"/>
          </a:xfrm>
        </p:spPr>
        <p:txBody>
          <a:bodyPr/>
          <a:lstStyle/>
          <a:p>
            <a:r>
              <a:rPr lang="en-US" dirty="0" smtClean="0"/>
              <a:t>HSA Programming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673600"/>
          </a:xfrm>
        </p:spPr>
        <p:txBody>
          <a:bodyPr/>
          <a:lstStyle/>
          <a:p>
            <a:pPr lvl="0"/>
            <a:r>
              <a:rPr lang="en-US" dirty="0" smtClean="0"/>
              <a:t>OpenCL support</a:t>
            </a:r>
          </a:p>
          <a:p>
            <a:pPr lvl="0"/>
            <a:r>
              <a:rPr lang="en-US" dirty="0" smtClean="0"/>
              <a:t>Java support</a:t>
            </a:r>
            <a:endParaRPr lang="en-US" dirty="0"/>
          </a:p>
          <a:p>
            <a:pPr lvl="0"/>
            <a:r>
              <a:rPr lang="en-US" dirty="0" smtClean="0"/>
              <a:t>Web support</a:t>
            </a:r>
          </a:p>
          <a:p>
            <a:pPr lvl="0"/>
            <a:r>
              <a:rPr lang="en-US" dirty="0" smtClean="0"/>
              <a:t>Android programming support</a:t>
            </a:r>
          </a:p>
          <a:p>
            <a:pPr lvl="0"/>
            <a:r>
              <a:rPr lang="en-US" dirty="0" smtClean="0"/>
              <a:t>Map Reduce support</a:t>
            </a:r>
          </a:p>
          <a:p>
            <a:pPr lvl="0"/>
            <a:r>
              <a:rPr lang="en-US" dirty="0" smtClean="0"/>
              <a:t>Python support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563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07375" cy="692150"/>
          </a:xfrm>
        </p:spPr>
        <p:txBody>
          <a:bodyPr/>
          <a:lstStyle/>
          <a:p>
            <a:r>
              <a:rPr lang="en-US" dirty="0" smtClean="0"/>
              <a:t>Domain Specific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673600"/>
          </a:xfrm>
        </p:spPr>
        <p:txBody>
          <a:bodyPr/>
          <a:lstStyle/>
          <a:p>
            <a:pPr lvl="0"/>
            <a:r>
              <a:rPr lang="en-US" dirty="0" smtClean="0"/>
              <a:t>Image processing</a:t>
            </a:r>
          </a:p>
          <a:p>
            <a:pPr lvl="0"/>
            <a:r>
              <a:rPr lang="en-US" dirty="0" smtClean="0"/>
              <a:t>Computer vision</a:t>
            </a:r>
          </a:p>
          <a:p>
            <a:pPr lvl="0"/>
            <a:r>
              <a:rPr lang="en-US" dirty="0" smtClean="0"/>
              <a:t>Gaming</a:t>
            </a:r>
          </a:p>
          <a:p>
            <a:pPr lvl="0"/>
            <a:r>
              <a:rPr lang="en-US" altLang="zh-TW" dirty="0" smtClean="0"/>
              <a:t>Big data analysis</a:t>
            </a:r>
          </a:p>
          <a:p>
            <a:pPr lvl="0"/>
            <a:r>
              <a:rPr lang="en-US" dirty="0" smtClean="0"/>
              <a:t>Mobile computing</a:t>
            </a:r>
          </a:p>
          <a:p>
            <a:pPr lvl="0"/>
            <a:endParaRPr 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452" y="50372"/>
            <a:ext cx="2118044" cy="8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457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預設簡報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56227</TotalTime>
  <Words>1647</Words>
  <Application>Microsoft Office PowerPoint</Application>
  <PresentationFormat>如螢幕大小 (4:3)</PresentationFormat>
  <Paragraphs>408</Paragraphs>
  <Slides>49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49</vt:i4>
      </vt:variant>
    </vt:vector>
  </HeadingPairs>
  <TitlesOfParts>
    <vt:vector size="57" baseType="lpstr">
      <vt:lpstr>BiauKai</vt:lpstr>
      <vt:lpstr>MS Sans Serif</vt:lpstr>
      <vt:lpstr>新細明體</vt:lpstr>
      <vt:lpstr>標楷體</vt:lpstr>
      <vt:lpstr>Arial</vt:lpstr>
      <vt:lpstr>Calibri</vt:lpstr>
      <vt:lpstr>Wingdings</vt:lpstr>
      <vt:lpstr>1_預設簡報設計</vt:lpstr>
      <vt:lpstr>PowerPoint 簡報</vt:lpstr>
      <vt:lpstr>Agenda</vt:lpstr>
      <vt:lpstr>PowerPoint 簡報</vt:lpstr>
      <vt:lpstr>Computing (1)</vt:lpstr>
      <vt:lpstr>Computing (2)</vt:lpstr>
      <vt:lpstr>Computing (3)</vt:lpstr>
      <vt:lpstr>Computing (4)</vt:lpstr>
      <vt:lpstr>Computing (5)</vt:lpstr>
      <vt:lpstr>Computing (6)</vt:lpstr>
      <vt:lpstr>Computing (7)</vt:lpstr>
      <vt:lpstr>Computing (8)</vt:lpstr>
      <vt:lpstr>Computing (9)</vt:lpstr>
      <vt:lpstr>Computing (10)</vt:lpstr>
      <vt:lpstr>Computing System Era</vt:lpstr>
      <vt:lpstr>Computing demand is increasing</vt:lpstr>
      <vt:lpstr>What’s next computing system?</vt:lpstr>
      <vt:lpstr>HSA is coming</vt:lpstr>
      <vt:lpstr>Introduction to HSA</vt:lpstr>
      <vt:lpstr>HSA Foundation Benefits</vt:lpstr>
      <vt:lpstr>HSA Foundation</vt:lpstr>
      <vt:lpstr>HSA Foundation’s Initial Focus </vt:lpstr>
      <vt:lpstr>What HSA Are Trying to Solve</vt:lpstr>
      <vt:lpstr>Pillars of HSA*</vt:lpstr>
      <vt:lpstr>HSA Specifications</vt:lpstr>
      <vt:lpstr>HSA - An Open Platform</vt:lpstr>
      <vt:lpstr>HSA Taking Platform to Programmers</vt:lpstr>
      <vt:lpstr>HSA Is Designed to Go Beyond the GPU</vt:lpstr>
      <vt:lpstr>HSA Platform</vt:lpstr>
      <vt:lpstr>Simplified HSA Solution Stack</vt:lpstr>
      <vt:lpstr>HSA Intermediate Layer - HSAIL</vt:lpstr>
      <vt:lpstr>HSA Runtime (1)</vt:lpstr>
      <vt:lpstr>HSA Runtime (2)</vt:lpstr>
      <vt:lpstr>HSA Memory Model</vt:lpstr>
      <vt:lpstr>Intersection of HSA and Graphics</vt:lpstr>
      <vt:lpstr>Big market size for HSA</vt:lpstr>
      <vt:lpstr>HSA is Everywhere</vt:lpstr>
      <vt:lpstr>hQ and hUMA</vt:lpstr>
      <vt:lpstr>HSA Programming</vt:lpstr>
      <vt:lpstr>C++ AMP</vt:lpstr>
      <vt:lpstr>First APU is coming</vt:lpstr>
      <vt:lpstr>PowerPoint 簡報</vt:lpstr>
      <vt:lpstr>Challenges and Opportunities</vt:lpstr>
      <vt:lpstr>HSA SoC</vt:lpstr>
      <vt:lpstr>HSA Operating System</vt:lpstr>
      <vt:lpstr>HSA Backend Compiler</vt:lpstr>
      <vt:lpstr>HSA Runtime System and Library</vt:lpstr>
      <vt:lpstr>HSA Frontend Compiler and Developing Tool </vt:lpstr>
      <vt:lpstr>HSA Programming Languages</vt:lpstr>
      <vt:lpstr>Domain Specific Applications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cjtai</dc:creator>
  <cp:lastModifiedBy>Chung-Yeh</cp:lastModifiedBy>
  <cp:revision>1801</cp:revision>
  <dcterms:created xsi:type="dcterms:W3CDTF">2005-04-15T06:46:20Z</dcterms:created>
  <dcterms:modified xsi:type="dcterms:W3CDTF">2015-03-02T03:02:14Z</dcterms:modified>
</cp:coreProperties>
</file>