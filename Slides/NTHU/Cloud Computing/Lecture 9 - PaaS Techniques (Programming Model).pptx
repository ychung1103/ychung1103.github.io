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7"/>
  </p:notesMasterIdLst>
  <p:sldIdLst>
    <p:sldId id="266" r:id="rId2"/>
    <p:sldId id="418" r:id="rId3"/>
    <p:sldId id="268" r:id="rId4"/>
    <p:sldId id="405" r:id="rId5"/>
    <p:sldId id="272" r:id="rId6"/>
    <p:sldId id="273" r:id="rId7"/>
    <p:sldId id="274" r:id="rId8"/>
    <p:sldId id="275" r:id="rId9"/>
    <p:sldId id="276" r:id="rId10"/>
    <p:sldId id="271" r:id="rId11"/>
    <p:sldId id="277" r:id="rId12"/>
    <p:sldId id="406" r:id="rId13"/>
    <p:sldId id="279" r:id="rId14"/>
    <p:sldId id="280" r:id="rId15"/>
    <p:sldId id="281" r:id="rId16"/>
    <p:sldId id="407" r:id="rId17"/>
    <p:sldId id="409" r:id="rId18"/>
    <p:sldId id="282" r:id="rId19"/>
    <p:sldId id="412" r:id="rId20"/>
    <p:sldId id="283" r:id="rId21"/>
    <p:sldId id="413" r:id="rId22"/>
    <p:sldId id="410" r:id="rId23"/>
    <p:sldId id="415" r:id="rId24"/>
    <p:sldId id="414" r:id="rId25"/>
    <p:sldId id="411" r:id="rId26"/>
    <p:sldId id="285" r:id="rId27"/>
    <p:sldId id="284" r:id="rId28"/>
    <p:sldId id="286" r:id="rId29"/>
    <p:sldId id="287" r:id="rId30"/>
    <p:sldId id="416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392" r:id="rId53"/>
    <p:sldId id="393" r:id="rId54"/>
    <p:sldId id="394" r:id="rId55"/>
    <p:sldId id="395" r:id="rId56"/>
    <p:sldId id="396" r:id="rId57"/>
    <p:sldId id="397" r:id="rId58"/>
    <p:sldId id="398" r:id="rId59"/>
    <p:sldId id="399" r:id="rId60"/>
    <p:sldId id="401" r:id="rId61"/>
    <p:sldId id="402" r:id="rId62"/>
    <p:sldId id="403" r:id="rId63"/>
    <p:sldId id="417" r:id="rId64"/>
    <p:sldId id="370" r:id="rId65"/>
    <p:sldId id="265" r:id="rId6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350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7DD20-92F8-4282-BDE4-0E24C1A0D45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0D120-4707-426F-9B85-873E256A66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19338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482"/>
            <a:fld id="{2CF7154E-FE2C-4094-9169-5F6DACF2D87A}" type="slidenum">
              <a:rPr lang="en-US" smtClean="0"/>
              <a:pPr defTabSz="911482"/>
              <a:t>7</a:t>
            </a:fld>
            <a:endParaRPr lang="en-US" dirty="0" smtClean="0"/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143000" y="686405"/>
            <a:ext cx="4572000" cy="342748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9529" tIns="44765" rIns="89529" bIns="44765" anchor="ctr"/>
          <a:lstStyle/>
          <a:p>
            <a:endParaRPr lang="en-US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/>
          </p:nvPr>
        </p:nvSpPr>
        <p:spPr>
          <a:xfrm>
            <a:off x="686098" y="4343704"/>
            <a:ext cx="5479852" cy="4113892"/>
          </a:xfrm>
          <a:noFill/>
          <a:ln/>
        </p:spPr>
        <p:txBody>
          <a:bodyPr wrap="none" anchor="ctr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92128-3E18-4FC2-A6AD-69CA55E7E127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2011/3/21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hadoop.apache.org/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umiacs.umd.edu/~jimmylin/" TargetMode="External"/><Relationship Id="rId4" Type="http://schemas.openxmlformats.org/officeDocument/2006/relationships/hyperlink" Target="http://trac.nchc.org.tw/clou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PaaS Techniques</a:t>
            </a:r>
          </a:p>
          <a:p>
            <a:pPr algn="ctr"/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Programming Model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16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Overview </a:t>
            </a: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Google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PaaS Techniques</a:t>
            </a: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File System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GFS, HDFS</a:t>
            </a:r>
          </a:p>
          <a:p>
            <a:pPr lvl="1"/>
            <a:r>
              <a:rPr lang="en-US" altLang="zh-TW" dirty="0" smtClean="0">
                <a:latin typeface="+mj-lt"/>
              </a:rPr>
              <a:t>Programming Model</a:t>
            </a:r>
          </a:p>
          <a:p>
            <a:pPr lvl="2"/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, </a:t>
            </a:r>
            <a:r>
              <a:rPr lang="en-US" altLang="zh-TW" dirty="0" err="1" smtClean="0">
                <a:latin typeface="+mj-lt"/>
              </a:rPr>
              <a:t>Pregel</a:t>
            </a:r>
            <a:endParaRPr lang="en-US" altLang="zh-TW" dirty="0" smtClean="0">
              <a:latin typeface="+mj-lt"/>
            </a:endParaRPr>
          </a:p>
          <a:p>
            <a:pPr lvl="1">
              <a:buClr>
                <a:schemeClr val="bg1">
                  <a:lumMod val="50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Storage System for Structured Data</a:t>
            </a:r>
          </a:p>
          <a:p>
            <a:pPr lvl="2">
              <a:buClr>
                <a:schemeClr val="bg1">
                  <a:lumMod val="50000"/>
                </a:schemeClr>
              </a:buClr>
            </a:pP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Bigtable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,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Hbase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altLang="zh-TW" dirty="0" err="1" smtClean="0"/>
              <a:t>MapReduce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How to process large data sets and easily </a:t>
            </a:r>
            <a:br>
              <a:rPr lang="en-US" altLang="zh-TW" dirty="0" smtClean="0"/>
            </a:br>
            <a:r>
              <a:rPr lang="en-US" altLang="zh-TW" dirty="0" smtClean="0"/>
              <a:t>utilize the resources of a large distributed system …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Programming Model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Refinement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MapReduce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much data?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40967"/>
          </a:xfrm>
        </p:spPr>
        <p:txBody>
          <a:bodyPr>
            <a:normAutofit/>
          </a:bodyPr>
          <a:lstStyle/>
          <a:p>
            <a:r>
              <a:rPr lang="en-US" sz="2700" dirty="0" smtClean="0">
                <a:latin typeface="+mj-lt"/>
              </a:rPr>
              <a:t>Google processes 20 PB a day (2008)</a:t>
            </a:r>
          </a:p>
          <a:p>
            <a:r>
              <a:rPr lang="en-US" sz="2700" dirty="0" smtClean="0">
                <a:latin typeface="+mj-lt"/>
              </a:rPr>
              <a:t>Wayback Machine has 3 PB + 100 TB/month (3/2009)</a:t>
            </a:r>
          </a:p>
          <a:p>
            <a:r>
              <a:rPr lang="en-US" sz="2700" dirty="0" smtClean="0">
                <a:latin typeface="+mj-lt"/>
              </a:rPr>
              <a:t>Facebook has 2.5 PB of user data + 15 TB/day (4/2009) </a:t>
            </a:r>
          </a:p>
          <a:p>
            <a:r>
              <a:rPr lang="en-US" sz="2700" dirty="0" smtClean="0">
                <a:latin typeface="+mj-lt"/>
              </a:rPr>
              <a:t>eBay has 6.5 PB of user data + 50 TB/day (5/2009)</a:t>
            </a:r>
          </a:p>
          <a:p>
            <a:r>
              <a:rPr lang="en-US" sz="2700" dirty="0" smtClean="0">
                <a:latin typeface="+mj-lt"/>
              </a:rPr>
              <a:t>CERN’s LHC will generate 15 PB per year</a:t>
            </a:r>
          </a:p>
          <a:p>
            <a:r>
              <a:rPr lang="en-US" dirty="0" smtClean="0">
                <a:latin typeface="+mj-lt"/>
              </a:rPr>
              <a:t>How about the future…</a:t>
            </a:r>
          </a:p>
          <a:p>
            <a:endParaRPr lang="en-US" dirty="0" smtClean="0">
              <a:latin typeface="+mj-lt"/>
            </a:endParaRPr>
          </a:p>
          <a:p>
            <a:endParaRPr lang="en-US" dirty="0" smtClean="0">
              <a:latin typeface="+mj-lt"/>
            </a:endParaRPr>
          </a:p>
          <a:p>
            <a:endParaRPr lang="en-US" dirty="0" smtClean="0">
              <a:latin typeface="+mj-lt"/>
            </a:endParaRPr>
          </a:p>
        </p:txBody>
      </p:sp>
      <p:pic>
        <p:nvPicPr>
          <p:cNvPr id="8196" name="Picture 5" descr="bill_gates_01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4016" y="4653136"/>
            <a:ext cx="314007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ular Callout 4"/>
          <p:cNvSpPr>
            <a:spLocks noChangeArrowheads="1"/>
          </p:cNvSpPr>
          <p:nvPr/>
        </p:nvSpPr>
        <p:spPr bwMode="auto">
          <a:xfrm>
            <a:off x="6674296" y="4365104"/>
            <a:ext cx="2362200" cy="990600"/>
          </a:xfrm>
          <a:prstGeom prst="wedgeRoundRectCallout">
            <a:avLst>
              <a:gd name="adj1" fmla="val -76861"/>
              <a:gd name="adj2" fmla="val 55972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640K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ought to be enough for anybody.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Divide and Conquer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57400" y="1676400"/>
            <a:ext cx="3505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“Work”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447800" y="2819400"/>
            <a:ext cx="1219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i="1">
                <a:solidFill>
                  <a:schemeClr val="bg2"/>
                </a:solidFill>
              </a:rPr>
              <a:t>w</a:t>
            </a:r>
            <a:r>
              <a:rPr lang="en-US" i="1" baseline="-25000">
                <a:solidFill>
                  <a:schemeClr val="bg2"/>
                </a:solidFill>
              </a:rPr>
              <a:t>1</a:t>
            </a: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 rot="5400000">
            <a:off x="3504407" y="2439194"/>
            <a:ext cx="609600" cy="1587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4572000" y="2133600"/>
            <a:ext cx="762000" cy="609600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 flipH="1">
            <a:off x="2286000" y="2133600"/>
            <a:ext cx="762000" cy="609600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200400" y="2819400"/>
            <a:ext cx="1219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i="1">
                <a:solidFill>
                  <a:schemeClr val="bg2"/>
                </a:solidFill>
              </a:rPr>
              <a:t>w</a:t>
            </a:r>
            <a:r>
              <a:rPr lang="en-US" i="1" baseline="-2500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876800" y="2819400"/>
            <a:ext cx="1219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i="1">
                <a:solidFill>
                  <a:schemeClr val="bg2"/>
                </a:solidFill>
              </a:rPr>
              <a:t>w</a:t>
            </a:r>
            <a:r>
              <a:rPr lang="en-US" i="1" baseline="-2500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47800" y="4038600"/>
            <a:ext cx="1219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i="1" dirty="0">
                <a:solidFill>
                  <a:schemeClr val="bg2"/>
                </a:solidFill>
              </a:rPr>
              <a:t>r</a:t>
            </a:r>
            <a:r>
              <a:rPr lang="en-US" i="1" baseline="-250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200400" y="4038600"/>
            <a:ext cx="1219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i="1">
                <a:solidFill>
                  <a:schemeClr val="bg2"/>
                </a:solidFill>
              </a:rPr>
              <a:t>r</a:t>
            </a:r>
            <a:r>
              <a:rPr lang="en-US" i="1" baseline="-2500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876800" y="4038600"/>
            <a:ext cx="1219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i="1">
                <a:solidFill>
                  <a:schemeClr val="bg2"/>
                </a:solidFill>
              </a:rPr>
              <a:t>r</a:t>
            </a:r>
            <a:r>
              <a:rPr lang="en-US" i="1" baseline="-25000">
                <a:solidFill>
                  <a:schemeClr val="bg2"/>
                </a:solidFill>
              </a:rPr>
              <a:t>3</a:t>
            </a: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 rot="5400000">
            <a:off x="3505994" y="3656806"/>
            <a:ext cx="609600" cy="1588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rot="5400000">
            <a:off x="5180807" y="3656806"/>
            <a:ext cx="609600" cy="1587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 noChangeShapeType="1"/>
          </p:cNvCxnSpPr>
          <p:nvPr/>
        </p:nvCxnSpPr>
        <p:spPr bwMode="auto">
          <a:xfrm rot="5400000">
            <a:off x="1753394" y="3656806"/>
            <a:ext cx="609600" cy="1588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057400" y="5334000"/>
            <a:ext cx="3505200" cy="381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“Result”</a:t>
            </a:r>
          </a:p>
        </p:txBody>
      </p: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 rot="5400000">
            <a:off x="3505994" y="4876006"/>
            <a:ext cx="609600" cy="1588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 flipH="1">
            <a:off x="4572000" y="4572000"/>
            <a:ext cx="762000" cy="609600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 noChangeShapeType="1"/>
          </p:cNvCxnSpPr>
          <p:nvPr/>
        </p:nvCxnSpPr>
        <p:spPr bwMode="auto">
          <a:xfrm>
            <a:off x="2286000" y="4572000"/>
            <a:ext cx="762000" cy="609600"/>
          </a:xfrm>
          <a:prstGeom prst="straightConnector1">
            <a:avLst/>
          </a:prstGeom>
          <a:ln w="15875"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/>
          <p:cNvSpPr>
            <a:spLocks noChangeArrowheads="1"/>
          </p:cNvSpPr>
          <p:nvPr/>
        </p:nvSpPr>
        <p:spPr bwMode="auto">
          <a:xfrm>
            <a:off x="1600200" y="3429000"/>
            <a:ext cx="9144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 b="0" dirty="0">
                <a:solidFill>
                  <a:schemeClr val="bg2"/>
                </a:solidFill>
              </a:rPr>
              <a:t>“worker”</a:t>
            </a:r>
          </a:p>
        </p:txBody>
      </p:sp>
      <p:sp>
        <p:nvSpPr>
          <p:cNvPr id="30" name="Rounded Rectangle 29"/>
          <p:cNvSpPr>
            <a:spLocks noChangeArrowheads="1"/>
          </p:cNvSpPr>
          <p:nvPr/>
        </p:nvSpPr>
        <p:spPr bwMode="auto">
          <a:xfrm>
            <a:off x="3352800" y="3429000"/>
            <a:ext cx="9144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 b="0">
                <a:solidFill>
                  <a:schemeClr val="bg2"/>
                </a:solidFill>
              </a:rPr>
              <a:t>“worker”</a:t>
            </a:r>
          </a:p>
        </p:txBody>
      </p:sp>
      <p:sp>
        <p:nvSpPr>
          <p:cNvPr id="31" name="Rounded Rectangle 30"/>
          <p:cNvSpPr>
            <a:spLocks noChangeArrowheads="1"/>
          </p:cNvSpPr>
          <p:nvPr/>
        </p:nvSpPr>
        <p:spPr bwMode="auto">
          <a:xfrm>
            <a:off x="5029200" y="3429000"/>
            <a:ext cx="9144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400" b="0">
                <a:solidFill>
                  <a:schemeClr val="bg2"/>
                </a:solidFill>
              </a:rPr>
              <a:t>“worker”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148388" y="1752600"/>
            <a:ext cx="14319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Partition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096000" y="5176838"/>
            <a:ext cx="15001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Combine</a:t>
            </a:r>
          </a:p>
        </p:txBody>
      </p:sp>
      <p:cxnSp>
        <p:nvCxnSpPr>
          <p:cNvPr id="34" name="Straight Arrow Connector 33"/>
          <p:cNvCxnSpPr>
            <a:cxnSpLocks noChangeShapeType="1"/>
          </p:cNvCxnSpPr>
          <p:nvPr/>
        </p:nvCxnSpPr>
        <p:spPr bwMode="auto">
          <a:xfrm rot="5400000">
            <a:off x="6414294" y="2704306"/>
            <a:ext cx="839788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38" name="Straight Arrow Connector 37"/>
          <p:cNvCxnSpPr>
            <a:cxnSpLocks noChangeShapeType="1"/>
          </p:cNvCxnSpPr>
          <p:nvPr/>
        </p:nvCxnSpPr>
        <p:spPr bwMode="auto">
          <a:xfrm rot="5400000">
            <a:off x="6415088" y="4760913"/>
            <a:ext cx="839787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9" grpId="0" animBg="1"/>
      <p:bldP spid="30" grpId="0" animBg="1"/>
      <p:bldP spid="31" grpId="0" animBg="1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/>
              <a:t> How About Parallelization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>
          <a:xfrm>
            <a:off x="381000" y="1419944"/>
            <a:ext cx="8458200" cy="50333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Difficult because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We don’t know the order in which workers run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We don’t know when workers interrupt each other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We don’t know the order in which workers access shared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Thus, we need: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Semaphores (lock, unlock)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Conditional variables (wait, notify, broadcast)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Barriers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Still, lots of problems: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Deadlock, </a:t>
            </a:r>
            <a:r>
              <a:rPr kumimoji="0" lang="en-GB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livelock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, race conditions...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Dining philosophers, sleeping barbers, cigarette smokers...</a:t>
            </a:r>
            <a:endParaRPr kumimoji="0" lang="en-GB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en-US" dirty="0" smtClean="0">
                <a:latin typeface="+mj-lt"/>
              </a:rPr>
              <a:t>Programming models</a:t>
            </a:r>
          </a:p>
          <a:p>
            <a:pPr lvl="1"/>
            <a:r>
              <a:rPr lang="en-US" dirty="0" smtClean="0">
                <a:latin typeface="+mj-lt"/>
              </a:rPr>
              <a:t>Shared memory (</a:t>
            </a:r>
            <a:r>
              <a:rPr lang="en-US" dirty="0" err="1" smtClean="0">
                <a:latin typeface="+mj-lt"/>
              </a:rPr>
              <a:t>pthreads</a:t>
            </a:r>
            <a:r>
              <a:rPr lang="en-US" dirty="0" smtClean="0">
                <a:latin typeface="+mj-lt"/>
              </a:rPr>
              <a:t>)</a:t>
            </a:r>
          </a:p>
          <a:p>
            <a:pPr lvl="1"/>
            <a:r>
              <a:rPr lang="en-US" dirty="0" smtClean="0">
                <a:latin typeface="+mj-lt"/>
              </a:rPr>
              <a:t>Message passing (MPI)</a:t>
            </a:r>
          </a:p>
          <a:p>
            <a:r>
              <a:rPr lang="en-US" dirty="0" smtClean="0">
                <a:latin typeface="+mj-lt"/>
              </a:rPr>
              <a:t>Design Patterns</a:t>
            </a:r>
          </a:p>
          <a:p>
            <a:pPr lvl="1"/>
            <a:r>
              <a:rPr lang="en-US" dirty="0" smtClean="0">
                <a:latin typeface="+mj-lt"/>
              </a:rPr>
              <a:t>Master-slaves</a:t>
            </a:r>
          </a:p>
          <a:p>
            <a:pPr lvl="1"/>
            <a:r>
              <a:rPr lang="en-US" dirty="0" smtClean="0">
                <a:latin typeface="+mj-lt"/>
              </a:rPr>
              <a:t>Producer-consumer flows</a:t>
            </a:r>
          </a:p>
          <a:p>
            <a:pPr lvl="1"/>
            <a:r>
              <a:rPr lang="en-US" dirty="0" smtClean="0">
                <a:latin typeface="+mj-lt"/>
              </a:rPr>
              <a:t>Shared work queues</a:t>
            </a:r>
          </a:p>
          <a:p>
            <a:pPr lvl="1"/>
            <a:endParaRPr lang="en-US" dirty="0">
              <a:latin typeface="+mj-lt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7272089" y="1726630"/>
            <a:ext cx="1476375" cy="1630362"/>
            <a:chOff x="2667000" y="1524000"/>
            <a:chExt cx="2032346" cy="2243288"/>
          </a:xfrm>
        </p:grpSpPr>
        <p:cxnSp>
          <p:nvCxnSpPr>
            <p:cNvPr id="5" name="Straight Arrow Connector 4"/>
            <p:cNvCxnSpPr>
              <a:cxnSpLocks noChangeShapeType="1"/>
            </p:cNvCxnSpPr>
            <p:nvPr/>
          </p:nvCxnSpPr>
          <p:spPr bwMode="auto">
            <a:xfrm rot="5400000">
              <a:off x="21343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6" name="TextBox 9"/>
            <p:cNvSpPr txBox="1">
              <a:spLocks noChangeArrowheads="1"/>
            </p:cNvSpPr>
            <p:nvPr/>
          </p:nvSpPr>
          <p:spPr bwMode="auto">
            <a:xfrm>
              <a:off x="2682875" y="1524000"/>
              <a:ext cx="20164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Message Passing</a:t>
              </a:r>
            </a:p>
          </p:txBody>
        </p:sp>
        <p:sp>
          <p:nvSpPr>
            <p:cNvPr id="7" name="TextBox 10"/>
            <p:cNvSpPr txBox="1">
              <a:spLocks noChangeArrowheads="1"/>
            </p:cNvSpPr>
            <p:nvPr/>
          </p:nvSpPr>
          <p:spPr bwMode="auto">
            <a:xfrm>
              <a:off x="26670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8" name="Straight Arrow Connector 11"/>
            <p:cNvCxnSpPr>
              <a:cxnSpLocks noChangeShapeType="1"/>
            </p:cNvCxnSpPr>
            <p:nvPr/>
          </p:nvCxnSpPr>
          <p:spPr bwMode="auto">
            <a:xfrm rot="5400000">
              <a:off x="25153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9" name="TextBox 12"/>
            <p:cNvSpPr txBox="1">
              <a:spLocks noChangeArrowheads="1"/>
            </p:cNvSpPr>
            <p:nvPr/>
          </p:nvSpPr>
          <p:spPr bwMode="auto">
            <a:xfrm>
              <a:off x="30480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10" name="Straight Arrow Connector 13"/>
            <p:cNvCxnSpPr>
              <a:cxnSpLocks noChangeShapeType="1"/>
            </p:cNvCxnSpPr>
            <p:nvPr/>
          </p:nvCxnSpPr>
          <p:spPr bwMode="auto">
            <a:xfrm rot="5400000">
              <a:off x="28963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11" name="TextBox 14"/>
            <p:cNvSpPr txBox="1">
              <a:spLocks noChangeArrowheads="1"/>
            </p:cNvSpPr>
            <p:nvPr/>
          </p:nvSpPr>
          <p:spPr bwMode="auto">
            <a:xfrm>
              <a:off x="34290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3</a:t>
              </a:r>
            </a:p>
          </p:txBody>
        </p:sp>
        <p:cxnSp>
          <p:nvCxnSpPr>
            <p:cNvPr id="12" name="Straight Arrow Connector 15"/>
            <p:cNvCxnSpPr>
              <a:cxnSpLocks noChangeShapeType="1"/>
            </p:cNvCxnSpPr>
            <p:nvPr/>
          </p:nvCxnSpPr>
          <p:spPr bwMode="auto">
            <a:xfrm rot="5400000">
              <a:off x="32773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13" name="TextBox 16"/>
            <p:cNvSpPr txBox="1">
              <a:spLocks noChangeArrowheads="1"/>
            </p:cNvSpPr>
            <p:nvPr/>
          </p:nvSpPr>
          <p:spPr bwMode="auto">
            <a:xfrm>
              <a:off x="38100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4</a:t>
              </a:r>
            </a:p>
          </p:txBody>
        </p:sp>
        <p:cxnSp>
          <p:nvCxnSpPr>
            <p:cNvPr id="14" name="Straight Arrow Connector 17"/>
            <p:cNvCxnSpPr>
              <a:cxnSpLocks noChangeShapeType="1"/>
            </p:cNvCxnSpPr>
            <p:nvPr/>
          </p:nvCxnSpPr>
          <p:spPr bwMode="auto">
            <a:xfrm rot="5400000">
              <a:off x="36583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15" name="TextBox 18"/>
            <p:cNvSpPr txBox="1">
              <a:spLocks noChangeArrowheads="1"/>
            </p:cNvSpPr>
            <p:nvPr/>
          </p:nvSpPr>
          <p:spPr bwMode="auto">
            <a:xfrm>
              <a:off x="4191001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P</a:t>
              </a:r>
              <a:r>
                <a:rPr lang="en-US" sz="1200" baseline="-25000" dirty="0">
                  <a:solidFill>
                    <a:srgbClr val="FF0000"/>
                  </a:solidFill>
                </a:rPr>
                <a:t>5</a:t>
              </a:r>
            </a:p>
          </p:txBody>
        </p:sp>
        <p:cxnSp>
          <p:nvCxnSpPr>
            <p:cNvPr id="16" name="Straight Arrow Connector 43"/>
            <p:cNvCxnSpPr>
              <a:cxnSpLocks noChangeShapeType="1"/>
            </p:cNvCxnSpPr>
            <p:nvPr/>
          </p:nvCxnSpPr>
          <p:spPr bwMode="auto">
            <a:xfrm>
              <a:off x="2835275" y="1981200"/>
              <a:ext cx="381000" cy="762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48"/>
            <p:cNvCxnSpPr>
              <a:cxnSpLocks noChangeShapeType="1"/>
            </p:cNvCxnSpPr>
            <p:nvPr/>
          </p:nvCxnSpPr>
          <p:spPr bwMode="auto">
            <a:xfrm rot="10800000" flipV="1">
              <a:off x="3216275" y="2057400"/>
              <a:ext cx="1143000" cy="2286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58"/>
            <p:cNvCxnSpPr>
              <a:cxnSpLocks noChangeShapeType="1"/>
            </p:cNvCxnSpPr>
            <p:nvPr/>
          </p:nvCxnSpPr>
          <p:spPr bwMode="auto">
            <a:xfrm>
              <a:off x="3597275" y="2362200"/>
              <a:ext cx="381000" cy="762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59"/>
            <p:cNvCxnSpPr>
              <a:cxnSpLocks noChangeShapeType="1"/>
            </p:cNvCxnSpPr>
            <p:nvPr/>
          </p:nvCxnSpPr>
          <p:spPr bwMode="auto">
            <a:xfrm flipH="1">
              <a:off x="3978275" y="2590800"/>
              <a:ext cx="381000" cy="762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60"/>
            <p:cNvCxnSpPr>
              <a:cxnSpLocks noChangeShapeType="1"/>
            </p:cNvCxnSpPr>
            <p:nvPr/>
          </p:nvCxnSpPr>
          <p:spPr bwMode="auto">
            <a:xfrm rot="10800000" flipV="1">
              <a:off x="3597275" y="2819400"/>
              <a:ext cx="762000" cy="1524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62"/>
            <p:cNvCxnSpPr>
              <a:cxnSpLocks noChangeShapeType="1"/>
            </p:cNvCxnSpPr>
            <p:nvPr/>
          </p:nvCxnSpPr>
          <p:spPr bwMode="auto">
            <a:xfrm rot="10800000" flipH="1" flipV="1">
              <a:off x="2835275" y="2438400"/>
              <a:ext cx="762000" cy="1524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63"/>
            <p:cNvCxnSpPr>
              <a:cxnSpLocks noChangeShapeType="1"/>
            </p:cNvCxnSpPr>
            <p:nvPr/>
          </p:nvCxnSpPr>
          <p:spPr bwMode="auto">
            <a:xfrm flipH="1">
              <a:off x="2835275" y="2667000"/>
              <a:ext cx="381000" cy="762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64"/>
            <p:cNvCxnSpPr>
              <a:cxnSpLocks noChangeShapeType="1"/>
            </p:cNvCxnSpPr>
            <p:nvPr/>
          </p:nvCxnSpPr>
          <p:spPr bwMode="auto">
            <a:xfrm rot="10800000" flipH="1" flipV="1">
              <a:off x="2835275" y="2971800"/>
              <a:ext cx="762000" cy="1524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42"/>
          <p:cNvGrpSpPr>
            <a:grpSpLocks/>
          </p:cNvGrpSpPr>
          <p:nvPr/>
        </p:nvGrpSpPr>
        <p:grpSpPr bwMode="auto">
          <a:xfrm>
            <a:off x="4938464" y="1726630"/>
            <a:ext cx="2005012" cy="1630362"/>
            <a:chOff x="5181600" y="1524000"/>
            <a:chExt cx="2759075" cy="2243288"/>
          </a:xfrm>
        </p:grpSpPr>
        <p:cxnSp>
          <p:nvCxnSpPr>
            <p:cNvPr id="25" name="Straight Arrow Connector 30"/>
            <p:cNvCxnSpPr>
              <a:cxnSpLocks noChangeShapeType="1"/>
            </p:cNvCxnSpPr>
            <p:nvPr/>
          </p:nvCxnSpPr>
          <p:spPr bwMode="auto">
            <a:xfrm rot="5400000">
              <a:off x="46489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26" name="TextBox 31"/>
            <p:cNvSpPr txBox="1">
              <a:spLocks noChangeArrowheads="1"/>
            </p:cNvSpPr>
            <p:nvPr/>
          </p:nvSpPr>
          <p:spPr bwMode="auto">
            <a:xfrm>
              <a:off x="5273675" y="1524000"/>
              <a:ext cx="1840014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/>
                <a:t>Shared Memory</a:t>
              </a:r>
            </a:p>
          </p:txBody>
        </p:sp>
        <p:sp>
          <p:nvSpPr>
            <p:cNvPr id="27" name="TextBox 32"/>
            <p:cNvSpPr txBox="1">
              <a:spLocks noChangeArrowheads="1"/>
            </p:cNvSpPr>
            <p:nvPr/>
          </p:nvSpPr>
          <p:spPr bwMode="auto">
            <a:xfrm>
              <a:off x="51816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28" name="Straight Arrow Connector 33"/>
            <p:cNvCxnSpPr>
              <a:cxnSpLocks noChangeShapeType="1"/>
            </p:cNvCxnSpPr>
            <p:nvPr/>
          </p:nvCxnSpPr>
          <p:spPr bwMode="auto">
            <a:xfrm rot="5400000">
              <a:off x="50299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29" name="TextBox 34"/>
            <p:cNvSpPr txBox="1">
              <a:spLocks noChangeArrowheads="1"/>
            </p:cNvSpPr>
            <p:nvPr/>
          </p:nvSpPr>
          <p:spPr bwMode="auto">
            <a:xfrm>
              <a:off x="55626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30" name="Straight Arrow Connector 35"/>
            <p:cNvCxnSpPr>
              <a:cxnSpLocks noChangeShapeType="1"/>
            </p:cNvCxnSpPr>
            <p:nvPr/>
          </p:nvCxnSpPr>
          <p:spPr bwMode="auto">
            <a:xfrm rot="5400000">
              <a:off x="54109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31" name="TextBox 36"/>
            <p:cNvSpPr txBox="1">
              <a:spLocks noChangeArrowheads="1"/>
            </p:cNvSpPr>
            <p:nvPr/>
          </p:nvSpPr>
          <p:spPr bwMode="auto">
            <a:xfrm>
              <a:off x="5943601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3</a:t>
              </a:r>
            </a:p>
          </p:txBody>
        </p:sp>
        <p:cxnSp>
          <p:nvCxnSpPr>
            <p:cNvPr id="32" name="Straight Arrow Connector 37"/>
            <p:cNvCxnSpPr>
              <a:cxnSpLocks noChangeShapeType="1"/>
            </p:cNvCxnSpPr>
            <p:nvPr/>
          </p:nvCxnSpPr>
          <p:spPr bwMode="auto">
            <a:xfrm rot="5400000">
              <a:off x="57919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33" name="TextBox 38"/>
            <p:cNvSpPr txBox="1">
              <a:spLocks noChangeArrowheads="1"/>
            </p:cNvSpPr>
            <p:nvPr/>
          </p:nvSpPr>
          <p:spPr bwMode="auto">
            <a:xfrm>
              <a:off x="6324599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4</a:t>
              </a:r>
            </a:p>
          </p:txBody>
        </p:sp>
        <p:cxnSp>
          <p:nvCxnSpPr>
            <p:cNvPr id="34" name="Straight Arrow Connector 39"/>
            <p:cNvCxnSpPr>
              <a:cxnSpLocks noChangeShapeType="1"/>
            </p:cNvCxnSpPr>
            <p:nvPr/>
          </p:nvCxnSpPr>
          <p:spPr bwMode="auto">
            <a:xfrm rot="5400000">
              <a:off x="6172994" y="2661444"/>
              <a:ext cx="1447800" cy="1588"/>
            </a:xfrm>
            <a:prstGeom prst="straightConnector1">
              <a:avLst/>
            </a:prstGeom>
            <a:noFill/>
            <a:ln w="63500" cmpd="dbl" algn="ctr">
              <a:solidFill>
                <a:srgbClr val="FF0000"/>
              </a:solidFill>
              <a:round/>
              <a:headEnd/>
              <a:tailEnd type="triangle" w="sm" len="sm"/>
            </a:ln>
          </p:spPr>
        </p:cxnSp>
        <p:sp>
          <p:nvSpPr>
            <p:cNvPr id="35" name="TextBox 40"/>
            <p:cNvSpPr txBox="1">
              <a:spLocks noChangeArrowheads="1"/>
            </p:cNvSpPr>
            <p:nvPr/>
          </p:nvSpPr>
          <p:spPr bwMode="auto">
            <a:xfrm>
              <a:off x="6705600" y="3386139"/>
              <a:ext cx="47467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P</a:t>
              </a:r>
              <a:r>
                <a:rPr lang="en-US" sz="1200" baseline="-2500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36" name="Rectangle 41"/>
            <p:cNvSpPr>
              <a:spLocks noChangeArrowheads="1"/>
            </p:cNvSpPr>
            <p:nvPr/>
          </p:nvSpPr>
          <p:spPr bwMode="auto">
            <a:xfrm>
              <a:off x="7331075" y="1905000"/>
              <a:ext cx="609600" cy="152400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37" name="Straight Arrow Connector 65"/>
            <p:cNvCxnSpPr>
              <a:cxnSpLocks noChangeShapeType="1"/>
            </p:cNvCxnSpPr>
            <p:nvPr/>
          </p:nvCxnSpPr>
          <p:spPr bwMode="auto">
            <a:xfrm>
              <a:off x="5349875" y="2133600"/>
              <a:ext cx="1981200" cy="1588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67"/>
            <p:cNvCxnSpPr>
              <a:cxnSpLocks noChangeShapeType="1"/>
            </p:cNvCxnSpPr>
            <p:nvPr/>
          </p:nvCxnSpPr>
          <p:spPr bwMode="auto">
            <a:xfrm>
              <a:off x="6111875" y="2286000"/>
              <a:ext cx="1219200" cy="1588"/>
            </a:xfrm>
            <a:prstGeom prst="straightConnector1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cxnSp>
          <p:nvCxnSpPr>
            <p:cNvPr id="39" name="Straight Arrow Connector 69"/>
            <p:cNvCxnSpPr>
              <a:cxnSpLocks noChangeShapeType="1"/>
            </p:cNvCxnSpPr>
            <p:nvPr/>
          </p:nvCxnSpPr>
          <p:spPr bwMode="auto">
            <a:xfrm rot="10800000">
              <a:off x="5730875" y="2438400"/>
              <a:ext cx="1600200" cy="1588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71"/>
            <p:cNvCxnSpPr>
              <a:cxnSpLocks noChangeShapeType="1"/>
            </p:cNvCxnSpPr>
            <p:nvPr/>
          </p:nvCxnSpPr>
          <p:spPr bwMode="auto">
            <a:xfrm rot="10800000">
              <a:off x="6492875" y="2667000"/>
              <a:ext cx="838200" cy="1588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74"/>
            <p:cNvCxnSpPr>
              <a:cxnSpLocks noChangeShapeType="1"/>
            </p:cNvCxnSpPr>
            <p:nvPr/>
          </p:nvCxnSpPr>
          <p:spPr bwMode="auto">
            <a:xfrm rot="10800000" flipH="1">
              <a:off x="6492875" y="2817813"/>
              <a:ext cx="838200" cy="1587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76"/>
            <p:cNvCxnSpPr>
              <a:cxnSpLocks noChangeShapeType="1"/>
            </p:cNvCxnSpPr>
            <p:nvPr/>
          </p:nvCxnSpPr>
          <p:spPr bwMode="auto">
            <a:xfrm flipH="1">
              <a:off x="5349875" y="2971800"/>
              <a:ext cx="1981200" cy="1588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77"/>
            <p:cNvSpPr txBox="1">
              <a:spLocks noChangeArrowheads="1"/>
            </p:cNvSpPr>
            <p:nvPr/>
          </p:nvSpPr>
          <p:spPr bwMode="auto">
            <a:xfrm rot="-5400000">
              <a:off x="6856413" y="2476425"/>
              <a:ext cx="1524001" cy="381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2"/>
                  </a:solidFill>
                </a:rPr>
                <a:t>Memory</a:t>
              </a:r>
            </a:p>
          </p:txBody>
        </p:sp>
      </p:grpSp>
      <p:grpSp>
        <p:nvGrpSpPr>
          <p:cNvPr id="224" name="Group 226"/>
          <p:cNvGrpSpPr/>
          <p:nvPr/>
        </p:nvGrpSpPr>
        <p:grpSpPr>
          <a:xfrm>
            <a:off x="1271954" y="4832880"/>
            <a:ext cx="1471246" cy="1459672"/>
            <a:chOff x="1271954" y="4419600"/>
            <a:chExt cx="1471246" cy="1459672"/>
          </a:xfrm>
        </p:grpSpPr>
        <p:sp>
          <p:nvSpPr>
            <p:cNvPr id="59" name="AutoShape 4"/>
            <p:cNvSpPr>
              <a:spLocks noChangeArrowheads="1"/>
            </p:cNvSpPr>
            <p:nvPr/>
          </p:nvSpPr>
          <p:spPr bwMode="auto">
            <a:xfrm>
              <a:off x="1271954" y="53340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AutoShape 8"/>
            <p:cNvSpPr>
              <a:spLocks noChangeArrowheads="1"/>
            </p:cNvSpPr>
            <p:nvPr/>
          </p:nvSpPr>
          <p:spPr bwMode="auto">
            <a:xfrm>
              <a:off x="1828800" y="4648200"/>
              <a:ext cx="381000" cy="353786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Text Box 14"/>
            <p:cNvSpPr txBox="1">
              <a:spLocks noChangeArrowheads="1"/>
            </p:cNvSpPr>
            <p:nvPr/>
          </p:nvSpPr>
          <p:spPr bwMode="auto">
            <a:xfrm>
              <a:off x="1676400" y="4419600"/>
              <a:ext cx="6858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en-GB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master</a:t>
              </a:r>
            </a:p>
          </p:txBody>
        </p:sp>
        <p:sp>
          <p:nvSpPr>
            <p:cNvPr id="134" name="AutoShape 4"/>
            <p:cNvSpPr>
              <a:spLocks noChangeArrowheads="1"/>
            </p:cNvSpPr>
            <p:nvPr/>
          </p:nvSpPr>
          <p:spPr bwMode="auto">
            <a:xfrm>
              <a:off x="1652954" y="53340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AutoShape 4"/>
            <p:cNvSpPr>
              <a:spLocks noChangeArrowheads="1"/>
            </p:cNvSpPr>
            <p:nvPr/>
          </p:nvSpPr>
          <p:spPr bwMode="auto">
            <a:xfrm>
              <a:off x="2033954" y="53340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AutoShape 4"/>
            <p:cNvSpPr>
              <a:spLocks noChangeArrowheads="1"/>
            </p:cNvSpPr>
            <p:nvPr/>
          </p:nvSpPr>
          <p:spPr bwMode="auto">
            <a:xfrm>
              <a:off x="2414954" y="53340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29" name="Straight Arrow Connector 128"/>
            <p:cNvCxnSpPr>
              <a:stCxn id="63" idx="2"/>
              <a:endCxn id="59" idx="0"/>
            </p:cNvCxnSpPr>
            <p:nvPr/>
          </p:nvCxnSpPr>
          <p:spPr bwMode="auto">
            <a:xfrm rot="5400000">
              <a:off x="1561682" y="4876382"/>
              <a:ext cx="332014" cy="583223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63" idx="2"/>
              <a:endCxn id="134" idx="0"/>
            </p:cNvCxnSpPr>
            <p:nvPr/>
          </p:nvCxnSpPr>
          <p:spPr bwMode="auto">
            <a:xfrm rot="5400000">
              <a:off x="1752182" y="5066882"/>
              <a:ext cx="332014" cy="202223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63" idx="2"/>
              <a:endCxn id="135" idx="0"/>
            </p:cNvCxnSpPr>
            <p:nvPr/>
          </p:nvCxnSpPr>
          <p:spPr bwMode="auto">
            <a:xfrm rot="16200000" flipH="1">
              <a:off x="1942681" y="5078604"/>
              <a:ext cx="332014" cy="178777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63" idx="2"/>
              <a:endCxn id="136" idx="0"/>
            </p:cNvCxnSpPr>
            <p:nvPr/>
          </p:nvCxnSpPr>
          <p:spPr bwMode="auto">
            <a:xfrm rot="16200000" flipH="1">
              <a:off x="2133181" y="4888104"/>
              <a:ext cx="332014" cy="559777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8" name="Text Box 14"/>
            <p:cNvSpPr txBox="1">
              <a:spLocks noChangeArrowheads="1"/>
            </p:cNvSpPr>
            <p:nvPr/>
          </p:nvSpPr>
          <p:spPr bwMode="auto">
            <a:xfrm>
              <a:off x="1676400" y="5638800"/>
              <a:ext cx="6858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en-GB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slaves</a:t>
              </a:r>
            </a:p>
          </p:txBody>
        </p:sp>
      </p:grpSp>
      <p:grpSp>
        <p:nvGrpSpPr>
          <p:cNvPr id="225" name="Group 228"/>
          <p:cNvGrpSpPr/>
          <p:nvPr/>
        </p:nvGrpSpPr>
        <p:grpSpPr>
          <a:xfrm>
            <a:off x="3200400" y="4680480"/>
            <a:ext cx="2743200" cy="1916872"/>
            <a:chOff x="3276600" y="4267200"/>
            <a:chExt cx="2743200" cy="1916872"/>
          </a:xfrm>
        </p:grpSpPr>
        <p:sp>
          <p:nvSpPr>
            <p:cNvPr id="149" name="AutoShape 8"/>
            <p:cNvSpPr>
              <a:spLocks noChangeArrowheads="1"/>
            </p:cNvSpPr>
            <p:nvPr/>
          </p:nvSpPr>
          <p:spPr bwMode="auto">
            <a:xfrm>
              <a:off x="3686908" y="4495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AutoShape 4"/>
            <p:cNvSpPr>
              <a:spLocks noChangeArrowheads="1"/>
            </p:cNvSpPr>
            <p:nvPr/>
          </p:nvSpPr>
          <p:spPr bwMode="auto">
            <a:xfrm>
              <a:off x="4296508" y="4495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51" name="Straight Arrow Connector 150"/>
            <p:cNvCxnSpPr>
              <a:stCxn id="149" idx="3"/>
              <a:endCxn id="150" idx="1"/>
            </p:cNvCxnSpPr>
            <p:nvPr/>
          </p:nvCxnSpPr>
          <p:spPr bwMode="auto">
            <a:xfrm>
              <a:off x="4015154" y="4648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8" name="AutoShape 8"/>
            <p:cNvSpPr>
              <a:spLocks noChangeArrowheads="1"/>
            </p:cNvSpPr>
            <p:nvPr/>
          </p:nvSpPr>
          <p:spPr bwMode="auto">
            <a:xfrm>
              <a:off x="3686908" y="4876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AutoShape 4"/>
            <p:cNvSpPr>
              <a:spLocks noChangeArrowheads="1"/>
            </p:cNvSpPr>
            <p:nvPr/>
          </p:nvSpPr>
          <p:spPr bwMode="auto">
            <a:xfrm>
              <a:off x="4296508" y="4876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60" name="Straight Arrow Connector 159"/>
            <p:cNvCxnSpPr>
              <a:stCxn id="158" idx="3"/>
              <a:endCxn id="159" idx="1"/>
            </p:cNvCxnSpPr>
            <p:nvPr/>
          </p:nvCxnSpPr>
          <p:spPr bwMode="auto">
            <a:xfrm>
              <a:off x="4015154" y="5029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AutoShape 8"/>
            <p:cNvSpPr>
              <a:spLocks noChangeArrowheads="1"/>
            </p:cNvSpPr>
            <p:nvPr/>
          </p:nvSpPr>
          <p:spPr bwMode="auto">
            <a:xfrm>
              <a:off x="3686908" y="5257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AutoShape 4"/>
            <p:cNvSpPr>
              <a:spLocks noChangeArrowheads="1"/>
            </p:cNvSpPr>
            <p:nvPr/>
          </p:nvSpPr>
          <p:spPr bwMode="auto">
            <a:xfrm>
              <a:off x="4296508" y="5257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63" name="Straight Arrow Connector 162"/>
            <p:cNvCxnSpPr>
              <a:stCxn id="161" idx="3"/>
              <a:endCxn id="162" idx="1"/>
            </p:cNvCxnSpPr>
            <p:nvPr/>
          </p:nvCxnSpPr>
          <p:spPr bwMode="auto">
            <a:xfrm>
              <a:off x="4015154" y="5410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4" name="AutoShape 8"/>
            <p:cNvSpPr>
              <a:spLocks noChangeArrowheads="1"/>
            </p:cNvSpPr>
            <p:nvPr/>
          </p:nvSpPr>
          <p:spPr bwMode="auto">
            <a:xfrm>
              <a:off x="3686908" y="5638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AutoShape 4"/>
            <p:cNvSpPr>
              <a:spLocks noChangeArrowheads="1"/>
            </p:cNvSpPr>
            <p:nvPr/>
          </p:nvSpPr>
          <p:spPr bwMode="auto">
            <a:xfrm>
              <a:off x="4296508" y="5638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66" name="Straight Arrow Connector 165"/>
            <p:cNvCxnSpPr>
              <a:stCxn id="164" idx="3"/>
              <a:endCxn id="165" idx="1"/>
            </p:cNvCxnSpPr>
            <p:nvPr/>
          </p:nvCxnSpPr>
          <p:spPr bwMode="auto">
            <a:xfrm>
              <a:off x="4015154" y="5791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7" name="AutoShape 8"/>
            <p:cNvSpPr>
              <a:spLocks noChangeArrowheads="1"/>
            </p:cNvSpPr>
            <p:nvPr/>
          </p:nvSpPr>
          <p:spPr bwMode="auto">
            <a:xfrm>
              <a:off x="4624754" y="4495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AutoShape 4"/>
            <p:cNvSpPr>
              <a:spLocks noChangeArrowheads="1"/>
            </p:cNvSpPr>
            <p:nvPr/>
          </p:nvSpPr>
          <p:spPr bwMode="auto">
            <a:xfrm>
              <a:off x="5234354" y="4495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69" name="Straight Arrow Connector 168"/>
            <p:cNvCxnSpPr>
              <a:stCxn id="167" idx="3"/>
              <a:endCxn id="168" idx="1"/>
            </p:cNvCxnSpPr>
            <p:nvPr/>
          </p:nvCxnSpPr>
          <p:spPr bwMode="auto">
            <a:xfrm>
              <a:off x="4953000" y="4648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0" name="AutoShape 8"/>
            <p:cNvSpPr>
              <a:spLocks noChangeArrowheads="1"/>
            </p:cNvSpPr>
            <p:nvPr/>
          </p:nvSpPr>
          <p:spPr bwMode="auto">
            <a:xfrm>
              <a:off x="4624754" y="4876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AutoShape 4"/>
            <p:cNvSpPr>
              <a:spLocks noChangeArrowheads="1"/>
            </p:cNvSpPr>
            <p:nvPr/>
          </p:nvSpPr>
          <p:spPr bwMode="auto">
            <a:xfrm>
              <a:off x="5234354" y="4876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72" name="Straight Arrow Connector 171"/>
            <p:cNvCxnSpPr>
              <a:stCxn id="170" idx="3"/>
              <a:endCxn id="171" idx="1"/>
            </p:cNvCxnSpPr>
            <p:nvPr/>
          </p:nvCxnSpPr>
          <p:spPr bwMode="auto">
            <a:xfrm>
              <a:off x="4953000" y="5029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AutoShape 8"/>
            <p:cNvSpPr>
              <a:spLocks noChangeArrowheads="1"/>
            </p:cNvSpPr>
            <p:nvPr/>
          </p:nvSpPr>
          <p:spPr bwMode="auto">
            <a:xfrm>
              <a:off x="4624754" y="5257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AutoShape 4"/>
            <p:cNvSpPr>
              <a:spLocks noChangeArrowheads="1"/>
            </p:cNvSpPr>
            <p:nvPr/>
          </p:nvSpPr>
          <p:spPr bwMode="auto">
            <a:xfrm>
              <a:off x="5234354" y="5257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75" name="Straight Arrow Connector 174"/>
            <p:cNvCxnSpPr>
              <a:stCxn id="173" idx="3"/>
              <a:endCxn id="174" idx="1"/>
            </p:cNvCxnSpPr>
            <p:nvPr/>
          </p:nvCxnSpPr>
          <p:spPr bwMode="auto">
            <a:xfrm>
              <a:off x="4953000" y="5410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AutoShape 8"/>
            <p:cNvSpPr>
              <a:spLocks noChangeArrowheads="1"/>
            </p:cNvSpPr>
            <p:nvPr/>
          </p:nvSpPr>
          <p:spPr bwMode="auto">
            <a:xfrm>
              <a:off x="4624754" y="5638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AutoShape 4"/>
            <p:cNvSpPr>
              <a:spLocks noChangeArrowheads="1"/>
            </p:cNvSpPr>
            <p:nvPr/>
          </p:nvSpPr>
          <p:spPr bwMode="auto">
            <a:xfrm>
              <a:off x="5234354" y="5638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78" name="Straight Arrow Connector 177"/>
            <p:cNvCxnSpPr>
              <a:stCxn id="176" idx="3"/>
              <a:endCxn id="177" idx="1"/>
            </p:cNvCxnSpPr>
            <p:nvPr/>
          </p:nvCxnSpPr>
          <p:spPr bwMode="auto">
            <a:xfrm>
              <a:off x="4953000" y="5791200"/>
              <a:ext cx="281354" cy="1588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Text Box 14"/>
            <p:cNvSpPr txBox="1">
              <a:spLocks noChangeArrowheads="1"/>
            </p:cNvSpPr>
            <p:nvPr/>
          </p:nvSpPr>
          <p:spPr bwMode="auto">
            <a:xfrm>
              <a:off x="3276600" y="4267200"/>
              <a:ext cx="9144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en-GB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producer</a:t>
              </a:r>
            </a:p>
          </p:txBody>
        </p:sp>
        <p:sp>
          <p:nvSpPr>
            <p:cNvPr id="180" name="Text Box 14"/>
            <p:cNvSpPr txBox="1">
              <a:spLocks noChangeArrowheads="1"/>
            </p:cNvSpPr>
            <p:nvPr/>
          </p:nvSpPr>
          <p:spPr bwMode="auto">
            <a:xfrm>
              <a:off x="3962400" y="4267200"/>
              <a:ext cx="9906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en-GB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consumer</a:t>
              </a:r>
            </a:p>
          </p:txBody>
        </p:sp>
        <p:sp>
          <p:nvSpPr>
            <p:cNvPr id="181" name="Text Box 14"/>
            <p:cNvSpPr txBox="1">
              <a:spLocks noChangeArrowheads="1"/>
            </p:cNvSpPr>
            <p:nvPr/>
          </p:nvSpPr>
          <p:spPr bwMode="auto">
            <a:xfrm>
              <a:off x="4343400" y="5943600"/>
              <a:ext cx="9144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en-GB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producer</a:t>
              </a:r>
            </a:p>
          </p:txBody>
        </p:sp>
        <p:sp>
          <p:nvSpPr>
            <p:cNvPr id="182" name="Text Box 14"/>
            <p:cNvSpPr txBox="1">
              <a:spLocks noChangeArrowheads="1"/>
            </p:cNvSpPr>
            <p:nvPr/>
          </p:nvSpPr>
          <p:spPr bwMode="auto">
            <a:xfrm>
              <a:off x="5029200" y="5943600"/>
              <a:ext cx="9906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kumimoji="0" lang="en-GB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consumer</a:t>
              </a:r>
            </a:p>
          </p:txBody>
        </p:sp>
      </p:grpSp>
      <p:grpSp>
        <p:nvGrpSpPr>
          <p:cNvPr id="227" name="Group 229"/>
          <p:cNvGrpSpPr/>
          <p:nvPr/>
        </p:nvGrpSpPr>
        <p:grpSpPr>
          <a:xfrm>
            <a:off x="6248400" y="4909080"/>
            <a:ext cx="2133600" cy="1447800"/>
            <a:chOff x="6248400" y="4495800"/>
            <a:chExt cx="2133600" cy="1447800"/>
          </a:xfrm>
        </p:grpSpPr>
        <p:sp>
          <p:nvSpPr>
            <p:cNvPr id="184" name="AutoShape 4"/>
            <p:cNvSpPr>
              <a:spLocks noChangeArrowheads="1"/>
            </p:cNvSpPr>
            <p:nvPr/>
          </p:nvSpPr>
          <p:spPr bwMode="auto">
            <a:xfrm>
              <a:off x="8053754" y="4495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AutoShape 4"/>
            <p:cNvSpPr>
              <a:spLocks noChangeArrowheads="1"/>
            </p:cNvSpPr>
            <p:nvPr/>
          </p:nvSpPr>
          <p:spPr bwMode="auto">
            <a:xfrm>
              <a:off x="8053754" y="4876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AutoShape 4"/>
            <p:cNvSpPr>
              <a:spLocks noChangeArrowheads="1"/>
            </p:cNvSpPr>
            <p:nvPr/>
          </p:nvSpPr>
          <p:spPr bwMode="auto">
            <a:xfrm>
              <a:off x="8053754" y="5257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AutoShape 4"/>
            <p:cNvSpPr>
              <a:spLocks noChangeArrowheads="1"/>
            </p:cNvSpPr>
            <p:nvPr/>
          </p:nvSpPr>
          <p:spPr bwMode="auto">
            <a:xfrm>
              <a:off x="8053754" y="5638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AutoShape 4"/>
            <p:cNvSpPr>
              <a:spLocks noChangeArrowheads="1"/>
            </p:cNvSpPr>
            <p:nvPr/>
          </p:nvSpPr>
          <p:spPr bwMode="auto">
            <a:xfrm>
              <a:off x="6910754" y="5105400"/>
              <a:ext cx="175846" cy="2286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AutoShape 4"/>
            <p:cNvSpPr>
              <a:spLocks noChangeArrowheads="1"/>
            </p:cNvSpPr>
            <p:nvPr/>
          </p:nvSpPr>
          <p:spPr bwMode="auto">
            <a:xfrm>
              <a:off x="7086600" y="5105400"/>
              <a:ext cx="175846" cy="2286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AutoShape 4"/>
            <p:cNvSpPr>
              <a:spLocks noChangeArrowheads="1"/>
            </p:cNvSpPr>
            <p:nvPr/>
          </p:nvSpPr>
          <p:spPr bwMode="auto">
            <a:xfrm>
              <a:off x="7239000" y="5105400"/>
              <a:ext cx="175846" cy="2286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AutoShape 4"/>
            <p:cNvSpPr>
              <a:spLocks noChangeArrowheads="1"/>
            </p:cNvSpPr>
            <p:nvPr/>
          </p:nvSpPr>
          <p:spPr bwMode="auto">
            <a:xfrm>
              <a:off x="7391400" y="5105400"/>
              <a:ext cx="175846" cy="2286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AutoShape 4"/>
            <p:cNvSpPr>
              <a:spLocks noChangeArrowheads="1"/>
            </p:cNvSpPr>
            <p:nvPr/>
          </p:nvSpPr>
          <p:spPr bwMode="auto">
            <a:xfrm>
              <a:off x="7543800" y="5105400"/>
              <a:ext cx="175846" cy="2286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96" name="Straight Arrow Connector 195"/>
            <p:cNvCxnSpPr>
              <a:stCxn id="183" idx="3"/>
              <a:endCxn id="191" idx="1"/>
            </p:cNvCxnSpPr>
            <p:nvPr/>
          </p:nvCxnSpPr>
          <p:spPr bwMode="auto">
            <a:xfrm>
              <a:off x="6576646" y="4648200"/>
              <a:ext cx="334108" cy="571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Arrow Connector 198"/>
            <p:cNvCxnSpPr>
              <a:stCxn id="189" idx="3"/>
              <a:endCxn id="191" idx="1"/>
            </p:cNvCxnSpPr>
            <p:nvPr/>
          </p:nvCxnSpPr>
          <p:spPr bwMode="auto">
            <a:xfrm flipV="1">
              <a:off x="6576646" y="5219700"/>
              <a:ext cx="334108" cy="571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Arrow Connector 201"/>
            <p:cNvCxnSpPr>
              <a:stCxn id="185" idx="3"/>
              <a:endCxn id="191" idx="1"/>
            </p:cNvCxnSpPr>
            <p:nvPr/>
          </p:nvCxnSpPr>
          <p:spPr bwMode="auto">
            <a:xfrm>
              <a:off x="6576646" y="5029200"/>
              <a:ext cx="334108" cy="190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Straight Arrow Connector 204"/>
            <p:cNvCxnSpPr>
              <a:endCxn id="191" idx="1"/>
            </p:cNvCxnSpPr>
            <p:nvPr/>
          </p:nvCxnSpPr>
          <p:spPr bwMode="auto">
            <a:xfrm flipV="1">
              <a:off x="6553200" y="5219700"/>
              <a:ext cx="357554" cy="190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3" name="AutoShape 8"/>
            <p:cNvSpPr>
              <a:spLocks noChangeArrowheads="1"/>
            </p:cNvSpPr>
            <p:nvPr/>
          </p:nvSpPr>
          <p:spPr bwMode="auto">
            <a:xfrm>
              <a:off x="6248400" y="4495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AutoShape 8"/>
            <p:cNvSpPr>
              <a:spLocks noChangeArrowheads="1"/>
            </p:cNvSpPr>
            <p:nvPr/>
          </p:nvSpPr>
          <p:spPr bwMode="auto">
            <a:xfrm>
              <a:off x="6248400" y="4876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AutoShape 8"/>
            <p:cNvSpPr>
              <a:spLocks noChangeArrowheads="1"/>
            </p:cNvSpPr>
            <p:nvPr/>
          </p:nvSpPr>
          <p:spPr bwMode="auto">
            <a:xfrm>
              <a:off x="6248400" y="5257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AutoShape 8"/>
            <p:cNvSpPr>
              <a:spLocks noChangeArrowheads="1"/>
            </p:cNvSpPr>
            <p:nvPr/>
          </p:nvSpPr>
          <p:spPr bwMode="auto">
            <a:xfrm>
              <a:off x="6248400" y="5638800"/>
              <a:ext cx="328246" cy="304800"/>
            </a:xfrm>
            <a:prstGeom prst="roundRect">
              <a:avLst>
                <a:gd name="adj" fmla="val 319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14" name="Straight Arrow Connector 213"/>
            <p:cNvCxnSpPr>
              <a:stCxn id="195" idx="3"/>
              <a:endCxn id="184" idx="1"/>
            </p:cNvCxnSpPr>
            <p:nvPr/>
          </p:nvCxnSpPr>
          <p:spPr bwMode="auto">
            <a:xfrm flipV="1">
              <a:off x="7719646" y="4648200"/>
              <a:ext cx="334108" cy="571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7" name="Straight Arrow Connector 216"/>
            <p:cNvCxnSpPr>
              <a:stCxn id="195" idx="3"/>
              <a:endCxn id="186" idx="1"/>
            </p:cNvCxnSpPr>
            <p:nvPr/>
          </p:nvCxnSpPr>
          <p:spPr bwMode="auto">
            <a:xfrm flipV="1">
              <a:off x="7719646" y="5029200"/>
              <a:ext cx="334108" cy="190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Straight Arrow Connector 219"/>
            <p:cNvCxnSpPr>
              <a:stCxn id="195" idx="3"/>
              <a:endCxn id="188" idx="1"/>
            </p:cNvCxnSpPr>
            <p:nvPr/>
          </p:nvCxnSpPr>
          <p:spPr bwMode="auto">
            <a:xfrm>
              <a:off x="7719646" y="5219700"/>
              <a:ext cx="334108" cy="190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>
              <a:stCxn id="195" idx="3"/>
              <a:endCxn id="190" idx="1"/>
            </p:cNvCxnSpPr>
            <p:nvPr/>
          </p:nvCxnSpPr>
          <p:spPr bwMode="auto">
            <a:xfrm>
              <a:off x="7719646" y="5219700"/>
              <a:ext cx="334108" cy="571500"/>
            </a:xfrm>
            <a:prstGeom prst="straightConnector1">
              <a:avLst/>
            </a:prstGeom>
            <a:ln w="15875"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6" name="Text Box 14"/>
            <p:cNvSpPr txBox="1">
              <a:spLocks noChangeArrowheads="1"/>
            </p:cNvSpPr>
            <p:nvPr/>
          </p:nvSpPr>
          <p:spPr bwMode="auto">
            <a:xfrm>
              <a:off x="6781800" y="5334000"/>
              <a:ext cx="990600" cy="24047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/>
              </a:pPr>
              <a:r>
                <a:rPr lang="en-GB" sz="1200" b="0" kern="0" noProof="0" dirty="0" smtClean="0">
                  <a:solidFill>
                    <a:sysClr val="windowText" lastClr="000000"/>
                  </a:solidFill>
                </a:rPr>
                <a:t>work queue</a:t>
              </a:r>
              <a:endPara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Problems really Solve?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+mj-lt"/>
              </a:rPr>
              <a:t>Concurrency is difficult to reason about</a:t>
            </a:r>
          </a:p>
          <a:p>
            <a:r>
              <a:rPr lang="en-US" dirty="0" smtClean="0">
                <a:latin typeface="+mj-lt"/>
              </a:rPr>
              <a:t>Concurrency is even more difficult to reason about</a:t>
            </a:r>
          </a:p>
          <a:p>
            <a:pPr lvl="1"/>
            <a:r>
              <a:rPr lang="en-US" dirty="0" smtClean="0">
                <a:latin typeface="+mj-lt"/>
              </a:rPr>
              <a:t>At the scale of datacenters (even across datacenters)</a:t>
            </a:r>
          </a:p>
          <a:p>
            <a:pPr lvl="1"/>
            <a:r>
              <a:rPr lang="en-US" dirty="0" smtClean="0">
                <a:latin typeface="+mj-lt"/>
              </a:rPr>
              <a:t>In the presence of failures</a:t>
            </a:r>
          </a:p>
          <a:p>
            <a:pPr lvl="1"/>
            <a:r>
              <a:rPr lang="en-US" dirty="0" smtClean="0">
                <a:latin typeface="+mj-lt"/>
              </a:rPr>
              <a:t>In terms of multiple interacting services</a:t>
            </a:r>
          </a:p>
          <a:p>
            <a:r>
              <a:rPr lang="en-US" dirty="0" smtClean="0">
                <a:latin typeface="+mj-lt"/>
              </a:rPr>
              <a:t>Not to mention debugging…</a:t>
            </a:r>
          </a:p>
          <a:p>
            <a:pPr eaLnBrk="1" hangingPunct="1"/>
            <a:r>
              <a:rPr lang="en-US" dirty="0" smtClean="0">
                <a:latin typeface="+mj-lt"/>
              </a:rPr>
              <a:t>The reality: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Lots of one-off solutions, custom code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Write you own dedicated library, then program with it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Burden on the programmer to explicitly manage everything</a:t>
            </a:r>
          </a:p>
          <a:p>
            <a:endParaRPr lang="en-US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is </a:t>
            </a:r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600200"/>
            <a:ext cx="482453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Programming model for expressing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distributed computations</a:t>
            </a:r>
            <a:r>
              <a:rPr lang="en-US" altLang="zh-TW" dirty="0" smtClean="0">
                <a:latin typeface="+mj-lt"/>
              </a:rPr>
              <a:t> at a massive scale</a:t>
            </a:r>
          </a:p>
          <a:p>
            <a:r>
              <a:rPr lang="en-US" altLang="zh-TW" dirty="0" smtClean="0">
                <a:latin typeface="+mj-lt"/>
              </a:rPr>
              <a:t>A patented software framework introduced by Google</a:t>
            </a:r>
          </a:p>
          <a:p>
            <a:pPr lvl="1"/>
            <a:r>
              <a:rPr lang="en-US" altLang="zh-TW" dirty="0" smtClean="0">
                <a:latin typeface="+mj-lt"/>
                <a:ea typeface="ＭＳ Ｐゴシック" charset="-128"/>
              </a:rPr>
              <a:t>Processes 20 </a:t>
            </a:r>
            <a:r>
              <a:rPr lang="en-US" altLang="zh-TW" dirty="0" err="1" smtClean="0">
                <a:latin typeface="+mj-lt"/>
                <a:ea typeface="ＭＳ Ｐゴシック" charset="-128"/>
              </a:rPr>
              <a:t>petabytes</a:t>
            </a:r>
            <a:r>
              <a:rPr lang="en-US" altLang="zh-TW" dirty="0" smtClean="0">
                <a:latin typeface="+mj-lt"/>
                <a:ea typeface="ＭＳ Ｐゴシック" charset="-128"/>
              </a:rPr>
              <a:t> of data per day</a:t>
            </a:r>
          </a:p>
          <a:p>
            <a:r>
              <a:rPr lang="en-US" altLang="zh-TW" dirty="0" smtClean="0">
                <a:latin typeface="+mj-lt"/>
                <a:ea typeface="ＭＳ Ｐゴシック" charset="-128"/>
              </a:rPr>
              <a:t>Popularized by open-source </a:t>
            </a:r>
            <a:r>
              <a:rPr lang="en-US" altLang="zh-TW" dirty="0" err="1" smtClean="0">
                <a:latin typeface="+mj-lt"/>
                <a:ea typeface="ＭＳ Ｐゴシック" charset="-128"/>
              </a:rPr>
              <a:t>Hadoop</a:t>
            </a:r>
            <a:r>
              <a:rPr lang="en-US" altLang="zh-TW" dirty="0" smtClean="0">
                <a:latin typeface="+mj-lt"/>
                <a:ea typeface="ＭＳ Ｐゴシック" charset="-128"/>
              </a:rPr>
              <a:t> project</a:t>
            </a:r>
          </a:p>
          <a:p>
            <a:pPr lvl="1"/>
            <a:r>
              <a:rPr lang="en-US" altLang="zh-TW" dirty="0" smtClean="0">
                <a:latin typeface="+mj-lt"/>
                <a:ea typeface="ＭＳ Ｐゴシック" charset="-128"/>
              </a:rPr>
              <a:t>Used at Yahoo!, </a:t>
            </a:r>
            <a:r>
              <a:rPr lang="en-US" altLang="zh-TW" dirty="0" err="1" smtClean="0">
                <a:latin typeface="+mj-lt"/>
                <a:ea typeface="ＭＳ Ｐゴシック" charset="-128"/>
              </a:rPr>
              <a:t>Facebook</a:t>
            </a:r>
            <a:r>
              <a:rPr lang="en-US" altLang="zh-TW" dirty="0" smtClean="0">
                <a:latin typeface="+mj-lt"/>
                <a:ea typeface="ＭＳ Ｐゴシック" charset="-128"/>
              </a:rPr>
              <a:t>, Amazon, …</a:t>
            </a:r>
          </a:p>
        </p:txBody>
      </p:sp>
      <p:grpSp>
        <p:nvGrpSpPr>
          <p:cNvPr id="11" name="群組 12"/>
          <p:cNvGrpSpPr/>
          <p:nvPr/>
        </p:nvGrpSpPr>
        <p:grpSpPr>
          <a:xfrm>
            <a:off x="5148064" y="1700808"/>
            <a:ext cx="3816424" cy="4680520"/>
            <a:chOff x="4998915" y="2636912"/>
            <a:chExt cx="3816424" cy="4680520"/>
          </a:xfrm>
        </p:grpSpPr>
        <p:sp>
          <p:nvSpPr>
            <p:cNvPr id="12" name="圓角矩形 11"/>
            <p:cNvSpPr/>
            <p:nvPr/>
          </p:nvSpPr>
          <p:spPr>
            <a:xfrm>
              <a:off x="4998915" y="5013176"/>
              <a:ext cx="3811485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</a:t>
              </a:r>
              <a:br>
                <a:rPr lang="en-US" altLang="zh-TW" dirty="0" smtClean="0"/>
              </a:br>
              <a:r>
                <a:rPr lang="en-US" altLang="zh-TW" dirty="0" smtClean="0"/>
                <a:t>File System (HDFS)</a:t>
              </a:r>
              <a:endParaRPr lang="zh-TW" altLang="en-US" dirty="0"/>
            </a:p>
          </p:txBody>
        </p:sp>
        <p:sp>
          <p:nvSpPr>
            <p:cNvPr id="13" name="圓角矩形 12"/>
            <p:cNvSpPr/>
            <p:nvPr/>
          </p:nvSpPr>
          <p:spPr>
            <a:xfrm>
              <a:off x="4998915" y="3933056"/>
              <a:ext cx="2304256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14" name="圓角矩形 13"/>
            <p:cNvSpPr/>
            <p:nvPr/>
          </p:nvSpPr>
          <p:spPr>
            <a:xfrm>
              <a:off x="7009913" y="4997671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4998915" y="6381233"/>
              <a:ext cx="3811485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16" name="圓角矩形 15"/>
            <p:cNvSpPr/>
            <p:nvPr/>
          </p:nvSpPr>
          <p:spPr>
            <a:xfrm>
              <a:off x="5003854" y="2636912"/>
              <a:ext cx="3811485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</p:grpSp>
      <p:cxnSp>
        <p:nvCxnSpPr>
          <p:cNvPr id="17" name="直線單箭頭接點 16"/>
          <p:cNvCxnSpPr/>
          <p:nvPr/>
        </p:nvCxnSpPr>
        <p:spPr>
          <a:xfrm rot="16200000" flipV="1">
            <a:off x="5842995" y="2806078"/>
            <a:ext cx="347469" cy="913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rot="16200000" flipV="1">
            <a:off x="5847566" y="3881627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5" idx="0"/>
            <a:endCxn id="12" idx="2"/>
          </p:cNvCxnSpPr>
          <p:nvPr/>
        </p:nvCxnSpPr>
        <p:spPr>
          <a:xfrm rot="5400000" flipH="1" flipV="1">
            <a:off x="6837878" y="5229200"/>
            <a:ext cx="43185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rot="16200000" flipV="1">
            <a:off x="7143710" y="3881626"/>
            <a:ext cx="338331" cy="914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rot="16200000" flipV="1">
            <a:off x="7323730" y="3341566"/>
            <a:ext cx="1418452" cy="914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131784" y="2949677"/>
            <a:ext cx="2392543" cy="839363"/>
          </a:xfrm>
          <a:prstGeom prst="rect">
            <a:avLst/>
          </a:prstGeom>
          <a:solidFill>
            <a:schemeClr val="lt1">
              <a:alpha val="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</a:t>
            </a:r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Scale “out”, not “up”</a:t>
            </a:r>
          </a:p>
          <a:p>
            <a:pPr lvl="1"/>
            <a:r>
              <a:rPr lang="en-US" altLang="zh-TW" dirty="0" smtClean="0">
                <a:latin typeface="+mj-lt"/>
              </a:rPr>
              <a:t>Limits of Symmetrical Multi-Processing (SMP) and large shared-memory machines</a:t>
            </a:r>
          </a:p>
          <a:p>
            <a:r>
              <a:rPr lang="en-US" altLang="zh-TW" dirty="0" smtClean="0">
                <a:latin typeface="+mj-lt"/>
              </a:rPr>
              <a:t>Move computing to data</a:t>
            </a:r>
          </a:p>
          <a:p>
            <a:pPr lvl="1"/>
            <a:r>
              <a:rPr lang="en-US" altLang="zh-TW" dirty="0" smtClean="0">
                <a:latin typeface="+mj-lt"/>
              </a:rPr>
              <a:t>Cluster have limited bandwidth</a:t>
            </a:r>
          </a:p>
          <a:p>
            <a:r>
              <a:rPr lang="en-US" altLang="zh-TW" dirty="0" smtClean="0">
                <a:latin typeface="+mj-lt"/>
              </a:rPr>
              <a:t>Hide system-level details from the developers</a:t>
            </a:r>
          </a:p>
          <a:p>
            <a:pPr lvl="1"/>
            <a:r>
              <a:rPr lang="en-US" altLang="zh-TW" dirty="0" smtClean="0">
                <a:latin typeface="+mj-lt"/>
              </a:rPr>
              <a:t>No more race conditions, lock contention, etc</a:t>
            </a:r>
          </a:p>
          <a:p>
            <a:r>
              <a:rPr lang="en-US" altLang="zh-TW" dirty="0" smtClean="0">
                <a:latin typeface="+mj-lt"/>
              </a:rPr>
              <a:t>Separating the </a:t>
            </a:r>
            <a:r>
              <a:rPr lang="en-US" altLang="zh-TW" i="1" dirty="0" smtClean="0">
                <a:latin typeface="+mj-lt"/>
              </a:rPr>
              <a:t>what</a:t>
            </a:r>
            <a:r>
              <a:rPr lang="en-US" altLang="zh-TW" dirty="0" smtClean="0">
                <a:latin typeface="+mj-lt"/>
              </a:rPr>
              <a:t> from </a:t>
            </a:r>
            <a:r>
              <a:rPr lang="en-US" altLang="zh-TW" i="1" dirty="0" smtClean="0">
                <a:latin typeface="+mj-lt"/>
              </a:rPr>
              <a:t>how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Developer specifies the computation that needs to be performed</a:t>
            </a:r>
          </a:p>
          <a:p>
            <a:pPr lvl="1"/>
            <a:r>
              <a:rPr lang="en-US" altLang="zh-TW" dirty="0" smtClean="0">
                <a:latin typeface="+mj-lt"/>
              </a:rPr>
              <a:t>Execution framework (“runtime”) handles actual execution</a:t>
            </a:r>
          </a:p>
          <a:p>
            <a:endParaRPr lang="en-US" altLang="zh-TW" dirty="0" smtClean="0">
              <a:latin typeface="+mj-lt"/>
            </a:endParaRP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altLang="zh-TW" dirty="0" smtClean="0"/>
              <a:t>Programming Model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Refinement</a:t>
            </a: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MapReduce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Large-Data Problem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Iterate over a large number of records</a:t>
            </a:r>
          </a:p>
          <a:p>
            <a:r>
              <a:rPr lang="en-US" dirty="0" smtClean="0">
                <a:latin typeface="+mj-lt"/>
              </a:rPr>
              <a:t>Extract something of interest from each</a:t>
            </a:r>
          </a:p>
          <a:p>
            <a:r>
              <a:rPr lang="en-US" dirty="0" smtClean="0">
                <a:latin typeface="+mj-lt"/>
              </a:rPr>
              <a:t>Shuffle and sort intermediate results</a:t>
            </a:r>
          </a:p>
          <a:p>
            <a:r>
              <a:rPr lang="en-US" dirty="0" smtClean="0">
                <a:latin typeface="+mj-lt"/>
              </a:rPr>
              <a:t>Aggregate intermediate results</a:t>
            </a:r>
          </a:p>
          <a:p>
            <a:r>
              <a:rPr lang="en-US" dirty="0" smtClean="0">
                <a:latin typeface="+mj-lt"/>
              </a:rPr>
              <a:t>Generate final output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914400" y="4426803"/>
            <a:ext cx="7467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Key idea: </a:t>
            </a:r>
            <a:r>
              <a:rPr lang="en-US" sz="2400" dirty="0" smtClean="0">
                <a:solidFill>
                  <a:srgbClr val="FF0000"/>
                </a:solidFill>
              </a:rPr>
              <a:t>provide a functional </a:t>
            </a:r>
            <a:r>
              <a:rPr lang="en-US" sz="2400" dirty="0">
                <a:solidFill>
                  <a:srgbClr val="FF0000"/>
                </a:solidFill>
              </a:rPr>
              <a:t>abstraction </a:t>
            </a:r>
            <a:r>
              <a:rPr lang="en-US" sz="2400" dirty="0" smtClean="0">
                <a:solidFill>
                  <a:srgbClr val="FF0000"/>
                </a:solidFill>
              </a:rPr>
              <a:t>for these </a:t>
            </a:r>
            <a:r>
              <a:rPr lang="en-US" sz="2400" dirty="0">
                <a:solidFill>
                  <a:srgbClr val="FF0000"/>
                </a:solidFill>
              </a:rPr>
              <a:t>two operations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 rot="816188">
            <a:off x="201613" y="1942152"/>
            <a:ext cx="9032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Map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 rot="-811533">
            <a:off x="5207434" y="2947261"/>
            <a:ext cx="148431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Reduce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The framework is inspired by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map</a:t>
            </a:r>
            <a:r>
              <a:rPr lang="en-US" altLang="zh-TW" dirty="0" smtClean="0">
                <a:latin typeface="+mj-lt"/>
              </a:rPr>
              <a:t> and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reduce</a:t>
            </a:r>
            <a:r>
              <a:rPr lang="en-US" altLang="zh-TW" dirty="0" smtClean="0">
                <a:latin typeface="+mj-lt"/>
              </a:rPr>
              <a:t> functions commonly used in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functional programming</a:t>
            </a:r>
            <a:r>
              <a:rPr lang="en-US" altLang="zh-TW" dirty="0" smtClean="0">
                <a:latin typeface="+mj-lt"/>
              </a:rPr>
              <a:t>, although their purpose in the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framework is not the same as their original forms</a:t>
            </a:r>
          </a:p>
          <a:p>
            <a:pPr lvl="1"/>
            <a:r>
              <a:rPr lang="en-US" altLang="zh-TW" dirty="0" smtClean="0">
                <a:latin typeface="+mj-lt"/>
              </a:rPr>
              <a:t>Map(...) : N → N</a:t>
            </a:r>
          </a:p>
          <a:p>
            <a:pPr lvl="2"/>
            <a:r>
              <a:rPr lang="en-US" altLang="zh-TW" dirty="0" smtClean="0">
                <a:latin typeface="+mj-lt"/>
              </a:rPr>
              <a:t>Ex. [ 1,2,3,4 ] </a:t>
            </a:r>
            <a:r>
              <a:rPr lang="en-US" altLang="zh-TW" dirty="0" smtClean="0"/>
              <a:t>–</a:t>
            </a:r>
            <a:r>
              <a:rPr lang="en-US" altLang="zh-TW" dirty="0" smtClean="0">
                <a:latin typeface="+mj-lt"/>
              </a:rPr>
              <a:t> (*2) -&gt; [ 2,4,6,8 ]</a:t>
            </a:r>
          </a:p>
          <a:p>
            <a:pPr lvl="1"/>
            <a:r>
              <a:rPr lang="en-US" altLang="zh-TW" dirty="0" smtClean="0">
                <a:latin typeface="+mj-lt"/>
              </a:rPr>
              <a:t>Reduce(...): N → 1</a:t>
            </a:r>
          </a:p>
          <a:p>
            <a:pPr lvl="2"/>
            <a:r>
              <a:rPr lang="en-US" altLang="zh-TW" dirty="0" smtClean="0">
                <a:latin typeface="+mj-lt"/>
              </a:rPr>
              <a:t>[ 1,2,3,4 ] </a:t>
            </a:r>
            <a:r>
              <a:rPr lang="en-US" altLang="zh-TW" sz="1600" dirty="0" smtClean="0"/>
              <a:t>–</a:t>
            </a:r>
            <a:r>
              <a:rPr lang="en-US" altLang="zh-TW" dirty="0" smtClean="0">
                <a:latin typeface="+mj-lt"/>
              </a:rPr>
              <a:t> (sum) -&gt; 10</a:t>
            </a:r>
          </a:p>
          <a:p>
            <a:pPr>
              <a:lnSpc>
                <a:spcPct val="90000"/>
              </a:lnSpc>
            </a:pPr>
            <a:r>
              <a:rPr lang="en-US" altLang="zh-TW" dirty="0" smtClean="0">
                <a:latin typeface="+mj-lt"/>
              </a:rPr>
              <a:t>Programmers specify two functions: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Map</a:t>
            </a:r>
            <a:r>
              <a:rPr lang="en-US" altLang="zh-TW" dirty="0" smtClean="0">
                <a:latin typeface="+mj-lt"/>
              </a:rPr>
              <a:t>(k1,v1) -&gt; list(k2,v2)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Reduce</a:t>
            </a:r>
            <a:r>
              <a:rPr lang="en-US" altLang="zh-TW" dirty="0" smtClean="0">
                <a:latin typeface="+mj-lt"/>
              </a:rPr>
              <a:t>(k2, list (v2)) -&gt; list(v3)</a:t>
            </a:r>
          </a:p>
          <a:p>
            <a:pPr lvl="1"/>
            <a:r>
              <a:rPr lang="en-US" altLang="zh-TW" dirty="0" smtClean="0">
                <a:latin typeface="+mj-lt"/>
                <a:cs typeface="Arial" charset="0"/>
              </a:rPr>
              <a:t>All values with the same key are sent to the same reducer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Abstract(Cont.)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  <a:cs typeface="Arial" charset="0"/>
              </a:rPr>
              <a:t>The execution framework</a:t>
            </a:r>
            <a:r>
              <a:rPr lang="zh-TW" altLang="en-US" dirty="0" smtClean="0">
                <a:latin typeface="+mj-lt"/>
                <a:cs typeface="Arial" charset="0"/>
              </a:rPr>
              <a:t> </a:t>
            </a:r>
            <a:r>
              <a:rPr lang="en-US" altLang="zh-TW" dirty="0" smtClean="0">
                <a:latin typeface="+mj-lt"/>
                <a:cs typeface="Arial" charset="0"/>
              </a:rPr>
              <a:t>(</a:t>
            </a:r>
            <a:r>
              <a:rPr lang="en-US" altLang="zh-TW" dirty="0" smtClean="0">
                <a:latin typeface="+mj-lt"/>
              </a:rPr>
              <a:t>Runtime</a:t>
            </a:r>
            <a:r>
              <a:rPr lang="en-US" altLang="zh-TW" dirty="0" smtClean="0">
                <a:latin typeface="+mj-lt"/>
                <a:cs typeface="Arial" charset="0"/>
              </a:rPr>
              <a:t>) handles</a:t>
            </a:r>
          </a:p>
          <a:p>
            <a:pPr lvl="1"/>
            <a:r>
              <a:rPr lang="en-US" altLang="zh-TW" dirty="0" smtClean="0">
                <a:latin typeface="+mj-lt"/>
                <a:cs typeface="Arial" charset="0"/>
              </a:rPr>
              <a:t>Scheduling</a:t>
            </a:r>
          </a:p>
          <a:p>
            <a:pPr lvl="2"/>
            <a:r>
              <a:rPr lang="en-US" altLang="zh-TW" dirty="0" smtClean="0">
                <a:latin typeface="+mj-lt"/>
                <a:cs typeface="Arial" charset="0"/>
              </a:rPr>
              <a:t>Assigns workers to map and reduce tasks</a:t>
            </a:r>
          </a:p>
          <a:p>
            <a:pPr lvl="1"/>
            <a:r>
              <a:rPr lang="en-US" altLang="zh-TW" dirty="0" smtClean="0">
                <a:latin typeface="+mj-lt"/>
                <a:cs typeface="Arial" charset="0"/>
              </a:rPr>
              <a:t>Data distribution</a:t>
            </a:r>
          </a:p>
          <a:p>
            <a:pPr lvl="2"/>
            <a:r>
              <a:rPr lang="en-US" altLang="zh-TW" dirty="0" smtClean="0">
                <a:latin typeface="+mj-lt"/>
                <a:cs typeface="Arial" charset="0"/>
              </a:rPr>
              <a:t>Moves processes to data</a:t>
            </a:r>
          </a:p>
          <a:p>
            <a:pPr lvl="1"/>
            <a:r>
              <a:rPr lang="en-US" altLang="zh-TW" dirty="0" smtClean="0">
                <a:latin typeface="+mj-lt"/>
                <a:cs typeface="Arial" charset="0"/>
              </a:rPr>
              <a:t>Synchronization</a:t>
            </a:r>
          </a:p>
          <a:p>
            <a:pPr lvl="2"/>
            <a:r>
              <a:rPr lang="en-US" altLang="zh-TW" dirty="0" smtClean="0">
                <a:latin typeface="+mj-lt"/>
                <a:cs typeface="Arial" charset="0"/>
              </a:rPr>
              <a:t>Gathers, sorts, and shuffles intermediate data</a:t>
            </a:r>
          </a:p>
          <a:p>
            <a:pPr lvl="1"/>
            <a:r>
              <a:rPr lang="en-US" altLang="zh-TW" dirty="0" smtClean="0">
                <a:latin typeface="+mj-lt"/>
                <a:cs typeface="Arial" charset="0"/>
              </a:rPr>
              <a:t>Errors and faults</a:t>
            </a:r>
          </a:p>
          <a:p>
            <a:pPr lvl="2"/>
            <a:r>
              <a:rPr lang="en-US" altLang="zh-TW" dirty="0" smtClean="0">
                <a:latin typeface="+mj-lt"/>
                <a:cs typeface="Arial" charset="0"/>
              </a:rPr>
              <a:t>Detects worker failures and restarts</a:t>
            </a:r>
          </a:p>
          <a:p>
            <a:pPr lvl="1"/>
            <a:r>
              <a:rPr lang="en-US" altLang="zh-TW" dirty="0" smtClean="0">
                <a:latin typeface="+mj-lt"/>
                <a:cs typeface="Arial" charset="0"/>
              </a:rPr>
              <a:t>Everything happens on top of a Distributed File System (DFS)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Programming Model</a:t>
            </a:r>
          </a:p>
          <a:p>
            <a:r>
              <a:rPr lang="en-US" altLang="zh-TW" dirty="0" smtClean="0"/>
              <a:t>Implementation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Refinement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MapReduce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Environment (Google)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A cluster with</a:t>
            </a:r>
          </a:p>
          <a:p>
            <a:pPr lvl="1"/>
            <a:r>
              <a:rPr lang="en-US" altLang="zh-TW" dirty="0" smtClean="0">
                <a:latin typeface="+mj-lt"/>
              </a:rPr>
              <a:t>Hundreds/Thousands of dual-processor x86 machines</a:t>
            </a:r>
          </a:p>
          <a:p>
            <a:pPr lvl="1"/>
            <a:r>
              <a:rPr lang="en-US" altLang="zh-TW" dirty="0" smtClean="0">
                <a:latin typeface="+mj-lt"/>
              </a:rPr>
              <a:t>2-4 GB of memory per machine</a:t>
            </a:r>
          </a:p>
          <a:p>
            <a:pPr lvl="1"/>
            <a:r>
              <a:rPr lang="en-US" altLang="zh-TW" dirty="0" smtClean="0">
                <a:latin typeface="+mj-lt"/>
              </a:rPr>
              <a:t>Running Linux</a:t>
            </a:r>
          </a:p>
          <a:p>
            <a:pPr lvl="1"/>
            <a:r>
              <a:rPr lang="en-US" altLang="zh-TW" dirty="0">
                <a:latin typeface="+mj-lt"/>
              </a:rPr>
              <a:t>Storage is on </a:t>
            </a:r>
            <a:r>
              <a:rPr lang="en-US" altLang="zh-TW" dirty="0" smtClean="0">
                <a:latin typeface="+mj-lt"/>
              </a:rPr>
              <a:t>local inexpensive </a:t>
            </a:r>
            <a:r>
              <a:rPr lang="en-US" altLang="zh-TW" dirty="0">
                <a:latin typeface="+mj-lt"/>
              </a:rPr>
              <a:t>IDE </a:t>
            </a:r>
            <a:r>
              <a:rPr lang="en-US" altLang="zh-TW" dirty="0" smtClean="0">
                <a:latin typeface="+mj-lt"/>
              </a:rPr>
              <a:t>disks</a:t>
            </a:r>
          </a:p>
          <a:p>
            <a:pPr lvl="1"/>
            <a:r>
              <a:rPr lang="en-US" altLang="zh-TW" dirty="0" smtClean="0">
                <a:latin typeface="+mj-lt"/>
              </a:rPr>
              <a:t>100 </a:t>
            </a:r>
            <a:r>
              <a:rPr lang="en-US" altLang="zh-TW" dirty="0" err="1" smtClean="0">
                <a:latin typeface="+mj-lt"/>
              </a:rPr>
              <a:t>Mbits</a:t>
            </a:r>
            <a:r>
              <a:rPr lang="en-US" altLang="zh-TW" dirty="0" smtClean="0">
                <a:latin typeface="+mj-lt"/>
              </a:rPr>
              <a:t>/sec or 1 </a:t>
            </a:r>
            <a:r>
              <a:rPr lang="en-US" altLang="zh-TW" dirty="0" err="1" smtClean="0">
                <a:latin typeface="+mj-lt"/>
              </a:rPr>
              <a:t>Gbits</a:t>
            </a:r>
            <a:r>
              <a:rPr lang="en-US" altLang="zh-TW" dirty="0">
                <a:latin typeface="+mj-lt"/>
              </a:rPr>
              <a:t>/sec </a:t>
            </a:r>
            <a:r>
              <a:rPr lang="en-US" altLang="zh-TW" dirty="0" smtClean="0">
                <a:latin typeface="+mj-lt"/>
              </a:rPr>
              <a:t>limited </a:t>
            </a:r>
            <a:r>
              <a:rPr lang="en-US" altLang="zh-TW" dirty="0">
                <a:latin typeface="+mj-lt"/>
              </a:rPr>
              <a:t>bisection </a:t>
            </a:r>
            <a:r>
              <a:rPr lang="en-US" altLang="zh-TW" dirty="0" smtClean="0">
                <a:latin typeface="+mj-lt"/>
              </a:rPr>
              <a:t>bandwidth</a:t>
            </a:r>
          </a:p>
          <a:p>
            <a:r>
              <a:rPr lang="en-US" altLang="zh-TW" dirty="0" smtClean="0">
                <a:latin typeface="+mj-lt"/>
              </a:rPr>
              <a:t>Software level</a:t>
            </a:r>
          </a:p>
          <a:p>
            <a:pPr lvl="1"/>
            <a:r>
              <a:rPr lang="en-US" altLang="zh-TW" dirty="0" smtClean="0">
                <a:latin typeface="+mj-lt"/>
              </a:rPr>
              <a:t>Distributed file system</a:t>
            </a:r>
            <a:r>
              <a:rPr lang="en-US" altLang="zh-TW" dirty="0">
                <a:latin typeface="+mj-lt"/>
              </a:rPr>
              <a:t>:  G</a:t>
            </a:r>
            <a:r>
              <a:rPr lang="en-US" altLang="zh-TW" dirty="0" smtClean="0">
                <a:latin typeface="+mj-lt"/>
              </a:rPr>
              <a:t>oogle </a:t>
            </a:r>
            <a:r>
              <a:rPr lang="en-US" altLang="zh-TW" dirty="0">
                <a:latin typeface="+mj-lt"/>
              </a:rPr>
              <a:t>F</a:t>
            </a:r>
            <a:r>
              <a:rPr lang="en-US" altLang="zh-TW" dirty="0" smtClean="0">
                <a:latin typeface="+mj-lt"/>
              </a:rPr>
              <a:t>ile </a:t>
            </a:r>
            <a:r>
              <a:rPr lang="en-US" altLang="zh-TW" dirty="0">
                <a:latin typeface="+mj-lt"/>
              </a:rPr>
              <a:t>S</a:t>
            </a:r>
            <a:r>
              <a:rPr lang="en-US" altLang="zh-TW" dirty="0" smtClean="0">
                <a:latin typeface="+mj-lt"/>
              </a:rPr>
              <a:t>ystem</a:t>
            </a:r>
          </a:p>
          <a:p>
            <a:pPr lvl="1"/>
            <a:r>
              <a:rPr lang="en-US" altLang="zh-TW" dirty="0">
                <a:latin typeface="+mj-lt"/>
              </a:rPr>
              <a:t>Job scheduling </a:t>
            </a:r>
            <a:r>
              <a:rPr lang="en-US" altLang="zh-TW" dirty="0" smtClean="0">
                <a:latin typeface="+mj-lt"/>
              </a:rPr>
              <a:t>system</a:t>
            </a:r>
          </a:p>
          <a:p>
            <a:pPr lvl="2"/>
            <a:r>
              <a:rPr lang="en-US" altLang="zh-TW" dirty="0" smtClean="0">
                <a:latin typeface="+mj-lt"/>
              </a:rPr>
              <a:t>Each job consists </a:t>
            </a:r>
            <a:r>
              <a:rPr lang="en-US" altLang="zh-TW" dirty="0">
                <a:latin typeface="+mj-lt"/>
              </a:rPr>
              <a:t>of a set of </a:t>
            </a:r>
            <a:r>
              <a:rPr lang="en-US" altLang="zh-TW" dirty="0" smtClean="0">
                <a:latin typeface="+mj-lt"/>
              </a:rPr>
              <a:t>tasks</a:t>
            </a:r>
          </a:p>
          <a:p>
            <a:pPr lvl="2"/>
            <a:r>
              <a:rPr lang="en-US" altLang="zh-TW" dirty="0" smtClean="0">
                <a:latin typeface="+mj-lt"/>
              </a:rPr>
              <a:t>Scheduler </a:t>
            </a:r>
            <a:r>
              <a:rPr lang="en-US" altLang="zh-TW" dirty="0">
                <a:latin typeface="+mj-lt"/>
              </a:rPr>
              <a:t>assigns tasks to </a:t>
            </a:r>
            <a:r>
              <a:rPr lang="en-US" altLang="zh-TW" dirty="0" smtClean="0">
                <a:latin typeface="+mj-lt"/>
              </a:rPr>
              <a:t>machines</a:t>
            </a:r>
            <a:endParaRPr lang="en-US" altLang="zh-TW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3956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Execution Overview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b="9976"/>
          <a:stretch>
            <a:fillRect/>
          </a:stretch>
        </p:blipFill>
        <p:spPr bwMode="auto">
          <a:xfrm>
            <a:off x="539552" y="1340768"/>
            <a:ext cx="8064896" cy="532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Fault Tolerance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Worker failure</a:t>
            </a:r>
          </a:p>
          <a:p>
            <a:pPr lvl="1"/>
            <a:r>
              <a:rPr lang="en-US" altLang="zh-TW" dirty="0">
                <a:latin typeface="+mj-lt"/>
              </a:rPr>
              <a:t>To detect failure, the master pings every worker </a:t>
            </a:r>
            <a:r>
              <a:rPr lang="en-US" altLang="zh-TW" dirty="0" smtClean="0">
                <a:latin typeface="+mj-lt"/>
              </a:rPr>
              <a:t>periodically</a:t>
            </a:r>
          </a:p>
          <a:p>
            <a:pPr lvl="1"/>
            <a:r>
              <a:rPr lang="en-US" altLang="zh-TW" dirty="0">
                <a:latin typeface="+mj-lt"/>
              </a:rPr>
              <a:t>Re-execute completed and in-progress map tasks </a:t>
            </a:r>
          </a:p>
          <a:p>
            <a:pPr lvl="1"/>
            <a:r>
              <a:rPr lang="en-US" altLang="zh-TW" dirty="0">
                <a:latin typeface="+mj-lt"/>
              </a:rPr>
              <a:t>Re-execute in progress reduce tasks </a:t>
            </a:r>
          </a:p>
          <a:p>
            <a:pPr lvl="1"/>
            <a:r>
              <a:rPr lang="en-US" altLang="zh-TW" dirty="0">
                <a:latin typeface="+mj-lt"/>
              </a:rPr>
              <a:t>Task completion committed through </a:t>
            </a:r>
            <a:r>
              <a:rPr lang="en-US" altLang="zh-TW" dirty="0" smtClean="0">
                <a:latin typeface="+mj-lt"/>
              </a:rPr>
              <a:t>master</a:t>
            </a:r>
          </a:p>
          <a:p>
            <a:r>
              <a:rPr lang="en-US" altLang="zh-TW" dirty="0" smtClean="0">
                <a:latin typeface="+mj-lt"/>
              </a:rPr>
              <a:t>Master failure</a:t>
            </a:r>
          </a:p>
          <a:p>
            <a:pPr lvl="1"/>
            <a:r>
              <a:rPr lang="en-US" altLang="zh-TW" dirty="0" smtClean="0">
                <a:latin typeface="+mj-lt"/>
              </a:rPr>
              <a:t>Current implementation </a:t>
            </a:r>
            <a:r>
              <a:rPr lang="en-US" altLang="zh-TW" dirty="0">
                <a:latin typeface="+mj-lt"/>
              </a:rPr>
              <a:t>aborts the </a:t>
            </a:r>
            <a:r>
              <a:rPr lang="en-US" altLang="zh-TW" dirty="0" err="1">
                <a:latin typeface="+mj-lt"/>
              </a:rPr>
              <a:t>MapReduce</a:t>
            </a:r>
            <a:r>
              <a:rPr lang="en-US" altLang="zh-TW" dirty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computation if </a:t>
            </a:r>
            <a:r>
              <a:rPr lang="en-US" altLang="zh-TW" dirty="0">
                <a:latin typeface="+mj-lt"/>
              </a:rPr>
              <a:t>the master fails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4867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Don’t move data to workers… move workers to the data!</a:t>
            </a:r>
          </a:p>
          <a:p>
            <a:pPr lvl="1"/>
            <a:r>
              <a:rPr lang="en-US" altLang="zh-TW" dirty="0" smtClean="0">
                <a:latin typeface="+mj-lt"/>
              </a:rPr>
              <a:t>Store data on the local disks of nodes in the cluster</a:t>
            </a:r>
          </a:p>
          <a:p>
            <a:pPr lvl="1"/>
            <a:r>
              <a:rPr lang="en-US" altLang="zh-TW" dirty="0" smtClean="0">
                <a:latin typeface="+mj-lt"/>
              </a:rPr>
              <a:t>Start up the workers on the node that has the data</a:t>
            </a:r>
          </a:p>
          <a:p>
            <a:r>
              <a:rPr lang="en-US" altLang="zh-TW" dirty="0" smtClean="0">
                <a:latin typeface="+mj-lt"/>
              </a:rPr>
              <a:t>Why?</a:t>
            </a:r>
          </a:p>
          <a:p>
            <a:pPr lvl="1"/>
            <a:r>
              <a:rPr lang="en-US" altLang="zh-TW" dirty="0" smtClean="0">
                <a:latin typeface="+mj-lt"/>
              </a:rPr>
              <a:t>Not enough RAM to hold all the data in memory</a:t>
            </a:r>
          </a:p>
          <a:p>
            <a:pPr lvl="1"/>
            <a:r>
              <a:rPr lang="en-US" altLang="zh-TW" dirty="0" smtClean="0">
                <a:latin typeface="+mj-lt"/>
              </a:rPr>
              <a:t>Disk access is slow, but disk throughput is reasonable</a:t>
            </a:r>
          </a:p>
          <a:p>
            <a:r>
              <a:rPr lang="en-US" altLang="zh-TW" dirty="0" smtClean="0">
                <a:latin typeface="+mj-lt"/>
              </a:rPr>
              <a:t>A distributed file system is the answer</a:t>
            </a:r>
          </a:p>
          <a:p>
            <a:pPr lvl="1"/>
            <a:r>
              <a:rPr lang="en-US" altLang="zh-TW" dirty="0" smtClean="0">
                <a:latin typeface="+mj-lt"/>
              </a:rPr>
              <a:t>GFS (Google File System) for Google’s </a:t>
            </a:r>
            <a:r>
              <a:rPr lang="en-US" altLang="zh-TW" dirty="0" err="1" smtClean="0">
                <a:latin typeface="+mj-lt"/>
              </a:rPr>
              <a:t>MapReduce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HDFS (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Distributed File System) for </a:t>
            </a:r>
            <a:r>
              <a:rPr lang="en-US" altLang="zh-TW" dirty="0" err="1" smtClean="0">
                <a:latin typeface="+mj-lt"/>
              </a:rPr>
              <a:t>Hadoop</a:t>
            </a:r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Task Granularity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Many </a:t>
            </a:r>
            <a:r>
              <a:rPr lang="en-US" altLang="zh-TW" dirty="0">
                <a:latin typeface="+mj-lt"/>
              </a:rPr>
              <a:t>more </a:t>
            </a:r>
            <a:r>
              <a:rPr lang="en-US" altLang="zh-TW" dirty="0" smtClean="0">
                <a:latin typeface="+mj-lt"/>
              </a:rPr>
              <a:t>map and reduce </a:t>
            </a:r>
            <a:r>
              <a:rPr lang="en-US" altLang="zh-TW" dirty="0">
                <a:latin typeface="+mj-lt"/>
              </a:rPr>
              <a:t>tasks than </a:t>
            </a:r>
            <a:r>
              <a:rPr lang="en-US" altLang="zh-TW" dirty="0" smtClean="0">
                <a:latin typeface="+mj-lt"/>
              </a:rPr>
              <a:t>machines</a:t>
            </a:r>
          </a:p>
          <a:p>
            <a:pPr lvl="1"/>
            <a:r>
              <a:rPr lang="en-US" altLang="zh-TW" dirty="0">
                <a:latin typeface="+mj-lt"/>
              </a:rPr>
              <a:t>Minimizes time for fault recovery </a:t>
            </a:r>
          </a:p>
          <a:p>
            <a:pPr lvl="1"/>
            <a:r>
              <a:rPr lang="en-US" altLang="zh-TW" dirty="0">
                <a:latin typeface="+mj-lt"/>
              </a:rPr>
              <a:t>Can pipeline shuffling with map execution </a:t>
            </a:r>
          </a:p>
          <a:p>
            <a:pPr lvl="1"/>
            <a:r>
              <a:rPr lang="en-US" altLang="zh-TW" dirty="0">
                <a:latin typeface="+mj-lt"/>
              </a:rPr>
              <a:t>Better dynamic load </a:t>
            </a:r>
            <a:r>
              <a:rPr lang="en-US" altLang="zh-TW" dirty="0" smtClean="0">
                <a:latin typeface="+mj-lt"/>
              </a:rPr>
              <a:t>balancing</a:t>
            </a:r>
          </a:p>
          <a:p>
            <a:r>
              <a:rPr lang="en-US" altLang="zh-TW" dirty="0">
                <a:latin typeface="+mj-lt"/>
              </a:rPr>
              <a:t>Often use 200,000 </a:t>
            </a:r>
            <a:r>
              <a:rPr lang="en-US" altLang="zh-TW" dirty="0" smtClean="0">
                <a:latin typeface="+mj-lt"/>
              </a:rPr>
              <a:t>map and 5000 </a:t>
            </a:r>
            <a:r>
              <a:rPr lang="en-US" altLang="zh-TW" dirty="0">
                <a:latin typeface="+mj-lt"/>
              </a:rPr>
              <a:t>reduce </a:t>
            </a:r>
            <a:r>
              <a:rPr lang="en-US" altLang="zh-TW" dirty="0" smtClean="0">
                <a:latin typeface="+mj-lt"/>
              </a:rPr>
              <a:t>tasks with 2000 </a:t>
            </a:r>
            <a:r>
              <a:rPr lang="en-US" altLang="zh-TW" dirty="0">
                <a:latin typeface="+mj-lt"/>
              </a:rPr>
              <a:t>machines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93096"/>
            <a:ext cx="8109168" cy="2434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59532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Programming Model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r>
              <a:rPr lang="en-US" altLang="zh-TW" dirty="0"/>
              <a:t>Refinement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MapReduce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040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Input/Output</a:t>
            </a:r>
            <a:r>
              <a:rPr lang="en-US" altLang="zh-TW" dirty="0" smtClean="0"/>
              <a:t>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Several different input formats</a:t>
            </a:r>
          </a:p>
          <a:p>
            <a:pPr lvl="1"/>
            <a:r>
              <a:rPr lang="en-US" altLang="zh-TW" dirty="0" smtClean="0">
                <a:latin typeface="+mj-lt"/>
              </a:rPr>
              <a:t>“Text” format</a:t>
            </a:r>
          </a:p>
          <a:p>
            <a:pPr lvl="2"/>
            <a:r>
              <a:rPr lang="en-US" altLang="zh-TW" dirty="0" smtClean="0">
                <a:latin typeface="+mj-lt"/>
              </a:rPr>
              <a:t>Key: offset in the file</a:t>
            </a:r>
          </a:p>
          <a:p>
            <a:pPr lvl="2"/>
            <a:r>
              <a:rPr lang="en-US" altLang="zh-TW" dirty="0" smtClean="0">
                <a:latin typeface="+mj-lt"/>
              </a:rPr>
              <a:t>Value: content of the file</a:t>
            </a:r>
          </a:p>
          <a:p>
            <a:pPr lvl="1"/>
            <a:r>
              <a:rPr lang="en-US" altLang="zh-TW" dirty="0" smtClean="0">
                <a:latin typeface="+mj-lt"/>
              </a:rPr>
              <a:t>Another common format</a:t>
            </a:r>
          </a:p>
          <a:p>
            <a:pPr lvl="2"/>
            <a:r>
              <a:rPr lang="en-US" altLang="zh-TW" dirty="0" smtClean="0">
                <a:latin typeface="+mj-lt"/>
              </a:rPr>
              <a:t>Sequence of key/value pairs sorted by key</a:t>
            </a:r>
          </a:p>
          <a:p>
            <a:pPr lvl="1"/>
            <a:r>
              <a:rPr lang="en-US" altLang="zh-TW" dirty="0" smtClean="0">
                <a:latin typeface="+mj-lt"/>
              </a:rPr>
              <a:t>Split itself (every format) into meaningful ranges</a:t>
            </a:r>
          </a:p>
          <a:p>
            <a:pPr lvl="1"/>
            <a:r>
              <a:rPr lang="en-US" altLang="zh-TW" dirty="0" smtClean="0">
                <a:latin typeface="+mj-lt"/>
              </a:rPr>
              <a:t>Need new type?</a:t>
            </a:r>
          </a:p>
          <a:p>
            <a:pPr lvl="2"/>
            <a:r>
              <a:rPr lang="en-US" altLang="zh-TW" dirty="0" smtClean="0">
                <a:latin typeface="+mj-lt"/>
              </a:rPr>
              <a:t>Provide </a:t>
            </a:r>
            <a:r>
              <a:rPr lang="en-US" altLang="zh-TW" dirty="0">
                <a:latin typeface="+mj-lt"/>
              </a:rPr>
              <a:t>an implementation of a </a:t>
            </a:r>
            <a:r>
              <a:rPr lang="en-US" altLang="zh-TW" dirty="0" smtClean="0">
                <a:latin typeface="+mj-lt"/>
              </a:rPr>
              <a:t>simple </a:t>
            </a:r>
            <a:r>
              <a:rPr lang="en-US" altLang="zh-TW" i="1" dirty="0" smtClean="0">
                <a:latin typeface="+mj-lt"/>
              </a:rPr>
              <a:t>reader</a:t>
            </a:r>
            <a:r>
              <a:rPr lang="en-US" altLang="zh-TW" dirty="0" smtClean="0">
                <a:latin typeface="+mj-lt"/>
              </a:rPr>
              <a:t> interface</a:t>
            </a:r>
          </a:p>
          <a:p>
            <a:r>
              <a:rPr lang="en-US" altLang="zh-TW" dirty="0" smtClean="0">
                <a:latin typeface="+mj-lt"/>
              </a:rPr>
              <a:t>Output types design is similar to input.</a:t>
            </a:r>
          </a:p>
          <a:p>
            <a:pPr lvl="2"/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93964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Partitioner</a:t>
            </a:r>
            <a:r>
              <a:rPr lang="en-US" altLang="zh-TW" dirty="0" smtClean="0"/>
              <a:t> and Combiner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The same keys to the same reducer via network</a:t>
            </a:r>
          </a:p>
          <a:p>
            <a:pPr lvl="1"/>
            <a:r>
              <a:rPr lang="en-US" altLang="zh-TW" dirty="0" err="1" smtClean="0">
                <a:latin typeface="+mj-lt"/>
              </a:rPr>
              <a:t>Partitioner</a:t>
            </a:r>
            <a:r>
              <a:rPr lang="en-US" altLang="zh-TW" dirty="0" smtClean="0">
                <a:latin typeface="+mj-lt"/>
              </a:rPr>
              <a:t> function</a:t>
            </a:r>
          </a:p>
          <a:p>
            <a:pPr lvl="2"/>
            <a:r>
              <a:rPr lang="en-US" altLang="zh-TW" dirty="0">
                <a:latin typeface="+mj-lt"/>
              </a:rPr>
              <a:t>A default partitioning function </a:t>
            </a:r>
            <a:r>
              <a:rPr lang="en-US" altLang="zh-TW" dirty="0" smtClean="0">
                <a:latin typeface="+mj-lt"/>
              </a:rPr>
              <a:t>is provided </a:t>
            </a:r>
            <a:r>
              <a:rPr lang="en-US" altLang="zh-TW" dirty="0">
                <a:latin typeface="+mj-lt"/>
              </a:rPr>
              <a:t>that uses </a:t>
            </a:r>
            <a:r>
              <a:rPr lang="en-US" altLang="zh-TW" dirty="0" smtClean="0">
                <a:latin typeface="+mj-lt"/>
              </a:rPr>
              <a:t>hashing</a:t>
            </a:r>
          </a:p>
          <a:p>
            <a:pPr lvl="2"/>
            <a:r>
              <a:rPr lang="en-US" altLang="zh-TW" dirty="0" smtClean="0">
                <a:latin typeface="+mj-lt"/>
              </a:rPr>
              <a:t>In some cases, </a:t>
            </a:r>
            <a:r>
              <a:rPr lang="en-US" altLang="zh-TW" dirty="0">
                <a:latin typeface="+mj-lt"/>
              </a:rPr>
              <a:t>it is useful to partition data </a:t>
            </a:r>
            <a:r>
              <a:rPr lang="en-US" altLang="zh-TW" dirty="0" smtClean="0">
                <a:latin typeface="+mj-lt"/>
              </a:rPr>
              <a:t>by some </a:t>
            </a:r>
            <a:r>
              <a:rPr lang="en-US" altLang="zh-TW" dirty="0">
                <a:latin typeface="+mj-lt"/>
              </a:rPr>
              <a:t>other function </a:t>
            </a:r>
            <a:r>
              <a:rPr lang="en-US" altLang="zh-TW" dirty="0" smtClean="0">
                <a:latin typeface="+mj-lt"/>
              </a:rPr>
              <a:t>of </a:t>
            </a:r>
            <a:r>
              <a:rPr lang="en-US" altLang="zh-TW" dirty="0">
                <a:latin typeface="+mj-lt"/>
              </a:rPr>
              <a:t>the </a:t>
            </a:r>
            <a:r>
              <a:rPr lang="en-US" altLang="zh-TW" dirty="0" smtClean="0">
                <a:latin typeface="+mj-lt"/>
              </a:rPr>
              <a:t>key</a:t>
            </a:r>
          </a:p>
          <a:p>
            <a:r>
              <a:rPr lang="en-US" altLang="zh-TW" dirty="0" smtClean="0">
                <a:latin typeface="+mj-lt"/>
              </a:rPr>
              <a:t>Avoid communication via local aggregation</a:t>
            </a:r>
          </a:p>
          <a:p>
            <a:pPr lvl="1"/>
            <a:r>
              <a:rPr lang="en-US" altLang="zh-TW" dirty="0" smtClean="0">
                <a:latin typeface="+mj-lt"/>
              </a:rPr>
              <a:t>Combiner function</a:t>
            </a:r>
          </a:p>
          <a:p>
            <a:pPr lvl="2"/>
            <a:r>
              <a:rPr lang="en-US" altLang="zh-TW" dirty="0">
                <a:latin typeface="+mj-lt"/>
              </a:rPr>
              <a:t>Synchronization requires </a:t>
            </a:r>
            <a:r>
              <a:rPr lang="en-US" altLang="zh-TW" dirty="0" smtClean="0">
                <a:latin typeface="+mj-lt"/>
              </a:rPr>
              <a:t>communication, and communication </a:t>
            </a:r>
            <a:r>
              <a:rPr lang="en-US" altLang="zh-TW" dirty="0">
                <a:latin typeface="+mj-lt"/>
              </a:rPr>
              <a:t>kills performance</a:t>
            </a:r>
          </a:p>
          <a:p>
            <a:pPr lvl="2"/>
            <a:r>
              <a:rPr lang="en-US" altLang="zh-TW" dirty="0">
                <a:latin typeface="+mj-lt"/>
              </a:rPr>
              <a:t>Partial combining </a:t>
            </a:r>
            <a:r>
              <a:rPr lang="en-US" altLang="zh-TW" dirty="0" smtClean="0">
                <a:latin typeface="+mj-lt"/>
              </a:rPr>
              <a:t>significantly </a:t>
            </a:r>
            <a:r>
              <a:rPr lang="en-US" altLang="zh-TW" dirty="0">
                <a:latin typeface="+mj-lt"/>
              </a:rPr>
              <a:t>speeds up </a:t>
            </a:r>
            <a:r>
              <a:rPr lang="en-US" altLang="zh-TW" dirty="0" smtClean="0">
                <a:latin typeface="+mj-lt"/>
              </a:rPr>
              <a:t>certain classes </a:t>
            </a:r>
            <a:r>
              <a:rPr lang="en-US" altLang="zh-TW" dirty="0">
                <a:latin typeface="+mj-lt"/>
              </a:rPr>
              <a:t>of </a:t>
            </a:r>
            <a:r>
              <a:rPr lang="en-US" altLang="zh-TW" dirty="0" err="1">
                <a:latin typeface="+mj-lt"/>
              </a:rPr>
              <a:t>MapReduce</a:t>
            </a:r>
            <a:r>
              <a:rPr lang="en-US" altLang="zh-TW" dirty="0">
                <a:latin typeface="+mj-lt"/>
              </a:rPr>
              <a:t> operations</a:t>
            </a:r>
            <a:endParaRPr lang="en-US" altLang="zh-TW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72860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Programming Model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Implementation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Refinement</a:t>
            </a:r>
          </a:p>
          <a:p>
            <a:r>
              <a:rPr lang="en-US" altLang="zh-TW" dirty="0" err="1"/>
              <a:t>Hadoop</a:t>
            </a:r>
            <a:r>
              <a:rPr lang="en-US" altLang="zh-TW" dirty="0"/>
              <a:t> </a:t>
            </a:r>
            <a:r>
              <a:rPr lang="en-US" altLang="zh-TW" dirty="0" err="1"/>
              <a:t>MapReduce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7474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JobTracker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Tasktracker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JobTracker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Master Node</a:t>
            </a:r>
            <a:r>
              <a:rPr lang="zh-TW" altLang="en-US" dirty="0" smtClean="0">
                <a:latin typeface="+mj-lt"/>
              </a:rPr>
              <a:t>－</a:t>
            </a:r>
            <a:r>
              <a:rPr lang="en-US" altLang="zh-TW" dirty="0" smtClean="0">
                <a:latin typeface="+mj-lt"/>
              </a:rPr>
              <a:t>Master</a:t>
            </a:r>
          </a:p>
          <a:p>
            <a:pPr lvl="1"/>
            <a:r>
              <a:rPr lang="en-US" altLang="zh-TW" dirty="0" smtClean="0">
                <a:latin typeface="+mj-lt"/>
              </a:rPr>
              <a:t>Scheduling the jobs' component tasks on the slaves</a:t>
            </a:r>
          </a:p>
          <a:p>
            <a:pPr lvl="1"/>
            <a:r>
              <a:rPr lang="en-US" altLang="zh-TW" dirty="0" smtClean="0">
                <a:latin typeface="+mj-lt"/>
              </a:rPr>
              <a:t>Monitoring slaves and re-executing the failed tasks</a:t>
            </a:r>
          </a:p>
          <a:p>
            <a:r>
              <a:rPr lang="en-US" altLang="zh-TW" dirty="0" err="1" smtClean="0">
                <a:latin typeface="+mj-lt"/>
              </a:rPr>
              <a:t>TaskTrakers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Slave</a:t>
            </a:r>
            <a:r>
              <a:rPr lang="zh-TW" altLang="en-US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Nodes</a:t>
            </a:r>
            <a:r>
              <a:rPr lang="zh-TW" altLang="en-US" dirty="0" smtClean="0">
                <a:latin typeface="+mj-lt"/>
              </a:rPr>
              <a:t>－</a:t>
            </a:r>
            <a:r>
              <a:rPr lang="en-US" altLang="zh-TW" dirty="0" smtClean="0">
                <a:latin typeface="+mj-lt"/>
              </a:rPr>
              <a:t>Workers</a:t>
            </a:r>
          </a:p>
          <a:p>
            <a:pPr lvl="1"/>
            <a:r>
              <a:rPr lang="en-US" altLang="zh-TW" dirty="0" smtClean="0">
                <a:latin typeface="+mj-lt"/>
              </a:rPr>
              <a:t>Execute the tasks (Map/Reduce) as directed by the master</a:t>
            </a:r>
          </a:p>
          <a:p>
            <a:pPr lvl="1"/>
            <a:r>
              <a:rPr lang="en-US" altLang="zh-TW" dirty="0" smtClean="0">
                <a:latin typeface="+mj-lt"/>
              </a:rPr>
              <a:t>Save results and report task status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Hadoop</a:t>
            </a:r>
            <a:r>
              <a:rPr lang="en-US" dirty="0" smtClean="0"/>
              <a:t> </a:t>
            </a:r>
            <a:r>
              <a:rPr lang="en-US" dirty="0" err="1" smtClean="0"/>
              <a:t>MapReduce</a:t>
            </a:r>
            <a:r>
              <a:rPr lang="en-US" dirty="0" smtClean="0"/>
              <a:t> w/ HDFS</a:t>
            </a:r>
            <a:endParaRPr lang="en-US" dirty="0"/>
          </a:p>
        </p:txBody>
      </p:sp>
      <p:sp>
        <p:nvSpPr>
          <p:cNvPr id="110" name="Rectangle 6"/>
          <p:cNvSpPr>
            <a:spLocks noChangeArrowheads="1"/>
          </p:cNvSpPr>
          <p:nvPr/>
        </p:nvSpPr>
        <p:spPr bwMode="auto">
          <a:xfrm>
            <a:off x="2109036" y="2323555"/>
            <a:ext cx="4987053" cy="154471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4712607" y="2530875"/>
            <a:ext cx="2249374" cy="105445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9" name="Rectangle 6"/>
          <p:cNvSpPr>
            <a:spLocks noChangeArrowheads="1"/>
          </p:cNvSpPr>
          <p:nvPr/>
        </p:nvSpPr>
        <p:spPr bwMode="auto">
          <a:xfrm>
            <a:off x="2312311" y="2530875"/>
            <a:ext cx="2249374" cy="105445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3523513" y="4112550"/>
            <a:ext cx="2249374" cy="184528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1" name="Rectangle 6"/>
          <p:cNvSpPr>
            <a:spLocks noChangeArrowheads="1"/>
          </p:cNvSpPr>
          <p:nvPr/>
        </p:nvSpPr>
        <p:spPr bwMode="auto">
          <a:xfrm>
            <a:off x="5859402" y="4112550"/>
            <a:ext cx="2249374" cy="184528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1187624" y="4112550"/>
            <a:ext cx="2249374" cy="184528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63" name="Straight Arrow Connector 53"/>
          <p:cNvCxnSpPr>
            <a:cxnSpLocks noChangeShapeType="1"/>
            <a:stCxn id="107" idx="2"/>
            <a:endCxn id="70" idx="0"/>
          </p:cNvCxnSpPr>
          <p:nvPr/>
        </p:nvCxnSpPr>
        <p:spPr bwMode="auto">
          <a:xfrm rot="5400000">
            <a:off x="2215624" y="3506271"/>
            <a:ext cx="1318062" cy="112468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4" name="Straight Arrow Connector 53"/>
          <p:cNvCxnSpPr>
            <a:cxnSpLocks noChangeShapeType="1"/>
            <a:stCxn id="107" idx="2"/>
            <a:endCxn id="82" idx="0"/>
          </p:cNvCxnSpPr>
          <p:nvPr/>
        </p:nvCxnSpPr>
        <p:spPr bwMode="auto">
          <a:xfrm rot="16200000" flipH="1">
            <a:off x="3383568" y="3463013"/>
            <a:ext cx="1318062" cy="121120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Straight Arrow Connector 53"/>
          <p:cNvCxnSpPr>
            <a:cxnSpLocks noChangeShapeType="1"/>
            <a:stCxn id="107" idx="2"/>
            <a:endCxn id="94" idx="0"/>
          </p:cNvCxnSpPr>
          <p:nvPr/>
        </p:nvCxnSpPr>
        <p:spPr bwMode="auto">
          <a:xfrm rot="16200000" flipH="1">
            <a:off x="4551512" y="2295069"/>
            <a:ext cx="1318062" cy="354709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6" name="Straight Arrow Connector 53"/>
          <p:cNvCxnSpPr>
            <a:cxnSpLocks noChangeShapeType="1"/>
            <a:endCxn id="79" idx="0"/>
          </p:cNvCxnSpPr>
          <p:nvPr/>
        </p:nvCxnSpPr>
        <p:spPr bwMode="auto">
          <a:xfrm rot="5400000">
            <a:off x="3624395" y="2075392"/>
            <a:ext cx="878708" cy="354709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7" name="Straight Arrow Connector 53"/>
          <p:cNvCxnSpPr>
            <a:cxnSpLocks noChangeShapeType="1"/>
            <a:endCxn id="91" idx="0"/>
          </p:cNvCxnSpPr>
          <p:nvPr/>
        </p:nvCxnSpPr>
        <p:spPr bwMode="auto">
          <a:xfrm rot="5400000">
            <a:off x="4792339" y="3243336"/>
            <a:ext cx="878708" cy="121120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8" name="Straight Arrow Connector 53"/>
          <p:cNvCxnSpPr>
            <a:cxnSpLocks noChangeShapeType="1"/>
            <a:endCxn id="103" idx="0"/>
          </p:cNvCxnSpPr>
          <p:nvPr/>
        </p:nvCxnSpPr>
        <p:spPr bwMode="auto">
          <a:xfrm rot="16200000" flipH="1">
            <a:off x="5960283" y="3286594"/>
            <a:ext cx="878708" cy="112468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9" name="Rectangle 6"/>
          <p:cNvSpPr>
            <a:spLocks noChangeArrowheads="1"/>
          </p:cNvSpPr>
          <p:nvPr/>
        </p:nvSpPr>
        <p:spPr bwMode="auto">
          <a:xfrm>
            <a:off x="1360653" y="4727645"/>
            <a:ext cx="1903317" cy="702967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1360653" y="4727645"/>
            <a:ext cx="1903317" cy="351483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1360653" y="5079129"/>
            <a:ext cx="1903317" cy="351483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Linux file system</a:t>
            </a:r>
          </a:p>
        </p:txBody>
      </p:sp>
      <p:sp>
        <p:nvSpPr>
          <p:cNvPr id="72" name="Flowchart: Magnetic Disk 36"/>
          <p:cNvSpPr>
            <a:spLocks noChangeArrowheads="1"/>
          </p:cNvSpPr>
          <p:nvPr/>
        </p:nvSpPr>
        <p:spPr bwMode="auto">
          <a:xfrm>
            <a:off x="1667543" y="551848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3" name="Flowchart: Magnetic Disk 37"/>
          <p:cNvSpPr>
            <a:spLocks noChangeArrowheads="1"/>
          </p:cNvSpPr>
          <p:nvPr/>
        </p:nvSpPr>
        <p:spPr bwMode="auto">
          <a:xfrm>
            <a:off x="2273144" y="551848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74" name="Straight Connector 38"/>
          <p:cNvCxnSpPr>
            <a:cxnSpLocks noChangeShapeType="1"/>
          </p:cNvCxnSpPr>
          <p:nvPr/>
        </p:nvCxnSpPr>
        <p:spPr bwMode="auto">
          <a:xfrm rot="5400000">
            <a:off x="1362709" y="5562447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5" name="Straight Connector 39"/>
          <p:cNvCxnSpPr>
            <a:cxnSpLocks noChangeShapeType="1"/>
            <a:endCxn id="72" idx="2"/>
          </p:cNvCxnSpPr>
          <p:nvPr/>
        </p:nvCxnSpPr>
        <p:spPr bwMode="auto">
          <a:xfrm>
            <a:off x="1494514" y="5694225"/>
            <a:ext cx="173029" cy="183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6" name="Straight Connector 40"/>
          <p:cNvCxnSpPr>
            <a:cxnSpLocks noChangeShapeType="1"/>
          </p:cNvCxnSpPr>
          <p:nvPr/>
        </p:nvCxnSpPr>
        <p:spPr bwMode="auto">
          <a:xfrm rot="5400000">
            <a:off x="1968310" y="5560616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77" name="Straight Connector 41"/>
          <p:cNvCxnSpPr>
            <a:cxnSpLocks noChangeShapeType="1"/>
          </p:cNvCxnSpPr>
          <p:nvPr/>
        </p:nvCxnSpPr>
        <p:spPr bwMode="auto">
          <a:xfrm>
            <a:off x="2100115" y="5692395"/>
            <a:ext cx="173029" cy="366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78" name="TextBox 42"/>
          <p:cNvSpPr txBox="1">
            <a:spLocks noChangeArrowheads="1"/>
          </p:cNvSpPr>
          <p:nvPr/>
        </p:nvSpPr>
        <p:spPr bwMode="auto">
          <a:xfrm>
            <a:off x="2792230" y="5480041"/>
            <a:ext cx="471740" cy="42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79" name="Rectangle 4"/>
          <p:cNvSpPr>
            <a:spLocks noChangeArrowheads="1"/>
          </p:cNvSpPr>
          <p:nvPr/>
        </p:nvSpPr>
        <p:spPr bwMode="auto">
          <a:xfrm>
            <a:off x="1338545" y="4288291"/>
            <a:ext cx="1903317" cy="35148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187624" y="5957837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slave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1" name="Rectangle 6"/>
          <p:cNvSpPr>
            <a:spLocks noChangeArrowheads="1"/>
          </p:cNvSpPr>
          <p:nvPr/>
        </p:nvSpPr>
        <p:spPr bwMode="auto">
          <a:xfrm>
            <a:off x="3696542" y="4727645"/>
            <a:ext cx="1903317" cy="702967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2" name="Rectangle 4"/>
          <p:cNvSpPr>
            <a:spLocks noChangeArrowheads="1"/>
          </p:cNvSpPr>
          <p:nvPr/>
        </p:nvSpPr>
        <p:spPr bwMode="auto">
          <a:xfrm>
            <a:off x="3696542" y="4727645"/>
            <a:ext cx="1903317" cy="351483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Rectangle 35"/>
          <p:cNvSpPr>
            <a:spLocks noChangeArrowheads="1"/>
          </p:cNvSpPr>
          <p:nvPr/>
        </p:nvSpPr>
        <p:spPr bwMode="auto">
          <a:xfrm>
            <a:off x="3696542" y="5079129"/>
            <a:ext cx="1903317" cy="351483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Linux file system</a:t>
            </a:r>
          </a:p>
        </p:txBody>
      </p:sp>
      <p:sp>
        <p:nvSpPr>
          <p:cNvPr id="84" name="Flowchart: Magnetic Disk 36"/>
          <p:cNvSpPr>
            <a:spLocks noChangeArrowheads="1"/>
          </p:cNvSpPr>
          <p:nvPr/>
        </p:nvSpPr>
        <p:spPr bwMode="auto">
          <a:xfrm>
            <a:off x="4003432" y="551848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5" name="Flowchart: Magnetic Disk 37"/>
          <p:cNvSpPr>
            <a:spLocks noChangeArrowheads="1"/>
          </p:cNvSpPr>
          <p:nvPr/>
        </p:nvSpPr>
        <p:spPr bwMode="auto">
          <a:xfrm>
            <a:off x="4609032" y="551848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86" name="Straight Connector 38"/>
          <p:cNvCxnSpPr>
            <a:cxnSpLocks noChangeShapeType="1"/>
          </p:cNvCxnSpPr>
          <p:nvPr/>
        </p:nvCxnSpPr>
        <p:spPr bwMode="auto">
          <a:xfrm rot="5400000">
            <a:off x="3698598" y="5562447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7" name="Straight Connector 39"/>
          <p:cNvCxnSpPr>
            <a:cxnSpLocks noChangeShapeType="1"/>
            <a:endCxn id="84" idx="2"/>
          </p:cNvCxnSpPr>
          <p:nvPr/>
        </p:nvCxnSpPr>
        <p:spPr bwMode="auto">
          <a:xfrm>
            <a:off x="3830403" y="5694225"/>
            <a:ext cx="173029" cy="183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8" name="Straight Connector 40"/>
          <p:cNvCxnSpPr>
            <a:cxnSpLocks noChangeShapeType="1"/>
          </p:cNvCxnSpPr>
          <p:nvPr/>
        </p:nvCxnSpPr>
        <p:spPr bwMode="auto">
          <a:xfrm rot="5400000">
            <a:off x="4304198" y="5560616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9" name="Straight Connector 41"/>
          <p:cNvCxnSpPr>
            <a:cxnSpLocks noChangeShapeType="1"/>
          </p:cNvCxnSpPr>
          <p:nvPr/>
        </p:nvCxnSpPr>
        <p:spPr bwMode="auto">
          <a:xfrm>
            <a:off x="4436004" y="5692395"/>
            <a:ext cx="173029" cy="366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90" name="TextBox 42"/>
          <p:cNvSpPr txBox="1">
            <a:spLocks noChangeArrowheads="1"/>
          </p:cNvSpPr>
          <p:nvPr/>
        </p:nvSpPr>
        <p:spPr bwMode="auto">
          <a:xfrm>
            <a:off x="5128119" y="5480041"/>
            <a:ext cx="471740" cy="42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3674434" y="4288291"/>
            <a:ext cx="1903317" cy="35148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92" name="Rectangle 4"/>
          <p:cNvSpPr>
            <a:spLocks noChangeArrowheads="1"/>
          </p:cNvSpPr>
          <p:nvPr/>
        </p:nvSpPr>
        <p:spPr bwMode="auto">
          <a:xfrm>
            <a:off x="3523513" y="5957837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slave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Rectangle 6"/>
          <p:cNvSpPr>
            <a:spLocks noChangeArrowheads="1"/>
          </p:cNvSpPr>
          <p:nvPr/>
        </p:nvSpPr>
        <p:spPr bwMode="auto">
          <a:xfrm>
            <a:off x="6032430" y="4727645"/>
            <a:ext cx="1903317" cy="702967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6032430" y="4727645"/>
            <a:ext cx="1903317" cy="351483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95" name="Rectangle 35"/>
          <p:cNvSpPr>
            <a:spLocks noChangeArrowheads="1"/>
          </p:cNvSpPr>
          <p:nvPr/>
        </p:nvSpPr>
        <p:spPr bwMode="auto">
          <a:xfrm>
            <a:off x="6032430" y="5079129"/>
            <a:ext cx="1903317" cy="351483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Linux file system</a:t>
            </a:r>
          </a:p>
        </p:txBody>
      </p:sp>
      <p:sp>
        <p:nvSpPr>
          <p:cNvPr id="96" name="Flowchart: Magnetic Disk 36"/>
          <p:cNvSpPr>
            <a:spLocks noChangeArrowheads="1"/>
          </p:cNvSpPr>
          <p:nvPr/>
        </p:nvSpPr>
        <p:spPr bwMode="auto">
          <a:xfrm>
            <a:off x="6339320" y="551848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7" name="Flowchart: Magnetic Disk 37"/>
          <p:cNvSpPr>
            <a:spLocks noChangeArrowheads="1"/>
          </p:cNvSpPr>
          <p:nvPr/>
        </p:nvSpPr>
        <p:spPr bwMode="auto">
          <a:xfrm>
            <a:off x="6944921" y="551848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98" name="Straight Connector 38"/>
          <p:cNvCxnSpPr>
            <a:cxnSpLocks noChangeShapeType="1"/>
          </p:cNvCxnSpPr>
          <p:nvPr/>
        </p:nvCxnSpPr>
        <p:spPr bwMode="auto">
          <a:xfrm rot="5400000">
            <a:off x="6034486" y="5562447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99" name="Straight Connector 39"/>
          <p:cNvCxnSpPr>
            <a:cxnSpLocks noChangeShapeType="1"/>
            <a:endCxn id="96" idx="2"/>
          </p:cNvCxnSpPr>
          <p:nvPr/>
        </p:nvCxnSpPr>
        <p:spPr bwMode="auto">
          <a:xfrm>
            <a:off x="6166292" y="5694225"/>
            <a:ext cx="173029" cy="183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00" name="Straight Connector 40"/>
          <p:cNvCxnSpPr>
            <a:cxnSpLocks noChangeShapeType="1"/>
          </p:cNvCxnSpPr>
          <p:nvPr/>
        </p:nvCxnSpPr>
        <p:spPr bwMode="auto">
          <a:xfrm rot="5400000">
            <a:off x="6640087" y="5560616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01" name="Straight Connector 41"/>
          <p:cNvCxnSpPr>
            <a:cxnSpLocks noChangeShapeType="1"/>
          </p:cNvCxnSpPr>
          <p:nvPr/>
        </p:nvCxnSpPr>
        <p:spPr bwMode="auto">
          <a:xfrm>
            <a:off x="6771892" y="5692395"/>
            <a:ext cx="173029" cy="366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102" name="TextBox 42"/>
          <p:cNvSpPr txBox="1">
            <a:spLocks noChangeArrowheads="1"/>
          </p:cNvSpPr>
          <p:nvPr/>
        </p:nvSpPr>
        <p:spPr bwMode="auto">
          <a:xfrm>
            <a:off x="7464008" y="5480041"/>
            <a:ext cx="471740" cy="42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103" name="Rectangle 4"/>
          <p:cNvSpPr>
            <a:spLocks noChangeArrowheads="1"/>
          </p:cNvSpPr>
          <p:nvPr/>
        </p:nvSpPr>
        <p:spPr bwMode="auto">
          <a:xfrm>
            <a:off x="6010323" y="4288291"/>
            <a:ext cx="1903317" cy="35148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4" name="Rectangle 4"/>
          <p:cNvSpPr>
            <a:spLocks noChangeArrowheads="1"/>
          </p:cNvSpPr>
          <p:nvPr/>
        </p:nvSpPr>
        <p:spPr bwMode="auto">
          <a:xfrm>
            <a:off x="5859402" y="5957837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slave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5" name="Rectangle 4"/>
          <p:cNvSpPr>
            <a:spLocks noChangeArrowheads="1"/>
          </p:cNvSpPr>
          <p:nvPr/>
        </p:nvSpPr>
        <p:spPr bwMode="auto">
          <a:xfrm>
            <a:off x="2312311" y="2530875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namenode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6" name="Rectangle 35"/>
          <p:cNvSpPr>
            <a:spLocks noChangeArrowheads="1"/>
          </p:cNvSpPr>
          <p:nvPr/>
        </p:nvSpPr>
        <p:spPr bwMode="auto">
          <a:xfrm>
            <a:off x="2312311" y="2882358"/>
            <a:ext cx="2249374" cy="702967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Rectangle 4"/>
          <p:cNvSpPr>
            <a:spLocks noChangeArrowheads="1"/>
          </p:cNvSpPr>
          <p:nvPr/>
        </p:nvSpPr>
        <p:spPr bwMode="auto">
          <a:xfrm>
            <a:off x="2485340" y="3058100"/>
            <a:ext cx="1903317" cy="35148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namenode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Rectangle 4"/>
          <p:cNvSpPr>
            <a:spLocks noChangeArrowheads="1"/>
          </p:cNvSpPr>
          <p:nvPr/>
        </p:nvSpPr>
        <p:spPr bwMode="auto">
          <a:xfrm>
            <a:off x="4712607" y="2530875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job submission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9" name="Rectangle 4"/>
          <p:cNvSpPr>
            <a:spLocks noChangeArrowheads="1"/>
          </p:cNvSpPr>
          <p:nvPr/>
        </p:nvSpPr>
        <p:spPr bwMode="auto">
          <a:xfrm>
            <a:off x="4885635" y="3058100"/>
            <a:ext cx="1903317" cy="35148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jobtracker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2109036" y="1972072"/>
            <a:ext cx="4987053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 smtClean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rPr>
              <a:t>master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1963997" y="4005064"/>
            <a:ext cx="735795" cy="332147"/>
          </a:xfrm>
          <a:prstGeom prst="rect">
            <a:avLst/>
          </a:prstGeom>
          <a:solidFill>
            <a:schemeClr val="lt1">
              <a:tint val="100000"/>
              <a:shade val="100000"/>
              <a:hueMod val="100000"/>
              <a:satMod val="100000"/>
              <a:alpha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Map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6572509" y="4005064"/>
            <a:ext cx="735795" cy="332147"/>
          </a:xfrm>
          <a:prstGeom prst="rect">
            <a:avLst/>
          </a:prstGeom>
          <a:solidFill>
            <a:schemeClr val="lt1">
              <a:tint val="100000"/>
              <a:shade val="100000"/>
              <a:hueMod val="100000"/>
              <a:satMod val="100000"/>
              <a:alpha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Map</a:t>
            </a:r>
            <a:endParaRPr lang="zh-TW" altLang="en-US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316421" y="4005064"/>
            <a:ext cx="735795" cy="332147"/>
          </a:xfrm>
          <a:prstGeom prst="rect">
            <a:avLst/>
          </a:prstGeom>
          <a:solidFill>
            <a:schemeClr val="lt1">
              <a:tint val="100000"/>
              <a:shade val="100000"/>
              <a:hueMod val="100000"/>
              <a:satMod val="100000"/>
              <a:alpha val="48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accent3">
                    <a:lumMod val="75000"/>
                  </a:schemeClr>
                </a:solidFill>
                <a:latin typeface="+mj-lt"/>
              </a:rPr>
              <a:t>Red</a:t>
            </a:r>
            <a:endParaRPr lang="zh-TW" altLang="en-US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11" name="矩形圖說文字 110"/>
          <p:cNvSpPr/>
          <p:nvPr/>
        </p:nvSpPr>
        <p:spPr>
          <a:xfrm>
            <a:off x="107504" y="4581128"/>
            <a:ext cx="1152128" cy="792088"/>
          </a:xfrm>
          <a:prstGeom prst="wedgeRectCallout">
            <a:avLst>
              <a:gd name="adj1" fmla="val 92429"/>
              <a:gd name="adj2" fmla="val 92563"/>
            </a:avLst>
          </a:prstGeom>
          <a:solidFill>
            <a:schemeClr val="lt1">
              <a:tint val="100000"/>
              <a:shade val="100000"/>
              <a:hueMod val="100000"/>
              <a:satMod val="100000"/>
              <a:alpha val="42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atin typeface="+mj-lt"/>
              </a:rPr>
              <a:t>Split 0</a:t>
            </a:r>
            <a:endParaRPr lang="zh-TW" altLang="en-US" dirty="0">
              <a:latin typeface="+mj-lt"/>
            </a:endParaRPr>
          </a:p>
        </p:txBody>
      </p:sp>
      <p:sp>
        <p:nvSpPr>
          <p:cNvPr id="112" name="矩形圖說文字 111"/>
          <p:cNvSpPr/>
          <p:nvPr/>
        </p:nvSpPr>
        <p:spPr>
          <a:xfrm>
            <a:off x="7812360" y="5877272"/>
            <a:ext cx="1152128" cy="792088"/>
          </a:xfrm>
          <a:prstGeom prst="wedgeRectCallout">
            <a:avLst>
              <a:gd name="adj1" fmla="val -110120"/>
              <a:gd name="adj2" fmla="val -7218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atin typeface="+mj-lt"/>
              </a:rPr>
              <a:t>Split 1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79" grpId="0" animBg="1"/>
      <p:bldP spid="91" grpId="0" animBg="1"/>
      <p:bldP spid="103" grpId="0" animBg="1"/>
      <p:bldP spid="108" grpId="0" animBg="1"/>
      <p:bldP spid="109" grpId="0" animBg="1"/>
      <p:bldP spid="113" grpId="0" animBg="1"/>
      <p:bldP spid="114" grpId="0" animBg="1"/>
      <p:bldP spid="1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Hadoop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MapReduce</a:t>
            </a:r>
            <a:r>
              <a:rPr lang="en-US" altLang="zh-TW" dirty="0" smtClean="0"/>
              <a:t> work flow</a:t>
            </a:r>
            <a:endParaRPr lang="zh-TW" altLang="en-US" dirty="0"/>
          </a:p>
        </p:txBody>
      </p:sp>
      <p:sp>
        <p:nvSpPr>
          <p:cNvPr id="36" name="AutoShape 25"/>
          <p:cNvSpPr>
            <a:spLocks noChangeArrowheads="1"/>
          </p:cNvSpPr>
          <p:nvPr/>
        </p:nvSpPr>
        <p:spPr bwMode="auto">
          <a:xfrm>
            <a:off x="179512" y="2276872"/>
            <a:ext cx="990600" cy="3456384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37" name="AutoShape 26"/>
          <p:cNvCxnSpPr>
            <a:cxnSpLocks noChangeShapeType="1"/>
          </p:cNvCxnSpPr>
          <p:nvPr/>
        </p:nvCxnSpPr>
        <p:spPr bwMode="auto">
          <a:xfrm>
            <a:off x="179512" y="3140968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38" name="AutoShape 27"/>
          <p:cNvCxnSpPr>
            <a:cxnSpLocks noChangeShapeType="1"/>
          </p:cNvCxnSpPr>
          <p:nvPr/>
        </p:nvCxnSpPr>
        <p:spPr bwMode="auto">
          <a:xfrm>
            <a:off x="179512" y="4077072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sp>
        <p:nvSpPr>
          <p:cNvPr id="58" name="文字方塊 57"/>
          <p:cNvSpPr txBox="1"/>
          <p:nvPr/>
        </p:nvSpPr>
        <p:spPr>
          <a:xfrm>
            <a:off x="179512" y="2564904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Split 0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179512" y="3460938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Split 1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79512" y="4325034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Split 2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4" name="AutoShape 27"/>
          <p:cNvCxnSpPr>
            <a:cxnSpLocks noChangeShapeType="1"/>
          </p:cNvCxnSpPr>
          <p:nvPr/>
        </p:nvCxnSpPr>
        <p:spPr bwMode="auto">
          <a:xfrm>
            <a:off x="197024" y="4941168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sp>
        <p:nvSpPr>
          <p:cNvPr id="65" name="文字方塊 64"/>
          <p:cNvSpPr txBox="1"/>
          <p:nvPr/>
        </p:nvSpPr>
        <p:spPr>
          <a:xfrm>
            <a:off x="179512" y="511712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Split 3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251520" y="1876762"/>
            <a:ext cx="864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>
                <a:latin typeface="Calibri" pitchFamily="34" charset="0"/>
                <a:cs typeface="Calibri" pitchFamily="34" charset="0"/>
              </a:rPr>
              <a:t>Input</a:t>
            </a:r>
            <a:endParaRPr lang="zh-TW" altLang="en-US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499992" y="3933056"/>
            <a:ext cx="3024336" cy="14401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/>
        </p:nvSpPr>
        <p:spPr>
          <a:xfrm>
            <a:off x="4499992" y="2276872"/>
            <a:ext cx="3024336" cy="14401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/>
        </p:nvSpPr>
        <p:spPr>
          <a:xfrm>
            <a:off x="1547664" y="4869160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/>
        </p:nvSpPr>
        <p:spPr>
          <a:xfrm>
            <a:off x="1547664" y="3284984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/>
        </p:nvSpPr>
        <p:spPr>
          <a:xfrm>
            <a:off x="1547664" y="1772816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auto">
          <a:xfrm>
            <a:off x="1619672" y="1844824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85" name="AutoShape 7"/>
          <p:cNvSpPr>
            <a:spLocks noChangeArrowheads="1"/>
          </p:cNvSpPr>
          <p:nvPr/>
        </p:nvSpPr>
        <p:spPr bwMode="auto">
          <a:xfrm>
            <a:off x="1619672" y="3356992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86" name="AutoShape 8"/>
          <p:cNvSpPr>
            <a:spLocks noChangeArrowheads="1"/>
          </p:cNvSpPr>
          <p:nvPr/>
        </p:nvSpPr>
        <p:spPr bwMode="auto">
          <a:xfrm>
            <a:off x="1619672" y="4941168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87" name="Rectangle 20"/>
          <p:cNvSpPr>
            <a:spLocks noChangeArrowheads="1"/>
          </p:cNvSpPr>
          <p:nvPr/>
        </p:nvSpPr>
        <p:spPr bwMode="auto">
          <a:xfrm>
            <a:off x="5364088" y="2637110"/>
            <a:ext cx="625475" cy="863898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8" name="Rectangle 20"/>
          <p:cNvSpPr>
            <a:spLocks noChangeArrowheads="1"/>
          </p:cNvSpPr>
          <p:nvPr/>
        </p:nvSpPr>
        <p:spPr bwMode="auto">
          <a:xfrm>
            <a:off x="5364088" y="4364906"/>
            <a:ext cx="625475" cy="64827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9" name="AutoShape 21"/>
          <p:cNvSpPr>
            <a:spLocks noChangeArrowheads="1"/>
          </p:cNvSpPr>
          <p:nvPr/>
        </p:nvSpPr>
        <p:spPr bwMode="auto">
          <a:xfrm>
            <a:off x="6084168" y="4207867"/>
            <a:ext cx="1243012" cy="949325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Reducer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90" name="AutoShape 22"/>
          <p:cNvSpPr>
            <a:spLocks noChangeArrowheads="1"/>
          </p:cNvSpPr>
          <p:nvPr/>
        </p:nvSpPr>
        <p:spPr bwMode="auto">
          <a:xfrm>
            <a:off x="6084168" y="2492896"/>
            <a:ext cx="1243012" cy="949325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Reducer</a:t>
            </a:r>
            <a:endParaRPr kumimoji="1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91" name="AutoShape 23"/>
          <p:cNvSpPr>
            <a:spLocks noChangeArrowheads="1"/>
          </p:cNvSpPr>
          <p:nvPr/>
        </p:nvSpPr>
        <p:spPr bwMode="auto">
          <a:xfrm>
            <a:off x="7973888" y="2564904"/>
            <a:ext cx="990600" cy="82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Part0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92" name="AutoShape 23"/>
          <p:cNvSpPr>
            <a:spLocks noChangeArrowheads="1"/>
          </p:cNvSpPr>
          <p:nvPr/>
        </p:nvSpPr>
        <p:spPr bwMode="auto">
          <a:xfrm>
            <a:off x="7973888" y="4259684"/>
            <a:ext cx="990600" cy="82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Part1</a:t>
            </a:r>
            <a:endParaRPr kumimoji="1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cxnSp>
        <p:nvCxnSpPr>
          <p:cNvPr id="93" name="直線單箭頭接點 92"/>
          <p:cNvCxnSpPr>
            <a:stCxn id="84" idx="3"/>
          </p:cNvCxnSpPr>
          <p:nvPr/>
        </p:nvCxnSpPr>
        <p:spPr>
          <a:xfrm flipV="1">
            <a:off x="2864272" y="2204864"/>
            <a:ext cx="195560" cy="114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84" idx="3"/>
          </p:cNvCxnSpPr>
          <p:nvPr/>
        </p:nvCxnSpPr>
        <p:spPr>
          <a:xfrm>
            <a:off x="2864272" y="2319487"/>
            <a:ext cx="195560" cy="101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85" idx="3"/>
            <a:endCxn id="111" idx="1"/>
          </p:cNvCxnSpPr>
          <p:nvPr/>
        </p:nvCxnSpPr>
        <p:spPr>
          <a:xfrm flipV="1">
            <a:off x="2864272" y="3680929"/>
            <a:ext cx="195560" cy="1507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stCxn id="85" idx="3"/>
            <a:endCxn id="110" idx="1"/>
          </p:cNvCxnSpPr>
          <p:nvPr/>
        </p:nvCxnSpPr>
        <p:spPr>
          <a:xfrm>
            <a:off x="2864272" y="3831655"/>
            <a:ext cx="195560" cy="281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V="1">
            <a:off x="2843808" y="5330601"/>
            <a:ext cx="195560" cy="114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>
            <a:off x="2843808" y="5445224"/>
            <a:ext cx="195560" cy="101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/>
          <p:nvPr/>
        </p:nvCxnSpPr>
        <p:spPr>
          <a:xfrm>
            <a:off x="5220072" y="2996853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5220072" y="4653136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>
            <a:off x="5940152" y="2996952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5940152" y="4653136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7236296" y="2996952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7236296" y="4653136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20"/>
          <p:cNvSpPr>
            <a:spLocks noChangeArrowheads="1"/>
          </p:cNvSpPr>
          <p:nvPr/>
        </p:nvSpPr>
        <p:spPr bwMode="auto">
          <a:xfrm>
            <a:off x="3059832" y="2060848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6" name="Rectangle 20"/>
          <p:cNvSpPr>
            <a:spLocks noChangeArrowheads="1"/>
          </p:cNvSpPr>
          <p:nvPr/>
        </p:nvSpPr>
        <p:spPr bwMode="auto">
          <a:xfrm>
            <a:off x="3059832" y="5445224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7" name="Rectangle 20"/>
          <p:cNvSpPr>
            <a:spLocks noChangeArrowheads="1"/>
          </p:cNvSpPr>
          <p:nvPr/>
        </p:nvSpPr>
        <p:spPr bwMode="auto">
          <a:xfrm>
            <a:off x="3059832" y="2276872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8" name="Rectangle 20"/>
          <p:cNvSpPr>
            <a:spLocks noChangeArrowheads="1"/>
          </p:cNvSpPr>
          <p:nvPr/>
        </p:nvSpPr>
        <p:spPr bwMode="auto">
          <a:xfrm>
            <a:off x="3059832" y="5229200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9" name="Rectangle 20"/>
          <p:cNvSpPr>
            <a:spLocks noChangeArrowheads="1"/>
          </p:cNvSpPr>
          <p:nvPr/>
        </p:nvSpPr>
        <p:spPr bwMode="auto">
          <a:xfrm>
            <a:off x="3059832" y="3788841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0" name="Rectangle 20"/>
          <p:cNvSpPr>
            <a:spLocks noChangeArrowheads="1"/>
          </p:cNvSpPr>
          <p:nvPr/>
        </p:nvSpPr>
        <p:spPr bwMode="auto">
          <a:xfrm>
            <a:off x="3059832" y="4004865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1" name="Rectangle 20"/>
          <p:cNvSpPr>
            <a:spLocks noChangeArrowheads="1"/>
          </p:cNvSpPr>
          <p:nvPr/>
        </p:nvSpPr>
        <p:spPr bwMode="auto">
          <a:xfrm>
            <a:off x="3059832" y="3572817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2" name="Rectangle 20"/>
          <p:cNvSpPr>
            <a:spLocks noChangeArrowheads="1"/>
          </p:cNvSpPr>
          <p:nvPr/>
        </p:nvSpPr>
        <p:spPr bwMode="auto">
          <a:xfrm>
            <a:off x="4572000" y="2636912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3" name="Rectangle 20"/>
          <p:cNvSpPr>
            <a:spLocks noChangeArrowheads="1"/>
          </p:cNvSpPr>
          <p:nvPr/>
        </p:nvSpPr>
        <p:spPr bwMode="auto">
          <a:xfrm>
            <a:off x="4572000" y="2852936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4" name="Rectangle 20"/>
          <p:cNvSpPr>
            <a:spLocks noChangeArrowheads="1"/>
          </p:cNvSpPr>
          <p:nvPr/>
        </p:nvSpPr>
        <p:spPr bwMode="auto">
          <a:xfrm>
            <a:off x="4572000" y="3068960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5" name="Rectangle 20"/>
          <p:cNvSpPr>
            <a:spLocks noChangeArrowheads="1"/>
          </p:cNvSpPr>
          <p:nvPr/>
        </p:nvSpPr>
        <p:spPr bwMode="auto">
          <a:xfrm>
            <a:off x="4572000" y="3284984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6" name="Rectangle 20"/>
          <p:cNvSpPr>
            <a:spLocks noChangeArrowheads="1"/>
          </p:cNvSpPr>
          <p:nvPr/>
        </p:nvSpPr>
        <p:spPr bwMode="auto">
          <a:xfrm>
            <a:off x="4572000" y="4364905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7" name="Rectangle 20"/>
          <p:cNvSpPr>
            <a:spLocks noChangeArrowheads="1"/>
          </p:cNvSpPr>
          <p:nvPr/>
        </p:nvSpPr>
        <p:spPr bwMode="auto">
          <a:xfrm>
            <a:off x="4572000" y="4580929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8" name="Rectangle 20"/>
          <p:cNvSpPr>
            <a:spLocks noChangeArrowheads="1"/>
          </p:cNvSpPr>
          <p:nvPr/>
        </p:nvSpPr>
        <p:spPr bwMode="auto">
          <a:xfrm>
            <a:off x="4572000" y="4796953"/>
            <a:ext cx="625475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119" name="直線單箭頭接點 118"/>
          <p:cNvCxnSpPr>
            <a:stCxn id="85" idx="3"/>
            <a:endCxn id="109" idx="1"/>
          </p:cNvCxnSpPr>
          <p:nvPr/>
        </p:nvCxnSpPr>
        <p:spPr>
          <a:xfrm>
            <a:off x="2864272" y="3831655"/>
            <a:ext cx="195560" cy="652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105" idx="3"/>
            <a:endCxn id="112" idx="1"/>
          </p:cNvCxnSpPr>
          <p:nvPr/>
        </p:nvCxnSpPr>
        <p:spPr>
          <a:xfrm>
            <a:off x="3685307" y="2168960"/>
            <a:ext cx="886693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endCxn id="116" idx="1"/>
          </p:cNvCxnSpPr>
          <p:nvPr/>
        </p:nvCxnSpPr>
        <p:spPr>
          <a:xfrm rot="16200000" flipH="1">
            <a:off x="3113888" y="3014904"/>
            <a:ext cx="2052129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stCxn id="111" idx="3"/>
            <a:endCxn id="113" idx="1"/>
          </p:cNvCxnSpPr>
          <p:nvPr/>
        </p:nvCxnSpPr>
        <p:spPr>
          <a:xfrm flipV="1">
            <a:off x="3685307" y="2961048"/>
            <a:ext cx="886693" cy="719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>
            <a:stCxn id="109" idx="3"/>
            <a:endCxn id="114" idx="1"/>
          </p:cNvCxnSpPr>
          <p:nvPr/>
        </p:nvCxnSpPr>
        <p:spPr>
          <a:xfrm flipV="1">
            <a:off x="3685307" y="3177072"/>
            <a:ext cx="886693" cy="719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>
            <a:stCxn id="110" idx="3"/>
            <a:endCxn id="117" idx="1"/>
          </p:cNvCxnSpPr>
          <p:nvPr/>
        </p:nvCxnSpPr>
        <p:spPr>
          <a:xfrm>
            <a:off x="3685307" y="4112977"/>
            <a:ext cx="886693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>
            <a:stCxn id="108" idx="3"/>
            <a:endCxn id="118" idx="1"/>
          </p:cNvCxnSpPr>
          <p:nvPr/>
        </p:nvCxnSpPr>
        <p:spPr>
          <a:xfrm flipV="1">
            <a:off x="3685307" y="4905065"/>
            <a:ext cx="886693" cy="4322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06" idx="3"/>
            <a:endCxn id="115" idx="1"/>
          </p:cNvCxnSpPr>
          <p:nvPr/>
        </p:nvCxnSpPr>
        <p:spPr>
          <a:xfrm flipV="1">
            <a:off x="3685307" y="3393096"/>
            <a:ext cx="886693" cy="2160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58" idx="3"/>
            <a:endCxn id="84" idx="1"/>
          </p:cNvCxnSpPr>
          <p:nvPr/>
        </p:nvCxnSpPr>
        <p:spPr>
          <a:xfrm flipV="1">
            <a:off x="1187624" y="2319487"/>
            <a:ext cx="432048" cy="4454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59" idx="3"/>
            <a:endCxn id="85" idx="1"/>
          </p:cNvCxnSpPr>
          <p:nvPr/>
        </p:nvCxnSpPr>
        <p:spPr>
          <a:xfrm>
            <a:off x="1187624" y="3660993"/>
            <a:ext cx="432048" cy="1706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5" idx="3"/>
            <a:endCxn id="85" idx="1"/>
          </p:cNvCxnSpPr>
          <p:nvPr/>
        </p:nvCxnSpPr>
        <p:spPr>
          <a:xfrm flipV="1">
            <a:off x="1187624" y="3831655"/>
            <a:ext cx="432048" cy="1485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60" idx="3"/>
            <a:endCxn id="86" idx="1"/>
          </p:cNvCxnSpPr>
          <p:nvPr/>
        </p:nvCxnSpPr>
        <p:spPr>
          <a:xfrm>
            <a:off x="1187624" y="4525089"/>
            <a:ext cx="432048" cy="8907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文字方塊 130"/>
          <p:cNvSpPr txBox="1"/>
          <p:nvPr/>
        </p:nvSpPr>
        <p:spPr>
          <a:xfrm>
            <a:off x="3851920" y="1772816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Sort/Copy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2" name="文字方塊 131"/>
          <p:cNvSpPr txBox="1"/>
          <p:nvPr/>
        </p:nvSpPr>
        <p:spPr>
          <a:xfrm>
            <a:off x="4860032" y="227687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Merge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7884368" y="1988840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>
                <a:latin typeface="Calibri" pitchFamily="34" charset="0"/>
                <a:cs typeface="Calibri" pitchFamily="34" charset="0"/>
              </a:rPr>
              <a:t>Output</a:t>
            </a:r>
            <a:endParaRPr lang="zh-TW" altLang="en-US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4" name="橢圓形圖說文字 133"/>
          <p:cNvSpPr/>
          <p:nvPr/>
        </p:nvSpPr>
        <p:spPr>
          <a:xfrm>
            <a:off x="3419872" y="5733256"/>
            <a:ext cx="2016224" cy="864096"/>
          </a:xfrm>
          <a:prstGeom prst="wedgeEllipseCallout">
            <a:avLst>
              <a:gd name="adj1" fmla="val -56611"/>
              <a:gd name="adj2" fmla="val -6851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&lt;key, value&gt;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31" grpId="0"/>
      <p:bldP spid="132" grpId="0"/>
      <p:bldP spid="133" grpId="0"/>
      <p:bldP spid="1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4" name="AutoShape 25"/>
          <p:cNvSpPr>
            <a:spLocks noChangeArrowheads="1"/>
          </p:cNvSpPr>
          <p:nvPr/>
        </p:nvSpPr>
        <p:spPr bwMode="auto">
          <a:xfrm>
            <a:off x="179512" y="2276872"/>
            <a:ext cx="990600" cy="3456384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5" name="AutoShape 26"/>
          <p:cNvCxnSpPr>
            <a:cxnSpLocks noChangeShapeType="1"/>
          </p:cNvCxnSpPr>
          <p:nvPr/>
        </p:nvCxnSpPr>
        <p:spPr bwMode="auto">
          <a:xfrm>
            <a:off x="179512" y="3140968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6" name="AutoShape 27"/>
          <p:cNvCxnSpPr>
            <a:cxnSpLocks noChangeShapeType="1"/>
          </p:cNvCxnSpPr>
          <p:nvPr/>
        </p:nvCxnSpPr>
        <p:spPr bwMode="auto">
          <a:xfrm>
            <a:off x="179512" y="4077072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sp>
        <p:nvSpPr>
          <p:cNvPr id="7" name="文字方塊 6"/>
          <p:cNvSpPr txBox="1"/>
          <p:nvPr/>
        </p:nvSpPr>
        <p:spPr>
          <a:xfrm>
            <a:off x="179512" y="242088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Hello Cloud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79512" y="3429000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YC cool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79512" y="4152514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Hello YC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AutoShape 27"/>
          <p:cNvCxnSpPr>
            <a:cxnSpLocks noChangeShapeType="1"/>
          </p:cNvCxnSpPr>
          <p:nvPr/>
        </p:nvCxnSpPr>
        <p:spPr bwMode="auto">
          <a:xfrm>
            <a:off x="197024" y="4941168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sp>
        <p:nvSpPr>
          <p:cNvPr id="11" name="文字方塊 10"/>
          <p:cNvSpPr txBox="1"/>
          <p:nvPr/>
        </p:nvSpPr>
        <p:spPr>
          <a:xfrm>
            <a:off x="179512" y="511712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cool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1520" y="1876762"/>
            <a:ext cx="864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>
                <a:latin typeface="Calibri" pitchFamily="34" charset="0"/>
                <a:cs typeface="Calibri" pitchFamily="34" charset="0"/>
              </a:rPr>
              <a:t>Input</a:t>
            </a:r>
            <a:endParaRPr lang="zh-TW" altLang="en-US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99992" y="3933056"/>
            <a:ext cx="3024336" cy="14401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499992" y="2276872"/>
            <a:ext cx="3024336" cy="14401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547664" y="4869160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547664" y="3284984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47664" y="1772816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>
            <a:off x="1619672" y="1844824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1619672" y="3356992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0" name="AutoShape 8"/>
          <p:cNvSpPr>
            <a:spLocks noChangeArrowheads="1"/>
          </p:cNvSpPr>
          <p:nvPr/>
        </p:nvSpPr>
        <p:spPr bwMode="auto">
          <a:xfrm>
            <a:off x="1619672" y="4941168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314676" y="2637110"/>
            <a:ext cx="841499" cy="863898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dirty="0" smtClean="0"/>
              <a:t>Hello [1 1]</a:t>
            </a:r>
          </a:p>
          <a:p>
            <a:pPr algn="ctr"/>
            <a:r>
              <a:rPr lang="en-US" altLang="zh-TW" sz="1200" dirty="0" smtClean="0"/>
              <a:t>YC [1 1]</a:t>
            </a:r>
            <a:endParaRPr lang="zh-TW" altLang="en-US" sz="1200" dirty="0"/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5314676" y="4364906"/>
            <a:ext cx="841499" cy="64827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dirty="0" smtClean="0"/>
              <a:t>Cloud [1]</a:t>
            </a:r>
          </a:p>
          <a:p>
            <a:pPr algn="ctr"/>
            <a:r>
              <a:rPr lang="en-US" altLang="zh-TW" sz="1200" dirty="0" smtClean="0"/>
              <a:t>cool [1 1]</a:t>
            </a:r>
            <a:endParaRPr lang="zh-TW" altLang="en-US" sz="1200" dirty="0"/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6209308" y="4207867"/>
            <a:ext cx="1243012" cy="949325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Reducer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6209308" y="2492896"/>
            <a:ext cx="1243012" cy="949325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Reducer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7973888" y="2564904"/>
            <a:ext cx="1062608" cy="82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Hello</a:t>
            </a:r>
            <a:r>
              <a:rPr kumimoji="1" lang="en-US" altLang="zh-TW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aseline="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YC</a:t>
            </a:r>
            <a:r>
              <a:rPr kumimoji="1" lang="en-US" altLang="zh-TW" sz="200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 2</a:t>
            </a:r>
            <a:endParaRPr kumimoji="1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7973888" y="4259684"/>
            <a:ext cx="1062608" cy="82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Cloud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c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ool 2</a:t>
            </a:r>
            <a:endParaRPr kumimoji="1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cxnSp>
        <p:nvCxnSpPr>
          <p:cNvPr id="27" name="直線單箭頭接點 26"/>
          <p:cNvCxnSpPr>
            <a:stCxn id="18" idx="3"/>
          </p:cNvCxnSpPr>
          <p:nvPr/>
        </p:nvCxnSpPr>
        <p:spPr>
          <a:xfrm flipV="1">
            <a:off x="2864272" y="2204864"/>
            <a:ext cx="195560" cy="114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8" idx="3"/>
          </p:cNvCxnSpPr>
          <p:nvPr/>
        </p:nvCxnSpPr>
        <p:spPr>
          <a:xfrm>
            <a:off x="2864272" y="2319487"/>
            <a:ext cx="195560" cy="101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9" idx="3"/>
            <a:endCxn id="45" idx="1"/>
          </p:cNvCxnSpPr>
          <p:nvPr/>
        </p:nvCxnSpPr>
        <p:spPr>
          <a:xfrm flipV="1">
            <a:off x="2864272" y="3680929"/>
            <a:ext cx="172963" cy="1507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19" idx="3"/>
            <a:endCxn id="44" idx="1"/>
          </p:cNvCxnSpPr>
          <p:nvPr/>
        </p:nvCxnSpPr>
        <p:spPr>
          <a:xfrm>
            <a:off x="2864272" y="3831655"/>
            <a:ext cx="172963" cy="281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2843808" y="5330601"/>
            <a:ext cx="195560" cy="114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843808" y="5445224"/>
            <a:ext cx="195560" cy="101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5220072" y="2996853"/>
            <a:ext cx="144016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6061571" y="2996952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6061571" y="4653136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7236296" y="2996952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7236296" y="4653136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20"/>
          <p:cNvSpPr>
            <a:spLocks noChangeArrowheads="1"/>
          </p:cNvSpPr>
          <p:nvPr/>
        </p:nvSpPr>
        <p:spPr bwMode="auto">
          <a:xfrm>
            <a:off x="3037235" y="2060848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/>
          </a:p>
        </p:txBody>
      </p: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3037235" y="5445224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YC 1</a:t>
            </a:r>
            <a:endParaRPr lang="zh-TW" altLang="en-US" sz="1200" dirty="0"/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3037235" y="2276872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Cloud 1</a:t>
            </a:r>
            <a:endParaRPr lang="zh-TW" altLang="en-US" sz="1200" dirty="0"/>
          </a:p>
        </p:txBody>
      </p:sp>
      <p:sp>
        <p:nvSpPr>
          <p:cNvPr id="42" name="Rectangle 20"/>
          <p:cNvSpPr>
            <a:spLocks noChangeArrowheads="1"/>
          </p:cNvSpPr>
          <p:nvPr/>
        </p:nvSpPr>
        <p:spPr bwMode="auto">
          <a:xfrm>
            <a:off x="3037235" y="5229200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/>
          </a:p>
        </p:txBody>
      </p:sp>
      <p:sp>
        <p:nvSpPr>
          <p:cNvPr id="43" name="Rectangle 20"/>
          <p:cNvSpPr>
            <a:spLocks noChangeArrowheads="1"/>
          </p:cNvSpPr>
          <p:nvPr/>
        </p:nvSpPr>
        <p:spPr bwMode="auto">
          <a:xfrm>
            <a:off x="3037235" y="3788841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sp>
        <p:nvSpPr>
          <p:cNvPr id="44" name="Rectangle 20"/>
          <p:cNvSpPr>
            <a:spLocks noChangeArrowheads="1"/>
          </p:cNvSpPr>
          <p:nvPr/>
        </p:nvSpPr>
        <p:spPr bwMode="auto">
          <a:xfrm>
            <a:off x="3037235" y="4004865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sp>
        <p:nvSpPr>
          <p:cNvPr id="45" name="Rectangle 20"/>
          <p:cNvSpPr>
            <a:spLocks noChangeArrowheads="1"/>
          </p:cNvSpPr>
          <p:nvPr/>
        </p:nvSpPr>
        <p:spPr bwMode="auto">
          <a:xfrm>
            <a:off x="3037235" y="3572817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YC 1</a:t>
            </a:r>
            <a:endParaRPr lang="zh-TW" altLang="en-US" sz="1200" dirty="0"/>
          </a:p>
        </p:txBody>
      </p:sp>
      <p:sp>
        <p:nvSpPr>
          <p:cNvPr id="46" name="Rectangle 20"/>
          <p:cNvSpPr>
            <a:spLocks noChangeArrowheads="1"/>
          </p:cNvSpPr>
          <p:nvPr/>
        </p:nvSpPr>
        <p:spPr bwMode="auto">
          <a:xfrm>
            <a:off x="4549403" y="2636912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 smtClean="0"/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4549403" y="2852936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 smtClean="0"/>
          </a:p>
        </p:txBody>
      </p:sp>
      <p:sp>
        <p:nvSpPr>
          <p:cNvPr id="48" name="Rectangle 20"/>
          <p:cNvSpPr>
            <a:spLocks noChangeArrowheads="1"/>
          </p:cNvSpPr>
          <p:nvPr/>
        </p:nvSpPr>
        <p:spPr bwMode="auto">
          <a:xfrm>
            <a:off x="4549403" y="3068960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YC 1</a:t>
            </a:r>
            <a:endParaRPr lang="zh-TW" altLang="en-US" sz="1200" dirty="0" smtClean="0"/>
          </a:p>
        </p:txBody>
      </p:sp>
      <p:sp>
        <p:nvSpPr>
          <p:cNvPr id="49" name="Rectangle 20"/>
          <p:cNvSpPr>
            <a:spLocks noChangeArrowheads="1"/>
          </p:cNvSpPr>
          <p:nvPr/>
        </p:nvSpPr>
        <p:spPr bwMode="auto">
          <a:xfrm>
            <a:off x="4549403" y="3284984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YC 1</a:t>
            </a:r>
            <a:endParaRPr lang="zh-TW" altLang="en-US" sz="1200" dirty="0" smtClean="0"/>
          </a:p>
        </p:txBody>
      </p:sp>
      <p:sp>
        <p:nvSpPr>
          <p:cNvPr id="50" name="Rectangle 20"/>
          <p:cNvSpPr>
            <a:spLocks noChangeArrowheads="1"/>
          </p:cNvSpPr>
          <p:nvPr/>
        </p:nvSpPr>
        <p:spPr bwMode="auto">
          <a:xfrm>
            <a:off x="4549403" y="4364905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Cloud 1</a:t>
            </a:r>
            <a:endParaRPr lang="zh-TW" altLang="en-US" sz="1200" dirty="0"/>
          </a:p>
        </p:txBody>
      </p:sp>
      <p:sp>
        <p:nvSpPr>
          <p:cNvPr id="51" name="Rectangle 20"/>
          <p:cNvSpPr>
            <a:spLocks noChangeArrowheads="1"/>
          </p:cNvSpPr>
          <p:nvPr/>
        </p:nvSpPr>
        <p:spPr bwMode="auto">
          <a:xfrm>
            <a:off x="4549403" y="4580929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sp>
        <p:nvSpPr>
          <p:cNvPr id="52" name="Rectangle 20"/>
          <p:cNvSpPr>
            <a:spLocks noChangeArrowheads="1"/>
          </p:cNvSpPr>
          <p:nvPr/>
        </p:nvSpPr>
        <p:spPr bwMode="auto">
          <a:xfrm>
            <a:off x="4549403" y="4796953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cxnSp>
        <p:nvCxnSpPr>
          <p:cNvPr id="53" name="直線單箭頭接點 52"/>
          <p:cNvCxnSpPr>
            <a:stCxn id="19" idx="3"/>
            <a:endCxn id="43" idx="1"/>
          </p:cNvCxnSpPr>
          <p:nvPr/>
        </p:nvCxnSpPr>
        <p:spPr>
          <a:xfrm>
            <a:off x="2864272" y="3831655"/>
            <a:ext cx="172963" cy="652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9" idx="3"/>
            <a:endCxn id="46" idx="1"/>
          </p:cNvCxnSpPr>
          <p:nvPr/>
        </p:nvCxnSpPr>
        <p:spPr>
          <a:xfrm>
            <a:off x="3707905" y="2168960"/>
            <a:ext cx="841498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endCxn id="50" idx="1"/>
          </p:cNvCxnSpPr>
          <p:nvPr/>
        </p:nvCxnSpPr>
        <p:spPr>
          <a:xfrm rot="16200000" flipH="1">
            <a:off x="3102589" y="3026203"/>
            <a:ext cx="2052130" cy="8414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45" idx="3"/>
            <a:endCxn id="48" idx="1"/>
          </p:cNvCxnSpPr>
          <p:nvPr/>
        </p:nvCxnSpPr>
        <p:spPr>
          <a:xfrm flipV="1">
            <a:off x="3707905" y="3177072"/>
            <a:ext cx="841498" cy="5038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43" idx="3"/>
            <a:endCxn id="51" idx="1"/>
          </p:cNvCxnSpPr>
          <p:nvPr/>
        </p:nvCxnSpPr>
        <p:spPr>
          <a:xfrm>
            <a:off x="3707905" y="3896953"/>
            <a:ext cx="841498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44" idx="3"/>
            <a:endCxn id="52" idx="1"/>
          </p:cNvCxnSpPr>
          <p:nvPr/>
        </p:nvCxnSpPr>
        <p:spPr>
          <a:xfrm>
            <a:off x="3707905" y="4112977"/>
            <a:ext cx="841498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42" idx="3"/>
            <a:endCxn id="47" idx="1"/>
          </p:cNvCxnSpPr>
          <p:nvPr/>
        </p:nvCxnSpPr>
        <p:spPr>
          <a:xfrm flipV="1">
            <a:off x="3707905" y="2961048"/>
            <a:ext cx="841498" cy="2376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40" idx="3"/>
            <a:endCxn id="49" idx="1"/>
          </p:cNvCxnSpPr>
          <p:nvPr/>
        </p:nvCxnSpPr>
        <p:spPr>
          <a:xfrm flipV="1">
            <a:off x="3707905" y="3393096"/>
            <a:ext cx="841498" cy="2160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7" idx="3"/>
            <a:endCxn id="18" idx="1"/>
          </p:cNvCxnSpPr>
          <p:nvPr/>
        </p:nvCxnSpPr>
        <p:spPr>
          <a:xfrm flipV="1">
            <a:off x="1187624" y="2319487"/>
            <a:ext cx="432048" cy="4553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8" idx="3"/>
            <a:endCxn id="19" idx="1"/>
          </p:cNvCxnSpPr>
          <p:nvPr/>
        </p:nvCxnSpPr>
        <p:spPr>
          <a:xfrm>
            <a:off x="1187624" y="3629055"/>
            <a:ext cx="432048" cy="20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11" idx="3"/>
            <a:endCxn id="19" idx="1"/>
          </p:cNvCxnSpPr>
          <p:nvPr/>
        </p:nvCxnSpPr>
        <p:spPr>
          <a:xfrm flipV="1">
            <a:off x="1187624" y="3831655"/>
            <a:ext cx="432048" cy="1485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9" idx="3"/>
            <a:endCxn id="20" idx="1"/>
          </p:cNvCxnSpPr>
          <p:nvPr/>
        </p:nvCxnSpPr>
        <p:spPr>
          <a:xfrm>
            <a:off x="1187624" y="4506457"/>
            <a:ext cx="432048" cy="9093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3851920" y="1772816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Sort/Copy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860032" y="227687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Merge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884368" y="1988840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>
                <a:latin typeface="Calibri" pitchFamily="34" charset="0"/>
                <a:cs typeface="Calibri" pitchFamily="34" charset="0"/>
              </a:rPr>
              <a:t>Output</a:t>
            </a:r>
            <a:endParaRPr lang="zh-TW" altLang="en-US" sz="22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13" name="直線單箭頭接點 112"/>
          <p:cNvCxnSpPr/>
          <p:nvPr/>
        </p:nvCxnSpPr>
        <p:spPr>
          <a:xfrm>
            <a:off x="5220072" y="4670388"/>
            <a:ext cx="144016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5" grpId="0"/>
      <p:bldP spid="66" grpId="0"/>
      <p:bldP spid="6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of </a:t>
            </a:r>
            <a:r>
              <a:rPr lang="en-US" altLang="zh-TW" dirty="0" err="1" smtClean="0"/>
              <a:t>MapReduce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+mj-lt"/>
              </a:rPr>
              <a:t>MapReduce</a:t>
            </a:r>
            <a:r>
              <a:rPr lang="en-US" altLang="zh-TW" dirty="0">
                <a:latin typeface="+mj-lt"/>
              </a:rPr>
              <a:t> has proven to be a useful abstraction </a:t>
            </a:r>
          </a:p>
          <a:p>
            <a:pPr lvl="1"/>
            <a:r>
              <a:rPr lang="en-US" altLang="zh-TW" dirty="0">
                <a:latin typeface="+mj-lt"/>
              </a:rPr>
              <a:t>H</a:t>
            </a:r>
            <a:r>
              <a:rPr lang="en-US" altLang="zh-TW" dirty="0" smtClean="0">
                <a:latin typeface="+mj-lt"/>
              </a:rPr>
              <a:t>ides the details </a:t>
            </a:r>
            <a:r>
              <a:rPr lang="en-US" altLang="zh-TW" dirty="0">
                <a:latin typeface="+mj-lt"/>
              </a:rPr>
              <a:t>of parallelization, </a:t>
            </a:r>
            <a:r>
              <a:rPr lang="en-US" altLang="zh-TW" dirty="0" smtClean="0">
                <a:latin typeface="+mj-lt"/>
              </a:rPr>
              <a:t>fault-tolerance, locality optimization, and </a:t>
            </a:r>
            <a:r>
              <a:rPr lang="en-US" altLang="zh-TW" dirty="0">
                <a:latin typeface="+mj-lt"/>
              </a:rPr>
              <a:t>load balancing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r>
              <a:rPr lang="en-US" altLang="zh-TW" dirty="0" smtClean="0">
                <a:latin typeface="+mj-lt"/>
              </a:rPr>
              <a:t>A large variety of </a:t>
            </a:r>
            <a:r>
              <a:rPr lang="en-US" altLang="zh-TW" dirty="0">
                <a:latin typeface="+mj-lt"/>
              </a:rPr>
              <a:t>problems are easily expressible as </a:t>
            </a:r>
            <a:r>
              <a:rPr lang="en-US" altLang="zh-TW" dirty="0" err="1">
                <a:latin typeface="+mj-lt"/>
              </a:rPr>
              <a:t>MapReduce</a:t>
            </a:r>
            <a:r>
              <a:rPr lang="en-US" altLang="zh-TW" dirty="0">
                <a:latin typeface="+mj-lt"/>
              </a:rPr>
              <a:t> computations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r>
              <a:rPr lang="en-US" altLang="zh-TW" dirty="0" smtClean="0">
                <a:latin typeface="+mj-lt"/>
              </a:rPr>
              <a:t>Even </a:t>
            </a:r>
            <a:r>
              <a:rPr lang="en-US" altLang="zh-TW" dirty="0">
                <a:latin typeface="+mj-lt"/>
              </a:rPr>
              <a:t>for programmers without </a:t>
            </a:r>
            <a:r>
              <a:rPr lang="en-US" altLang="zh-TW" dirty="0" smtClean="0">
                <a:latin typeface="+mj-lt"/>
              </a:rPr>
              <a:t>experience with </a:t>
            </a:r>
            <a:r>
              <a:rPr lang="en-US" altLang="zh-TW" dirty="0">
                <a:latin typeface="+mj-lt"/>
              </a:rPr>
              <a:t>parallel and distributed </a:t>
            </a:r>
            <a:r>
              <a:rPr lang="en-US" altLang="zh-TW" dirty="0" smtClean="0">
                <a:latin typeface="+mj-lt"/>
              </a:rPr>
              <a:t>systems</a:t>
            </a:r>
          </a:p>
          <a:p>
            <a:r>
              <a:rPr lang="en-US" altLang="zh-TW" dirty="0" smtClean="0">
                <a:latin typeface="+mj-lt"/>
              </a:rPr>
              <a:t>Greatly </a:t>
            </a:r>
            <a:r>
              <a:rPr lang="en-US" altLang="zh-TW" dirty="0">
                <a:latin typeface="+mj-lt"/>
              </a:rPr>
              <a:t>simplifies large-scale computations at Google </a:t>
            </a:r>
          </a:p>
          <a:p>
            <a:endParaRPr lang="en-US" altLang="zh-TW" dirty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3399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Pregel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A system for large-scale graph processing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The Internet made the Web graph a poplar object of analysis and research.</a:t>
            </a:r>
          </a:p>
          <a:p>
            <a:r>
              <a:rPr lang="en-US" altLang="zh-TW" dirty="0" smtClean="0">
                <a:latin typeface="+mj-lt"/>
              </a:rPr>
              <a:t>In Google,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is used for 80% of all the data processing needs.</a:t>
            </a:r>
          </a:p>
          <a:p>
            <a:r>
              <a:rPr lang="en-US" altLang="zh-TW" dirty="0" smtClean="0">
                <a:latin typeface="+mj-lt"/>
              </a:rPr>
              <a:t>The other 20% is handled by a lesser known infrastructure called </a:t>
            </a:r>
            <a:r>
              <a:rPr lang="en-US" altLang="zh-TW" dirty="0" err="1" smtClean="0">
                <a:solidFill>
                  <a:srgbClr val="FF0000"/>
                </a:solidFill>
                <a:latin typeface="+mj-lt"/>
              </a:rPr>
              <a:t>Pregel</a:t>
            </a:r>
            <a:r>
              <a:rPr lang="zh-TW" altLang="en-US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which is optimized to mine relationships from graphs.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Introduction(cont.)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+mj-lt"/>
              </a:rPr>
              <a:t>Graph</a:t>
            </a:r>
            <a:r>
              <a:rPr lang="zh-TW" altLang="en-US" i="1" dirty="0" smtClean="0">
                <a:latin typeface="+mj-lt"/>
              </a:rPr>
              <a:t> </a:t>
            </a:r>
            <a:r>
              <a:rPr lang="en-US" altLang="zh-TW" i="1" dirty="0" smtClean="0">
                <a:latin typeface="+mj-lt"/>
              </a:rPr>
              <a:t>is a collection of vertices or nodes and a collection of edges that connect pair of nodes.</a:t>
            </a:r>
          </a:p>
          <a:p>
            <a:endParaRPr lang="en-US" altLang="zh-TW" i="1" dirty="0" smtClean="0">
              <a:latin typeface="+mj-lt"/>
            </a:endParaRPr>
          </a:p>
          <a:p>
            <a:r>
              <a:rPr lang="en-US" altLang="zh-TW" i="1" dirty="0" smtClean="0">
                <a:latin typeface="+mj-lt"/>
              </a:rPr>
              <a:t>A graph is a collection of points and lines connecting some (possibly empty) subset of them.  </a:t>
            </a:r>
            <a:endParaRPr lang="zh-TW" altLang="en-US" i="1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876256" y="256490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- </a:t>
            </a:r>
            <a:r>
              <a:rPr lang="en-US" altLang="zh-TW" dirty="0" err="1" smtClean="0"/>
              <a:t>wikipedia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948264" y="4067780"/>
            <a:ext cx="1337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- </a:t>
            </a:r>
            <a:r>
              <a:rPr lang="en-US" altLang="zh-TW" dirty="0" err="1" smtClean="0"/>
              <a:t>mathworld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4077072"/>
            <a:ext cx="317182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Introduction(cont.)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Graph does not just mean the image, most of the time in Internet, graph means the relations between nodes.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52536" y="2780928"/>
            <a:ext cx="3044032" cy="2283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2996952"/>
            <a:ext cx="12241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47664" y="4365104"/>
            <a:ext cx="3043808" cy="188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00" y="4365104"/>
            <a:ext cx="2411760" cy="2111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Model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Communication 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Model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The high-level organization of 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programs is inspired by </a:t>
            </a:r>
            <a:r>
              <a:rPr lang="en-US" altLang="zh-TW" i="1" dirty="0" smtClean="0">
                <a:latin typeface="+mj-lt"/>
              </a:rPr>
              <a:t>Valiant’s Bulk Synchronous Parallel </a:t>
            </a:r>
            <a:r>
              <a:rPr lang="en-US" altLang="zh-TW" dirty="0" smtClean="0">
                <a:latin typeface="+mj-lt"/>
              </a:rPr>
              <a:t>(BSP) model.</a:t>
            </a:r>
          </a:p>
          <a:p>
            <a:r>
              <a:rPr lang="en-US" altLang="zh-TW" dirty="0" smtClean="0">
                <a:latin typeface="+mj-lt"/>
              </a:rPr>
              <a:t>The synchronicity of this model makes it easier to reason about program semantics when implementing algorithms.</a:t>
            </a:r>
          </a:p>
          <a:p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programs are inherently free of deadlocks and data races common in asynchronous systems.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BSP Model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A BSP computation proceeds in a series of global </a:t>
            </a:r>
            <a:r>
              <a:rPr lang="en-US" altLang="zh-TW" dirty="0" err="1" smtClean="0">
                <a:latin typeface="+mj-lt"/>
              </a:rPr>
              <a:t>supersteps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Local computation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Global communication 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>
                <a:latin typeface="+mj-lt"/>
              </a:rPr>
              <a:t>Barrier synchronization</a:t>
            </a:r>
            <a:endParaRPr lang="zh-TW" altLang="en-US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r="-948"/>
          <a:stretch>
            <a:fillRect/>
          </a:stretch>
        </p:blipFill>
        <p:spPr bwMode="auto">
          <a:xfrm>
            <a:off x="5004048" y="3212976"/>
            <a:ext cx="324036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4860032" y="3356992"/>
            <a:ext cx="1872208" cy="180020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860032" y="5229200"/>
            <a:ext cx="1872208" cy="50405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860032" y="5785510"/>
            <a:ext cx="1872208" cy="50405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39552" y="4149080"/>
            <a:ext cx="4449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1. Run algorithm on each machine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18963" y="4623519"/>
            <a:ext cx="4263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2. Communicate with each other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52" y="5055567"/>
            <a:ext cx="1139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3. Wait 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8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Pregel</a:t>
            </a:r>
            <a:r>
              <a:rPr lang="en-US" altLang="zh-TW" dirty="0" smtClean="0"/>
              <a:t>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The 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library divides a graph into partitions, each consisting of a set of vertices and all of those vertices’ outgoing edges.</a:t>
            </a:r>
          </a:p>
          <a:p>
            <a:r>
              <a:rPr lang="en-US" altLang="zh-TW" dirty="0" smtClean="0">
                <a:latin typeface="+mj-lt"/>
              </a:rPr>
              <a:t>There are three component in </a:t>
            </a:r>
            <a:r>
              <a:rPr lang="en-US" altLang="zh-TW" dirty="0" err="1" smtClean="0">
                <a:latin typeface="+mj-lt"/>
              </a:rPr>
              <a:t>Pregel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Master </a:t>
            </a:r>
          </a:p>
          <a:p>
            <a:pPr lvl="1"/>
            <a:r>
              <a:rPr lang="en-US" altLang="zh-TW" dirty="0" smtClean="0">
                <a:latin typeface="+mj-lt"/>
              </a:rPr>
              <a:t>Worker</a:t>
            </a:r>
          </a:p>
          <a:p>
            <a:pPr lvl="1"/>
            <a:r>
              <a:rPr lang="en-US" altLang="zh-TW" dirty="0" smtClean="0">
                <a:latin typeface="+mj-lt"/>
              </a:rPr>
              <a:t>Aggregator 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3563888" y="3789040"/>
            <a:ext cx="4608512" cy="2376264"/>
            <a:chOff x="683568" y="1052736"/>
            <a:chExt cx="7704856" cy="4248472"/>
          </a:xfrm>
        </p:grpSpPr>
        <p:sp>
          <p:nvSpPr>
            <p:cNvPr id="5" name="圓角矩形 4"/>
            <p:cNvSpPr/>
            <p:nvPr/>
          </p:nvSpPr>
          <p:spPr>
            <a:xfrm>
              <a:off x="3059832" y="1052736"/>
              <a:ext cx="2592288" cy="792088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Master </a:t>
              </a:r>
              <a:endParaRPr lang="zh-TW" altLang="en-US" dirty="0"/>
            </a:p>
          </p:txBody>
        </p:sp>
        <p:sp>
          <p:nvSpPr>
            <p:cNvPr id="6" name="橢圓 5"/>
            <p:cNvSpPr/>
            <p:nvPr/>
          </p:nvSpPr>
          <p:spPr>
            <a:xfrm>
              <a:off x="683568" y="4509120"/>
              <a:ext cx="1656184" cy="792088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Worker </a:t>
              </a:r>
              <a:endParaRPr lang="zh-TW" altLang="en-US" sz="12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2627784" y="4509120"/>
              <a:ext cx="1656184" cy="792088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Worker </a:t>
              </a:r>
              <a:endParaRPr lang="zh-TW" altLang="en-US" sz="12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4572000" y="4509120"/>
              <a:ext cx="1656184" cy="792088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Worker </a:t>
              </a:r>
              <a:endParaRPr lang="zh-TW" altLang="en-US" sz="12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6516216" y="4509120"/>
              <a:ext cx="1656184" cy="792088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Worker </a:t>
              </a:r>
              <a:endParaRPr lang="zh-TW" altLang="en-US" sz="12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6516216" y="1700808"/>
              <a:ext cx="1872208" cy="648072"/>
            </a:xfrm>
            <a:prstGeom prst="rect">
              <a:avLst/>
            </a:prstGeom>
            <a:ln w="28575">
              <a:prstDash val="dash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/>
                <a:t>Aggregator </a:t>
              </a:r>
              <a:endParaRPr lang="zh-TW" altLang="en-US" sz="1400" dirty="0"/>
            </a:p>
          </p:txBody>
        </p:sp>
        <p:cxnSp>
          <p:nvCxnSpPr>
            <p:cNvPr id="11" name="直線接點 10"/>
            <p:cNvCxnSpPr/>
            <p:nvPr/>
          </p:nvCxnSpPr>
          <p:spPr>
            <a:xfrm rot="10800000" flipV="1">
              <a:off x="1547664" y="1844824"/>
              <a:ext cx="2736304" cy="26642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rot="5400000">
              <a:off x="2555776" y="2780928"/>
              <a:ext cx="2664296" cy="7920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>
              <a:stCxn id="5" idx="2"/>
              <a:endCxn id="8" idx="0"/>
            </p:cNvCxnSpPr>
            <p:nvPr/>
          </p:nvCxnSpPr>
          <p:spPr>
            <a:xfrm rot="16200000" flipH="1">
              <a:off x="3545886" y="2654914"/>
              <a:ext cx="2664296" cy="104411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endCxn id="9" idx="0"/>
            </p:cNvCxnSpPr>
            <p:nvPr/>
          </p:nvCxnSpPr>
          <p:spPr>
            <a:xfrm>
              <a:off x="4355976" y="1844824"/>
              <a:ext cx="2988332" cy="266429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Pregel</a:t>
            </a:r>
            <a:r>
              <a:rPr lang="en-US" altLang="zh-TW" dirty="0" smtClean="0"/>
              <a:t>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Master </a:t>
            </a:r>
          </a:p>
          <a:p>
            <a:pPr lvl="1"/>
            <a:r>
              <a:rPr lang="en-US" altLang="zh-TW" dirty="0" smtClean="0">
                <a:latin typeface="+mj-lt"/>
              </a:rPr>
              <a:t>Assign jobs to workers.</a:t>
            </a:r>
          </a:p>
          <a:p>
            <a:pPr lvl="1"/>
            <a:r>
              <a:rPr lang="en-US" altLang="zh-TW" dirty="0" smtClean="0">
                <a:latin typeface="+mj-lt"/>
              </a:rPr>
              <a:t>Receive result from workers.</a:t>
            </a:r>
          </a:p>
          <a:p>
            <a:r>
              <a:rPr lang="en-US" altLang="zh-TW" dirty="0" smtClean="0">
                <a:latin typeface="+mj-lt"/>
              </a:rPr>
              <a:t>Worker </a:t>
            </a:r>
          </a:p>
          <a:p>
            <a:pPr lvl="1"/>
            <a:r>
              <a:rPr lang="en-US" altLang="zh-TW" dirty="0" smtClean="0">
                <a:latin typeface="+mj-lt"/>
              </a:rPr>
              <a:t>Execute jobs from master.</a:t>
            </a:r>
          </a:p>
          <a:p>
            <a:pPr lvl="1"/>
            <a:r>
              <a:rPr lang="en-US" altLang="zh-TW" dirty="0" smtClean="0">
                <a:latin typeface="+mj-lt"/>
              </a:rPr>
              <a:t>Deliver result to master.</a:t>
            </a:r>
          </a:p>
          <a:p>
            <a:r>
              <a:rPr lang="en-US" altLang="zh-TW" dirty="0" smtClean="0">
                <a:latin typeface="+mj-lt"/>
              </a:rPr>
              <a:t>Aggregator</a:t>
            </a:r>
          </a:p>
          <a:p>
            <a:pPr lvl="1"/>
            <a:r>
              <a:rPr lang="en-US" altLang="zh-TW" dirty="0" smtClean="0">
                <a:latin typeface="+mj-lt"/>
              </a:rPr>
              <a:t>A global container that can receive message from workers.</a:t>
            </a:r>
          </a:p>
          <a:p>
            <a:pPr lvl="1"/>
            <a:r>
              <a:rPr lang="en-US" altLang="zh-TW" dirty="0" smtClean="0">
                <a:latin typeface="+mj-lt"/>
              </a:rPr>
              <a:t>Automatic computation all the message according by user defined.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Partition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In 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model, each graph is directly which each vertex has a unique id and each edge has a value user defined.</a:t>
            </a:r>
          </a:p>
          <a:p>
            <a:r>
              <a:rPr lang="en-US" altLang="zh-TW" dirty="0" smtClean="0">
                <a:latin typeface="+mj-lt"/>
              </a:rPr>
              <a:t>Graph can be divided into partitions</a:t>
            </a:r>
          </a:p>
          <a:p>
            <a:pPr lvl="1"/>
            <a:r>
              <a:rPr lang="en-US" altLang="zh-TW" dirty="0" smtClean="0">
                <a:latin typeface="+mj-lt"/>
              </a:rPr>
              <a:t>A set of vertices</a:t>
            </a:r>
          </a:p>
          <a:p>
            <a:pPr lvl="1"/>
            <a:r>
              <a:rPr lang="en-US" altLang="zh-TW" dirty="0" smtClean="0">
                <a:latin typeface="+mj-lt"/>
              </a:rPr>
              <a:t>All of these vertices’ outgoing edges</a:t>
            </a: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5724128" y="2996952"/>
            <a:ext cx="1800200" cy="2304256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 rot="21378657">
            <a:off x="6463762" y="3304539"/>
            <a:ext cx="288032" cy="28803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 rot="21378657">
            <a:off x="6669200" y="4230056"/>
            <a:ext cx="288032" cy="28803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 rot="21378657">
            <a:off x="6165144" y="3798008"/>
            <a:ext cx="288032" cy="28803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 rot="21378657">
            <a:off x="6535770" y="4672691"/>
            <a:ext cx="288032" cy="288032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單箭頭接點 25"/>
          <p:cNvCxnSpPr/>
          <p:nvPr/>
        </p:nvCxnSpPr>
        <p:spPr>
          <a:xfrm>
            <a:off x="6732240" y="3429000"/>
            <a:ext cx="1224136" cy="21602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21" idx="6"/>
          </p:cNvCxnSpPr>
          <p:nvPr/>
        </p:nvCxnSpPr>
        <p:spPr>
          <a:xfrm flipV="1">
            <a:off x="6751496" y="3140968"/>
            <a:ext cx="1132872" cy="29832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24" idx="6"/>
          </p:cNvCxnSpPr>
          <p:nvPr/>
        </p:nvCxnSpPr>
        <p:spPr>
          <a:xfrm>
            <a:off x="6452878" y="3932758"/>
            <a:ext cx="1287474" cy="7230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6804248" y="4509120"/>
            <a:ext cx="1152128" cy="28803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6804248" y="4797152"/>
            <a:ext cx="1008112" cy="28803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6876256" y="4797152"/>
            <a:ext cx="1368152" cy="7200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868144" y="5445224"/>
            <a:ext cx="1717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Partition </a:t>
            </a:r>
            <a:endParaRPr lang="zh-TW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Partition(cont.)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provides a default assignment where partition function is </a:t>
            </a:r>
            <a:r>
              <a:rPr lang="en-US" altLang="zh-TW" i="1" dirty="0" smtClean="0">
                <a:latin typeface="+mj-lt"/>
              </a:rPr>
              <a:t>hash</a:t>
            </a:r>
            <a:r>
              <a:rPr lang="en-US" altLang="zh-TW" dirty="0" smtClean="0">
                <a:latin typeface="+mj-lt"/>
              </a:rPr>
              <a:t>(</a:t>
            </a:r>
            <a:r>
              <a:rPr lang="en-US" altLang="zh-TW" dirty="0" err="1" smtClean="0">
                <a:latin typeface="+mj-lt"/>
              </a:rPr>
              <a:t>nodeID</a:t>
            </a:r>
            <a:r>
              <a:rPr lang="en-US" altLang="zh-TW" dirty="0" smtClean="0">
                <a:latin typeface="+mj-lt"/>
              </a:rPr>
              <a:t>) mod </a:t>
            </a:r>
            <a:r>
              <a:rPr lang="en-US" altLang="zh-TW" i="1" dirty="0" smtClean="0">
                <a:latin typeface="+mj-lt"/>
              </a:rPr>
              <a:t>N, </a:t>
            </a:r>
            <a:r>
              <a:rPr lang="en-US" altLang="zh-TW" dirty="0" smtClean="0">
                <a:latin typeface="+mj-lt"/>
              </a:rPr>
              <a:t>where </a:t>
            </a:r>
            <a:r>
              <a:rPr lang="en-US" altLang="zh-TW" i="1" dirty="0" smtClean="0">
                <a:latin typeface="+mj-lt"/>
              </a:rPr>
              <a:t>N</a:t>
            </a:r>
            <a:r>
              <a:rPr lang="en-US" altLang="zh-TW" dirty="0" smtClean="0">
                <a:latin typeface="+mj-lt"/>
              </a:rPr>
              <a:t> is the number of partitions, but user can overwrite this assignment algorithm.</a:t>
            </a:r>
          </a:p>
          <a:p>
            <a:r>
              <a:rPr lang="en-US" altLang="zh-TW" dirty="0" smtClean="0">
                <a:latin typeface="+mj-lt"/>
              </a:rPr>
              <a:t>In general, it is a good idea to put close-neighbor nodes into the same partition so that message between these nodes can reduce overhead.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Worker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There are two status types for each vertex</a:t>
            </a:r>
          </a:p>
          <a:p>
            <a:pPr lvl="1"/>
            <a:r>
              <a:rPr lang="en-US" altLang="zh-TW" dirty="0" smtClean="0">
                <a:latin typeface="+mj-lt"/>
              </a:rPr>
              <a:t>Active</a:t>
            </a:r>
          </a:p>
          <a:p>
            <a:pPr lvl="1"/>
            <a:r>
              <a:rPr lang="en-US" altLang="zh-TW" dirty="0" smtClean="0">
                <a:latin typeface="+mj-lt"/>
              </a:rPr>
              <a:t>Inactive </a:t>
            </a:r>
          </a:p>
          <a:p>
            <a:r>
              <a:rPr lang="en-US" altLang="zh-TW" dirty="0" smtClean="0">
                <a:latin typeface="+mj-lt"/>
              </a:rPr>
              <a:t>The algorithm as a whole terminates when all vertices are simultaneously inactive and there are no messages in transit.</a:t>
            </a:r>
          </a:p>
          <a:p>
            <a:r>
              <a:rPr lang="en-US" altLang="zh-TW" dirty="0" smtClean="0">
                <a:latin typeface="+mj-lt"/>
              </a:rPr>
              <a:t>Every vertex is in the active state in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 0.</a:t>
            </a:r>
          </a:p>
          <a:p>
            <a:endParaRPr lang="zh-TW" altLang="en-US" dirty="0" smtClean="0">
              <a:latin typeface="+mj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771800" y="4869160"/>
            <a:ext cx="5472609" cy="1440160"/>
            <a:chOff x="2987824" y="5373216"/>
            <a:chExt cx="5472609" cy="1440160"/>
          </a:xfrm>
        </p:grpSpPr>
        <p:sp>
          <p:nvSpPr>
            <p:cNvPr id="5" name="圓角矩形 4"/>
            <p:cNvSpPr/>
            <p:nvPr/>
          </p:nvSpPr>
          <p:spPr>
            <a:xfrm>
              <a:off x="3851920" y="5877271"/>
              <a:ext cx="1152128" cy="50405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Active </a:t>
              </a:r>
              <a:endParaRPr lang="zh-TW" altLang="en-US" dirty="0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6444209" y="5877271"/>
              <a:ext cx="1152128" cy="504056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Inactive </a:t>
              </a:r>
              <a:endParaRPr lang="zh-TW" altLang="en-US" dirty="0"/>
            </a:p>
          </p:txBody>
        </p:sp>
        <p:sp>
          <p:nvSpPr>
            <p:cNvPr id="7" name="弧形 6"/>
            <p:cNvSpPr/>
            <p:nvPr/>
          </p:nvSpPr>
          <p:spPr>
            <a:xfrm>
              <a:off x="2987824" y="5877271"/>
              <a:ext cx="1008112" cy="504056"/>
            </a:xfrm>
            <a:prstGeom prst="arc">
              <a:avLst>
                <a:gd name="adj1" fmla="val 834533"/>
                <a:gd name="adj2" fmla="val 20054310"/>
              </a:avLst>
            </a:prstGeom>
            <a:ln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弧形 7"/>
            <p:cNvSpPr/>
            <p:nvPr/>
          </p:nvSpPr>
          <p:spPr>
            <a:xfrm>
              <a:off x="4860032" y="5805264"/>
              <a:ext cx="1584176" cy="504056"/>
            </a:xfrm>
            <a:prstGeom prst="arc">
              <a:avLst>
                <a:gd name="adj1" fmla="val 11132966"/>
                <a:gd name="adj2" fmla="val 21281274"/>
              </a:avLst>
            </a:prstGeom>
            <a:ln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弧形 8"/>
            <p:cNvSpPr/>
            <p:nvPr/>
          </p:nvSpPr>
          <p:spPr>
            <a:xfrm rot="10800000">
              <a:off x="5004049" y="5949280"/>
              <a:ext cx="1584176" cy="504056"/>
            </a:xfrm>
            <a:prstGeom prst="arc">
              <a:avLst>
                <a:gd name="adj1" fmla="val 11132966"/>
                <a:gd name="adj2" fmla="val 21281274"/>
              </a:avLst>
            </a:prstGeom>
            <a:ln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弧形 9"/>
            <p:cNvSpPr/>
            <p:nvPr/>
          </p:nvSpPr>
          <p:spPr>
            <a:xfrm rot="10800000">
              <a:off x="7452322" y="5877271"/>
              <a:ext cx="1008111" cy="504056"/>
            </a:xfrm>
            <a:prstGeom prst="arc">
              <a:avLst>
                <a:gd name="adj1" fmla="val 834533"/>
                <a:gd name="adj2" fmla="val 20054310"/>
              </a:avLst>
            </a:prstGeom>
            <a:ln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148064" y="5373216"/>
              <a:ext cx="1275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 smtClean="0"/>
                <a:t>Vote to halt</a:t>
              </a:r>
              <a:endParaRPr lang="zh-TW" altLang="en-US" i="1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860032" y="6444044"/>
              <a:ext cx="1851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 smtClean="0"/>
                <a:t>Message received</a:t>
              </a:r>
              <a:endParaRPr lang="zh-TW" altLang="en-US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Worker Model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2987824" y="1700808"/>
            <a:ext cx="3240360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Initial 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2987824" y="2852936"/>
            <a:ext cx="3240360" cy="79208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Computation 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2987824" y="4005064"/>
            <a:ext cx="3240360" cy="79208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Communication 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987824" y="5157192"/>
            <a:ext cx="3240360" cy="79208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Barrier</a:t>
            </a:r>
            <a:endParaRPr lang="zh-TW" altLang="en-US" dirty="0"/>
          </a:p>
        </p:txBody>
      </p:sp>
      <p:cxnSp>
        <p:nvCxnSpPr>
          <p:cNvPr id="14" name="直線單箭頭接點 13"/>
          <p:cNvCxnSpPr>
            <a:stCxn id="6" idx="2"/>
            <a:endCxn id="7" idx="0"/>
          </p:cNvCxnSpPr>
          <p:nvPr/>
        </p:nvCxnSpPr>
        <p:spPr>
          <a:xfrm rot="5400000">
            <a:off x="4427984" y="4977172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rot="5400000" flipH="1" flipV="1">
            <a:off x="5652120" y="4437112"/>
            <a:ext cx="23042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rot="10800000">
            <a:off x="6372200" y="3284984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rot="5400000">
            <a:off x="4392774" y="3824250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5400000">
            <a:off x="4392774" y="2672122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rot="10800000">
            <a:off x="6300192" y="5589240"/>
            <a:ext cx="504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rot="10800000">
            <a:off x="2555776" y="5517232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827584" y="5229200"/>
            <a:ext cx="1612364" cy="584775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Inactive </a:t>
            </a:r>
            <a:endParaRPr lang="zh-TW" altLang="en-US" sz="32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2555776" y="3212976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827584" y="2852936"/>
            <a:ext cx="1584176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Receive message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7452320" y="1628800"/>
            <a:ext cx="1174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u="sng" dirty="0" smtClean="0"/>
              <a:t>Worker </a:t>
            </a:r>
            <a:endParaRPr lang="zh-TW" altLang="en-US" sz="24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Model </a:t>
            </a:r>
          </a:p>
          <a:p>
            <a:r>
              <a:rPr lang="en-US" altLang="zh-TW" dirty="0" smtClean="0"/>
              <a:t>Implement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Communication 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The master is primarily responsible for coordinating the activities of workers.</a:t>
            </a:r>
          </a:p>
          <a:p>
            <a:r>
              <a:rPr lang="en-US" altLang="zh-TW" dirty="0" smtClean="0">
                <a:latin typeface="+mj-lt"/>
              </a:rPr>
              <a:t>Master sends the same request to every worker that was known to be alive  at begin, and waits for a response from every works.</a:t>
            </a:r>
          </a:p>
          <a:p>
            <a:r>
              <a:rPr lang="en-US" altLang="zh-TW" dirty="0" smtClean="0">
                <a:latin typeface="+mj-lt"/>
              </a:rPr>
              <a:t>If any worker fails, the master enters recovery mode. 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Master 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3131840" y="1772816"/>
            <a:ext cx="2232248" cy="86409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Master 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899592" y="4941168"/>
            <a:ext cx="936104" cy="8640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707903" y="4941168"/>
            <a:ext cx="936104" cy="8640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300192" y="4941168"/>
            <a:ext cx="936104" cy="86409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worker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rot="5400000">
            <a:off x="1367644" y="3104964"/>
            <a:ext cx="1944216" cy="129614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5400000">
            <a:off x="3311860" y="3681028"/>
            <a:ext cx="1872208" cy="7200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rot="16200000" flipH="1">
            <a:off x="4896036" y="3176972"/>
            <a:ext cx="2016224" cy="122413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圓角矩形圖說文字 16"/>
          <p:cNvSpPr/>
          <p:nvPr/>
        </p:nvSpPr>
        <p:spPr>
          <a:xfrm>
            <a:off x="5868144" y="1340768"/>
            <a:ext cx="1512168" cy="648072"/>
          </a:xfrm>
          <a:prstGeom prst="wedgeRoundRectCallout">
            <a:avLst>
              <a:gd name="adj1" fmla="val -68835"/>
              <a:gd name="adj2" fmla="val 47954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Alive ?</a:t>
            </a:r>
            <a:endParaRPr lang="zh-TW" altLang="en-US" dirty="0"/>
          </a:p>
        </p:txBody>
      </p:sp>
      <p:sp>
        <p:nvSpPr>
          <p:cNvPr id="19" name="圓角矩形圖說文字 18"/>
          <p:cNvSpPr/>
          <p:nvPr/>
        </p:nvSpPr>
        <p:spPr>
          <a:xfrm>
            <a:off x="683568" y="6093296"/>
            <a:ext cx="1152128" cy="504056"/>
          </a:xfrm>
          <a:prstGeom prst="wedgeRoundRectCallout">
            <a:avLst>
              <a:gd name="adj1" fmla="val -13469"/>
              <a:gd name="adj2" fmla="val -66543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Yes</a:t>
            </a:r>
            <a:endParaRPr lang="zh-TW" altLang="en-US" dirty="0"/>
          </a:p>
        </p:txBody>
      </p:sp>
      <p:sp>
        <p:nvSpPr>
          <p:cNvPr id="20" name="圓角矩形圖說文字 19"/>
          <p:cNvSpPr/>
          <p:nvPr/>
        </p:nvSpPr>
        <p:spPr>
          <a:xfrm>
            <a:off x="3491880" y="6093296"/>
            <a:ext cx="1152128" cy="504056"/>
          </a:xfrm>
          <a:prstGeom prst="wedgeRoundRectCallout">
            <a:avLst>
              <a:gd name="adj1" fmla="val -13469"/>
              <a:gd name="adj2" fmla="val -66543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Yes</a:t>
            </a:r>
            <a:endParaRPr lang="zh-TW" altLang="en-US" dirty="0"/>
          </a:p>
        </p:txBody>
      </p:sp>
      <p:sp>
        <p:nvSpPr>
          <p:cNvPr id="22" name="圓角矩形圖說文字 21"/>
          <p:cNvSpPr/>
          <p:nvPr/>
        </p:nvSpPr>
        <p:spPr>
          <a:xfrm>
            <a:off x="6084168" y="6093296"/>
            <a:ext cx="1152128" cy="504056"/>
          </a:xfrm>
          <a:prstGeom prst="wedgeRoundRectCallout">
            <a:avLst>
              <a:gd name="adj1" fmla="val -13469"/>
              <a:gd name="adj2" fmla="val -66543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Yes</a:t>
            </a:r>
            <a:endParaRPr lang="zh-TW" altLang="en-US" dirty="0"/>
          </a:p>
        </p:txBody>
      </p:sp>
      <p:sp>
        <p:nvSpPr>
          <p:cNvPr id="23" name="圓角矩形 22"/>
          <p:cNvSpPr/>
          <p:nvPr/>
        </p:nvSpPr>
        <p:spPr>
          <a:xfrm>
            <a:off x="2339752" y="2708920"/>
            <a:ext cx="936104" cy="43204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Job </a:t>
            </a:r>
            <a:endParaRPr lang="zh-TW" altLang="en-US" dirty="0"/>
          </a:p>
        </p:txBody>
      </p:sp>
      <p:sp>
        <p:nvSpPr>
          <p:cNvPr id="24" name="圓角矩形 23"/>
          <p:cNvSpPr/>
          <p:nvPr/>
        </p:nvSpPr>
        <p:spPr>
          <a:xfrm>
            <a:off x="3779912" y="2708920"/>
            <a:ext cx="936104" cy="43204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Job </a:t>
            </a:r>
            <a:endParaRPr lang="zh-TW" altLang="en-US" dirty="0"/>
          </a:p>
        </p:txBody>
      </p:sp>
      <p:sp>
        <p:nvSpPr>
          <p:cNvPr id="25" name="圓角矩形 24"/>
          <p:cNvSpPr/>
          <p:nvPr/>
        </p:nvSpPr>
        <p:spPr>
          <a:xfrm>
            <a:off x="5076056" y="2708920"/>
            <a:ext cx="936104" cy="43204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Job </a:t>
            </a:r>
            <a:endParaRPr lang="zh-TW" altLang="en-US" dirty="0"/>
          </a:p>
        </p:txBody>
      </p:sp>
      <p:sp>
        <p:nvSpPr>
          <p:cNvPr id="28" name="圓角矩形圖說文字 27"/>
          <p:cNvSpPr/>
          <p:nvPr/>
        </p:nvSpPr>
        <p:spPr>
          <a:xfrm>
            <a:off x="5868144" y="1340768"/>
            <a:ext cx="1512168" cy="648072"/>
          </a:xfrm>
          <a:prstGeom prst="wedgeRoundRectCallout">
            <a:avLst>
              <a:gd name="adj1" fmla="val -68835"/>
              <a:gd name="adj2" fmla="val 47954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I’m waiting</a:t>
            </a:r>
            <a:endParaRPr lang="zh-TW" altLang="en-US" dirty="0"/>
          </a:p>
        </p:txBody>
      </p:sp>
      <p:sp>
        <p:nvSpPr>
          <p:cNvPr id="29" name="圓角矩形 28"/>
          <p:cNvSpPr/>
          <p:nvPr/>
        </p:nvSpPr>
        <p:spPr>
          <a:xfrm>
            <a:off x="899592" y="4437112"/>
            <a:ext cx="936104" cy="43204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Result 0</a:t>
            </a:r>
            <a:endParaRPr lang="zh-TW" altLang="en-US" sz="1600" dirty="0"/>
          </a:p>
        </p:txBody>
      </p:sp>
      <p:sp>
        <p:nvSpPr>
          <p:cNvPr id="30" name="圓角矩形 29"/>
          <p:cNvSpPr/>
          <p:nvPr/>
        </p:nvSpPr>
        <p:spPr>
          <a:xfrm>
            <a:off x="3707904" y="4437112"/>
            <a:ext cx="936104" cy="43204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Result 1</a:t>
            </a:r>
            <a:endParaRPr lang="zh-TW" altLang="en-US" sz="1600" dirty="0"/>
          </a:p>
        </p:txBody>
      </p:sp>
      <p:sp>
        <p:nvSpPr>
          <p:cNvPr id="31" name="圓角矩形 30"/>
          <p:cNvSpPr/>
          <p:nvPr/>
        </p:nvSpPr>
        <p:spPr>
          <a:xfrm>
            <a:off x="6300192" y="4437112"/>
            <a:ext cx="936104" cy="43204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Result 2</a:t>
            </a:r>
            <a:endParaRPr lang="zh-TW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81 0.25191 " pathEditMode="relative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06 0.25191 " pathEditMode="relative" ptsTypes="AA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99098E-6 L -0.12205 0.2519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00" y="12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9 0.03146 L 0.15764 -0.25191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1420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1.38793E-6 L 0.00399 -0.25191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-126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 -1.38793E-6 L -0.12586 -0.25191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-12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9" grpId="1" animBg="1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8" grpId="0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A worker machine maintains the state of its portion of the graph in memory.</a:t>
            </a:r>
          </a:p>
          <a:p>
            <a:r>
              <a:rPr lang="en-US" altLang="zh-TW" dirty="0" smtClean="0">
                <a:latin typeface="+mj-lt"/>
              </a:rPr>
              <a:t>Worker performs a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 it loop through all vertices and calls </a:t>
            </a:r>
            <a:r>
              <a:rPr lang="en-US" altLang="zh-TW" b="1" dirty="0" smtClean="0">
                <a:solidFill>
                  <a:srgbClr val="FF0000"/>
                </a:solidFill>
                <a:latin typeface="+mj-lt"/>
              </a:rPr>
              <a:t>Compute()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smtClean="0">
                <a:latin typeface="+mj-lt"/>
              </a:rPr>
              <a:t>Worker is no access to incoming edges because each incoming edge is part of a list owned by the source vertex.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Worker 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1907704" y="2276872"/>
            <a:ext cx="3291794" cy="3960440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 rot="21378657">
            <a:off x="3291237" y="3949487"/>
            <a:ext cx="526687" cy="495055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5724128" y="3933056"/>
            <a:ext cx="1224136" cy="28803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179512" y="4149080"/>
            <a:ext cx="1152128" cy="1588"/>
          </a:xfrm>
          <a:prstGeom prst="straightConnector1">
            <a:avLst/>
          </a:prstGeom>
          <a:ln>
            <a:prstDash val="lgDashDot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" name="群組 40"/>
          <p:cNvGrpSpPr/>
          <p:nvPr/>
        </p:nvGrpSpPr>
        <p:grpSpPr>
          <a:xfrm>
            <a:off x="3779912" y="4509120"/>
            <a:ext cx="2520280" cy="1253753"/>
            <a:chOff x="4644008" y="4509120"/>
            <a:chExt cx="2520280" cy="1253753"/>
          </a:xfrm>
        </p:grpSpPr>
        <p:cxnSp>
          <p:nvCxnSpPr>
            <p:cNvPr id="39" name="直線單箭頭接點 38"/>
            <p:cNvCxnSpPr/>
            <p:nvPr/>
          </p:nvCxnSpPr>
          <p:spPr>
            <a:xfrm rot="16200000" flipV="1">
              <a:off x="4608004" y="4545124"/>
              <a:ext cx="720080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字方塊 39"/>
            <p:cNvSpPr txBox="1"/>
            <p:nvPr/>
          </p:nvSpPr>
          <p:spPr>
            <a:xfrm>
              <a:off x="5098273" y="5301208"/>
              <a:ext cx="20660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Call </a:t>
              </a:r>
              <a:r>
                <a:rPr lang="en-US" altLang="zh-TW" sz="2400" b="1" dirty="0" smtClean="0"/>
                <a:t>Compute()</a:t>
              </a:r>
              <a:endParaRPr lang="zh-TW" altLang="en-US" sz="2400" b="1" dirty="0"/>
            </a:p>
          </p:txBody>
        </p:sp>
      </p:grpSp>
      <p:sp>
        <p:nvSpPr>
          <p:cNvPr id="42" name="橢圓 41"/>
          <p:cNvSpPr/>
          <p:nvPr/>
        </p:nvSpPr>
        <p:spPr>
          <a:xfrm rot="21378657">
            <a:off x="3291237" y="3949488"/>
            <a:ext cx="526687" cy="495055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圓角矩形 42"/>
          <p:cNvSpPr/>
          <p:nvPr/>
        </p:nvSpPr>
        <p:spPr>
          <a:xfrm>
            <a:off x="1619672" y="3861048"/>
            <a:ext cx="1656184" cy="576064"/>
          </a:xfrm>
          <a:prstGeom prst="round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 Incoming </a:t>
            </a:r>
          </a:p>
          <a:p>
            <a:pPr algn="ctr"/>
            <a:r>
              <a:rPr lang="en-US" altLang="zh-TW" dirty="0" err="1" smtClean="0"/>
              <a:t>Iterator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44" name="圓角矩形 43"/>
          <p:cNvSpPr/>
          <p:nvPr/>
        </p:nvSpPr>
        <p:spPr>
          <a:xfrm>
            <a:off x="3851920" y="3861048"/>
            <a:ext cx="1728192" cy="576064"/>
          </a:xfrm>
          <a:prstGeom prst="round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Outgoing </a:t>
            </a:r>
          </a:p>
          <a:p>
            <a:pPr algn="ctr"/>
            <a:r>
              <a:rPr lang="en-US" altLang="zh-TW" dirty="0" err="1" smtClean="0"/>
              <a:t>Iterator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940152" y="1916832"/>
            <a:ext cx="3071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An incoming </a:t>
            </a:r>
            <a:r>
              <a:rPr lang="en-US" altLang="zh-TW" dirty="0" err="1" smtClean="0"/>
              <a:t>iterator</a:t>
            </a:r>
            <a:r>
              <a:rPr lang="en-US" altLang="zh-TW" dirty="0" smtClean="0"/>
              <a:t> to the</a:t>
            </a:r>
          </a:p>
          <a:p>
            <a:pPr marL="342900" indent="-342900"/>
            <a:r>
              <a:rPr lang="en-US" altLang="zh-TW" dirty="0" smtClean="0"/>
              <a:t>       incoming message.</a:t>
            </a:r>
          </a:p>
        </p:txBody>
      </p:sp>
      <p:cxnSp>
        <p:nvCxnSpPr>
          <p:cNvPr id="49" name="直線單箭頭接點 48"/>
          <p:cNvCxnSpPr/>
          <p:nvPr/>
        </p:nvCxnSpPr>
        <p:spPr>
          <a:xfrm>
            <a:off x="5724128" y="4221088"/>
            <a:ext cx="1152128" cy="7200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724128" y="4221088"/>
            <a:ext cx="1080120" cy="43204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949579" y="2492896"/>
            <a:ext cx="2840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altLang="zh-TW" dirty="0" smtClean="0"/>
              <a:t>Run algorithm by calling </a:t>
            </a:r>
          </a:p>
          <a:p>
            <a:pPr marL="342900" indent="-342900"/>
            <a:r>
              <a:rPr lang="en-US" altLang="zh-TW" dirty="0" smtClean="0"/>
              <a:t>	Compute()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5949579" y="3068960"/>
            <a:ext cx="2730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US" altLang="zh-TW" dirty="0" smtClean="0"/>
              <a:t>An outgoing </a:t>
            </a:r>
            <a:r>
              <a:rPr lang="en-US" altLang="zh-TW" dirty="0" err="1" smtClean="0"/>
              <a:t>iterator</a:t>
            </a:r>
            <a:r>
              <a:rPr lang="en-US" altLang="zh-TW" dirty="0" smtClean="0"/>
              <a:t> to </a:t>
            </a:r>
          </a:p>
          <a:p>
            <a:pPr marL="342900" indent="-342900"/>
            <a:r>
              <a:rPr lang="en-US" altLang="zh-TW" dirty="0" smtClean="0"/>
              <a:t>	send message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6" grpId="0"/>
      <p:bldP spid="16" grpId="0"/>
      <p:bldP spid="1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Aggregators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An aggregator computes a single global value by applying an aggregation function to a set of values that the user supplies.</a:t>
            </a:r>
          </a:p>
          <a:p>
            <a:r>
              <a:rPr lang="en-US" altLang="zh-TW" dirty="0" smtClean="0">
                <a:latin typeface="+mj-lt"/>
              </a:rPr>
              <a:t>Worker combines all of the values supplied to an aggregator instance when executes a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smtClean="0">
                <a:latin typeface="+mj-lt"/>
              </a:rPr>
              <a:t>An aggregator is partially reduced over all of the worker’s vertices in the partition.</a:t>
            </a:r>
          </a:p>
          <a:p>
            <a:r>
              <a:rPr lang="en-US" altLang="zh-TW" dirty="0" smtClean="0">
                <a:latin typeface="+mj-lt"/>
              </a:rPr>
              <a:t>At the end of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 workers form a tree to reduce partially reduced aggregator into global values and  deliver them to the master.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Failure Recover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Worker failure are detected using regular ‘ping’ messages that master issues to workers.</a:t>
            </a:r>
          </a:p>
          <a:p>
            <a:r>
              <a:rPr lang="en-US" altLang="zh-TW" dirty="0" smtClean="0">
                <a:latin typeface="+mj-lt"/>
              </a:rPr>
              <a:t>If a worker does not receive a ping message after a special interval, the worker process terminates.</a:t>
            </a:r>
          </a:p>
          <a:p>
            <a:r>
              <a:rPr lang="en-US" altLang="zh-TW" dirty="0" smtClean="0">
                <a:latin typeface="+mj-lt"/>
              </a:rPr>
              <a:t>If the master does not hear back from a worker, the master marks the worker  process as failed.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Failure Recover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If one or more workers fail, the master reassigns graph partitions, these workers performed, to the currently available set of workers.</a:t>
            </a:r>
          </a:p>
          <a:p>
            <a:r>
              <a:rPr lang="en-US" altLang="zh-TW" dirty="0" smtClean="0">
                <a:latin typeface="+mj-lt"/>
              </a:rPr>
              <a:t>Workers reload their partition state from the most resent available checkpoint at the begin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Model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Implement </a:t>
            </a:r>
          </a:p>
          <a:p>
            <a:r>
              <a:rPr lang="en-US" altLang="zh-TW" dirty="0" smtClean="0"/>
              <a:t>Communication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Vertices communicate directly with one another by sending message.</a:t>
            </a:r>
          </a:p>
          <a:p>
            <a:r>
              <a:rPr lang="en-US" altLang="zh-TW" dirty="0" smtClean="0">
                <a:latin typeface="+mj-lt"/>
              </a:rPr>
              <a:t>In 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, there are many virtual functions that can be overridden by programmer.</a:t>
            </a:r>
          </a:p>
          <a:p>
            <a:pPr lvl="1"/>
            <a:r>
              <a:rPr lang="en-US" altLang="zh-TW" dirty="0" smtClean="0">
                <a:latin typeface="+mj-lt"/>
              </a:rPr>
              <a:t>Compute</a:t>
            </a:r>
          </a:p>
          <a:p>
            <a:pPr lvl="1"/>
            <a:r>
              <a:rPr lang="en-US" altLang="zh-TW" dirty="0" smtClean="0">
                <a:latin typeface="+mj-lt"/>
              </a:rPr>
              <a:t>Combiners</a:t>
            </a:r>
          </a:p>
          <a:p>
            <a:pPr lvl="1"/>
            <a:r>
              <a:rPr lang="en-US" altLang="zh-TW" dirty="0" smtClean="0">
                <a:latin typeface="+mj-lt"/>
              </a:rPr>
              <a:t>Aggregators</a:t>
            </a:r>
          </a:p>
          <a:p>
            <a:endParaRPr lang="zh-TW" altLang="en-US" dirty="0">
              <a:latin typeface="+mj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Communication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1259632" y="3861048"/>
            <a:ext cx="122413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3923928" y="3543399"/>
            <a:ext cx="14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Algorithm 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187624" y="4005064"/>
            <a:ext cx="1800200" cy="792088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923928" y="4149080"/>
            <a:ext cx="4438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Communication for some purpose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animBg="1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Communication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A vertex can send any number of messages in a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smtClean="0">
                <a:latin typeface="+mj-lt"/>
              </a:rPr>
              <a:t>All message sent to vertex V in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 S are available, via an </a:t>
            </a:r>
            <a:r>
              <a:rPr lang="en-US" altLang="zh-TW" dirty="0" err="1" smtClean="0">
                <a:latin typeface="+mj-lt"/>
              </a:rPr>
              <a:t>iterator</a:t>
            </a:r>
            <a:r>
              <a:rPr lang="en-US" altLang="zh-TW" dirty="0" smtClean="0">
                <a:latin typeface="+mj-lt"/>
              </a:rPr>
              <a:t>, but not guaranteed order of messages in the </a:t>
            </a:r>
            <a:r>
              <a:rPr lang="en-US" altLang="zh-TW" dirty="0" err="1" smtClean="0">
                <a:latin typeface="+mj-lt"/>
              </a:rPr>
              <a:t>iterator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smtClean="0">
                <a:latin typeface="+mj-lt"/>
              </a:rPr>
              <a:t>Vertex V sent message to destination vertex, which need not be a neighbor of V.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A vertex cloud learn the identifier of a non-neighbor from a message received earlier, or could be know implicitly.</a:t>
            </a:r>
          </a:p>
          <a:p>
            <a:r>
              <a:rPr lang="en-US" altLang="zh-TW" dirty="0" smtClean="0">
                <a:latin typeface="+mj-lt"/>
              </a:rPr>
              <a:t>When destination vertex does not exist, 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execute user-defined handles, like create the missing vertex or remove the dangling edge.</a:t>
            </a:r>
            <a:endParaRPr lang="zh-TW" altLang="en-US" dirty="0">
              <a:latin typeface="+mj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Communication(cont.) </a:t>
            </a:r>
            <a:endParaRPr lang="zh-TW" altLang="en-US" dirty="0"/>
          </a:p>
        </p:txBody>
      </p:sp>
      <p:cxnSp>
        <p:nvCxnSpPr>
          <p:cNvPr id="38" name="直線接點 37"/>
          <p:cNvCxnSpPr/>
          <p:nvPr/>
        </p:nvCxnSpPr>
        <p:spPr>
          <a:xfrm rot="16200000" flipH="1">
            <a:off x="3388236" y="5989652"/>
            <a:ext cx="279296" cy="2792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橢圓 43"/>
          <p:cNvSpPr/>
          <p:nvPr/>
        </p:nvSpPr>
        <p:spPr>
          <a:xfrm>
            <a:off x="4427984" y="623731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5"/>
            <a:endCxn id="9" idx="1"/>
          </p:cNvCxnSpPr>
          <p:nvPr/>
        </p:nvCxnSpPr>
        <p:spPr>
          <a:xfrm rot="16200000" flipH="1">
            <a:off x="4576368" y="4945536"/>
            <a:ext cx="351304" cy="2792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6" idx="3"/>
            <a:endCxn id="15" idx="7"/>
          </p:cNvCxnSpPr>
          <p:nvPr/>
        </p:nvCxnSpPr>
        <p:spPr>
          <a:xfrm rot="5400000">
            <a:off x="3352232" y="4945536"/>
            <a:ext cx="351304" cy="2792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8" idx="2"/>
            <a:endCxn id="6" idx="6"/>
          </p:cNvCxnSpPr>
          <p:nvPr/>
        </p:nvCxnSpPr>
        <p:spPr>
          <a:xfrm rot="10800000">
            <a:off x="3851920" y="4833156"/>
            <a:ext cx="57606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44" idx="2"/>
            <a:endCxn id="43" idx="6"/>
          </p:cNvCxnSpPr>
          <p:nvPr/>
        </p:nvCxnSpPr>
        <p:spPr>
          <a:xfrm rot="10800000">
            <a:off x="3851920" y="6345324"/>
            <a:ext cx="6480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50" idx="3"/>
            <a:endCxn id="48" idx="7"/>
          </p:cNvCxnSpPr>
          <p:nvPr/>
        </p:nvCxnSpPr>
        <p:spPr>
          <a:xfrm rot="5400000">
            <a:off x="4612372" y="5989652"/>
            <a:ext cx="279296" cy="2792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 rot="5400000">
            <a:off x="3081618" y="5625244"/>
            <a:ext cx="4233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rot="5400000">
            <a:off x="4746511" y="5593608"/>
            <a:ext cx="42331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4860032" y="522920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橢圓 35"/>
          <p:cNvSpPr/>
          <p:nvPr/>
        </p:nvSpPr>
        <p:spPr>
          <a:xfrm>
            <a:off x="3203848" y="580526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203848" y="522920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3635896" y="4725144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427984" y="472514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3635896" y="623731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427984" y="623731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橢圓 49"/>
          <p:cNvSpPr/>
          <p:nvPr/>
        </p:nvSpPr>
        <p:spPr>
          <a:xfrm>
            <a:off x="4860032" y="580526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直線單箭頭接點 69"/>
          <p:cNvCxnSpPr/>
          <p:nvPr/>
        </p:nvCxnSpPr>
        <p:spPr>
          <a:xfrm rot="10800000">
            <a:off x="5220072" y="5894690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3347864" y="4365104"/>
            <a:ext cx="720080" cy="2880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0" dirty="0" smtClean="0"/>
              <a:t>message</a:t>
            </a:r>
            <a:endParaRPr lang="zh-TW" altLang="en-US" sz="1100" dirty="0"/>
          </a:p>
        </p:txBody>
      </p:sp>
      <p:sp>
        <p:nvSpPr>
          <p:cNvPr id="73" name="矩形 72"/>
          <p:cNvSpPr/>
          <p:nvPr/>
        </p:nvSpPr>
        <p:spPr>
          <a:xfrm>
            <a:off x="3347864" y="4365104"/>
            <a:ext cx="720080" cy="2880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0" dirty="0" smtClean="0"/>
              <a:t>message</a:t>
            </a:r>
            <a:endParaRPr lang="zh-TW" altLang="en-US" sz="11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5580112" y="5661248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</a:rPr>
              <a:t>?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508104" y="4797152"/>
            <a:ext cx="337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Execute exception handle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688376" y="5157192"/>
            <a:ext cx="1835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1. Add vertex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687802" y="5517232"/>
            <a:ext cx="2177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2. Remove edge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1913E-6 L 0.09462 -1.1913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462 -1.1913E-6 L 0.14983 0.0946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" y="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83 0.09461 L 0.14983 0.1994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1913E-6 L 0.09462 -1.1913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462 -1.1913E-6 L 0.14983 0.09461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" y="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83 0.09461 L 0.14983 0.1994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0" grpId="2" animBg="1"/>
      <p:bldP spid="71" grpId="0" animBg="1"/>
      <p:bldP spid="71" grpId="1" animBg="1"/>
      <p:bldP spid="71" grpId="2" animBg="1"/>
      <p:bldP spid="71" grpId="3" animBg="1"/>
      <p:bldP spid="71" grpId="4" animBg="1"/>
      <p:bldP spid="73" grpId="0" animBg="1"/>
      <p:bldP spid="73" grpId="1" animBg="1"/>
      <p:bldP spid="73" grpId="2" animBg="1"/>
      <p:bldP spid="73" grpId="3" animBg="1"/>
      <p:bldP spid="73" grpId="4" animBg="1"/>
      <p:bldP spid="74" grpId="0"/>
      <p:bldP spid="74" grpId="1"/>
      <p:bldP spid="75" grpId="0"/>
      <p:bldP spid="27" grpId="0"/>
      <p:bldP spid="2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Combiners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Combiners can combine several messages into a single message.</a:t>
            </a:r>
          </a:p>
          <a:p>
            <a:r>
              <a:rPr lang="en-US" altLang="zh-TW" dirty="0" smtClean="0">
                <a:latin typeface="+mj-lt"/>
              </a:rPr>
              <a:t>Combiners are not enabled by a default, because there is no mechanical way to find a useful combining function that is consistent.</a:t>
            </a:r>
          </a:p>
          <a:p>
            <a:r>
              <a:rPr lang="en-US" altLang="zh-TW" dirty="0" smtClean="0">
                <a:latin typeface="+mj-lt"/>
              </a:rPr>
              <a:t>Combiners does not guarantee about which messages are combined, the groupings presented to the combiner, or the order of combining.</a:t>
            </a:r>
          </a:p>
          <a:p>
            <a:pPr lvl="1"/>
            <a:r>
              <a:rPr lang="en-US" altLang="zh-TW" dirty="0" smtClean="0">
                <a:latin typeface="+mj-lt"/>
              </a:rPr>
              <a:t>Combiner should only be enable for commutative and associative operator.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Aggregators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aggregators are a mechanism for global communication, monitoring, and data.</a:t>
            </a:r>
          </a:p>
          <a:p>
            <a:r>
              <a:rPr lang="en-US" altLang="zh-TW" dirty="0" smtClean="0">
                <a:latin typeface="+mj-lt"/>
              </a:rPr>
              <a:t>Each vertex can provide a value to an aggregator in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 S, the system combines </a:t>
            </a:r>
            <a:r>
              <a:rPr lang="en-US" altLang="zh-TW" dirty="0" err="1" smtClean="0">
                <a:latin typeface="+mj-lt"/>
              </a:rPr>
              <a:t>thosevalues</a:t>
            </a:r>
            <a:r>
              <a:rPr lang="en-US" altLang="zh-TW" dirty="0" smtClean="0">
                <a:latin typeface="+mj-lt"/>
              </a:rPr>
              <a:t> using a reduction operator, and the resulting value is make available to all vertices in </a:t>
            </a:r>
            <a:r>
              <a:rPr lang="en-US" altLang="zh-TW" dirty="0" err="1" smtClean="0">
                <a:latin typeface="+mj-lt"/>
              </a:rPr>
              <a:t>superstep</a:t>
            </a:r>
            <a:r>
              <a:rPr lang="en-US" altLang="zh-TW" dirty="0" smtClean="0">
                <a:latin typeface="+mj-lt"/>
              </a:rPr>
              <a:t> S+1.</a:t>
            </a:r>
          </a:p>
          <a:p>
            <a:pPr lvl="1"/>
            <a:r>
              <a:rPr lang="en-US" altLang="zh-TW" dirty="0" smtClean="0">
                <a:latin typeface="+mj-lt"/>
              </a:rPr>
              <a:t>Minimum</a:t>
            </a:r>
          </a:p>
          <a:p>
            <a:pPr lvl="1"/>
            <a:r>
              <a:rPr lang="en-US" altLang="zh-TW" dirty="0" smtClean="0">
                <a:latin typeface="+mj-lt"/>
              </a:rPr>
              <a:t>Summary </a:t>
            </a:r>
          </a:p>
          <a:p>
            <a:pPr lvl="1"/>
            <a:r>
              <a:rPr lang="en-US" altLang="zh-TW" dirty="0" smtClean="0">
                <a:latin typeface="+mj-lt"/>
              </a:rPr>
              <a:t>…etc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橢圓 39"/>
          <p:cNvSpPr/>
          <p:nvPr/>
        </p:nvSpPr>
        <p:spPr>
          <a:xfrm>
            <a:off x="1403648" y="4149080"/>
            <a:ext cx="2088232" cy="201622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Communication(cont.) </a:t>
            </a:r>
            <a:endParaRPr lang="zh-TW" altLang="en-US" dirty="0"/>
          </a:p>
        </p:txBody>
      </p:sp>
      <p:sp>
        <p:nvSpPr>
          <p:cNvPr id="34" name="內容版面配置區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Sending a message, especially to a vertex on another machine, incurs some overhead.</a:t>
            </a:r>
          </a:p>
          <a:p>
            <a:endParaRPr lang="zh-TW" altLang="en-US" dirty="0">
              <a:latin typeface="+mj-lt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076056" y="2636912"/>
            <a:ext cx="2232248" cy="108012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i="1" dirty="0" smtClean="0"/>
              <a:t>Aggregator </a:t>
            </a:r>
            <a:endParaRPr lang="zh-TW" altLang="en-US" sz="2800" i="1" dirty="0"/>
          </a:p>
        </p:txBody>
      </p:sp>
      <p:sp>
        <p:nvSpPr>
          <p:cNvPr id="7" name="圓角矩形 6"/>
          <p:cNvSpPr/>
          <p:nvPr/>
        </p:nvSpPr>
        <p:spPr>
          <a:xfrm>
            <a:off x="1331640" y="4581128"/>
            <a:ext cx="2232248" cy="10801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i="1" dirty="0" smtClean="0"/>
              <a:t>Combiner </a:t>
            </a:r>
            <a:endParaRPr lang="zh-TW" altLang="en-US" sz="2800" i="1" dirty="0"/>
          </a:p>
        </p:txBody>
      </p:sp>
      <p:sp>
        <p:nvSpPr>
          <p:cNvPr id="8" name="橢圓 7"/>
          <p:cNvSpPr/>
          <p:nvPr/>
        </p:nvSpPr>
        <p:spPr>
          <a:xfrm>
            <a:off x="5508104" y="551723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012160" y="551723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516216" y="551723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596336" y="551723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964940" y="544522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 rot="5400000" flipH="1" flipV="1">
            <a:off x="4860032" y="4653136"/>
            <a:ext cx="1440160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rot="5400000" flipH="1" flipV="1">
            <a:off x="5436096" y="4653136"/>
            <a:ext cx="1440160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rot="5400000" flipH="1" flipV="1">
            <a:off x="5939358" y="4653136"/>
            <a:ext cx="1440954" cy="79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rot="16200000" flipV="1">
            <a:off x="6660232" y="4365104"/>
            <a:ext cx="1440160" cy="57606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向右箭號 21"/>
          <p:cNvSpPr/>
          <p:nvPr/>
        </p:nvSpPr>
        <p:spPr>
          <a:xfrm>
            <a:off x="7452320" y="2924944"/>
            <a:ext cx="504056" cy="50405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/>
          <p:cNvSpPr txBox="1"/>
          <p:nvPr/>
        </p:nvSpPr>
        <p:spPr>
          <a:xfrm>
            <a:off x="3203848" y="5940569"/>
            <a:ext cx="2177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err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superstep</a:t>
            </a:r>
            <a:r>
              <a:rPr lang="en-US" altLang="zh-TW" sz="32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:=</a:t>
            </a:r>
            <a:endParaRPr lang="zh-TW" altLang="en-US" sz="32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364088" y="5940569"/>
            <a:ext cx="378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</a:t>
            </a:r>
            <a:endParaRPr lang="zh-TW" altLang="en-US" sz="32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28384" y="2996952"/>
            <a:ext cx="864096" cy="36004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Result 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364088" y="5940569"/>
            <a:ext cx="792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S+1</a:t>
            </a:r>
            <a:endParaRPr lang="zh-TW" altLang="en-US" sz="32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1331640" y="285293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1835696" y="285293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2339752" y="285293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3419872" y="285293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2771800" y="270892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cxnSp>
        <p:nvCxnSpPr>
          <p:cNvPr id="41" name="直線單箭頭接點 40"/>
          <p:cNvCxnSpPr/>
          <p:nvPr/>
        </p:nvCxnSpPr>
        <p:spPr>
          <a:xfrm rot="16200000" flipH="1">
            <a:off x="971599" y="3645024"/>
            <a:ext cx="1296144" cy="28803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rot="5400000">
            <a:off x="1764482" y="3788246"/>
            <a:ext cx="1296144" cy="158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rot="5400000">
            <a:off x="2663788" y="3609020"/>
            <a:ext cx="1296144" cy="36004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4283968" y="4976004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3707904" y="5085184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1" grpId="0"/>
      <p:bldP spid="31" grpId="1"/>
      <p:bldP spid="31" grpId="2"/>
      <p:bldP spid="31" grpId="3"/>
      <p:bldP spid="32" grpId="0" animBg="1"/>
      <p:bldP spid="33" grpId="0"/>
      <p:bldP spid="33" grpId="1"/>
      <p:bldP spid="33" grpId="2"/>
      <p:bldP spid="46" grpId="0" animBg="1"/>
      <p:bldP spid="46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case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Shortest Paths – </a:t>
            </a:r>
          </a:p>
          <a:p>
            <a:r>
              <a:rPr lang="en-US" altLang="zh-TW" sz="1800" dirty="0" smtClean="0"/>
              <a:t>The shortest path problem is the best well-know problem in graph theory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Phrase 0</a:t>
            </a:r>
          </a:p>
          <a:p>
            <a:pPr lvl="1"/>
            <a:r>
              <a:rPr lang="en-US" altLang="zh-TW" dirty="0" smtClean="0">
                <a:latin typeface="+mj-lt"/>
              </a:rPr>
              <a:t>Assume the value associated with each vertex is initialized to </a:t>
            </a:r>
            <a:r>
              <a:rPr lang="en-US" altLang="zh-TW" b="1" dirty="0" smtClean="0">
                <a:latin typeface="+mj-lt"/>
              </a:rPr>
              <a:t>INF </a:t>
            </a:r>
            <a:r>
              <a:rPr lang="en-US" altLang="zh-TW" dirty="0" smtClean="0">
                <a:latin typeface="+mj-lt"/>
              </a:rPr>
              <a:t>(a constant larger than any distance in the graph).</a:t>
            </a:r>
          </a:p>
          <a:p>
            <a:pPr lvl="1"/>
            <a:r>
              <a:rPr lang="en-US" altLang="zh-TW" dirty="0" smtClean="0">
                <a:latin typeface="+mj-lt"/>
              </a:rPr>
              <a:t>Only the source vertex updates its value (from INT to 0).</a:t>
            </a:r>
            <a:endParaRPr lang="zh-TW" altLang="en-US" dirty="0" smtClean="0">
              <a:latin typeface="+mj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Shortest Paths</a:t>
            </a:r>
            <a:endParaRPr lang="zh-TW" altLang="en-US" dirty="0"/>
          </a:p>
        </p:txBody>
      </p:sp>
      <p:sp>
        <p:nvSpPr>
          <p:cNvPr id="41" name="橢圓 40"/>
          <p:cNvSpPr/>
          <p:nvPr/>
        </p:nvSpPr>
        <p:spPr>
          <a:xfrm>
            <a:off x="3275856" y="3717032"/>
            <a:ext cx="2016224" cy="273630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1763688" y="4365104"/>
            <a:ext cx="1440160" cy="180858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5508104" y="4077072"/>
            <a:ext cx="2088232" cy="21602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2051720" y="479715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563888" y="486916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5580112" y="508518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4860032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6732240" y="551723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7380312" y="515719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2236108" y="4981540"/>
            <a:ext cx="535692" cy="3916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2267744" y="4365104"/>
            <a:ext cx="122413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rot="5400000">
            <a:off x="3489382" y="4616338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2987824" y="5517232"/>
            <a:ext cx="1512168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3779912" y="4653136"/>
            <a:ext cx="1008112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rot="5400000" flipH="1" flipV="1">
            <a:off x="4418557" y="5191492"/>
            <a:ext cx="864096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4860032" y="5301208"/>
            <a:ext cx="648072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3798766" y="4311950"/>
            <a:ext cx="989258" cy="197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5076056" y="4581128"/>
            <a:ext cx="936104" cy="360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5796136" y="5185473"/>
            <a:ext cx="1440160" cy="437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rot="16200000" flipH="1">
            <a:off x="6120172" y="4833156"/>
            <a:ext cx="72008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1" idx="4"/>
          </p:cNvCxnSpPr>
          <p:nvPr/>
        </p:nvCxnSpPr>
        <p:spPr>
          <a:xfrm rot="16200000" flipH="1">
            <a:off x="6534218" y="4383106"/>
            <a:ext cx="432048" cy="11161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Shortest Paths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Phrase 1</a:t>
            </a:r>
          </a:p>
          <a:p>
            <a:pPr lvl="1"/>
            <a:r>
              <a:rPr lang="en-US" altLang="zh-TW" dirty="0" smtClean="0">
                <a:latin typeface="+mj-lt"/>
              </a:rPr>
              <a:t>For each updated vertex, send its value to neighbors.</a:t>
            </a:r>
          </a:p>
          <a:p>
            <a:pPr lvl="1"/>
            <a:r>
              <a:rPr lang="en-US" altLang="zh-TW" dirty="0" smtClean="0">
                <a:latin typeface="+mj-lt"/>
              </a:rPr>
              <a:t>For each vertex which received one or more message, update its value from the minimal of these message and its value.</a:t>
            </a:r>
            <a:endParaRPr lang="zh-TW" altLang="en-US" dirty="0">
              <a:latin typeface="+mj-lt"/>
            </a:endParaRPr>
          </a:p>
        </p:txBody>
      </p:sp>
      <p:sp>
        <p:nvSpPr>
          <p:cNvPr id="78" name="橢圓 77"/>
          <p:cNvSpPr/>
          <p:nvPr/>
        </p:nvSpPr>
        <p:spPr>
          <a:xfrm>
            <a:off x="3275856" y="3717032"/>
            <a:ext cx="2016224" cy="273630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1763688" y="4365104"/>
            <a:ext cx="1440160" cy="180858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5508104" y="4077072"/>
            <a:ext cx="2088232" cy="21602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2051720" y="479715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82" name="橢圓 81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3" name="橢圓 82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4" name="橢圓 83"/>
          <p:cNvSpPr/>
          <p:nvPr/>
        </p:nvSpPr>
        <p:spPr>
          <a:xfrm>
            <a:off x="3563888" y="486916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5" name="橢圓 84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6" name="橢圓 85"/>
          <p:cNvSpPr/>
          <p:nvPr/>
        </p:nvSpPr>
        <p:spPr>
          <a:xfrm>
            <a:off x="5580112" y="508518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7" name="橢圓 86"/>
          <p:cNvSpPr/>
          <p:nvPr/>
        </p:nvSpPr>
        <p:spPr>
          <a:xfrm>
            <a:off x="4860032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8" name="橢圓 87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89" name="橢圓 88"/>
          <p:cNvSpPr/>
          <p:nvPr/>
        </p:nvSpPr>
        <p:spPr>
          <a:xfrm>
            <a:off x="6732240" y="551723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90" name="橢圓 89"/>
          <p:cNvSpPr/>
          <p:nvPr/>
        </p:nvSpPr>
        <p:spPr>
          <a:xfrm>
            <a:off x="7380312" y="515719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cxnSp>
        <p:nvCxnSpPr>
          <p:cNvPr id="91" name="直線單箭頭接點 90"/>
          <p:cNvCxnSpPr/>
          <p:nvPr/>
        </p:nvCxnSpPr>
        <p:spPr>
          <a:xfrm>
            <a:off x="2236108" y="4981540"/>
            <a:ext cx="535692" cy="3916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V="1">
            <a:off x="2267744" y="4365104"/>
            <a:ext cx="122413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rot="5400000">
            <a:off x="3489382" y="4616338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2987824" y="5517232"/>
            <a:ext cx="1512168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V="1">
            <a:off x="3779912" y="4653136"/>
            <a:ext cx="1008112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rot="5400000" flipH="1" flipV="1">
            <a:off x="4418557" y="5191492"/>
            <a:ext cx="864096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V="1">
            <a:off x="4860032" y="5301208"/>
            <a:ext cx="648072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>
            <a:off x="3798766" y="4311950"/>
            <a:ext cx="989258" cy="197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/>
          <p:nvPr/>
        </p:nvCxnSpPr>
        <p:spPr>
          <a:xfrm flipV="1">
            <a:off x="5076056" y="4581128"/>
            <a:ext cx="936104" cy="360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>
            <a:off x="5796136" y="5185473"/>
            <a:ext cx="1440160" cy="437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rot="16200000" flipH="1">
            <a:off x="6120172" y="4833156"/>
            <a:ext cx="72008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stCxn id="88" idx="4"/>
          </p:cNvCxnSpPr>
          <p:nvPr/>
        </p:nvCxnSpPr>
        <p:spPr>
          <a:xfrm rot="16200000" flipH="1">
            <a:off x="6534218" y="4383106"/>
            <a:ext cx="432048" cy="11161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橢圓 127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29" name="橢圓 128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30" name="橢圓 129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31" name="橢圓 130"/>
          <p:cNvSpPr/>
          <p:nvPr/>
        </p:nvSpPr>
        <p:spPr>
          <a:xfrm>
            <a:off x="3563888" y="486916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32" name="橢圓 131"/>
          <p:cNvSpPr/>
          <p:nvPr/>
        </p:nvSpPr>
        <p:spPr>
          <a:xfrm>
            <a:off x="4860032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33" name="橢圓 132"/>
          <p:cNvSpPr/>
          <p:nvPr/>
        </p:nvSpPr>
        <p:spPr>
          <a:xfrm>
            <a:off x="2051720" y="479715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5" name="橢圓 134"/>
          <p:cNvSpPr/>
          <p:nvPr/>
        </p:nvSpPr>
        <p:spPr>
          <a:xfrm>
            <a:off x="2051720" y="479715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6" name="橢圓 135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9" name="橢圓 138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0" name="橢圓 139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2" name="橢圓 141"/>
          <p:cNvSpPr/>
          <p:nvPr/>
        </p:nvSpPr>
        <p:spPr>
          <a:xfrm>
            <a:off x="3563888" y="486916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3" name="橢圓 142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4" name="橢圓 143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5" name="橢圓 144"/>
          <p:cNvSpPr/>
          <p:nvPr/>
        </p:nvSpPr>
        <p:spPr>
          <a:xfrm>
            <a:off x="4860032" y="450912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7" name="橢圓 146"/>
          <p:cNvSpPr/>
          <p:nvPr/>
        </p:nvSpPr>
        <p:spPr>
          <a:xfrm>
            <a:off x="5580112" y="508518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48" name="橢圓 147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49" name="橢圓 148"/>
          <p:cNvSpPr/>
          <p:nvPr/>
        </p:nvSpPr>
        <p:spPr>
          <a:xfrm>
            <a:off x="6732240" y="551723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50" name="橢圓 149"/>
          <p:cNvSpPr/>
          <p:nvPr/>
        </p:nvSpPr>
        <p:spPr>
          <a:xfrm>
            <a:off x="7380312" y="515719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51" name="橢圓 150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2" name="橢圓 151"/>
          <p:cNvSpPr/>
          <p:nvPr/>
        </p:nvSpPr>
        <p:spPr>
          <a:xfrm>
            <a:off x="5580112" y="5085184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3" name="橢圓 152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4018E-6 L 0.14583 -0.068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0" y="-34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 -0.00532 L 0.06302 0.0629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0" y="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125 0.0421 " pathEditMode="relative" ptsTypes="AA">
                                      <p:cBhvr>
                                        <p:cTn id="35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6292 " pathEditMode="relative" ptsTypes="AA">
                                      <p:cBhvr>
                                        <p:cTn id="37" dur="2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23 0.03146 " pathEditMode="relative" ptsTypes="AA">
                                      <p:cBhvr>
                                        <p:cTn id="39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23 -0.0421 " pathEditMode="relative" ptsTypes="AA">
                                      <p:cBhvr>
                                        <p:cTn id="67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06 -0.01041 " pathEditMode="relative" ptsTypes="AA">
                                      <p:cBhvr>
                                        <p:cTn id="69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62 -0.14689 " pathEditMode="relative" ptsTypes="AA">
                                      <p:cBhvr>
                                        <p:cTn id="71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882 -0.07333 " pathEditMode="relative" ptsTypes="AA">
                                      <p:cBhvr>
                                        <p:cTn id="73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545 0 " pathEditMode="relative" ptsTypes="AA">
                                      <p:cBhvr>
                                        <p:cTn id="98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302 0.11543 " pathEditMode="relative" ptsTypes="AA">
                                      <p:cBhvr>
                                        <p:cTn id="100" dur="2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024 0.06292 " pathEditMode="relative" ptsTypes="AA">
                                      <p:cBhvr>
                                        <p:cTn id="102" dur="2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3" grpId="1" animBg="1"/>
      <p:bldP spid="133" grpId="2" animBg="1"/>
      <p:bldP spid="135" grpId="0" animBg="1"/>
      <p:bldP spid="135" grpId="1" animBg="1"/>
      <p:bldP spid="135" grpId="2" animBg="1"/>
      <p:bldP spid="136" grpId="0" animBg="1"/>
      <p:bldP spid="136" grpId="1" animBg="1"/>
      <p:bldP spid="136" grpId="2" animBg="1"/>
      <p:bldP spid="139" grpId="0" animBg="1"/>
      <p:bldP spid="139" grpId="1" animBg="1"/>
      <p:bldP spid="139" grpId="2" animBg="1"/>
      <p:bldP spid="140" grpId="0" animBg="1"/>
      <p:bldP spid="140" grpId="1" animBg="1"/>
      <p:bldP spid="140" grpId="2" animBg="1"/>
      <p:bldP spid="142" grpId="0" animBg="1"/>
      <p:bldP spid="142" grpId="1" animBg="1"/>
      <p:bldP spid="142" grpId="2" animBg="1"/>
      <p:bldP spid="143" grpId="0" animBg="1"/>
      <p:bldP spid="143" grpId="1" animBg="1"/>
      <p:bldP spid="143" grpId="2" animBg="1"/>
      <p:bldP spid="144" grpId="0" animBg="1"/>
      <p:bldP spid="144" grpId="1" animBg="1"/>
      <p:bldP spid="144" grpId="2" animBg="1"/>
      <p:bldP spid="145" grpId="0" animBg="1"/>
      <p:bldP spid="145" grpId="1" animBg="1"/>
      <p:bldP spid="145" grpId="2" animBg="1"/>
      <p:bldP spid="147" grpId="0" animBg="1"/>
      <p:bldP spid="148" grpId="0" animBg="1"/>
      <p:bldP spid="149" grpId="0" animBg="1"/>
      <p:bldP spid="150" grpId="0" animBg="1"/>
      <p:bldP spid="151" grpId="0" animBg="1"/>
      <p:bldP spid="151" grpId="1" animBg="1"/>
      <p:bldP spid="151" grpId="2" animBg="1"/>
      <p:bldP spid="152" grpId="0" animBg="1"/>
      <p:bldP spid="152" grpId="1" animBg="1"/>
      <p:bldP spid="152" grpId="2" animBg="1"/>
      <p:bldP spid="153" grpId="0" animBg="1"/>
      <p:bldP spid="153" grpId="1" animBg="1"/>
      <p:bldP spid="153" grpId="2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Shortest Paths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Phrase 2</a:t>
            </a:r>
          </a:p>
          <a:p>
            <a:pPr lvl="1"/>
            <a:r>
              <a:rPr lang="en-US" altLang="zh-TW" dirty="0" smtClean="0">
                <a:latin typeface="+mj-lt"/>
              </a:rPr>
              <a:t>The algorithm is terminated when no more updates occur.</a:t>
            </a:r>
          </a:p>
        </p:txBody>
      </p:sp>
      <p:sp>
        <p:nvSpPr>
          <p:cNvPr id="29" name="橢圓 28"/>
          <p:cNvSpPr/>
          <p:nvPr/>
        </p:nvSpPr>
        <p:spPr>
          <a:xfrm>
            <a:off x="3275856" y="3717032"/>
            <a:ext cx="2016224" cy="273630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1763688" y="4365104"/>
            <a:ext cx="1440160" cy="1808584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508104" y="4077072"/>
            <a:ext cx="2088232" cy="216024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2051720" y="479715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3" name="橢圓 32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34" name="橢圓 33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35" name="橢圓 34"/>
          <p:cNvSpPr/>
          <p:nvPr/>
        </p:nvSpPr>
        <p:spPr>
          <a:xfrm>
            <a:off x="3563888" y="486916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36" name="橢圓 35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37" name="橢圓 36"/>
          <p:cNvSpPr/>
          <p:nvPr/>
        </p:nvSpPr>
        <p:spPr>
          <a:xfrm>
            <a:off x="5580112" y="508518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38" name="橢圓 37"/>
          <p:cNvSpPr/>
          <p:nvPr/>
        </p:nvSpPr>
        <p:spPr>
          <a:xfrm>
            <a:off x="4860032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39" name="橢圓 38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40" name="橢圓 39"/>
          <p:cNvSpPr/>
          <p:nvPr/>
        </p:nvSpPr>
        <p:spPr>
          <a:xfrm>
            <a:off x="6732240" y="551723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sp>
        <p:nvSpPr>
          <p:cNvPr id="41" name="橢圓 40"/>
          <p:cNvSpPr/>
          <p:nvPr/>
        </p:nvSpPr>
        <p:spPr>
          <a:xfrm>
            <a:off x="7380312" y="515719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endParaRPr lang="zh-TW" altLang="en-US" dirty="0"/>
          </a:p>
        </p:txBody>
      </p:sp>
      <p:cxnSp>
        <p:nvCxnSpPr>
          <p:cNvPr id="42" name="直線單箭頭接點 41"/>
          <p:cNvCxnSpPr/>
          <p:nvPr/>
        </p:nvCxnSpPr>
        <p:spPr>
          <a:xfrm>
            <a:off x="2236108" y="4981540"/>
            <a:ext cx="535692" cy="3916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2267744" y="4365104"/>
            <a:ext cx="122413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rot="5400000">
            <a:off x="3489382" y="4616338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2987824" y="5517232"/>
            <a:ext cx="1512168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3779912" y="4653136"/>
            <a:ext cx="1008112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rot="5400000" flipH="1" flipV="1">
            <a:off x="4418557" y="5191492"/>
            <a:ext cx="864096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4860032" y="5301208"/>
            <a:ext cx="648072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3798766" y="4311950"/>
            <a:ext cx="989258" cy="197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5076056" y="4581128"/>
            <a:ext cx="936104" cy="360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796136" y="5185473"/>
            <a:ext cx="1440160" cy="437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rot="16200000" flipH="1">
            <a:off x="6120172" y="4833156"/>
            <a:ext cx="72008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39" idx="4"/>
          </p:cNvCxnSpPr>
          <p:nvPr/>
        </p:nvCxnSpPr>
        <p:spPr>
          <a:xfrm rot="16200000" flipH="1">
            <a:off x="6534218" y="4383106"/>
            <a:ext cx="432048" cy="11161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橢圓 78"/>
          <p:cNvSpPr/>
          <p:nvPr/>
        </p:nvSpPr>
        <p:spPr>
          <a:xfrm>
            <a:off x="2771800" y="537321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80" name="橢圓 79"/>
          <p:cNvSpPr/>
          <p:nvPr/>
        </p:nvSpPr>
        <p:spPr>
          <a:xfrm>
            <a:off x="3563888" y="4221088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81" name="橢圓 80"/>
          <p:cNvSpPr/>
          <p:nvPr/>
        </p:nvSpPr>
        <p:spPr>
          <a:xfrm>
            <a:off x="4644008" y="573325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2" name="橢圓 81"/>
          <p:cNvSpPr/>
          <p:nvPr/>
        </p:nvSpPr>
        <p:spPr>
          <a:xfrm>
            <a:off x="3563888" y="486916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3" name="橢圓 82"/>
          <p:cNvSpPr/>
          <p:nvPr/>
        </p:nvSpPr>
        <p:spPr>
          <a:xfrm>
            <a:off x="4860032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93" name="橢圓 92"/>
          <p:cNvSpPr/>
          <p:nvPr/>
        </p:nvSpPr>
        <p:spPr>
          <a:xfrm>
            <a:off x="5580112" y="5085184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94" name="橢圓 93"/>
          <p:cNvSpPr/>
          <p:nvPr/>
        </p:nvSpPr>
        <p:spPr>
          <a:xfrm>
            <a:off x="6084168" y="4509120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95" name="橢圓 94"/>
          <p:cNvSpPr/>
          <p:nvPr/>
        </p:nvSpPr>
        <p:spPr>
          <a:xfrm>
            <a:off x="6732240" y="551723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96" name="橢圓 95"/>
          <p:cNvSpPr/>
          <p:nvPr/>
        </p:nvSpPr>
        <p:spPr>
          <a:xfrm>
            <a:off x="7380312" y="515719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9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of </a:t>
            </a:r>
            <a:r>
              <a:rPr lang="en-US" altLang="zh-TW" dirty="0" err="1" smtClean="0"/>
              <a:t>Pregel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 is a model suitable for large-scale graph computing</a:t>
            </a:r>
          </a:p>
          <a:p>
            <a:pPr lvl="1"/>
            <a:r>
              <a:rPr lang="en-US" altLang="zh-TW" dirty="0" smtClean="0">
                <a:latin typeface="+mj-lt"/>
              </a:rPr>
              <a:t>Quality </a:t>
            </a:r>
          </a:p>
          <a:p>
            <a:pPr lvl="1"/>
            <a:r>
              <a:rPr lang="en-US" altLang="zh-TW" dirty="0" smtClean="0">
                <a:latin typeface="+mj-lt"/>
              </a:rPr>
              <a:t>Scalability  </a:t>
            </a:r>
          </a:p>
          <a:p>
            <a:pPr lvl="1"/>
            <a:r>
              <a:rPr lang="en-US" altLang="zh-TW" dirty="0" smtClean="0">
                <a:latin typeface="+mj-lt"/>
              </a:rPr>
              <a:t>Fault tolerant</a:t>
            </a:r>
          </a:p>
          <a:p>
            <a:r>
              <a:rPr lang="en-US" altLang="zh-TW" dirty="0" smtClean="0">
                <a:latin typeface="+mj-lt"/>
              </a:rPr>
              <a:t>User </a:t>
            </a:r>
            <a:r>
              <a:rPr lang="en-US" altLang="zh-TW" dirty="0" err="1" smtClean="0">
                <a:latin typeface="+mj-lt"/>
              </a:rPr>
              <a:t>switchs</a:t>
            </a:r>
            <a:r>
              <a:rPr lang="en-US" altLang="zh-TW" dirty="0" smtClean="0">
                <a:latin typeface="+mj-lt"/>
              </a:rPr>
              <a:t> to the ‘think like a vertex’ mode of programming</a:t>
            </a:r>
          </a:p>
          <a:p>
            <a:pPr lvl="1"/>
            <a:r>
              <a:rPr lang="en-US" altLang="zh-TW" dirty="0" smtClean="0">
                <a:latin typeface="+mj-lt"/>
              </a:rPr>
              <a:t>For sparse graphs where communication occurs mainly over edges.</a:t>
            </a:r>
          </a:p>
          <a:p>
            <a:pPr lvl="1"/>
            <a:r>
              <a:rPr lang="en-US" altLang="zh-TW" dirty="0" smtClean="0">
                <a:latin typeface="+mj-lt"/>
              </a:rPr>
              <a:t>Realistic dense graphs are rare.</a:t>
            </a:r>
          </a:p>
          <a:p>
            <a:r>
              <a:rPr lang="en-US" altLang="zh-TW" dirty="0" smtClean="0">
                <a:latin typeface="+mj-lt"/>
              </a:rPr>
              <a:t>Some graph algorithm can be transformed into more 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 smtClean="0">
                <a:latin typeface="+mj-lt"/>
              </a:rPr>
              <a:t>-friendly variants.</a:t>
            </a:r>
          </a:p>
          <a:p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3498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4F81BD">
                  <a:lumMod val="75000"/>
                </a:srgbClr>
              </a:buClr>
            </a:pPr>
            <a:r>
              <a:rPr lang="en-US" altLang="zh-TW" sz="2600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Scalability</a:t>
            </a:r>
          </a:p>
          <a:p>
            <a:pPr lvl="1">
              <a:buClr>
                <a:srgbClr val="9BBB59">
                  <a:lumMod val="50000"/>
                </a:srgbClr>
              </a:buClr>
            </a:pP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Provide </a:t>
            </a:r>
            <a:r>
              <a:rPr lang="en-US" altLang="zh-TW" sz="2200" dirty="0" smtClean="0">
                <a:solidFill>
                  <a:srgbClr val="9BBB59">
                    <a:lumMod val="50000"/>
                  </a:srgbClr>
                </a:solidFill>
                <a:latin typeface="Calibri"/>
              </a:rPr>
              <a:t>the capability </a:t>
            </a: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of </a:t>
            </a:r>
            <a:r>
              <a:rPr lang="en-US" altLang="zh-TW" sz="2200" dirty="0" smtClean="0">
                <a:solidFill>
                  <a:srgbClr val="9BBB59">
                    <a:lumMod val="50000"/>
                  </a:srgbClr>
                </a:solidFill>
                <a:latin typeface="Calibri"/>
              </a:rPr>
              <a:t>processing </a:t>
            </a: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very large amounts of data.</a:t>
            </a:r>
          </a:p>
          <a:p>
            <a:pPr lvl="0">
              <a:buClr>
                <a:srgbClr val="4F81BD">
                  <a:lumMod val="75000"/>
                </a:srgbClr>
              </a:buClr>
            </a:pPr>
            <a:r>
              <a:rPr lang="en-US" altLang="zh-TW" sz="2600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Availability</a:t>
            </a:r>
          </a:p>
          <a:p>
            <a:pPr lvl="1">
              <a:buClr>
                <a:srgbClr val="9BBB59">
                  <a:lumMod val="50000"/>
                </a:srgbClr>
              </a:buClr>
            </a:pP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Provide the ability of failure tolerance </a:t>
            </a:r>
            <a:r>
              <a:rPr lang="en-US" altLang="zh-TW" sz="2200" dirty="0" smtClean="0">
                <a:solidFill>
                  <a:srgbClr val="9BBB59">
                    <a:lumMod val="50000"/>
                  </a:srgbClr>
                </a:solidFill>
                <a:latin typeface="Calibri"/>
              </a:rPr>
              <a:t>on machine fail</a:t>
            </a: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.</a:t>
            </a:r>
          </a:p>
          <a:p>
            <a:pPr lvl="0">
              <a:buClr>
                <a:srgbClr val="4F81BD">
                  <a:lumMod val="75000"/>
                </a:srgbClr>
              </a:buClr>
            </a:pPr>
            <a:r>
              <a:rPr lang="en-US" altLang="zh-TW" sz="2600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Manageability </a:t>
            </a:r>
          </a:p>
          <a:p>
            <a:pPr lvl="1">
              <a:buClr>
                <a:srgbClr val="9BBB59">
                  <a:lumMod val="50000"/>
                </a:srgbClr>
              </a:buClr>
            </a:pP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Provide mechanism for the system to automatically monitor itself and manage </a:t>
            </a:r>
            <a:r>
              <a:rPr lang="en-US" altLang="zh-TW" sz="2200" dirty="0" smtClean="0">
                <a:solidFill>
                  <a:srgbClr val="9BBB59">
                    <a:lumMod val="50000"/>
                  </a:srgbClr>
                </a:solidFill>
                <a:latin typeface="Calibri"/>
              </a:rPr>
              <a:t>the complex job </a:t>
            </a:r>
            <a:r>
              <a:rPr lang="en-US" altLang="zh-TW" sz="2200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transparently for users.</a:t>
            </a:r>
          </a:p>
          <a:p>
            <a:pPr lvl="0">
              <a:buClr>
                <a:srgbClr val="4F81BD">
                  <a:lumMod val="75000"/>
                </a:srgbClr>
              </a:buClr>
            </a:pPr>
            <a:r>
              <a:rPr lang="en-US" altLang="zh-TW" sz="2600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Performance</a:t>
            </a:r>
          </a:p>
          <a:p>
            <a:pPr lvl="1">
              <a:buClr>
                <a:srgbClr val="9BBB59">
                  <a:lumMod val="50000"/>
                </a:srgbClr>
              </a:buClr>
            </a:pPr>
            <a:r>
              <a:rPr lang="en-US" altLang="zh-TW" sz="2200" dirty="0" smtClean="0">
                <a:solidFill>
                  <a:srgbClr val="9BBB59">
                    <a:lumMod val="50000"/>
                  </a:srgbClr>
                </a:solidFill>
                <a:latin typeface="Calibri"/>
              </a:rPr>
              <a:t>Good enough than extra passes </a:t>
            </a:r>
            <a:r>
              <a:rPr lang="en-US" altLang="zh-TW" sz="2200" smtClean="0">
                <a:solidFill>
                  <a:srgbClr val="9BBB59">
                    <a:lumMod val="50000"/>
                  </a:srgbClr>
                </a:solidFill>
                <a:latin typeface="Calibri"/>
              </a:rPr>
              <a:t>over the data.</a:t>
            </a:r>
            <a:endParaRPr lang="en-US" altLang="zh-TW" sz="2200" dirty="0">
              <a:solidFill>
                <a:srgbClr val="9BBB59">
                  <a:lumMod val="50000"/>
                </a:srgbClr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latin typeface="+mj-lt"/>
              </a:rPr>
              <a:t>Jeffrey Dean and Sanjay </a:t>
            </a:r>
            <a:r>
              <a:rPr lang="en-US" altLang="zh-TW" dirty="0" err="1">
                <a:latin typeface="+mj-lt"/>
              </a:rPr>
              <a:t>Ghemawat</a:t>
            </a:r>
            <a:r>
              <a:rPr lang="en-US" altLang="zh-TW" dirty="0">
                <a:latin typeface="+mj-lt"/>
              </a:rPr>
              <a:t>. “</a:t>
            </a:r>
            <a:r>
              <a:rPr lang="en-US" altLang="zh-TW" dirty="0" err="1">
                <a:latin typeface="+mj-lt"/>
              </a:rPr>
              <a:t>MapReduce</a:t>
            </a:r>
            <a:r>
              <a:rPr lang="en-US" altLang="zh-TW" dirty="0">
                <a:latin typeface="+mj-lt"/>
              </a:rPr>
              <a:t>: </a:t>
            </a:r>
            <a:r>
              <a:rPr lang="en-US" altLang="zh-TW" dirty="0" err="1">
                <a:latin typeface="+mj-lt"/>
              </a:rPr>
              <a:t>Simplied</a:t>
            </a:r>
            <a:r>
              <a:rPr lang="en-US" altLang="zh-TW" dirty="0">
                <a:latin typeface="+mj-lt"/>
              </a:rPr>
              <a:t> Data Processing on Large Clusters, ” </a:t>
            </a:r>
            <a:r>
              <a:rPr lang="en-US" altLang="zh-TW" i="1" dirty="0">
                <a:latin typeface="+mj-lt"/>
              </a:rPr>
              <a:t>OSDI</a:t>
            </a:r>
            <a:r>
              <a:rPr lang="en-US" altLang="zh-TW" dirty="0">
                <a:latin typeface="+mj-lt"/>
              </a:rPr>
              <a:t> 2004 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err="1">
                <a:latin typeface="+mj-lt"/>
              </a:rPr>
              <a:t>Grzegorz</a:t>
            </a:r>
            <a:r>
              <a:rPr lang="en-US" altLang="zh-TW" dirty="0">
                <a:latin typeface="+mj-lt"/>
              </a:rPr>
              <a:t> </a:t>
            </a:r>
            <a:r>
              <a:rPr lang="en-US" altLang="zh-TW" dirty="0" err="1">
                <a:latin typeface="+mj-lt"/>
              </a:rPr>
              <a:t>Malewicz</a:t>
            </a:r>
            <a:r>
              <a:rPr lang="en-US" altLang="zh-TW" dirty="0">
                <a:latin typeface="+mj-lt"/>
              </a:rPr>
              <a:t> , Matthew H. </a:t>
            </a:r>
            <a:r>
              <a:rPr lang="en-US" altLang="zh-TW" dirty="0" err="1">
                <a:latin typeface="+mj-lt"/>
              </a:rPr>
              <a:t>Austern</a:t>
            </a:r>
            <a:r>
              <a:rPr lang="en-US" altLang="zh-TW" dirty="0">
                <a:latin typeface="+mj-lt"/>
              </a:rPr>
              <a:t> , </a:t>
            </a:r>
            <a:r>
              <a:rPr lang="en-US" altLang="zh-TW" dirty="0" err="1">
                <a:latin typeface="+mj-lt"/>
              </a:rPr>
              <a:t>Aart</a:t>
            </a:r>
            <a:r>
              <a:rPr lang="en-US" altLang="zh-TW" dirty="0">
                <a:latin typeface="+mj-lt"/>
              </a:rPr>
              <a:t> J.C. Bik , James C. </a:t>
            </a:r>
            <a:r>
              <a:rPr lang="en-US" altLang="zh-TW" dirty="0" err="1">
                <a:latin typeface="+mj-lt"/>
              </a:rPr>
              <a:t>Dehnert</a:t>
            </a:r>
            <a:r>
              <a:rPr lang="en-US" altLang="zh-TW" dirty="0">
                <a:latin typeface="+mj-lt"/>
              </a:rPr>
              <a:t> , </a:t>
            </a:r>
            <a:r>
              <a:rPr lang="en-US" altLang="zh-TW" dirty="0" err="1">
                <a:latin typeface="+mj-lt"/>
              </a:rPr>
              <a:t>Ilan</a:t>
            </a:r>
            <a:r>
              <a:rPr lang="en-US" altLang="zh-TW" dirty="0">
                <a:latin typeface="+mj-lt"/>
              </a:rPr>
              <a:t> Horn , </a:t>
            </a:r>
            <a:r>
              <a:rPr lang="en-US" altLang="zh-TW" dirty="0" err="1">
                <a:latin typeface="+mj-lt"/>
              </a:rPr>
              <a:t>Naty</a:t>
            </a:r>
            <a:r>
              <a:rPr lang="en-US" altLang="zh-TW" dirty="0">
                <a:latin typeface="+mj-lt"/>
              </a:rPr>
              <a:t> </a:t>
            </a:r>
            <a:r>
              <a:rPr lang="en-US" altLang="zh-TW" dirty="0" err="1">
                <a:latin typeface="+mj-lt"/>
              </a:rPr>
              <a:t>Leiser</a:t>
            </a:r>
            <a:r>
              <a:rPr lang="en-US" altLang="zh-TW" dirty="0">
                <a:latin typeface="+mj-lt"/>
              </a:rPr>
              <a:t> , </a:t>
            </a:r>
            <a:r>
              <a:rPr lang="en-US" altLang="zh-TW" dirty="0" err="1">
                <a:latin typeface="+mj-lt"/>
              </a:rPr>
              <a:t>Grzegorz</a:t>
            </a:r>
            <a:r>
              <a:rPr lang="en-US" altLang="zh-TW" dirty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Czajkowski</a:t>
            </a:r>
            <a:r>
              <a:rPr lang="en-US" altLang="zh-TW" dirty="0" smtClean="0">
                <a:latin typeface="+mj-lt"/>
              </a:rPr>
              <a:t>. “</a:t>
            </a:r>
            <a:r>
              <a:rPr lang="en-US" altLang="zh-TW" dirty="0" err="1" smtClean="0">
                <a:latin typeface="+mj-lt"/>
              </a:rPr>
              <a:t>Pregel</a:t>
            </a:r>
            <a:r>
              <a:rPr lang="en-US" altLang="zh-TW" dirty="0">
                <a:latin typeface="+mj-lt"/>
              </a:rPr>
              <a:t>: a system for large-scale graph </a:t>
            </a:r>
            <a:r>
              <a:rPr lang="en-US" altLang="zh-TW" dirty="0" smtClean="0">
                <a:latin typeface="+mj-lt"/>
              </a:rPr>
              <a:t>processing,” </a:t>
            </a:r>
            <a:r>
              <a:rPr lang="en-US" altLang="zh-TW" dirty="0">
                <a:latin typeface="+mj-lt"/>
              </a:rPr>
              <a:t>Proceedings of the 28th ACM symposium on Principles of distributed computing, </a:t>
            </a:r>
            <a:r>
              <a:rPr lang="en-US" altLang="zh-TW" dirty="0" smtClean="0">
                <a:latin typeface="+mj-lt"/>
              </a:rPr>
              <a:t>(August </a:t>
            </a:r>
            <a:r>
              <a:rPr lang="en-US" altLang="zh-TW" dirty="0">
                <a:latin typeface="+mj-lt"/>
              </a:rPr>
              <a:t>10-12, </a:t>
            </a:r>
            <a:r>
              <a:rPr lang="en-US" altLang="zh-TW" dirty="0" smtClean="0">
                <a:latin typeface="+mj-lt"/>
              </a:rPr>
              <a:t>2009)</a:t>
            </a:r>
          </a:p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r>
              <a:rPr lang="en-US" altLang="zh-TW" dirty="0" smtClean="0">
                <a:latin typeface="+mj-lt"/>
                <a:hlinkClick r:id="rId3"/>
              </a:rPr>
              <a:t>http://hadoop.apache.org/</a:t>
            </a:r>
            <a:endParaRPr lang="zh-TW" altLang="en-US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NCHC Cloud Computing Research Group.</a:t>
            </a:r>
          </a:p>
          <a:p>
            <a:pPr lvl="1"/>
            <a:r>
              <a:rPr lang="en-US" altLang="zh-TW" dirty="0" smtClean="0">
                <a:latin typeface="+mj-lt"/>
                <a:hlinkClick r:id="rId4"/>
              </a:rPr>
              <a:t>http://trac.nchc.org.tw/cloud</a:t>
            </a:r>
            <a:endParaRPr lang="zh-TW" altLang="en-US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Jimmy Lin’s course website.</a:t>
            </a:r>
          </a:p>
          <a:p>
            <a:pPr lvl="1"/>
            <a:r>
              <a:rPr lang="en-US" altLang="zh-TW" dirty="0" smtClean="0">
                <a:latin typeface="+mj-lt"/>
                <a:hlinkClick r:id="rId5"/>
              </a:rPr>
              <a:t>http://www.umiacs.umd.edu/~jimmylin/</a:t>
            </a:r>
            <a:r>
              <a:rPr lang="en-US" altLang="zh-TW" dirty="0" smtClean="0">
                <a:latin typeface="+mj-lt"/>
              </a:rPr>
              <a:t> </a:t>
            </a:r>
            <a:endParaRPr lang="zh-TW" altLang="en-US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27916</TotalTime>
  <Words>2803</Words>
  <Application>Microsoft Office PowerPoint</Application>
  <PresentationFormat>如螢幕大小 (4:3)</PresentationFormat>
  <Paragraphs>648</Paragraphs>
  <Slides>65</Slides>
  <Notes>58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65</vt:i4>
      </vt:variant>
    </vt:vector>
  </HeadingPairs>
  <TitlesOfParts>
    <vt:vector size="66" baseType="lpstr">
      <vt:lpstr>Course Themes</vt:lpstr>
      <vt:lpstr>雲端計算 Cloud Computing</vt:lpstr>
      <vt:lpstr>Agenda</vt:lpstr>
      <vt:lpstr>MapReduce </vt:lpstr>
      <vt:lpstr>MapReduce</vt:lpstr>
      <vt:lpstr>How much data?</vt:lpstr>
      <vt:lpstr>Divide and Conquer</vt:lpstr>
      <vt:lpstr> How About Parallelization</vt:lpstr>
      <vt:lpstr>Current Tools</vt:lpstr>
      <vt:lpstr>Do Problems really Solve?</vt:lpstr>
      <vt:lpstr>What is MapReduce</vt:lpstr>
      <vt:lpstr>Why MapReduce</vt:lpstr>
      <vt:lpstr>MapReduce</vt:lpstr>
      <vt:lpstr>Typical Large-Data Problem</vt:lpstr>
      <vt:lpstr>How to Abstract</vt:lpstr>
      <vt:lpstr>How to Abstract(Cont.)</vt:lpstr>
      <vt:lpstr>MapReduce</vt:lpstr>
      <vt:lpstr>Environment (Google)</vt:lpstr>
      <vt:lpstr>Execution Overview</vt:lpstr>
      <vt:lpstr>Fault Tolerance</vt:lpstr>
      <vt:lpstr>Locality</vt:lpstr>
      <vt:lpstr>Task Granularity</vt:lpstr>
      <vt:lpstr>MapReduce</vt:lpstr>
      <vt:lpstr>Input/Output Types</vt:lpstr>
      <vt:lpstr>Partitioner and Combiner</vt:lpstr>
      <vt:lpstr>MapReduce</vt:lpstr>
      <vt:lpstr>JobTracker &amp; Tasktracker</vt:lpstr>
      <vt:lpstr>Hadoop MapReduce w/ HDFS</vt:lpstr>
      <vt:lpstr>Hadoop MapReduce work flow</vt:lpstr>
      <vt:lpstr>Example</vt:lpstr>
      <vt:lpstr>Summary of MapReduce</vt:lpstr>
      <vt:lpstr>Pregel</vt:lpstr>
      <vt:lpstr>Introduction </vt:lpstr>
      <vt:lpstr>Introduction(cont.) </vt:lpstr>
      <vt:lpstr>Introduction(cont.) </vt:lpstr>
      <vt:lpstr>model</vt:lpstr>
      <vt:lpstr>Model </vt:lpstr>
      <vt:lpstr>BSP Model </vt:lpstr>
      <vt:lpstr>Pregel Model</vt:lpstr>
      <vt:lpstr>Pregel Model</vt:lpstr>
      <vt:lpstr>Partition </vt:lpstr>
      <vt:lpstr>Partition(cont.) </vt:lpstr>
      <vt:lpstr>Worker Model</vt:lpstr>
      <vt:lpstr>Worker Model</vt:lpstr>
      <vt:lpstr>model</vt:lpstr>
      <vt:lpstr>Master </vt:lpstr>
      <vt:lpstr>Master </vt:lpstr>
      <vt:lpstr>Worker </vt:lpstr>
      <vt:lpstr>Worker </vt:lpstr>
      <vt:lpstr>Aggregators </vt:lpstr>
      <vt:lpstr>Failure Recover </vt:lpstr>
      <vt:lpstr>Failure Recover (cont.)</vt:lpstr>
      <vt:lpstr>model</vt:lpstr>
      <vt:lpstr>Communication</vt:lpstr>
      <vt:lpstr>Communication </vt:lpstr>
      <vt:lpstr>Communication(cont.) </vt:lpstr>
      <vt:lpstr>Combiners </vt:lpstr>
      <vt:lpstr>Aggregators </vt:lpstr>
      <vt:lpstr>Communication(cont.) </vt:lpstr>
      <vt:lpstr>Sample case</vt:lpstr>
      <vt:lpstr>Shortest Paths</vt:lpstr>
      <vt:lpstr>Shortest Paths</vt:lpstr>
      <vt:lpstr>Shortest Paths</vt:lpstr>
      <vt:lpstr>Summary of Pregel </vt:lpstr>
      <vt:lpstr>Summary 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5g</cp:lastModifiedBy>
  <cp:revision>2332</cp:revision>
  <dcterms:created xsi:type="dcterms:W3CDTF">2010-08-10T05:14:29Z</dcterms:created>
  <dcterms:modified xsi:type="dcterms:W3CDTF">2011-03-21T06:17:49Z</dcterms:modified>
</cp:coreProperties>
</file>