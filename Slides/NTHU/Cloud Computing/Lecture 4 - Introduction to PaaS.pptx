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7"/>
  </p:notesMasterIdLst>
  <p:sldIdLst>
    <p:sldId id="380" r:id="rId2"/>
    <p:sldId id="381" r:id="rId3"/>
    <p:sldId id="257" r:id="rId4"/>
    <p:sldId id="258" r:id="rId5"/>
    <p:sldId id="497" r:id="rId6"/>
    <p:sldId id="273" r:id="rId7"/>
    <p:sldId id="268" r:id="rId8"/>
    <p:sldId id="265" r:id="rId9"/>
    <p:sldId id="382" r:id="rId10"/>
    <p:sldId id="498" r:id="rId11"/>
    <p:sldId id="274" r:id="rId12"/>
    <p:sldId id="383" r:id="rId13"/>
    <p:sldId id="501" r:id="rId14"/>
    <p:sldId id="336" r:id="rId15"/>
    <p:sldId id="396" r:id="rId16"/>
    <p:sldId id="339" r:id="rId17"/>
    <p:sldId id="271" r:id="rId18"/>
    <p:sldId id="398" r:id="rId19"/>
    <p:sldId id="276" r:id="rId20"/>
    <p:sldId id="399" r:id="rId21"/>
    <p:sldId id="323" r:id="rId22"/>
    <p:sldId id="400" r:id="rId23"/>
    <p:sldId id="403" r:id="rId24"/>
    <p:sldId id="402" r:id="rId25"/>
    <p:sldId id="341" r:id="rId26"/>
    <p:sldId id="352" r:id="rId27"/>
    <p:sldId id="342" r:id="rId28"/>
    <p:sldId id="353" r:id="rId29"/>
    <p:sldId id="344" r:id="rId30"/>
    <p:sldId id="355" r:id="rId31"/>
    <p:sldId id="312" r:id="rId32"/>
    <p:sldId id="332" r:id="rId33"/>
    <p:sldId id="343" r:id="rId34"/>
    <p:sldId id="354" r:id="rId35"/>
    <p:sldId id="267" r:id="rId36"/>
    <p:sldId id="311" r:id="rId37"/>
    <p:sldId id="416" r:id="rId38"/>
    <p:sldId id="261" r:id="rId39"/>
    <p:sldId id="278" r:id="rId40"/>
    <p:sldId id="306" r:id="rId41"/>
    <p:sldId id="279" r:id="rId42"/>
    <p:sldId id="417" r:id="rId43"/>
    <p:sldId id="419" r:id="rId44"/>
    <p:sldId id="421" r:id="rId45"/>
    <p:sldId id="467" r:id="rId46"/>
    <p:sldId id="420" r:id="rId47"/>
    <p:sldId id="429" r:id="rId48"/>
    <p:sldId id="433" r:id="rId49"/>
    <p:sldId id="468" r:id="rId50"/>
    <p:sldId id="442" r:id="rId51"/>
    <p:sldId id="471" r:id="rId52"/>
    <p:sldId id="436" r:id="rId53"/>
    <p:sldId id="438" r:id="rId54"/>
    <p:sldId id="469" r:id="rId55"/>
    <p:sldId id="439" r:id="rId56"/>
    <p:sldId id="440" r:id="rId57"/>
    <p:sldId id="444" r:id="rId58"/>
    <p:sldId id="445" r:id="rId59"/>
    <p:sldId id="446" r:id="rId60"/>
    <p:sldId id="447" r:id="rId61"/>
    <p:sldId id="448" r:id="rId62"/>
    <p:sldId id="449" r:id="rId63"/>
    <p:sldId id="450" r:id="rId64"/>
    <p:sldId id="451" r:id="rId65"/>
    <p:sldId id="470" r:id="rId66"/>
    <p:sldId id="459" r:id="rId67"/>
    <p:sldId id="461" r:id="rId68"/>
    <p:sldId id="472" r:id="rId69"/>
    <p:sldId id="462" r:id="rId70"/>
    <p:sldId id="474" r:id="rId71"/>
    <p:sldId id="463" r:id="rId72"/>
    <p:sldId id="422" r:id="rId73"/>
    <p:sldId id="465" r:id="rId74"/>
    <p:sldId id="466" r:id="rId75"/>
    <p:sldId id="485" r:id="rId76"/>
    <p:sldId id="490" r:id="rId77"/>
    <p:sldId id="488" r:id="rId78"/>
    <p:sldId id="489" r:id="rId79"/>
    <p:sldId id="486" r:id="rId80"/>
    <p:sldId id="487" r:id="rId81"/>
    <p:sldId id="475" r:id="rId82"/>
    <p:sldId id="425" r:id="rId83"/>
    <p:sldId id="491" r:id="rId84"/>
    <p:sldId id="427" r:id="rId85"/>
    <p:sldId id="493" r:id="rId86"/>
    <p:sldId id="494" r:id="rId87"/>
    <p:sldId id="495" r:id="rId88"/>
    <p:sldId id="496" r:id="rId89"/>
    <p:sldId id="492" r:id="rId90"/>
    <p:sldId id="479" r:id="rId91"/>
    <p:sldId id="483" r:id="rId92"/>
    <p:sldId id="482" r:id="rId93"/>
    <p:sldId id="476" r:id="rId94"/>
    <p:sldId id="484" r:id="rId95"/>
    <p:sldId id="478" r:id="rId9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6" autoAdjust="0"/>
    <p:restoredTop sz="86837" autoAdjust="0"/>
  </p:normalViewPr>
  <p:slideViewPr>
    <p:cSldViewPr>
      <p:cViewPr varScale="1">
        <p:scale>
          <a:sx n="59" d="100"/>
          <a:sy n="59" d="100"/>
        </p:scale>
        <p:origin x="-6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1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8FBA7-7D6F-4C73-91B3-3864D27A30D2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96242-272F-4F68-984C-1337F8864C8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4955C-0713-4109-85AA-4E06333E30C6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4955C-0713-4109-85AA-4E06333E30C6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4955C-0713-4109-85AA-4E06333E30C6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4955C-0713-4109-85AA-4E06333E30C6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96242-272F-4F68-984C-1337F8864C84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2010/12/14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otblogs.com.tw/regionbbs/" TargetMode="External"/><Relationship Id="rId2" Type="http://schemas.openxmlformats.org/officeDocument/2006/relationships/hyperlink" Target="http://www.microsoft.com/windowsazur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Platform as a Service</a:t>
            </a: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</a:p>
          <a:p>
            <a:pPr lvl="1"/>
            <a:r>
              <a:rPr lang="en-US" altLang="zh-TW" dirty="0" smtClean="0"/>
              <a:t>From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to PaaS</a:t>
            </a:r>
          </a:p>
          <a:p>
            <a:pPr lvl="1"/>
            <a:r>
              <a:rPr lang="en-US" altLang="zh-TW" dirty="0" smtClean="0"/>
              <a:t>What is </a:t>
            </a:r>
            <a:r>
              <a:rPr lang="en-US" altLang="zh-TW" dirty="0" err="1" smtClean="0"/>
              <a:t>PaaS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PaaS properties and characteristics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Cloud Platform</a:t>
            </a:r>
          </a:p>
          <a:p>
            <a:pPr lvl="1"/>
            <a:r>
              <a:rPr lang="en-US" altLang="zh-TW" dirty="0" smtClean="0"/>
              <a:t>Case studies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From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to PaaS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What is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PaaS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PaaS properties and characteristics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Has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Done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IaaS</a:t>
            </a:r>
            <a:r>
              <a:rPr lang="en-US" altLang="zh-TW" dirty="0" smtClean="0"/>
              <a:t> provides virtual machines and resources such that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vendors can segment resources for each user</a:t>
            </a:r>
          </a:p>
          <a:p>
            <a:r>
              <a:rPr lang="en-US" altLang="zh-TW" dirty="0" err="1" smtClean="0"/>
              <a:t>IaaS</a:t>
            </a:r>
            <a:r>
              <a:rPr lang="en-US" altLang="zh-TW" dirty="0" smtClean="0"/>
              <a:t> providers can also make users do not need to purchase the hardware</a:t>
            </a:r>
          </a:p>
          <a:p>
            <a:r>
              <a:rPr lang="en-US" altLang="zh-TW" dirty="0" err="1" smtClean="0"/>
              <a:t>IaaS</a:t>
            </a:r>
            <a:r>
              <a:rPr lang="en-US" altLang="zh-TW" dirty="0" smtClean="0"/>
              <a:t> can make better use of resources</a:t>
            </a:r>
          </a:p>
        </p:txBody>
      </p:sp>
      <p:sp>
        <p:nvSpPr>
          <p:cNvPr id="6" name="矩形 5"/>
          <p:cNvSpPr/>
          <p:nvPr/>
        </p:nvSpPr>
        <p:spPr>
          <a:xfrm>
            <a:off x="1656838" y="4941168"/>
            <a:ext cx="553388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zh-TW" sz="6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But is it enough?</a:t>
            </a:r>
            <a:endParaRPr lang="zh-TW" altLang="en-US" sz="6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Can Do</a:t>
            </a:r>
            <a:endParaRPr lang="zh-TW" altLang="en-US" dirty="0"/>
          </a:p>
        </p:txBody>
      </p:sp>
      <p:sp>
        <p:nvSpPr>
          <p:cNvPr id="51" name="內容版面配置區 5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Traditional IT</a:t>
            </a:r>
            <a:endParaRPr lang="zh-TW" altLang="en-US" dirty="0"/>
          </a:p>
        </p:txBody>
      </p:sp>
      <p:sp>
        <p:nvSpPr>
          <p:cNvPr id="52" name="內容版面配置區 5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 smtClean="0"/>
              <a:t>IaaS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132856"/>
            <a:ext cx="2532769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4525" y="2132856"/>
            <a:ext cx="3169419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IaaS</a:t>
            </a:r>
            <a:r>
              <a:rPr lang="en-US" altLang="zh-TW" dirty="0" smtClean="0"/>
              <a:t> is Not Enough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IaaS</a:t>
            </a:r>
            <a:r>
              <a:rPr lang="en-US" altLang="zh-TW" dirty="0" smtClean="0"/>
              <a:t> provides many virtual or physical machines, but it cannot alter the quantity automatically</a:t>
            </a:r>
          </a:p>
          <a:p>
            <a:r>
              <a:rPr lang="en-US" altLang="zh-TW" dirty="0" smtClean="0"/>
              <a:t>Consumers might </a:t>
            </a:r>
          </a:p>
          <a:p>
            <a:pPr lvl="1"/>
            <a:r>
              <a:rPr lang="en-US" altLang="zh-TW" dirty="0" smtClean="0"/>
              <a:t>Require automatic make-decisions of dispatching jobs to available resources</a:t>
            </a:r>
          </a:p>
          <a:p>
            <a:pPr lvl="1"/>
            <a:r>
              <a:rPr lang="en-US" altLang="zh-TW" dirty="0" smtClean="0"/>
              <a:t>Need a running environment or a development and testing platform to design their applications or services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Consumers require more and more…</a:t>
            </a:r>
          </a:p>
          <a:p>
            <a:pPr lvl="1"/>
            <a:r>
              <a:rPr lang="en-US" altLang="zh-TW" dirty="0" smtClean="0"/>
              <a:t>Large-scale resource abstraction and management</a:t>
            </a:r>
          </a:p>
          <a:p>
            <a:pPr lvl="1"/>
            <a:r>
              <a:rPr lang="en-US" altLang="zh-TW" dirty="0" smtClean="0"/>
              <a:t>Requirement of large-scale resources on demand</a:t>
            </a:r>
          </a:p>
          <a:p>
            <a:pPr lvl="1"/>
            <a:r>
              <a:rPr lang="en-US" altLang="zh-TW" dirty="0" smtClean="0"/>
              <a:t>Running and hosting environment</a:t>
            </a:r>
          </a:p>
          <a:p>
            <a:pPr lvl="1"/>
            <a:r>
              <a:rPr lang="en-US" altLang="zh-TW" dirty="0" smtClean="0"/>
              <a:t>Automatic and autonomous mechanism</a:t>
            </a:r>
          </a:p>
          <a:p>
            <a:pPr lvl="1"/>
            <a:r>
              <a:rPr lang="en-US" altLang="zh-TW" dirty="0" smtClean="0"/>
              <a:t>Distribution and management of jobs</a:t>
            </a:r>
          </a:p>
          <a:p>
            <a:pPr lvl="1"/>
            <a:r>
              <a:rPr lang="en-US" altLang="zh-TW" dirty="0" smtClean="0"/>
              <a:t>Access control and authentication</a:t>
            </a:r>
          </a:p>
          <a:p>
            <a:pPr lvl="1"/>
            <a:r>
              <a:rPr lang="en-US" altLang="zh-TW" dirty="0" smtClean="0"/>
              <a:t>…</a:t>
            </a:r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4991" t="2676" r="2676" b="2495"/>
          <a:stretch>
            <a:fillRect/>
          </a:stretch>
        </p:blipFill>
        <p:spPr bwMode="auto">
          <a:xfrm>
            <a:off x="6228184" y="3933056"/>
            <a:ext cx="2664296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More and More…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 </a:t>
            </a:r>
          </a:p>
          <a:p>
            <a:pPr lvl="1">
              <a:buNone/>
            </a:pPr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b="12766"/>
          <a:stretch>
            <a:fillRect/>
          </a:stretch>
        </p:blipFill>
        <p:spPr bwMode="auto">
          <a:xfrm>
            <a:off x="3059832" y="2060848"/>
            <a:ext cx="5488178" cy="29523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橢圓形圖說文字 4"/>
          <p:cNvSpPr/>
          <p:nvPr/>
        </p:nvSpPr>
        <p:spPr>
          <a:xfrm>
            <a:off x="1043608" y="2492896"/>
            <a:ext cx="1728192" cy="1512168"/>
          </a:xfrm>
          <a:prstGeom prst="wedgeEllipseCallout">
            <a:avLst>
              <a:gd name="adj1" fmla="val 69791"/>
              <a:gd name="adj2" fmla="val 47061"/>
            </a:avLst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TW" sz="2000" dirty="0" smtClean="0"/>
              <a:t>We need more</a:t>
            </a:r>
          </a:p>
          <a:p>
            <a:pPr algn="ctr"/>
            <a:r>
              <a:rPr lang="en-US" altLang="zh-TW" sz="2000" dirty="0" smtClean="0"/>
              <a:t>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services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PaaS Buys It for You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546848" cy="4525963"/>
          </a:xfrm>
        </p:spPr>
        <p:txBody>
          <a:bodyPr/>
          <a:lstStyle/>
          <a:p>
            <a:r>
              <a:rPr lang="en-US" altLang="zh-TW" dirty="0" smtClean="0"/>
              <a:t>PaaS provides a series of properties that can satisfy user’s requirements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PaaS</a:t>
            </a:r>
            <a:r>
              <a:rPr lang="en-US" altLang="zh-TW" dirty="0" smtClean="0"/>
              <a:t> guarantees the quality of resources, services and applications</a:t>
            </a:r>
            <a:endParaRPr lang="zh-TW" altLang="en-US" dirty="0"/>
          </a:p>
        </p:txBody>
      </p:sp>
      <p:pic>
        <p:nvPicPr>
          <p:cNvPr id="2051" name="Picture 3" descr="C:\Documents and Settings\5G\Local Settings\Temporary Internet Files\Content.IE5\O9YV8TA7\MM900356783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3140968"/>
            <a:ext cx="968188" cy="968188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700808"/>
            <a:ext cx="3798789" cy="368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From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to PaaS</a:t>
            </a:r>
            <a:endParaRPr lang="zh-TW" altLang="en-US" dirty="0"/>
          </a:p>
        </p:txBody>
      </p:sp>
      <p:grpSp>
        <p:nvGrpSpPr>
          <p:cNvPr id="2" name="群組 4"/>
          <p:cNvGrpSpPr/>
          <p:nvPr/>
        </p:nvGrpSpPr>
        <p:grpSpPr>
          <a:xfrm>
            <a:off x="1043608" y="1916832"/>
            <a:ext cx="2154144" cy="4392488"/>
            <a:chOff x="-36512" y="1412776"/>
            <a:chExt cx="2154144" cy="4392488"/>
          </a:xfrm>
        </p:grpSpPr>
        <p:grpSp>
          <p:nvGrpSpPr>
            <p:cNvPr id="3" name="群組 44"/>
            <p:cNvGrpSpPr/>
            <p:nvPr/>
          </p:nvGrpSpPr>
          <p:grpSpPr>
            <a:xfrm>
              <a:off x="389440" y="1412776"/>
              <a:ext cx="1728192" cy="4392488"/>
              <a:chOff x="539552" y="1412776"/>
              <a:chExt cx="1728192" cy="4392488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539552" y="1412776"/>
                <a:ext cx="1728192" cy="439248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zh-TW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Traditional IT</a:t>
                </a:r>
                <a:endParaRPr lang="zh-TW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0" name="圓角矩形 9"/>
              <p:cNvSpPr/>
              <p:nvPr/>
            </p:nvSpPr>
            <p:spPr>
              <a:xfrm>
                <a:off x="611560" y="5373216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Networking</a:t>
                </a:r>
                <a:endParaRPr lang="zh-TW" altLang="en-US" dirty="0"/>
              </a:p>
            </p:txBody>
          </p:sp>
          <p:sp>
            <p:nvSpPr>
              <p:cNvPr id="11" name="圓角矩形 10"/>
              <p:cNvSpPr/>
              <p:nvPr/>
            </p:nvSpPr>
            <p:spPr>
              <a:xfrm>
                <a:off x="611560" y="4941168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Storage</a:t>
                </a:r>
                <a:endParaRPr lang="zh-TW" altLang="en-US" dirty="0"/>
              </a:p>
            </p:txBody>
          </p:sp>
          <p:sp>
            <p:nvSpPr>
              <p:cNvPr id="12" name="圓角矩形 11"/>
              <p:cNvSpPr/>
              <p:nvPr/>
            </p:nvSpPr>
            <p:spPr>
              <a:xfrm>
                <a:off x="611560" y="4509120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Servers</a:t>
                </a:r>
                <a:endParaRPr lang="zh-TW" altLang="en-US" dirty="0"/>
              </a:p>
            </p:txBody>
          </p:sp>
          <p:sp>
            <p:nvSpPr>
              <p:cNvPr id="13" name="圓角矩形 12"/>
              <p:cNvSpPr/>
              <p:nvPr/>
            </p:nvSpPr>
            <p:spPr>
              <a:xfrm>
                <a:off x="611560" y="4077072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Virtualization</a:t>
                </a:r>
                <a:endParaRPr lang="zh-TW" altLang="en-US" dirty="0"/>
              </a:p>
            </p:txBody>
          </p:sp>
          <p:sp>
            <p:nvSpPr>
              <p:cNvPr id="14" name="圓角矩形 13"/>
              <p:cNvSpPr/>
              <p:nvPr/>
            </p:nvSpPr>
            <p:spPr>
              <a:xfrm>
                <a:off x="611560" y="3645024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OS</a:t>
                </a:r>
                <a:endParaRPr lang="zh-TW" altLang="en-US" dirty="0"/>
              </a:p>
            </p:txBody>
          </p:sp>
          <p:sp>
            <p:nvSpPr>
              <p:cNvPr id="15" name="圓角矩形 14"/>
              <p:cNvSpPr/>
              <p:nvPr/>
            </p:nvSpPr>
            <p:spPr>
              <a:xfrm>
                <a:off x="611560" y="3212976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Middleware</a:t>
                </a:r>
                <a:endParaRPr lang="zh-TW" altLang="en-US" dirty="0"/>
              </a:p>
            </p:txBody>
          </p:sp>
          <p:sp>
            <p:nvSpPr>
              <p:cNvPr id="16" name="圓角矩形 15"/>
              <p:cNvSpPr/>
              <p:nvPr/>
            </p:nvSpPr>
            <p:spPr>
              <a:xfrm>
                <a:off x="611560" y="2780928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Runtime</a:t>
                </a:r>
                <a:endParaRPr lang="zh-TW" altLang="en-US" dirty="0"/>
              </a:p>
            </p:txBody>
          </p:sp>
          <p:sp>
            <p:nvSpPr>
              <p:cNvPr id="17" name="圓角矩形 16"/>
              <p:cNvSpPr/>
              <p:nvPr/>
            </p:nvSpPr>
            <p:spPr>
              <a:xfrm>
                <a:off x="611560" y="2348880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Data</a:t>
                </a:r>
                <a:endParaRPr lang="zh-TW" altLang="en-US" dirty="0"/>
              </a:p>
            </p:txBody>
          </p:sp>
          <p:sp>
            <p:nvSpPr>
              <p:cNvPr id="18" name="圓角矩形 17"/>
              <p:cNvSpPr/>
              <p:nvPr/>
            </p:nvSpPr>
            <p:spPr>
              <a:xfrm>
                <a:off x="611560" y="1916832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Applications</a:t>
                </a:r>
                <a:endParaRPr lang="zh-TW" altLang="en-US" dirty="0"/>
              </a:p>
            </p:txBody>
          </p:sp>
        </p:grpSp>
        <p:sp>
          <p:nvSpPr>
            <p:cNvPr id="7" name="左大括弧 6"/>
            <p:cNvSpPr/>
            <p:nvPr/>
          </p:nvSpPr>
          <p:spPr>
            <a:xfrm>
              <a:off x="219666" y="1945432"/>
              <a:ext cx="144016" cy="381642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文字方塊 7"/>
            <p:cNvSpPr txBox="1"/>
            <p:nvPr/>
          </p:nvSpPr>
          <p:spPr>
            <a:xfrm rot="16200000">
              <a:off x="-470413" y="3713146"/>
              <a:ext cx="12063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smtClean="0"/>
                <a:t>You Manage</a:t>
              </a:r>
              <a:endParaRPr lang="zh-TW" altLang="en-US" sz="1600" dirty="0"/>
            </a:p>
          </p:txBody>
        </p:sp>
      </p:grpSp>
      <p:grpSp>
        <p:nvGrpSpPr>
          <p:cNvPr id="5" name="群組 18"/>
          <p:cNvGrpSpPr/>
          <p:nvPr/>
        </p:nvGrpSpPr>
        <p:grpSpPr>
          <a:xfrm>
            <a:off x="3648089" y="1916832"/>
            <a:ext cx="2652103" cy="4392488"/>
            <a:chOff x="-36512" y="1412776"/>
            <a:chExt cx="2652103" cy="4392488"/>
          </a:xfrm>
        </p:grpSpPr>
        <p:grpSp>
          <p:nvGrpSpPr>
            <p:cNvPr id="6" name="群組 135"/>
            <p:cNvGrpSpPr/>
            <p:nvPr/>
          </p:nvGrpSpPr>
          <p:grpSpPr>
            <a:xfrm>
              <a:off x="389440" y="1412776"/>
              <a:ext cx="1728192" cy="4392488"/>
              <a:chOff x="539552" y="1412776"/>
              <a:chExt cx="1728192" cy="4392488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539552" y="1412776"/>
                <a:ext cx="1728192" cy="439248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zh-TW" sz="2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IaaS</a:t>
                </a:r>
                <a:endParaRPr lang="zh-TW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圓角矩形 25"/>
              <p:cNvSpPr/>
              <p:nvPr/>
            </p:nvSpPr>
            <p:spPr>
              <a:xfrm>
                <a:off x="611560" y="5373216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Networking</a:t>
                </a:r>
                <a:endParaRPr lang="zh-TW" altLang="en-US" dirty="0"/>
              </a:p>
            </p:txBody>
          </p:sp>
          <p:sp>
            <p:nvSpPr>
              <p:cNvPr id="27" name="圓角矩形 26"/>
              <p:cNvSpPr/>
              <p:nvPr/>
            </p:nvSpPr>
            <p:spPr>
              <a:xfrm>
                <a:off x="611560" y="4941168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Storage</a:t>
                </a:r>
                <a:endParaRPr lang="zh-TW" altLang="en-US" dirty="0"/>
              </a:p>
            </p:txBody>
          </p:sp>
          <p:sp>
            <p:nvSpPr>
              <p:cNvPr id="28" name="圓角矩形 27"/>
              <p:cNvSpPr/>
              <p:nvPr/>
            </p:nvSpPr>
            <p:spPr>
              <a:xfrm>
                <a:off x="611560" y="4509120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Servers</a:t>
                </a:r>
                <a:endParaRPr lang="zh-TW" altLang="en-US" dirty="0"/>
              </a:p>
            </p:txBody>
          </p:sp>
          <p:sp>
            <p:nvSpPr>
              <p:cNvPr id="29" name="圓角矩形 28"/>
              <p:cNvSpPr/>
              <p:nvPr/>
            </p:nvSpPr>
            <p:spPr>
              <a:xfrm>
                <a:off x="611560" y="4077072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Virtualization</a:t>
                </a:r>
                <a:endParaRPr lang="zh-TW" altLang="en-US" dirty="0"/>
              </a:p>
            </p:txBody>
          </p:sp>
          <p:sp>
            <p:nvSpPr>
              <p:cNvPr id="30" name="圓角矩形 29"/>
              <p:cNvSpPr/>
              <p:nvPr/>
            </p:nvSpPr>
            <p:spPr>
              <a:xfrm>
                <a:off x="611560" y="3645024"/>
                <a:ext cx="1584176" cy="338336"/>
              </a:xfrm>
              <a:prstGeom prst="roundRect">
                <a:avLst/>
              </a:prstGeom>
              <a:gradFill flip="none" rotWithShape="1">
                <a:gsLst>
                  <a:gs pos="50000">
                    <a:schemeClr val="bg1">
                      <a:lumMod val="85000"/>
                    </a:schemeClr>
                  </a:gs>
                  <a:gs pos="35000">
                    <a:schemeClr val="accent1">
                      <a:tint val="37000"/>
                      <a:satMod val="300000"/>
                    </a:schemeClr>
                  </a:gs>
                  <a:gs pos="100000">
                    <a:schemeClr val="accent1">
                      <a:tint val="15000"/>
                      <a:satMod val="350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OS</a:t>
                </a:r>
                <a:endParaRPr lang="zh-TW" altLang="en-US" dirty="0"/>
              </a:p>
            </p:txBody>
          </p:sp>
          <p:sp>
            <p:nvSpPr>
              <p:cNvPr id="31" name="圓角矩形 30"/>
              <p:cNvSpPr/>
              <p:nvPr/>
            </p:nvSpPr>
            <p:spPr>
              <a:xfrm>
                <a:off x="611560" y="3212976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Middleware</a:t>
                </a:r>
                <a:endParaRPr lang="zh-TW" altLang="en-US" dirty="0"/>
              </a:p>
            </p:txBody>
          </p:sp>
          <p:sp>
            <p:nvSpPr>
              <p:cNvPr id="32" name="圓角矩形 31"/>
              <p:cNvSpPr/>
              <p:nvPr/>
            </p:nvSpPr>
            <p:spPr>
              <a:xfrm>
                <a:off x="611560" y="2780928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Runtime</a:t>
                </a:r>
                <a:endParaRPr lang="zh-TW" altLang="en-US" dirty="0"/>
              </a:p>
            </p:txBody>
          </p:sp>
          <p:sp>
            <p:nvSpPr>
              <p:cNvPr id="33" name="圓角矩形 32"/>
              <p:cNvSpPr/>
              <p:nvPr/>
            </p:nvSpPr>
            <p:spPr>
              <a:xfrm>
                <a:off x="611560" y="2348880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Data</a:t>
                </a:r>
                <a:endParaRPr lang="zh-TW" altLang="en-US" dirty="0"/>
              </a:p>
            </p:txBody>
          </p:sp>
          <p:sp>
            <p:nvSpPr>
              <p:cNvPr id="34" name="圓角矩形 33"/>
              <p:cNvSpPr/>
              <p:nvPr/>
            </p:nvSpPr>
            <p:spPr>
              <a:xfrm>
                <a:off x="611560" y="1916832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Applications</a:t>
                </a:r>
                <a:endParaRPr lang="zh-TW" altLang="en-US" dirty="0"/>
              </a:p>
            </p:txBody>
          </p:sp>
        </p:grpSp>
        <p:sp>
          <p:nvSpPr>
            <p:cNvPr id="21" name="左大括弧 20"/>
            <p:cNvSpPr/>
            <p:nvPr/>
          </p:nvSpPr>
          <p:spPr>
            <a:xfrm>
              <a:off x="219665" y="1945432"/>
              <a:ext cx="147803" cy="184360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 rot="16200000">
              <a:off x="-470413" y="2728553"/>
              <a:ext cx="12063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smtClean="0"/>
                <a:t>You Manage</a:t>
              </a:r>
              <a:endParaRPr lang="zh-TW" altLang="en-US" sz="1600" dirty="0"/>
            </a:p>
          </p:txBody>
        </p:sp>
        <p:sp>
          <p:nvSpPr>
            <p:cNvPr id="23" name="文字方塊 22"/>
            <p:cNvSpPr txBox="1"/>
            <p:nvPr/>
          </p:nvSpPr>
          <p:spPr>
            <a:xfrm rot="5400000">
              <a:off x="1641222" y="4587080"/>
              <a:ext cx="1610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smtClean="0"/>
                <a:t>Provider Manage</a:t>
              </a:r>
              <a:endParaRPr lang="zh-TW" altLang="en-US" sz="1600" dirty="0"/>
            </a:p>
          </p:txBody>
        </p:sp>
        <p:sp>
          <p:nvSpPr>
            <p:cNvPr id="24" name="右大括弧 23"/>
            <p:cNvSpPr/>
            <p:nvPr/>
          </p:nvSpPr>
          <p:spPr>
            <a:xfrm>
              <a:off x="2189640" y="3861048"/>
              <a:ext cx="122045" cy="187220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34"/>
          <p:cNvGrpSpPr/>
          <p:nvPr/>
        </p:nvGrpSpPr>
        <p:grpSpPr>
          <a:xfrm>
            <a:off x="6228184" y="1916832"/>
            <a:ext cx="2652103" cy="4392488"/>
            <a:chOff x="-36512" y="1412776"/>
            <a:chExt cx="2652103" cy="4392488"/>
          </a:xfrm>
        </p:grpSpPr>
        <p:grpSp>
          <p:nvGrpSpPr>
            <p:cNvPr id="20" name="群組 151"/>
            <p:cNvGrpSpPr/>
            <p:nvPr/>
          </p:nvGrpSpPr>
          <p:grpSpPr>
            <a:xfrm>
              <a:off x="389440" y="1412776"/>
              <a:ext cx="1728192" cy="4392488"/>
              <a:chOff x="539552" y="1412776"/>
              <a:chExt cx="1728192" cy="4392488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539552" y="1412776"/>
                <a:ext cx="1728192" cy="439248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zh-TW" sz="2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PaaS</a:t>
                </a:r>
                <a:endParaRPr lang="zh-TW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2" name="圓角矩形 41"/>
              <p:cNvSpPr/>
              <p:nvPr/>
            </p:nvSpPr>
            <p:spPr>
              <a:xfrm>
                <a:off x="611560" y="5373216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Networking</a:t>
                </a:r>
                <a:endParaRPr lang="zh-TW" altLang="en-US" dirty="0"/>
              </a:p>
            </p:txBody>
          </p:sp>
          <p:sp>
            <p:nvSpPr>
              <p:cNvPr id="43" name="圓角矩形 42"/>
              <p:cNvSpPr/>
              <p:nvPr/>
            </p:nvSpPr>
            <p:spPr>
              <a:xfrm>
                <a:off x="611560" y="4941168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Storage</a:t>
                </a:r>
                <a:endParaRPr lang="zh-TW" altLang="en-US" dirty="0"/>
              </a:p>
            </p:txBody>
          </p:sp>
          <p:sp>
            <p:nvSpPr>
              <p:cNvPr id="44" name="圓角矩形 43"/>
              <p:cNvSpPr/>
              <p:nvPr/>
            </p:nvSpPr>
            <p:spPr>
              <a:xfrm>
                <a:off x="611560" y="4509120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Servers</a:t>
                </a:r>
                <a:endParaRPr lang="zh-TW" altLang="en-US" dirty="0"/>
              </a:p>
            </p:txBody>
          </p:sp>
          <p:sp>
            <p:nvSpPr>
              <p:cNvPr id="45" name="圓角矩形 44"/>
              <p:cNvSpPr/>
              <p:nvPr/>
            </p:nvSpPr>
            <p:spPr>
              <a:xfrm>
                <a:off x="611560" y="4077072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Virtualization</a:t>
                </a:r>
                <a:endParaRPr lang="zh-TW" altLang="en-US" dirty="0"/>
              </a:p>
            </p:txBody>
          </p:sp>
          <p:sp>
            <p:nvSpPr>
              <p:cNvPr id="46" name="圓角矩形 45"/>
              <p:cNvSpPr/>
              <p:nvPr/>
            </p:nvSpPr>
            <p:spPr>
              <a:xfrm>
                <a:off x="611560" y="3645024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OS</a:t>
                </a:r>
                <a:endParaRPr lang="zh-TW" altLang="en-US" dirty="0"/>
              </a:p>
            </p:txBody>
          </p:sp>
          <p:sp>
            <p:nvSpPr>
              <p:cNvPr id="47" name="圓角矩形 46"/>
              <p:cNvSpPr/>
              <p:nvPr/>
            </p:nvSpPr>
            <p:spPr>
              <a:xfrm>
                <a:off x="611560" y="3212976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Middleware</a:t>
                </a:r>
                <a:endParaRPr lang="zh-TW" altLang="en-US" dirty="0"/>
              </a:p>
            </p:txBody>
          </p:sp>
          <p:sp>
            <p:nvSpPr>
              <p:cNvPr id="48" name="圓角矩形 47"/>
              <p:cNvSpPr/>
              <p:nvPr/>
            </p:nvSpPr>
            <p:spPr>
              <a:xfrm>
                <a:off x="611560" y="2780928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Runtime</a:t>
                </a:r>
                <a:endParaRPr lang="zh-TW" altLang="en-US" dirty="0"/>
              </a:p>
            </p:txBody>
          </p:sp>
          <p:sp>
            <p:nvSpPr>
              <p:cNvPr id="49" name="圓角矩形 48"/>
              <p:cNvSpPr/>
              <p:nvPr/>
            </p:nvSpPr>
            <p:spPr>
              <a:xfrm>
                <a:off x="611560" y="2348880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Data</a:t>
                </a:r>
                <a:endParaRPr lang="zh-TW" altLang="en-US" dirty="0"/>
              </a:p>
            </p:txBody>
          </p:sp>
          <p:sp>
            <p:nvSpPr>
              <p:cNvPr id="50" name="圓角矩形 49"/>
              <p:cNvSpPr/>
              <p:nvPr/>
            </p:nvSpPr>
            <p:spPr>
              <a:xfrm>
                <a:off x="611560" y="1916832"/>
                <a:ext cx="1584176" cy="33833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Applications</a:t>
                </a:r>
                <a:endParaRPr lang="zh-TW" altLang="en-US" dirty="0"/>
              </a:p>
            </p:txBody>
          </p:sp>
        </p:grpSp>
        <p:sp>
          <p:nvSpPr>
            <p:cNvPr id="37" name="左大括弧 36"/>
            <p:cNvSpPr/>
            <p:nvPr/>
          </p:nvSpPr>
          <p:spPr>
            <a:xfrm>
              <a:off x="219666" y="1945432"/>
              <a:ext cx="119736" cy="76348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 rot="16200000">
              <a:off x="-470413" y="2206718"/>
              <a:ext cx="12063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smtClean="0"/>
                <a:t>You Manage</a:t>
              </a:r>
              <a:endParaRPr lang="zh-TW" altLang="en-US" sz="1600" dirty="0"/>
            </a:p>
          </p:txBody>
        </p:sp>
        <p:sp>
          <p:nvSpPr>
            <p:cNvPr id="39" name="文字方塊 38"/>
            <p:cNvSpPr txBox="1"/>
            <p:nvPr/>
          </p:nvSpPr>
          <p:spPr>
            <a:xfrm rot="5400000">
              <a:off x="1641222" y="4064815"/>
              <a:ext cx="1610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 dirty="0" smtClean="0"/>
                <a:t>Provider Manage</a:t>
              </a:r>
              <a:endParaRPr lang="zh-TW" altLang="en-US" sz="1600" dirty="0"/>
            </a:p>
          </p:txBody>
        </p:sp>
        <p:sp>
          <p:nvSpPr>
            <p:cNvPr id="40" name="右大括弧 39"/>
            <p:cNvSpPr/>
            <p:nvPr/>
          </p:nvSpPr>
          <p:spPr>
            <a:xfrm>
              <a:off x="2189640" y="2780928"/>
              <a:ext cx="93978" cy="295232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From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IaaS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to PaaS</a:t>
            </a:r>
          </a:p>
          <a:p>
            <a:r>
              <a:rPr lang="en-US" altLang="zh-TW" dirty="0" smtClean="0"/>
              <a:t>What is </a:t>
            </a:r>
            <a:r>
              <a:rPr lang="en-US" altLang="zh-TW" dirty="0" err="1" smtClean="0"/>
              <a:t>PaaS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PaaS properties and characteristics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Platform as a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zh-TW" b="1" dirty="0" smtClean="0"/>
              <a:t>Platform as a Service (</a:t>
            </a:r>
            <a:r>
              <a:rPr lang="en-GB" altLang="zh-TW" b="1" dirty="0" err="1" smtClean="0"/>
              <a:t>PaaS</a:t>
            </a:r>
            <a:r>
              <a:rPr lang="en-GB" altLang="zh-TW" b="1" dirty="0" smtClean="0"/>
              <a:t>)</a:t>
            </a:r>
            <a:r>
              <a:rPr lang="en-US" altLang="zh-TW" dirty="0" smtClean="0"/>
              <a:t> is a computing platform that abstracts the infrastructure, OS, and middleware to drive developer productivity</a:t>
            </a:r>
            <a:endParaRPr lang="zh-TW" altLang="en-US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3361" y="2924944"/>
            <a:ext cx="6537600" cy="39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Platform as a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052736"/>
            <a:ext cx="8496944" cy="1800201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Deliver the computing platform as a service</a:t>
            </a:r>
          </a:p>
          <a:p>
            <a:pPr lvl="1"/>
            <a:r>
              <a:rPr lang="en-US" altLang="zh-TW" dirty="0" smtClean="0"/>
              <a:t>Developing applications using programming languages and tools supported by the PaaS provider</a:t>
            </a:r>
            <a:endParaRPr lang="zh-TW" altLang="en-US" dirty="0" smtClean="0"/>
          </a:p>
          <a:p>
            <a:pPr lvl="1"/>
            <a:r>
              <a:rPr lang="en-US" altLang="zh-TW" dirty="0" smtClean="0"/>
              <a:t>Deploying consumer-created applications onto the cloud infrastructure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3040" y="2843393"/>
            <a:ext cx="6537921" cy="3969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圓角矩形 9"/>
          <p:cNvSpPr/>
          <p:nvPr/>
        </p:nvSpPr>
        <p:spPr>
          <a:xfrm>
            <a:off x="1475656" y="5332783"/>
            <a:ext cx="5854784" cy="1434872"/>
          </a:xfrm>
          <a:prstGeom prst="roundRect">
            <a:avLst/>
          </a:prstGeom>
          <a:ln w="381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b="1" i="1" dirty="0" smtClean="0">
                <a:solidFill>
                  <a:schemeClr val="accent3">
                    <a:lumMod val="50000"/>
                  </a:schemeClr>
                </a:solidFill>
              </a:rPr>
              <a:t>Resource Pool</a:t>
            </a:r>
            <a:endParaRPr lang="zh-TW" altLang="en-US" sz="28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向下箭號 11"/>
          <p:cNvSpPr/>
          <p:nvPr/>
        </p:nvSpPr>
        <p:spPr>
          <a:xfrm>
            <a:off x="3347864" y="5260775"/>
            <a:ext cx="2304256" cy="43204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14" name="圓角矩形 13"/>
          <p:cNvSpPr/>
          <p:nvPr/>
        </p:nvSpPr>
        <p:spPr>
          <a:xfrm>
            <a:off x="1475656" y="2870407"/>
            <a:ext cx="5809064" cy="1094224"/>
          </a:xfrm>
          <a:prstGeom prst="roundRect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b="1" i="1" dirty="0" smtClean="0">
                <a:solidFill>
                  <a:schemeClr val="accent6">
                    <a:lumMod val="50000"/>
                  </a:schemeClr>
                </a:solidFill>
              </a:rPr>
              <a:t>Enabling Services</a:t>
            </a:r>
          </a:p>
        </p:txBody>
      </p:sp>
      <p:sp>
        <p:nvSpPr>
          <p:cNvPr id="11" name="向上箭號 10"/>
          <p:cNvSpPr/>
          <p:nvPr/>
        </p:nvSpPr>
        <p:spPr>
          <a:xfrm>
            <a:off x="3347864" y="3604591"/>
            <a:ext cx="2304256" cy="432048"/>
          </a:xfrm>
          <a:prstGeom prst="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provide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1475656" y="4036639"/>
            <a:ext cx="5832648" cy="1224136"/>
          </a:xfrm>
          <a:prstGeom prst="roundRect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b="1" i="1" dirty="0" smtClean="0">
                <a:solidFill>
                  <a:schemeClr val="accent2">
                    <a:lumMod val="50000"/>
                  </a:schemeClr>
                </a:solidFill>
              </a:rPr>
              <a:t>Core Platform</a:t>
            </a:r>
            <a:endParaRPr lang="zh-TW" altLang="en-US" sz="28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Resource Pool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1392" y="2287413"/>
            <a:ext cx="4614664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Resource Pool dynamically provides an abstraction and consolidation of large-scale resources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Consumers can acquire and return resources from the resource pool on demand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1152128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altLang="zh-TW" sz="3200" dirty="0" smtClean="0"/>
              <a:t>The capacities to abstract and control all the underlying resources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5580112" y="2420888"/>
            <a:ext cx="3168352" cy="3528392"/>
            <a:chOff x="4681270" y="2996952"/>
            <a:chExt cx="2803772" cy="2927033"/>
          </a:xfrm>
        </p:grpSpPr>
        <p:sp>
          <p:nvSpPr>
            <p:cNvPr id="8" name="圓角矩形 7"/>
            <p:cNvSpPr>
              <a:spLocks/>
            </p:cNvSpPr>
            <p:nvPr/>
          </p:nvSpPr>
          <p:spPr>
            <a:xfrm>
              <a:off x="4681270" y="5085185"/>
              <a:ext cx="2793600" cy="838800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Resource Pool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9" name="向下箭號 8"/>
            <p:cNvSpPr/>
            <p:nvPr/>
          </p:nvSpPr>
          <p:spPr>
            <a:xfrm>
              <a:off x="5293919" y="4869160"/>
              <a:ext cx="1589464" cy="330938"/>
            </a:xfrm>
            <a:prstGeom prst="downArrow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abstract</a:t>
              </a:r>
              <a:endParaRPr lang="zh-TW" altLang="en-US" sz="1600" dirty="0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4692260" y="2996952"/>
              <a:ext cx="2792782" cy="838148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Enabling Services</a:t>
              </a:r>
            </a:p>
          </p:txBody>
        </p:sp>
        <p:sp>
          <p:nvSpPr>
            <p:cNvPr id="11" name="向上箭號 10"/>
            <p:cNvSpPr/>
            <p:nvPr/>
          </p:nvSpPr>
          <p:spPr>
            <a:xfrm>
              <a:off x="5293919" y="3703335"/>
              <a:ext cx="1589464" cy="330938"/>
            </a:xfrm>
            <a:prstGeom prst="upArrow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provide</a:t>
              </a:r>
              <a:endParaRPr lang="zh-TW" altLang="en-US" sz="1600" dirty="0"/>
            </a:p>
          </p:txBody>
        </p:sp>
        <p:sp>
          <p:nvSpPr>
            <p:cNvPr id="12" name="圓角矩形 11"/>
            <p:cNvSpPr>
              <a:spLocks/>
            </p:cNvSpPr>
            <p:nvPr/>
          </p:nvSpPr>
          <p:spPr>
            <a:xfrm>
              <a:off x="4686591" y="4034273"/>
              <a:ext cx="2793600" cy="838800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Core Platform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Resource Pool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22912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Reduce the complexity and responsibility of cloud infrastructure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Provide the automatic management to provision resources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Access resources from the resource pool on demand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7496" y="1600200"/>
            <a:ext cx="3140968" cy="4187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Resource Pool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PaaS providers define the smallest unit of resource</a:t>
            </a:r>
          </a:p>
          <a:p>
            <a:pPr lvl="1"/>
            <a:r>
              <a:rPr lang="en-US" altLang="zh-TW" dirty="0" smtClean="0"/>
              <a:t>1GHz CPU computation ability</a:t>
            </a:r>
          </a:p>
          <a:p>
            <a:pPr lvl="1"/>
            <a:r>
              <a:rPr lang="en-US" altLang="zh-TW" dirty="0" smtClean="0"/>
              <a:t>1GB storage space</a:t>
            </a:r>
          </a:p>
          <a:p>
            <a:pPr lvl="1"/>
            <a:r>
              <a:rPr lang="en-US" altLang="zh-TW" dirty="0" smtClean="0"/>
              <a:t>1MB memory capacity</a:t>
            </a:r>
          </a:p>
          <a:p>
            <a:pPr lvl="1"/>
            <a:r>
              <a:rPr lang="en-US" altLang="zh-TW" dirty="0" smtClean="0"/>
              <a:t>…etc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PaaS consumers can require units on their demand</a:t>
            </a:r>
          </a:p>
          <a:p>
            <a:r>
              <a:rPr lang="en-US" altLang="zh-TW" dirty="0" smtClean="0"/>
              <a:t>Consumers may not be aware of whether provided resource is dedicate or shared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2564904"/>
            <a:ext cx="165618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5254929"/>
            <a:ext cx="1662261" cy="1603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355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Core Platform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536" y="2287413"/>
            <a:ext cx="4824536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Core Platform provides basic functionalities of a PaaS environment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Act as a bridge between consumer and hardware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1152128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altLang="zh-TW" sz="3200" dirty="0" smtClean="0"/>
              <a:t>To provide a reliable environment for running applications and services</a:t>
            </a:r>
          </a:p>
        </p:txBody>
      </p:sp>
      <p:grpSp>
        <p:nvGrpSpPr>
          <p:cNvPr id="20" name="群組 19"/>
          <p:cNvGrpSpPr/>
          <p:nvPr/>
        </p:nvGrpSpPr>
        <p:grpSpPr>
          <a:xfrm>
            <a:off x="5580112" y="2420888"/>
            <a:ext cx="3168352" cy="3528392"/>
            <a:chOff x="4681270" y="2996952"/>
            <a:chExt cx="2803772" cy="2927033"/>
          </a:xfrm>
        </p:grpSpPr>
        <p:sp>
          <p:nvSpPr>
            <p:cNvPr id="21" name="圓角矩形 20"/>
            <p:cNvSpPr>
              <a:spLocks/>
            </p:cNvSpPr>
            <p:nvPr/>
          </p:nvSpPr>
          <p:spPr>
            <a:xfrm>
              <a:off x="4681270" y="5085185"/>
              <a:ext cx="2793600" cy="838800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Resource Pool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22" name="向下箭號 21"/>
            <p:cNvSpPr/>
            <p:nvPr/>
          </p:nvSpPr>
          <p:spPr>
            <a:xfrm>
              <a:off x="5293919" y="4869160"/>
              <a:ext cx="1589464" cy="330938"/>
            </a:xfrm>
            <a:prstGeom prst="downArrow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rgbClr val="002060"/>
                  </a:solidFill>
                </a:rPr>
                <a:t>abstract</a:t>
              </a:r>
              <a:endParaRPr lang="zh-TW" alt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4692260" y="2996952"/>
              <a:ext cx="2792782" cy="838148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Enabling Services</a:t>
              </a:r>
            </a:p>
          </p:txBody>
        </p:sp>
        <p:sp>
          <p:nvSpPr>
            <p:cNvPr id="24" name="向上箭號 23"/>
            <p:cNvSpPr/>
            <p:nvPr/>
          </p:nvSpPr>
          <p:spPr>
            <a:xfrm>
              <a:off x="5293919" y="3703335"/>
              <a:ext cx="1589464" cy="330938"/>
            </a:xfrm>
            <a:prstGeom prst="upArrow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rgbClr val="002060"/>
                  </a:solidFill>
                </a:rPr>
                <a:t>provide</a:t>
              </a:r>
              <a:endParaRPr lang="zh-TW" alt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25" name="圓角矩形 24"/>
            <p:cNvSpPr>
              <a:spLocks/>
            </p:cNvSpPr>
            <p:nvPr/>
          </p:nvSpPr>
          <p:spPr>
            <a:xfrm>
              <a:off x="4686591" y="4034273"/>
              <a:ext cx="2793600" cy="838800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Core Platform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Platform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Reduce the responsibility of the runtime environment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Based on the core platform to develop their applications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Do not need to care about how to built, configure,  manage and maintain the backend environment</a:t>
            </a:r>
            <a:endParaRPr lang="zh-TW" altLang="en-US" dirty="0"/>
          </a:p>
        </p:txBody>
      </p:sp>
      <p:pic>
        <p:nvPicPr>
          <p:cNvPr id="10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 b="2397"/>
          <a:stretch>
            <a:fillRect/>
          </a:stretch>
        </p:blipFill>
        <p:spPr bwMode="auto">
          <a:xfrm>
            <a:off x="5278282" y="2780928"/>
            <a:ext cx="3836374" cy="37444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Platform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PaaS providers can provide a runtime environment for the developer platform</a:t>
            </a:r>
          </a:p>
          <a:p>
            <a:r>
              <a:rPr lang="en-US" altLang="zh-TW" dirty="0" smtClean="0"/>
              <a:t>Runtime environment is automatic control such that consumers can focus on their services</a:t>
            </a:r>
          </a:p>
          <a:p>
            <a:pPr lvl="1"/>
            <a:r>
              <a:rPr lang="en-US" altLang="zh-TW" dirty="0" smtClean="0"/>
              <a:t>Dynamic provisioning</a:t>
            </a:r>
          </a:p>
          <a:p>
            <a:pPr lvl="2"/>
            <a:r>
              <a:rPr lang="en-US" altLang="zh-TW" dirty="0" smtClean="0"/>
              <a:t>On-demand resource provisioning</a:t>
            </a:r>
          </a:p>
          <a:p>
            <a:pPr lvl="1"/>
            <a:r>
              <a:rPr lang="en-US" altLang="zh-TW" dirty="0" smtClean="0"/>
              <a:t>Load balancing</a:t>
            </a:r>
          </a:p>
          <a:p>
            <a:pPr lvl="2"/>
            <a:r>
              <a:rPr lang="en-US" altLang="zh-TW" dirty="0" smtClean="0"/>
              <a:t>Distribute workload evenly among resources</a:t>
            </a:r>
          </a:p>
          <a:p>
            <a:pPr lvl="1"/>
            <a:r>
              <a:rPr lang="en-US" altLang="zh-TW" dirty="0" smtClean="0"/>
              <a:t>Fault tolerance</a:t>
            </a:r>
          </a:p>
          <a:p>
            <a:pPr lvl="2"/>
            <a:r>
              <a:rPr lang="en-US" altLang="zh-TW" dirty="0" smtClean="0"/>
              <a:t>Continuously operating in the presence of failures</a:t>
            </a:r>
          </a:p>
          <a:p>
            <a:pPr lvl="1"/>
            <a:r>
              <a:rPr lang="en-US" altLang="zh-TW" dirty="0" smtClean="0"/>
              <a:t>System monitoring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Monitor the system status and measure the usage of resources</a:t>
            </a:r>
            <a:endParaRPr lang="en-US" altLang="zh-TW" dirty="0" smtClean="0"/>
          </a:p>
          <a:p>
            <a:pPr lvl="1"/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355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Enabling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536" y="2287413"/>
            <a:ext cx="5040560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Enabling Services provide programming IDE and system control interfaces to access the PaaS environment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Consumers can develop their applications through the APIs and development tools</a:t>
            </a:r>
          </a:p>
        </p:txBody>
      </p:sp>
      <p:grpSp>
        <p:nvGrpSpPr>
          <p:cNvPr id="11" name="群組 10"/>
          <p:cNvGrpSpPr/>
          <p:nvPr/>
        </p:nvGrpSpPr>
        <p:grpSpPr>
          <a:xfrm>
            <a:off x="5580112" y="2420888"/>
            <a:ext cx="3168352" cy="3528392"/>
            <a:chOff x="4681270" y="2996952"/>
            <a:chExt cx="2803772" cy="2927033"/>
          </a:xfrm>
        </p:grpSpPr>
        <p:sp>
          <p:nvSpPr>
            <p:cNvPr id="12" name="圓角矩形 11"/>
            <p:cNvSpPr>
              <a:spLocks/>
            </p:cNvSpPr>
            <p:nvPr/>
          </p:nvSpPr>
          <p:spPr>
            <a:xfrm>
              <a:off x="4681270" y="5085185"/>
              <a:ext cx="2793600" cy="838800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Resource Pool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13" name="向下箭號 12"/>
            <p:cNvSpPr/>
            <p:nvPr/>
          </p:nvSpPr>
          <p:spPr>
            <a:xfrm>
              <a:off x="5293919" y="4869160"/>
              <a:ext cx="1589464" cy="330938"/>
            </a:xfrm>
            <a:prstGeom prst="downArrow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rgbClr val="002060"/>
                  </a:solidFill>
                </a:rPr>
                <a:t>abstract</a:t>
              </a:r>
              <a:endParaRPr lang="zh-TW" alt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4692260" y="2996952"/>
              <a:ext cx="2792782" cy="838148"/>
            </a:xfrm>
            <a:prstGeom prst="round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Enabling Services</a:t>
              </a:r>
            </a:p>
          </p:txBody>
        </p:sp>
        <p:sp>
          <p:nvSpPr>
            <p:cNvPr id="15" name="向上箭號 14"/>
            <p:cNvSpPr/>
            <p:nvPr/>
          </p:nvSpPr>
          <p:spPr>
            <a:xfrm>
              <a:off x="5293919" y="3703335"/>
              <a:ext cx="1589464" cy="330938"/>
            </a:xfrm>
            <a:prstGeom prst="upArrow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rgbClr val="002060"/>
                  </a:solidFill>
                </a:rPr>
                <a:t>provide</a:t>
              </a:r>
              <a:endParaRPr lang="zh-TW" alt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16" name="圓角矩形 15"/>
            <p:cNvSpPr>
              <a:spLocks/>
            </p:cNvSpPr>
            <p:nvPr/>
          </p:nvSpPr>
          <p:spPr>
            <a:xfrm>
              <a:off x="4686591" y="4034273"/>
              <a:ext cx="2793600" cy="838800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 smtClean="0">
                  <a:solidFill>
                    <a:srgbClr val="002060"/>
                  </a:solidFill>
                </a:rPr>
                <a:t>Core Platform</a:t>
              </a:r>
              <a:endParaRPr lang="zh-TW" altLang="en-US" sz="2800" dirty="0">
                <a:solidFill>
                  <a:srgbClr val="002060"/>
                </a:solidFill>
              </a:endParaRPr>
            </a:p>
          </p:txBody>
        </p:sp>
      </p:grpSp>
      <p:sp>
        <p:nvSpPr>
          <p:cNvPr id="17" name="內容版面配置區 5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1152128"/>
          </a:xfrm>
        </p:spPr>
        <p:txBody>
          <a:bodyPr>
            <a:noAutofit/>
          </a:bodyPr>
          <a:lstStyle/>
          <a:p>
            <a:pPr marL="0">
              <a:buNone/>
            </a:pPr>
            <a:r>
              <a:rPr lang="en-US" altLang="zh-TW" sz="3200" dirty="0" smtClean="0"/>
              <a:t>To provide platform interfaces and services to drive the development productivities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Enabling Services </a:t>
            </a:r>
            <a:endParaRPr lang="zh-TW" altLang="en-US" dirty="0"/>
          </a:p>
        </p:txBody>
      </p:sp>
      <p:sp>
        <p:nvSpPr>
          <p:cNvPr id="26" name="內容版面配置區 2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1885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Provide a development and testing platform for running developed applications on the runtime environment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Reduce the responsibility of managing the development environment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Decrease the development period</a:t>
            </a:r>
          </a:p>
          <a:p>
            <a:endParaRPr lang="en-US" altLang="zh-TW" dirty="0" smtClean="0"/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6291" y="1988840"/>
            <a:ext cx="4092213" cy="3077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6" name="文字方塊 35"/>
          <p:cNvSpPr txBox="1"/>
          <p:nvPr/>
        </p:nvSpPr>
        <p:spPr>
          <a:xfrm>
            <a:off x="6170626" y="5085184"/>
            <a:ext cx="1797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painful</a:t>
            </a:r>
            <a:endParaRPr lang="zh-TW" altLang="en-US" sz="3600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Enabling Services </a:t>
            </a:r>
            <a:endParaRPr lang="zh-TW" altLang="en-US" dirty="0"/>
          </a:p>
        </p:txBody>
      </p:sp>
      <p:sp>
        <p:nvSpPr>
          <p:cNvPr id="26" name="內容版面配置區 2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Enabling Services are the main focus of consumers</a:t>
            </a:r>
          </a:p>
          <a:p>
            <a:r>
              <a:rPr lang="en-US" altLang="zh-TW" dirty="0" smtClean="0"/>
              <a:t>Consumers can make use of these sustaining services to develop their applications</a:t>
            </a:r>
          </a:p>
          <a:p>
            <a:pPr lvl="1"/>
            <a:r>
              <a:rPr lang="en-US" altLang="zh-TW" dirty="0" smtClean="0"/>
              <a:t>Programming IDE</a:t>
            </a:r>
          </a:p>
          <a:p>
            <a:pPr lvl="2"/>
            <a:r>
              <a:rPr lang="en-US" altLang="zh-TW" dirty="0" smtClean="0"/>
              <a:t>Integrate the full functionalities supported from the runtime environment</a:t>
            </a:r>
          </a:p>
          <a:p>
            <a:pPr lvl="2"/>
            <a:r>
              <a:rPr lang="en-US" altLang="zh-TW" dirty="0" smtClean="0"/>
              <a:t>Provide some development tools, such as profiler, debugger and testing environment</a:t>
            </a:r>
          </a:p>
          <a:p>
            <a:pPr lvl="1"/>
            <a:r>
              <a:rPr lang="en-US" altLang="zh-TW" dirty="0" smtClean="0"/>
              <a:t>System Control Interfaces</a:t>
            </a:r>
          </a:p>
          <a:p>
            <a:pPr lvl="2"/>
            <a:r>
              <a:rPr lang="en-US" altLang="zh-TW" dirty="0" smtClean="0"/>
              <a:t>Make the decision according to some principles and requirements</a:t>
            </a:r>
          </a:p>
          <a:p>
            <a:pPr lvl="2"/>
            <a:r>
              <a:rPr lang="en-US" altLang="zh-TW" dirty="0" smtClean="0"/>
              <a:t>Describe the flow of installation and configuration of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From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IaaS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to PaaS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What is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PaaS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/>
              <a:t>PaaS properties and characteristics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Platform as a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Guarantee some properties and characteristics</a:t>
            </a:r>
          </a:p>
          <a:p>
            <a:pPr lvl="1"/>
            <a:r>
              <a:rPr lang="en-US" altLang="zh-TW" dirty="0" smtClean="0"/>
              <a:t>Scalability</a:t>
            </a:r>
          </a:p>
          <a:p>
            <a:pPr lvl="1"/>
            <a:r>
              <a:rPr lang="en-US" altLang="zh-TW" dirty="0" smtClean="0"/>
              <a:t>Availability</a:t>
            </a:r>
          </a:p>
          <a:p>
            <a:pPr lvl="1"/>
            <a:r>
              <a:rPr lang="en-US" altLang="zh-TW" dirty="0" smtClean="0"/>
              <a:t>Manageability</a:t>
            </a:r>
          </a:p>
          <a:p>
            <a:pPr lvl="1"/>
            <a:r>
              <a:rPr lang="en-US" altLang="zh-TW" dirty="0" smtClean="0"/>
              <a:t>Performance</a:t>
            </a:r>
          </a:p>
          <a:p>
            <a:pPr lvl="1"/>
            <a:r>
              <a:rPr lang="en-US" altLang="zh-TW" dirty="0" smtClean="0"/>
              <a:t>Accessibility</a:t>
            </a:r>
            <a:endParaRPr lang="zh-TW" alt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 t="9925"/>
          <a:stretch>
            <a:fillRect/>
          </a:stretch>
        </p:blipFill>
        <p:spPr bwMode="auto">
          <a:xfrm>
            <a:off x="4860032" y="2532384"/>
            <a:ext cx="2903417" cy="39209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Scalability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58816" cy="4525963"/>
          </a:xfrm>
        </p:spPr>
        <p:txBody>
          <a:bodyPr wrap="square">
            <a:normAutofit lnSpcReduction="10000"/>
          </a:bodyPr>
          <a:lstStyle/>
          <a:p>
            <a:r>
              <a:rPr lang="en-US" altLang="zh-TW" dirty="0" smtClean="0"/>
              <a:t>PaaS needs to support dynamic provisioning that can increase or decrease resources on demand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PaaS provides the abstraction of cloud infrastructure and the automatic management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4043" y="2708920"/>
            <a:ext cx="2600325" cy="1752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For enterprises, they need a dynamically changed storage size or computation ability on demand</a:t>
            </a:r>
          </a:p>
          <a:p>
            <a:pPr lvl="1"/>
            <a:r>
              <a:rPr lang="en-US" altLang="zh-TW" dirty="0" smtClean="0"/>
              <a:t>Application may need a high peak of computation usage on morning but slow down at afternoon</a:t>
            </a:r>
          </a:p>
          <a:p>
            <a:pPr lvl="1"/>
            <a:r>
              <a:rPr lang="en-US" altLang="zh-TW" dirty="0" smtClean="0"/>
              <a:t>It also needs a large storage space for some time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For end users, they could not see the alert about the lack of memory or storage space</a:t>
            </a:r>
          </a:p>
          <a:p>
            <a:pPr lvl="1"/>
            <a:r>
              <a:rPr lang="en-US" altLang="zh-TW" dirty="0" smtClean="0"/>
              <a:t>For example…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Scalability</a:t>
            </a:r>
            <a:endParaRPr lang="zh-TW" altLang="en-US" dirty="0"/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4437112"/>
            <a:ext cx="39338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124744"/>
            <a:ext cx="7224116" cy="4821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Availability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18856" cy="4525963"/>
          </a:xfrm>
        </p:spPr>
        <p:txBody>
          <a:bodyPr/>
          <a:lstStyle/>
          <a:p>
            <a:r>
              <a:rPr lang="en-US" altLang="zh-TW" dirty="0" smtClean="0"/>
              <a:t>PaaS needs to support the fault tolerance ability </a:t>
            </a:r>
            <a:br>
              <a:rPr lang="en-US" altLang="zh-TW" dirty="0" smtClean="0"/>
            </a:br>
            <a:r>
              <a:rPr lang="en-US" altLang="zh-TW" dirty="0" smtClean="0"/>
              <a:t>such that system would not crash on failure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PaaS also needs to provide system resilience by duplicating applications </a:t>
            </a:r>
            <a:br>
              <a:rPr lang="en-US" altLang="zh-TW" dirty="0" smtClean="0"/>
            </a:br>
            <a:r>
              <a:rPr lang="en-US" altLang="zh-TW" dirty="0" smtClean="0"/>
              <a:t>or services</a:t>
            </a:r>
          </a:p>
        </p:txBody>
      </p:sp>
      <p:pic>
        <p:nvPicPr>
          <p:cNvPr id="3074" name="Picture 2" descr="D:\Data\edu_NTHU\_myResearchNotes\cloud computing\_Course\slides\tmp\pictures\打破雞蛋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2386" y="2852936"/>
            <a:ext cx="3842102" cy="2736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Availability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PaaS supports automatic backup and disaster recovery such that consumers do not need to worry about system failures</a:t>
            </a:r>
          </a:p>
          <a:p>
            <a:r>
              <a:rPr lang="en-US" altLang="zh-TW" dirty="0" smtClean="0"/>
              <a:t>When some resources are failed, PaaS would start up the backup resources</a:t>
            </a:r>
          </a:p>
          <a:p>
            <a:r>
              <a:rPr lang="en-US" altLang="zh-TW" dirty="0" smtClean="0"/>
              <a:t>When applications occur fault, PaaS would migrate services to the duplicate one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619672" y="5085184"/>
            <a:ext cx="54822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7030A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There is no error</a:t>
            </a:r>
            <a:endParaRPr lang="zh-TW" altLang="en-US" sz="60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7030A0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Manageability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90864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PaaS needs to support self-management for running applications and services on the cloud platform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PaaS needs to provide automatic control, analysis and measurement for the resource usage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3415" y="1855365"/>
            <a:ext cx="3495049" cy="45259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Manageability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PaaS provides automatic mechanisms to control the utilization of platform resources</a:t>
            </a:r>
          </a:p>
          <a:p>
            <a:r>
              <a:rPr lang="en-US" altLang="zh-TW" dirty="0" smtClean="0"/>
              <a:t>Monitoring service provides the ability of management, analysis and operation for resources and jobs</a:t>
            </a:r>
          </a:p>
          <a:p>
            <a:r>
              <a:rPr lang="en-US" altLang="zh-TW" dirty="0" smtClean="0"/>
              <a:t>Based on the system monitoring, PaaS can record and report the usage of resources</a:t>
            </a:r>
          </a:p>
          <a:p>
            <a:r>
              <a:rPr lang="en-US" altLang="zh-TW" dirty="0" smtClean="0"/>
              <a:t>Consumers can pay for what they use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Billing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dirty="0" smtClean="0"/>
              <a:t>Consumers pay the bill according to how many units of resources and services they use</a:t>
            </a:r>
          </a:p>
          <a:p>
            <a:pPr lvl="1"/>
            <a:r>
              <a:rPr lang="en-US" altLang="zh-TW" dirty="0" smtClean="0"/>
              <a:t>Input/output network bandwidth</a:t>
            </a:r>
          </a:p>
          <a:p>
            <a:pPr lvl="1"/>
            <a:r>
              <a:rPr lang="en-US" altLang="zh-TW" dirty="0" smtClean="0"/>
              <a:t>Management report or warning</a:t>
            </a:r>
          </a:p>
          <a:p>
            <a:pPr lvl="1"/>
            <a:r>
              <a:rPr lang="en-US" altLang="zh-TW" dirty="0" smtClean="0"/>
              <a:t>CPU time</a:t>
            </a:r>
          </a:p>
          <a:p>
            <a:pPr lvl="1"/>
            <a:r>
              <a:rPr lang="en-US" altLang="zh-TW" dirty="0" smtClean="0"/>
              <a:t>Storage space</a:t>
            </a:r>
          </a:p>
          <a:p>
            <a:pPr lvl="1"/>
            <a:r>
              <a:rPr lang="en-US" altLang="zh-TW" dirty="0" smtClean="0"/>
              <a:t>Data migration</a:t>
            </a:r>
          </a:p>
          <a:p>
            <a:pPr lvl="1"/>
            <a:r>
              <a:rPr lang="en-US" altLang="zh-TW" dirty="0" smtClean="0"/>
              <a:t>…etc</a:t>
            </a:r>
          </a:p>
        </p:txBody>
      </p:sp>
      <p:pic>
        <p:nvPicPr>
          <p:cNvPr id="4" name="Picture 2" descr="D:\Data\edu_NTHU\_myResearchNotes\cloud computing\_Course\slides\_Material\money tre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33905" y="2852936"/>
            <a:ext cx="3946607" cy="4248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Billing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Consumers can set the boundary they would not like to pay the overestimate</a:t>
            </a:r>
          </a:p>
          <a:p>
            <a:r>
              <a:rPr lang="en-US" altLang="zh-TW" dirty="0" smtClean="0"/>
              <a:t>PaaS vendor may provide the free quota for users</a:t>
            </a:r>
          </a:p>
          <a:p>
            <a:r>
              <a:rPr lang="en-US" altLang="zh-TW" dirty="0" smtClean="0"/>
              <a:t>PaaS vendor can also alert consumer the suddenly increased usage</a:t>
            </a:r>
          </a:p>
          <a:p>
            <a:r>
              <a:rPr lang="en-US" altLang="zh-TW" dirty="0" smtClean="0"/>
              <a:t>As a result, consumers only pay what they use on demand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PaaS needs to support the capabilities</a:t>
            </a:r>
          </a:p>
          <a:p>
            <a:pPr lvl="1"/>
            <a:r>
              <a:rPr lang="en-GB" altLang="zh-TW" dirty="0" smtClean="0"/>
              <a:t>Distribute jobs to idle resources </a:t>
            </a:r>
          </a:p>
          <a:p>
            <a:pPr lvl="1"/>
            <a:r>
              <a:rPr lang="en-GB" altLang="zh-TW" dirty="0" smtClean="0"/>
              <a:t>Remove jobs from the overloading resources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PaaS also needs to </a:t>
            </a:r>
            <a:r>
              <a:rPr lang="en-GB" altLang="zh-TW" dirty="0" smtClean="0"/>
              <a:t>distributes data to storage system with load balancing</a:t>
            </a:r>
          </a:p>
          <a:p>
            <a:endParaRPr lang="zh-TW" alt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 r="256" b="10794"/>
          <a:stretch>
            <a:fillRect/>
          </a:stretch>
        </p:blipFill>
        <p:spPr bwMode="auto">
          <a:xfrm>
            <a:off x="4648200" y="2304757"/>
            <a:ext cx="4028256" cy="2780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Enterprise runs complicated applications on PaaS which can allocate jobs to available servers</a:t>
            </a:r>
          </a:p>
          <a:p>
            <a:r>
              <a:rPr lang="en-US" altLang="zh-TW" dirty="0" smtClean="0"/>
              <a:t>If possible, PaaS would run application in parallel</a:t>
            </a:r>
          </a:p>
          <a:p>
            <a:r>
              <a:rPr lang="en-US" altLang="zh-TW" dirty="0" smtClean="0"/>
              <a:t>No resource is always overloading on the load balancing PaaS</a:t>
            </a:r>
          </a:p>
          <a:p>
            <a:r>
              <a:rPr lang="en-US" altLang="zh-TW" dirty="0" smtClean="0"/>
              <a:t>Utilization and performance could be further improved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906888" cy="4525963"/>
          </a:xfrm>
        </p:spPr>
        <p:txBody>
          <a:bodyPr/>
          <a:lstStyle/>
          <a:p>
            <a:r>
              <a:rPr lang="en-US" altLang="zh-TW" dirty="0" smtClean="0"/>
              <a:t>Security is an important characteristic in PaaS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PaaS needs to provide authentication and authorization to differentiate the access rights of different users</a:t>
            </a:r>
          </a:p>
          <a:p>
            <a:endParaRPr lang="en-US" altLang="zh-TW" dirty="0" smtClean="0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1988840"/>
            <a:ext cx="3240360" cy="40198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Authorization can be used to control the user’s access right and reject the malicious request</a:t>
            </a:r>
          </a:p>
          <a:p>
            <a:r>
              <a:rPr lang="en-US" altLang="zh-TW" dirty="0" smtClean="0"/>
              <a:t>Authentication is the act of establishing or confirming something or someone as authentic</a:t>
            </a:r>
          </a:p>
          <a:p>
            <a:r>
              <a:rPr lang="en-US" altLang="zh-TW" dirty="0" smtClean="0"/>
              <a:t>All of these can limit the malicious behavior</a:t>
            </a:r>
          </a:p>
          <a:p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Accessibility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PaaS needs to provide an interactive interface for consumers to access cloud services or monitor the system status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Consumers could develop and test their applications via web browsers or other thin-clients</a:t>
            </a:r>
            <a:endParaRPr lang="zh-TW" altLang="en-US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403072"/>
            <a:ext cx="4038600" cy="292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PaaS is a magic box</a:t>
            </a:r>
          </a:p>
          <a:p>
            <a:pPr lvl="1"/>
            <a:r>
              <a:rPr lang="en-US" altLang="zh-TW" dirty="0" smtClean="0"/>
              <a:t>Request anything on demand, and return the rent of resources  dynamically</a:t>
            </a:r>
          </a:p>
          <a:p>
            <a:pPr lvl="1"/>
            <a:r>
              <a:rPr lang="en-US" altLang="zh-TW" dirty="0" smtClean="0"/>
              <a:t>Automatically build an initial environment and support self-management with high quality of service and performance</a:t>
            </a:r>
          </a:p>
          <a:p>
            <a:pPr lvl="1"/>
            <a:r>
              <a:rPr lang="en-US" altLang="zh-TW" dirty="0" smtClean="0"/>
              <a:t>Provide an ability of fault tolerance and disaster recovery that make services be more available and reliable</a:t>
            </a:r>
          </a:p>
          <a:p>
            <a:pPr lvl="1"/>
            <a:r>
              <a:rPr lang="en-US" altLang="zh-TW" dirty="0" smtClean="0"/>
              <a:t>Support the security property to limit malicious behavior in cloud environments</a:t>
            </a:r>
          </a:p>
          <a:p>
            <a:r>
              <a:rPr lang="en-US" altLang="zh-TW" dirty="0" smtClean="0"/>
              <a:t>More important</a:t>
            </a:r>
          </a:p>
          <a:p>
            <a:pPr lvl="1"/>
            <a:r>
              <a:rPr lang="en-US" altLang="zh-TW" dirty="0" smtClean="0"/>
              <a:t>Do not care about how it works</a:t>
            </a:r>
          </a:p>
          <a:p>
            <a:pPr lvl="1"/>
            <a:r>
              <a:rPr lang="en-US" altLang="zh-TW" dirty="0" smtClean="0"/>
              <a:t>Pay as you go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platform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Case Studies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PaaS Players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762872" cy="4525963"/>
          </a:xfrm>
        </p:spPr>
        <p:txBody>
          <a:bodyPr/>
          <a:lstStyle/>
          <a:p>
            <a:r>
              <a:rPr lang="en-US" altLang="zh-TW" dirty="0" smtClean="0"/>
              <a:t>PaaS venders</a:t>
            </a:r>
          </a:p>
          <a:p>
            <a:pPr lvl="1"/>
            <a:r>
              <a:rPr lang="en-US" altLang="zh-TW" dirty="0" smtClean="0"/>
              <a:t>Microsoft Windows Azure</a:t>
            </a:r>
          </a:p>
          <a:p>
            <a:pPr lvl="1"/>
            <a:r>
              <a:rPr lang="en-US" altLang="zh-TW" dirty="0" err="1" smtClean="0"/>
              <a:t>Hadoop</a:t>
            </a:r>
            <a:endParaRPr lang="zh-TW" altLang="en-US" dirty="0" smtClean="0"/>
          </a:p>
          <a:p>
            <a:pPr lvl="1"/>
            <a:r>
              <a:rPr lang="en-US" altLang="zh-TW" dirty="0" smtClean="0"/>
              <a:t>Google App Engine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77072"/>
            <a:ext cx="1827159" cy="1791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 cstate="print"/>
          <a:srcRect l="4943" t="11698" r="5209" b="18112"/>
          <a:stretch>
            <a:fillRect/>
          </a:stretch>
        </p:blipFill>
        <p:spPr bwMode="auto">
          <a:xfrm>
            <a:off x="5868144" y="5445224"/>
            <a:ext cx="3096344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2924944"/>
            <a:ext cx="4427984" cy="8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 descr="imag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59832" y="4149080"/>
            <a:ext cx="2657825" cy="59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71800" y="5445224"/>
            <a:ext cx="2666545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44208" y="4221088"/>
            <a:ext cx="2401887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" y="3355947"/>
            <a:ext cx="8654400" cy="38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Microsoft Windows Azure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2332855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Windows Azure platform is one of PaaS vendors</a:t>
            </a:r>
          </a:p>
          <a:p>
            <a:pPr lvl="1"/>
            <a:r>
              <a:rPr lang="en-US" altLang="zh-TW" dirty="0" smtClean="0"/>
              <a:t>Based on .NET and Microsoft’s supported development tools</a:t>
            </a:r>
            <a:endParaRPr lang="zh-TW" altLang="en-US" dirty="0" smtClean="0"/>
          </a:p>
          <a:p>
            <a:r>
              <a:rPr lang="en-US" altLang="zh-TW" dirty="0" smtClean="0"/>
              <a:t>Windows Azure starts general availability at Feb 2010, and builds the global data center around the world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619672" cy="16196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Platform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group of cloud technologies, each providing a specific set of services to application developers</a:t>
            </a:r>
            <a:endParaRPr lang="zh-TW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492896"/>
            <a:ext cx="6897216" cy="428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Major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Windows Azure</a:t>
            </a:r>
          </a:p>
          <a:p>
            <a:pPr lvl="1"/>
            <a:r>
              <a:rPr lang="en-US" altLang="zh-TW" dirty="0" smtClean="0"/>
              <a:t>Provides a Windows-based environment for running applications and storing data on servers in Microsoft data centers 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SQL Azure</a:t>
            </a:r>
          </a:p>
          <a:p>
            <a:pPr lvl="1"/>
            <a:r>
              <a:rPr lang="en-US" altLang="zh-TW" dirty="0" smtClean="0"/>
              <a:t>Provides data services in the cloud based on SQL Server </a:t>
            </a:r>
          </a:p>
          <a:p>
            <a:pPr lvl="1"/>
            <a:endParaRPr lang="en-US" altLang="zh-TW" dirty="0" smtClean="0"/>
          </a:p>
          <a:p>
            <a:r>
              <a:rPr lang="en-US" altLang="zh-TW" dirty="0" err="1" smtClean="0"/>
              <a:t>AppFabric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Provides cloud services for connecting applications running in the cloud or on premises 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Platform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Windows Azure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SQL Azure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AppFabric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群組 7"/>
          <p:cNvGrpSpPr/>
          <p:nvPr/>
        </p:nvGrpSpPr>
        <p:grpSpPr>
          <a:xfrm>
            <a:off x="2699792" y="225993"/>
            <a:ext cx="6444208" cy="3995095"/>
            <a:chOff x="2246784" y="225993"/>
            <a:chExt cx="6897216" cy="4283127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46784" y="225993"/>
              <a:ext cx="6897216" cy="428312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橢圓 6"/>
            <p:cNvSpPr/>
            <p:nvPr/>
          </p:nvSpPr>
          <p:spPr>
            <a:xfrm>
              <a:off x="2843808" y="846681"/>
              <a:ext cx="2880320" cy="1584176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Customers use it to run applications and store data on Internet-accessible machines owned by Microsoft </a:t>
            </a:r>
          </a:p>
          <a:p>
            <a:r>
              <a:rPr lang="en-US" altLang="zh-TW" dirty="0" smtClean="0"/>
              <a:t>Those applications might provide services to businesses, to consumers, or both </a:t>
            </a:r>
            <a:endParaRPr lang="zh-TW" alt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 t="2315" r="3673"/>
          <a:stretch>
            <a:fillRect/>
          </a:stretch>
        </p:blipFill>
        <p:spPr bwMode="auto">
          <a:xfrm>
            <a:off x="4499992" y="2348880"/>
            <a:ext cx="4644008" cy="4077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is Windows Azure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b="1" dirty="0" smtClean="0"/>
              <a:t>Windows Azure </a:t>
            </a:r>
            <a:r>
              <a:rPr lang="en-US" altLang="zh-TW" dirty="0" smtClean="0"/>
              <a:t>is a foundation for running Windows applications and storing data in the cloud </a:t>
            </a:r>
            <a:endParaRPr lang="zh-TW" altLang="en-US" dirty="0" smtClean="0"/>
          </a:p>
          <a:p>
            <a:pPr lvl="1"/>
            <a:r>
              <a:rPr lang="en-US" altLang="zh-TW" dirty="0" smtClean="0"/>
              <a:t>Provides Windows-based </a:t>
            </a:r>
            <a:r>
              <a:rPr lang="en-US" altLang="zh-TW" i="1" dirty="0" smtClean="0">
                <a:solidFill>
                  <a:srgbClr val="00B0F0"/>
                </a:solidFill>
              </a:rPr>
              <a:t>compute</a:t>
            </a:r>
            <a:r>
              <a:rPr lang="en-US" altLang="zh-TW" dirty="0" smtClean="0"/>
              <a:t> and </a:t>
            </a:r>
            <a:r>
              <a:rPr lang="en-US" altLang="zh-TW" i="1" dirty="0" smtClean="0">
                <a:solidFill>
                  <a:srgbClr val="00B0F0"/>
                </a:solidFill>
              </a:rPr>
              <a:t>storage</a:t>
            </a:r>
            <a:r>
              <a:rPr lang="en-US" altLang="zh-TW" dirty="0" smtClean="0"/>
              <a:t> services for cloud applications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776" y="3933056"/>
            <a:ext cx="8604448" cy="2689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14116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Compute </a:t>
            </a:r>
          </a:p>
          <a:p>
            <a:pPr lvl="1"/>
            <a:r>
              <a:rPr lang="en-US" altLang="zh-TW" dirty="0" smtClean="0"/>
              <a:t>Running applications</a:t>
            </a:r>
          </a:p>
          <a:p>
            <a:pPr lvl="1"/>
            <a:r>
              <a:rPr lang="en-US" altLang="zh-TW" dirty="0" smtClean="0"/>
              <a:t>Support applications that have a very large number of simultaneous users and that can scale out</a:t>
            </a:r>
          </a:p>
          <a:p>
            <a:r>
              <a:rPr lang="en-US" altLang="zh-TW" dirty="0" smtClean="0"/>
              <a:t>Storage</a:t>
            </a:r>
          </a:p>
          <a:p>
            <a:pPr lvl="1"/>
            <a:r>
              <a:rPr lang="en-US" altLang="zh-TW" dirty="0" smtClean="0"/>
              <a:t>Storing and accessing data</a:t>
            </a:r>
          </a:p>
          <a:p>
            <a:pPr lvl="1"/>
            <a:r>
              <a:rPr lang="en-US" altLang="zh-TW" dirty="0" smtClean="0"/>
              <a:t>Applications require storage as simple blobs, a more structured way to store information, or a way to exchange data between different parts of an application</a:t>
            </a:r>
          </a:p>
          <a:p>
            <a:r>
              <a:rPr lang="en-US" altLang="zh-TW" dirty="0" smtClean="0"/>
              <a:t>Fabric</a:t>
            </a:r>
          </a:p>
          <a:p>
            <a:pPr lvl="1"/>
            <a:r>
              <a:rPr lang="en-US" altLang="zh-TW" dirty="0" smtClean="0"/>
              <a:t>Managing resources</a:t>
            </a:r>
          </a:p>
          <a:p>
            <a:pPr lvl="1"/>
            <a:r>
              <a:rPr lang="en-US" altLang="zh-TW" dirty="0" smtClean="0"/>
              <a:t>Providing a common way to manage and monitor applications that use this cloud platform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38" y="1556792"/>
            <a:ext cx="9126537" cy="527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 smtClean="0"/>
              <a:t>Windows Azure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3296965"/>
            <a:ext cx="7772400" cy="150018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Compute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Storage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Fabric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2426"/>
          <a:stretch>
            <a:fillRect/>
          </a:stretch>
        </p:blipFill>
        <p:spPr bwMode="auto">
          <a:xfrm>
            <a:off x="2699792" y="1052736"/>
            <a:ext cx="5814392" cy="26897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矩形 6"/>
          <p:cNvSpPr/>
          <p:nvPr/>
        </p:nvSpPr>
        <p:spPr>
          <a:xfrm>
            <a:off x="3347864" y="1916832"/>
            <a:ext cx="2232248" cy="57606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Compute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- Compute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122912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In cloud computation, Windows Azure provides </a:t>
            </a:r>
          </a:p>
          <a:p>
            <a:pPr lvl="1"/>
            <a:r>
              <a:rPr lang="en-US" altLang="zh-TW" dirty="0" smtClean="0"/>
              <a:t>Variety of services, like web service or background computation</a:t>
            </a:r>
          </a:p>
          <a:p>
            <a:pPr lvl="1"/>
            <a:r>
              <a:rPr lang="en-US" altLang="zh-TW" dirty="0" smtClean="0"/>
              <a:t>A running environment of IIS 7 and .NET</a:t>
            </a:r>
          </a:p>
          <a:p>
            <a:r>
              <a:rPr lang="en-US" altLang="zh-TW" dirty="0" smtClean="0"/>
              <a:t>Four types of compute unit</a:t>
            </a:r>
          </a:p>
          <a:p>
            <a:pPr lvl="1"/>
            <a:r>
              <a:rPr lang="en-US" altLang="zh-TW" dirty="0" smtClean="0"/>
              <a:t>A basic type provide single-core 1.66 GHz CPU, 1.75 GB of memory, and 225 GB of instance storage</a:t>
            </a:r>
          </a:p>
          <a:p>
            <a:pPr lvl="1"/>
            <a:r>
              <a:rPr lang="en-US" altLang="zh-TW" dirty="0" smtClean="0"/>
              <a:t>Incremental by power of 2</a:t>
            </a:r>
          </a:p>
          <a:p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4840715" y="2564904"/>
            <a:ext cx="4267789" cy="3342978"/>
            <a:chOff x="273437" y="1937269"/>
            <a:chExt cx="7558240" cy="461868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79912" y="2564904"/>
              <a:ext cx="4051765" cy="3991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圓形箭號 7"/>
            <p:cNvSpPr/>
            <p:nvPr/>
          </p:nvSpPr>
          <p:spPr>
            <a:xfrm rot="4457720" flipH="1">
              <a:off x="2494110" y="3743933"/>
              <a:ext cx="2808312" cy="2448272"/>
            </a:xfrm>
            <a:prstGeom prst="circularArrow">
              <a:avLst>
                <a:gd name="adj1" fmla="val 12500"/>
                <a:gd name="adj2" fmla="val 1380506"/>
                <a:gd name="adj3" fmla="val 20457681"/>
                <a:gd name="adj4" fmla="val 16589048"/>
                <a:gd name="adj5" fmla="val 125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zh-TW" altLang="en-US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</a:endParaRPr>
            </a:p>
          </p:txBody>
        </p:sp>
        <p:sp>
          <p:nvSpPr>
            <p:cNvPr id="9" name="圓形箭號 8"/>
            <p:cNvSpPr/>
            <p:nvPr/>
          </p:nvSpPr>
          <p:spPr>
            <a:xfrm rot="14201445">
              <a:off x="4817964" y="2466411"/>
              <a:ext cx="2808312" cy="2448272"/>
            </a:xfrm>
            <a:prstGeom prst="circularArrow">
              <a:avLst>
                <a:gd name="adj1" fmla="val 12500"/>
                <a:gd name="adj2" fmla="val 1380506"/>
                <a:gd name="adj3" fmla="val 20457681"/>
                <a:gd name="adj4" fmla="val 16589048"/>
                <a:gd name="adj5" fmla="val 125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zh-TW" altLang="en-US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</a:endParaRPr>
            </a:p>
          </p:txBody>
        </p:sp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218906">
              <a:off x="1430999" y="2033537"/>
              <a:ext cx="1433676" cy="905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776674">
              <a:off x="5180213" y="1937269"/>
              <a:ext cx="2171700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20577071">
              <a:off x="273437" y="3452344"/>
              <a:ext cx="3200822" cy="629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A Windows Azure application can have multiple </a:t>
            </a:r>
            <a:r>
              <a:rPr lang="en-US" altLang="zh-TW" i="1" dirty="0" smtClean="0">
                <a:solidFill>
                  <a:srgbClr val="00B0F0"/>
                </a:solidFill>
              </a:rPr>
              <a:t>instances</a:t>
            </a:r>
            <a:r>
              <a:rPr lang="en-US" altLang="zh-TW" dirty="0" smtClean="0"/>
              <a:t>, each executing in its own virtual machine (VM)</a:t>
            </a:r>
          </a:p>
          <a:p>
            <a:r>
              <a:rPr lang="en-US" altLang="zh-TW" dirty="0" smtClean="0"/>
              <a:t>Each VM is provided by a </a:t>
            </a:r>
            <a:r>
              <a:rPr lang="en-US" altLang="zh-TW" i="1" dirty="0" smtClean="0">
                <a:solidFill>
                  <a:srgbClr val="00B0F0"/>
                </a:solidFill>
              </a:rPr>
              <a:t>hypervisor</a:t>
            </a:r>
            <a:r>
              <a:rPr lang="en-US" altLang="zh-TW" dirty="0" smtClean="0"/>
              <a:t> (Hyper-V)</a:t>
            </a:r>
          </a:p>
          <a:p>
            <a:r>
              <a:rPr lang="en-US" altLang="zh-TW" dirty="0" smtClean="0"/>
              <a:t>A developer can create</a:t>
            </a:r>
          </a:p>
          <a:p>
            <a:pPr lvl="1"/>
            <a:r>
              <a:rPr lang="en-US" altLang="zh-TW" dirty="0" smtClean="0"/>
              <a:t>A hosting account for running applications</a:t>
            </a:r>
          </a:p>
          <a:p>
            <a:pPr lvl="1"/>
            <a:r>
              <a:rPr lang="en-US" altLang="zh-TW" dirty="0" smtClean="0"/>
              <a:t>A storage account for storing data</a:t>
            </a:r>
          </a:p>
          <a:p>
            <a:pPr lvl="1"/>
            <a:r>
              <a:rPr lang="en-US" altLang="zh-TW" dirty="0" smtClean="0"/>
              <a:t>or both</a:t>
            </a:r>
          </a:p>
          <a:p>
            <a:r>
              <a:rPr lang="en-US" altLang="zh-TW" dirty="0" smtClean="0"/>
              <a:t>A developer can access </a:t>
            </a:r>
          </a:p>
          <a:p>
            <a:pPr lvl="1"/>
            <a:r>
              <a:rPr lang="en-US" altLang="zh-TW" dirty="0" smtClean="0"/>
              <a:t>The instance through an interface </a:t>
            </a:r>
          </a:p>
          <a:p>
            <a:pPr lvl="1"/>
            <a:r>
              <a:rPr lang="en-US" altLang="zh-TW" dirty="0" smtClean="0"/>
              <a:t>The Windows Azure portal through the Web browser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8213" y="4773612"/>
            <a:ext cx="7267575" cy="208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Instance Types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3268959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Windows Azure provides two types of computation roles</a:t>
            </a:r>
          </a:p>
          <a:p>
            <a:pPr lvl="1"/>
            <a:r>
              <a:rPr lang="en-US" altLang="zh-TW" dirty="0" smtClean="0"/>
              <a:t>Web role</a:t>
            </a:r>
          </a:p>
          <a:p>
            <a:pPr lvl="2"/>
            <a:r>
              <a:rPr lang="en-US" altLang="zh-TW" dirty="0" smtClean="0"/>
              <a:t>A running environment that user can access</a:t>
            </a:r>
          </a:p>
          <a:p>
            <a:pPr lvl="2"/>
            <a:r>
              <a:rPr lang="en-US" altLang="zh-TW" dirty="0" smtClean="0"/>
              <a:t>Web application service</a:t>
            </a:r>
          </a:p>
          <a:p>
            <a:pPr lvl="1"/>
            <a:r>
              <a:rPr lang="en-US" altLang="zh-TW" dirty="0" smtClean="0"/>
              <a:t>Worker role</a:t>
            </a:r>
          </a:p>
          <a:p>
            <a:pPr lvl="2"/>
            <a:r>
              <a:rPr lang="en-US" altLang="zh-TW" dirty="0" smtClean="0"/>
              <a:t>An </a:t>
            </a:r>
            <a:r>
              <a:rPr lang="en-US" altLang="zh-TW" dirty="0" smtClean="0"/>
              <a:t>environment runs particular processing</a:t>
            </a:r>
          </a:p>
          <a:p>
            <a:pPr lvl="2"/>
            <a:r>
              <a:rPr lang="en-US" altLang="zh-TW" dirty="0" smtClean="0"/>
              <a:t>Ability to handle distributed or complicated tasks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Instance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Any service must include </a:t>
            </a:r>
            <a:r>
              <a:rPr lang="en-US" altLang="zh-TW" i="1" dirty="0" smtClean="0">
                <a:solidFill>
                  <a:srgbClr val="00B0F0"/>
                </a:solidFill>
              </a:rPr>
              <a:t>at least one role </a:t>
            </a:r>
            <a:r>
              <a:rPr lang="en-US" altLang="zh-TW" dirty="0" smtClean="0"/>
              <a:t>of either type, but may consist of any number of web roles or work roles</a:t>
            </a:r>
          </a:p>
          <a:p>
            <a:r>
              <a:rPr lang="en-US" altLang="zh-TW" dirty="0" smtClean="0"/>
              <a:t>Worker role can </a:t>
            </a:r>
            <a:r>
              <a:rPr lang="en-US" altLang="zh-TW" i="1" dirty="0" smtClean="0">
                <a:solidFill>
                  <a:srgbClr val="00B0F0"/>
                </a:solidFill>
              </a:rPr>
              <a:t>communicate</a:t>
            </a:r>
            <a:r>
              <a:rPr lang="en-US" altLang="zh-TW" dirty="0" smtClean="0"/>
              <a:t> with Web role using the Windows Azure storage </a:t>
            </a:r>
            <a:r>
              <a:rPr lang="en-US" altLang="zh-TW" i="1" dirty="0" smtClean="0">
                <a:solidFill>
                  <a:srgbClr val="00B0F0"/>
                </a:solidFill>
              </a:rPr>
              <a:t>queues</a:t>
            </a:r>
          </a:p>
          <a:p>
            <a:r>
              <a:rPr lang="en-US" altLang="zh-TW" dirty="0" smtClean="0"/>
              <a:t>Each VM contains an </a:t>
            </a:r>
            <a:r>
              <a:rPr lang="en-US" altLang="zh-TW" i="1" dirty="0" smtClean="0">
                <a:solidFill>
                  <a:srgbClr val="00B0F0"/>
                </a:solidFill>
              </a:rPr>
              <a:t>agent</a:t>
            </a:r>
            <a:r>
              <a:rPr lang="en-US" altLang="zh-TW" dirty="0" smtClean="0"/>
              <a:t> to allow the application to interact with the Windows Azure fabric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 smtClean="0"/>
              <a:t>Windows Azure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3296965"/>
            <a:ext cx="7772400" cy="150018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Compute</a:t>
            </a:r>
          </a:p>
          <a:p>
            <a:r>
              <a:rPr lang="en-US" altLang="zh-TW" dirty="0" smtClean="0"/>
              <a:t>Storage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Fabric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2426"/>
          <a:stretch>
            <a:fillRect/>
          </a:stretch>
        </p:blipFill>
        <p:spPr bwMode="auto">
          <a:xfrm>
            <a:off x="2699792" y="1052736"/>
            <a:ext cx="5814392" cy="26897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流程圖: 磁碟 6"/>
          <p:cNvSpPr/>
          <p:nvPr/>
        </p:nvSpPr>
        <p:spPr>
          <a:xfrm>
            <a:off x="5717131" y="1863759"/>
            <a:ext cx="2160240" cy="648072"/>
          </a:xfrm>
          <a:prstGeom prst="flowChartMagneticDisk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Storage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- Storage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546848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 enterprise, it may need 10GB to 10PB storage space when company is growing</a:t>
            </a:r>
          </a:p>
          <a:p>
            <a:r>
              <a:rPr lang="en-US" altLang="zh-TW" dirty="0" smtClean="0"/>
              <a:t>Enterprise does not know how many disks </a:t>
            </a:r>
            <a:r>
              <a:rPr lang="en-US" altLang="zh-TW" dirty="0" smtClean="0"/>
              <a:t>are </a:t>
            </a:r>
            <a:r>
              <a:rPr lang="en-US" altLang="zh-TW" dirty="0" smtClean="0"/>
              <a:t>needed at initial</a:t>
            </a:r>
          </a:p>
          <a:p>
            <a:pPr lvl="1"/>
            <a:r>
              <a:rPr lang="en-US" altLang="zh-TW" dirty="0" smtClean="0"/>
              <a:t>It could be underestimate or overestimate</a:t>
            </a:r>
          </a:p>
        </p:txBody>
      </p:sp>
      <p:grpSp>
        <p:nvGrpSpPr>
          <p:cNvPr id="4" name="群組 11"/>
          <p:cNvGrpSpPr/>
          <p:nvPr/>
        </p:nvGrpSpPr>
        <p:grpSpPr>
          <a:xfrm>
            <a:off x="4715742" y="2431504"/>
            <a:ext cx="4320754" cy="3445768"/>
            <a:chOff x="539552" y="1124744"/>
            <a:chExt cx="7777138" cy="5317976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37953" y="2708920"/>
              <a:ext cx="5286375" cy="3733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99592" y="2708920"/>
              <a:ext cx="882881" cy="864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9552" y="1124744"/>
              <a:ext cx="1465362" cy="1286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020272" y="1268760"/>
              <a:ext cx="1296418" cy="1346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圓形箭號 16"/>
            <p:cNvSpPr/>
            <p:nvPr/>
          </p:nvSpPr>
          <p:spPr>
            <a:xfrm rot="20121520">
              <a:off x="1354119" y="1874911"/>
              <a:ext cx="2808312" cy="2448272"/>
            </a:xfrm>
            <a:prstGeom prst="circularArrow">
              <a:avLst>
                <a:gd name="adj1" fmla="val 12500"/>
                <a:gd name="adj2" fmla="val 1380506"/>
                <a:gd name="adj3" fmla="val 20457681"/>
                <a:gd name="adj4" fmla="val 16589048"/>
                <a:gd name="adj5" fmla="val 125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zh-TW" altLang="en-US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</a:endParaRPr>
            </a:p>
          </p:txBody>
        </p:sp>
        <p:sp>
          <p:nvSpPr>
            <p:cNvPr id="18" name="圓形箭號 17"/>
            <p:cNvSpPr/>
            <p:nvPr/>
          </p:nvSpPr>
          <p:spPr>
            <a:xfrm rot="1442893" flipH="1">
              <a:off x="4724508" y="1757957"/>
              <a:ext cx="2808312" cy="2448272"/>
            </a:xfrm>
            <a:prstGeom prst="circularArrow">
              <a:avLst>
                <a:gd name="adj1" fmla="val 12500"/>
                <a:gd name="adj2" fmla="val 1380506"/>
                <a:gd name="adj3" fmla="val 20457681"/>
                <a:gd name="adj4" fmla="val 16589048"/>
                <a:gd name="adj5" fmla="val 125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zh-TW" altLang="en-US">
                <a:solidFill>
                  <a:schemeClr val="tx1"/>
                </a:solidFill>
                <a:effectLst>
                  <a:reflection blurRad="6350" stA="55000" endA="300" endPos="45500" dir="5400000" sy="-100000" algn="bl" rotWithShape="0"/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4116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If underestimate</a:t>
            </a:r>
          </a:p>
          <a:p>
            <a:pPr lvl="1"/>
            <a:r>
              <a:rPr lang="en-US" altLang="zh-TW" dirty="0" smtClean="0"/>
              <a:t>Violate the contract and does not expand storage in time</a:t>
            </a:r>
          </a:p>
          <a:p>
            <a:r>
              <a:rPr lang="en-US" altLang="zh-TW" dirty="0" smtClean="0"/>
              <a:t>If overestimate</a:t>
            </a:r>
          </a:p>
          <a:p>
            <a:pPr lvl="1"/>
            <a:r>
              <a:rPr lang="en-US" altLang="zh-TW" dirty="0" smtClean="0"/>
              <a:t>Waste of resource and additional management costs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Windows Azure can take care about the storage management </a:t>
            </a:r>
          </a:p>
          <a:p>
            <a:pPr lvl="1"/>
            <a:r>
              <a:rPr lang="en-US" altLang="zh-TW" dirty="0" smtClean="0"/>
              <a:t>Users do not need to worry about maintaining storage space, back-up and hardware fail</a:t>
            </a:r>
          </a:p>
          <a:p>
            <a:pPr lvl="1"/>
            <a:r>
              <a:rPr lang="en-US" altLang="zh-TW" dirty="0" smtClean="0"/>
              <a:t>Enterprises do not need to purchase the data center nor take the responsibility of maintenance only for a peak loads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Windows Azure provides three type of storage and each one provides a special purpose</a:t>
            </a:r>
          </a:p>
          <a:p>
            <a:pPr lvl="1"/>
            <a:r>
              <a:rPr lang="en-US" altLang="zh-TW" dirty="0" smtClean="0"/>
              <a:t>Blob</a:t>
            </a:r>
          </a:p>
          <a:p>
            <a:pPr lvl="2"/>
            <a:r>
              <a:rPr lang="en-US" altLang="zh-TW" dirty="0" smtClean="0"/>
              <a:t>Provides blocks of storage that can store text or binary file</a:t>
            </a:r>
          </a:p>
          <a:p>
            <a:pPr lvl="1"/>
            <a:r>
              <a:rPr lang="en-US" altLang="zh-TW" dirty="0" smtClean="0"/>
              <a:t>Table </a:t>
            </a:r>
          </a:p>
          <a:p>
            <a:pPr lvl="2"/>
            <a:r>
              <a:rPr lang="en-US" altLang="zh-TW" dirty="0" smtClean="0"/>
              <a:t>Provides structured-based storage</a:t>
            </a:r>
          </a:p>
          <a:p>
            <a:pPr lvl="1"/>
            <a:r>
              <a:rPr lang="en-US" altLang="zh-TW" dirty="0" smtClean="0"/>
              <a:t>Queue </a:t>
            </a:r>
          </a:p>
          <a:p>
            <a:pPr lvl="2"/>
            <a:r>
              <a:rPr lang="en-US" altLang="zh-TW" dirty="0" smtClean="0"/>
              <a:t>Provides slices storages that support communication between applications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Each type of storage service has its own limitation</a:t>
            </a:r>
          </a:p>
          <a:p>
            <a:pPr lvl="1"/>
            <a:r>
              <a:rPr lang="en-US" altLang="zh-TW" dirty="0" smtClean="0"/>
              <a:t>Size of a file</a:t>
            </a:r>
          </a:p>
          <a:p>
            <a:pPr lvl="1"/>
            <a:r>
              <a:rPr lang="en-US" altLang="zh-TW" dirty="0" smtClean="0"/>
              <a:t>Number of operations at once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圓角矩形 29"/>
          <p:cNvSpPr/>
          <p:nvPr/>
        </p:nvSpPr>
        <p:spPr>
          <a:xfrm>
            <a:off x="1259632" y="3573016"/>
            <a:ext cx="6912768" cy="309634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 account has his Blob storage, and can have multiple containers</a:t>
            </a:r>
          </a:p>
          <a:p>
            <a:r>
              <a:rPr lang="en-US" altLang="zh-TW" dirty="0" smtClean="0"/>
              <a:t>Each container has multiple Blobs, each can store blocks or pages</a:t>
            </a:r>
          </a:p>
        </p:txBody>
      </p:sp>
      <p:grpSp>
        <p:nvGrpSpPr>
          <p:cNvPr id="4" name="群組 7"/>
          <p:cNvGrpSpPr/>
          <p:nvPr/>
        </p:nvGrpSpPr>
        <p:grpSpPr>
          <a:xfrm>
            <a:off x="1619672" y="3645024"/>
            <a:ext cx="1080120" cy="2952328"/>
            <a:chOff x="827584" y="3717032"/>
            <a:chExt cx="1080120" cy="2952328"/>
          </a:xfrm>
        </p:grpSpPr>
        <p:sp>
          <p:nvSpPr>
            <p:cNvPr id="6" name="圓角矩形 5"/>
            <p:cNvSpPr/>
            <p:nvPr/>
          </p:nvSpPr>
          <p:spPr>
            <a:xfrm>
              <a:off x="827584" y="3717032"/>
              <a:ext cx="1080120" cy="295232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848850" y="3861048"/>
              <a:ext cx="9516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bg1"/>
                  </a:solidFill>
                </a:rPr>
                <a:t>Account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8"/>
          <p:cNvGrpSpPr/>
          <p:nvPr/>
        </p:nvGrpSpPr>
        <p:grpSpPr>
          <a:xfrm>
            <a:off x="3251315" y="3645024"/>
            <a:ext cx="1104661" cy="2952328"/>
            <a:chOff x="816951" y="3717032"/>
            <a:chExt cx="1104661" cy="2952328"/>
          </a:xfrm>
        </p:grpSpPr>
        <p:sp>
          <p:nvSpPr>
            <p:cNvPr id="10" name="圓角矩形 9"/>
            <p:cNvSpPr/>
            <p:nvPr/>
          </p:nvSpPr>
          <p:spPr>
            <a:xfrm>
              <a:off x="827584" y="3717032"/>
              <a:ext cx="1080120" cy="295232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816951" y="3861048"/>
              <a:ext cx="1104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bg1"/>
                  </a:solidFill>
                </a:rPr>
                <a:t>Container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群組 11"/>
          <p:cNvGrpSpPr/>
          <p:nvPr/>
        </p:nvGrpSpPr>
        <p:grpSpPr>
          <a:xfrm>
            <a:off x="4932040" y="3645024"/>
            <a:ext cx="1080120" cy="2952328"/>
            <a:chOff x="827584" y="3717032"/>
            <a:chExt cx="1080120" cy="2952328"/>
          </a:xfrm>
        </p:grpSpPr>
        <p:sp>
          <p:nvSpPr>
            <p:cNvPr id="13" name="圓角矩形 12"/>
            <p:cNvSpPr/>
            <p:nvPr/>
          </p:nvSpPr>
          <p:spPr>
            <a:xfrm>
              <a:off x="827584" y="3717032"/>
              <a:ext cx="1080120" cy="295232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1053525" y="3861048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bg1"/>
                  </a:solidFill>
                </a:rPr>
                <a:t>Blob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群組 14"/>
          <p:cNvGrpSpPr/>
          <p:nvPr/>
        </p:nvGrpSpPr>
        <p:grpSpPr>
          <a:xfrm>
            <a:off x="6660232" y="3645024"/>
            <a:ext cx="1080120" cy="2952328"/>
            <a:chOff x="827584" y="3717032"/>
            <a:chExt cx="1080120" cy="2952328"/>
          </a:xfrm>
        </p:grpSpPr>
        <p:sp>
          <p:nvSpPr>
            <p:cNvPr id="16" name="圓角矩形 15"/>
            <p:cNvSpPr/>
            <p:nvPr/>
          </p:nvSpPr>
          <p:spPr>
            <a:xfrm>
              <a:off x="827584" y="3717032"/>
              <a:ext cx="1080120" cy="2952328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1022342" y="3861048"/>
              <a:ext cx="686406" cy="369332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chemeClr val="bg1"/>
                  </a:solidFill>
                </a:rPr>
                <a:t>Block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圓角矩形 21"/>
          <p:cNvSpPr/>
          <p:nvPr/>
        </p:nvSpPr>
        <p:spPr>
          <a:xfrm>
            <a:off x="5004048" y="5085184"/>
            <a:ext cx="936104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Image1.</a:t>
            </a:r>
          </a:p>
          <a:p>
            <a:pPr algn="ctr"/>
            <a:r>
              <a:rPr lang="en-US" altLang="zh-TW" sz="1400" dirty="0" smtClean="0"/>
              <a:t>jpg</a:t>
            </a:r>
            <a:endParaRPr lang="zh-TW" altLang="en-US" sz="1400" dirty="0"/>
          </a:p>
        </p:txBody>
      </p:sp>
      <p:sp>
        <p:nvSpPr>
          <p:cNvPr id="25" name="圓角矩形 24"/>
          <p:cNvSpPr/>
          <p:nvPr/>
        </p:nvSpPr>
        <p:spPr>
          <a:xfrm>
            <a:off x="5004048" y="5733256"/>
            <a:ext cx="936104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Image2.</a:t>
            </a:r>
          </a:p>
          <a:p>
            <a:pPr algn="ctr"/>
            <a:r>
              <a:rPr lang="en-US" altLang="zh-TW" sz="1400" dirty="0" smtClean="0"/>
              <a:t>jpg</a:t>
            </a:r>
            <a:endParaRPr lang="zh-TW" altLang="en-US" sz="1400" dirty="0"/>
          </a:p>
        </p:txBody>
      </p:sp>
      <p:cxnSp>
        <p:nvCxnSpPr>
          <p:cNvPr id="32" name="直線接點 31"/>
          <p:cNvCxnSpPr/>
          <p:nvPr/>
        </p:nvCxnSpPr>
        <p:spPr>
          <a:xfrm flipV="1">
            <a:off x="2123728" y="4653136"/>
            <a:ext cx="1296144" cy="50405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endCxn id="20" idx="1"/>
          </p:cNvCxnSpPr>
          <p:nvPr/>
        </p:nvCxnSpPr>
        <p:spPr>
          <a:xfrm>
            <a:off x="2195736" y="5229200"/>
            <a:ext cx="1210228" cy="3600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圓角矩形 25"/>
          <p:cNvSpPr/>
          <p:nvPr/>
        </p:nvSpPr>
        <p:spPr>
          <a:xfrm>
            <a:off x="5004048" y="4365104"/>
            <a:ext cx="936104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song.</a:t>
            </a:r>
          </a:p>
          <a:p>
            <a:pPr algn="ctr"/>
            <a:r>
              <a:rPr lang="en-US" altLang="zh-TW" sz="1400" dirty="0" smtClean="0"/>
              <a:t>mp3</a:t>
            </a:r>
            <a:endParaRPr lang="zh-TW" altLang="en-US" sz="1400" dirty="0"/>
          </a:p>
        </p:txBody>
      </p:sp>
      <p:sp>
        <p:nvSpPr>
          <p:cNvPr id="28" name="圓角矩形 27"/>
          <p:cNvSpPr/>
          <p:nvPr/>
        </p:nvSpPr>
        <p:spPr>
          <a:xfrm>
            <a:off x="6804248" y="4221088"/>
            <a:ext cx="792088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Block1 </a:t>
            </a:r>
            <a:endParaRPr lang="zh-TW" altLang="en-US" sz="1600" dirty="0"/>
          </a:p>
        </p:txBody>
      </p:sp>
      <p:sp>
        <p:nvSpPr>
          <p:cNvPr id="29" name="圓角矩形 28"/>
          <p:cNvSpPr/>
          <p:nvPr/>
        </p:nvSpPr>
        <p:spPr>
          <a:xfrm>
            <a:off x="6804248" y="4725144"/>
            <a:ext cx="792088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Block2 </a:t>
            </a:r>
            <a:endParaRPr lang="zh-TW" altLang="en-US" sz="1600" dirty="0"/>
          </a:p>
        </p:txBody>
      </p:sp>
      <p:sp>
        <p:nvSpPr>
          <p:cNvPr id="18" name="圓角矩形 17"/>
          <p:cNvSpPr/>
          <p:nvPr/>
        </p:nvSpPr>
        <p:spPr>
          <a:xfrm>
            <a:off x="1753055" y="4951801"/>
            <a:ext cx="792088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John</a:t>
            </a:r>
            <a:endParaRPr lang="zh-TW" altLang="en-US" dirty="0"/>
          </a:p>
        </p:txBody>
      </p:sp>
      <p:sp>
        <p:nvSpPr>
          <p:cNvPr id="19" name="圓角矩形 18"/>
          <p:cNvSpPr/>
          <p:nvPr/>
        </p:nvSpPr>
        <p:spPr>
          <a:xfrm>
            <a:off x="3397754" y="4365104"/>
            <a:ext cx="792088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music</a:t>
            </a:r>
            <a:endParaRPr lang="zh-TW" altLang="en-US" dirty="0"/>
          </a:p>
        </p:txBody>
      </p:sp>
      <p:sp>
        <p:nvSpPr>
          <p:cNvPr id="20" name="圓角矩形 19"/>
          <p:cNvSpPr/>
          <p:nvPr/>
        </p:nvSpPr>
        <p:spPr>
          <a:xfrm>
            <a:off x="3405964" y="5373216"/>
            <a:ext cx="792088" cy="43204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photo</a:t>
            </a:r>
            <a:endParaRPr lang="zh-TW" altLang="en-US" dirty="0"/>
          </a:p>
        </p:txBody>
      </p:sp>
      <p:cxnSp>
        <p:nvCxnSpPr>
          <p:cNvPr id="39" name="直線接點 38"/>
          <p:cNvCxnSpPr>
            <a:stCxn id="20" idx="3"/>
            <a:endCxn id="22" idx="1"/>
          </p:cNvCxnSpPr>
          <p:nvPr/>
        </p:nvCxnSpPr>
        <p:spPr>
          <a:xfrm flipV="1">
            <a:off x="4198052" y="5301208"/>
            <a:ext cx="805996" cy="288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20" idx="3"/>
            <a:endCxn id="25" idx="1"/>
          </p:cNvCxnSpPr>
          <p:nvPr/>
        </p:nvCxnSpPr>
        <p:spPr>
          <a:xfrm>
            <a:off x="4198052" y="5589240"/>
            <a:ext cx="805996" cy="3600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19" idx="3"/>
            <a:endCxn id="26" idx="1"/>
          </p:cNvCxnSpPr>
          <p:nvPr/>
        </p:nvCxnSpPr>
        <p:spPr>
          <a:xfrm>
            <a:off x="4189842" y="4581128"/>
            <a:ext cx="8142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endCxn id="28" idx="1"/>
          </p:cNvCxnSpPr>
          <p:nvPr/>
        </p:nvCxnSpPr>
        <p:spPr>
          <a:xfrm flipV="1">
            <a:off x="5940152" y="4437112"/>
            <a:ext cx="864096" cy="720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endCxn id="29" idx="1"/>
          </p:cNvCxnSpPr>
          <p:nvPr/>
        </p:nvCxnSpPr>
        <p:spPr>
          <a:xfrm>
            <a:off x="5940152" y="4653136"/>
            <a:ext cx="864096" cy="288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6" grpId="0" animBg="1"/>
      <p:bldP spid="28" grpId="0" animBg="1"/>
      <p:bldP spid="29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Blob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Block Blob</a:t>
            </a:r>
          </a:p>
          <a:p>
            <a:pPr lvl="1"/>
            <a:r>
              <a:rPr lang="en-US" altLang="zh-TW" dirty="0" smtClean="0"/>
              <a:t>Segment read/write</a:t>
            </a:r>
          </a:p>
          <a:p>
            <a:pPr lvl="1"/>
            <a:r>
              <a:rPr lang="en-US" altLang="zh-TW" dirty="0" smtClean="0"/>
              <a:t>Identify by Block ID</a:t>
            </a:r>
          </a:p>
          <a:p>
            <a:pPr lvl="1"/>
            <a:r>
              <a:rPr lang="en-US" altLang="zh-TW" dirty="0" smtClean="0"/>
              <a:t>Maximum size</a:t>
            </a:r>
          </a:p>
          <a:p>
            <a:pPr lvl="2"/>
            <a:r>
              <a:rPr lang="en-US" altLang="zh-TW" dirty="0" smtClean="0"/>
              <a:t>4MB for each block, and up to 50000 block</a:t>
            </a:r>
          </a:p>
          <a:p>
            <a:r>
              <a:rPr lang="en-US" altLang="zh-TW" dirty="0" smtClean="0"/>
              <a:t>Page Blob</a:t>
            </a:r>
          </a:p>
          <a:p>
            <a:pPr lvl="1"/>
            <a:r>
              <a:rPr lang="en-US" altLang="zh-TW" dirty="0" smtClean="0"/>
              <a:t>Provided a Windows Azure Driver (aka X-Driver)</a:t>
            </a:r>
          </a:p>
          <a:p>
            <a:pPr lvl="1"/>
            <a:r>
              <a:rPr lang="en-US" altLang="zh-TW" dirty="0" smtClean="0"/>
              <a:t>Random read/write</a:t>
            </a:r>
          </a:p>
          <a:p>
            <a:pPr lvl="1"/>
            <a:r>
              <a:rPr lang="en-US" altLang="zh-TW" dirty="0" smtClean="0"/>
              <a:t>Identify by a range</a:t>
            </a:r>
          </a:p>
          <a:p>
            <a:pPr lvl="1"/>
            <a:r>
              <a:rPr lang="en-US" altLang="zh-TW" dirty="0" smtClean="0"/>
              <a:t>Up to 1TB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X-Driver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The underlying storage</a:t>
            </a:r>
          </a:p>
          <a:p>
            <a:r>
              <a:rPr lang="en-US" altLang="zh-TW" dirty="0" smtClean="0"/>
              <a:t>A mechanism for viewing persistent storage as if it were a local drive </a:t>
            </a:r>
          </a:p>
          <a:p>
            <a:r>
              <a:rPr lang="en-US" altLang="zh-TW" dirty="0" smtClean="0"/>
              <a:t>Implemented as a Windows Azure Page Blob containing an NTFS-formatted Virtual Hard Disk (VHD)</a:t>
            </a:r>
            <a:endParaRPr lang="zh-TW" altLang="en-US" dirty="0" smtClean="0"/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76877"/>
            <a:ext cx="4038600" cy="3572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simple structural data storage that can store some structural data</a:t>
            </a:r>
          </a:p>
          <a:p>
            <a:pPr lvl="1"/>
            <a:r>
              <a:rPr lang="en-US" altLang="zh-TW" dirty="0" smtClean="0"/>
              <a:t>Similar to the EXIF information for describing a photo</a:t>
            </a:r>
          </a:p>
          <a:p>
            <a:r>
              <a:rPr lang="en-US" altLang="zh-TW" dirty="0" smtClean="0"/>
              <a:t>Table can be used as a lightweight database</a:t>
            </a:r>
          </a:p>
          <a:p>
            <a:r>
              <a:rPr lang="en-US" altLang="zh-TW" dirty="0" smtClean="0"/>
              <a:t>Entry is called as a line of data</a:t>
            </a:r>
          </a:p>
          <a:p>
            <a:r>
              <a:rPr lang="en-US" altLang="zh-TW" dirty="0" smtClean="0"/>
              <a:t>Every entry has a particular identifier which contains Account Key and Table Key</a:t>
            </a:r>
          </a:p>
          <a:p>
            <a:pPr>
              <a:buNone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8884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Account Name and Table Name are used to specify the account and table</a:t>
            </a:r>
          </a:p>
          <a:p>
            <a:r>
              <a:rPr lang="en-US" altLang="zh-TW" dirty="0" smtClean="0"/>
              <a:t>Partition Key is used to specify the same data on different partitions</a:t>
            </a:r>
          </a:p>
          <a:p>
            <a:r>
              <a:rPr lang="en-US" altLang="zh-TW" dirty="0" smtClean="0"/>
              <a:t>Row Key is an identifier of row data</a:t>
            </a:r>
          </a:p>
          <a:p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331640" y="3933056"/>
            <a:ext cx="7632848" cy="285293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745816" y="4005064"/>
            <a:ext cx="137954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FF00"/>
                </a:solidFill>
              </a:rPr>
              <a:t>Partition Key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Class 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432024" y="4005064"/>
            <a:ext cx="101021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FF00"/>
                </a:solidFill>
              </a:rPr>
              <a:t>Row Key</a:t>
            </a:r>
          </a:p>
          <a:p>
            <a:r>
              <a:rPr lang="en-US" altLang="zh-TW" dirty="0" smtClean="0">
                <a:solidFill>
                  <a:schemeClr val="bg1"/>
                </a:solidFill>
              </a:rPr>
              <a:t>Number 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42160" y="4005064"/>
            <a:ext cx="117000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FFFF00"/>
                </a:solidFill>
              </a:rPr>
              <a:t>Property 1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Score 1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354328" y="4005064"/>
            <a:ext cx="117000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FFFF00"/>
                </a:solidFill>
              </a:rPr>
              <a:t>Property 2</a:t>
            </a: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Score 2</a:t>
            </a:r>
            <a:endParaRPr lang="zh-TW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716360" y="4797152"/>
          <a:ext cx="6096000" cy="1854200"/>
        </p:xfrm>
        <a:graphic>
          <a:graphicData uri="http://schemas.openxmlformats.org/drawingml/2006/table">
            <a:tbl>
              <a:tblPr bandRow="1">
                <a:tableStyleId>{D113A9D2-9D6B-4929-AA2D-F23B5EE8CBE7}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Class</a:t>
                      </a:r>
                      <a:r>
                        <a:rPr lang="en-US" altLang="zh-TW" baseline="0" dirty="0" smtClean="0"/>
                        <a:t> 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A+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Class A</a:t>
                      </a:r>
                      <a:endParaRPr lang="zh-TW" altLang="en-US" dirty="0" smtClean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B-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B-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Class B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B+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A-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Class B</a:t>
                      </a:r>
                      <a:endParaRPr lang="zh-TW" altLang="en-US" dirty="0" smtClean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B+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B+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Class B</a:t>
                      </a:r>
                      <a:endParaRPr lang="zh-TW" altLang="en-US" dirty="0" smtClean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 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A-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pSp>
        <p:nvGrpSpPr>
          <p:cNvPr id="4" name="群組 31"/>
          <p:cNvGrpSpPr/>
          <p:nvPr/>
        </p:nvGrpSpPr>
        <p:grpSpPr>
          <a:xfrm>
            <a:off x="1763688" y="4797152"/>
            <a:ext cx="7139033" cy="1818208"/>
            <a:chOff x="1763688" y="4797152"/>
            <a:chExt cx="7139033" cy="1818208"/>
          </a:xfrm>
        </p:grpSpPr>
        <p:sp>
          <p:nvSpPr>
            <p:cNvPr id="8" name="文字方塊 7"/>
            <p:cNvSpPr txBox="1"/>
            <p:nvPr/>
          </p:nvSpPr>
          <p:spPr>
            <a:xfrm>
              <a:off x="7740352" y="5003884"/>
              <a:ext cx="1162369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FF00"/>
                  </a:solidFill>
                </a:rPr>
                <a:t>Partition 1</a:t>
              </a:r>
              <a:endParaRPr lang="zh-TW" altLang="en-US" dirty="0">
                <a:solidFill>
                  <a:srgbClr val="FFFF00"/>
                </a:solidFill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740352" y="5939988"/>
              <a:ext cx="1162369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olidFill>
                    <a:srgbClr val="FFFF00"/>
                  </a:solidFill>
                </a:rPr>
                <a:t>Partition 2</a:t>
              </a:r>
              <a:endParaRPr lang="zh-TW" altLang="en-US" dirty="0">
                <a:solidFill>
                  <a:srgbClr val="FFFF00"/>
                </a:solidFill>
              </a:endParaRPr>
            </a:p>
          </p:txBody>
        </p:sp>
        <p:grpSp>
          <p:nvGrpSpPr>
            <p:cNvPr id="5" name="群組 29"/>
            <p:cNvGrpSpPr/>
            <p:nvPr/>
          </p:nvGrpSpPr>
          <p:grpSpPr>
            <a:xfrm>
              <a:off x="1763688" y="4797152"/>
              <a:ext cx="5976664" cy="1818208"/>
              <a:chOff x="1763688" y="4797152"/>
              <a:chExt cx="5976664" cy="1818208"/>
            </a:xfrm>
          </p:grpSpPr>
          <p:sp>
            <p:nvSpPr>
              <p:cNvPr id="19" name="圓角矩形 18"/>
              <p:cNvSpPr/>
              <p:nvPr/>
            </p:nvSpPr>
            <p:spPr>
              <a:xfrm>
                <a:off x="1763688" y="4797152"/>
                <a:ext cx="5976664" cy="720080"/>
              </a:xfrm>
              <a:prstGeom prst="roundRect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圓角矩形 19"/>
              <p:cNvSpPr/>
              <p:nvPr/>
            </p:nvSpPr>
            <p:spPr>
              <a:xfrm>
                <a:off x="1763688" y="5607248"/>
                <a:ext cx="5976664" cy="1008112"/>
              </a:xfrm>
              <a:prstGeom prst="roundRect">
                <a:avLst/>
              </a:pr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6" name="群組 28"/>
          <p:cNvGrpSpPr/>
          <p:nvPr/>
        </p:nvGrpSpPr>
        <p:grpSpPr>
          <a:xfrm>
            <a:off x="577394" y="4581128"/>
            <a:ext cx="7018942" cy="576064"/>
            <a:chOff x="577394" y="4581128"/>
            <a:chExt cx="7018942" cy="576064"/>
          </a:xfrm>
        </p:grpSpPr>
        <p:cxnSp>
          <p:nvCxnSpPr>
            <p:cNvPr id="24" name="直線單箭頭接點 23"/>
            <p:cNvCxnSpPr/>
            <p:nvPr/>
          </p:nvCxnSpPr>
          <p:spPr>
            <a:xfrm>
              <a:off x="611560" y="5013176"/>
              <a:ext cx="86409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1907704" y="5157192"/>
              <a:ext cx="5688632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577394" y="4581128"/>
              <a:ext cx="682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entry</a:t>
              </a:r>
              <a:endParaRPr lang="zh-TW" altLang="en-US" dirty="0"/>
            </a:p>
          </p:txBody>
        </p:sp>
      </p:grpSp>
      <p:sp>
        <p:nvSpPr>
          <p:cNvPr id="34" name="橢圓 33"/>
          <p:cNvSpPr/>
          <p:nvPr/>
        </p:nvSpPr>
        <p:spPr>
          <a:xfrm>
            <a:off x="3491880" y="4924688"/>
            <a:ext cx="144016" cy="1440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3491880" y="5281544"/>
            <a:ext cx="144016" cy="1440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7596336" y="4005064"/>
            <a:ext cx="1274773" cy="52322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1"/>
                </a:solidFill>
              </a:rPr>
              <a:t>Table A</a:t>
            </a:r>
            <a:endParaRPr lang="zh-TW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Queue usually is used between application’s communication</a:t>
            </a:r>
          </a:p>
          <a:p>
            <a:r>
              <a:rPr lang="en-US" altLang="zh-TW" dirty="0" smtClean="0"/>
              <a:t>A queue consists of some slices</a:t>
            </a:r>
          </a:p>
          <a:p>
            <a:r>
              <a:rPr lang="en-US" altLang="zh-TW" dirty="0" smtClean="0"/>
              <a:t>Each slice contains 8 KB data</a:t>
            </a:r>
          </a:p>
          <a:p>
            <a:r>
              <a:rPr lang="en-US" altLang="zh-TW" dirty="0" smtClean="0"/>
              <a:t>There is a particular process </a:t>
            </a:r>
            <a:r>
              <a:rPr lang="en-US" altLang="zh-TW" dirty="0" smtClean="0"/>
              <a:t>to handle </a:t>
            </a:r>
            <a:r>
              <a:rPr lang="en-US" altLang="zh-TW" dirty="0" smtClean="0"/>
              <a:t>the </a:t>
            </a:r>
            <a:r>
              <a:rPr lang="en-US" altLang="zh-TW" dirty="0" smtClean="0"/>
              <a:t>queue such that each </a:t>
            </a:r>
            <a:r>
              <a:rPr lang="en-US" altLang="zh-TW" dirty="0" smtClean="0"/>
              <a:t>slice </a:t>
            </a:r>
            <a:r>
              <a:rPr lang="en-US" altLang="zh-TW" dirty="0" smtClean="0"/>
              <a:t>is processed </a:t>
            </a:r>
            <a:r>
              <a:rPr lang="en-US" altLang="zh-TW" dirty="0" smtClean="0"/>
              <a:t>once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grpSp>
        <p:nvGrpSpPr>
          <p:cNvPr id="37" name="群組 36"/>
          <p:cNvGrpSpPr/>
          <p:nvPr/>
        </p:nvGrpSpPr>
        <p:grpSpPr>
          <a:xfrm>
            <a:off x="611560" y="1844824"/>
            <a:ext cx="7920880" cy="4298776"/>
            <a:chOff x="611560" y="1844824"/>
            <a:chExt cx="7920880" cy="4298776"/>
          </a:xfrm>
        </p:grpSpPr>
        <p:sp>
          <p:nvSpPr>
            <p:cNvPr id="36" name="雲朵形 35"/>
            <p:cNvSpPr/>
            <p:nvPr/>
          </p:nvSpPr>
          <p:spPr>
            <a:xfrm>
              <a:off x="2123728" y="1844824"/>
              <a:ext cx="6408712" cy="4298776"/>
            </a:xfrm>
            <a:prstGeom prst="cloud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" name="群組 44"/>
            <p:cNvGrpSpPr/>
            <p:nvPr/>
          </p:nvGrpSpPr>
          <p:grpSpPr>
            <a:xfrm>
              <a:off x="611560" y="2423520"/>
              <a:ext cx="7252916" cy="3034623"/>
              <a:chOff x="1340321" y="2896716"/>
              <a:chExt cx="5448300" cy="2047875"/>
            </a:xfrm>
          </p:grpSpPr>
          <p:sp>
            <p:nvSpPr>
              <p:cNvPr id="1049" name="AutoShape 25"/>
              <p:cNvSpPr>
                <a:spLocks noChangeArrowheads="1"/>
              </p:cNvSpPr>
              <p:nvPr/>
            </p:nvSpPr>
            <p:spPr bwMode="auto">
              <a:xfrm>
                <a:off x="2673821" y="3553941"/>
                <a:ext cx="876300" cy="542925"/>
              </a:xfrm>
              <a:prstGeom prst="roundRect">
                <a:avLst>
                  <a:gd name="adj" fmla="val 16667"/>
                </a:avLst>
              </a:prstGeom>
              <a:solidFill>
                <a:srgbClr val="76923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Web Server FE</a:t>
                </a:r>
                <a:endParaRPr kumimoji="1" lang="en-US" altLang="zh-TW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grpSp>
            <p:nvGrpSpPr>
              <p:cNvPr id="4" name="Group 14"/>
              <p:cNvGrpSpPr>
                <a:grpSpLocks/>
              </p:cNvGrpSpPr>
              <p:nvPr/>
            </p:nvGrpSpPr>
            <p:grpSpPr bwMode="auto">
              <a:xfrm>
                <a:off x="4254971" y="3049116"/>
                <a:ext cx="1085850" cy="447675"/>
                <a:chOff x="5085" y="5010"/>
                <a:chExt cx="1710" cy="705"/>
              </a:xfrm>
            </p:grpSpPr>
            <p:sp>
              <p:nvSpPr>
                <p:cNvPr id="1045" name="AutoShape 21"/>
                <p:cNvSpPr>
                  <a:spLocks noChangeArrowheads="1"/>
                </p:cNvSpPr>
                <p:nvPr/>
              </p:nvSpPr>
              <p:spPr bwMode="auto">
                <a:xfrm>
                  <a:off x="5085" y="5340"/>
                  <a:ext cx="345" cy="375"/>
                </a:xfrm>
                <a:prstGeom prst="cube">
                  <a:avLst>
                    <a:gd name="adj" fmla="val 25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044" name="AutoShape 20"/>
                <p:cNvSpPr>
                  <a:spLocks noChangeArrowheads="1"/>
                </p:cNvSpPr>
                <p:nvPr/>
              </p:nvSpPr>
              <p:spPr bwMode="auto">
                <a:xfrm>
                  <a:off x="5355" y="5340"/>
                  <a:ext cx="345" cy="375"/>
                </a:xfrm>
                <a:prstGeom prst="cube">
                  <a:avLst>
                    <a:gd name="adj" fmla="val 25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043" name="AutoShape 19"/>
                <p:cNvSpPr>
                  <a:spLocks noChangeArrowheads="1"/>
                </p:cNvSpPr>
                <p:nvPr/>
              </p:nvSpPr>
              <p:spPr bwMode="auto">
                <a:xfrm>
                  <a:off x="5610" y="5340"/>
                  <a:ext cx="345" cy="375"/>
                </a:xfrm>
                <a:prstGeom prst="cube">
                  <a:avLst>
                    <a:gd name="adj" fmla="val 25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042" name="AutoShape 18"/>
                <p:cNvSpPr>
                  <a:spLocks noChangeArrowheads="1"/>
                </p:cNvSpPr>
                <p:nvPr/>
              </p:nvSpPr>
              <p:spPr bwMode="auto">
                <a:xfrm>
                  <a:off x="5880" y="5340"/>
                  <a:ext cx="345" cy="375"/>
                </a:xfrm>
                <a:prstGeom prst="cube">
                  <a:avLst>
                    <a:gd name="adj" fmla="val 25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04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5115" y="5010"/>
                  <a:ext cx="1680" cy="4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zh-TW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ea typeface="SimSun" pitchFamily="2" charset="-122"/>
                      <a:cs typeface="Calibri" pitchFamily="34" charset="0"/>
                    </a:rPr>
                    <a:t>Request Queue</a:t>
                  </a:r>
                  <a:endParaRPr kumimoji="1" lang="en-US" altLang="zh-TW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新細明體" pitchFamily="18" charset="-120"/>
                    <a:cs typeface="新細明體" pitchFamily="18" charset="-120"/>
                  </a:endParaRPr>
                </a:p>
              </p:txBody>
            </p:sp>
            <p:sp>
              <p:nvSpPr>
                <p:cNvPr id="1040" name="AutoShape 16"/>
                <p:cNvSpPr>
                  <a:spLocks noChangeArrowheads="1"/>
                </p:cNvSpPr>
                <p:nvPr/>
              </p:nvSpPr>
              <p:spPr bwMode="auto">
                <a:xfrm>
                  <a:off x="6150" y="5340"/>
                  <a:ext cx="345" cy="375"/>
                </a:xfrm>
                <a:prstGeom prst="cube">
                  <a:avLst>
                    <a:gd name="adj" fmla="val 25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039" name="AutoShape 15"/>
                <p:cNvSpPr>
                  <a:spLocks noChangeArrowheads="1"/>
                </p:cNvSpPr>
                <p:nvPr/>
              </p:nvSpPr>
              <p:spPr bwMode="auto">
                <a:xfrm>
                  <a:off x="6420" y="5340"/>
                  <a:ext cx="345" cy="375"/>
                </a:xfrm>
                <a:prstGeom prst="cube">
                  <a:avLst>
                    <a:gd name="adj" fmla="val 25000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037" name="AutoShape 13"/>
              <p:cNvSpPr>
                <a:spLocks noChangeArrowheads="1"/>
              </p:cNvSpPr>
              <p:nvPr/>
            </p:nvSpPr>
            <p:spPr bwMode="auto">
              <a:xfrm>
                <a:off x="3683471" y="4506441"/>
                <a:ext cx="790575" cy="438150"/>
              </a:xfrm>
              <a:prstGeom prst="flowChartMagneticDisk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Blob Store</a:t>
                </a:r>
                <a:endParaRPr kumimoji="1" lang="en-US" altLang="zh-TW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sp>
            <p:nvSpPr>
              <p:cNvPr id="1036" name="AutoShape 12"/>
              <p:cNvSpPr>
                <a:spLocks noChangeArrowheads="1"/>
              </p:cNvSpPr>
              <p:nvPr/>
            </p:nvSpPr>
            <p:spPr bwMode="auto">
              <a:xfrm>
                <a:off x="4674071" y="4506441"/>
                <a:ext cx="838200" cy="438150"/>
              </a:xfrm>
              <a:prstGeom prst="flowChartMagneticDisk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Table Store</a:t>
                </a:r>
                <a:endParaRPr kumimoji="1" lang="en-US" altLang="zh-TW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sp>
            <p:nvSpPr>
              <p:cNvPr id="1035" name="AutoShape 11"/>
              <p:cNvSpPr>
                <a:spLocks noChangeShapeType="1"/>
              </p:cNvSpPr>
              <p:nvPr/>
            </p:nvSpPr>
            <p:spPr bwMode="auto">
              <a:xfrm>
                <a:off x="3550121" y="4001616"/>
                <a:ext cx="333375" cy="5524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sp>
            <p:nvSpPr>
              <p:cNvPr id="1034" name="AutoShape 10"/>
              <p:cNvSpPr>
                <a:spLocks noChangeShapeType="1"/>
              </p:cNvSpPr>
              <p:nvPr/>
            </p:nvSpPr>
            <p:spPr bwMode="auto">
              <a:xfrm>
                <a:off x="3550121" y="4001616"/>
                <a:ext cx="1362075" cy="5524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sp>
            <p:nvSpPr>
              <p:cNvPr id="1050" name="AutoShape 26"/>
              <p:cNvSpPr>
                <a:spLocks noChangeArrowheads="1"/>
              </p:cNvSpPr>
              <p:nvPr/>
            </p:nvSpPr>
            <p:spPr bwMode="auto">
              <a:xfrm>
                <a:off x="5702771" y="2896716"/>
                <a:ext cx="876300" cy="704850"/>
              </a:xfrm>
              <a:prstGeom prst="roundRect">
                <a:avLst>
                  <a:gd name="adj" fmla="val 16667"/>
                </a:avLst>
              </a:prstGeom>
              <a:solidFill>
                <a:srgbClr val="76923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Backend Processing Server</a:t>
                </a:r>
                <a:endParaRPr kumimoji="1" lang="en-US" altLang="zh-TW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sp>
            <p:nvSpPr>
              <p:cNvPr id="1033" name="AutoShape 9"/>
              <p:cNvSpPr>
                <a:spLocks noChangeArrowheads="1"/>
              </p:cNvSpPr>
              <p:nvPr/>
            </p:nvSpPr>
            <p:spPr bwMode="auto">
              <a:xfrm>
                <a:off x="5801196" y="3106266"/>
                <a:ext cx="876300" cy="704850"/>
              </a:xfrm>
              <a:prstGeom prst="roundRect">
                <a:avLst>
                  <a:gd name="adj" fmla="val 16667"/>
                </a:avLst>
              </a:prstGeom>
              <a:solidFill>
                <a:srgbClr val="76923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Backend Processing Server</a:t>
                </a:r>
                <a:endParaRPr kumimoji="1" lang="en-US" altLang="zh-TW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sp>
            <p:nvSpPr>
              <p:cNvPr id="1032" name="AutoShape 8"/>
              <p:cNvSpPr>
                <a:spLocks noChangeArrowheads="1"/>
              </p:cNvSpPr>
              <p:nvPr/>
            </p:nvSpPr>
            <p:spPr bwMode="auto">
              <a:xfrm>
                <a:off x="5912321" y="3344391"/>
                <a:ext cx="876300" cy="704850"/>
              </a:xfrm>
              <a:prstGeom prst="roundRect">
                <a:avLst>
                  <a:gd name="adj" fmla="val 16667"/>
                </a:avLst>
              </a:prstGeom>
              <a:solidFill>
                <a:srgbClr val="76923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Backend Processing Server</a:t>
                </a:r>
                <a:endParaRPr kumimoji="1" lang="en-US" altLang="zh-TW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  <p:sp>
            <p:nvSpPr>
              <p:cNvPr id="1031" name="AutoShape 7"/>
              <p:cNvSpPr>
                <a:spLocks noChangeShapeType="1"/>
              </p:cNvSpPr>
              <p:nvPr/>
            </p:nvSpPr>
            <p:spPr bwMode="auto">
              <a:xfrm flipV="1">
                <a:off x="4331171" y="3953991"/>
                <a:ext cx="1470025" cy="6000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sp>
            <p:nvSpPr>
              <p:cNvPr id="1030" name="AutoShape 6"/>
              <p:cNvSpPr>
                <a:spLocks noChangeShapeType="1"/>
              </p:cNvSpPr>
              <p:nvPr/>
            </p:nvSpPr>
            <p:spPr bwMode="auto">
              <a:xfrm flipV="1">
                <a:off x="5321771" y="4001616"/>
                <a:ext cx="479425" cy="5524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sp>
            <p:nvSpPr>
              <p:cNvPr id="1029" name="AutoShape 5"/>
              <p:cNvSpPr>
                <a:spLocks noChangeShapeType="1"/>
              </p:cNvSpPr>
              <p:nvPr/>
            </p:nvSpPr>
            <p:spPr bwMode="auto">
              <a:xfrm flipV="1">
                <a:off x="3550121" y="3344391"/>
                <a:ext cx="704850" cy="3048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sp>
            <p:nvSpPr>
              <p:cNvPr id="1028" name="AutoShape 4"/>
              <p:cNvSpPr>
                <a:spLocks noChangeShapeType="1"/>
              </p:cNvSpPr>
              <p:nvPr/>
            </p:nvSpPr>
            <p:spPr bwMode="auto">
              <a:xfrm>
                <a:off x="5321771" y="3344391"/>
                <a:ext cx="5334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pic>
            <p:nvPicPr>
              <p:cNvPr id="1047" name="Picture 3" descr="j0292020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340321" y="3544416"/>
                <a:ext cx="752475" cy="714375"/>
              </a:xfrm>
              <a:prstGeom prst="rect">
                <a:avLst/>
              </a:prstGeom>
              <a:noFill/>
            </p:spPr>
          </p:pic>
          <p:sp>
            <p:nvSpPr>
              <p:cNvPr id="1027" name="AutoShape 3"/>
              <p:cNvSpPr>
                <a:spLocks noChangeArrowheads="1"/>
              </p:cNvSpPr>
              <p:nvPr/>
            </p:nvSpPr>
            <p:spPr bwMode="auto">
              <a:xfrm>
                <a:off x="2140421" y="3661891"/>
                <a:ext cx="504825" cy="142875"/>
              </a:xfrm>
              <a:prstGeom prst="leftRightArrow">
                <a:avLst>
                  <a:gd name="adj1" fmla="val 50000"/>
                  <a:gd name="adj2" fmla="val 70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TW" altLang="en-US"/>
              </a:p>
            </p:txBody>
          </p:sp>
          <p:sp>
            <p:nvSpPr>
              <p:cNvPr id="1048" name="AutoShape 24"/>
              <p:cNvSpPr>
                <a:spLocks noChangeArrowheads="1"/>
              </p:cNvSpPr>
              <p:nvPr/>
            </p:nvSpPr>
            <p:spPr bwMode="auto">
              <a:xfrm>
                <a:off x="2616671" y="3792066"/>
                <a:ext cx="876300" cy="542925"/>
              </a:xfrm>
              <a:prstGeom prst="roundRect">
                <a:avLst>
                  <a:gd name="adj" fmla="val 16667"/>
                </a:avLst>
              </a:prstGeom>
              <a:solidFill>
                <a:srgbClr val="76923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TW" sz="1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SimSun" pitchFamily="2" charset="-122"/>
                    <a:cs typeface="Calibri" pitchFamily="34" charset="0"/>
                  </a:rPr>
                  <a:t>Web Server Front-End</a:t>
                </a:r>
                <a:endParaRPr kumimoji="1" lang="en-US" altLang="zh-TW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  <a:cs typeface="新細明體" pitchFamily="18" charset="-120"/>
                </a:endParaRPr>
              </a:p>
            </p:txBody>
          </p:sp>
        </p:grpSp>
      </p:grp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56" name="Rectangle 3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SimSun" pitchFamily="2" charset="-122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zh-TW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Calibri" pitchFamily="34" charset="0"/>
              </a:rPr>
              <a:t/>
            </a:r>
            <a:br>
              <a:rPr kumimoji="1" lang="zh-TW" altLang="zh-TW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Calibri" pitchFamily="34" charset="0"/>
              </a:rPr>
            </a:b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1063" name="Rectangle 39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1619672" y="3429000"/>
            <a:ext cx="216024" cy="43204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圓角矩形 48"/>
          <p:cNvSpPr/>
          <p:nvPr/>
        </p:nvSpPr>
        <p:spPr>
          <a:xfrm>
            <a:off x="1619672" y="3933056"/>
            <a:ext cx="216024" cy="43204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圓角矩形 52"/>
          <p:cNvSpPr/>
          <p:nvPr/>
        </p:nvSpPr>
        <p:spPr>
          <a:xfrm>
            <a:off x="1619672" y="3645024"/>
            <a:ext cx="216024" cy="504056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直線單箭頭接點 55"/>
          <p:cNvCxnSpPr/>
          <p:nvPr/>
        </p:nvCxnSpPr>
        <p:spPr>
          <a:xfrm rot="10800000" flipV="1">
            <a:off x="4499992" y="3501008"/>
            <a:ext cx="2304256" cy="122413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683568" y="2852936"/>
            <a:ext cx="193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Multiple messages</a:t>
            </a:r>
            <a:endParaRPr lang="zh-TW" alt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39552" y="2492896"/>
            <a:ext cx="2158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 Large-size message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860032" y="3501008"/>
            <a:ext cx="14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Data location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4256745" y="2339588"/>
            <a:ext cx="182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Message queuing</a:t>
            </a:r>
            <a:endParaRPr lang="zh-TW" altLang="en-US" dirty="0"/>
          </a:p>
        </p:txBody>
      </p:sp>
      <p:sp>
        <p:nvSpPr>
          <p:cNvPr id="54" name="流程圖: 磁碟 53"/>
          <p:cNvSpPr/>
          <p:nvPr/>
        </p:nvSpPr>
        <p:spPr>
          <a:xfrm>
            <a:off x="3995936" y="4509120"/>
            <a:ext cx="504056" cy="576064"/>
          </a:xfrm>
          <a:prstGeom prst="flowChartMagneticDisk">
            <a:avLst/>
          </a:prstGeom>
          <a:gradFill flip="none" rotWithShape="1"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1.48148E-6 L 0.16945 -1.48148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59259E-6 L 0.16545 -2.59259E-6 " pathEditMode="relative" ptsTypes="AA">
                                      <p:cBhvr>
                                        <p:cTn id="1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944 -1.48148E-6 L 0.3033 -0.0840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-4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944 -2.59259E-6 L 0.3033 -0.0840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-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33 -0.08402 L 0.37413 -0.0840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33 -0.08403 L 0.33472 -0.15764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-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413 -0.08403 L 0.53941 -0.0840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253 -0.15764 L 0.55521 -0.15764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521 -0.15764 L 0.59462 -0.0946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545 0 " pathEditMode="relative" ptsTypes="AA">
                                      <p:cBhvr>
                                        <p:cTn id="5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944 0.00532 L 0.3033 -0.0891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-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33 -0.08935 L 0.55521 -0.0893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913 -0.16805 " pathEditMode="relative" ptsTypes="AA">
                                      <p:cBhvr>
                                        <p:cTn id="7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48" grpId="2" animBg="1"/>
      <p:bldP spid="48" grpId="3" animBg="1"/>
      <p:bldP spid="48" grpId="4" animBg="1"/>
      <p:bldP spid="48" grpId="5" animBg="1"/>
      <p:bldP spid="49" grpId="0" animBg="1"/>
      <p:bldP spid="49" grpId="1" animBg="1"/>
      <p:bldP spid="49" grpId="2" animBg="1"/>
      <p:bldP spid="49" grpId="3" animBg="1"/>
      <p:bldP spid="49" grpId="4" animBg="1"/>
      <p:bldP spid="49" grpId="5" animBg="1"/>
      <p:bldP spid="49" grpId="6" animBg="1"/>
      <p:bldP spid="53" grpId="0" animBg="1"/>
      <p:bldP spid="53" grpId="1" animBg="1"/>
      <p:bldP spid="53" grpId="2" animBg="1"/>
      <p:bldP spid="53" grpId="3" animBg="1"/>
      <p:bldP spid="38" grpId="0"/>
      <p:bldP spid="38" grpId="1"/>
      <p:bldP spid="39" grpId="0"/>
      <p:bldP spid="40" grpId="0"/>
      <p:bldP spid="41" grpId="0"/>
      <p:bldP spid="41" grpId="1"/>
      <p:bldP spid="54" grpId="0" animBg="1"/>
      <p:bldP spid="54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 smtClean="0"/>
              <a:t>Windows Azure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3296965"/>
            <a:ext cx="7772400" cy="150018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Compute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Storage</a:t>
            </a:r>
          </a:p>
          <a:p>
            <a:r>
              <a:rPr lang="en-US" altLang="zh-TW" dirty="0" smtClean="0"/>
              <a:t>Fabric</a:t>
            </a:r>
            <a:endParaRPr lang="zh-TW" altLang="en-US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2426"/>
          <a:stretch>
            <a:fillRect/>
          </a:stretch>
        </p:blipFill>
        <p:spPr bwMode="auto">
          <a:xfrm>
            <a:off x="2699792" y="1052736"/>
            <a:ext cx="5814392" cy="26897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圓角矩形 6"/>
          <p:cNvSpPr/>
          <p:nvPr/>
        </p:nvSpPr>
        <p:spPr>
          <a:xfrm>
            <a:off x="3347864" y="2564904"/>
            <a:ext cx="4525601" cy="40930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Fabric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- Fabric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58816" cy="452596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Windows Azure provides an automatic and autonomous way to manage resources</a:t>
            </a:r>
          </a:p>
          <a:p>
            <a:pPr lvl="1"/>
            <a:r>
              <a:rPr lang="en-US" altLang="zh-TW" dirty="0" smtClean="0"/>
              <a:t>Automatically report and recode the status of machines</a:t>
            </a:r>
          </a:p>
          <a:p>
            <a:pPr lvl="1"/>
            <a:r>
              <a:rPr lang="en-US" altLang="zh-TW" dirty="0" smtClean="0"/>
              <a:t>Provide a control center </a:t>
            </a:r>
            <a:r>
              <a:rPr lang="en-US" altLang="zh-TW" dirty="0" smtClean="0"/>
              <a:t>to perform </a:t>
            </a:r>
            <a:r>
              <a:rPr lang="en-US" altLang="zh-TW" dirty="0" smtClean="0"/>
              <a:t>failure </a:t>
            </a:r>
            <a:r>
              <a:rPr lang="en-US" altLang="zh-TW" dirty="0" smtClean="0"/>
              <a:t>recovery </a:t>
            </a:r>
            <a:r>
              <a:rPr lang="en-US" altLang="zh-TW" dirty="0" smtClean="0"/>
              <a:t>when one or many machines crash</a:t>
            </a:r>
          </a:p>
          <a:p>
            <a:endParaRPr lang="zh-TW" altLang="en-US" dirty="0"/>
          </a:p>
        </p:txBody>
      </p:sp>
      <p:pic>
        <p:nvPicPr>
          <p:cNvPr id="6" name="Picture 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345551"/>
            <a:ext cx="4038600" cy="3035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Fabric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Windows Azure supports two fabrics to control and </a:t>
            </a:r>
            <a:r>
              <a:rPr lang="en-US" altLang="zh-TW" dirty="0" smtClean="0"/>
              <a:t>manage </a:t>
            </a:r>
            <a:r>
              <a:rPr lang="en-US" altLang="zh-TW" dirty="0" smtClean="0"/>
              <a:t>the machines and jobs</a:t>
            </a:r>
          </a:p>
          <a:p>
            <a:r>
              <a:rPr lang="en-US" altLang="zh-TW" dirty="0" smtClean="0"/>
              <a:t>Fabric Agent</a:t>
            </a:r>
          </a:p>
          <a:p>
            <a:pPr lvl="1"/>
            <a:r>
              <a:rPr lang="en-US" altLang="zh-TW" dirty="0" smtClean="0"/>
              <a:t>Each </a:t>
            </a:r>
            <a:r>
              <a:rPr lang="en-US" altLang="zh-TW" dirty="0" smtClean="0"/>
              <a:t>virtual </a:t>
            </a:r>
            <a:r>
              <a:rPr lang="en-US" altLang="zh-TW" dirty="0" smtClean="0"/>
              <a:t>machine has one fabric agent</a:t>
            </a:r>
          </a:p>
          <a:p>
            <a:pPr lvl="1"/>
            <a:r>
              <a:rPr lang="en-US" altLang="zh-TW" dirty="0" smtClean="0"/>
              <a:t>Report the status to fabric controller</a:t>
            </a:r>
          </a:p>
          <a:p>
            <a:pPr lvl="1"/>
            <a:r>
              <a:rPr lang="en-US" altLang="zh-TW" dirty="0" smtClean="0"/>
              <a:t>Provide user’s authentication and defense of attack</a:t>
            </a:r>
          </a:p>
          <a:p>
            <a:r>
              <a:rPr lang="en-US" altLang="zh-TW" dirty="0" smtClean="0"/>
              <a:t>Fabric Controller</a:t>
            </a:r>
          </a:p>
          <a:p>
            <a:pPr lvl="1"/>
            <a:r>
              <a:rPr lang="en-US" altLang="zh-TW" dirty="0" smtClean="0"/>
              <a:t>Monitor and control the virtual machine by fabric agent</a:t>
            </a:r>
          </a:p>
          <a:p>
            <a:pPr lvl="1"/>
            <a:r>
              <a:rPr lang="en-US" altLang="zh-TW" dirty="0" smtClean="0"/>
              <a:t>Manage the virtual machines, running environment and software configuration</a:t>
            </a:r>
          </a:p>
          <a:p>
            <a:pPr lvl="1"/>
            <a:r>
              <a:rPr lang="en-US" altLang="zh-TW" dirty="0" smtClean="0"/>
              <a:t>Control the work flow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of Fabric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1036712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i="1" dirty="0" smtClean="0"/>
              <a:t>fabric controller </a:t>
            </a:r>
            <a:r>
              <a:rPr lang="en-US" altLang="zh-TW" dirty="0" smtClean="0"/>
              <a:t>interacts with Windows Azure applications via the </a:t>
            </a:r>
            <a:r>
              <a:rPr lang="en-US" altLang="zh-TW" i="1" dirty="0" smtClean="0"/>
              <a:t>fabric agent</a:t>
            </a:r>
            <a:endParaRPr lang="zh-TW" altLang="en-US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6877" y="2492896"/>
            <a:ext cx="6610247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橢圓 24"/>
          <p:cNvSpPr/>
          <p:nvPr/>
        </p:nvSpPr>
        <p:spPr>
          <a:xfrm>
            <a:off x="35496" y="2420888"/>
            <a:ext cx="7632848" cy="4392488"/>
          </a:xfrm>
          <a:prstGeom prst="ellipse">
            <a:avLst/>
          </a:prstGeom>
          <a:gradFill flip="none" rotWithShape="1"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89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Fabric</a:t>
            </a:r>
            <a:endParaRPr lang="zh-TW" altLang="en-US" dirty="0"/>
          </a:p>
        </p:txBody>
      </p:sp>
      <p:grpSp>
        <p:nvGrpSpPr>
          <p:cNvPr id="3" name="群組 43"/>
          <p:cNvGrpSpPr/>
          <p:nvPr/>
        </p:nvGrpSpPr>
        <p:grpSpPr>
          <a:xfrm>
            <a:off x="6917102" y="6381328"/>
            <a:ext cx="2226898" cy="443880"/>
            <a:chOff x="6804248" y="5085184"/>
            <a:chExt cx="2226898" cy="443880"/>
          </a:xfrm>
        </p:grpSpPr>
        <p:pic>
          <p:nvPicPr>
            <p:cNvPr id="13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04248" y="5085184"/>
              <a:ext cx="443880" cy="443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文字方塊 14"/>
            <p:cNvSpPr txBox="1"/>
            <p:nvPr/>
          </p:nvSpPr>
          <p:spPr>
            <a:xfrm>
              <a:off x="7236296" y="5147900"/>
              <a:ext cx="1794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Fabric  Controller</a:t>
              </a:r>
              <a:endParaRPr lang="zh-TW" altLang="en-US" dirty="0"/>
            </a:p>
          </p:txBody>
        </p:sp>
      </p:grpSp>
      <p:grpSp>
        <p:nvGrpSpPr>
          <p:cNvPr id="4" name="群組 44"/>
          <p:cNvGrpSpPr/>
          <p:nvPr/>
        </p:nvGrpSpPr>
        <p:grpSpPr>
          <a:xfrm>
            <a:off x="7345351" y="5849813"/>
            <a:ext cx="1798649" cy="531515"/>
            <a:chOff x="6843160" y="5589240"/>
            <a:chExt cx="1798649" cy="531515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43160" y="5589240"/>
              <a:ext cx="354343" cy="5315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6" name="文字方塊 15"/>
            <p:cNvSpPr txBox="1"/>
            <p:nvPr/>
          </p:nvSpPr>
          <p:spPr>
            <a:xfrm>
              <a:off x="7236296" y="5661248"/>
              <a:ext cx="1405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Fabric  Agent</a:t>
              </a:r>
              <a:endParaRPr lang="zh-TW" altLang="en-US" dirty="0"/>
            </a:p>
          </p:txBody>
        </p:sp>
      </p:grpSp>
      <p:cxnSp>
        <p:nvCxnSpPr>
          <p:cNvPr id="18" name="直線單箭頭接點 17"/>
          <p:cNvCxnSpPr/>
          <p:nvPr/>
        </p:nvCxnSpPr>
        <p:spPr>
          <a:xfrm rot="5400000">
            <a:off x="3132634" y="4437112"/>
            <a:ext cx="1151334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1547664" y="3717032"/>
            <a:ext cx="1584176" cy="11521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4283968" y="3717032"/>
            <a:ext cx="1512168" cy="11521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2564904"/>
            <a:ext cx="817637" cy="81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群組 33"/>
          <p:cNvGrpSpPr/>
          <p:nvPr/>
        </p:nvGrpSpPr>
        <p:grpSpPr>
          <a:xfrm>
            <a:off x="899592" y="4874468"/>
            <a:ext cx="1178038" cy="1239441"/>
            <a:chOff x="1835696" y="3146276"/>
            <a:chExt cx="1178038" cy="1239441"/>
          </a:xfrm>
        </p:grpSpPr>
        <p:pic>
          <p:nvPicPr>
            <p:cNvPr id="5127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79712" y="3284984"/>
              <a:ext cx="1034022" cy="1100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835696" y="3146276"/>
              <a:ext cx="814625" cy="1218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" name="群組 34"/>
          <p:cNvGrpSpPr/>
          <p:nvPr/>
        </p:nvGrpSpPr>
        <p:grpSpPr>
          <a:xfrm>
            <a:off x="3249946" y="4925863"/>
            <a:ext cx="1178038" cy="1239441"/>
            <a:chOff x="1835696" y="3146276"/>
            <a:chExt cx="1178038" cy="1239441"/>
          </a:xfrm>
        </p:grpSpPr>
        <p:pic>
          <p:nvPicPr>
            <p:cNvPr id="36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79712" y="3284984"/>
              <a:ext cx="1034022" cy="1100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835696" y="3146276"/>
              <a:ext cx="814625" cy="1218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群組 37"/>
          <p:cNvGrpSpPr/>
          <p:nvPr/>
        </p:nvGrpSpPr>
        <p:grpSpPr>
          <a:xfrm>
            <a:off x="5266170" y="4869160"/>
            <a:ext cx="1178038" cy="1239441"/>
            <a:chOff x="1835696" y="3146276"/>
            <a:chExt cx="1178038" cy="1239441"/>
          </a:xfrm>
        </p:grpSpPr>
        <p:pic>
          <p:nvPicPr>
            <p:cNvPr id="39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79712" y="3284984"/>
              <a:ext cx="1034022" cy="11007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0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835696" y="3146276"/>
              <a:ext cx="814625" cy="1218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" name="群組 45"/>
          <p:cNvGrpSpPr/>
          <p:nvPr/>
        </p:nvGrpSpPr>
        <p:grpSpPr>
          <a:xfrm>
            <a:off x="7633383" y="5301208"/>
            <a:ext cx="1510617" cy="524669"/>
            <a:chOff x="6727876" y="6237312"/>
            <a:chExt cx="1510617" cy="524669"/>
          </a:xfrm>
        </p:grpSpPr>
        <p:pic>
          <p:nvPicPr>
            <p:cNvPr id="5128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727876" y="6237312"/>
              <a:ext cx="492871" cy="5246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2" name="文字方塊 41"/>
            <p:cNvSpPr txBox="1"/>
            <p:nvPr/>
          </p:nvSpPr>
          <p:spPr>
            <a:xfrm>
              <a:off x="7236296" y="6300028"/>
              <a:ext cx="1002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Machine</a:t>
              </a:r>
              <a:endParaRPr lang="zh-TW" altLang="en-US" dirty="0"/>
            </a:p>
          </p:txBody>
        </p:sp>
      </p:grpSp>
      <p:sp>
        <p:nvSpPr>
          <p:cNvPr id="43" name="圓角矩形 42"/>
          <p:cNvSpPr/>
          <p:nvPr/>
        </p:nvSpPr>
        <p:spPr>
          <a:xfrm>
            <a:off x="3203848" y="3429000"/>
            <a:ext cx="1080120" cy="43204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job</a:t>
            </a:r>
            <a:endParaRPr lang="zh-TW" altLang="en-US" dirty="0"/>
          </a:p>
        </p:txBody>
      </p:sp>
      <p:sp>
        <p:nvSpPr>
          <p:cNvPr id="55" name="橢圓形圖說文字 54"/>
          <p:cNvSpPr/>
          <p:nvPr/>
        </p:nvSpPr>
        <p:spPr>
          <a:xfrm>
            <a:off x="3779912" y="4437112"/>
            <a:ext cx="936104" cy="504056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</a:t>
            </a:r>
            <a:endParaRPr lang="zh-TW" altLang="en-US" dirty="0"/>
          </a:p>
        </p:txBody>
      </p:sp>
      <p:sp>
        <p:nvSpPr>
          <p:cNvPr id="56" name="橢圓形圖說文字 55"/>
          <p:cNvSpPr/>
          <p:nvPr/>
        </p:nvSpPr>
        <p:spPr>
          <a:xfrm>
            <a:off x="5940152" y="4437112"/>
            <a:ext cx="936104" cy="504056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</a:t>
            </a:r>
            <a:endParaRPr lang="zh-TW" altLang="en-US" dirty="0"/>
          </a:p>
        </p:txBody>
      </p:sp>
      <p:sp>
        <p:nvSpPr>
          <p:cNvPr id="58" name="橢圓形圖說文字 57"/>
          <p:cNvSpPr/>
          <p:nvPr/>
        </p:nvSpPr>
        <p:spPr>
          <a:xfrm>
            <a:off x="3851920" y="2996952"/>
            <a:ext cx="2520280" cy="504056"/>
          </a:xfrm>
          <a:prstGeom prst="wedgeEllipseCallout">
            <a:avLst>
              <a:gd name="adj1" fmla="val -44474"/>
              <a:gd name="adj2" fmla="val -7066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Who is available?</a:t>
            </a:r>
            <a:endParaRPr lang="zh-TW" altLang="en-US" dirty="0"/>
          </a:p>
        </p:txBody>
      </p:sp>
      <p:sp>
        <p:nvSpPr>
          <p:cNvPr id="59" name="圓角矩形 58"/>
          <p:cNvSpPr/>
          <p:nvPr/>
        </p:nvSpPr>
        <p:spPr>
          <a:xfrm>
            <a:off x="3203848" y="3429000"/>
            <a:ext cx="1080120" cy="43204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job</a:t>
            </a:r>
            <a:endParaRPr lang="zh-TW" altLang="en-US" dirty="0"/>
          </a:p>
        </p:txBody>
      </p:sp>
      <p:sp>
        <p:nvSpPr>
          <p:cNvPr id="60" name="圓角矩形 59"/>
          <p:cNvSpPr/>
          <p:nvPr/>
        </p:nvSpPr>
        <p:spPr>
          <a:xfrm>
            <a:off x="3203848" y="3429000"/>
            <a:ext cx="1080120" cy="43204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job</a:t>
            </a:r>
            <a:endParaRPr lang="zh-TW" altLang="en-US" dirty="0"/>
          </a:p>
        </p:txBody>
      </p:sp>
      <p:sp>
        <p:nvSpPr>
          <p:cNvPr id="61" name="橢圓形圖說文字 60"/>
          <p:cNvSpPr/>
          <p:nvPr/>
        </p:nvSpPr>
        <p:spPr>
          <a:xfrm>
            <a:off x="3851920" y="2996952"/>
            <a:ext cx="2520280" cy="504056"/>
          </a:xfrm>
          <a:prstGeom prst="wedgeEllipseCallout">
            <a:avLst>
              <a:gd name="adj1" fmla="val -44474"/>
              <a:gd name="adj2" fmla="val -7066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Who is alive?</a:t>
            </a:r>
            <a:endParaRPr lang="zh-TW" altLang="en-US" dirty="0"/>
          </a:p>
        </p:txBody>
      </p:sp>
      <p:sp>
        <p:nvSpPr>
          <p:cNvPr id="62" name="橢圓形圖說文字 61"/>
          <p:cNvSpPr/>
          <p:nvPr/>
        </p:nvSpPr>
        <p:spPr>
          <a:xfrm>
            <a:off x="395536" y="4293096"/>
            <a:ext cx="936104" cy="504056"/>
          </a:xfrm>
          <a:prstGeom prst="wedgeEllipseCallout">
            <a:avLst>
              <a:gd name="adj1" fmla="val 35282"/>
              <a:gd name="adj2" fmla="val 7021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</a:t>
            </a:r>
            <a:endParaRPr lang="zh-TW" altLang="en-US" dirty="0"/>
          </a:p>
        </p:txBody>
      </p:sp>
      <p:sp>
        <p:nvSpPr>
          <p:cNvPr id="63" name="橢圓形圖說文字 62"/>
          <p:cNvSpPr/>
          <p:nvPr/>
        </p:nvSpPr>
        <p:spPr>
          <a:xfrm>
            <a:off x="5940152" y="4437112"/>
            <a:ext cx="936104" cy="504056"/>
          </a:xfrm>
          <a:prstGeom prst="wedgeEllipseCallout">
            <a:avLst>
              <a:gd name="adj1" fmla="val -21872"/>
              <a:gd name="adj2" fmla="val 6442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Me</a:t>
            </a:r>
            <a:endParaRPr lang="zh-TW" altLang="en-US" dirty="0"/>
          </a:p>
        </p:txBody>
      </p:sp>
      <p:grpSp>
        <p:nvGrpSpPr>
          <p:cNvPr id="9" name="群組 70"/>
          <p:cNvGrpSpPr/>
          <p:nvPr/>
        </p:nvGrpSpPr>
        <p:grpSpPr>
          <a:xfrm>
            <a:off x="3059832" y="5013176"/>
            <a:ext cx="1656184" cy="1080120"/>
            <a:chOff x="3635896" y="3933056"/>
            <a:chExt cx="1656184" cy="1080120"/>
          </a:xfrm>
        </p:grpSpPr>
        <p:cxnSp>
          <p:nvCxnSpPr>
            <p:cNvPr id="66" name="直線接點 65"/>
            <p:cNvCxnSpPr/>
            <p:nvPr/>
          </p:nvCxnSpPr>
          <p:spPr>
            <a:xfrm>
              <a:off x="3635896" y="3933056"/>
              <a:ext cx="1656184" cy="108012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/>
            <p:nvPr/>
          </p:nvCxnSpPr>
          <p:spPr>
            <a:xfrm rot="10800000" flipV="1">
              <a:off x="3707904" y="4005064"/>
              <a:ext cx="1512168" cy="1008112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內容版面配置區 5"/>
          <p:cNvSpPr txBox="1">
            <a:spLocks/>
          </p:cNvSpPr>
          <p:nvPr/>
        </p:nvSpPr>
        <p:spPr>
          <a:xfrm>
            <a:off x="457200" y="1484784"/>
            <a:ext cx="8229600" cy="1036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280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Fabric Agent records the status of machine and reports to Fabric Controller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07407E-6 L 0.00399 0.3148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15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07407E-6 L 0.21666 0.3148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6" grpId="0" animBg="1"/>
      <p:bldP spid="56" grpId="1" animBg="1"/>
      <p:bldP spid="58" grpId="0" animBg="1"/>
      <p:bldP spid="59" grpId="0" animBg="1"/>
      <p:bldP spid="59" grpId="1" animBg="1"/>
      <p:bldP spid="60" grpId="0" animBg="1"/>
      <p:bldP spid="60" grpId="1" animBg="1"/>
      <p:bldP spid="61" grpId="0" animBg="1"/>
      <p:bldP spid="62" grpId="0" animBg="1"/>
      <p:bldP spid="6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Platform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Windows Azure</a:t>
            </a:r>
          </a:p>
          <a:p>
            <a:r>
              <a:rPr lang="en-US" altLang="zh-TW" dirty="0" smtClean="0"/>
              <a:t>SQL Azure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AppFabric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25993"/>
            <a:ext cx="6444208" cy="39950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橢圓 8"/>
          <p:cNvSpPr/>
          <p:nvPr/>
        </p:nvSpPr>
        <p:spPr>
          <a:xfrm>
            <a:off x="5940152" y="548680"/>
            <a:ext cx="2376264" cy="864096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SQL Azure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9251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 many situations, enterprises or developers might need to find the relations between data</a:t>
            </a:r>
          </a:p>
          <a:p>
            <a:pPr lvl="1"/>
            <a:r>
              <a:rPr lang="en-US" altLang="zh-TW" dirty="0" smtClean="0"/>
              <a:t>Enterprises need a database to store their critical and mass data</a:t>
            </a:r>
          </a:p>
          <a:p>
            <a:r>
              <a:rPr lang="en-US" altLang="zh-TW" dirty="0" smtClean="0"/>
              <a:t>Windows Azure Platform provides the SQL Azure to approach data services</a:t>
            </a:r>
          </a:p>
          <a:p>
            <a:endParaRPr lang="en-US" altLang="zh-TW" dirty="0" smtClean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987" y="1600200"/>
            <a:ext cx="3899026" cy="45259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SQL Azure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SQL Azure </a:t>
            </a:r>
            <a:r>
              <a:rPr lang="en-US" altLang="zh-TW" dirty="0" smtClean="0"/>
              <a:t>provides a cloud-based database management system (DBMS) and data-oriented services in the cloud</a:t>
            </a:r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 l="2942" t="4996" r="2927" b="5085"/>
          <a:stretch>
            <a:fillRect/>
          </a:stretch>
        </p:blipFill>
        <p:spPr bwMode="auto">
          <a:xfrm>
            <a:off x="1547664" y="3122966"/>
            <a:ext cx="6048672" cy="3402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SQL Azure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SQL Azure Database </a:t>
            </a:r>
          </a:p>
          <a:p>
            <a:pPr lvl="1"/>
            <a:r>
              <a:rPr lang="en-US" altLang="zh-TW" dirty="0" smtClean="0"/>
              <a:t>A relational database</a:t>
            </a:r>
          </a:p>
          <a:p>
            <a:pPr lvl="1"/>
            <a:r>
              <a:rPr lang="en-US" altLang="zh-TW" dirty="0" smtClean="0"/>
              <a:t>Supports Transact-SQL (T-SQL) language such that customers can use exist data model to develop services</a:t>
            </a:r>
          </a:p>
          <a:p>
            <a:pPr lvl="1"/>
            <a:r>
              <a:rPr lang="en-US" altLang="zh-TW" dirty="0" smtClean="0"/>
              <a:t>Integrates with SQL Server, include Visual Studio, development tools</a:t>
            </a:r>
          </a:p>
          <a:p>
            <a:pPr lvl="1"/>
            <a:r>
              <a:rPr lang="en-US" altLang="zh-TW" dirty="0" smtClean="0"/>
              <a:t>Reliable and scalable database on demand</a:t>
            </a:r>
          </a:p>
          <a:p>
            <a:r>
              <a:rPr lang="en-US" altLang="zh-TW" dirty="0" smtClean="0"/>
              <a:t>Limitation </a:t>
            </a:r>
          </a:p>
          <a:p>
            <a:pPr lvl="1"/>
            <a:r>
              <a:rPr lang="en-US" altLang="zh-TW" dirty="0" smtClean="0"/>
              <a:t>A query can run for only a limited time</a:t>
            </a:r>
          </a:p>
          <a:p>
            <a:pPr lvl="1"/>
            <a:r>
              <a:rPr lang="en-US" altLang="zh-TW" dirty="0" smtClean="0"/>
              <a:t>The maximum size of a single database is 10 GB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SQL Azure Database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/>
          <a:lstStyle/>
          <a:p>
            <a:r>
              <a:rPr lang="en-US" altLang="zh-TW" dirty="0" smtClean="0"/>
              <a:t>An application can use a single database or multiple databases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1267" t="697" r="2204" b="1818"/>
          <a:stretch>
            <a:fillRect/>
          </a:stretch>
        </p:blipFill>
        <p:spPr bwMode="auto">
          <a:xfrm>
            <a:off x="4355976" y="2604818"/>
            <a:ext cx="4752527" cy="392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內容版面配置區 4"/>
          <p:cNvSpPr txBox="1">
            <a:spLocks/>
          </p:cNvSpPr>
          <p:nvPr/>
        </p:nvSpPr>
        <p:spPr>
          <a:xfrm>
            <a:off x="364232" y="2608312"/>
            <a:ext cx="4495800" cy="39890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lvl="1" indent="-285750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2400" dirty="0" smtClean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An application whose data is within the limit can use just one database</a:t>
            </a:r>
          </a:p>
          <a:p>
            <a:pPr marL="742950" lvl="1" indent="-285750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2400" dirty="0" smtClean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An application with more data will need to create multiple databases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Architecture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251520" y="2348880"/>
            <a:ext cx="7848872" cy="4176464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39552" y="5877272"/>
            <a:ext cx="727280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Windows  Azure Computes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539552" y="5157192"/>
            <a:ext cx="1152128" cy="57606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SQL Azure</a:t>
            </a:r>
          </a:p>
          <a:p>
            <a:pPr algn="ctr"/>
            <a:r>
              <a:rPr lang="en-US" altLang="zh-TW" dirty="0" smtClean="0"/>
              <a:t>Backend 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004048" y="515719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…………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39552" y="4365104"/>
            <a:ext cx="7272808" cy="43204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3500000" scaled="1"/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Service Layer (SQL Azure Gateway)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39552" y="3573016"/>
            <a:ext cx="7272808" cy="432048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51000"/>
                  <a:satMod val="130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SQL Service Load Balancer 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436096" y="2564904"/>
            <a:ext cx="2088232" cy="6480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Windows Azure Cloud Applications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835696" y="5157192"/>
            <a:ext cx="1152128" cy="57606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SQL Azure</a:t>
            </a:r>
          </a:p>
          <a:p>
            <a:pPr algn="ctr"/>
            <a:r>
              <a:rPr lang="en-US" altLang="zh-TW" dirty="0" smtClean="0"/>
              <a:t>Backend 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3131840" y="5157192"/>
            <a:ext cx="1152128" cy="57606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SQL Azure</a:t>
            </a:r>
          </a:p>
          <a:p>
            <a:pPr algn="ctr"/>
            <a:r>
              <a:rPr lang="en-US" altLang="zh-TW" dirty="0" smtClean="0"/>
              <a:t>Backend 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588224" y="5157192"/>
            <a:ext cx="1152128" cy="57606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SQL Azure</a:t>
            </a:r>
          </a:p>
          <a:p>
            <a:pPr algn="ctr"/>
            <a:r>
              <a:rPr lang="en-US" altLang="zh-TW" dirty="0" smtClean="0"/>
              <a:t>Backend </a:t>
            </a:r>
            <a:endParaRPr lang="zh-TW" altLang="en-US" dirty="0"/>
          </a:p>
        </p:txBody>
      </p:sp>
      <p:cxnSp>
        <p:nvCxnSpPr>
          <p:cNvPr id="20" name="直線單箭頭接點 19"/>
          <p:cNvCxnSpPr>
            <a:stCxn id="54" idx="2"/>
          </p:cNvCxnSpPr>
          <p:nvPr/>
        </p:nvCxnSpPr>
        <p:spPr>
          <a:xfrm rot="5400000">
            <a:off x="605907" y="2702379"/>
            <a:ext cx="1596370" cy="8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55" idx="2"/>
          </p:cNvCxnSpPr>
          <p:nvPr/>
        </p:nvCxnSpPr>
        <p:spPr>
          <a:xfrm rot="5400000">
            <a:off x="2836475" y="2702473"/>
            <a:ext cx="1596370" cy="70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56" idx="2"/>
            <a:endCxn id="15" idx="0"/>
          </p:cNvCxnSpPr>
          <p:nvPr/>
        </p:nvCxnSpPr>
        <p:spPr>
          <a:xfrm rot="16200000" flipH="1">
            <a:off x="6143484" y="2228176"/>
            <a:ext cx="660266" cy="13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rot="5400000">
            <a:off x="935598" y="4977172"/>
            <a:ext cx="360038" cy="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rot="5400000">
            <a:off x="2231739" y="4977170"/>
            <a:ext cx="360038" cy="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rot="5400000">
            <a:off x="3527883" y="4977170"/>
            <a:ext cx="360038" cy="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rot="5400000">
            <a:off x="6984271" y="4977170"/>
            <a:ext cx="360038" cy="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rot="5400000">
            <a:off x="4031943" y="4185082"/>
            <a:ext cx="360038" cy="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rot="5400000">
            <a:off x="6336195" y="3392994"/>
            <a:ext cx="360038" cy="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693283" y="1196752"/>
            <a:ext cx="14225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Data </a:t>
            </a:r>
          </a:p>
          <a:p>
            <a:pPr algn="ctr"/>
            <a:r>
              <a:rPr lang="en-US" altLang="zh-TW" sz="2000" dirty="0" smtClean="0"/>
              <a:t>Application </a:t>
            </a:r>
            <a:endParaRPr lang="zh-TW" altLang="en-US" sz="20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3056518" y="1196752"/>
            <a:ext cx="1156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Database</a:t>
            </a:r>
          </a:p>
          <a:p>
            <a:pPr algn="ctr"/>
            <a:r>
              <a:rPr lang="en-US" altLang="zh-TW" sz="2000" dirty="0" smtClean="0"/>
              <a:t>Server</a:t>
            </a:r>
            <a:endParaRPr lang="zh-TW" altLang="en-US" sz="2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5669367" y="1196752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Browser or </a:t>
            </a:r>
          </a:p>
          <a:p>
            <a:pPr algn="ctr"/>
            <a:r>
              <a:rPr lang="en-US" altLang="zh-TW" sz="2000" dirty="0" smtClean="0"/>
              <a:t>Service Client</a:t>
            </a:r>
            <a:endParaRPr lang="zh-TW" altLang="en-US" sz="2000" dirty="0"/>
          </a:p>
        </p:txBody>
      </p:sp>
      <p:grpSp>
        <p:nvGrpSpPr>
          <p:cNvPr id="30" name="群組 29"/>
          <p:cNvGrpSpPr/>
          <p:nvPr/>
        </p:nvGrpSpPr>
        <p:grpSpPr>
          <a:xfrm>
            <a:off x="8396871" y="5804468"/>
            <a:ext cx="747129" cy="936900"/>
            <a:chOff x="107504" y="5804468"/>
            <a:chExt cx="747129" cy="936900"/>
          </a:xfrm>
        </p:grpSpPr>
        <p:sp>
          <p:nvSpPr>
            <p:cNvPr id="57" name="文字方塊 56"/>
            <p:cNvSpPr txBox="1"/>
            <p:nvPr/>
          </p:nvSpPr>
          <p:spPr>
            <a:xfrm>
              <a:off x="179512" y="6308524"/>
              <a:ext cx="675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HTTP</a:t>
              </a:r>
              <a:endParaRPr lang="zh-TW" altLang="en-US" dirty="0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51520" y="5804468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TDS</a:t>
              </a:r>
              <a:endParaRPr lang="zh-TW" altLang="en-US" dirty="0"/>
            </a:p>
          </p:txBody>
        </p:sp>
        <p:cxnSp>
          <p:nvCxnSpPr>
            <p:cNvPr id="27" name="直線單箭頭接點 26"/>
            <p:cNvCxnSpPr/>
            <p:nvPr/>
          </p:nvCxnSpPr>
          <p:spPr>
            <a:xfrm rot="5400000">
              <a:off x="-72119" y="5984091"/>
              <a:ext cx="360834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 rot="5400000">
              <a:off x="-108124" y="6524152"/>
              <a:ext cx="432844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Application can access the proper database which storing its data</a:t>
            </a:r>
          </a:p>
          <a:p>
            <a:pPr lvl="1"/>
            <a:r>
              <a:rPr lang="en-US" altLang="zh-TW" dirty="0" smtClean="0"/>
              <a:t>Coordinate by the SQL Azure Fabric service</a:t>
            </a:r>
          </a:p>
          <a:p>
            <a:pPr lvl="1"/>
            <a:r>
              <a:rPr lang="en-US" altLang="zh-TW" dirty="0" smtClean="0"/>
              <a:t>Link to a database via the connection routing</a:t>
            </a:r>
          </a:p>
          <a:p>
            <a:pPr lvl="1"/>
            <a:r>
              <a:rPr lang="en-US" altLang="zh-TW" dirty="0" smtClean="0"/>
              <a:t>Do not care about the exactly location of database</a:t>
            </a:r>
          </a:p>
          <a:p>
            <a:r>
              <a:rPr lang="en-US" altLang="zh-TW" dirty="0" smtClean="0"/>
              <a:t>Each connection between application and SQL Azure could link to different database servers</a:t>
            </a:r>
          </a:p>
          <a:p>
            <a:pPr lvl="1"/>
            <a:r>
              <a:rPr lang="en-US" altLang="zh-TW" dirty="0" smtClean="0"/>
              <a:t>Provide a high availability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SQL Azure Gateway</a:t>
            </a:r>
            <a:endParaRPr lang="zh-TW" altLang="en-US" dirty="0"/>
          </a:p>
        </p:txBody>
      </p:sp>
      <p:sp>
        <p:nvSpPr>
          <p:cNvPr id="75" name="內容版面配置區 7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SQL Azure Gateway is the critical component</a:t>
            </a:r>
          </a:p>
          <a:p>
            <a:pPr lvl="1"/>
            <a:r>
              <a:rPr lang="en-US" altLang="zh-TW" dirty="0" smtClean="0"/>
              <a:t>Access data</a:t>
            </a:r>
          </a:p>
          <a:p>
            <a:pPr lvl="1"/>
            <a:r>
              <a:rPr lang="en-US" altLang="zh-TW" dirty="0" smtClean="0"/>
              <a:t>Handle commands</a:t>
            </a:r>
          </a:p>
          <a:p>
            <a:r>
              <a:rPr lang="en-US" altLang="zh-TW" dirty="0" smtClean="0"/>
              <a:t>With the Gateway, user can ignore the detail of backend server</a:t>
            </a:r>
          </a:p>
          <a:p>
            <a:pPr lvl="1"/>
            <a:r>
              <a:rPr lang="en-US" altLang="zh-TW" dirty="0" smtClean="0"/>
              <a:t>Network topology</a:t>
            </a:r>
          </a:p>
          <a:p>
            <a:pPr lvl="1"/>
            <a:r>
              <a:rPr lang="en-US" altLang="zh-TW" dirty="0" smtClean="0"/>
              <a:t>System deployment</a:t>
            </a:r>
          </a:p>
          <a:p>
            <a:pPr lvl="1"/>
            <a:r>
              <a:rPr lang="en-US" altLang="zh-TW" dirty="0" smtClean="0"/>
              <a:t>Maintain method</a:t>
            </a:r>
          </a:p>
        </p:txBody>
      </p:sp>
      <p:sp>
        <p:nvSpPr>
          <p:cNvPr id="4" name="圓角矩形 3"/>
          <p:cNvSpPr/>
          <p:nvPr/>
        </p:nvSpPr>
        <p:spPr>
          <a:xfrm>
            <a:off x="4572000" y="2060848"/>
            <a:ext cx="4248472" cy="30963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788024" y="2276872"/>
            <a:ext cx="1224136" cy="504056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Connection</a:t>
            </a:r>
          </a:p>
          <a:p>
            <a:pPr algn="ctr"/>
            <a:r>
              <a:rPr lang="en-US" altLang="zh-TW" sz="1600" dirty="0" smtClean="0"/>
              <a:t>Manager</a:t>
            </a:r>
            <a:endParaRPr lang="zh-TW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6084168" y="2276872"/>
            <a:ext cx="1224136" cy="504056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Admin</a:t>
            </a:r>
          </a:p>
          <a:p>
            <a:pPr algn="ctr"/>
            <a:r>
              <a:rPr lang="en-US" altLang="zh-TW" sz="1600" dirty="0" smtClean="0"/>
              <a:t>Endpoint </a:t>
            </a:r>
            <a:endParaRPr lang="zh-TW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7380312" y="2276872"/>
            <a:ext cx="1224136" cy="504056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Provisioning</a:t>
            </a:r>
          </a:p>
          <a:p>
            <a:pPr algn="ctr"/>
            <a:r>
              <a:rPr lang="en-US" altLang="zh-TW" sz="1600" dirty="0" smtClean="0"/>
              <a:t>Endpoint</a:t>
            </a:r>
            <a:endParaRPr lang="zh-TW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4788024" y="2924944"/>
            <a:ext cx="1224136" cy="504056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Protocol </a:t>
            </a:r>
          </a:p>
          <a:p>
            <a:pPr algn="ctr"/>
            <a:r>
              <a:rPr lang="en-US" altLang="zh-TW" sz="1600" dirty="0" smtClean="0"/>
              <a:t>Parser</a:t>
            </a:r>
            <a:endParaRPr lang="zh-TW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4788024" y="3861048"/>
            <a:ext cx="3816424" cy="50405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Business Logic Services</a:t>
            </a:r>
            <a:endParaRPr lang="zh-TW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4788024" y="4437112"/>
            <a:ext cx="3816424" cy="50405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89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Connection Manager</a:t>
            </a:r>
            <a:endParaRPr lang="zh-TW" altLang="en-US" sz="2000" dirty="0"/>
          </a:p>
        </p:txBody>
      </p:sp>
      <p:grpSp>
        <p:nvGrpSpPr>
          <p:cNvPr id="3" name="群組 20"/>
          <p:cNvGrpSpPr/>
          <p:nvPr/>
        </p:nvGrpSpPr>
        <p:grpSpPr>
          <a:xfrm>
            <a:off x="4644008" y="5661248"/>
            <a:ext cx="1152128" cy="764704"/>
            <a:chOff x="4427984" y="2564904"/>
            <a:chExt cx="4104456" cy="3096344"/>
          </a:xfrm>
        </p:grpSpPr>
        <p:sp>
          <p:nvSpPr>
            <p:cNvPr id="22" name="圓角矩形 21"/>
            <p:cNvSpPr/>
            <p:nvPr/>
          </p:nvSpPr>
          <p:spPr>
            <a:xfrm>
              <a:off x="4427984" y="2564904"/>
              <a:ext cx="4104456" cy="3096344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788024" y="2780928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4788024" y="4725144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788024" y="3429000"/>
              <a:ext cx="1800200" cy="1152128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75000"/>
                    <a:tint val="66000"/>
                    <a:satMod val="160000"/>
                  </a:schemeClr>
                </a:gs>
                <a:gs pos="50000">
                  <a:schemeClr val="accent6">
                    <a:lumMod val="75000"/>
                    <a:tint val="44500"/>
                    <a:satMod val="16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" name="流程圖: 磁碟 25"/>
            <p:cNvSpPr/>
            <p:nvPr/>
          </p:nvSpPr>
          <p:spPr>
            <a:xfrm>
              <a:off x="680424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流程圖: 磁碟 26"/>
            <p:cNvSpPr/>
            <p:nvPr/>
          </p:nvSpPr>
          <p:spPr>
            <a:xfrm>
              <a:off x="752432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流程圖: 磁碟 27"/>
            <p:cNvSpPr/>
            <p:nvPr/>
          </p:nvSpPr>
          <p:spPr>
            <a:xfrm>
              <a:off x="752432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流程圖: 磁碟 28"/>
            <p:cNvSpPr/>
            <p:nvPr/>
          </p:nvSpPr>
          <p:spPr>
            <a:xfrm>
              <a:off x="680424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30"/>
          <p:cNvGrpSpPr/>
          <p:nvPr/>
        </p:nvGrpSpPr>
        <p:grpSpPr>
          <a:xfrm>
            <a:off x="6156176" y="5661248"/>
            <a:ext cx="1152128" cy="764704"/>
            <a:chOff x="4427984" y="2564904"/>
            <a:chExt cx="4104456" cy="3096344"/>
          </a:xfrm>
        </p:grpSpPr>
        <p:sp>
          <p:nvSpPr>
            <p:cNvPr id="32" name="圓角矩形 31"/>
            <p:cNvSpPr/>
            <p:nvPr/>
          </p:nvSpPr>
          <p:spPr>
            <a:xfrm>
              <a:off x="4427984" y="2564904"/>
              <a:ext cx="4104456" cy="3096344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788024" y="2780928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4788024" y="4725144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5" name="矩形 34"/>
            <p:cNvSpPr/>
            <p:nvPr/>
          </p:nvSpPr>
          <p:spPr>
            <a:xfrm>
              <a:off x="4788024" y="3429000"/>
              <a:ext cx="1800200" cy="1152128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75000"/>
                    <a:tint val="66000"/>
                    <a:satMod val="160000"/>
                  </a:schemeClr>
                </a:gs>
                <a:gs pos="50000">
                  <a:schemeClr val="accent6">
                    <a:lumMod val="75000"/>
                    <a:tint val="44500"/>
                    <a:satMod val="16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6" name="流程圖: 磁碟 35"/>
            <p:cNvSpPr/>
            <p:nvPr/>
          </p:nvSpPr>
          <p:spPr>
            <a:xfrm>
              <a:off x="680424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流程圖: 磁碟 36"/>
            <p:cNvSpPr/>
            <p:nvPr/>
          </p:nvSpPr>
          <p:spPr>
            <a:xfrm>
              <a:off x="752432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流程圖: 磁碟 37"/>
            <p:cNvSpPr/>
            <p:nvPr/>
          </p:nvSpPr>
          <p:spPr>
            <a:xfrm>
              <a:off x="752432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流程圖: 磁碟 38"/>
            <p:cNvSpPr/>
            <p:nvPr/>
          </p:nvSpPr>
          <p:spPr>
            <a:xfrm>
              <a:off x="680424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39"/>
          <p:cNvGrpSpPr/>
          <p:nvPr/>
        </p:nvGrpSpPr>
        <p:grpSpPr>
          <a:xfrm>
            <a:off x="7596336" y="5661248"/>
            <a:ext cx="1152128" cy="764704"/>
            <a:chOff x="4427984" y="2564904"/>
            <a:chExt cx="4104456" cy="3096344"/>
          </a:xfrm>
        </p:grpSpPr>
        <p:sp>
          <p:nvSpPr>
            <p:cNvPr id="41" name="圓角矩形 40"/>
            <p:cNvSpPr/>
            <p:nvPr/>
          </p:nvSpPr>
          <p:spPr>
            <a:xfrm>
              <a:off x="4427984" y="2564904"/>
              <a:ext cx="4104456" cy="3096344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788024" y="2780928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4788024" y="4725144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4788024" y="3429000"/>
              <a:ext cx="1800200" cy="1152128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75000"/>
                    <a:tint val="66000"/>
                    <a:satMod val="160000"/>
                  </a:schemeClr>
                </a:gs>
                <a:gs pos="50000">
                  <a:schemeClr val="accent6">
                    <a:lumMod val="75000"/>
                    <a:tint val="44500"/>
                    <a:satMod val="16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5" name="流程圖: 磁碟 44"/>
            <p:cNvSpPr/>
            <p:nvPr/>
          </p:nvSpPr>
          <p:spPr>
            <a:xfrm>
              <a:off x="680424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流程圖: 磁碟 45"/>
            <p:cNvSpPr/>
            <p:nvPr/>
          </p:nvSpPr>
          <p:spPr>
            <a:xfrm>
              <a:off x="752432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流程圖: 磁碟 46"/>
            <p:cNvSpPr/>
            <p:nvPr/>
          </p:nvSpPr>
          <p:spPr>
            <a:xfrm>
              <a:off x="752432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磁碟 47"/>
            <p:cNvSpPr/>
            <p:nvPr/>
          </p:nvSpPr>
          <p:spPr>
            <a:xfrm>
              <a:off x="680424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/>
          <p:cNvCxnSpPr/>
          <p:nvPr/>
        </p:nvCxnSpPr>
        <p:spPr>
          <a:xfrm rot="5400000">
            <a:off x="5220072" y="3645024"/>
            <a:ext cx="28803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rot="5400000">
            <a:off x="6191386" y="3392996"/>
            <a:ext cx="792882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rot="5400000">
            <a:off x="7595542" y="3356992"/>
            <a:ext cx="864890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4620110" y="1196752"/>
            <a:ext cx="1248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smtClean="0"/>
              <a:t>SQL </a:t>
            </a:r>
          </a:p>
          <a:p>
            <a:pPr algn="ctr"/>
            <a:r>
              <a:rPr lang="en-US" altLang="zh-TW" sz="1600" dirty="0" smtClean="0"/>
              <a:t>Native Client</a:t>
            </a:r>
            <a:endParaRPr lang="zh-TW" altLang="en-US" sz="16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796136" y="1188041"/>
            <a:ext cx="1839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smtClean="0"/>
              <a:t>SQL Azure </a:t>
            </a:r>
          </a:p>
          <a:p>
            <a:pPr algn="ctr"/>
            <a:r>
              <a:rPr lang="en-US" altLang="zh-TW" sz="1600" dirty="0" smtClean="0"/>
              <a:t>Management Portal</a:t>
            </a:r>
            <a:endParaRPr lang="zh-TW" altLang="en-US" sz="1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7530434" y="1196752"/>
            <a:ext cx="1002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smtClean="0"/>
              <a:t>WCF Data</a:t>
            </a:r>
          </a:p>
          <a:p>
            <a:pPr algn="ctr"/>
            <a:r>
              <a:rPr lang="en-US" altLang="zh-TW" sz="1600" dirty="0" smtClean="0"/>
              <a:t>Service</a:t>
            </a:r>
            <a:endParaRPr lang="zh-TW" altLang="en-US" sz="1600" dirty="0"/>
          </a:p>
        </p:txBody>
      </p:sp>
      <p:cxnSp>
        <p:nvCxnSpPr>
          <p:cNvPr id="63" name="直線單箭頭接點 62"/>
          <p:cNvCxnSpPr/>
          <p:nvPr/>
        </p:nvCxnSpPr>
        <p:spPr>
          <a:xfrm rot="5400000">
            <a:off x="5111266" y="2024844"/>
            <a:ext cx="50405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 rot="5400000">
            <a:off x="6407410" y="2024050"/>
            <a:ext cx="50405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rot="5400000">
            <a:off x="7775561" y="2024050"/>
            <a:ext cx="50405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 rot="5400000">
            <a:off x="5076056" y="5517232"/>
            <a:ext cx="28803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rot="5400000">
            <a:off x="6517010" y="5516438"/>
            <a:ext cx="28803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rot="5400000">
            <a:off x="8027589" y="5516438"/>
            <a:ext cx="28803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5220072" y="5373216"/>
            <a:ext cx="29523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rot="5400000" flipH="1" flipV="1">
            <a:off x="6480212" y="5193196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22" idx="3"/>
            <a:endCxn id="32" idx="1"/>
          </p:cNvCxnSpPr>
          <p:nvPr/>
        </p:nvCxnSpPr>
        <p:spPr>
          <a:xfrm>
            <a:off x="5796136" y="6043600"/>
            <a:ext cx="36004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32" idx="3"/>
            <a:endCxn id="41" idx="1"/>
          </p:cNvCxnSpPr>
          <p:nvPr/>
        </p:nvCxnSpPr>
        <p:spPr>
          <a:xfrm>
            <a:off x="7308304" y="6043600"/>
            <a:ext cx="28803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SQL Azure Gateway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Connecting to the gateway can access all functionalities on SQL Azure</a:t>
            </a:r>
          </a:p>
          <a:p>
            <a:r>
              <a:rPr lang="en-US" altLang="zh-TW" dirty="0" smtClean="0"/>
              <a:t>Gateway will check the TDS (a communication protocol used by SQL Server) </a:t>
            </a:r>
          </a:p>
          <a:p>
            <a:pPr lvl="1"/>
            <a:r>
              <a:rPr lang="en-US" altLang="zh-TW" dirty="0" smtClean="0"/>
              <a:t>Analyze malicious commands</a:t>
            </a:r>
          </a:p>
          <a:p>
            <a:pPr lvl="1"/>
            <a:r>
              <a:rPr lang="en-US" altLang="zh-TW" dirty="0" smtClean="0"/>
              <a:t>Authenticate the account</a:t>
            </a:r>
          </a:p>
          <a:p>
            <a:pPr lvl="1"/>
            <a:r>
              <a:rPr lang="en-US" altLang="zh-TW" dirty="0" smtClean="0"/>
              <a:t>Billing</a:t>
            </a:r>
          </a:p>
          <a:p>
            <a:r>
              <a:rPr lang="en-US" altLang="zh-TW" dirty="0" smtClean="0"/>
              <a:t>Gateway redirects TDS to the backend server, </a:t>
            </a:r>
            <a:r>
              <a:rPr lang="en-US" altLang="zh-TW" smtClean="0"/>
              <a:t>and packs </a:t>
            </a:r>
            <a:r>
              <a:rPr lang="en-US" altLang="zh-TW" dirty="0" smtClean="0"/>
              <a:t>the result as a security TDS to client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Backend Server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SQL Azure is build on Windows Azure’s computes unit</a:t>
            </a:r>
          </a:p>
          <a:p>
            <a:pPr lvl="1"/>
            <a:r>
              <a:rPr lang="en-US" altLang="zh-TW" dirty="0" smtClean="0"/>
              <a:t>High available</a:t>
            </a:r>
          </a:p>
          <a:p>
            <a:pPr lvl="1"/>
            <a:r>
              <a:rPr lang="en-US" altLang="zh-TW" dirty="0" smtClean="0"/>
              <a:t>Distributed storage system</a:t>
            </a:r>
          </a:p>
          <a:p>
            <a:endParaRPr lang="zh-TW" altLang="en-US" dirty="0"/>
          </a:p>
        </p:txBody>
      </p:sp>
      <p:grpSp>
        <p:nvGrpSpPr>
          <p:cNvPr id="6" name="群組 12"/>
          <p:cNvGrpSpPr/>
          <p:nvPr/>
        </p:nvGrpSpPr>
        <p:grpSpPr>
          <a:xfrm>
            <a:off x="3491880" y="3573016"/>
            <a:ext cx="4104456" cy="3096344"/>
            <a:chOff x="4427984" y="2564904"/>
            <a:chExt cx="4104456" cy="3096344"/>
          </a:xfrm>
        </p:grpSpPr>
        <p:sp>
          <p:nvSpPr>
            <p:cNvPr id="4" name="圓角矩形 3"/>
            <p:cNvSpPr/>
            <p:nvPr/>
          </p:nvSpPr>
          <p:spPr>
            <a:xfrm>
              <a:off x="4427984" y="2564904"/>
              <a:ext cx="4104456" cy="3096344"/>
            </a:xfrm>
            <a:prstGeom prst="round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4788024" y="2780928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 smtClean="0"/>
                <a:t>SQL Azure Fabric</a:t>
              </a:r>
              <a:endParaRPr lang="zh-TW" altLang="en-US" sz="20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4788024" y="4725144"/>
              <a:ext cx="3384376" cy="5760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dirty="0" smtClean="0"/>
                <a:t>Management Service </a:t>
              </a:r>
              <a:endParaRPr lang="zh-TW" altLang="en-US" sz="2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4788024" y="3429000"/>
              <a:ext cx="1800200" cy="1152128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75000"/>
                    <a:tint val="66000"/>
                    <a:satMod val="160000"/>
                  </a:schemeClr>
                </a:gs>
                <a:gs pos="50000">
                  <a:schemeClr val="accent6">
                    <a:lumMod val="75000"/>
                    <a:tint val="44500"/>
                    <a:satMod val="160000"/>
                  </a:schemeClr>
                </a:gs>
                <a:gs pos="100000">
                  <a:schemeClr val="accent6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SQL Server</a:t>
              </a:r>
            </a:p>
            <a:p>
              <a:pPr algn="ctr"/>
              <a:r>
                <a:rPr lang="en-US" altLang="zh-TW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Instance </a:t>
              </a:r>
              <a:endPara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" name="流程圖: 磁碟 8"/>
            <p:cNvSpPr/>
            <p:nvPr/>
          </p:nvSpPr>
          <p:spPr>
            <a:xfrm>
              <a:off x="680424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流程圖: 磁碟 9"/>
            <p:cNvSpPr/>
            <p:nvPr/>
          </p:nvSpPr>
          <p:spPr>
            <a:xfrm>
              <a:off x="7524328" y="3645024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流程圖: 磁碟 10"/>
            <p:cNvSpPr/>
            <p:nvPr/>
          </p:nvSpPr>
          <p:spPr>
            <a:xfrm>
              <a:off x="752432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流程圖: 磁碟 11"/>
            <p:cNvSpPr/>
            <p:nvPr/>
          </p:nvSpPr>
          <p:spPr>
            <a:xfrm>
              <a:off x="6804248" y="4149080"/>
              <a:ext cx="648072" cy="360040"/>
            </a:xfrm>
            <a:prstGeom prst="flowChartMagneticDisk">
              <a:avLst/>
            </a:prstGeom>
            <a:ln/>
            <a:effectLst>
              <a:outerShdw blurRad="40000" dist="20000" dir="5400000" rotWithShape="0">
                <a:srgbClr val="000000">
                  <a:alpha val="38000"/>
                </a:srgbClr>
              </a:outerShdw>
              <a:reflection blurRad="6350" stA="50000" endA="300" endPos="55000" dir="5400000" sy="-100000" algn="bl" rotWithShape="0"/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5" name="直線單箭頭接點 14"/>
          <p:cNvCxnSpPr/>
          <p:nvPr/>
        </p:nvCxnSpPr>
        <p:spPr>
          <a:xfrm>
            <a:off x="2987824" y="4077072"/>
            <a:ext cx="79208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2915816" y="6019700"/>
            <a:ext cx="79208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右大括弧 18"/>
          <p:cNvSpPr/>
          <p:nvPr/>
        </p:nvSpPr>
        <p:spPr>
          <a:xfrm>
            <a:off x="7236296" y="4509120"/>
            <a:ext cx="360040" cy="108012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7596336" y="4509120"/>
            <a:ext cx="492443" cy="122334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sz="2000" dirty="0" smtClean="0"/>
              <a:t>Databases </a:t>
            </a:r>
            <a:endParaRPr lang="zh-TW" altLang="en-US" sz="20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07437" y="3717032"/>
            <a:ext cx="19252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Other Server’s </a:t>
            </a:r>
          </a:p>
          <a:p>
            <a:pPr algn="ctr"/>
            <a:r>
              <a:rPr lang="en-US" altLang="zh-TW" sz="2000" dirty="0" smtClean="0"/>
              <a:t>SQL Azure Fabric</a:t>
            </a:r>
            <a:endParaRPr lang="zh-TW" altLang="en-US" sz="2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39552" y="5590981"/>
            <a:ext cx="2393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Other Server’s</a:t>
            </a:r>
          </a:p>
          <a:p>
            <a:pPr algn="ctr"/>
            <a:r>
              <a:rPr lang="en-US" altLang="zh-TW" sz="2000" dirty="0" smtClean="0"/>
              <a:t>Management Service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Backend Server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SQL Azure Fabric manages databases that stores data in many SQL Azure nodes </a:t>
            </a:r>
            <a:r>
              <a:rPr lang="en-US" altLang="zh-TW" dirty="0" err="1" smtClean="0"/>
              <a:t>distributively</a:t>
            </a:r>
            <a:endParaRPr lang="en-US" altLang="zh-TW" dirty="0" smtClean="0"/>
          </a:p>
          <a:p>
            <a:r>
              <a:rPr lang="en-US" altLang="zh-TW" dirty="0" smtClean="0"/>
              <a:t>SQL Azure Fabric controls the policy and frequency of data replication</a:t>
            </a:r>
          </a:p>
          <a:p>
            <a:pPr lvl="1"/>
            <a:r>
              <a:rPr lang="en-US" altLang="zh-TW" dirty="0" smtClean="0"/>
              <a:t>Merge replication</a:t>
            </a:r>
          </a:p>
          <a:p>
            <a:pPr lvl="1"/>
            <a:r>
              <a:rPr lang="en-US" altLang="zh-TW" dirty="0" smtClean="0"/>
              <a:t>Transactional replication</a:t>
            </a:r>
          </a:p>
          <a:p>
            <a:r>
              <a:rPr lang="en-US" altLang="zh-TW" dirty="0" smtClean="0"/>
              <a:t>Access any one of SQL Azure service can link to the proper database and get the correct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Windows Azure Platform</a:t>
            </a:r>
            <a:endParaRPr lang="zh-TW" alt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Windows Azure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SQL Azure</a:t>
            </a:r>
          </a:p>
          <a:p>
            <a:r>
              <a:rPr lang="en-US" altLang="zh-TW" dirty="0" err="1" smtClean="0"/>
              <a:t>AppFabric</a:t>
            </a:r>
            <a:endParaRPr lang="zh-TW" altLang="en-US" dirty="0" smtClean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25993"/>
            <a:ext cx="6444208" cy="39950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橢圓 6"/>
          <p:cNvSpPr/>
          <p:nvPr/>
        </p:nvSpPr>
        <p:spPr>
          <a:xfrm>
            <a:off x="6640430" y="1243837"/>
            <a:ext cx="2376264" cy="1008112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AppFabric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 smtClean="0"/>
              <a:t>AppFabric</a:t>
            </a:r>
            <a:r>
              <a:rPr lang="en-US" altLang="zh-TW" dirty="0" smtClean="0"/>
              <a:t> provides cloud-based infrastructure in connecting distributed services and applications</a:t>
            </a:r>
          </a:p>
          <a:p>
            <a:pPr lvl="1"/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2969" t="6664" r="2038" b="4830"/>
          <a:stretch>
            <a:fillRect/>
          </a:stretch>
        </p:blipFill>
        <p:spPr bwMode="auto">
          <a:xfrm>
            <a:off x="1565666" y="3122966"/>
            <a:ext cx="6012668" cy="3006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AppFabric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141168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What </a:t>
            </a:r>
            <a:r>
              <a:rPr lang="en-US" altLang="zh-TW" dirty="0" err="1" smtClean="0"/>
              <a:t>AppFabric</a:t>
            </a:r>
            <a:r>
              <a:rPr lang="en-US" altLang="zh-TW" dirty="0" smtClean="0"/>
              <a:t> can do</a:t>
            </a:r>
          </a:p>
          <a:p>
            <a:pPr lvl="1"/>
            <a:r>
              <a:rPr lang="en-US" altLang="zh-TW" dirty="0" smtClean="0"/>
              <a:t>Make connections between applications possible</a:t>
            </a:r>
          </a:p>
          <a:p>
            <a:pPr lvl="1"/>
            <a:r>
              <a:rPr lang="en-US" altLang="zh-TW" dirty="0" smtClean="0"/>
              <a:t>Provide a service application for enterprise-level architecture</a:t>
            </a:r>
          </a:p>
          <a:p>
            <a:pPr lvl="1"/>
            <a:r>
              <a:rPr lang="en-US" altLang="zh-TW" dirty="0" smtClean="0"/>
              <a:t>Based on open communication and standard of service, venders provide the concept of service reusability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Components</a:t>
            </a:r>
          </a:p>
          <a:p>
            <a:pPr lvl="1"/>
            <a:r>
              <a:rPr lang="en-US" altLang="zh-TW" dirty="0" smtClean="0"/>
              <a:t>Service Bus</a:t>
            </a:r>
          </a:p>
          <a:p>
            <a:pPr lvl="2"/>
            <a:r>
              <a:rPr lang="en-US" altLang="zh-TW" dirty="0" smtClean="0"/>
              <a:t>Makes connection simpler by letting an application expose endpoints that can be accessed by other applications</a:t>
            </a:r>
          </a:p>
          <a:p>
            <a:pPr lvl="1"/>
            <a:r>
              <a:rPr lang="en-US" altLang="zh-TW" dirty="0" smtClean="0"/>
              <a:t>Access Control </a:t>
            </a:r>
          </a:p>
          <a:p>
            <a:pPr lvl="2"/>
            <a:r>
              <a:rPr lang="en-US" altLang="zh-TW" dirty="0" smtClean="0"/>
              <a:t>Provides the ability for applications with authentication and authorization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Service Bus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1612775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Service provider can register endpoints with Service Bus</a:t>
            </a:r>
          </a:p>
          <a:p>
            <a:r>
              <a:rPr lang="en-US" altLang="zh-TW" dirty="0" smtClean="0"/>
              <a:t>Service consumer can discover and use those endpoints to access the service 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338818" y="3140968"/>
            <a:ext cx="6466364" cy="3672408"/>
            <a:chOff x="1021452" y="3140968"/>
            <a:chExt cx="6466364" cy="367240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t="834" r="1182"/>
            <a:stretch>
              <a:fillRect/>
            </a:stretch>
          </p:blipFill>
          <p:spPr bwMode="auto">
            <a:xfrm>
              <a:off x="1021452" y="3140968"/>
              <a:ext cx="6466364" cy="3672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橢圓 4"/>
            <p:cNvSpPr/>
            <p:nvPr/>
          </p:nvSpPr>
          <p:spPr>
            <a:xfrm>
              <a:off x="1979712" y="5517232"/>
              <a:ext cx="1656184" cy="79208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Service</a:t>
              </a:r>
            </a:p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Consumer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/>
            <p:cNvSpPr/>
            <p:nvPr/>
          </p:nvSpPr>
          <p:spPr>
            <a:xfrm>
              <a:off x="4633381" y="5487489"/>
              <a:ext cx="1656184" cy="79208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Service</a:t>
              </a:r>
            </a:p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Provider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Service Bus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AppFabric</a:t>
            </a:r>
            <a:r>
              <a:rPr lang="en-US" altLang="zh-TW" dirty="0" smtClean="0"/>
              <a:t> Service Bus supports two types of communication mechanisms according to client application</a:t>
            </a:r>
          </a:p>
          <a:p>
            <a:pPr lvl="1"/>
            <a:r>
              <a:rPr lang="en-US" altLang="zh-TW" dirty="0" smtClean="0"/>
              <a:t>Message reply</a:t>
            </a:r>
          </a:p>
          <a:p>
            <a:pPr lvl="1"/>
            <a:r>
              <a:rPr lang="en-US" altLang="zh-TW" dirty="0" smtClean="0"/>
              <a:t>Directly connect</a:t>
            </a:r>
          </a:p>
          <a:p>
            <a:r>
              <a:rPr lang="en-US" altLang="zh-TW" dirty="0" smtClean="0"/>
              <a:t>Client application can set the Hybrid connection mode</a:t>
            </a:r>
          </a:p>
          <a:p>
            <a:pPr lvl="1"/>
            <a:r>
              <a:rPr lang="en-US" altLang="zh-TW" dirty="0" smtClean="0"/>
              <a:t>Try to use directly connect</a:t>
            </a:r>
          </a:p>
          <a:p>
            <a:pPr lvl="1"/>
            <a:r>
              <a:rPr lang="en-US" altLang="zh-TW" dirty="0" smtClean="0"/>
              <a:t>If Service Bus does not detect the direct connection, </a:t>
            </a:r>
            <a:br>
              <a:rPr lang="en-US" altLang="zh-TW" dirty="0" smtClean="0"/>
            </a:br>
            <a:r>
              <a:rPr lang="en-US" altLang="zh-TW" dirty="0" smtClean="0"/>
              <a:t>use the message reply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Message Reply</a:t>
            </a:r>
            <a:endParaRPr lang="zh-TW" altLang="en-US" dirty="0"/>
          </a:p>
        </p:txBody>
      </p:sp>
      <p:sp>
        <p:nvSpPr>
          <p:cNvPr id="4" name="雲朵形 3"/>
          <p:cNvSpPr/>
          <p:nvPr/>
        </p:nvSpPr>
        <p:spPr>
          <a:xfrm>
            <a:off x="1043608" y="1412776"/>
            <a:ext cx="7344816" cy="2952328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直接存取儲存裝置 10"/>
          <p:cNvSpPr/>
          <p:nvPr/>
        </p:nvSpPr>
        <p:spPr>
          <a:xfrm>
            <a:off x="2411760" y="2564904"/>
            <a:ext cx="3960440" cy="432048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Service Bus</a:t>
            </a:r>
            <a:endParaRPr lang="zh-TW" altLang="en-US" sz="2000" dirty="0"/>
          </a:p>
        </p:txBody>
      </p:sp>
      <p:sp>
        <p:nvSpPr>
          <p:cNvPr id="12" name="橢圓 11"/>
          <p:cNvSpPr/>
          <p:nvPr/>
        </p:nvSpPr>
        <p:spPr>
          <a:xfrm>
            <a:off x="5364088" y="2708920"/>
            <a:ext cx="792088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D:\Slide\Graph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798893"/>
            <a:ext cx="882882" cy="939676"/>
          </a:xfrm>
          <a:prstGeom prst="rect">
            <a:avLst/>
          </a:prstGeom>
          <a:noFill/>
        </p:spPr>
      </p:pic>
      <p:pic>
        <p:nvPicPr>
          <p:cNvPr id="14" name="Picture 2" descr="D:\Slide\Graph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124744"/>
            <a:ext cx="882882" cy="939676"/>
          </a:xfrm>
          <a:prstGeom prst="rect">
            <a:avLst/>
          </a:prstGeom>
          <a:noFill/>
        </p:spPr>
      </p:pic>
      <p:sp>
        <p:nvSpPr>
          <p:cNvPr id="15" name="文字方塊 14"/>
          <p:cNvSpPr txBox="1"/>
          <p:nvPr/>
        </p:nvSpPr>
        <p:spPr>
          <a:xfrm>
            <a:off x="251520" y="5879013"/>
            <a:ext cx="1949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Service application</a:t>
            </a:r>
          </a:p>
          <a:p>
            <a:pPr algn="ctr"/>
            <a:r>
              <a:rPr lang="en-US" altLang="zh-TW" dirty="0" smtClean="0"/>
              <a:t>(outside the cloud)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580112" y="1628800"/>
            <a:ext cx="1949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Service application</a:t>
            </a:r>
          </a:p>
          <a:p>
            <a:pPr algn="ctr"/>
            <a:r>
              <a:rPr lang="en-US" altLang="zh-TW" dirty="0" smtClean="0"/>
              <a:t>(inside the cloud)</a:t>
            </a:r>
            <a:endParaRPr lang="zh-TW" altLang="en-US" dirty="0"/>
          </a:p>
        </p:txBody>
      </p:sp>
      <p:grpSp>
        <p:nvGrpSpPr>
          <p:cNvPr id="21" name="群組 20"/>
          <p:cNvGrpSpPr/>
          <p:nvPr/>
        </p:nvGrpSpPr>
        <p:grpSpPr>
          <a:xfrm>
            <a:off x="4932040" y="2060848"/>
            <a:ext cx="144016" cy="504056"/>
            <a:chOff x="4932040" y="2060848"/>
            <a:chExt cx="144016" cy="504056"/>
          </a:xfrm>
        </p:grpSpPr>
        <p:sp>
          <p:nvSpPr>
            <p:cNvPr id="17" name="橢圓 16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" name="直線接點 18"/>
            <p:cNvCxnSpPr/>
            <p:nvPr/>
          </p:nvCxnSpPr>
          <p:spPr>
            <a:xfrm rot="5400000">
              <a:off x="4824028" y="2384884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群組 21"/>
          <p:cNvGrpSpPr/>
          <p:nvPr/>
        </p:nvGrpSpPr>
        <p:grpSpPr>
          <a:xfrm>
            <a:off x="3491880" y="2060848"/>
            <a:ext cx="144016" cy="504056"/>
            <a:chOff x="4932040" y="2060848"/>
            <a:chExt cx="144016" cy="504056"/>
          </a:xfrm>
        </p:grpSpPr>
        <p:sp>
          <p:nvSpPr>
            <p:cNvPr id="23" name="橢圓 22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4" name="直線接點 23"/>
            <p:cNvCxnSpPr/>
            <p:nvPr/>
          </p:nvCxnSpPr>
          <p:spPr>
            <a:xfrm rot="5400000">
              <a:off x="4824028" y="2384884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3203848" y="3010119"/>
            <a:ext cx="144016" cy="490889"/>
            <a:chOff x="4932040" y="1713975"/>
            <a:chExt cx="144016" cy="490889"/>
          </a:xfrm>
        </p:grpSpPr>
        <p:sp>
          <p:nvSpPr>
            <p:cNvPr id="26" name="橢圓 25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接點 26"/>
            <p:cNvCxnSpPr/>
            <p:nvPr/>
          </p:nvCxnSpPr>
          <p:spPr>
            <a:xfrm rot="5400000">
              <a:off x="4824028" y="1893995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直線接點 28"/>
          <p:cNvCxnSpPr/>
          <p:nvPr/>
        </p:nvCxnSpPr>
        <p:spPr>
          <a:xfrm flipV="1">
            <a:off x="1619672" y="3573016"/>
            <a:ext cx="1512168" cy="11521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弧形 30"/>
          <p:cNvSpPr/>
          <p:nvPr/>
        </p:nvSpPr>
        <p:spPr>
          <a:xfrm>
            <a:off x="3347864" y="3140968"/>
            <a:ext cx="2160240" cy="576064"/>
          </a:xfrm>
          <a:prstGeom prst="arc">
            <a:avLst>
              <a:gd name="adj1" fmla="val 11052788"/>
              <a:gd name="adj2" fmla="val 0"/>
            </a:avLst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2" name="群組 31"/>
          <p:cNvGrpSpPr/>
          <p:nvPr/>
        </p:nvGrpSpPr>
        <p:grpSpPr>
          <a:xfrm>
            <a:off x="5580112" y="3068960"/>
            <a:ext cx="144016" cy="490889"/>
            <a:chOff x="4932040" y="1713975"/>
            <a:chExt cx="144016" cy="490889"/>
          </a:xfrm>
        </p:grpSpPr>
        <p:sp>
          <p:nvSpPr>
            <p:cNvPr id="33" name="橢圓 32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4" name="直線接點 33"/>
            <p:cNvCxnSpPr/>
            <p:nvPr/>
          </p:nvCxnSpPr>
          <p:spPr>
            <a:xfrm rot="5400000">
              <a:off x="4824028" y="1893995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7" name="Picture 3" descr="D:\Slide\Graph\ma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4932" y="4941168"/>
            <a:ext cx="1033982" cy="1058769"/>
          </a:xfrm>
          <a:prstGeom prst="rect">
            <a:avLst/>
          </a:prstGeom>
          <a:noFill/>
        </p:spPr>
      </p:pic>
      <p:cxnSp>
        <p:nvCxnSpPr>
          <p:cNvPr id="37" name="直線接點 36"/>
          <p:cNvCxnSpPr/>
          <p:nvPr/>
        </p:nvCxnSpPr>
        <p:spPr>
          <a:xfrm rot="16200000" flipH="1">
            <a:off x="5616116" y="3897052"/>
            <a:ext cx="1800200" cy="12961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07504" y="4005064"/>
            <a:ext cx="1659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Service Registry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7164288" y="4149080"/>
            <a:ext cx="1910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Client requests </a:t>
            </a:r>
            <a:br>
              <a:rPr lang="en-US" altLang="zh-TW" dirty="0" smtClean="0"/>
            </a:br>
            <a:r>
              <a:rPr lang="en-US" altLang="zh-TW" dirty="0" smtClean="0"/>
              <a:t>the service by URL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3779912" y="3429000"/>
            <a:ext cx="1574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Service Bus</a:t>
            </a:r>
          </a:p>
          <a:p>
            <a:pPr algn="ctr"/>
            <a:r>
              <a:rPr lang="en-US" altLang="zh-TW" dirty="0" smtClean="0"/>
              <a:t> reply message</a:t>
            </a:r>
            <a:endParaRPr lang="zh-TW" altLang="en-US" dirty="0"/>
          </a:p>
        </p:txBody>
      </p:sp>
      <p:pic>
        <p:nvPicPr>
          <p:cNvPr id="1028" name="Picture 4" descr="D:\Slide\Graph\防火牆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672" y="4077072"/>
            <a:ext cx="972989" cy="694669"/>
          </a:xfrm>
          <a:prstGeom prst="rect">
            <a:avLst/>
          </a:prstGeom>
          <a:noFill/>
        </p:spPr>
      </p:pic>
      <p:pic>
        <p:nvPicPr>
          <p:cNvPr id="45" name="Picture 4" descr="D:\Slide\Graph\防火牆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4149080"/>
            <a:ext cx="972989" cy="694669"/>
          </a:xfrm>
          <a:prstGeom prst="rect">
            <a:avLst/>
          </a:prstGeom>
          <a:noFill/>
        </p:spPr>
      </p:pic>
      <p:sp>
        <p:nvSpPr>
          <p:cNvPr id="47" name="文字方塊 46"/>
          <p:cNvSpPr txBox="1"/>
          <p:nvPr/>
        </p:nvSpPr>
        <p:spPr>
          <a:xfrm>
            <a:off x="7380312" y="6021288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Client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9" grpId="0"/>
      <p:bldP spid="40" grpId="0"/>
      <p:bldP spid="4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Directly Connect</a:t>
            </a:r>
            <a:endParaRPr lang="zh-TW" altLang="en-US" dirty="0"/>
          </a:p>
        </p:txBody>
      </p:sp>
      <p:sp>
        <p:nvSpPr>
          <p:cNvPr id="4" name="雲朵形 3"/>
          <p:cNvSpPr/>
          <p:nvPr/>
        </p:nvSpPr>
        <p:spPr>
          <a:xfrm>
            <a:off x="1043608" y="1412776"/>
            <a:ext cx="7344816" cy="2952328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流程圖: 直接存取儲存裝置 4"/>
          <p:cNvSpPr/>
          <p:nvPr/>
        </p:nvSpPr>
        <p:spPr>
          <a:xfrm>
            <a:off x="2411760" y="2564904"/>
            <a:ext cx="3960440" cy="432048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Service Bus</a:t>
            </a:r>
            <a:endParaRPr lang="zh-TW" altLang="en-US" sz="2000" dirty="0"/>
          </a:p>
        </p:txBody>
      </p:sp>
      <p:sp>
        <p:nvSpPr>
          <p:cNvPr id="6" name="橢圓 5"/>
          <p:cNvSpPr/>
          <p:nvPr/>
        </p:nvSpPr>
        <p:spPr>
          <a:xfrm>
            <a:off x="5364088" y="2708920"/>
            <a:ext cx="792088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2" descr="D:\Slide\Graph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798893"/>
            <a:ext cx="882882" cy="939676"/>
          </a:xfrm>
          <a:prstGeom prst="rect">
            <a:avLst/>
          </a:prstGeom>
          <a:noFill/>
        </p:spPr>
      </p:pic>
      <p:pic>
        <p:nvPicPr>
          <p:cNvPr id="8" name="Picture 2" descr="D:\Slide\Graph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124744"/>
            <a:ext cx="882882" cy="939676"/>
          </a:xfrm>
          <a:prstGeom prst="rect">
            <a:avLst/>
          </a:prstGeom>
          <a:noFill/>
        </p:spPr>
      </p:pic>
      <p:sp>
        <p:nvSpPr>
          <p:cNvPr id="9" name="文字方塊 8"/>
          <p:cNvSpPr txBox="1"/>
          <p:nvPr/>
        </p:nvSpPr>
        <p:spPr>
          <a:xfrm>
            <a:off x="251520" y="5879013"/>
            <a:ext cx="1949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Service application</a:t>
            </a:r>
          </a:p>
          <a:p>
            <a:pPr algn="ctr"/>
            <a:r>
              <a:rPr lang="en-US" altLang="zh-TW" dirty="0" smtClean="0"/>
              <a:t>(outside the cloud)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580112" y="1628800"/>
            <a:ext cx="1949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Service application</a:t>
            </a:r>
          </a:p>
          <a:p>
            <a:pPr algn="ctr"/>
            <a:r>
              <a:rPr lang="en-US" altLang="zh-TW" dirty="0" smtClean="0"/>
              <a:t>(inside the cloud)</a:t>
            </a:r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4932040" y="2060848"/>
            <a:ext cx="144016" cy="504056"/>
            <a:chOff x="4932040" y="2060848"/>
            <a:chExt cx="144016" cy="504056"/>
          </a:xfrm>
        </p:grpSpPr>
        <p:sp>
          <p:nvSpPr>
            <p:cNvPr id="12" name="橢圓 11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" name="直線接點 12"/>
            <p:cNvCxnSpPr/>
            <p:nvPr/>
          </p:nvCxnSpPr>
          <p:spPr>
            <a:xfrm rot="5400000">
              <a:off x="4824028" y="2384884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3491880" y="2060848"/>
            <a:ext cx="144016" cy="504056"/>
            <a:chOff x="4932040" y="2060848"/>
            <a:chExt cx="144016" cy="504056"/>
          </a:xfrm>
        </p:grpSpPr>
        <p:sp>
          <p:nvSpPr>
            <p:cNvPr id="15" name="橢圓 14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接點 15"/>
            <p:cNvCxnSpPr/>
            <p:nvPr/>
          </p:nvCxnSpPr>
          <p:spPr>
            <a:xfrm rot="5400000">
              <a:off x="4824028" y="2384884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群組 16"/>
          <p:cNvGrpSpPr/>
          <p:nvPr/>
        </p:nvGrpSpPr>
        <p:grpSpPr>
          <a:xfrm>
            <a:off x="3203848" y="3010119"/>
            <a:ext cx="144016" cy="490889"/>
            <a:chOff x="4932040" y="1713975"/>
            <a:chExt cx="144016" cy="490889"/>
          </a:xfrm>
        </p:grpSpPr>
        <p:sp>
          <p:nvSpPr>
            <p:cNvPr id="18" name="橢圓 17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" name="直線接點 18"/>
            <p:cNvCxnSpPr/>
            <p:nvPr/>
          </p:nvCxnSpPr>
          <p:spPr>
            <a:xfrm rot="5400000">
              <a:off x="4824028" y="1893995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" name="直線接點 19"/>
          <p:cNvCxnSpPr/>
          <p:nvPr/>
        </p:nvCxnSpPr>
        <p:spPr>
          <a:xfrm flipV="1">
            <a:off x="1619672" y="3573016"/>
            <a:ext cx="1512168" cy="11521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弧形 20"/>
          <p:cNvSpPr/>
          <p:nvPr/>
        </p:nvSpPr>
        <p:spPr>
          <a:xfrm>
            <a:off x="3347864" y="3140968"/>
            <a:ext cx="2160240" cy="576064"/>
          </a:xfrm>
          <a:prstGeom prst="arc">
            <a:avLst>
              <a:gd name="adj1" fmla="val 11052788"/>
              <a:gd name="adj2" fmla="val 0"/>
            </a:avLst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21"/>
          <p:cNvGrpSpPr/>
          <p:nvPr/>
        </p:nvGrpSpPr>
        <p:grpSpPr>
          <a:xfrm>
            <a:off x="5580112" y="3068960"/>
            <a:ext cx="144016" cy="490889"/>
            <a:chOff x="4932040" y="1713975"/>
            <a:chExt cx="144016" cy="490889"/>
          </a:xfrm>
        </p:grpSpPr>
        <p:sp>
          <p:nvSpPr>
            <p:cNvPr id="23" name="橢圓 22"/>
            <p:cNvSpPr/>
            <p:nvPr/>
          </p:nvSpPr>
          <p:spPr>
            <a:xfrm>
              <a:off x="4932040" y="2060848"/>
              <a:ext cx="144016" cy="1440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4" name="直線接點 23"/>
            <p:cNvCxnSpPr/>
            <p:nvPr/>
          </p:nvCxnSpPr>
          <p:spPr>
            <a:xfrm rot="5400000">
              <a:off x="4824028" y="1893995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" name="直線接點 25"/>
          <p:cNvCxnSpPr/>
          <p:nvPr/>
        </p:nvCxnSpPr>
        <p:spPr>
          <a:xfrm rot="16200000" flipH="1">
            <a:off x="5616116" y="3897052"/>
            <a:ext cx="1800200" cy="12961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Picture 4" descr="D:\Slide\Graph\防火牆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4077072"/>
            <a:ext cx="972989" cy="694669"/>
          </a:xfrm>
          <a:prstGeom prst="rect">
            <a:avLst/>
          </a:prstGeom>
          <a:noFill/>
        </p:spPr>
      </p:pic>
      <p:pic>
        <p:nvPicPr>
          <p:cNvPr id="31" name="Picture 4" descr="D:\Slide\Graph\防火牆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4149080"/>
            <a:ext cx="972989" cy="694669"/>
          </a:xfrm>
          <a:prstGeom prst="rect">
            <a:avLst/>
          </a:prstGeom>
          <a:noFill/>
        </p:spPr>
      </p:pic>
      <p:sp>
        <p:nvSpPr>
          <p:cNvPr id="32" name="文字方塊 31"/>
          <p:cNvSpPr txBox="1"/>
          <p:nvPr/>
        </p:nvSpPr>
        <p:spPr>
          <a:xfrm>
            <a:off x="2411760" y="4365104"/>
            <a:ext cx="2427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Service Bus probes </a:t>
            </a:r>
          </a:p>
          <a:p>
            <a:r>
              <a:rPr lang="en-US" altLang="zh-TW" dirty="0" smtClean="0"/>
              <a:t>a directly link if possible</a:t>
            </a:r>
            <a:endParaRPr lang="zh-TW" altLang="en-US" dirty="0"/>
          </a:p>
        </p:txBody>
      </p:sp>
      <p:grpSp>
        <p:nvGrpSpPr>
          <p:cNvPr id="38" name="群組 37"/>
          <p:cNvGrpSpPr/>
          <p:nvPr/>
        </p:nvGrpSpPr>
        <p:grpSpPr>
          <a:xfrm>
            <a:off x="1763688" y="5157192"/>
            <a:ext cx="5256584" cy="766677"/>
            <a:chOff x="1763688" y="5157192"/>
            <a:chExt cx="5256584" cy="766677"/>
          </a:xfrm>
        </p:grpSpPr>
        <p:cxnSp>
          <p:nvCxnSpPr>
            <p:cNvPr id="34" name="直線單箭頭接點 33"/>
            <p:cNvCxnSpPr/>
            <p:nvPr/>
          </p:nvCxnSpPr>
          <p:spPr>
            <a:xfrm rot="10800000">
              <a:off x="1763688" y="5517232"/>
              <a:ext cx="5256584" cy="216024"/>
            </a:xfrm>
            <a:prstGeom prst="straightConnector1">
              <a:avLst/>
            </a:prstGeom>
            <a:ln>
              <a:prstDash val="lg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6" name="Picture 4" descr="D:\Slide\Graph\防火牆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24128" y="5229200"/>
              <a:ext cx="972989" cy="694669"/>
            </a:xfrm>
            <a:prstGeom prst="rect">
              <a:avLst/>
            </a:prstGeom>
            <a:noFill/>
          </p:spPr>
        </p:pic>
        <p:pic>
          <p:nvPicPr>
            <p:cNvPr id="37" name="Picture 4" descr="D:\Slide\Graph\防火牆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39752" y="5157192"/>
              <a:ext cx="972989" cy="694669"/>
            </a:xfrm>
            <a:prstGeom prst="rect">
              <a:avLst/>
            </a:prstGeom>
            <a:noFill/>
          </p:spPr>
        </p:pic>
      </p:grpSp>
      <p:pic>
        <p:nvPicPr>
          <p:cNvPr id="39" name="Picture 3" descr="D:\Slide\Graph\ma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04932" y="4941168"/>
            <a:ext cx="1033982" cy="1058769"/>
          </a:xfrm>
          <a:prstGeom prst="rect">
            <a:avLst/>
          </a:prstGeom>
          <a:noFill/>
        </p:spPr>
      </p:pic>
      <p:sp>
        <p:nvSpPr>
          <p:cNvPr id="41" name="文字方塊 40"/>
          <p:cNvSpPr txBox="1"/>
          <p:nvPr/>
        </p:nvSpPr>
        <p:spPr>
          <a:xfrm>
            <a:off x="7380312" y="6021288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Client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19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Access Control service helps applications authenticate and receive identity information about their client applications </a:t>
            </a:r>
            <a:endParaRPr lang="zh-TW" altLang="en-US" dirty="0"/>
          </a:p>
        </p:txBody>
      </p:sp>
      <p:grpSp>
        <p:nvGrpSpPr>
          <p:cNvPr id="4" name="群組 6"/>
          <p:cNvGrpSpPr/>
          <p:nvPr/>
        </p:nvGrpSpPr>
        <p:grpSpPr>
          <a:xfrm>
            <a:off x="931190" y="2852936"/>
            <a:ext cx="7281621" cy="3861049"/>
            <a:chOff x="1076333" y="2996952"/>
            <a:chExt cx="7281621" cy="3861049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558" t="1291" r="1131" b="826"/>
            <a:stretch>
              <a:fillRect/>
            </a:stretch>
          </p:blipFill>
          <p:spPr bwMode="auto">
            <a:xfrm>
              <a:off x="1076333" y="2996952"/>
              <a:ext cx="7281621" cy="38610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橢圓 4"/>
            <p:cNvSpPr/>
            <p:nvPr/>
          </p:nvSpPr>
          <p:spPr>
            <a:xfrm>
              <a:off x="2628911" y="5517232"/>
              <a:ext cx="1665684" cy="79208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chemeClr val="tx1"/>
                  </a:solidFill>
                </a:rPr>
                <a:t>Client</a:t>
              </a:r>
            </a:p>
            <a:p>
              <a:pPr algn="ctr"/>
              <a:r>
                <a:rPr lang="en-US" altLang="zh-TW" sz="1600" dirty="0" smtClean="0">
                  <a:solidFill>
                    <a:schemeClr val="tx1"/>
                  </a:solidFill>
                </a:rPr>
                <a:t>Application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/>
            <p:cNvSpPr/>
            <p:nvPr/>
          </p:nvSpPr>
          <p:spPr>
            <a:xfrm>
              <a:off x="5437223" y="5517232"/>
              <a:ext cx="1665684" cy="792088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>
                  <a:solidFill>
                    <a:schemeClr val="tx1"/>
                  </a:solidFill>
                </a:rPr>
                <a:t>Server</a:t>
              </a:r>
            </a:p>
            <a:p>
              <a:pPr algn="ctr"/>
              <a:r>
                <a:rPr lang="en-US" altLang="zh-TW" sz="1600" dirty="0" smtClean="0">
                  <a:solidFill>
                    <a:schemeClr val="tx1"/>
                  </a:solidFill>
                </a:rPr>
                <a:t>Application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zh-TW" dirty="0" smtClean="0"/>
              <a:t>Access control is a Single Sign-On (SSO) service for service bus</a:t>
            </a:r>
          </a:p>
          <a:p>
            <a:pPr lvl="1"/>
            <a:r>
              <a:rPr lang="en-US" altLang="zh-TW" dirty="0" smtClean="0"/>
              <a:t>User accesses the service bus must be authenticated by the access control</a:t>
            </a:r>
          </a:p>
          <a:p>
            <a:r>
              <a:rPr lang="en-US" altLang="zh-TW" dirty="0" smtClean="0"/>
              <a:t>User only needs a token when access multi-services</a:t>
            </a:r>
          </a:p>
          <a:p>
            <a:pPr lvl="1"/>
            <a:r>
              <a:rPr lang="en-US" altLang="zh-TW" dirty="0" smtClean="0"/>
              <a:t>The token can be recognized for multi-services in a period of time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Windows Azure Platform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body" idx="4294967295"/>
          </p:nvPr>
        </p:nvSpPr>
        <p:spPr>
          <a:xfrm>
            <a:off x="1371600" y="2276873"/>
            <a:ext cx="7772400" cy="213002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TW" dirty="0" smtClean="0"/>
              <a:t>Scenarios</a:t>
            </a:r>
          </a:p>
          <a:p>
            <a:pPr lvl="1"/>
            <a:r>
              <a:rPr lang="en-US" altLang="zh-TW" dirty="0" smtClean="0"/>
              <a:t>Creating a web application with background processing </a:t>
            </a:r>
          </a:p>
          <a:p>
            <a:pPr lvl="1"/>
            <a:r>
              <a:rPr lang="en-US" altLang="zh-TW" dirty="0" smtClean="0"/>
              <a:t>Using cloud storage from an on-premises or hosted application</a:t>
            </a:r>
          </a:p>
          <a:p>
            <a:pPr>
              <a:buNone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044824"/>
          </a:xfrm>
        </p:spPr>
        <p:txBody>
          <a:bodyPr/>
          <a:lstStyle/>
          <a:p>
            <a:r>
              <a:rPr lang="en-US" altLang="zh-TW" dirty="0" smtClean="0"/>
              <a:t>Web application with background processing </a:t>
            </a:r>
          </a:p>
          <a:p>
            <a:pPr lvl="1"/>
            <a:r>
              <a:rPr lang="en-US" altLang="zh-TW" dirty="0" smtClean="0"/>
              <a:t>Scalable</a:t>
            </a:r>
          </a:p>
          <a:p>
            <a:pPr lvl="1"/>
            <a:r>
              <a:rPr lang="en-US" altLang="zh-TW" dirty="0" smtClean="0"/>
              <a:t>Support a large number of simultaneous users</a:t>
            </a:r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298" t="7522" r="802"/>
          <a:stretch>
            <a:fillRect/>
          </a:stretch>
        </p:blipFill>
        <p:spPr bwMode="auto">
          <a:xfrm>
            <a:off x="671581" y="2852937"/>
            <a:ext cx="7800839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 2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An on-premises or hosted application can use Blobs and Tables to store its data in the cloud</a:t>
            </a:r>
          </a:p>
          <a:p>
            <a:pPr lvl="1"/>
            <a:r>
              <a:rPr lang="en-US" altLang="zh-TW" dirty="0" smtClean="0"/>
              <a:t>Access is likely to be slower, but</a:t>
            </a:r>
          </a:p>
          <a:p>
            <a:pPr lvl="2"/>
            <a:r>
              <a:rPr lang="en-US" altLang="zh-TW" dirty="0" smtClean="0"/>
              <a:t>Cheaper</a:t>
            </a:r>
          </a:p>
          <a:p>
            <a:pPr lvl="2"/>
            <a:r>
              <a:rPr lang="en-US" altLang="zh-TW" dirty="0" smtClean="0"/>
              <a:t>Scalable </a:t>
            </a:r>
          </a:p>
          <a:p>
            <a:pPr lvl="2"/>
            <a:r>
              <a:rPr lang="en-US" altLang="zh-TW" dirty="0" smtClean="0"/>
              <a:t>Reliable </a:t>
            </a:r>
            <a:endParaRPr lang="zh-TW" alt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6805" y="1600200"/>
            <a:ext cx="400139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29000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Microsoft Windows Azure platform could</a:t>
            </a:r>
          </a:p>
          <a:p>
            <a:pPr lvl="1"/>
            <a:r>
              <a:rPr lang="en-US" altLang="zh-TW" dirty="0" smtClean="0"/>
              <a:t>Support applications, data, and infrastructure in the cloud</a:t>
            </a:r>
          </a:p>
          <a:p>
            <a:pPr lvl="1"/>
            <a:r>
              <a:rPr lang="en-US" altLang="zh-TW" dirty="0" smtClean="0"/>
              <a:t>Provide a subset of SQL server’s functionality to support the relational database and SQL-like queries</a:t>
            </a:r>
          </a:p>
          <a:p>
            <a:pPr lvl="1"/>
            <a:r>
              <a:rPr lang="en-US" altLang="zh-TW" dirty="0" smtClean="0"/>
              <a:t>Create an application whose code and data can exist either on-premises or in the cloud</a:t>
            </a:r>
          </a:p>
          <a:p>
            <a:pPr lvl="1"/>
            <a:r>
              <a:rPr lang="en-US" altLang="zh-TW" dirty="0" smtClean="0"/>
              <a:t>Charge based on your usage</a:t>
            </a:r>
          </a:p>
          <a:p>
            <a:pPr lvl="1"/>
            <a:r>
              <a:rPr lang="en-US" altLang="zh-TW" dirty="0" smtClean="0"/>
              <a:t>Guarantee</a:t>
            </a:r>
          </a:p>
          <a:p>
            <a:pPr lvl="1"/>
            <a:r>
              <a:rPr lang="en-US" altLang="zh-TW" dirty="0" smtClean="0"/>
              <a:t>…</a:t>
            </a:r>
          </a:p>
          <a:p>
            <a:endParaRPr lang="en-US" altLang="zh-TW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43808" y="4437112"/>
          <a:ext cx="615617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6812"/>
                <a:gridCol w="23293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Guarantee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Rate 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External</a:t>
                      </a:r>
                      <a:r>
                        <a:rPr lang="en-US" altLang="zh-TW" baseline="0" dirty="0" smtClean="0"/>
                        <a:t> connection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99.95%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Web / Worker</a:t>
                      </a:r>
                      <a:r>
                        <a:rPr lang="en-US" altLang="zh-TW" baseline="0" dirty="0" smtClean="0"/>
                        <a:t> role process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99.9%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Success of insert, update,</a:t>
                      </a:r>
                      <a:r>
                        <a:rPr lang="en-US" altLang="zh-TW" baseline="0" dirty="0" smtClean="0"/>
                        <a:t> delete data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99.9%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Access</a:t>
                      </a:r>
                      <a:r>
                        <a:rPr lang="en-US" altLang="zh-TW" baseline="0" dirty="0" smtClean="0"/>
                        <a:t> of SQL azure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99.9% (per month)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&amp; Characteristics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25144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Scalability</a:t>
            </a:r>
          </a:p>
          <a:p>
            <a:pPr lvl="1"/>
            <a:r>
              <a:rPr lang="en-US" altLang="zh-TW" dirty="0" smtClean="0"/>
              <a:t>Provide scale-out compute/storage capability of handling very large amounts of application/data</a:t>
            </a:r>
          </a:p>
          <a:p>
            <a:r>
              <a:rPr lang="en-US" altLang="zh-TW" dirty="0" smtClean="0"/>
              <a:t>Availability</a:t>
            </a:r>
          </a:p>
          <a:p>
            <a:pPr lvl="1"/>
            <a:r>
              <a:rPr lang="en-US" altLang="zh-TW" dirty="0" smtClean="0"/>
              <a:t>Provide the ability of failure tolerance such that application or service would not stop on failure</a:t>
            </a:r>
          </a:p>
          <a:p>
            <a:r>
              <a:rPr lang="en-US" altLang="zh-TW" dirty="0" smtClean="0"/>
              <a:t>Manageability </a:t>
            </a:r>
          </a:p>
          <a:p>
            <a:pPr lvl="1"/>
            <a:r>
              <a:rPr lang="en-US" altLang="zh-TW" dirty="0" smtClean="0"/>
              <a:t>Let applications run continuously while minimizing the administrative effort required</a:t>
            </a:r>
          </a:p>
          <a:p>
            <a:pPr lvl="2"/>
            <a:r>
              <a:rPr lang="en-US" altLang="zh-TW" dirty="0" smtClean="0"/>
              <a:t>In particular, customers do not worry about Windows patches</a:t>
            </a:r>
          </a:p>
          <a:p>
            <a:r>
              <a:rPr lang="en-US" altLang="zh-TW" dirty="0" smtClean="0"/>
              <a:t>Performance</a:t>
            </a:r>
          </a:p>
          <a:p>
            <a:pPr lvl="1"/>
            <a:r>
              <a:rPr lang="en-US" altLang="zh-TW" dirty="0" smtClean="0"/>
              <a:t>Provide load balancing to spread request across Web role instances and support parallel processing with Worker role instances</a:t>
            </a:r>
          </a:p>
          <a:p>
            <a:r>
              <a:rPr lang="en-US" altLang="zh-TW" dirty="0" smtClean="0"/>
              <a:t>Accessibility </a:t>
            </a:r>
          </a:p>
          <a:p>
            <a:pPr lvl="1"/>
            <a:r>
              <a:rPr lang="en-US" altLang="zh-TW" dirty="0" smtClean="0"/>
              <a:t>Control and monitor running instances through the web portal or the programming APIs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Web resources:</a:t>
            </a:r>
          </a:p>
          <a:p>
            <a:pPr lvl="1"/>
            <a:r>
              <a:rPr lang="en-US" altLang="zh-TW" dirty="0" smtClean="0"/>
              <a:t>Microsoft Windows Azure. </a:t>
            </a:r>
            <a:r>
              <a:rPr lang="en-US" altLang="zh-TW" dirty="0" smtClean="0">
                <a:hlinkClick r:id="rId2"/>
              </a:rPr>
              <a:t>http://www.microsoft.com/windowsazure/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Chu’s blog. </a:t>
            </a:r>
            <a:r>
              <a:rPr lang="en-US" altLang="zh-TW" dirty="0" smtClean="0">
                <a:hlinkClick r:id="rId3"/>
              </a:rPr>
              <a:t>http://www.dotblogs.com.tw/regionbbs/</a:t>
            </a:r>
          </a:p>
          <a:p>
            <a:pPr lvl="1"/>
            <a:r>
              <a:rPr lang="en-US" altLang="zh-TW" dirty="0" smtClean="0"/>
              <a:t>From Wikipedia, the free encyclopedia.</a:t>
            </a:r>
          </a:p>
          <a:p>
            <a:r>
              <a:rPr lang="en-US" altLang="zh-TW" smtClean="0"/>
              <a:t>Book: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小朱</a:t>
            </a:r>
            <a:r>
              <a:rPr lang="en-US" altLang="zh-TW" dirty="0" smtClean="0"/>
              <a:t>, </a:t>
            </a:r>
            <a:r>
              <a:rPr lang="en-US" altLang="zh-TW" b="1" i="1" dirty="0" smtClean="0"/>
              <a:t>Windows Azure</a:t>
            </a:r>
            <a:r>
              <a:rPr lang="zh-TW" altLang="en-US" b="1" i="1" dirty="0" smtClean="0"/>
              <a:t>教戰手札：您必須學會的微軟雲端開發技術</a:t>
            </a:r>
            <a:r>
              <a:rPr lang="en-US" altLang="zh-TW" dirty="0" smtClean="0"/>
              <a:t>, </a:t>
            </a:r>
            <a:r>
              <a:rPr lang="zh-TW" altLang="en-US" dirty="0" smtClean="0"/>
              <a:t>碁峰 </a:t>
            </a:r>
            <a:r>
              <a:rPr lang="en-US" altLang="zh-TW" dirty="0" smtClean="0"/>
              <a:t>2010</a:t>
            </a:r>
            <a:endParaRPr lang="zh-TW" altLang="en-US" dirty="0" smtClean="0"/>
          </a:p>
          <a:p>
            <a:r>
              <a:rPr lang="en-US" altLang="zh-TW" dirty="0" smtClean="0"/>
              <a:t>All resources of the materials and pictures were partially retrieved from the Internet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7277</TotalTime>
  <Words>3413</Words>
  <Application>Microsoft Office PowerPoint</Application>
  <PresentationFormat>如螢幕大小 (4:3)</PresentationFormat>
  <Paragraphs>728</Paragraphs>
  <Slides>95</Slides>
  <Notes>16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95</vt:i4>
      </vt:variant>
    </vt:vector>
  </HeadingPairs>
  <TitlesOfParts>
    <vt:vector size="96" baseType="lpstr">
      <vt:lpstr>Course Themes</vt:lpstr>
      <vt:lpstr>雲端計算 Cloud Computing</vt:lpstr>
      <vt:lpstr>Agenda</vt:lpstr>
      <vt:lpstr>Introduction </vt:lpstr>
      <vt:lpstr>What Has IaaS Done</vt:lpstr>
      <vt:lpstr>What IaaS Can Do</vt:lpstr>
      <vt:lpstr>IaaS is Not Enough</vt:lpstr>
      <vt:lpstr>More Requirements</vt:lpstr>
      <vt:lpstr>More and More…</vt:lpstr>
      <vt:lpstr>PaaS Buys It for You</vt:lpstr>
      <vt:lpstr>From IaaS to PaaS</vt:lpstr>
      <vt:lpstr>Introduction </vt:lpstr>
      <vt:lpstr>Platform as a Service</vt:lpstr>
      <vt:lpstr>Platform as a Service</vt:lpstr>
      <vt:lpstr>Resource Pool</vt:lpstr>
      <vt:lpstr>Resource Pool</vt:lpstr>
      <vt:lpstr>Resource Pool</vt:lpstr>
      <vt:lpstr>Core Platform</vt:lpstr>
      <vt:lpstr>Core Platform</vt:lpstr>
      <vt:lpstr>Core Platform</vt:lpstr>
      <vt:lpstr>Enabling Services</vt:lpstr>
      <vt:lpstr>Enabling Services </vt:lpstr>
      <vt:lpstr>Enabling Services </vt:lpstr>
      <vt:lpstr>Introduction </vt:lpstr>
      <vt:lpstr>Platform as a Service</vt:lpstr>
      <vt:lpstr>Scalability</vt:lpstr>
      <vt:lpstr>Scalability</vt:lpstr>
      <vt:lpstr>Availability</vt:lpstr>
      <vt:lpstr>Availability</vt:lpstr>
      <vt:lpstr>Manageability </vt:lpstr>
      <vt:lpstr>Manageability</vt:lpstr>
      <vt:lpstr>Billing </vt:lpstr>
      <vt:lpstr>Billing</vt:lpstr>
      <vt:lpstr>Performance </vt:lpstr>
      <vt:lpstr>Performance </vt:lpstr>
      <vt:lpstr>Security </vt:lpstr>
      <vt:lpstr>Security </vt:lpstr>
      <vt:lpstr>Accessibility</vt:lpstr>
      <vt:lpstr>Summary </vt:lpstr>
      <vt:lpstr>Cloud platform</vt:lpstr>
      <vt:lpstr>PaaS Players</vt:lpstr>
      <vt:lpstr>Microsoft Windows Azure</vt:lpstr>
      <vt:lpstr>Windows Azure Platform</vt:lpstr>
      <vt:lpstr>Major Components</vt:lpstr>
      <vt:lpstr>Windows Azure Platform</vt:lpstr>
      <vt:lpstr>Windows Azure</vt:lpstr>
      <vt:lpstr>What is Windows Azure</vt:lpstr>
      <vt:lpstr>Components</vt:lpstr>
      <vt:lpstr>Overview</vt:lpstr>
      <vt:lpstr>Windows Azure</vt:lpstr>
      <vt:lpstr>Windows Azure - Compute</vt:lpstr>
      <vt:lpstr>Compute</vt:lpstr>
      <vt:lpstr>Instance Types</vt:lpstr>
      <vt:lpstr>Instance Types</vt:lpstr>
      <vt:lpstr>Windows Azure</vt:lpstr>
      <vt:lpstr>Windows Azure - Storage </vt:lpstr>
      <vt:lpstr>Storage </vt:lpstr>
      <vt:lpstr>Storage Types</vt:lpstr>
      <vt:lpstr>Blob</vt:lpstr>
      <vt:lpstr>Blob Types</vt:lpstr>
      <vt:lpstr>X-Driver</vt:lpstr>
      <vt:lpstr>Table</vt:lpstr>
      <vt:lpstr>Table</vt:lpstr>
      <vt:lpstr>Queue</vt:lpstr>
      <vt:lpstr>Queue</vt:lpstr>
      <vt:lpstr>Windows Azure</vt:lpstr>
      <vt:lpstr>Windows Azure - Fabric</vt:lpstr>
      <vt:lpstr>Fabric Types</vt:lpstr>
      <vt:lpstr>Example of Fabric</vt:lpstr>
      <vt:lpstr>Fabric</vt:lpstr>
      <vt:lpstr>Windows Azure Platform</vt:lpstr>
      <vt:lpstr>SQL Azure</vt:lpstr>
      <vt:lpstr>SQL Azure</vt:lpstr>
      <vt:lpstr>SQL Azure</vt:lpstr>
      <vt:lpstr>SQL Azure Database</vt:lpstr>
      <vt:lpstr>Architecture</vt:lpstr>
      <vt:lpstr>Architecture</vt:lpstr>
      <vt:lpstr>SQL Azure Gateway</vt:lpstr>
      <vt:lpstr>SQL Azure Gateway</vt:lpstr>
      <vt:lpstr>Backend Server</vt:lpstr>
      <vt:lpstr>Backend Server</vt:lpstr>
      <vt:lpstr>Windows Azure Platform</vt:lpstr>
      <vt:lpstr>AppFabric</vt:lpstr>
      <vt:lpstr>AppFabric</vt:lpstr>
      <vt:lpstr>Service Bus</vt:lpstr>
      <vt:lpstr>Service Bus</vt:lpstr>
      <vt:lpstr>Message Reply</vt:lpstr>
      <vt:lpstr>Directly Connect</vt:lpstr>
      <vt:lpstr>Access Control</vt:lpstr>
      <vt:lpstr>Access Control</vt:lpstr>
      <vt:lpstr>Windows Azure Platform</vt:lpstr>
      <vt:lpstr>Scenario 1</vt:lpstr>
      <vt:lpstr>Scenario 2</vt:lpstr>
      <vt:lpstr>Summary </vt:lpstr>
      <vt:lpstr>Properties &amp; Characteristics</vt:lpstr>
      <vt:lpstr>References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As A Service</dc:title>
  <dc:creator>cmj</dc:creator>
  <cp:lastModifiedBy>Yeh-Ching Chung</cp:lastModifiedBy>
  <cp:revision>1071</cp:revision>
  <dcterms:created xsi:type="dcterms:W3CDTF">2010-08-30T14:47:24Z</dcterms:created>
  <dcterms:modified xsi:type="dcterms:W3CDTF">2010-12-14T03:13:27Z</dcterms:modified>
</cp:coreProperties>
</file>