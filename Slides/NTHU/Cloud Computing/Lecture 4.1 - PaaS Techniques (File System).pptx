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96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97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86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93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69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8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94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83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99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88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95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84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91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67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92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6"/>
  </p:notesMasterIdLst>
  <p:sldIdLst>
    <p:sldId id="266" r:id="rId2"/>
    <p:sldId id="257" r:id="rId3"/>
    <p:sldId id="401" r:id="rId4"/>
    <p:sldId id="402" r:id="rId5"/>
    <p:sldId id="264" r:id="rId6"/>
    <p:sldId id="403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83" r:id="rId22"/>
    <p:sldId id="303" r:id="rId23"/>
    <p:sldId id="305" r:id="rId24"/>
    <p:sldId id="375" r:id="rId25"/>
    <p:sldId id="307" r:id="rId26"/>
    <p:sldId id="308" r:id="rId27"/>
    <p:sldId id="311" r:id="rId28"/>
    <p:sldId id="377" r:id="rId29"/>
    <p:sldId id="371" r:id="rId30"/>
    <p:sldId id="310" r:id="rId31"/>
    <p:sldId id="372" r:id="rId32"/>
    <p:sldId id="312" r:id="rId33"/>
    <p:sldId id="313" r:id="rId34"/>
    <p:sldId id="379" r:id="rId35"/>
    <p:sldId id="373" r:id="rId36"/>
    <p:sldId id="374" r:id="rId37"/>
    <p:sldId id="318" r:id="rId38"/>
    <p:sldId id="317" r:id="rId39"/>
    <p:sldId id="380" r:id="rId40"/>
    <p:sldId id="381" r:id="rId41"/>
    <p:sldId id="382" r:id="rId42"/>
    <p:sldId id="404" r:id="rId43"/>
    <p:sldId id="385" r:id="rId44"/>
    <p:sldId id="319" r:id="rId45"/>
    <p:sldId id="324" r:id="rId46"/>
    <p:sldId id="323" r:id="rId47"/>
    <p:sldId id="322" r:id="rId48"/>
    <p:sldId id="321" r:id="rId49"/>
    <p:sldId id="386" r:id="rId50"/>
    <p:sldId id="325" r:id="rId51"/>
    <p:sldId id="387" r:id="rId52"/>
    <p:sldId id="388" r:id="rId53"/>
    <p:sldId id="327" r:id="rId54"/>
    <p:sldId id="328" r:id="rId55"/>
    <p:sldId id="329" r:id="rId56"/>
    <p:sldId id="389" r:id="rId57"/>
    <p:sldId id="390" r:id="rId58"/>
    <p:sldId id="330" r:id="rId59"/>
    <p:sldId id="391" r:id="rId60"/>
    <p:sldId id="405" r:id="rId61"/>
    <p:sldId id="393" r:id="rId62"/>
    <p:sldId id="333" r:id="rId63"/>
    <p:sldId id="394" r:id="rId64"/>
    <p:sldId id="395" r:id="rId65"/>
    <p:sldId id="397" r:id="rId66"/>
    <p:sldId id="335" r:id="rId67"/>
    <p:sldId id="336" r:id="rId68"/>
    <p:sldId id="337" r:id="rId69"/>
    <p:sldId id="398" r:id="rId70"/>
    <p:sldId id="338" r:id="rId71"/>
    <p:sldId id="396" r:id="rId72"/>
    <p:sldId id="339" r:id="rId73"/>
    <p:sldId id="406" r:id="rId74"/>
    <p:sldId id="399" r:id="rId75"/>
    <p:sldId id="342" r:id="rId76"/>
    <p:sldId id="343" r:id="rId77"/>
    <p:sldId id="400" r:id="rId78"/>
    <p:sldId id="344" r:id="rId79"/>
    <p:sldId id="345" r:id="rId80"/>
    <p:sldId id="347" r:id="rId81"/>
    <p:sldId id="367" r:id="rId82"/>
    <p:sldId id="407" r:id="rId83"/>
    <p:sldId id="350" r:id="rId84"/>
    <p:sldId id="351" r:id="rId85"/>
    <p:sldId id="352" r:id="rId86"/>
    <p:sldId id="411" r:id="rId87"/>
    <p:sldId id="359" r:id="rId88"/>
    <p:sldId id="353" r:id="rId89"/>
    <p:sldId id="354" r:id="rId90"/>
    <p:sldId id="355" r:id="rId91"/>
    <p:sldId id="412" r:id="rId92"/>
    <p:sldId id="356" r:id="rId93"/>
    <p:sldId id="357" r:id="rId94"/>
    <p:sldId id="363" r:id="rId95"/>
    <p:sldId id="358" r:id="rId96"/>
    <p:sldId id="360" r:id="rId97"/>
    <p:sldId id="361" r:id="rId98"/>
    <p:sldId id="362" r:id="rId99"/>
    <p:sldId id="413" r:id="rId100"/>
    <p:sldId id="364" r:id="rId101"/>
    <p:sldId id="365" r:id="rId102"/>
    <p:sldId id="366" r:id="rId103"/>
    <p:sldId id="369" r:id="rId104"/>
    <p:sldId id="265" r:id="rId10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1" autoAdjust="0"/>
    <p:restoredTop sz="91502" autoAdjust="0"/>
  </p:normalViewPr>
  <p:slideViewPr>
    <p:cSldViewPr>
      <p:cViewPr varScale="1">
        <p:scale>
          <a:sx n="62" d="100"/>
          <a:sy n="62" d="100"/>
        </p:scale>
        <p:origin x="-547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312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7DD20-92F8-4282-BDE4-0E24C1A0D45F}" type="datetimeFigureOut">
              <a:rPr lang="zh-TW" altLang="en-US" smtClean="0"/>
              <a:pPr/>
              <a:t>2010/12/28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0D120-4707-426F-9B85-873E256A66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0458CE-6E35-4AB9-864A-A68BEB60751B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0458CE-6E35-4AB9-864A-A68BEB60751B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0458CE-6E35-4AB9-864A-A68BEB60751B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15D5A-A8EE-45C4-8683-C35B9C362645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15D5A-A8EE-45C4-8683-C35B9C362645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60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0458CE-6E35-4AB9-864A-A68BEB60751B}" type="slidenum">
              <a:rPr lang="zh-TW" altLang="en-US" smtClean="0"/>
              <a:pPr/>
              <a:t>63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0458CE-6E35-4AB9-864A-A68BEB60751B}" type="slidenum">
              <a:rPr lang="zh-TW" altLang="en-US" smtClean="0"/>
              <a:pPr/>
              <a:t>64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66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67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68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70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0458CE-6E35-4AB9-864A-A68BEB60751B}" type="slidenum">
              <a:rPr lang="zh-TW" altLang="en-US" smtClean="0"/>
              <a:pPr/>
              <a:t>71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72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73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75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76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78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79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80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81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83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84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85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87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88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89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98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100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101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102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103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104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2010/12/28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hyperlink" Target="http://hadoop.apache.org/" TargetMode="External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ntucsiecloud98.appspot.com/course_information" TargetMode="External"/><Relationship Id="rId4" Type="http://schemas.openxmlformats.org/officeDocument/2006/relationships/hyperlink" Target="http://trac.nchc.org.tw/clou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00400"/>
            <a:ext cx="6400800" cy="2362200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PaaS Techniques</a:t>
            </a:r>
          </a:p>
          <a:p>
            <a:pPr algn="ctr"/>
            <a:r>
              <a:rPr lang="en-US" altLang="zh-TW" sz="24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File System</a:t>
            </a:r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altLang="zh-TW" sz="16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Overview </a:t>
            </a:r>
          </a:p>
          <a:p>
            <a:pPr lvl="1"/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&amp; Google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PaaS Techniques</a:t>
            </a:r>
          </a:p>
          <a:p>
            <a:pPr lvl="1"/>
            <a:r>
              <a:rPr lang="en-US" altLang="zh-TW" dirty="0" smtClean="0">
                <a:latin typeface="+mj-lt"/>
              </a:rPr>
              <a:t>File System</a:t>
            </a:r>
          </a:p>
          <a:p>
            <a:pPr lvl="2"/>
            <a:r>
              <a:rPr lang="en-US" altLang="zh-TW" dirty="0" smtClean="0">
                <a:latin typeface="+mj-lt"/>
              </a:rPr>
              <a:t>GFS, HDFS</a:t>
            </a:r>
          </a:p>
          <a:p>
            <a:pPr lvl="1"/>
            <a:r>
              <a:rPr lang="en-US" altLang="zh-TW" dirty="0" smtClean="0">
                <a:latin typeface="+mj-lt"/>
              </a:rPr>
              <a:t>Programming Model</a:t>
            </a:r>
          </a:p>
          <a:p>
            <a:pPr lvl="2"/>
            <a:r>
              <a:rPr lang="en-US" altLang="zh-TW" dirty="0" err="1" smtClean="0">
                <a:latin typeface="+mj-lt"/>
              </a:rPr>
              <a:t>MapReduce</a:t>
            </a:r>
            <a:r>
              <a:rPr lang="en-US" altLang="zh-TW" dirty="0" smtClean="0">
                <a:latin typeface="+mj-lt"/>
              </a:rPr>
              <a:t>, </a:t>
            </a:r>
            <a:r>
              <a:rPr lang="en-US" altLang="zh-TW" dirty="0" err="1" smtClean="0">
                <a:latin typeface="+mj-lt"/>
              </a:rPr>
              <a:t>Pregel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Storage System for Structured Data</a:t>
            </a:r>
          </a:p>
          <a:p>
            <a:pPr lvl="2"/>
            <a:r>
              <a:rPr lang="en-US" altLang="zh-TW" dirty="0" err="1" smtClean="0">
                <a:latin typeface="+mj-lt"/>
              </a:rPr>
              <a:t>Bigtable</a:t>
            </a:r>
            <a:r>
              <a:rPr lang="en-US" altLang="zh-TW" dirty="0" smtClean="0">
                <a:latin typeface="+mj-lt"/>
              </a:rPr>
              <a:t>, </a:t>
            </a:r>
            <a:r>
              <a:rPr lang="en-US" altLang="zh-TW" dirty="0" err="1" smtClean="0">
                <a:latin typeface="+mj-lt"/>
              </a:rPr>
              <a:t>Hbase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Hadoop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4474840" cy="4525963"/>
          </a:xfrm>
        </p:spPr>
        <p:txBody>
          <a:bodyPr/>
          <a:lstStyle/>
          <a:p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is</a:t>
            </a:r>
          </a:p>
          <a:p>
            <a:pPr lvl="1"/>
            <a:r>
              <a:rPr lang="en-US" altLang="zh-TW" dirty="0" smtClean="0">
                <a:latin typeface="+mj-lt"/>
              </a:rPr>
              <a:t>A distributed computing platform</a:t>
            </a:r>
          </a:p>
          <a:p>
            <a:pPr lvl="1"/>
            <a:r>
              <a:rPr lang="en-US" altLang="zh-TW" dirty="0" smtClean="0">
                <a:latin typeface="+mj-lt"/>
              </a:rPr>
              <a:t>A software framework that lets one easily write and run applications that process vast amounts of data</a:t>
            </a:r>
          </a:p>
          <a:p>
            <a:pPr lvl="1"/>
            <a:r>
              <a:rPr lang="en-US" altLang="zh-TW" dirty="0" smtClean="0">
                <a:latin typeface="+mj-lt"/>
              </a:rPr>
              <a:t>Inspired from published papers by Google</a:t>
            </a:r>
            <a:endParaRPr lang="zh-TW" altLang="en-US" dirty="0">
              <a:latin typeface="+mj-lt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23528" y="5589240"/>
            <a:ext cx="4563889" cy="10801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群組 12"/>
          <p:cNvGrpSpPr/>
          <p:nvPr/>
        </p:nvGrpSpPr>
        <p:grpSpPr>
          <a:xfrm>
            <a:off x="5148064" y="1700808"/>
            <a:ext cx="3816424" cy="4680520"/>
            <a:chOff x="4998915" y="2636912"/>
            <a:chExt cx="3816424" cy="4680520"/>
          </a:xfrm>
        </p:grpSpPr>
        <p:sp>
          <p:nvSpPr>
            <p:cNvPr id="7" name="圓角矩形 6"/>
            <p:cNvSpPr/>
            <p:nvPr/>
          </p:nvSpPr>
          <p:spPr>
            <a:xfrm>
              <a:off x="4998915" y="5013176"/>
              <a:ext cx="3811485" cy="936199"/>
            </a:xfrm>
            <a:prstGeom prst="roundRect">
              <a:avLst/>
            </a:prstGeom>
            <a:solidFill>
              <a:srgbClr val="3276C8"/>
            </a:solidFill>
            <a:ln>
              <a:solidFill>
                <a:srgbClr val="3276C8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 err="1" smtClean="0"/>
                <a:t>Hadoop</a:t>
              </a:r>
              <a:r>
                <a:rPr lang="en-US" altLang="zh-TW" dirty="0" smtClean="0"/>
                <a:t> Distributed</a:t>
              </a:r>
              <a:br>
                <a:rPr lang="en-US" altLang="zh-TW" dirty="0" smtClean="0"/>
              </a:br>
              <a:r>
                <a:rPr lang="en-US" altLang="zh-TW" dirty="0" smtClean="0"/>
                <a:t>File System (HDFS)</a:t>
              </a:r>
              <a:endParaRPr lang="zh-TW" altLang="en-US" dirty="0"/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4998915" y="3933056"/>
              <a:ext cx="2304256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MapReduce</a:t>
              </a:r>
              <a:endParaRPr lang="zh-TW" altLang="en-US" dirty="0"/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7009913" y="4997671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Hbase</a:t>
              </a:r>
              <a:endParaRPr lang="zh-TW" altLang="en-US" dirty="0"/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4998915" y="6381233"/>
              <a:ext cx="3811485" cy="936199"/>
            </a:xfrm>
            <a:prstGeom prst="roundRect">
              <a:avLst/>
            </a:prstGeom>
            <a:solidFill>
              <a:srgbClr val="396499"/>
            </a:solidFill>
            <a:ln>
              <a:solidFill>
                <a:srgbClr val="39649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A Cluster of Machines</a:t>
              </a:r>
              <a:endParaRPr lang="zh-TW" altLang="en-US" dirty="0"/>
            </a:p>
          </p:txBody>
        </p:sp>
        <p:sp>
          <p:nvSpPr>
            <p:cNvPr id="11" name="圓角矩形 10"/>
            <p:cNvSpPr/>
            <p:nvPr/>
          </p:nvSpPr>
          <p:spPr>
            <a:xfrm>
              <a:off x="5003854" y="2636912"/>
              <a:ext cx="3811485" cy="936199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Cloud Applications</a:t>
              </a:r>
              <a:endParaRPr lang="zh-TW" altLang="en-US" dirty="0"/>
            </a:p>
          </p:txBody>
        </p:sp>
      </p:grpSp>
      <p:cxnSp>
        <p:nvCxnSpPr>
          <p:cNvPr id="13" name="直線單箭頭接點 12"/>
          <p:cNvCxnSpPr/>
          <p:nvPr/>
        </p:nvCxnSpPr>
        <p:spPr>
          <a:xfrm rot="16200000" flipV="1">
            <a:off x="5842995" y="2806078"/>
            <a:ext cx="347469" cy="913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rot="16200000" flipV="1">
            <a:off x="5847566" y="3881627"/>
            <a:ext cx="338331" cy="914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0" idx="0"/>
            <a:endCxn id="7" idx="2"/>
          </p:cNvCxnSpPr>
          <p:nvPr/>
        </p:nvCxnSpPr>
        <p:spPr>
          <a:xfrm rot="5400000" flipH="1" flipV="1">
            <a:off x="6837878" y="5229200"/>
            <a:ext cx="431858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 rot="16200000" flipV="1">
            <a:off x="7143710" y="3881626"/>
            <a:ext cx="338331" cy="914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rot="16200000" flipV="1">
            <a:off x="7323730" y="3341566"/>
            <a:ext cx="1418452" cy="914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Google published the designs of web-search engine</a:t>
            </a:r>
          </a:p>
          <a:p>
            <a:pPr lvl="1"/>
            <a:r>
              <a:rPr lang="en-US" altLang="zh-TW" dirty="0" smtClean="0"/>
              <a:t>SOSP 2003 </a:t>
            </a:r>
          </a:p>
          <a:p>
            <a:pPr lvl="2"/>
            <a:r>
              <a:rPr lang="en-US" altLang="zh-TW" dirty="0" smtClean="0"/>
              <a:t>The </a:t>
            </a:r>
            <a:r>
              <a:rPr lang="en-US" altLang="zh-TW" b="1" dirty="0" smtClean="0">
                <a:solidFill>
                  <a:srgbClr val="FF0000"/>
                </a:solidFill>
              </a:rPr>
              <a:t>G</a:t>
            </a:r>
            <a:r>
              <a:rPr lang="en-US" altLang="zh-TW" dirty="0" smtClean="0"/>
              <a:t>oogle </a:t>
            </a:r>
            <a:r>
              <a:rPr lang="en-US" altLang="zh-TW" b="1" dirty="0" smtClean="0">
                <a:solidFill>
                  <a:srgbClr val="FF0000"/>
                </a:solidFill>
              </a:rPr>
              <a:t>F</a:t>
            </a:r>
            <a:r>
              <a:rPr lang="en-US" altLang="zh-TW" dirty="0" smtClean="0"/>
              <a:t>ile </a:t>
            </a:r>
            <a:r>
              <a:rPr lang="en-US" altLang="zh-TW" b="1" dirty="0" smtClean="0">
                <a:solidFill>
                  <a:srgbClr val="FF0000"/>
                </a:solidFill>
              </a:rPr>
              <a:t>S</a:t>
            </a:r>
            <a:r>
              <a:rPr lang="en-US" altLang="zh-TW" dirty="0" smtClean="0"/>
              <a:t>ystem</a:t>
            </a:r>
          </a:p>
          <a:p>
            <a:pPr lvl="1"/>
            <a:r>
              <a:rPr lang="en-US" altLang="zh-TW" dirty="0" smtClean="0"/>
              <a:t>OSDI 2004 </a:t>
            </a:r>
          </a:p>
          <a:p>
            <a:pPr lvl="2"/>
            <a:r>
              <a:rPr lang="en-US" altLang="zh-TW" b="1" dirty="0" err="1" smtClean="0">
                <a:solidFill>
                  <a:srgbClr val="FF0000"/>
                </a:solidFill>
              </a:rPr>
              <a:t>MapReduce</a:t>
            </a:r>
            <a:r>
              <a:rPr lang="en-US" altLang="zh-TW" dirty="0" smtClean="0"/>
              <a:t> : Simplified Data Processing on Large Cluster</a:t>
            </a:r>
          </a:p>
          <a:p>
            <a:pPr lvl="1"/>
            <a:r>
              <a:rPr lang="en-US" altLang="zh-TW" dirty="0" smtClean="0"/>
              <a:t>OSDI 2006</a:t>
            </a:r>
          </a:p>
          <a:p>
            <a:pPr lvl="2"/>
            <a:r>
              <a:rPr lang="en-US" altLang="zh-TW" b="1" dirty="0" err="1" smtClean="0">
                <a:solidFill>
                  <a:srgbClr val="FF0000"/>
                </a:solidFill>
              </a:rPr>
              <a:t>Bigtable</a:t>
            </a:r>
            <a:r>
              <a:rPr lang="en-US" altLang="zh-TW" dirty="0" smtClean="0"/>
              <a:t>: A Distributed Storage System for Structured Data</a:t>
            </a:r>
          </a:p>
          <a:p>
            <a:endParaRPr lang="zh-TW" altLang="en-US" dirty="0"/>
          </a:p>
        </p:txBody>
      </p:sp>
      <p:pic>
        <p:nvPicPr>
          <p:cNvPr id="2050" name="Picture 2" descr="Goog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5373216"/>
            <a:ext cx="3467100" cy="12001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 vs. </a:t>
            </a:r>
            <a:r>
              <a:rPr lang="en-US" altLang="zh-TW" dirty="0" err="1" smtClean="0"/>
              <a:t>Hadoop</a:t>
            </a:r>
            <a:endParaRPr lang="zh-TW" altLang="en-US" dirty="0"/>
          </a:p>
        </p:txBody>
      </p:sp>
      <p:graphicFrame>
        <p:nvGraphicFramePr>
          <p:cNvPr id="4" name="Group 411"/>
          <p:cNvGraphicFramePr>
            <a:graphicFrameLocks noGrp="1"/>
          </p:cNvGraphicFramePr>
          <p:nvPr>
            <p:ph idx="1"/>
          </p:nvPr>
        </p:nvGraphicFramePr>
        <p:xfrm>
          <a:off x="539552" y="1556793"/>
          <a:ext cx="8065592" cy="4924087"/>
        </p:xfrm>
        <a:graphic>
          <a:graphicData uri="http://schemas.openxmlformats.org/drawingml/2006/table">
            <a:tbl>
              <a:tblPr/>
              <a:tblGrid>
                <a:gridCol w="3091835"/>
                <a:gridCol w="2657894"/>
                <a:gridCol w="2315863"/>
              </a:tblGrid>
              <a:tr h="50995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Develop Group</a:t>
                      </a:r>
                      <a:endParaRPr kumimoji="1" lang="en-US" altLang="zh-TW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Google </a:t>
                      </a:r>
                      <a:endParaRPr kumimoji="1" lang="en-US" altLang="zh-TW" sz="44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Apache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0995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Sponsor</a:t>
                      </a:r>
                      <a:endParaRPr kumimoji="1" lang="en-US" altLang="zh-TW" sz="4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Google</a:t>
                      </a:r>
                      <a:endParaRPr kumimoji="1" lang="en-US" altLang="zh-TW" sz="44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Yahoo, Amazon</a:t>
                      </a:r>
                      <a:endParaRPr kumimoji="1" lang="en-US" altLang="zh-TW" sz="4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1882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Resource</a:t>
                      </a:r>
                      <a:endParaRPr kumimoji="1" lang="en-US" altLang="zh-TW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open document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open source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1882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File System</a:t>
                      </a:r>
                      <a:endParaRPr kumimoji="1" lang="en-US" altLang="zh-TW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GFS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HDFS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1882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Programming Model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MapReduce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Hadoop</a:t>
                      </a: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MapReduce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90756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Storage System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(for structure data)</a:t>
                      </a:r>
                      <a:endParaRPr kumimoji="1" lang="en-US" altLang="zh-TW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Bigtable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Hbase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6907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Search Engine</a:t>
                      </a:r>
                      <a:endParaRPr kumimoji="1" lang="en-US" altLang="zh-TW" sz="4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Google </a:t>
                      </a:r>
                      <a:endParaRPr kumimoji="1" lang="en-US" altLang="zh-TW" sz="44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Nutch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7967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OS</a:t>
                      </a:r>
                      <a:endParaRPr kumimoji="1" lang="en-US" altLang="zh-TW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Linux</a:t>
                      </a:r>
                      <a:endParaRPr kumimoji="1" lang="en-US" altLang="zh-TW" sz="44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Linux / GPL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Overview </a:t>
            </a:r>
          </a:p>
          <a:p>
            <a:pPr lvl="1">
              <a:buClr>
                <a:schemeClr val="bg1">
                  <a:lumMod val="50000"/>
                </a:schemeClr>
              </a:buClr>
            </a:pP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Hadoop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 &amp; Google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PaaS Techniques</a:t>
            </a:r>
          </a:p>
          <a:p>
            <a:pPr lvl="1"/>
            <a:r>
              <a:rPr lang="en-US" altLang="zh-TW" dirty="0" smtClean="0">
                <a:latin typeface="+mj-lt"/>
              </a:rPr>
              <a:t>File System</a:t>
            </a:r>
          </a:p>
          <a:p>
            <a:pPr lvl="2"/>
            <a:r>
              <a:rPr lang="en-US" altLang="zh-TW" dirty="0" smtClean="0">
                <a:latin typeface="+mj-lt"/>
              </a:rPr>
              <a:t>GFS, HDFS</a:t>
            </a:r>
          </a:p>
          <a:p>
            <a:pPr lvl="1"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Programming Model</a:t>
            </a:r>
          </a:p>
          <a:p>
            <a:pPr lvl="2">
              <a:buClr>
                <a:schemeClr val="bg1">
                  <a:lumMod val="50000"/>
                </a:schemeClr>
              </a:buClr>
            </a:pP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MapReduce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,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Pregel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  <a:latin typeface="+mj-lt"/>
            </a:endParaRPr>
          </a:p>
          <a:p>
            <a:pPr lvl="1"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Storage System for Structured Data</a:t>
            </a:r>
          </a:p>
          <a:p>
            <a:pPr lvl="2">
              <a:buClr>
                <a:schemeClr val="bg1">
                  <a:lumMod val="50000"/>
                </a:schemeClr>
              </a:buClr>
            </a:pP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Bigtable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,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Hbase</a:t>
            </a:r>
            <a:endParaRPr lang="zh-TW" altLang="en-US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File System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File System Overview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Distributed File Systems (DFS)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Google File System (GFS)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Hadoop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Distributed File Systems (HDFS)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File System 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System that permanently stores data</a:t>
            </a:r>
          </a:p>
          <a:p>
            <a:r>
              <a:rPr lang="en-US" altLang="zh-TW" dirty="0" smtClean="0">
                <a:latin typeface="+mj-lt"/>
              </a:rPr>
              <a:t>To store data in units called “files” on disks and other media</a:t>
            </a:r>
          </a:p>
          <a:p>
            <a:r>
              <a:rPr lang="en-US" altLang="zh-TW" dirty="0" smtClean="0">
                <a:latin typeface="+mj-lt"/>
              </a:rPr>
              <a:t>Files are managed by the Operating System</a:t>
            </a:r>
          </a:p>
          <a:p>
            <a:r>
              <a:rPr lang="en-US" altLang="zh-TW" dirty="0" smtClean="0">
                <a:latin typeface="+mj-lt"/>
              </a:rPr>
              <a:t>The part of the Operating System that deal with files is known as the “File System”</a:t>
            </a:r>
          </a:p>
          <a:p>
            <a:pPr lvl="1"/>
            <a:r>
              <a:rPr lang="en-US" altLang="zh-TW" dirty="0" smtClean="0">
                <a:latin typeface="+mj-lt"/>
              </a:rPr>
              <a:t>A file is a collection of disk blocks</a:t>
            </a:r>
          </a:p>
          <a:p>
            <a:pPr lvl="1"/>
            <a:r>
              <a:rPr lang="en-US" altLang="zh-TW" dirty="0" smtClean="0">
                <a:latin typeface="+mj-lt"/>
              </a:rPr>
              <a:t>File System maps file names and offsets to disk blocks</a:t>
            </a:r>
          </a:p>
          <a:p>
            <a:r>
              <a:rPr lang="en-US" altLang="zh-TW" dirty="0" smtClean="0">
                <a:latin typeface="+mj-lt"/>
              </a:rPr>
              <a:t>The set of valid paths form the “namespace” of the file system.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 Gets Stored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User data itself is the bulk of the file system's contents</a:t>
            </a:r>
          </a:p>
          <a:p>
            <a:r>
              <a:rPr lang="en-US" altLang="zh-TW" dirty="0" smtClean="0">
                <a:latin typeface="+mj-lt"/>
              </a:rPr>
              <a:t>Also includes meta-data on a volume-wide and per-file basis:</a:t>
            </a:r>
            <a:endParaRPr lang="zh-TW" altLang="en-US" dirty="0">
              <a:latin typeface="+mj-lt"/>
            </a:endParaRPr>
          </a:p>
        </p:txBody>
      </p:sp>
      <p:grpSp>
        <p:nvGrpSpPr>
          <p:cNvPr id="4" name="群組 9"/>
          <p:cNvGrpSpPr/>
          <p:nvPr/>
        </p:nvGrpSpPr>
        <p:grpSpPr>
          <a:xfrm>
            <a:off x="1403648" y="3789040"/>
            <a:ext cx="3024336" cy="2490630"/>
            <a:chOff x="1907704" y="4005064"/>
            <a:chExt cx="2448272" cy="2016224"/>
          </a:xfrm>
        </p:grpSpPr>
        <p:sp>
          <p:nvSpPr>
            <p:cNvPr id="7" name="矩形 6"/>
            <p:cNvSpPr/>
            <p:nvPr/>
          </p:nvSpPr>
          <p:spPr>
            <a:xfrm>
              <a:off x="2051720" y="4365104"/>
              <a:ext cx="2304256" cy="165618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88000" rtlCol="0" anchor="ctr" anchorCtr="0"/>
            <a:lstStyle/>
            <a:p>
              <a:pPr indent="-180000" defTabSz="900000">
                <a:buFont typeface="Arial" pitchFamily="34" charset="0"/>
                <a:buChar char="•"/>
              </a:pPr>
              <a:r>
                <a:rPr lang="en-US" altLang="zh-TW" sz="2200" dirty="0" smtClean="0"/>
                <a:t>Available space</a:t>
              </a:r>
            </a:p>
            <a:p>
              <a:pPr indent="-180000" defTabSz="900000">
                <a:buFont typeface="Arial" pitchFamily="34" charset="0"/>
                <a:buChar char="•"/>
              </a:pPr>
              <a:r>
                <a:rPr lang="en-US" altLang="zh-TW" sz="2200" dirty="0" smtClean="0"/>
                <a:t>Formatting info.</a:t>
              </a:r>
            </a:p>
            <a:p>
              <a:pPr indent="-180000" defTabSz="900000">
                <a:buFont typeface="Arial" pitchFamily="34" charset="0"/>
                <a:buChar char="•"/>
              </a:pPr>
              <a:r>
                <a:rPr lang="en-US" altLang="zh-TW" sz="2200" dirty="0" smtClean="0"/>
                <a:t>Character set</a:t>
              </a:r>
            </a:p>
            <a:p>
              <a:pPr indent="-180000" defTabSz="900000">
                <a:buFont typeface="Arial" pitchFamily="34" charset="0"/>
                <a:buChar char="•"/>
              </a:pPr>
              <a:r>
                <a:rPr lang="en-US" altLang="zh-TW" sz="2200" dirty="0" smtClean="0"/>
                <a:t>…</a:t>
              </a:r>
              <a:endParaRPr lang="zh-TW" altLang="en-US" sz="2200" dirty="0"/>
            </a:p>
          </p:txBody>
        </p:sp>
        <p:sp>
          <p:nvSpPr>
            <p:cNvPr id="5" name="圓角矩形 4"/>
            <p:cNvSpPr/>
            <p:nvPr/>
          </p:nvSpPr>
          <p:spPr>
            <a:xfrm>
              <a:off x="1907704" y="4005064"/>
              <a:ext cx="2016224" cy="432048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00" dirty="0" smtClean="0"/>
                <a:t>Volume-wide</a:t>
              </a:r>
              <a:endParaRPr lang="zh-TW" altLang="en-US" sz="2200" dirty="0"/>
            </a:p>
          </p:txBody>
        </p:sp>
      </p:grpSp>
      <p:grpSp>
        <p:nvGrpSpPr>
          <p:cNvPr id="9" name="群組 10"/>
          <p:cNvGrpSpPr/>
          <p:nvPr/>
        </p:nvGrpSpPr>
        <p:grpSpPr>
          <a:xfrm>
            <a:off x="4716016" y="3789040"/>
            <a:ext cx="3024336" cy="2490630"/>
            <a:chOff x="4716016" y="4005064"/>
            <a:chExt cx="2448272" cy="2016224"/>
          </a:xfrm>
        </p:grpSpPr>
        <p:sp>
          <p:nvSpPr>
            <p:cNvPr id="8" name="矩形 7"/>
            <p:cNvSpPr/>
            <p:nvPr/>
          </p:nvSpPr>
          <p:spPr>
            <a:xfrm>
              <a:off x="4860032" y="4365104"/>
              <a:ext cx="2304256" cy="165618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88000" rtlCol="0" anchor="ctr"/>
            <a:lstStyle/>
            <a:p>
              <a:pPr indent="-180000">
                <a:buFont typeface="Arial" pitchFamily="34" charset="0"/>
                <a:buChar char="•"/>
              </a:pPr>
              <a:r>
                <a:rPr lang="en-US" altLang="zh-TW" sz="2200" dirty="0" smtClean="0"/>
                <a:t>Name</a:t>
              </a:r>
            </a:p>
            <a:p>
              <a:pPr indent="-180000">
                <a:buFont typeface="Arial" pitchFamily="34" charset="0"/>
                <a:buChar char="•"/>
              </a:pPr>
              <a:r>
                <a:rPr lang="en-US" altLang="zh-TW" sz="2200" dirty="0" smtClean="0"/>
                <a:t>Owner</a:t>
              </a:r>
            </a:p>
            <a:p>
              <a:pPr indent="-180000">
                <a:buFont typeface="Arial" pitchFamily="34" charset="0"/>
                <a:buChar char="•"/>
              </a:pPr>
              <a:r>
                <a:rPr lang="en-US" altLang="zh-TW" sz="2200" dirty="0" smtClean="0"/>
                <a:t>Modification data</a:t>
              </a:r>
            </a:p>
            <a:p>
              <a:pPr indent="-180000">
                <a:buFont typeface="Arial" pitchFamily="34" charset="0"/>
                <a:buChar char="•"/>
              </a:pPr>
              <a:r>
                <a:rPr lang="en-US" altLang="zh-TW" sz="2200" dirty="0" smtClean="0"/>
                <a:t>…</a:t>
              </a:r>
              <a:endParaRPr lang="zh-TW" altLang="en-US" sz="2200" dirty="0"/>
            </a:p>
          </p:txBody>
        </p:sp>
        <p:sp>
          <p:nvSpPr>
            <p:cNvPr id="6" name="圓角矩形 5"/>
            <p:cNvSpPr/>
            <p:nvPr/>
          </p:nvSpPr>
          <p:spPr>
            <a:xfrm>
              <a:off x="4716016" y="4005064"/>
              <a:ext cx="2016224" cy="432048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00" dirty="0" smtClean="0"/>
                <a:t>Per-file</a:t>
              </a:r>
              <a:endParaRPr lang="zh-TW" altLang="en-US" sz="2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Considerations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Namespace</a:t>
            </a:r>
          </a:p>
          <a:p>
            <a:pPr lvl="1"/>
            <a:r>
              <a:rPr lang="en-US" altLang="zh-TW" dirty="0" smtClean="0">
                <a:latin typeface="+mj-lt"/>
              </a:rPr>
              <a:t>Physical mapping</a:t>
            </a:r>
          </a:p>
          <a:p>
            <a:pPr lvl="1"/>
            <a:r>
              <a:rPr lang="en-US" altLang="zh-TW" dirty="0" smtClean="0">
                <a:latin typeface="+mj-lt"/>
              </a:rPr>
              <a:t>Logical volume</a:t>
            </a:r>
          </a:p>
          <a:p>
            <a:r>
              <a:rPr lang="en-US" altLang="zh-TW" dirty="0" smtClean="0">
                <a:latin typeface="+mj-lt"/>
              </a:rPr>
              <a:t>Consistency</a:t>
            </a:r>
          </a:p>
          <a:p>
            <a:pPr lvl="1"/>
            <a:r>
              <a:rPr lang="en-US" altLang="zh-TW" dirty="0" smtClean="0">
                <a:latin typeface="+mj-lt"/>
              </a:rPr>
              <a:t>What to do when more than one user reads/writes on the same file?</a:t>
            </a:r>
          </a:p>
          <a:p>
            <a:r>
              <a:rPr lang="en-US" altLang="zh-TW" dirty="0" smtClean="0">
                <a:latin typeface="+mj-lt"/>
              </a:rPr>
              <a:t>Security</a:t>
            </a:r>
          </a:p>
          <a:p>
            <a:pPr lvl="1"/>
            <a:r>
              <a:rPr lang="en-US" altLang="zh-TW" dirty="0" smtClean="0">
                <a:latin typeface="+mj-lt"/>
              </a:rPr>
              <a:t>Who can do what to a file? </a:t>
            </a:r>
          </a:p>
          <a:p>
            <a:pPr lvl="1"/>
            <a:r>
              <a:rPr lang="en-US" altLang="zh-TW" dirty="0" smtClean="0">
                <a:latin typeface="+mj-lt"/>
              </a:rPr>
              <a:t>Authentication/Access Control List (ACL)</a:t>
            </a:r>
          </a:p>
          <a:p>
            <a:r>
              <a:rPr lang="en-US" altLang="zh-TW" dirty="0" smtClean="0">
                <a:latin typeface="+mj-lt"/>
              </a:rPr>
              <a:t>Reliability</a:t>
            </a:r>
          </a:p>
          <a:p>
            <a:pPr lvl="1"/>
            <a:r>
              <a:rPr lang="en-US" altLang="zh-TW" dirty="0" smtClean="0">
                <a:latin typeface="+mj-lt"/>
              </a:rPr>
              <a:t>Can files not be damaged at power outage or other hardware failures?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Local FS on Unix-like Systems(1/4)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Namespace</a:t>
            </a:r>
          </a:p>
          <a:p>
            <a:pPr lvl="1"/>
            <a:r>
              <a:rPr lang="en-US" altLang="zh-TW" dirty="0" smtClean="0">
                <a:latin typeface="+mj-lt"/>
              </a:rPr>
              <a:t>root directory “/”, followed by directories and files.</a:t>
            </a:r>
          </a:p>
          <a:p>
            <a:r>
              <a:rPr lang="en-US" altLang="zh-TW" dirty="0" smtClean="0">
                <a:latin typeface="+mj-lt"/>
              </a:rPr>
              <a:t>Consistency</a:t>
            </a:r>
          </a:p>
          <a:p>
            <a:pPr lvl="1"/>
            <a:r>
              <a:rPr lang="en-US" altLang="zh-TW" dirty="0" smtClean="0">
                <a:latin typeface="+mj-lt"/>
              </a:rPr>
              <a:t>“sequential consistency”, newly written data are immediately visible to open reads</a:t>
            </a:r>
            <a:endParaRPr lang="en-US" altLang="zh-TW" dirty="0" smtClean="0">
              <a:solidFill>
                <a:srgbClr val="FF0000"/>
              </a:solidFill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Security</a:t>
            </a:r>
          </a:p>
          <a:p>
            <a:pPr lvl="1"/>
            <a:r>
              <a:rPr lang="en-US" altLang="zh-TW" dirty="0" err="1" smtClean="0">
                <a:latin typeface="+mj-lt"/>
              </a:rPr>
              <a:t>uid</a:t>
            </a:r>
            <a:r>
              <a:rPr lang="en-US" altLang="zh-TW" dirty="0" smtClean="0">
                <a:latin typeface="+mj-lt"/>
              </a:rPr>
              <a:t>/</a:t>
            </a:r>
            <a:r>
              <a:rPr lang="en-US" altLang="zh-TW" dirty="0" err="1" smtClean="0">
                <a:latin typeface="+mj-lt"/>
              </a:rPr>
              <a:t>gid</a:t>
            </a:r>
            <a:r>
              <a:rPr lang="en-US" altLang="zh-TW" dirty="0" smtClean="0">
                <a:latin typeface="+mj-lt"/>
              </a:rPr>
              <a:t>, mode of files</a:t>
            </a:r>
          </a:p>
          <a:p>
            <a:pPr lvl="1"/>
            <a:r>
              <a:rPr lang="en-US" altLang="zh-TW" dirty="0" err="1" smtClean="0">
                <a:latin typeface="+mj-lt"/>
              </a:rPr>
              <a:t>kerberos</a:t>
            </a:r>
            <a:r>
              <a:rPr lang="en-US" altLang="zh-TW" dirty="0" smtClean="0">
                <a:latin typeface="+mj-lt"/>
              </a:rPr>
              <a:t>: tickets</a:t>
            </a:r>
          </a:p>
          <a:p>
            <a:r>
              <a:rPr lang="en-US" altLang="zh-TW" dirty="0" smtClean="0">
                <a:latin typeface="+mj-lt"/>
              </a:rPr>
              <a:t>Reliability</a:t>
            </a:r>
          </a:p>
          <a:p>
            <a:pPr lvl="1"/>
            <a:r>
              <a:rPr lang="en-US" altLang="zh-TW" dirty="0" smtClean="0">
                <a:latin typeface="+mj-lt"/>
              </a:rPr>
              <a:t>journaling, snapshot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Local FS on Unix-like Systems(2/4)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Namespace</a:t>
            </a:r>
          </a:p>
          <a:p>
            <a:pPr lvl="1"/>
            <a:r>
              <a:rPr lang="en-US" altLang="zh-TW" dirty="0" smtClean="0">
                <a:latin typeface="+mj-lt"/>
              </a:rPr>
              <a:t>Physical mapping</a:t>
            </a:r>
          </a:p>
          <a:p>
            <a:pPr lvl="2"/>
            <a:r>
              <a:rPr lang="en-US" altLang="zh-TW" dirty="0" smtClean="0">
                <a:latin typeface="+mj-lt"/>
              </a:rPr>
              <a:t>a directory and all of its subdirectories are stored on the same physical media</a:t>
            </a:r>
          </a:p>
          <a:p>
            <a:pPr lvl="3"/>
            <a:r>
              <a:rPr lang="en-US" altLang="zh-TW" dirty="0" smtClean="0">
                <a:latin typeface="+mj-lt"/>
              </a:rPr>
              <a:t>/</a:t>
            </a:r>
            <a:r>
              <a:rPr lang="en-US" altLang="zh-TW" dirty="0" err="1" smtClean="0">
                <a:latin typeface="+mj-lt"/>
              </a:rPr>
              <a:t>mnt</a:t>
            </a:r>
            <a:r>
              <a:rPr lang="en-US" altLang="zh-TW" dirty="0" smtClean="0">
                <a:latin typeface="+mj-lt"/>
              </a:rPr>
              <a:t>/</a:t>
            </a:r>
            <a:r>
              <a:rPr lang="en-US" altLang="zh-TW" dirty="0" err="1" smtClean="0">
                <a:latin typeface="+mj-lt"/>
              </a:rPr>
              <a:t>cdrom</a:t>
            </a:r>
            <a:endParaRPr lang="en-US" altLang="zh-TW" dirty="0" smtClean="0">
              <a:latin typeface="+mj-lt"/>
            </a:endParaRPr>
          </a:p>
          <a:p>
            <a:pPr lvl="3"/>
            <a:r>
              <a:rPr lang="en-US" altLang="zh-TW" dirty="0" smtClean="0">
                <a:latin typeface="+mj-lt"/>
              </a:rPr>
              <a:t>/</a:t>
            </a:r>
            <a:r>
              <a:rPr lang="en-US" altLang="zh-TW" dirty="0" err="1" smtClean="0">
                <a:latin typeface="+mj-lt"/>
              </a:rPr>
              <a:t>mnt</a:t>
            </a:r>
            <a:r>
              <a:rPr lang="en-US" altLang="zh-TW" dirty="0" smtClean="0">
                <a:latin typeface="+mj-lt"/>
              </a:rPr>
              <a:t>/disk1, /</a:t>
            </a:r>
            <a:r>
              <a:rPr lang="en-US" altLang="zh-TW" dirty="0" err="1" smtClean="0">
                <a:latin typeface="+mj-lt"/>
              </a:rPr>
              <a:t>mnt</a:t>
            </a:r>
            <a:r>
              <a:rPr lang="en-US" altLang="zh-TW" dirty="0" smtClean="0">
                <a:latin typeface="+mj-lt"/>
              </a:rPr>
              <a:t>/disk2, … when you have multiple disks</a:t>
            </a:r>
          </a:p>
          <a:p>
            <a:pPr lvl="1"/>
            <a:r>
              <a:rPr lang="en-US" altLang="zh-TW" dirty="0" smtClean="0">
                <a:latin typeface="+mj-lt"/>
              </a:rPr>
              <a:t>Logical volume</a:t>
            </a:r>
          </a:p>
          <a:p>
            <a:pPr lvl="2"/>
            <a:r>
              <a:rPr lang="en-US" altLang="zh-TW" dirty="0" smtClean="0">
                <a:latin typeface="+mj-lt"/>
              </a:rPr>
              <a:t>a logical namespace that can contain multiple physical media or a partition of a physical media</a:t>
            </a:r>
          </a:p>
          <a:p>
            <a:pPr lvl="3"/>
            <a:r>
              <a:rPr lang="en-US" altLang="zh-TW" dirty="0" smtClean="0">
                <a:latin typeface="+mj-lt"/>
              </a:rPr>
              <a:t>still mounted like /</a:t>
            </a:r>
            <a:r>
              <a:rPr lang="en-US" altLang="zh-TW" dirty="0" err="1" smtClean="0">
                <a:latin typeface="+mj-lt"/>
              </a:rPr>
              <a:t>mnt</a:t>
            </a:r>
            <a:r>
              <a:rPr lang="en-US" altLang="zh-TW" dirty="0" smtClean="0">
                <a:latin typeface="+mj-lt"/>
              </a:rPr>
              <a:t>/vol1</a:t>
            </a:r>
          </a:p>
          <a:p>
            <a:pPr lvl="3"/>
            <a:r>
              <a:rPr lang="en-US" altLang="zh-TW" dirty="0" smtClean="0">
                <a:latin typeface="+mj-lt"/>
              </a:rPr>
              <a:t>dynamical resizing by adding/removing disks without reboot</a:t>
            </a:r>
          </a:p>
          <a:p>
            <a:pPr lvl="3"/>
            <a:r>
              <a:rPr lang="en-US" altLang="zh-TW" dirty="0" smtClean="0">
                <a:latin typeface="+mj-lt"/>
              </a:rPr>
              <a:t>splitting/merging volumes as long as no data spans the split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Local FS on Unix-like Systems(3/4)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Journaling</a:t>
            </a:r>
          </a:p>
          <a:p>
            <a:pPr lvl="1"/>
            <a:r>
              <a:rPr lang="en-US" altLang="zh-TW" dirty="0" smtClean="0">
                <a:latin typeface="+mj-lt"/>
              </a:rPr>
              <a:t>Changes to the </a:t>
            </a:r>
            <a:r>
              <a:rPr lang="en-US" altLang="zh-TW" dirty="0" err="1" smtClean="0">
                <a:latin typeface="+mj-lt"/>
              </a:rPr>
              <a:t>filesystem</a:t>
            </a:r>
            <a:r>
              <a:rPr lang="en-US" altLang="zh-TW" dirty="0" smtClean="0">
                <a:latin typeface="+mj-lt"/>
              </a:rPr>
              <a:t> is logged in a </a:t>
            </a:r>
            <a:r>
              <a:rPr lang="en-US" altLang="zh-TW" i="1" dirty="0" smtClean="0">
                <a:latin typeface="+mj-lt"/>
              </a:rPr>
              <a:t>journal </a:t>
            </a:r>
            <a:r>
              <a:rPr lang="en-US" altLang="zh-TW" dirty="0" smtClean="0">
                <a:latin typeface="+mj-lt"/>
              </a:rPr>
              <a:t>before it is committed</a:t>
            </a:r>
          </a:p>
          <a:p>
            <a:pPr lvl="2"/>
            <a:r>
              <a:rPr lang="en-US" altLang="zh-TW" dirty="0" smtClean="0">
                <a:latin typeface="+mj-lt"/>
              </a:rPr>
              <a:t>useful if an atomic action needs two or more writes</a:t>
            </a:r>
          </a:p>
          <a:p>
            <a:pPr lvl="3"/>
            <a:r>
              <a:rPr lang="en-US" altLang="zh-TW" dirty="0" smtClean="0">
                <a:latin typeface="+mj-lt"/>
              </a:rPr>
              <a:t>e.g., appending to a file (update metadata + allocate space + write the data)</a:t>
            </a:r>
          </a:p>
          <a:p>
            <a:pPr lvl="2"/>
            <a:r>
              <a:rPr lang="en-US" altLang="zh-TW" dirty="0" smtClean="0">
                <a:latin typeface="+mj-lt"/>
              </a:rPr>
              <a:t>can play back a journal to recover data quickly in case of hardware failure. </a:t>
            </a:r>
          </a:p>
          <a:p>
            <a:pPr lvl="1"/>
            <a:r>
              <a:rPr lang="en-US" altLang="zh-TW" dirty="0" smtClean="0">
                <a:latin typeface="+mj-lt"/>
              </a:rPr>
              <a:t>What to log?</a:t>
            </a:r>
          </a:p>
          <a:p>
            <a:pPr lvl="2"/>
            <a:r>
              <a:rPr lang="en-US" altLang="zh-TW" dirty="0" smtClean="0">
                <a:latin typeface="+mj-lt"/>
              </a:rPr>
              <a:t>changes to file content: heavy overhead</a:t>
            </a:r>
          </a:p>
          <a:p>
            <a:pPr lvl="2"/>
            <a:r>
              <a:rPr lang="en-US" altLang="zh-TW" dirty="0" smtClean="0">
                <a:latin typeface="+mj-lt"/>
              </a:rPr>
              <a:t>changes to metadata: fast, but data corruption may occur</a:t>
            </a:r>
          </a:p>
          <a:p>
            <a:pPr lvl="1"/>
            <a:r>
              <a:rPr lang="fr-FR" altLang="zh-TW" dirty="0" smtClean="0">
                <a:latin typeface="+mj-lt"/>
              </a:rPr>
              <a:t>Implementations: xfs3, ReiserFS, IBM's JFS, etc.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Local FS on Unix-like Systems(4/4)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Snapshot</a:t>
            </a:r>
          </a:p>
          <a:p>
            <a:pPr lvl="1"/>
            <a:r>
              <a:rPr lang="en-US" altLang="zh-TW" dirty="0" smtClean="0">
                <a:latin typeface="+mj-lt"/>
              </a:rPr>
              <a:t>A snapshot = a copy of a set of files and directories at a point in time</a:t>
            </a:r>
            <a:endParaRPr lang="en-US" altLang="zh-TW" sz="3200" dirty="0" smtClean="0">
              <a:latin typeface="+mj-lt"/>
            </a:endParaRPr>
          </a:p>
          <a:p>
            <a:pPr lvl="2"/>
            <a:r>
              <a:rPr lang="en-US" altLang="zh-TW" dirty="0" smtClean="0">
                <a:latin typeface="+mj-lt"/>
              </a:rPr>
              <a:t>read-only snapshots, read-write snapshots</a:t>
            </a:r>
          </a:p>
          <a:p>
            <a:pPr lvl="2"/>
            <a:r>
              <a:rPr lang="en-US" altLang="zh-TW" dirty="0" smtClean="0">
                <a:latin typeface="+mj-lt"/>
              </a:rPr>
              <a:t>usually done by the </a:t>
            </a:r>
            <a:r>
              <a:rPr lang="en-US" altLang="zh-TW" dirty="0" err="1" smtClean="0">
                <a:latin typeface="+mj-lt"/>
              </a:rPr>
              <a:t>filesystem</a:t>
            </a:r>
            <a:r>
              <a:rPr lang="en-US" altLang="zh-TW" dirty="0" smtClean="0">
                <a:latin typeface="+mj-lt"/>
              </a:rPr>
              <a:t> itself, sometimes by LVMs</a:t>
            </a:r>
          </a:p>
          <a:p>
            <a:pPr lvl="2"/>
            <a:r>
              <a:rPr lang="en-US" altLang="zh-TW" dirty="0" smtClean="0">
                <a:latin typeface="+mj-lt"/>
              </a:rPr>
              <a:t>backing up data can be done on a read-only snapshot without worrying about consistency</a:t>
            </a:r>
          </a:p>
          <a:p>
            <a:pPr lvl="1"/>
            <a:r>
              <a:rPr lang="en-US" altLang="zh-TW" dirty="0" smtClean="0">
                <a:latin typeface="+mj-lt"/>
              </a:rPr>
              <a:t>Copy-on-write is a simple and fast way to create snapshots</a:t>
            </a:r>
          </a:p>
          <a:p>
            <a:pPr lvl="2"/>
            <a:r>
              <a:rPr lang="en-US" altLang="zh-TW" dirty="0" smtClean="0">
                <a:latin typeface="+mj-lt"/>
              </a:rPr>
              <a:t>current data is the snapshot</a:t>
            </a:r>
          </a:p>
          <a:p>
            <a:pPr lvl="2"/>
            <a:r>
              <a:rPr lang="en-US" altLang="zh-TW" dirty="0" smtClean="0">
                <a:latin typeface="+mj-lt"/>
              </a:rPr>
              <a:t>a request to write to a file creates a new copy, and work from there afterwards</a:t>
            </a:r>
          </a:p>
          <a:p>
            <a:pPr lvl="1"/>
            <a:r>
              <a:rPr lang="fr-FR" altLang="zh-TW" dirty="0" smtClean="0">
                <a:latin typeface="+mj-lt"/>
              </a:rPr>
              <a:t>Implementation: UFS, Sun's ZFS, etc.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File System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File System Overview</a:t>
            </a:r>
          </a:p>
          <a:p>
            <a:r>
              <a:rPr lang="en-US" altLang="zh-TW" dirty="0" smtClean="0"/>
              <a:t>Distributed File Systems (DFS)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Google File System (GFS)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Hadoop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Distributed File Systems (HDFS)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Distributed File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Allows access to files from multiple hosts sharing via a computer network</a:t>
            </a:r>
          </a:p>
          <a:p>
            <a:r>
              <a:rPr lang="en-US" altLang="zh-TW" dirty="0" smtClean="0">
                <a:latin typeface="+mj-lt"/>
              </a:rPr>
              <a:t>Must support concurrency</a:t>
            </a:r>
          </a:p>
          <a:p>
            <a:pPr lvl="1"/>
            <a:r>
              <a:rPr lang="en-US" altLang="zh-TW" dirty="0" smtClean="0">
                <a:latin typeface="+mj-lt"/>
              </a:rPr>
              <a:t>Make varying guarantees about locking, who “wins” with concurrent writes, etc...</a:t>
            </a:r>
          </a:p>
          <a:p>
            <a:pPr lvl="1"/>
            <a:r>
              <a:rPr lang="en-US" altLang="zh-TW" dirty="0" smtClean="0">
                <a:latin typeface="+mj-lt"/>
              </a:rPr>
              <a:t>Must gracefully handle dropped connections</a:t>
            </a:r>
          </a:p>
          <a:p>
            <a:r>
              <a:rPr lang="en-US" altLang="zh-TW" dirty="0" smtClean="0">
                <a:latin typeface="+mj-lt"/>
              </a:rPr>
              <a:t>May include facilities for transparent replication and fault tolerance </a:t>
            </a:r>
          </a:p>
          <a:p>
            <a:r>
              <a:rPr lang="en-US" altLang="zh-TW" dirty="0" smtClean="0">
                <a:latin typeface="+mj-lt"/>
              </a:rPr>
              <a:t>Different implementations sit in different places on complexity/feature scale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When is DFS Useful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Multiple users want to share files</a:t>
            </a:r>
          </a:p>
          <a:p>
            <a:r>
              <a:rPr lang="en-US" altLang="zh-TW" dirty="0" smtClean="0">
                <a:latin typeface="+mj-lt"/>
              </a:rPr>
              <a:t>The data may be much larger than the storage space of a computer</a:t>
            </a:r>
          </a:p>
          <a:p>
            <a:r>
              <a:rPr lang="en-US" altLang="zh-TW" dirty="0" smtClean="0">
                <a:latin typeface="+mj-lt"/>
              </a:rPr>
              <a:t>A user want to access his/her data from different machines at different geographic locations</a:t>
            </a:r>
          </a:p>
          <a:p>
            <a:r>
              <a:rPr lang="en-US" altLang="zh-TW" dirty="0" smtClean="0">
                <a:latin typeface="+mj-lt"/>
              </a:rPr>
              <a:t>Users want a storage system</a:t>
            </a:r>
          </a:p>
          <a:p>
            <a:pPr lvl="1"/>
            <a:r>
              <a:rPr lang="en-US" altLang="zh-TW" dirty="0" smtClean="0">
                <a:latin typeface="+mj-lt"/>
              </a:rPr>
              <a:t>Backup</a:t>
            </a:r>
          </a:p>
          <a:p>
            <a:pPr lvl="1"/>
            <a:r>
              <a:rPr lang="en-US" altLang="zh-TW" dirty="0" smtClean="0">
                <a:latin typeface="+mj-lt"/>
              </a:rPr>
              <a:t>Management</a:t>
            </a:r>
            <a:endParaRPr lang="zh-TW" altLang="en-US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491880" y="6165304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Note that a “user” of a DFS may actually be a “program”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Design Considerations of DFS(1/2)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Different systems have different designs and behaviors on the following features</a:t>
            </a:r>
          </a:p>
          <a:p>
            <a:pPr lvl="1"/>
            <a:r>
              <a:rPr lang="en-US" altLang="zh-TW" dirty="0" smtClean="0">
                <a:latin typeface="+mj-lt"/>
              </a:rPr>
              <a:t>Interface</a:t>
            </a:r>
          </a:p>
          <a:p>
            <a:pPr lvl="2"/>
            <a:r>
              <a:rPr lang="en-US" altLang="zh-TW" dirty="0" smtClean="0">
                <a:latin typeface="+mj-lt"/>
              </a:rPr>
              <a:t>file system, block I/O, custom made</a:t>
            </a:r>
          </a:p>
          <a:p>
            <a:pPr lvl="1"/>
            <a:r>
              <a:rPr lang="en-US" altLang="zh-TW" dirty="0" smtClean="0">
                <a:latin typeface="+mj-lt"/>
              </a:rPr>
              <a:t>Security</a:t>
            </a:r>
          </a:p>
          <a:p>
            <a:pPr lvl="2"/>
            <a:r>
              <a:rPr lang="en-US" altLang="zh-TW" dirty="0" smtClean="0">
                <a:latin typeface="+mj-lt"/>
              </a:rPr>
              <a:t>various authentication/authorization schemes</a:t>
            </a:r>
          </a:p>
          <a:p>
            <a:pPr lvl="1"/>
            <a:r>
              <a:rPr lang="en-US" altLang="zh-TW" dirty="0" smtClean="0">
                <a:latin typeface="+mj-lt"/>
              </a:rPr>
              <a:t>Reliability (fault-tolerance)</a:t>
            </a:r>
          </a:p>
          <a:p>
            <a:pPr lvl="2"/>
            <a:r>
              <a:rPr lang="en-US" altLang="zh-TW" dirty="0" smtClean="0">
                <a:latin typeface="+mj-lt"/>
              </a:rPr>
              <a:t>continue to function when some hardware fail (disks, nodes, power, etc.)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Design Considerations of DFS(2/2)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pPr lvl="1"/>
            <a:r>
              <a:rPr lang="en-US" altLang="zh-TW" dirty="0" smtClean="0">
                <a:latin typeface="+mj-lt"/>
              </a:rPr>
              <a:t>Namespace (virtualization)</a:t>
            </a:r>
          </a:p>
          <a:p>
            <a:pPr lvl="2"/>
            <a:r>
              <a:rPr lang="en-US" altLang="zh-TW" dirty="0" smtClean="0">
                <a:latin typeface="+mj-lt"/>
              </a:rPr>
              <a:t>provide logical namespace that can span across physical boundaries</a:t>
            </a:r>
          </a:p>
          <a:p>
            <a:pPr lvl="1"/>
            <a:r>
              <a:rPr lang="en-US" altLang="zh-TW" dirty="0" smtClean="0">
                <a:latin typeface="+mj-lt"/>
              </a:rPr>
              <a:t>Consistency</a:t>
            </a:r>
          </a:p>
          <a:p>
            <a:pPr lvl="2"/>
            <a:r>
              <a:rPr lang="en-US" altLang="zh-TW" dirty="0" smtClean="0">
                <a:latin typeface="+mj-lt"/>
              </a:rPr>
              <a:t>all clients get the same data all the time</a:t>
            </a:r>
          </a:p>
          <a:p>
            <a:pPr lvl="2"/>
            <a:r>
              <a:rPr lang="en-US" altLang="zh-TW" dirty="0" smtClean="0">
                <a:latin typeface="+mj-lt"/>
              </a:rPr>
              <a:t>related to locking, caching, and synchronization</a:t>
            </a:r>
          </a:p>
          <a:p>
            <a:pPr lvl="1"/>
            <a:r>
              <a:rPr lang="en-US" altLang="zh-TW" dirty="0" smtClean="0">
                <a:latin typeface="+mj-lt"/>
              </a:rPr>
              <a:t>Parallel</a:t>
            </a:r>
          </a:p>
          <a:p>
            <a:pPr lvl="2"/>
            <a:r>
              <a:rPr lang="en-US" altLang="zh-TW" dirty="0" smtClean="0">
                <a:latin typeface="+mj-lt"/>
              </a:rPr>
              <a:t>multiple clients can have access to multiple disks at the same time</a:t>
            </a:r>
          </a:p>
          <a:p>
            <a:pPr lvl="1"/>
            <a:r>
              <a:rPr lang="en-US" altLang="zh-TW" dirty="0" smtClean="0">
                <a:latin typeface="+mj-lt"/>
              </a:rPr>
              <a:t>Scope</a:t>
            </a:r>
          </a:p>
          <a:p>
            <a:pPr lvl="2"/>
            <a:r>
              <a:rPr lang="en-US" altLang="zh-TW" dirty="0" smtClean="0">
                <a:latin typeface="+mj-lt"/>
              </a:rPr>
              <a:t>local area network vs. wide area network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File System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File System Overview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Distributed File Systems (DFS)</a:t>
            </a:r>
          </a:p>
          <a:p>
            <a:r>
              <a:rPr lang="en-US" altLang="zh-TW" dirty="0" smtClean="0"/>
              <a:t>Google File System (GFS)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Hadoop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Distributed File Systems (HDFS)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 idx="4294967295"/>
          </p:nvPr>
        </p:nvSpPr>
        <p:spPr>
          <a:xfrm>
            <a:off x="1371600" y="4406900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Google File System</a:t>
            </a:r>
            <a:r>
              <a:rPr lang="zh-TW" altLang="en-US" dirty="0" smtClean="0"/>
              <a:t/>
            </a:r>
            <a:br>
              <a:rPr lang="zh-TW" altLang="en-US" dirty="0" smtClean="0"/>
            </a:b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4294967295"/>
          </p:nvPr>
        </p:nvSpPr>
        <p:spPr>
          <a:xfrm>
            <a:off x="1371600" y="2906713"/>
            <a:ext cx="7772400" cy="150018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How to process large data sets and easily </a:t>
            </a:r>
            <a:br>
              <a:rPr lang="en-US" altLang="zh-TW" dirty="0" smtClean="0"/>
            </a:br>
            <a:r>
              <a:rPr lang="en-US" altLang="zh-TW" dirty="0" smtClean="0"/>
              <a:t>utilize the resources of a large distributed system …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 File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Motivations</a:t>
            </a:r>
          </a:p>
          <a:p>
            <a:r>
              <a:rPr lang="en-US" altLang="zh-TW" dirty="0" smtClean="0">
                <a:latin typeface="+mj-lt"/>
              </a:rPr>
              <a:t>Design Overview</a:t>
            </a:r>
          </a:p>
          <a:p>
            <a:r>
              <a:rPr lang="en-US" altLang="zh-TW" dirty="0" smtClean="0">
                <a:latin typeface="+mj-lt"/>
              </a:rPr>
              <a:t>System Interactions</a:t>
            </a:r>
          </a:p>
          <a:p>
            <a:r>
              <a:rPr lang="en-US" altLang="zh-TW" dirty="0" smtClean="0">
                <a:latin typeface="+mj-lt"/>
              </a:rPr>
              <a:t>Master Operations</a:t>
            </a:r>
          </a:p>
          <a:p>
            <a:r>
              <a:rPr lang="en-US" altLang="zh-TW" dirty="0" smtClean="0">
                <a:latin typeface="+mj-lt"/>
              </a:rPr>
              <a:t>Fault Tolerance</a:t>
            </a: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Motivations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6510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Calibri" pitchFamily="34" charset="0"/>
                <a:cs typeface="Calibri" pitchFamily="34" charset="0"/>
              </a:rPr>
              <a:t>Fault-tolerance and auto-recovery need to be built into the system.</a:t>
            </a:r>
          </a:p>
          <a:p>
            <a:endParaRPr lang="en-US" altLang="zh-TW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  <a:cs typeface="Calibri" pitchFamily="34" charset="0"/>
              </a:rPr>
              <a:t>Standard I/O assumptions (e.g. block size) have to be re-examined.</a:t>
            </a:r>
          </a:p>
          <a:p>
            <a:endParaRPr lang="en-US" altLang="zh-TW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  <a:cs typeface="Calibri" pitchFamily="34" charset="0"/>
              </a:rPr>
              <a:t>Record appends are the prevalent form of writing.</a:t>
            </a:r>
          </a:p>
          <a:p>
            <a:endParaRPr lang="en-US" altLang="zh-TW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  <a:cs typeface="Calibri" pitchFamily="34" charset="0"/>
              </a:rPr>
              <a:t>Google applications and GFS should be co-designed.</a:t>
            </a:r>
            <a:endParaRPr lang="zh-TW" alt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Overview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cs typeface="Calibri" pitchFamily="34" charset="0"/>
              </a:rPr>
              <a:t>Assumptions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Architecture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Metadata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Consistency Model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Assumptions(1/2)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040560"/>
          </a:xfrm>
        </p:spPr>
        <p:txBody>
          <a:bodyPr/>
          <a:lstStyle/>
          <a:p>
            <a:r>
              <a:rPr lang="en-US" altLang="zh-TW" dirty="0" smtClean="0">
                <a:latin typeface="+mj-lt"/>
              </a:rPr>
              <a:t>High component failure rates</a:t>
            </a:r>
          </a:p>
          <a:p>
            <a:pPr lvl="1"/>
            <a:r>
              <a:rPr lang="en-US" altLang="zh-TW" dirty="0" smtClean="0">
                <a:latin typeface="+mj-lt"/>
              </a:rPr>
              <a:t>Inexpensive commodity components fail all the time</a:t>
            </a:r>
          </a:p>
          <a:p>
            <a:pPr lvl="1"/>
            <a:r>
              <a:rPr lang="en-US" altLang="zh-TW" dirty="0" smtClean="0">
                <a:latin typeface="+mj-lt"/>
              </a:rPr>
              <a:t>Must monitor itself and detect, tolerate, and recover from failures on a routine basis</a:t>
            </a:r>
          </a:p>
          <a:p>
            <a:r>
              <a:rPr lang="en-US" altLang="zh-TW" dirty="0" smtClean="0">
                <a:latin typeface="+mj-lt"/>
              </a:rPr>
              <a:t>Modest number of large files</a:t>
            </a:r>
          </a:p>
          <a:p>
            <a:pPr lvl="1"/>
            <a:r>
              <a:rPr lang="en-US" altLang="zh-TW" dirty="0" smtClean="0">
                <a:latin typeface="+mj-lt"/>
              </a:rPr>
              <a:t>Expect a few million files, each 100 MB or larger</a:t>
            </a:r>
          </a:p>
          <a:p>
            <a:pPr lvl="1"/>
            <a:r>
              <a:rPr lang="en-US" altLang="zh-TW" dirty="0" smtClean="0">
                <a:latin typeface="+mj-lt"/>
              </a:rPr>
              <a:t>Multi-GB files are the common case and should be managed efficiently</a:t>
            </a:r>
          </a:p>
          <a:p>
            <a:r>
              <a:rPr lang="en-US" altLang="zh-TW" dirty="0" smtClean="0">
                <a:latin typeface="+mj-lt"/>
              </a:rPr>
              <a:t>The workloads primarily consist of two kinds of reads</a:t>
            </a:r>
          </a:p>
          <a:p>
            <a:pPr lvl="1"/>
            <a:r>
              <a:rPr lang="en-US" altLang="zh-TW" dirty="0" smtClean="0">
                <a:latin typeface="+mj-lt"/>
              </a:rPr>
              <a:t>large streaming reads</a:t>
            </a:r>
          </a:p>
          <a:p>
            <a:pPr lvl="1"/>
            <a:r>
              <a:rPr lang="en-US" altLang="zh-TW" dirty="0" smtClean="0">
                <a:latin typeface="+mj-lt"/>
              </a:rPr>
              <a:t>small random reads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Assumptions(2/2)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752528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The workloads also have many large, sequential writes that append data to files</a:t>
            </a:r>
          </a:p>
          <a:p>
            <a:pPr lvl="1"/>
            <a:r>
              <a:rPr lang="en-US" altLang="zh-TW" dirty="0" smtClean="0">
                <a:latin typeface="+mj-lt"/>
              </a:rPr>
              <a:t>Typical operation sizes are similar to those for reads</a:t>
            </a:r>
          </a:p>
          <a:p>
            <a:r>
              <a:rPr lang="en-US" altLang="zh-TW" dirty="0" smtClean="0">
                <a:latin typeface="+mj-lt"/>
              </a:rPr>
              <a:t>Well-defined semantics for multiple clients that concurrently append to the same file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High sustained bandwidth is more important than low latency</a:t>
            </a:r>
          </a:p>
          <a:p>
            <a:pPr lvl="1"/>
            <a:r>
              <a:rPr lang="en-US" altLang="zh-TW" dirty="0" smtClean="0">
                <a:latin typeface="+mj-lt"/>
              </a:rPr>
              <a:t>Place a premium on processing data in bulk at a high rate, while have stringent response time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Decisions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Reliability through replication</a:t>
            </a:r>
          </a:p>
          <a:p>
            <a:pPr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Single master to coordinate access, keep metadata</a:t>
            </a:r>
          </a:p>
          <a:p>
            <a:pPr lvl="1"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Simple centralized management</a:t>
            </a:r>
          </a:p>
          <a:p>
            <a:pPr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No data caching</a:t>
            </a:r>
          </a:p>
          <a:p>
            <a:pPr lvl="1"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Little benefit on client: large data sets / streaming reads</a:t>
            </a:r>
          </a:p>
          <a:p>
            <a:pPr lvl="1"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No need on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: rely on existing file buffers</a:t>
            </a:r>
          </a:p>
          <a:p>
            <a:pPr lvl="1"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Simplifies the system by eliminating cache coherence issues</a:t>
            </a:r>
          </a:p>
          <a:p>
            <a:pPr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Familiar interface, but customize the API</a:t>
            </a:r>
          </a:p>
          <a:p>
            <a:pPr lvl="1"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No POSIX: simplify the problem; focus on Google apps</a:t>
            </a:r>
          </a:p>
          <a:p>
            <a:pPr lvl="1">
              <a:spcBef>
                <a:spcPts val="300"/>
              </a:spcBef>
            </a:pPr>
            <a:r>
              <a:rPr lang="en-US" altLang="zh-TW" dirty="0" smtClean="0">
                <a:latin typeface="+mj-lt"/>
              </a:rPr>
              <a:t>Add </a:t>
            </a:r>
            <a:r>
              <a:rPr lang="en-US" altLang="zh-TW" i="1" dirty="0" smtClean="0">
                <a:latin typeface="+mn-ea"/>
              </a:rPr>
              <a:t>snapshot</a:t>
            </a:r>
            <a:r>
              <a:rPr lang="en-US" altLang="zh-TW" i="1" dirty="0" smtClean="0">
                <a:latin typeface="+mj-lt"/>
              </a:rPr>
              <a:t> </a:t>
            </a:r>
            <a:r>
              <a:rPr lang="en-US" altLang="zh-TW" dirty="0" smtClean="0">
                <a:latin typeface="+mj-lt"/>
              </a:rPr>
              <a:t>and</a:t>
            </a:r>
            <a:r>
              <a:rPr lang="en-US" altLang="zh-TW" i="1" dirty="0" smtClean="0">
                <a:latin typeface="+mj-lt"/>
              </a:rPr>
              <a:t> </a:t>
            </a:r>
            <a:r>
              <a:rPr lang="en-US" altLang="zh-TW" i="1" dirty="0" smtClean="0">
                <a:latin typeface="+mn-ea"/>
              </a:rPr>
              <a:t>record</a:t>
            </a:r>
            <a:r>
              <a:rPr lang="en-US" altLang="zh-TW" i="1" dirty="0" smtClean="0">
                <a:latin typeface="+mj-lt"/>
              </a:rPr>
              <a:t> </a:t>
            </a:r>
            <a:r>
              <a:rPr lang="en-US" altLang="zh-TW" i="1" dirty="0" smtClean="0">
                <a:latin typeface="+mn-ea"/>
              </a:rPr>
              <a:t>append</a:t>
            </a:r>
            <a:r>
              <a:rPr lang="en-US" altLang="zh-TW" i="1" dirty="0" smtClean="0">
                <a:latin typeface="+mj-lt"/>
              </a:rPr>
              <a:t> </a:t>
            </a:r>
            <a:r>
              <a:rPr lang="en-US" altLang="zh-TW" dirty="0" smtClean="0">
                <a:latin typeface="+mj-lt"/>
              </a:rPr>
              <a:t>operations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Overview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Assumptions</a:t>
            </a:r>
          </a:p>
          <a:p>
            <a:r>
              <a:rPr lang="en-US" altLang="zh-TW" dirty="0" smtClean="0">
                <a:cs typeface="Calibri" pitchFamily="34" charset="0"/>
              </a:rPr>
              <a:t>Architecture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Metadata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Consistency Model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Architecture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5196645"/>
            <a:ext cx="1933128" cy="119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2132856"/>
            <a:ext cx="16954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03848" y="1772816"/>
            <a:ext cx="4295646" cy="2040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矩形 12"/>
          <p:cNvSpPr/>
          <p:nvPr/>
        </p:nvSpPr>
        <p:spPr>
          <a:xfrm>
            <a:off x="7524328" y="2060848"/>
            <a:ext cx="16196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Identified by</a:t>
            </a:r>
          </a:p>
          <a:p>
            <a:r>
              <a:rPr lang="en-US" altLang="zh-TW" dirty="0" smtClean="0"/>
              <a:t>an immutable</a:t>
            </a:r>
          </a:p>
          <a:p>
            <a:r>
              <a:rPr lang="en-US" altLang="zh-TW" dirty="0" smtClean="0"/>
              <a:t>and globally</a:t>
            </a:r>
          </a:p>
          <a:p>
            <a:r>
              <a:rPr lang="en-US" altLang="zh-TW" dirty="0" smtClean="0"/>
              <a:t>unique 64 bit</a:t>
            </a:r>
          </a:p>
          <a:p>
            <a:r>
              <a:rPr lang="en-US" altLang="zh-TW" b="1" i="1" dirty="0" smtClean="0"/>
              <a:t>chunk handle</a:t>
            </a:r>
            <a:endParaRPr lang="zh-TW" altLang="en-US" b="1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5196645"/>
            <a:ext cx="1933128" cy="119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0192" y="5196645"/>
            <a:ext cx="1933128" cy="119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0" name="直線單箭頭接點 19"/>
          <p:cNvCxnSpPr/>
          <p:nvPr/>
        </p:nvCxnSpPr>
        <p:spPr>
          <a:xfrm rot="10800000">
            <a:off x="7020272" y="2708920"/>
            <a:ext cx="57606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橢圓 10"/>
          <p:cNvSpPr/>
          <p:nvPr/>
        </p:nvSpPr>
        <p:spPr>
          <a:xfrm>
            <a:off x="593870" y="2780927"/>
            <a:ext cx="1656184" cy="38719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185742" y="1862930"/>
            <a:ext cx="1656184" cy="43204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1313534" y="5196658"/>
            <a:ext cx="1728192" cy="35311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Roles in GFS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Roles: master,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, client</a:t>
            </a:r>
          </a:p>
          <a:p>
            <a:pPr lvl="1"/>
            <a:r>
              <a:rPr lang="en-US" altLang="zh-TW" dirty="0" smtClean="0">
                <a:latin typeface="+mj-lt"/>
              </a:rPr>
              <a:t>Commodity Linux box, user level server processes</a:t>
            </a:r>
          </a:p>
          <a:p>
            <a:pPr lvl="1"/>
            <a:r>
              <a:rPr lang="en-US" altLang="zh-TW" dirty="0" smtClean="0">
                <a:latin typeface="+mj-lt"/>
              </a:rPr>
              <a:t>Client and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can run on the same box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Master holds metadata</a:t>
            </a:r>
          </a:p>
          <a:p>
            <a:r>
              <a:rPr lang="en-US" altLang="zh-TW" dirty="0" err="1" smtClean="0">
                <a:latin typeface="+mj-lt"/>
              </a:rPr>
              <a:t>Chunkservers</a:t>
            </a:r>
            <a:r>
              <a:rPr lang="en-US" altLang="zh-TW" dirty="0" smtClean="0">
                <a:latin typeface="+mj-lt"/>
              </a:rPr>
              <a:t> hold data</a:t>
            </a:r>
          </a:p>
          <a:p>
            <a:r>
              <a:rPr lang="en-US" altLang="zh-TW" dirty="0" smtClean="0">
                <a:latin typeface="+mj-lt"/>
              </a:rPr>
              <a:t>Client produces/consumes data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Single Master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>
                <a:latin typeface="+mj-lt"/>
              </a:rPr>
              <a:t>The master have global knowledge of chunks</a:t>
            </a:r>
          </a:p>
          <a:p>
            <a:pPr lvl="1"/>
            <a:r>
              <a:rPr lang="en-US" altLang="zh-TW" dirty="0" smtClean="0">
                <a:latin typeface="+mj-lt"/>
              </a:rPr>
              <a:t>Easy to make decisions on placement and replication</a:t>
            </a:r>
          </a:p>
          <a:p>
            <a:r>
              <a:rPr lang="en-US" altLang="zh-TW" dirty="0" smtClean="0">
                <a:latin typeface="+mj-lt"/>
              </a:rPr>
              <a:t>From distributed systems we know this is a:</a:t>
            </a:r>
          </a:p>
          <a:p>
            <a:pPr lvl="1"/>
            <a:r>
              <a:rPr lang="en-US" altLang="zh-TW" dirty="0" smtClean="0">
                <a:latin typeface="+mj-lt"/>
              </a:rPr>
              <a:t>Single point of failure</a:t>
            </a:r>
          </a:p>
          <a:p>
            <a:pPr lvl="1"/>
            <a:r>
              <a:rPr lang="en-US" altLang="zh-TW" dirty="0" smtClean="0">
                <a:latin typeface="+mj-lt"/>
              </a:rPr>
              <a:t>Scalability bottleneck</a:t>
            </a:r>
          </a:p>
          <a:p>
            <a:r>
              <a:rPr lang="en-US" altLang="zh-TW" dirty="0" smtClean="0">
                <a:latin typeface="+mj-lt"/>
              </a:rPr>
              <a:t>GFS solutions:</a:t>
            </a:r>
          </a:p>
          <a:p>
            <a:pPr lvl="1"/>
            <a:r>
              <a:rPr lang="en-US" altLang="zh-TW" dirty="0" smtClean="0">
                <a:latin typeface="+mj-lt"/>
              </a:rPr>
              <a:t>Shadow masters</a:t>
            </a:r>
          </a:p>
          <a:p>
            <a:pPr lvl="1"/>
            <a:r>
              <a:rPr lang="en-US" altLang="zh-TW" dirty="0" smtClean="0">
                <a:latin typeface="+mj-lt"/>
              </a:rPr>
              <a:t>Minimize master involvement</a:t>
            </a:r>
          </a:p>
          <a:p>
            <a:pPr lvl="2"/>
            <a:r>
              <a:rPr lang="en-US" altLang="zh-TW" dirty="0" smtClean="0">
                <a:latin typeface="+mj-lt"/>
              </a:rPr>
              <a:t>never move data through it, use only for metadata</a:t>
            </a:r>
          </a:p>
          <a:p>
            <a:pPr lvl="2"/>
            <a:r>
              <a:rPr lang="en-US" altLang="zh-TW" dirty="0" smtClean="0">
                <a:latin typeface="+mj-lt"/>
              </a:rPr>
              <a:t>cache metadata at clients</a:t>
            </a:r>
          </a:p>
          <a:p>
            <a:pPr lvl="2"/>
            <a:r>
              <a:rPr lang="en-US" altLang="zh-TW" dirty="0" smtClean="0">
                <a:latin typeface="+mj-lt"/>
              </a:rPr>
              <a:t>large chunk size</a:t>
            </a:r>
          </a:p>
          <a:p>
            <a:pPr lvl="2"/>
            <a:r>
              <a:rPr lang="en-US" altLang="zh-TW" dirty="0" smtClean="0">
                <a:latin typeface="+mj-lt"/>
              </a:rPr>
              <a:t>master delegates authority to primary replicas in data mutations(chunk leases)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Chunkserver</a:t>
            </a:r>
            <a:r>
              <a:rPr lang="en-US" altLang="zh-TW" dirty="0" smtClean="0"/>
              <a:t> - Data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Data organized in files and directories</a:t>
            </a:r>
          </a:p>
          <a:p>
            <a:pPr lvl="1"/>
            <a:r>
              <a:rPr lang="en-US" altLang="zh-TW" dirty="0" smtClean="0">
                <a:latin typeface="+mj-lt"/>
              </a:rPr>
              <a:t>Manipulation through file handles</a:t>
            </a:r>
          </a:p>
          <a:p>
            <a:r>
              <a:rPr lang="en-US" altLang="zh-TW" dirty="0" smtClean="0">
                <a:latin typeface="+mj-lt"/>
              </a:rPr>
              <a:t>Files stored in </a:t>
            </a:r>
            <a:r>
              <a:rPr lang="en-US" altLang="zh-TW" i="1" dirty="0" smtClean="0">
                <a:latin typeface="+mj-lt"/>
              </a:rPr>
              <a:t>chunks</a:t>
            </a:r>
            <a:r>
              <a:rPr lang="en-US" altLang="zh-TW" dirty="0" smtClean="0">
                <a:latin typeface="+mj-lt"/>
              </a:rPr>
              <a:t> (c.f. “</a:t>
            </a:r>
            <a:r>
              <a:rPr lang="en-US" altLang="zh-TW" i="1" dirty="0" smtClean="0">
                <a:latin typeface="+mj-lt"/>
              </a:rPr>
              <a:t>blocks</a:t>
            </a:r>
            <a:r>
              <a:rPr lang="en-US" altLang="zh-TW" dirty="0" smtClean="0">
                <a:latin typeface="+mj-lt"/>
              </a:rPr>
              <a:t>” in disk file systems)</a:t>
            </a:r>
          </a:p>
          <a:p>
            <a:pPr lvl="1"/>
            <a:r>
              <a:rPr lang="en-US" altLang="zh-TW" dirty="0" smtClean="0">
                <a:latin typeface="+mj-lt"/>
              </a:rPr>
              <a:t>A chunk is a Linux file on local disk of a </a:t>
            </a:r>
            <a:r>
              <a:rPr lang="en-US" altLang="zh-TW" dirty="0" err="1" smtClean="0">
                <a:latin typeface="+mj-lt"/>
              </a:rPr>
              <a:t>chunkserver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Unique 64 bit chunk handles, assigned by master at creation time</a:t>
            </a:r>
          </a:p>
          <a:p>
            <a:pPr lvl="1"/>
            <a:r>
              <a:rPr lang="en-US" altLang="zh-TW" dirty="0" smtClean="0">
                <a:latin typeface="+mj-lt"/>
              </a:rPr>
              <a:t>Fixed chunk size of 64MB</a:t>
            </a:r>
          </a:p>
          <a:p>
            <a:pPr lvl="1"/>
            <a:r>
              <a:rPr lang="en-US" altLang="zh-TW" dirty="0" smtClean="0">
                <a:latin typeface="+mj-lt"/>
              </a:rPr>
              <a:t>Read/write by (chunk handle, byte range)</a:t>
            </a:r>
          </a:p>
          <a:p>
            <a:pPr lvl="1"/>
            <a:r>
              <a:rPr lang="en-US" altLang="zh-TW" dirty="0" smtClean="0">
                <a:latin typeface="+mj-lt"/>
              </a:rPr>
              <a:t>Each chunk is replicated across 3+ </a:t>
            </a:r>
            <a:r>
              <a:rPr lang="en-US" altLang="zh-TW" dirty="0" err="1" smtClean="0">
                <a:latin typeface="+mj-lt"/>
              </a:rPr>
              <a:t>chunkservers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Chunk Size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2473"/>
            <a:ext cx="8229600" cy="5184576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Each chunk size is 64 MB</a:t>
            </a:r>
          </a:p>
          <a:p>
            <a:r>
              <a:rPr lang="en-US" altLang="zh-TW" dirty="0" smtClean="0">
                <a:latin typeface="+mj-lt"/>
              </a:rPr>
              <a:t>A large chunk size offers important advantages when stream reading/writing</a:t>
            </a:r>
          </a:p>
          <a:p>
            <a:pPr lvl="1"/>
            <a:r>
              <a:rPr lang="en-US" altLang="zh-TW" dirty="0" smtClean="0">
                <a:latin typeface="+mj-lt"/>
              </a:rPr>
              <a:t>Less communication between client and master</a:t>
            </a:r>
          </a:p>
          <a:p>
            <a:pPr lvl="1"/>
            <a:r>
              <a:rPr lang="en-US" altLang="zh-TW" dirty="0" smtClean="0">
                <a:latin typeface="+mj-lt"/>
              </a:rPr>
              <a:t>Less memory space needed for metadata in master</a:t>
            </a:r>
          </a:p>
          <a:p>
            <a:pPr lvl="1"/>
            <a:r>
              <a:rPr lang="en-US" altLang="zh-TW" dirty="0" smtClean="0">
                <a:latin typeface="+mj-lt"/>
              </a:rPr>
              <a:t>Less network overhead between client and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(one TCP connection for larger amount of data)</a:t>
            </a:r>
          </a:p>
          <a:p>
            <a:r>
              <a:rPr lang="en-US" altLang="zh-TW" dirty="0" smtClean="0">
                <a:latin typeface="+mj-lt"/>
              </a:rPr>
              <a:t>On the other hand, a large chunk size has its disadvantages</a:t>
            </a:r>
          </a:p>
          <a:p>
            <a:pPr lvl="1"/>
            <a:r>
              <a:rPr lang="en-US" altLang="zh-TW" dirty="0" smtClean="0">
                <a:latin typeface="+mj-lt"/>
              </a:rPr>
              <a:t>Hot spots</a:t>
            </a:r>
          </a:p>
          <a:p>
            <a:pPr lvl="1"/>
            <a:r>
              <a:rPr lang="en-US" altLang="zh-TW" dirty="0" smtClean="0">
                <a:latin typeface="+mj-lt"/>
              </a:rPr>
              <a:t>Fragmentation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Overview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Assumptions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Architecture</a:t>
            </a:r>
          </a:p>
          <a:p>
            <a:r>
              <a:rPr lang="en-US" altLang="zh-TW" dirty="0" smtClean="0">
                <a:cs typeface="Calibri" pitchFamily="34" charset="0"/>
              </a:rPr>
              <a:t>Metadata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Consistency Model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Metadata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5196645"/>
            <a:ext cx="1933128" cy="119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2204864"/>
            <a:ext cx="16954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5196645"/>
            <a:ext cx="1933128" cy="119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0192" y="5196645"/>
            <a:ext cx="1933128" cy="119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 11"/>
          <p:cNvSpPr/>
          <p:nvPr/>
        </p:nvSpPr>
        <p:spPr>
          <a:xfrm>
            <a:off x="3707904" y="1844824"/>
            <a:ext cx="4320480" cy="201622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36000" indent="3600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TW" sz="2400" b="1" dirty="0" smtClean="0">
                <a:solidFill>
                  <a:schemeClr val="tx1"/>
                </a:solidFill>
                <a:latin typeface="Cambria" pitchFamily="18" charset="0"/>
                <a:ea typeface="Cambria Math" pitchFamily="18" charset="0"/>
              </a:rPr>
              <a:t>GFS master</a:t>
            </a:r>
          </a:p>
          <a:p>
            <a:r>
              <a:rPr lang="en-US" altLang="zh-TW" sz="2200" dirty="0" smtClean="0">
                <a:solidFill>
                  <a:schemeClr val="accent3">
                    <a:lumMod val="75000"/>
                  </a:schemeClr>
                </a:solidFill>
              </a:rPr>
              <a:t>• Namespace(file, chunk)</a:t>
            </a:r>
          </a:p>
          <a:p>
            <a:r>
              <a:rPr lang="en-US" altLang="zh-TW" sz="2200" dirty="0" smtClean="0">
                <a:solidFill>
                  <a:schemeClr val="accent3">
                    <a:lumMod val="75000"/>
                  </a:schemeClr>
                </a:solidFill>
              </a:rPr>
              <a:t>• Mapping from files to chunks</a:t>
            </a:r>
          </a:p>
          <a:p>
            <a:r>
              <a:rPr lang="en-US" altLang="zh-TW" sz="2200" dirty="0" smtClean="0">
                <a:solidFill>
                  <a:schemeClr val="accent3">
                    <a:lumMod val="75000"/>
                  </a:schemeClr>
                </a:solidFill>
              </a:rPr>
              <a:t>• Current locations of chunks</a:t>
            </a:r>
          </a:p>
          <a:p>
            <a:r>
              <a:rPr lang="en-US" altLang="zh-TW" sz="2200" dirty="0" smtClean="0">
                <a:solidFill>
                  <a:schemeClr val="accent3">
                    <a:lumMod val="75000"/>
                  </a:schemeClr>
                </a:solidFill>
              </a:rPr>
              <a:t>• Access Control Information</a:t>
            </a:r>
          </a:p>
        </p:txBody>
      </p:sp>
      <p:sp>
        <p:nvSpPr>
          <p:cNvPr id="11" name="矩形 10"/>
          <p:cNvSpPr/>
          <p:nvPr/>
        </p:nvSpPr>
        <p:spPr>
          <a:xfrm>
            <a:off x="6931024" y="1916832"/>
            <a:ext cx="221297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200" dirty="0" smtClean="0">
                <a:solidFill>
                  <a:srgbClr val="FF0000"/>
                </a:solidFill>
              </a:rPr>
              <a:t>All in memory during operation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Metadata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>
                <a:latin typeface="+mj-lt"/>
              </a:rPr>
              <a:t>Namespace and file-to-chunk mapping are kept persistent</a:t>
            </a:r>
          </a:p>
          <a:p>
            <a:pPr lvl="1"/>
            <a:r>
              <a:rPr lang="en-US" altLang="zh-TW" i="1" dirty="0" smtClean="0">
                <a:latin typeface="+mn-ea"/>
              </a:rPr>
              <a:t>operation logs  </a:t>
            </a:r>
            <a:r>
              <a:rPr lang="en-US" altLang="zh-TW" dirty="0" smtClean="0">
                <a:latin typeface="+mj-lt"/>
              </a:rPr>
              <a:t>+</a:t>
            </a:r>
            <a:r>
              <a:rPr lang="en-US" altLang="zh-TW" i="1" dirty="0" smtClean="0">
                <a:latin typeface="+mj-lt"/>
              </a:rPr>
              <a:t> </a:t>
            </a:r>
            <a:r>
              <a:rPr lang="en-US" altLang="zh-TW" i="1" dirty="0" smtClean="0">
                <a:latin typeface="+mn-ea"/>
              </a:rPr>
              <a:t>checkpoints</a:t>
            </a:r>
          </a:p>
          <a:p>
            <a:r>
              <a:rPr lang="en-US" altLang="zh-TW" dirty="0" smtClean="0">
                <a:latin typeface="+mj-lt"/>
              </a:rPr>
              <a:t>Operation logs = historical record of mutations</a:t>
            </a:r>
          </a:p>
          <a:p>
            <a:pPr lvl="1"/>
            <a:r>
              <a:rPr lang="en-US" altLang="zh-TW" dirty="0" smtClean="0">
                <a:latin typeface="+mj-lt"/>
              </a:rPr>
              <a:t>represents the timeline of changes to metadata in concurrent operations</a:t>
            </a:r>
          </a:p>
          <a:p>
            <a:pPr lvl="1"/>
            <a:r>
              <a:rPr lang="en-US" altLang="zh-TW" dirty="0" smtClean="0">
                <a:latin typeface="+mj-lt"/>
              </a:rPr>
              <a:t>stored on master's local disk</a:t>
            </a:r>
          </a:p>
          <a:p>
            <a:pPr lvl="1"/>
            <a:r>
              <a:rPr lang="en-US" altLang="zh-TW" dirty="0" smtClean="0">
                <a:latin typeface="+mj-lt"/>
              </a:rPr>
              <a:t>replicated remotely</a:t>
            </a:r>
          </a:p>
          <a:p>
            <a:r>
              <a:rPr lang="en-US" altLang="zh-TW" dirty="0" smtClean="0">
                <a:latin typeface="+mj-lt"/>
              </a:rPr>
              <a:t>A mutation is not done or visible until the operation log is stored locally and remotely</a:t>
            </a:r>
          </a:p>
          <a:p>
            <a:pPr lvl="1"/>
            <a:r>
              <a:rPr lang="en-US" altLang="zh-TW" dirty="0" smtClean="0">
                <a:latin typeface="+mj-lt"/>
              </a:rPr>
              <a:t>master may group operation logs for batch flush</a:t>
            </a:r>
            <a:endParaRPr lang="zh-TW" altLang="en-US" dirty="0" smtClean="0"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Recovery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>
                <a:latin typeface="+mj-lt"/>
              </a:rPr>
              <a:t>Recover the file system = replay the operation logs</a:t>
            </a:r>
          </a:p>
          <a:p>
            <a:pPr lvl="1"/>
            <a:r>
              <a:rPr lang="en-US" altLang="zh-TW" dirty="0" smtClean="0">
                <a:latin typeface="+mj-lt"/>
              </a:rPr>
              <a:t>“</a:t>
            </a:r>
            <a:r>
              <a:rPr lang="en-US" altLang="zh-TW" dirty="0" err="1" smtClean="0">
                <a:latin typeface="+mj-lt"/>
              </a:rPr>
              <a:t>fsck</a:t>
            </a:r>
            <a:r>
              <a:rPr lang="en-US" altLang="zh-TW" dirty="0" smtClean="0">
                <a:latin typeface="+mj-lt"/>
              </a:rPr>
              <a:t>” of GFS after, e.g., a master crash.</a:t>
            </a:r>
          </a:p>
          <a:p>
            <a:r>
              <a:rPr lang="en-US" altLang="zh-TW" dirty="0" smtClean="0">
                <a:latin typeface="+mj-lt"/>
              </a:rPr>
              <a:t>Use checkpoints to speed up</a:t>
            </a:r>
          </a:p>
          <a:p>
            <a:pPr lvl="1"/>
            <a:r>
              <a:rPr lang="en-US" altLang="zh-TW" dirty="0" smtClean="0">
                <a:latin typeface="+mj-lt"/>
              </a:rPr>
              <a:t>memory-</a:t>
            </a:r>
            <a:r>
              <a:rPr lang="en-US" altLang="zh-TW" dirty="0" err="1" smtClean="0">
                <a:latin typeface="+mj-lt"/>
              </a:rPr>
              <a:t>mappable</a:t>
            </a:r>
            <a:r>
              <a:rPr lang="en-US" altLang="zh-TW" dirty="0" smtClean="0">
                <a:latin typeface="+mj-lt"/>
              </a:rPr>
              <a:t>, no parsing</a:t>
            </a:r>
          </a:p>
          <a:p>
            <a:pPr lvl="1"/>
            <a:r>
              <a:rPr lang="en-US" altLang="zh-TW" dirty="0" smtClean="0">
                <a:latin typeface="+mj-lt"/>
              </a:rPr>
              <a:t>Recovery = read in the latest checkpoint + replay logs taken after the checkpoint</a:t>
            </a:r>
          </a:p>
          <a:p>
            <a:pPr lvl="1"/>
            <a:r>
              <a:rPr lang="en-US" altLang="zh-TW" dirty="0" smtClean="0">
                <a:latin typeface="+mj-lt"/>
              </a:rPr>
              <a:t>Incomplete checkpoints are ignored</a:t>
            </a:r>
          </a:p>
          <a:p>
            <a:pPr lvl="1"/>
            <a:r>
              <a:rPr lang="en-US" altLang="zh-TW" dirty="0" smtClean="0">
                <a:latin typeface="+mj-lt"/>
              </a:rPr>
              <a:t>Old checkpoints and operation logs can be deleted.</a:t>
            </a:r>
          </a:p>
          <a:p>
            <a:r>
              <a:rPr lang="en-US" altLang="zh-TW" dirty="0" smtClean="0">
                <a:latin typeface="+mj-lt"/>
              </a:rPr>
              <a:t>Creating a checkpoint: must not delay new mutations</a:t>
            </a:r>
          </a:p>
          <a:p>
            <a:pPr marL="914400" lvl="1" indent="-3240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Switch to a new log file for new operation logs: all operation logs up to now are now “frozen”</a:t>
            </a:r>
          </a:p>
          <a:p>
            <a:pPr marL="914400" lvl="1" indent="-3240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Build the checkpoint in a separate thread</a:t>
            </a:r>
          </a:p>
          <a:p>
            <a:pPr marL="914400" lvl="1" indent="-3240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Write locally and remotely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Chunk Locations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Chunk locations are not stored in master's disks</a:t>
            </a:r>
          </a:p>
          <a:p>
            <a:pPr lvl="1"/>
            <a:r>
              <a:rPr lang="en-US" altLang="zh-TW" dirty="0" smtClean="0">
                <a:latin typeface="+mj-lt"/>
              </a:rPr>
              <a:t>The master asks </a:t>
            </a:r>
            <a:r>
              <a:rPr lang="en-US" altLang="zh-TW" dirty="0" err="1" smtClean="0">
                <a:latin typeface="+mj-lt"/>
              </a:rPr>
              <a:t>chunkservers</a:t>
            </a:r>
            <a:r>
              <a:rPr lang="en-US" altLang="zh-TW" dirty="0" smtClean="0">
                <a:latin typeface="+mj-lt"/>
              </a:rPr>
              <a:t> what they have during master startup or when a new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joins the cluster</a:t>
            </a:r>
          </a:p>
          <a:p>
            <a:pPr lvl="1"/>
            <a:r>
              <a:rPr lang="en-US" altLang="zh-TW" dirty="0" smtClean="0">
                <a:latin typeface="+mj-lt"/>
              </a:rPr>
              <a:t>It decides chunk placements thereafter</a:t>
            </a:r>
          </a:p>
          <a:p>
            <a:pPr lvl="1"/>
            <a:r>
              <a:rPr lang="en-US" altLang="zh-TW" dirty="0" smtClean="0">
                <a:latin typeface="+mj-lt"/>
              </a:rPr>
              <a:t>It monitors </a:t>
            </a:r>
            <a:r>
              <a:rPr lang="en-US" altLang="zh-TW" dirty="0" err="1" smtClean="0">
                <a:latin typeface="+mj-lt"/>
              </a:rPr>
              <a:t>chunkservers</a:t>
            </a:r>
            <a:r>
              <a:rPr lang="en-US" altLang="zh-TW" dirty="0" smtClean="0">
                <a:latin typeface="+mj-lt"/>
              </a:rPr>
              <a:t> with regular heartbeat messages</a:t>
            </a:r>
          </a:p>
          <a:p>
            <a:r>
              <a:rPr lang="en-US" altLang="zh-TW" dirty="0" smtClean="0">
                <a:latin typeface="+mj-lt"/>
              </a:rPr>
              <a:t>Rationale</a:t>
            </a:r>
          </a:p>
          <a:p>
            <a:pPr lvl="1"/>
            <a:r>
              <a:rPr lang="en-US" altLang="zh-TW" dirty="0" smtClean="0">
                <a:latin typeface="+mj-lt"/>
              </a:rPr>
              <a:t>Disks fail</a:t>
            </a:r>
          </a:p>
          <a:p>
            <a:pPr lvl="1"/>
            <a:r>
              <a:rPr lang="en-US" altLang="zh-TW" dirty="0" err="1" smtClean="0">
                <a:latin typeface="+mj-lt"/>
              </a:rPr>
              <a:t>Chunkservers</a:t>
            </a:r>
            <a:r>
              <a:rPr lang="en-US" altLang="zh-TW" dirty="0" smtClean="0">
                <a:latin typeface="+mj-lt"/>
              </a:rPr>
              <a:t> die, (re)appear, get renamed, etc.</a:t>
            </a:r>
          </a:p>
          <a:p>
            <a:pPr lvl="1"/>
            <a:r>
              <a:rPr lang="en-US" altLang="zh-TW" dirty="0" smtClean="0">
                <a:latin typeface="+mj-lt"/>
              </a:rPr>
              <a:t>Eliminate synchronization problem between the master and all </a:t>
            </a:r>
            <a:r>
              <a:rPr lang="en-US" altLang="zh-TW" dirty="0" err="1" smtClean="0">
                <a:latin typeface="+mj-lt"/>
              </a:rPr>
              <a:t>chunkservers</a:t>
            </a:r>
            <a:endParaRPr lang="zh-TW" altLang="en-US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Overview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Assumptions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Architecture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cs typeface="Calibri" pitchFamily="34" charset="0"/>
              </a:rPr>
              <a:t>Metadata</a:t>
            </a:r>
          </a:p>
          <a:p>
            <a:r>
              <a:rPr lang="en-US" altLang="zh-TW" dirty="0" smtClean="0">
                <a:cs typeface="Calibri" pitchFamily="34" charset="0"/>
              </a:rPr>
              <a:t>Consistency Model</a:t>
            </a:r>
            <a:endParaRPr lang="zh-TW" altLang="en-US" dirty="0" smtClean="0"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Consistency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GFS has a relaxed consistency model</a:t>
            </a:r>
          </a:p>
          <a:p>
            <a:r>
              <a:rPr lang="en-US" altLang="zh-TW" dirty="0" smtClean="0">
                <a:latin typeface="+mj-lt"/>
              </a:rPr>
              <a:t>File namespace mutations are atomic and consistent</a:t>
            </a:r>
          </a:p>
          <a:p>
            <a:pPr lvl="1"/>
            <a:r>
              <a:rPr lang="en-US" altLang="zh-TW" dirty="0" smtClean="0">
                <a:latin typeface="+mj-lt"/>
              </a:rPr>
              <a:t>handled exclusively by the master</a:t>
            </a:r>
          </a:p>
          <a:p>
            <a:pPr lvl="1"/>
            <a:r>
              <a:rPr lang="en-US" altLang="zh-TW" dirty="0" smtClean="0">
                <a:latin typeface="+mj-lt"/>
              </a:rPr>
              <a:t>namespace lock guarantees atomicity and correctness</a:t>
            </a:r>
          </a:p>
          <a:p>
            <a:pPr lvl="1"/>
            <a:r>
              <a:rPr lang="en-US" altLang="zh-TW" dirty="0" smtClean="0">
                <a:latin typeface="+mj-lt"/>
              </a:rPr>
              <a:t>order defined by the operation logs</a:t>
            </a:r>
          </a:p>
          <a:p>
            <a:r>
              <a:rPr lang="en-US" altLang="zh-TW" dirty="0" smtClean="0">
                <a:latin typeface="+mj-lt"/>
              </a:rPr>
              <a:t>File region mutations: complicated by replicas</a:t>
            </a:r>
          </a:p>
          <a:p>
            <a:pPr lvl="1"/>
            <a:r>
              <a:rPr lang="en-US" altLang="zh-TW" dirty="0" smtClean="0">
                <a:latin typeface="+mj-lt"/>
              </a:rPr>
              <a:t>“Consistent” = all replicas have the same data</a:t>
            </a:r>
          </a:p>
          <a:p>
            <a:pPr lvl="1"/>
            <a:r>
              <a:rPr lang="en-US" altLang="zh-TW" dirty="0" smtClean="0">
                <a:latin typeface="+mj-lt"/>
              </a:rPr>
              <a:t>“Defined” = consistent + replica reflects the mutation entirely</a:t>
            </a:r>
          </a:p>
          <a:p>
            <a:pPr lvl="1"/>
            <a:r>
              <a:rPr lang="en-US" altLang="zh-TW" dirty="0" smtClean="0">
                <a:latin typeface="+mj-lt"/>
              </a:rPr>
              <a:t>A relaxed consistency model: not always consistent, not always defined, either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Consistency Model (cont.)</a:t>
            </a:r>
            <a:endParaRPr lang="zh-TW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725" y="2132856"/>
            <a:ext cx="8656550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 File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Motivations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Design Overview</a:t>
            </a:r>
          </a:p>
          <a:p>
            <a:r>
              <a:rPr lang="en-US" altLang="zh-TW" dirty="0" smtClean="0">
                <a:latin typeface="+mj-lt"/>
              </a:rPr>
              <a:t>System Interactions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Master Operations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Fault Tolerance</a:t>
            </a: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System Interactions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/>
              <a:t>Read/Write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Concurrent Write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Atomic Record Appends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Snapshot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While reading a file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39552" y="1124744"/>
            <a:ext cx="1440160" cy="57606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Application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3347864" y="1124744"/>
            <a:ext cx="1440160" cy="57606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GFS Client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5436096" y="1124744"/>
            <a:ext cx="1440160" cy="57606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Master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7452320" y="1124744"/>
            <a:ext cx="1440160" cy="57606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Chunkserver</a:t>
            </a:r>
            <a:endParaRPr lang="zh-TW" altLang="en-US" dirty="0"/>
          </a:p>
        </p:txBody>
      </p:sp>
      <p:cxnSp>
        <p:nvCxnSpPr>
          <p:cNvPr id="8" name="直線接點 7"/>
          <p:cNvCxnSpPr>
            <a:stCxn id="4" idx="2"/>
          </p:cNvCxnSpPr>
          <p:nvPr/>
        </p:nvCxnSpPr>
        <p:spPr>
          <a:xfrm rot="5400000">
            <a:off x="-1296652" y="4257092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rot="5400000">
            <a:off x="1511660" y="4257092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rot="5400000">
            <a:off x="3599892" y="4257092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rot="5400000">
            <a:off x="5616116" y="4257092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1259632" y="2132856"/>
            <a:ext cx="280831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763688" y="177281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Open(name, read)</a:t>
            </a:r>
            <a:endParaRPr lang="zh-TW" altLang="en-US" dirty="0"/>
          </a:p>
        </p:txBody>
      </p:sp>
      <p:cxnSp>
        <p:nvCxnSpPr>
          <p:cNvPr id="14" name="直線單箭頭接點 13"/>
          <p:cNvCxnSpPr/>
          <p:nvPr/>
        </p:nvCxnSpPr>
        <p:spPr>
          <a:xfrm>
            <a:off x="4067944" y="2276872"/>
            <a:ext cx="20882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rot="10800000">
            <a:off x="4067944" y="2779339"/>
            <a:ext cx="20882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4716016" y="191683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name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4644008" y="241159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handle</a:t>
            </a:r>
            <a:endParaRPr lang="zh-TW" altLang="en-US" dirty="0"/>
          </a:p>
        </p:txBody>
      </p:sp>
      <p:cxnSp>
        <p:nvCxnSpPr>
          <p:cNvPr id="18" name="直線單箭頭接點 17"/>
          <p:cNvCxnSpPr/>
          <p:nvPr/>
        </p:nvCxnSpPr>
        <p:spPr>
          <a:xfrm rot="10800000">
            <a:off x="1259632" y="2924944"/>
            <a:ext cx="280831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195736" y="256490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handle</a:t>
            </a:r>
            <a:endParaRPr lang="zh-TW" altLang="en-US" dirty="0"/>
          </a:p>
        </p:txBody>
      </p:sp>
      <p:cxnSp>
        <p:nvCxnSpPr>
          <p:cNvPr id="20" name="直線單箭頭接點 19"/>
          <p:cNvCxnSpPr/>
          <p:nvPr/>
        </p:nvCxnSpPr>
        <p:spPr>
          <a:xfrm>
            <a:off x="1259632" y="3429000"/>
            <a:ext cx="280831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763688" y="3068960"/>
            <a:ext cx="20699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Read(handle, offset,</a:t>
            </a:r>
          </a:p>
          <a:p>
            <a:r>
              <a:rPr lang="en-US" altLang="zh-TW" dirty="0" smtClean="0"/>
              <a:t>length, buffer)</a:t>
            </a:r>
            <a:endParaRPr lang="zh-TW" altLang="en-US" dirty="0"/>
          </a:p>
        </p:txBody>
      </p:sp>
      <p:cxnSp>
        <p:nvCxnSpPr>
          <p:cNvPr id="22" name="直線單箭頭接點 21"/>
          <p:cNvCxnSpPr/>
          <p:nvPr/>
        </p:nvCxnSpPr>
        <p:spPr>
          <a:xfrm>
            <a:off x="4067944" y="3645024"/>
            <a:ext cx="20882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4499992" y="3284984"/>
            <a:ext cx="13681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handle,</a:t>
            </a:r>
          </a:p>
          <a:p>
            <a:r>
              <a:rPr lang="en-US" altLang="zh-TW" dirty="0" err="1" smtClean="0"/>
              <a:t>chunk_index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4283968" y="3861048"/>
            <a:ext cx="1800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err="1" smtClean="0"/>
              <a:t>chunk_handle</a:t>
            </a:r>
            <a:r>
              <a:rPr lang="en-US" altLang="zh-TW" dirty="0" smtClean="0"/>
              <a:t>,</a:t>
            </a:r>
          </a:p>
          <a:p>
            <a:r>
              <a:rPr lang="en-US" altLang="zh-TW" dirty="0" err="1" smtClean="0"/>
              <a:t>chunk_locations</a:t>
            </a:r>
            <a:endParaRPr lang="zh-TW" altLang="en-US" dirty="0"/>
          </a:p>
        </p:txBody>
      </p:sp>
      <p:cxnSp>
        <p:nvCxnSpPr>
          <p:cNvPr id="25" name="直線單箭頭接點 24"/>
          <p:cNvCxnSpPr/>
          <p:nvPr/>
        </p:nvCxnSpPr>
        <p:spPr>
          <a:xfrm rot="10800000">
            <a:off x="4067944" y="4221088"/>
            <a:ext cx="20882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3923928" y="4437112"/>
            <a:ext cx="288032" cy="6480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1003">
            <a:schemeClr val="lt1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2123728" y="3933056"/>
            <a:ext cx="17281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cache (handle,</a:t>
            </a:r>
          </a:p>
          <a:p>
            <a:r>
              <a:rPr lang="en-US" altLang="zh-TW" dirty="0" err="1" smtClean="0"/>
              <a:t>chunk_index</a:t>
            </a:r>
            <a:r>
              <a:rPr lang="en-US" altLang="zh-TW" dirty="0" smtClean="0"/>
              <a:t>)</a:t>
            </a:r>
          </a:p>
          <a:p>
            <a:r>
              <a:rPr lang="zh-TW" altLang="en-US" dirty="0" smtClean="0"/>
              <a:t>→</a:t>
            </a:r>
          </a:p>
          <a:p>
            <a:r>
              <a:rPr lang="en-US" altLang="zh-TW" dirty="0" smtClean="0"/>
              <a:t>(</a:t>
            </a:r>
            <a:r>
              <a:rPr lang="en-US" altLang="zh-TW" dirty="0" err="1" smtClean="0"/>
              <a:t>chunk_handle</a:t>
            </a:r>
            <a:r>
              <a:rPr lang="en-US" altLang="zh-TW" dirty="0" smtClean="0"/>
              <a:t>,</a:t>
            </a:r>
          </a:p>
          <a:p>
            <a:r>
              <a:rPr lang="en-US" altLang="zh-TW" dirty="0" smtClean="0"/>
              <a:t>locations),</a:t>
            </a:r>
          </a:p>
          <a:p>
            <a:r>
              <a:rPr lang="en-US" altLang="zh-TW" dirty="0" smtClean="0"/>
              <a:t>select a replica</a:t>
            </a:r>
            <a:endParaRPr lang="zh-TW" altLang="en-US" dirty="0"/>
          </a:p>
        </p:txBody>
      </p:sp>
      <p:cxnSp>
        <p:nvCxnSpPr>
          <p:cNvPr id="28" name="直線單箭頭接點 27"/>
          <p:cNvCxnSpPr/>
          <p:nvPr/>
        </p:nvCxnSpPr>
        <p:spPr>
          <a:xfrm>
            <a:off x="4067944" y="5229200"/>
            <a:ext cx="410445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5292080" y="4869160"/>
            <a:ext cx="18539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err="1" smtClean="0"/>
              <a:t>chunk_handle</a:t>
            </a:r>
            <a:r>
              <a:rPr lang="en-US" altLang="zh-TW" dirty="0" smtClean="0"/>
              <a:t>,</a:t>
            </a:r>
          </a:p>
          <a:p>
            <a:r>
              <a:rPr lang="en-US" altLang="zh-TW" dirty="0" err="1" smtClean="0"/>
              <a:t>byte_range</a:t>
            </a:r>
            <a:endParaRPr lang="zh-TW" altLang="en-US" dirty="0"/>
          </a:p>
        </p:txBody>
      </p:sp>
      <p:sp>
        <p:nvSpPr>
          <p:cNvPr id="30" name="向左箭號 29"/>
          <p:cNvSpPr/>
          <p:nvPr/>
        </p:nvSpPr>
        <p:spPr>
          <a:xfrm>
            <a:off x="4067944" y="5517232"/>
            <a:ext cx="4104456" cy="936104"/>
          </a:xfrm>
          <a:prstGeom prst="leftArrow">
            <a:avLst>
              <a:gd name="adj1" fmla="val 68606"/>
              <a:gd name="adj2" fmla="val 704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200" dirty="0" smtClean="0"/>
              <a:t>Data</a:t>
            </a:r>
            <a:endParaRPr lang="zh-TW" altLang="en-US" sz="2200" dirty="0"/>
          </a:p>
        </p:txBody>
      </p:sp>
      <p:cxnSp>
        <p:nvCxnSpPr>
          <p:cNvPr id="31" name="直線單箭頭接點 30"/>
          <p:cNvCxnSpPr/>
          <p:nvPr/>
        </p:nvCxnSpPr>
        <p:spPr>
          <a:xfrm rot="10800000">
            <a:off x="1259632" y="6453336"/>
            <a:ext cx="280831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2051720" y="6093296"/>
            <a:ext cx="1284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return code</a:t>
            </a:r>
            <a:endParaRPr lang="zh-TW" altLang="en-US" dirty="0"/>
          </a:p>
        </p:txBody>
      </p:sp>
      <p:sp>
        <p:nvSpPr>
          <p:cNvPr id="33" name="左大括弧 32"/>
          <p:cNvSpPr/>
          <p:nvPr/>
        </p:nvSpPr>
        <p:spPr>
          <a:xfrm>
            <a:off x="827584" y="1988840"/>
            <a:ext cx="288032" cy="1080120"/>
          </a:xfrm>
          <a:prstGeom prst="leftBrace">
            <a:avLst>
              <a:gd name="adj1" fmla="val 2042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左大括弧 33"/>
          <p:cNvSpPr/>
          <p:nvPr/>
        </p:nvSpPr>
        <p:spPr>
          <a:xfrm>
            <a:off x="827584" y="3284984"/>
            <a:ext cx="288032" cy="3312368"/>
          </a:xfrm>
          <a:prstGeom prst="leftBrace">
            <a:avLst>
              <a:gd name="adj1" fmla="val 2042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170181" y="233954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accent5">
                    <a:lumMod val="75000"/>
                  </a:schemeClr>
                </a:solidFill>
              </a:rPr>
              <a:t>Open</a:t>
            </a:r>
            <a:endParaRPr lang="zh-TW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79512" y="4753137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accent5">
                    <a:lumMod val="75000"/>
                  </a:schemeClr>
                </a:solidFill>
              </a:rPr>
              <a:t>Read</a:t>
            </a:r>
            <a:endParaRPr lang="zh-TW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7" name="直線接點 36"/>
          <p:cNvCxnSpPr/>
          <p:nvPr/>
        </p:nvCxnSpPr>
        <p:spPr>
          <a:xfrm rot="5400000">
            <a:off x="8459264" y="1880828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圓柱 37"/>
          <p:cNvSpPr/>
          <p:nvPr/>
        </p:nvSpPr>
        <p:spPr>
          <a:xfrm>
            <a:off x="8388424" y="2395535"/>
            <a:ext cx="504056" cy="21602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圓柱 38"/>
          <p:cNvSpPr/>
          <p:nvPr/>
        </p:nvSpPr>
        <p:spPr>
          <a:xfrm>
            <a:off x="8385466" y="2222282"/>
            <a:ext cx="504056" cy="216024"/>
          </a:xfrm>
          <a:prstGeom prst="can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圓柱 39"/>
          <p:cNvSpPr/>
          <p:nvPr/>
        </p:nvSpPr>
        <p:spPr>
          <a:xfrm>
            <a:off x="8388424" y="2060848"/>
            <a:ext cx="504056" cy="216024"/>
          </a:xfrm>
          <a:prstGeom prst="ca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  <p:bldP spid="19" grpId="0"/>
      <p:bldP spid="21" grpId="0"/>
      <p:bldP spid="23" grpId="0"/>
      <p:bldP spid="24" grpId="0"/>
      <p:bldP spid="26" grpId="0" animBg="1"/>
      <p:bldP spid="27" grpId="0"/>
      <p:bldP spid="29" grpId="0"/>
      <p:bldP spid="30" grpId="0" animBg="1"/>
      <p:bldP spid="32" grpId="0"/>
      <p:bldP spid="33" grpId="0" animBg="1"/>
      <p:bldP spid="34" grpId="0" animBg="1"/>
      <p:bldP spid="35" grpId="0"/>
      <p:bldP spid="3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While writing to a File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2164662" y="2663487"/>
            <a:ext cx="1781944" cy="923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err="1" smtClean="0">
                <a:solidFill>
                  <a:srgbClr val="0000FF"/>
                </a:solidFill>
              </a:rPr>
              <a:t>chunk_handle</a:t>
            </a:r>
            <a:r>
              <a:rPr lang="en-US" altLang="zh-TW" dirty="0" smtClean="0">
                <a:solidFill>
                  <a:srgbClr val="0000FF"/>
                </a:solidFill>
              </a:rPr>
              <a:t>,</a:t>
            </a:r>
          </a:p>
          <a:p>
            <a:pPr algn="ctr"/>
            <a:r>
              <a:rPr lang="en-US" altLang="zh-TW" dirty="0" err="1" smtClean="0">
                <a:solidFill>
                  <a:srgbClr val="0000FF"/>
                </a:solidFill>
              </a:rPr>
              <a:t>primary_id</a:t>
            </a:r>
            <a:r>
              <a:rPr lang="en-US" altLang="zh-TW" dirty="0" smtClean="0">
                <a:solidFill>
                  <a:srgbClr val="0000FF"/>
                </a:solidFill>
              </a:rPr>
              <a:t>, Rep-   </a:t>
            </a:r>
            <a:r>
              <a:rPr lang="en-US" altLang="zh-TW" dirty="0" err="1" smtClean="0">
                <a:solidFill>
                  <a:srgbClr val="0000FF"/>
                </a:solidFill>
              </a:rPr>
              <a:t>lica_locations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805" y="1081861"/>
            <a:ext cx="1296144" cy="57606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Application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1634478" y="1081861"/>
            <a:ext cx="1152128" cy="57606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GFS Client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388206" y="1081861"/>
            <a:ext cx="1008113" cy="57606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Master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4656480" y="1081861"/>
            <a:ext cx="1396615" cy="57606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Chunkserver</a:t>
            </a:r>
            <a:endParaRPr lang="zh-TW" altLang="en-US" dirty="0"/>
          </a:p>
        </p:txBody>
      </p:sp>
      <p:cxnSp>
        <p:nvCxnSpPr>
          <p:cNvPr id="10" name="直線接點 9"/>
          <p:cNvCxnSpPr>
            <a:stCxn id="6" idx="2"/>
          </p:cNvCxnSpPr>
          <p:nvPr/>
        </p:nvCxnSpPr>
        <p:spPr>
          <a:xfrm rot="5400000">
            <a:off x="-1879408" y="4214209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rot="5400000">
            <a:off x="-352114" y="4214209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rot="5400000">
            <a:off x="1329606" y="4214209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rot="5400000">
            <a:off x="2791812" y="4214209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187585" y="1081861"/>
            <a:ext cx="1368152" cy="57606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Primary </a:t>
            </a:r>
            <a:r>
              <a:rPr lang="en-US" altLang="zh-TW" dirty="0" err="1" smtClean="0"/>
              <a:t>Chunkserver</a:t>
            </a:r>
            <a:endParaRPr lang="zh-TW" altLang="en-US" dirty="0"/>
          </a:p>
        </p:txBody>
      </p:sp>
      <p:cxnSp>
        <p:nvCxnSpPr>
          <p:cNvPr id="15" name="直線接點 14"/>
          <p:cNvCxnSpPr/>
          <p:nvPr/>
        </p:nvCxnSpPr>
        <p:spPr>
          <a:xfrm rot="5400000">
            <a:off x="4322918" y="4214209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709279" y="1081861"/>
            <a:ext cx="1368152" cy="57606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Chunkserver</a:t>
            </a:r>
            <a:endParaRPr lang="zh-TW" altLang="en-US" dirty="0"/>
          </a:p>
        </p:txBody>
      </p:sp>
      <p:cxnSp>
        <p:nvCxnSpPr>
          <p:cNvPr id="17" name="直線接點 16"/>
          <p:cNvCxnSpPr/>
          <p:nvPr/>
        </p:nvCxnSpPr>
        <p:spPr>
          <a:xfrm rot="5400000">
            <a:off x="5844612" y="4214209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724503" y="1729933"/>
            <a:ext cx="1800200" cy="923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chemeClr val="accent5">
                    <a:lumMod val="75000"/>
                  </a:schemeClr>
                </a:solidFill>
              </a:rPr>
              <a:t>Write(handle, </a:t>
            </a:r>
          </a:p>
          <a:p>
            <a:r>
              <a:rPr lang="en-US" altLang="zh-TW" dirty="0" err="1" smtClean="0">
                <a:solidFill>
                  <a:schemeClr val="accent5">
                    <a:lumMod val="75000"/>
                  </a:schemeClr>
                </a:solidFill>
              </a:rPr>
              <a:t>offset,length</a:t>
            </a:r>
            <a:r>
              <a:rPr lang="en-US" altLang="zh-TW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</a:p>
          <a:p>
            <a:r>
              <a:rPr lang="en-US" altLang="zh-TW" dirty="0" smtClean="0">
                <a:solidFill>
                  <a:schemeClr val="accent5">
                    <a:lumMod val="75000"/>
                  </a:schemeClr>
                </a:solidFill>
              </a:rPr>
              <a:t>buffer)</a:t>
            </a:r>
            <a:endParaRPr lang="zh-TW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596710" y="2265347"/>
            <a:ext cx="8290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handle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20" name="左大括弧 19"/>
          <p:cNvSpPr/>
          <p:nvPr/>
        </p:nvSpPr>
        <p:spPr>
          <a:xfrm>
            <a:off x="2020646" y="2481370"/>
            <a:ext cx="144017" cy="648072"/>
          </a:xfrm>
          <a:prstGeom prst="leftBrac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1285707" y="2632129"/>
            <a:ext cx="762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</a:rPr>
              <a:t>Query</a:t>
            </a:r>
            <a:endParaRPr lang="zh-TW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2969" y="3070701"/>
            <a:ext cx="1709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cache, select a replica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107512" y="3314110"/>
            <a:ext cx="216024" cy="2160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4180887" y="2416105"/>
            <a:ext cx="2304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grants a lease</a:t>
            </a:r>
          </a:p>
          <a:p>
            <a:r>
              <a:rPr lang="en-US" altLang="zh-TW" dirty="0" smtClean="0">
                <a:solidFill>
                  <a:srgbClr val="0000FF"/>
                </a:solidFill>
              </a:rPr>
              <a:t>(if not granted before)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680487" y="2050284"/>
            <a:ext cx="154324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2208678" y="2569645"/>
            <a:ext cx="165618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rot="10800000">
            <a:off x="2195737" y="2996952"/>
            <a:ext cx="1697119" cy="21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向右箭號 27"/>
          <p:cNvSpPr/>
          <p:nvPr/>
        </p:nvSpPr>
        <p:spPr>
          <a:xfrm>
            <a:off x="2212288" y="3602142"/>
            <a:ext cx="3096345" cy="648072"/>
          </a:xfrm>
          <a:prstGeom prst="rightArrow">
            <a:avLst>
              <a:gd name="adj1" fmla="val 73516"/>
              <a:gd name="adj2" fmla="val 6322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Data</a:t>
            </a:r>
            <a:endParaRPr lang="zh-TW" altLang="en-US" dirty="0"/>
          </a:p>
        </p:txBody>
      </p:sp>
      <p:sp>
        <p:nvSpPr>
          <p:cNvPr id="29" name="向右箭號 28"/>
          <p:cNvSpPr/>
          <p:nvPr/>
        </p:nvSpPr>
        <p:spPr>
          <a:xfrm>
            <a:off x="5352065" y="3746157"/>
            <a:ext cx="1493118" cy="648072"/>
          </a:xfrm>
          <a:prstGeom prst="rightArrow">
            <a:avLst>
              <a:gd name="adj1" fmla="val 73516"/>
              <a:gd name="adj2" fmla="val 5294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Data</a:t>
            </a:r>
            <a:endParaRPr lang="zh-TW" altLang="en-US" dirty="0"/>
          </a:p>
        </p:txBody>
      </p:sp>
      <p:sp>
        <p:nvSpPr>
          <p:cNvPr id="30" name="向右箭號 29"/>
          <p:cNvSpPr/>
          <p:nvPr/>
        </p:nvSpPr>
        <p:spPr>
          <a:xfrm>
            <a:off x="6888615" y="3890174"/>
            <a:ext cx="1493118" cy="648072"/>
          </a:xfrm>
          <a:prstGeom prst="rightArrow">
            <a:avLst>
              <a:gd name="adj1" fmla="val 73516"/>
              <a:gd name="adj2" fmla="val 5294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Data</a:t>
            </a:r>
            <a:endParaRPr lang="zh-TW" altLang="en-US" dirty="0"/>
          </a:p>
        </p:txBody>
      </p:sp>
      <p:cxnSp>
        <p:nvCxnSpPr>
          <p:cNvPr id="31" name="直線單箭頭接點 30"/>
          <p:cNvCxnSpPr/>
          <p:nvPr/>
        </p:nvCxnSpPr>
        <p:spPr>
          <a:xfrm rot="10800000">
            <a:off x="6888615" y="4610253"/>
            <a:ext cx="151216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7205223" y="4538245"/>
            <a:ext cx="982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received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33" name="直線單箭頭接點 32"/>
          <p:cNvCxnSpPr/>
          <p:nvPr/>
        </p:nvCxnSpPr>
        <p:spPr>
          <a:xfrm rot="10800000">
            <a:off x="5357398" y="4697119"/>
            <a:ext cx="151216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rot="10800000">
            <a:off x="2236672" y="4754269"/>
            <a:ext cx="3105871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172775" y="4426996"/>
            <a:ext cx="1450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data received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36" name="直線單箭頭接點 35"/>
          <p:cNvCxnSpPr/>
          <p:nvPr/>
        </p:nvCxnSpPr>
        <p:spPr>
          <a:xfrm>
            <a:off x="2208095" y="5124976"/>
            <a:ext cx="468052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4108878" y="4803035"/>
            <a:ext cx="1131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write (ids)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38" name="直線單箭頭接點 37"/>
          <p:cNvCxnSpPr/>
          <p:nvPr/>
        </p:nvCxnSpPr>
        <p:spPr>
          <a:xfrm rot="10800000">
            <a:off x="5361591" y="5469249"/>
            <a:ext cx="151216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>
            <a:off x="6883283" y="5541258"/>
            <a:ext cx="151216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8285342" y="5690374"/>
            <a:ext cx="216024" cy="2160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5232432" y="5618366"/>
            <a:ext cx="216024" cy="2160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5621047" y="5157975"/>
            <a:ext cx="1252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m. order(*)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133215" y="5233942"/>
            <a:ext cx="1252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m. order(*)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44" name="直線單箭頭接點 43"/>
          <p:cNvCxnSpPr/>
          <p:nvPr/>
        </p:nvCxnSpPr>
        <p:spPr>
          <a:xfrm>
            <a:off x="5361591" y="5978405"/>
            <a:ext cx="151216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rot="10800000">
            <a:off x="6888615" y="6050413"/>
            <a:ext cx="151216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7070732" y="5728474"/>
            <a:ext cx="1065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complete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563675" y="5671323"/>
            <a:ext cx="1065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complete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48" name="直線單箭頭接點 47"/>
          <p:cNvCxnSpPr/>
          <p:nvPr/>
        </p:nvCxnSpPr>
        <p:spPr>
          <a:xfrm rot="10800000">
            <a:off x="2193237" y="6194429"/>
            <a:ext cx="468052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3964862" y="5887347"/>
            <a:ext cx="1187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completed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50" name="直線單箭頭接點 49"/>
          <p:cNvCxnSpPr/>
          <p:nvPr/>
        </p:nvCxnSpPr>
        <p:spPr>
          <a:xfrm rot="10800000">
            <a:off x="695928" y="6419978"/>
            <a:ext cx="151216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796511" y="6122420"/>
            <a:ext cx="1284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return code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52" name="左大括弧 51"/>
          <p:cNvSpPr/>
          <p:nvPr/>
        </p:nvSpPr>
        <p:spPr>
          <a:xfrm>
            <a:off x="2020647" y="3602142"/>
            <a:ext cx="144017" cy="1224135"/>
          </a:xfrm>
          <a:prstGeom prst="leftBrac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/>
        </p:nvSpPr>
        <p:spPr>
          <a:xfrm>
            <a:off x="940527" y="4034188"/>
            <a:ext cx="1125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</a:rPr>
              <a:t>Data Push</a:t>
            </a:r>
            <a:endParaRPr lang="zh-TW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4" name="左大括弧 53"/>
          <p:cNvSpPr/>
          <p:nvPr/>
        </p:nvSpPr>
        <p:spPr>
          <a:xfrm>
            <a:off x="2020647" y="5042301"/>
            <a:ext cx="144017" cy="1224135"/>
          </a:xfrm>
          <a:prstGeom prst="leftBrac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/>
        </p:nvSpPr>
        <p:spPr>
          <a:xfrm>
            <a:off x="1084544" y="5474349"/>
            <a:ext cx="928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</a:rPr>
              <a:t>Commit</a:t>
            </a:r>
            <a:endParaRPr lang="zh-TW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56" name="直線單箭頭接點 55"/>
          <p:cNvCxnSpPr/>
          <p:nvPr/>
        </p:nvCxnSpPr>
        <p:spPr>
          <a:xfrm>
            <a:off x="3892855" y="2718995"/>
            <a:ext cx="29523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7236296" y="6239053"/>
            <a:ext cx="20118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* assign mutation</a:t>
            </a:r>
          </a:p>
          <a:p>
            <a:r>
              <a:rPr lang="en-US" altLang="zh-TW" dirty="0" smtClean="0">
                <a:solidFill>
                  <a:srgbClr val="0000FF"/>
                </a:solidFill>
              </a:rPr>
              <a:t>order, write to disk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6140154" y="1187421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 smtClean="0">
                <a:solidFill>
                  <a:srgbClr val="FFFFFF"/>
                </a:solidFill>
              </a:rPr>
              <a:t>Chunkserver</a:t>
            </a:r>
            <a:endParaRPr lang="zh-TW" alt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8" grpId="0" animBg="1"/>
      <p:bldP spid="29" grpId="0" animBg="1"/>
      <p:bldP spid="30" grpId="0" animBg="1"/>
      <p:bldP spid="32" grpId="0"/>
      <p:bldP spid="35" grpId="0"/>
      <p:bldP spid="37" grpId="0"/>
      <p:bldP spid="40" grpId="0" animBg="1"/>
      <p:bldP spid="41" grpId="0" animBg="1"/>
      <p:bldP spid="42" grpId="0"/>
      <p:bldP spid="43" grpId="0"/>
      <p:bldP spid="46" grpId="0"/>
      <p:bldP spid="47" grpId="0"/>
      <p:bldP spid="49" grpId="0"/>
      <p:bldP spid="51" grpId="0"/>
      <p:bldP spid="52" grpId="0" animBg="1"/>
      <p:bldP spid="53" grpId="0"/>
      <p:bldP spid="54" grpId="0" animBg="1"/>
      <p:bldP spid="55" grpId="0"/>
      <p:bldP spid="64" grpId="0"/>
      <p:bldP spid="7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Lease Management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>
                <a:latin typeface="+mj-lt"/>
              </a:rPr>
              <a:t>A crucial part of concurrent write/append operation</a:t>
            </a:r>
          </a:p>
          <a:p>
            <a:pPr lvl="1"/>
            <a:r>
              <a:rPr lang="en-US" altLang="zh-TW" dirty="0" smtClean="0">
                <a:latin typeface="+mj-lt"/>
              </a:rPr>
              <a:t>Designed to minimize master's management overhead by authorizing </a:t>
            </a:r>
            <a:r>
              <a:rPr lang="en-US" altLang="zh-TW" dirty="0" err="1" smtClean="0">
                <a:latin typeface="+mj-lt"/>
              </a:rPr>
              <a:t>chunkservers</a:t>
            </a:r>
            <a:r>
              <a:rPr lang="en-US" altLang="zh-TW" dirty="0" smtClean="0">
                <a:latin typeface="+mj-lt"/>
              </a:rPr>
              <a:t> to make decisions</a:t>
            </a:r>
          </a:p>
          <a:p>
            <a:r>
              <a:rPr lang="en-US" altLang="zh-TW" dirty="0" smtClean="0">
                <a:latin typeface="+mj-lt"/>
              </a:rPr>
              <a:t>One lease per chunk</a:t>
            </a:r>
          </a:p>
          <a:p>
            <a:pPr lvl="1"/>
            <a:r>
              <a:rPr lang="en-US" altLang="zh-TW" dirty="0" smtClean="0">
                <a:latin typeface="+mj-lt"/>
              </a:rPr>
              <a:t>Granted to a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, which becomes the primary</a:t>
            </a:r>
          </a:p>
          <a:p>
            <a:pPr lvl="1"/>
            <a:r>
              <a:rPr lang="en-US" altLang="zh-TW" dirty="0" smtClean="0">
                <a:latin typeface="+mj-lt"/>
              </a:rPr>
              <a:t>Granting a lease increases the version number of the chunk</a:t>
            </a:r>
          </a:p>
          <a:p>
            <a:pPr lvl="1"/>
            <a:r>
              <a:rPr lang="en-US" altLang="zh-TW" dirty="0" smtClean="0">
                <a:latin typeface="+mj-lt"/>
              </a:rPr>
              <a:t>Reminder: the primary decides the mutation order</a:t>
            </a:r>
          </a:p>
          <a:p>
            <a:r>
              <a:rPr lang="en-US" altLang="zh-TW" dirty="0" smtClean="0">
                <a:latin typeface="+mj-lt"/>
              </a:rPr>
              <a:t>The primary can renew the lease before it expires</a:t>
            </a:r>
          </a:p>
          <a:p>
            <a:pPr lvl="1"/>
            <a:r>
              <a:rPr lang="en-US" altLang="zh-TW" dirty="0" smtClean="0">
                <a:latin typeface="+mj-lt"/>
              </a:rPr>
              <a:t>Piggybacked on the regular heartbeat message</a:t>
            </a:r>
          </a:p>
          <a:p>
            <a:r>
              <a:rPr lang="en-US" altLang="zh-TW" dirty="0" smtClean="0">
                <a:latin typeface="+mj-lt"/>
              </a:rPr>
              <a:t>The master can revoke a lease (e.g., for snapshot)</a:t>
            </a:r>
          </a:p>
          <a:p>
            <a:r>
              <a:rPr lang="en-US" altLang="zh-TW" dirty="0" smtClean="0">
                <a:latin typeface="+mj-lt"/>
              </a:rPr>
              <a:t>The master can grant the lease to another replica if the current lease expires (primary crashed, etc)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Mutation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1772816"/>
            <a:ext cx="4342926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Placeholder 2"/>
          <p:cNvSpPr txBox="1">
            <a:spLocks/>
          </p:cNvSpPr>
          <p:nvPr/>
        </p:nvSpPr>
        <p:spPr>
          <a:xfrm>
            <a:off x="251520" y="1772816"/>
            <a:ext cx="4532114" cy="43561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4572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itchFamily="34" charset="0"/>
              <a:buAutoNum type="arabicPeriod"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Client asks master for replica locations</a:t>
            </a:r>
          </a:p>
          <a:p>
            <a:pPr marL="4572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itchFamily="34" charset="0"/>
              <a:buAutoNum type="arabicPeriod"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Master responds</a:t>
            </a:r>
          </a:p>
          <a:p>
            <a:pPr marL="4572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itchFamily="34" charset="0"/>
              <a:buAutoNum type="arabicPeriod"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Client pushes data to all replicas; replicas store it in a buffer cache</a:t>
            </a:r>
          </a:p>
          <a:p>
            <a:pPr marL="4572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itchFamily="34" charset="0"/>
              <a:buAutoNum type="arabicPeriod"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Client sends a write request to the primary (identifying the data that had been pushed)</a:t>
            </a:r>
          </a:p>
          <a:p>
            <a:pPr marL="4572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itchFamily="34" charset="0"/>
              <a:buAutoNum type="arabicPeriod"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Primary forwards request to the </a:t>
            </a:r>
            <a:r>
              <a:rPr kumimoji="0" lang="en-US" altLang="zh-TW" sz="20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secondaries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(identifies the order)</a:t>
            </a:r>
          </a:p>
          <a:p>
            <a:pPr marL="4572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itchFamily="34" charset="0"/>
              <a:buAutoNum type="arabicPeriod"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The </a:t>
            </a:r>
            <a:r>
              <a:rPr kumimoji="0" lang="en-US" altLang="zh-TW" sz="20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secondaries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respond to the primary</a:t>
            </a:r>
          </a:p>
          <a:p>
            <a:pPr marL="4572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itchFamily="34" charset="0"/>
              <a:buAutoNum type="arabicPeriod"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The primary responds to the client</a:t>
            </a:r>
            <a:endParaRPr kumimoji="0" lang="en-CA" sz="20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7" name="直線單箭頭接點 6"/>
          <p:cNvCxnSpPr/>
          <p:nvPr/>
        </p:nvCxnSpPr>
        <p:spPr>
          <a:xfrm>
            <a:off x="6372200" y="2060848"/>
            <a:ext cx="936104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rot="10800000">
            <a:off x="6353538" y="2242188"/>
            <a:ext cx="936104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rot="5400000">
            <a:off x="5652120" y="2636912"/>
            <a:ext cx="576064" cy="15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rot="5400000">
            <a:off x="5662245" y="3797577"/>
            <a:ext cx="557402" cy="15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rot="5400000">
            <a:off x="5652914" y="4921712"/>
            <a:ext cx="576064" cy="15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接點 38"/>
          <p:cNvCxnSpPr/>
          <p:nvPr/>
        </p:nvCxnSpPr>
        <p:spPr>
          <a:xfrm rot="10800000" flipV="1">
            <a:off x="5412854" y="2051517"/>
            <a:ext cx="167258" cy="2338164"/>
          </a:xfrm>
          <a:prstGeom prst="bentConnector3">
            <a:avLst>
              <a:gd name="adj1" fmla="val 475857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接點 45"/>
          <p:cNvCxnSpPr/>
          <p:nvPr/>
        </p:nvCxnSpPr>
        <p:spPr>
          <a:xfrm rot="10800000" flipH="1">
            <a:off x="5445427" y="2223526"/>
            <a:ext cx="129158" cy="1978124"/>
          </a:xfrm>
          <a:prstGeom prst="bentConnector3">
            <a:avLst>
              <a:gd name="adj1" fmla="val -287614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肘形接點 49"/>
          <p:cNvCxnSpPr/>
          <p:nvPr/>
        </p:nvCxnSpPr>
        <p:spPr>
          <a:xfrm flipV="1">
            <a:off x="6462870" y="3094313"/>
            <a:ext cx="1588" cy="1152128"/>
          </a:xfrm>
          <a:prstGeom prst="bentConnector3">
            <a:avLst>
              <a:gd name="adj1" fmla="val 38987733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肘形接點 52"/>
          <p:cNvCxnSpPr/>
          <p:nvPr/>
        </p:nvCxnSpPr>
        <p:spPr>
          <a:xfrm>
            <a:off x="6461282" y="4374435"/>
            <a:ext cx="1588" cy="1233661"/>
          </a:xfrm>
          <a:prstGeom prst="bentConnector3">
            <a:avLst>
              <a:gd name="adj1" fmla="val 38987733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/>
          <p:cNvCxnSpPr/>
          <p:nvPr/>
        </p:nvCxnSpPr>
        <p:spPr>
          <a:xfrm>
            <a:off x="6495966" y="3347467"/>
            <a:ext cx="1588" cy="801613"/>
          </a:xfrm>
          <a:prstGeom prst="bentConnector3">
            <a:avLst>
              <a:gd name="adj1" fmla="val 19793772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接點 60"/>
          <p:cNvCxnSpPr/>
          <p:nvPr/>
        </p:nvCxnSpPr>
        <p:spPr>
          <a:xfrm flipV="1">
            <a:off x="6489275" y="4499789"/>
            <a:ext cx="1588" cy="873621"/>
          </a:xfrm>
          <a:prstGeom prst="bentConnector3">
            <a:avLst>
              <a:gd name="adj1" fmla="val 19793772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5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7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8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9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9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0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1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1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1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Mutation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>
                <a:latin typeface="+mj-lt"/>
              </a:rPr>
              <a:t>Mutation = write or append</a:t>
            </a:r>
          </a:p>
          <a:p>
            <a:pPr lvl="1"/>
            <a:r>
              <a:rPr lang="en-US" altLang="zh-TW" dirty="0" smtClean="0">
                <a:latin typeface="+mj-lt"/>
              </a:rPr>
              <a:t>must be done for all replicas</a:t>
            </a:r>
          </a:p>
          <a:p>
            <a:r>
              <a:rPr lang="en-US" altLang="zh-TW" dirty="0" smtClean="0">
                <a:latin typeface="+mj-lt"/>
              </a:rPr>
              <a:t>Goal</a:t>
            </a:r>
          </a:p>
          <a:p>
            <a:pPr lvl="1"/>
            <a:r>
              <a:rPr lang="en-US" altLang="zh-TW" dirty="0" smtClean="0">
                <a:latin typeface="+mj-lt"/>
              </a:rPr>
              <a:t>minimize master involvement</a:t>
            </a:r>
          </a:p>
          <a:p>
            <a:r>
              <a:rPr lang="en-US" altLang="zh-TW" dirty="0" smtClean="0">
                <a:latin typeface="+mj-lt"/>
              </a:rPr>
              <a:t>Lease mechanism for consistency</a:t>
            </a:r>
          </a:p>
          <a:p>
            <a:pPr lvl="1"/>
            <a:r>
              <a:rPr lang="en-US" altLang="zh-TW" dirty="0" smtClean="0">
                <a:latin typeface="+mj-lt"/>
              </a:rPr>
              <a:t>master picks one replica as primary; gives it a “lease” for mutations</a:t>
            </a:r>
          </a:p>
          <a:p>
            <a:pPr lvl="1"/>
            <a:r>
              <a:rPr lang="en-US" altLang="zh-TW" dirty="0" smtClean="0">
                <a:latin typeface="+mj-lt"/>
              </a:rPr>
              <a:t>a lease = a lock that has an expiration time</a:t>
            </a:r>
          </a:p>
          <a:p>
            <a:pPr lvl="1"/>
            <a:r>
              <a:rPr lang="en-US" altLang="zh-TW" dirty="0" smtClean="0">
                <a:latin typeface="+mj-lt"/>
              </a:rPr>
              <a:t>primary defines a serial order of mutations</a:t>
            </a:r>
          </a:p>
          <a:p>
            <a:pPr lvl="1"/>
            <a:r>
              <a:rPr lang="en-US" altLang="zh-TW" dirty="0" smtClean="0">
                <a:latin typeface="+mj-lt"/>
              </a:rPr>
              <a:t>all replicas follow this order</a:t>
            </a:r>
          </a:p>
          <a:p>
            <a:r>
              <a:rPr lang="en-US" altLang="zh-TW" dirty="0" smtClean="0">
                <a:latin typeface="+mj-lt"/>
              </a:rPr>
              <a:t>Data flow is decoupled from control flow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System Interactions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Read/Write</a:t>
            </a:r>
          </a:p>
          <a:p>
            <a:r>
              <a:rPr lang="en-US" altLang="zh-TW" dirty="0" smtClean="0"/>
              <a:t>Concurrent Write</a:t>
            </a:r>
          </a:p>
          <a:p>
            <a:r>
              <a:rPr lang="en-US" altLang="zh-TW" dirty="0" smtClean="0"/>
              <a:t>Atomic Record Appends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Snapshot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Concurrent Write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If two clients concurrently write to the same region of a file, any of the following may happen to the overlapping portion:</a:t>
            </a:r>
          </a:p>
          <a:p>
            <a:pPr lvl="1"/>
            <a:r>
              <a:rPr lang="en-US" altLang="zh-TW" dirty="0" smtClean="0">
                <a:latin typeface="+mj-lt"/>
              </a:rPr>
              <a:t>Eventually the overlapping region may contain data from exactly one of the two writes.</a:t>
            </a:r>
          </a:p>
          <a:p>
            <a:pPr lvl="1"/>
            <a:r>
              <a:rPr lang="en-US" altLang="zh-TW" dirty="0" smtClean="0">
                <a:latin typeface="+mj-lt"/>
              </a:rPr>
              <a:t>Eventually the overlapping region may contain a mixture of data from the two writes.</a:t>
            </a:r>
          </a:p>
          <a:p>
            <a:r>
              <a:rPr lang="en-US" altLang="zh-TW" dirty="0" smtClean="0">
                <a:latin typeface="+mj-lt"/>
              </a:rPr>
              <a:t>Furthermore, if a read is executed concurrently with a write, the read operation may see either all of the write, none of the write, or just a portion of the write.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Consistency Model (remind)</a:t>
            </a:r>
            <a:endParaRPr lang="zh-TW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725" y="2132856"/>
            <a:ext cx="8656550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7744" y="1691516"/>
            <a:ext cx="16954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直線單箭頭接點 20"/>
          <p:cNvCxnSpPr>
            <a:stCxn id="4" idx="2"/>
          </p:cNvCxnSpPr>
          <p:nvPr/>
        </p:nvCxnSpPr>
        <p:spPr>
          <a:xfrm rot="16200000" flipH="1">
            <a:off x="2202607" y="3642602"/>
            <a:ext cx="1842095" cy="1637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3275856" y="349171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solidFill>
                  <a:schemeClr val="accent5">
                    <a:lumMod val="75000"/>
                  </a:schemeClr>
                </a:solidFill>
              </a:rPr>
              <a:t>Write X at region @ in C1</a:t>
            </a:r>
            <a:endParaRPr lang="zh-TW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" name="群組 31"/>
          <p:cNvGrpSpPr/>
          <p:nvPr/>
        </p:nvGrpSpPr>
        <p:grpSpPr>
          <a:xfrm>
            <a:off x="2411760" y="4571836"/>
            <a:ext cx="1872208" cy="1449452"/>
            <a:chOff x="2411760" y="4221088"/>
            <a:chExt cx="1872208" cy="1449452"/>
          </a:xfrm>
        </p:grpSpPr>
        <p:sp>
          <p:nvSpPr>
            <p:cNvPr id="5" name="圓角矩形 4"/>
            <p:cNvSpPr/>
            <p:nvPr/>
          </p:nvSpPr>
          <p:spPr>
            <a:xfrm>
              <a:off x="2411760" y="4221088"/>
              <a:ext cx="1872208" cy="1440160"/>
            </a:xfrm>
            <a:prstGeom prst="roundRect">
              <a:avLst>
                <a:gd name="adj" fmla="val 10654"/>
              </a:avLst>
            </a:prstGeom>
            <a:solidFill>
              <a:schemeClr val="accent1">
                <a:alpha val="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809900" y="4437112"/>
              <a:ext cx="1080120" cy="864096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3131840" y="5301208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2"/>
                  </a:solidFill>
                </a:rPr>
                <a:t>C1</a:t>
              </a:r>
              <a:r>
                <a:rPr lang="en-US" altLang="zh-TW" dirty="0" smtClean="0"/>
                <a:t> </a:t>
              </a:r>
              <a:endParaRPr lang="zh-TW" altLang="en-US" dirty="0"/>
            </a:p>
          </p:txBody>
        </p:sp>
      </p:grpSp>
      <p:grpSp>
        <p:nvGrpSpPr>
          <p:cNvPr id="3" name="群組 38"/>
          <p:cNvGrpSpPr/>
          <p:nvPr/>
        </p:nvGrpSpPr>
        <p:grpSpPr>
          <a:xfrm>
            <a:off x="4644008" y="4571836"/>
            <a:ext cx="1872208" cy="1449452"/>
            <a:chOff x="2411760" y="4221088"/>
            <a:chExt cx="1872208" cy="1449452"/>
          </a:xfrm>
        </p:grpSpPr>
        <p:sp>
          <p:nvSpPr>
            <p:cNvPr id="40" name="圓角矩形 39"/>
            <p:cNvSpPr/>
            <p:nvPr/>
          </p:nvSpPr>
          <p:spPr>
            <a:xfrm>
              <a:off x="2411760" y="4221088"/>
              <a:ext cx="1872208" cy="1440160"/>
            </a:xfrm>
            <a:prstGeom prst="roundRect">
              <a:avLst>
                <a:gd name="adj" fmla="val 10654"/>
              </a:avLst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1" name="矩形 40"/>
            <p:cNvSpPr/>
            <p:nvPr/>
          </p:nvSpPr>
          <p:spPr>
            <a:xfrm>
              <a:off x="2809900" y="4437112"/>
              <a:ext cx="1080120" cy="864096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3131840" y="5301208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2"/>
                  </a:solidFill>
                </a:rPr>
                <a:t>C1</a:t>
              </a:r>
              <a:r>
                <a:rPr lang="en-US" altLang="zh-TW" dirty="0" smtClean="0"/>
                <a:t> </a:t>
              </a:r>
              <a:endParaRPr lang="zh-TW" altLang="en-US" dirty="0"/>
            </a:p>
          </p:txBody>
        </p:sp>
      </p:grpSp>
      <p:grpSp>
        <p:nvGrpSpPr>
          <p:cNvPr id="6" name="群組 42"/>
          <p:cNvGrpSpPr/>
          <p:nvPr/>
        </p:nvGrpSpPr>
        <p:grpSpPr>
          <a:xfrm>
            <a:off x="6732240" y="4571836"/>
            <a:ext cx="1872208" cy="1449452"/>
            <a:chOff x="2411760" y="4221088"/>
            <a:chExt cx="1872208" cy="1449452"/>
          </a:xfrm>
        </p:grpSpPr>
        <p:sp>
          <p:nvSpPr>
            <p:cNvPr id="44" name="圓角矩形 43"/>
            <p:cNvSpPr/>
            <p:nvPr/>
          </p:nvSpPr>
          <p:spPr>
            <a:xfrm>
              <a:off x="2411760" y="4221088"/>
              <a:ext cx="1872208" cy="1440160"/>
            </a:xfrm>
            <a:prstGeom prst="roundRect">
              <a:avLst>
                <a:gd name="adj" fmla="val 10654"/>
              </a:avLst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5" name="矩形 44"/>
            <p:cNvSpPr/>
            <p:nvPr/>
          </p:nvSpPr>
          <p:spPr>
            <a:xfrm>
              <a:off x="2809900" y="4437112"/>
              <a:ext cx="1080120" cy="864096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3131840" y="5301208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2"/>
                  </a:solidFill>
                </a:rPr>
                <a:t>C1</a:t>
              </a:r>
              <a:r>
                <a:rPr lang="en-US" altLang="zh-TW" dirty="0" smtClean="0"/>
                <a:t> </a:t>
              </a:r>
              <a:endParaRPr lang="zh-TW" altLang="en-US" dirty="0"/>
            </a:p>
          </p:txBody>
        </p:sp>
      </p:grpSp>
      <p:sp>
        <p:nvSpPr>
          <p:cNvPr id="47" name="文字方塊 46"/>
          <p:cNvSpPr txBox="1"/>
          <p:nvPr/>
        </p:nvSpPr>
        <p:spPr>
          <a:xfrm>
            <a:off x="4860032" y="2627620"/>
            <a:ext cx="24111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200" dirty="0" smtClean="0"/>
              <a:t>Region inconsistent</a:t>
            </a:r>
            <a:endParaRPr lang="zh-TW" altLang="en-US" sz="22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4860032" y="2636912"/>
            <a:ext cx="2520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 smtClean="0"/>
              <a:t>Region consistent</a:t>
            </a:r>
            <a:endParaRPr lang="zh-TW" altLang="en-US" sz="2200" dirty="0"/>
          </a:p>
        </p:txBody>
      </p:sp>
      <p:sp>
        <p:nvSpPr>
          <p:cNvPr id="49" name="矩形 48"/>
          <p:cNvSpPr/>
          <p:nvPr/>
        </p:nvSpPr>
        <p:spPr>
          <a:xfrm>
            <a:off x="7524328" y="5022934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5426571" y="5022934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3194323" y="5022934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smtClean="0"/>
              <a:t>X</a:t>
            </a:r>
            <a:endParaRPr lang="zh-TW" altLang="en-US" dirty="0"/>
          </a:p>
        </p:txBody>
      </p:sp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627620"/>
            <a:ext cx="16954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6" name="圖案 55"/>
          <p:cNvCxnSpPr>
            <a:stCxn id="54" idx="2"/>
          </p:cNvCxnSpPr>
          <p:nvPr/>
        </p:nvCxnSpPr>
        <p:spPr>
          <a:xfrm rot="16200000" flipH="1">
            <a:off x="978471" y="3858626"/>
            <a:ext cx="1626071" cy="1240507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3275856" y="3501008"/>
            <a:ext cx="2997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solidFill>
                  <a:schemeClr val="accent5">
                    <a:lumMod val="75000"/>
                  </a:schemeClr>
                </a:solidFill>
              </a:rPr>
              <a:t>Write xyz at region @ in C1</a:t>
            </a:r>
            <a:endParaRPr lang="zh-TW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251520" y="5291916"/>
            <a:ext cx="2123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solidFill>
                  <a:schemeClr val="accent5">
                    <a:lumMod val="75000"/>
                  </a:schemeClr>
                </a:solidFill>
              </a:rPr>
              <a:t>Write </a:t>
            </a:r>
            <a:r>
              <a:rPr lang="en-US" altLang="zh-TW" sz="2000" dirty="0" err="1" smtClean="0">
                <a:solidFill>
                  <a:schemeClr val="accent5">
                    <a:lumMod val="75000"/>
                  </a:schemeClr>
                </a:solidFill>
              </a:rPr>
              <a:t>abc</a:t>
            </a:r>
            <a:r>
              <a:rPr lang="en-US" altLang="zh-TW" sz="2000" dirty="0" smtClean="0">
                <a:solidFill>
                  <a:schemeClr val="accent5">
                    <a:lumMod val="75000"/>
                  </a:schemeClr>
                </a:solidFill>
              </a:rPr>
              <a:t> at region @ in C1</a:t>
            </a:r>
            <a:endParaRPr lang="zh-TW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4211960" y="2638073"/>
            <a:ext cx="40524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 smtClean="0"/>
              <a:t>Region consistent but undefined </a:t>
            </a:r>
            <a:endParaRPr lang="zh-TW" altLang="en-US" sz="22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956796" y="5013176"/>
            <a:ext cx="80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xyzabc</a:t>
            </a:r>
            <a:endParaRPr lang="zh-TW" altLang="en-US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186164" y="5013176"/>
            <a:ext cx="80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xyzabc</a:t>
            </a:r>
            <a:endParaRPr lang="zh-TW" altLang="en-US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7308304" y="5003884"/>
            <a:ext cx="80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xyzabc</a:t>
            </a:r>
            <a:endParaRPr lang="zh-TW" altLang="en-US" dirty="0"/>
          </a:p>
        </p:txBody>
      </p:sp>
      <p:sp>
        <p:nvSpPr>
          <p:cNvPr id="30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Write/Concurrent Write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47" grpId="0"/>
      <p:bldP spid="47" grpId="1"/>
      <p:bldP spid="48" grpId="0"/>
      <p:bldP spid="48" grpId="1"/>
      <p:bldP spid="49" grpId="0"/>
      <p:bldP spid="49" grpId="1"/>
      <p:bldP spid="52" grpId="0"/>
      <p:bldP spid="52" grpId="1"/>
      <p:bldP spid="53" grpId="0"/>
      <p:bldP spid="53" grpId="1"/>
      <p:bldP spid="57" grpId="0"/>
      <p:bldP spid="58" grpId="0"/>
      <p:bldP spid="59" grpId="0"/>
      <p:bldP spid="60" grpId="0"/>
      <p:bldP spid="62" grpId="0"/>
      <p:bldP spid="6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Trade-offs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Some properties</a:t>
            </a:r>
          </a:p>
          <a:p>
            <a:pPr lvl="1"/>
            <a:r>
              <a:rPr lang="en-US" altLang="zh-TW" dirty="0" smtClean="0">
                <a:latin typeface="+mj-lt"/>
              </a:rPr>
              <a:t>concurrent writes leave region consistent, but possibly undefined</a:t>
            </a:r>
          </a:p>
          <a:p>
            <a:pPr lvl="1"/>
            <a:r>
              <a:rPr lang="en-US" altLang="zh-TW" dirty="0" smtClean="0">
                <a:latin typeface="+mj-lt"/>
              </a:rPr>
              <a:t>failed writes leave the region inconsistent</a:t>
            </a:r>
          </a:p>
          <a:p>
            <a:pPr lvl="1"/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Some work has moved into the applications</a:t>
            </a:r>
          </a:p>
          <a:p>
            <a:pPr lvl="1"/>
            <a:r>
              <a:rPr lang="en-US" altLang="zh-TW" dirty="0" smtClean="0">
                <a:latin typeface="+mj-lt"/>
              </a:rPr>
              <a:t>e.g., self-validating, self-identifying records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Atomic Record Appends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GFS provides an atomic append operation called “record append”</a:t>
            </a:r>
          </a:p>
          <a:p>
            <a:r>
              <a:rPr lang="en-US" altLang="zh-TW" dirty="0" smtClean="0">
                <a:latin typeface="+mj-lt"/>
              </a:rPr>
              <a:t>Client specifies data, but not the offset</a:t>
            </a:r>
          </a:p>
          <a:p>
            <a:r>
              <a:rPr lang="en-US" altLang="zh-TW" dirty="0" smtClean="0">
                <a:latin typeface="+mj-lt"/>
              </a:rPr>
              <a:t>GFS guarantees that the data is appended to the file atomically at least once</a:t>
            </a:r>
          </a:p>
          <a:p>
            <a:pPr lvl="1"/>
            <a:r>
              <a:rPr lang="en-US" altLang="zh-TW" dirty="0" smtClean="0">
                <a:latin typeface="+mj-lt"/>
              </a:rPr>
              <a:t>GFS picks the offset, and returns the offset to client</a:t>
            </a:r>
          </a:p>
          <a:p>
            <a:pPr lvl="1"/>
            <a:r>
              <a:rPr lang="en-US" altLang="zh-TW" dirty="0" smtClean="0">
                <a:latin typeface="+mj-lt"/>
              </a:rPr>
              <a:t>works for concurrent writers</a:t>
            </a:r>
          </a:p>
          <a:p>
            <a:r>
              <a:rPr lang="en-US" altLang="zh-TW" dirty="0" smtClean="0">
                <a:latin typeface="+mj-lt"/>
              </a:rPr>
              <a:t>Used heavily by Google apps</a:t>
            </a:r>
          </a:p>
          <a:p>
            <a:pPr lvl="1"/>
            <a:r>
              <a:rPr lang="en-US" altLang="zh-TW" dirty="0" smtClean="0">
                <a:latin typeface="+mj-lt"/>
              </a:rPr>
              <a:t>e.g., for files that serve as multiple-producer/single-consumer queues</a:t>
            </a:r>
          </a:p>
          <a:p>
            <a:pPr lvl="1"/>
            <a:r>
              <a:rPr lang="en-US" altLang="zh-TW" dirty="0" smtClean="0">
                <a:latin typeface="+mj-lt"/>
              </a:rPr>
              <a:t>Contain merged results from many different clients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Record Append Works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Query and Data Push are similar to write operation</a:t>
            </a:r>
          </a:p>
          <a:p>
            <a:r>
              <a:rPr lang="en-US" altLang="zh-TW" dirty="0" smtClean="0">
                <a:latin typeface="+mj-lt"/>
              </a:rPr>
              <a:t>Client send write request to primary</a:t>
            </a:r>
          </a:p>
          <a:p>
            <a:r>
              <a:rPr lang="en-US" altLang="zh-TW" dirty="0" smtClean="0">
                <a:latin typeface="+mj-lt"/>
              </a:rPr>
              <a:t>If appending would exceed chunk boundary</a:t>
            </a:r>
          </a:p>
          <a:p>
            <a:pPr lvl="1"/>
            <a:r>
              <a:rPr lang="en-US" altLang="zh-TW" dirty="0" smtClean="0">
                <a:latin typeface="+mj-lt"/>
              </a:rPr>
              <a:t>Primary pads the current chunk, tells other replicas to do the same, replies to client asking to retry on the next chunk</a:t>
            </a:r>
          </a:p>
          <a:p>
            <a:r>
              <a:rPr lang="en-US" altLang="zh-TW" dirty="0" smtClean="0">
                <a:latin typeface="+mj-lt"/>
              </a:rPr>
              <a:t>Else</a:t>
            </a:r>
          </a:p>
          <a:p>
            <a:pPr lvl="1"/>
            <a:r>
              <a:rPr lang="en-US" altLang="zh-TW" dirty="0" smtClean="0">
                <a:latin typeface="+mj-lt"/>
              </a:rPr>
              <a:t>commit the write in all replicas</a:t>
            </a:r>
          </a:p>
          <a:p>
            <a:r>
              <a:rPr lang="en-US" altLang="zh-TW" dirty="0" smtClean="0">
                <a:latin typeface="+mj-lt"/>
              </a:rPr>
              <a:t>Any replica failure: client retries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7744" y="1691516"/>
            <a:ext cx="16954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直線單箭頭接點 4"/>
          <p:cNvCxnSpPr>
            <a:stCxn id="4" idx="2"/>
          </p:cNvCxnSpPr>
          <p:nvPr/>
        </p:nvCxnSpPr>
        <p:spPr>
          <a:xfrm rot="16200000" flipH="1">
            <a:off x="2202607" y="3642602"/>
            <a:ext cx="1842095" cy="1637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>
            <a:off x="3275856" y="3491716"/>
            <a:ext cx="1425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solidFill>
                  <a:schemeClr val="accent5">
                    <a:lumMod val="75000"/>
                  </a:schemeClr>
                </a:solidFill>
              </a:rPr>
              <a:t>Append </a:t>
            </a:r>
            <a:r>
              <a:rPr lang="en-US" altLang="zh-TW" sz="2000" dirty="0" err="1" smtClean="0">
                <a:solidFill>
                  <a:schemeClr val="accent5">
                    <a:lumMod val="75000"/>
                  </a:schemeClr>
                </a:solidFill>
              </a:rPr>
              <a:t>abc</a:t>
            </a:r>
            <a:endParaRPr lang="zh-TW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" name="群組 6"/>
          <p:cNvGrpSpPr/>
          <p:nvPr/>
        </p:nvGrpSpPr>
        <p:grpSpPr>
          <a:xfrm>
            <a:off x="2411760" y="4571836"/>
            <a:ext cx="1872208" cy="1449452"/>
            <a:chOff x="2411760" y="4221088"/>
            <a:chExt cx="1872208" cy="1449452"/>
          </a:xfrm>
        </p:grpSpPr>
        <p:sp>
          <p:nvSpPr>
            <p:cNvPr id="8" name="圓角矩形 7"/>
            <p:cNvSpPr/>
            <p:nvPr/>
          </p:nvSpPr>
          <p:spPr>
            <a:xfrm>
              <a:off x="2411760" y="4221088"/>
              <a:ext cx="1872208" cy="1440160"/>
            </a:xfrm>
            <a:prstGeom prst="roundRect">
              <a:avLst>
                <a:gd name="adj" fmla="val 10654"/>
              </a:avLst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809900" y="4437112"/>
              <a:ext cx="1080120" cy="864096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3131840" y="5301208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2"/>
                  </a:solidFill>
                </a:rPr>
                <a:t>C1</a:t>
              </a:r>
              <a:r>
                <a:rPr lang="en-US" altLang="zh-TW" dirty="0" smtClean="0"/>
                <a:t> </a:t>
              </a:r>
              <a:endParaRPr lang="zh-TW" altLang="en-US" dirty="0"/>
            </a:p>
          </p:txBody>
        </p:sp>
      </p:grpSp>
      <p:grpSp>
        <p:nvGrpSpPr>
          <p:cNvPr id="3" name="群組 10"/>
          <p:cNvGrpSpPr/>
          <p:nvPr/>
        </p:nvGrpSpPr>
        <p:grpSpPr>
          <a:xfrm>
            <a:off x="4644008" y="4571836"/>
            <a:ext cx="1872208" cy="1449452"/>
            <a:chOff x="2411760" y="4221088"/>
            <a:chExt cx="1872208" cy="1449452"/>
          </a:xfrm>
        </p:grpSpPr>
        <p:sp>
          <p:nvSpPr>
            <p:cNvPr id="12" name="圓角矩形 11"/>
            <p:cNvSpPr/>
            <p:nvPr/>
          </p:nvSpPr>
          <p:spPr>
            <a:xfrm>
              <a:off x="2411760" y="4221088"/>
              <a:ext cx="1872208" cy="1440160"/>
            </a:xfrm>
            <a:prstGeom prst="roundRect">
              <a:avLst>
                <a:gd name="adj" fmla="val 10654"/>
              </a:avLst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2809900" y="4437112"/>
              <a:ext cx="1080120" cy="864096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3131840" y="5301208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2"/>
                  </a:solidFill>
                </a:rPr>
                <a:t>C1</a:t>
              </a:r>
              <a:r>
                <a:rPr lang="en-US" altLang="zh-TW" dirty="0" smtClean="0"/>
                <a:t> </a:t>
              </a:r>
              <a:endParaRPr lang="zh-TW" altLang="en-US" dirty="0"/>
            </a:p>
          </p:txBody>
        </p:sp>
      </p:grpSp>
      <p:grpSp>
        <p:nvGrpSpPr>
          <p:cNvPr id="7" name="群組 14"/>
          <p:cNvGrpSpPr/>
          <p:nvPr/>
        </p:nvGrpSpPr>
        <p:grpSpPr>
          <a:xfrm>
            <a:off x="6732240" y="4571836"/>
            <a:ext cx="1872208" cy="1449452"/>
            <a:chOff x="2411760" y="4221088"/>
            <a:chExt cx="1872208" cy="1449452"/>
          </a:xfrm>
        </p:grpSpPr>
        <p:sp>
          <p:nvSpPr>
            <p:cNvPr id="16" name="圓角矩形 15"/>
            <p:cNvSpPr/>
            <p:nvPr/>
          </p:nvSpPr>
          <p:spPr>
            <a:xfrm>
              <a:off x="2411760" y="4221088"/>
              <a:ext cx="1872208" cy="1440160"/>
            </a:xfrm>
            <a:prstGeom prst="roundRect">
              <a:avLst>
                <a:gd name="adj" fmla="val 10654"/>
              </a:avLst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2809900" y="4437112"/>
              <a:ext cx="1080120" cy="864096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3131840" y="5301208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2"/>
                  </a:solidFill>
                </a:rPr>
                <a:t>C1</a:t>
              </a:r>
              <a:r>
                <a:rPr lang="en-US" altLang="zh-TW" dirty="0" smtClean="0"/>
                <a:t> </a:t>
              </a:r>
              <a:endParaRPr lang="zh-TW" altLang="en-US" dirty="0"/>
            </a:p>
          </p:txBody>
        </p:sp>
      </p:grpSp>
      <p:sp>
        <p:nvSpPr>
          <p:cNvPr id="19" name="文字方塊 18"/>
          <p:cNvSpPr txBox="1"/>
          <p:nvPr/>
        </p:nvSpPr>
        <p:spPr>
          <a:xfrm>
            <a:off x="4211960" y="2627620"/>
            <a:ext cx="40324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200" dirty="0" smtClean="0"/>
              <a:t>Region defined interspersed with inconsistent</a:t>
            </a:r>
            <a:endParaRPr lang="zh-TW" altLang="en-US" sz="22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3089983" y="5075892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abc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5319351" y="5075892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abc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7441491" y="5075892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abc</a:t>
            </a:r>
            <a:endParaRPr lang="zh-TW" altLang="en-US" dirty="0"/>
          </a:p>
        </p:txBody>
      </p:sp>
      <p:cxnSp>
        <p:nvCxnSpPr>
          <p:cNvPr id="30" name="直線單箭頭接點 29"/>
          <p:cNvCxnSpPr/>
          <p:nvPr/>
        </p:nvCxnSpPr>
        <p:spPr>
          <a:xfrm rot="5400000" flipH="1" flipV="1">
            <a:off x="1691680" y="3635732"/>
            <a:ext cx="187220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1835696" y="3491716"/>
            <a:ext cx="739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solidFill>
                  <a:schemeClr val="accent5">
                    <a:lumMod val="75000"/>
                  </a:schemeClr>
                </a:solidFill>
              </a:rPr>
              <a:t>Retry</a:t>
            </a:r>
            <a:endParaRPr lang="zh-TW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283968" y="2627620"/>
            <a:ext cx="40324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200" dirty="0" smtClean="0"/>
              <a:t>Region inconsistent and undefined</a:t>
            </a:r>
            <a:endParaRPr lang="zh-TW" altLang="en-US" sz="22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3089983" y="4931876"/>
            <a:ext cx="514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abc</a:t>
            </a:r>
            <a:endParaRPr lang="en-US" altLang="zh-TW" dirty="0" smtClean="0"/>
          </a:p>
          <a:p>
            <a:r>
              <a:rPr lang="en-US" altLang="zh-TW" dirty="0" err="1" smtClean="0"/>
              <a:t>abc</a:t>
            </a:r>
            <a:endParaRPr lang="zh-TW" altLang="en-US" dirty="0"/>
          </a:p>
        </p:txBody>
      </p:sp>
      <p:sp>
        <p:nvSpPr>
          <p:cNvPr id="25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Append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9" grpId="0"/>
      <p:bldP spid="26" grpId="0"/>
      <p:bldP spid="27" grpId="0"/>
      <p:bldP spid="28" grpId="0"/>
      <p:bldP spid="31" grpId="0"/>
      <p:bldP spid="31" grpId="1"/>
      <p:bldP spid="32" grpId="0"/>
      <p:bldP spid="3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System Interactions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Read/Write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Concurrent Write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Atomic Record Appends</a:t>
            </a:r>
          </a:p>
          <a:p>
            <a:r>
              <a:rPr lang="en-US" altLang="zh-TW" dirty="0" smtClean="0"/>
              <a:t>Snapshot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Snapshot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Makes a copy of a file or a directory tree almost instantaneously</a:t>
            </a:r>
          </a:p>
          <a:p>
            <a:pPr lvl="1"/>
            <a:r>
              <a:rPr lang="en-US" altLang="zh-TW" dirty="0" smtClean="0">
                <a:latin typeface="+mj-lt"/>
              </a:rPr>
              <a:t>minimize interruptions of ongoing mutations</a:t>
            </a:r>
          </a:p>
          <a:p>
            <a:pPr lvl="1"/>
            <a:r>
              <a:rPr lang="en-US" altLang="zh-TW" dirty="0" smtClean="0">
                <a:latin typeface="+mj-lt"/>
              </a:rPr>
              <a:t>copy-on-write with reference counts on chunks</a:t>
            </a:r>
          </a:p>
          <a:p>
            <a:r>
              <a:rPr lang="en-US" altLang="zh-TW" dirty="0" smtClean="0">
                <a:latin typeface="+mj-lt"/>
              </a:rPr>
              <a:t>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a client issues a snapshot request for source files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master revokes all leases of affected chunks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master logs the operation to disk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master duplicates metadata of source files, pointing to the same chunks, increasing the reference count of the chunks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 After Snapshot(Read/Write)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578657" y="1052736"/>
            <a:ext cx="4754840" cy="32015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76302" y="1115692"/>
            <a:ext cx="3832259" cy="1710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字方塊 6"/>
          <p:cNvSpPr txBox="1"/>
          <p:nvPr/>
        </p:nvSpPr>
        <p:spPr>
          <a:xfrm>
            <a:off x="6346400" y="1706036"/>
            <a:ext cx="1313180" cy="377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50" dirty="0" smtClean="0">
                <a:latin typeface="Cambria Math" pitchFamily="18" charset="0"/>
                <a:ea typeface="Cambria Math" pitchFamily="18" charset="0"/>
              </a:rPr>
              <a:t>chunk 2ef1</a:t>
            </a:r>
            <a:endParaRPr lang="zh-TW" altLang="en-US" sz="1850" dirty="0">
              <a:latin typeface="Cambria Math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088334" y="2012359"/>
            <a:ext cx="1277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Read bar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1992139" y="2006707"/>
            <a:ext cx="1487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Write bar</a:t>
            </a:r>
            <a:endParaRPr lang="zh-TW" altLang="en-US" dirty="0"/>
          </a:p>
        </p:txBody>
      </p:sp>
      <p:grpSp>
        <p:nvGrpSpPr>
          <p:cNvPr id="3" name="群組 9"/>
          <p:cNvGrpSpPr/>
          <p:nvPr/>
        </p:nvGrpSpPr>
        <p:grpSpPr>
          <a:xfrm>
            <a:off x="4217367" y="3262317"/>
            <a:ext cx="922581" cy="851344"/>
            <a:chOff x="3275856" y="1772816"/>
            <a:chExt cx="1080120" cy="1123553"/>
          </a:xfrm>
        </p:grpSpPr>
        <p:cxnSp>
          <p:nvCxnSpPr>
            <p:cNvPr id="11" name="直線接點 10"/>
            <p:cNvCxnSpPr/>
            <p:nvPr/>
          </p:nvCxnSpPr>
          <p:spPr>
            <a:xfrm rot="5400000">
              <a:off x="3275856" y="1772816"/>
              <a:ext cx="720080" cy="720080"/>
            </a:xfrm>
            <a:prstGeom prst="line">
              <a:avLst/>
            </a:prstGeom>
            <a:ln w="19050">
              <a:solidFill>
                <a:schemeClr val="dk1">
                  <a:alpha val="54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 rot="16200000" flipH="1">
              <a:off x="3626371" y="2142382"/>
              <a:ext cx="720080" cy="720080"/>
            </a:xfrm>
            <a:prstGeom prst="line">
              <a:avLst/>
            </a:prstGeom>
            <a:ln w="19050">
              <a:solidFill>
                <a:schemeClr val="dk1">
                  <a:alpha val="54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rot="5400000">
              <a:off x="3815916" y="1952836"/>
              <a:ext cx="360040" cy="0"/>
            </a:xfrm>
            <a:prstGeom prst="line">
              <a:avLst/>
            </a:prstGeom>
            <a:ln w="19050">
              <a:solidFill>
                <a:schemeClr val="dk1">
                  <a:alpha val="54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rot="16200000" flipH="1">
              <a:off x="3995936" y="1772816"/>
              <a:ext cx="360040" cy="360040"/>
            </a:xfrm>
            <a:prstGeom prst="line">
              <a:avLst/>
            </a:prstGeom>
            <a:ln w="19050">
              <a:solidFill>
                <a:schemeClr val="dk1">
                  <a:alpha val="54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>
            <a:xfrm rot="5400000">
              <a:off x="3635896" y="2526804"/>
              <a:ext cx="360040" cy="360040"/>
            </a:xfrm>
            <a:prstGeom prst="line">
              <a:avLst/>
            </a:prstGeom>
            <a:ln w="19050">
              <a:solidFill>
                <a:schemeClr val="dk1">
                  <a:alpha val="54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>
            <a:xfrm rot="5400000">
              <a:off x="3825441" y="2716349"/>
              <a:ext cx="360040" cy="0"/>
            </a:xfrm>
            <a:prstGeom prst="line">
              <a:avLst/>
            </a:prstGeom>
            <a:ln w="19050">
              <a:solidFill>
                <a:schemeClr val="dk1">
                  <a:alpha val="54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 rot="5400000" flipH="1" flipV="1">
              <a:off x="3446351" y="2346784"/>
              <a:ext cx="360040" cy="0"/>
            </a:xfrm>
            <a:prstGeom prst="line">
              <a:avLst/>
            </a:prstGeom>
            <a:ln w="19050">
              <a:solidFill>
                <a:schemeClr val="dk1">
                  <a:alpha val="54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向下箭號 17"/>
          <p:cNvSpPr/>
          <p:nvPr/>
        </p:nvSpPr>
        <p:spPr>
          <a:xfrm>
            <a:off x="4501238" y="2928440"/>
            <a:ext cx="638710" cy="25182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3933496" y="2865483"/>
            <a:ext cx="645336" cy="32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Copy</a:t>
            </a:r>
            <a:endParaRPr lang="zh-TW" altLang="en-US" dirty="0"/>
          </a:p>
        </p:txBody>
      </p:sp>
      <p:cxnSp>
        <p:nvCxnSpPr>
          <p:cNvPr id="20" name="弧形接點 19"/>
          <p:cNvCxnSpPr/>
          <p:nvPr/>
        </p:nvCxnSpPr>
        <p:spPr>
          <a:xfrm flipV="1">
            <a:off x="5103914" y="1560227"/>
            <a:ext cx="1242486" cy="2518757"/>
          </a:xfrm>
          <a:prstGeom prst="curvedConnector3">
            <a:avLst>
              <a:gd name="adj1" fmla="val 50000"/>
            </a:avLst>
          </a:prstGeom>
          <a:ln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7452320" y="1412676"/>
            <a:ext cx="13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 smtClean="0">
                <a:solidFill>
                  <a:srgbClr val="FF0000"/>
                </a:solidFill>
              </a:rPr>
              <a:t>Reference: 2</a:t>
            </a:r>
            <a:endParaRPr lang="zh-TW" altLang="en-US" i="1" dirty="0">
              <a:solidFill>
                <a:srgbClr val="FF0000"/>
              </a:solidFill>
            </a:endParaRPr>
          </a:p>
        </p:txBody>
      </p:sp>
      <p:pic>
        <p:nvPicPr>
          <p:cNvPr id="2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765578"/>
            <a:ext cx="1670957" cy="924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79908" y="4880090"/>
            <a:ext cx="2331008" cy="566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04464" y="4880090"/>
            <a:ext cx="2331008" cy="566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文字方塊 24"/>
          <p:cNvSpPr txBox="1"/>
          <p:nvPr/>
        </p:nvSpPr>
        <p:spPr>
          <a:xfrm>
            <a:off x="5494787" y="4943047"/>
            <a:ext cx="425807" cy="322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….</a:t>
            </a:r>
            <a:endParaRPr lang="zh-TW" altLang="en-US" dirty="0"/>
          </a:p>
        </p:txBody>
      </p:sp>
      <p:cxnSp>
        <p:nvCxnSpPr>
          <p:cNvPr id="26" name="直線單箭頭接點 25"/>
          <p:cNvCxnSpPr/>
          <p:nvPr/>
        </p:nvCxnSpPr>
        <p:spPr>
          <a:xfrm>
            <a:off x="1998592" y="2323858"/>
            <a:ext cx="1561291" cy="13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流程圖: 磁碟 26"/>
          <p:cNvSpPr/>
          <p:nvPr/>
        </p:nvSpPr>
        <p:spPr>
          <a:xfrm>
            <a:off x="3222694" y="5761481"/>
            <a:ext cx="993549" cy="920405"/>
          </a:xfrm>
          <a:prstGeom prst="flowChartMagneticDisk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流程圖: 磁碟 27"/>
          <p:cNvSpPr/>
          <p:nvPr/>
        </p:nvSpPr>
        <p:spPr>
          <a:xfrm>
            <a:off x="7855497" y="5761481"/>
            <a:ext cx="993549" cy="920405"/>
          </a:xfrm>
          <a:prstGeom prst="flowChartMagneticDisk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流程圖: 磁碟 28"/>
          <p:cNvSpPr/>
          <p:nvPr/>
        </p:nvSpPr>
        <p:spPr>
          <a:xfrm>
            <a:off x="4548175" y="5761481"/>
            <a:ext cx="993549" cy="920405"/>
          </a:xfrm>
          <a:prstGeom prst="flowChartMagneticDisk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流程圖: 磁碟 29"/>
          <p:cNvSpPr/>
          <p:nvPr/>
        </p:nvSpPr>
        <p:spPr>
          <a:xfrm>
            <a:off x="6535272" y="5761481"/>
            <a:ext cx="993549" cy="920405"/>
          </a:xfrm>
          <a:prstGeom prst="flowChartMagneticDisk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圖案 30"/>
          <p:cNvCxnSpPr>
            <a:endCxn id="27" idx="2"/>
          </p:cNvCxnSpPr>
          <p:nvPr/>
        </p:nvCxnSpPr>
        <p:spPr>
          <a:xfrm rot="16200000" flipH="1">
            <a:off x="2728750" y="5727739"/>
            <a:ext cx="774985" cy="21290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圖案 31"/>
          <p:cNvCxnSpPr/>
          <p:nvPr/>
        </p:nvCxnSpPr>
        <p:spPr>
          <a:xfrm rot="16200000" flipH="1">
            <a:off x="4030200" y="5727740"/>
            <a:ext cx="774985" cy="21290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圖案 32"/>
          <p:cNvCxnSpPr/>
          <p:nvPr/>
        </p:nvCxnSpPr>
        <p:spPr>
          <a:xfrm rot="16200000" flipH="1">
            <a:off x="7342779" y="5727739"/>
            <a:ext cx="774985" cy="21290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圖案 33"/>
          <p:cNvCxnSpPr/>
          <p:nvPr/>
        </p:nvCxnSpPr>
        <p:spPr>
          <a:xfrm rot="16200000" flipH="1">
            <a:off x="6041328" y="5727739"/>
            <a:ext cx="774985" cy="21290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356367" y="6130892"/>
            <a:ext cx="212903" cy="18886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>
            <a:off x="6673076" y="6130892"/>
            <a:ext cx="212903" cy="18886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456076" y="6013307"/>
            <a:ext cx="212903" cy="18886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>
            <a:off x="616786" y="5950350"/>
            <a:ext cx="1344323" cy="32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: Chunk 2ef0</a:t>
            </a:r>
            <a:endParaRPr lang="zh-TW" altLang="en-US" dirty="0"/>
          </a:p>
        </p:txBody>
      </p:sp>
      <p:sp>
        <p:nvSpPr>
          <p:cNvPr id="39" name="上彎箭號 38"/>
          <p:cNvSpPr/>
          <p:nvPr/>
        </p:nvSpPr>
        <p:spPr>
          <a:xfrm flipH="1">
            <a:off x="598012" y="2676614"/>
            <a:ext cx="2270968" cy="2581215"/>
          </a:xfrm>
          <a:prstGeom prst="bentUpArrow">
            <a:avLst>
              <a:gd name="adj1" fmla="val 6949"/>
              <a:gd name="adj2" fmla="val 8576"/>
              <a:gd name="adj3" fmla="val 8879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弧形接點 39"/>
          <p:cNvCxnSpPr/>
          <p:nvPr/>
        </p:nvCxnSpPr>
        <p:spPr>
          <a:xfrm flipV="1">
            <a:off x="5115917" y="1501933"/>
            <a:ext cx="1230483" cy="1197831"/>
          </a:xfrm>
          <a:prstGeom prst="curvedConnector3">
            <a:avLst>
              <a:gd name="adj1" fmla="val 50000"/>
            </a:avLst>
          </a:prstGeom>
          <a:ln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62528" y="4288499"/>
            <a:ext cx="3955077" cy="566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2" name="直線單箭頭接點 41"/>
          <p:cNvCxnSpPr/>
          <p:nvPr/>
        </p:nvCxnSpPr>
        <p:spPr>
          <a:xfrm rot="10800000">
            <a:off x="1998592" y="2549312"/>
            <a:ext cx="1561291" cy="13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2053915" y="2674046"/>
            <a:ext cx="1453775" cy="32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Chunk handle</a:t>
            </a:r>
            <a:endParaRPr lang="zh-TW" altLang="en-US" dirty="0"/>
          </a:p>
        </p:txBody>
      </p:sp>
      <p:cxnSp>
        <p:nvCxnSpPr>
          <p:cNvPr id="44" name="弧形接點 43"/>
          <p:cNvCxnSpPr/>
          <p:nvPr/>
        </p:nvCxnSpPr>
        <p:spPr>
          <a:xfrm flipV="1">
            <a:off x="5121173" y="1816715"/>
            <a:ext cx="1225227" cy="866394"/>
          </a:xfrm>
          <a:prstGeom prst="curvedConnector3">
            <a:avLst>
              <a:gd name="adj1" fmla="val 50000"/>
            </a:avLst>
          </a:prstGeom>
          <a:ln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字方塊 45"/>
          <p:cNvSpPr txBox="1"/>
          <p:nvPr/>
        </p:nvSpPr>
        <p:spPr>
          <a:xfrm>
            <a:off x="6843174" y="2047049"/>
            <a:ext cx="454996" cy="21947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7452320" y="1404555"/>
            <a:ext cx="13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 smtClean="0">
                <a:solidFill>
                  <a:srgbClr val="FF0000"/>
                </a:solidFill>
              </a:rPr>
              <a:t>Reference: 1</a:t>
            </a:r>
            <a:endParaRPr lang="zh-TW" altLang="en-US" i="1" dirty="0">
              <a:solidFill>
                <a:srgbClr val="FF0000"/>
              </a:solidFill>
            </a:endParaRPr>
          </a:p>
        </p:txBody>
      </p:sp>
      <p:sp>
        <p:nvSpPr>
          <p:cNvPr id="48" name="上彎箭號 47"/>
          <p:cNvSpPr/>
          <p:nvPr/>
        </p:nvSpPr>
        <p:spPr>
          <a:xfrm rot="16200000" flipH="1" flipV="1">
            <a:off x="432124" y="2943398"/>
            <a:ext cx="2707129" cy="2166582"/>
          </a:xfrm>
          <a:prstGeom prst="bentUpArrow">
            <a:avLst>
              <a:gd name="adj1" fmla="val 6949"/>
              <a:gd name="adj2" fmla="val 8576"/>
              <a:gd name="adj3" fmla="val 8879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/>
        </p:nvSpPr>
        <p:spPr>
          <a:xfrm>
            <a:off x="3862528" y="6138557"/>
            <a:ext cx="212903" cy="18886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/>
          <p:cNvSpPr/>
          <p:nvPr/>
        </p:nvSpPr>
        <p:spPr>
          <a:xfrm>
            <a:off x="7198013" y="6130892"/>
            <a:ext cx="212903" cy="18886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/>
          <p:cNvSpPr/>
          <p:nvPr/>
        </p:nvSpPr>
        <p:spPr>
          <a:xfrm>
            <a:off x="456076" y="6336417"/>
            <a:ext cx="212903" cy="18886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/>
          <p:cNvSpPr txBox="1"/>
          <p:nvPr/>
        </p:nvSpPr>
        <p:spPr>
          <a:xfrm>
            <a:off x="617911" y="6265133"/>
            <a:ext cx="1344323" cy="32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: Chunk 2ef1</a:t>
            </a:r>
            <a:endParaRPr lang="zh-TW" altLang="en-US" dirty="0"/>
          </a:p>
        </p:txBody>
      </p:sp>
      <p:sp>
        <p:nvSpPr>
          <p:cNvPr id="53" name="向右箭號 52"/>
          <p:cNvSpPr/>
          <p:nvPr/>
        </p:nvSpPr>
        <p:spPr>
          <a:xfrm>
            <a:off x="3649625" y="6168865"/>
            <a:ext cx="141936" cy="1259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向右箭號 53"/>
          <p:cNvSpPr/>
          <p:nvPr/>
        </p:nvSpPr>
        <p:spPr>
          <a:xfrm>
            <a:off x="6985110" y="6168865"/>
            <a:ext cx="141936" cy="1259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/>
          <p:cNvSpPr txBox="1"/>
          <p:nvPr/>
        </p:nvSpPr>
        <p:spPr>
          <a:xfrm>
            <a:off x="6488335" y="6294778"/>
            <a:ext cx="1106524" cy="32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tx2"/>
                </a:solidFill>
              </a:rPr>
              <a:t>Copy data</a:t>
            </a:r>
            <a:endParaRPr lang="zh-TW" altLang="en-US" dirty="0">
              <a:solidFill>
                <a:schemeClr val="tx2"/>
              </a:solidFill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171626" y="6346454"/>
            <a:ext cx="1106524" cy="32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tx2"/>
                </a:solidFill>
              </a:rPr>
              <a:t>Copy data</a:t>
            </a:r>
            <a:endParaRPr lang="zh-TW" altLang="en-US" dirty="0">
              <a:solidFill>
                <a:schemeClr val="tx2"/>
              </a:solidFill>
            </a:endParaRPr>
          </a:p>
        </p:txBody>
      </p:sp>
      <p:sp>
        <p:nvSpPr>
          <p:cNvPr id="57" name="向右箭號 56"/>
          <p:cNvSpPr/>
          <p:nvPr/>
        </p:nvSpPr>
        <p:spPr>
          <a:xfrm>
            <a:off x="5220303" y="5047642"/>
            <a:ext cx="950743" cy="26481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3563888" y="3059668"/>
            <a:ext cx="1053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Snapshot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7452320" y="1673649"/>
            <a:ext cx="1359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>
                <a:solidFill>
                  <a:srgbClr val="FF0000"/>
                </a:solidFill>
              </a:rPr>
              <a:t>Reference: 1</a:t>
            </a:r>
            <a:endParaRPr lang="zh-TW" altLang="en-US" i="1" dirty="0">
              <a:solidFill>
                <a:srgbClr val="FF0000"/>
              </a:solidFill>
            </a:endParaRPr>
          </a:p>
        </p:txBody>
      </p:sp>
      <p:cxnSp>
        <p:nvCxnSpPr>
          <p:cNvPr id="62" name="圖案 61"/>
          <p:cNvCxnSpPr>
            <a:stCxn id="22" idx="2"/>
            <a:endCxn id="23" idx="1"/>
          </p:cNvCxnSpPr>
          <p:nvPr/>
        </p:nvCxnSpPr>
        <p:spPr>
          <a:xfrm rot="16200000" flipH="1">
            <a:off x="782736" y="3066222"/>
            <a:ext cx="2473442" cy="1720901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331640" y="4653136"/>
            <a:ext cx="147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Chunk handle</a:t>
            </a:r>
            <a:endParaRPr lang="zh-TW" altLang="en-US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107504" y="4149080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Data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8" grpId="1"/>
      <p:bldP spid="9" grpId="0"/>
      <p:bldP spid="9" grpId="1"/>
      <p:bldP spid="18" grpId="0" animBg="1"/>
      <p:bldP spid="18" grpId="1" animBg="1"/>
      <p:bldP spid="19" grpId="0"/>
      <p:bldP spid="19" grpId="1"/>
      <p:bldP spid="21" grpId="0"/>
      <p:bldP spid="21" grpId="1"/>
      <p:bldP spid="39" grpId="0" animBg="1"/>
      <p:bldP spid="39" grpId="1" animBg="1"/>
      <p:bldP spid="43" grpId="0"/>
      <p:bldP spid="43" grpId="1"/>
      <p:bldP spid="43" grpId="2"/>
      <p:bldP spid="43" grpId="3"/>
      <p:bldP spid="47" grpId="0"/>
      <p:bldP spid="47" grpId="1"/>
      <p:bldP spid="48" grpId="0" animBg="1"/>
      <p:bldP spid="49" grpId="0" animBg="1"/>
      <p:bldP spid="50" grpId="0" animBg="1"/>
      <p:bldP spid="51" grpId="0" animBg="1"/>
      <p:bldP spid="52" grpId="0"/>
      <p:bldP spid="53" grpId="0" animBg="1"/>
      <p:bldP spid="53" grpId="1" animBg="1"/>
      <p:bldP spid="54" grpId="0" animBg="1"/>
      <p:bldP spid="54" grpId="1" animBg="1"/>
      <p:bldP spid="55" grpId="0"/>
      <p:bldP spid="55" grpId="1"/>
      <p:bldP spid="56" grpId="0"/>
      <p:bldP spid="56" grpId="1"/>
      <p:bldP spid="57" grpId="0" animBg="1"/>
      <p:bldP spid="59" grpId="0"/>
      <p:bldP spid="60" grpId="0"/>
      <p:bldP spid="63" grpId="0"/>
      <p:bldP spid="63" grpId="1"/>
      <p:bldP spid="64" grpId="0"/>
      <p:bldP spid="64" grpId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 File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Motivations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Design Overview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System Interactions</a:t>
            </a:r>
          </a:p>
          <a:p>
            <a:r>
              <a:rPr lang="en-US" altLang="zh-TW" dirty="0" smtClean="0">
                <a:latin typeface="+mj-lt"/>
              </a:rPr>
              <a:t>Master Operations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Fault Tolerance</a:t>
            </a: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Master Operations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Namespace Management and Locking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Replica Placement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Creation, Rebalancing , Re-replication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Garbage Collection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Stale Replica Detection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Namespace Mgt and Locking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Allows multiple operations to be active and use locks over regions of the namespace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Logically represents namespace as a lookup table mapping full pathnames to metadata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Each node in the namespace tree has an associated read-write lock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Each master operation acquires a set of locks before it runs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Namespace Mgt and Locking (cont.)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860032" y="1988840"/>
            <a:ext cx="331236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/d1/d2/…/</a:t>
            </a:r>
            <a:r>
              <a:rPr lang="en-US" altLang="zh-TW" sz="3000" dirty="0" err="1" smtClean="0">
                <a:latin typeface="Calibri" pitchFamily="34" charset="0"/>
                <a:cs typeface="Calibri" pitchFamily="34" charset="0"/>
              </a:rPr>
              <a:t>dn</a:t>
            </a:r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/leaf</a:t>
            </a:r>
          </a:p>
          <a:p>
            <a:endParaRPr lang="en-US" altLang="zh-TW" sz="30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TW" sz="3000" dirty="0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/d1</a:t>
            </a:r>
          </a:p>
          <a:p>
            <a:r>
              <a:rPr lang="en-US" altLang="zh-TW" sz="3000" dirty="0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/d1/d2</a:t>
            </a:r>
          </a:p>
          <a:p>
            <a:r>
              <a:rPr lang="en-US" altLang="zh-TW" sz="3000" dirty="0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…</a:t>
            </a:r>
          </a:p>
          <a:p>
            <a:r>
              <a:rPr lang="en-US" altLang="zh-TW" sz="3000" dirty="0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/d1/d2/…/</a:t>
            </a:r>
            <a:r>
              <a:rPr lang="en-US" altLang="zh-TW" sz="3000" dirty="0" err="1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dn</a:t>
            </a:r>
            <a:endParaRPr lang="en-US" altLang="zh-TW" sz="3000" dirty="0" smtClean="0">
              <a:solidFill>
                <a:schemeClr val="accent6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endParaRPr lang="en-US" altLang="zh-TW" sz="30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TW" sz="3000" dirty="0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/d1/d2/…/</a:t>
            </a:r>
            <a:r>
              <a:rPr lang="en-US" altLang="zh-TW" sz="3000" dirty="0" err="1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dn</a:t>
            </a:r>
            <a:r>
              <a:rPr lang="en-US" altLang="zh-TW" sz="3000" dirty="0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/leaf</a:t>
            </a:r>
            <a:endParaRPr lang="zh-TW" altLang="en-US" sz="3000" dirty="0">
              <a:solidFill>
                <a:schemeClr val="accent6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03648" y="1988840"/>
            <a:ext cx="316835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If it involves:</a:t>
            </a:r>
          </a:p>
          <a:p>
            <a:endParaRPr lang="en-US" altLang="zh-TW" sz="30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Read locks on the</a:t>
            </a:r>
          </a:p>
          <a:p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directory name</a:t>
            </a:r>
          </a:p>
          <a:p>
            <a:endParaRPr lang="en-US" altLang="zh-TW" sz="3000" dirty="0" smtClean="0">
              <a:latin typeface="Calibri" pitchFamily="34" charset="0"/>
              <a:cs typeface="Calibri" pitchFamily="34" charset="0"/>
            </a:endParaRPr>
          </a:p>
          <a:p>
            <a:endParaRPr lang="en-US" altLang="zh-TW" sz="3000" dirty="0" smtClean="0">
              <a:latin typeface="Calibri" pitchFamily="34" charset="0"/>
              <a:cs typeface="Calibri" pitchFamily="34" charset="0"/>
            </a:endParaRPr>
          </a:p>
          <a:p>
            <a:endParaRPr lang="en-US" altLang="zh-TW" sz="30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Either a read lock</a:t>
            </a:r>
          </a:p>
          <a:p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or a write lock on</a:t>
            </a:r>
          </a:p>
          <a:p>
            <a:r>
              <a:rPr lang="en-US" altLang="zh-TW" sz="3000" dirty="0" smtClean="0">
                <a:latin typeface="Calibri" pitchFamily="34" charset="0"/>
                <a:cs typeface="Calibri" pitchFamily="34" charset="0"/>
              </a:rPr>
              <a:t>the full pathname</a:t>
            </a:r>
            <a:endParaRPr lang="zh-TW" altLang="en-US" sz="300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827584" y="2780928"/>
            <a:ext cx="792088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827584" y="5013176"/>
            <a:ext cx="792088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Namespace Mgt and Locking (cont.)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How this locking mechanism can prevent a file </a:t>
            </a:r>
            <a:r>
              <a:rPr lang="en-US" altLang="zh-TW" dirty="0" smtClean="0">
                <a:latin typeface="+mn-ea"/>
              </a:rPr>
              <a:t>/home/user/</a:t>
            </a:r>
            <a:r>
              <a:rPr lang="en-US" altLang="zh-TW" dirty="0" err="1" smtClean="0">
                <a:latin typeface="+mn-ea"/>
              </a:rPr>
              <a:t>foo</a:t>
            </a:r>
            <a:r>
              <a:rPr lang="en-US" altLang="zh-TW" dirty="0" smtClean="0">
                <a:latin typeface="+mn-ea"/>
              </a:rPr>
              <a:t> </a:t>
            </a:r>
            <a:r>
              <a:rPr lang="en-US" altLang="zh-TW" dirty="0" smtClean="0">
                <a:latin typeface="+mj-lt"/>
              </a:rPr>
              <a:t>from being created while </a:t>
            </a:r>
            <a:r>
              <a:rPr lang="en-US" altLang="zh-TW" dirty="0" smtClean="0">
                <a:latin typeface="+mn-ea"/>
              </a:rPr>
              <a:t>/home/user </a:t>
            </a:r>
            <a:r>
              <a:rPr lang="en-US" altLang="zh-TW" dirty="0" smtClean="0">
                <a:latin typeface="+mj-lt"/>
              </a:rPr>
              <a:t>is being </a:t>
            </a:r>
            <a:r>
              <a:rPr lang="en-US" altLang="zh-TW" dirty="0" err="1" smtClean="0">
                <a:latin typeface="+mj-lt"/>
              </a:rPr>
              <a:t>snapshotted</a:t>
            </a:r>
            <a:r>
              <a:rPr lang="en-US" altLang="zh-TW" dirty="0" smtClean="0">
                <a:latin typeface="+mj-lt"/>
              </a:rPr>
              <a:t> to </a:t>
            </a:r>
            <a:r>
              <a:rPr lang="en-US" altLang="zh-TW" dirty="0" smtClean="0">
                <a:latin typeface="+mn-ea"/>
              </a:rPr>
              <a:t>/save/user</a:t>
            </a:r>
            <a:endParaRPr lang="zh-TW" altLang="en-US" dirty="0">
              <a:latin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03648" y="3513562"/>
          <a:ext cx="6408711" cy="2231526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136237"/>
                <a:gridCol w="2136237"/>
                <a:gridCol w="2136237"/>
              </a:tblGrid>
              <a:tr h="70752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2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Read locks</a:t>
                      </a:r>
                      <a:endParaRPr lang="zh-TW" alt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2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Write locks</a:t>
                      </a:r>
                      <a:endParaRPr lang="zh-TW" alt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936">
                <a:tc rowSpan="2">
                  <a:txBody>
                    <a:bodyPr/>
                    <a:lstStyle/>
                    <a:p>
                      <a:pPr algn="ctr"/>
                      <a:r>
                        <a:rPr kumimoji="0" lang="en-US" altLang="zh-TW" sz="2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Snapshot</a:t>
                      </a:r>
                    </a:p>
                    <a:p>
                      <a:pPr algn="ctr"/>
                      <a:r>
                        <a:rPr kumimoji="0" lang="en-US" altLang="zh-TW" sz="2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  <a:endParaRPr lang="zh-TW" alt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/home</a:t>
                      </a:r>
                      <a:endParaRPr lang="zh-TW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/home/user</a:t>
                      </a:r>
                      <a:endParaRPr lang="zh-TW" altLang="en-US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8193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/save</a:t>
                      </a:r>
                      <a:endParaRPr lang="zh-TW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/save/user</a:t>
                      </a:r>
                      <a:endParaRPr lang="zh-TW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52145">
                <a:tc rowSpan="2">
                  <a:txBody>
                    <a:bodyPr/>
                    <a:lstStyle/>
                    <a:p>
                      <a:pPr algn="ctr"/>
                      <a:r>
                        <a:rPr kumimoji="0" lang="en-US" altLang="zh-TW" sz="2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Creation</a:t>
                      </a:r>
                    </a:p>
                    <a:p>
                      <a:pPr algn="ctr"/>
                      <a:r>
                        <a:rPr kumimoji="0" lang="en-US" altLang="zh-TW" sz="2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  <a:endParaRPr lang="zh-TW" alt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/home</a:t>
                      </a:r>
                      <a:endParaRPr lang="zh-TW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/home/user/</a:t>
                      </a:r>
                      <a:r>
                        <a:rPr kumimoji="0" lang="en-US" altLang="zh-TW" sz="1800" kern="1200" baseline="0" dirty="0" err="1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foo</a:t>
                      </a:r>
                      <a:endParaRPr lang="zh-TW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821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/home/user</a:t>
                      </a:r>
                      <a:endParaRPr lang="zh-TW" altLang="en-US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Master Operations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Namespace Management and Locking</a:t>
            </a:r>
          </a:p>
          <a:p>
            <a:r>
              <a:rPr lang="en-US" altLang="zh-TW" dirty="0" smtClean="0"/>
              <a:t>Replica Placement</a:t>
            </a:r>
          </a:p>
          <a:p>
            <a:r>
              <a:rPr lang="en-US" altLang="zh-TW" dirty="0" smtClean="0"/>
              <a:t>Creation, Rebalancing , Re-replication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Garbage Collection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Stale Replica Detection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Replica Placement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Traffic between racks is slower than within the same rack</a:t>
            </a:r>
          </a:p>
          <a:p>
            <a:r>
              <a:rPr lang="en-US" altLang="zh-TW" dirty="0" smtClean="0">
                <a:latin typeface="+mj-lt"/>
              </a:rPr>
              <a:t>A replica is created for 3 reasons</a:t>
            </a:r>
          </a:p>
          <a:p>
            <a:pPr lvl="1"/>
            <a:r>
              <a:rPr lang="en-US" altLang="zh-TW" dirty="0" smtClean="0">
                <a:latin typeface="+mj-lt"/>
              </a:rPr>
              <a:t>Chunk creation</a:t>
            </a:r>
          </a:p>
          <a:p>
            <a:pPr lvl="1"/>
            <a:r>
              <a:rPr lang="en-US" altLang="zh-TW" dirty="0" smtClean="0">
                <a:latin typeface="+mj-lt"/>
              </a:rPr>
              <a:t>Chunk re-replication</a:t>
            </a:r>
          </a:p>
          <a:p>
            <a:pPr lvl="1"/>
            <a:r>
              <a:rPr lang="en-US" altLang="zh-TW" dirty="0" smtClean="0">
                <a:latin typeface="+mj-lt"/>
              </a:rPr>
              <a:t>Chunk rebalancing</a:t>
            </a:r>
          </a:p>
          <a:p>
            <a:r>
              <a:rPr lang="en-US" altLang="zh-TW" dirty="0" smtClean="0">
                <a:latin typeface="+mj-lt"/>
              </a:rPr>
              <a:t>Master has a replica placement policy</a:t>
            </a:r>
          </a:p>
          <a:p>
            <a:pPr lvl="1"/>
            <a:r>
              <a:rPr lang="en-US" altLang="zh-TW" dirty="0" smtClean="0">
                <a:latin typeface="+mj-lt"/>
              </a:rPr>
              <a:t>Maximize data reliability and availability</a:t>
            </a:r>
          </a:p>
          <a:p>
            <a:pPr lvl="1"/>
            <a:r>
              <a:rPr lang="en-US" altLang="zh-TW" dirty="0" smtClean="0">
                <a:latin typeface="+mj-lt"/>
              </a:rPr>
              <a:t>Maximize network bandwidth utilization</a:t>
            </a:r>
          </a:p>
          <a:p>
            <a:pPr lvl="1"/>
            <a:r>
              <a:rPr lang="en-US" altLang="zh-TW" dirty="0" smtClean="0">
                <a:latin typeface="+mj-lt"/>
              </a:rPr>
              <a:t>Must spread replica across racks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Chunk Creation &amp; Rebalance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Where to put the initial replicas?</a:t>
            </a:r>
          </a:p>
          <a:p>
            <a:pPr lvl="1"/>
            <a:r>
              <a:rPr lang="en-US" altLang="zh-TW" dirty="0" smtClean="0">
                <a:latin typeface="+mj-lt"/>
              </a:rPr>
              <a:t>Servers with below-average disk utilization</a:t>
            </a:r>
          </a:p>
          <a:p>
            <a:pPr lvl="1"/>
            <a:r>
              <a:rPr lang="en-US" altLang="zh-TW" dirty="0" smtClean="0">
                <a:latin typeface="+mj-lt"/>
              </a:rPr>
              <a:t>But not too many recent creations on a server</a:t>
            </a:r>
          </a:p>
          <a:p>
            <a:pPr lvl="1"/>
            <a:r>
              <a:rPr lang="en-US" altLang="zh-TW" dirty="0" smtClean="0">
                <a:latin typeface="+mj-lt"/>
              </a:rPr>
              <a:t>And must have servers across racks</a:t>
            </a:r>
          </a:p>
          <a:p>
            <a:r>
              <a:rPr lang="en-US" altLang="zh-TW" dirty="0" smtClean="0">
                <a:latin typeface="+mj-lt"/>
              </a:rPr>
              <a:t>Master rebalances replicas periodically</a:t>
            </a:r>
          </a:p>
          <a:p>
            <a:pPr lvl="1"/>
            <a:r>
              <a:rPr lang="en-US" altLang="zh-TW" dirty="0" smtClean="0">
                <a:latin typeface="+mj-lt"/>
              </a:rPr>
              <a:t>Moves chunks for better disk space balance and load balance</a:t>
            </a:r>
          </a:p>
          <a:p>
            <a:pPr lvl="1"/>
            <a:r>
              <a:rPr lang="en-US" altLang="zh-TW" dirty="0" smtClean="0">
                <a:latin typeface="+mj-lt"/>
              </a:rPr>
              <a:t>Fills up new </a:t>
            </a:r>
            <a:r>
              <a:rPr lang="en-US" altLang="zh-TW" dirty="0" err="1" smtClean="0">
                <a:latin typeface="+mj-lt"/>
              </a:rPr>
              <a:t>chunkserver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Master prefers to move chunks out of crowded </a:t>
            </a:r>
            <a:r>
              <a:rPr lang="en-US" altLang="zh-TW" dirty="0" err="1" smtClean="0">
                <a:latin typeface="+mj-lt"/>
              </a:rPr>
              <a:t>chunkserver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Chunk Re-replication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>
                <a:latin typeface="+mj-lt"/>
              </a:rPr>
              <a:t>Master re-replicates a chunk as soon as the number of available replicas falls below a user-specified goal.</a:t>
            </a:r>
          </a:p>
          <a:p>
            <a:pPr lvl="1"/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dies, is removed, etc. Disk fails, is disabled, etc. Chunk is corrupt. Goal is increased.</a:t>
            </a:r>
          </a:p>
          <a:p>
            <a:r>
              <a:rPr lang="en-US" altLang="zh-TW" dirty="0" smtClean="0">
                <a:latin typeface="+mj-lt"/>
              </a:rPr>
              <a:t>Factors affecting which chunk is cloned first:</a:t>
            </a:r>
          </a:p>
          <a:p>
            <a:pPr lvl="1"/>
            <a:r>
              <a:rPr lang="en-US" altLang="zh-TW" dirty="0" smtClean="0">
                <a:latin typeface="+mj-lt"/>
              </a:rPr>
              <a:t>How far is it from the goal</a:t>
            </a:r>
          </a:p>
          <a:p>
            <a:pPr lvl="1"/>
            <a:r>
              <a:rPr lang="en-US" altLang="zh-TW" dirty="0" smtClean="0">
                <a:latin typeface="+mj-lt"/>
              </a:rPr>
              <a:t>Live files vs. deleted files</a:t>
            </a:r>
          </a:p>
          <a:p>
            <a:pPr lvl="1"/>
            <a:r>
              <a:rPr lang="en-US" altLang="zh-TW" dirty="0" smtClean="0">
                <a:latin typeface="+mj-lt"/>
              </a:rPr>
              <a:t>Blocking client</a:t>
            </a:r>
          </a:p>
          <a:p>
            <a:r>
              <a:rPr lang="en-US" altLang="zh-TW" dirty="0" smtClean="0">
                <a:latin typeface="+mj-lt"/>
              </a:rPr>
              <a:t>Placement policy is similar to chunk creation</a:t>
            </a:r>
          </a:p>
          <a:p>
            <a:r>
              <a:rPr lang="en-US" altLang="zh-TW" dirty="0" smtClean="0">
                <a:latin typeface="+mj-lt"/>
              </a:rPr>
              <a:t>Master limits the number of cloning per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and cluster-wide to minimize the impact on client traffic</a:t>
            </a:r>
          </a:p>
          <a:p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throttles cloning read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Master Operations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Namespace Management and Locking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Replica Placement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Creation, Rebalancing , Re-replication</a:t>
            </a:r>
          </a:p>
          <a:p>
            <a:r>
              <a:rPr lang="en-US" altLang="zh-TW" dirty="0" smtClean="0"/>
              <a:t>Garbage Collection</a:t>
            </a:r>
          </a:p>
          <a:p>
            <a:r>
              <a:rPr lang="en-US" altLang="zh-TW" dirty="0" smtClean="0"/>
              <a:t>Stale Replica Detection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Garbage Collection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5184576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>
                <a:latin typeface="+mj-lt"/>
              </a:rPr>
              <a:t>Chunks of deleted files are not reclaimed immediately</a:t>
            </a:r>
          </a:p>
          <a:p>
            <a:r>
              <a:rPr lang="en-US" altLang="zh-TW" dirty="0" smtClean="0">
                <a:latin typeface="+mj-lt"/>
              </a:rPr>
              <a:t>Mechanism:</a:t>
            </a:r>
          </a:p>
          <a:p>
            <a:pPr lvl="1"/>
            <a:r>
              <a:rPr lang="en-US" altLang="zh-TW" dirty="0" smtClean="0">
                <a:latin typeface="+mj-lt"/>
              </a:rPr>
              <a:t>Client issues a request to delete a file</a:t>
            </a:r>
          </a:p>
          <a:p>
            <a:pPr lvl="1"/>
            <a:r>
              <a:rPr lang="en-US" altLang="zh-TW" dirty="0" smtClean="0">
                <a:latin typeface="+mj-lt"/>
              </a:rPr>
              <a:t>Master logs the operation immediately, renames the file to a hidden name with timestamp, and replies</a:t>
            </a:r>
          </a:p>
          <a:p>
            <a:pPr lvl="1"/>
            <a:r>
              <a:rPr lang="en-US" altLang="zh-TW" dirty="0" smtClean="0">
                <a:latin typeface="+mj-lt"/>
              </a:rPr>
              <a:t>Master scans file namespace regularly</a:t>
            </a:r>
          </a:p>
          <a:p>
            <a:pPr lvl="2"/>
            <a:r>
              <a:rPr lang="en-US" altLang="zh-TW" dirty="0" smtClean="0">
                <a:latin typeface="+mj-lt"/>
              </a:rPr>
              <a:t>Master removes metadata of hidden files older than 3 days</a:t>
            </a:r>
          </a:p>
          <a:p>
            <a:pPr lvl="1"/>
            <a:r>
              <a:rPr lang="en-US" altLang="zh-TW" dirty="0" smtClean="0">
                <a:latin typeface="+mj-lt"/>
              </a:rPr>
              <a:t>Master scans chunk namespace regularly</a:t>
            </a:r>
          </a:p>
          <a:p>
            <a:pPr lvl="2"/>
            <a:r>
              <a:rPr lang="en-US" altLang="zh-TW" dirty="0" smtClean="0">
                <a:latin typeface="+mj-lt"/>
              </a:rPr>
              <a:t>Master removes metadata of orphaned chunks</a:t>
            </a:r>
          </a:p>
          <a:p>
            <a:pPr lvl="1"/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sends master a list of chunk handles it has in regular </a:t>
            </a:r>
            <a:r>
              <a:rPr lang="en-US" altLang="zh-TW" dirty="0" err="1" smtClean="0">
                <a:latin typeface="+mj-lt"/>
              </a:rPr>
              <a:t>HeartBeat</a:t>
            </a:r>
            <a:r>
              <a:rPr lang="en-US" altLang="zh-TW" dirty="0" smtClean="0">
                <a:latin typeface="+mj-lt"/>
              </a:rPr>
              <a:t> message</a:t>
            </a:r>
          </a:p>
          <a:p>
            <a:pPr lvl="2"/>
            <a:r>
              <a:rPr lang="en-US" altLang="zh-TW" dirty="0" smtClean="0">
                <a:latin typeface="+mj-lt"/>
              </a:rPr>
              <a:t>Master replies the chunks not in namespace</a:t>
            </a:r>
          </a:p>
          <a:p>
            <a:pPr lvl="2"/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is free to delete the chunks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Garbage Collection(cont.)</a:t>
            </a:r>
            <a:endParaRPr lang="zh-TW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6434" y="2204864"/>
            <a:ext cx="16954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76754" y="1844824"/>
            <a:ext cx="4295646" cy="2040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線單箭頭接點 7"/>
          <p:cNvCxnSpPr/>
          <p:nvPr/>
        </p:nvCxnSpPr>
        <p:spPr>
          <a:xfrm>
            <a:off x="2724626" y="2924944"/>
            <a:ext cx="112366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2652618" y="2564904"/>
            <a:ext cx="1289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Delete /</a:t>
            </a:r>
            <a:r>
              <a:rPr lang="en-US" altLang="zh-TW" dirty="0" err="1" smtClean="0"/>
              <a:t>foo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932538" y="4553116"/>
          <a:ext cx="1992560" cy="1828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560"/>
              </a:tblGrid>
              <a:tr h="396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Log</a:t>
                      </a:r>
                      <a:endParaRPr lang="zh-TW" altLang="en-US" dirty="0"/>
                    </a:p>
                  </a:txBody>
                  <a:tcPr/>
                </a:tc>
              </a:tr>
              <a:tr h="39604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/>
                </a:tc>
              </a:tr>
              <a:tr h="39604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96044"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  <a:p>
                      <a:endParaRPr lang="en-US" altLang="zh-TW" dirty="0" smtClean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188450" y="4553117"/>
          <a:ext cx="1992560" cy="1824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560"/>
              </a:tblGrid>
              <a:tr h="386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Metadata</a:t>
                      </a:r>
                      <a:endParaRPr lang="zh-TW" altLang="en-US" dirty="0"/>
                    </a:p>
                  </a:txBody>
                  <a:tcPr/>
                </a:tc>
              </a:tr>
              <a:tr h="3860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/>
                </a:tc>
              </a:tr>
              <a:tr h="386076">
                <a:tc>
                  <a:txBody>
                    <a:bodyPr/>
                    <a:lstStyle/>
                    <a:p>
                      <a:endParaRPr kumimoji="0" lang="en-US" altLang="zh-TW" sz="18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66379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</a:p>
                    <a:p>
                      <a:endParaRPr lang="en-US" altLang="zh-TW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1932538" y="5335912"/>
            <a:ext cx="1037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Delete …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4190913" y="5335912"/>
            <a:ext cx="1760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dk1"/>
                </a:solidFill>
              </a:rPr>
              <a:t>/.foo-20101013</a:t>
            </a:r>
          </a:p>
        </p:txBody>
      </p:sp>
      <p:sp>
        <p:nvSpPr>
          <p:cNvPr id="16" name="矩形 15"/>
          <p:cNvSpPr/>
          <p:nvPr/>
        </p:nvSpPr>
        <p:spPr>
          <a:xfrm>
            <a:off x="4190913" y="5335912"/>
            <a:ext cx="6098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dk1"/>
                </a:solidFill>
              </a:rPr>
              <a:t>/</a:t>
            </a:r>
            <a:r>
              <a:rPr lang="en-US" altLang="zh-TW" dirty="0" err="1" smtClean="0">
                <a:solidFill>
                  <a:schemeClr val="dk1"/>
                </a:solidFill>
              </a:rPr>
              <a:t>foo</a:t>
            </a:r>
            <a:endParaRPr lang="en-US" altLang="zh-TW" dirty="0" smtClean="0">
              <a:solidFill>
                <a:schemeClr val="dk1"/>
              </a:solidFill>
            </a:endParaRPr>
          </a:p>
        </p:txBody>
      </p:sp>
      <p:cxnSp>
        <p:nvCxnSpPr>
          <p:cNvPr id="20" name="直線單箭頭接點 19"/>
          <p:cNvCxnSpPr/>
          <p:nvPr/>
        </p:nvCxnSpPr>
        <p:spPr>
          <a:xfrm rot="10800000" flipV="1">
            <a:off x="4668842" y="3717032"/>
            <a:ext cx="1080120" cy="576064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5" grpId="0"/>
      <p:bldP spid="1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Stale Replica Deletion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Stale replica is a replica that misses mutation(s) while the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is down</a:t>
            </a:r>
          </a:p>
          <a:p>
            <a:pPr lvl="1"/>
            <a:r>
              <a:rPr lang="en-US" altLang="zh-TW" dirty="0" smtClean="0">
                <a:latin typeface="+mj-lt"/>
              </a:rPr>
              <a:t>Server reports its chunks to master after booting. Oops!</a:t>
            </a:r>
          </a:p>
          <a:p>
            <a:r>
              <a:rPr lang="en-US" altLang="zh-TW" dirty="0" smtClean="0">
                <a:latin typeface="+mj-lt"/>
              </a:rPr>
              <a:t>Solution: chunk version number</a:t>
            </a:r>
          </a:p>
          <a:p>
            <a:pPr lvl="1"/>
            <a:r>
              <a:rPr lang="en-US" altLang="zh-TW" dirty="0" smtClean="0">
                <a:latin typeface="+mj-lt"/>
              </a:rPr>
              <a:t>Master and </a:t>
            </a:r>
            <a:r>
              <a:rPr lang="en-US" altLang="zh-TW" dirty="0" err="1" smtClean="0">
                <a:latin typeface="+mj-lt"/>
              </a:rPr>
              <a:t>chunkservers</a:t>
            </a:r>
            <a:r>
              <a:rPr lang="en-US" altLang="zh-TW" dirty="0" smtClean="0">
                <a:latin typeface="+mj-lt"/>
              </a:rPr>
              <a:t> keep chunk version numbers persistently.</a:t>
            </a:r>
          </a:p>
          <a:p>
            <a:pPr lvl="1"/>
            <a:r>
              <a:rPr lang="en-US" altLang="zh-TW" dirty="0" smtClean="0">
                <a:latin typeface="+mj-lt"/>
              </a:rPr>
              <a:t>Master creates new chunk version number when granting a lease to primary, and notifies all replicas, then store the new version persistently</a:t>
            </a:r>
          </a:p>
          <a:p>
            <a:r>
              <a:rPr lang="en-US" altLang="zh-TW" dirty="0" smtClean="0">
                <a:latin typeface="+mj-lt"/>
              </a:rPr>
              <a:t>The master removes stale replicas in its regular garbage collection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 File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Motivations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Design Overview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System Interactions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Master Operations</a:t>
            </a:r>
          </a:p>
          <a:p>
            <a:r>
              <a:rPr lang="en-US" altLang="zh-TW" dirty="0" smtClean="0">
                <a:latin typeface="+mj-lt"/>
              </a:rPr>
              <a:t>Fault Tolerance</a:t>
            </a: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Fault Tolerance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High Availability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Data Integrity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Diagnostic Tools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Fast Recovery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Master and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can start and restore to previous state in seconds</a:t>
            </a:r>
          </a:p>
          <a:p>
            <a:pPr lvl="1"/>
            <a:r>
              <a:rPr lang="en-US" altLang="zh-TW" dirty="0" smtClean="0">
                <a:latin typeface="+mj-lt"/>
              </a:rPr>
              <a:t>Metadata is stored in binary format, no parsing</a:t>
            </a:r>
          </a:p>
          <a:p>
            <a:pPr lvl="1"/>
            <a:r>
              <a:rPr lang="en-US" altLang="zh-TW" dirty="0" smtClean="0">
                <a:latin typeface="+mj-lt"/>
              </a:rPr>
              <a:t>50MB – 100 MB of metadata per server</a:t>
            </a:r>
          </a:p>
          <a:p>
            <a:pPr lvl="1"/>
            <a:r>
              <a:rPr lang="en-US" altLang="zh-TW" dirty="0" smtClean="0">
                <a:latin typeface="+mj-lt"/>
              </a:rPr>
              <a:t>Normal startup and startup after abnormal termination is the same</a:t>
            </a:r>
          </a:p>
          <a:p>
            <a:pPr lvl="1"/>
            <a:r>
              <a:rPr lang="en-US" altLang="zh-TW" dirty="0" smtClean="0">
                <a:latin typeface="+mj-lt"/>
              </a:rPr>
              <a:t>Can kill the process anytime</a:t>
            </a:r>
          </a:p>
          <a:p>
            <a:pPr lvl="2"/>
            <a:r>
              <a:rPr lang="en-US" altLang="zh-TW" dirty="0" smtClean="0">
                <a:latin typeface="+mj-lt"/>
              </a:rPr>
              <a:t>do not distinguish between normal and abnormal termination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Master Replication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Master's operation logs and checkpoints are replicated on multiple machines</a:t>
            </a:r>
          </a:p>
          <a:p>
            <a:pPr lvl="1"/>
            <a:r>
              <a:rPr lang="en-US" altLang="zh-TW" dirty="0" smtClean="0">
                <a:latin typeface="+mj-lt"/>
              </a:rPr>
              <a:t>A mutation is complete only when all replicas are updated</a:t>
            </a:r>
          </a:p>
          <a:p>
            <a:r>
              <a:rPr lang="en-US" altLang="zh-TW" dirty="0" smtClean="0">
                <a:latin typeface="+mj-lt"/>
              </a:rPr>
              <a:t>If the master dies, cluster monitoring software starts another master with checkpoints and operation logs</a:t>
            </a:r>
          </a:p>
          <a:p>
            <a:pPr lvl="1"/>
            <a:r>
              <a:rPr lang="en-US" altLang="zh-TW" dirty="0" smtClean="0">
                <a:latin typeface="+mj-lt"/>
              </a:rPr>
              <a:t>Clients see the new master as soon as the DNS alias is updated</a:t>
            </a:r>
          </a:p>
          <a:p>
            <a:r>
              <a:rPr lang="en-US" altLang="zh-TW" dirty="0" smtClean="0">
                <a:latin typeface="+mj-lt"/>
              </a:rPr>
              <a:t>Shadow masters provide read-only access</a:t>
            </a:r>
          </a:p>
          <a:p>
            <a:pPr lvl="1"/>
            <a:r>
              <a:rPr lang="en-US" altLang="zh-TW" dirty="0" smtClean="0">
                <a:latin typeface="+mj-lt"/>
              </a:rPr>
              <a:t>Reads a replica operation log to update the metadata</a:t>
            </a:r>
          </a:p>
          <a:p>
            <a:pPr lvl="1"/>
            <a:r>
              <a:rPr lang="en-US" altLang="zh-TW" dirty="0" smtClean="0">
                <a:latin typeface="+mj-lt"/>
              </a:rPr>
              <a:t>Typically behind by less than a second</a:t>
            </a:r>
          </a:p>
          <a:p>
            <a:pPr lvl="1"/>
            <a:r>
              <a:rPr lang="en-US" altLang="zh-TW" dirty="0" smtClean="0">
                <a:latin typeface="+mj-lt"/>
              </a:rPr>
              <a:t>No interaction with the busy master except replica location updates (cloning)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Fault Tolerance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High Availability</a:t>
            </a:r>
          </a:p>
          <a:p>
            <a:r>
              <a:rPr lang="en-US" altLang="zh-TW" dirty="0" smtClean="0"/>
              <a:t>Data Integrity</a:t>
            </a:r>
          </a:p>
          <a:p>
            <a:r>
              <a:rPr lang="en-US" altLang="zh-TW" dirty="0" smtClean="0"/>
              <a:t>Diagnostic Tools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Data Integrity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A responsibility of </a:t>
            </a:r>
            <a:r>
              <a:rPr lang="en-US" altLang="zh-TW" dirty="0" err="1" smtClean="0">
                <a:latin typeface="+mj-lt"/>
              </a:rPr>
              <a:t>chunkservers</a:t>
            </a:r>
            <a:r>
              <a:rPr lang="en-US" altLang="zh-TW" dirty="0" smtClean="0">
                <a:latin typeface="+mj-lt"/>
              </a:rPr>
              <a:t>, not master</a:t>
            </a:r>
          </a:p>
          <a:p>
            <a:pPr lvl="1"/>
            <a:r>
              <a:rPr lang="en-US" altLang="zh-TW" dirty="0" smtClean="0">
                <a:latin typeface="+mj-lt"/>
              </a:rPr>
              <a:t>Disks failure is norm,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must know</a:t>
            </a:r>
          </a:p>
          <a:p>
            <a:pPr lvl="1"/>
            <a:r>
              <a:rPr lang="en-US" altLang="zh-TW" dirty="0" smtClean="0">
                <a:latin typeface="+mj-lt"/>
              </a:rPr>
              <a:t>GFS doesn't guarantee identical replica, independent verification is necessary</a:t>
            </a:r>
          </a:p>
          <a:p>
            <a:r>
              <a:rPr lang="en-US" altLang="zh-TW" dirty="0" smtClean="0">
                <a:latin typeface="+mj-lt"/>
              </a:rPr>
              <a:t>32 bit checksum for every 64 KB block of data</a:t>
            </a:r>
          </a:p>
          <a:p>
            <a:pPr lvl="1"/>
            <a:r>
              <a:rPr lang="en-US" altLang="zh-TW" dirty="0" smtClean="0">
                <a:latin typeface="+mj-lt"/>
              </a:rPr>
              <a:t>available in memory, persistent with logging</a:t>
            </a:r>
          </a:p>
          <a:p>
            <a:pPr lvl="1"/>
            <a:r>
              <a:rPr lang="en-US" altLang="zh-TW" dirty="0" smtClean="0">
                <a:latin typeface="+mj-lt"/>
              </a:rPr>
              <a:t>separate from user data</a:t>
            </a:r>
          </a:p>
          <a:p>
            <a:r>
              <a:rPr lang="en-US" altLang="zh-TW" dirty="0" smtClean="0">
                <a:latin typeface="+mj-lt"/>
              </a:rPr>
              <a:t>Read: verify checksum before returning data</a:t>
            </a:r>
          </a:p>
          <a:p>
            <a:pPr lvl="1"/>
            <a:r>
              <a:rPr lang="en-US" altLang="zh-TW" dirty="0" smtClean="0">
                <a:latin typeface="+mj-lt"/>
              </a:rPr>
              <a:t>mismatch: return error to client, report to master</a:t>
            </a:r>
          </a:p>
          <a:p>
            <a:pPr lvl="1"/>
            <a:r>
              <a:rPr lang="en-US" altLang="zh-TW" dirty="0" smtClean="0">
                <a:latin typeface="+mj-lt"/>
              </a:rPr>
              <a:t>client reads from another replica</a:t>
            </a:r>
          </a:p>
          <a:p>
            <a:pPr lvl="1"/>
            <a:r>
              <a:rPr lang="en-US" altLang="zh-TW" dirty="0" smtClean="0">
                <a:latin typeface="+mj-lt"/>
              </a:rPr>
              <a:t>master clones a replica, tells </a:t>
            </a:r>
            <a:r>
              <a:rPr lang="en-US" altLang="zh-TW" dirty="0" err="1" smtClean="0">
                <a:latin typeface="+mj-lt"/>
              </a:rPr>
              <a:t>chunkserver</a:t>
            </a:r>
            <a:r>
              <a:rPr lang="en-US" altLang="zh-TW" dirty="0" smtClean="0">
                <a:latin typeface="+mj-lt"/>
              </a:rPr>
              <a:t> to delete the chunk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Diagnostic Tools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Logs on each server</a:t>
            </a:r>
          </a:p>
          <a:p>
            <a:pPr lvl="1"/>
            <a:r>
              <a:rPr lang="en-US" altLang="zh-TW" dirty="0" smtClean="0">
                <a:latin typeface="+mj-lt"/>
              </a:rPr>
              <a:t>Significant events (server up, down)</a:t>
            </a:r>
          </a:p>
          <a:p>
            <a:pPr lvl="1"/>
            <a:r>
              <a:rPr lang="en-US" altLang="zh-TW" dirty="0" smtClean="0">
                <a:latin typeface="+mj-lt"/>
              </a:rPr>
              <a:t>RPC requests/replies</a:t>
            </a:r>
          </a:p>
          <a:p>
            <a:r>
              <a:rPr lang="en-US" altLang="zh-TW" dirty="0" smtClean="0">
                <a:latin typeface="+mj-lt"/>
              </a:rPr>
              <a:t>Combining logs on all servers to reconstruct the full interaction history, to identify source of problems</a:t>
            </a:r>
          </a:p>
          <a:p>
            <a:r>
              <a:rPr lang="en-US" altLang="zh-TW" dirty="0" smtClean="0">
                <a:latin typeface="+mj-lt"/>
              </a:rPr>
              <a:t>Logs can be used on performance analysis and load testing, too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 of GFS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GFS demonstrates how to support large-scale processing workloads on commodity hardware</a:t>
            </a:r>
          </a:p>
          <a:p>
            <a:pPr lvl="1"/>
            <a:r>
              <a:rPr lang="en-US" altLang="zh-TW" dirty="0" smtClean="0">
                <a:latin typeface="+mj-lt"/>
              </a:rPr>
              <a:t>designed to tolerate frequent component failures</a:t>
            </a:r>
          </a:p>
          <a:p>
            <a:pPr lvl="1"/>
            <a:r>
              <a:rPr lang="en-US" altLang="zh-TW" dirty="0" smtClean="0">
                <a:latin typeface="+mj-lt"/>
              </a:rPr>
              <a:t>uniform logical namespace</a:t>
            </a:r>
          </a:p>
          <a:p>
            <a:pPr lvl="1"/>
            <a:r>
              <a:rPr lang="en-US" altLang="zh-TW" dirty="0" smtClean="0">
                <a:latin typeface="+mj-lt"/>
              </a:rPr>
              <a:t>optimize for huge files that are mostly appended and read</a:t>
            </a:r>
          </a:p>
          <a:p>
            <a:pPr lvl="1"/>
            <a:r>
              <a:rPr lang="en-US" altLang="zh-TW" dirty="0" smtClean="0">
                <a:latin typeface="+mj-lt"/>
              </a:rPr>
              <a:t>feel free to relax and extend FS interface as required</a:t>
            </a:r>
          </a:p>
          <a:p>
            <a:pPr lvl="1"/>
            <a:r>
              <a:rPr lang="en-US" altLang="zh-TW" dirty="0" smtClean="0">
                <a:latin typeface="+mj-lt"/>
              </a:rPr>
              <a:t>relaxed consistency model</a:t>
            </a:r>
          </a:p>
          <a:p>
            <a:pPr lvl="1"/>
            <a:r>
              <a:rPr lang="en-US" altLang="zh-TW" dirty="0" smtClean="0">
                <a:latin typeface="+mj-lt"/>
              </a:rPr>
              <a:t>go for simple solutions (e.g., single master, garbage collection)</a:t>
            </a:r>
          </a:p>
          <a:p>
            <a:r>
              <a:rPr lang="en-US" altLang="zh-TW" dirty="0" smtClean="0">
                <a:latin typeface="+mj-lt"/>
              </a:rPr>
              <a:t>GFS has met Google’s storage needs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about </a:t>
            </a:r>
            <a:r>
              <a:rPr lang="en-US" altLang="zh-TW" dirty="0" err="1" smtClean="0"/>
              <a:t>Hadoop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HDFS</a:t>
            </a:r>
            <a:endParaRPr lang="zh-TW" altLang="en-US" dirty="0"/>
          </a:p>
        </p:txBody>
      </p:sp>
      <p:pic>
        <p:nvPicPr>
          <p:cNvPr id="7" name="圖片 6" descr="hdfs-log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07904" y="3068960"/>
            <a:ext cx="2009775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HDFS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Overview </a:t>
            </a:r>
          </a:p>
          <a:p>
            <a:r>
              <a:rPr lang="en-US" altLang="zh-TW" dirty="0" smtClean="0"/>
              <a:t>Architecture</a:t>
            </a:r>
          </a:p>
          <a:p>
            <a:r>
              <a:rPr lang="en-US" altLang="zh-TW" dirty="0" smtClean="0"/>
              <a:t>Implementation</a:t>
            </a:r>
          </a:p>
          <a:p>
            <a:r>
              <a:rPr lang="en-US" altLang="zh-TW" dirty="0" smtClean="0"/>
              <a:t>Other Issue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What’s HDFS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4690864" cy="4525963"/>
          </a:xfrm>
        </p:spPr>
        <p:txBody>
          <a:bodyPr>
            <a:normAutofit lnSpcReduction="10000"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  <a:latin typeface="+mj-lt"/>
              </a:rPr>
              <a:t>H</a:t>
            </a:r>
            <a:r>
              <a:rPr lang="en-US" altLang="zh-TW" dirty="0" err="1" smtClean="0">
                <a:latin typeface="+mj-lt"/>
              </a:rPr>
              <a:t>adoop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D</a:t>
            </a:r>
            <a:r>
              <a:rPr lang="en-US" altLang="zh-TW" dirty="0" smtClean="0">
                <a:latin typeface="+mj-lt"/>
              </a:rPr>
              <a:t>istributed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F</a:t>
            </a:r>
            <a:r>
              <a:rPr lang="en-US" altLang="zh-TW" dirty="0" smtClean="0">
                <a:latin typeface="+mj-lt"/>
              </a:rPr>
              <a:t>ile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S</a:t>
            </a:r>
            <a:r>
              <a:rPr lang="en-US" altLang="zh-TW" dirty="0" smtClean="0">
                <a:latin typeface="+mj-lt"/>
              </a:rPr>
              <a:t>ystem</a:t>
            </a:r>
          </a:p>
          <a:p>
            <a:pPr lvl="1"/>
            <a:r>
              <a:rPr lang="en-US" altLang="zh-TW" dirty="0" smtClean="0">
                <a:latin typeface="+mj-lt"/>
              </a:rPr>
              <a:t>Reference from Google File System</a:t>
            </a:r>
          </a:p>
          <a:p>
            <a:pPr lvl="1"/>
            <a:r>
              <a:rPr lang="en-US" altLang="zh-TW" dirty="0" smtClean="0">
                <a:latin typeface="+mj-lt"/>
              </a:rPr>
              <a:t>A scalable distributed file system for large data analysis</a:t>
            </a:r>
          </a:p>
          <a:p>
            <a:pPr lvl="1"/>
            <a:r>
              <a:rPr lang="en-US" altLang="zh-TW" dirty="0" smtClean="0">
                <a:latin typeface="+mj-lt"/>
              </a:rPr>
              <a:t>Based on commodity hardware with high fault-tolerant</a:t>
            </a:r>
          </a:p>
          <a:p>
            <a:pPr lvl="1"/>
            <a:r>
              <a:rPr lang="en-US" altLang="zh-TW" dirty="0" smtClean="0">
                <a:latin typeface="+mj-lt"/>
              </a:rPr>
              <a:t>The primary storage used by 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applications</a:t>
            </a:r>
          </a:p>
          <a:p>
            <a:pPr lvl="1"/>
            <a:endParaRPr lang="en-US" altLang="zh-TW" dirty="0" smtClean="0">
              <a:latin typeface="+mj-lt"/>
            </a:endParaRPr>
          </a:p>
        </p:txBody>
      </p:sp>
      <p:grpSp>
        <p:nvGrpSpPr>
          <p:cNvPr id="23" name="群組 12"/>
          <p:cNvGrpSpPr/>
          <p:nvPr/>
        </p:nvGrpSpPr>
        <p:grpSpPr>
          <a:xfrm>
            <a:off x="5148064" y="1700808"/>
            <a:ext cx="3816424" cy="4680520"/>
            <a:chOff x="4998915" y="2636912"/>
            <a:chExt cx="3816424" cy="4680520"/>
          </a:xfrm>
        </p:grpSpPr>
        <p:sp>
          <p:nvSpPr>
            <p:cNvPr id="24" name="圓角矩形 23"/>
            <p:cNvSpPr/>
            <p:nvPr/>
          </p:nvSpPr>
          <p:spPr>
            <a:xfrm>
              <a:off x="4998915" y="5013176"/>
              <a:ext cx="3811485" cy="936199"/>
            </a:xfrm>
            <a:prstGeom prst="roundRect">
              <a:avLst/>
            </a:prstGeom>
            <a:solidFill>
              <a:srgbClr val="3276C8"/>
            </a:solidFill>
            <a:ln>
              <a:solidFill>
                <a:srgbClr val="3276C8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 err="1" smtClean="0"/>
                <a:t>Hadoop</a:t>
              </a:r>
              <a:r>
                <a:rPr lang="en-US" altLang="zh-TW" dirty="0" smtClean="0"/>
                <a:t> Distributed</a:t>
              </a:r>
              <a:br>
                <a:rPr lang="en-US" altLang="zh-TW" dirty="0" smtClean="0"/>
              </a:br>
              <a:r>
                <a:rPr lang="en-US" altLang="zh-TW" dirty="0" smtClean="0"/>
                <a:t>File System (HDFS)</a:t>
              </a:r>
              <a:endParaRPr lang="zh-TW" altLang="en-US" dirty="0"/>
            </a:p>
          </p:txBody>
        </p:sp>
        <p:sp>
          <p:nvSpPr>
            <p:cNvPr id="25" name="圓角矩形 24"/>
            <p:cNvSpPr/>
            <p:nvPr/>
          </p:nvSpPr>
          <p:spPr>
            <a:xfrm>
              <a:off x="4998915" y="3933056"/>
              <a:ext cx="2304256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MapReduce</a:t>
              </a:r>
              <a:endParaRPr lang="zh-TW" altLang="en-US" dirty="0"/>
            </a:p>
          </p:txBody>
        </p:sp>
        <p:sp>
          <p:nvSpPr>
            <p:cNvPr id="26" name="圓角矩形 25"/>
            <p:cNvSpPr/>
            <p:nvPr/>
          </p:nvSpPr>
          <p:spPr>
            <a:xfrm>
              <a:off x="7009913" y="4997671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Hbase</a:t>
              </a:r>
              <a:endParaRPr lang="zh-TW" altLang="en-US" dirty="0"/>
            </a:p>
          </p:txBody>
        </p:sp>
        <p:sp>
          <p:nvSpPr>
            <p:cNvPr id="27" name="圓角矩形 26"/>
            <p:cNvSpPr/>
            <p:nvPr/>
          </p:nvSpPr>
          <p:spPr>
            <a:xfrm>
              <a:off x="4998915" y="6381233"/>
              <a:ext cx="3811485" cy="936199"/>
            </a:xfrm>
            <a:prstGeom prst="roundRect">
              <a:avLst/>
            </a:prstGeom>
            <a:solidFill>
              <a:srgbClr val="396499"/>
            </a:solidFill>
            <a:ln>
              <a:solidFill>
                <a:srgbClr val="39649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A Cluster of Machines</a:t>
              </a:r>
              <a:endParaRPr lang="zh-TW" altLang="en-US" dirty="0"/>
            </a:p>
          </p:txBody>
        </p:sp>
        <p:sp>
          <p:nvSpPr>
            <p:cNvPr id="28" name="圓角矩形 27"/>
            <p:cNvSpPr/>
            <p:nvPr/>
          </p:nvSpPr>
          <p:spPr>
            <a:xfrm>
              <a:off x="5003854" y="2636912"/>
              <a:ext cx="3811485" cy="936199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Cloud Applications</a:t>
              </a:r>
              <a:endParaRPr lang="zh-TW" altLang="en-US" dirty="0"/>
            </a:p>
          </p:txBody>
        </p:sp>
      </p:grpSp>
      <p:cxnSp>
        <p:nvCxnSpPr>
          <p:cNvPr id="29" name="直線單箭頭接點 28"/>
          <p:cNvCxnSpPr/>
          <p:nvPr/>
        </p:nvCxnSpPr>
        <p:spPr>
          <a:xfrm rot="16200000" flipV="1">
            <a:off x="5842995" y="2806078"/>
            <a:ext cx="347469" cy="913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 rot="16200000" flipV="1">
            <a:off x="5847566" y="3881627"/>
            <a:ext cx="338331" cy="914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27" idx="0"/>
            <a:endCxn id="24" idx="2"/>
          </p:cNvCxnSpPr>
          <p:nvPr/>
        </p:nvCxnSpPr>
        <p:spPr>
          <a:xfrm rot="5400000" flipH="1" flipV="1">
            <a:off x="6837878" y="5229200"/>
            <a:ext cx="431858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rot="16200000" flipV="1">
            <a:off x="7143710" y="3881626"/>
            <a:ext cx="338331" cy="914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rot="16200000" flipV="1">
            <a:off x="7323730" y="3341566"/>
            <a:ext cx="1418452" cy="914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5109264" y="4005064"/>
            <a:ext cx="2077920" cy="1080120"/>
          </a:xfrm>
          <a:prstGeom prst="rect">
            <a:avLst/>
          </a:prstGeom>
          <a:solidFill>
            <a:schemeClr val="lt1">
              <a:alpha val="0"/>
            </a:schemeClr>
          </a:solidFill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HDFS’s Feature(1/2)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Large data sets and files</a:t>
            </a:r>
          </a:p>
          <a:p>
            <a:pPr lvl="1"/>
            <a:r>
              <a:rPr lang="en-US" altLang="zh-TW" dirty="0" smtClean="0">
                <a:latin typeface="+mj-lt"/>
              </a:rPr>
              <a:t>Support </a:t>
            </a:r>
            <a:r>
              <a:rPr lang="en-US" altLang="zh-TW" b="1" dirty="0" err="1" smtClean="0">
                <a:latin typeface="+mj-lt"/>
              </a:rPr>
              <a:t>Petabytes</a:t>
            </a:r>
            <a:r>
              <a:rPr lang="en-US" altLang="zh-TW" dirty="0" smtClean="0">
                <a:latin typeface="+mj-lt"/>
              </a:rPr>
              <a:t> size</a:t>
            </a:r>
          </a:p>
          <a:p>
            <a:r>
              <a:rPr lang="en-US" altLang="zh-TW" dirty="0" smtClean="0">
                <a:latin typeface="+mj-lt"/>
              </a:rPr>
              <a:t>Heterogeneous</a:t>
            </a:r>
          </a:p>
          <a:p>
            <a:pPr lvl="1"/>
            <a:r>
              <a:rPr lang="en-US" altLang="zh-TW" dirty="0" smtClean="0">
                <a:latin typeface="+mj-lt"/>
              </a:rPr>
              <a:t>Could be deployed on </a:t>
            </a:r>
            <a:r>
              <a:rPr lang="en-US" altLang="zh-TW" b="1" dirty="0" smtClean="0">
                <a:latin typeface="+mj-lt"/>
              </a:rPr>
              <a:t>different hardware</a:t>
            </a:r>
          </a:p>
          <a:p>
            <a:r>
              <a:rPr lang="en-US" altLang="zh-TW" dirty="0" smtClean="0">
                <a:latin typeface="+mj-lt"/>
              </a:rPr>
              <a:t>Streaming data access</a:t>
            </a:r>
          </a:p>
          <a:p>
            <a:pPr lvl="1"/>
            <a:r>
              <a:rPr lang="en-US" altLang="zh-TW" b="1" dirty="0" smtClean="0">
                <a:latin typeface="+mj-lt"/>
              </a:rPr>
              <a:t>Batch</a:t>
            </a:r>
            <a:r>
              <a:rPr lang="en-US" altLang="zh-TW" dirty="0" smtClean="0">
                <a:latin typeface="+mj-lt"/>
              </a:rPr>
              <a:t> processing rather than interactive user access</a:t>
            </a:r>
          </a:p>
          <a:p>
            <a:pPr lvl="1"/>
            <a:r>
              <a:rPr lang="en-US" altLang="zh-TW" dirty="0" smtClean="0">
                <a:latin typeface="+mj-lt"/>
              </a:rPr>
              <a:t>High aggregate data bandwidth</a:t>
            </a:r>
          </a:p>
          <a:p>
            <a:endParaRPr lang="en-US" altLang="zh-TW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HDFS’s Feature(2/2)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Fault-Tolerance</a:t>
            </a:r>
          </a:p>
          <a:p>
            <a:pPr lvl="1"/>
            <a:r>
              <a:rPr lang="en-US" altLang="zh-TW" dirty="0" smtClean="0">
                <a:latin typeface="+mj-lt"/>
              </a:rPr>
              <a:t>The norm rather than exception</a:t>
            </a:r>
          </a:p>
          <a:p>
            <a:pPr lvl="1"/>
            <a:r>
              <a:rPr lang="en-US" altLang="zh-TW" dirty="0" smtClean="0">
                <a:latin typeface="+mj-lt"/>
              </a:rPr>
              <a:t>Automatic recovery or report failure</a:t>
            </a:r>
          </a:p>
          <a:p>
            <a:r>
              <a:rPr lang="en-US" altLang="zh-TW" dirty="0" smtClean="0">
                <a:latin typeface="+mj-lt"/>
              </a:rPr>
              <a:t>Coherency Model</a:t>
            </a:r>
          </a:p>
          <a:p>
            <a:pPr lvl="1"/>
            <a:r>
              <a:rPr lang="en-US" altLang="zh-TW" b="1" dirty="0" smtClean="0">
                <a:latin typeface="+mj-lt"/>
              </a:rPr>
              <a:t>Write-once-read-many</a:t>
            </a:r>
          </a:p>
          <a:p>
            <a:pPr lvl="1"/>
            <a:r>
              <a:rPr lang="en-US" altLang="zh-TW" dirty="0" smtClean="0">
                <a:latin typeface="+mj-lt"/>
              </a:rPr>
              <a:t>This assumption simplifies coherency</a:t>
            </a:r>
          </a:p>
          <a:p>
            <a:r>
              <a:rPr lang="en-US" altLang="zh-TW" dirty="0" smtClean="0">
                <a:latin typeface="+mj-lt"/>
              </a:rPr>
              <a:t>Data Locality</a:t>
            </a:r>
          </a:p>
          <a:p>
            <a:pPr lvl="1"/>
            <a:r>
              <a:rPr lang="en-US" altLang="zh-TW" dirty="0" smtClean="0">
                <a:latin typeface="+mj-lt"/>
              </a:rPr>
              <a:t>Move compute to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HDFS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Overview </a:t>
            </a:r>
          </a:p>
          <a:p>
            <a:r>
              <a:rPr lang="en-US" altLang="zh-TW" dirty="0" smtClean="0"/>
              <a:t>Architecture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Implementation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Other Issue 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manage data</a:t>
            </a:r>
            <a:endParaRPr lang="zh-TW" altLang="en-US" dirty="0"/>
          </a:p>
        </p:txBody>
      </p:sp>
      <p:grpSp>
        <p:nvGrpSpPr>
          <p:cNvPr id="3" name="群組 4"/>
          <p:cNvGrpSpPr/>
          <p:nvPr/>
        </p:nvGrpSpPr>
        <p:grpSpPr>
          <a:xfrm>
            <a:off x="755576" y="1719970"/>
            <a:ext cx="7632848" cy="4877382"/>
            <a:chOff x="755577" y="1488809"/>
            <a:chExt cx="7632848" cy="4877382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5577" y="1488809"/>
              <a:ext cx="7632848" cy="4877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" name="文字方塊 3"/>
            <p:cNvSpPr txBox="1"/>
            <p:nvPr/>
          </p:nvSpPr>
          <p:spPr>
            <a:xfrm>
              <a:off x="6372200" y="5949280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latin typeface="+mj-lt"/>
                </a:rPr>
                <a:t>HDFS Architecture</a:t>
              </a:r>
              <a:endParaRPr lang="zh-TW" altLang="en-US" dirty="0">
                <a:latin typeface="+mj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Namenode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Each HDFS cluster has </a:t>
            </a:r>
            <a:r>
              <a:rPr lang="en-US" altLang="zh-TW" b="1" dirty="0" smtClean="0">
                <a:latin typeface="+mj-lt"/>
              </a:rPr>
              <a:t>one </a:t>
            </a:r>
            <a:r>
              <a:rPr lang="en-US" altLang="zh-TW" b="1" dirty="0" err="1" smtClean="0">
                <a:latin typeface="+mj-lt"/>
              </a:rPr>
              <a:t>Namenode</a:t>
            </a:r>
            <a:endParaRPr lang="en-US" altLang="zh-TW" b="1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Manage the </a:t>
            </a:r>
            <a:r>
              <a:rPr lang="en-US" altLang="zh-TW" b="1" dirty="0" smtClean="0">
                <a:latin typeface="+mj-lt"/>
              </a:rPr>
              <a:t>file system namespace</a:t>
            </a:r>
          </a:p>
          <a:p>
            <a:r>
              <a:rPr lang="en-US" altLang="zh-TW" dirty="0" smtClean="0">
                <a:latin typeface="+mj-lt"/>
              </a:rPr>
              <a:t>Regulate</a:t>
            </a:r>
            <a:r>
              <a:rPr lang="en-US" altLang="zh-TW" b="1" dirty="0" smtClean="0">
                <a:latin typeface="+mj-lt"/>
              </a:rPr>
              <a:t> access </a:t>
            </a:r>
            <a:r>
              <a:rPr lang="en-US" altLang="zh-TW" dirty="0" smtClean="0">
                <a:latin typeface="+mj-lt"/>
              </a:rPr>
              <a:t>to files by clients</a:t>
            </a:r>
          </a:p>
          <a:p>
            <a:r>
              <a:rPr lang="en-US" altLang="zh-TW" dirty="0" smtClean="0">
                <a:latin typeface="+mj-lt"/>
              </a:rPr>
              <a:t>Execute file system </a:t>
            </a:r>
            <a:r>
              <a:rPr lang="en-US" altLang="zh-TW" b="1" dirty="0" smtClean="0">
                <a:latin typeface="+mj-lt"/>
              </a:rPr>
              <a:t>namespace operations</a:t>
            </a:r>
          </a:p>
          <a:p>
            <a:r>
              <a:rPr lang="en-US" altLang="zh-TW" dirty="0" smtClean="0">
                <a:latin typeface="+mj-lt"/>
              </a:rPr>
              <a:t>Determine the </a:t>
            </a:r>
            <a:r>
              <a:rPr lang="en-US" altLang="zh-TW" b="1" dirty="0" smtClean="0">
                <a:latin typeface="+mj-lt"/>
              </a:rPr>
              <a:t>rack id </a:t>
            </a:r>
            <a:r>
              <a:rPr lang="en-US" altLang="zh-TW" dirty="0" smtClean="0">
                <a:latin typeface="+mj-lt"/>
              </a:rPr>
              <a:t>each </a:t>
            </a:r>
            <a:r>
              <a:rPr lang="en-US" altLang="zh-TW" dirty="0" err="1" smtClean="0">
                <a:latin typeface="+mj-lt"/>
              </a:rPr>
              <a:t>Datanode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zh-TW" dirty="0" smtClean="0">
                <a:latin typeface="+mj-lt"/>
              </a:rPr>
              <a:t>belongs to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Datanode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>
                <a:latin typeface="+mj-lt"/>
              </a:rPr>
              <a:t>One per node </a:t>
            </a:r>
            <a:r>
              <a:rPr lang="en-US" altLang="zh-TW" dirty="0" smtClean="0">
                <a:latin typeface="+mj-lt"/>
              </a:rPr>
              <a:t>in the cluster</a:t>
            </a:r>
          </a:p>
          <a:p>
            <a:r>
              <a:rPr lang="en-US" altLang="zh-TW" b="1" dirty="0" smtClean="0">
                <a:latin typeface="+mj-lt"/>
              </a:rPr>
              <a:t>Manage storage </a:t>
            </a:r>
            <a:r>
              <a:rPr lang="en-US" altLang="zh-TW" dirty="0" smtClean="0">
                <a:latin typeface="+mj-lt"/>
              </a:rPr>
              <a:t>attached to the nodes that they run on</a:t>
            </a:r>
          </a:p>
          <a:p>
            <a:r>
              <a:rPr lang="en-US" altLang="zh-TW" dirty="0" smtClean="0">
                <a:latin typeface="+mj-lt"/>
              </a:rPr>
              <a:t>Serve </a:t>
            </a:r>
            <a:r>
              <a:rPr lang="en-US" altLang="zh-TW" b="1" dirty="0" smtClean="0">
                <a:latin typeface="+mj-lt"/>
              </a:rPr>
              <a:t>read and write </a:t>
            </a:r>
            <a:r>
              <a:rPr lang="en-US" altLang="zh-TW" dirty="0" smtClean="0">
                <a:latin typeface="+mj-lt"/>
              </a:rPr>
              <a:t>requests from the file system’s clients</a:t>
            </a:r>
          </a:p>
          <a:p>
            <a:r>
              <a:rPr lang="en-US" altLang="zh-TW" dirty="0" smtClean="0">
                <a:latin typeface="+mj-lt"/>
              </a:rPr>
              <a:t>Perform </a:t>
            </a:r>
            <a:r>
              <a:rPr lang="en-US" altLang="zh-TW" b="1" dirty="0" smtClean="0">
                <a:latin typeface="+mj-lt"/>
              </a:rPr>
              <a:t>block creation</a:t>
            </a:r>
            <a:r>
              <a:rPr lang="en-US" altLang="zh-TW" dirty="0" smtClean="0">
                <a:latin typeface="+mj-lt"/>
              </a:rPr>
              <a:t>, </a:t>
            </a:r>
            <a:r>
              <a:rPr lang="en-US" altLang="zh-TW" b="1" dirty="0" smtClean="0">
                <a:latin typeface="+mj-lt"/>
              </a:rPr>
              <a:t>deletion</a:t>
            </a:r>
            <a:r>
              <a:rPr lang="en-US" altLang="zh-TW" dirty="0" smtClean="0">
                <a:latin typeface="+mj-lt"/>
              </a:rPr>
              <a:t>, and </a:t>
            </a:r>
            <a:r>
              <a:rPr lang="en-US" altLang="zh-TW" b="1" dirty="0" smtClean="0">
                <a:latin typeface="+mj-lt"/>
              </a:rPr>
              <a:t>replication</a:t>
            </a:r>
            <a:endParaRPr lang="zh-TW" altLang="en-US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File System Namespace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Traditional </a:t>
            </a:r>
            <a:r>
              <a:rPr lang="en-US" altLang="zh-TW" b="1" dirty="0" smtClean="0">
                <a:latin typeface="+mj-lt"/>
              </a:rPr>
              <a:t>hierarchical</a:t>
            </a:r>
            <a:r>
              <a:rPr lang="en-US" altLang="zh-TW" dirty="0" smtClean="0">
                <a:latin typeface="+mj-lt"/>
              </a:rPr>
              <a:t> file organization</a:t>
            </a:r>
          </a:p>
          <a:p>
            <a:r>
              <a:rPr lang="en-US" altLang="zh-TW" dirty="0" smtClean="0">
                <a:latin typeface="+mj-lt"/>
              </a:rPr>
              <a:t>Does not support hard links or soft links</a:t>
            </a:r>
          </a:p>
          <a:p>
            <a:r>
              <a:rPr lang="en-US" altLang="zh-TW" dirty="0" smtClean="0">
                <a:latin typeface="+mj-lt"/>
              </a:rPr>
              <a:t>Change to the file system namespace or its properties is </a:t>
            </a:r>
            <a:r>
              <a:rPr lang="en-US" altLang="zh-TW" b="1" dirty="0" smtClean="0">
                <a:latin typeface="+mj-lt"/>
              </a:rPr>
              <a:t>recorded by the </a:t>
            </a:r>
            <a:r>
              <a:rPr lang="en-US" altLang="zh-TW" b="1" dirty="0" err="1" smtClean="0">
                <a:latin typeface="+mj-lt"/>
              </a:rPr>
              <a:t>Namenode</a:t>
            </a:r>
            <a:endParaRPr lang="zh-TW" altLang="en-US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HDFS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Overview 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Architecture</a:t>
            </a:r>
          </a:p>
          <a:p>
            <a:r>
              <a:rPr lang="en-US" altLang="zh-TW" dirty="0" smtClean="0"/>
              <a:t>Implementation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Other Issue 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Data Replication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Blocks of a file are replicated </a:t>
            </a:r>
            <a:r>
              <a:rPr lang="en-US" altLang="zh-TW" b="1" dirty="0" smtClean="0">
                <a:latin typeface="+mj-lt"/>
              </a:rPr>
              <a:t>for fault tolerance</a:t>
            </a:r>
          </a:p>
          <a:p>
            <a:r>
              <a:rPr lang="en-US" altLang="zh-TW" dirty="0" smtClean="0">
                <a:latin typeface="+mj-lt"/>
              </a:rPr>
              <a:t>The block size and replication factor are </a:t>
            </a:r>
            <a:r>
              <a:rPr lang="en-US" altLang="zh-TW" b="1" dirty="0" smtClean="0">
                <a:latin typeface="+mj-lt"/>
              </a:rPr>
              <a:t>configurable per file</a:t>
            </a:r>
          </a:p>
          <a:p>
            <a:r>
              <a:rPr lang="en-US" altLang="zh-TW" dirty="0" err="1" smtClean="0">
                <a:latin typeface="+mj-lt"/>
              </a:rPr>
              <a:t>Namenode</a:t>
            </a:r>
            <a:r>
              <a:rPr lang="en-US" altLang="zh-TW" dirty="0" smtClean="0">
                <a:latin typeface="+mj-lt"/>
              </a:rPr>
              <a:t> makes all decisions regarding replication of blocks</a:t>
            </a:r>
          </a:p>
          <a:p>
            <a:pPr lvl="1"/>
            <a:r>
              <a:rPr lang="en-US" altLang="zh-TW" b="1" dirty="0" smtClean="0">
                <a:latin typeface="+mj-lt"/>
              </a:rPr>
              <a:t>Heartbeat</a:t>
            </a:r>
            <a:r>
              <a:rPr lang="en-US" altLang="zh-TW" dirty="0" smtClean="0">
                <a:latin typeface="+mj-lt"/>
              </a:rPr>
              <a:t>: </a:t>
            </a:r>
            <a:r>
              <a:rPr lang="en-US" altLang="zh-TW" dirty="0" err="1" smtClean="0">
                <a:latin typeface="+mj-lt"/>
              </a:rPr>
              <a:t>Datanode</a:t>
            </a:r>
            <a:r>
              <a:rPr lang="en-US" altLang="zh-TW" dirty="0" smtClean="0">
                <a:latin typeface="+mj-lt"/>
              </a:rPr>
              <a:t> is functioning properly</a:t>
            </a:r>
          </a:p>
          <a:p>
            <a:pPr lvl="1"/>
            <a:r>
              <a:rPr lang="en-US" altLang="zh-TW" b="1" dirty="0" err="1" smtClean="0">
                <a:latin typeface="+mj-lt"/>
              </a:rPr>
              <a:t>Blockreport</a:t>
            </a:r>
            <a:r>
              <a:rPr lang="en-US" altLang="zh-TW" dirty="0" smtClean="0">
                <a:latin typeface="+mj-lt"/>
              </a:rPr>
              <a:t>: a list of all blocks on a </a:t>
            </a:r>
            <a:r>
              <a:rPr lang="en-US" altLang="zh-TW" dirty="0" err="1" smtClean="0">
                <a:latin typeface="+mj-lt"/>
              </a:rPr>
              <a:t>Datanode</a:t>
            </a:r>
            <a:endParaRPr lang="zh-TW" altLang="en-US" dirty="0" smtClean="0">
              <a:latin typeface="+mj-lt"/>
            </a:endParaRPr>
          </a:p>
          <a:p>
            <a:endParaRPr lang="zh-TW" altLang="en-US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Block Replication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412776"/>
            <a:ext cx="8324850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橢圓 4"/>
          <p:cNvSpPr/>
          <p:nvPr/>
        </p:nvSpPr>
        <p:spPr>
          <a:xfrm>
            <a:off x="4860032" y="2060848"/>
            <a:ext cx="1152128" cy="36004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683568" y="3933056"/>
            <a:ext cx="576064" cy="57606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4860032" y="4005064"/>
            <a:ext cx="576064" cy="57606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1763688" y="5229200"/>
            <a:ext cx="576064" cy="57606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932040" y="5085184"/>
            <a:ext cx="576064" cy="57606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Replica Placement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Rack-aware replica placement policy</a:t>
            </a:r>
          </a:p>
          <a:p>
            <a:pPr lvl="1"/>
            <a:r>
              <a:rPr lang="en-US" altLang="zh-TW" dirty="0" smtClean="0">
                <a:latin typeface="+mj-lt"/>
              </a:rPr>
              <a:t>data reliability</a:t>
            </a:r>
          </a:p>
          <a:p>
            <a:pPr lvl="1"/>
            <a:r>
              <a:rPr lang="en-US" altLang="zh-TW" dirty="0" smtClean="0">
                <a:latin typeface="+mj-lt"/>
              </a:rPr>
              <a:t>availability</a:t>
            </a:r>
          </a:p>
          <a:p>
            <a:pPr lvl="1"/>
            <a:r>
              <a:rPr lang="en-US" altLang="zh-TW" dirty="0" smtClean="0">
                <a:latin typeface="+mj-lt"/>
              </a:rPr>
              <a:t>network bandwidth utilization</a:t>
            </a:r>
          </a:p>
          <a:p>
            <a:r>
              <a:rPr lang="en-US" altLang="zh-TW" dirty="0" smtClean="0">
                <a:latin typeface="+mj-lt"/>
              </a:rPr>
              <a:t>To validate it on production systems</a:t>
            </a:r>
          </a:p>
          <a:p>
            <a:pPr lvl="1"/>
            <a:r>
              <a:rPr lang="en-US" altLang="zh-TW" dirty="0" smtClean="0">
                <a:latin typeface="+mj-lt"/>
              </a:rPr>
              <a:t>learn more about its </a:t>
            </a:r>
            <a:r>
              <a:rPr lang="en-US" altLang="zh-TW" b="1" dirty="0" smtClean="0">
                <a:latin typeface="+mj-lt"/>
              </a:rPr>
              <a:t>behavior</a:t>
            </a:r>
            <a:r>
              <a:rPr lang="en-US" altLang="zh-TW" dirty="0" smtClean="0">
                <a:latin typeface="+mj-lt"/>
              </a:rPr>
              <a:t> </a:t>
            </a:r>
          </a:p>
          <a:p>
            <a:pPr lvl="1"/>
            <a:r>
              <a:rPr lang="en-US" altLang="zh-TW" dirty="0" smtClean="0">
                <a:latin typeface="+mj-lt"/>
              </a:rPr>
              <a:t>build a foundation to test </a:t>
            </a:r>
          </a:p>
          <a:p>
            <a:pPr lvl="1"/>
            <a:r>
              <a:rPr lang="en-US" altLang="zh-TW" dirty="0" smtClean="0">
                <a:latin typeface="+mj-lt"/>
              </a:rPr>
              <a:t>research more </a:t>
            </a:r>
            <a:r>
              <a:rPr lang="en-US" altLang="zh-TW" b="1" dirty="0" smtClean="0">
                <a:latin typeface="+mj-lt"/>
              </a:rPr>
              <a:t>sophisticated policies</a:t>
            </a:r>
            <a:endParaRPr lang="zh-TW" altLang="en-US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Screenshot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2348880"/>
            <a:ext cx="4091832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2348880"/>
            <a:ext cx="4307934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251520" y="3356992"/>
            <a:ext cx="3672408" cy="216024"/>
          </a:xfrm>
          <a:prstGeom prst="rect">
            <a:avLst/>
          </a:prstGeom>
          <a:solidFill>
            <a:schemeClr val="accent1">
              <a:tint val="100000"/>
              <a:shade val="100000"/>
              <a:hueMod val="100000"/>
              <a:satMod val="100000"/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860032" y="2564904"/>
            <a:ext cx="3528392" cy="216024"/>
          </a:xfrm>
          <a:prstGeom prst="rect">
            <a:avLst/>
          </a:prstGeom>
          <a:solidFill>
            <a:schemeClr val="accent1">
              <a:tint val="100000"/>
              <a:shade val="100000"/>
              <a:hueMod val="100000"/>
              <a:satMod val="100000"/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3347864" y="1700808"/>
            <a:ext cx="2952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+mj-lt"/>
              </a:rPr>
              <a:t>Number of Replicas:2</a:t>
            </a:r>
            <a:endParaRPr lang="zh-TW" altLang="en-US" sz="24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Why it Fault-Tolerance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Data Corrupt</a:t>
            </a:r>
          </a:p>
          <a:p>
            <a:pPr lvl="1"/>
            <a:r>
              <a:rPr lang="en-US" altLang="zh-TW" dirty="0" smtClean="0">
                <a:latin typeface="+mj-lt"/>
              </a:rPr>
              <a:t>Checked with </a:t>
            </a:r>
            <a:r>
              <a:rPr lang="en-US" altLang="zh-TW" b="1" dirty="0" smtClean="0">
                <a:latin typeface="+mj-lt"/>
              </a:rPr>
              <a:t>CRC32</a:t>
            </a:r>
          </a:p>
          <a:p>
            <a:pPr lvl="1"/>
            <a:r>
              <a:rPr lang="en-US" altLang="zh-TW" dirty="0" smtClean="0">
                <a:latin typeface="+mj-lt"/>
              </a:rPr>
              <a:t>Replace corrupt block with replication one</a:t>
            </a:r>
          </a:p>
          <a:p>
            <a:r>
              <a:rPr lang="en-US" altLang="zh-TW" dirty="0" smtClean="0">
                <a:latin typeface="+mj-lt"/>
              </a:rPr>
              <a:t>Network Fault &amp; </a:t>
            </a:r>
            <a:r>
              <a:rPr lang="en-US" altLang="zh-TW" dirty="0" err="1" smtClean="0">
                <a:latin typeface="+mj-lt"/>
              </a:rPr>
              <a:t>Datanode</a:t>
            </a:r>
            <a:r>
              <a:rPr lang="en-US" altLang="zh-TW" dirty="0" smtClean="0">
                <a:latin typeface="+mj-lt"/>
              </a:rPr>
              <a:t> Fault</a:t>
            </a:r>
          </a:p>
          <a:p>
            <a:pPr lvl="1"/>
            <a:r>
              <a:rPr lang="en-US" altLang="zh-TW" dirty="0" err="1" smtClean="0">
                <a:latin typeface="+mj-lt"/>
              </a:rPr>
              <a:t>Datanode</a:t>
            </a:r>
            <a:r>
              <a:rPr lang="en-US" altLang="zh-TW" dirty="0" smtClean="0">
                <a:latin typeface="+mj-lt"/>
              </a:rPr>
              <a:t> sends </a:t>
            </a:r>
            <a:r>
              <a:rPr lang="en-US" altLang="zh-TW" b="1" dirty="0" smtClean="0">
                <a:latin typeface="+mj-lt"/>
              </a:rPr>
              <a:t>heartbeat</a:t>
            </a:r>
            <a:r>
              <a:rPr lang="en-US" altLang="zh-TW" dirty="0" smtClean="0">
                <a:latin typeface="+mj-lt"/>
              </a:rPr>
              <a:t> to </a:t>
            </a:r>
            <a:r>
              <a:rPr lang="en-US" altLang="zh-TW" dirty="0" err="1" smtClean="0">
                <a:latin typeface="+mj-lt"/>
              </a:rPr>
              <a:t>Namenode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err="1" smtClean="0">
                <a:latin typeface="+mj-lt"/>
              </a:rPr>
              <a:t>Namenode</a:t>
            </a:r>
            <a:r>
              <a:rPr lang="en-US" altLang="zh-TW" dirty="0" smtClean="0">
                <a:latin typeface="+mj-lt"/>
              </a:rPr>
              <a:t> Fault</a:t>
            </a:r>
          </a:p>
          <a:p>
            <a:pPr lvl="1"/>
            <a:r>
              <a:rPr lang="en-US" altLang="zh-TW" b="1" dirty="0" err="1" smtClean="0">
                <a:latin typeface="+mj-lt"/>
              </a:rPr>
              <a:t>FSImage</a:t>
            </a:r>
            <a:r>
              <a:rPr lang="en-US" altLang="zh-TW" dirty="0" smtClean="0">
                <a:latin typeface="+mj-lt"/>
              </a:rPr>
              <a:t> – </a:t>
            </a:r>
            <a:r>
              <a:rPr lang="en-US" altLang="zh-TW" b="1" dirty="0" smtClean="0">
                <a:latin typeface="+mj-lt"/>
              </a:rPr>
              <a:t>core file system </a:t>
            </a:r>
            <a:r>
              <a:rPr lang="en-US" altLang="zh-TW" dirty="0" smtClean="0">
                <a:latin typeface="+mj-lt"/>
              </a:rPr>
              <a:t>mapping image</a:t>
            </a:r>
          </a:p>
          <a:p>
            <a:pPr lvl="1"/>
            <a:r>
              <a:rPr lang="en-US" altLang="zh-TW" b="1" dirty="0" err="1" smtClean="0">
                <a:latin typeface="+mj-lt"/>
              </a:rPr>
              <a:t>Editlog</a:t>
            </a:r>
            <a:r>
              <a:rPr lang="en-US" altLang="zh-TW" dirty="0" smtClean="0">
                <a:latin typeface="+mj-lt"/>
              </a:rPr>
              <a:t> – like SQL </a:t>
            </a:r>
            <a:r>
              <a:rPr lang="en-US" altLang="zh-TW" b="1" dirty="0" smtClean="0">
                <a:latin typeface="+mj-lt"/>
              </a:rPr>
              <a:t>transaction</a:t>
            </a:r>
            <a:r>
              <a:rPr lang="en-US" altLang="zh-TW" dirty="0" smtClean="0">
                <a:latin typeface="+mj-lt"/>
              </a:rPr>
              <a:t> log</a:t>
            </a:r>
          </a:p>
          <a:p>
            <a:pPr lvl="1"/>
            <a:r>
              <a:rPr lang="en-US" altLang="zh-TW" b="1" dirty="0" smtClean="0">
                <a:latin typeface="+mj-lt"/>
              </a:rPr>
              <a:t>Multiple backups </a:t>
            </a:r>
            <a:r>
              <a:rPr lang="en-US" altLang="zh-TW" dirty="0" smtClean="0">
                <a:latin typeface="+mj-lt"/>
              </a:rPr>
              <a:t>of </a:t>
            </a:r>
            <a:r>
              <a:rPr lang="en-US" altLang="zh-TW" dirty="0" err="1" smtClean="0">
                <a:latin typeface="+mj-lt"/>
              </a:rPr>
              <a:t>FSImage</a:t>
            </a:r>
            <a:r>
              <a:rPr lang="en-US" altLang="zh-TW" dirty="0" smtClean="0">
                <a:latin typeface="+mj-lt"/>
              </a:rPr>
              <a:t> and </a:t>
            </a:r>
            <a:r>
              <a:rPr lang="en-US" altLang="zh-TW" dirty="0" err="1" smtClean="0">
                <a:latin typeface="+mj-lt"/>
              </a:rPr>
              <a:t>Editlog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b="1" dirty="0" smtClean="0">
                <a:latin typeface="+mj-lt"/>
              </a:rPr>
              <a:t>Manually recovery </a:t>
            </a:r>
            <a:r>
              <a:rPr lang="en-US" altLang="zh-TW" dirty="0" smtClean="0">
                <a:latin typeface="+mj-lt"/>
              </a:rPr>
              <a:t>while </a:t>
            </a:r>
            <a:r>
              <a:rPr lang="en-US" altLang="zh-TW" dirty="0" err="1" smtClean="0">
                <a:latin typeface="+mj-lt"/>
              </a:rPr>
              <a:t>Namenode</a:t>
            </a:r>
            <a:r>
              <a:rPr lang="en-US" altLang="zh-TW" dirty="0" smtClean="0">
                <a:latin typeface="+mj-lt"/>
              </a:rPr>
              <a:t> Fault</a:t>
            </a:r>
            <a:endParaRPr lang="zh-TW" altLang="en-US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788024" y="6165304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+mj-lt"/>
              </a:rPr>
              <a:t>CRC: Cyclical Redundancy Check</a:t>
            </a:r>
            <a:endParaRPr lang="zh-TW" altLang="en-US" sz="20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Coherency Model &amp;</a:t>
            </a:r>
            <a:r>
              <a:rPr lang="zh-TW" altLang="en-US" dirty="0" smtClean="0"/>
              <a:t> </a:t>
            </a:r>
            <a:r>
              <a:rPr lang="en-US" altLang="zh-TW" dirty="0" smtClean="0"/>
              <a:t>Performance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Coherency model of files</a:t>
            </a:r>
          </a:p>
          <a:p>
            <a:pPr lvl="1"/>
            <a:r>
              <a:rPr lang="en-US" altLang="zh-TW" b="1" dirty="0" err="1" smtClean="0">
                <a:latin typeface="+mj-lt"/>
              </a:rPr>
              <a:t>Namenode</a:t>
            </a:r>
            <a:r>
              <a:rPr lang="en-US" altLang="zh-TW" dirty="0" smtClean="0">
                <a:latin typeface="+mj-lt"/>
              </a:rPr>
              <a:t> handle the operation of write, read and delete.</a:t>
            </a:r>
          </a:p>
          <a:p>
            <a:r>
              <a:rPr lang="en-US" altLang="zh-TW" dirty="0" smtClean="0">
                <a:latin typeface="+mj-lt"/>
              </a:rPr>
              <a:t>Large Data Set and Performance</a:t>
            </a:r>
          </a:p>
          <a:p>
            <a:pPr lvl="1"/>
            <a:r>
              <a:rPr lang="en-US" altLang="zh-TW" dirty="0" smtClean="0">
                <a:latin typeface="+mj-lt"/>
              </a:rPr>
              <a:t>The default block size is </a:t>
            </a:r>
            <a:r>
              <a:rPr lang="en-US" altLang="zh-TW" b="1" dirty="0" smtClean="0">
                <a:latin typeface="+mj-lt"/>
              </a:rPr>
              <a:t>64MB</a:t>
            </a:r>
          </a:p>
          <a:p>
            <a:pPr lvl="1"/>
            <a:r>
              <a:rPr lang="en-US" altLang="zh-TW" dirty="0" smtClean="0">
                <a:latin typeface="+mj-lt"/>
              </a:rPr>
              <a:t>Bigger block size will enhance </a:t>
            </a:r>
            <a:r>
              <a:rPr lang="en-US" altLang="zh-TW" b="1" dirty="0" smtClean="0">
                <a:latin typeface="+mj-lt"/>
              </a:rPr>
              <a:t>read performance</a:t>
            </a:r>
          </a:p>
          <a:p>
            <a:pPr lvl="1"/>
            <a:r>
              <a:rPr lang="en-US" altLang="zh-TW" dirty="0" smtClean="0">
                <a:latin typeface="+mj-lt"/>
              </a:rPr>
              <a:t>Single file stored on HDFS might be larger than single physical disk of </a:t>
            </a:r>
            <a:r>
              <a:rPr lang="en-US" altLang="zh-TW" dirty="0" err="1" smtClean="0">
                <a:latin typeface="+mj-lt"/>
              </a:rPr>
              <a:t>Datanode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b="1" dirty="0" smtClean="0">
                <a:latin typeface="+mj-lt"/>
              </a:rPr>
              <a:t>Fully distributed </a:t>
            </a:r>
            <a:r>
              <a:rPr lang="en-US" altLang="zh-TW" dirty="0" smtClean="0">
                <a:latin typeface="+mj-lt"/>
              </a:rPr>
              <a:t>blocks increase throughput of reading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About Data locality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1988840"/>
            <a:ext cx="7673234" cy="4059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橢圓 4"/>
          <p:cNvSpPr/>
          <p:nvPr/>
        </p:nvSpPr>
        <p:spPr>
          <a:xfrm>
            <a:off x="899592" y="3861048"/>
            <a:ext cx="2016224" cy="720080"/>
          </a:xfrm>
          <a:prstGeom prst="ellipse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 rot="2987466">
            <a:off x="3676002" y="4290906"/>
            <a:ext cx="2090357" cy="859516"/>
          </a:xfrm>
          <a:prstGeom prst="ellipse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HDFS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Overview 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Architecture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Implementation</a:t>
            </a:r>
          </a:p>
          <a:p>
            <a:r>
              <a:rPr lang="en-US" altLang="zh-TW" dirty="0" smtClean="0"/>
              <a:t>Other Issue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Small file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Inefficiency of resource utilization</a:t>
            </a:r>
          </a:p>
          <a:p>
            <a:pPr lvl="1"/>
            <a:r>
              <a:rPr lang="en-US" altLang="zh-TW" dirty="0" smtClean="0">
                <a:latin typeface="+mj-lt"/>
              </a:rPr>
              <a:t>Significantly smaller than the HDFS block size(64MB)</a:t>
            </a:r>
          </a:p>
          <a:p>
            <a:r>
              <a:rPr lang="en-US" altLang="zh-TW" dirty="0" smtClean="0">
                <a:latin typeface="+mj-lt"/>
              </a:rPr>
              <a:t>File, directory and block in HDFS is represented as </a:t>
            </a:r>
            <a:r>
              <a:rPr lang="en-US" altLang="zh-TW" b="1" dirty="0" smtClean="0">
                <a:latin typeface="+mj-lt"/>
              </a:rPr>
              <a:t>an object </a:t>
            </a:r>
            <a:r>
              <a:rPr lang="en-US" altLang="zh-TW" dirty="0" smtClean="0">
                <a:latin typeface="+mj-lt"/>
              </a:rPr>
              <a:t>in the </a:t>
            </a:r>
            <a:r>
              <a:rPr lang="en-US" altLang="zh-TW" dirty="0" err="1" smtClean="0">
                <a:latin typeface="+mj-lt"/>
              </a:rPr>
              <a:t>namenode’s</a:t>
            </a:r>
            <a:r>
              <a:rPr lang="en-US" altLang="zh-TW" dirty="0" smtClean="0">
                <a:latin typeface="+mj-lt"/>
              </a:rPr>
              <a:t> memory, each of which occupies </a:t>
            </a:r>
            <a:r>
              <a:rPr lang="en-US" altLang="zh-TW" b="1" dirty="0" smtClean="0">
                <a:latin typeface="+mj-lt"/>
              </a:rPr>
              <a:t>150 bytes</a:t>
            </a:r>
          </a:p>
          <a:p>
            <a:r>
              <a:rPr lang="en-US" altLang="zh-TW" dirty="0" smtClean="0">
                <a:latin typeface="+mj-lt"/>
              </a:rPr>
              <a:t>HDFS is not geared up to efficiently </a:t>
            </a:r>
            <a:r>
              <a:rPr lang="en-US" altLang="zh-TW" b="1" dirty="0" smtClean="0">
                <a:latin typeface="+mj-lt"/>
              </a:rPr>
              <a:t>accessing</a:t>
            </a:r>
            <a:r>
              <a:rPr lang="en-US" altLang="zh-TW" dirty="0" smtClean="0">
                <a:latin typeface="+mj-lt"/>
              </a:rPr>
              <a:t> small files</a:t>
            </a:r>
          </a:p>
          <a:p>
            <a:pPr lvl="1"/>
            <a:r>
              <a:rPr lang="en-US" altLang="zh-TW" dirty="0" smtClean="0">
                <a:latin typeface="+mj-lt"/>
              </a:rPr>
              <a:t>Designed for streaming access of large files</a:t>
            </a:r>
            <a:endParaRPr lang="zh-TW" altLang="en-US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Small file solution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Archives (HAR)</a:t>
            </a:r>
          </a:p>
          <a:p>
            <a:pPr lvl="1"/>
            <a:r>
              <a:rPr lang="en-US" altLang="zh-TW" dirty="0" smtClean="0">
                <a:latin typeface="+mj-lt"/>
              </a:rPr>
              <a:t>Introduced to alleviate the problem of lots of files putting pressure on the </a:t>
            </a:r>
            <a:r>
              <a:rPr lang="en-US" altLang="zh-TW" dirty="0" err="1" smtClean="0">
                <a:latin typeface="+mj-lt"/>
              </a:rPr>
              <a:t>namenode’s</a:t>
            </a:r>
            <a:r>
              <a:rPr lang="en-US" altLang="zh-TW" dirty="0" smtClean="0">
                <a:latin typeface="+mj-lt"/>
              </a:rPr>
              <a:t> memory</a:t>
            </a:r>
          </a:p>
          <a:p>
            <a:pPr lvl="1"/>
            <a:r>
              <a:rPr lang="en-US" altLang="zh-TW" dirty="0" smtClean="0">
                <a:latin typeface="+mj-lt"/>
              </a:rPr>
              <a:t>Building a </a:t>
            </a:r>
            <a:r>
              <a:rPr lang="en-US" altLang="zh-TW" b="1" dirty="0" smtClean="0">
                <a:latin typeface="+mj-lt"/>
              </a:rPr>
              <a:t>layered </a:t>
            </a:r>
            <a:r>
              <a:rPr lang="en-US" altLang="zh-TW" b="1" dirty="0" err="1" smtClean="0">
                <a:latin typeface="+mj-lt"/>
              </a:rPr>
              <a:t>filesystem</a:t>
            </a:r>
            <a:r>
              <a:rPr lang="en-US" altLang="zh-TW" b="1" dirty="0" smtClean="0">
                <a:latin typeface="+mj-lt"/>
              </a:rPr>
              <a:t> </a:t>
            </a:r>
            <a:r>
              <a:rPr lang="en-US" altLang="zh-TW" dirty="0" smtClean="0">
                <a:latin typeface="+mj-lt"/>
              </a:rPr>
              <a:t>on top of HDFS</a:t>
            </a:r>
          </a:p>
        </p:txBody>
      </p:sp>
      <p:pic>
        <p:nvPicPr>
          <p:cNvPr id="1026" name="Picture 2" descr="E:\SSlab\MS'0\Boss Lesson\Cloud computing\Hadoop\HAR FIL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3768" y="3645024"/>
            <a:ext cx="4278124" cy="26793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Small file solution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Sequence Files</a:t>
            </a:r>
          </a:p>
          <a:p>
            <a:pPr lvl="1"/>
            <a:r>
              <a:rPr lang="en-US" altLang="zh-TW" dirty="0" smtClean="0">
                <a:latin typeface="+mj-lt"/>
              </a:rPr>
              <a:t>Use the filename as the key and the file contents as the value</a:t>
            </a:r>
            <a:endParaRPr lang="zh-TW" altLang="en-US" dirty="0" smtClean="0"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  <p:pic>
        <p:nvPicPr>
          <p:cNvPr id="2050" name="Picture 2" descr="E:\SSlab\MS'0\Boss Lesson\Cloud computing\Hadoop\Seq FIL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736" y="3356992"/>
            <a:ext cx="4865494" cy="28631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Summary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>
                <a:latin typeface="+mj-lt"/>
              </a:rPr>
              <a:t>Scalability</a:t>
            </a:r>
          </a:p>
          <a:p>
            <a:pPr lvl="1"/>
            <a:r>
              <a:rPr lang="en-US" altLang="zh-TW" dirty="0" smtClean="0">
                <a:latin typeface="+mj-lt"/>
              </a:rPr>
              <a:t>Provide scale-out storage capability of handling very large amounts of data</a:t>
            </a:r>
          </a:p>
          <a:p>
            <a:r>
              <a:rPr lang="en-US" altLang="zh-TW" dirty="0" smtClean="0">
                <a:latin typeface="+mj-lt"/>
              </a:rPr>
              <a:t>Availability</a:t>
            </a:r>
          </a:p>
          <a:p>
            <a:pPr lvl="1"/>
            <a:r>
              <a:rPr lang="en-US" altLang="zh-TW" dirty="0" smtClean="0">
                <a:latin typeface="+mj-lt"/>
              </a:rPr>
              <a:t>Provide the ability of failure tolerance such that data would not lose on machine or disk fail</a:t>
            </a:r>
          </a:p>
          <a:p>
            <a:r>
              <a:rPr lang="en-US" altLang="zh-TW" dirty="0" smtClean="0">
                <a:latin typeface="+mj-lt"/>
              </a:rPr>
              <a:t>Manageability </a:t>
            </a:r>
          </a:p>
          <a:p>
            <a:pPr lvl="1"/>
            <a:r>
              <a:rPr lang="en-US" altLang="zh-TW" dirty="0" smtClean="0">
                <a:latin typeface="+mj-lt"/>
              </a:rPr>
              <a:t>Provide mechanism for the system to automatically monitor itself and manage the massive data transparently for users</a:t>
            </a:r>
          </a:p>
          <a:p>
            <a:r>
              <a:rPr lang="en-US" altLang="zh-TW" dirty="0" smtClean="0">
                <a:latin typeface="+mj-lt"/>
              </a:rPr>
              <a:t>Performance</a:t>
            </a:r>
          </a:p>
          <a:p>
            <a:pPr lvl="1"/>
            <a:r>
              <a:rPr lang="en-US" altLang="zh-TW" dirty="0" smtClean="0">
                <a:latin typeface="+mj-lt"/>
              </a:rPr>
              <a:t>High sustained bandwidth is more important than low latency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/>
          <a:lstStyle/>
          <a:p>
            <a:r>
              <a:rPr lang="en-US" altLang="zh-TW" dirty="0" smtClean="0">
                <a:latin typeface="+mj-lt"/>
              </a:rPr>
              <a:t>S. GHEMAWAT, H. GOBIOFF, and S.-T. LEUNG, “The Google file system,” In </a:t>
            </a:r>
            <a:r>
              <a:rPr lang="en-US" altLang="zh-TW" i="1" dirty="0" smtClean="0">
                <a:latin typeface="+mj-lt"/>
              </a:rPr>
              <a:t>Proc. of the 19th ACM SOSP (Dec. </a:t>
            </a:r>
            <a:r>
              <a:rPr lang="en-US" altLang="zh-TW" dirty="0" smtClean="0">
                <a:latin typeface="+mj-lt"/>
              </a:rPr>
              <a:t>2003)</a:t>
            </a:r>
          </a:p>
          <a:p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.</a:t>
            </a:r>
          </a:p>
          <a:p>
            <a:pPr lvl="1"/>
            <a:r>
              <a:rPr lang="en-US" altLang="zh-TW" dirty="0" smtClean="0">
                <a:latin typeface="+mj-lt"/>
                <a:hlinkClick r:id="rId3"/>
              </a:rPr>
              <a:t>http://hadoop.apache.org/</a:t>
            </a:r>
            <a:endParaRPr lang="zh-TW" altLang="en-US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NCHC Cloud Computing Research Group.</a:t>
            </a:r>
          </a:p>
          <a:p>
            <a:pPr lvl="1"/>
            <a:r>
              <a:rPr lang="en-US" altLang="zh-TW" dirty="0" smtClean="0">
                <a:latin typeface="+mj-lt"/>
                <a:hlinkClick r:id="rId4"/>
              </a:rPr>
              <a:t>http://trac.nchc.org.tw/cloud</a:t>
            </a:r>
            <a:endParaRPr lang="zh-TW" altLang="en-US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NTU course- Cloud Computing and </a:t>
            </a:r>
            <a:r>
              <a:rPr lang="en-US" altLang="zh-TW" smtClean="0">
                <a:latin typeface="+mj-lt"/>
              </a:rPr>
              <a:t>Mobile Platforms.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  <a:hlinkClick r:id="rId5"/>
              </a:rPr>
              <a:t>http://ntucsiecloud98.appspot.com/course_information</a:t>
            </a:r>
            <a:endParaRPr lang="en-US" altLang="zh-TW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14629</TotalTime>
  <Words>4376</Words>
  <Application>Microsoft Office PowerPoint</Application>
  <PresentationFormat>如螢幕大小 (4:3)</PresentationFormat>
  <Paragraphs>960</Paragraphs>
  <Slides>104</Slides>
  <Notes>99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104</vt:i4>
      </vt:variant>
    </vt:vector>
  </HeadingPairs>
  <TitlesOfParts>
    <vt:vector size="105" baseType="lpstr">
      <vt:lpstr>Course Themes</vt:lpstr>
      <vt:lpstr>雲端計算 Cloud Computing</vt:lpstr>
      <vt:lpstr>Agenda</vt:lpstr>
      <vt:lpstr>Hadoop</vt:lpstr>
      <vt:lpstr>Google</vt:lpstr>
      <vt:lpstr>Google vs. Hadoop</vt:lpstr>
      <vt:lpstr>Agenda</vt:lpstr>
      <vt:lpstr>File System</vt:lpstr>
      <vt:lpstr>File System Overview</vt:lpstr>
      <vt:lpstr>What Gets Stored</vt:lpstr>
      <vt:lpstr>Design Considerations</vt:lpstr>
      <vt:lpstr>Local FS on Unix-like Systems(1/4)</vt:lpstr>
      <vt:lpstr>Local FS on Unix-like Systems(2/4)</vt:lpstr>
      <vt:lpstr>Local FS on Unix-like Systems(3/4)</vt:lpstr>
      <vt:lpstr>Local FS on Unix-like Systems(4/4)</vt:lpstr>
      <vt:lpstr>File System</vt:lpstr>
      <vt:lpstr>Distributed File Systems</vt:lpstr>
      <vt:lpstr>When is DFS Useful</vt:lpstr>
      <vt:lpstr>Design Considerations of DFS(1/2)</vt:lpstr>
      <vt:lpstr>Design Considerations of DFS(2/2)</vt:lpstr>
      <vt:lpstr>File System</vt:lpstr>
      <vt:lpstr>Google File System </vt:lpstr>
      <vt:lpstr>Google File System</vt:lpstr>
      <vt:lpstr>Motivations</vt:lpstr>
      <vt:lpstr>Design Overview</vt:lpstr>
      <vt:lpstr>Assumptions(1/2)</vt:lpstr>
      <vt:lpstr>Assumptions(2/2)</vt:lpstr>
      <vt:lpstr>Design Decisions</vt:lpstr>
      <vt:lpstr>Design Overview</vt:lpstr>
      <vt:lpstr>Architecture</vt:lpstr>
      <vt:lpstr>Roles in GFS</vt:lpstr>
      <vt:lpstr>Single Master</vt:lpstr>
      <vt:lpstr>Chunkserver - Data</vt:lpstr>
      <vt:lpstr>Chunk Size</vt:lpstr>
      <vt:lpstr>Design Overview</vt:lpstr>
      <vt:lpstr>Metadata</vt:lpstr>
      <vt:lpstr>Metadata (cont.)</vt:lpstr>
      <vt:lpstr>Recovery</vt:lpstr>
      <vt:lpstr>Chunk Locations</vt:lpstr>
      <vt:lpstr>Design Overview</vt:lpstr>
      <vt:lpstr>Consistency Model</vt:lpstr>
      <vt:lpstr>Consistency Model (cont.)</vt:lpstr>
      <vt:lpstr>Google File System</vt:lpstr>
      <vt:lpstr>System Interactions</vt:lpstr>
      <vt:lpstr>While reading a file</vt:lpstr>
      <vt:lpstr>While writing to a File</vt:lpstr>
      <vt:lpstr>Lease Management</vt:lpstr>
      <vt:lpstr>Mutation</vt:lpstr>
      <vt:lpstr>Mutation (cont.)</vt:lpstr>
      <vt:lpstr>System Interactions</vt:lpstr>
      <vt:lpstr>Concurrent Write</vt:lpstr>
      <vt:lpstr>Consistency Model (remind)</vt:lpstr>
      <vt:lpstr>Write/Concurrent Write</vt:lpstr>
      <vt:lpstr>Trade-offs</vt:lpstr>
      <vt:lpstr>Atomic Record Appends</vt:lpstr>
      <vt:lpstr>How Record Append Works</vt:lpstr>
      <vt:lpstr>Append</vt:lpstr>
      <vt:lpstr>System Interactions</vt:lpstr>
      <vt:lpstr>Snapshot</vt:lpstr>
      <vt:lpstr> After Snapshot(Read/Write)</vt:lpstr>
      <vt:lpstr>Google File System</vt:lpstr>
      <vt:lpstr>Master Operations</vt:lpstr>
      <vt:lpstr>Namespace Mgt and Locking</vt:lpstr>
      <vt:lpstr>Namespace Mgt and Locking (cont.)</vt:lpstr>
      <vt:lpstr>Namespace Mgt and Locking (cont.)</vt:lpstr>
      <vt:lpstr>Master Operations</vt:lpstr>
      <vt:lpstr>Replica Placement</vt:lpstr>
      <vt:lpstr>Chunk Creation &amp; Rebalance</vt:lpstr>
      <vt:lpstr>Chunk Re-replication</vt:lpstr>
      <vt:lpstr>Master Operations</vt:lpstr>
      <vt:lpstr>Garbage Collection</vt:lpstr>
      <vt:lpstr>Garbage Collection(cont.)</vt:lpstr>
      <vt:lpstr>Stale Replica Deletion</vt:lpstr>
      <vt:lpstr>Google File System</vt:lpstr>
      <vt:lpstr>Fault Tolerance</vt:lpstr>
      <vt:lpstr>Fast Recovery</vt:lpstr>
      <vt:lpstr>Master Replication</vt:lpstr>
      <vt:lpstr>Fault Tolerance</vt:lpstr>
      <vt:lpstr>Data Integrity</vt:lpstr>
      <vt:lpstr>Diagnostic Tools</vt:lpstr>
      <vt:lpstr>Summary of GFS</vt:lpstr>
      <vt:lpstr>How about Hadoop</vt:lpstr>
      <vt:lpstr>HDFS</vt:lpstr>
      <vt:lpstr>What’s HDFS</vt:lpstr>
      <vt:lpstr>HDFS’s Feature(1/2)</vt:lpstr>
      <vt:lpstr>HDFS’s Feature(2/2)</vt:lpstr>
      <vt:lpstr>HDFS</vt:lpstr>
      <vt:lpstr>How to manage data</vt:lpstr>
      <vt:lpstr>Namenode</vt:lpstr>
      <vt:lpstr>Datanode</vt:lpstr>
      <vt:lpstr>File System Namespace</vt:lpstr>
      <vt:lpstr>HDFS</vt:lpstr>
      <vt:lpstr>Data Replication</vt:lpstr>
      <vt:lpstr>Block Replication</vt:lpstr>
      <vt:lpstr>Replica Placement</vt:lpstr>
      <vt:lpstr>Screenshot</vt:lpstr>
      <vt:lpstr>Why it Fault-Tolerance</vt:lpstr>
      <vt:lpstr>Coherency Model &amp; Performance</vt:lpstr>
      <vt:lpstr>About Data locality</vt:lpstr>
      <vt:lpstr>HDFS</vt:lpstr>
      <vt:lpstr>Small file problem</vt:lpstr>
      <vt:lpstr>Small file solution</vt:lpstr>
      <vt:lpstr>Small file solution</vt:lpstr>
      <vt:lpstr>Summary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tlcsmall3</dc:creator>
  <cp:lastModifiedBy>Yeh-Ching Chung</cp:lastModifiedBy>
  <cp:revision>1275</cp:revision>
  <dcterms:created xsi:type="dcterms:W3CDTF">2010-08-10T05:14:29Z</dcterms:created>
  <dcterms:modified xsi:type="dcterms:W3CDTF">2010-12-28T03:33:15Z</dcterms:modified>
</cp:coreProperties>
</file>