
<file path=[Content_Types].xml><?xml version="1.0" encoding="utf-8"?>
<Types xmlns="http://schemas.openxmlformats.org/package/2006/content-types">
  <Override PartName="/ppt/slides/slide29.xml" ContentType="application/vnd.openxmlformats-officedocument.presentationml.slide+xml"/>
  <Override PartName="/ppt/slides/slide47.xml" ContentType="application/vnd.openxmlformats-officedocument.presentationml.slide+xml"/>
  <Override PartName="/ppt/slides/slide58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36.xml" ContentType="application/vnd.openxmlformats-officedocument.presentationml.slide+xml"/>
  <Override PartName="/ppt/slides/slide54.xml" ContentType="application/vnd.openxmlformats-officedocument.presentationml.slide+xml"/>
  <Override PartName="/ppt/slides/slide65.xml" ContentType="application/vnd.openxmlformats-officedocument.presentationml.slide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s/slide25.xml" ContentType="application/vnd.openxmlformats-officedocument.presentationml.slide+xml"/>
  <Override PartName="/ppt/slides/slide43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xml" ContentType="application/xml"/>
  <Override PartName="/ppt/slides/slide14.xml" ContentType="application/vnd.openxmlformats-officedocument.presentationml.slide+xml"/>
  <Override PartName="/ppt/slides/slide32.xml" ContentType="application/vnd.openxmlformats-officedocument.presentationml.slide+xml"/>
  <Override PartName="/ppt/slides/slide50.xml" ContentType="application/vnd.openxmlformats-officedocument.presentationml.slide+xml"/>
  <Override PartName="/ppt/slides/slide61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3.xml" ContentType="application/vnd.openxmlformats-officedocument.presentationml.slideLayout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slides/slide59.xml" ContentType="application/vnd.openxmlformats-officedocument.presentationml.slide+xml"/>
  <Override PartName="/ppt/slides/slide6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5.xml" ContentType="application/vnd.openxmlformats-officedocument.presentationml.notesSlide+xml"/>
  <Override PartName="/ppt/slideMasters/slideMaster2.xml" ContentType="application/vnd.openxmlformats-officedocument.presentationml.slideMaster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48.xml" ContentType="application/vnd.openxmlformats-officedocument.presentationml.slide+xml"/>
  <Override PartName="/ppt/slides/slide57.xml" ContentType="application/vnd.openxmlformats-officedocument.presentationml.slide+xml"/>
  <Override PartName="/ppt/slides/slide66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Default Extension="bin" ContentType="application/vnd.openxmlformats-officedocument.oleObject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slides/slide55.xml" ContentType="application/vnd.openxmlformats-officedocument.presentationml.slide+xml"/>
  <Override PartName="/ppt/slides/slide64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s/slide53.xml" ContentType="application/vnd.openxmlformats-officedocument.presentationml.slide+xml"/>
  <Override PartName="/ppt/slides/slide62.xml" ContentType="application/vnd.openxmlformats-officedocument.presentationml.slide+xml"/>
  <Override PartName="/ppt/slides/slide71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slideLayouts/slideLayout16.xml" ContentType="application/vnd.openxmlformats-officedocument.presentationml.slideLayout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51.xml" ContentType="application/vnd.openxmlformats-officedocument.presentationml.slide+xml"/>
  <Override PartName="/ppt/slides/slide60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slideLayouts/slideLayout12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0.xml" ContentType="application/vnd.openxmlformats-officedocument.presentationml.slideLayout+xml"/>
  <Default Extension="gif" ContentType="image/gif"/>
  <Default Extension="vml" ContentType="application/vnd.openxmlformats-officedocument.vmlDrawing"/>
  <Override PartName="/ppt/slides/slide8.xml" ContentType="application/vnd.openxmlformats-officedocument.presentationml.slide+xml"/>
  <Override PartName="/ppt/slides/slide49.xml" ContentType="application/vnd.openxmlformats-officedocument.presentationml.slide+xml"/>
  <Override PartName="/ppt/slides/slide69.xml" ContentType="application/vnd.openxmlformats-officedocument.presentationml.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s/slide38.xml" ContentType="application/vnd.openxmlformats-officedocument.presentationml.slide+xml"/>
  <Override PartName="/ppt/slides/slide56.xml" ContentType="application/vnd.openxmlformats-officedocument.presentationml.slide+xml"/>
  <Override PartName="/ppt/slides/slide67.xml" ContentType="application/vnd.openxmlformats-officedocument.presentationml.slide+xml"/>
  <Override PartName="/ppt/slideLayouts/slideLayout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s/slide45.xml" ContentType="application/vnd.openxmlformats-officedocument.presentationml.slide+xml"/>
  <Override PartName="/ppt/slideLayouts/slideLayout4.xml" ContentType="application/vnd.openxmlformats-officedocument.presentationml.slideLayout+xml"/>
  <Override PartName="/ppt/theme/theme3.xml" ContentType="application/vnd.openxmlformats-officedocument.them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34.xml" ContentType="application/vnd.openxmlformats-officedocument.presentationml.slide+xml"/>
  <Override PartName="/ppt/slides/slide52.xml" ContentType="application/vnd.openxmlformats-officedocument.presentationml.slide+xml"/>
  <Override PartName="/ppt/slides/slide63.xml" ContentType="application/vnd.openxmlformats-officedocument.presentationml.slide+xml"/>
  <Override PartName="/ppt/slideLayouts/slideLayout15.xml" ContentType="application/vnd.openxmlformats-officedocument.presentationml.slideLayout+xml"/>
  <Default Extension="wmf" ContentType="image/x-wmf"/>
  <Default Extension="rels" ContentType="application/vnd.openxmlformats-package.relationships+xml"/>
  <Override PartName="/ppt/slides/slide23.xml" ContentType="application/vnd.openxmlformats-officedocument.presentationml.slide+xml"/>
  <Override PartName="/ppt/slides/slide41.xml" ContentType="application/vnd.openxmlformats-officedocument.presentationml.slide+xml"/>
  <Override PartName="/ppt/slides/slide70.xml" ContentType="application/vnd.openxmlformats-officedocument.presentationml.slide+xml"/>
  <Override PartName="/ppt/slideLayouts/slideLayout22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</p:sldMasterIdLst>
  <p:notesMasterIdLst>
    <p:notesMasterId r:id="rId74"/>
  </p:notesMasterIdLst>
  <p:sldIdLst>
    <p:sldId id="361" r:id="rId3"/>
    <p:sldId id="362" r:id="rId4"/>
    <p:sldId id="395" r:id="rId5"/>
    <p:sldId id="400" r:id="rId6"/>
    <p:sldId id="396" r:id="rId7"/>
    <p:sldId id="323" r:id="rId8"/>
    <p:sldId id="384" r:id="rId9"/>
    <p:sldId id="366" r:id="rId10"/>
    <p:sldId id="325" r:id="rId11"/>
    <p:sldId id="326" r:id="rId12"/>
    <p:sldId id="328" r:id="rId13"/>
    <p:sldId id="329" r:id="rId14"/>
    <p:sldId id="382" r:id="rId15"/>
    <p:sldId id="348" r:id="rId16"/>
    <p:sldId id="352" r:id="rId17"/>
    <p:sldId id="354" r:id="rId18"/>
    <p:sldId id="373" r:id="rId19"/>
    <p:sldId id="388" r:id="rId20"/>
    <p:sldId id="392" r:id="rId21"/>
    <p:sldId id="391" r:id="rId22"/>
    <p:sldId id="393" r:id="rId23"/>
    <p:sldId id="436" r:id="rId24"/>
    <p:sldId id="401" r:id="rId25"/>
    <p:sldId id="349" r:id="rId26"/>
    <p:sldId id="405" r:id="rId27"/>
    <p:sldId id="411" r:id="rId28"/>
    <p:sldId id="410" r:id="rId29"/>
    <p:sldId id="414" r:id="rId30"/>
    <p:sldId id="416" r:id="rId31"/>
    <p:sldId id="415" r:id="rId32"/>
    <p:sldId id="419" r:id="rId33"/>
    <p:sldId id="420" r:id="rId34"/>
    <p:sldId id="422" r:id="rId35"/>
    <p:sldId id="424" r:id="rId36"/>
    <p:sldId id="418" r:id="rId37"/>
    <p:sldId id="403" r:id="rId38"/>
    <p:sldId id="417" r:id="rId39"/>
    <p:sldId id="338" r:id="rId40"/>
    <p:sldId id="330" r:id="rId41"/>
    <p:sldId id="341" r:id="rId42"/>
    <p:sldId id="342" r:id="rId43"/>
    <p:sldId id="426" r:id="rId44"/>
    <p:sldId id="470" r:id="rId45"/>
    <p:sldId id="467" r:id="rId46"/>
    <p:sldId id="468" r:id="rId47"/>
    <p:sldId id="471" r:id="rId48"/>
    <p:sldId id="472" r:id="rId49"/>
    <p:sldId id="480" r:id="rId50"/>
    <p:sldId id="429" r:id="rId51"/>
    <p:sldId id="439" r:id="rId52"/>
    <p:sldId id="402" r:id="rId53"/>
    <p:sldId id="474" r:id="rId54"/>
    <p:sldId id="440" r:id="rId55"/>
    <p:sldId id="447" r:id="rId56"/>
    <p:sldId id="481" r:id="rId57"/>
    <p:sldId id="448" r:id="rId58"/>
    <p:sldId id="482" r:id="rId59"/>
    <p:sldId id="484" r:id="rId60"/>
    <p:sldId id="483" r:id="rId61"/>
    <p:sldId id="485" r:id="rId62"/>
    <p:sldId id="450" r:id="rId63"/>
    <p:sldId id="451" r:id="rId64"/>
    <p:sldId id="452" r:id="rId65"/>
    <p:sldId id="454" r:id="rId66"/>
    <p:sldId id="456" r:id="rId67"/>
    <p:sldId id="445" r:id="rId68"/>
    <p:sldId id="459" r:id="rId69"/>
    <p:sldId id="461" r:id="rId70"/>
    <p:sldId id="460" r:id="rId71"/>
    <p:sldId id="463" r:id="rId72"/>
    <p:sldId id="449" r:id="rId73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A488322-F2BA-4B5B-9748-0D474271808F}" styleName="中等深淺樣式 3 - 輔色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3C2FFA5D-87B4-456A-9821-1D502468CF0F}" styleName="佈景主題樣式 1 - 輔色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7020" autoAdjust="0"/>
  </p:normalViewPr>
  <p:slideViewPr>
    <p:cSldViewPr>
      <p:cViewPr varScale="1">
        <p:scale>
          <a:sx n="93" d="100"/>
          <a:sy n="93" d="100"/>
        </p:scale>
        <p:origin x="-1751" y="33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3388"/>
    </p:cViewPr>
  </p:sorter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76" Type="http://schemas.openxmlformats.org/officeDocument/2006/relationships/viewProps" Target="viewProps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66" Type="http://schemas.openxmlformats.org/officeDocument/2006/relationships/slide" Target="slides/slide64.xml"/><Relationship Id="rId74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61" Type="http://schemas.openxmlformats.org/officeDocument/2006/relationships/slide" Target="slides/slide59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slide" Target="slides/slide71.xml"/><Relationship Id="rId78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77" Type="http://schemas.openxmlformats.org/officeDocument/2006/relationships/theme" Target="theme/theme1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slide" Target="slides/slide65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slide" Target="slides/slide68.xml"/><Relationship Id="rId75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21.wmf"/><Relationship Id="rId2" Type="http://schemas.openxmlformats.org/officeDocument/2006/relationships/image" Target="../media/image20.wmf"/><Relationship Id="rId1" Type="http://schemas.openxmlformats.org/officeDocument/2006/relationships/image" Target="../media/image19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30.wmf"/><Relationship Id="rId2" Type="http://schemas.openxmlformats.org/officeDocument/2006/relationships/image" Target="../media/image29.wmf"/><Relationship Id="rId1" Type="http://schemas.openxmlformats.org/officeDocument/2006/relationships/image" Target="../media/image28.wmf"/><Relationship Id="rId4" Type="http://schemas.openxmlformats.org/officeDocument/2006/relationships/image" Target="../media/image31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30.wmf"/><Relationship Id="rId2" Type="http://schemas.openxmlformats.org/officeDocument/2006/relationships/image" Target="../media/image29.wmf"/><Relationship Id="rId1" Type="http://schemas.openxmlformats.org/officeDocument/2006/relationships/image" Target="../media/image28.wmf"/><Relationship Id="rId4" Type="http://schemas.openxmlformats.org/officeDocument/2006/relationships/image" Target="../media/image31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30.wmf"/><Relationship Id="rId2" Type="http://schemas.openxmlformats.org/officeDocument/2006/relationships/image" Target="../media/image29.wmf"/><Relationship Id="rId1" Type="http://schemas.openxmlformats.org/officeDocument/2006/relationships/image" Target="../media/image28.wmf"/><Relationship Id="rId4" Type="http://schemas.openxmlformats.org/officeDocument/2006/relationships/image" Target="../media/image31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0B7012-DFAE-4ACA-90C7-205332D88888}" type="datetimeFigureOut">
              <a:rPr lang="zh-TW" altLang="en-US" smtClean="0"/>
              <a:pPr/>
              <a:t>2010/9/16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162E73-1BBA-494F-AF75-1EAE4F4A0233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2162E73-1BBA-494F-AF75-1EAE4F4A0233}" type="slidenum">
              <a:rPr lang="zh-TW" altLang="en-US" smtClean="0"/>
              <a:pPr/>
              <a:t>19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altLang="zh-TW" dirty="0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2162E73-1BBA-494F-AF75-1EAE4F4A0233}" type="slidenum">
              <a:rPr lang="zh-TW" altLang="en-US" smtClean="0"/>
              <a:pPr/>
              <a:t>54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2162E73-1BBA-494F-AF75-1EAE4F4A0233}" type="slidenum">
              <a:rPr lang="zh-TW" altLang="en-US" smtClean="0"/>
              <a:pPr/>
              <a:t>56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2162E73-1BBA-494F-AF75-1EAE4F4A0233}" type="slidenum">
              <a:rPr lang="zh-TW" altLang="en-US" smtClean="0"/>
              <a:pPr/>
              <a:t>61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dirty="0" smtClean="0"/>
              <a:t>降低資訊營運成本與資本投入</a:t>
            </a:r>
            <a:endParaRPr lang="en-US" altLang="zh-TW" dirty="0" smtClean="0"/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2162E73-1BBA-494F-AF75-1EAE4F4A0233}" type="slidenum">
              <a:rPr lang="zh-TW" altLang="en-US" smtClean="0"/>
              <a:pPr/>
              <a:t>62</a:t>
            </a:fld>
            <a:endParaRPr lang="zh-TW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>
            <a:normAutofit/>
          </a:bodyPr>
          <a:lstStyle>
            <a:lvl1pPr algn="ctr">
              <a:defRPr lang="en-US" sz="3600" b="1" i="1" kern="1200" dirty="0">
                <a:solidFill>
                  <a:schemeClr val="accent1">
                    <a:lumMod val="50000"/>
                  </a:schemeClr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 anchor="b">
            <a:normAutofit/>
          </a:bodyPr>
          <a:lstStyle>
            <a:lvl1pPr marL="0" indent="0" algn="l">
              <a:buNone/>
              <a:defRPr lang="en-US" sz="1800" b="1" i="1" kern="1200" dirty="0">
                <a:solidFill>
                  <a:schemeClr val="accent2">
                    <a:lumMod val="50000"/>
                  </a:schemeClr>
                </a:solidFill>
                <a:latin typeface="Cambria" pitchFamily="18" charset="0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2010/9/16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  <p:pic>
        <p:nvPicPr>
          <p:cNvPr id="9" name="Picture 6" descr="logo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374027" y="6030097"/>
            <a:ext cx="2743200" cy="7620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/>
          <a:lstStyle>
            <a:lvl1pPr algn="r">
              <a:defRPr b="1">
                <a:latin typeface="+mj-lt"/>
              </a:defRPr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2010/9/16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2010/9/16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2010/9/16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2010/9/16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2010/9/16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2010/9/16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2010/9/16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 smtClean="0"/>
              <a:t>按一下圖示以新增圖片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2010/9/16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2010/9/16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2010/9/16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>
            <a:normAutofit/>
          </a:bodyPr>
          <a:lstStyle>
            <a:lvl1pPr algn="ctr">
              <a:defRPr lang="en-US" sz="3600" b="1" i="1" kern="1200" dirty="0">
                <a:solidFill>
                  <a:schemeClr val="accent1">
                    <a:lumMod val="50000"/>
                  </a:schemeClr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 anchor="b">
            <a:normAutofit/>
          </a:bodyPr>
          <a:lstStyle>
            <a:lvl1pPr marL="0" indent="0" algn="l">
              <a:buNone/>
              <a:defRPr lang="en-US" sz="1800" b="1" i="1" kern="1200" dirty="0">
                <a:solidFill>
                  <a:schemeClr val="accent2">
                    <a:lumMod val="50000"/>
                  </a:schemeClr>
                </a:solidFill>
                <a:latin typeface="Cambria" pitchFamily="18" charset="0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9/16/2010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/>
          <a:lstStyle>
            <a:lvl1pPr algn="r">
              <a:defRPr b="1">
                <a:latin typeface="+mj-lt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9/16/2010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9/16/2010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9/16/2010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9/16/2010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9/16/2010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9/16/2010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9/16/2010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9/16/2010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9/16/2010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9/16/2010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BEAD13-0566-4C6C-97E7-55F17F24B09F}" type="datetimeFigureOut">
              <a:rPr lang="zh-TW" altLang="en-US" smtClean="0"/>
              <a:pPr/>
              <a:t>2010/9/16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r" defTabSz="914400" rtl="0" eaLnBrk="1" latinLnBrk="0" hangingPunct="1">
        <a:spcBef>
          <a:spcPct val="0"/>
        </a:spcBef>
        <a:buNone/>
        <a:defRPr sz="4400" b="1" i="1" kern="1200">
          <a:solidFill>
            <a:schemeClr val="accent5">
              <a:lumMod val="50000"/>
            </a:schemeClr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Clr>
          <a:schemeClr val="accent1">
            <a:lumMod val="75000"/>
          </a:schemeClr>
        </a:buClr>
        <a:buFont typeface="Arial" pitchFamily="34" charset="0"/>
        <a:buChar char="•"/>
        <a:defRPr sz="2800" kern="1200">
          <a:solidFill>
            <a:schemeClr val="tx2">
              <a:lumMod val="75000"/>
            </a:schemeClr>
          </a:solidFill>
          <a:latin typeface="Cambria" pitchFamily="18" charset="0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Clr>
          <a:schemeClr val="accent3">
            <a:lumMod val="50000"/>
          </a:schemeClr>
        </a:buClr>
        <a:buFont typeface="Wingdings" pitchFamily="2" charset="2"/>
        <a:buChar char="§"/>
        <a:defRPr sz="2800" kern="1200">
          <a:solidFill>
            <a:schemeClr val="accent3">
              <a:lumMod val="50000"/>
            </a:schemeClr>
          </a:solidFill>
          <a:latin typeface="Cambria" pitchFamily="18" charset="0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Clr>
          <a:schemeClr val="accent4">
            <a:lumMod val="50000"/>
          </a:schemeClr>
        </a:buClr>
        <a:buFont typeface="Arial" pitchFamily="34" charset="0"/>
        <a:buChar char="•"/>
        <a:defRPr sz="2400" kern="1200">
          <a:solidFill>
            <a:schemeClr val="accent4">
              <a:lumMod val="5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9/16/2010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r" defTabSz="914400" rtl="0" eaLnBrk="1" latinLnBrk="0" hangingPunct="1">
        <a:spcBef>
          <a:spcPct val="0"/>
        </a:spcBef>
        <a:buNone/>
        <a:defRPr sz="4400" b="1" i="1" kern="1200">
          <a:solidFill>
            <a:schemeClr val="accent5">
              <a:lumMod val="50000"/>
            </a:schemeClr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Clr>
          <a:schemeClr val="accent1">
            <a:lumMod val="75000"/>
          </a:schemeClr>
        </a:buClr>
        <a:buFont typeface="Arial" pitchFamily="34" charset="0"/>
        <a:buChar char="•"/>
        <a:defRPr sz="2800" kern="1200">
          <a:solidFill>
            <a:schemeClr val="tx2">
              <a:lumMod val="75000"/>
            </a:schemeClr>
          </a:solidFill>
          <a:latin typeface="Cambria" pitchFamily="18" charset="0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Clr>
          <a:schemeClr val="accent3">
            <a:lumMod val="50000"/>
          </a:schemeClr>
        </a:buClr>
        <a:buFont typeface="Wingdings" pitchFamily="2" charset="2"/>
        <a:buChar char="§"/>
        <a:defRPr sz="2400" kern="1200">
          <a:solidFill>
            <a:schemeClr val="accent3">
              <a:lumMod val="50000"/>
            </a:schemeClr>
          </a:solidFill>
          <a:latin typeface="Cambria" pitchFamily="18" charset="0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Clr>
          <a:schemeClr val="accent4">
            <a:lumMod val="50000"/>
          </a:schemeClr>
        </a:buClr>
        <a:buFont typeface="Arial" pitchFamily="34" charset="0"/>
        <a:buChar char="•"/>
        <a:defRPr sz="2400" kern="1200">
          <a:solidFill>
            <a:schemeClr val="accent4">
              <a:lumMod val="5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gif"/><Relationship Id="rId2" Type="http://schemas.openxmlformats.org/officeDocument/2006/relationships/image" Target="../media/image9.w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wmf"/><Relationship Id="rId2" Type="http://schemas.openxmlformats.org/officeDocument/2006/relationships/image" Target="../media/image11.wmf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wmf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wm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wm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wmf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.bin"/><Relationship Id="rId13" Type="http://schemas.openxmlformats.org/officeDocument/2006/relationships/image" Target="../media/image26.png"/><Relationship Id="rId3" Type="http://schemas.openxmlformats.org/officeDocument/2006/relationships/oleObject" Target="../embeddings/oleObject1.bin"/><Relationship Id="rId7" Type="http://schemas.openxmlformats.org/officeDocument/2006/relationships/image" Target="../media/image25.png"/><Relationship Id="rId12" Type="http://schemas.openxmlformats.org/officeDocument/2006/relationships/oleObject" Target="../embeddings/oleObject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24.png"/><Relationship Id="rId11" Type="http://schemas.openxmlformats.org/officeDocument/2006/relationships/oleObject" Target="../embeddings/oleObject5.bin"/><Relationship Id="rId5" Type="http://schemas.openxmlformats.org/officeDocument/2006/relationships/image" Target="../media/image23.png"/><Relationship Id="rId10" Type="http://schemas.openxmlformats.org/officeDocument/2006/relationships/oleObject" Target="../embeddings/oleObject4.bin"/><Relationship Id="rId4" Type="http://schemas.openxmlformats.org/officeDocument/2006/relationships/image" Target="../media/image22.jpeg"/><Relationship Id="rId9" Type="http://schemas.openxmlformats.org/officeDocument/2006/relationships/oleObject" Target="../embeddings/oleObject3.bin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wmf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1.bin"/><Relationship Id="rId3" Type="http://schemas.openxmlformats.org/officeDocument/2006/relationships/notesSlide" Target="../notesSlides/notesSlide1.xml"/><Relationship Id="rId7" Type="http://schemas.openxmlformats.org/officeDocument/2006/relationships/oleObject" Target="../embeddings/oleObject10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9.bin"/><Relationship Id="rId11" Type="http://schemas.openxmlformats.org/officeDocument/2006/relationships/oleObject" Target="../embeddings/oleObject14.bin"/><Relationship Id="rId5" Type="http://schemas.openxmlformats.org/officeDocument/2006/relationships/oleObject" Target="../embeddings/oleObject8.bin"/><Relationship Id="rId10" Type="http://schemas.openxmlformats.org/officeDocument/2006/relationships/oleObject" Target="../embeddings/oleObject13.bin"/><Relationship Id="rId4" Type="http://schemas.openxmlformats.org/officeDocument/2006/relationships/oleObject" Target="../embeddings/oleObject7.bin"/><Relationship Id="rId9" Type="http://schemas.openxmlformats.org/officeDocument/2006/relationships/oleObject" Target="../embeddings/oleObject12.bin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0.bin"/><Relationship Id="rId3" Type="http://schemas.openxmlformats.org/officeDocument/2006/relationships/oleObject" Target="../embeddings/oleObject15.bin"/><Relationship Id="rId7" Type="http://schemas.openxmlformats.org/officeDocument/2006/relationships/oleObject" Target="../embeddings/oleObject19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18.bin"/><Relationship Id="rId5" Type="http://schemas.openxmlformats.org/officeDocument/2006/relationships/oleObject" Target="../embeddings/oleObject17.bin"/><Relationship Id="rId10" Type="http://schemas.openxmlformats.org/officeDocument/2006/relationships/oleObject" Target="../embeddings/oleObject22.bin"/><Relationship Id="rId4" Type="http://schemas.openxmlformats.org/officeDocument/2006/relationships/oleObject" Target="../embeddings/oleObject16.bin"/><Relationship Id="rId9" Type="http://schemas.openxmlformats.org/officeDocument/2006/relationships/oleObject" Target="../embeddings/oleObject21.bin"/></Relationships>
</file>

<file path=ppt/slides/_rels/slide21.xml.rels><?xml version="1.0" encoding="UTF-8" standalone="yes"?>
<Relationships xmlns="http://schemas.openxmlformats.org/package/2006/relationships"><Relationship Id="rId26" Type="http://schemas.openxmlformats.org/officeDocument/2006/relationships/oleObject" Target="../embeddings/oleObject46.bin"/><Relationship Id="rId117" Type="http://schemas.openxmlformats.org/officeDocument/2006/relationships/oleObject" Target="../embeddings/oleObject137.bin"/><Relationship Id="rId21" Type="http://schemas.openxmlformats.org/officeDocument/2006/relationships/oleObject" Target="../embeddings/oleObject41.bin"/><Relationship Id="rId42" Type="http://schemas.openxmlformats.org/officeDocument/2006/relationships/oleObject" Target="../embeddings/oleObject62.bin"/><Relationship Id="rId47" Type="http://schemas.openxmlformats.org/officeDocument/2006/relationships/oleObject" Target="../embeddings/oleObject67.bin"/><Relationship Id="rId63" Type="http://schemas.openxmlformats.org/officeDocument/2006/relationships/oleObject" Target="../embeddings/oleObject83.bin"/><Relationship Id="rId68" Type="http://schemas.openxmlformats.org/officeDocument/2006/relationships/oleObject" Target="../embeddings/oleObject88.bin"/><Relationship Id="rId84" Type="http://schemas.openxmlformats.org/officeDocument/2006/relationships/oleObject" Target="../embeddings/oleObject104.bin"/><Relationship Id="rId89" Type="http://schemas.openxmlformats.org/officeDocument/2006/relationships/oleObject" Target="../embeddings/oleObject109.bin"/><Relationship Id="rId112" Type="http://schemas.openxmlformats.org/officeDocument/2006/relationships/oleObject" Target="../embeddings/oleObject132.bin"/><Relationship Id="rId16" Type="http://schemas.openxmlformats.org/officeDocument/2006/relationships/oleObject" Target="../embeddings/oleObject36.bin"/><Relationship Id="rId107" Type="http://schemas.openxmlformats.org/officeDocument/2006/relationships/oleObject" Target="../embeddings/oleObject127.bin"/><Relationship Id="rId11" Type="http://schemas.openxmlformats.org/officeDocument/2006/relationships/oleObject" Target="../embeddings/oleObject31.bin"/><Relationship Id="rId32" Type="http://schemas.openxmlformats.org/officeDocument/2006/relationships/oleObject" Target="../embeddings/oleObject52.bin"/><Relationship Id="rId37" Type="http://schemas.openxmlformats.org/officeDocument/2006/relationships/oleObject" Target="../embeddings/oleObject57.bin"/><Relationship Id="rId53" Type="http://schemas.openxmlformats.org/officeDocument/2006/relationships/oleObject" Target="../embeddings/oleObject73.bin"/><Relationship Id="rId58" Type="http://schemas.openxmlformats.org/officeDocument/2006/relationships/oleObject" Target="../embeddings/oleObject78.bin"/><Relationship Id="rId74" Type="http://schemas.openxmlformats.org/officeDocument/2006/relationships/oleObject" Target="../embeddings/oleObject94.bin"/><Relationship Id="rId79" Type="http://schemas.openxmlformats.org/officeDocument/2006/relationships/oleObject" Target="../embeddings/oleObject99.bin"/><Relationship Id="rId102" Type="http://schemas.openxmlformats.org/officeDocument/2006/relationships/oleObject" Target="../embeddings/oleObject122.bin"/><Relationship Id="rId123" Type="http://schemas.openxmlformats.org/officeDocument/2006/relationships/oleObject" Target="../embeddings/oleObject143.bin"/><Relationship Id="rId5" Type="http://schemas.openxmlformats.org/officeDocument/2006/relationships/oleObject" Target="../embeddings/oleObject25.bin"/><Relationship Id="rId61" Type="http://schemas.openxmlformats.org/officeDocument/2006/relationships/oleObject" Target="../embeddings/oleObject81.bin"/><Relationship Id="rId82" Type="http://schemas.openxmlformats.org/officeDocument/2006/relationships/oleObject" Target="../embeddings/oleObject102.bin"/><Relationship Id="rId90" Type="http://schemas.openxmlformats.org/officeDocument/2006/relationships/oleObject" Target="../embeddings/oleObject110.bin"/><Relationship Id="rId95" Type="http://schemas.openxmlformats.org/officeDocument/2006/relationships/oleObject" Target="../embeddings/oleObject115.bin"/><Relationship Id="rId19" Type="http://schemas.openxmlformats.org/officeDocument/2006/relationships/oleObject" Target="../embeddings/oleObject39.bin"/><Relationship Id="rId14" Type="http://schemas.openxmlformats.org/officeDocument/2006/relationships/oleObject" Target="../embeddings/oleObject34.bin"/><Relationship Id="rId22" Type="http://schemas.openxmlformats.org/officeDocument/2006/relationships/oleObject" Target="../embeddings/oleObject42.bin"/><Relationship Id="rId27" Type="http://schemas.openxmlformats.org/officeDocument/2006/relationships/oleObject" Target="../embeddings/oleObject47.bin"/><Relationship Id="rId30" Type="http://schemas.openxmlformats.org/officeDocument/2006/relationships/oleObject" Target="../embeddings/oleObject50.bin"/><Relationship Id="rId35" Type="http://schemas.openxmlformats.org/officeDocument/2006/relationships/oleObject" Target="../embeddings/oleObject55.bin"/><Relationship Id="rId43" Type="http://schemas.openxmlformats.org/officeDocument/2006/relationships/oleObject" Target="../embeddings/oleObject63.bin"/><Relationship Id="rId48" Type="http://schemas.openxmlformats.org/officeDocument/2006/relationships/oleObject" Target="../embeddings/oleObject68.bin"/><Relationship Id="rId56" Type="http://schemas.openxmlformats.org/officeDocument/2006/relationships/oleObject" Target="../embeddings/oleObject76.bin"/><Relationship Id="rId64" Type="http://schemas.openxmlformats.org/officeDocument/2006/relationships/oleObject" Target="../embeddings/oleObject84.bin"/><Relationship Id="rId69" Type="http://schemas.openxmlformats.org/officeDocument/2006/relationships/oleObject" Target="../embeddings/oleObject89.bin"/><Relationship Id="rId77" Type="http://schemas.openxmlformats.org/officeDocument/2006/relationships/oleObject" Target="../embeddings/oleObject97.bin"/><Relationship Id="rId100" Type="http://schemas.openxmlformats.org/officeDocument/2006/relationships/oleObject" Target="../embeddings/oleObject120.bin"/><Relationship Id="rId105" Type="http://schemas.openxmlformats.org/officeDocument/2006/relationships/oleObject" Target="../embeddings/oleObject125.bin"/><Relationship Id="rId113" Type="http://schemas.openxmlformats.org/officeDocument/2006/relationships/oleObject" Target="../embeddings/oleObject133.bin"/><Relationship Id="rId118" Type="http://schemas.openxmlformats.org/officeDocument/2006/relationships/oleObject" Target="../embeddings/oleObject138.bin"/><Relationship Id="rId8" Type="http://schemas.openxmlformats.org/officeDocument/2006/relationships/oleObject" Target="../embeddings/oleObject28.bin"/><Relationship Id="rId51" Type="http://schemas.openxmlformats.org/officeDocument/2006/relationships/oleObject" Target="../embeddings/oleObject71.bin"/><Relationship Id="rId72" Type="http://schemas.openxmlformats.org/officeDocument/2006/relationships/oleObject" Target="../embeddings/oleObject92.bin"/><Relationship Id="rId80" Type="http://schemas.openxmlformats.org/officeDocument/2006/relationships/oleObject" Target="../embeddings/oleObject100.bin"/><Relationship Id="rId85" Type="http://schemas.openxmlformats.org/officeDocument/2006/relationships/oleObject" Target="../embeddings/oleObject105.bin"/><Relationship Id="rId93" Type="http://schemas.openxmlformats.org/officeDocument/2006/relationships/oleObject" Target="../embeddings/oleObject113.bin"/><Relationship Id="rId98" Type="http://schemas.openxmlformats.org/officeDocument/2006/relationships/oleObject" Target="../embeddings/oleObject118.bin"/><Relationship Id="rId121" Type="http://schemas.openxmlformats.org/officeDocument/2006/relationships/oleObject" Target="../embeddings/oleObject141.bin"/><Relationship Id="rId3" Type="http://schemas.openxmlformats.org/officeDocument/2006/relationships/oleObject" Target="../embeddings/oleObject23.bin"/><Relationship Id="rId12" Type="http://schemas.openxmlformats.org/officeDocument/2006/relationships/oleObject" Target="../embeddings/oleObject32.bin"/><Relationship Id="rId17" Type="http://schemas.openxmlformats.org/officeDocument/2006/relationships/oleObject" Target="../embeddings/oleObject37.bin"/><Relationship Id="rId25" Type="http://schemas.openxmlformats.org/officeDocument/2006/relationships/oleObject" Target="../embeddings/oleObject45.bin"/><Relationship Id="rId33" Type="http://schemas.openxmlformats.org/officeDocument/2006/relationships/oleObject" Target="../embeddings/oleObject53.bin"/><Relationship Id="rId38" Type="http://schemas.openxmlformats.org/officeDocument/2006/relationships/oleObject" Target="../embeddings/oleObject58.bin"/><Relationship Id="rId46" Type="http://schemas.openxmlformats.org/officeDocument/2006/relationships/oleObject" Target="../embeddings/oleObject66.bin"/><Relationship Id="rId59" Type="http://schemas.openxmlformats.org/officeDocument/2006/relationships/oleObject" Target="../embeddings/oleObject79.bin"/><Relationship Id="rId67" Type="http://schemas.openxmlformats.org/officeDocument/2006/relationships/oleObject" Target="../embeddings/oleObject87.bin"/><Relationship Id="rId103" Type="http://schemas.openxmlformats.org/officeDocument/2006/relationships/oleObject" Target="../embeddings/oleObject123.bin"/><Relationship Id="rId108" Type="http://schemas.openxmlformats.org/officeDocument/2006/relationships/oleObject" Target="../embeddings/oleObject128.bin"/><Relationship Id="rId116" Type="http://schemas.openxmlformats.org/officeDocument/2006/relationships/oleObject" Target="../embeddings/oleObject136.bin"/><Relationship Id="rId124" Type="http://schemas.openxmlformats.org/officeDocument/2006/relationships/oleObject" Target="../embeddings/oleObject144.bin"/><Relationship Id="rId20" Type="http://schemas.openxmlformats.org/officeDocument/2006/relationships/oleObject" Target="../embeddings/oleObject40.bin"/><Relationship Id="rId41" Type="http://schemas.openxmlformats.org/officeDocument/2006/relationships/oleObject" Target="../embeddings/oleObject61.bin"/><Relationship Id="rId54" Type="http://schemas.openxmlformats.org/officeDocument/2006/relationships/oleObject" Target="../embeddings/oleObject74.bin"/><Relationship Id="rId62" Type="http://schemas.openxmlformats.org/officeDocument/2006/relationships/oleObject" Target="../embeddings/oleObject82.bin"/><Relationship Id="rId70" Type="http://schemas.openxmlformats.org/officeDocument/2006/relationships/oleObject" Target="../embeddings/oleObject90.bin"/><Relationship Id="rId75" Type="http://schemas.openxmlformats.org/officeDocument/2006/relationships/oleObject" Target="../embeddings/oleObject95.bin"/><Relationship Id="rId83" Type="http://schemas.openxmlformats.org/officeDocument/2006/relationships/oleObject" Target="../embeddings/oleObject103.bin"/><Relationship Id="rId88" Type="http://schemas.openxmlformats.org/officeDocument/2006/relationships/oleObject" Target="../embeddings/oleObject108.bin"/><Relationship Id="rId91" Type="http://schemas.openxmlformats.org/officeDocument/2006/relationships/oleObject" Target="../embeddings/oleObject111.bin"/><Relationship Id="rId96" Type="http://schemas.openxmlformats.org/officeDocument/2006/relationships/oleObject" Target="../embeddings/oleObject116.bin"/><Relationship Id="rId111" Type="http://schemas.openxmlformats.org/officeDocument/2006/relationships/oleObject" Target="../embeddings/oleObject131.bin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26.bin"/><Relationship Id="rId15" Type="http://schemas.openxmlformats.org/officeDocument/2006/relationships/oleObject" Target="../embeddings/oleObject35.bin"/><Relationship Id="rId23" Type="http://schemas.openxmlformats.org/officeDocument/2006/relationships/oleObject" Target="../embeddings/oleObject43.bin"/><Relationship Id="rId28" Type="http://schemas.openxmlformats.org/officeDocument/2006/relationships/oleObject" Target="../embeddings/oleObject48.bin"/><Relationship Id="rId36" Type="http://schemas.openxmlformats.org/officeDocument/2006/relationships/oleObject" Target="../embeddings/oleObject56.bin"/><Relationship Id="rId49" Type="http://schemas.openxmlformats.org/officeDocument/2006/relationships/oleObject" Target="../embeddings/oleObject69.bin"/><Relationship Id="rId57" Type="http://schemas.openxmlformats.org/officeDocument/2006/relationships/oleObject" Target="../embeddings/oleObject77.bin"/><Relationship Id="rId106" Type="http://schemas.openxmlformats.org/officeDocument/2006/relationships/oleObject" Target="../embeddings/oleObject126.bin"/><Relationship Id="rId114" Type="http://schemas.openxmlformats.org/officeDocument/2006/relationships/oleObject" Target="../embeddings/oleObject134.bin"/><Relationship Id="rId119" Type="http://schemas.openxmlformats.org/officeDocument/2006/relationships/oleObject" Target="../embeddings/oleObject139.bin"/><Relationship Id="rId10" Type="http://schemas.openxmlformats.org/officeDocument/2006/relationships/oleObject" Target="../embeddings/oleObject30.bin"/><Relationship Id="rId31" Type="http://schemas.openxmlformats.org/officeDocument/2006/relationships/oleObject" Target="../embeddings/oleObject51.bin"/><Relationship Id="rId44" Type="http://schemas.openxmlformats.org/officeDocument/2006/relationships/oleObject" Target="../embeddings/oleObject64.bin"/><Relationship Id="rId52" Type="http://schemas.openxmlformats.org/officeDocument/2006/relationships/oleObject" Target="../embeddings/oleObject72.bin"/><Relationship Id="rId60" Type="http://schemas.openxmlformats.org/officeDocument/2006/relationships/oleObject" Target="../embeddings/oleObject80.bin"/><Relationship Id="rId65" Type="http://schemas.openxmlformats.org/officeDocument/2006/relationships/oleObject" Target="../embeddings/oleObject85.bin"/><Relationship Id="rId73" Type="http://schemas.openxmlformats.org/officeDocument/2006/relationships/oleObject" Target="../embeddings/oleObject93.bin"/><Relationship Id="rId78" Type="http://schemas.openxmlformats.org/officeDocument/2006/relationships/oleObject" Target="../embeddings/oleObject98.bin"/><Relationship Id="rId81" Type="http://schemas.openxmlformats.org/officeDocument/2006/relationships/oleObject" Target="../embeddings/oleObject101.bin"/><Relationship Id="rId86" Type="http://schemas.openxmlformats.org/officeDocument/2006/relationships/oleObject" Target="../embeddings/oleObject106.bin"/><Relationship Id="rId94" Type="http://schemas.openxmlformats.org/officeDocument/2006/relationships/oleObject" Target="../embeddings/oleObject114.bin"/><Relationship Id="rId99" Type="http://schemas.openxmlformats.org/officeDocument/2006/relationships/oleObject" Target="../embeddings/oleObject119.bin"/><Relationship Id="rId101" Type="http://schemas.openxmlformats.org/officeDocument/2006/relationships/oleObject" Target="../embeddings/oleObject121.bin"/><Relationship Id="rId122" Type="http://schemas.openxmlformats.org/officeDocument/2006/relationships/oleObject" Target="../embeddings/oleObject142.bin"/><Relationship Id="rId4" Type="http://schemas.openxmlformats.org/officeDocument/2006/relationships/oleObject" Target="../embeddings/oleObject24.bin"/><Relationship Id="rId9" Type="http://schemas.openxmlformats.org/officeDocument/2006/relationships/oleObject" Target="../embeddings/oleObject29.bin"/><Relationship Id="rId13" Type="http://schemas.openxmlformats.org/officeDocument/2006/relationships/oleObject" Target="../embeddings/oleObject33.bin"/><Relationship Id="rId18" Type="http://schemas.openxmlformats.org/officeDocument/2006/relationships/oleObject" Target="../embeddings/oleObject38.bin"/><Relationship Id="rId39" Type="http://schemas.openxmlformats.org/officeDocument/2006/relationships/oleObject" Target="../embeddings/oleObject59.bin"/><Relationship Id="rId109" Type="http://schemas.openxmlformats.org/officeDocument/2006/relationships/oleObject" Target="../embeddings/oleObject129.bin"/><Relationship Id="rId34" Type="http://schemas.openxmlformats.org/officeDocument/2006/relationships/oleObject" Target="../embeddings/oleObject54.bin"/><Relationship Id="rId50" Type="http://schemas.openxmlformats.org/officeDocument/2006/relationships/oleObject" Target="../embeddings/oleObject70.bin"/><Relationship Id="rId55" Type="http://schemas.openxmlformats.org/officeDocument/2006/relationships/oleObject" Target="../embeddings/oleObject75.bin"/><Relationship Id="rId76" Type="http://schemas.openxmlformats.org/officeDocument/2006/relationships/oleObject" Target="../embeddings/oleObject96.bin"/><Relationship Id="rId97" Type="http://schemas.openxmlformats.org/officeDocument/2006/relationships/oleObject" Target="../embeddings/oleObject117.bin"/><Relationship Id="rId104" Type="http://schemas.openxmlformats.org/officeDocument/2006/relationships/oleObject" Target="../embeddings/oleObject124.bin"/><Relationship Id="rId120" Type="http://schemas.openxmlformats.org/officeDocument/2006/relationships/oleObject" Target="../embeddings/oleObject140.bin"/><Relationship Id="rId7" Type="http://schemas.openxmlformats.org/officeDocument/2006/relationships/oleObject" Target="../embeddings/oleObject27.bin"/><Relationship Id="rId71" Type="http://schemas.openxmlformats.org/officeDocument/2006/relationships/oleObject" Target="../embeddings/oleObject91.bin"/><Relationship Id="rId92" Type="http://schemas.openxmlformats.org/officeDocument/2006/relationships/oleObject" Target="../embeddings/oleObject112.bin"/><Relationship Id="rId2" Type="http://schemas.openxmlformats.org/officeDocument/2006/relationships/slideLayout" Target="../slideLayouts/slideLayout6.xml"/><Relationship Id="rId29" Type="http://schemas.openxmlformats.org/officeDocument/2006/relationships/oleObject" Target="../embeddings/oleObject49.bin"/><Relationship Id="rId24" Type="http://schemas.openxmlformats.org/officeDocument/2006/relationships/oleObject" Target="../embeddings/oleObject44.bin"/><Relationship Id="rId40" Type="http://schemas.openxmlformats.org/officeDocument/2006/relationships/oleObject" Target="../embeddings/oleObject60.bin"/><Relationship Id="rId45" Type="http://schemas.openxmlformats.org/officeDocument/2006/relationships/oleObject" Target="../embeddings/oleObject65.bin"/><Relationship Id="rId66" Type="http://schemas.openxmlformats.org/officeDocument/2006/relationships/oleObject" Target="../embeddings/oleObject86.bin"/><Relationship Id="rId87" Type="http://schemas.openxmlformats.org/officeDocument/2006/relationships/oleObject" Target="../embeddings/oleObject107.bin"/><Relationship Id="rId110" Type="http://schemas.openxmlformats.org/officeDocument/2006/relationships/oleObject" Target="../embeddings/oleObject130.bin"/><Relationship Id="rId115" Type="http://schemas.openxmlformats.org/officeDocument/2006/relationships/oleObject" Target="../embeddings/oleObject135.bin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hyperlink" Target="http://www.midnightkite.com/PlanetPovray/planets-5-large.jpg" TargetMode="External"/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40.jpeg"/><Relationship Id="rId4" Type="http://schemas.openxmlformats.org/officeDocument/2006/relationships/image" Target="../media/image39.jpeg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gif"/><Relationship Id="rId1" Type="http://schemas.openxmlformats.org/officeDocument/2006/relationships/slideLayout" Target="../slideLayouts/slideLayout18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jpeg"/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jpe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7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wmf"/><Relationship Id="rId2" Type="http://schemas.openxmlformats.org/officeDocument/2006/relationships/image" Target="../media/image48.wmf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6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gif"/><Relationship Id="rId3" Type="http://schemas.openxmlformats.org/officeDocument/2006/relationships/image" Target="../media/image54.gif"/><Relationship Id="rId7" Type="http://schemas.openxmlformats.org/officeDocument/2006/relationships/image" Target="../media/image58.gif"/><Relationship Id="rId2" Type="http://schemas.openxmlformats.org/officeDocument/2006/relationships/image" Target="../media/image53.w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7.gif"/><Relationship Id="rId5" Type="http://schemas.openxmlformats.org/officeDocument/2006/relationships/image" Target="../media/image56.gif"/><Relationship Id="rId4" Type="http://schemas.openxmlformats.org/officeDocument/2006/relationships/image" Target="../media/image55.gif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png"/><Relationship Id="rId3" Type="http://schemas.openxmlformats.org/officeDocument/2006/relationships/image" Target="../media/image60.png"/><Relationship Id="rId7" Type="http://schemas.openxmlformats.org/officeDocument/2006/relationships/image" Target="../media/image6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3.jpeg"/><Relationship Id="rId5" Type="http://schemas.openxmlformats.org/officeDocument/2006/relationships/image" Target="../media/image62.png"/><Relationship Id="rId4" Type="http://schemas.openxmlformats.org/officeDocument/2006/relationships/image" Target="../media/image61.png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wmf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67.jpeg"/><Relationship Id="rId1" Type="http://schemas.openxmlformats.org/officeDocument/2006/relationships/slideLayout" Target="../slideLayouts/slideLayout6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6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3" Type="http://schemas.openxmlformats.org/officeDocument/2006/relationships/hyperlink" Target="http://www.novell.com/" TargetMode="External"/><Relationship Id="rId18" Type="http://schemas.openxmlformats.org/officeDocument/2006/relationships/image" Target="../media/image79.png"/><Relationship Id="rId26" Type="http://schemas.openxmlformats.org/officeDocument/2006/relationships/image" Target="../media/image83.png"/><Relationship Id="rId39" Type="http://schemas.openxmlformats.org/officeDocument/2006/relationships/hyperlink" Target="http://www.trampolinesystems.com/" TargetMode="External"/><Relationship Id="rId21" Type="http://schemas.openxmlformats.org/officeDocument/2006/relationships/hyperlink" Target="http://www.igloosoftware.com/" TargetMode="External"/><Relationship Id="rId34" Type="http://schemas.openxmlformats.org/officeDocument/2006/relationships/image" Target="../media/image87.png"/><Relationship Id="rId42" Type="http://schemas.openxmlformats.org/officeDocument/2006/relationships/image" Target="../media/image91.png"/><Relationship Id="rId47" Type="http://schemas.openxmlformats.org/officeDocument/2006/relationships/hyperlink" Target="http://www.cloudworks.com/" TargetMode="External"/><Relationship Id="rId50" Type="http://schemas.openxmlformats.org/officeDocument/2006/relationships/image" Target="../media/image96.png"/><Relationship Id="rId55" Type="http://schemas.openxmlformats.org/officeDocument/2006/relationships/hyperlink" Target="http://www.parascale.com/" TargetMode="External"/><Relationship Id="rId63" Type="http://schemas.openxmlformats.org/officeDocument/2006/relationships/image" Target="../media/image106.png"/><Relationship Id="rId7" Type="http://schemas.openxmlformats.org/officeDocument/2006/relationships/hyperlink" Target="http://www.oracle.com/" TargetMode="External"/><Relationship Id="rId2" Type="http://schemas.openxmlformats.org/officeDocument/2006/relationships/image" Target="../media/image71.png"/><Relationship Id="rId16" Type="http://schemas.openxmlformats.org/officeDocument/2006/relationships/image" Target="../media/image78.png"/><Relationship Id="rId20" Type="http://schemas.openxmlformats.org/officeDocument/2006/relationships/image" Target="../media/image80.png"/><Relationship Id="rId29" Type="http://schemas.openxmlformats.org/officeDocument/2006/relationships/hyperlink" Target="http://www.ngenera.com/" TargetMode="External"/><Relationship Id="rId41" Type="http://schemas.openxmlformats.org/officeDocument/2006/relationships/hyperlink" Target="http://www.myworklight.com/" TargetMode="External"/><Relationship Id="rId54" Type="http://schemas.openxmlformats.org/officeDocument/2006/relationships/image" Target="../media/image99.png"/><Relationship Id="rId62" Type="http://schemas.openxmlformats.org/officeDocument/2006/relationships/image" Target="../media/image10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3.png"/><Relationship Id="rId11" Type="http://schemas.openxmlformats.org/officeDocument/2006/relationships/hyperlink" Target="http://www.horngroup.com/" TargetMode="External"/><Relationship Id="rId24" Type="http://schemas.openxmlformats.org/officeDocument/2006/relationships/image" Target="../media/image82.png"/><Relationship Id="rId32" Type="http://schemas.openxmlformats.org/officeDocument/2006/relationships/image" Target="../media/image86.png"/><Relationship Id="rId37" Type="http://schemas.openxmlformats.org/officeDocument/2006/relationships/hyperlink" Target="http://www.telligent.com/" TargetMode="External"/><Relationship Id="rId40" Type="http://schemas.openxmlformats.org/officeDocument/2006/relationships/image" Target="../media/image90.png"/><Relationship Id="rId45" Type="http://schemas.openxmlformats.org/officeDocument/2006/relationships/image" Target="../media/image93.png"/><Relationship Id="rId53" Type="http://schemas.openxmlformats.org/officeDocument/2006/relationships/hyperlink" Target="http://www.servepath.com/" TargetMode="External"/><Relationship Id="rId58" Type="http://schemas.openxmlformats.org/officeDocument/2006/relationships/image" Target="../media/image101.png"/><Relationship Id="rId5" Type="http://schemas.openxmlformats.org/officeDocument/2006/relationships/hyperlink" Target="http://www.opentext.com/" TargetMode="External"/><Relationship Id="rId15" Type="http://schemas.openxmlformats.org/officeDocument/2006/relationships/hyperlink" Target="http://acquia.com/" TargetMode="External"/><Relationship Id="rId23" Type="http://schemas.openxmlformats.org/officeDocument/2006/relationships/hyperlink" Target="http://www.inquira.com/" TargetMode="External"/><Relationship Id="rId28" Type="http://schemas.openxmlformats.org/officeDocument/2006/relationships/image" Target="../media/image84.png"/><Relationship Id="rId36" Type="http://schemas.openxmlformats.org/officeDocument/2006/relationships/image" Target="../media/image88.png"/><Relationship Id="rId49" Type="http://schemas.openxmlformats.org/officeDocument/2006/relationships/hyperlink" Target="http://www.appistry.com/" TargetMode="External"/><Relationship Id="rId57" Type="http://schemas.openxmlformats.org/officeDocument/2006/relationships/hyperlink" Target="http://www.3tera.com/" TargetMode="External"/><Relationship Id="rId61" Type="http://schemas.openxmlformats.org/officeDocument/2006/relationships/image" Target="../media/image104.png"/><Relationship Id="rId10" Type="http://schemas.openxmlformats.org/officeDocument/2006/relationships/image" Target="../media/image75.png"/><Relationship Id="rId19" Type="http://schemas.openxmlformats.org/officeDocument/2006/relationships/hyperlink" Target="http://www.connectbeam.com/" TargetMode="External"/><Relationship Id="rId31" Type="http://schemas.openxmlformats.org/officeDocument/2006/relationships/hyperlink" Target="http://www.remycorp.com/" TargetMode="External"/><Relationship Id="rId44" Type="http://schemas.openxmlformats.org/officeDocument/2006/relationships/image" Target="../media/image92.png"/><Relationship Id="rId52" Type="http://schemas.openxmlformats.org/officeDocument/2006/relationships/image" Target="../media/image98.jpeg"/><Relationship Id="rId60" Type="http://schemas.openxmlformats.org/officeDocument/2006/relationships/image" Target="../media/image103.png"/><Relationship Id="rId4" Type="http://schemas.openxmlformats.org/officeDocument/2006/relationships/image" Target="../media/image72.png"/><Relationship Id="rId9" Type="http://schemas.openxmlformats.org/officeDocument/2006/relationships/hyperlink" Target="http://www.alcatel-lucent.com/" TargetMode="External"/><Relationship Id="rId14" Type="http://schemas.openxmlformats.org/officeDocument/2006/relationships/image" Target="../media/image77.png"/><Relationship Id="rId22" Type="http://schemas.openxmlformats.org/officeDocument/2006/relationships/image" Target="../media/image81.png"/><Relationship Id="rId27" Type="http://schemas.openxmlformats.org/officeDocument/2006/relationships/hyperlink" Target="http://www.liquidplanner.com/" TargetMode="External"/><Relationship Id="rId30" Type="http://schemas.openxmlformats.org/officeDocument/2006/relationships/image" Target="../media/image85.png"/><Relationship Id="rId35" Type="http://schemas.openxmlformats.org/officeDocument/2006/relationships/hyperlink" Target="http://www.spigit.com/" TargetMode="External"/><Relationship Id="rId43" Type="http://schemas.openxmlformats.org/officeDocument/2006/relationships/hyperlink" Target="http://www.elastra.com/" TargetMode="External"/><Relationship Id="rId48" Type="http://schemas.openxmlformats.org/officeDocument/2006/relationships/image" Target="../media/image95.png"/><Relationship Id="rId56" Type="http://schemas.openxmlformats.org/officeDocument/2006/relationships/image" Target="../media/image100.png"/><Relationship Id="rId64" Type="http://schemas.openxmlformats.org/officeDocument/2006/relationships/image" Target="../media/image107.png"/><Relationship Id="rId8" Type="http://schemas.openxmlformats.org/officeDocument/2006/relationships/image" Target="../media/image74.png"/><Relationship Id="rId51" Type="http://schemas.openxmlformats.org/officeDocument/2006/relationships/image" Target="../media/image97.png"/><Relationship Id="rId3" Type="http://schemas.openxmlformats.org/officeDocument/2006/relationships/hyperlink" Target="http://www.ibm.com/" TargetMode="External"/><Relationship Id="rId12" Type="http://schemas.openxmlformats.org/officeDocument/2006/relationships/image" Target="../media/image76.png"/><Relationship Id="rId17" Type="http://schemas.openxmlformats.org/officeDocument/2006/relationships/hyperlink" Target="http://www.alfresco.com/" TargetMode="External"/><Relationship Id="rId25" Type="http://schemas.openxmlformats.org/officeDocument/2006/relationships/hyperlink" Target="http://www.jivesoftware.com/" TargetMode="External"/><Relationship Id="rId33" Type="http://schemas.openxmlformats.org/officeDocument/2006/relationships/hyperlink" Target="http://www.socialtext.com/" TargetMode="External"/><Relationship Id="rId38" Type="http://schemas.openxmlformats.org/officeDocument/2006/relationships/image" Target="../media/image89.png"/><Relationship Id="rId46" Type="http://schemas.openxmlformats.org/officeDocument/2006/relationships/image" Target="../media/image94.png"/><Relationship Id="rId59" Type="http://schemas.openxmlformats.org/officeDocument/2006/relationships/image" Target="../media/image102.png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8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8200" y="1371600"/>
            <a:ext cx="7772400" cy="1905000"/>
          </a:xfrm>
        </p:spPr>
        <p:txBody>
          <a:bodyPr>
            <a:normAutofit/>
          </a:bodyPr>
          <a:lstStyle/>
          <a:p>
            <a:r>
              <a:rPr lang="zh-TW" altLang="en-US" sz="4000" i="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雲端計算</a:t>
            </a:r>
            <a:r>
              <a:rPr lang="en-US" altLang="zh-TW" sz="4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/>
            </a:r>
            <a:br>
              <a:rPr lang="en-US" altLang="zh-TW" sz="4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4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Cloud Computing</a:t>
            </a:r>
            <a:endParaRPr lang="en-US" sz="4000" i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55576" y="3200400"/>
            <a:ext cx="7232848" cy="2362200"/>
          </a:xfrm>
        </p:spPr>
        <p:txBody>
          <a:bodyPr>
            <a:normAutofit/>
          </a:bodyPr>
          <a:lstStyle/>
          <a:p>
            <a:pPr algn="ctr"/>
            <a:r>
              <a:rPr lang="en-US" altLang="zh-TW" sz="3200" i="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標楷體" pitchFamily="65" charset="-120"/>
                <a:ea typeface="標楷體" pitchFamily="65" charset="-120"/>
              </a:rPr>
              <a:t>Overview of Distributed </a:t>
            </a:r>
            <a:r>
              <a:rPr lang="en-US" altLang="zh-TW" sz="3200" i="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標楷體" pitchFamily="65" charset="-120"/>
                <a:ea typeface="標楷體" pitchFamily="65" charset="-120"/>
              </a:rPr>
              <a:t>Computing</a:t>
            </a:r>
          </a:p>
          <a:p>
            <a:pPr algn="ctr"/>
            <a:endParaRPr lang="en-US" sz="3200" i="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標楷體" pitchFamily="65" charset="-120"/>
              <a:ea typeface="標楷體" pitchFamily="65" charset="-120"/>
            </a:endParaRPr>
          </a:p>
          <a:p>
            <a:pPr algn="ctr"/>
            <a:endParaRPr lang="en-US" sz="2800" i="0" dirty="0">
              <a:latin typeface="標楷體" pitchFamily="65" charset="-120"/>
              <a:ea typeface="標楷體" pitchFamily="65" charset="-12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Agenda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Trends of computing</a:t>
            </a:r>
          </a:p>
          <a:p>
            <a:pPr lvl="1"/>
            <a:r>
              <a:rPr lang="en-US" altLang="zh-TW" dirty="0" smtClean="0"/>
              <a:t>Utility Computing</a:t>
            </a:r>
          </a:p>
          <a:p>
            <a:pPr lvl="1"/>
            <a:r>
              <a:rPr lang="en-US" altLang="zh-TW" dirty="0" smtClean="0"/>
              <a:t>Cluster computing</a:t>
            </a:r>
          </a:p>
          <a:p>
            <a:pPr lvl="1"/>
            <a:r>
              <a:rPr lang="en-US" altLang="zh-TW" dirty="0" smtClean="0"/>
              <a:t>Grid computing</a:t>
            </a:r>
          </a:p>
          <a:p>
            <a:pPr lvl="2"/>
            <a:endParaRPr lang="en-US" altLang="zh-TW" dirty="0" smtClean="0"/>
          </a:p>
          <a:p>
            <a:r>
              <a:rPr lang="en-US" altLang="zh-TW" dirty="0" smtClean="0"/>
              <a:t>Next big thing</a:t>
            </a:r>
          </a:p>
          <a:p>
            <a:pPr lvl="1"/>
            <a:r>
              <a:rPr lang="en-US" altLang="zh-TW" dirty="0" smtClean="0"/>
              <a:t>Cloud Computing</a:t>
            </a:r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40" name="Picture 4" descr="D:\Data\edu_NTHU\_myResearchNotes\cloud computing\_Course\slides\tmp\Calculator_on_Windows_7.png"/>
          <p:cNvPicPr>
            <a:picLocks noChangeAspect="1" noChangeArrowheads="1"/>
          </p:cNvPicPr>
          <p:nvPr/>
        </p:nvPicPr>
        <p:blipFill>
          <a:blip r:embed="rId2" cstate="print"/>
          <a:stretch>
            <a:fillRect/>
          </a:stretch>
        </p:blipFill>
        <p:spPr bwMode="auto">
          <a:xfrm>
            <a:off x="3419872" y="1127357"/>
            <a:ext cx="2644122" cy="3372321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What’s Computing</a:t>
            </a:r>
            <a:endParaRPr lang="zh-TW" altLang="en-US" dirty="0"/>
          </a:p>
        </p:txBody>
      </p:sp>
      <p:sp>
        <p:nvSpPr>
          <p:cNvPr id="4" name="內容版面配置區 3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141168"/>
          </a:xfrm>
        </p:spPr>
        <p:txBody>
          <a:bodyPr>
            <a:normAutofit/>
          </a:bodyPr>
          <a:lstStyle/>
          <a:p>
            <a:r>
              <a:rPr lang="en-US" altLang="zh-TW" dirty="0" smtClean="0"/>
              <a:t>Calculate</a:t>
            </a:r>
          </a:p>
          <a:p>
            <a:endParaRPr lang="en-US" altLang="zh-TW" dirty="0" smtClean="0"/>
          </a:p>
          <a:p>
            <a:r>
              <a:rPr lang="en-US" altLang="zh-TW" dirty="0" smtClean="0"/>
              <a:t>Game theory</a:t>
            </a:r>
          </a:p>
          <a:p>
            <a:endParaRPr lang="en-US" altLang="zh-TW" dirty="0" smtClean="0"/>
          </a:p>
          <a:p>
            <a:r>
              <a:rPr lang="en-US" altLang="zh-TW" dirty="0" smtClean="0"/>
              <a:t>Embattle</a:t>
            </a:r>
          </a:p>
          <a:p>
            <a:endParaRPr lang="en-US" altLang="zh-TW" dirty="0" smtClean="0"/>
          </a:p>
          <a:p>
            <a:r>
              <a:rPr lang="en-US" altLang="zh-TW" dirty="0" smtClean="0"/>
              <a:t>Your thinking</a:t>
            </a:r>
          </a:p>
          <a:p>
            <a:endParaRPr lang="en-US" altLang="zh-TW" dirty="0" smtClean="0"/>
          </a:p>
          <a:p>
            <a:r>
              <a:rPr lang="en-US" altLang="zh-TW" dirty="0" smtClean="0"/>
              <a:t>…</a:t>
            </a:r>
          </a:p>
          <a:p>
            <a:endParaRPr lang="en-US" altLang="zh-TW" dirty="0" smtClean="0"/>
          </a:p>
        </p:txBody>
      </p:sp>
      <p:pic>
        <p:nvPicPr>
          <p:cNvPr id="13316" name="Picture 4" descr="D:\Data\edu_NTHU\_myResearchNotes\cloud computing\_Course\slides\八卦陣.jpeg"/>
          <p:cNvPicPr>
            <a:picLocks noChangeAspect="1" noChangeArrowheads="1"/>
          </p:cNvPicPr>
          <p:nvPr/>
        </p:nvPicPr>
        <p:blipFill>
          <a:blip r:embed="rId3" cstate="print"/>
          <a:srcRect l="2389" t="6806" r="3340" b="11519"/>
          <a:stretch>
            <a:fillRect/>
          </a:stretch>
        </p:blipFill>
        <p:spPr bwMode="auto">
          <a:xfrm>
            <a:off x="3509882" y="4509120"/>
            <a:ext cx="5310590" cy="2160240"/>
          </a:xfrm>
          <a:prstGeom prst="rect">
            <a:avLst/>
          </a:prstGeom>
          <a:ln>
            <a:noFill/>
          </a:ln>
          <a:effectLst>
            <a:outerShdw blurRad="190500" sx="101000" sy="101000" algn="tl" rotWithShape="0">
              <a:srgbClr val="000000"/>
            </a:outerShdw>
          </a:effectLst>
        </p:spPr>
      </p:pic>
      <p:pic>
        <p:nvPicPr>
          <p:cNvPr id="13315" name="Picture 3" descr="D:\Data\edu_NTHU\_myResearchNotes\cloud computing\_Course\slides\西洋棋.jpg"/>
          <p:cNvPicPr>
            <a:picLocks noChangeAspect="1" noChangeArrowheads="1"/>
          </p:cNvPicPr>
          <p:nvPr/>
        </p:nvPicPr>
        <p:blipFill>
          <a:blip r:embed="rId4" cstate="print"/>
          <a:srcRect l="3693" t="6247" r="5477" b="5161"/>
          <a:stretch>
            <a:fillRect/>
          </a:stretch>
        </p:blipFill>
        <p:spPr bwMode="auto">
          <a:xfrm>
            <a:off x="6281470" y="1268760"/>
            <a:ext cx="2539002" cy="3096344"/>
          </a:xfrm>
          <a:prstGeom prst="rect">
            <a:avLst/>
          </a:prstGeom>
          <a:ln>
            <a:noFill/>
          </a:ln>
          <a:effectLst>
            <a:outerShdw blurRad="190500" sx="101000" sy="101000" algn="tl" rotWithShape="0">
              <a:srgbClr val="000000"/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What’s Computing</a:t>
            </a:r>
            <a:endParaRPr lang="zh-TW" altLang="en-US" dirty="0"/>
          </a:p>
        </p:txBody>
      </p:sp>
      <p:sp>
        <p:nvSpPr>
          <p:cNvPr id="4" name="內容版面配置區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/>
              <a:t>In computer science</a:t>
            </a:r>
          </a:p>
          <a:p>
            <a:pPr lvl="1"/>
            <a:r>
              <a:rPr lang="en-US" altLang="zh-TW" dirty="0" smtClean="0"/>
              <a:t>In a general way, we can define computing to mean any goal-oriented activity requiring, benefiting from, or creating </a:t>
            </a:r>
            <a:r>
              <a:rPr lang="en-US" altLang="zh-TW" dirty="0" smtClean="0">
                <a:solidFill>
                  <a:srgbClr val="00B0F0"/>
                </a:solidFill>
              </a:rPr>
              <a:t>computers</a:t>
            </a:r>
            <a:r>
              <a:rPr lang="en-US" altLang="zh-TW" dirty="0" smtClean="0"/>
              <a:t>.</a:t>
            </a:r>
          </a:p>
        </p:txBody>
      </p:sp>
      <p:pic>
        <p:nvPicPr>
          <p:cNvPr id="62467" name="Picture 3" descr="C:\Documents and Settings\5G\Local Settings\Temporary Internet Files\Content.IE5\4TUVSL27\dglxasset[1].aspx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427984" y="3429000"/>
            <a:ext cx="2560653" cy="2952328"/>
          </a:xfrm>
          <a:prstGeom prst="rect">
            <a:avLst/>
          </a:prstGeom>
          <a:noFill/>
        </p:spPr>
      </p:pic>
      <p:pic>
        <p:nvPicPr>
          <p:cNvPr id="62470" name="Picture 6" descr="C:\Program Files\Microsoft Office\MEDIA\CAGCAT10\j0300520.gif"/>
          <p:cNvPicPr>
            <a:picLocks noChangeAspect="1" noChangeArrowheads="1" noCrop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13464" y="3501008"/>
            <a:ext cx="2478416" cy="288032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Computing in Computer Science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25144"/>
          </a:xfrm>
        </p:spPr>
        <p:txBody>
          <a:bodyPr>
            <a:normAutofit/>
          </a:bodyPr>
          <a:lstStyle/>
          <a:p>
            <a:r>
              <a:rPr lang="en-US" altLang="zh-TW" dirty="0" smtClean="0"/>
              <a:t>Computing includes</a:t>
            </a:r>
          </a:p>
          <a:p>
            <a:pPr lvl="1"/>
            <a:r>
              <a:rPr lang="en-US" altLang="zh-TW" dirty="0" smtClean="0"/>
              <a:t>Designing and building hardware and software systems for a wide range of purposes</a:t>
            </a:r>
          </a:p>
          <a:p>
            <a:pPr lvl="1"/>
            <a:r>
              <a:rPr lang="en-US" altLang="zh-TW" dirty="0" smtClean="0"/>
              <a:t>Processing, structuring, and managing various kinds of information</a:t>
            </a:r>
          </a:p>
          <a:p>
            <a:pPr lvl="1"/>
            <a:r>
              <a:rPr lang="en-US" altLang="zh-TW" dirty="0" smtClean="0"/>
              <a:t>Doing scientific studies using computers</a:t>
            </a:r>
          </a:p>
          <a:p>
            <a:pPr lvl="1"/>
            <a:r>
              <a:rPr lang="en-US" altLang="zh-TW" dirty="0" smtClean="0"/>
              <a:t>Making computer systems behave intelligently</a:t>
            </a:r>
          </a:p>
          <a:p>
            <a:pPr lvl="1"/>
            <a:r>
              <a:rPr lang="en-US" altLang="zh-TW" dirty="0" smtClean="0"/>
              <a:t>Creating and using communications and entertainment media</a:t>
            </a:r>
          </a:p>
          <a:p>
            <a:pPr lvl="1"/>
            <a:r>
              <a:rPr lang="en-US" altLang="zh-TW" dirty="0" smtClean="0"/>
              <a:t>…</a:t>
            </a:r>
            <a:endParaRPr lang="zh-TW" altLang="en-US" dirty="0" smtClean="0"/>
          </a:p>
          <a:p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type="body" idx="4294967295"/>
          </p:nvPr>
        </p:nvSpPr>
        <p:spPr>
          <a:xfrm>
            <a:off x="1371600" y="1484783"/>
            <a:ext cx="7520880" cy="292211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TW" sz="3200" i="1" dirty="0" smtClean="0"/>
              <a:t>…computing may someday be organized as a </a:t>
            </a:r>
            <a:r>
              <a:rPr lang="en-US" altLang="zh-TW" sz="3200" i="1" dirty="0" smtClean="0">
                <a:solidFill>
                  <a:srgbClr val="FFC000"/>
                </a:solidFill>
              </a:rPr>
              <a:t>public utility </a:t>
            </a:r>
            <a:r>
              <a:rPr lang="en-US" altLang="zh-TW" sz="3200" i="1" dirty="0" smtClean="0"/>
              <a:t>just as the telephone system is a public utility... The computer utility could become the basis of a new and important industry.</a:t>
            </a:r>
          </a:p>
          <a:p>
            <a:endParaRPr lang="en-US" altLang="zh-TW" sz="3200" i="1" dirty="0" smtClean="0"/>
          </a:p>
        </p:txBody>
      </p:sp>
      <p:sp>
        <p:nvSpPr>
          <p:cNvPr id="5" name="文字方塊 4"/>
          <p:cNvSpPr txBox="1"/>
          <p:nvPr/>
        </p:nvSpPr>
        <p:spPr>
          <a:xfrm>
            <a:off x="5799302" y="4365104"/>
            <a:ext cx="334469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zh-TW" sz="1400" dirty="0" smtClean="0">
                <a:latin typeface="Times New Roman"/>
                <a:cs typeface="Times New Roman"/>
              </a:rPr>
              <a:t>−</a:t>
            </a:r>
            <a:r>
              <a:rPr lang="en-US" altLang="zh-TW" sz="1400" dirty="0" smtClean="0"/>
              <a:t> John McCarthy (a professor of MIT) 1961.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type="body" idx="4294967295"/>
          </p:nvPr>
        </p:nvSpPr>
        <p:spPr>
          <a:xfrm>
            <a:off x="1371600" y="1484783"/>
            <a:ext cx="7520880" cy="381642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TW" sz="3200" i="1" dirty="0" smtClean="0"/>
              <a:t>As of now, computer networks are still in their infancy, but as they grow up and become sophisticated, we will probably see the spread of </a:t>
            </a:r>
            <a:r>
              <a:rPr lang="en-US" altLang="zh-TW" sz="3200" i="1" dirty="0" smtClean="0">
                <a:solidFill>
                  <a:srgbClr val="FFC000"/>
                </a:solidFill>
              </a:rPr>
              <a:t>computer utilities </a:t>
            </a:r>
            <a:r>
              <a:rPr lang="en-US" altLang="zh-TW" sz="3200" i="1" dirty="0" smtClean="0"/>
              <a:t>which, like present electric and telephone utilities, will service individual homes and offices across the country.</a:t>
            </a:r>
          </a:p>
          <a:p>
            <a:endParaRPr lang="en-US" altLang="zh-TW" sz="3200" i="1" dirty="0" smtClean="0"/>
          </a:p>
        </p:txBody>
      </p:sp>
      <p:sp>
        <p:nvSpPr>
          <p:cNvPr id="4" name="文字方塊 3"/>
          <p:cNvSpPr txBox="1"/>
          <p:nvPr/>
        </p:nvSpPr>
        <p:spPr>
          <a:xfrm>
            <a:off x="3187113" y="5209455"/>
            <a:ext cx="595688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zh-TW" sz="1400" dirty="0" smtClean="0">
                <a:latin typeface="Times New Roman"/>
                <a:cs typeface="Times New Roman"/>
              </a:rPr>
              <a:t>−</a:t>
            </a:r>
            <a:r>
              <a:rPr lang="en-US" altLang="zh-TW" sz="1400" dirty="0" smtClean="0"/>
              <a:t> L. </a:t>
            </a:r>
            <a:r>
              <a:rPr lang="en-US" altLang="zh-TW" sz="1400" dirty="0" err="1" smtClean="0"/>
              <a:t>Kleinrock</a:t>
            </a:r>
            <a:r>
              <a:rPr lang="en-US" altLang="zh-TW" sz="1400" dirty="0" smtClean="0"/>
              <a:t> (one of the chief scientists of the original ARPANET project) 1969.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字版面配置區 11"/>
          <p:cNvSpPr>
            <a:spLocks noGrp="1"/>
          </p:cNvSpPr>
          <p:nvPr>
            <p:ph type="body" idx="4294967295"/>
          </p:nvPr>
        </p:nvSpPr>
        <p:spPr>
          <a:xfrm>
            <a:off x="1371600" y="2906713"/>
            <a:ext cx="7772400" cy="1500187"/>
          </a:xfrm>
        </p:spPr>
        <p:txBody>
          <a:bodyPr/>
          <a:lstStyle/>
          <a:p>
            <a:pPr>
              <a:buNone/>
            </a:pPr>
            <a:r>
              <a:rPr lang="en-US" altLang="zh-TW" dirty="0" smtClean="0"/>
              <a:t>Computing will one day be…</a:t>
            </a:r>
            <a:endParaRPr lang="zh-TW" altLang="en-US" dirty="0"/>
          </a:p>
        </p:txBody>
      </p:sp>
      <p:sp>
        <p:nvSpPr>
          <p:cNvPr id="11" name="標題 10"/>
          <p:cNvSpPr>
            <a:spLocks noGrp="1"/>
          </p:cNvSpPr>
          <p:nvPr>
            <p:ph type="title" idx="4294967295"/>
          </p:nvPr>
        </p:nvSpPr>
        <p:spPr>
          <a:xfrm>
            <a:off x="1371600" y="4406900"/>
            <a:ext cx="7772400" cy="1362075"/>
          </a:xfrm>
        </p:spPr>
        <p:txBody>
          <a:bodyPr/>
          <a:lstStyle/>
          <a:p>
            <a:r>
              <a:rPr lang="en-US" altLang="zh-TW" dirty="0" smtClean="0"/>
              <a:t>The 5</a:t>
            </a:r>
            <a:r>
              <a:rPr lang="en-US" altLang="zh-TW" baseline="30000" dirty="0" smtClean="0"/>
              <a:t>th</a:t>
            </a:r>
            <a:r>
              <a:rPr lang="en-US" altLang="zh-TW" dirty="0" smtClean="0"/>
              <a:t> Utility</a:t>
            </a:r>
            <a:endParaRPr lang="zh-TW" altLang="en-US" dirty="0"/>
          </a:p>
        </p:txBody>
      </p:sp>
      <p:pic>
        <p:nvPicPr>
          <p:cNvPr id="9220" name="Picture 4" descr="C:\Documents and Settings\5G\Local Settings\Temporary Internet Files\Content.IE5\C9IV0LU7\dglxasset[1].aspx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340803" y="2537917"/>
            <a:ext cx="1803197" cy="1782166"/>
          </a:xfrm>
          <a:prstGeom prst="rect">
            <a:avLst/>
          </a:prstGeom>
          <a:noFill/>
        </p:spPr>
      </p:pic>
      <p:pic>
        <p:nvPicPr>
          <p:cNvPr id="9222" name="Picture 6" descr="C:\Documents and Settings\5G\Local Settings\Temporary Internet Files\Content.IE5\O9YV8TA7\dglxasset[3].aspx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051720" y="4149080"/>
            <a:ext cx="1368152" cy="1761573"/>
          </a:xfrm>
          <a:prstGeom prst="rect">
            <a:avLst/>
          </a:prstGeom>
          <a:noFill/>
        </p:spPr>
      </p:pic>
      <p:pic>
        <p:nvPicPr>
          <p:cNvPr id="9224" name="Picture 8" descr="C:\Documents and Settings\5G\Local Settings\Temporary Internet Files\Content.IE5\05I38XQJ\MC900434862[2].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-324544" y="5067071"/>
            <a:ext cx="1790929" cy="1790929"/>
          </a:xfrm>
          <a:prstGeom prst="rect">
            <a:avLst/>
          </a:prstGeom>
          <a:noFill/>
        </p:spPr>
      </p:pic>
      <p:pic>
        <p:nvPicPr>
          <p:cNvPr id="9227" name="Picture 11" descr="C:\Documents and Settings\5G\Local Settings\Temporary Internet Files\Content.IE5\4TUVSL27\dglxasset[3].aspx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932040" y="980728"/>
            <a:ext cx="1512168" cy="1519262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/>
              <a:t>The 5</a:t>
            </a:r>
            <a:r>
              <a:rPr lang="en-US" altLang="zh-TW" baseline="30000" dirty="0" smtClean="0"/>
              <a:t>th</a:t>
            </a:r>
            <a:r>
              <a:rPr lang="en-US" altLang="zh-TW" dirty="0" smtClean="0"/>
              <a:t> Utility</a:t>
            </a:r>
            <a:endParaRPr lang="en-US" altLang="zh-TW" dirty="0" smtClean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25144"/>
          </a:xfrm>
        </p:spPr>
        <p:txBody>
          <a:bodyPr>
            <a:normAutofit fontScale="92500"/>
          </a:bodyPr>
          <a:lstStyle/>
          <a:p>
            <a:r>
              <a:rPr lang="en-US" altLang="zh-TW" dirty="0" smtClean="0"/>
              <a:t>Traditional utilities</a:t>
            </a:r>
          </a:p>
          <a:p>
            <a:pPr lvl="1"/>
            <a:r>
              <a:rPr lang="en-US" altLang="zh-TW" dirty="0" smtClean="0"/>
              <a:t>Water</a:t>
            </a:r>
          </a:p>
          <a:p>
            <a:pPr lvl="1"/>
            <a:r>
              <a:rPr lang="en-US" altLang="zh-TW" dirty="0" smtClean="0"/>
              <a:t>Electricity</a:t>
            </a:r>
          </a:p>
          <a:p>
            <a:pPr lvl="1"/>
            <a:r>
              <a:rPr lang="en-US" altLang="zh-TW" dirty="0" smtClean="0"/>
              <a:t>Natural gas</a:t>
            </a:r>
          </a:p>
          <a:p>
            <a:pPr lvl="1"/>
            <a:r>
              <a:rPr lang="en-US" altLang="zh-TW" dirty="0" smtClean="0"/>
              <a:t>Telephone network</a:t>
            </a:r>
          </a:p>
          <a:p>
            <a:pPr lvl="1"/>
            <a:endParaRPr lang="en-US" altLang="zh-TW" dirty="0" smtClean="0"/>
          </a:p>
          <a:p>
            <a:r>
              <a:rPr lang="en-US" altLang="zh-TW" i="1" dirty="0" smtClean="0">
                <a:solidFill>
                  <a:schemeClr val="accent3">
                    <a:lumMod val="50000"/>
                  </a:schemeClr>
                </a:solidFill>
              </a:rPr>
              <a:t>Computing</a:t>
            </a:r>
            <a:r>
              <a:rPr lang="en-US" altLang="zh-TW" dirty="0" smtClean="0"/>
              <a:t> is being transformed to a model consisting of services that are commoditized and delivered in a manner similar to traditional utilities</a:t>
            </a:r>
          </a:p>
          <a:p>
            <a:endParaRPr lang="en-US" altLang="zh-TW" dirty="0" smtClean="0"/>
          </a:p>
          <a:p>
            <a:pPr>
              <a:buNone/>
            </a:pPr>
            <a:r>
              <a:rPr lang="en-US" altLang="zh-TW" dirty="0" smtClean="0">
                <a:sym typeface="Wingdings" pitchFamily="2" charset="2"/>
              </a:rPr>
              <a:t> Utility Computing</a:t>
            </a:r>
            <a:endParaRPr lang="en-US" altLang="zh-TW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Utility Computing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069160"/>
          </a:xfrm>
        </p:spPr>
        <p:txBody>
          <a:bodyPr>
            <a:normAutofit/>
          </a:bodyPr>
          <a:lstStyle/>
          <a:p>
            <a:r>
              <a:rPr lang="en-US" altLang="zh-TW" dirty="0" smtClean="0"/>
              <a:t>Computing as a Utility</a:t>
            </a:r>
          </a:p>
          <a:p>
            <a:pPr lvl="1"/>
            <a:r>
              <a:rPr lang="en-US" altLang="zh-TW" dirty="0" smtClean="0"/>
              <a:t>Provide the basic level of computing service that is considered essential to meet the everyday needs</a:t>
            </a:r>
            <a:endParaRPr lang="zh-TW" altLang="en-US" dirty="0" smtClean="0"/>
          </a:p>
          <a:p>
            <a:pPr lvl="1"/>
            <a:r>
              <a:rPr lang="en-US" altLang="zh-TW" dirty="0" smtClean="0"/>
              <a:t>Users access services based on their requirements without regard to where the services are hosted or how they are delivered</a:t>
            </a:r>
          </a:p>
          <a:p>
            <a:endParaRPr lang="en-US" altLang="zh-TW" dirty="0" smtClean="0"/>
          </a:p>
          <a:p>
            <a:r>
              <a:rPr lang="en-US" altLang="zh-TW" dirty="0" smtClean="0"/>
              <a:t>Offing computing resources as a metered service</a:t>
            </a:r>
          </a:p>
        </p:txBody>
      </p:sp>
      <p:pic>
        <p:nvPicPr>
          <p:cNvPr id="7173" name="Picture 5" descr="C:\Documents and Settings\5G\Local Settings\Temporary Internet Files\Content.IE5\C9IV0LU7\dglxasset[2].aspx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380312" y="5085184"/>
            <a:ext cx="1584176" cy="1665893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The Creation of The Internet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/>
              <a:t>The Internet is the foremost milestone</a:t>
            </a:r>
          </a:p>
          <a:p>
            <a:endParaRPr lang="en-US" altLang="zh-TW" dirty="0" smtClean="0"/>
          </a:p>
          <a:p>
            <a:r>
              <a:rPr lang="en-US" altLang="zh-TW" dirty="0" smtClean="0"/>
              <a:t>Enables individual computers to communicate with any other computers located elsewhere in the world</a:t>
            </a:r>
            <a:endParaRPr lang="zh-TW" altLang="en-US" dirty="0"/>
          </a:p>
        </p:txBody>
      </p:sp>
      <p:pic>
        <p:nvPicPr>
          <p:cNvPr id="7" name="Picture 2" descr="D:\Data\edu_NTHU\_myResearchNotes\cloud computing\_Course\slides\600px-Internet_map_1024.jpg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 cstate="print"/>
          <a:stretch>
            <a:fillRect/>
          </a:stretch>
        </p:blipFill>
        <p:spPr bwMode="auto">
          <a:xfrm>
            <a:off x="4648200" y="1843881"/>
            <a:ext cx="4038600" cy="40386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圓角化對角線角落矩形 4"/>
          <p:cNvSpPr/>
          <p:nvPr/>
        </p:nvSpPr>
        <p:spPr>
          <a:xfrm>
            <a:off x="179512" y="3501008"/>
            <a:ext cx="2160240" cy="2520280"/>
          </a:xfrm>
          <a:prstGeom prst="round2Diag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Paradigms</a:t>
            </a:r>
            <a:r>
              <a:rPr lang="en-US" altLang="zh-TW" dirty="0" smtClean="0"/>
              <a:t> </a:t>
            </a:r>
          </a:p>
          <a:p>
            <a:pPr algn="ctr"/>
            <a:endParaRPr lang="en-US" altLang="zh-TW" dirty="0" smtClean="0"/>
          </a:p>
          <a:p>
            <a:pPr algn="ctr"/>
            <a:r>
              <a:rPr lang="en-US" altLang="zh-TW" dirty="0" smtClean="0"/>
              <a:t>Utility Computing</a:t>
            </a:r>
          </a:p>
          <a:p>
            <a:pPr algn="ctr"/>
            <a:r>
              <a:rPr lang="en-US" altLang="zh-TW" dirty="0" smtClean="0"/>
              <a:t>Cluster Computing</a:t>
            </a:r>
          </a:p>
          <a:p>
            <a:pPr algn="ctr"/>
            <a:r>
              <a:rPr lang="en-US" altLang="zh-TW" dirty="0" smtClean="0"/>
              <a:t>Grid Computing</a:t>
            </a:r>
          </a:p>
          <a:p>
            <a:pPr algn="ctr"/>
            <a:r>
              <a:rPr lang="en-US" altLang="zh-TW" dirty="0" smtClean="0"/>
              <a:t>Cloud Computing</a:t>
            </a:r>
          </a:p>
          <a:p>
            <a:pPr algn="ctr"/>
            <a:r>
              <a:rPr lang="en-US" altLang="zh-TW" dirty="0" smtClean="0"/>
              <a:t>…</a:t>
            </a:r>
            <a:endParaRPr lang="zh-TW" altLang="en-US" dirty="0"/>
          </a:p>
        </p:txBody>
      </p:sp>
      <p:sp>
        <p:nvSpPr>
          <p:cNvPr id="6" name="加號 5"/>
          <p:cNvSpPr/>
          <p:nvPr/>
        </p:nvSpPr>
        <p:spPr>
          <a:xfrm>
            <a:off x="2555776" y="4221088"/>
            <a:ext cx="914400" cy="914400"/>
          </a:xfrm>
          <a:prstGeom prst="mathPlus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剪去單一角落矩形 16"/>
          <p:cNvSpPr/>
          <p:nvPr/>
        </p:nvSpPr>
        <p:spPr>
          <a:xfrm>
            <a:off x="3779912" y="3140968"/>
            <a:ext cx="1944216" cy="3384376"/>
          </a:xfrm>
          <a:prstGeom prst="snip1Rect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Attribute</a:t>
            </a:r>
          </a:p>
          <a:p>
            <a:pPr algn="ctr"/>
            <a:endParaRPr lang="en-US" altLang="zh-TW" dirty="0" smtClean="0"/>
          </a:p>
          <a:p>
            <a:pPr algn="ctr"/>
            <a:r>
              <a:rPr lang="en-US" altLang="zh-TW" dirty="0" smtClean="0"/>
              <a:t>Accessibility</a:t>
            </a:r>
          </a:p>
          <a:p>
            <a:pPr algn="ctr"/>
            <a:r>
              <a:rPr lang="en-US" altLang="zh-TW" dirty="0" smtClean="0"/>
              <a:t>Manageability</a:t>
            </a:r>
          </a:p>
          <a:p>
            <a:pPr algn="ctr"/>
            <a:r>
              <a:rPr lang="en-US" altLang="zh-TW" dirty="0" smtClean="0"/>
              <a:t>Autonomic</a:t>
            </a:r>
          </a:p>
          <a:p>
            <a:pPr algn="ctr"/>
            <a:r>
              <a:rPr lang="en-US" altLang="zh-TW" dirty="0" smtClean="0"/>
              <a:t>Performance</a:t>
            </a:r>
          </a:p>
          <a:p>
            <a:pPr algn="ctr"/>
            <a:r>
              <a:rPr lang="en-US" altLang="zh-TW" dirty="0" smtClean="0"/>
              <a:t>Scalability</a:t>
            </a:r>
          </a:p>
          <a:p>
            <a:pPr algn="ctr"/>
            <a:r>
              <a:rPr lang="en-US" altLang="zh-TW" dirty="0" smtClean="0"/>
              <a:t>Availability</a:t>
            </a:r>
          </a:p>
          <a:p>
            <a:pPr algn="ctr"/>
            <a:r>
              <a:rPr lang="en-US" altLang="zh-TW" dirty="0" err="1" smtClean="0"/>
              <a:t>QoS</a:t>
            </a:r>
            <a:endParaRPr lang="en-US" altLang="zh-TW" dirty="0" smtClean="0"/>
          </a:p>
          <a:p>
            <a:pPr algn="ctr"/>
            <a:r>
              <a:rPr lang="en-US" altLang="zh-TW" dirty="0" smtClean="0"/>
              <a:t>SLA</a:t>
            </a:r>
          </a:p>
          <a:p>
            <a:pPr algn="ctr"/>
            <a:r>
              <a:rPr lang="en-US" altLang="zh-TW" dirty="0" smtClean="0"/>
              <a:t>…</a:t>
            </a:r>
          </a:p>
          <a:p>
            <a:pPr algn="ctr"/>
            <a:endParaRPr lang="zh-TW" altLang="en-US" dirty="0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/>
              <a:t>Variety of Paradigms</a:t>
            </a:r>
            <a:endParaRPr lang="zh-TW" altLang="en-US" dirty="0"/>
          </a:p>
        </p:txBody>
      </p:sp>
      <p:sp>
        <p:nvSpPr>
          <p:cNvPr id="12" name="內容版面配置區 11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1396751"/>
          </a:xfrm>
        </p:spPr>
        <p:txBody>
          <a:bodyPr>
            <a:normAutofit/>
          </a:bodyPr>
          <a:lstStyle/>
          <a:p>
            <a:r>
              <a:rPr lang="en-US" altLang="zh-TW" dirty="0" smtClean="0"/>
              <a:t>New computing paradigms have been proposed and adopted to edge closer toward achieving the vision of </a:t>
            </a:r>
            <a:r>
              <a:rPr lang="en-US" altLang="zh-TW" i="1" dirty="0" smtClean="0">
                <a:solidFill>
                  <a:srgbClr val="00B0F0"/>
                </a:solidFill>
              </a:rPr>
              <a:t>computer utilities</a:t>
            </a:r>
            <a:endParaRPr lang="zh-TW" altLang="en-US" i="1" dirty="0">
              <a:solidFill>
                <a:srgbClr val="00B0F0"/>
              </a:solidFill>
            </a:endParaRPr>
          </a:p>
        </p:txBody>
      </p:sp>
      <p:sp>
        <p:nvSpPr>
          <p:cNvPr id="16" name="向右箭號 15"/>
          <p:cNvSpPr/>
          <p:nvPr/>
        </p:nvSpPr>
        <p:spPr>
          <a:xfrm>
            <a:off x="6084168" y="4437112"/>
            <a:ext cx="978408" cy="484632"/>
          </a:xfrm>
          <a:prstGeom prst="right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5121" name="Picture 1" descr="C:\Documents and Settings\5G\Local Settings\Temporary Internet Files\Content.IE5\4TUVSL27\dglxasset[4].aspx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380312" y="3645024"/>
            <a:ext cx="1691640" cy="1832458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字版面配置區 11"/>
          <p:cNvSpPr>
            <a:spLocks noGrp="1"/>
          </p:cNvSpPr>
          <p:nvPr>
            <p:ph type="body" idx="4294967295"/>
          </p:nvPr>
        </p:nvSpPr>
        <p:spPr>
          <a:xfrm>
            <a:off x="1371600" y="2906713"/>
            <a:ext cx="7772400" cy="1500187"/>
          </a:xfrm>
        </p:spPr>
        <p:txBody>
          <a:bodyPr/>
          <a:lstStyle/>
          <a:p>
            <a:pPr>
              <a:buNone/>
            </a:pPr>
            <a:r>
              <a:rPr lang="en-US" altLang="zh-TW" dirty="0" smtClean="0"/>
              <a:t>The fundamental notion is…</a:t>
            </a:r>
            <a:endParaRPr lang="zh-TW" altLang="en-US" dirty="0"/>
          </a:p>
        </p:txBody>
      </p:sp>
      <p:sp>
        <p:nvSpPr>
          <p:cNvPr id="11" name="標題 10"/>
          <p:cNvSpPr>
            <a:spLocks noGrp="1"/>
          </p:cNvSpPr>
          <p:nvPr>
            <p:ph type="title" idx="4294967295"/>
          </p:nvPr>
        </p:nvSpPr>
        <p:spPr>
          <a:xfrm>
            <a:off x="1371600" y="4406900"/>
            <a:ext cx="7772400" cy="1362075"/>
          </a:xfrm>
        </p:spPr>
        <p:txBody>
          <a:bodyPr/>
          <a:lstStyle/>
          <a:p>
            <a:r>
              <a:rPr lang="en-US" altLang="zh-TW" dirty="0" smtClean="0"/>
              <a:t>Distributed Computing</a:t>
            </a:r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Distributed Computing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781128"/>
          </a:xfrm>
        </p:spPr>
        <p:txBody>
          <a:bodyPr>
            <a:normAutofit/>
          </a:bodyPr>
          <a:lstStyle/>
          <a:p>
            <a:r>
              <a:rPr lang="en-US" altLang="zh-TW" dirty="0" smtClean="0"/>
              <a:t>A computer system in which several </a:t>
            </a:r>
            <a:r>
              <a:rPr lang="en-US" altLang="zh-TW" i="1" dirty="0" smtClean="0">
                <a:solidFill>
                  <a:srgbClr val="00B0F0"/>
                </a:solidFill>
              </a:rPr>
              <a:t>interconnected computers </a:t>
            </a:r>
            <a:r>
              <a:rPr lang="en-US" altLang="zh-TW" dirty="0" smtClean="0"/>
              <a:t>share the computing tasks assigned to the system</a:t>
            </a:r>
          </a:p>
          <a:p>
            <a:pPr lvl="2"/>
            <a:endParaRPr lang="en-US" altLang="zh-TW" dirty="0" smtClean="0"/>
          </a:p>
          <a:p>
            <a:endParaRPr lang="en-US" altLang="zh-TW" dirty="0" smtClean="0"/>
          </a:p>
          <a:p>
            <a:r>
              <a:rPr lang="en-US" altLang="zh-TW" dirty="0" smtClean="0"/>
              <a:t>Paradigms</a:t>
            </a:r>
          </a:p>
          <a:p>
            <a:pPr lvl="1"/>
            <a:r>
              <a:rPr lang="en-US" altLang="zh-TW" dirty="0" smtClean="0"/>
              <a:t>Cluster computing</a:t>
            </a:r>
          </a:p>
          <a:p>
            <a:pPr lvl="1"/>
            <a:r>
              <a:rPr lang="en-US" altLang="zh-TW" dirty="0" smtClean="0"/>
              <a:t>Grid computing</a:t>
            </a:r>
          </a:p>
          <a:p>
            <a:pPr lvl="1"/>
            <a:r>
              <a:rPr lang="en-US" altLang="zh-TW" dirty="0" smtClean="0"/>
              <a:t>Cloud computing</a:t>
            </a:r>
          </a:p>
        </p:txBody>
      </p:sp>
      <p:pic>
        <p:nvPicPr>
          <p:cNvPr id="3073" name="Picture 1" descr="C:\Documents and Settings\5G\Local Settings\Temporary Internet Files\Content.IE5\05I38XQJ\dglxasset[1].aspx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796136" y="4005064"/>
            <a:ext cx="2448272" cy="2475572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Demand for Computing Power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Solving  grand challenge applications using computer </a:t>
            </a:r>
            <a:r>
              <a:rPr lang="en-US" altLang="zh-TW" i="1" dirty="0" smtClean="0">
                <a:solidFill>
                  <a:srgbClr val="00B0F0"/>
                </a:solidFill>
              </a:rPr>
              <a:t>modeling</a:t>
            </a:r>
            <a:r>
              <a:rPr lang="en-US" altLang="zh-TW" dirty="0" smtClean="0"/>
              <a:t>, </a:t>
            </a:r>
            <a:r>
              <a:rPr lang="en-US" altLang="zh-TW" i="1" dirty="0" smtClean="0">
                <a:solidFill>
                  <a:srgbClr val="00B0F0"/>
                </a:solidFill>
              </a:rPr>
              <a:t>simulation</a:t>
            </a:r>
            <a:r>
              <a:rPr lang="en-US" altLang="zh-TW" dirty="0" smtClean="0"/>
              <a:t> and </a:t>
            </a:r>
            <a:r>
              <a:rPr lang="en-US" altLang="zh-TW" i="1" dirty="0" smtClean="0">
                <a:solidFill>
                  <a:srgbClr val="00B0F0"/>
                </a:solidFill>
              </a:rPr>
              <a:t>analysis</a:t>
            </a:r>
          </a:p>
          <a:p>
            <a:endParaRPr lang="zh-TW" altLang="en-US" dirty="0"/>
          </a:p>
        </p:txBody>
      </p:sp>
      <p:grpSp>
        <p:nvGrpSpPr>
          <p:cNvPr id="432" name="群組 431"/>
          <p:cNvGrpSpPr/>
          <p:nvPr/>
        </p:nvGrpSpPr>
        <p:grpSpPr>
          <a:xfrm>
            <a:off x="269522" y="2492896"/>
            <a:ext cx="8604956" cy="4337156"/>
            <a:chOff x="107504" y="2389584"/>
            <a:chExt cx="8986837" cy="4513153"/>
          </a:xfrm>
        </p:grpSpPr>
        <p:grpSp>
          <p:nvGrpSpPr>
            <p:cNvPr id="325" name="Group 4"/>
            <p:cNvGrpSpPr>
              <a:grpSpLocks/>
            </p:cNvGrpSpPr>
            <p:nvPr/>
          </p:nvGrpSpPr>
          <p:grpSpPr bwMode="auto">
            <a:xfrm>
              <a:off x="178941" y="4926410"/>
              <a:ext cx="2733675" cy="1181100"/>
              <a:chOff x="4" y="3124"/>
              <a:chExt cx="4290" cy="1016"/>
            </a:xfrm>
          </p:grpSpPr>
          <p:sp>
            <p:nvSpPr>
              <p:cNvPr id="326" name="Rectangle 5"/>
              <p:cNvSpPr>
                <a:spLocks noChangeArrowheads="1"/>
              </p:cNvSpPr>
              <p:nvPr/>
            </p:nvSpPr>
            <p:spPr bwMode="auto">
              <a:xfrm>
                <a:off x="4" y="3124"/>
                <a:ext cx="4290" cy="1016"/>
              </a:xfrm>
              <a:prstGeom prst="rect">
                <a:avLst/>
              </a:prstGeom>
              <a:gradFill rotWithShape="0">
                <a:gsLst>
                  <a:gs pos="0">
                    <a:srgbClr val="C0FEF9"/>
                  </a:gs>
                  <a:gs pos="100000">
                    <a:srgbClr val="C0FEF9">
                      <a:gamma/>
                      <a:shade val="29804"/>
                      <a:invGamma/>
                    </a:srgbClr>
                  </a:gs>
                </a:gsLst>
                <a:path path="rect">
                  <a:fillToRect r="100000" b="100000"/>
                </a:path>
              </a:gradFill>
              <a:ln w="12700">
                <a:solidFill>
                  <a:srgbClr val="FFFFFF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rgbClr val="1C1C1C"/>
                </a:outerShdw>
              </a:effectLst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grpSp>
            <p:nvGrpSpPr>
              <p:cNvPr id="327" name="Group 6"/>
              <p:cNvGrpSpPr>
                <a:grpSpLocks/>
              </p:cNvGrpSpPr>
              <p:nvPr/>
            </p:nvGrpSpPr>
            <p:grpSpPr bwMode="auto">
              <a:xfrm>
                <a:off x="49" y="3161"/>
                <a:ext cx="4217" cy="848"/>
                <a:chOff x="48" y="3076"/>
                <a:chExt cx="4100" cy="825"/>
              </a:xfrm>
            </p:grpSpPr>
            <p:grpSp>
              <p:nvGrpSpPr>
                <p:cNvPr id="348" name="Group 7"/>
                <p:cNvGrpSpPr>
                  <a:grpSpLocks/>
                </p:cNvGrpSpPr>
                <p:nvPr/>
              </p:nvGrpSpPr>
              <p:grpSpPr bwMode="auto">
                <a:xfrm>
                  <a:off x="1120" y="3076"/>
                  <a:ext cx="2815" cy="324"/>
                  <a:chOff x="1120" y="3076"/>
                  <a:chExt cx="2815" cy="324"/>
                </a:xfrm>
              </p:grpSpPr>
              <p:grpSp>
                <p:nvGrpSpPr>
                  <p:cNvPr id="376" name="Group 8"/>
                  <p:cNvGrpSpPr>
                    <a:grpSpLocks/>
                  </p:cNvGrpSpPr>
                  <p:nvPr/>
                </p:nvGrpSpPr>
                <p:grpSpPr bwMode="auto">
                  <a:xfrm>
                    <a:off x="1444" y="3110"/>
                    <a:ext cx="1503" cy="286"/>
                    <a:chOff x="1444" y="3110"/>
                    <a:chExt cx="1503" cy="286"/>
                  </a:xfrm>
                </p:grpSpPr>
                <p:grpSp>
                  <p:nvGrpSpPr>
                    <p:cNvPr id="378" name="Group 9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1657" y="3121"/>
                      <a:ext cx="957" cy="246"/>
                      <a:chOff x="1657" y="3121"/>
                      <a:chExt cx="957" cy="246"/>
                    </a:xfrm>
                  </p:grpSpPr>
                  <p:sp>
                    <p:nvSpPr>
                      <p:cNvPr id="380" name="Freeform 10"/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2449" y="3121"/>
                        <a:ext cx="165" cy="201"/>
                      </a:xfrm>
                      <a:custGeom>
                        <a:avLst/>
                        <a:gdLst/>
                        <a:ahLst/>
                        <a:cxnLst>
                          <a:cxn ang="0">
                            <a:pos x="160" y="3"/>
                          </a:cxn>
                          <a:cxn ang="0">
                            <a:pos x="164" y="0"/>
                          </a:cxn>
                          <a:cxn ang="0">
                            <a:pos x="56" y="200"/>
                          </a:cxn>
                          <a:cxn ang="0">
                            <a:pos x="0" y="200"/>
                          </a:cxn>
                          <a:cxn ang="0">
                            <a:pos x="119" y="0"/>
                          </a:cxn>
                          <a:cxn ang="0">
                            <a:pos x="160" y="3"/>
                          </a:cxn>
                        </a:cxnLst>
                        <a:rect l="0" t="0" r="r" b="b"/>
                        <a:pathLst>
                          <a:path w="165" h="201">
                            <a:moveTo>
                              <a:pt x="160" y="3"/>
                            </a:moveTo>
                            <a:lnTo>
                              <a:pt x="164" y="0"/>
                            </a:lnTo>
                            <a:lnTo>
                              <a:pt x="56" y="200"/>
                            </a:lnTo>
                            <a:lnTo>
                              <a:pt x="0" y="200"/>
                            </a:lnTo>
                            <a:lnTo>
                              <a:pt x="119" y="0"/>
                            </a:lnTo>
                            <a:lnTo>
                              <a:pt x="160" y="3"/>
                            </a:lnTo>
                          </a:path>
                        </a:pathLst>
                      </a:custGeom>
                      <a:solidFill>
                        <a:srgbClr val="800000"/>
                      </a:solidFill>
                      <a:ln w="12700" cap="rnd" cmpd="sng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effectLst>
                        <a:outerShdw dist="107763" dir="2700000" algn="ctr" rotWithShape="0">
                          <a:srgbClr val="1C1C1C"/>
                        </a:outerShdw>
                      </a:effectLst>
                    </p:spPr>
                    <p:txBody>
                      <a:bodyPr/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zh-TW" altLang="en-US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381" name="Freeform 11"/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1657" y="3233"/>
                        <a:ext cx="152" cy="134"/>
                      </a:xfrm>
                      <a:custGeom>
                        <a:avLst/>
                        <a:gdLst/>
                        <a:ahLst/>
                        <a:cxnLst>
                          <a:cxn ang="0">
                            <a:pos x="111" y="15"/>
                          </a:cxn>
                          <a:cxn ang="0">
                            <a:pos x="107" y="13"/>
                          </a:cxn>
                          <a:cxn ang="0">
                            <a:pos x="0" y="133"/>
                          </a:cxn>
                          <a:cxn ang="0">
                            <a:pos x="52" y="126"/>
                          </a:cxn>
                          <a:cxn ang="0">
                            <a:pos x="151" y="0"/>
                          </a:cxn>
                          <a:cxn ang="0">
                            <a:pos x="111" y="15"/>
                          </a:cxn>
                        </a:cxnLst>
                        <a:rect l="0" t="0" r="r" b="b"/>
                        <a:pathLst>
                          <a:path w="152" h="134">
                            <a:moveTo>
                              <a:pt x="111" y="15"/>
                            </a:moveTo>
                            <a:lnTo>
                              <a:pt x="107" y="13"/>
                            </a:lnTo>
                            <a:lnTo>
                              <a:pt x="0" y="133"/>
                            </a:lnTo>
                            <a:lnTo>
                              <a:pt x="52" y="126"/>
                            </a:lnTo>
                            <a:lnTo>
                              <a:pt x="151" y="0"/>
                            </a:lnTo>
                            <a:lnTo>
                              <a:pt x="111" y="15"/>
                            </a:lnTo>
                          </a:path>
                        </a:pathLst>
                      </a:custGeom>
                      <a:solidFill>
                        <a:srgbClr val="800000"/>
                      </a:solidFill>
                      <a:ln w="12700" cap="rnd" cmpd="sng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effectLst>
                        <a:outerShdw dist="107763" dir="2700000" algn="ctr" rotWithShape="0">
                          <a:srgbClr val="1C1C1C"/>
                        </a:outerShdw>
                      </a:effectLst>
                    </p:spPr>
                    <p:txBody>
                      <a:bodyPr/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zh-TW" altLang="en-US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</p:grpSp>
                <p:sp>
                  <p:nvSpPr>
                    <p:cNvPr id="379" name="Freeform 12"/>
                    <p:cNvSpPr>
                      <a:spLocks/>
                    </p:cNvSpPr>
                    <p:nvPr/>
                  </p:nvSpPr>
                  <p:spPr bwMode="auto">
                    <a:xfrm>
                      <a:off x="1444" y="3110"/>
                      <a:ext cx="1503" cy="286"/>
                    </a:xfrm>
                    <a:custGeom>
                      <a:avLst/>
                      <a:gdLst/>
                      <a:ahLst/>
                      <a:cxnLst>
                        <a:cxn ang="0">
                          <a:pos x="1490" y="38"/>
                        </a:cxn>
                        <a:cxn ang="0">
                          <a:pos x="1349" y="33"/>
                        </a:cxn>
                        <a:cxn ang="0">
                          <a:pos x="1241" y="33"/>
                        </a:cxn>
                        <a:cxn ang="0">
                          <a:pos x="1096" y="26"/>
                        </a:cxn>
                        <a:cxn ang="0">
                          <a:pos x="962" y="26"/>
                        </a:cxn>
                        <a:cxn ang="0">
                          <a:pos x="811" y="26"/>
                        </a:cxn>
                        <a:cxn ang="0">
                          <a:pos x="676" y="29"/>
                        </a:cxn>
                        <a:cxn ang="0">
                          <a:pos x="613" y="37"/>
                        </a:cxn>
                        <a:cxn ang="0">
                          <a:pos x="558" y="48"/>
                        </a:cxn>
                        <a:cxn ang="0">
                          <a:pos x="497" y="67"/>
                        </a:cxn>
                        <a:cxn ang="0">
                          <a:pos x="439" y="87"/>
                        </a:cxn>
                        <a:cxn ang="0">
                          <a:pos x="227" y="183"/>
                        </a:cxn>
                        <a:cxn ang="0">
                          <a:pos x="114" y="227"/>
                        </a:cxn>
                        <a:cxn ang="0">
                          <a:pos x="49" y="263"/>
                        </a:cxn>
                        <a:cxn ang="0">
                          <a:pos x="108" y="262"/>
                        </a:cxn>
                        <a:cxn ang="0">
                          <a:pos x="1501" y="170"/>
                        </a:cxn>
                        <a:cxn ang="0">
                          <a:pos x="1499" y="198"/>
                        </a:cxn>
                        <a:cxn ang="0">
                          <a:pos x="45" y="285"/>
                        </a:cxn>
                        <a:cxn ang="0">
                          <a:pos x="0" y="278"/>
                        </a:cxn>
                        <a:cxn ang="0">
                          <a:pos x="23" y="253"/>
                        </a:cxn>
                        <a:cxn ang="0">
                          <a:pos x="63" y="227"/>
                        </a:cxn>
                        <a:cxn ang="0">
                          <a:pos x="161" y="183"/>
                        </a:cxn>
                        <a:cxn ang="0">
                          <a:pos x="237" y="147"/>
                        </a:cxn>
                        <a:cxn ang="0">
                          <a:pos x="430" y="65"/>
                        </a:cxn>
                        <a:cxn ang="0">
                          <a:pos x="517" y="36"/>
                        </a:cxn>
                        <a:cxn ang="0">
                          <a:pos x="603" y="16"/>
                        </a:cxn>
                        <a:cxn ang="0">
                          <a:pos x="795" y="0"/>
                        </a:cxn>
                        <a:cxn ang="0">
                          <a:pos x="1059" y="0"/>
                        </a:cxn>
                        <a:cxn ang="0">
                          <a:pos x="1490" y="20"/>
                        </a:cxn>
                        <a:cxn ang="0">
                          <a:pos x="1490" y="38"/>
                        </a:cxn>
                      </a:cxnLst>
                      <a:rect l="0" t="0" r="r" b="b"/>
                      <a:pathLst>
                        <a:path w="1502" h="286">
                          <a:moveTo>
                            <a:pt x="1490" y="38"/>
                          </a:moveTo>
                          <a:lnTo>
                            <a:pt x="1349" y="33"/>
                          </a:lnTo>
                          <a:lnTo>
                            <a:pt x="1241" y="33"/>
                          </a:lnTo>
                          <a:lnTo>
                            <a:pt x="1096" y="26"/>
                          </a:lnTo>
                          <a:lnTo>
                            <a:pt x="962" y="26"/>
                          </a:lnTo>
                          <a:lnTo>
                            <a:pt x="811" y="26"/>
                          </a:lnTo>
                          <a:lnTo>
                            <a:pt x="676" y="29"/>
                          </a:lnTo>
                          <a:lnTo>
                            <a:pt x="613" y="37"/>
                          </a:lnTo>
                          <a:lnTo>
                            <a:pt x="558" y="48"/>
                          </a:lnTo>
                          <a:lnTo>
                            <a:pt x="497" y="67"/>
                          </a:lnTo>
                          <a:lnTo>
                            <a:pt x="439" y="87"/>
                          </a:lnTo>
                          <a:lnTo>
                            <a:pt x="227" y="183"/>
                          </a:lnTo>
                          <a:lnTo>
                            <a:pt x="114" y="227"/>
                          </a:lnTo>
                          <a:lnTo>
                            <a:pt x="49" y="263"/>
                          </a:lnTo>
                          <a:lnTo>
                            <a:pt x="108" y="262"/>
                          </a:lnTo>
                          <a:lnTo>
                            <a:pt x="1501" y="170"/>
                          </a:lnTo>
                          <a:lnTo>
                            <a:pt x="1499" y="198"/>
                          </a:lnTo>
                          <a:lnTo>
                            <a:pt x="45" y="285"/>
                          </a:lnTo>
                          <a:lnTo>
                            <a:pt x="0" y="278"/>
                          </a:lnTo>
                          <a:lnTo>
                            <a:pt x="23" y="253"/>
                          </a:lnTo>
                          <a:lnTo>
                            <a:pt x="63" y="227"/>
                          </a:lnTo>
                          <a:lnTo>
                            <a:pt x="161" y="183"/>
                          </a:lnTo>
                          <a:lnTo>
                            <a:pt x="237" y="147"/>
                          </a:lnTo>
                          <a:lnTo>
                            <a:pt x="430" y="65"/>
                          </a:lnTo>
                          <a:lnTo>
                            <a:pt x="517" y="36"/>
                          </a:lnTo>
                          <a:lnTo>
                            <a:pt x="603" y="16"/>
                          </a:lnTo>
                          <a:lnTo>
                            <a:pt x="795" y="0"/>
                          </a:lnTo>
                          <a:lnTo>
                            <a:pt x="1059" y="0"/>
                          </a:lnTo>
                          <a:lnTo>
                            <a:pt x="1490" y="20"/>
                          </a:lnTo>
                          <a:lnTo>
                            <a:pt x="1490" y="38"/>
                          </a:lnTo>
                        </a:path>
                      </a:pathLst>
                    </a:custGeom>
                    <a:solidFill>
                      <a:srgbClr val="800000"/>
                    </a:solidFill>
                    <a:ln w="12700" cap="rnd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>
                      <a:outerShdw dist="107763" dir="2700000" algn="ctr" rotWithShape="0">
                        <a:srgbClr val="1C1C1C"/>
                      </a:outerShdw>
                    </a:effectLst>
                  </p:spPr>
                  <p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800" b="0" i="0" u="none" strike="noStrike" kern="0" cap="none" spc="0" normalizeH="0" baseline="0" noProof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</a:endParaRPr>
                    </a:p>
                  </p:txBody>
                </p:sp>
              </p:grpSp>
              <p:sp>
                <p:nvSpPr>
                  <p:cNvPr id="377" name="Freeform 13"/>
                  <p:cNvSpPr>
                    <a:spLocks/>
                  </p:cNvSpPr>
                  <p:nvPr/>
                </p:nvSpPr>
                <p:spPr bwMode="auto">
                  <a:xfrm>
                    <a:off x="1120" y="3076"/>
                    <a:ext cx="2815" cy="324"/>
                  </a:xfrm>
                  <a:custGeom>
                    <a:avLst/>
                    <a:gdLst/>
                    <a:ahLst/>
                    <a:cxnLst>
                      <a:cxn ang="0">
                        <a:pos x="2703" y="203"/>
                      </a:cxn>
                      <a:cxn ang="0">
                        <a:pos x="2564" y="172"/>
                      </a:cxn>
                      <a:cxn ang="0">
                        <a:pos x="2458" y="148"/>
                      </a:cxn>
                      <a:cxn ang="0">
                        <a:pos x="2349" y="122"/>
                      </a:cxn>
                      <a:cxn ang="0">
                        <a:pos x="2238" y="105"/>
                      </a:cxn>
                      <a:cxn ang="0">
                        <a:pos x="2149" y="92"/>
                      </a:cxn>
                      <a:cxn ang="0">
                        <a:pos x="2036" y="76"/>
                      </a:cxn>
                      <a:cxn ang="0">
                        <a:pos x="1936" y="57"/>
                      </a:cxn>
                      <a:cxn ang="0">
                        <a:pos x="1864" y="18"/>
                      </a:cxn>
                      <a:cxn ang="0">
                        <a:pos x="1715" y="14"/>
                      </a:cxn>
                      <a:cxn ang="0">
                        <a:pos x="1537" y="3"/>
                      </a:cxn>
                      <a:cxn ang="0">
                        <a:pos x="1311" y="1"/>
                      </a:cxn>
                      <a:cxn ang="0">
                        <a:pos x="1124" y="0"/>
                      </a:cxn>
                      <a:cxn ang="0">
                        <a:pos x="947" y="18"/>
                      </a:cxn>
                      <a:cxn ang="0">
                        <a:pos x="820" y="47"/>
                      </a:cxn>
                      <a:cxn ang="0">
                        <a:pos x="684" y="83"/>
                      </a:cxn>
                      <a:cxn ang="0">
                        <a:pos x="535" y="127"/>
                      </a:cxn>
                      <a:cxn ang="0">
                        <a:pos x="381" y="171"/>
                      </a:cxn>
                      <a:cxn ang="0">
                        <a:pos x="267" y="202"/>
                      </a:cxn>
                      <a:cxn ang="0">
                        <a:pos x="145" y="237"/>
                      </a:cxn>
                      <a:cxn ang="0">
                        <a:pos x="0" y="281"/>
                      </a:cxn>
                      <a:cxn ang="0">
                        <a:pos x="69" y="307"/>
                      </a:cxn>
                      <a:cxn ang="0">
                        <a:pos x="170" y="322"/>
                      </a:cxn>
                      <a:cxn ang="0">
                        <a:pos x="318" y="321"/>
                      </a:cxn>
                      <a:cxn ang="0">
                        <a:pos x="355" y="281"/>
                      </a:cxn>
                      <a:cxn ang="0">
                        <a:pos x="466" y="224"/>
                      </a:cxn>
                      <a:cxn ang="0">
                        <a:pos x="644" y="145"/>
                      </a:cxn>
                      <a:cxn ang="0">
                        <a:pos x="831" y="73"/>
                      </a:cxn>
                      <a:cxn ang="0">
                        <a:pos x="977" y="45"/>
                      </a:cxn>
                      <a:cxn ang="0">
                        <a:pos x="1258" y="34"/>
                      </a:cxn>
                      <a:cxn ang="0">
                        <a:pos x="1586" y="42"/>
                      </a:cxn>
                      <a:cxn ang="0">
                        <a:pos x="1826" y="245"/>
                      </a:cxn>
                    </a:cxnLst>
                    <a:rect l="0" t="0" r="r" b="b"/>
                    <a:pathLst>
                      <a:path w="2812" h="324">
                        <a:moveTo>
                          <a:pt x="2811" y="216"/>
                        </a:moveTo>
                        <a:lnTo>
                          <a:pt x="2703" y="203"/>
                        </a:lnTo>
                        <a:lnTo>
                          <a:pt x="2620" y="186"/>
                        </a:lnTo>
                        <a:lnTo>
                          <a:pt x="2564" y="172"/>
                        </a:lnTo>
                        <a:lnTo>
                          <a:pt x="2518" y="161"/>
                        </a:lnTo>
                        <a:lnTo>
                          <a:pt x="2458" y="148"/>
                        </a:lnTo>
                        <a:lnTo>
                          <a:pt x="2407" y="135"/>
                        </a:lnTo>
                        <a:lnTo>
                          <a:pt x="2349" y="122"/>
                        </a:lnTo>
                        <a:lnTo>
                          <a:pt x="2297" y="113"/>
                        </a:lnTo>
                        <a:lnTo>
                          <a:pt x="2238" y="105"/>
                        </a:lnTo>
                        <a:lnTo>
                          <a:pt x="2190" y="98"/>
                        </a:lnTo>
                        <a:lnTo>
                          <a:pt x="2149" y="92"/>
                        </a:lnTo>
                        <a:lnTo>
                          <a:pt x="2088" y="83"/>
                        </a:lnTo>
                        <a:lnTo>
                          <a:pt x="2036" y="76"/>
                        </a:lnTo>
                        <a:lnTo>
                          <a:pt x="1987" y="69"/>
                        </a:lnTo>
                        <a:lnTo>
                          <a:pt x="1936" y="57"/>
                        </a:lnTo>
                        <a:lnTo>
                          <a:pt x="1894" y="39"/>
                        </a:lnTo>
                        <a:lnTo>
                          <a:pt x="1864" y="18"/>
                        </a:lnTo>
                        <a:lnTo>
                          <a:pt x="1803" y="16"/>
                        </a:lnTo>
                        <a:lnTo>
                          <a:pt x="1715" y="14"/>
                        </a:lnTo>
                        <a:lnTo>
                          <a:pt x="1615" y="7"/>
                        </a:lnTo>
                        <a:lnTo>
                          <a:pt x="1537" y="3"/>
                        </a:lnTo>
                        <a:lnTo>
                          <a:pt x="1422" y="2"/>
                        </a:lnTo>
                        <a:lnTo>
                          <a:pt x="1311" y="1"/>
                        </a:lnTo>
                        <a:lnTo>
                          <a:pt x="1205" y="0"/>
                        </a:lnTo>
                        <a:lnTo>
                          <a:pt x="1124" y="0"/>
                        </a:lnTo>
                        <a:lnTo>
                          <a:pt x="1036" y="6"/>
                        </a:lnTo>
                        <a:lnTo>
                          <a:pt x="947" y="18"/>
                        </a:lnTo>
                        <a:lnTo>
                          <a:pt x="880" y="33"/>
                        </a:lnTo>
                        <a:lnTo>
                          <a:pt x="820" y="47"/>
                        </a:lnTo>
                        <a:lnTo>
                          <a:pt x="755" y="64"/>
                        </a:lnTo>
                        <a:lnTo>
                          <a:pt x="684" y="83"/>
                        </a:lnTo>
                        <a:lnTo>
                          <a:pt x="612" y="105"/>
                        </a:lnTo>
                        <a:lnTo>
                          <a:pt x="535" y="127"/>
                        </a:lnTo>
                        <a:lnTo>
                          <a:pt x="460" y="150"/>
                        </a:lnTo>
                        <a:lnTo>
                          <a:pt x="381" y="171"/>
                        </a:lnTo>
                        <a:lnTo>
                          <a:pt x="322" y="189"/>
                        </a:lnTo>
                        <a:lnTo>
                          <a:pt x="267" y="202"/>
                        </a:lnTo>
                        <a:lnTo>
                          <a:pt x="207" y="221"/>
                        </a:lnTo>
                        <a:lnTo>
                          <a:pt x="145" y="237"/>
                        </a:lnTo>
                        <a:lnTo>
                          <a:pt x="69" y="259"/>
                        </a:lnTo>
                        <a:lnTo>
                          <a:pt x="0" y="281"/>
                        </a:lnTo>
                        <a:lnTo>
                          <a:pt x="28" y="297"/>
                        </a:lnTo>
                        <a:lnTo>
                          <a:pt x="69" y="307"/>
                        </a:lnTo>
                        <a:lnTo>
                          <a:pt x="114" y="317"/>
                        </a:lnTo>
                        <a:lnTo>
                          <a:pt x="170" y="322"/>
                        </a:lnTo>
                        <a:lnTo>
                          <a:pt x="244" y="323"/>
                        </a:lnTo>
                        <a:lnTo>
                          <a:pt x="318" y="321"/>
                        </a:lnTo>
                        <a:lnTo>
                          <a:pt x="337" y="297"/>
                        </a:lnTo>
                        <a:lnTo>
                          <a:pt x="355" y="281"/>
                        </a:lnTo>
                        <a:lnTo>
                          <a:pt x="390" y="260"/>
                        </a:lnTo>
                        <a:lnTo>
                          <a:pt x="466" y="224"/>
                        </a:lnTo>
                        <a:lnTo>
                          <a:pt x="560" y="182"/>
                        </a:lnTo>
                        <a:lnTo>
                          <a:pt x="644" y="145"/>
                        </a:lnTo>
                        <a:lnTo>
                          <a:pt x="746" y="101"/>
                        </a:lnTo>
                        <a:lnTo>
                          <a:pt x="831" y="73"/>
                        </a:lnTo>
                        <a:lnTo>
                          <a:pt x="912" y="53"/>
                        </a:lnTo>
                        <a:lnTo>
                          <a:pt x="977" y="45"/>
                        </a:lnTo>
                        <a:lnTo>
                          <a:pt x="1099" y="35"/>
                        </a:lnTo>
                        <a:lnTo>
                          <a:pt x="1258" y="34"/>
                        </a:lnTo>
                        <a:lnTo>
                          <a:pt x="1444" y="38"/>
                        </a:lnTo>
                        <a:lnTo>
                          <a:pt x="1586" y="42"/>
                        </a:lnTo>
                        <a:lnTo>
                          <a:pt x="1813" y="53"/>
                        </a:lnTo>
                        <a:lnTo>
                          <a:pt x="1826" y="245"/>
                        </a:lnTo>
                        <a:lnTo>
                          <a:pt x="2811" y="216"/>
                        </a:lnTo>
                      </a:path>
                    </a:pathLst>
                  </a:custGeom>
                  <a:solidFill>
                    <a:srgbClr val="FF0000"/>
                  </a:solidFill>
                  <a:ln w="12700" cap="rnd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>
                    <a:outerShdw dist="107763" dir="2700000" algn="ctr" rotWithShape="0">
                      <a:srgbClr val="1C1C1C"/>
                    </a:outerShdw>
                  </a:effec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TW" alt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</a:endParaRPr>
                  </a:p>
                </p:txBody>
              </p:sp>
            </p:grpSp>
            <p:sp>
              <p:nvSpPr>
                <p:cNvPr id="349" name="Freeform 14"/>
                <p:cNvSpPr>
                  <a:spLocks/>
                </p:cNvSpPr>
                <p:nvPr/>
              </p:nvSpPr>
              <p:spPr bwMode="auto">
                <a:xfrm>
                  <a:off x="50" y="3392"/>
                  <a:ext cx="3805" cy="509"/>
                </a:xfrm>
                <a:custGeom>
                  <a:avLst/>
                  <a:gdLst/>
                  <a:ahLst/>
                  <a:cxnLst>
                    <a:cxn ang="0">
                      <a:pos x="594" y="240"/>
                    </a:cxn>
                    <a:cxn ang="0">
                      <a:pos x="565" y="317"/>
                    </a:cxn>
                    <a:cxn ang="0">
                      <a:pos x="565" y="376"/>
                    </a:cxn>
                    <a:cxn ang="0">
                      <a:pos x="0" y="376"/>
                    </a:cxn>
                    <a:cxn ang="0">
                      <a:pos x="39" y="416"/>
                    </a:cxn>
                    <a:cxn ang="0">
                      <a:pos x="13" y="460"/>
                    </a:cxn>
                    <a:cxn ang="0">
                      <a:pos x="13" y="481"/>
                    </a:cxn>
                    <a:cxn ang="0">
                      <a:pos x="30" y="496"/>
                    </a:cxn>
                    <a:cxn ang="0">
                      <a:pos x="355" y="496"/>
                    </a:cxn>
                    <a:cxn ang="0">
                      <a:pos x="381" y="508"/>
                    </a:cxn>
                    <a:cxn ang="0">
                      <a:pos x="547" y="508"/>
                    </a:cxn>
                    <a:cxn ang="0">
                      <a:pos x="569" y="494"/>
                    </a:cxn>
                    <a:cxn ang="0">
                      <a:pos x="3577" y="494"/>
                    </a:cxn>
                    <a:cxn ang="0">
                      <a:pos x="3696" y="401"/>
                    </a:cxn>
                    <a:cxn ang="0">
                      <a:pos x="3790" y="432"/>
                    </a:cxn>
                    <a:cxn ang="0">
                      <a:pos x="3802" y="185"/>
                    </a:cxn>
                    <a:cxn ang="0">
                      <a:pos x="3573" y="0"/>
                    </a:cxn>
                    <a:cxn ang="0">
                      <a:pos x="3215" y="7"/>
                    </a:cxn>
                    <a:cxn ang="0">
                      <a:pos x="1351" y="416"/>
                    </a:cxn>
                    <a:cxn ang="0">
                      <a:pos x="1298" y="366"/>
                    </a:cxn>
                    <a:cxn ang="0">
                      <a:pos x="1252" y="239"/>
                    </a:cxn>
                    <a:cxn ang="0">
                      <a:pos x="1186" y="136"/>
                    </a:cxn>
                    <a:cxn ang="0">
                      <a:pos x="990" y="52"/>
                    </a:cxn>
                    <a:cxn ang="0">
                      <a:pos x="808" y="56"/>
                    </a:cxn>
                    <a:cxn ang="0">
                      <a:pos x="672" y="117"/>
                    </a:cxn>
                    <a:cxn ang="0">
                      <a:pos x="594" y="240"/>
                    </a:cxn>
                  </a:cxnLst>
                  <a:rect l="0" t="0" r="r" b="b"/>
                  <a:pathLst>
                    <a:path w="3803" h="509">
                      <a:moveTo>
                        <a:pt x="594" y="240"/>
                      </a:moveTo>
                      <a:lnTo>
                        <a:pt x="565" y="317"/>
                      </a:lnTo>
                      <a:lnTo>
                        <a:pt x="565" y="376"/>
                      </a:lnTo>
                      <a:lnTo>
                        <a:pt x="0" y="376"/>
                      </a:lnTo>
                      <a:lnTo>
                        <a:pt x="39" y="416"/>
                      </a:lnTo>
                      <a:lnTo>
                        <a:pt x="13" y="460"/>
                      </a:lnTo>
                      <a:lnTo>
                        <a:pt x="13" y="481"/>
                      </a:lnTo>
                      <a:lnTo>
                        <a:pt x="30" y="496"/>
                      </a:lnTo>
                      <a:lnTo>
                        <a:pt x="355" y="496"/>
                      </a:lnTo>
                      <a:lnTo>
                        <a:pt x="381" y="508"/>
                      </a:lnTo>
                      <a:lnTo>
                        <a:pt x="547" y="508"/>
                      </a:lnTo>
                      <a:lnTo>
                        <a:pt x="569" y="494"/>
                      </a:lnTo>
                      <a:lnTo>
                        <a:pt x="3577" y="494"/>
                      </a:lnTo>
                      <a:lnTo>
                        <a:pt x="3696" y="401"/>
                      </a:lnTo>
                      <a:lnTo>
                        <a:pt x="3790" y="432"/>
                      </a:lnTo>
                      <a:lnTo>
                        <a:pt x="3802" y="185"/>
                      </a:lnTo>
                      <a:lnTo>
                        <a:pt x="3573" y="0"/>
                      </a:lnTo>
                      <a:lnTo>
                        <a:pt x="3215" y="7"/>
                      </a:lnTo>
                      <a:lnTo>
                        <a:pt x="1351" y="416"/>
                      </a:lnTo>
                      <a:lnTo>
                        <a:pt x="1298" y="366"/>
                      </a:lnTo>
                      <a:lnTo>
                        <a:pt x="1252" y="239"/>
                      </a:lnTo>
                      <a:lnTo>
                        <a:pt x="1186" y="136"/>
                      </a:lnTo>
                      <a:lnTo>
                        <a:pt x="990" y="52"/>
                      </a:lnTo>
                      <a:lnTo>
                        <a:pt x="808" y="56"/>
                      </a:lnTo>
                      <a:lnTo>
                        <a:pt x="672" y="117"/>
                      </a:lnTo>
                      <a:lnTo>
                        <a:pt x="594" y="240"/>
                      </a:lnTo>
                    </a:path>
                  </a:pathLst>
                </a:custGeom>
                <a:solidFill>
                  <a:srgbClr val="000000"/>
                </a:solidFill>
                <a:ln w="12700" cap="rnd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>
                  <a:outerShdw dist="107763" dir="2700000" algn="ctr" rotWithShape="0">
                    <a:srgbClr val="1C1C1C"/>
                  </a:outerShdw>
                </a:effec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TW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grpSp>
              <p:nvGrpSpPr>
                <p:cNvPr id="350" name="Group 15"/>
                <p:cNvGrpSpPr>
                  <a:grpSpLocks/>
                </p:cNvGrpSpPr>
                <p:nvPr/>
              </p:nvGrpSpPr>
              <p:grpSpPr bwMode="auto">
                <a:xfrm>
                  <a:off x="48" y="3181"/>
                  <a:ext cx="4100" cy="646"/>
                  <a:chOff x="48" y="3181"/>
                  <a:chExt cx="4100" cy="646"/>
                </a:xfrm>
              </p:grpSpPr>
              <p:grpSp>
                <p:nvGrpSpPr>
                  <p:cNvPr id="351" name="Group 16"/>
                  <p:cNvGrpSpPr>
                    <a:grpSpLocks/>
                  </p:cNvGrpSpPr>
                  <p:nvPr/>
                </p:nvGrpSpPr>
                <p:grpSpPr bwMode="auto">
                  <a:xfrm>
                    <a:off x="3908" y="3389"/>
                    <a:ext cx="240" cy="363"/>
                    <a:chOff x="3908" y="3389"/>
                    <a:chExt cx="240" cy="363"/>
                  </a:xfrm>
                </p:grpSpPr>
                <p:sp>
                  <p:nvSpPr>
                    <p:cNvPr id="363" name="Rectangle 17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039" y="3468"/>
                      <a:ext cx="87" cy="5"/>
                    </a:xfrm>
                    <a:prstGeom prst="rect">
                      <a:avLst/>
                    </a:prstGeom>
                    <a:solidFill>
                      <a:srgbClr val="808080"/>
                    </a:solidFill>
                    <a:ln w="12700">
                      <a:solidFill>
                        <a:srgbClr val="C0C0C0"/>
                      </a:solidFill>
                      <a:miter lim="800000"/>
                      <a:headEnd/>
                      <a:tailEnd/>
                    </a:ln>
                    <a:effectLst>
                      <a:outerShdw dist="107763" dir="2700000" algn="ctr" rotWithShape="0">
                        <a:srgbClr val="1C1C1C"/>
                      </a:outerShdw>
                    </a:effectLst>
                  </p:spPr>
                  <p:txBody>
                    <a:bodyPr wrap="none" anchor="ctr"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800" b="0" i="0" u="none" strike="noStrike" kern="0" cap="none" spc="0" normalizeH="0" baseline="0" noProof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</a:endParaRPr>
                    </a:p>
                  </p:txBody>
                </p:sp>
                <p:sp>
                  <p:nvSpPr>
                    <p:cNvPr id="364" name="Rectangle 18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039" y="3389"/>
                      <a:ext cx="87" cy="25"/>
                    </a:xfrm>
                    <a:prstGeom prst="rect">
                      <a:avLst/>
                    </a:prstGeom>
                    <a:solidFill>
                      <a:srgbClr val="808080"/>
                    </a:solidFill>
                    <a:ln w="12700">
                      <a:solidFill>
                        <a:srgbClr val="C0C0C0"/>
                      </a:solidFill>
                      <a:miter lim="800000"/>
                      <a:headEnd/>
                      <a:tailEnd/>
                    </a:ln>
                    <a:effectLst>
                      <a:outerShdw dist="107763" dir="2700000" algn="ctr" rotWithShape="0">
                        <a:srgbClr val="1C1C1C"/>
                      </a:outerShdw>
                    </a:effectLst>
                  </p:spPr>
                  <p:txBody>
                    <a:bodyPr wrap="none" anchor="ctr"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800" b="0" i="0" u="none" strike="noStrike" kern="0" cap="none" spc="0" normalizeH="0" baseline="0" noProof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</a:endParaRPr>
                    </a:p>
                  </p:txBody>
                </p:sp>
                <p:sp>
                  <p:nvSpPr>
                    <p:cNvPr id="365" name="Rectangle 19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039" y="3439"/>
                      <a:ext cx="87" cy="5"/>
                    </a:xfrm>
                    <a:prstGeom prst="rect">
                      <a:avLst/>
                    </a:prstGeom>
                    <a:solidFill>
                      <a:srgbClr val="808080"/>
                    </a:solidFill>
                    <a:ln w="12700">
                      <a:solidFill>
                        <a:srgbClr val="C0C0C0"/>
                      </a:solidFill>
                      <a:miter lim="800000"/>
                      <a:headEnd/>
                      <a:tailEnd/>
                    </a:ln>
                    <a:effectLst>
                      <a:outerShdw dist="107763" dir="2700000" algn="ctr" rotWithShape="0">
                        <a:srgbClr val="1C1C1C"/>
                      </a:outerShdw>
                    </a:effectLst>
                  </p:spPr>
                  <p:txBody>
                    <a:bodyPr wrap="none" anchor="ctr"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800" b="0" i="0" u="none" strike="noStrike" kern="0" cap="none" spc="0" normalizeH="0" baseline="0" noProof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</a:endParaRPr>
                    </a:p>
                  </p:txBody>
                </p:sp>
                <p:sp>
                  <p:nvSpPr>
                    <p:cNvPr id="366" name="Arc 20"/>
                    <p:cNvSpPr>
                      <a:spLocks/>
                    </p:cNvSpPr>
                    <p:nvPr/>
                  </p:nvSpPr>
                  <p:spPr bwMode="auto">
                    <a:xfrm>
                      <a:off x="4042" y="3496"/>
                      <a:ext cx="90" cy="80"/>
                    </a:xfrm>
                    <a:custGeom>
                      <a:avLst/>
                      <a:gdLst>
                        <a:gd name="G0" fmla="+- 0 0 0"/>
                        <a:gd name="G1" fmla="+- 0 0 0"/>
                        <a:gd name="G2" fmla="+- 21600 0 0"/>
                        <a:gd name="T0" fmla="*/ 21600 w 21600"/>
                        <a:gd name="T1" fmla="*/ 0 h 21600"/>
                        <a:gd name="T2" fmla="*/ 0 w 21600"/>
                        <a:gd name="T3" fmla="*/ 21600 h 21600"/>
                        <a:gd name="T4" fmla="*/ 0 w 21600"/>
                        <a:gd name="T5" fmla="*/ 0 h 21600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</a:cxnLst>
                      <a:rect l="0" t="0" r="r" b="b"/>
                      <a:pathLst>
                        <a:path w="21600" h="21600" fill="none" extrusionOk="0">
                          <a:moveTo>
                            <a:pt x="21600" y="0"/>
                          </a:moveTo>
                          <a:cubicBezTo>
                            <a:pt x="21600" y="11929"/>
                            <a:pt x="11929" y="21599"/>
                            <a:pt x="0" y="21600"/>
                          </a:cubicBezTo>
                        </a:path>
                        <a:path w="21600" h="21600" stroke="0" extrusionOk="0">
                          <a:moveTo>
                            <a:pt x="21600" y="0"/>
                          </a:moveTo>
                          <a:cubicBezTo>
                            <a:pt x="21600" y="11929"/>
                            <a:pt x="11929" y="21599"/>
                            <a:pt x="0" y="21600"/>
                          </a:cubicBez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solidFill>
                      <a:srgbClr val="808080"/>
                    </a:solidFill>
                    <a:ln w="12700" cap="rnd">
                      <a:solidFill>
                        <a:srgbClr val="C0C0C0"/>
                      </a:solidFill>
                      <a:round/>
                      <a:headEnd/>
                      <a:tailEnd/>
                    </a:ln>
                    <a:effectLst>
                      <a:outerShdw dist="107763" dir="2700000" algn="ctr" rotWithShape="0">
                        <a:srgbClr val="1C1C1C"/>
                      </a:outerShdw>
                    </a:effectLst>
                  </p:spPr>
                  <p:txBody>
                    <a:bodyPr wrap="none" anchor="ctr"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800" b="0" i="0" u="none" strike="noStrike" kern="0" cap="none" spc="0" normalizeH="0" baseline="0" noProof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</a:endParaRPr>
                    </a:p>
                  </p:txBody>
                </p:sp>
                <p:grpSp>
                  <p:nvGrpSpPr>
                    <p:cNvPr id="367" name="Group 21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3908" y="3718"/>
                      <a:ext cx="240" cy="5"/>
                      <a:chOff x="3908" y="3718"/>
                      <a:chExt cx="240" cy="5"/>
                    </a:xfrm>
                  </p:grpSpPr>
                  <p:sp>
                    <p:nvSpPr>
                      <p:cNvPr id="374" name="Rectangle 22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908" y="3718"/>
                        <a:ext cx="228" cy="5"/>
                      </a:xfrm>
                      <a:prstGeom prst="rect">
                        <a:avLst/>
                      </a:prstGeom>
                      <a:solidFill>
                        <a:srgbClr val="808080"/>
                      </a:solidFill>
                      <a:ln w="12700">
                        <a:solidFill>
                          <a:srgbClr val="C0C0C0"/>
                        </a:solidFill>
                        <a:miter lim="800000"/>
                        <a:headEnd/>
                        <a:tailEnd/>
                      </a:ln>
                      <a:effectLst>
                        <a:outerShdw dist="107763" dir="2700000" algn="ctr" rotWithShape="0">
                          <a:srgbClr val="1C1C1C"/>
                        </a:outerShdw>
                      </a:effectLst>
                    </p:spPr>
                    <p:txBody>
                      <a:bodyPr wrap="none" anchor="ctr"/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zh-TW" altLang="en-US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375" name="Oval 23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4129" y="3718"/>
                        <a:ext cx="19" cy="5"/>
                      </a:xfrm>
                      <a:prstGeom prst="ellipse">
                        <a:avLst/>
                      </a:prstGeom>
                      <a:solidFill>
                        <a:srgbClr val="808080"/>
                      </a:solidFill>
                      <a:ln w="12700">
                        <a:solidFill>
                          <a:srgbClr val="C0C0C0"/>
                        </a:solidFill>
                        <a:round/>
                        <a:headEnd/>
                        <a:tailEnd/>
                      </a:ln>
                      <a:effectLst>
                        <a:outerShdw dist="107763" dir="2700000" algn="ctr" rotWithShape="0">
                          <a:srgbClr val="1C1C1C"/>
                        </a:outerShdw>
                      </a:effectLst>
                    </p:spPr>
                    <p:txBody>
                      <a:bodyPr wrap="none" anchor="ctr"/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zh-TW" altLang="en-US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</p:grpSp>
                <p:grpSp>
                  <p:nvGrpSpPr>
                    <p:cNvPr id="368" name="Group 24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3908" y="3745"/>
                      <a:ext cx="240" cy="7"/>
                      <a:chOff x="3908" y="3745"/>
                      <a:chExt cx="240" cy="7"/>
                    </a:xfrm>
                  </p:grpSpPr>
                  <p:sp>
                    <p:nvSpPr>
                      <p:cNvPr id="372" name="Rectangle 25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908" y="3745"/>
                        <a:ext cx="228" cy="7"/>
                      </a:xfrm>
                      <a:prstGeom prst="rect">
                        <a:avLst/>
                      </a:prstGeom>
                      <a:solidFill>
                        <a:srgbClr val="808080"/>
                      </a:solidFill>
                      <a:ln w="12700">
                        <a:solidFill>
                          <a:srgbClr val="C0C0C0"/>
                        </a:solidFill>
                        <a:miter lim="800000"/>
                        <a:headEnd/>
                        <a:tailEnd/>
                      </a:ln>
                      <a:effectLst>
                        <a:outerShdw dist="107763" dir="2700000" algn="ctr" rotWithShape="0">
                          <a:srgbClr val="1C1C1C"/>
                        </a:outerShdw>
                      </a:effectLst>
                    </p:spPr>
                    <p:txBody>
                      <a:bodyPr wrap="none" anchor="ctr"/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zh-TW" altLang="en-US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373" name="Oval 26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4129" y="3745"/>
                        <a:ext cx="19" cy="7"/>
                      </a:xfrm>
                      <a:prstGeom prst="ellipse">
                        <a:avLst/>
                      </a:prstGeom>
                      <a:solidFill>
                        <a:srgbClr val="808080"/>
                      </a:solidFill>
                      <a:ln w="12700">
                        <a:solidFill>
                          <a:srgbClr val="C0C0C0"/>
                        </a:solidFill>
                        <a:round/>
                        <a:headEnd/>
                        <a:tailEnd/>
                      </a:ln>
                      <a:effectLst>
                        <a:outerShdw dist="107763" dir="2700000" algn="ctr" rotWithShape="0">
                          <a:srgbClr val="1C1C1C"/>
                        </a:outerShdw>
                      </a:effectLst>
                    </p:spPr>
                    <p:txBody>
                      <a:bodyPr wrap="none" anchor="ctr"/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zh-TW" altLang="en-US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</p:grpSp>
                <p:grpSp>
                  <p:nvGrpSpPr>
                    <p:cNvPr id="369" name="Group 27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3908" y="3688"/>
                      <a:ext cx="240" cy="5"/>
                      <a:chOff x="3908" y="3688"/>
                      <a:chExt cx="240" cy="5"/>
                    </a:xfrm>
                  </p:grpSpPr>
                  <p:sp>
                    <p:nvSpPr>
                      <p:cNvPr id="370" name="Rectangle 28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908" y="3688"/>
                        <a:ext cx="228" cy="5"/>
                      </a:xfrm>
                      <a:prstGeom prst="rect">
                        <a:avLst/>
                      </a:prstGeom>
                      <a:solidFill>
                        <a:srgbClr val="808080"/>
                      </a:solidFill>
                      <a:ln w="12700">
                        <a:solidFill>
                          <a:srgbClr val="C0C0C0"/>
                        </a:solidFill>
                        <a:miter lim="800000"/>
                        <a:headEnd/>
                        <a:tailEnd/>
                      </a:ln>
                      <a:effectLst>
                        <a:outerShdw dist="107763" dir="2700000" algn="ctr" rotWithShape="0">
                          <a:srgbClr val="1C1C1C"/>
                        </a:outerShdw>
                      </a:effectLst>
                    </p:spPr>
                    <p:txBody>
                      <a:bodyPr wrap="none" anchor="ctr"/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zh-TW" altLang="en-US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371" name="Oval 29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4129" y="3688"/>
                        <a:ext cx="19" cy="5"/>
                      </a:xfrm>
                      <a:prstGeom prst="ellipse">
                        <a:avLst/>
                      </a:prstGeom>
                      <a:solidFill>
                        <a:srgbClr val="808080"/>
                      </a:solidFill>
                      <a:ln w="12700">
                        <a:solidFill>
                          <a:srgbClr val="C0C0C0"/>
                        </a:solidFill>
                        <a:round/>
                        <a:headEnd/>
                        <a:tailEnd/>
                      </a:ln>
                      <a:effectLst>
                        <a:outerShdw dist="107763" dir="2700000" algn="ctr" rotWithShape="0">
                          <a:srgbClr val="1C1C1C"/>
                        </a:outerShdw>
                      </a:effectLst>
                    </p:spPr>
                    <p:txBody>
                      <a:bodyPr wrap="none" anchor="ctr"/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zh-TW" altLang="en-US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</p:grpSp>
              </p:grpSp>
              <p:sp>
                <p:nvSpPr>
                  <p:cNvPr id="352" name="Freeform 30"/>
                  <p:cNvSpPr>
                    <a:spLocks/>
                  </p:cNvSpPr>
                  <p:nvPr/>
                </p:nvSpPr>
                <p:spPr bwMode="auto">
                  <a:xfrm>
                    <a:off x="48" y="3290"/>
                    <a:ext cx="4081" cy="537"/>
                  </a:xfrm>
                  <a:custGeom>
                    <a:avLst/>
                    <a:gdLst/>
                    <a:ahLst/>
                    <a:cxnLst>
                      <a:cxn ang="0">
                        <a:pos x="3874" y="0"/>
                      </a:cxn>
                      <a:cxn ang="0">
                        <a:pos x="4054" y="0"/>
                      </a:cxn>
                      <a:cxn ang="0">
                        <a:pos x="4078" y="83"/>
                      </a:cxn>
                      <a:cxn ang="0">
                        <a:pos x="3998" y="83"/>
                      </a:cxn>
                      <a:cxn ang="0">
                        <a:pos x="3998" y="382"/>
                      </a:cxn>
                      <a:cxn ang="0">
                        <a:pos x="3841" y="518"/>
                      </a:cxn>
                      <a:cxn ang="0">
                        <a:pos x="3806" y="532"/>
                      </a:cxn>
                      <a:cxn ang="0">
                        <a:pos x="3776" y="536"/>
                      </a:cxn>
                      <a:cxn ang="0">
                        <a:pos x="3781" y="468"/>
                      </a:cxn>
                      <a:cxn ang="0">
                        <a:pos x="3785" y="386"/>
                      </a:cxn>
                      <a:cxn ang="0">
                        <a:pos x="3764" y="317"/>
                      </a:cxn>
                      <a:cxn ang="0">
                        <a:pos x="3735" y="266"/>
                      </a:cxn>
                      <a:cxn ang="0">
                        <a:pos x="3697" y="222"/>
                      </a:cxn>
                      <a:cxn ang="0">
                        <a:pos x="3642" y="178"/>
                      </a:cxn>
                      <a:cxn ang="0">
                        <a:pos x="3578" y="145"/>
                      </a:cxn>
                      <a:cxn ang="0">
                        <a:pos x="3488" y="124"/>
                      </a:cxn>
                      <a:cxn ang="0">
                        <a:pos x="3370" y="117"/>
                      </a:cxn>
                      <a:cxn ang="0">
                        <a:pos x="3288" y="135"/>
                      </a:cxn>
                      <a:cxn ang="0">
                        <a:pos x="3228" y="163"/>
                      </a:cxn>
                      <a:cxn ang="0">
                        <a:pos x="3178" y="196"/>
                      </a:cxn>
                      <a:cxn ang="0">
                        <a:pos x="3118" y="246"/>
                      </a:cxn>
                      <a:cxn ang="0">
                        <a:pos x="3080" y="303"/>
                      </a:cxn>
                      <a:cxn ang="0">
                        <a:pos x="3055" y="353"/>
                      </a:cxn>
                      <a:cxn ang="0">
                        <a:pos x="3047" y="401"/>
                      </a:cxn>
                      <a:cxn ang="0">
                        <a:pos x="3047" y="507"/>
                      </a:cxn>
                      <a:cxn ang="0">
                        <a:pos x="1266" y="536"/>
                      </a:cxn>
                      <a:cxn ang="0">
                        <a:pos x="1266" y="434"/>
                      </a:cxn>
                      <a:cxn ang="0">
                        <a:pos x="1241" y="364"/>
                      </a:cxn>
                      <a:cxn ang="0">
                        <a:pos x="1212" y="309"/>
                      </a:cxn>
                      <a:cxn ang="0">
                        <a:pos x="1168" y="258"/>
                      </a:cxn>
                      <a:cxn ang="0">
                        <a:pos x="1105" y="214"/>
                      </a:cxn>
                      <a:cxn ang="0">
                        <a:pos x="1041" y="185"/>
                      </a:cxn>
                      <a:cxn ang="0">
                        <a:pos x="978" y="168"/>
                      </a:cxn>
                      <a:cxn ang="0">
                        <a:pos x="867" y="168"/>
                      </a:cxn>
                      <a:cxn ang="0">
                        <a:pos x="808" y="178"/>
                      </a:cxn>
                      <a:cxn ang="0">
                        <a:pos x="748" y="201"/>
                      </a:cxn>
                      <a:cxn ang="0">
                        <a:pos x="694" y="240"/>
                      </a:cxn>
                      <a:cxn ang="0">
                        <a:pos x="642" y="291"/>
                      </a:cxn>
                      <a:cxn ang="0">
                        <a:pos x="608" y="353"/>
                      </a:cxn>
                      <a:cxn ang="0">
                        <a:pos x="587" y="419"/>
                      </a:cxn>
                      <a:cxn ang="0">
                        <a:pos x="587" y="488"/>
                      </a:cxn>
                      <a:cxn ang="0">
                        <a:pos x="0" y="487"/>
                      </a:cxn>
                      <a:cxn ang="0">
                        <a:pos x="0" y="464"/>
                      </a:cxn>
                      <a:cxn ang="0">
                        <a:pos x="19" y="464"/>
                      </a:cxn>
                      <a:cxn ang="0">
                        <a:pos x="19" y="431"/>
                      </a:cxn>
                      <a:cxn ang="0">
                        <a:pos x="1" y="430"/>
                      </a:cxn>
                      <a:cxn ang="0">
                        <a:pos x="1" y="330"/>
                      </a:cxn>
                      <a:cxn ang="0">
                        <a:pos x="17" y="309"/>
                      </a:cxn>
                      <a:cxn ang="0">
                        <a:pos x="153" y="251"/>
                      </a:cxn>
                      <a:cxn ang="0">
                        <a:pos x="303" y="201"/>
                      </a:cxn>
                      <a:cxn ang="0">
                        <a:pos x="484" y="153"/>
                      </a:cxn>
                      <a:cxn ang="0">
                        <a:pos x="680" y="112"/>
                      </a:cxn>
                      <a:cxn ang="0">
                        <a:pos x="860" y="80"/>
                      </a:cxn>
                      <a:cxn ang="0">
                        <a:pos x="1032" y="54"/>
                      </a:cxn>
                      <a:cxn ang="0">
                        <a:pos x="1091" y="54"/>
                      </a:cxn>
                      <a:cxn ang="0">
                        <a:pos x="1130" y="68"/>
                      </a:cxn>
                      <a:cxn ang="0">
                        <a:pos x="1313" y="91"/>
                      </a:cxn>
                      <a:cxn ang="0">
                        <a:pos x="1458" y="102"/>
                      </a:cxn>
                      <a:cxn ang="0">
                        <a:pos x="2218" y="61"/>
                      </a:cxn>
                      <a:cxn ang="0">
                        <a:pos x="2583" y="35"/>
                      </a:cxn>
                      <a:cxn ang="0">
                        <a:pos x="2927" y="13"/>
                      </a:cxn>
                      <a:cxn ang="0">
                        <a:pos x="3101" y="3"/>
                      </a:cxn>
                      <a:cxn ang="0">
                        <a:pos x="3874" y="0"/>
                      </a:cxn>
                    </a:cxnLst>
                    <a:rect l="0" t="0" r="r" b="b"/>
                    <a:pathLst>
                      <a:path w="4079" h="537">
                        <a:moveTo>
                          <a:pt x="3874" y="0"/>
                        </a:moveTo>
                        <a:lnTo>
                          <a:pt x="4054" y="0"/>
                        </a:lnTo>
                        <a:lnTo>
                          <a:pt x="4078" y="83"/>
                        </a:lnTo>
                        <a:lnTo>
                          <a:pt x="3998" y="83"/>
                        </a:lnTo>
                        <a:lnTo>
                          <a:pt x="3998" y="382"/>
                        </a:lnTo>
                        <a:lnTo>
                          <a:pt x="3841" y="518"/>
                        </a:lnTo>
                        <a:lnTo>
                          <a:pt x="3806" y="532"/>
                        </a:lnTo>
                        <a:lnTo>
                          <a:pt x="3776" y="536"/>
                        </a:lnTo>
                        <a:lnTo>
                          <a:pt x="3781" y="468"/>
                        </a:lnTo>
                        <a:lnTo>
                          <a:pt x="3785" y="386"/>
                        </a:lnTo>
                        <a:lnTo>
                          <a:pt x="3764" y="317"/>
                        </a:lnTo>
                        <a:lnTo>
                          <a:pt x="3735" y="266"/>
                        </a:lnTo>
                        <a:lnTo>
                          <a:pt x="3697" y="222"/>
                        </a:lnTo>
                        <a:lnTo>
                          <a:pt x="3642" y="178"/>
                        </a:lnTo>
                        <a:lnTo>
                          <a:pt x="3578" y="145"/>
                        </a:lnTo>
                        <a:lnTo>
                          <a:pt x="3488" y="124"/>
                        </a:lnTo>
                        <a:lnTo>
                          <a:pt x="3370" y="117"/>
                        </a:lnTo>
                        <a:lnTo>
                          <a:pt x="3288" y="135"/>
                        </a:lnTo>
                        <a:lnTo>
                          <a:pt x="3228" y="163"/>
                        </a:lnTo>
                        <a:lnTo>
                          <a:pt x="3178" y="196"/>
                        </a:lnTo>
                        <a:lnTo>
                          <a:pt x="3118" y="246"/>
                        </a:lnTo>
                        <a:lnTo>
                          <a:pt x="3080" y="303"/>
                        </a:lnTo>
                        <a:lnTo>
                          <a:pt x="3055" y="353"/>
                        </a:lnTo>
                        <a:lnTo>
                          <a:pt x="3047" y="401"/>
                        </a:lnTo>
                        <a:lnTo>
                          <a:pt x="3047" y="507"/>
                        </a:lnTo>
                        <a:lnTo>
                          <a:pt x="1266" y="536"/>
                        </a:lnTo>
                        <a:lnTo>
                          <a:pt x="1266" y="434"/>
                        </a:lnTo>
                        <a:lnTo>
                          <a:pt x="1241" y="364"/>
                        </a:lnTo>
                        <a:lnTo>
                          <a:pt x="1212" y="309"/>
                        </a:lnTo>
                        <a:lnTo>
                          <a:pt x="1168" y="258"/>
                        </a:lnTo>
                        <a:lnTo>
                          <a:pt x="1105" y="214"/>
                        </a:lnTo>
                        <a:lnTo>
                          <a:pt x="1041" y="185"/>
                        </a:lnTo>
                        <a:lnTo>
                          <a:pt x="978" y="168"/>
                        </a:lnTo>
                        <a:lnTo>
                          <a:pt x="867" y="168"/>
                        </a:lnTo>
                        <a:lnTo>
                          <a:pt x="808" y="178"/>
                        </a:lnTo>
                        <a:lnTo>
                          <a:pt x="748" y="201"/>
                        </a:lnTo>
                        <a:lnTo>
                          <a:pt x="694" y="240"/>
                        </a:lnTo>
                        <a:lnTo>
                          <a:pt x="642" y="291"/>
                        </a:lnTo>
                        <a:lnTo>
                          <a:pt x="608" y="353"/>
                        </a:lnTo>
                        <a:lnTo>
                          <a:pt x="587" y="419"/>
                        </a:lnTo>
                        <a:lnTo>
                          <a:pt x="587" y="488"/>
                        </a:lnTo>
                        <a:lnTo>
                          <a:pt x="0" y="487"/>
                        </a:lnTo>
                        <a:lnTo>
                          <a:pt x="0" y="464"/>
                        </a:lnTo>
                        <a:lnTo>
                          <a:pt x="19" y="464"/>
                        </a:lnTo>
                        <a:lnTo>
                          <a:pt x="19" y="431"/>
                        </a:lnTo>
                        <a:lnTo>
                          <a:pt x="1" y="430"/>
                        </a:lnTo>
                        <a:lnTo>
                          <a:pt x="1" y="330"/>
                        </a:lnTo>
                        <a:lnTo>
                          <a:pt x="17" y="309"/>
                        </a:lnTo>
                        <a:lnTo>
                          <a:pt x="153" y="251"/>
                        </a:lnTo>
                        <a:lnTo>
                          <a:pt x="303" y="201"/>
                        </a:lnTo>
                        <a:lnTo>
                          <a:pt x="484" y="153"/>
                        </a:lnTo>
                        <a:lnTo>
                          <a:pt x="680" y="112"/>
                        </a:lnTo>
                        <a:lnTo>
                          <a:pt x="860" y="80"/>
                        </a:lnTo>
                        <a:lnTo>
                          <a:pt x="1032" y="54"/>
                        </a:lnTo>
                        <a:lnTo>
                          <a:pt x="1091" y="54"/>
                        </a:lnTo>
                        <a:lnTo>
                          <a:pt x="1130" y="68"/>
                        </a:lnTo>
                        <a:lnTo>
                          <a:pt x="1313" y="91"/>
                        </a:lnTo>
                        <a:lnTo>
                          <a:pt x="1458" y="102"/>
                        </a:lnTo>
                        <a:lnTo>
                          <a:pt x="2218" y="61"/>
                        </a:lnTo>
                        <a:lnTo>
                          <a:pt x="2583" y="35"/>
                        </a:lnTo>
                        <a:lnTo>
                          <a:pt x="2927" y="13"/>
                        </a:lnTo>
                        <a:lnTo>
                          <a:pt x="3101" y="3"/>
                        </a:lnTo>
                        <a:lnTo>
                          <a:pt x="3874" y="0"/>
                        </a:lnTo>
                      </a:path>
                    </a:pathLst>
                  </a:custGeom>
                  <a:solidFill>
                    <a:srgbClr val="FF0000"/>
                  </a:solidFill>
                  <a:ln w="12700" cap="rnd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>
                    <a:outerShdw dist="107763" dir="2700000" algn="ctr" rotWithShape="0">
                      <a:srgbClr val="1C1C1C"/>
                    </a:outerShdw>
                  </a:effec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TW" alt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353" name="Freeform 31"/>
                  <p:cNvSpPr>
                    <a:spLocks/>
                  </p:cNvSpPr>
                  <p:nvPr/>
                </p:nvSpPr>
                <p:spPr bwMode="auto">
                  <a:xfrm>
                    <a:off x="1665" y="3335"/>
                    <a:ext cx="823" cy="481"/>
                  </a:xfrm>
                  <a:custGeom>
                    <a:avLst/>
                    <a:gdLst/>
                    <a:ahLst/>
                    <a:cxnLst>
                      <a:cxn ang="0">
                        <a:pos x="822" y="0"/>
                      </a:cxn>
                      <a:cxn ang="0">
                        <a:pos x="822" y="470"/>
                      </a:cxn>
                      <a:cxn ang="0">
                        <a:pos x="0" y="481"/>
                      </a:cxn>
                      <a:cxn ang="0">
                        <a:pos x="0" y="51"/>
                      </a:cxn>
                      <a:cxn ang="0">
                        <a:pos x="109" y="41"/>
                      </a:cxn>
                      <a:cxn ang="0">
                        <a:pos x="259" y="33"/>
                      </a:cxn>
                      <a:cxn ang="0">
                        <a:pos x="410" y="27"/>
                      </a:cxn>
                      <a:cxn ang="0">
                        <a:pos x="507" y="19"/>
                      </a:cxn>
                      <a:cxn ang="0">
                        <a:pos x="603" y="14"/>
                      </a:cxn>
                      <a:cxn ang="0">
                        <a:pos x="733" y="4"/>
                      </a:cxn>
                      <a:cxn ang="0">
                        <a:pos x="822" y="0"/>
                      </a:cxn>
                    </a:cxnLst>
                    <a:rect l="0" t="0" r="r" b="b"/>
                    <a:pathLst>
                      <a:path w="823" h="482">
                        <a:moveTo>
                          <a:pt x="822" y="0"/>
                        </a:moveTo>
                        <a:lnTo>
                          <a:pt x="822" y="470"/>
                        </a:lnTo>
                        <a:lnTo>
                          <a:pt x="0" y="481"/>
                        </a:lnTo>
                        <a:lnTo>
                          <a:pt x="0" y="51"/>
                        </a:lnTo>
                        <a:lnTo>
                          <a:pt x="109" y="41"/>
                        </a:lnTo>
                        <a:lnTo>
                          <a:pt x="259" y="33"/>
                        </a:lnTo>
                        <a:lnTo>
                          <a:pt x="410" y="27"/>
                        </a:lnTo>
                        <a:lnTo>
                          <a:pt x="507" y="19"/>
                        </a:lnTo>
                        <a:lnTo>
                          <a:pt x="603" y="14"/>
                        </a:lnTo>
                        <a:lnTo>
                          <a:pt x="733" y="4"/>
                        </a:lnTo>
                        <a:lnTo>
                          <a:pt x="822" y="0"/>
                        </a:lnTo>
                      </a:path>
                    </a:pathLst>
                  </a:custGeom>
                  <a:solidFill>
                    <a:srgbClr val="FF0000"/>
                  </a:solidFill>
                  <a:ln w="12700" cap="rnd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>
                    <a:outerShdw dist="107763" dir="2700000" algn="ctr" rotWithShape="0">
                      <a:srgbClr val="1C1C1C"/>
                    </a:outerShdw>
                  </a:effectLst>
                </p:spPr>
                <p:txBody>
                  <a:bodyPr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TW" alt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</a:endParaRPr>
                  </a:p>
                </p:txBody>
              </p:sp>
              <p:grpSp>
                <p:nvGrpSpPr>
                  <p:cNvPr id="354" name="Group 32"/>
                  <p:cNvGrpSpPr>
                    <a:grpSpLocks/>
                  </p:cNvGrpSpPr>
                  <p:nvPr/>
                </p:nvGrpSpPr>
                <p:grpSpPr bwMode="auto">
                  <a:xfrm>
                    <a:off x="1769" y="3181"/>
                    <a:ext cx="1382" cy="548"/>
                    <a:chOff x="1769" y="3181"/>
                    <a:chExt cx="1382" cy="548"/>
                  </a:xfrm>
                </p:grpSpPr>
                <p:sp>
                  <p:nvSpPr>
                    <p:cNvPr id="355" name="Oval 33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001" y="3181"/>
                      <a:ext cx="150" cy="68"/>
                    </a:xfrm>
                    <a:prstGeom prst="ellipse">
                      <a:avLst/>
                    </a:prstGeom>
                    <a:solidFill>
                      <a:srgbClr val="800000"/>
                    </a:solidFill>
                    <a:ln w="12700">
                      <a:solidFill>
                        <a:srgbClr val="800000"/>
                      </a:solidFill>
                      <a:round/>
                      <a:headEnd/>
                      <a:tailEnd/>
                    </a:ln>
                    <a:effectLst>
                      <a:outerShdw dist="107763" dir="2700000" algn="ctr" rotWithShape="0">
                        <a:srgbClr val="1C1C1C"/>
                      </a:outerShdw>
                    </a:effectLst>
                  </p:spPr>
                  <p:txBody>
                    <a:bodyPr wrap="none" anchor="ctr"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800" b="0" i="0" u="none" strike="noStrike" kern="0" cap="none" spc="0" normalizeH="0" baseline="0" noProof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</a:endParaRPr>
                    </a:p>
                  </p:txBody>
                </p:sp>
                <p:sp>
                  <p:nvSpPr>
                    <p:cNvPr id="356" name="Oval 34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107" y="3207"/>
                      <a:ext cx="15" cy="12"/>
                    </a:xfrm>
                    <a:prstGeom prst="ellipse">
                      <a:avLst/>
                    </a:prstGeom>
                    <a:solidFill>
                      <a:srgbClr val="000000"/>
                    </a:solidFill>
                    <a:ln w="1270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>
                      <a:outerShdw dist="107763" dir="2700000" algn="ctr" rotWithShape="0">
                        <a:srgbClr val="1C1C1C"/>
                      </a:outerShdw>
                    </a:effectLst>
                  </p:spPr>
                  <p:txBody>
                    <a:bodyPr wrap="none" anchor="ctr"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1800" b="0" i="0" u="none" strike="noStrike" kern="0" cap="none" spc="0" normalizeH="0" baseline="0" noProof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</a:endParaRPr>
                    </a:p>
                  </p:txBody>
                </p:sp>
                <p:grpSp>
                  <p:nvGrpSpPr>
                    <p:cNvPr id="357" name="Group 35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1769" y="3400"/>
                      <a:ext cx="871" cy="329"/>
                      <a:chOff x="1769" y="3400"/>
                      <a:chExt cx="871" cy="329"/>
                    </a:xfrm>
                  </p:grpSpPr>
                  <p:sp>
                    <p:nvSpPr>
                      <p:cNvPr id="358" name="Freeform 36"/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1769" y="3623"/>
                        <a:ext cx="871" cy="106"/>
                      </a:xfrm>
                      <a:custGeom>
                        <a:avLst/>
                        <a:gdLst/>
                        <a:ahLst/>
                        <a:cxnLst>
                          <a:cxn ang="0">
                            <a:pos x="870" y="59"/>
                          </a:cxn>
                          <a:cxn ang="0">
                            <a:pos x="870" y="106"/>
                          </a:cxn>
                          <a:cxn ang="0">
                            <a:pos x="0" y="0"/>
                          </a:cxn>
                          <a:cxn ang="0">
                            <a:pos x="870" y="59"/>
                          </a:cxn>
                        </a:cxnLst>
                        <a:rect l="0" t="0" r="r" b="b"/>
                        <a:pathLst>
                          <a:path w="871" h="107">
                            <a:moveTo>
                              <a:pt x="870" y="59"/>
                            </a:moveTo>
                            <a:lnTo>
                              <a:pt x="870" y="106"/>
                            </a:lnTo>
                            <a:lnTo>
                              <a:pt x="0" y="0"/>
                            </a:lnTo>
                            <a:lnTo>
                              <a:pt x="870" y="59"/>
                            </a:lnTo>
                          </a:path>
                        </a:pathLst>
                      </a:custGeom>
                      <a:solidFill>
                        <a:srgbClr val="800000"/>
                      </a:solidFill>
                      <a:ln w="12700" cap="rnd" cmpd="sng">
                        <a:solidFill>
                          <a:srgbClr val="8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effectLst>
                        <a:outerShdw dist="107763" dir="2700000" algn="ctr" rotWithShape="0">
                          <a:srgbClr val="1C1C1C"/>
                        </a:outerShdw>
                      </a:effectLst>
                    </p:spPr>
                    <p:txBody>
                      <a:bodyPr/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zh-TW" altLang="en-US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359" name="Freeform 37"/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1778" y="3400"/>
                        <a:ext cx="862" cy="125"/>
                      </a:xfrm>
                      <a:custGeom>
                        <a:avLst/>
                        <a:gdLst/>
                        <a:ahLst/>
                        <a:cxnLst>
                          <a:cxn ang="0">
                            <a:pos x="861" y="0"/>
                          </a:cxn>
                          <a:cxn ang="0">
                            <a:pos x="861" y="48"/>
                          </a:cxn>
                          <a:cxn ang="0">
                            <a:pos x="0" y="124"/>
                          </a:cxn>
                          <a:cxn ang="0">
                            <a:pos x="861" y="0"/>
                          </a:cxn>
                        </a:cxnLst>
                        <a:rect l="0" t="0" r="r" b="b"/>
                        <a:pathLst>
                          <a:path w="862" h="125">
                            <a:moveTo>
                              <a:pt x="861" y="0"/>
                            </a:moveTo>
                            <a:lnTo>
                              <a:pt x="861" y="48"/>
                            </a:lnTo>
                            <a:lnTo>
                              <a:pt x="0" y="124"/>
                            </a:lnTo>
                            <a:lnTo>
                              <a:pt x="861" y="0"/>
                            </a:lnTo>
                          </a:path>
                        </a:pathLst>
                      </a:custGeom>
                      <a:solidFill>
                        <a:srgbClr val="800000"/>
                      </a:solidFill>
                      <a:ln w="12700" cap="rnd" cmpd="sng">
                        <a:solidFill>
                          <a:srgbClr val="8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effectLst>
                        <a:outerShdw dist="107763" dir="2700000" algn="ctr" rotWithShape="0">
                          <a:srgbClr val="1C1C1C"/>
                        </a:outerShdw>
                      </a:effectLst>
                    </p:spPr>
                    <p:txBody>
                      <a:bodyPr/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zh-TW" altLang="en-US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360" name="Freeform 38"/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1778" y="3474"/>
                        <a:ext cx="862" cy="76"/>
                      </a:xfrm>
                      <a:custGeom>
                        <a:avLst/>
                        <a:gdLst/>
                        <a:ahLst/>
                        <a:cxnLst>
                          <a:cxn ang="0">
                            <a:pos x="861" y="0"/>
                          </a:cxn>
                          <a:cxn ang="0">
                            <a:pos x="861" y="47"/>
                          </a:cxn>
                          <a:cxn ang="0">
                            <a:pos x="0" y="75"/>
                          </a:cxn>
                          <a:cxn ang="0">
                            <a:pos x="861" y="0"/>
                          </a:cxn>
                        </a:cxnLst>
                        <a:rect l="0" t="0" r="r" b="b"/>
                        <a:pathLst>
                          <a:path w="862" h="76">
                            <a:moveTo>
                              <a:pt x="861" y="0"/>
                            </a:moveTo>
                            <a:lnTo>
                              <a:pt x="861" y="47"/>
                            </a:lnTo>
                            <a:lnTo>
                              <a:pt x="0" y="75"/>
                            </a:lnTo>
                            <a:lnTo>
                              <a:pt x="861" y="0"/>
                            </a:lnTo>
                          </a:path>
                        </a:pathLst>
                      </a:custGeom>
                      <a:solidFill>
                        <a:srgbClr val="800000"/>
                      </a:solidFill>
                      <a:ln w="12700" cap="rnd" cmpd="sng">
                        <a:solidFill>
                          <a:srgbClr val="8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effectLst>
                        <a:outerShdw dist="107763" dir="2700000" algn="ctr" rotWithShape="0">
                          <a:srgbClr val="1C1C1C"/>
                        </a:outerShdw>
                      </a:effectLst>
                    </p:spPr>
                    <p:txBody>
                      <a:bodyPr/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zh-TW" altLang="en-US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361" name="Freeform 39"/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1769" y="3542"/>
                        <a:ext cx="871" cy="49"/>
                      </a:xfrm>
                      <a:custGeom>
                        <a:avLst/>
                        <a:gdLst/>
                        <a:ahLst/>
                        <a:cxnLst>
                          <a:cxn ang="0">
                            <a:pos x="870" y="0"/>
                          </a:cxn>
                          <a:cxn ang="0">
                            <a:pos x="870" y="47"/>
                          </a:cxn>
                          <a:cxn ang="0">
                            <a:pos x="0" y="28"/>
                          </a:cxn>
                          <a:cxn ang="0">
                            <a:pos x="870" y="0"/>
                          </a:cxn>
                        </a:cxnLst>
                        <a:rect l="0" t="0" r="r" b="b"/>
                        <a:pathLst>
                          <a:path w="871" h="48">
                            <a:moveTo>
                              <a:pt x="870" y="0"/>
                            </a:moveTo>
                            <a:lnTo>
                              <a:pt x="870" y="47"/>
                            </a:lnTo>
                            <a:lnTo>
                              <a:pt x="0" y="28"/>
                            </a:lnTo>
                            <a:lnTo>
                              <a:pt x="870" y="0"/>
                            </a:lnTo>
                          </a:path>
                        </a:pathLst>
                      </a:custGeom>
                      <a:solidFill>
                        <a:srgbClr val="800000"/>
                      </a:solidFill>
                      <a:ln w="12700" cap="rnd" cmpd="sng">
                        <a:solidFill>
                          <a:srgbClr val="8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effectLst>
                        <a:outerShdw dist="107763" dir="2700000" algn="ctr" rotWithShape="0">
                          <a:srgbClr val="1C1C1C"/>
                        </a:outerShdw>
                      </a:effectLst>
                    </p:spPr>
                    <p:txBody>
                      <a:bodyPr/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zh-TW" altLang="en-US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  <p:sp>
                    <p:nvSpPr>
                      <p:cNvPr id="362" name="Freeform 40"/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1769" y="3597"/>
                        <a:ext cx="871" cy="62"/>
                      </a:xfrm>
                      <a:custGeom>
                        <a:avLst/>
                        <a:gdLst/>
                        <a:ahLst/>
                        <a:cxnLst>
                          <a:cxn ang="0">
                            <a:pos x="870" y="15"/>
                          </a:cxn>
                          <a:cxn ang="0">
                            <a:pos x="870" y="62"/>
                          </a:cxn>
                          <a:cxn ang="0">
                            <a:pos x="0" y="0"/>
                          </a:cxn>
                          <a:cxn ang="0">
                            <a:pos x="870" y="15"/>
                          </a:cxn>
                        </a:cxnLst>
                        <a:rect l="0" t="0" r="r" b="b"/>
                        <a:pathLst>
                          <a:path w="871" h="63">
                            <a:moveTo>
                              <a:pt x="870" y="15"/>
                            </a:moveTo>
                            <a:lnTo>
                              <a:pt x="870" y="62"/>
                            </a:lnTo>
                            <a:lnTo>
                              <a:pt x="0" y="0"/>
                            </a:lnTo>
                            <a:lnTo>
                              <a:pt x="870" y="15"/>
                            </a:lnTo>
                          </a:path>
                        </a:pathLst>
                      </a:custGeom>
                      <a:solidFill>
                        <a:srgbClr val="800000"/>
                      </a:solidFill>
                      <a:ln w="12700" cap="rnd" cmpd="sng">
                        <a:solidFill>
                          <a:srgbClr val="8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effectLst>
                        <a:outerShdw dist="107763" dir="2700000" algn="ctr" rotWithShape="0">
                          <a:srgbClr val="1C1C1C"/>
                        </a:outerShdw>
                      </a:effectLst>
                    </p:spPr>
                    <p:txBody>
                      <a:bodyPr/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zh-TW" altLang="en-US" sz="1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</a:endParaRPr>
                      </a:p>
                    </p:txBody>
                  </p:sp>
                </p:grpSp>
              </p:grpSp>
            </p:grpSp>
          </p:grpSp>
          <p:grpSp>
            <p:nvGrpSpPr>
              <p:cNvPr id="328" name="Group 41"/>
              <p:cNvGrpSpPr>
                <a:grpSpLocks/>
              </p:cNvGrpSpPr>
              <p:nvPr/>
            </p:nvGrpSpPr>
            <p:grpSpPr bwMode="auto">
              <a:xfrm>
                <a:off x="739" y="3524"/>
                <a:ext cx="655" cy="569"/>
                <a:chOff x="718" y="3429"/>
                <a:chExt cx="636" cy="553"/>
              </a:xfrm>
            </p:grpSpPr>
            <p:sp>
              <p:nvSpPr>
                <p:cNvPr id="339" name="Oval 42"/>
                <p:cNvSpPr>
                  <a:spLocks noChangeArrowheads="1"/>
                </p:cNvSpPr>
                <p:nvPr/>
              </p:nvSpPr>
              <p:spPr bwMode="auto">
                <a:xfrm>
                  <a:off x="718" y="3429"/>
                  <a:ext cx="636" cy="553"/>
                </a:xfrm>
                <a:prstGeom prst="ellipse">
                  <a:avLst/>
                </a:prstGeom>
                <a:solidFill>
                  <a:srgbClr val="000000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ffectLst>
                  <a:outerShdw dist="107763" dir="2700000" algn="ctr" rotWithShape="0">
                    <a:srgbClr val="1C1C1C"/>
                  </a:outerShdw>
                </a:effectLst>
              </p:spPr>
              <p:txBody>
                <a:bodyPr wrap="none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TW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340" name="Freeform 43"/>
                <p:cNvSpPr>
                  <a:spLocks/>
                </p:cNvSpPr>
                <p:nvPr/>
              </p:nvSpPr>
              <p:spPr bwMode="auto">
                <a:xfrm>
                  <a:off x="972" y="3793"/>
                  <a:ext cx="114" cy="122"/>
                </a:xfrm>
                <a:custGeom>
                  <a:avLst/>
                  <a:gdLst/>
                  <a:ahLst/>
                  <a:cxnLst>
                    <a:cxn ang="0">
                      <a:pos x="113" y="112"/>
                    </a:cxn>
                    <a:cxn ang="0">
                      <a:pos x="69" y="0"/>
                    </a:cxn>
                    <a:cxn ang="0">
                      <a:pos x="42" y="0"/>
                    </a:cxn>
                    <a:cxn ang="0">
                      <a:pos x="0" y="117"/>
                    </a:cxn>
                    <a:cxn ang="0">
                      <a:pos x="55" y="121"/>
                    </a:cxn>
                    <a:cxn ang="0">
                      <a:pos x="113" y="112"/>
                    </a:cxn>
                  </a:cxnLst>
                  <a:rect l="0" t="0" r="r" b="b"/>
                  <a:pathLst>
                    <a:path w="114" h="122">
                      <a:moveTo>
                        <a:pt x="113" y="112"/>
                      </a:moveTo>
                      <a:lnTo>
                        <a:pt x="69" y="0"/>
                      </a:lnTo>
                      <a:lnTo>
                        <a:pt x="42" y="0"/>
                      </a:lnTo>
                      <a:lnTo>
                        <a:pt x="0" y="117"/>
                      </a:lnTo>
                      <a:lnTo>
                        <a:pt x="55" y="121"/>
                      </a:lnTo>
                      <a:lnTo>
                        <a:pt x="113" y="112"/>
                      </a:lnTo>
                    </a:path>
                  </a:pathLst>
                </a:custGeom>
                <a:solidFill>
                  <a:srgbClr val="FF0000"/>
                </a:solidFill>
                <a:ln w="12700" cap="rnd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>
                  <a:outerShdw dist="107763" dir="2700000" algn="ctr" rotWithShape="0">
                    <a:srgbClr val="1C1C1C"/>
                  </a:outerShdw>
                </a:effec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TW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341" name="Freeform 44"/>
                <p:cNvSpPr>
                  <a:spLocks/>
                </p:cNvSpPr>
                <p:nvPr/>
              </p:nvSpPr>
              <p:spPr bwMode="auto">
                <a:xfrm>
                  <a:off x="974" y="3503"/>
                  <a:ext cx="116" cy="121"/>
                </a:xfrm>
                <a:custGeom>
                  <a:avLst/>
                  <a:gdLst/>
                  <a:ahLst/>
                  <a:cxnLst>
                    <a:cxn ang="0">
                      <a:pos x="115" y="9"/>
                    </a:cxn>
                    <a:cxn ang="0">
                      <a:pos x="69" y="120"/>
                    </a:cxn>
                    <a:cxn ang="0">
                      <a:pos x="43" y="120"/>
                    </a:cxn>
                    <a:cxn ang="0">
                      <a:pos x="0" y="5"/>
                    </a:cxn>
                    <a:cxn ang="0">
                      <a:pos x="56" y="0"/>
                    </a:cxn>
                    <a:cxn ang="0">
                      <a:pos x="115" y="9"/>
                    </a:cxn>
                  </a:cxnLst>
                  <a:rect l="0" t="0" r="r" b="b"/>
                  <a:pathLst>
                    <a:path w="116" h="121">
                      <a:moveTo>
                        <a:pt x="115" y="9"/>
                      </a:moveTo>
                      <a:lnTo>
                        <a:pt x="69" y="120"/>
                      </a:lnTo>
                      <a:lnTo>
                        <a:pt x="43" y="120"/>
                      </a:lnTo>
                      <a:lnTo>
                        <a:pt x="0" y="5"/>
                      </a:lnTo>
                      <a:lnTo>
                        <a:pt x="56" y="0"/>
                      </a:lnTo>
                      <a:lnTo>
                        <a:pt x="115" y="9"/>
                      </a:lnTo>
                    </a:path>
                  </a:pathLst>
                </a:custGeom>
                <a:solidFill>
                  <a:srgbClr val="FF0000"/>
                </a:solidFill>
                <a:ln w="12700" cap="rnd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>
                  <a:outerShdw dist="107763" dir="2700000" algn="ctr" rotWithShape="0">
                    <a:srgbClr val="1C1C1C"/>
                  </a:outerShdw>
                </a:effec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TW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342" name="Freeform 45"/>
                <p:cNvSpPr>
                  <a:spLocks/>
                </p:cNvSpPr>
                <p:nvPr/>
              </p:nvSpPr>
              <p:spPr bwMode="auto">
                <a:xfrm>
                  <a:off x="798" y="3657"/>
                  <a:ext cx="140" cy="97"/>
                </a:xfrm>
                <a:custGeom>
                  <a:avLst/>
                  <a:gdLst/>
                  <a:ahLst/>
                  <a:cxnLst>
                    <a:cxn ang="0">
                      <a:pos x="10" y="0"/>
                    </a:cxn>
                    <a:cxn ang="0">
                      <a:pos x="138" y="39"/>
                    </a:cxn>
                    <a:cxn ang="0">
                      <a:pos x="138" y="62"/>
                    </a:cxn>
                    <a:cxn ang="0">
                      <a:pos x="6" y="97"/>
                    </a:cxn>
                    <a:cxn ang="0">
                      <a:pos x="0" y="51"/>
                    </a:cxn>
                    <a:cxn ang="0">
                      <a:pos x="10" y="0"/>
                    </a:cxn>
                  </a:cxnLst>
                  <a:rect l="0" t="0" r="r" b="b"/>
                  <a:pathLst>
                    <a:path w="139" h="98">
                      <a:moveTo>
                        <a:pt x="10" y="0"/>
                      </a:moveTo>
                      <a:lnTo>
                        <a:pt x="138" y="39"/>
                      </a:lnTo>
                      <a:lnTo>
                        <a:pt x="138" y="62"/>
                      </a:lnTo>
                      <a:lnTo>
                        <a:pt x="6" y="97"/>
                      </a:lnTo>
                      <a:lnTo>
                        <a:pt x="0" y="51"/>
                      </a:lnTo>
                      <a:lnTo>
                        <a:pt x="10" y="0"/>
                      </a:lnTo>
                    </a:path>
                  </a:pathLst>
                </a:custGeom>
                <a:solidFill>
                  <a:srgbClr val="FF0000"/>
                </a:solidFill>
                <a:ln w="12700" cap="rnd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>
                  <a:outerShdw dist="107763" dir="2700000" algn="ctr" rotWithShape="0">
                    <a:srgbClr val="1C1C1C"/>
                  </a:outerShdw>
                </a:effec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TW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343" name="Freeform 46"/>
                <p:cNvSpPr>
                  <a:spLocks/>
                </p:cNvSpPr>
                <p:nvPr/>
              </p:nvSpPr>
              <p:spPr bwMode="auto">
                <a:xfrm>
                  <a:off x="1129" y="3657"/>
                  <a:ext cx="138" cy="97"/>
                </a:xfrm>
                <a:custGeom>
                  <a:avLst/>
                  <a:gdLst/>
                  <a:ahLst/>
                  <a:cxnLst>
                    <a:cxn ang="0">
                      <a:pos x="128" y="0"/>
                    </a:cxn>
                    <a:cxn ang="0">
                      <a:pos x="0" y="39"/>
                    </a:cxn>
                    <a:cxn ang="0">
                      <a:pos x="0" y="62"/>
                    </a:cxn>
                    <a:cxn ang="0">
                      <a:pos x="133" y="97"/>
                    </a:cxn>
                    <a:cxn ang="0">
                      <a:pos x="138" y="51"/>
                    </a:cxn>
                    <a:cxn ang="0">
                      <a:pos x="128" y="0"/>
                    </a:cxn>
                  </a:cxnLst>
                  <a:rect l="0" t="0" r="r" b="b"/>
                  <a:pathLst>
                    <a:path w="139" h="98">
                      <a:moveTo>
                        <a:pt x="128" y="0"/>
                      </a:moveTo>
                      <a:lnTo>
                        <a:pt x="0" y="39"/>
                      </a:lnTo>
                      <a:lnTo>
                        <a:pt x="0" y="62"/>
                      </a:lnTo>
                      <a:lnTo>
                        <a:pt x="133" y="97"/>
                      </a:lnTo>
                      <a:lnTo>
                        <a:pt x="138" y="51"/>
                      </a:lnTo>
                      <a:lnTo>
                        <a:pt x="128" y="0"/>
                      </a:lnTo>
                    </a:path>
                  </a:pathLst>
                </a:custGeom>
                <a:solidFill>
                  <a:srgbClr val="FF0000"/>
                </a:solidFill>
                <a:ln w="12700" cap="rnd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>
                  <a:outerShdw dist="107763" dir="2700000" algn="ctr" rotWithShape="0">
                    <a:srgbClr val="1C1C1C"/>
                  </a:outerShdw>
                </a:effec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TW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344" name="Oval 47"/>
                <p:cNvSpPr>
                  <a:spLocks noChangeArrowheads="1"/>
                </p:cNvSpPr>
                <p:nvPr/>
              </p:nvSpPr>
              <p:spPr bwMode="auto">
                <a:xfrm>
                  <a:off x="810" y="3503"/>
                  <a:ext cx="457" cy="397"/>
                </a:xfrm>
                <a:prstGeom prst="ellipse">
                  <a:avLst/>
                </a:prstGeom>
                <a:noFill/>
                <a:ln w="25400">
                  <a:solidFill>
                    <a:srgbClr val="FFFFFF"/>
                  </a:solidFill>
                  <a:round/>
                  <a:headEnd/>
                  <a:tailEnd/>
                </a:ln>
                <a:effectLst>
                  <a:outerShdw dist="107763" dir="2700000" algn="ctr" rotWithShape="0">
                    <a:srgbClr val="1C1C1C"/>
                  </a:outerShdw>
                </a:effectLst>
              </p:spPr>
              <p:txBody>
                <a:bodyPr wrap="none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TW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grpSp>
              <p:nvGrpSpPr>
                <p:cNvPr id="345" name="Group 48"/>
                <p:cNvGrpSpPr>
                  <a:grpSpLocks/>
                </p:cNvGrpSpPr>
                <p:nvPr/>
              </p:nvGrpSpPr>
              <p:grpSpPr bwMode="auto">
                <a:xfrm>
                  <a:off x="955" y="3630"/>
                  <a:ext cx="167" cy="145"/>
                  <a:chOff x="955" y="3630"/>
                  <a:chExt cx="167" cy="145"/>
                </a:xfrm>
              </p:grpSpPr>
              <p:sp>
                <p:nvSpPr>
                  <p:cNvPr id="346" name="Oval 49"/>
                  <p:cNvSpPr>
                    <a:spLocks noChangeArrowheads="1"/>
                  </p:cNvSpPr>
                  <p:nvPr/>
                </p:nvSpPr>
                <p:spPr bwMode="auto">
                  <a:xfrm>
                    <a:off x="955" y="3630"/>
                    <a:ext cx="167" cy="145"/>
                  </a:xfrm>
                  <a:prstGeom prst="ellipse">
                    <a:avLst/>
                  </a:prstGeom>
                  <a:solidFill>
                    <a:srgbClr val="000000"/>
                  </a:solidFill>
                  <a:ln w="25400">
                    <a:solidFill>
                      <a:srgbClr val="FFFFFF"/>
                    </a:solidFill>
                    <a:round/>
                    <a:headEnd/>
                    <a:tailEnd/>
                  </a:ln>
                  <a:effectLst>
                    <a:outerShdw dist="107763" dir="2700000" algn="ctr" rotWithShape="0">
                      <a:srgbClr val="1C1C1C"/>
                    </a:outerShdw>
                  </a:effectLst>
                </p:spPr>
                <p:txBody>
                  <a:bodyPr wrap="none" anchor="ctr"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TW" alt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347" name="Oval 50"/>
                  <p:cNvSpPr>
                    <a:spLocks noChangeArrowheads="1"/>
                  </p:cNvSpPr>
                  <p:nvPr/>
                </p:nvSpPr>
                <p:spPr bwMode="auto">
                  <a:xfrm>
                    <a:off x="994" y="3661"/>
                    <a:ext cx="94" cy="81"/>
                  </a:xfrm>
                  <a:prstGeom prst="ellipse">
                    <a:avLst/>
                  </a:prstGeom>
                  <a:solidFill>
                    <a:srgbClr val="000000"/>
                  </a:solidFill>
                  <a:ln w="25400">
                    <a:solidFill>
                      <a:srgbClr val="FFFFFF"/>
                    </a:solidFill>
                    <a:round/>
                    <a:headEnd/>
                    <a:tailEnd/>
                  </a:ln>
                  <a:effectLst>
                    <a:outerShdw dist="107763" dir="2700000" algn="ctr" rotWithShape="0">
                      <a:srgbClr val="1C1C1C"/>
                    </a:outerShdw>
                  </a:effectLst>
                </p:spPr>
                <p:txBody>
                  <a:bodyPr wrap="none" anchor="ctr"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TW" alt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</a:endParaRPr>
                  </a:p>
                </p:txBody>
              </p:sp>
            </p:grpSp>
          </p:grpSp>
          <p:grpSp>
            <p:nvGrpSpPr>
              <p:cNvPr id="329" name="Group 51"/>
              <p:cNvGrpSpPr>
                <a:grpSpLocks/>
              </p:cNvGrpSpPr>
              <p:nvPr/>
            </p:nvGrpSpPr>
            <p:grpSpPr bwMode="auto">
              <a:xfrm>
                <a:off x="3238" y="3524"/>
                <a:ext cx="655" cy="569"/>
                <a:chOff x="3146" y="3429"/>
                <a:chExt cx="637" cy="553"/>
              </a:xfrm>
            </p:grpSpPr>
            <p:sp>
              <p:nvSpPr>
                <p:cNvPr id="330" name="Oval 52"/>
                <p:cNvSpPr>
                  <a:spLocks noChangeArrowheads="1"/>
                </p:cNvSpPr>
                <p:nvPr/>
              </p:nvSpPr>
              <p:spPr bwMode="auto">
                <a:xfrm>
                  <a:off x="3146" y="3429"/>
                  <a:ext cx="637" cy="553"/>
                </a:xfrm>
                <a:prstGeom prst="ellipse">
                  <a:avLst/>
                </a:prstGeom>
                <a:solidFill>
                  <a:srgbClr val="000000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ffectLst>
                  <a:outerShdw dist="107763" dir="2700000" algn="ctr" rotWithShape="0">
                    <a:srgbClr val="1C1C1C"/>
                  </a:outerShdw>
                </a:effectLst>
              </p:spPr>
              <p:txBody>
                <a:bodyPr wrap="none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TW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331" name="Freeform 53"/>
                <p:cNvSpPr>
                  <a:spLocks/>
                </p:cNvSpPr>
                <p:nvPr/>
              </p:nvSpPr>
              <p:spPr bwMode="auto">
                <a:xfrm>
                  <a:off x="3398" y="3793"/>
                  <a:ext cx="114" cy="122"/>
                </a:xfrm>
                <a:custGeom>
                  <a:avLst/>
                  <a:gdLst/>
                  <a:ahLst/>
                  <a:cxnLst>
                    <a:cxn ang="0">
                      <a:pos x="112" y="112"/>
                    </a:cxn>
                    <a:cxn ang="0">
                      <a:pos x="69" y="0"/>
                    </a:cxn>
                    <a:cxn ang="0">
                      <a:pos x="42" y="0"/>
                    </a:cxn>
                    <a:cxn ang="0">
                      <a:pos x="0" y="117"/>
                    </a:cxn>
                    <a:cxn ang="0">
                      <a:pos x="54" y="121"/>
                    </a:cxn>
                    <a:cxn ang="0">
                      <a:pos x="112" y="112"/>
                    </a:cxn>
                  </a:cxnLst>
                  <a:rect l="0" t="0" r="r" b="b"/>
                  <a:pathLst>
                    <a:path w="113" h="122">
                      <a:moveTo>
                        <a:pt x="112" y="112"/>
                      </a:moveTo>
                      <a:lnTo>
                        <a:pt x="69" y="0"/>
                      </a:lnTo>
                      <a:lnTo>
                        <a:pt x="42" y="0"/>
                      </a:lnTo>
                      <a:lnTo>
                        <a:pt x="0" y="117"/>
                      </a:lnTo>
                      <a:lnTo>
                        <a:pt x="54" y="121"/>
                      </a:lnTo>
                      <a:lnTo>
                        <a:pt x="112" y="112"/>
                      </a:lnTo>
                    </a:path>
                  </a:pathLst>
                </a:custGeom>
                <a:solidFill>
                  <a:srgbClr val="FF0000"/>
                </a:solidFill>
                <a:ln w="12700" cap="rnd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>
                  <a:outerShdw dist="107763" dir="2700000" algn="ctr" rotWithShape="0">
                    <a:srgbClr val="1C1C1C"/>
                  </a:outerShdw>
                </a:effec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TW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332" name="Freeform 54"/>
                <p:cNvSpPr>
                  <a:spLocks/>
                </p:cNvSpPr>
                <p:nvPr/>
              </p:nvSpPr>
              <p:spPr bwMode="auto">
                <a:xfrm>
                  <a:off x="3402" y="3503"/>
                  <a:ext cx="116" cy="121"/>
                </a:xfrm>
                <a:custGeom>
                  <a:avLst/>
                  <a:gdLst/>
                  <a:ahLst/>
                  <a:cxnLst>
                    <a:cxn ang="0">
                      <a:pos x="116" y="9"/>
                    </a:cxn>
                    <a:cxn ang="0">
                      <a:pos x="70" y="120"/>
                    </a:cxn>
                    <a:cxn ang="0">
                      <a:pos x="42" y="120"/>
                    </a:cxn>
                    <a:cxn ang="0">
                      <a:pos x="0" y="5"/>
                    </a:cxn>
                    <a:cxn ang="0">
                      <a:pos x="56" y="0"/>
                    </a:cxn>
                    <a:cxn ang="0">
                      <a:pos x="116" y="9"/>
                    </a:cxn>
                  </a:cxnLst>
                  <a:rect l="0" t="0" r="r" b="b"/>
                  <a:pathLst>
                    <a:path w="117" h="121">
                      <a:moveTo>
                        <a:pt x="116" y="9"/>
                      </a:moveTo>
                      <a:lnTo>
                        <a:pt x="70" y="120"/>
                      </a:lnTo>
                      <a:lnTo>
                        <a:pt x="42" y="120"/>
                      </a:lnTo>
                      <a:lnTo>
                        <a:pt x="0" y="5"/>
                      </a:lnTo>
                      <a:lnTo>
                        <a:pt x="56" y="0"/>
                      </a:lnTo>
                      <a:lnTo>
                        <a:pt x="116" y="9"/>
                      </a:lnTo>
                    </a:path>
                  </a:pathLst>
                </a:custGeom>
                <a:solidFill>
                  <a:srgbClr val="FF0000"/>
                </a:solidFill>
                <a:ln w="12700" cap="rnd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>
                  <a:outerShdw dist="107763" dir="2700000" algn="ctr" rotWithShape="0">
                    <a:srgbClr val="1C1C1C"/>
                  </a:outerShdw>
                </a:effec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TW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333" name="Freeform 55"/>
                <p:cNvSpPr>
                  <a:spLocks/>
                </p:cNvSpPr>
                <p:nvPr/>
              </p:nvSpPr>
              <p:spPr bwMode="auto">
                <a:xfrm>
                  <a:off x="3226" y="3657"/>
                  <a:ext cx="138" cy="97"/>
                </a:xfrm>
                <a:custGeom>
                  <a:avLst/>
                  <a:gdLst/>
                  <a:ahLst/>
                  <a:cxnLst>
                    <a:cxn ang="0">
                      <a:pos x="10" y="0"/>
                    </a:cxn>
                    <a:cxn ang="0">
                      <a:pos x="139" y="39"/>
                    </a:cxn>
                    <a:cxn ang="0">
                      <a:pos x="139" y="62"/>
                    </a:cxn>
                    <a:cxn ang="0">
                      <a:pos x="6" y="97"/>
                    </a:cxn>
                    <a:cxn ang="0">
                      <a:pos x="0" y="51"/>
                    </a:cxn>
                    <a:cxn ang="0">
                      <a:pos x="10" y="0"/>
                    </a:cxn>
                  </a:cxnLst>
                  <a:rect l="0" t="0" r="r" b="b"/>
                  <a:pathLst>
                    <a:path w="140" h="98">
                      <a:moveTo>
                        <a:pt x="10" y="0"/>
                      </a:moveTo>
                      <a:lnTo>
                        <a:pt x="139" y="39"/>
                      </a:lnTo>
                      <a:lnTo>
                        <a:pt x="139" y="62"/>
                      </a:lnTo>
                      <a:lnTo>
                        <a:pt x="6" y="97"/>
                      </a:lnTo>
                      <a:lnTo>
                        <a:pt x="0" y="51"/>
                      </a:lnTo>
                      <a:lnTo>
                        <a:pt x="10" y="0"/>
                      </a:lnTo>
                    </a:path>
                  </a:pathLst>
                </a:custGeom>
                <a:solidFill>
                  <a:srgbClr val="FF0000"/>
                </a:solidFill>
                <a:ln w="12700" cap="rnd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>
                  <a:outerShdw dist="107763" dir="2700000" algn="ctr" rotWithShape="0">
                    <a:srgbClr val="1C1C1C"/>
                  </a:outerShdw>
                </a:effec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TW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334" name="Freeform 56"/>
                <p:cNvSpPr>
                  <a:spLocks/>
                </p:cNvSpPr>
                <p:nvPr/>
              </p:nvSpPr>
              <p:spPr bwMode="auto">
                <a:xfrm>
                  <a:off x="3555" y="3657"/>
                  <a:ext cx="141" cy="97"/>
                </a:xfrm>
                <a:custGeom>
                  <a:avLst/>
                  <a:gdLst/>
                  <a:ahLst/>
                  <a:cxnLst>
                    <a:cxn ang="0">
                      <a:pos x="129" y="0"/>
                    </a:cxn>
                    <a:cxn ang="0">
                      <a:pos x="0" y="39"/>
                    </a:cxn>
                    <a:cxn ang="0">
                      <a:pos x="0" y="62"/>
                    </a:cxn>
                    <a:cxn ang="0">
                      <a:pos x="133" y="97"/>
                    </a:cxn>
                    <a:cxn ang="0">
                      <a:pos x="139" y="51"/>
                    </a:cxn>
                    <a:cxn ang="0">
                      <a:pos x="129" y="0"/>
                    </a:cxn>
                  </a:cxnLst>
                  <a:rect l="0" t="0" r="r" b="b"/>
                  <a:pathLst>
                    <a:path w="140" h="98">
                      <a:moveTo>
                        <a:pt x="129" y="0"/>
                      </a:moveTo>
                      <a:lnTo>
                        <a:pt x="0" y="39"/>
                      </a:lnTo>
                      <a:lnTo>
                        <a:pt x="0" y="62"/>
                      </a:lnTo>
                      <a:lnTo>
                        <a:pt x="133" y="97"/>
                      </a:lnTo>
                      <a:lnTo>
                        <a:pt x="139" y="51"/>
                      </a:lnTo>
                      <a:lnTo>
                        <a:pt x="129" y="0"/>
                      </a:lnTo>
                    </a:path>
                  </a:pathLst>
                </a:custGeom>
                <a:solidFill>
                  <a:srgbClr val="FF0000"/>
                </a:solidFill>
                <a:ln w="12700" cap="rnd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>
                  <a:outerShdw dist="107763" dir="2700000" algn="ctr" rotWithShape="0">
                    <a:srgbClr val="1C1C1C"/>
                  </a:outerShdw>
                </a:effectLst>
              </p:spPr>
              <p:txBody>
                <a:bodyPr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TW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335" name="Oval 57"/>
                <p:cNvSpPr>
                  <a:spLocks noChangeArrowheads="1"/>
                </p:cNvSpPr>
                <p:nvPr/>
              </p:nvSpPr>
              <p:spPr bwMode="auto">
                <a:xfrm>
                  <a:off x="3238" y="3503"/>
                  <a:ext cx="458" cy="397"/>
                </a:xfrm>
                <a:prstGeom prst="ellipse">
                  <a:avLst/>
                </a:prstGeom>
                <a:noFill/>
                <a:ln w="25400">
                  <a:solidFill>
                    <a:srgbClr val="FFFFFF"/>
                  </a:solidFill>
                  <a:round/>
                  <a:headEnd/>
                  <a:tailEnd/>
                </a:ln>
                <a:effectLst>
                  <a:outerShdw dist="107763" dir="2700000" algn="ctr" rotWithShape="0">
                    <a:srgbClr val="1C1C1C"/>
                  </a:outerShdw>
                </a:effectLst>
              </p:spPr>
              <p:txBody>
                <a:bodyPr wrap="none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TW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grpSp>
              <p:nvGrpSpPr>
                <p:cNvPr id="336" name="Group 58"/>
                <p:cNvGrpSpPr>
                  <a:grpSpLocks/>
                </p:cNvGrpSpPr>
                <p:nvPr/>
              </p:nvGrpSpPr>
              <p:grpSpPr bwMode="auto">
                <a:xfrm>
                  <a:off x="3381" y="3630"/>
                  <a:ext cx="170" cy="145"/>
                  <a:chOff x="3381" y="3630"/>
                  <a:chExt cx="170" cy="145"/>
                </a:xfrm>
              </p:grpSpPr>
              <p:sp>
                <p:nvSpPr>
                  <p:cNvPr id="337" name="Oval 59"/>
                  <p:cNvSpPr>
                    <a:spLocks noChangeArrowheads="1"/>
                  </p:cNvSpPr>
                  <p:nvPr/>
                </p:nvSpPr>
                <p:spPr bwMode="auto">
                  <a:xfrm>
                    <a:off x="3381" y="3630"/>
                    <a:ext cx="170" cy="145"/>
                  </a:xfrm>
                  <a:prstGeom prst="ellipse">
                    <a:avLst/>
                  </a:prstGeom>
                  <a:solidFill>
                    <a:srgbClr val="000000"/>
                  </a:solidFill>
                  <a:ln w="25400">
                    <a:solidFill>
                      <a:srgbClr val="FFFFFF"/>
                    </a:solidFill>
                    <a:round/>
                    <a:headEnd/>
                    <a:tailEnd/>
                  </a:ln>
                  <a:effectLst>
                    <a:outerShdw dist="107763" dir="2700000" algn="ctr" rotWithShape="0">
                      <a:srgbClr val="1C1C1C"/>
                    </a:outerShdw>
                  </a:effectLst>
                </p:spPr>
                <p:txBody>
                  <a:bodyPr wrap="none" anchor="ctr"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TW" alt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338" name="Oval 60"/>
                  <p:cNvSpPr>
                    <a:spLocks noChangeArrowheads="1"/>
                  </p:cNvSpPr>
                  <p:nvPr/>
                </p:nvSpPr>
                <p:spPr bwMode="auto">
                  <a:xfrm>
                    <a:off x="3422" y="3661"/>
                    <a:ext cx="92" cy="81"/>
                  </a:xfrm>
                  <a:prstGeom prst="ellipse">
                    <a:avLst/>
                  </a:prstGeom>
                  <a:solidFill>
                    <a:srgbClr val="000000"/>
                  </a:solidFill>
                  <a:ln w="25400">
                    <a:solidFill>
                      <a:srgbClr val="FFFFFF"/>
                    </a:solidFill>
                    <a:round/>
                    <a:headEnd/>
                    <a:tailEnd/>
                  </a:ln>
                  <a:effectLst>
                    <a:outerShdw dist="107763" dir="2700000" algn="ctr" rotWithShape="0">
                      <a:srgbClr val="1C1C1C"/>
                    </a:outerShdw>
                  </a:effectLst>
                </p:spPr>
                <p:txBody>
                  <a:bodyPr wrap="none" anchor="ctr"/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TW" alt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</a:endParaRPr>
                  </a:p>
                </p:txBody>
              </p:sp>
            </p:grpSp>
          </p:grpSp>
        </p:grpSp>
        <p:sp>
          <p:nvSpPr>
            <p:cNvPr id="382" name="Rectangle 61"/>
            <p:cNvSpPr>
              <a:spLocks noChangeArrowheads="1"/>
            </p:cNvSpPr>
            <p:nvPr/>
          </p:nvSpPr>
          <p:spPr bwMode="auto">
            <a:xfrm>
              <a:off x="164655" y="4373959"/>
              <a:ext cx="1831832" cy="477721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0" tIns="44446" rIns="90480" bIns="44446">
              <a:spAutoFit/>
            </a:bodyPr>
            <a:lstStyle/>
            <a:p>
              <a:pPr algn="l" eaLnBrk="0" hangingPunct="0"/>
              <a:r>
                <a:rPr lang="en-US" altLang="zh-TW" sz="2400" dirty="0"/>
                <a:t>Life Sciences</a:t>
              </a:r>
            </a:p>
          </p:txBody>
        </p:sp>
        <p:sp>
          <p:nvSpPr>
            <p:cNvPr id="383" name="Rectangle 62"/>
            <p:cNvSpPr>
              <a:spLocks noChangeArrowheads="1"/>
            </p:cNvSpPr>
            <p:nvPr/>
          </p:nvSpPr>
          <p:spPr bwMode="auto">
            <a:xfrm>
              <a:off x="107504" y="6356429"/>
              <a:ext cx="2211387" cy="477721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90480" tIns="44446" rIns="90480" bIns="44446">
              <a:spAutoFit/>
            </a:bodyPr>
            <a:lstStyle/>
            <a:p>
              <a:pPr algn="l" eaLnBrk="0" hangingPunct="0"/>
              <a:r>
                <a:rPr lang="en-US" altLang="zh-TW" sz="2400" dirty="0"/>
                <a:t>CAD/CAM</a:t>
              </a:r>
            </a:p>
          </p:txBody>
        </p:sp>
        <p:sp>
          <p:nvSpPr>
            <p:cNvPr id="384" name="Rectangle 63"/>
            <p:cNvSpPr>
              <a:spLocks noChangeArrowheads="1"/>
            </p:cNvSpPr>
            <p:nvPr/>
          </p:nvSpPr>
          <p:spPr bwMode="auto">
            <a:xfrm>
              <a:off x="3326954" y="3916759"/>
              <a:ext cx="1558478" cy="477721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0" tIns="44446" rIns="90480" bIns="44446">
              <a:spAutoFit/>
            </a:bodyPr>
            <a:lstStyle/>
            <a:p>
              <a:pPr algn="l" eaLnBrk="0" hangingPunct="0"/>
              <a:r>
                <a:rPr lang="en-US" altLang="zh-TW" sz="2400" dirty="0"/>
                <a:t>Aerospace</a:t>
              </a:r>
            </a:p>
          </p:txBody>
        </p:sp>
        <p:sp>
          <p:nvSpPr>
            <p:cNvPr id="385" name="Rectangle 64"/>
            <p:cNvSpPr>
              <a:spLocks noChangeArrowheads="1"/>
            </p:cNvSpPr>
            <p:nvPr/>
          </p:nvSpPr>
          <p:spPr bwMode="auto">
            <a:xfrm>
              <a:off x="5578029" y="2954734"/>
              <a:ext cx="1682750" cy="1819275"/>
            </a:xfrm>
            <a:prstGeom prst="rect">
              <a:avLst/>
            </a:prstGeom>
            <a:gradFill rotWithShape="0">
              <a:gsLst>
                <a:gs pos="0">
                  <a:srgbClr val="C0FEF9"/>
                </a:gs>
                <a:gs pos="100000">
                  <a:srgbClr val="C0FEF9">
                    <a:gamma/>
                    <a:shade val="29804"/>
                    <a:invGamma/>
                  </a:srgbClr>
                </a:gs>
              </a:gsLst>
              <a:path path="rect">
                <a:fillToRect r="100000" b="100000"/>
              </a:path>
            </a:gradFill>
            <a:ln w="12700">
              <a:solidFill>
                <a:srgbClr val="FFFFFF"/>
              </a:solidFill>
              <a:miter lim="800000"/>
              <a:headEnd/>
              <a:tailEnd/>
            </a:ln>
            <a:effectLst>
              <a:outerShdw dist="107763" dir="2700000" algn="ctr" rotWithShape="0">
                <a:srgbClr val="1C1C1C"/>
              </a:outerShdw>
            </a:effectLst>
          </p:spPr>
          <p:txBody>
            <a:bodyPr wrap="none" lIns="93067" tIns="45717" rIns="93067" bIns="45717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grpSp>
          <p:nvGrpSpPr>
            <p:cNvPr id="386" name="Group 65"/>
            <p:cNvGrpSpPr>
              <a:grpSpLocks/>
            </p:cNvGrpSpPr>
            <p:nvPr/>
          </p:nvGrpSpPr>
          <p:grpSpPr bwMode="auto">
            <a:xfrm>
              <a:off x="5578029" y="2389584"/>
              <a:ext cx="1597025" cy="1766888"/>
              <a:chOff x="3606" y="1792"/>
              <a:chExt cx="1006" cy="1113"/>
            </a:xfrm>
          </p:grpSpPr>
          <p:grpSp>
            <p:nvGrpSpPr>
              <p:cNvPr id="387" name="Group 66"/>
              <p:cNvGrpSpPr>
                <a:grpSpLocks/>
              </p:cNvGrpSpPr>
              <p:nvPr/>
            </p:nvGrpSpPr>
            <p:grpSpPr bwMode="auto">
              <a:xfrm>
                <a:off x="3739" y="1792"/>
                <a:ext cx="873" cy="1113"/>
                <a:chOff x="3739" y="1792"/>
                <a:chExt cx="873" cy="1113"/>
              </a:xfrm>
            </p:grpSpPr>
            <p:sp>
              <p:nvSpPr>
                <p:cNvPr id="409" name="Freeform 67"/>
                <p:cNvSpPr>
                  <a:spLocks/>
                </p:cNvSpPr>
                <p:nvPr/>
              </p:nvSpPr>
              <p:spPr bwMode="auto">
                <a:xfrm>
                  <a:off x="3739" y="1827"/>
                  <a:ext cx="873" cy="999"/>
                </a:xfrm>
                <a:custGeom>
                  <a:avLst/>
                  <a:gdLst/>
                  <a:ahLst/>
                  <a:cxnLst>
                    <a:cxn ang="0">
                      <a:pos x="546" y="19"/>
                    </a:cxn>
                    <a:cxn ang="0">
                      <a:pos x="646" y="73"/>
                    </a:cxn>
                    <a:cxn ang="0">
                      <a:pos x="731" y="145"/>
                    </a:cxn>
                    <a:cxn ang="0">
                      <a:pos x="798" y="231"/>
                    </a:cxn>
                    <a:cxn ang="0">
                      <a:pos x="845" y="328"/>
                    </a:cxn>
                    <a:cxn ang="0">
                      <a:pos x="869" y="432"/>
                    </a:cxn>
                    <a:cxn ang="0">
                      <a:pos x="869" y="540"/>
                    </a:cxn>
                    <a:cxn ang="0">
                      <a:pos x="845" y="645"/>
                    </a:cxn>
                    <a:cxn ang="0">
                      <a:pos x="798" y="742"/>
                    </a:cxn>
                    <a:cxn ang="0">
                      <a:pos x="731" y="828"/>
                    </a:cxn>
                    <a:cxn ang="0">
                      <a:pos x="646" y="901"/>
                    </a:cxn>
                    <a:cxn ang="0">
                      <a:pos x="546" y="954"/>
                    </a:cxn>
                    <a:cxn ang="0">
                      <a:pos x="437" y="987"/>
                    </a:cxn>
                    <a:cxn ang="0">
                      <a:pos x="323" y="998"/>
                    </a:cxn>
                    <a:cxn ang="0">
                      <a:pos x="208" y="987"/>
                    </a:cxn>
                    <a:cxn ang="0">
                      <a:pos x="100" y="954"/>
                    </a:cxn>
                    <a:cxn ang="0">
                      <a:pos x="0" y="901"/>
                    </a:cxn>
                    <a:cxn ang="0">
                      <a:pos x="76" y="886"/>
                    </a:cxn>
                    <a:cxn ang="0">
                      <a:pos x="170" y="925"/>
                    </a:cxn>
                    <a:cxn ang="0">
                      <a:pos x="270" y="945"/>
                    </a:cxn>
                    <a:cxn ang="0">
                      <a:pos x="374" y="945"/>
                    </a:cxn>
                    <a:cxn ang="0">
                      <a:pos x="476" y="925"/>
                    </a:cxn>
                    <a:cxn ang="0">
                      <a:pos x="571" y="886"/>
                    </a:cxn>
                    <a:cxn ang="0">
                      <a:pos x="654" y="830"/>
                    </a:cxn>
                    <a:cxn ang="0">
                      <a:pos x="723" y="758"/>
                    </a:cxn>
                    <a:cxn ang="0">
                      <a:pos x="776" y="674"/>
                    </a:cxn>
                    <a:cxn ang="0">
                      <a:pos x="807" y="582"/>
                    </a:cxn>
                    <a:cxn ang="0">
                      <a:pos x="818" y="486"/>
                    </a:cxn>
                    <a:cxn ang="0">
                      <a:pos x="807" y="390"/>
                    </a:cxn>
                    <a:cxn ang="0">
                      <a:pos x="776" y="299"/>
                    </a:cxn>
                    <a:cxn ang="0">
                      <a:pos x="723" y="215"/>
                    </a:cxn>
                    <a:cxn ang="0">
                      <a:pos x="654" y="143"/>
                    </a:cxn>
                    <a:cxn ang="0">
                      <a:pos x="571" y="87"/>
                    </a:cxn>
                    <a:cxn ang="0">
                      <a:pos x="476" y="48"/>
                    </a:cxn>
                    <a:cxn ang="0">
                      <a:pos x="492" y="0"/>
                    </a:cxn>
                  </a:cxnLst>
                  <a:rect l="0" t="0" r="r" b="b"/>
                  <a:pathLst>
                    <a:path w="873" h="999">
                      <a:moveTo>
                        <a:pt x="492" y="0"/>
                      </a:moveTo>
                      <a:lnTo>
                        <a:pt x="546" y="19"/>
                      </a:lnTo>
                      <a:lnTo>
                        <a:pt x="598" y="44"/>
                      </a:lnTo>
                      <a:lnTo>
                        <a:pt x="646" y="73"/>
                      </a:lnTo>
                      <a:lnTo>
                        <a:pt x="691" y="106"/>
                      </a:lnTo>
                      <a:lnTo>
                        <a:pt x="731" y="145"/>
                      </a:lnTo>
                      <a:lnTo>
                        <a:pt x="767" y="186"/>
                      </a:lnTo>
                      <a:lnTo>
                        <a:pt x="798" y="231"/>
                      </a:lnTo>
                      <a:lnTo>
                        <a:pt x="825" y="278"/>
                      </a:lnTo>
                      <a:lnTo>
                        <a:pt x="845" y="328"/>
                      </a:lnTo>
                      <a:lnTo>
                        <a:pt x="860" y="380"/>
                      </a:lnTo>
                      <a:lnTo>
                        <a:pt x="869" y="432"/>
                      </a:lnTo>
                      <a:lnTo>
                        <a:pt x="872" y="486"/>
                      </a:lnTo>
                      <a:lnTo>
                        <a:pt x="869" y="540"/>
                      </a:lnTo>
                      <a:lnTo>
                        <a:pt x="860" y="593"/>
                      </a:lnTo>
                      <a:lnTo>
                        <a:pt x="845" y="645"/>
                      </a:lnTo>
                      <a:lnTo>
                        <a:pt x="825" y="694"/>
                      </a:lnTo>
                      <a:lnTo>
                        <a:pt x="798" y="742"/>
                      </a:lnTo>
                      <a:lnTo>
                        <a:pt x="767" y="787"/>
                      </a:lnTo>
                      <a:lnTo>
                        <a:pt x="731" y="828"/>
                      </a:lnTo>
                      <a:lnTo>
                        <a:pt x="691" y="867"/>
                      </a:lnTo>
                      <a:lnTo>
                        <a:pt x="646" y="901"/>
                      </a:lnTo>
                      <a:lnTo>
                        <a:pt x="598" y="929"/>
                      </a:lnTo>
                      <a:lnTo>
                        <a:pt x="546" y="954"/>
                      </a:lnTo>
                      <a:lnTo>
                        <a:pt x="492" y="973"/>
                      </a:lnTo>
                      <a:lnTo>
                        <a:pt x="437" y="987"/>
                      </a:lnTo>
                      <a:lnTo>
                        <a:pt x="380" y="995"/>
                      </a:lnTo>
                      <a:lnTo>
                        <a:pt x="323" y="998"/>
                      </a:lnTo>
                      <a:lnTo>
                        <a:pt x="265" y="995"/>
                      </a:lnTo>
                      <a:lnTo>
                        <a:pt x="208" y="987"/>
                      </a:lnTo>
                      <a:lnTo>
                        <a:pt x="153" y="973"/>
                      </a:lnTo>
                      <a:lnTo>
                        <a:pt x="100" y="954"/>
                      </a:lnTo>
                      <a:lnTo>
                        <a:pt x="49" y="929"/>
                      </a:lnTo>
                      <a:lnTo>
                        <a:pt x="0" y="901"/>
                      </a:lnTo>
                      <a:lnTo>
                        <a:pt x="31" y="860"/>
                      </a:lnTo>
                      <a:lnTo>
                        <a:pt x="76" y="886"/>
                      </a:lnTo>
                      <a:lnTo>
                        <a:pt x="122" y="908"/>
                      </a:lnTo>
                      <a:lnTo>
                        <a:pt x="170" y="925"/>
                      </a:lnTo>
                      <a:lnTo>
                        <a:pt x="220" y="938"/>
                      </a:lnTo>
                      <a:lnTo>
                        <a:pt x="270" y="945"/>
                      </a:lnTo>
                      <a:lnTo>
                        <a:pt x="323" y="948"/>
                      </a:lnTo>
                      <a:lnTo>
                        <a:pt x="374" y="945"/>
                      </a:lnTo>
                      <a:lnTo>
                        <a:pt x="426" y="938"/>
                      </a:lnTo>
                      <a:lnTo>
                        <a:pt x="476" y="925"/>
                      </a:lnTo>
                      <a:lnTo>
                        <a:pt x="525" y="908"/>
                      </a:lnTo>
                      <a:lnTo>
                        <a:pt x="571" y="886"/>
                      </a:lnTo>
                      <a:lnTo>
                        <a:pt x="614" y="860"/>
                      </a:lnTo>
                      <a:lnTo>
                        <a:pt x="654" y="830"/>
                      </a:lnTo>
                      <a:lnTo>
                        <a:pt x="691" y="796"/>
                      </a:lnTo>
                      <a:lnTo>
                        <a:pt x="723" y="758"/>
                      </a:lnTo>
                      <a:lnTo>
                        <a:pt x="752" y="716"/>
                      </a:lnTo>
                      <a:lnTo>
                        <a:pt x="776" y="674"/>
                      </a:lnTo>
                      <a:lnTo>
                        <a:pt x="795" y="630"/>
                      </a:lnTo>
                      <a:lnTo>
                        <a:pt x="807" y="582"/>
                      </a:lnTo>
                      <a:lnTo>
                        <a:pt x="815" y="534"/>
                      </a:lnTo>
                      <a:lnTo>
                        <a:pt x="818" y="486"/>
                      </a:lnTo>
                      <a:lnTo>
                        <a:pt x="815" y="437"/>
                      </a:lnTo>
                      <a:lnTo>
                        <a:pt x="807" y="390"/>
                      </a:lnTo>
                      <a:lnTo>
                        <a:pt x="795" y="343"/>
                      </a:lnTo>
                      <a:lnTo>
                        <a:pt x="776" y="299"/>
                      </a:lnTo>
                      <a:lnTo>
                        <a:pt x="752" y="255"/>
                      </a:lnTo>
                      <a:lnTo>
                        <a:pt x="723" y="215"/>
                      </a:lnTo>
                      <a:lnTo>
                        <a:pt x="691" y="177"/>
                      </a:lnTo>
                      <a:lnTo>
                        <a:pt x="654" y="143"/>
                      </a:lnTo>
                      <a:lnTo>
                        <a:pt x="614" y="113"/>
                      </a:lnTo>
                      <a:lnTo>
                        <a:pt x="571" y="87"/>
                      </a:lnTo>
                      <a:lnTo>
                        <a:pt x="525" y="64"/>
                      </a:lnTo>
                      <a:lnTo>
                        <a:pt x="476" y="48"/>
                      </a:lnTo>
                      <a:lnTo>
                        <a:pt x="477" y="44"/>
                      </a:lnTo>
                      <a:lnTo>
                        <a:pt x="492" y="0"/>
                      </a:lnTo>
                    </a:path>
                  </a:pathLst>
                </a:custGeom>
                <a:gradFill rotWithShape="0">
                  <a:gsLst>
                    <a:gs pos="0">
                      <a:srgbClr val="F6BF69">
                        <a:gamma/>
                        <a:tint val="50196"/>
                        <a:invGamma/>
                      </a:srgbClr>
                    </a:gs>
                    <a:gs pos="100000">
                      <a:srgbClr val="F6BF69"/>
                    </a:gs>
                  </a:gsLst>
                  <a:lin ang="5400000" scaled="1"/>
                </a:gradFill>
                <a:ln w="76200" cap="rnd" cmpd="sng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>
                  <a:outerShdw dist="107763" dir="2700000" algn="ctr" rotWithShape="0">
                    <a:srgbClr val="1C1C1C"/>
                  </a:outerShdw>
                </a:effectLst>
              </p:spPr>
              <p:txBody>
                <a:bodyPr wrap="none" lIns="93067" tIns="45717" rIns="93067" bIns="45717">
                  <a:sp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TW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410" name="Line 68"/>
                <p:cNvSpPr>
                  <a:spLocks noChangeShapeType="1"/>
                </p:cNvSpPr>
                <p:nvPr/>
              </p:nvSpPr>
              <p:spPr bwMode="auto">
                <a:xfrm flipV="1">
                  <a:off x="3767" y="2661"/>
                  <a:ext cx="72" cy="162"/>
                </a:xfrm>
                <a:prstGeom prst="line">
                  <a:avLst/>
                </a:prstGeom>
                <a:noFill/>
                <a:ln w="25400">
                  <a:solidFill>
                    <a:srgbClr val="333399"/>
                  </a:solidFill>
                  <a:round/>
                  <a:headEnd/>
                  <a:tailEnd/>
                </a:ln>
                <a:effectLst>
                  <a:outerShdw dist="107763" dir="2700000" algn="ctr" rotWithShape="0">
                    <a:srgbClr val="1C1C1C"/>
                  </a:outerShdw>
                </a:effectLst>
              </p:spPr>
              <p:txBody>
                <a:bodyPr wrap="none" lIns="93067" tIns="45717" rIns="93067" bIns="45717">
                  <a:sp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TW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411" name="Line 69"/>
                <p:cNvSpPr>
                  <a:spLocks noChangeShapeType="1"/>
                </p:cNvSpPr>
                <p:nvPr/>
              </p:nvSpPr>
              <p:spPr bwMode="auto">
                <a:xfrm flipV="1">
                  <a:off x="4256" y="1886"/>
                  <a:ext cx="8" cy="62"/>
                </a:xfrm>
                <a:prstGeom prst="line">
                  <a:avLst/>
                </a:prstGeom>
                <a:noFill/>
                <a:ln w="25400">
                  <a:solidFill>
                    <a:srgbClr val="3333CC"/>
                  </a:solidFill>
                  <a:round/>
                  <a:headEnd/>
                  <a:tailEnd/>
                </a:ln>
                <a:effectLst>
                  <a:outerShdw dist="107763" dir="2700000" algn="ctr" rotWithShape="0">
                    <a:srgbClr val="1C1C1C"/>
                  </a:outerShdw>
                </a:effectLst>
              </p:spPr>
              <p:txBody>
                <a:bodyPr wrap="none" lIns="93067" tIns="45717" rIns="93067" bIns="45717">
                  <a:sp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TW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412" name="Freeform 70"/>
                <p:cNvSpPr>
                  <a:spLocks/>
                </p:cNvSpPr>
                <p:nvPr/>
              </p:nvSpPr>
              <p:spPr bwMode="auto">
                <a:xfrm>
                  <a:off x="3839" y="2818"/>
                  <a:ext cx="510" cy="87"/>
                </a:xfrm>
                <a:custGeom>
                  <a:avLst/>
                  <a:gdLst/>
                  <a:ahLst/>
                  <a:cxnLst>
                    <a:cxn ang="0">
                      <a:pos x="2" y="55"/>
                    </a:cxn>
                    <a:cxn ang="0">
                      <a:pos x="12" y="45"/>
                    </a:cxn>
                    <a:cxn ang="0">
                      <a:pos x="27" y="37"/>
                    </a:cxn>
                    <a:cxn ang="0">
                      <a:pos x="54" y="24"/>
                    </a:cxn>
                    <a:cxn ang="0">
                      <a:pos x="85" y="17"/>
                    </a:cxn>
                    <a:cxn ang="0">
                      <a:pos x="114" y="11"/>
                    </a:cxn>
                    <a:cxn ang="0">
                      <a:pos x="153" y="5"/>
                    </a:cxn>
                    <a:cxn ang="0">
                      <a:pos x="190" y="2"/>
                    </a:cxn>
                    <a:cxn ang="0">
                      <a:pos x="234" y="0"/>
                    </a:cxn>
                    <a:cxn ang="0">
                      <a:pos x="288" y="1"/>
                    </a:cxn>
                    <a:cxn ang="0">
                      <a:pos x="343" y="3"/>
                    </a:cxn>
                    <a:cxn ang="0">
                      <a:pos x="383" y="8"/>
                    </a:cxn>
                    <a:cxn ang="0">
                      <a:pos x="424" y="15"/>
                    </a:cxn>
                    <a:cxn ang="0">
                      <a:pos x="463" y="27"/>
                    </a:cxn>
                    <a:cxn ang="0">
                      <a:pos x="484" y="37"/>
                    </a:cxn>
                    <a:cxn ang="0">
                      <a:pos x="497" y="46"/>
                    </a:cxn>
                    <a:cxn ang="0">
                      <a:pos x="509" y="61"/>
                    </a:cxn>
                    <a:cxn ang="0">
                      <a:pos x="488" y="69"/>
                    </a:cxn>
                    <a:cxn ang="0">
                      <a:pos x="453" y="75"/>
                    </a:cxn>
                    <a:cxn ang="0">
                      <a:pos x="410" y="80"/>
                    </a:cxn>
                    <a:cxn ang="0">
                      <a:pos x="368" y="84"/>
                    </a:cxn>
                    <a:cxn ang="0">
                      <a:pos x="319" y="85"/>
                    </a:cxn>
                    <a:cxn ang="0">
                      <a:pos x="265" y="86"/>
                    </a:cxn>
                    <a:cxn ang="0">
                      <a:pos x="213" y="86"/>
                    </a:cxn>
                    <a:cxn ang="0">
                      <a:pos x="159" y="85"/>
                    </a:cxn>
                    <a:cxn ang="0">
                      <a:pos x="99" y="81"/>
                    </a:cxn>
                    <a:cxn ang="0">
                      <a:pos x="52" y="76"/>
                    </a:cxn>
                    <a:cxn ang="0">
                      <a:pos x="12" y="68"/>
                    </a:cxn>
                    <a:cxn ang="0">
                      <a:pos x="0" y="62"/>
                    </a:cxn>
                    <a:cxn ang="0">
                      <a:pos x="2" y="55"/>
                    </a:cxn>
                  </a:cxnLst>
                  <a:rect l="0" t="0" r="r" b="b"/>
                  <a:pathLst>
                    <a:path w="510" h="87">
                      <a:moveTo>
                        <a:pt x="2" y="55"/>
                      </a:moveTo>
                      <a:lnTo>
                        <a:pt x="12" y="45"/>
                      </a:lnTo>
                      <a:lnTo>
                        <a:pt x="27" y="37"/>
                      </a:lnTo>
                      <a:lnTo>
                        <a:pt x="54" y="24"/>
                      </a:lnTo>
                      <a:lnTo>
                        <a:pt x="85" y="17"/>
                      </a:lnTo>
                      <a:lnTo>
                        <a:pt x="114" y="11"/>
                      </a:lnTo>
                      <a:lnTo>
                        <a:pt x="153" y="5"/>
                      </a:lnTo>
                      <a:lnTo>
                        <a:pt x="190" y="2"/>
                      </a:lnTo>
                      <a:lnTo>
                        <a:pt x="234" y="0"/>
                      </a:lnTo>
                      <a:lnTo>
                        <a:pt x="288" y="1"/>
                      </a:lnTo>
                      <a:lnTo>
                        <a:pt x="343" y="3"/>
                      </a:lnTo>
                      <a:lnTo>
                        <a:pt x="383" y="8"/>
                      </a:lnTo>
                      <a:lnTo>
                        <a:pt x="424" y="15"/>
                      </a:lnTo>
                      <a:lnTo>
                        <a:pt x="463" y="27"/>
                      </a:lnTo>
                      <a:lnTo>
                        <a:pt x="484" y="37"/>
                      </a:lnTo>
                      <a:lnTo>
                        <a:pt x="497" y="46"/>
                      </a:lnTo>
                      <a:lnTo>
                        <a:pt x="509" y="61"/>
                      </a:lnTo>
                      <a:lnTo>
                        <a:pt x="488" y="69"/>
                      </a:lnTo>
                      <a:lnTo>
                        <a:pt x="453" y="75"/>
                      </a:lnTo>
                      <a:lnTo>
                        <a:pt x="410" y="80"/>
                      </a:lnTo>
                      <a:lnTo>
                        <a:pt x="368" y="84"/>
                      </a:lnTo>
                      <a:lnTo>
                        <a:pt x="319" y="85"/>
                      </a:lnTo>
                      <a:lnTo>
                        <a:pt x="265" y="86"/>
                      </a:lnTo>
                      <a:lnTo>
                        <a:pt x="213" y="86"/>
                      </a:lnTo>
                      <a:lnTo>
                        <a:pt x="159" y="85"/>
                      </a:lnTo>
                      <a:lnTo>
                        <a:pt x="99" y="81"/>
                      </a:lnTo>
                      <a:lnTo>
                        <a:pt x="52" y="76"/>
                      </a:lnTo>
                      <a:lnTo>
                        <a:pt x="12" y="68"/>
                      </a:lnTo>
                      <a:lnTo>
                        <a:pt x="0" y="62"/>
                      </a:lnTo>
                      <a:lnTo>
                        <a:pt x="2" y="55"/>
                      </a:lnTo>
                    </a:path>
                  </a:pathLst>
                </a:custGeom>
                <a:solidFill>
                  <a:srgbClr val="333399"/>
                </a:solidFill>
                <a:ln w="12700" cap="rnd" cmpd="sng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>
                  <a:outerShdw dist="107763" dir="2700000" algn="ctr" rotWithShape="0">
                    <a:srgbClr val="1C1C1C"/>
                  </a:outerShdw>
                </a:effectLst>
              </p:spPr>
              <p:txBody>
                <a:bodyPr wrap="none" lIns="93067" tIns="45717" rIns="93067" bIns="45717">
                  <a:sp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TW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413" name="Line 71"/>
                <p:cNvSpPr>
                  <a:spLocks noChangeShapeType="1"/>
                </p:cNvSpPr>
                <p:nvPr/>
              </p:nvSpPr>
              <p:spPr bwMode="auto">
                <a:xfrm flipV="1">
                  <a:off x="4303" y="1792"/>
                  <a:ext cx="10" cy="67"/>
                </a:xfrm>
                <a:prstGeom prst="line">
                  <a:avLst/>
                </a:prstGeom>
                <a:noFill/>
                <a:ln w="25400">
                  <a:solidFill>
                    <a:srgbClr val="3333CC"/>
                  </a:solidFill>
                  <a:round/>
                  <a:headEnd/>
                  <a:tailEnd/>
                </a:ln>
                <a:effectLst>
                  <a:outerShdw dist="107763" dir="2700000" algn="ctr" rotWithShape="0">
                    <a:srgbClr val="1C1C1C"/>
                  </a:outerShdw>
                </a:effectLst>
              </p:spPr>
              <p:txBody>
                <a:bodyPr wrap="none" lIns="93067" tIns="45717" rIns="93067" bIns="45717">
                  <a:sp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TW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</p:grpSp>
          <p:grpSp>
            <p:nvGrpSpPr>
              <p:cNvPr id="388" name="Group 72"/>
              <p:cNvGrpSpPr>
                <a:grpSpLocks/>
              </p:cNvGrpSpPr>
              <p:nvPr/>
            </p:nvGrpSpPr>
            <p:grpSpPr bwMode="auto">
              <a:xfrm>
                <a:off x="3606" y="1896"/>
                <a:ext cx="908" cy="843"/>
                <a:chOff x="3606" y="1896"/>
                <a:chExt cx="908" cy="843"/>
              </a:xfrm>
            </p:grpSpPr>
            <p:sp>
              <p:nvSpPr>
                <p:cNvPr id="389" name="Oval 73"/>
                <p:cNvSpPr>
                  <a:spLocks noChangeArrowheads="1"/>
                </p:cNvSpPr>
                <p:nvPr/>
              </p:nvSpPr>
              <p:spPr bwMode="auto">
                <a:xfrm>
                  <a:off x="3606" y="1896"/>
                  <a:ext cx="908" cy="843"/>
                </a:xfrm>
                <a:prstGeom prst="ellipse">
                  <a:avLst/>
                </a:prstGeom>
                <a:gradFill rotWithShape="0">
                  <a:gsLst>
                    <a:gs pos="0">
                      <a:srgbClr val="F6BF69">
                        <a:gamma/>
                        <a:tint val="50196"/>
                        <a:invGamma/>
                      </a:srgbClr>
                    </a:gs>
                    <a:gs pos="100000">
                      <a:srgbClr val="F6BF69"/>
                    </a:gs>
                  </a:gsLst>
                  <a:lin ang="5400000" scaled="1"/>
                </a:gradFill>
                <a:ln w="76200">
                  <a:noFill/>
                  <a:round/>
                  <a:headEnd/>
                  <a:tailEnd/>
                </a:ln>
                <a:effectLst>
                  <a:outerShdw dist="107763" dir="2700000" algn="ctr" rotWithShape="0">
                    <a:srgbClr val="1C1C1C"/>
                  </a:outerShdw>
                </a:effectLst>
              </p:spPr>
              <p:txBody>
                <a:bodyPr wrap="none" lIns="93067" tIns="45717" rIns="93067" bIns="45717">
                  <a:sp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TW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  <p:grpSp>
              <p:nvGrpSpPr>
                <p:cNvPr id="390" name="Group 74"/>
                <p:cNvGrpSpPr>
                  <a:grpSpLocks/>
                </p:cNvGrpSpPr>
                <p:nvPr/>
              </p:nvGrpSpPr>
              <p:grpSpPr bwMode="auto">
                <a:xfrm>
                  <a:off x="3606" y="1984"/>
                  <a:ext cx="845" cy="626"/>
                  <a:chOff x="3606" y="1984"/>
                  <a:chExt cx="845" cy="626"/>
                </a:xfrm>
              </p:grpSpPr>
              <p:sp>
                <p:nvSpPr>
                  <p:cNvPr id="391" name="Freeform 75"/>
                  <p:cNvSpPr>
                    <a:spLocks/>
                  </p:cNvSpPr>
                  <p:nvPr/>
                </p:nvSpPr>
                <p:spPr bwMode="auto">
                  <a:xfrm>
                    <a:off x="3725" y="2213"/>
                    <a:ext cx="1" cy="8"/>
                  </a:xfrm>
                  <a:custGeom>
                    <a:avLst/>
                    <a:gdLst/>
                    <a:ahLst/>
                    <a:cxnLst>
                      <a:cxn ang="0">
                        <a:pos x="0" y="0"/>
                      </a:cxn>
                      <a:cxn ang="0">
                        <a:pos x="0" y="7"/>
                      </a:cxn>
                      <a:cxn ang="0">
                        <a:pos x="0" y="7"/>
                      </a:cxn>
                      <a:cxn ang="0">
                        <a:pos x="0" y="3"/>
                      </a:cxn>
                      <a:cxn ang="0">
                        <a:pos x="0" y="0"/>
                      </a:cxn>
                    </a:cxnLst>
                    <a:rect l="0" t="0" r="r" b="b"/>
                    <a:pathLst>
                      <a:path w="1" h="8">
                        <a:moveTo>
                          <a:pt x="0" y="0"/>
                        </a:moveTo>
                        <a:lnTo>
                          <a:pt x="0" y="7"/>
                        </a:lnTo>
                        <a:lnTo>
                          <a:pt x="0" y="7"/>
                        </a:lnTo>
                        <a:lnTo>
                          <a:pt x="0" y="3"/>
                        </a:lnTo>
                        <a:lnTo>
                          <a:pt x="0" y="0"/>
                        </a:lnTo>
                      </a:path>
                    </a:pathLst>
                  </a:custGeom>
                  <a:solidFill>
                    <a:srgbClr val="3333CC"/>
                  </a:solidFill>
                  <a:ln w="76200" cap="rnd" cmpd="sng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>
                    <a:outerShdw dist="107763" dir="2700000" algn="ctr" rotWithShape="0">
                      <a:srgbClr val="1C1C1C"/>
                    </a:outerShdw>
                  </a:effectLst>
                </p:spPr>
                <p:txBody>
                  <a:bodyPr wrap="none" lIns="93067" tIns="45717" rIns="93067" bIns="45717">
                    <a:spAutoFit/>
                  </a:bodyPr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TW" alt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392" name="Freeform 76"/>
                  <p:cNvSpPr>
                    <a:spLocks/>
                  </p:cNvSpPr>
                  <p:nvPr/>
                </p:nvSpPr>
                <p:spPr bwMode="auto">
                  <a:xfrm>
                    <a:off x="3741" y="2230"/>
                    <a:ext cx="4" cy="5"/>
                  </a:xfrm>
                  <a:custGeom>
                    <a:avLst/>
                    <a:gdLst/>
                    <a:ahLst/>
                    <a:cxnLst>
                      <a:cxn ang="0">
                        <a:pos x="0" y="0"/>
                      </a:cxn>
                      <a:cxn ang="0">
                        <a:pos x="3" y="0"/>
                      </a:cxn>
                      <a:cxn ang="0">
                        <a:pos x="3" y="4"/>
                      </a:cxn>
                      <a:cxn ang="0">
                        <a:pos x="0" y="0"/>
                      </a:cxn>
                    </a:cxnLst>
                    <a:rect l="0" t="0" r="r" b="b"/>
                    <a:pathLst>
                      <a:path w="4" h="5">
                        <a:moveTo>
                          <a:pt x="0" y="0"/>
                        </a:moveTo>
                        <a:lnTo>
                          <a:pt x="3" y="0"/>
                        </a:lnTo>
                        <a:lnTo>
                          <a:pt x="3" y="4"/>
                        </a:lnTo>
                        <a:lnTo>
                          <a:pt x="0" y="0"/>
                        </a:lnTo>
                      </a:path>
                    </a:pathLst>
                  </a:custGeom>
                  <a:solidFill>
                    <a:srgbClr val="3333CC"/>
                  </a:solidFill>
                  <a:ln w="76200" cap="rnd" cmpd="sng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>
                    <a:outerShdw dist="107763" dir="2700000" algn="ctr" rotWithShape="0">
                      <a:srgbClr val="1C1C1C"/>
                    </a:outerShdw>
                  </a:effectLst>
                </p:spPr>
                <p:txBody>
                  <a:bodyPr wrap="none" lIns="93067" tIns="45717" rIns="93067" bIns="45717">
                    <a:spAutoFit/>
                  </a:bodyPr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TW" alt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393" name="Freeform 77"/>
                  <p:cNvSpPr>
                    <a:spLocks/>
                  </p:cNvSpPr>
                  <p:nvPr/>
                </p:nvSpPr>
                <p:spPr bwMode="auto">
                  <a:xfrm>
                    <a:off x="3788" y="2208"/>
                    <a:ext cx="32" cy="27"/>
                  </a:xfrm>
                  <a:custGeom>
                    <a:avLst/>
                    <a:gdLst/>
                    <a:ahLst/>
                    <a:cxnLst>
                      <a:cxn ang="0">
                        <a:pos x="31" y="0"/>
                      </a:cxn>
                      <a:cxn ang="0">
                        <a:pos x="19" y="0"/>
                      </a:cxn>
                      <a:cxn ang="0">
                        <a:pos x="13" y="7"/>
                      </a:cxn>
                      <a:cxn ang="0">
                        <a:pos x="8" y="7"/>
                      </a:cxn>
                      <a:cxn ang="0">
                        <a:pos x="5" y="11"/>
                      </a:cxn>
                      <a:cxn ang="0">
                        <a:pos x="0" y="11"/>
                      </a:cxn>
                      <a:cxn ang="0">
                        <a:pos x="0" y="20"/>
                      </a:cxn>
                      <a:cxn ang="0">
                        <a:pos x="7" y="26"/>
                      </a:cxn>
                      <a:cxn ang="0">
                        <a:pos x="25" y="26"/>
                      </a:cxn>
                      <a:cxn ang="0">
                        <a:pos x="31" y="20"/>
                      </a:cxn>
                      <a:cxn ang="0">
                        <a:pos x="31" y="0"/>
                      </a:cxn>
                    </a:cxnLst>
                    <a:rect l="0" t="0" r="r" b="b"/>
                    <a:pathLst>
                      <a:path w="32" h="27">
                        <a:moveTo>
                          <a:pt x="31" y="0"/>
                        </a:moveTo>
                        <a:lnTo>
                          <a:pt x="19" y="0"/>
                        </a:lnTo>
                        <a:lnTo>
                          <a:pt x="13" y="7"/>
                        </a:lnTo>
                        <a:lnTo>
                          <a:pt x="8" y="7"/>
                        </a:lnTo>
                        <a:lnTo>
                          <a:pt x="5" y="11"/>
                        </a:lnTo>
                        <a:lnTo>
                          <a:pt x="0" y="11"/>
                        </a:lnTo>
                        <a:lnTo>
                          <a:pt x="0" y="20"/>
                        </a:lnTo>
                        <a:lnTo>
                          <a:pt x="7" y="26"/>
                        </a:lnTo>
                        <a:lnTo>
                          <a:pt x="25" y="26"/>
                        </a:lnTo>
                        <a:lnTo>
                          <a:pt x="31" y="20"/>
                        </a:lnTo>
                        <a:lnTo>
                          <a:pt x="31" y="0"/>
                        </a:lnTo>
                      </a:path>
                    </a:pathLst>
                  </a:custGeom>
                  <a:solidFill>
                    <a:srgbClr val="3333CC"/>
                  </a:solidFill>
                  <a:ln w="76200" cap="rnd" cmpd="sng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>
                    <a:outerShdw dist="107763" dir="2700000" algn="ctr" rotWithShape="0">
                      <a:srgbClr val="1C1C1C"/>
                    </a:outerShdw>
                  </a:effectLst>
                </p:spPr>
                <p:txBody>
                  <a:bodyPr wrap="none" lIns="93067" tIns="45717" rIns="93067" bIns="45717">
                    <a:spAutoFit/>
                  </a:bodyPr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TW" alt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394" name="Freeform 78"/>
                  <p:cNvSpPr>
                    <a:spLocks/>
                  </p:cNvSpPr>
                  <p:nvPr/>
                </p:nvSpPr>
                <p:spPr bwMode="auto">
                  <a:xfrm>
                    <a:off x="3606" y="2229"/>
                    <a:ext cx="273" cy="331"/>
                  </a:xfrm>
                  <a:custGeom>
                    <a:avLst/>
                    <a:gdLst/>
                    <a:ahLst/>
                    <a:cxnLst>
                      <a:cxn ang="0">
                        <a:pos x="65" y="0"/>
                      </a:cxn>
                      <a:cxn ang="0">
                        <a:pos x="60" y="9"/>
                      </a:cxn>
                      <a:cxn ang="0">
                        <a:pos x="39" y="26"/>
                      </a:cxn>
                      <a:cxn ang="0">
                        <a:pos x="34" y="43"/>
                      </a:cxn>
                      <a:cxn ang="0">
                        <a:pos x="18" y="54"/>
                      </a:cxn>
                      <a:cxn ang="0">
                        <a:pos x="7" y="76"/>
                      </a:cxn>
                      <a:cxn ang="0">
                        <a:pos x="7" y="89"/>
                      </a:cxn>
                      <a:cxn ang="0">
                        <a:pos x="0" y="113"/>
                      </a:cxn>
                      <a:cxn ang="0">
                        <a:pos x="10" y="123"/>
                      </a:cxn>
                      <a:cxn ang="0">
                        <a:pos x="34" y="153"/>
                      </a:cxn>
                      <a:cxn ang="0">
                        <a:pos x="41" y="149"/>
                      </a:cxn>
                      <a:cxn ang="0">
                        <a:pos x="84" y="149"/>
                      </a:cxn>
                      <a:cxn ang="0">
                        <a:pos x="104" y="157"/>
                      </a:cxn>
                      <a:cxn ang="0">
                        <a:pos x="102" y="180"/>
                      </a:cxn>
                      <a:cxn ang="0">
                        <a:pos x="117" y="211"/>
                      </a:cxn>
                      <a:cxn ang="0">
                        <a:pos x="116" y="219"/>
                      </a:cxn>
                      <a:cxn ang="0">
                        <a:pos x="122" y="229"/>
                      </a:cxn>
                      <a:cxn ang="0">
                        <a:pos x="113" y="251"/>
                      </a:cxn>
                      <a:cxn ang="0">
                        <a:pos x="123" y="278"/>
                      </a:cxn>
                      <a:cxn ang="0">
                        <a:pos x="129" y="300"/>
                      </a:cxn>
                      <a:cxn ang="0">
                        <a:pos x="137" y="313"/>
                      </a:cxn>
                      <a:cxn ang="0">
                        <a:pos x="144" y="330"/>
                      </a:cxn>
                      <a:cxn ang="0">
                        <a:pos x="159" y="328"/>
                      </a:cxn>
                      <a:cxn ang="0">
                        <a:pos x="183" y="315"/>
                      </a:cxn>
                      <a:cxn ang="0">
                        <a:pos x="194" y="300"/>
                      </a:cxn>
                      <a:cxn ang="0">
                        <a:pos x="193" y="290"/>
                      </a:cxn>
                      <a:cxn ang="0">
                        <a:pos x="207" y="281"/>
                      </a:cxn>
                      <a:cxn ang="0">
                        <a:pos x="204" y="267"/>
                      </a:cxn>
                      <a:cxn ang="0">
                        <a:pos x="225" y="243"/>
                      </a:cxn>
                      <a:cxn ang="0">
                        <a:pos x="228" y="224"/>
                      </a:cxn>
                      <a:cxn ang="0">
                        <a:pos x="223" y="218"/>
                      </a:cxn>
                      <a:cxn ang="0">
                        <a:pos x="225" y="210"/>
                      </a:cxn>
                      <a:cxn ang="0">
                        <a:pos x="220" y="202"/>
                      </a:cxn>
                      <a:cxn ang="0">
                        <a:pos x="236" y="184"/>
                      </a:cxn>
                      <a:cxn ang="0">
                        <a:pos x="236" y="175"/>
                      </a:cxn>
                      <a:cxn ang="0">
                        <a:pos x="258" y="159"/>
                      </a:cxn>
                      <a:cxn ang="0">
                        <a:pos x="272" y="116"/>
                      </a:cxn>
                      <a:cxn ang="0">
                        <a:pos x="252" y="128"/>
                      </a:cxn>
                      <a:cxn ang="0">
                        <a:pos x="234" y="122"/>
                      </a:cxn>
                      <a:cxn ang="0">
                        <a:pos x="237" y="112"/>
                      </a:cxn>
                      <a:cxn ang="0">
                        <a:pos x="219" y="101"/>
                      </a:cxn>
                      <a:cxn ang="0">
                        <a:pos x="211" y="74"/>
                      </a:cxn>
                      <a:cxn ang="0">
                        <a:pos x="194" y="53"/>
                      </a:cxn>
                      <a:cxn ang="0">
                        <a:pos x="194" y="37"/>
                      </a:cxn>
                      <a:cxn ang="0">
                        <a:pos x="185" y="36"/>
                      </a:cxn>
                      <a:cxn ang="0">
                        <a:pos x="179" y="39"/>
                      </a:cxn>
                      <a:cxn ang="0">
                        <a:pos x="153" y="30"/>
                      </a:cxn>
                      <a:cxn ang="0">
                        <a:pos x="147" y="36"/>
                      </a:cxn>
                      <a:cxn ang="0">
                        <a:pos x="141" y="44"/>
                      </a:cxn>
                      <a:cxn ang="0">
                        <a:pos x="128" y="30"/>
                      </a:cxn>
                      <a:cxn ang="0">
                        <a:pos x="114" y="26"/>
                      </a:cxn>
                      <a:cxn ang="0">
                        <a:pos x="113" y="8"/>
                      </a:cxn>
                      <a:cxn ang="0">
                        <a:pos x="93" y="11"/>
                      </a:cxn>
                      <a:cxn ang="0">
                        <a:pos x="81" y="7"/>
                      </a:cxn>
                      <a:cxn ang="0">
                        <a:pos x="65" y="0"/>
                      </a:cxn>
                    </a:cxnLst>
                    <a:rect l="0" t="0" r="r" b="b"/>
                    <a:pathLst>
                      <a:path w="273" h="331">
                        <a:moveTo>
                          <a:pt x="65" y="0"/>
                        </a:moveTo>
                        <a:lnTo>
                          <a:pt x="60" y="9"/>
                        </a:lnTo>
                        <a:lnTo>
                          <a:pt x="39" y="26"/>
                        </a:lnTo>
                        <a:lnTo>
                          <a:pt x="34" y="43"/>
                        </a:lnTo>
                        <a:lnTo>
                          <a:pt x="18" y="54"/>
                        </a:lnTo>
                        <a:lnTo>
                          <a:pt x="7" y="76"/>
                        </a:lnTo>
                        <a:lnTo>
                          <a:pt x="7" y="89"/>
                        </a:lnTo>
                        <a:lnTo>
                          <a:pt x="0" y="113"/>
                        </a:lnTo>
                        <a:lnTo>
                          <a:pt x="10" y="123"/>
                        </a:lnTo>
                        <a:lnTo>
                          <a:pt x="34" y="153"/>
                        </a:lnTo>
                        <a:lnTo>
                          <a:pt x="41" y="149"/>
                        </a:lnTo>
                        <a:lnTo>
                          <a:pt x="84" y="149"/>
                        </a:lnTo>
                        <a:lnTo>
                          <a:pt x="104" y="157"/>
                        </a:lnTo>
                        <a:lnTo>
                          <a:pt x="102" y="180"/>
                        </a:lnTo>
                        <a:lnTo>
                          <a:pt x="117" y="211"/>
                        </a:lnTo>
                        <a:lnTo>
                          <a:pt x="116" y="219"/>
                        </a:lnTo>
                        <a:lnTo>
                          <a:pt x="122" y="229"/>
                        </a:lnTo>
                        <a:lnTo>
                          <a:pt x="113" y="251"/>
                        </a:lnTo>
                        <a:lnTo>
                          <a:pt x="123" y="278"/>
                        </a:lnTo>
                        <a:lnTo>
                          <a:pt x="129" y="300"/>
                        </a:lnTo>
                        <a:lnTo>
                          <a:pt x="137" y="313"/>
                        </a:lnTo>
                        <a:lnTo>
                          <a:pt x="144" y="330"/>
                        </a:lnTo>
                        <a:lnTo>
                          <a:pt x="159" y="328"/>
                        </a:lnTo>
                        <a:lnTo>
                          <a:pt x="183" y="315"/>
                        </a:lnTo>
                        <a:lnTo>
                          <a:pt x="194" y="300"/>
                        </a:lnTo>
                        <a:lnTo>
                          <a:pt x="193" y="290"/>
                        </a:lnTo>
                        <a:lnTo>
                          <a:pt x="207" y="281"/>
                        </a:lnTo>
                        <a:lnTo>
                          <a:pt x="204" y="267"/>
                        </a:lnTo>
                        <a:lnTo>
                          <a:pt x="225" y="243"/>
                        </a:lnTo>
                        <a:lnTo>
                          <a:pt x="228" y="224"/>
                        </a:lnTo>
                        <a:lnTo>
                          <a:pt x="223" y="218"/>
                        </a:lnTo>
                        <a:lnTo>
                          <a:pt x="225" y="210"/>
                        </a:lnTo>
                        <a:lnTo>
                          <a:pt x="220" y="202"/>
                        </a:lnTo>
                        <a:lnTo>
                          <a:pt x="236" y="184"/>
                        </a:lnTo>
                        <a:lnTo>
                          <a:pt x="236" y="175"/>
                        </a:lnTo>
                        <a:lnTo>
                          <a:pt x="258" y="159"/>
                        </a:lnTo>
                        <a:lnTo>
                          <a:pt x="272" y="116"/>
                        </a:lnTo>
                        <a:lnTo>
                          <a:pt x="252" y="128"/>
                        </a:lnTo>
                        <a:lnTo>
                          <a:pt x="234" y="122"/>
                        </a:lnTo>
                        <a:lnTo>
                          <a:pt x="237" y="112"/>
                        </a:lnTo>
                        <a:lnTo>
                          <a:pt x="219" y="101"/>
                        </a:lnTo>
                        <a:lnTo>
                          <a:pt x="211" y="74"/>
                        </a:lnTo>
                        <a:lnTo>
                          <a:pt x="194" y="53"/>
                        </a:lnTo>
                        <a:lnTo>
                          <a:pt x="194" y="37"/>
                        </a:lnTo>
                        <a:lnTo>
                          <a:pt x="185" y="36"/>
                        </a:lnTo>
                        <a:lnTo>
                          <a:pt x="179" y="39"/>
                        </a:lnTo>
                        <a:lnTo>
                          <a:pt x="153" y="30"/>
                        </a:lnTo>
                        <a:lnTo>
                          <a:pt x="147" y="36"/>
                        </a:lnTo>
                        <a:lnTo>
                          <a:pt x="141" y="44"/>
                        </a:lnTo>
                        <a:lnTo>
                          <a:pt x="128" y="30"/>
                        </a:lnTo>
                        <a:lnTo>
                          <a:pt x="114" y="26"/>
                        </a:lnTo>
                        <a:lnTo>
                          <a:pt x="113" y="8"/>
                        </a:lnTo>
                        <a:lnTo>
                          <a:pt x="93" y="11"/>
                        </a:lnTo>
                        <a:lnTo>
                          <a:pt x="81" y="7"/>
                        </a:lnTo>
                        <a:lnTo>
                          <a:pt x="65" y="0"/>
                        </a:lnTo>
                      </a:path>
                    </a:pathLst>
                  </a:custGeom>
                  <a:solidFill>
                    <a:srgbClr val="3333CC"/>
                  </a:solidFill>
                  <a:ln w="76200" cap="rnd" cmpd="sng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>
                    <a:outerShdw dist="107763" dir="2700000" algn="ctr" rotWithShape="0">
                      <a:srgbClr val="1C1C1C"/>
                    </a:outerShdw>
                  </a:effectLst>
                </p:spPr>
                <p:txBody>
                  <a:bodyPr wrap="none" lIns="93067" tIns="45717" rIns="93067" bIns="45717">
                    <a:spAutoFit/>
                  </a:bodyPr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TW" alt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395" name="Freeform 79"/>
                  <p:cNvSpPr>
                    <a:spLocks/>
                  </p:cNvSpPr>
                  <p:nvPr/>
                </p:nvSpPr>
                <p:spPr bwMode="auto">
                  <a:xfrm>
                    <a:off x="4238" y="2312"/>
                    <a:ext cx="10" cy="16"/>
                  </a:xfrm>
                  <a:custGeom>
                    <a:avLst/>
                    <a:gdLst/>
                    <a:ahLst/>
                    <a:cxnLst>
                      <a:cxn ang="0">
                        <a:pos x="4" y="0"/>
                      </a:cxn>
                      <a:cxn ang="0">
                        <a:pos x="5" y="5"/>
                      </a:cxn>
                      <a:cxn ang="0">
                        <a:pos x="4" y="8"/>
                      </a:cxn>
                      <a:cxn ang="0">
                        <a:pos x="4" y="10"/>
                      </a:cxn>
                      <a:cxn ang="0">
                        <a:pos x="9" y="13"/>
                      </a:cxn>
                      <a:cxn ang="0">
                        <a:pos x="9" y="15"/>
                      </a:cxn>
                      <a:cxn ang="0">
                        <a:pos x="5" y="13"/>
                      </a:cxn>
                      <a:cxn ang="0">
                        <a:pos x="2" y="15"/>
                      </a:cxn>
                      <a:cxn ang="0">
                        <a:pos x="0" y="13"/>
                      </a:cxn>
                      <a:cxn ang="0">
                        <a:pos x="2" y="10"/>
                      </a:cxn>
                      <a:cxn ang="0">
                        <a:pos x="0" y="8"/>
                      </a:cxn>
                      <a:cxn ang="0">
                        <a:pos x="2" y="2"/>
                      </a:cxn>
                      <a:cxn ang="0">
                        <a:pos x="4" y="0"/>
                      </a:cxn>
                    </a:cxnLst>
                    <a:rect l="0" t="0" r="r" b="b"/>
                    <a:pathLst>
                      <a:path w="10" h="16">
                        <a:moveTo>
                          <a:pt x="4" y="0"/>
                        </a:moveTo>
                        <a:lnTo>
                          <a:pt x="5" y="5"/>
                        </a:lnTo>
                        <a:lnTo>
                          <a:pt x="4" y="8"/>
                        </a:lnTo>
                        <a:lnTo>
                          <a:pt x="4" y="10"/>
                        </a:lnTo>
                        <a:lnTo>
                          <a:pt x="9" y="13"/>
                        </a:lnTo>
                        <a:lnTo>
                          <a:pt x="9" y="15"/>
                        </a:lnTo>
                        <a:lnTo>
                          <a:pt x="5" y="13"/>
                        </a:lnTo>
                        <a:lnTo>
                          <a:pt x="2" y="15"/>
                        </a:lnTo>
                        <a:lnTo>
                          <a:pt x="0" y="13"/>
                        </a:lnTo>
                        <a:lnTo>
                          <a:pt x="2" y="10"/>
                        </a:lnTo>
                        <a:lnTo>
                          <a:pt x="0" y="8"/>
                        </a:lnTo>
                        <a:lnTo>
                          <a:pt x="2" y="2"/>
                        </a:lnTo>
                        <a:lnTo>
                          <a:pt x="4" y="0"/>
                        </a:lnTo>
                      </a:path>
                    </a:pathLst>
                  </a:custGeom>
                  <a:solidFill>
                    <a:srgbClr val="3333CC"/>
                  </a:solidFill>
                  <a:ln w="76200" cap="rnd" cmpd="sng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>
                    <a:outerShdw dist="107763" dir="2700000" algn="ctr" rotWithShape="0">
                      <a:srgbClr val="1C1C1C"/>
                    </a:outerShdw>
                  </a:effectLst>
                </p:spPr>
                <p:txBody>
                  <a:bodyPr wrap="none" lIns="93067" tIns="45717" rIns="93067" bIns="45717">
                    <a:spAutoFit/>
                  </a:bodyPr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TW" alt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396" name="Freeform 80"/>
                  <p:cNvSpPr>
                    <a:spLocks/>
                  </p:cNvSpPr>
                  <p:nvPr/>
                </p:nvSpPr>
                <p:spPr bwMode="auto">
                  <a:xfrm>
                    <a:off x="4186" y="2380"/>
                    <a:ext cx="41" cy="56"/>
                  </a:xfrm>
                  <a:custGeom>
                    <a:avLst/>
                    <a:gdLst/>
                    <a:ahLst/>
                    <a:cxnLst>
                      <a:cxn ang="0">
                        <a:pos x="0" y="28"/>
                      </a:cxn>
                      <a:cxn ang="0">
                        <a:pos x="15" y="28"/>
                      </a:cxn>
                      <a:cxn ang="0">
                        <a:pos x="31" y="0"/>
                      </a:cxn>
                      <a:cxn ang="0">
                        <a:pos x="40" y="16"/>
                      </a:cxn>
                      <a:cxn ang="0">
                        <a:pos x="33" y="55"/>
                      </a:cxn>
                      <a:cxn ang="0">
                        <a:pos x="3" y="46"/>
                      </a:cxn>
                      <a:cxn ang="0">
                        <a:pos x="0" y="28"/>
                      </a:cxn>
                    </a:cxnLst>
                    <a:rect l="0" t="0" r="r" b="b"/>
                    <a:pathLst>
                      <a:path w="41" h="56">
                        <a:moveTo>
                          <a:pt x="0" y="28"/>
                        </a:moveTo>
                        <a:lnTo>
                          <a:pt x="15" y="28"/>
                        </a:lnTo>
                        <a:lnTo>
                          <a:pt x="31" y="0"/>
                        </a:lnTo>
                        <a:lnTo>
                          <a:pt x="40" y="16"/>
                        </a:lnTo>
                        <a:lnTo>
                          <a:pt x="33" y="55"/>
                        </a:lnTo>
                        <a:lnTo>
                          <a:pt x="3" y="46"/>
                        </a:lnTo>
                        <a:lnTo>
                          <a:pt x="0" y="28"/>
                        </a:lnTo>
                      </a:path>
                    </a:pathLst>
                  </a:custGeom>
                  <a:solidFill>
                    <a:srgbClr val="3333CC"/>
                  </a:solidFill>
                  <a:ln w="76200" cap="rnd" cmpd="sng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>
                    <a:outerShdw dist="107763" dir="2700000" algn="ctr" rotWithShape="0">
                      <a:srgbClr val="1C1C1C"/>
                    </a:outerShdw>
                  </a:effectLst>
                </p:spPr>
                <p:txBody>
                  <a:bodyPr wrap="none" lIns="93067" tIns="45717" rIns="93067" bIns="45717">
                    <a:spAutoFit/>
                  </a:bodyPr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TW" alt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397" name="Freeform 81"/>
                  <p:cNvSpPr>
                    <a:spLocks/>
                  </p:cNvSpPr>
                  <p:nvPr/>
                </p:nvSpPr>
                <p:spPr bwMode="auto">
                  <a:xfrm>
                    <a:off x="4268" y="2401"/>
                    <a:ext cx="71" cy="54"/>
                  </a:xfrm>
                  <a:custGeom>
                    <a:avLst/>
                    <a:gdLst/>
                    <a:ahLst/>
                    <a:cxnLst>
                      <a:cxn ang="0">
                        <a:pos x="4" y="13"/>
                      </a:cxn>
                      <a:cxn ang="0">
                        <a:pos x="0" y="0"/>
                      </a:cxn>
                      <a:cxn ang="0">
                        <a:pos x="24" y="5"/>
                      </a:cxn>
                      <a:cxn ang="0">
                        <a:pos x="57" y="18"/>
                      </a:cxn>
                      <a:cxn ang="0">
                        <a:pos x="57" y="28"/>
                      </a:cxn>
                      <a:cxn ang="0">
                        <a:pos x="70" y="53"/>
                      </a:cxn>
                      <a:cxn ang="0">
                        <a:pos x="44" y="29"/>
                      </a:cxn>
                      <a:cxn ang="0">
                        <a:pos x="27" y="31"/>
                      </a:cxn>
                      <a:cxn ang="0">
                        <a:pos x="4" y="13"/>
                      </a:cxn>
                    </a:cxnLst>
                    <a:rect l="0" t="0" r="r" b="b"/>
                    <a:pathLst>
                      <a:path w="71" h="54">
                        <a:moveTo>
                          <a:pt x="4" y="13"/>
                        </a:moveTo>
                        <a:lnTo>
                          <a:pt x="0" y="0"/>
                        </a:lnTo>
                        <a:lnTo>
                          <a:pt x="24" y="5"/>
                        </a:lnTo>
                        <a:lnTo>
                          <a:pt x="57" y="18"/>
                        </a:lnTo>
                        <a:lnTo>
                          <a:pt x="57" y="28"/>
                        </a:lnTo>
                        <a:lnTo>
                          <a:pt x="70" y="53"/>
                        </a:lnTo>
                        <a:lnTo>
                          <a:pt x="44" y="29"/>
                        </a:lnTo>
                        <a:lnTo>
                          <a:pt x="27" y="31"/>
                        </a:lnTo>
                        <a:lnTo>
                          <a:pt x="4" y="13"/>
                        </a:lnTo>
                      </a:path>
                    </a:pathLst>
                  </a:custGeom>
                  <a:solidFill>
                    <a:srgbClr val="3333CC"/>
                  </a:solidFill>
                  <a:ln w="76200" cap="rnd" cmpd="sng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>
                    <a:outerShdw dist="107763" dir="2700000" algn="ctr" rotWithShape="0">
                      <a:srgbClr val="1C1C1C"/>
                    </a:outerShdw>
                  </a:effectLst>
                </p:spPr>
                <p:txBody>
                  <a:bodyPr wrap="none" lIns="93067" tIns="45717" rIns="93067" bIns="45717">
                    <a:spAutoFit/>
                  </a:bodyPr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TW" alt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398" name="Freeform 82"/>
                  <p:cNvSpPr>
                    <a:spLocks/>
                  </p:cNvSpPr>
                  <p:nvPr/>
                </p:nvSpPr>
                <p:spPr bwMode="auto">
                  <a:xfrm>
                    <a:off x="4403" y="2509"/>
                    <a:ext cx="48" cy="58"/>
                  </a:xfrm>
                  <a:custGeom>
                    <a:avLst/>
                    <a:gdLst/>
                    <a:ahLst/>
                    <a:cxnLst>
                      <a:cxn ang="0">
                        <a:pos x="29" y="0"/>
                      </a:cxn>
                      <a:cxn ang="0">
                        <a:pos x="47" y="17"/>
                      </a:cxn>
                      <a:cxn ang="0">
                        <a:pos x="10" y="57"/>
                      </a:cxn>
                      <a:cxn ang="0">
                        <a:pos x="0" y="48"/>
                      </a:cxn>
                      <a:cxn ang="0">
                        <a:pos x="27" y="22"/>
                      </a:cxn>
                      <a:cxn ang="0">
                        <a:pos x="29" y="0"/>
                      </a:cxn>
                    </a:cxnLst>
                    <a:rect l="0" t="0" r="r" b="b"/>
                    <a:pathLst>
                      <a:path w="48" h="58">
                        <a:moveTo>
                          <a:pt x="29" y="0"/>
                        </a:moveTo>
                        <a:lnTo>
                          <a:pt x="47" y="17"/>
                        </a:lnTo>
                        <a:lnTo>
                          <a:pt x="10" y="57"/>
                        </a:lnTo>
                        <a:lnTo>
                          <a:pt x="0" y="48"/>
                        </a:lnTo>
                        <a:lnTo>
                          <a:pt x="27" y="22"/>
                        </a:lnTo>
                        <a:lnTo>
                          <a:pt x="29" y="0"/>
                        </a:lnTo>
                      </a:path>
                    </a:pathLst>
                  </a:custGeom>
                  <a:solidFill>
                    <a:srgbClr val="3333CC"/>
                  </a:solidFill>
                  <a:ln w="76200" cap="rnd" cmpd="sng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>
                    <a:outerShdw dist="107763" dir="2700000" algn="ctr" rotWithShape="0">
                      <a:srgbClr val="1C1C1C"/>
                    </a:outerShdw>
                  </a:effectLst>
                </p:spPr>
                <p:txBody>
                  <a:bodyPr wrap="none" lIns="93067" tIns="45717" rIns="93067" bIns="45717">
                    <a:spAutoFit/>
                  </a:bodyPr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TW" alt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399" name="Freeform 83"/>
                  <p:cNvSpPr>
                    <a:spLocks/>
                  </p:cNvSpPr>
                  <p:nvPr/>
                </p:nvSpPr>
                <p:spPr bwMode="auto">
                  <a:xfrm>
                    <a:off x="3691" y="2123"/>
                    <a:ext cx="24" cy="37"/>
                  </a:xfrm>
                  <a:custGeom>
                    <a:avLst/>
                    <a:gdLst/>
                    <a:ahLst/>
                    <a:cxnLst>
                      <a:cxn ang="0">
                        <a:pos x="23" y="28"/>
                      </a:cxn>
                      <a:cxn ang="0">
                        <a:pos x="17" y="24"/>
                      </a:cxn>
                      <a:cxn ang="0">
                        <a:pos x="17" y="8"/>
                      </a:cxn>
                      <a:cxn ang="0">
                        <a:pos x="20" y="5"/>
                      </a:cxn>
                      <a:cxn ang="0">
                        <a:pos x="15" y="5"/>
                      </a:cxn>
                      <a:cxn ang="0">
                        <a:pos x="18" y="0"/>
                      </a:cxn>
                      <a:cxn ang="0">
                        <a:pos x="14" y="0"/>
                      </a:cxn>
                      <a:cxn ang="0">
                        <a:pos x="8" y="5"/>
                      </a:cxn>
                      <a:cxn ang="0">
                        <a:pos x="8" y="15"/>
                      </a:cxn>
                      <a:cxn ang="0">
                        <a:pos x="11" y="17"/>
                      </a:cxn>
                      <a:cxn ang="0">
                        <a:pos x="11" y="22"/>
                      </a:cxn>
                      <a:cxn ang="0">
                        <a:pos x="9" y="22"/>
                      </a:cxn>
                      <a:cxn ang="0">
                        <a:pos x="5" y="25"/>
                      </a:cxn>
                      <a:cxn ang="0">
                        <a:pos x="5" y="29"/>
                      </a:cxn>
                      <a:cxn ang="0">
                        <a:pos x="0" y="36"/>
                      </a:cxn>
                      <a:cxn ang="0">
                        <a:pos x="17" y="36"/>
                      </a:cxn>
                      <a:cxn ang="0">
                        <a:pos x="23" y="28"/>
                      </a:cxn>
                    </a:cxnLst>
                    <a:rect l="0" t="0" r="r" b="b"/>
                    <a:pathLst>
                      <a:path w="24" h="37">
                        <a:moveTo>
                          <a:pt x="23" y="28"/>
                        </a:moveTo>
                        <a:lnTo>
                          <a:pt x="17" y="24"/>
                        </a:lnTo>
                        <a:lnTo>
                          <a:pt x="17" y="8"/>
                        </a:lnTo>
                        <a:lnTo>
                          <a:pt x="20" y="5"/>
                        </a:lnTo>
                        <a:lnTo>
                          <a:pt x="15" y="5"/>
                        </a:lnTo>
                        <a:lnTo>
                          <a:pt x="18" y="0"/>
                        </a:lnTo>
                        <a:lnTo>
                          <a:pt x="14" y="0"/>
                        </a:lnTo>
                        <a:lnTo>
                          <a:pt x="8" y="5"/>
                        </a:lnTo>
                        <a:lnTo>
                          <a:pt x="8" y="15"/>
                        </a:lnTo>
                        <a:lnTo>
                          <a:pt x="11" y="17"/>
                        </a:lnTo>
                        <a:lnTo>
                          <a:pt x="11" y="22"/>
                        </a:lnTo>
                        <a:lnTo>
                          <a:pt x="9" y="22"/>
                        </a:lnTo>
                        <a:lnTo>
                          <a:pt x="5" y="25"/>
                        </a:lnTo>
                        <a:lnTo>
                          <a:pt x="5" y="29"/>
                        </a:lnTo>
                        <a:lnTo>
                          <a:pt x="0" y="36"/>
                        </a:lnTo>
                        <a:lnTo>
                          <a:pt x="17" y="36"/>
                        </a:lnTo>
                        <a:lnTo>
                          <a:pt x="23" y="28"/>
                        </a:lnTo>
                      </a:path>
                    </a:pathLst>
                  </a:custGeom>
                  <a:solidFill>
                    <a:srgbClr val="3333CC"/>
                  </a:solidFill>
                  <a:ln w="76200" cap="rnd" cmpd="sng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>
                    <a:outerShdw dist="107763" dir="2700000" algn="ctr" rotWithShape="0">
                      <a:srgbClr val="1C1C1C"/>
                    </a:outerShdw>
                  </a:effectLst>
                </p:spPr>
                <p:txBody>
                  <a:bodyPr wrap="none" lIns="93067" tIns="45717" rIns="93067" bIns="45717">
                    <a:spAutoFit/>
                  </a:bodyPr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TW" alt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400" name="Freeform 84"/>
                  <p:cNvSpPr>
                    <a:spLocks/>
                  </p:cNvSpPr>
                  <p:nvPr/>
                </p:nvSpPr>
                <p:spPr bwMode="auto">
                  <a:xfrm>
                    <a:off x="3683" y="2135"/>
                    <a:ext cx="13" cy="13"/>
                  </a:xfrm>
                  <a:custGeom>
                    <a:avLst/>
                    <a:gdLst/>
                    <a:ahLst/>
                    <a:cxnLst>
                      <a:cxn ang="0">
                        <a:pos x="10" y="4"/>
                      </a:cxn>
                      <a:cxn ang="0">
                        <a:pos x="12" y="4"/>
                      </a:cxn>
                      <a:cxn ang="0">
                        <a:pos x="12" y="0"/>
                      </a:cxn>
                      <a:cxn ang="0">
                        <a:pos x="8" y="0"/>
                      </a:cxn>
                      <a:cxn ang="0">
                        <a:pos x="0" y="8"/>
                      </a:cxn>
                      <a:cxn ang="0">
                        <a:pos x="0" y="12"/>
                      </a:cxn>
                      <a:cxn ang="0">
                        <a:pos x="7" y="12"/>
                      </a:cxn>
                      <a:cxn ang="0">
                        <a:pos x="10" y="9"/>
                      </a:cxn>
                      <a:cxn ang="0">
                        <a:pos x="10" y="4"/>
                      </a:cxn>
                    </a:cxnLst>
                    <a:rect l="0" t="0" r="r" b="b"/>
                    <a:pathLst>
                      <a:path w="13" h="13">
                        <a:moveTo>
                          <a:pt x="10" y="4"/>
                        </a:moveTo>
                        <a:lnTo>
                          <a:pt x="12" y="4"/>
                        </a:lnTo>
                        <a:lnTo>
                          <a:pt x="12" y="0"/>
                        </a:lnTo>
                        <a:lnTo>
                          <a:pt x="8" y="0"/>
                        </a:lnTo>
                        <a:lnTo>
                          <a:pt x="0" y="8"/>
                        </a:lnTo>
                        <a:lnTo>
                          <a:pt x="0" y="12"/>
                        </a:lnTo>
                        <a:lnTo>
                          <a:pt x="7" y="12"/>
                        </a:lnTo>
                        <a:lnTo>
                          <a:pt x="10" y="9"/>
                        </a:lnTo>
                        <a:lnTo>
                          <a:pt x="10" y="4"/>
                        </a:lnTo>
                      </a:path>
                    </a:pathLst>
                  </a:custGeom>
                  <a:solidFill>
                    <a:srgbClr val="3333CC"/>
                  </a:solidFill>
                  <a:ln w="76200" cap="rnd" cmpd="sng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>
                    <a:outerShdw dist="107763" dir="2700000" algn="ctr" rotWithShape="0">
                      <a:srgbClr val="1C1C1C"/>
                    </a:outerShdw>
                  </a:effectLst>
                </p:spPr>
                <p:txBody>
                  <a:bodyPr wrap="none" lIns="93067" tIns="45717" rIns="93067" bIns="45717">
                    <a:spAutoFit/>
                  </a:bodyPr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TW" alt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401" name="Freeform 85"/>
                  <p:cNvSpPr>
                    <a:spLocks/>
                  </p:cNvSpPr>
                  <p:nvPr/>
                </p:nvSpPr>
                <p:spPr bwMode="auto">
                  <a:xfrm>
                    <a:off x="3664" y="2113"/>
                    <a:ext cx="156" cy="122"/>
                  </a:xfrm>
                  <a:custGeom>
                    <a:avLst/>
                    <a:gdLst/>
                    <a:ahLst/>
                    <a:cxnLst>
                      <a:cxn ang="0">
                        <a:pos x="102" y="8"/>
                      </a:cxn>
                      <a:cxn ang="0">
                        <a:pos x="122" y="11"/>
                      </a:cxn>
                      <a:cxn ang="0">
                        <a:pos x="110" y="16"/>
                      </a:cxn>
                      <a:cxn ang="0">
                        <a:pos x="105" y="23"/>
                      </a:cxn>
                      <a:cxn ang="0">
                        <a:pos x="97" y="39"/>
                      </a:cxn>
                      <a:cxn ang="0">
                        <a:pos x="85" y="41"/>
                      </a:cxn>
                      <a:cxn ang="0">
                        <a:pos x="74" y="39"/>
                      </a:cxn>
                      <a:cxn ang="0">
                        <a:pos x="80" y="31"/>
                      </a:cxn>
                      <a:cxn ang="0">
                        <a:pos x="75" y="21"/>
                      </a:cxn>
                      <a:cxn ang="0">
                        <a:pos x="69" y="39"/>
                      </a:cxn>
                      <a:cxn ang="0">
                        <a:pos x="53" y="47"/>
                      </a:cxn>
                      <a:cxn ang="0">
                        <a:pos x="44" y="53"/>
                      </a:cxn>
                      <a:cxn ang="0">
                        <a:pos x="32" y="61"/>
                      </a:cxn>
                      <a:cxn ang="0">
                        <a:pos x="26" y="80"/>
                      </a:cxn>
                      <a:cxn ang="0">
                        <a:pos x="5" y="73"/>
                      </a:cxn>
                      <a:cxn ang="0">
                        <a:pos x="0" y="88"/>
                      </a:cxn>
                      <a:cxn ang="0">
                        <a:pos x="9" y="109"/>
                      </a:cxn>
                      <a:cxn ang="0">
                        <a:pos x="43" y="86"/>
                      </a:cxn>
                      <a:cxn ang="0">
                        <a:pos x="64" y="82"/>
                      </a:cxn>
                      <a:cxn ang="0">
                        <a:pos x="67" y="90"/>
                      </a:cxn>
                      <a:cxn ang="0">
                        <a:pos x="85" y="113"/>
                      </a:cxn>
                      <a:cxn ang="0">
                        <a:pos x="87" y="106"/>
                      </a:cxn>
                      <a:cxn ang="0">
                        <a:pos x="91" y="106"/>
                      </a:cxn>
                      <a:cxn ang="0">
                        <a:pos x="74" y="85"/>
                      </a:cxn>
                      <a:cxn ang="0">
                        <a:pos x="80" y="78"/>
                      </a:cxn>
                      <a:cxn ang="0">
                        <a:pos x="97" y="100"/>
                      </a:cxn>
                      <a:cxn ang="0">
                        <a:pos x="105" y="114"/>
                      </a:cxn>
                      <a:cxn ang="0">
                        <a:pos x="108" y="121"/>
                      </a:cxn>
                      <a:cxn ang="0">
                        <a:pos x="111" y="107"/>
                      </a:cxn>
                      <a:cxn ang="0">
                        <a:pos x="123" y="102"/>
                      </a:cxn>
                      <a:cxn ang="0">
                        <a:pos x="130" y="100"/>
                      </a:cxn>
                      <a:cxn ang="0">
                        <a:pos x="127" y="89"/>
                      </a:cxn>
                      <a:cxn ang="0">
                        <a:pos x="133" y="71"/>
                      </a:cxn>
                      <a:cxn ang="0">
                        <a:pos x="141" y="73"/>
                      </a:cxn>
                      <a:cxn ang="0">
                        <a:pos x="144" y="82"/>
                      </a:cxn>
                      <a:cxn ang="0">
                        <a:pos x="150" y="77"/>
                      </a:cxn>
                      <a:cxn ang="0">
                        <a:pos x="148" y="76"/>
                      </a:cxn>
                      <a:cxn ang="0">
                        <a:pos x="153" y="64"/>
                      </a:cxn>
                      <a:cxn ang="0">
                        <a:pos x="155" y="77"/>
                      </a:cxn>
                      <a:cxn ang="0">
                        <a:pos x="102" y="0"/>
                      </a:cxn>
                    </a:cxnLst>
                    <a:rect l="0" t="0" r="r" b="b"/>
                    <a:pathLst>
                      <a:path w="156" h="122">
                        <a:moveTo>
                          <a:pt x="102" y="0"/>
                        </a:moveTo>
                        <a:lnTo>
                          <a:pt x="102" y="8"/>
                        </a:lnTo>
                        <a:lnTo>
                          <a:pt x="105" y="11"/>
                        </a:lnTo>
                        <a:lnTo>
                          <a:pt x="122" y="11"/>
                        </a:lnTo>
                        <a:lnTo>
                          <a:pt x="122" y="16"/>
                        </a:lnTo>
                        <a:lnTo>
                          <a:pt x="110" y="16"/>
                        </a:lnTo>
                        <a:lnTo>
                          <a:pt x="110" y="29"/>
                        </a:lnTo>
                        <a:lnTo>
                          <a:pt x="105" y="23"/>
                        </a:lnTo>
                        <a:lnTo>
                          <a:pt x="105" y="32"/>
                        </a:lnTo>
                        <a:lnTo>
                          <a:pt x="97" y="39"/>
                        </a:lnTo>
                        <a:lnTo>
                          <a:pt x="93" y="35"/>
                        </a:lnTo>
                        <a:lnTo>
                          <a:pt x="85" y="41"/>
                        </a:lnTo>
                        <a:lnTo>
                          <a:pt x="84" y="39"/>
                        </a:lnTo>
                        <a:lnTo>
                          <a:pt x="74" y="39"/>
                        </a:lnTo>
                        <a:lnTo>
                          <a:pt x="80" y="33"/>
                        </a:lnTo>
                        <a:lnTo>
                          <a:pt x="80" y="31"/>
                        </a:lnTo>
                        <a:lnTo>
                          <a:pt x="75" y="27"/>
                        </a:lnTo>
                        <a:lnTo>
                          <a:pt x="75" y="21"/>
                        </a:lnTo>
                        <a:lnTo>
                          <a:pt x="69" y="27"/>
                        </a:lnTo>
                        <a:lnTo>
                          <a:pt x="69" y="39"/>
                        </a:lnTo>
                        <a:lnTo>
                          <a:pt x="62" y="39"/>
                        </a:lnTo>
                        <a:lnTo>
                          <a:pt x="53" y="47"/>
                        </a:lnTo>
                        <a:lnTo>
                          <a:pt x="49" y="47"/>
                        </a:lnTo>
                        <a:lnTo>
                          <a:pt x="44" y="53"/>
                        </a:lnTo>
                        <a:lnTo>
                          <a:pt x="26" y="53"/>
                        </a:lnTo>
                        <a:lnTo>
                          <a:pt x="32" y="61"/>
                        </a:lnTo>
                        <a:lnTo>
                          <a:pt x="32" y="73"/>
                        </a:lnTo>
                        <a:lnTo>
                          <a:pt x="26" y="80"/>
                        </a:lnTo>
                        <a:lnTo>
                          <a:pt x="19" y="73"/>
                        </a:lnTo>
                        <a:lnTo>
                          <a:pt x="5" y="73"/>
                        </a:lnTo>
                        <a:lnTo>
                          <a:pt x="5" y="82"/>
                        </a:lnTo>
                        <a:lnTo>
                          <a:pt x="0" y="88"/>
                        </a:lnTo>
                        <a:lnTo>
                          <a:pt x="0" y="100"/>
                        </a:lnTo>
                        <a:lnTo>
                          <a:pt x="9" y="109"/>
                        </a:lnTo>
                        <a:lnTo>
                          <a:pt x="22" y="109"/>
                        </a:lnTo>
                        <a:lnTo>
                          <a:pt x="43" y="86"/>
                        </a:lnTo>
                        <a:lnTo>
                          <a:pt x="61" y="86"/>
                        </a:lnTo>
                        <a:lnTo>
                          <a:pt x="64" y="82"/>
                        </a:lnTo>
                        <a:lnTo>
                          <a:pt x="68" y="86"/>
                        </a:lnTo>
                        <a:lnTo>
                          <a:pt x="67" y="90"/>
                        </a:lnTo>
                        <a:lnTo>
                          <a:pt x="85" y="106"/>
                        </a:lnTo>
                        <a:lnTo>
                          <a:pt x="85" y="113"/>
                        </a:lnTo>
                        <a:lnTo>
                          <a:pt x="88" y="110"/>
                        </a:lnTo>
                        <a:lnTo>
                          <a:pt x="87" y="106"/>
                        </a:lnTo>
                        <a:lnTo>
                          <a:pt x="88" y="104"/>
                        </a:lnTo>
                        <a:lnTo>
                          <a:pt x="91" y="106"/>
                        </a:lnTo>
                        <a:lnTo>
                          <a:pt x="93" y="106"/>
                        </a:lnTo>
                        <a:lnTo>
                          <a:pt x="74" y="85"/>
                        </a:lnTo>
                        <a:lnTo>
                          <a:pt x="74" y="78"/>
                        </a:lnTo>
                        <a:lnTo>
                          <a:pt x="80" y="78"/>
                        </a:lnTo>
                        <a:lnTo>
                          <a:pt x="80" y="82"/>
                        </a:lnTo>
                        <a:lnTo>
                          <a:pt x="97" y="100"/>
                        </a:lnTo>
                        <a:lnTo>
                          <a:pt x="97" y="106"/>
                        </a:lnTo>
                        <a:lnTo>
                          <a:pt x="105" y="114"/>
                        </a:lnTo>
                        <a:lnTo>
                          <a:pt x="103" y="116"/>
                        </a:lnTo>
                        <a:lnTo>
                          <a:pt x="108" y="121"/>
                        </a:lnTo>
                        <a:lnTo>
                          <a:pt x="116" y="113"/>
                        </a:lnTo>
                        <a:lnTo>
                          <a:pt x="111" y="107"/>
                        </a:lnTo>
                        <a:lnTo>
                          <a:pt x="116" y="102"/>
                        </a:lnTo>
                        <a:lnTo>
                          <a:pt x="123" y="102"/>
                        </a:lnTo>
                        <a:lnTo>
                          <a:pt x="126" y="100"/>
                        </a:lnTo>
                        <a:lnTo>
                          <a:pt x="130" y="100"/>
                        </a:lnTo>
                        <a:lnTo>
                          <a:pt x="124" y="93"/>
                        </a:lnTo>
                        <a:lnTo>
                          <a:pt x="127" y="89"/>
                        </a:lnTo>
                        <a:lnTo>
                          <a:pt x="127" y="77"/>
                        </a:lnTo>
                        <a:lnTo>
                          <a:pt x="133" y="71"/>
                        </a:lnTo>
                        <a:lnTo>
                          <a:pt x="136" y="73"/>
                        </a:lnTo>
                        <a:lnTo>
                          <a:pt x="141" y="73"/>
                        </a:lnTo>
                        <a:lnTo>
                          <a:pt x="139" y="77"/>
                        </a:lnTo>
                        <a:lnTo>
                          <a:pt x="144" y="82"/>
                        </a:lnTo>
                        <a:lnTo>
                          <a:pt x="147" y="77"/>
                        </a:lnTo>
                        <a:lnTo>
                          <a:pt x="150" y="77"/>
                        </a:lnTo>
                        <a:lnTo>
                          <a:pt x="150" y="76"/>
                        </a:lnTo>
                        <a:lnTo>
                          <a:pt x="148" y="76"/>
                        </a:lnTo>
                        <a:lnTo>
                          <a:pt x="145" y="73"/>
                        </a:lnTo>
                        <a:lnTo>
                          <a:pt x="153" y="64"/>
                        </a:lnTo>
                        <a:lnTo>
                          <a:pt x="153" y="77"/>
                        </a:lnTo>
                        <a:lnTo>
                          <a:pt x="155" y="77"/>
                        </a:lnTo>
                        <a:lnTo>
                          <a:pt x="155" y="0"/>
                        </a:lnTo>
                        <a:lnTo>
                          <a:pt x="102" y="0"/>
                        </a:lnTo>
                      </a:path>
                    </a:pathLst>
                  </a:custGeom>
                  <a:solidFill>
                    <a:srgbClr val="3333CC"/>
                  </a:solidFill>
                  <a:ln w="76200" cap="rnd" cmpd="sng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>
                    <a:outerShdw dist="107763" dir="2700000" algn="ctr" rotWithShape="0">
                      <a:srgbClr val="1C1C1C"/>
                    </a:outerShdw>
                  </a:effectLst>
                </p:spPr>
                <p:txBody>
                  <a:bodyPr wrap="none" lIns="93067" tIns="45717" rIns="93067" bIns="45717">
                    <a:spAutoFit/>
                  </a:bodyPr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TW" alt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402" name="Freeform 86"/>
                  <p:cNvSpPr>
                    <a:spLocks/>
                  </p:cNvSpPr>
                  <p:nvPr/>
                </p:nvSpPr>
                <p:spPr bwMode="auto">
                  <a:xfrm>
                    <a:off x="3730" y="1984"/>
                    <a:ext cx="660" cy="435"/>
                  </a:xfrm>
                  <a:custGeom>
                    <a:avLst/>
                    <a:gdLst/>
                    <a:ahLst/>
                    <a:cxnLst>
                      <a:cxn ang="0">
                        <a:pos x="19" y="114"/>
                      </a:cxn>
                      <a:cxn ang="0">
                        <a:pos x="60" y="76"/>
                      </a:cxn>
                      <a:cxn ang="0">
                        <a:pos x="86" y="102"/>
                      </a:cxn>
                      <a:cxn ang="0">
                        <a:pos x="71" y="101"/>
                      </a:cxn>
                      <a:cxn ang="0">
                        <a:pos x="131" y="97"/>
                      </a:cxn>
                      <a:cxn ang="0">
                        <a:pos x="145" y="62"/>
                      </a:cxn>
                      <a:cxn ang="0">
                        <a:pos x="146" y="70"/>
                      </a:cxn>
                      <a:cxn ang="0">
                        <a:pos x="135" y="97"/>
                      </a:cxn>
                      <a:cxn ang="0">
                        <a:pos x="182" y="75"/>
                      </a:cxn>
                      <a:cxn ang="0">
                        <a:pos x="279" y="13"/>
                      </a:cxn>
                      <a:cxn ang="0">
                        <a:pos x="348" y="16"/>
                      </a:cxn>
                      <a:cxn ang="0">
                        <a:pos x="425" y="8"/>
                      </a:cxn>
                      <a:cxn ang="0">
                        <a:pos x="509" y="40"/>
                      </a:cxn>
                      <a:cxn ang="0">
                        <a:pos x="606" y="51"/>
                      </a:cxn>
                      <a:cxn ang="0">
                        <a:pos x="654" y="88"/>
                      </a:cxn>
                      <a:cxn ang="0">
                        <a:pos x="617" y="116"/>
                      </a:cxn>
                      <a:cxn ang="0">
                        <a:pos x="597" y="152"/>
                      </a:cxn>
                      <a:cxn ang="0">
                        <a:pos x="572" y="154"/>
                      </a:cxn>
                      <a:cxn ang="0">
                        <a:pos x="580" y="104"/>
                      </a:cxn>
                      <a:cxn ang="0">
                        <a:pos x="549" y="131"/>
                      </a:cxn>
                      <a:cxn ang="0">
                        <a:pos x="526" y="154"/>
                      </a:cxn>
                      <a:cxn ang="0">
                        <a:pos x="534" y="180"/>
                      </a:cxn>
                      <a:cxn ang="0">
                        <a:pos x="507" y="218"/>
                      </a:cxn>
                      <a:cxn ang="0">
                        <a:pos x="511" y="248"/>
                      </a:cxn>
                      <a:cxn ang="0">
                        <a:pos x="508" y="233"/>
                      </a:cxn>
                      <a:cxn ang="0">
                        <a:pos x="483" y="235"/>
                      </a:cxn>
                      <a:cxn ang="0">
                        <a:pos x="502" y="281"/>
                      </a:cxn>
                      <a:cxn ang="0">
                        <a:pos x="455" y="333"/>
                      </a:cxn>
                      <a:cxn ang="0">
                        <a:pos x="442" y="347"/>
                      </a:cxn>
                      <a:cxn ang="0">
                        <a:pos x="426" y="399"/>
                      </a:cxn>
                      <a:cxn ang="0">
                        <a:pos x="403" y="400"/>
                      </a:cxn>
                      <a:cxn ang="0">
                        <a:pos x="431" y="434"/>
                      </a:cxn>
                      <a:cxn ang="0">
                        <a:pos x="384" y="354"/>
                      </a:cxn>
                      <a:cxn ang="0">
                        <a:pos x="330" y="337"/>
                      </a:cxn>
                      <a:cxn ang="0">
                        <a:pos x="305" y="390"/>
                      </a:cxn>
                      <a:cxn ang="0">
                        <a:pos x="285" y="417"/>
                      </a:cxn>
                      <a:cxn ang="0">
                        <a:pos x="252" y="334"/>
                      </a:cxn>
                      <a:cxn ang="0">
                        <a:pos x="226" y="343"/>
                      </a:cxn>
                      <a:cxn ang="0">
                        <a:pos x="204" y="308"/>
                      </a:cxn>
                      <a:cxn ang="0">
                        <a:pos x="135" y="288"/>
                      </a:cxn>
                      <a:cxn ang="0">
                        <a:pos x="159" y="326"/>
                      </a:cxn>
                      <a:cxn ang="0">
                        <a:pos x="142" y="350"/>
                      </a:cxn>
                      <a:cxn ang="0">
                        <a:pos x="115" y="342"/>
                      </a:cxn>
                      <a:cxn ang="0">
                        <a:pos x="72" y="280"/>
                      </a:cxn>
                      <a:cxn ang="0">
                        <a:pos x="90" y="244"/>
                      </a:cxn>
                      <a:cxn ang="0">
                        <a:pos x="101" y="218"/>
                      </a:cxn>
                      <a:cxn ang="0">
                        <a:pos x="90" y="128"/>
                      </a:cxn>
                      <a:cxn ang="0">
                        <a:pos x="52" y="109"/>
                      </a:cxn>
                      <a:cxn ang="0">
                        <a:pos x="33" y="119"/>
                      </a:cxn>
                      <a:cxn ang="0">
                        <a:pos x="0" y="128"/>
                      </a:cxn>
                    </a:cxnLst>
                    <a:rect l="0" t="0" r="r" b="b"/>
                    <a:pathLst>
                      <a:path w="660" h="435">
                        <a:moveTo>
                          <a:pt x="0" y="128"/>
                        </a:moveTo>
                        <a:lnTo>
                          <a:pt x="19" y="114"/>
                        </a:lnTo>
                        <a:lnTo>
                          <a:pt x="38" y="88"/>
                        </a:lnTo>
                        <a:lnTo>
                          <a:pt x="60" y="76"/>
                        </a:lnTo>
                        <a:lnTo>
                          <a:pt x="83" y="91"/>
                        </a:lnTo>
                        <a:lnTo>
                          <a:pt x="86" y="102"/>
                        </a:lnTo>
                        <a:lnTo>
                          <a:pt x="81" y="102"/>
                        </a:lnTo>
                        <a:lnTo>
                          <a:pt x="71" y="101"/>
                        </a:lnTo>
                        <a:lnTo>
                          <a:pt x="83" y="114"/>
                        </a:lnTo>
                        <a:lnTo>
                          <a:pt x="131" y="97"/>
                        </a:lnTo>
                        <a:lnTo>
                          <a:pt x="125" y="84"/>
                        </a:lnTo>
                        <a:lnTo>
                          <a:pt x="145" y="62"/>
                        </a:lnTo>
                        <a:lnTo>
                          <a:pt x="159" y="63"/>
                        </a:lnTo>
                        <a:lnTo>
                          <a:pt x="146" y="70"/>
                        </a:lnTo>
                        <a:lnTo>
                          <a:pt x="135" y="87"/>
                        </a:lnTo>
                        <a:lnTo>
                          <a:pt x="135" y="97"/>
                        </a:lnTo>
                        <a:lnTo>
                          <a:pt x="154" y="109"/>
                        </a:lnTo>
                        <a:lnTo>
                          <a:pt x="182" y="75"/>
                        </a:lnTo>
                        <a:lnTo>
                          <a:pt x="279" y="35"/>
                        </a:lnTo>
                        <a:lnTo>
                          <a:pt x="279" y="13"/>
                        </a:lnTo>
                        <a:lnTo>
                          <a:pt x="323" y="4"/>
                        </a:lnTo>
                        <a:lnTo>
                          <a:pt x="348" y="16"/>
                        </a:lnTo>
                        <a:lnTo>
                          <a:pt x="406" y="0"/>
                        </a:lnTo>
                        <a:lnTo>
                          <a:pt x="425" y="8"/>
                        </a:lnTo>
                        <a:lnTo>
                          <a:pt x="464" y="48"/>
                        </a:lnTo>
                        <a:lnTo>
                          <a:pt x="509" y="40"/>
                        </a:lnTo>
                        <a:lnTo>
                          <a:pt x="537" y="54"/>
                        </a:lnTo>
                        <a:lnTo>
                          <a:pt x="606" y="51"/>
                        </a:lnTo>
                        <a:lnTo>
                          <a:pt x="659" y="67"/>
                        </a:lnTo>
                        <a:lnTo>
                          <a:pt x="654" y="88"/>
                        </a:lnTo>
                        <a:lnTo>
                          <a:pt x="609" y="102"/>
                        </a:lnTo>
                        <a:lnTo>
                          <a:pt x="617" y="116"/>
                        </a:lnTo>
                        <a:lnTo>
                          <a:pt x="598" y="124"/>
                        </a:lnTo>
                        <a:lnTo>
                          <a:pt x="597" y="152"/>
                        </a:lnTo>
                        <a:lnTo>
                          <a:pt x="580" y="172"/>
                        </a:lnTo>
                        <a:lnTo>
                          <a:pt x="572" y="154"/>
                        </a:lnTo>
                        <a:lnTo>
                          <a:pt x="582" y="138"/>
                        </a:lnTo>
                        <a:lnTo>
                          <a:pt x="580" y="104"/>
                        </a:lnTo>
                        <a:lnTo>
                          <a:pt x="563" y="121"/>
                        </a:lnTo>
                        <a:lnTo>
                          <a:pt x="549" y="131"/>
                        </a:lnTo>
                        <a:lnTo>
                          <a:pt x="535" y="116"/>
                        </a:lnTo>
                        <a:lnTo>
                          <a:pt x="526" y="154"/>
                        </a:lnTo>
                        <a:lnTo>
                          <a:pt x="536" y="154"/>
                        </a:lnTo>
                        <a:lnTo>
                          <a:pt x="534" y="180"/>
                        </a:lnTo>
                        <a:lnTo>
                          <a:pt x="522" y="207"/>
                        </a:lnTo>
                        <a:lnTo>
                          <a:pt x="507" y="218"/>
                        </a:lnTo>
                        <a:lnTo>
                          <a:pt x="519" y="236"/>
                        </a:lnTo>
                        <a:lnTo>
                          <a:pt x="511" y="248"/>
                        </a:lnTo>
                        <a:lnTo>
                          <a:pt x="508" y="237"/>
                        </a:lnTo>
                        <a:lnTo>
                          <a:pt x="508" y="233"/>
                        </a:lnTo>
                        <a:lnTo>
                          <a:pt x="498" y="227"/>
                        </a:lnTo>
                        <a:lnTo>
                          <a:pt x="483" y="235"/>
                        </a:lnTo>
                        <a:lnTo>
                          <a:pt x="497" y="265"/>
                        </a:lnTo>
                        <a:lnTo>
                          <a:pt x="502" y="281"/>
                        </a:lnTo>
                        <a:lnTo>
                          <a:pt x="485" y="322"/>
                        </a:lnTo>
                        <a:lnTo>
                          <a:pt x="455" y="333"/>
                        </a:lnTo>
                        <a:lnTo>
                          <a:pt x="430" y="331"/>
                        </a:lnTo>
                        <a:lnTo>
                          <a:pt x="442" y="347"/>
                        </a:lnTo>
                        <a:lnTo>
                          <a:pt x="443" y="371"/>
                        </a:lnTo>
                        <a:lnTo>
                          <a:pt x="426" y="399"/>
                        </a:lnTo>
                        <a:lnTo>
                          <a:pt x="406" y="384"/>
                        </a:lnTo>
                        <a:lnTo>
                          <a:pt x="403" y="400"/>
                        </a:lnTo>
                        <a:lnTo>
                          <a:pt x="418" y="414"/>
                        </a:lnTo>
                        <a:lnTo>
                          <a:pt x="431" y="434"/>
                        </a:lnTo>
                        <a:lnTo>
                          <a:pt x="409" y="422"/>
                        </a:lnTo>
                        <a:lnTo>
                          <a:pt x="384" y="354"/>
                        </a:lnTo>
                        <a:lnTo>
                          <a:pt x="353" y="335"/>
                        </a:lnTo>
                        <a:lnTo>
                          <a:pt x="330" y="337"/>
                        </a:lnTo>
                        <a:lnTo>
                          <a:pt x="301" y="376"/>
                        </a:lnTo>
                        <a:lnTo>
                          <a:pt x="305" y="390"/>
                        </a:lnTo>
                        <a:lnTo>
                          <a:pt x="295" y="417"/>
                        </a:lnTo>
                        <a:lnTo>
                          <a:pt x="285" y="417"/>
                        </a:lnTo>
                        <a:lnTo>
                          <a:pt x="252" y="359"/>
                        </a:lnTo>
                        <a:lnTo>
                          <a:pt x="252" y="334"/>
                        </a:lnTo>
                        <a:lnTo>
                          <a:pt x="245" y="343"/>
                        </a:lnTo>
                        <a:lnTo>
                          <a:pt x="226" y="343"/>
                        </a:lnTo>
                        <a:lnTo>
                          <a:pt x="233" y="328"/>
                        </a:lnTo>
                        <a:lnTo>
                          <a:pt x="204" y="308"/>
                        </a:lnTo>
                        <a:lnTo>
                          <a:pt x="167" y="308"/>
                        </a:lnTo>
                        <a:lnTo>
                          <a:pt x="135" y="288"/>
                        </a:lnTo>
                        <a:lnTo>
                          <a:pt x="133" y="308"/>
                        </a:lnTo>
                        <a:lnTo>
                          <a:pt x="159" y="326"/>
                        </a:lnTo>
                        <a:lnTo>
                          <a:pt x="168" y="326"/>
                        </a:lnTo>
                        <a:lnTo>
                          <a:pt x="142" y="350"/>
                        </a:lnTo>
                        <a:lnTo>
                          <a:pt x="115" y="356"/>
                        </a:lnTo>
                        <a:lnTo>
                          <a:pt x="115" y="342"/>
                        </a:lnTo>
                        <a:lnTo>
                          <a:pt x="77" y="293"/>
                        </a:lnTo>
                        <a:lnTo>
                          <a:pt x="72" y="280"/>
                        </a:lnTo>
                        <a:lnTo>
                          <a:pt x="93" y="264"/>
                        </a:lnTo>
                        <a:lnTo>
                          <a:pt x="90" y="244"/>
                        </a:lnTo>
                        <a:lnTo>
                          <a:pt x="90" y="222"/>
                        </a:lnTo>
                        <a:lnTo>
                          <a:pt x="101" y="218"/>
                        </a:lnTo>
                        <a:lnTo>
                          <a:pt x="90" y="207"/>
                        </a:lnTo>
                        <a:lnTo>
                          <a:pt x="90" y="128"/>
                        </a:lnTo>
                        <a:lnTo>
                          <a:pt x="37" y="128"/>
                        </a:lnTo>
                        <a:lnTo>
                          <a:pt x="52" y="109"/>
                        </a:lnTo>
                        <a:lnTo>
                          <a:pt x="51" y="102"/>
                        </a:lnTo>
                        <a:lnTo>
                          <a:pt x="33" y="119"/>
                        </a:lnTo>
                        <a:lnTo>
                          <a:pt x="27" y="128"/>
                        </a:lnTo>
                        <a:lnTo>
                          <a:pt x="0" y="128"/>
                        </a:lnTo>
                      </a:path>
                    </a:pathLst>
                  </a:custGeom>
                  <a:solidFill>
                    <a:srgbClr val="3333CC"/>
                  </a:solidFill>
                  <a:ln w="76200" cap="rnd" cmpd="sng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>
                    <a:outerShdw dist="107763" dir="2700000" algn="ctr" rotWithShape="0">
                      <a:srgbClr val="1C1C1C"/>
                    </a:outerShdw>
                  </a:effectLst>
                </p:spPr>
                <p:txBody>
                  <a:bodyPr wrap="none" lIns="93067" tIns="45717" rIns="93067" bIns="45717">
                    <a:spAutoFit/>
                  </a:bodyPr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TW" alt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403" name="Freeform 87"/>
                  <p:cNvSpPr>
                    <a:spLocks/>
                  </p:cNvSpPr>
                  <p:nvPr/>
                </p:nvSpPr>
                <p:spPr bwMode="auto">
                  <a:xfrm>
                    <a:off x="4252" y="2162"/>
                    <a:ext cx="57" cy="88"/>
                  </a:xfrm>
                  <a:custGeom>
                    <a:avLst/>
                    <a:gdLst/>
                    <a:ahLst/>
                    <a:cxnLst>
                      <a:cxn ang="0">
                        <a:pos x="38" y="0"/>
                      </a:cxn>
                      <a:cxn ang="0">
                        <a:pos x="38" y="11"/>
                      </a:cxn>
                      <a:cxn ang="0">
                        <a:pos x="33" y="18"/>
                      </a:cxn>
                      <a:cxn ang="0">
                        <a:pos x="34" y="30"/>
                      </a:cxn>
                      <a:cxn ang="0">
                        <a:pos x="29" y="46"/>
                      </a:cxn>
                      <a:cxn ang="0">
                        <a:pos x="19" y="60"/>
                      </a:cxn>
                      <a:cxn ang="0">
                        <a:pos x="4" y="70"/>
                      </a:cxn>
                      <a:cxn ang="0">
                        <a:pos x="0" y="86"/>
                      </a:cxn>
                      <a:cxn ang="0">
                        <a:pos x="6" y="87"/>
                      </a:cxn>
                      <a:cxn ang="0">
                        <a:pos x="6" y="72"/>
                      </a:cxn>
                      <a:cxn ang="0">
                        <a:pos x="26" y="71"/>
                      </a:cxn>
                      <a:cxn ang="0">
                        <a:pos x="42" y="61"/>
                      </a:cxn>
                      <a:cxn ang="0">
                        <a:pos x="42" y="40"/>
                      </a:cxn>
                      <a:cxn ang="0">
                        <a:pos x="46" y="33"/>
                      </a:cxn>
                      <a:cxn ang="0">
                        <a:pos x="38" y="19"/>
                      </a:cxn>
                      <a:cxn ang="0">
                        <a:pos x="49" y="15"/>
                      </a:cxn>
                      <a:cxn ang="0">
                        <a:pos x="56" y="4"/>
                      </a:cxn>
                      <a:cxn ang="0">
                        <a:pos x="42" y="6"/>
                      </a:cxn>
                      <a:cxn ang="0">
                        <a:pos x="38" y="0"/>
                      </a:cxn>
                    </a:cxnLst>
                    <a:rect l="0" t="0" r="r" b="b"/>
                    <a:pathLst>
                      <a:path w="57" h="88">
                        <a:moveTo>
                          <a:pt x="38" y="0"/>
                        </a:moveTo>
                        <a:lnTo>
                          <a:pt x="38" y="11"/>
                        </a:lnTo>
                        <a:lnTo>
                          <a:pt x="33" y="18"/>
                        </a:lnTo>
                        <a:lnTo>
                          <a:pt x="34" y="30"/>
                        </a:lnTo>
                        <a:lnTo>
                          <a:pt x="29" y="46"/>
                        </a:lnTo>
                        <a:lnTo>
                          <a:pt x="19" y="60"/>
                        </a:lnTo>
                        <a:lnTo>
                          <a:pt x="4" y="70"/>
                        </a:lnTo>
                        <a:lnTo>
                          <a:pt x="0" y="86"/>
                        </a:lnTo>
                        <a:lnTo>
                          <a:pt x="6" y="87"/>
                        </a:lnTo>
                        <a:lnTo>
                          <a:pt x="6" y="72"/>
                        </a:lnTo>
                        <a:lnTo>
                          <a:pt x="26" y="71"/>
                        </a:lnTo>
                        <a:lnTo>
                          <a:pt x="42" y="61"/>
                        </a:lnTo>
                        <a:lnTo>
                          <a:pt x="42" y="40"/>
                        </a:lnTo>
                        <a:lnTo>
                          <a:pt x="46" y="33"/>
                        </a:lnTo>
                        <a:lnTo>
                          <a:pt x="38" y="19"/>
                        </a:lnTo>
                        <a:lnTo>
                          <a:pt x="49" y="15"/>
                        </a:lnTo>
                        <a:lnTo>
                          <a:pt x="56" y="4"/>
                        </a:lnTo>
                        <a:lnTo>
                          <a:pt x="42" y="6"/>
                        </a:lnTo>
                        <a:lnTo>
                          <a:pt x="38" y="0"/>
                        </a:lnTo>
                      </a:path>
                    </a:pathLst>
                  </a:custGeom>
                  <a:solidFill>
                    <a:srgbClr val="3333CC"/>
                  </a:solidFill>
                  <a:ln w="76200" cap="rnd" cmpd="sng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>
                    <a:outerShdw dist="107763" dir="2700000" algn="ctr" rotWithShape="0">
                      <a:srgbClr val="1C1C1C"/>
                    </a:outerShdw>
                  </a:effectLst>
                </p:spPr>
                <p:txBody>
                  <a:bodyPr wrap="none" lIns="93067" tIns="45717" rIns="93067" bIns="45717">
                    <a:spAutoFit/>
                  </a:bodyPr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TW" alt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404" name="Freeform 88"/>
                  <p:cNvSpPr>
                    <a:spLocks/>
                  </p:cNvSpPr>
                  <p:nvPr/>
                </p:nvSpPr>
                <p:spPr bwMode="auto">
                  <a:xfrm>
                    <a:off x="4036" y="2398"/>
                    <a:ext cx="11" cy="21"/>
                  </a:xfrm>
                  <a:custGeom>
                    <a:avLst/>
                    <a:gdLst/>
                    <a:ahLst/>
                    <a:cxnLst>
                      <a:cxn ang="0">
                        <a:pos x="5" y="0"/>
                      </a:cxn>
                      <a:cxn ang="0">
                        <a:pos x="0" y="9"/>
                      </a:cxn>
                      <a:cxn ang="0">
                        <a:pos x="3" y="20"/>
                      </a:cxn>
                      <a:cxn ang="0">
                        <a:pos x="10" y="12"/>
                      </a:cxn>
                      <a:cxn ang="0">
                        <a:pos x="5" y="0"/>
                      </a:cxn>
                    </a:cxnLst>
                    <a:rect l="0" t="0" r="r" b="b"/>
                    <a:pathLst>
                      <a:path w="11" h="21">
                        <a:moveTo>
                          <a:pt x="5" y="0"/>
                        </a:moveTo>
                        <a:lnTo>
                          <a:pt x="0" y="9"/>
                        </a:lnTo>
                        <a:lnTo>
                          <a:pt x="3" y="20"/>
                        </a:lnTo>
                        <a:lnTo>
                          <a:pt x="10" y="12"/>
                        </a:lnTo>
                        <a:lnTo>
                          <a:pt x="5" y="0"/>
                        </a:lnTo>
                      </a:path>
                    </a:pathLst>
                  </a:custGeom>
                  <a:solidFill>
                    <a:srgbClr val="3333CC"/>
                  </a:solidFill>
                  <a:ln w="76200" cap="rnd" cmpd="sng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>
                    <a:outerShdw dist="107763" dir="2700000" algn="ctr" rotWithShape="0">
                      <a:srgbClr val="1C1C1C"/>
                    </a:outerShdw>
                  </a:effectLst>
                </p:spPr>
                <p:txBody>
                  <a:bodyPr wrap="none" lIns="93067" tIns="45717" rIns="93067" bIns="45717">
                    <a:spAutoFit/>
                  </a:bodyPr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TW" alt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405" name="Freeform 89"/>
                  <p:cNvSpPr>
                    <a:spLocks/>
                  </p:cNvSpPr>
                  <p:nvPr/>
                </p:nvSpPr>
                <p:spPr bwMode="auto">
                  <a:xfrm>
                    <a:off x="4123" y="2419"/>
                    <a:ext cx="133" cy="54"/>
                  </a:xfrm>
                  <a:custGeom>
                    <a:avLst/>
                    <a:gdLst/>
                    <a:ahLst/>
                    <a:cxnLst>
                      <a:cxn ang="0">
                        <a:pos x="0" y="0"/>
                      </a:cxn>
                      <a:cxn ang="0">
                        <a:pos x="20" y="4"/>
                      </a:cxn>
                      <a:cxn ang="0">
                        <a:pos x="50" y="24"/>
                      </a:cxn>
                      <a:cxn ang="0">
                        <a:pos x="45" y="34"/>
                      </a:cxn>
                      <a:cxn ang="0">
                        <a:pos x="70" y="44"/>
                      </a:cxn>
                      <a:cxn ang="0">
                        <a:pos x="132" y="44"/>
                      </a:cxn>
                      <a:cxn ang="0">
                        <a:pos x="64" y="53"/>
                      </a:cxn>
                      <a:cxn ang="0">
                        <a:pos x="45" y="34"/>
                      </a:cxn>
                      <a:cxn ang="0">
                        <a:pos x="28" y="31"/>
                      </a:cxn>
                      <a:cxn ang="0">
                        <a:pos x="0" y="0"/>
                      </a:cxn>
                    </a:cxnLst>
                    <a:rect l="0" t="0" r="r" b="b"/>
                    <a:pathLst>
                      <a:path w="133" h="54">
                        <a:moveTo>
                          <a:pt x="0" y="0"/>
                        </a:moveTo>
                        <a:lnTo>
                          <a:pt x="20" y="4"/>
                        </a:lnTo>
                        <a:lnTo>
                          <a:pt x="50" y="24"/>
                        </a:lnTo>
                        <a:lnTo>
                          <a:pt x="45" y="34"/>
                        </a:lnTo>
                        <a:lnTo>
                          <a:pt x="70" y="44"/>
                        </a:lnTo>
                        <a:lnTo>
                          <a:pt x="132" y="44"/>
                        </a:lnTo>
                        <a:lnTo>
                          <a:pt x="64" y="53"/>
                        </a:lnTo>
                        <a:lnTo>
                          <a:pt x="45" y="34"/>
                        </a:lnTo>
                        <a:lnTo>
                          <a:pt x="28" y="31"/>
                        </a:lnTo>
                        <a:lnTo>
                          <a:pt x="0" y="0"/>
                        </a:lnTo>
                      </a:path>
                    </a:pathLst>
                  </a:custGeom>
                  <a:solidFill>
                    <a:srgbClr val="3333CC"/>
                  </a:solidFill>
                  <a:ln w="76200" cap="rnd" cmpd="sng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>
                    <a:outerShdw dist="107763" dir="2700000" algn="ctr" rotWithShape="0">
                      <a:srgbClr val="1C1C1C"/>
                    </a:outerShdw>
                  </a:effectLst>
                </p:spPr>
                <p:txBody>
                  <a:bodyPr wrap="none" lIns="93067" tIns="45717" rIns="93067" bIns="45717">
                    <a:spAutoFit/>
                  </a:bodyPr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TW" alt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406" name="Freeform 90"/>
                  <p:cNvSpPr>
                    <a:spLocks/>
                  </p:cNvSpPr>
                  <p:nvPr/>
                </p:nvSpPr>
                <p:spPr bwMode="auto">
                  <a:xfrm>
                    <a:off x="4229" y="2462"/>
                    <a:ext cx="144" cy="127"/>
                  </a:xfrm>
                  <a:custGeom>
                    <a:avLst/>
                    <a:gdLst/>
                    <a:ahLst/>
                    <a:cxnLst>
                      <a:cxn ang="0">
                        <a:pos x="115" y="124"/>
                      </a:cxn>
                      <a:cxn ang="0">
                        <a:pos x="109" y="122"/>
                      </a:cxn>
                      <a:cxn ang="0">
                        <a:pos x="94" y="107"/>
                      </a:cxn>
                      <a:cxn ang="0">
                        <a:pos x="79" y="104"/>
                      </a:cxn>
                      <a:cxn ang="0">
                        <a:pos x="76" y="96"/>
                      </a:cxn>
                      <a:cxn ang="0">
                        <a:pos x="67" y="89"/>
                      </a:cxn>
                      <a:cxn ang="0">
                        <a:pos x="53" y="89"/>
                      </a:cxn>
                      <a:cxn ang="0">
                        <a:pos x="38" y="94"/>
                      </a:cxn>
                      <a:cxn ang="0">
                        <a:pos x="25" y="97"/>
                      </a:cxn>
                      <a:cxn ang="0">
                        <a:pos x="9" y="97"/>
                      </a:cxn>
                      <a:cxn ang="0">
                        <a:pos x="8" y="87"/>
                      </a:cxn>
                      <a:cxn ang="0">
                        <a:pos x="3" y="72"/>
                      </a:cxn>
                      <a:cxn ang="0">
                        <a:pos x="2" y="65"/>
                      </a:cxn>
                      <a:cxn ang="0">
                        <a:pos x="2" y="45"/>
                      </a:cxn>
                      <a:cxn ang="0">
                        <a:pos x="27" y="35"/>
                      </a:cxn>
                      <a:cxn ang="0">
                        <a:pos x="29" y="23"/>
                      </a:cxn>
                      <a:cxn ang="0">
                        <a:pos x="35" y="25"/>
                      </a:cxn>
                      <a:cxn ang="0">
                        <a:pos x="47" y="13"/>
                      </a:cxn>
                      <a:cxn ang="0">
                        <a:pos x="59" y="14"/>
                      </a:cxn>
                      <a:cxn ang="0">
                        <a:pos x="68" y="6"/>
                      </a:cxn>
                      <a:cxn ang="0">
                        <a:pos x="76" y="4"/>
                      </a:cxn>
                      <a:cxn ang="0">
                        <a:pos x="88" y="20"/>
                      </a:cxn>
                      <a:cxn ang="0">
                        <a:pos x="99" y="25"/>
                      </a:cxn>
                      <a:cxn ang="0">
                        <a:pos x="100" y="9"/>
                      </a:cxn>
                      <a:cxn ang="0">
                        <a:pos x="105" y="0"/>
                      </a:cxn>
                      <a:cxn ang="0">
                        <a:pos x="112" y="13"/>
                      </a:cxn>
                      <a:cxn ang="0">
                        <a:pos x="119" y="35"/>
                      </a:cxn>
                      <a:cxn ang="0">
                        <a:pos x="133" y="47"/>
                      </a:cxn>
                      <a:cxn ang="0">
                        <a:pos x="141" y="58"/>
                      </a:cxn>
                      <a:cxn ang="0">
                        <a:pos x="143" y="76"/>
                      </a:cxn>
                      <a:cxn ang="0">
                        <a:pos x="135" y="97"/>
                      </a:cxn>
                      <a:cxn ang="0">
                        <a:pos x="132" y="116"/>
                      </a:cxn>
                      <a:cxn ang="0">
                        <a:pos x="119" y="123"/>
                      </a:cxn>
                    </a:cxnLst>
                    <a:rect l="0" t="0" r="r" b="b"/>
                    <a:pathLst>
                      <a:path w="144" h="127">
                        <a:moveTo>
                          <a:pt x="119" y="123"/>
                        </a:moveTo>
                        <a:lnTo>
                          <a:pt x="115" y="124"/>
                        </a:lnTo>
                        <a:lnTo>
                          <a:pt x="112" y="126"/>
                        </a:lnTo>
                        <a:lnTo>
                          <a:pt x="109" y="122"/>
                        </a:lnTo>
                        <a:lnTo>
                          <a:pt x="96" y="116"/>
                        </a:lnTo>
                        <a:lnTo>
                          <a:pt x="94" y="107"/>
                        </a:lnTo>
                        <a:lnTo>
                          <a:pt x="90" y="104"/>
                        </a:lnTo>
                        <a:lnTo>
                          <a:pt x="79" y="104"/>
                        </a:lnTo>
                        <a:lnTo>
                          <a:pt x="79" y="98"/>
                        </a:lnTo>
                        <a:lnTo>
                          <a:pt x="76" y="96"/>
                        </a:lnTo>
                        <a:lnTo>
                          <a:pt x="75" y="90"/>
                        </a:lnTo>
                        <a:lnTo>
                          <a:pt x="67" y="89"/>
                        </a:lnTo>
                        <a:lnTo>
                          <a:pt x="59" y="87"/>
                        </a:lnTo>
                        <a:lnTo>
                          <a:pt x="53" y="89"/>
                        </a:lnTo>
                        <a:lnTo>
                          <a:pt x="53" y="90"/>
                        </a:lnTo>
                        <a:lnTo>
                          <a:pt x="38" y="94"/>
                        </a:lnTo>
                        <a:lnTo>
                          <a:pt x="38" y="97"/>
                        </a:lnTo>
                        <a:lnTo>
                          <a:pt x="25" y="97"/>
                        </a:lnTo>
                        <a:lnTo>
                          <a:pt x="17" y="101"/>
                        </a:lnTo>
                        <a:lnTo>
                          <a:pt x="9" y="97"/>
                        </a:lnTo>
                        <a:lnTo>
                          <a:pt x="8" y="96"/>
                        </a:lnTo>
                        <a:lnTo>
                          <a:pt x="8" y="87"/>
                        </a:lnTo>
                        <a:lnTo>
                          <a:pt x="6" y="80"/>
                        </a:lnTo>
                        <a:lnTo>
                          <a:pt x="3" y="72"/>
                        </a:lnTo>
                        <a:lnTo>
                          <a:pt x="5" y="67"/>
                        </a:lnTo>
                        <a:lnTo>
                          <a:pt x="2" y="65"/>
                        </a:lnTo>
                        <a:lnTo>
                          <a:pt x="0" y="54"/>
                        </a:lnTo>
                        <a:lnTo>
                          <a:pt x="2" y="45"/>
                        </a:lnTo>
                        <a:lnTo>
                          <a:pt x="10" y="39"/>
                        </a:lnTo>
                        <a:lnTo>
                          <a:pt x="27" y="35"/>
                        </a:lnTo>
                        <a:lnTo>
                          <a:pt x="31" y="29"/>
                        </a:lnTo>
                        <a:lnTo>
                          <a:pt x="29" y="23"/>
                        </a:lnTo>
                        <a:lnTo>
                          <a:pt x="34" y="22"/>
                        </a:lnTo>
                        <a:lnTo>
                          <a:pt x="35" y="25"/>
                        </a:lnTo>
                        <a:lnTo>
                          <a:pt x="37" y="20"/>
                        </a:lnTo>
                        <a:lnTo>
                          <a:pt x="47" y="13"/>
                        </a:lnTo>
                        <a:lnTo>
                          <a:pt x="53" y="16"/>
                        </a:lnTo>
                        <a:lnTo>
                          <a:pt x="59" y="14"/>
                        </a:lnTo>
                        <a:lnTo>
                          <a:pt x="62" y="7"/>
                        </a:lnTo>
                        <a:lnTo>
                          <a:pt x="68" y="6"/>
                        </a:lnTo>
                        <a:lnTo>
                          <a:pt x="67" y="1"/>
                        </a:lnTo>
                        <a:lnTo>
                          <a:pt x="76" y="4"/>
                        </a:lnTo>
                        <a:lnTo>
                          <a:pt x="84" y="3"/>
                        </a:lnTo>
                        <a:lnTo>
                          <a:pt x="88" y="20"/>
                        </a:lnTo>
                        <a:lnTo>
                          <a:pt x="94" y="25"/>
                        </a:lnTo>
                        <a:lnTo>
                          <a:pt x="99" y="25"/>
                        </a:lnTo>
                        <a:lnTo>
                          <a:pt x="102" y="14"/>
                        </a:lnTo>
                        <a:lnTo>
                          <a:pt x="100" y="9"/>
                        </a:lnTo>
                        <a:lnTo>
                          <a:pt x="102" y="1"/>
                        </a:lnTo>
                        <a:lnTo>
                          <a:pt x="105" y="0"/>
                        </a:lnTo>
                        <a:lnTo>
                          <a:pt x="109" y="10"/>
                        </a:lnTo>
                        <a:lnTo>
                          <a:pt x="112" y="13"/>
                        </a:lnTo>
                        <a:lnTo>
                          <a:pt x="115" y="22"/>
                        </a:lnTo>
                        <a:lnTo>
                          <a:pt x="119" y="35"/>
                        </a:lnTo>
                        <a:lnTo>
                          <a:pt x="126" y="38"/>
                        </a:lnTo>
                        <a:lnTo>
                          <a:pt x="133" y="47"/>
                        </a:lnTo>
                        <a:lnTo>
                          <a:pt x="135" y="52"/>
                        </a:lnTo>
                        <a:lnTo>
                          <a:pt x="141" y="58"/>
                        </a:lnTo>
                        <a:lnTo>
                          <a:pt x="143" y="68"/>
                        </a:lnTo>
                        <a:lnTo>
                          <a:pt x="143" y="76"/>
                        </a:lnTo>
                        <a:lnTo>
                          <a:pt x="141" y="89"/>
                        </a:lnTo>
                        <a:lnTo>
                          <a:pt x="135" y="97"/>
                        </a:lnTo>
                        <a:lnTo>
                          <a:pt x="132" y="107"/>
                        </a:lnTo>
                        <a:lnTo>
                          <a:pt x="132" y="116"/>
                        </a:lnTo>
                        <a:lnTo>
                          <a:pt x="126" y="118"/>
                        </a:lnTo>
                        <a:lnTo>
                          <a:pt x="119" y="123"/>
                        </a:lnTo>
                      </a:path>
                    </a:pathLst>
                  </a:custGeom>
                  <a:solidFill>
                    <a:srgbClr val="3333CC"/>
                  </a:solidFill>
                  <a:ln w="76200" cap="rnd" cmpd="sng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>
                    <a:outerShdw dist="107763" dir="2700000" algn="ctr" rotWithShape="0">
                      <a:srgbClr val="1C1C1C"/>
                    </a:outerShdw>
                  </a:effectLst>
                </p:spPr>
                <p:txBody>
                  <a:bodyPr wrap="none" lIns="93067" tIns="45717" rIns="93067" bIns="45717">
                    <a:spAutoFit/>
                  </a:bodyPr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TW" alt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407" name="Freeform 91"/>
                  <p:cNvSpPr>
                    <a:spLocks/>
                  </p:cNvSpPr>
                  <p:nvPr/>
                </p:nvSpPr>
                <p:spPr bwMode="auto">
                  <a:xfrm>
                    <a:off x="4343" y="2594"/>
                    <a:ext cx="11" cy="16"/>
                  </a:xfrm>
                  <a:custGeom>
                    <a:avLst/>
                    <a:gdLst/>
                    <a:ahLst/>
                    <a:cxnLst>
                      <a:cxn ang="0">
                        <a:pos x="5" y="14"/>
                      </a:cxn>
                      <a:cxn ang="0">
                        <a:pos x="2" y="11"/>
                      </a:cxn>
                      <a:cxn ang="0">
                        <a:pos x="2" y="9"/>
                      </a:cxn>
                      <a:cxn ang="0">
                        <a:pos x="2" y="6"/>
                      </a:cxn>
                      <a:cxn ang="0">
                        <a:pos x="1" y="4"/>
                      </a:cxn>
                      <a:cxn ang="0">
                        <a:pos x="0" y="0"/>
                      </a:cxn>
                      <a:cxn ang="0">
                        <a:pos x="2" y="0"/>
                      </a:cxn>
                      <a:cxn ang="0">
                        <a:pos x="5" y="2"/>
                      </a:cxn>
                      <a:cxn ang="0">
                        <a:pos x="7" y="1"/>
                      </a:cxn>
                      <a:cxn ang="0">
                        <a:pos x="8" y="1"/>
                      </a:cxn>
                      <a:cxn ang="0">
                        <a:pos x="10" y="0"/>
                      </a:cxn>
                      <a:cxn ang="0">
                        <a:pos x="10" y="6"/>
                      </a:cxn>
                      <a:cxn ang="0">
                        <a:pos x="9" y="9"/>
                      </a:cxn>
                      <a:cxn ang="0">
                        <a:pos x="8" y="11"/>
                      </a:cxn>
                      <a:cxn ang="0">
                        <a:pos x="8" y="13"/>
                      </a:cxn>
                      <a:cxn ang="0">
                        <a:pos x="7" y="14"/>
                      </a:cxn>
                      <a:cxn ang="0">
                        <a:pos x="7" y="15"/>
                      </a:cxn>
                      <a:cxn ang="0">
                        <a:pos x="5" y="14"/>
                      </a:cxn>
                    </a:cxnLst>
                    <a:rect l="0" t="0" r="r" b="b"/>
                    <a:pathLst>
                      <a:path w="11" h="16">
                        <a:moveTo>
                          <a:pt x="5" y="14"/>
                        </a:moveTo>
                        <a:lnTo>
                          <a:pt x="2" y="11"/>
                        </a:lnTo>
                        <a:lnTo>
                          <a:pt x="2" y="9"/>
                        </a:lnTo>
                        <a:lnTo>
                          <a:pt x="2" y="6"/>
                        </a:lnTo>
                        <a:lnTo>
                          <a:pt x="1" y="4"/>
                        </a:lnTo>
                        <a:lnTo>
                          <a:pt x="0" y="0"/>
                        </a:lnTo>
                        <a:lnTo>
                          <a:pt x="2" y="0"/>
                        </a:lnTo>
                        <a:lnTo>
                          <a:pt x="5" y="2"/>
                        </a:lnTo>
                        <a:lnTo>
                          <a:pt x="7" y="1"/>
                        </a:lnTo>
                        <a:lnTo>
                          <a:pt x="8" y="1"/>
                        </a:lnTo>
                        <a:lnTo>
                          <a:pt x="10" y="0"/>
                        </a:lnTo>
                        <a:lnTo>
                          <a:pt x="10" y="6"/>
                        </a:lnTo>
                        <a:lnTo>
                          <a:pt x="9" y="9"/>
                        </a:lnTo>
                        <a:lnTo>
                          <a:pt x="8" y="11"/>
                        </a:lnTo>
                        <a:lnTo>
                          <a:pt x="8" y="13"/>
                        </a:lnTo>
                        <a:lnTo>
                          <a:pt x="7" y="14"/>
                        </a:lnTo>
                        <a:lnTo>
                          <a:pt x="7" y="15"/>
                        </a:lnTo>
                        <a:lnTo>
                          <a:pt x="5" y="14"/>
                        </a:lnTo>
                      </a:path>
                    </a:pathLst>
                  </a:custGeom>
                  <a:solidFill>
                    <a:srgbClr val="3333CC"/>
                  </a:solidFill>
                  <a:ln w="76200" cap="rnd" cmpd="sng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>
                    <a:outerShdw dist="107763" dir="2700000" algn="ctr" rotWithShape="0">
                      <a:srgbClr val="1C1C1C"/>
                    </a:outerShdw>
                  </a:effectLst>
                </p:spPr>
                <p:txBody>
                  <a:bodyPr wrap="none" lIns="93067" tIns="45717" rIns="93067" bIns="45717">
                    <a:spAutoFit/>
                  </a:bodyPr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TW" alt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408" name="Freeform 92"/>
                  <p:cNvSpPr>
                    <a:spLocks/>
                  </p:cNvSpPr>
                  <p:nvPr/>
                </p:nvSpPr>
                <p:spPr bwMode="auto">
                  <a:xfrm>
                    <a:off x="3844" y="2452"/>
                    <a:ext cx="16" cy="60"/>
                  </a:xfrm>
                  <a:custGeom>
                    <a:avLst/>
                    <a:gdLst/>
                    <a:ahLst/>
                    <a:cxnLst>
                      <a:cxn ang="0">
                        <a:pos x="2" y="21"/>
                      </a:cxn>
                      <a:cxn ang="0">
                        <a:pos x="8" y="16"/>
                      </a:cxn>
                      <a:cxn ang="0">
                        <a:pos x="12" y="0"/>
                      </a:cxn>
                      <a:cxn ang="0">
                        <a:pos x="15" y="24"/>
                      </a:cxn>
                      <a:cxn ang="0">
                        <a:pos x="10" y="53"/>
                      </a:cxn>
                      <a:cxn ang="0">
                        <a:pos x="0" y="59"/>
                      </a:cxn>
                      <a:cxn ang="0">
                        <a:pos x="0" y="45"/>
                      </a:cxn>
                      <a:cxn ang="0">
                        <a:pos x="3" y="36"/>
                      </a:cxn>
                      <a:cxn ang="0">
                        <a:pos x="2" y="21"/>
                      </a:cxn>
                    </a:cxnLst>
                    <a:rect l="0" t="0" r="r" b="b"/>
                    <a:pathLst>
                      <a:path w="16" h="60">
                        <a:moveTo>
                          <a:pt x="2" y="21"/>
                        </a:moveTo>
                        <a:lnTo>
                          <a:pt x="8" y="16"/>
                        </a:lnTo>
                        <a:lnTo>
                          <a:pt x="12" y="0"/>
                        </a:lnTo>
                        <a:lnTo>
                          <a:pt x="15" y="24"/>
                        </a:lnTo>
                        <a:lnTo>
                          <a:pt x="10" y="53"/>
                        </a:lnTo>
                        <a:lnTo>
                          <a:pt x="0" y="59"/>
                        </a:lnTo>
                        <a:lnTo>
                          <a:pt x="0" y="45"/>
                        </a:lnTo>
                        <a:lnTo>
                          <a:pt x="3" y="36"/>
                        </a:lnTo>
                        <a:lnTo>
                          <a:pt x="2" y="21"/>
                        </a:lnTo>
                      </a:path>
                    </a:pathLst>
                  </a:custGeom>
                  <a:solidFill>
                    <a:srgbClr val="3333CC"/>
                  </a:solidFill>
                  <a:ln w="76200" cap="rnd" cmpd="sng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>
                    <a:outerShdw dist="107763" dir="2700000" algn="ctr" rotWithShape="0">
                      <a:srgbClr val="1C1C1C"/>
                    </a:outerShdw>
                  </a:effectLst>
                </p:spPr>
                <p:txBody>
                  <a:bodyPr wrap="none" lIns="93067" tIns="45717" rIns="93067" bIns="45717">
                    <a:spAutoFit/>
                  </a:bodyPr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TW" alt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</a:endParaRPr>
                  </a:p>
                </p:txBody>
              </p:sp>
            </p:grpSp>
          </p:grpSp>
        </p:grpSp>
        <p:graphicFrame>
          <p:nvGraphicFramePr>
            <p:cNvPr id="414" name="Object 93">
              <a:hlinkClick r:id="" action="ppaction://ole?verb=0"/>
            </p:cNvPr>
            <p:cNvGraphicFramePr>
              <a:graphicFrameLocks/>
            </p:cNvGraphicFramePr>
            <p:nvPr/>
          </p:nvGraphicFramePr>
          <p:xfrm>
            <a:off x="2968179" y="2543572"/>
            <a:ext cx="2460625" cy="1290637"/>
          </p:xfrm>
          <a:graphic>
            <a:graphicData uri="http://schemas.openxmlformats.org/presentationml/2006/ole">
              <p:oleObj spid="_x0000_s2068" name="Clip" r:id="rId3" imgW="6360840" imgH="2412720" progId="">
                <p:embed/>
              </p:oleObj>
            </a:graphicData>
          </a:graphic>
        </p:graphicFrame>
        <p:pic>
          <p:nvPicPr>
            <p:cNvPr id="415" name="Picture 94" descr="a8-129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5800279" y="5069284"/>
              <a:ext cx="3108325" cy="14192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416" name="Rectangle 95"/>
            <p:cNvSpPr>
              <a:spLocks noChangeArrowheads="1"/>
            </p:cNvSpPr>
            <p:nvPr/>
          </p:nvSpPr>
          <p:spPr bwMode="auto">
            <a:xfrm>
              <a:off x="6059041" y="6425009"/>
              <a:ext cx="3035300" cy="47772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88898" tIns="44449" rIns="88898" bIns="44449">
              <a:spAutoFit/>
            </a:bodyPr>
            <a:lstStyle/>
            <a:p>
              <a:pPr algn="l" defTabSz="906463" eaLnBrk="0" hangingPunct="0"/>
              <a:r>
                <a:rPr lang="en-US" altLang="zh-TW" sz="2400" dirty="0"/>
                <a:t>Military Applications</a:t>
              </a:r>
            </a:p>
          </p:txBody>
        </p:sp>
        <p:sp>
          <p:nvSpPr>
            <p:cNvPr id="417" name="Rectangle 96"/>
            <p:cNvSpPr>
              <a:spLocks noChangeArrowheads="1"/>
            </p:cNvSpPr>
            <p:nvPr/>
          </p:nvSpPr>
          <p:spPr bwMode="auto">
            <a:xfrm>
              <a:off x="3060254" y="6313884"/>
              <a:ext cx="2211387" cy="477721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90480" tIns="44446" rIns="90480" bIns="44446">
              <a:spAutoFit/>
            </a:bodyPr>
            <a:lstStyle/>
            <a:p>
              <a:pPr algn="l" eaLnBrk="0" hangingPunct="0"/>
              <a:r>
                <a:rPr lang="en-US" altLang="zh-TW" sz="2400" dirty="0"/>
                <a:t>Digital Biology</a:t>
              </a:r>
            </a:p>
          </p:txBody>
        </p:sp>
        <p:pic>
          <p:nvPicPr>
            <p:cNvPr id="418" name="Picture 97" descr="frog"/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4984304" y="3723084"/>
              <a:ext cx="1323975" cy="11874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419" name="Picture 98" descr="butterfly"/>
            <p:cNvPicPr>
              <a:picLocks noChangeAspect="1" noChangeArrowheads="1"/>
            </p:cNvPicPr>
            <p:nvPr/>
          </p:nvPicPr>
          <p:blipFill>
            <a:blip r:embed="rId6" cstate="print"/>
            <a:srcRect/>
            <a:stretch>
              <a:fillRect/>
            </a:stretch>
          </p:blipFill>
          <p:spPr bwMode="auto">
            <a:xfrm>
              <a:off x="3282504" y="4994672"/>
              <a:ext cx="2119312" cy="12604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420" name="Picture 99" descr="HumanGenome"/>
            <p:cNvPicPr>
              <a:picLocks noChangeAspect="1" noChangeArrowheads="1"/>
            </p:cNvPicPr>
            <p:nvPr/>
          </p:nvPicPr>
          <p:blipFill>
            <a:blip r:embed="rId7" cstate="print"/>
            <a:srcRect/>
            <a:stretch>
              <a:fillRect/>
            </a:stretch>
          </p:blipFill>
          <p:spPr bwMode="auto">
            <a:xfrm>
              <a:off x="1726754" y="2770584"/>
              <a:ext cx="1714500" cy="17795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grpSp>
          <p:nvGrpSpPr>
            <p:cNvPr id="423" name="Group 102"/>
            <p:cNvGrpSpPr>
              <a:grpSpLocks/>
            </p:cNvGrpSpPr>
            <p:nvPr/>
          </p:nvGrpSpPr>
          <p:grpSpPr bwMode="auto">
            <a:xfrm>
              <a:off x="7362379" y="2537222"/>
              <a:ext cx="1731962" cy="1755775"/>
              <a:chOff x="4669" y="1581"/>
              <a:chExt cx="1091" cy="1106"/>
            </a:xfrm>
          </p:grpSpPr>
          <p:graphicFrame>
            <p:nvGraphicFramePr>
              <p:cNvPr id="424" name="Object 103"/>
              <p:cNvGraphicFramePr>
                <a:graphicFrameLocks noChangeAspect="1"/>
              </p:cNvGraphicFramePr>
              <p:nvPr/>
            </p:nvGraphicFramePr>
            <p:xfrm>
              <a:off x="4711" y="1581"/>
              <a:ext cx="886" cy="801"/>
            </p:xfrm>
            <a:graphic>
              <a:graphicData uri="http://schemas.openxmlformats.org/presentationml/2006/ole">
                <p:oleObj spid="_x0000_s2069" name="Clip" r:id="rId8" imgW="3717360" imgH="3352320" progId="">
                  <p:embed/>
                </p:oleObj>
              </a:graphicData>
            </a:graphic>
          </p:graphicFrame>
          <p:grpSp>
            <p:nvGrpSpPr>
              <p:cNvPr id="425" name="Group 104"/>
              <p:cNvGrpSpPr>
                <a:grpSpLocks/>
              </p:cNvGrpSpPr>
              <p:nvPr/>
            </p:nvGrpSpPr>
            <p:grpSpPr bwMode="auto">
              <a:xfrm>
                <a:off x="4663" y="2193"/>
                <a:ext cx="1089" cy="501"/>
                <a:chOff x="4032" y="1488"/>
                <a:chExt cx="1123" cy="512"/>
              </a:xfrm>
            </p:grpSpPr>
            <p:graphicFrame>
              <p:nvGraphicFramePr>
                <p:cNvPr id="426" name="Object 105"/>
                <p:cNvGraphicFramePr>
                  <a:graphicFrameLocks noChangeAspect="1"/>
                </p:cNvGraphicFramePr>
                <p:nvPr/>
              </p:nvGraphicFramePr>
              <p:xfrm>
                <a:off x="4032" y="1488"/>
                <a:ext cx="950" cy="359"/>
              </p:xfrm>
              <a:graphic>
                <a:graphicData uri="http://schemas.openxmlformats.org/presentationml/2006/ole">
                  <p:oleObj spid="_x0000_s2070" name="Clip" r:id="rId9" imgW="6133680" imgH="2634840" progId="">
                    <p:embed/>
                  </p:oleObj>
                </a:graphicData>
              </a:graphic>
            </p:graphicFrame>
            <p:graphicFrame>
              <p:nvGraphicFramePr>
                <p:cNvPr id="427" name="Object 106"/>
                <p:cNvGraphicFramePr>
                  <a:graphicFrameLocks noChangeAspect="1"/>
                </p:cNvGraphicFramePr>
                <p:nvPr/>
              </p:nvGraphicFramePr>
              <p:xfrm>
                <a:off x="4090" y="1539"/>
                <a:ext cx="950" cy="359"/>
              </p:xfrm>
              <a:graphic>
                <a:graphicData uri="http://schemas.openxmlformats.org/presentationml/2006/ole">
                  <p:oleObj spid="_x0000_s2071" name="Clip" r:id="rId10" imgW="6133680" imgH="2634840" progId="">
                    <p:embed/>
                  </p:oleObj>
                </a:graphicData>
              </a:graphic>
            </p:graphicFrame>
            <p:graphicFrame>
              <p:nvGraphicFramePr>
                <p:cNvPr id="428" name="Object 107"/>
                <p:cNvGraphicFramePr>
                  <a:graphicFrameLocks noChangeAspect="1"/>
                </p:cNvGraphicFramePr>
                <p:nvPr/>
              </p:nvGraphicFramePr>
              <p:xfrm>
                <a:off x="4147" y="1590"/>
                <a:ext cx="951" cy="359"/>
              </p:xfrm>
              <a:graphic>
                <a:graphicData uri="http://schemas.openxmlformats.org/presentationml/2006/ole">
                  <p:oleObj spid="_x0000_s2072" name="Clip" r:id="rId11" imgW="6133680" imgH="2634840" progId="">
                    <p:embed/>
                  </p:oleObj>
                </a:graphicData>
              </a:graphic>
            </p:graphicFrame>
            <p:graphicFrame>
              <p:nvGraphicFramePr>
                <p:cNvPr id="429" name="Object 108"/>
                <p:cNvGraphicFramePr>
                  <a:graphicFrameLocks noChangeAspect="1"/>
                </p:cNvGraphicFramePr>
                <p:nvPr/>
              </p:nvGraphicFramePr>
              <p:xfrm>
                <a:off x="4205" y="1640"/>
                <a:ext cx="950" cy="360"/>
              </p:xfrm>
              <a:graphic>
                <a:graphicData uri="http://schemas.openxmlformats.org/presentationml/2006/ole">
                  <p:oleObj spid="_x0000_s2073" name="Clip" r:id="rId12" imgW="6133680" imgH="2634840" progId="">
                    <p:embed/>
                  </p:oleObj>
                </a:graphicData>
              </a:graphic>
            </p:graphicFrame>
          </p:grpSp>
        </p:grpSp>
        <p:sp>
          <p:nvSpPr>
            <p:cNvPr id="430" name="Rectangle 109"/>
            <p:cNvSpPr>
              <a:spLocks noChangeArrowheads="1"/>
            </p:cNvSpPr>
            <p:nvPr/>
          </p:nvSpPr>
          <p:spPr bwMode="auto">
            <a:xfrm>
              <a:off x="7386191" y="4218384"/>
              <a:ext cx="1708150" cy="862047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88898" tIns="44449" rIns="88898" bIns="44449">
              <a:spAutoFit/>
            </a:bodyPr>
            <a:lstStyle/>
            <a:p>
              <a:pPr algn="l" defTabSz="906463" eaLnBrk="0" hangingPunct="0"/>
              <a:r>
                <a:rPr lang="en-US" altLang="zh-TW" sz="2400"/>
                <a:t>Internet &amp; </a:t>
              </a:r>
            </a:p>
            <a:p>
              <a:pPr algn="l" defTabSz="906463" eaLnBrk="0" hangingPunct="0"/>
              <a:r>
                <a:rPr lang="en-US" altLang="zh-TW" sz="2400"/>
                <a:t>Ecommerce</a:t>
              </a:r>
            </a:p>
          </p:txBody>
        </p:sp>
        <p:pic>
          <p:nvPicPr>
            <p:cNvPr id="431" name="Picture 110" descr="hiv_rt"/>
            <p:cNvPicPr>
              <a:picLocks noChangeAspect="1" noChangeArrowheads="1"/>
            </p:cNvPicPr>
            <p:nvPr/>
          </p:nvPicPr>
          <p:blipFill>
            <a:blip r:embed="rId13" cstate="print"/>
            <a:srcRect/>
            <a:stretch>
              <a:fillRect/>
            </a:stretch>
          </p:blipFill>
          <p:spPr bwMode="auto">
            <a:xfrm>
              <a:off x="107504" y="2541984"/>
              <a:ext cx="1824037" cy="19050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How to Run Applications Faster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97152"/>
          </a:xfrm>
        </p:spPr>
        <p:txBody>
          <a:bodyPr>
            <a:normAutofit/>
          </a:bodyPr>
          <a:lstStyle/>
          <a:p>
            <a:r>
              <a:rPr lang="en-US" altLang="zh-TW" dirty="0" smtClean="0"/>
              <a:t>There are 3 ways to improve performance:</a:t>
            </a:r>
          </a:p>
          <a:p>
            <a:pPr lvl="1"/>
            <a:r>
              <a:rPr lang="en-US" altLang="zh-TW" dirty="0" smtClean="0"/>
              <a:t>Work Harder</a:t>
            </a:r>
          </a:p>
          <a:p>
            <a:pPr lvl="1"/>
            <a:r>
              <a:rPr lang="en-US" altLang="zh-TW" dirty="0" smtClean="0"/>
              <a:t>Work Smarter</a:t>
            </a:r>
          </a:p>
          <a:p>
            <a:pPr lvl="1"/>
            <a:r>
              <a:rPr lang="en-US" altLang="zh-TW" dirty="0" smtClean="0"/>
              <a:t>Get Help</a:t>
            </a:r>
          </a:p>
          <a:p>
            <a:endParaRPr lang="en-US" altLang="zh-TW" dirty="0" smtClean="0"/>
          </a:p>
          <a:p>
            <a:r>
              <a:rPr lang="en-US" altLang="zh-TW" dirty="0" smtClean="0"/>
              <a:t>Computer analogy</a:t>
            </a:r>
          </a:p>
          <a:p>
            <a:pPr lvl="1"/>
            <a:r>
              <a:rPr lang="en-US" altLang="zh-TW" dirty="0" smtClean="0"/>
              <a:t>Using faster hardware</a:t>
            </a:r>
          </a:p>
          <a:p>
            <a:pPr lvl="1"/>
            <a:r>
              <a:rPr lang="en-US" altLang="zh-TW" dirty="0" smtClean="0"/>
              <a:t>Using optimized algorithms and techniques to solve computational tasks</a:t>
            </a:r>
          </a:p>
          <a:p>
            <a:pPr lvl="1"/>
            <a:r>
              <a:rPr lang="en-US" altLang="zh-TW" dirty="0" smtClean="0"/>
              <a:t>Using multiple computers to solve a particular task</a:t>
            </a:r>
          </a:p>
          <a:p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/>
              <a:t>History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97152"/>
          </a:xfrm>
        </p:spPr>
        <p:txBody>
          <a:bodyPr>
            <a:normAutofit/>
          </a:bodyPr>
          <a:lstStyle/>
          <a:p>
            <a:r>
              <a:rPr lang="en-US" altLang="zh-TW" dirty="0" smtClean="0"/>
              <a:t>In the 1980s</a:t>
            </a:r>
          </a:p>
          <a:p>
            <a:pPr lvl="1"/>
            <a:r>
              <a:rPr lang="en-US" altLang="zh-TW" dirty="0" smtClean="0"/>
              <a:t>Computer performance was best improved by creating faster and more efficient processors</a:t>
            </a:r>
          </a:p>
          <a:p>
            <a:endParaRPr lang="en-US" altLang="zh-TW" dirty="0" smtClean="0"/>
          </a:p>
          <a:p>
            <a:r>
              <a:rPr lang="en-US" altLang="zh-TW" dirty="0" smtClean="0"/>
              <a:t>In the early 1990s</a:t>
            </a:r>
          </a:p>
          <a:p>
            <a:pPr lvl="1"/>
            <a:r>
              <a:rPr lang="en-US" altLang="zh-TW" dirty="0" smtClean="0"/>
              <a:t>An increasing trend to move away from expensive and specialized proprietary parallel supercomputers towards networks of workstations</a:t>
            </a:r>
          </a:p>
          <a:p>
            <a:endParaRPr lang="en-US" altLang="zh-TW" dirty="0" smtClean="0"/>
          </a:p>
        </p:txBody>
      </p:sp>
      <p:pic>
        <p:nvPicPr>
          <p:cNvPr id="44033" name="Picture 1" descr="C:\Documents and Settings\5G\Local Settings\Temporary Internet Files\Content.IE5\4TUVSL27\dglxasset[4].aspx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106869" y="4794571"/>
            <a:ext cx="1425571" cy="2018805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Towards Commodity Computing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97152"/>
          </a:xfrm>
        </p:spPr>
        <p:txBody>
          <a:bodyPr>
            <a:normAutofit/>
          </a:bodyPr>
          <a:lstStyle/>
          <a:p>
            <a:r>
              <a:rPr lang="en-US" altLang="zh-TW" dirty="0" smtClean="0"/>
              <a:t>Trend of computing</a:t>
            </a:r>
          </a:p>
          <a:p>
            <a:pPr lvl="1"/>
            <a:r>
              <a:rPr lang="en-US" altLang="zh-TW" dirty="0" smtClean="0"/>
              <a:t>From specialized traditional supercomputing platforms </a:t>
            </a:r>
          </a:p>
          <a:p>
            <a:pPr lvl="1"/>
            <a:r>
              <a:rPr lang="en-US" altLang="zh-TW" dirty="0" smtClean="0"/>
              <a:t>To </a:t>
            </a:r>
            <a:r>
              <a:rPr lang="en-US" altLang="zh-TW" dirty="0" smtClean="0">
                <a:ea typeface="新細明體" charset="-120"/>
              </a:rPr>
              <a:t>inexpensive</a:t>
            </a:r>
            <a:r>
              <a:rPr lang="en-US" altLang="zh-TW" dirty="0" smtClean="0"/>
              <a:t>, general purpose systems consisting of loosely coupled components built up from single or multiprocessor PCs or workstations</a:t>
            </a:r>
          </a:p>
          <a:p>
            <a:pPr lvl="1"/>
            <a:endParaRPr lang="en-US" altLang="zh-TW" dirty="0" smtClean="0"/>
          </a:p>
          <a:p>
            <a:r>
              <a:rPr lang="en-US" altLang="zh-TW" dirty="0" smtClean="0"/>
              <a:t>Low-cost commodity supercomputing</a:t>
            </a:r>
          </a:p>
          <a:p>
            <a:pPr lvl="1"/>
            <a:r>
              <a:rPr lang="en-US" altLang="zh-TW" dirty="0" smtClean="0"/>
              <a:t>Linking together two or more computers to jointly solve some computational problem</a:t>
            </a:r>
          </a:p>
          <a:p>
            <a:pPr lvl="1"/>
            <a:r>
              <a:rPr lang="en-US" altLang="zh-TW" dirty="0" smtClean="0"/>
              <a:t>Providing high performance computational facilities for large-scale and grand-challenge applications</a:t>
            </a:r>
          </a:p>
          <a:p>
            <a:pPr lvl="1"/>
            <a:endParaRPr lang="en-US" altLang="zh-TW" dirty="0" smtClean="0"/>
          </a:p>
          <a:p>
            <a:pPr lvl="1"/>
            <a:endParaRPr lang="en-US" altLang="zh-TW" dirty="0" smtClean="0"/>
          </a:p>
          <a:p>
            <a:endParaRPr lang="en-US" altLang="zh-TW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/>
              <a:t>Traditional Food Chain</a:t>
            </a:r>
            <a:endParaRPr lang="zh-TW" altLang="en-US" dirty="0"/>
          </a:p>
        </p:txBody>
      </p:sp>
      <p:grpSp>
        <p:nvGrpSpPr>
          <p:cNvPr id="7" name="群組 6"/>
          <p:cNvGrpSpPr/>
          <p:nvPr/>
        </p:nvGrpSpPr>
        <p:grpSpPr>
          <a:xfrm>
            <a:off x="9540552" y="2971006"/>
            <a:ext cx="6967413" cy="915988"/>
            <a:chOff x="2195736" y="3068960"/>
            <a:chExt cx="6967413" cy="915988"/>
          </a:xfrm>
        </p:grpSpPr>
        <p:graphicFrame>
          <p:nvGraphicFramePr>
            <p:cNvPr id="31" name="Object 3">
              <a:hlinkClick r:id="" action="ppaction://ole?verb=0"/>
            </p:cNvPr>
            <p:cNvGraphicFramePr>
              <a:graphicFrameLocks/>
            </p:cNvGraphicFramePr>
            <p:nvPr/>
          </p:nvGraphicFramePr>
          <p:xfrm>
            <a:off x="6588224" y="3068960"/>
            <a:ext cx="2574925" cy="915988"/>
          </p:xfrm>
          <a:graphic>
            <a:graphicData uri="http://schemas.openxmlformats.org/presentationml/2006/ole">
              <p:oleObj spid="_x0000_s35842" name="Clip" r:id="rId4" imgW="2573280" imgH="914400" progId="">
                <p:embed/>
              </p:oleObj>
            </a:graphicData>
          </a:graphic>
        </p:graphicFrame>
        <p:graphicFrame>
          <p:nvGraphicFramePr>
            <p:cNvPr id="33" name="Object 5">
              <a:hlinkClick r:id="" action="ppaction://ole?verb=0"/>
            </p:cNvPr>
            <p:cNvGraphicFramePr>
              <a:graphicFrameLocks/>
            </p:cNvGraphicFramePr>
            <p:nvPr/>
          </p:nvGraphicFramePr>
          <p:xfrm>
            <a:off x="4788024" y="3284984"/>
            <a:ext cx="1268413" cy="455613"/>
          </p:xfrm>
          <a:graphic>
            <a:graphicData uri="http://schemas.openxmlformats.org/presentationml/2006/ole">
              <p:oleObj spid="_x0000_s35843" name="Clip" r:id="rId5" imgW="1266480" imgH="453960" progId="">
                <p:embed/>
              </p:oleObj>
            </a:graphicData>
          </a:graphic>
        </p:graphicFrame>
        <p:graphicFrame>
          <p:nvGraphicFramePr>
            <p:cNvPr id="34" name="Object 6">
              <a:hlinkClick r:id="" action="ppaction://ole?verb=0"/>
            </p:cNvPr>
            <p:cNvGraphicFramePr>
              <a:graphicFrameLocks/>
            </p:cNvGraphicFramePr>
            <p:nvPr/>
          </p:nvGraphicFramePr>
          <p:xfrm>
            <a:off x="3347864" y="3356992"/>
            <a:ext cx="890587" cy="322263"/>
          </p:xfrm>
          <a:graphic>
            <a:graphicData uri="http://schemas.openxmlformats.org/presentationml/2006/ole">
              <p:oleObj spid="_x0000_s35844" name="Clip" r:id="rId6" imgW="888840" imgH="320400" progId="">
                <p:embed/>
              </p:oleObj>
            </a:graphicData>
          </a:graphic>
        </p:graphicFrame>
        <p:graphicFrame>
          <p:nvGraphicFramePr>
            <p:cNvPr id="35" name="Object 7">
              <a:hlinkClick r:id="" action="ppaction://ole?verb=0"/>
            </p:cNvPr>
            <p:cNvGraphicFramePr>
              <a:graphicFrameLocks/>
            </p:cNvGraphicFramePr>
            <p:nvPr/>
          </p:nvGraphicFramePr>
          <p:xfrm>
            <a:off x="2195736" y="3412654"/>
            <a:ext cx="623887" cy="228600"/>
          </p:xfrm>
          <a:graphic>
            <a:graphicData uri="http://schemas.openxmlformats.org/presentationml/2006/ole">
              <p:oleObj spid="_x0000_s35845" name="Clip" r:id="rId7" imgW="622080" imgH="228600" progId="">
                <p:embed/>
              </p:oleObj>
            </a:graphicData>
          </a:graphic>
        </p:graphicFrame>
      </p:grpSp>
      <p:grpSp>
        <p:nvGrpSpPr>
          <p:cNvPr id="8" name="群組 7"/>
          <p:cNvGrpSpPr/>
          <p:nvPr/>
        </p:nvGrpSpPr>
        <p:grpSpPr>
          <a:xfrm>
            <a:off x="1763688" y="2971006"/>
            <a:ext cx="6967413" cy="915988"/>
            <a:chOff x="2195736" y="3068960"/>
            <a:chExt cx="6967413" cy="915988"/>
          </a:xfrm>
        </p:grpSpPr>
        <p:graphicFrame>
          <p:nvGraphicFramePr>
            <p:cNvPr id="9" name="Object 3">
              <a:hlinkClick r:id="" action="ppaction://ole?verb=0"/>
            </p:cNvPr>
            <p:cNvGraphicFramePr>
              <a:graphicFrameLocks/>
            </p:cNvGraphicFramePr>
            <p:nvPr/>
          </p:nvGraphicFramePr>
          <p:xfrm>
            <a:off x="6588224" y="3068960"/>
            <a:ext cx="2574925" cy="915988"/>
          </p:xfrm>
          <a:graphic>
            <a:graphicData uri="http://schemas.openxmlformats.org/presentationml/2006/ole">
              <p:oleObj spid="_x0000_s35846" name="Clip" r:id="rId8" imgW="2573280" imgH="914400" progId="">
                <p:embed/>
              </p:oleObj>
            </a:graphicData>
          </a:graphic>
        </p:graphicFrame>
        <p:graphicFrame>
          <p:nvGraphicFramePr>
            <p:cNvPr id="10" name="Object 5">
              <a:hlinkClick r:id="" action="ppaction://ole?verb=0"/>
            </p:cNvPr>
            <p:cNvGraphicFramePr>
              <a:graphicFrameLocks/>
            </p:cNvGraphicFramePr>
            <p:nvPr/>
          </p:nvGraphicFramePr>
          <p:xfrm>
            <a:off x="4788024" y="3284984"/>
            <a:ext cx="1268413" cy="455613"/>
          </p:xfrm>
          <a:graphic>
            <a:graphicData uri="http://schemas.openxmlformats.org/presentationml/2006/ole">
              <p:oleObj spid="_x0000_s35847" name="Clip" r:id="rId9" imgW="1266480" imgH="453960" progId="">
                <p:embed/>
              </p:oleObj>
            </a:graphicData>
          </a:graphic>
        </p:graphicFrame>
        <p:graphicFrame>
          <p:nvGraphicFramePr>
            <p:cNvPr id="11" name="Object 6">
              <a:hlinkClick r:id="" action="ppaction://ole?verb=0"/>
            </p:cNvPr>
            <p:cNvGraphicFramePr>
              <a:graphicFrameLocks/>
            </p:cNvGraphicFramePr>
            <p:nvPr/>
          </p:nvGraphicFramePr>
          <p:xfrm>
            <a:off x="3347864" y="3356992"/>
            <a:ext cx="890587" cy="322263"/>
          </p:xfrm>
          <a:graphic>
            <a:graphicData uri="http://schemas.openxmlformats.org/presentationml/2006/ole">
              <p:oleObj spid="_x0000_s35848" name="Clip" r:id="rId10" imgW="888840" imgH="320400" progId="">
                <p:embed/>
              </p:oleObj>
            </a:graphicData>
          </a:graphic>
        </p:graphicFrame>
        <p:graphicFrame>
          <p:nvGraphicFramePr>
            <p:cNvPr id="12" name="Object 7">
              <a:hlinkClick r:id="" action="ppaction://ole?verb=0"/>
            </p:cNvPr>
            <p:cNvGraphicFramePr>
              <a:graphicFrameLocks/>
            </p:cNvGraphicFramePr>
            <p:nvPr/>
          </p:nvGraphicFramePr>
          <p:xfrm>
            <a:off x="2195736" y="3412654"/>
            <a:ext cx="623887" cy="228600"/>
          </p:xfrm>
          <a:graphic>
            <a:graphicData uri="http://schemas.openxmlformats.org/presentationml/2006/ole">
              <p:oleObj spid="_x0000_s35849" name="Clip" r:id="rId11" imgW="622080" imgH="228600" progId="">
                <p:embed/>
              </p:oleObj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path" presetSubtype="0" ac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7778E-6 -4.34883E-6 L -1.80243 -0.0037 " pathEditMode="relative" rAng="0" ptsTypes="AA">
                                      <p:cBhvr>
                                        <p:cTn id="6" dur="7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901" y="-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700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Food Chain of Computer</a:t>
            </a:r>
            <a:endParaRPr lang="zh-TW" altLang="en-US" dirty="0"/>
          </a:p>
        </p:txBody>
      </p:sp>
      <p:grpSp>
        <p:nvGrpSpPr>
          <p:cNvPr id="24" name="群組 23"/>
          <p:cNvGrpSpPr/>
          <p:nvPr/>
        </p:nvGrpSpPr>
        <p:grpSpPr>
          <a:xfrm>
            <a:off x="1493391" y="2850150"/>
            <a:ext cx="7039049" cy="1157700"/>
            <a:chOff x="1349375" y="2759075"/>
            <a:chExt cx="7039049" cy="1157700"/>
          </a:xfrm>
        </p:grpSpPr>
        <p:grpSp>
          <p:nvGrpSpPr>
            <p:cNvPr id="20" name="群組 19"/>
            <p:cNvGrpSpPr/>
            <p:nvPr/>
          </p:nvGrpSpPr>
          <p:grpSpPr>
            <a:xfrm>
              <a:off x="1349375" y="2759075"/>
              <a:ext cx="2574925" cy="1157700"/>
              <a:chOff x="1349375" y="2759075"/>
              <a:chExt cx="2574925" cy="1157700"/>
            </a:xfrm>
          </p:grpSpPr>
          <p:graphicFrame>
            <p:nvGraphicFramePr>
              <p:cNvPr id="31" name="Object 3">
                <a:hlinkClick r:id="" action="ppaction://ole?verb=0"/>
              </p:cNvPr>
              <p:cNvGraphicFramePr>
                <a:graphicFrameLocks/>
              </p:cNvGraphicFramePr>
              <p:nvPr/>
            </p:nvGraphicFramePr>
            <p:xfrm>
              <a:off x="1349375" y="2759075"/>
              <a:ext cx="2574925" cy="915988"/>
            </p:xfrm>
            <a:graphic>
              <a:graphicData uri="http://schemas.openxmlformats.org/presentationml/2006/ole">
                <p:oleObj spid="_x0000_s34818" name="Clip" r:id="rId3" imgW="2573280" imgH="914400" progId="">
                  <p:embed/>
                </p:oleObj>
              </a:graphicData>
            </a:graphic>
          </p:graphicFrame>
          <p:sp>
            <p:nvSpPr>
              <p:cNvPr id="36" name="Rectangle 8"/>
              <p:cNvSpPr>
                <a:spLocks noChangeArrowheads="1"/>
              </p:cNvSpPr>
              <p:nvPr/>
            </p:nvSpPr>
            <p:spPr bwMode="auto">
              <a:xfrm>
                <a:off x="2293938" y="3611563"/>
                <a:ext cx="995466" cy="305212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lIns="90488" tIns="44450" rIns="90488" bIns="4445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400" b="0" i="0" u="none" strike="noStrike" kern="0" cap="none" spc="0" normalizeH="0" baseline="0" noProof="0" dirty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新細明體" charset="-120"/>
                  </a:rPr>
                  <a:t>Mainframe</a:t>
                </a:r>
              </a:p>
            </p:txBody>
          </p:sp>
        </p:grpSp>
        <p:grpSp>
          <p:nvGrpSpPr>
            <p:cNvPr id="21" name="群組 20"/>
            <p:cNvGrpSpPr/>
            <p:nvPr/>
          </p:nvGrpSpPr>
          <p:grpSpPr>
            <a:xfrm>
              <a:off x="4499992" y="2941881"/>
              <a:ext cx="1309469" cy="792088"/>
              <a:chOff x="4499992" y="3068960"/>
              <a:chExt cx="1309469" cy="792088"/>
            </a:xfrm>
          </p:grpSpPr>
          <p:graphicFrame>
            <p:nvGraphicFramePr>
              <p:cNvPr id="33" name="Object 5">
                <a:hlinkClick r:id="" action="ppaction://ole?verb=0"/>
              </p:cNvPr>
              <p:cNvGraphicFramePr>
                <a:graphicFrameLocks/>
              </p:cNvGraphicFramePr>
              <p:nvPr/>
            </p:nvGraphicFramePr>
            <p:xfrm>
              <a:off x="4499992" y="3068960"/>
              <a:ext cx="1268413" cy="455613"/>
            </p:xfrm>
            <a:graphic>
              <a:graphicData uri="http://schemas.openxmlformats.org/presentationml/2006/ole">
                <p:oleObj spid="_x0000_s34820" name="Clip" r:id="rId4" imgW="1266480" imgH="453960" progId="">
                  <p:embed/>
                </p:oleObj>
              </a:graphicData>
            </a:graphic>
          </p:graphicFrame>
          <p:sp>
            <p:nvSpPr>
              <p:cNvPr id="37" name="Rectangle 10"/>
              <p:cNvSpPr>
                <a:spLocks noChangeArrowheads="1"/>
              </p:cNvSpPr>
              <p:nvPr/>
            </p:nvSpPr>
            <p:spPr bwMode="auto">
              <a:xfrm>
                <a:off x="4519042" y="3555836"/>
                <a:ext cx="1290419" cy="305212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lIns="90488" tIns="44450" rIns="90488" bIns="4445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400" b="0" i="0" u="none" strike="noStrike" kern="0" cap="none" spc="0" normalizeH="0" baseline="0" noProof="0" dirty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新細明體" charset="-120"/>
                  </a:rPr>
                  <a:t>Mini Computer</a:t>
                </a:r>
              </a:p>
            </p:txBody>
          </p:sp>
        </p:grpSp>
        <p:grpSp>
          <p:nvGrpSpPr>
            <p:cNvPr id="22" name="群組 21"/>
            <p:cNvGrpSpPr/>
            <p:nvPr/>
          </p:nvGrpSpPr>
          <p:grpSpPr>
            <a:xfrm>
              <a:off x="6288665" y="3013869"/>
              <a:ext cx="1091647" cy="648112"/>
              <a:chOff x="6288665" y="3140968"/>
              <a:chExt cx="1091647" cy="648112"/>
            </a:xfrm>
          </p:grpSpPr>
          <p:graphicFrame>
            <p:nvGraphicFramePr>
              <p:cNvPr id="34" name="Object 6">
                <a:hlinkClick r:id="" action="ppaction://ole?verb=0"/>
              </p:cNvPr>
              <p:cNvGraphicFramePr>
                <a:graphicFrameLocks/>
              </p:cNvGraphicFramePr>
              <p:nvPr/>
            </p:nvGraphicFramePr>
            <p:xfrm>
              <a:off x="6348990" y="3140968"/>
              <a:ext cx="890587" cy="322263"/>
            </p:xfrm>
            <a:graphic>
              <a:graphicData uri="http://schemas.openxmlformats.org/presentationml/2006/ole">
                <p:oleObj spid="_x0000_s34821" name="Clip" r:id="rId5" imgW="888840" imgH="320400" progId="">
                  <p:embed/>
                </p:oleObj>
              </a:graphicData>
            </a:graphic>
          </p:graphicFrame>
          <p:sp>
            <p:nvSpPr>
              <p:cNvPr id="38" name="Rectangle 11"/>
              <p:cNvSpPr>
                <a:spLocks noChangeArrowheads="1"/>
              </p:cNvSpPr>
              <p:nvPr/>
            </p:nvSpPr>
            <p:spPr bwMode="auto">
              <a:xfrm>
                <a:off x="6288665" y="3483868"/>
                <a:ext cx="1091647" cy="305212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lIns="90488" tIns="44450" rIns="90488" bIns="4445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400" b="0" i="0" u="none" strike="noStrike" kern="0" cap="none" spc="0" normalizeH="0" baseline="0" noProof="0" dirty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新細明體" charset="-120"/>
                  </a:rPr>
                  <a:t>Workstation</a:t>
                </a:r>
              </a:p>
            </p:txBody>
          </p:sp>
        </p:grpSp>
        <p:grpSp>
          <p:nvGrpSpPr>
            <p:cNvPr id="23" name="群組 22"/>
            <p:cNvGrpSpPr/>
            <p:nvPr/>
          </p:nvGrpSpPr>
          <p:grpSpPr>
            <a:xfrm>
              <a:off x="7764537" y="3076575"/>
              <a:ext cx="623887" cy="522700"/>
              <a:chOff x="7764537" y="3212976"/>
              <a:chExt cx="623887" cy="522700"/>
            </a:xfrm>
          </p:grpSpPr>
          <p:graphicFrame>
            <p:nvGraphicFramePr>
              <p:cNvPr id="35" name="Object 7">
                <a:hlinkClick r:id="" action="ppaction://ole?verb=0"/>
              </p:cNvPr>
              <p:cNvGraphicFramePr>
                <a:graphicFrameLocks/>
              </p:cNvGraphicFramePr>
              <p:nvPr/>
            </p:nvGraphicFramePr>
            <p:xfrm>
              <a:off x="7764537" y="3212976"/>
              <a:ext cx="623887" cy="228600"/>
            </p:xfrm>
            <a:graphic>
              <a:graphicData uri="http://schemas.openxmlformats.org/presentationml/2006/ole">
                <p:oleObj spid="_x0000_s34822" name="Clip" r:id="rId6" imgW="622080" imgH="228600" progId="">
                  <p:embed/>
                </p:oleObj>
              </a:graphicData>
            </a:graphic>
          </p:graphicFrame>
          <p:sp>
            <p:nvSpPr>
              <p:cNvPr id="39" name="Rectangle 12"/>
              <p:cNvSpPr>
                <a:spLocks noChangeArrowheads="1"/>
              </p:cNvSpPr>
              <p:nvPr/>
            </p:nvSpPr>
            <p:spPr bwMode="auto">
              <a:xfrm>
                <a:off x="7861374" y="3430464"/>
                <a:ext cx="371898" cy="305212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lIns="90488" tIns="44450" rIns="90488" bIns="4445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400" b="0" i="0" u="none" strike="noStrike" kern="0" cap="none" spc="0" normalizeH="0" baseline="0" noProof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新細明體" charset="-120"/>
                  </a:rPr>
                  <a:t>PC</a:t>
                </a:r>
              </a:p>
            </p:txBody>
          </p:sp>
        </p:grpSp>
      </p:grpSp>
      <p:grpSp>
        <p:nvGrpSpPr>
          <p:cNvPr id="25" name="群組 24"/>
          <p:cNvGrpSpPr/>
          <p:nvPr/>
        </p:nvGrpSpPr>
        <p:grpSpPr>
          <a:xfrm>
            <a:off x="9396536" y="2852936"/>
            <a:ext cx="7039049" cy="1157700"/>
            <a:chOff x="1349375" y="2759075"/>
            <a:chExt cx="7039049" cy="1157700"/>
          </a:xfrm>
        </p:grpSpPr>
        <p:grpSp>
          <p:nvGrpSpPr>
            <p:cNvPr id="26" name="群組 25"/>
            <p:cNvGrpSpPr/>
            <p:nvPr/>
          </p:nvGrpSpPr>
          <p:grpSpPr>
            <a:xfrm>
              <a:off x="1349375" y="2759075"/>
              <a:ext cx="2574925" cy="1157700"/>
              <a:chOff x="1349375" y="2759075"/>
              <a:chExt cx="2574925" cy="1157700"/>
            </a:xfrm>
          </p:grpSpPr>
          <p:graphicFrame>
            <p:nvGraphicFramePr>
              <p:cNvPr id="45" name="Object 3">
                <a:hlinkClick r:id="" action="ppaction://ole?verb=0"/>
              </p:cNvPr>
              <p:cNvGraphicFramePr>
                <a:graphicFrameLocks/>
              </p:cNvGraphicFramePr>
              <p:nvPr/>
            </p:nvGraphicFramePr>
            <p:xfrm>
              <a:off x="1349375" y="2759075"/>
              <a:ext cx="2574925" cy="915988"/>
            </p:xfrm>
            <a:graphic>
              <a:graphicData uri="http://schemas.openxmlformats.org/presentationml/2006/ole">
                <p:oleObj spid="_x0000_s34831" name="Clip" r:id="rId7" imgW="2573280" imgH="914400" progId="">
                  <p:embed/>
                </p:oleObj>
              </a:graphicData>
            </a:graphic>
          </p:graphicFrame>
          <p:sp>
            <p:nvSpPr>
              <p:cNvPr id="46" name="Rectangle 8"/>
              <p:cNvSpPr>
                <a:spLocks noChangeArrowheads="1"/>
              </p:cNvSpPr>
              <p:nvPr/>
            </p:nvSpPr>
            <p:spPr bwMode="auto">
              <a:xfrm>
                <a:off x="2293938" y="3611563"/>
                <a:ext cx="995466" cy="305212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lIns="90488" tIns="44450" rIns="90488" bIns="4445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400" b="0" i="0" u="none" strike="noStrike" kern="0" cap="none" spc="0" normalizeH="0" baseline="0" noProof="0" dirty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新細明體" charset="-120"/>
                  </a:rPr>
                  <a:t>Mainframe</a:t>
                </a:r>
              </a:p>
            </p:txBody>
          </p:sp>
        </p:grpSp>
        <p:grpSp>
          <p:nvGrpSpPr>
            <p:cNvPr id="27" name="群組 26"/>
            <p:cNvGrpSpPr/>
            <p:nvPr/>
          </p:nvGrpSpPr>
          <p:grpSpPr>
            <a:xfrm>
              <a:off x="4499992" y="2941881"/>
              <a:ext cx="1309469" cy="792088"/>
              <a:chOff x="4499992" y="3068960"/>
              <a:chExt cx="1309469" cy="792088"/>
            </a:xfrm>
          </p:grpSpPr>
          <p:graphicFrame>
            <p:nvGraphicFramePr>
              <p:cNvPr id="43" name="Object 5">
                <a:hlinkClick r:id="" action="ppaction://ole?verb=0"/>
              </p:cNvPr>
              <p:cNvGraphicFramePr>
                <a:graphicFrameLocks/>
              </p:cNvGraphicFramePr>
              <p:nvPr/>
            </p:nvGraphicFramePr>
            <p:xfrm>
              <a:off x="4499992" y="3068960"/>
              <a:ext cx="1268413" cy="455613"/>
            </p:xfrm>
            <a:graphic>
              <a:graphicData uri="http://schemas.openxmlformats.org/presentationml/2006/ole">
                <p:oleObj spid="_x0000_s34832" name="Clip" r:id="rId8" imgW="1266480" imgH="453960" progId="">
                  <p:embed/>
                </p:oleObj>
              </a:graphicData>
            </a:graphic>
          </p:graphicFrame>
          <p:sp>
            <p:nvSpPr>
              <p:cNvPr id="44" name="Rectangle 10"/>
              <p:cNvSpPr>
                <a:spLocks noChangeArrowheads="1"/>
              </p:cNvSpPr>
              <p:nvPr/>
            </p:nvSpPr>
            <p:spPr bwMode="auto">
              <a:xfrm>
                <a:off x="4519042" y="3555836"/>
                <a:ext cx="1290419" cy="305212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lIns="90488" tIns="44450" rIns="90488" bIns="4445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400" b="0" i="0" u="none" strike="noStrike" kern="0" cap="none" spc="0" normalizeH="0" baseline="0" noProof="0" dirty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新細明體" charset="-120"/>
                  </a:rPr>
                  <a:t>Mini Computer</a:t>
                </a:r>
              </a:p>
            </p:txBody>
          </p:sp>
        </p:grpSp>
        <p:grpSp>
          <p:nvGrpSpPr>
            <p:cNvPr id="28" name="群組 27"/>
            <p:cNvGrpSpPr/>
            <p:nvPr/>
          </p:nvGrpSpPr>
          <p:grpSpPr>
            <a:xfrm>
              <a:off x="6288665" y="3013869"/>
              <a:ext cx="1091647" cy="648112"/>
              <a:chOff x="6288665" y="3140968"/>
              <a:chExt cx="1091647" cy="648112"/>
            </a:xfrm>
          </p:grpSpPr>
          <p:graphicFrame>
            <p:nvGraphicFramePr>
              <p:cNvPr id="41" name="Object 6">
                <a:hlinkClick r:id="" action="ppaction://ole?verb=0"/>
              </p:cNvPr>
              <p:cNvGraphicFramePr>
                <a:graphicFrameLocks/>
              </p:cNvGraphicFramePr>
              <p:nvPr/>
            </p:nvGraphicFramePr>
            <p:xfrm>
              <a:off x="6348990" y="3140968"/>
              <a:ext cx="890587" cy="322263"/>
            </p:xfrm>
            <a:graphic>
              <a:graphicData uri="http://schemas.openxmlformats.org/presentationml/2006/ole">
                <p:oleObj spid="_x0000_s34833" name="Clip" r:id="rId9" imgW="888840" imgH="320400" progId="">
                  <p:embed/>
                </p:oleObj>
              </a:graphicData>
            </a:graphic>
          </p:graphicFrame>
          <p:sp>
            <p:nvSpPr>
              <p:cNvPr id="42" name="Rectangle 11"/>
              <p:cNvSpPr>
                <a:spLocks noChangeArrowheads="1"/>
              </p:cNvSpPr>
              <p:nvPr/>
            </p:nvSpPr>
            <p:spPr bwMode="auto">
              <a:xfrm>
                <a:off x="6288665" y="3483868"/>
                <a:ext cx="1091647" cy="305212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lIns="90488" tIns="44450" rIns="90488" bIns="4445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400" b="0" i="0" u="none" strike="noStrike" kern="0" cap="none" spc="0" normalizeH="0" baseline="0" noProof="0" dirty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新細明體" charset="-120"/>
                  </a:rPr>
                  <a:t>Workstation</a:t>
                </a:r>
              </a:p>
            </p:txBody>
          </p:sp>
        </p:grpSp>
        <p:grpSp>
          <p:nvGrpSpPr>
            <p:cNvPr id="29" name="群組 28"/>
            <p:cNvGrpSpPr/>
            <p:nvPr/>
          </p:nvGrpSpPr>
          <p:grpSpPr>
            <a:xfrm>
              <a:off x="7764537" y="3076575"/>
              <a:ext cx="623887" cy="522700"/>
              <a:chOff x="7764537" y="3212976"/>
              <a:chExt cx="623887" cy="522700"/>
            </a:xfrm>
          </p:grpSpPr>
          <p:graphicFrame>
            <p:nvGraphicFramePr>
              <p:cNvPr id="30" name="Object 7">
                <a:hlinkClick r:id="" action="ppaction://ole?verb=0"/>
              </p:cNvPr>
              <p:cNvGraphicFramePr>
                <a:graphicFrameLocks/>
              </p:cNvGraphicFramePr>
              <p:nvPr/>
            </p:nvGraphicFramePr>
            <p:xfrm>
              <a:off x="7764537" y="3212976"/>
              <a:ext cx="623887" cy="228600"/>
            </p:xfrm>
            <a:graphic>
              <a:graphicData uri="http://schemas.openxmlformats.org/presentationml/2006/ole">
                <p:oleObj spid="_x0000_s34834" name="Clip" r:id="rId10" imgW="622080" imgH="228600" progId="">
                  <p:embed/>
                </p:oleObj>
              </a:graphicData>
            </a:graphic>
          </p:graphicFrame>
          <p:sp>
            <p:nvSpPr>
              <p:cNvPr id="40" name="Rectangle 12"/>
              <p:cNvSpPr>
                <a:spLocks noChangeArrowheads="1"/>
              </p:cNvSpPr>
              <p:nvPr/>
            </p:nvSpPr>
            <p:spPr bwMode="auto">
              <a:xfrm>
                <a:off x="7861374" y="3430464"/>
                <a:ext cx="371898" cy="305212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lIns="90488" tIns="44450" rIns="90488" bIns="4445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400" b="0" i="0" u="none" strike="noStrike" kern="0" cap="none" spc="0" normalizeH="0" baseline="0" noProof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新細明體" charset="-120"/>
                  </a:rPr>
                  <a:t>PC</a:t>
                </a:r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path" presetSubtype="0" ac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22045E-16 -4.33958E-6 L -1.80243 -0.01064 " pathEditMode="relative" rAng="0" ptsTypes="AA">
                                      <p:cBhvr>
                                        <p:cTn id="6" dur="7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901" y="-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700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 smtClean="0"/>
              <a:t>Food Chain of Distributed Computing</a:t>
            </a:r>
            <a:endParaRPr lang="zh-TW" altLang="en-US" dirty="0"/>
          </a:p>
        </p:txBody>
      </p:sp>
      <p:grpSp>
        <p:nvGrpSpPr>
          <p:cNvPr id="160" name="群組 159"/>
          <p:cNvGrpSpPr/>
          <p:nvPr/>
        </p:nvGrpSpPr>
        <p:grpSpPr>
          <a:xfrm>
            <a:off x="755576" y="1982788"/>
            <a:ext cx="8167688" cy="2892425"/>
            <a:chOff x="755576" y="1982788"/>
            <a:chExt cx="8167688" cy="2892425"/>
          </a:xfrm>
        </p:grpSpPr>
        <p:grpSp>
          <p:nvGrpSpPr>
            <p:cNvPr id="4" name="群組 19"/>
            <p:cNvGrpSpPr/>
            <p:nvPr/>
          </p:nvGrpSpPr>
          <p:grpSpPr>
            <a:xfrm>
              <a:off x="755576" y="2850150"/>
              <a:ext cx="2574925" cy="1157700"/>
              <a:chOff x="1349375" y="2759075"/>
              <a:chExt cx="2574925" cy="1157700"/>
            </a:xfrm>
          </p:grpSpPr>
          <p:graphicFrame>
            <p:nvGraphicFramePr>
              <p:cNvPr id="31" name="Object 3">
                <a:hlinkClick r:id="" action="ppaction://ole?verb=0"/>
              </p:cNvPr>
              <p:cNvGraphicFramePr>
                <a:graphicFrameLocks/>
              </p:cNvGraphicFramePr>
              <p:nvPr/>
            </p:nvGraphicFramePr>
            <p:xfrm>
              <a:off x="1349375" y="2759075"/>
              <a:ext cx="2574925" cy="915988"/>
            </p:xfrm>
            <a:graphic>
              <a:graphicData uri="http://schemas.openxmlformats.org/presentationml/2006/ole">
                <p:oleObj spid="_x0000_s37890" name="Clip" r:id="rId3" imgW="2573280" imgH="914400" progId="">
                  <p:embed/>
                </p:oleObj>
              </a:graphicData>
            </a:graphic>
          </p:graphicFrame>
          <p:sp>
            <p:nvSpPr>
              <p:cNvPr id="36" name="Rectangle 8"/>
              <p:cNvSpPr>
                <a:spLocks noChangeArrowheads="1"/>
              </p:cNvSpPr>
              <p:nvPr/>
            </p:nvSpPr>
            <p:spPr bwMode="auto">
              <a:xfrm>
                <a:off x="2293938" y="3611563"/>
                <a:ext cx="995466" cy="305212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lIns="90488" tIns="44450" rIns="90488" bIns="4445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400" b="0" i="0" u="none" strike="noStrike" kern="0" cap="none" spc="0" normalizeH="0" baseline="0" noProof="0" dirty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新細明體" charset="-120"/>
                  </a:rPr>
                  <a:t>Mainframe</a:t>
                </a:r>
              </a:p>
            </p:txBody>
          </p:sp>
        </p:grpSp>
        <p:grpSp>
          <p:nvGrpSpPr>
            <p:cNvPr id="5" name="群組 20"/>
            <p:cNvGrpSpPr/>
            <p:nvPr/>
          </p:nvGrpSpPr>
          <p:grpSpPr>
            <a:xfrm>
              <a:off x="2682057" y="3717032"/>
              <a:ext cx="1309469" cy="792088"/>
              <a:chOff x="4499992" y="3068960"/>
              <a:chExt cx="1309469" cy="792088"/>
            </a:xfrm>
          </p:grpSpPr>
          <p:graphicFrame>
            <p:nvGraphicFramePr>
              <p:cNvPr id="33" name="Object 5">
                <a:hlinkClick r:id="" action="ppaction://ole?verb=0"/>
              </p:cNvPr>
              <p:cNvGraphicFramePr>
                <a:graphicFrameLocks/>
              </p:cNvGraphicFramePr>
              <p:nvPr/>
            </p:nvGraphicFramePr>
            <p:xfrm>
              <a:off x="4499992" y="3068960"/>
              <a:ext cx="1268413" cy="455613"/>
            </p:xfrm>
            <a:graphic>
              <a:graphicData uri="http://schemas.openxmlformats.org/presentationml/2006/ole">
                <p:oleObj spid="_x0000_s37891" name="Clip" r:id="rId4" imgW="1266480" imgH="453960" progId="">
                  <p:embed/>
                </p:oleObj>
              </a:graphicData>
            </a:graphic>
          </p:graphicFrame>
          <p:sp>
            <p:nvSpPr>
              <p:cNvPr id="37" name="Rectangle 10"/>
              <p:cNvSpPr>
                <a:spLocks noChangeArrowheads="1"/>
              </p:cNvSpPr>
              <p:nvPr/>
            </p:nvSpPr>
            <p:spPr bwMode="auto">
              <a:xfrm>
                <a:off x="4519042" y="3555836"/>
                <a:ext cx="1290419" cy="305212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lIns="90488" tIns="44450" rIns="90488" bIns="4445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400" b="0" i="0" u="none" strike="noStrike" kern="0" cap="none" spc="0" normalizeH="0" baseline="0" noProof="0" dirty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新細明體" charset="-120"/>
                  </a:rPr>
                  <a:t>Mini Computer</a:t>
                </a:r>
              </a:p>
            </p:txBody>
          </p:sp>
        </p:grpSp>
        <p:grpSp>
          <p:nvGrpSpPr>
            <p:cNvPr id="6" name="群組 21"/>
            <p:cNvGrpSpPr/>
            <p:nvPr/>
          </p:nvGrpSpPr>
          <p:grpSpPr>
            <a:xfrm>
              <a:off x="3330129" y="3068960"/>
              <a:ext cx="1091647" cy="648112"/>
              <a:chOff x="6288665" y="3140968"/>
              <a:chExt cx="1091647" cy="648112"/>
            </a:xfrm>
          </p:grpSpPr>
          <p:graphicFrame>
            <p:nvGraphicFramePr>
              <p:cNvPr id="34" name="Object 6">
                <a:hlinkClick r:id="" action="ppaction://ole?verb=0"/>
              </p:cNvPr>
              <p:cNvGraphicFramePr>
                <a:graphicFrameLocks/>
              </p:cNvGraphicFramePr>
              <p:nvPr/>
            </p:nvGraphicFramePr>
            <p:xfrm>
              <a:off x="6348990" y="3140968"/>
              <a:ext cx="890587" cy="322263"/>
            </p:xfrm>
            <a:graphic>
              <a:graphicData uri="http://schemas.openxmlformats.org/presentationml/2006/ole">
                <p:oleObj spid="_x0000_s37892" name="Clip" r:id="rId5" imgW="888840" imgH="320400" progId="">
                  <p:embed/>
                </p:oleObj>
              </a:graphicData>
            </a:graphic>
          </p:graphicFrame>
          <p:sp>
            <p:nvSpPr>
              <p:cNvPr id="38" name="Rectangle 11"/>
              <p:cNvSpPr>
                <a:spLocks noChangeArrowheads="1"/>
              </p:cNvSpPr>
              <p:nvPr/>
            </p:nvSpPr>
            <p:spPr bwMode="auto">
              <a:xfrm>
                <a:off x="6288665" y="3483868"/>
                <a:ext cx="1091647" cy="305212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lIns="90488" tIns="44450" rIns="90488" bIns="4445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400" b="0" i="0" u="none" strike="noStrike" kern="0" cap="none" spc="0" normalizeH="0" baseline="0" noProof="0" dirty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新細明體" charset="-120"/>
                  </a:rPr>
                  <a:t>Workstation</a:t>
                </a:r>
              </a:p>
            </p:txBody>
          </p:sp>
        </p:grpSp>
        <p:grpSp>
          <p:nvGrpSpPr>
            <p:cNvPr id="7" name="群組 22"/>
            <p:cNvGrpSpPr/>
            <p:nvPr/>
          </p:nvGrpSpPr>
          <p:grpSpPr>
            <a:xfrm>
              <a:off x="4410249" y="3482364"/>
              <a:ext cx="623887" cy="522700"/>
              <a:chOff x="7764537" y="3212976"/>
              <a:chExt cx="623887" cy="522700"/>
            </a:xfrm>
          </p:grpSpPr>
          <p:graphicFrame>
            <p:nvGraphicFramePr>
              <p:cNvPr id="35" name="Object 7">
                <a:hlinkClick r:id="" action="ppaction://ole?verb=0"/>
              </p:cNvPr>
              <p:cNvGraphicFramePr>
                <a:graphicFrameLocks/>
              </p:cNvGraphicFramePr>
              <p:nvPr/>
            </p:nvGraphicFramePr>
            <p:xfrm>
              <a:off x="7764537" y="3212976"/>
              <a:ext cx="623887" cy="228600"/>
            </p:xfrm>
            <a:graphic>
              <a:graphicData uri="http://schemas.openxmlformats.org/presentationml/2006/ole">
                <p:oleObj spid="_x0000_s37893" name="Clip" r:id="rId6" imgW="622080" imgH="228600" progId="">
                  <p:embed/>
                </p:oleObj>
              </a:graphicData>
            </a:graphic>
          </p:graphicFrame>
          <p:sp>
            <p:nvSpPr>
              <p:cNvPr id="39" name="Rectangle 12"/>
              <p:cNvSpPr>
                <a:spLocks noChangeArrowheads="1"/>
              </p:cNvSpPr>
              <p:nvPr/>
            </p:nvSpPr>
            <p:spPr bwMode="auto">
              <a:xfrm>
                <a:off x="7861374" y="3430464"/>
                <a:ext cx="371898" cy="305212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lIns="90488" tIns="44450" rIns="90488" bIns="4445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400" b="0" i="0" u="none" strike="noStrike" kern="0" cap="none" spc="0" normalizeH="0" baseline="0" noProof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新細明體" charset="-120"/>
                  </a:rPr>
                  <a:t>PC</a:t>
                </a:r>
              </a:p>
            </p:txBody>
          </p:sp>
        </p:grpSp>
        <p:grpSp>
          <p:nvGrpSpPr>
            <p:cNvPr id="86" name="群組 85"/>
            <p:cNvGrpSpPr/>
            <p:nvPr/>
          </p:nvGrpSpPr>
          <p:grpSpPr>
            <a:xfrm>
              <a:off x="3978201" y="1982788"/>
              <a:ext cx="4945063" cy="2892425"/>
              <a:chOff x="2867025" y="2565400"/>
              <a:chExt cx="4945063" cy="2892425"/>
            </a:xfrm>
          </p:grpSpPr>
          <p:graphicFrame>
            <p:nvGraphicFramePr>
              <p:cNvPr id="37898" name="Object 21">
                <a:hlinkClick r:id="" action="ppaction://ole?verb=0"/>
              </p:cNvPr>
              <p:cNvGraphicFramePr>
                <a:graphicFrameLocks/>
              </p:cNvGraphicFramePr>
              <p:nvPr/>
            </p:nvGraphicFramePr>
            <p:xfrm>
              <a:off x="2867025" y="3213100"/>
              <a:ext cx="623888" cy="228600"/>
            </p:xfrm>
            <a:graphic>
              <a:graphicData uri="http://schemas.openxmlformats.org/presentationml/2006/ole">
                <p:oleObj spid="_x0000_s37898" name="Clip" r:id="rId7" imgW="622080" imgH="228600" progId="">
                  <p:embed/>
                </p:oleObj>
              </a:graphicData>
            </a:graphic>
          </p:graphicFrame>
          <p:graphicFrame>
            <p:nvGraphicFramePr>
              <p:cNvPr id="37899" name="Object 11">
                <a:hlinkClick r:id="" action="ppaction://ole?verb=0"/>
              </p:cNvPr>
              <p:cNvGraphicFramePr>
                <a:graphicFrameLocks/>
              </p:cNvGraphicFramePr>
              <p:nvPr/>
            </p:nvGraphicFramePr>
            <p:xfrm>
              <a:off x="3082925" y="2997200"/>
              <a:ext cx="623888" cy="228600"/>
            </p:xfrm>
            <a:graphic>
              <a:graphicData uri="http://schemas.openxmlformats.org/presentationml/2006/ole">
                <p:oleObj spid="_x0000_s37899" name="Clip" r:id="rId8" imgW="622080" imgH="228600" progId="">
                  <p:embed/>
                </p:oleObj>
              </a:graphicData>
            </a:graphic>
          </p:graphicFrame>
          <p:graphicFrame>
            <p:nvGraphicFramePr>
              <p:cNvPr id="37900" name="Object 12">
                <a:hlinkClick r:id="" action="ppaction://ole?verb=0"/>
              </p:cNvPr>
              <p:cNvGraphicFramePr>
                <a:graphicFrameLocks/>
              </p:cNvGraphicFramePr>
              <p:nvPr/>
            </p:nvGraphicFramePr>
            <p:xfrm>
              <a:off x="3370263" y="2781300"/>
              <a:ext cx="623887" cy="228600"/>
            </p:xfrm>
            <a:graphic>
              <a:graphicData uri="http://schemas.openxmlformats.org/presentationml/2006/ole">
                <p:oleObj spid="_x0000_s37900" name="Clip" r:id="rId9" imgW="622080" imgH="228600" progId="">
                  <p:embed/>
                </p:oleObj>
              </a:graphicData>
            </a:graphic>
          </p:graphicFrame>
          <p:graphicFrame>
            <p:nvGraphicFramePr>
              <p:cNvPr id="37901" name="Object 13">
                <a:hlinkClick r:id="" action="ppaction://ole?verb=0"/>
              </p:cNvPr>
              <p:cNvGraphicFramePr>
                <a:graphicFrameLocks/>
              </p:cNvGraphicFramePr>
              <p:nvPr/>
            </p:nvGraphicFramePr>
            <p:xfrm>
              <a:off x="3586163" y="2565400"/>
              <a:ext cx="623887" cy="228600"/>
            </p:xfrm>
            <a:graphic>
              <a:graphicData uri="http://schemas.openxmlformats.org/presentationml/2006/ole">
                <p:oleObj spid="_x0000_s37901" name="Clip" r:id="rId10" imgW="622080" imgH="228600" progId="">
                  <p:embed/>
                </p:oleObj>
              </a:graphicData>
            </a:graphic>
          </p:graphicFrame>
          <p:graphicFrame>
            <p:nvGraphicFramePr>
              <p:cNvPr id="37902" name="Object 14">
                <a:hlinkClick r:id="" action="ppaction://ole?verb=0"/>
              </p:cNvPr>
              <p:cNvGraphicFramePr>
                <a:graphicFrameLocks/>
              </p:cNvGraphicFramePr>
              <p:nvPr/>
            </p:nvGraphicFramePr>
            <p:xfrm>
              <a:off x="3467100" y="3213100"/>
              <a:ext cx="623888" cy="228600"/>
            </p:xfrm>
            <a:graphic>
              <a:graphicData uri="http://schemas.openxmlformats.org/presentationml/2006/ole">
                <p:oleObj spid="_x0000_s37902" name="Clip" r:id="rId11" imgW="622080" imgH="228600" progId="">
                  <p:embed/>
                </p:oleObj>
              </a:graphicData>
            </a:graphic>
          </p:graphicFrame>
          <p:graphicFrame>
            <p:nvGraphicFramePr>
              <p:cNvPr id="37903" name="Object 15">
                <a:hlinkClick r:id="" action="ppaction://ole?verb=0"/>
              </p:cNvPr>
              <p:cNvGraphicFramePr>
                <a:graphicFrameLocks/>
              </p:cNvGraphicFramePr>
              <p:nvPr/>
            </p:nvGraphicFramePr>
            <p:xfrm>
              <a:off x="3683000" y="2997200"/>
              <a:ext cx="623888" cy="228600"/>
            </p:xfrm>
            <a:graphic>
              <a:graphicData uri="http://schemas.openxmlformats.org/presentationml/2006/ole">
                <p:oleObj spid="_x0000_s37903" name="Clip" r:id="rId12" imgW="622080" imgH="228600" progId="">
                  <p:embed/>
                </p:oleObj>
              </a:graphicData>
            </a:graphic>
          </p:graphicFrame>
          <p:graphicFrame>
            <p:nvGraphicFramePr>
              <p:cNvPr id="37904" name="Object 16">
                <a:hlinkClick r:id="" action="ppaction://ole?verb=0"/>
              </p:cNvPr>
              <p:cNvGraphicFramePr>
                <a:graphicFrameLocks/>
              </p:cNvGraphicFramePr>
              <p:nvPr/>
            </p:nvGraphicFramePr>
            <p:xfrm>
              <a:off x="3970338" y="2781300"/>
              <a:ext cx="623887" cy="228600"/>
            </p:xfrm>
            <a:graphic>
              <a:graphicData uri="http://schemas.openxmlformats.org/presentationml/2006/ole">
                <p:oleObj spid="_x0000_s37904" name="Clip" r:id="rId13" imgW="622080" imgH="228600" progId="">
                  <p:embed/>
                </p:oleObj>
              </a:graphicData>
            </a:graphic>
          </p:graphicFrame>
          <p:graphicFrame>
            <p:nvGraphicFramePr>
              <p:cNvPr id="37905" name="Object 17">
                <a:hlinkClick r:id="" action="ppaction://ole?verb=0"/>
              </p:cNvPr>
              <p:cNvGraphicFramePr>
                <a:graphicFrameLocks/>
              </p:cNvGraphicFramePr>
              <p:nvPr/>
            </p:nvGraphicFramePr>
            <p:xfrm>
              <a:off x="4186238" y="2565400"/>
              <a:ext cx="623887" cy="228600"/>
            </p:xfrm>
            <a:graphic>
              <a:graphicData uri="http://schemas.openxmlformats.org/presentationml/2006/ole">
                <p:oleObj spid="_x0000_s37905" name="Clip" r:id="rId14" imgW="622080" imgH="228600" progId="">
                  <p:embed/>
                </p:oleObj>
              </a:graphicData>
            </a:graphic>
          </p:graphicFrame>
          <p:graphicFrame>
            <p:nvGraphicFramePr>
              <p:cNvPr id="37906" name="Object 18">
                <a:hlinkClick r:id="" action="ppaction://ole?verb=0"/>
              </p:cNvPr>
              <p:cNvGraphicFramePr>
                <a:graphicFrameLocks/>
              </p:cNvGraphicFramePr>
              <p:nvPr/>
            </p:nvGraphicFramePr>
            <p:xfrm>
              <a:off x="3946525" y="3357563"/>
              <a:ext cx="623888" cy="228600"/>
            </p:xfrm>
            <a:graphic>
              <a:graphicData uri="http://schemas.openxmlformats.org/presentationml/2006/ole">
                <p:oleObj spid="_x0000_s37906" name="Clip" r:id="rId15" imgW="622080" imgH="228600" progId="">
                  <p:embed/>
                </p:oleObj>
              </a:graphicData>
            </a:graphic>
          </p:graphicFrame>
          <p:graphicFrame>
            <p:nvGraphicFramePr>
              <p:cNvPr id="37907" name="Object 19">
                <a:hlinkClick r:id="" action="ppaction://ole?verb=0"/>
              </p:cNvPr>
              <p:cNvGraphicFramePr>
                <a:graphicFrameLocks/>
              </p:cNvGraphicFramePr>
              <p:nvPr/>
            </p:nvGraphicFramePr>
            <p:xfrm>
              <a:off x="4162425" y="3141663"/>
              <a:ext cx="623888" cy="228600"/>
            </p:xfrm>
            <a:graphic>
              <a:graphicData uri="http://schemas.openxmlformats.org/presentationml/2006/ole">
                <p:oleObj spid="_x0000_s37907" name="Clip" r:id="rId16" imgW="622080" imgH="228600" progId="">
                  <p:embed/>
                </p:oleObj>
              </a:graphicData>
            </a:graphic>
          </p:graphicFrame>
          <p:graphicFrame>
            <p:nvGraphicFramePr>
              <p:cNvPr id="37908" name="Object 20">
                <a:hlinkClick r:id="" action="ppaction://ole?verb=0"/>
              </p:cNvPr>
              <p:cNvGraphicFramePr>
                <a:graphicFrameLocks/>
              </p:cNvGraphicFramePr>
              <p:nvPr/>
            </p:nvGraphicFramePr>
            <p:xfrm>
              <a:off x="4449763" y="2924175"/>
              <a:ext cx="623887" cy="228600"/>
            </p:xfrm>
            <a:graphic>
              <a:graphicData uri="http://schemas.openxmlformats.org/presentationml/2006/ole">
                <p:oleObj spid="_x0000_s37908" name="Clip" r:id="rId17" imgW="622080" imgH="228600" progId="">
                  <p:embed/>
                </p:oleObj>
              </a:graphicData>
            </a:graphic>
          </p:graphicFrame>
          <p:graphicFrame>
            <p:nvGraphicFramePr>
              <p:cNvPr id="37909" name="Object 21">
                <a:hlinkClick r:id="" action="ppaction://ole?verb=0"/>
              </p:cNvPr>
              <p:cNvGraphicFramePr>
                <a:graphicFrameLocks/>
              </p:cNvGraphicFramePr>
              <p:nvPr/>
            </p:nvGraphicFramePr>
            <p:xfrm>
              <a:off x="4665663" y="2708275"/>
              <a:ext cx="623887" cy="228600"/>
            </p:xfrm>
            <a:graphic>
              <a:graphicData uri="http://schemas.openxmlformats.org/presentationml/2006/ole">
                <p:oleObj spid="_x0000_s37909" name="Clip" r:id="rId18" imgW="622080" imgH="228600" progId="">
                  <p:embed/>
                </p:oleObj>
              </a:graphicData>
            </a:graphic>
          </p:graphicFrame>
          <p:graphicFrame>
            <p:nvGraphicFramePr>
              <p:cNvPr id="37910" name="Object 22">
                <a:hlinkClick r:id="" action="ppaction://ole?verb=0"/>
              </p:cNvPr>
              <p:cNvGraphicFramePr>
                <a:graphicFrameLocks/>
              </p:cNvGraphicFramePr>
              <p:nvPr/>
            </p:nvGraphicFramePr>
            <p:xfrm>
              <a:off x="4379913" y="3573463"/>
              <a:ext cx="623887" cy="228600"/>
            </p:xfrm>
            <a:graphic>
              <a:graphicData uri="http://schemas.openxmlformats.org/presentationml/2006/ole">
                <p:oleObj spid="_x0000_s37910" name="Clip" r:id="rId19" imgW="622080" imgH="228600" progId="">
                  <p:embed/>
                </p:oleObj>
              </a:graphicData>
            </a:graphic>
          </p:graphicFrame>
          <p:graphicFrame>
            <p:nvGraphicFramePr>
              <p:cNvPr id="37911" name="Object 23">
                <a:hlinkClick r:id="" action="ppaction://ole?verb=0"/>
              </p:cNvPr>
              <p:cNvGraphicFramePr>
                <a:graphicFrameLocks/>
              </p:cNvGraphicFramePr>
              <p:nvPr/>
            </p:nvGraphicFramePr>
            <p:xfrm>
              <a:off x="4595813" y="3357563"/>
              <a:ext cx="623887" cy="228600"/>
            </p:xfrm>
            <a:graphic>
              <a:graphicData uri="http://schemas.openxmlformats.org/presentationml/2006/ole">
                <p:oleObj spid="_x0000_s37911" name="Clip" r:id="rId20" imgW="622080" imgH="228600" progId="">
                  <p:embed/>
                </p:oleObj>
              </a:graphicData>
            </a:graphic>
          </p:graphicFrame>
          <p:graphicFrame>
            <p:nvGraphicFramePr>
              <p:cNvPr id="37912" name="Object 24">
                <a:hlinkClick r:id="" action="ppaction://ole?verb=0"/>
              </p:cNvPr>
              <p:cNvGraphicFramePr>
                <a:graphicFrameLocks/>
              </p:cNvGraphicFramePr>
              <p:nvPr/>
            </p:nvGraphicFramePr>
            <p:xfrm>
              <a:off x="4884738" y="3140075"/>
              <a:ext cx="623887" cy="228600"/>
            </p:xfrm>
            <a:graphic>
              <a:graphicData uri="http://schemas.openxmlformats.org/presentationml/2006/ole">
                <p:oleObj spid="_x0000_s37912" name="Clip" r:id="rId21" imgW="622080" imgH="228600" progId="">
                  <p:embed/>
                </p:oleObj>
              </a:graphicData>
            </a:graphic>
          </p:graphicFrame>
          <p:graphicFrame>
            <p:nvGraphicFramePr>
              <p:cNvPr id="37913" name="Object 25">
                <a:hlinkClick r:id="" action="ppaction://ole?verb=0"/>
              </p:cNvPr>
              <p:cNvGraphicFramePr>
                <a:graphicFrameLocks/>
              </p:cNvGraphicFramePr>
              <p:nvPr/>
            </p:nvGraphicFramePr>
            <p:xfrm>
              <a:off x="5100638" y="2924175"/>
              <a:ext cx="623887" cy="228600"/>
            </p:xfrm>
            <a:graphic>
              <a:graphicData uri="http://schemas.openxmlformats.org/presentationml/2006/ole">
                <p:oleObj spid="_x0000_s37913" name="Clip" r:id="rId22" imgW="622080" imgH="228600" progId="">
                  <p:embed/>
                </p:oleObj>
              </a:graphicData>
            </a:graphic>
          </p:graphicFrame>
          <p:graphicFrame>
            <p:nvGraphicFramePr>
              <p:cNvPr id="37914" name="Object 26">
                <a:hlinkClick r:id="" action="ppaction://ole?verb=0"/>
              </p:cNvPr>
              <p:cNvGraphicFramePr>
                <a:graphicFrameLocks/>
              </p:cNvGraphicFramePr>
              <p:nvPr/>
            </p:nvGraphicFramePr>
            <p:xfrm>
              <a:off x="4714875" y="3789363"/>
              <a:ext cx="623888" cy="228600"/>
            </p:xfrm>
            <a:graphic>
              <a:graphicData uri="http://schemas.openxmlformats.org/presentationml/2006/ole">
                <p:oleObj spid="_x0000_s37914" name="Clip" r:id="rId23" imgW="622080" imgH="228600" progId="">
                  <p:embed/>
                </p:oleObj>
              </a:graphicData>
            </a:graphic>
          </p:graphicFrame>
          <p:graphicFrame>
            <p:nvGraphicFramePr>
              <p:cNvPr id="37915" name="Object 27">
                <a:hlinkClick r:id="" action="ppaction://ole?verb=0"/>
              </p:cNvPr>
              <p:cNvGraphicFramePr>
                <a:graphicFrameLocks/>
              </p:cNvGraphicFramePr>
              <p:nvPr/>
            </p:nvGraphicFramePr>
            <p:xfrm>
              <a:off x="4930775" y="3573463"/>
              <a:ext cx="623888" cy="228600"/>
            </p:xfrm>
            <a:graphic>
              <a:graphicData uri="http://schemas.openxmlformats.org/presentationml/2006/ole">
                <p:oleObj spid="_x0000_s37915" name="Clip" r:id="rId24" imgW="622080" imgH="228600" progId="">
                  <p:embed/>
                </p:oleObj>
              </a:graphicData>
            </a:graphic>
          </p:graphicFrame>
          <p:graphicFrame>
            <p:nvGraphicFramePr>
              <p:cNvPr id="37916" name="Object 28">
                <a:hlinkClick r:id="" action="ppaction://ole?verb=0"/>
              </p:cNvPr>
              <p:cNvGraphicFramePr>
                <a:graphicFrameLocks/>
              </p:cNvGraphicFramePr>
              <p:nvPr/>
            </p:nvGraphicFramePr>
            <p:xfrm>
              <a:off x="5245100" y="3357563"/>
              <a:ext cx="623888" cy="228600"/>
            </p:xfrm>
            <a:graphic>
              <a:graphicData uri="http://schemas.openxmlformats.org/presentationml/2006/ole">
                <p:oleObj spid="_x0000_s37916" name="Clip" r:id="rId25" imgW="622080" imgH="228600" progId="">
                  <p:embed/>
                </p:oleObj>
              </a:graphicData>
            </a:graphic>
          </p:graphicFrame>
          <p:graphicFrame>
            <p:nvGraphicFramePr>
              <p:cNvPr id="37917" name="Object 29">
                <a:hlinkClick r:id="" action="ppaction://ole?verb=0"/>
              </p:cNvPr>
              <p:cNvGraphicFramePr>
                <a:graphicFrameLocks/>
              </p:cNvGraphicFramePr>
              <p:nvPr/>
            </p:nvGraphicFramePr>
            <p:xfrm>
              <a:off x="5461000" y="3141663"/>
              <a:ext cx="623888" cy="228600"/>
            </p:xfrm>
            <a:graphic>
              <a:graphicData uri="http://schemas.openxmlformats.org/presentationml/2006/ole">
                <p:oleObj spid="_x0000_s37917" name="Clip" r:id="rId26" imgW="622080" imgH="228600" progId="">
                  <p:embed/>
                </p:oleObj>
              </a:graphicData>
            </a:graphic>
          </p:graphicFrame>
          <p:graphicFrame>
            <p:nvGraphicFramePr>
              <p:cNvPr id="37918" name="Object 30">
                <a:hlinkClick r:id="" action="ppaction://ole?verb=0"/>
              </p:cNvPr>
              <p:cNvGraphicFramePr>
                <a:graphicFrameLocks/>
              </p:cNvGraphicFramePr>
              <p:nvPr/>
            </p:nvGraphicFramePr>
            <p:xfrm>
              <a:off x="4884738" y="4137025"/>
              <a:ext cx="623887" cy="228600"/>
            </p:xfrm>
            <a:graphic>
              <a:graphicData uri="http://schemas.openxmlformats.org/presentationml/2006/ole">
                <p:oleObj spid="_x0000_s37918" name="Clip" r:id="rId27" imgW="622080" imgH="228600" progId="">
                  <p:embed/>
                </p:oleObj>
              </a:graphicData>
            </a:graphic>
          </p:graphicFrame>
          <p:graphicFrame>
            <p:nvGraphicFramePr>
              <p:cNvPr id="37919" name="Object 31">
                <a:hlinkClick r:id="" action="ppaction://ole?verb=0"/>
              </p:cNvPr>
              <p:cNvGraphicFramePr>
                <a:graphicFrameLocks/>
              </p:cNvGraphicFramePr>
              <p:nvPr/>
            </p:nvGraphicFramePr>
            <p:xfrm>
              <a:off x="5100638" y="3921125"/>
              <a:ext cx="623887" cy="228600"/>
            </p:xfrm>
            <a:graphic>
              <a:graphicData uri="http://schemas.openxmlformats.org/presentationml/2006/ole">
                <p:oleObj spid="_x0000_s37919" name="Clip" r:id="rId28" imgW="622080" imgH="228600" progId="">
                  <p:embed/>
                </p:oleObj>
              </a:graphicData>
            </a:graphic>
          </p:graphicFrame>
          <p:graphicFrame>
            <p:nvGraphicFramePr>
              <p:cNvPr id="37920" name="Object 32">
                <a:hlinkClick r:id="" action="ppaction://ole?verb=0"/>
              </p:cNvPr>
              <p:cNvGraphicFramePr>
                <a:graphicFrameLocks/>
              </p:cNvGraphicFramePr>
              <p:nvPr/>
            </p:nvGraphicFramePr>
            <p:xfrm>
              <a:off x="5387975" y="3716338"/>
              <a:ext cx="623888" cy="228600"/>
            </p:xfrm>
            <a:graphic>
              <a:graphicData uri="http://schemas.openxmlformats.org/presentationml/2006/ole">
                <p:oleObj spid="_x0000_s37920" name="Clip" r:id="rId29" imgW="622080" imgH="228600" progId="">
                  <p:embed/>
                </p:oleObj>
              </a:graphicData>
            </a:graphic>
          </p:graphicFrame>
          <p:graphicFrame>
            <p:nvGraphicFramePr>
              <p:cNvPr id="37921" name="Object 33">
                <a:hlinkClick r:id="" action="ppaction://ole?verb=0"/>
              </p:cNvPr>
              <p:cNvGraphicFramePr>
                <a:graphicFrameLocks/>
              </p:cNvGraphicFramePr>
              <p:nvPr/>
            </p:nvGraphicFramePr>
            <p:xfrm>
              <a:off x="5603875" y="3500438"/>
              <a:ext cx="623888" cy="228600"/>
            </p:xfrm>
            <a:graphic>
              <a:graphicData uri="http://schemas.openxmlformats.org/presentationml/2006/ole">
                <p:oleObj spid="_x0000_s37921" name="Clip" r:id="rId30" imgW="622080" imgH="228600" progId="">
                  <p:embed/>
                </p:oleObj>
              </a:graphicData>
            </a:graphic>
          </p:graphicFrame>
          <p:graphicFrame>
            <p:nvGraphicFramePr>
              <p:cNvPr id="37922" name="Object 34">
                <a:hlinkClick r:id="" action="ppaction://ole?verb=0"/>
              </p:cNvPr>
              <p:cNvGraphicFramePr>
                <a:graphicFrameLocks/>
              </p:cNvGraphicFramePr>
              <p:nvPr/>
            </p:nvGraphicFramePr>
            <p:xfrm>
              <a:off x="3876675" y="4987925"/>
              <a:ext cx="623888" cy="228600"/>
            </p:xfrm>
            <a:graphic>
              <a:graphicData uri="http://schemas.openxmlformats.org/presentationml/2006/ole">
                <p:oleObj spid="_x0000_s37922" name="Clip" r:id="rId31" imgW="622080" imgH="228600" progId="">
                  <p:embed/>
                </p:oleObj>
              </a:graphicData>
            </a:graphic>
          </p:graphicFrame>
          <p:graphicFrame>
            <p:nvGraphicFramePr>
              <p:cNvPr id="37923" name="Object 35">
                <a:hlinkClick r:id="" action="ppaction://ole?verb=0"/>
              </p:cNvPr>
              <p:cNvGraphicFramePr>
                <a:graphicFrameLocks/>
              </p:cNvGraphicFramePr>
              <p:nvPr/>
            </p:nvGraphicFramePr>
            <p:xfrm>
              <a:off x="4092575" y="4772025"/>
              <a:ext cx="623888" cy="228600"/>
            </p:xfrm>
            <a:graphic>
              <a:graphicData uri="http://schemas.openxmlformats.org/presentationml/2006/ole">
                <p:oleObj spid="_x0000_s37923" name="Clip" r:id="rId32" imgW="622080" imgH="228600" progId="">
                  <p:embed/>
                </p:oleObj>
              </a:graphicData>
            </a:graphic>
          </p:graphicFrame>
          <p:graphicFrame>
            <p:nvGraphicFramePr>
              <p:cNvPr id="37924" name="Object 36">
                <a:hlinkClick r:id="" action="ppaction://ole?verb=0"/>
              </p:cNvPr>
              <p:cNvGraphicFramePr>
                <a:graphicFrameLocks/>
              </p:cNvGraphicFramePr>
              <p:nvPr/>
            </p:nvGraphicFramePr>
            <p:xfrm>
              <a:off x="4379913" y="4568825"/>
              <a:ext cx="623887" cy="228600"/>
            </p:xfrm>
            <a:graphic>
              <a:graphicData uri="http://schemas.openxmlformats.org/presentationml/2006/ole">
                <p:oleObj spid="_x0000_s37924" name="Clip" r:id="rId33" imgW="622080" imgH="228600" progId="">
                  <p:embed/>
                </p:oleObj>
              </a:graphicData>
            </a:graphic>
          </p:graphicFrame>
          <p:graphicFrame>
            <p:nvGraphicFramePr>
              <p:cNvPr id="37925" name="Object 37">
                <a:hlinkClick r:id="" action="ppaction://ole?verb=0"/>
              </p:cNvPr>
              <p:cNvGraphicFramePr>
                <a:graphicFrameLocks/>
              </p:cNvGraphicFramePr>
              <p:nvPr/>
            </p:nvGraphicFramePr>
            <p:xfrm>
              <a:off x="4595813" y="4352925"/>
              <a:ext cx="623887" cy="228600"/>
            </p:xfrm>
            <a:graphic>
              <a:graphicData uri="http://schemas.openxmlformats.org/presentationml/2006/ole">
                <p:oleObj spid="_x0000_s37925" name="Clip" r:id="rId34" imgW="622080" imgH="228600" progId="">
                  <p:embed/>
                </p:oleObj>
              </a:graphicData>
            </a:graphic>
          </p:graphicFrame>
          <p:graphicFrame>
            <p:nvGraphicFramePr>
              <p:cNvPr id="37926" name="Object 38">
                <a:hlinkClick r:id="" action="ppaction://ole?verb=0"/>
              </p:cNvPr>
              <p:cNvGraphicFramePr>
                <a:graphicFrameLocks/>
              </p:cNvGraphicFramePr>
              <p:nvPr/>
            </p:nvGraphicFramePr>
            <p:xfrm>
              <a:off x="3155950" y="5072063"/>
              <a:ext cx="623888" cy="228600"/>
            </p:xfrm>
            <a:graphic>
              <a:graphicData uri="http://schemas.openxmlformats.org/presentationml/2006/ole">
                <p:oleObj spid="_x0000_s37926" name="Clip" r:id="rId35" imgW="622080" imgH="228600" progId="">
                  <p:embed/>
                </p:oleObj>
              </a:graphicData>
            </a:graphic>
          </p:graphicFrame>
          <p:graphicFrame>
            <p:nvGraphicFramePr>
              <p:cNvPr id="37927" name="Object 39">
                <a:hlinkClick r:id="" action="ppaction://ole?verb=0"/>
              </p:cNvPr>
              <p:cNvGraphicFramePr>
                <a:graphicFrameLocks/>
              </p:cNvGraphicFramePr>
              <p:nvPr/>
            </p:nvGraphicFramePr>
            <p:xfrm>
              <a:off x="3371850" y="4856163"/>
              <a:ext cx="623888" cy="228600"/>
            </p:xfrm>
            <a:graphic>
              <a:graphicData uri="http://schemas.openxmlformats.org/presentationml/2006/ole">
                <p:oleObj spid="_x0000_s37927" name="Clip" r:id="rId36" imgW="622080" imgH="228600" progId="">
                  <p:embed/>
                </p:oleObj>
              </a:graphicData>
            </a:graphic>
          </p:graphicFrame>
          <p:graphicFrame>
            <p:nvGraphicFramePr>
              <p:cNvPr id="37928" name="Object 40">
                <a:hlinkClick r:id="" action="ppaction://ole?verb=0"/>
              </p:cNvPr>
              <p:cNvGraphicFramePr>
                <a:graphicFrameLocks/>
              </p:cNvGraphicFramePr>
              <p:nvPr/>
            </p:nvGraphicFramePr>
            <p:xfrm>
              <a:off x="3660775" y="5216525"/>
              <a:ext cx="623888" cy="228600"/>
            </p:xfrm>
            <a:graphic>
              <a:graphicData uri="http://schemas.openxmlformats.org/presentationml/2006/ole">
                <p:oleObj spid="_x0000_s37928" name="Clip" r:id="rId37" imgW="622080" imgH="228600" progId="">
                  <p:embed/>
                </p:oleObj>
              </a:graphicData>
            </a:graphic>
          </p:graphicFrame>
          <p:graphicFrame>
            <p:nvGraphicFramePr>
              <p:cNvPr id="37929" name="Object 41">
                <a:hlinkClick r:id="" action="ppaction://ole?verb=0"/>
              </p:cNvPr>
              <p:cNvGraphicFramePr>
                <a:graphicFrameLocks/>
              </p:cNvGraphicFramePr>
              <p:nvPr/>
            </p:nvGraphicFramePr>
            <p:xfrm>
              <a:off x="4284663" y="5216525"/>
              <a:ext cx="623887" cy="228600"/>
            </p:xfrm>
            <a:graphic>
              <a:graphicData uri="http://schemas.openxmlformats.org/presentationml/2006/ole">
                <p:oleObj spid="_x0000_s37929" name="Clip" r:id="rId38" imgW="622080" imgH="228600" progId="">
                  <p:embed/>
                </p:oleObj>
              </a:graphicData>
            </a:graphic>
          </p:graphicFrame>
          <p:graphicFrame>
            <p:nvGraphicFramePr>
              <p:cNvPr id="37930" name="Object 42">
                <a:hlinkClick r:id="" action="ppaction://ole?verb=0"/>
              </p:cNvPr>
              <p:cNvGraphicFramePr>
                <a:graphicFrameLocks/>
              </p:cNvGraphicFramePr>
              <p:nvPr/>
            </p:nvGraphicFramePr>
            <p:xfrm>
              <a:off x="4500563" y="5000625"/>
              <a:ext cx="623887" cy="228600"/>
            </p:xfrm>
            <a:graphic>
              <a:graphicData uri="http://schemas.openxmlformats.org/presentationml/2006/ole">
                <p:oleObj spid="_x0000_s37930" name="Clip" r:id="rId39" imgW="622080" imgH="228600" progId="">
                  <p:embed/>
                </p:oleObj>
              </a:graphicData>
            </a:graphic>
          </p:graphicFrame>
          <p:graphicFrame>
            <p:nvGraphicFramePr>
              <p:cNvPr id="37931" name="Object 43">
                <a:hlinkClick r:id="" action="ppaction://ole?verb=0"/>
              </p:cNvPr>
              <p:cNvGraphicFramePr>
                <a:graphicFrameLocks/>
              </p:cNvGraphicFramePr>
              <p:nvPr/>
            </p:nvGraphicFramePr>
            <p:xfrm>
              <a:off x="4787900" y="4795838"/>
              <a:ext cx="623888" cy="228600"/>
            </p:xfrm>
            <a:graphic>
              <a:graphicData uri="http://schemas.openxmlformats.org/presentationml/2006/ole">
                <p:oleObj spid="_x0000_s37931" name="Clip" r:id="rId40" imgW="622080" imgH="228600" progId="">
                  <p:embed/>
                </p:oleObj>
              </a:graphicData>
            </a:graphic>
          </p:graphicFrame>
          <p:graphicFrame>
            <p:nvGraphicFramePr>
              <p:cNvPr id="37932" name="Object 44">
                <a:hlinkClick r:id="" action="ppaction://ole?verb=0"/>
              </p:cNvPr>
              <p:cNvGraphicFramePr>
                <a:graphicFrameLocks/>
              </p:cNvGraphicFramePr>
              <p:nvPr/>
            </p:nvGraphicFramePr>
            <p:xfrm>
              <a:off x="5075238" y="4568825"/>
              <a:ext cx="623887" cy="228600"/>
            </p:xfrm>
            <a:graphic>
              <a:graphicData uri="http://schemas.openxmlformats.org/presentationml/2006/ole">
                <p:oleObj spid="_x0000_s37932" name="Clip" r:id="rId41" imgW="622080" imgH="228600" progId="">
                  <p:embed/>
                </p:oleObj>
              </a:graphicData>
            </a:graphic>
          </p:graphicFrame>
          <p:graphicFrame>
            <p:nvGraphicFramePr>
              <p:cNvPr id="37933" name="Object 45">
                <a:hlinkClick r:id="" action="ppaction://ole?verb=0"/>
              </p:cNvPr>
              <p:cNvGraphicFramePr>
                <a:graphicFrameLocks/>
              </p:cNvGraphicFramePr>
              <p:nvPr/>
            </p:nvGraphicFramePr>
            <p:xfrm>
              <a:off x="5292725" y="4352925"/>
              <a:ext cx="623888" cy="228600"/>
            </p:xfrm>
            <a:graphic>
              <a:graphicData uri="http://schemas.openxmlformats.org/presentationml/2006/ole">
                <p:oleObj spid="_x0000_s37933" name="Clip" r:id="rId42" imgW="622080" imgH="228600" progId="">
                  <p:embed/>
                </p:oleObj>
              </a:graphicData>
            </a:graphic>
          </p:graphicFrame>
          <p:graphicFrame>
            <p:nvGraphicFramePr>
              <p:cNvPr id="37934" name="Object 46">
                <a:hlinkClick r:id="" action="ppaction://ole?verb=0"/>
              </p:cNvPr>
              <p:cNvGraphicFramePr>
                <a:graphicFrameLocks/>
              </p:cNvGraphicFramePr>
              <p:nvPr/>
            </p:nvGraphicFramePr>
            <p:xfrm>
              <a:off x="5508625" y="4137025"/>
              <a:ext cx="623888" cy="228600"/>
            </p:xfrm>
            <a:graphic>
              <a:graphicData uri="http://schemas.openxmlformats.org/presentationml/2006/ole">
                <p:oleObj spid="_x0000_s37934" name="Clip" r:id="rId43" imgW="622080" imgH="228600" progId="">
                  <p:embed/>
                </p:oleObj>
              </a:graphicData>
            </a:graphic>
          </p:graphicFrame>
          <p:graphicFrame>
            <p:nvGraphicFramePr>
              <p:cNvPr id="37935" name="Object 47">
                <a:hlinkClick r:id="" action="ppaction://ole?verb=0"/>
              </p:cNvPr>
              <p:cNvGraphicFramePr>
                <a:graphicFrameLocks/>
              </p:cNvGraphicFramePr>
              <p:nvPr/>
            </p:nvGraphicFramePr>
            <p:xfrm>
              <a:off x="5795963" y="3919538"/>
              <a:ext cx="623887" cy="228600"/>
            </p:xfrm>
            <a:graphic>
              <a:graphicData uri="http://schemas.openxmlformats.org/presentationml/2006/ole">
                <p:oleObj spid="_x0000_s37935" name="Clip" r:id="rId44" imgW="622080" imgH="228600" progId="">
                  <p:embed/>
                </p:oleObj>
              </a:graphicData>
            </a:graphic>
          </p:graphicFrame>
          <p:graphicFrame>
            <p:nvGraphicFramePr>
              <p:cNvPr id="37936" name="Object 48">
                <a:hlinkClick r:id="" action="ppaction://ole?verb=0"/>
              </p:cNvPr>
              <p:cNvGraphicFramePr>
                <a:graphicFrameLocks/>
              </p:cNvGraphicFramePr>
              <p:nvPr/>
            </p:nvGraphicFramePr>
            <p:xfrm>
              <a:off x="6011863" y="3703638"/>
              <a:ext cx="623887" cy="228600"/>
            </p:xfrm>
            <a:graphic>
              <a:graphicData uri="http://schemas.openxmlformats.org/presentationml/2006/ole">
                <p:oleObj spid="_x0000_s37936" name="Clip" r:id="rId45" imgW="622080" imgH="228600" progId="">
                  <p:embed/>
                </p:oleObj>
              </a:graphicData>
            </a:graphic>
          </p:graphicFrame>
          <p:graphicFrame>
            <p:nvGraphicFramePr>
              <p:cNvPr id="37937" name="Object 49">
                <a:hlinkClick r:id="" action="ppaction://ole?verb=0"/>
              </p:cNvPr>
              <p:cNvGraphicFramePr>
                <a:graphicFrameLocks/>
              </p:cNvGraphicFramePr>
              <p:nvPr/>
            </p:nvGraphicFramePr>
            <p:xfrm>
              <a:off x="6300788" y="3500438"/>
              <a:ext cx="623887" cy="228600"/>
            </p:xfrm>
            <a:graphic>
              <a:graphicData uri="http://schemas.openxmlformats.org/presentationml/2006/ole">
                <p:oleObj spid="_x0000_s37937" name="Clip" r:id="rId46" imgW="622080" imgH="228600" progId="">
                  <p:embed/>
                </p:oleObj>
              </a:graphicData>
            </a:graphic>
          </p:graphicFrame>
          <p:graphicFrame>
            <p:nvGraphicFramePr>
              <p:cNvPr id="37938" name="Object 50">
                <a:hlinkClick r:id="" action="ppaction://ole?verb=0"/>
              </p:cNvPr>
              <p:cNvGraphicFramePr>
                <a:graphicFrameLocks/>
              </p:cNvGraphicFramePr>
              <p:nvPr/>
            </p:nvGraphicFramePr>
            <p:xfrm>
              <a:off x="6516688" y="3284538"/>
              <a:ext cx="623887" cy="228600"/>
            </p:xfrm>
            <a:graphic>
              <a:graphicData uri="http://schemas.openxmlformats.org/presentationml/2006/ole">
                <p:oleObj spid="_x0000_s37938" name="Clip" r:id="rId47" imgW="622080" imgH="228600" progId="">
                  <p:embed/>
                </p:oleObj>
              </a:graphicData>
            </a:graphic>
          </p:graphicFrame>
          <p:graphicFrame>
            <p:nvGraphicFramePr>
              <p:cNvPr id="37939" name="Object 51">
                <a:hlinkClick r:id="" action="ppaction://ole?verb=0"/>
              </p:cNvPr>
              <p:cNvGraphicFramePr>
                <a:graphicFrameLocks/>
              </p:cNvGraphicFramePr>
              <p:nvPr/>
            </p:nvGraphicFramePr>
            <p:xfrm>
              <a:off x="6972300" y="3500438"/>
              <a:ext cx="623888" cy="228600"/>
            </p:xfrm>
            <a:graphic>
              <a:graphicData uri="http://schemas.openxmlformats.org/presentationml/2006/ole">
                <p:oleObj spid="_x0000_s37939" name="Clip" r:id="rId48" imgW="622080" imgH="228600" progId="">
                  <p:embed/>
                </p:oleObj>
              </a:graphicData>
            </a:graphic>
          </p:graphicFrame>
          <p:graphicFrame>
            <p:nvGraphicFramePr>
              <p:cNvPr id="37940" name="Object 52">
                <a:hlinkClick r:id="" action="ppaction://ole?verb=0"/>
              </p:cNvPr>
              <p:cNvGraphicFramePr>
                <a:graphicFrameLocks/>
              </p:cNvGraphicFramePr>
              <p:nvPr/>
            </p:nvGraphicFramePr>
            <p:xfrm>
              <a:off x="7188200" y="3284538"/>
              <a:ext cx="623888" cy="228600"/>
            </p:xfrm>
            <a:graphic>
              <a:graphicData uri="http://schemas.openxmlformats.org/presentationml/2006/ole">
                <p:oleObj spid="_x0000_s37940" name="Clip" r:id="rId49" imgW="622080" imgH="228600" progId="">
                  <p:embed/>
                </p:oleObj>
              </a:graphicData>
            </a:graphic>
          </p:graphicFrame>
          <p:graphicFrame>
            <p:nvGraphicFramePr>
              <p:cNvPr id="37941" name="Object 53">
                <a:hlinkClick r:id="" action="ppaction://ole?verb=0"/>
              </p:cNvPr>
              <p:cNvGraphicFramePr>
                <a:graphicFrameLocks/>
              </p:cNvGraphicFramePr>
              <p:nvPr/>
            </p:nvGraphicFramePr>
            <p:xfrm>
              <a:off x="6180138" y="4137025"/>
              <a:ext cx="623887" cy="228600"/>
            </p:xfrm>
            <a:graphic>
              <a:graphicData uri="http://schemas.openxmlformats.org/presentationml/2006/ole">
                <p:oleObj spid="_x0000_s37941" name="Clip" r:id="rId50" imgW="622080" imgH="228600" progId="">
                  <p:embed/>
                </p:oleObj>
              </a:graphicData>
            </a:graphic>
          </p:graphicFrame>
          <p:graphicFrame>
            <p:nvGraphicFramePr>
              <p:cNvPr id="37942" name="Object 54">
                <a:hlinkClick r:id="" action="ppaction://ole?verb=0"/>
              </p:cNvPr>
              <p:cNvGraphicFramePr>
                <a:graphicFrameLocks/>
              </p:cNvGraphicFramePr>
              <p:nvPr/>
            </p:nvGraphicFramePr>
            <p:xfrm>
              <a:off x="6469063" y="3919538"/>
              <a:ext cx="623887" cy="228600"/>
            </p:xfrm>
            <a:graphic>
              <a:graphicData uri="http://schemas.openxmlformats.org/presentationml/2006/ole">
                <p:oleObj spid="_x0000_s37942" name="Clip" r:id="rId51" imgW="622080" imgH="228600" progId="">
                  <p:embed/>
                </p:oleObj>
              </a:graphicData>
            </a:graphic>
          </p:graphicFrame>
          <p:graphicFrame>
            <p:nvGraphicFramePr>
              <p:cNvPr id="37943" name="Object 55">
                <a:hlinkClick r:id="" action="ppaction://ole?verb=0"/>
              </p:cNvPr>
              <p:cNvGraphicFramePr>
                <a:graphicFrameLocks/>
              </p:cNvGraphicFramePr>
              <p:nvPr/>
            </p:nvGraphicFramePr>
            <p:xfrm>
              <a:off x="6684963" y="3703638"/>
              <a:ext cx="623887" cy="228600"/>
            </p:xfrm>
            <a:graphic>
              <a:graphicData uri="http://schemas.openxmlformats.org/presentationml/2006/ole">
                <p:oleObj spid="_x0000_s37943" name="Clip" r:id="rId52" imgW="622080" imgH="228600" progId="">
                  <p:embed/>
                </p:oleObj>
              </a:graphicData>
            </a:graphic>
          </p:graphicFrame>
          <p:graphicFrame>
            <p:nvGraphicFramePr>
              <p:cNvPr id="37944" name="Object 56">
                <a:hlinkClick r:id="" action="ppaction://ole?verb=0"/>
              </p:cNvPr>
              <p:cNvGraphicFramePr>
                <a:graphicFrameLocks/>
              </p:cNvGraphicFramePr>
              <p:nvPr/>
            </p:nvGraphicFramePr>
            <p:xfrm>
              <a:off x="5484813" y="4784725"/>
              <a:ext cx="623887" cy="228600"/>
            </p:xfrm>
            <a:graphic>
              <a:graphicData uri="http://schemas.openxmlformats.org/presentationml/2006/ole">
                <p:oleObj spid="_x0000_s37944" name="Clip" r:id="rId53" imgW="622080" imgH="228600" progId="">
                  <p:embed/>
                </p:oleObj>
              </a:graphicData>
            </a:graphic>
          </p:graphicFrame>
          <p:graphicFrame>
            <p:nvGraphicFramePr>
              <p:cNvPr id="37945" name="Object 57">
                <a:hlinkClick r:id="" action="ppaction://ole?verb=0"/>
              </p:cNvPr>
              <p:cNvGraphicFramePr>
                <a:graphicFrameLocks/>
              </p:cNvGraphicFramePr>
              <p:nvPr/>
            </p:nvGraphicFramePr>
            <p:xfrm>
              <a:off x="5795963" y="4568825"/>
              <a:ext cx="623887" cy="228600"/>
            </p:xfrm>
            <a:graphic>
              <a:graphicData uri="http://schemas.openxmlformats.org/presentationml/2006/ole">
                <p:oleObj spid="_x0000_s37945" name="Clip" r:id="rId54" imgW="622080" imgH="228600" progId="">
                  <p:embed/>
                </p:oleObj>
              </a:graphicData>
            </a:graphic>
          </p:graphicFrame>
          <p:graphicFrame>
            <p:nvGraphicFramePr>
              <p:cNvPr id="37946" name="Object 58">
                <a:hlinkClick r:id="" action="ppaction://ole?verb=0"/>
              </p:cNvPr>
              <p:cNvGraphicFramePr>
                <a:graphicFrameLocks/>
              </p:cNvGraphicFramePr>
              <p:nvPr/>
            </p:nvGraphicFramePr>
            <p:xfrm>
              <a:off x="6011863" y="4352925"/>
              <a:ext cx="623887" cy="228600"/>
            </p:xfrm>
            <a:graphic>
              <a:graphicData uri="http://schemas.openxmlformats.org/presentationml/2006/ole">
                <p:oleObj spid="_x0000_s37946" name="Clip" r:id="rId55" imgW="622080" imgH="228600" progId="">
                  <p:embed/>
                </p:oleObj>
              </a:graphicData>
            </a:graphic>
          </p:graphicFrame>
          <p:graphicFrame>
            <p:nvGraphicFramePr>
              <p:cNvPr id="37947" name="Object 59">
                <a:hlinkClick r:id="" action="ppaction://ole?verb=0"/>
              </p:cNvPr>
              <p:cNvGraphicFramePr>
                <a:graphicFrameLocks/>
              </p:cNvGraphicFramePr>
              <p:nvPr/>
            </p:nvGraphicFramePr>
            <p:xfrm>
              <a:off x="5219700" y="5000625"/>
              <a:ext cx="623888" cy="228600"/>
            </p:xfrm>
            <a:graphic>
              <a:graphicData uri="http://schemas.openxmlformats.org/presentationml/2006/ole">
                <p:oleObj spid="_x0000_s37947" name="Clip" r:id="rId56" imgW="622080" imgH="228600" progId="">
                  <p:embed/>
                </p:oleObj>
              </a:graphicData>
            </a:graphic>
          </p:graphicFrame>
          <p:graphicFrame>
            <p:nvGraphicFramePr>
              <p:cNvPr id="37948" name="Object 60">
                <a:hlinkClick r:id="" action="ppaction://ole?verb=0"/>
              </p:cNvPr>
              <p:cNvGraphicFramePr>
                <a:graphicFrameLocks/>
              </p:cNvGraphicFramePr>
              <p:nvPr/>
            </p:nvGraphicFramePr>
            <p:xfrm>
              <a:off x="6156325" y="4797425"/>
              <a:ext cx="623888" cy="228600"/>
            </p:xfrm>
            <a:graphic>
              <a:graphicData uri="http://schemas.openxmlformats.org/presentationml/2006/ole">
                <p:oleObj spid="_x0000_s37948" name="Clip" r:id="rId57" imgW="622080" imgH="228600" progId="">
                  <p:embed/>
                </p:oleObj>
              </a:graphicData>
            </a:graphic>
          </p:graphicFrame>
          <p:graphicFrame>
            <p:nvGraphicFramePr>
              <p:cNvPr id="37949" name="Object 61">
                <a:hlinkClick r:id="" action="ppaction://ole?verb=0"/>
              </p:cNvPr>
              <p:cNvGraphicFramePr>
                <a:graphicFrameLocks/>
              </p:cNvGraphicFramePr>
              <p:nvPr/>
            </p:nvGraphicFramePr>
            <p:xfrm>
              <a:off x="6443663" y="4581525"/>
              <a:ext cx="623887" cy="228600"/>
            </p:xfrm>
            <a:graphic>
              <a:graphicData uri="http://schemas.openxmlformats.org/presentationml/2006/ole">
                <p:oleObj spid="_x0000_s37949" name="Clip" r:id="rId58" imgW="622080" imgH="228600" progId="">
                  <p:embed/>
                </p:oleObj>
              </a:graphicData>
            </a:graphic>
          </p:graphicFrame>
          <p:graphicFrame>
            <p:nvGraphicFramePr>
              <p:cNvPr id="37950" name="Object 62">
                <a:hlinkClick r:id="" action="ppaction://ole?verb=0"/>
              </p:cNvPr>
              <p:cNvGraphicFramePr>
                <a:graphicFrameLocks/>
              </p:cNvGraphicFramePr>
              <p:nvPr/>
            </p:nvGraphicFramePr>
            <p:xfrm>
              <a:off x="6516688" y="5013325"/>
              <a:ext cx="623887" cy="228600"/>
            </p:xfrm>
            <a:graphic>
              <a:graphicData uri="http://schemas.openxmlformats.org/presentationml/2006/ole">
                <p:oleObj spid="_x0000_s37950" name="Clip" r:id="rId59" imgW="622080" imgH="228600" progId="">
                  <p:embed/>
                </p:oleObj>
              </a:graphicData>
            </a:graphic>
          </p:graphicFrame>
          <p:graphicFrame>
            <p:nvGraphicFramePr>
              <p:cNvPr id="37951" name="Object 63">
                <a:hlinkClick r:id="" action="ppaction://ole?verb=0"/>
              </p:cNvPr>
              <p:cNvGraphicFramePr>
                <a:graphicFrameLocks/>
              </p:cNvGraphicFramePr>
              <p:nvPr/>
            </p:nvGraphicFramePr>
            <p:xfrm>
              <a:off x="6804025" y="4797425"/>
              <a:ext cx="623888" cy="228600"/>
            </p:xfrm>
            <a:graphic>
              <a:graphicData uri="http://schemas.openxmlformats.org/presentationml/2006/ole">
                <p:oleObj spid="_x0000_s37951" name="Clip" r:id="rId60" imgW="622080" imgH="228600" progId="">
                  <p:embed/>
                </p:oleObj>
              </a:graphicData>
            </a:graphic>
          </p:graphicFrame>
          <p:graphicFrame>
            <p:nvGraphicFramePr>
              <p:cNvPr id="37952" name="Object 64">
                <a:hlinkClick r:id="" action="ppaction://ole?verb=0"/>
              </p:cNvPr>
              <p:cNvGraphicFramePr>
                <a:graphicFrameLocks/>
              </p:cNvGraphicFramePr>
              <p:nvPr/>
            </p:nvGraphicFramePr>
            <p:xfrm>
              <a:off x="6900863" y="5229225"/>
              <a:ext cx="623887" cy="228600"/>
            </p:xfrm>
            <a:graphic>
              <a:graphicData uri="http://schemas.openxmlformats.org/presentationml/2006/ole">
                <p:oleObj spid="_x0000_s37952" name="Clip" r:id="rId61" imgW="622080" imgH="228600" progId="">
                  <p:embed/>
                </p:oleObj>
              </a:graphicData>
            </a:graphic>
          </p:graphicFrame>
          <p:graphicFrame>
            <p:nvGraphicFramePr>
              <p:cNvPr id="37953" name="Object 65">
                <a:hlinkClick r:id="" action="ppaction://ole?verb=0"/>
              </p:cNvPr>
              <p:cNvGraphicFramePr>
                <a:graphicFrameLocks/>
              </p:cNvGraphicFramePr>
              <p:nvPr/>
            </p:nvGraphicFramePr>
            <p:xfrm>
              <a:off x="7188200" y="5013325"/>
              <a:ext cx="623888" cy="228600"/>
            </p:xfrm>
            <a:graphic>
              <a:graphicData uri="http://schemas.openxmlformats.org/presentationml/2006/ole">
                <p:oleObj spid="_x0000_s37953" name="Clip" r:id="rId62" imgW="622080" imgH="228600" progId="">
                  <p:embed/>
                </p:oleObj>
              </a:graphicData>
            </a:graphic>
          </p:graphicFrame>
          <p:graphicFrame>
            <p:nvGraphicFramePr>
              <p:cNvPr id="37954" name="Object 66">
                <a:hlinkClick r:id="" action="ppaction://ole?verb=0"/>
              </p:cNvPr>
              <p:cNvGraphicFramePr>
                <a:graphicFrameLocks/>
              </p:cNvGraphicFramePr>
              <p:nvPr/>
            </p:nvGraphicFramePr>
            <p:xfrm>
              <a:off x="4932363" y="5229225"/>
              <a:ext cx="623887" cy="228600"/>
            </p:xfrm>
            <a:graphic>
              <a:graphicData uri="http://schemas.openxmlformats.org/presentationml/2006/ole">
                <p:oleObj spid="_x0000_s37954" name="Clip" r:id="rId63" imgW="622080" imgH="228600" progId="">
                  <p:embed/>
                </p:oleObj>
              </a:graphicData>
            </a:graphic>
          </p:graphicFrame>
        </p:grpSp>
      </p:grpSp>
      <p:grpSp>
        <p:nvGrpSpPr>
          <p:cNvPr id="161" name="群組 160"/>
          <p:cNvGrpSpPr/>
          <p:nvPr/>
        </p:nvGrpSpPr>
        <p:grpSpPr>
          <a:xfrm>
            <a:off x="9540552" y="2856202"/>
            <a:ext cx="5184576" cy="1658970"/>
            <a:chOff x="9540552" y="2856202"/>
            <a:chExt cx="5184576" cy="1658970"/>
          </a:xfrm>
        </p:grpSpPr>
        <p:grpSp>
          <p:nvGrpSpPr>
            <p:cNvPr id="89" name="群組 19"/>
            <p:cNvGrpSpPr/>
            <p:nvPr/>
          </p:nvGrpSpPr>
          <p:grpSpPr>
            <a:xfrm>
              <a:off x="9540552" y="2856202"/>
              <a:ext cx="2574925" cy="1157700"/>
              <a:chOff x="1349375" y="2759075"/>
              <a:chExt cx="2574925" cy="1157700"/>
            </a:xfrm>
          </p:grpSpPr>
          <p:graphicFrame>
            <p:nvGraphicFramePr>
              <p:cNvPr id="157" name="Object 3">
                <a:hlinkClick r:id="" action="ppaction://ole?verb=0"/>
              </p:cNvPr>
              <p:cNvGraphicFramePr>
                <a:graphicFrameLocks/>
              </p:cNvGraphicFramePr>
              <p:nvPr/>
            </p:nvGraphicFramePr>
            <p:xfrm>
              <a:off x="1349375" y="2759075"/>
              <a:ext cx="2574925" cy="915988"/>
            </p:xfrm>
            <a:graphic>
              <a:graphicData uri="http://schemas.openxmlformats.org/presentationml/2006/ole">
                <p:oleObj spid="_x0000_s37955" name="Clip" r:id="rId64" imgW="2573280" imgH="914400" progId="">
                  <p:embed/>
                </p:oleObj>
              </a:graphicData>
            </a:graphic>
          </p:graphicFrame>
          <p:sp>
            <p:nvSpPr>
              <p:cNvPr id="158" name="Rectangle 8"/>
              <p:cNvSpPr>
                <a:spLocks noChangeArrowheads="1"/>
              </p:cNvSpPr>
              <p:nvPr/>
            </p:nvSpPr>
            <p:spPr bwMode="auto">
              <a:xfrm>
                <a:off x="2293938" y="3611563"/>
                <a:ext cx="995466" cy="305212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lIns="90488" tIns="44450" rIns="90488" bIns="4445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400" b="0" i="0" u="none" strike="noStrike" kern="0" cap="none" spc="0" normalizeH="0" baseline="0" noProof="0" dirty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新細明體" charset="-120"/>
                  </a:rPr>
                  <a:t>Mainframe</a:t>
                </a:r>
              </a:p>
            </p:txBody>
          </p:sp>
        </p:grpSp>
        <p:grpSp>
          <p:nvGrpSpPr>
            <p:cNvPr id="90" name="群組 20"/>
            <p:cNvGrpSpPr/>
            <p:nvPr/>
          </p:nvGrpSpPr>
          <p:grpSpPr>
            <a:xfrm>
              <a:off x="11868993" y="3723084"/>
              <a:ext cx="1309469" cy="792088"/>
              <a:chOff x="4499992" y="3068960"/>
              <a:chExt cx="1309469" cy="792088"/>
            </a:xfrm>
          </p:grpSpPr>
          <p:graphicFrame>
            <p:nvGraphicFramePr>
              <p:cNvPr id="155" name="Object 5">
                <a:hlinkClick r:id="" action="ppaction://ole?verb=0"/>
              </p:cNvPr>
              <p:cNvGraphicFramePr>
                <a:graphicFrameLocks/>
              </p:cNvGraphicFramePr>
              <p:nvPr/>
            </p:nvGraphicFramePr>
            <p:xfrm>
              <a:off x="4499992" y="3068960"/>
              <a:ext cx="1268413" cy="455613"/>
            </p:xfrm>
            <a:graphic>
              <a:graphicData uri="http://schemas.openxmlformats.org/presentationml/2006/ole">
                <p:oleObj spid="_x0000_s37956" name="Clip" r:id="rId65" imgW="1266480" imgH="453960" progId="">
                  <p:embed/>
                </p:oleObj>
              </a:graphicData>
            </a:graphic>
          </p:graphicFrame>
          <p:sp>
            <p:nvSpPr>
              <p:cNvPr id="156" name="Rectangle 10"/>
              <p:cNvSpPr>
                <a:spLocks noChangeArrowheads="1"/>
              </p:cNvSpPr>
              <p:nvPr/>
            </p:nvSpPr>
            <p:spPr bwMode="auto">
              <a:xfrm>
                <a:off x="4519042" y="3555836"/>
                <a:ext cx="1290419" cy="305212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lIns="90488" tIns="44450" rIns="90488" bIns="4445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400" b="0" i="0" u="none" strike="noStrike" kern="0" cap="none" spc="0" normalizeH="0" baseline="0" noProof="0" dirty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新細明體" charset="-120"/>
                  </a:rPr>
                  <a:t>Mini Computer</a:t>
                </a:r>
              </a:p>
            </p:txBody>
          </p:sp>
        </p:grpSp>
        <p:grpSp>
          <p:nvGrpSpPr>
            <p:cNvPr id="91" name="群組 21"/>
            <p:cNvGrpSpPr/>
            <p:nvPr/>
          </p:nvGrpSpPr>
          <p:grpSpPr>
            <a:xfrm>
              <a:off x="12913401" y="3075012"/>
              <a:ext cx="1091647" cy="648112"/>
              <a:chOff x="6288665" y="3140968"/>
              <a:chExt cx="1091647" cy="648112"/>
            </a:xfrm>
          </p:grpSpPr>
          <p:graphicFrame>
            <p:nvGraphicFramePr>
              <p:cNvPr id="153" name="Object 6">
                <a:hlinkClick r:id="" action="ppaction://ole?verb=0"/>
              </p:cNvPr>
              <p:cNvGraphicFramePr>
                <a:graphicFrameLocks/>
              </p:cNvGraphicFramePr>
              <p:nvPr/>
            </p:nvGraphicFramePr>
            <p:xfrm>
              <a:off x="6348990" y="3140968"/>
              <a:ext cx="890587" cy="322263"/>
            </p:xfrm>
            <a:graphic>
              <a:graphicData uri="http://schemas.openxmlformats.org/presentationml/2006/ole">
                <p:oleObj spid="_x0000_s37957" name="Clip" r:id="rId66" imgW="888840" imgH="320400" progId="">
                  <p:embed/>
                </p:oleObj>
              </a:graphicData>
            </a:graphic>
          </p:graphicFrame>
          <p:sp>
            <p:nvSpPr>
              <p:cNvPr id="154" name="Rectangle 11"/>
              <p:cNvSpPr>
                <a:spLocks noChangeArrowheads="1"/>
              </p:cNvSpPr>
              <p:nvPr/>
            </p:nvSpPr>
            <p:spPr bwMode="auto">
              <a:xfrm>
                <a:off x="6288665" y="3483868"/>
                <a:ext cx="1091647" cy="305212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lIns="90488" tIns="44450" rIns="90488" bIns="4445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400" b="0" i="0" u="none" strike="noStrike" kern="0" cap="none" spc="0" normalizeH="0" baseline="0" noProof="0" dirty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新細明體" charset="-120"/>
                  </a:rPr>
                  <a:t>Workstation</a:t>
                </a:r>
              </a:p>
            </p:txBody>
          </p:sp>
        </p:grpSp>
        <p:grpSp>
          <p:nvGrpSpPr>
            <p:cNvPr id="92" name="群組 22"/>
            <p:cNvGrpSpPr/>
            <p:nvPr/>
          </p:nvGrpSpPr>
          <p:grpSpPr>
            <a:xfrm>
              <a:off x="14101241" y="3488416"/>
              <a:ext cx="623887" cy="522700"/>
              <a:chOff x="7764537" y="3212976"/>
              <a:chExt cx="623887" cy="522700"/>
            </a:xfrm>
          </p:grpSpPr>
          <p:graphicFrame>
            <p:nvGraphicFramePr>
              <p:cNvPr id="151" name="Object 7">
                <a:hlinkClick r:id="" action="ppaction://ole?verb=0"/>
              </p:cNvPr>
              <p:cNvGraphicFramePr>
                <a:graphicFrameLocks/>
              </p:cNvGraphicFramePr>
              <p:nvPr/>
            </p:nvGraphicFramePr>
            <p:xfrm>
              <a:off x="7764537" y="3212976"/>
              <a:ext cx="623887" cy="228600"/>
            </p:xfrm>
            <a:graphic>
              <a:graphicData uri="http://schemas.openxmlformats.org/presentationml/2006/ole">
                <p:oleObj spid="_x0000_s37958" name="Clip" r:id="rId67" imgW="622080" imgH="228600" progId="">
                  <p:embed/>
                </p:oleObj>
              </a:graphicData>
            </a:graphic>
          </p:graphicFrame>
          <p:sp>
            <p:nvSpPr>
              <p:cNvPr id="152" name="Rectangle 12"/>
              <p:cNvSpPr>
                <a:spLocks noChangeArrowheads="1"/>
              </p:cNvSpPr>
              <p:nvPr/>
            </p:nvSpPr>
            <p:spPr bwMode="auto">
              <a:xfrm>
                <a:off x="7861374" y="3430464"/>
                <a:ext cx="371898" cy="305212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lIns="90488" tIns="44450" rIns="90488" bIns="4445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400" b="0" i="0" u="none" strike="noStrike" kern="0" cap="none" spc="0" normalizeH="0" baseline="0" noProof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新細明體" charset="-120"/>
                  </a:rPr>
                  <a:t>PC</a:t>
                </a:r>
              </a:p>
            </p:txBody>
          </p:sp>
        </p:grpSp>
      </p:grpSp>
      <p:grpSp>
        <p:nvGrpSpPr>
          <p:cNvPr id="93" name="群組 85"/>
          <p:cNvGrpSpPr/>
          <p:nvPr/>
        </p:nvGrpSpPr>
        <p:grpSpPr>
          <a:xfrm>
            <a:off x="14509104" y="1988840"/>
            <a:ext cx="4945063" cy="2892425"/>
            <a:chOff x="2867025" y="2565400"/>
            <a:chExt cx="4945063" cy="2892425"/>
          </a:xfrm>
        </p:grpSpPr>
        <p:graphicFrame>
          <p:nvGraphicFramePr>
            <p:cNvPr id="94" name="Object 21">
              <a:hlinkClick r:id="" action="ppaction://ole?verb=0"/>
            </p:cNvPr>
            <p:cNvGraphicFramePr>
              <a:graphicFrameLocks/>
            </p:cNvGraphicFramePr>
            <p:nvPr/>
          </p:nvGraphicFramePr>
          <p:xfrm>
            <a:off x="2867025" y="3213100"/>
            <a:ext cx="623888" cy="228600"/>
          </p:xfrm>
          <a:graphic>
            <a:graphicData uri="http://schemas.openxmlformats.org/presentationml/2006/ole">
              <p:oleObj spid="_x0000_s37959" name="Clip" r:id="rId68" imgW="622080" imgH="228600" progId="">
                <p:embed/>
              </p:oleObj>
            </a:graphicData>
          </a:graphic>
        </p:graphicFrame>
        <p:graphicFrame>
          <p:nvGraphicFramePr>
            <p:cNvPr id="95" name="Object 11">
              <a:hlinkClick r:id="" action="ppaction://ole?verb=0"/>
            </p:cNvPr>
            <p:cNvGraphicFramePr>
              <a:graphicFrameLocks/>
            </p:cNvGraphicFramePr>
            <p:nvPr/>
          </p:nvGraphicFramePr>
          <p:xfrm>
            <a:off x="3082925" y="2997200"/>
            <a:ext cx="623888" cy="228600"/>
          </p:xfrm>
          <a:graphic>
            <a:graphicData uri="http://schemas.openxmlformats.org/presentationml/2006/ole">
              <p:oleObj spid="_x0000_s37960" name="Clip" r:id="rId69" imgW="622080" imgH="228600" progId="">
                <p:embed/>
              </p:oleObj>
            </a:graphicData>
          </a:graphic>
        </p:graphicFrame>
        <p:graphicFrame>
          <p:nvGraphicFramePr>
            <p:cNvPr id="96" name="Object 12">
              <a:hlinkClick r:id="" action="ppaction://ole?verb=0"/>
            </p:cNvPr>
            <p:cNvGraphicFramePr>
              <a:graphicFrameLocks/>
            </p:cNvGraphicFramePr>
            <p:nvPr/>
          </p:nvGraphicFramePr>
          <p:xfrm>
            <a:off x="3370263" y="2781300"/>
            <a:ext cx="623887" cy="228600"/>
          </p:xfrm>
          <a:graphic>
            <a:graphicData uri="http://schemas.openxmlformats.org/presentationml/2006/ole">
              <p:oleObj spid="_x0000_s37961" name="Clip" r:id="rId70" imgW="622080" imgH="228600" progId="">
                <p:embed/>
              </p:oleObj>
            </a:graphicData>
          </a:graphic>
        </p:graphicFrame>
        <p:graphicFrame>
          <p:nvGraphicFramePr>
            <p:cNvPr id="97" name="Object 13">
              <a:hlinkClick r:id="" action="ppaction://ole?verb=0"/>
            </p:cNvPr>
            <p:cNvGraphicFramePr>
              <a:graphicFrameLocks/>
            </p:cNvGraphicFramePr>
            <p:nvPr/>
          </p:nvGraphicFramePr>
          <p:xfrm>
            <a:off x="3586163" y="2565400"/>
            <a:ext cx="623887" cy="228600"/>
          </p:xfrm>
          <a:graphic>
            <a:graphicData uri="http://schemas.openxmlformats.org/presentationml/2006/ole">
              <p:oleObj spid="_x0000_s37962" name="Clip" r:id="rId71" imgW="622080" imgH="228600" progId="">
                <p:embed/>
              </p:oleObj>
            </a:graphicData>
          </a:graphic>
        </p:graphicFrame>
        <p:graphicFrame>
          <p:nvGraphicFramePr>
            <p:cNvPr id="98" name="Object 14">
              <a:hlinkClick r:id="" action="ppaction://ole?verb=0"/>
            </p:cNvPr>
            <p:cNvGraphicFramePr>
              <a:graphicFrameLocks/>
            </p:cNvGraphicFramePr>
            <p:nvPr/>
          </p:nvGraphicFramePr>
          <p:xfrm>
            <a:off x="3467100" y="3213100"/>
            <a:ext cx="623888" cy="228600"/>
          </p:xfrm>
          <a:graphic>
            <a:graphicData uri="http://schemas.openxmlformats.org/presentationml/2006/ole">
              <p:oleObj spid="_x0000_s37963" name="Clip" r:id="rId72" imgW="622080" imgH="228600" progId="">
                <p:embed/>
              </p:oleObj>
            </a:graphicData>
          </a:graphic>
        </p:graphicFrame>
        <p:graphicFrame>
          <p:nvGraphicFramePr>
            <p:cNvPr id="99" name="Object 15">
              <a:hlinkClick r:id="" action="ppaction://ole?verb=0"/>
            </p:cNvPr>
            <p:cNvGraphicFramePr>
              <a:graphicFrameLocks/>
            </p:cNvGraphicFramePr>
            <p:nvPr/>
          </p:nvGraphicFramePr>
          <p:xfrm>
            <a:off x="3683000" y="2997200"/>
            <a:ext cx="623888" cy="228600"/>
          </p:xfrm>
          <a:graphic>
            <a:graphicData uri="http://schemas.openxmlformats.org/presentationml/2006/ole">
              <p:oleObj spid="_x0000_s37964" name="Clip" r:id="rId73" imgW="622080" imgH="228600" progId="">
                <p:embed/>
              </p:oleObj>
            </a:graphicData>
          </a:graphic>
        </p:graphicFrame>
        <p:graphicFrame>
          <p:nvGraphicFramePr>
            <p:cNvPr id="100" name="Object 16">
              <a:hlinkClick r:id="" action="ppaction://ole?verb=0"/>
            </p:cNvPr>
            <p:cNvGraphicFramePr>
              <a:graphicFrameLocks/>
            </p:cNvGraphicFramePr>
            <p:nvPr/>
          </p:nvGraphicFramePr>
          <p:xfrm>
            <a:off x="3970338" y="2781300"/>
            <a:ext cx="623887" cy="228600"/>
          </p:xfrm>
          <a:graphic>
            <a:graphicData uri="http://schemas.openxmlformats.org/presentationml/2006/ole">
              <p:oleObj spid="_x0000_s37965" name="Clip" r:id="rId74" imgW="622080" imgH="228600" progId="">
                <p:embed/>
              </p:oleObj>
            </a:graphicData>
          </a:graphic>
        </p:graphicFrame>
        <p:graphicFrame>
          <p:nvGraphicFramePr>
            <p:cNvPr id="101" name="Object 17">
              <a:hlinkClick r:id="" action="ppaction://ole?verb=0"/>
            </p:cNvPr>
            <p:cNvGraphicFramePr>
              <a:graphicFrameLocks/>
            </p:cNvGraphicFramePr>
            <p:nvPr/>
          </p:nvGraphicFramePr>
          <p:xfrm>
            <a:off x="4186238" y="2565400"/>
            <a:ext cx="623887" cy="228600"/>
          </p:xfrm>
          <a:graphic>
            <a:graphicData uri="http://schemas.openxmlformats.org/presentationml/2006/ole">
              <p:oleObj spid="_x0000_s37966" name="Clip" r:id="rId75" imgW="622080" imgH="228600" progId="">
                <p:embed/>
              </p:oleObj>
            </a:graphicData>
          </a:graphic>
        </p:graphicFrame>
        <p:graphicFrame>
          <p:nvGraphicFramePr>
            <p:cNvPr id="102" name="Object 18">
              <a:hlinkClick r:id="" action="ppaction://ole?verb=0"/>
            </p:cNvPr>
            <p:cNvGraphicFramePr>
              <a:graphicFrameLocks/>
            </p:cNvGraphicFramePr>
            <p:nvPr/>
          </p:nvGraphicFramePr>
          <p:xfrm>
            <a:off x="3946525" y="3357563"/>
            <a:ext cx="623888" cy="228600"/>
          </p:xfrm>
          <a:graphic>
            <a:graphicData uri="http://schemas.openxmlformats.org/presentationml/2006/ole">
              <p:oleObj spid="_x0000_s37967" name="Clip" r:id="rId76" imgW="622080" imgH="228600" progId="">
                <p:embed/>
              </p:oleObj>
            </a:graphicData>
          </a:graphic>
        </p:graphicFrame>
        <p:graphicFrame>
          <p:nvGraphicFramePr>
            <p:cNvPr id="103" name="Object 19">
              <a:hlinkClick r:id="" action="ppaction://ole?verb=0"/>
            </p:cNvPr>
            <p:cNvGraphicFramePr>
              <a:graphicFrameLocks/>
            </p:cNvGraphicFramePr>
            <p:nvPr/>
          </p:nvGraphicFramePr>
          <p:xfrm>
            <a:off x="4162425" y="3141663"/>
            <a:ext cx="623888" cy="228600"/>
          </p:xfrm>
          <a:graphic>
            <a:graphicData uri="http://schemas.openxmlformats.org/presentationml/2006/ole">
              <p:oleObj spid="_x0000_s37968" name="Clip" r:id="rId77" imgW="622080" imgH="228600" progId="">
                <p:embed/>
              </p:oleObj>
            </a:graphicData>
          </a:graphic>
        </p:graphicFrame>
        <p:graphicFrame>
          <p:nvGraphicFramePr>
            <p:cNvPr id="104" name="Object 20">
              <a:hlinkClick r:id="" action="ppaction://ole?verb=0"/>
            </p:cNvPr>
            <p:cNvGraphicFramePr>
              <a:graphicFrameLocks/>
            </p:cNvGraphicFramePr>
            <p:nvPr/>
          </p:nvGraphicFramePr>
          <p:xfrm>
            <a:off x="4449763" y="2924175"/>
            <a:ext cx="623887" cy="228600"/>
          </p:xfrm>
          <a:graphic>
            <a:graphicData uri="http://schemas.openxmlformats.org/presentationml/2006/ole">
              <p:oleObj spid="_x0000_s37969" name="Clip" r:id="rId78" imgW="622080" imgH="228600" progId="">
                <p:embed/>
              </p:oleObj>
            </a:graphicData>
          </a:graphic>
        </p:graphicFrame>
        <p:graphicFrame>
          <p:nvGraphicFramePr>
            <p:cNvPr id="105" name="Object 21">
              <a:hlinkClick r:id="" action="ppaction://ole?verb=0"/>
            </p:cNvPr>
            <p:cNvGraphicFramePr>
              <a:graphicFrameLocks/>
            </p:cNvGraphicFramePr>
            <p:nvPr/>
          </p:nvGraphicFramePr>
          <p:xfrm>
            <a:off x="4665663" y="2708275"/>
            <a:ext cx="623887" cy="228600"/>
          </p:xfrm>
          <a:graphic>
            <a:graphicData uri="http://schemas.openxmlformats.org/presentationml/2006/ole">
              <p:oleObj spid="_x0000_s37970" name="Clip" r:id="rId79" imgW="622080" imgH="228600" progId="">
                <p:embed/>
              </p:oleObj>
            </a:graphicData>
          </a:graphic>
        </p:graphicFrame>
        <p:graphicFrame>
          <p:nvGraphicFramePr>
            <p:cNvPr id="106" name="Object 22">
              <a:hlinkClick r:id="" action="ppaction://ole?verb=0"/>
            </p:cNvPr>
            <p:cNvGraphicFramePr>
              <a:graphicFrameLocks/>
            </p:cNvGraphicFramePr>
            <p:nvPr/>
          </p:nvGraphicFramePr>
          <p:xfrm>
            <a:off x="4379913" y="3573463"/>
            <a:ext cx="623887" cy="228600"/>
          </p:xfrm>
          <a:graphic>
            <a:graphicData uri="http://schemas.openxmlformats.org/presentationml/2006/ole">
              <p:oleObj spid="_x0000_s37971" name="Clip" r:id="rId80" imgW="622080" imgH="228600" progId="">
                <p:embed/>
              </p:oleObj>
            </a:graphicData>
          </a:graphic>
        </p:graphicFrame>
        <p:graphicFrame>
          <p:nvGraphicFramePr>
            <p:cNvPr id="107" name="Object 23">
              <a:hlinkClick r:id="" action="ppaction://ole?verb=0"/>
            </p:cNvPr>
            <p:cNvGraphicFramePr>
              <a:graphicFrameLocks/>
            </p:cNvGraphicFramePr>
            <p:nvPr/>
          </p:nvGraphicFramePr>
          <p:xfrm>
            <a:off x="4595813" y="3357563"/>
            <a:ext cx="623887" cy="228600"/>
          </p:xfrm>
          <a:graphic>
            <a:graphicData uri="http://schemas.openxmlformats.org/presentationml/2006/ole">
              <p:oleObj spid="_x0000_s37972" name="Clip" r:id="rId81" imgW="622080" imgH="228600" progId="">
                <p:embed/>
              </p:oleObj>
            </a:graphicData>
          </a:graphic>
        </p:graphicFrame>
        <p:graphicFrame>
          <p:nvGraphicFramePr>
            <p:cNvPr id="108" name="Object 24">
              <a:hlinkClick r:id="" action="ppaction://ole?verb=0"/>
            </p:cNvPr>
            <p:cNvGraphicFramePr>
              <a:graphicFrameLocks/>
            </p:cNvGraphicFramePr>
            <p:nvPr/>
          </p:nvGraphicFramePr>
          <p:xfrm>
            <a:off x="4884738" y="3140075"/>
            <a:ext cx="623887" cy="228600"/>
          </p:xfrm>
          <a:graphic>
            <a:graphicData uri="http://schemas.openxmlformats.org/presentationml/2006/ole">
              <p:oleObj spid="_x0000_s37973" name="Clip" r:id="rId82" imgW="622080" imgH="228600" progId="">
                <p:embed/>
              </p:oleObj>
            </a:graphicData>
          </a:graphic>
        </p:graphicFrame>
        <p:graphicFrame>
          <p:nvGraphicFramePr>
            <p:cNvPr id="109" name="Object 25">
              <a:hlinkClick r:id="" action="ppaction://ole?verb=0"/>
            </p:cNvPr>
            <p:cNvGraphicFramePr>
              <a:graphicFrameLocks/>
            </p:cNvGraphicFramePr>
            <p:nvPr/>
          </p:nvGraphicFramePr>
          <p:xfrm>
            <a:off x="5100638" y="2924175"/>
            <a:ext cx="623887" cy="228600"/>
          </p:xfrm>
          <a:graphic>
            <a:graphicData uri="http://schemas.openxmlformats.org/presentationml/2006/ole">
              <p:oleObj spid="_x0000_s37974" name="Clip" r:id="rId83" imgW="622080" imgH="228600" progId="">
                <p:embed/>
              </p:oleObj>
            </a:graphicData>
          </a:graphic>
        </p:graphicFrame>
        <p:graphicFrame>
          <p:nvGraphicFramePr>
            <p:cNvPr id="110" name="Object 26">
              <a:hlinkClick r:id="" action="ppaction://ole?verb=0"/>
            </p:cNvPr>
            <p:cNvGraphicFramePr>
              <a:graphicFrameLocks/>
            </p:cNvGraphicFramePr>
            <p:nvPr/>
          </p:nvGraphicFramePr>
          <p:xfrm>
            <a:off x="4714875" y="3789363"/>
            <a:ext cx="623888" cy="228600"/>
          </p:xfrm>
          <a:graphic>
            <a:graphicData uri="http://schemas.openxmlformats.org/presentationml/2006/ole">
              <p:oleObj spid="_x0000_s37975" name="Clip" r:id="rId84" imgW="622080" imgH="228600" progId="">
                <p:embed/>
              </p:oleObj>
            </a:graphicData>
          </a:graphic>
        </p:graphicFrame>
        <p:graphicFrame>
          <p:nvGraphicFramePr>
            <p:cNvPr id="111" name="Object 27">
              <a:hlinkClick r:id="" action="ppaction://ole?verb=0"/>
            </p:cNvPr>
            <p:cNvGraphicFramePr>
              <a:graphicFrameLocks/>
            </p:cNvGraphicFramePr>
            <p:nvPr/>
          </p:nvGraphicFramePr>
          <p:xfrm>
            <a:off x="4930775" y="3573463"/>
            <a:ext cx="623888" cy="228600"/>
          </p:xfrm>
          <a:graphic>
            <a:graphicData uri="http://schemas.openxmlformats.org/presentationml/2006/ole">
              <p:oleObj spid="_x0000_s37976" name="Clip" r:id="rId85" imgW="622080" imgH="228600" progId="">
                <p:embed/>
              </p:oleObj>
            </a:graphicData>
          </a:graphic>
        </p:graphicFrame>
        <p:graphicFrame>
          <p:nvGraphicFramePr>
            <p:cNvPr id="112" name="Object 28">
              <a:hlinkClick r:id="" action="ppaction://ole?verb=0"/>
            </p:cNvPr>
            <p:cNvGraphicFramePr>
              <a:graphicFrameLocks/>
            </p:cNvGraphicFramePr>
            <p:nvPr/>
          </p:nvGraphicFramePr>
          <p:xfrm>
            <a:off x="5245100" y="3357563"/>
            <a:ext cx="623888" cy="228600"/>
          </p:xfrm>
          <a:graphic>
            <a:graphicData uri="http://schemas.openxmlformats.org/presentationml/2006/ole">
              <p:oleObj spid="_x0000_s37977" name="Clip" r:id="rId86" imgW="622080" imgH="228600" progId="">
                <p:embed/>
              </p:oleObj>
            </a:graphicData>
          </a:graphic>
        </p:graphicFrame>
        <p:graphicFrame>
          <p:nvGraphicFramePr>
            <p:cNvPr id="113" name="Object 29">
              <a:hlinkClick r:id="" action="ppaction://ole?verb=0"/>
            </p:cNvPr>
            <p:cNvGraphicFramePr>
              <a:graphicFrameLocks/>
            </p:cNvGraphicFramePr>
            <p:nvPr/>
          </p:nvGraphicFramePr>
          <p:xfrm>
            <a:off x="5461000" y="3141663"/>
            <a:ext cx="623888" cy="228600"/>
          </p:xfrm>
          <a:graphic>
            <a:graphicData uri="http://schemas.openxmlformats.org/presentationml/2006/ole">
              <p:oleObj spid="_x0000_s37978" name="Clip" r:id="rId87" imgW="622080" imgH="228600" progId="">
                <p:embed/>
              </p:oleObj>
            </a:graphicData>
          </a:graphic>
        </p:graphicFrame>
        <p:graphicFrame>
          <p:nvGraphicFramePr>
            <p:cNvPr id="114" name="Object 30">
              <a:hlinkClick r:id="" action="ppaction://ole?verb=0"/>
            </p:cNvPr>
            <p:cNvGraphicFramePr>
              <a:graphicFrameLocks/>
            </p:cNvGraphicFramePr>
            <p:nvPr/>
          </p:nvGraphicFramePr>
          <p:xfrm>
            <a:off x="4884738" y="4137025"/>
            <a:ext cx="623887" cy="228600"/>
          </p:xfrm>
          <a:graphic>
            <a:graphicData uri="http://schemas.openxmlformats.org/presentationml/2006/ole">
              <p:oleObj spid="_x0000_s37979" name="Clip" r:id="rId88" imgW="622080" imgH="228600" progId="">
                <p:embed/>
              </p:oleObj>
            </a:graphicData>
          </a:graphic>
        </p:graphicFrame>
        <p:graphicFrame>
          <p:nvGraphicFramePr>
            <p:cNvPr id="115" name="Object 31">
              <a:hlinkClick r:id="" action="ppaction://ole?verb=0"/>
            </p:cNvPr>
            <p:cNvGraphicFramePr>
              <a:graphicFrameLocks/>
            </p:cNvGraphicFramePr>
            <p:nvPr/>
          </p:nvGraphicFramePr>
          <p:xfrm>
            <a:off x="5100638" y="3921125"/>
            <a:ext cx="623887" cy="228600"/>
          </p:xfrm>
          <a:graphic>
            <a:graphicData uri="http://schemas.openxmlformats.org/presentationml/2006/ole">
              <p:oleObj spid="_x0000_s37980" name="Clip" r:id="rId89" imgW="622080" imgH="228600" progId="">
                <p:embed/>
              </p:oleObj>
            </a:graphicData>
          </a:graphic>
        </p:graphicFrame>
        <p:graphicFrame>
          <p:nvGraphicFramePr>
            <p:cNvPr id="116" name="Object 32">
              <a:hlinkClick r:id="" action="ppaction://ole?verb=0"/>
            </p:cNvPr>
            <p:cNvGraphicFramePr>
              <a:graphicFrameLocks/>
            </p:cNvGraphicFramePr>
            <p:nvPr/>
          </p:nvGraphicFramePr>
          <p:xfrm>
            <a:off x="5387975" y="3716338"/>
            <a:ext cx="623888" cy="228600"/>
          </p:xfrm>
          <a:graphic>
            <a:graphicData uri="http://schemas.openxmlformats.org/presentationml/2006/ole">
              <p:oleObj spid="_x0000_s37981" name="Clip" r:id="rId90" imgW="622080" imgH="228600" progId="">
                <p:embed/>
              </p:oleObj>
            </a:graphicData>
          </a:graphic>
        </p:graphicFrame>
        <p:graphicFrame>
          <p:nvGraphicFramePr>
            <p:cNvPr id="117" name="Object 33">
              <a:hlinkClick r:id="" action="ppaction://ole?verb=0"/>
            </p:cNvPr>
            <p:cNvGraphicFramePr>
              <a:graphicFrameLocks/>
            </p:cNvGraphicFramePr>
            <p:nvPr/>
          </p:nvGraphicFramePr>
          <p:xfrm>
            <a:off x="5603875" y="3500438"/>
            <a:ext cx="623888" cy="228600"/>
          </p:xfrm>
          <a:graphic>
            <a:graphicData uri="http://schemas.openxmlformats.org/presentationml/2006/ole">
              <p:oleObj spid="_x0000_s37982" name="Clip" r:id="rId91" imgW="622080" imgH="228600" progId="">
                <p:embed/>
              </p:oleObj>
            </a:graphicData>
          </a:graphic>
        </p:graphicFrame>
        <p:graphicFrame>
          <p:nvGraphicFramePr>
            <p:cNvPr id="118" name="Object 34">
              <a:hlinkClick r:id="" action="ppaction://ole?verb=0"/>
            </p:cNvPr>
            <p:cNvGraphicFramePr>
              <a:graphicFrameLocks/>
            </p:cNvGraphicFramePr>
            <p:nvPr/>
          </p:nvGraphicFramePr>
          <p:xfrm>
            <a:off x="3876675" y="4987925"/>
            <a:ext cx="623888" cy="228600"/>
          </p:xfrm>
          <a:graphic>
            <a:graphicData uri="http://schemas.openxmlformats.org/presentationml/2006/ole">
              <p:oleObj spid="_x0000_s37983" name="Clip" r:id="rId92" imgW="622080" imgH="228600" progId="">
                <p:embed/>
              </p:oleObj>
            </a:graphicData>
          </a:graphic>
        </p:graphicFrame>
        <p:graphicFrame>
          <p:nvGraphicFramePr>
            <p:cNvPr id="119" name="Object 35">
              <a:hlinkClick r:id="" action="ppaction://ole?verb=0"/>
            </p:cNvPr>
            <p:cNvGraphicFramePr>
              <a:graphicFrameLocks/>
            </p:cNvGraphicFramePr>
            <p:nvPr/>
          </p:nvGraphicFramePr>
          <p:xfrm>
            <a:off x="4092575" y="4772025"/>
            <a:ext cx="623888" cy="228600"/>
          </p:xfrm>
          <a:graphic>
            <a:graphicData uri="http://schemas.openxmlformats.org/presentationml/2006/ole">
              <p:oleObj spid="_x0000_s37984" name="Clip" r:id="rId93" imgW="622080" imgH="228600" progId="">
                <p:embed/>
              </p:oleObj>
            </a:graphicData>
          </a:graphic>
        </p:graphicFrame>
        <p:graphicFrame>
          <p:nvGraphicFramePr>
            <p:cNvPr id="120" name="Object 36">
              <a:hlinkClick r:id="" action="ppaction://ole?verb=0"/>
            </p:cNvPr>
            <p:cNvGraphicFramePr>
              <a:graphicFrameLocks/>
            </p:cNvGraphicFramePr>
            <p:nvPr/>
          </p:nvGraphicFramePr>
          <p:xfrm>
            <a:off x="4379913" y="4568825"/>
            <a:ext cx="623887" cy="228600"/>
          </p:xfrm>
          <a:graphic>
            <a:graphicData uri="http://schemas.openxmlformats.org/presentationml/2006/ole">
              <p:oleObj spid="_x0000_s37985" name="Clip" r:id="rId94" imgW="622080" imgH="228600" progId="">
                <p:embed/>
              </p:oleObj>
            </a:graphicData>
          </a:graphic>
        </p:graphicFrame>
        <p:graphicFrame>
          <p:nvGraphicFramePr>
            <p:cNvPr id="121" name="Object 37">
              <a:hlinkClick r:id="" action="ppaction://ole?verb=0"/>
            </p:cNvPr>
            <p:cNvGraphicFramePr>
              <a:graphicFrameLocks/>
            </p:cNvGraphicFramePr>
            <p:nvPr/>
          </p:nvGraphicFramePr>
          <p:xfrm>
            <a:off x="4595813" y="4352925"/>
            <a:ext cx="623887" cy="228600"/>
          </p:xfrm>
          <a:graphic>
            <a:graphicData uri="http://schemas.openxmlformats.org/presentationml/2006/ole">
              <p:oleObj spid="_x0000_s37986" name="Clip" r:id="rId95" imgW="622080" imgH="228600" progId="">
                <p:embed/>
              </p:oleObj>
            </a:graphicData>
          </a:graphic>
        </p:graphicFrame>
        <p:graphicFrame>
          <p:nvGraphicFramePr>
            <p:cNvPr id="122" name="Object 38">
              <a:hlinkClick r:id="" action="ppaction://ole?verb=0"/>
            </p:cNvPr>
            <p:cNvGraphicFramePr>
              <a:graphicFrameLocks/>
            </p:cNvGraphicFramePr>
            <p:nvPr/>
          </p:nvGraphicFramePr>
          <p:xfrm>
            <a:off x="3155950" y="5072063"/>
            <a:ext cx="623888" cy="228600"/>
          </p:xfrm>
          <a:graphic>
            <a:graphicData uri="http://schemas.openxmlformats.org/presentationml/2006/ole">
              <p:oleObj spid="_x0000_s37987" name="Clip" r:id="rId96" imgW="622080" imgH="228600" progId="">
                <p:embed/>
              </p:oleObj>
            </a:graphicData>
          </a:graphic>
        </p:graphicFrame>
        <p:graphicFrame>
          <p:nvGraphicFramePr>
            <p:cNvPr id="123" name="Object 39">
              <a:hlinkClick r:id="" action="ppaction://ole?verb=0"/>
            </p:cNvPr>
            <p:cNvGraphicFramePr>
              <a:graphicFrameLocks/>
            </p:cNvGraphicFramePr>
            <p:nvPr/>
          </p:nvGraphicFramePr>
          <p:xfrm>
            <a:off x="3371850" y="4856163"/>
            <a:ext cx="623888" cy="228600"/>
          </p:xfrm>
          <a:graphic>
            <a:graphicData uri="http://schemas.openxmlformats.org/presentationml/2006/ole">
              <p:oleObj spid="_x0000_s37988" name="Clip" r:id="rId97" imgW="622080" imgH="228600" progId="">
                <p:embed/>
              </p:oleObj>
            </a:graphicData>
          </a:graphic>
        </p:graphicFrame>
        <p:graphicFrame>
          <p:nvGraphicFramePr>
            <p:cNvPr id="124" name="Object 40">
              <a:hlinkClick r:id="" action="ppaction://ole?verb=0"/>
            </p:cNvPr>
            <p:cNvGraphicFramePr>
              <a:graphicFrameLocks/>
            </p:cNvGraphicFramePr>
            <p:nvPr/>
          </p:nvGraphicFramePr>
          <p:xfrm>
            <a:off x="3660775" y="5216525"/>
            <a:ext cx="623888" cy="228600"/>
          </p:xfrm>
          <a:graphic>
            <a:graphicData uri="http://schemas.openxmlformats.org/presentationml/2006/ole">
              <p:oleObj spid="_x0000_s37989" name="Clip" r:id="rId98" imgW="622080" imgH="228600" progId="">
                <p:embed/>
              </p:oleObj>
            </a:graphicData>
          </a:graphic>
        </p:graphicFrame>
        <p:graphicFrame>
          <p:nvGraphicFramePr>
            <p:cNvPr id="125" name="Object 41">
              <a:hlinkClick r:id="" action="ppaction://ole?verb=0"/>
            </p:cNvPr>
            <p:cNvGraphicFramePr>
              <a:graphicFrameLocks/>
            </p:cNvGraphicFramePr>
            <p:nvPr/>
          </p:nvGraphicFramePr>
          <p:xfrm>
            <a:off x="4284663" y="5216525"/>
            <a:ext cx="623887" cy="228600"/>
          </p:xfrm>
          <a:graphic>
            <a:graphicData uri="http://schemas.openxmlformats.org/presentationml/2006/ole">
              <p:oleObj spid="_x0000_s37990" name="Clip" r:id="rId99" imgW="622080" imgH="228600" progId="">
                <p:embed/>
              </p:oleObj>
            </a:graphicData>
          </a:graphic>
        </p:graphicFrame>
        <p:graphicFrame>
          <p:nvGraphicFramePr>
            <p:cNvPr id="126" name="Object 42">
              <a:hlinkClick r:id="" action="ppaction://ole?verb=0"/>
            </p:cNvPr>
            <p:cNvGraphicFramePr>
              <a:graphicFrameLocks/>
            </p:cNvGraphicFramePr>
            <p:nvPr/>
          </p:nvGraphicFramePr>
          <p:xfrm>
            <a:off x="4500563" y="5000625"/>
            <a:ext cx="623887" cy="228600"/>
          </p:xfrm>
          <a:graphic>
            <a:graphicData uri="http://schemas.openxmlformats.org/presentationml/2006/ole">
              <p:oleObj spid="_x0000_s37991" name="Clip" r:id="rId100" imgW="622080" imgH="228600" progId="">
                <p:embed/>
              </p:oleObj>
            </a:graphicData>
          </a:graphic>
        </p:graphicFrame>
        <p:graphicFrame>
          <p:nvGraphicFramePr>
            <p:cNvPr id="127" name="Object 43">
              <a:hlinkClick r:id="" action="ppaction://ole?verb=0"/>
            </p:cNvPr>
            <p:cNvGraphicFramePr>
              <a:graphicFrameLocks/>
            </p:cNvGraphicFramePr>
            <p:nvPr/>
          </p:nvGraphicFramePr>
          <p:xfrm>
            <a:off x="4787900" y="4795838"/>
            <a:ext cx="623888" cy="228600"/>
          </p:xfrm>
          <a:graphic>
            <a:graphicData uri="http://schemas.openxmlformats.org/presentationml/2006/ole">
              <p:oleObj spid="_x0000_s37992" name="Clip" r:id="rId101" imgW="622080" imgH="228600" progId="">
                <p:embed/>
              </p:oleObj>
            </a:graphicData>
          </a:graphic>
        </p:graphicFrame>
        <p:graphicFrame>
          <p:nvGraphicFramePr>
            <p:cNvPr id="128" name="Object 44">
              <a:hlinkClick r:id="" action="ppaction://ole?verb=0"/>
            </p:cNvPr>
            <p:cNvGraphicFramePr>
              <a:graphicFrameLocks/>
            </p:cNvGraphicFramePr>
            <p:nvPr/>
          </p:nvGraphicFramePr>
          <p:xfrm>
            <a:off x="5075238" y="4568825"/>
            <a:ext cx="623887" cy="228600"/>
          </p:xfrm>
          <a:graphic>
            <a:graphicData uri="http://schemas.openxmlformats.org/presentationml/2006/ole">
              <p:oleObj spid="_x0000_s37993" name="Clip" r:id="rId102" imgW="622080" imgH="228600" progId="">
                <p:embed/>
              </p:oleObj>
            </a:graphicData>
          </a:graphic>
        </p:graphicFrame>
        <p:graphicFrame>
          <p:nvGraphicFramePr>
            <p:cNvPr id="129" name="Object 45">
              <a:hlinkClick r:id="" action="ppaction://ole?verb=0"/>
            </p:cNvPr>
            <p:cNvGraphicFramePr>
              <a:graphicFrameLocks/>
            </p:cNvGraphicFramePr>
            <p:nvPr/>
          </p:nvGraphicFramePr>
          <p:xfrm>
            <a:off x="5292725" y="4352925"/>
            <a:ext cx="623888" cy="228600"/>
          </p:xfrm>
          <a:graphic>
            <a:graphicData uri="http://schemas.openxmlformats.org/presentationml/2006/ole">
              <p:oleObj spid="_x0000_s37994" name="Clip" r:id="rId103" imgW="622080" imgH="228600" progId="">
                <p:embed/>
              </p:oleObj>
            </a:graphicData>
          </a:graphic>
        </p:graphicFrame>
        <p:graphicFrame>
          <p:nvGraphicFramePr>
            <p:cNvPr id="130" name="Object 46">
              <a:hlinkClick r:id="" action="ppaction://ole?verb=0"/>
            </p:cNvPr>
            <p:cNvGraphicFramePr>
              <a:graphicFrameLocks/>
            </p:cNvGraphicFramePr>
            <p:nvPr/>
          </p:nvGraphicFramePr>
          <p:xfrm>
            <a:off x="5508625" y="4137025"/>
            <a:ext cx="623888" cy="228600"/>
          </p:xfrm>
          <a:graphic>
            <a:graphicData uri="http://schemas.openxmlformats.org/presentationml/2006/ole">
              <p:oleObj spid="_x0000_s37995" name="Clip" r:id="rId104" imgW="622080" imgH="228600" progId="">
                <p:embed/>
              </p:oleObj>
            </a:graphicData>
          </a:graphic>
        </p:graphicFrame>
        <p:graphicFrame>
          <p:nvGraphicFramePr>
            <p:cNvPr id="131" name="Object 47">
              <a:hlinkClick r:id="" action="ppaction://ole?verb=0"/>
            </p:cNvPr>
            <p:cNvGraphicFramePr>
              <a:graphicFrameLocks/>
            </p:cNvGraphicFramePr>
            <p:nvPr/>
          </p:nvGraphicFramePr>
          <p:xfrm>
            <a:off x="5795963" y="3919538"/>
            <a:ext cx="623887" cy="228600"/>
          </p:xfrm>
          <a:graphic>
            <a:graphicData uri="http://schemas.openxmlformats.org/presentationml/2006/ole">
              <p:oleObj spid="_x0000_s37996" name="Clip" r:id="rId105" imgW="622080" imgH="228600" progId="">
                <p:embed/>
              </p:oleObj>
            </a:graphicData>
          </a:graphic>
        </p:graphicFrame>
        <p:graphicFrame>
          <p:nvGraphicFramePr>
            <p:cNvPr id="132" name="Object 48">
              <a:hlinkClick r:id="" action="ppaction://ole?verb=0"/>
            </p:cNvPr>
            <p:cNvGraphicFramePr>
              <a:graphicFrameLocks/>
            </p:cNvGraphicFramePr>
            <p:nvPr/>
          </p:nvGraphicFramePr>
          <p:xfrm>
            <a:off x="6011863" y="3703638"/>
            <a:ext cx="623887" cy="228600"/>
          </p:xfrm>
          <a:graphic>
            <a:graphicData uri="http://schemas.openxmlformats.org/presentationml/2006/ole">
              <p:oleObj spid="_x0000_s37997" name="Clip" r:id="rId106" imgW="622080" imgH="228600" progId="">
                <p:embed/>
              </p:oleObj>
            </a:graphicData>
          </a:graphic>
        </p:graphicFrame>
        <p:graphicFrame>
          <p:nvGraphicFramePr>
            <p:cNvPr id="133" name="Object 49">
              <a:hlinkClick r:id="" action="ppaction://ole?verb=0"/>
            </p:cNvPr>
            <p:cNvGraphicFramePr>
              <a:graphicFrameLocks/>
            </p:cNvGraphicFramePr>
            <p:nvPr/>
          </p:nvGraphicFramePr>
          <p:xfrm>
            <a:off x="6300788" y="3500438"/>
            <a:ext cx="623887" cy="228600"/>
          </p:xfrm>
          <a:graphic>
            <a:graphicData uri="http://schemas.openxmlformats.org/presentationml/2006/ole">
              <p:oleObj spid="_x0000_s37998" name="Clip" r:id="rId107" imgW="622080" imgH="228600" progId="">
                <p:embed/>
              </p:oleObj>
            </a:graphicData>
          </a:graphic>
        </p:graphicFrame>
        <p:graphicFrame>
          <p:nvGraphicFramePr>
            <p:cNvPr id="134" name="Object 50">
              <a:hlinkClick r:id="" action="ppaction://ole?verb=0"/>
            </p:cNvPr>
            <p:cNvGraphicFramePr>
              <a:graphicFrameLocks/>
            </p:cNvGraphicFramePr>
            <p:nvPr/>
          </p:nvGraphicFramePr>
          <p:xfrm>
            <a:off x="6516688" y="3284538"/>
            <a:ext cx="623887" cy="228600"/>
          </p:xfrm>
          <a:graphic>
            <a:graphicData uri="http://schemas.openxmlformats.org/presentationml/2006/ole">
              <p:oleObj spid="_x0000_s37999" name="Clip" r:id="rId108" imgW="622080" imgH="228600" progId="">
                <p:embed/>
              </p:oleObj>
            </a:graphicData>
          </a:graphic>
        </p:graphicFrame>
        <p:graphicFrame>
          <p:nvGraphicFramePr>
            <p:cNvPr id="135" name="Object 51">
              <a:hlinkClick r:id="" action="ppaction://ole?verb=0"/>
            </p:cNvPr>
            <p:cNvGraphicFramePr>
              <a:graphicFrameLocks/>
            </p:cNvGraphicFramePr>
            <p:nvPr/>
          </p:nvGraphicFramePr>
          <p:xfrm>
            <a:off x="6972300" y="3500438"/>
            <a:ext cx="623888" cy="228600"/>
          </p:xfrm>
          <a:graphic>
            <a:graphicData uri="http://schemas.openxmlformats.org/presentationml/2006/ole">
              <p:oleObj spid="_x0000_s38000" name="Clip" r:id="rId109" imgW="622080" imgH="228600" progId="">
                <p:embed/>
              </p:oleObj>
            </a:graphicData>
          </a:graphic>
        </p:graphicFrame>
        <p:graphicFrame>
          <p:nvGraphicFramePr>
            <p:cNvPr id="136" name="Object 52">
              <a:hlinkClick r:id="" action="ppaction://ole?verb=0"/>
            </p:cNvPr>
            <p:cNvGraphicFramePr>
              <a:graphicFrameLocks/>
            </p:cNvGraphicFramePr>
            <p:nvPr/>
          </p:nvGraphicFramePr>
          <p:xfrm>
            <a:off x="7188200" y="3284538"/>
            <a:ext cx="623888" cy="228600"/>
          </p:xfrm>
          <a:graphic>
            <a:graphicData uri="http://schemas.openxmlformats.org/presentationml/2006/ole">
              <p:oleObj spid="_x0000_s38001" name="Clip" r:id="rId110" imgW="622080" imgH="228600" progId="">
                <p:embed/>
              </p:oleObj>
            </a:graphicData>
          </a:graphic>
        </p:graphicFrame>
        <p:graphicFrame>
          <p:nvGraphicFramePr>
            <p:cNvPr id="137" name="Object 53">
              <a:hlinkClick r:id="" action="ppaction://ole?verb=0"/>
            </p:cNvPr>
            <p:cNvGraphicFramePr>
              <a:graphicFrameLocks/>
            </p:cNvGraphicFramePr>
            <p:nvPr/>
          </p:nvGraphicFramePr>
          <p:xfrm>
            <a:off x="6180138" y="4137025"/>
            <a:ext cx="623887" cy="228600"/>
          </p:xfrm>
          <a:graphic>
            <a:graphicData uri="http://schemas.openxmlformats.org/presentationml/2006/ole">
              <p:oleObj spid="_x0000_s38002" name="Clip" r:id="rId111" imgW="622080" imgH="228600" progId="">
                <p:embed/>
              </p:oleObj>
            </a:graphicData>
          </a:graphic>
        </p:graphicFrame>
        <p:graphicFrame>
          <p:nvGraphicFramePr>
            <p:cNvPr id="138" name="Object 54">
              <a:hlinkClick r:id="" action="ppaction://ole?verb=0"/>
            </p:cNvPr>
            <p:cNvGraphicFramePr>
              <a:graphicFrameLocks/>
            </p:cNvGraphicFramePr>
            <p:nvPr/>
          </p:nvGraphicFramePr>
          <p:xfrm>
            <a:off x="6469063" y="3919538"/>
            <a:ext cx="623887" cy="228600"/>
          </p:xfrm>
          <a:graphic>
            <a:graphicData uri="http://schemas.openxmlformats.org/presentationml/2006/ole">
              <p:oleObj spid="_x0000_s38003" name="Clip" r:id="rId112" imgW="622080" imgH="228600" progId="">
                <p:embed/>
              </p:oleObj>
            </a:graphicData>
          </a:graphic>
        </p:graphicFrame>
        <p:graphicFrame>
          <p:nvGraphicFramePr>
            <p:cNvPr id="139" name="Object 55">
              <a:hlinkClick r:id="" action="ppaction://ole?verb=0"/>
            </p:cNvPr>
            <p:cNvGraphicFramePr>
              <a:graphicFrameLocks/>
            </p:cNvGraphicFramePr>
            <p:nvPr/>
          </p:nvGraphicFramePr>
          <p:xfrm>
            <a:off x="6684963" y="3703638"/>
            <a:ext cx="623887" cy="228600"/>
          </p:xfrm>
          <a:graphic>
            <a:graphicData uri="http://schemas.openxmlformats.org/presentationml/2006/ole">
              <p:oleObj spid="_x0000_s38004" name="Clip" r:id="rId113" imgW="622080" imgH="228600" progId="">
                <p:embed/>
              </p:oleObj>
            </a:graphicData>
          </a:graphic>
        </p:graphicFrame>
        <p:graphicFrame>
          <p:nvGraphicFramePr>
            <p:cNvPr id="140" name="Object 56">
              <a:hlinkClick r:id="" action="ppaction://ole?verb=0"/>
            </p:cNvPr>
            <p:cNvGraphicFramePr>
              <a:graphicFrameLocks/>
            </p:cNvGraphicFramePr>
            <p:nvPr/>
          </p:nvGraphicFramePr>
          <p:xfrm>
            <a:off x="5484813" y="4784725"/>
            <a:ext cx="623887" cy="228600"/>
          </p:xfrm>
          <a:graphic>
            <a:graphicData uri="http://schemas.openxmlformats.org/presentationml/2006/ole">
              <p:oleObj spid="_x0000_s38005" name="Clip" r:id="rId114" imgW="622080" imgH="228600" progId="">
                <p:embed/>
              </p:oleObj>
            </a:graphicData>
          </a:graphic>
        </p:graphicFrame>
        <p:graphicFrame>
          <p:nvGraphicFramePr>
            <p:cNvPr id="141" name="Object 57">
              <a:hlinkClick r:id="" action="ppaction://ole?verb=0"/>
            </p:cNvPr>
            <p:cNvGraphicFramePr>
              <a:graphicFrameLocks/>
            </p:cNvGraphicFramePr>
            <p:nvPr/>
          </p:nvGraphicFramePr>
          <p:xfrm>
            <a:off x="5795963" y="4568825"/>
            <a:ext cx="623887" cy="228600"/>
          </p:xfrm>
          <a:graphic>
            <a:graphicData uri="http://schemas.openxmlformats.org/presentationml/2006/ole">
              <p:oleObj spid="_x0000_s38006" name="Clip" r:id="rId115" imgW="622080" imgH="228600" progId="">
                <p:embed/>
              </p:oleObj>
            </a:graphicData>
          </a:graphic>
        </p:graphicFrame>
        <p:graphicFrame>
          <p:nvGraphicFramePr>
            <p:cNvPr id="142" name="Object 58">
              <a:hlinkClick r:id="" action="ppaction://ole?verb=0"/>
            </p:cNvPr>
            <p:cNvGraphicFramePr>
              <a:graphicFrameLocks/>
            </p:cNvGraphicFramePr>
            <p:nvPr/>
          </p:nvGraphicFramePr>
          <p:xfrm>
            <a:off x="6011863" y="4352925"/>
            <a:ext cx="623887" cy="228600"/>
          </p:xfrm>
          <a:graphic>
            <a:graphicData uri="http://schemas.openxmlformats.org/presentationml/2006/ole">
              <p:oleObj spid="_x0000_s38007" name="Clip" r:id="rId116" imgW="622080" imgH="228600" progId="">
                <p:embed/>
              </p:oleObj>
            </a:graphicData>
          </a:graphic>
        </p:graphicFrame>
        <p:graphicFrame>
          <p:nvGraphicFramePr>
            <p:cNvPr id="143" name="Object 59">
              <a:hlinkClick r:id="" action="ppaction://ole?verb=0"/>
            </p:cNvPr>
            <p:cNvGraphicFramePr>
              <a:graphicFrameLocks/>
            </p:cNvGraphicFramePr>
            <p:nvPr/>
          </p:nvGraphicFramePr>
          <p:xfrm>
            <a:off x="5219700" y="5000625"/>
            <a:ext cx="623888" cy="228600"/>
          </p:xfrm>
          <a:graphic>
            <a:graphicData uri="http://schemas.openxmlformats.org/presentationml/2006/ole">
              <p:oleObj spid="_x0000_s38008" name="Clip" r:id="rId117" imgW="622080" imgH="228600" progId="">
                <p:embed/>
              </p:oleObj>
            </a:graphicData>
          </a:graphic>
        </p:graphicFrame>
        <p:graphicFrame>
          <p:nvGraphicFramePr>
            <p:cNvPr id="144" name="Object 60">
              <a:hlinkClick r:id="" action="ppaction://ole?verb=0"/>
            </p:cNvPr>
            <p:cNvGraphicFramePr>
              <a:graphicFrameLocks/>
            </p:cNvGraphicFramePr>
            <p:nvPr/>
          </p:nvGraphicFramePr>
          <p:xfrm>
            <a:off x="6156325" y="4797425"/>
            <a:ext cx="623888" cy="228600"/>
          </p:xfrm>
          <a:graphic>
            <a:graphicData uri="http://schemas.openxmlformats.org/presentationml/2006/ole">
              <p:oleObj spid="_x0000_s38009" name="Clip" r:id="rId118" imgW="622080" imgH="228600" progId="">
                <p:embed/>
              </p:oleObj>
            </a:graphicData>
          </a:graphic>
        </p:graphicFrame>
        <p:graphicFrame>
          <p:nvGraphicFramePr>
            <p:cNvPr id="145" name="Object 61">
              <a:hlinkClick r:id="" action="ppaction://ole?verb=0"/>
            </p:cNvPr>
            <p:cNvGraphicFramePr>
              <a:graphicFrameLocks/>
            </p:cNvGraphicFramePr>
            <p:nvPr/>
          </p:nvGraphicFramePr>
          <p:xfrm>
            <a:off x="6443663" y="4581525"/>
            <a:ext cx="623887" cy="228600"/>
          </p:xfrm>
          <a:graphic>
            <a:graphicData uri="http://schemas.openxmlformats.org/presentationml/2006/ole">
              <p:oleObj spid="_x0000_s38010" name="Clip" r:id="rId119" imgW="622080" imgH="228600" progId="">
                <p:embed/>
              </p:oleObj>
            </a:graphicData>
          </a:graphic>
        </p:graphicFrame>
        <p:graphicFrame>
          <p:nvGraphicFramePr>
            <p:cNvPr id="146" name="Object 62">
              <a:hlinkClick r:id="" action="ppaction://ole?verb=0"/>
            </p:cNvPr>
            <p:cNvGraphicFramePr>
              <a:graphicFrameLocks/>
            </p:cNvGraphicFramePr>
            <p:nvPr/>
          </p:nvGraphicFramePr>
          <p:xfrm>
            <a:off x="6516688" y="5013325"/>
            <a:ext cx="623887" cy="228600"/>
          </p:xfrm>
          <a:graphic>
            <a:graphicData uri="http://schemas.openxmlformats.org/presentationml/2006/ole">
              <p:oleObj spid="_x0000_s38011" name="Clip" r:id="rId120" imgW="622080" imgH="228600" progId="">
                <p:embed/>
              </p:oleObj>
            </a:graphicData>
          </a:graphic>
        </p:graphicFrame>
        <p:graphicFrame>
          <p:nvGraphicFramePr>
            <p:cNvPr id="147" name="Object 63">
              <a:hlinkClick r:id="" action="ppaction://ole?verb=0"/>
            </p:cNvPr>
            <p:cNvGraphicFramePr>
              <a:graphicFrameLocks/>
            </p:cNvGraphicFramePr>
            <p:nvPr/>
          </p:nvGraphicFramePr>
          <p:xfrm>
            <a:off x="6804025" y="4797425"/>
            <a:ext cx="623888" cy="228600"/>
          </p:xfrm>
          <a:graphic>
            <a:graphicData uri="http://schemas.openxmlformats.org/presentationml/2006/ole">
              <p:oleObj spid="_x0000_s38012" name="Clip" r:id="rId121" imgW="622080" imgH="228600" progId="">
                <p:embed/>
              </p:oleObj>
            </a:graphicData>
          </a:graphic>
        </p:graphicFrame>
        <p:graphicFrame>
          <p:nvGraphicFramePr>
            <p:cNvPr id="148" name="Object 64">
              <a:hlinkClick r:id="" action="ppaction://ole?verb=0"/>
            </p:cNvPr>
            <p:cNvGraphicFramePr>
              <a:graphicFrameLocks/>
            </p:cNvGraphicFramePr>
            <p:nvPr/>
          </p:nvGraphicFramePr>
          <p:xfrm>
            <a:off x="6900863" y="5229225"/>
            <a:ext cx="623887" cy="228600"/>
          </p:xfrm>
          <a:graphic>
            <a:graphicData uri="http://schemas.openxmlformats.org/presentationml/2006/ole">
              <p:oleObj spid="_x0000_s38013" name="Clip" r:id="rId122" imgW="622080" imgH="228600" progId="">
                <p:embed/>
              </p:oleObj>
            </a:graphicData>
          </a:graphic>
        </p:graphicFrame>
        <p:graphicFrame>
          <p:nvGraphicFramePr>
            <p:cNvPr id="149" name="Object 65">
              <a:hlinkClick r:id="" action="ppaction://ole?verb=0"/>
            </p:cNvPr>
            <p:cNvGraphicFramePr>
              <a:graphicFrameLocks/>
            </p:cNvGraphicFramePr>
            <p:nvPr/>
          </p:nvGraphicFramePr>
          <p:xfrm>
            <a:off x="7188200" y="5013325"/>
            <a:ext cx="623888" cy="228600"/>
          </p:xfrm>
          <a:graphic>
            <a:graphicData uri="http://schemas.openxmlformats.org/presentationml/2006/ole">
              <p:oleObj spid="_x0000_s38014" name="Clip" r:id="rId123" imgW="622080" imgH="228600" progId="">
                <p:embed/>
              </p:oleObj>
            </a:graphicData>
          </a:graphic>
        </p:graphicFrame>
        <p:graphicFrame>
          <p:nvGraphicFramePr>
            <p:cNvPr id="150" name="Object 66">
              <a:hlinkClick r:id="" action="ppaction://ole?verb=0"/>
            </p:cNvPr>
            <p:cNvGraphicFramePr>
              <a:graphicFrameLocks/>
            </p:cNvGraphicFramePr>
            <p:nvPr/>
          </p:nvGraphicFramePr>
          <p:xfrm>
            <a:off x="4932363" y="5229225"/>
            <a:ext cx="623887" cy="228600"/>
          </p:xfrm>
          <a:graphic>
            <a:graphicData uri="http://schemas.openxmlformats.org/presentationml/2006/ole">
              <p:oleObj spid="_x0000_s38015" name="Clip" r:id="rId124" imgW="622080" imgH="228600" progId="">
                <p:embed/>
              </p:oleObj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path" presetSubtype="0" ac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7778E-7 4.3257E-6 L -1.77969 -0.00579 " pathEditMode="relative" rAng="0" ptsTypes="AA">
                                      <p:cBhvr>
                                        <p:cTn id="6" dur="5000" fill="hold"/>
                                        <p:tgtEl>
                                          <p:spTgt spid="16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90" y="-3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35" presetClass="path" presetSubtype="0" accel="50000" decel="5000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animMotion origin="layout" path="M 1.94444E-6 1.69789E-6 L -2.29427 -0.00093 " pathEditMode="relative" rAng="0" ptsTypes="AA">
                                      <p:cBhvr>
                                        <p:cTn id="8" dur="55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147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7000"/>
                            </p:stCondLst>
                            <p:childTnLst>
                              <p:par>
                                <p:cTn id="1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標題 6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 smtClean="0"/>
              <a:t>Rise &amp; Fall of Computing Technologies</a:t>
            </a:r>
            <a:endParaRPr lang="zh-TW" altLang="en-US" dirty="0"/>
          </a:p>
        </p:txBody>
      </p:sp>
      <p:sp>
        <p:nvSpPr>
          <p:cNvPr id="6" name="文字方塊 5"/>
          <p:cNvSpPr txBox="1"/>
          <p:nvPr/>
        </p:nvSpPr>
        <p:spPr>
          <a:xfrm>
            <a:off x="1166555" y="2193504"/>
            <a:ext cx="13118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Mainframes</a:t>
            </a:r>
            <a:endParaRPr lang="zh-TW" altLang="en-US" dirty="0"/>
          </a:p>
        </p:txBody>
      </p:sp>
      <p:sp>
        <p:nvSpPr>
          <p:cNvPr id="8" name="文字方塊 7"/>
          <p:cNvSpPr txBox="1"/>
          <p:nvPr/>
        </p:nvSpPr>
        <p:spPr>
          <a:xfrm>
            <a:off x="3483243" y="2193504"/>
            <a:ext cx="17090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Mini-Computers</a:t>
            </a:r>
            <a:endParaRPr lang="zh-TW" altLang="en-US" dirty="0"/>
          </a:p>
        </p:txBody>
      </p:sp>
      <p:sp>
        <p:nvSpPr>
          <p:cNvPr id="9" name="文字方塊 8"/>
          <p:cNvSpPr txBox="1"/>
          <p:nvPr/>
        </p:nvSpPr>
        <p:spPr>
          <a:xfrm>
            <a:off x="1178987" y="4562217"/>
            <a:ext cx="17090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Mini-Computers</a:t>
            </a:r>
            <a:endParaRPr lang="zh-TW" altLang="en-US" dirty="0"/>
          </a:p>
        </p:txBody>
      </p:sp>
      <p:sp>
        <p:nvSpPr>
          <p:cNvPr id="10" name="文字方塊 9"/>
          <p:cNvSpPr txBox="1"/>
          <p:nvPr/>
        </p:nvSpPr>
        <p:spPr>
          <a:xfrm>
            <a:off x="3411235" y="4562217"/>
            <a:ext cx="121373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Personal</a:t>
            </a:r>
          </a:p>
          <a:p>
            <a:r>
              <a:rPr lang="en-US" altLang="zh-TW" dirty="0" smtClean="0"/>
              <a:t>Computers</a:t>
            </a:r>
            <a:endParaRPr lang="zh-TW" altLang="en-US" dirty="0"/>
          </a:p>
        </p:txBody>
      </p:sp>
      <p:sp>
        <p:nvSpPr>
          <p:cNvPr id="11" name="文字方塊 10"/>
          <p:cNvSpPr txBox="1"/>
          <p:nvPr/>
        </p:nvSpPr>
        <p:spPr>
          <a:xfrm>
            <a:off x="5787499" y="2184212"/>
            <a:ext cx="20691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Personal Computers</a:t>
            </a:r>
            <a:endParaRPr lang="zh-TW" altLang="en-US" dirty="0"/>
          </a:p>
        </p:txBody>
      </p:sp>
      <p:sp>
        <p:nvSpPr>
          <p:cNvPr id="12" name="文字方塊 11"/>
          <p:cNvSpPr txBox="1"/>
          <p:nvPr/>
        </p:nvSpPr>
        <p:spPr>
          <a:xfrm>
            <a:off x="5721024" y="4562217"/>
            <a:ext cx="121860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Network</a:t>
            </a:r>
          </a:p>
          <a:p>
            <a:r>
              <a:rPr lang="en-US" altLang="zh-TW" dirty="0" smtClean="0"/>
              <a:t>Computing</a:t>
            </a:r>
            <a:endParaRPr lang="zh-TW" altLang="en-US" dirty="0"/>
          </a:p>
        </p:txBody>
      </p:sp>
      <p:sp>
        <p:nvSpPr>
          <p:cNvPr id="13" name="文字方塊 12"/>
          <p:cNvSpPr txBox="1"/>
          <p:nvPr/>
        </p:nvSpPr>
        <p:spPr>
          <a:xfrm>
            <a:off x="7803723" y="3264332"/>
            <a:ext cx="123277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Distributed</a:t>
            </a:r>
          </a:p>
          <a:p>
            <a:r>
              <a:rPr lang="en-US" altLang="zh-TW" dirty="0" smtClean="0"/>
              <a:t>Computing</a:t>
            </a:r>
            <a:endParaRPr lang="zh-TW" altLang="en-US" dirty="0"/>
          </a:p>
        </p:txBody>
      </p:sp>
      <p:grpSp>
        <p:nvGrpSpPr>
          <p:cNvPr id="2" name="群組 52"/>
          <p:cNvGrpSpPr/>
          <p:nvPr/>
        </p:nvGrpSpPr>
        <p:grpSpPr>
          <a:xfrm>
            <a:off x="1278379" y="2601328"/>
            <a:ext cx="2094137" cy="1879600"/>
            <a:chOff x="1143000" y="2693988"/>
            <a:chExt cx="2094137" cy="1879600"/>
          </a:xfrm>
        </p:grpSpPr>
        <p:sp>
          <p:nvSpPr>
            <p:cNvPr id="36" name="Arc 4"/>
            <p:cNvSpPr>
              <a:spLocks/>
            </p:cNvSpPr>
            <p:nvPr/>
          </p:nvSpPr>
          <p:spPr bwMode="auto">
            <a:xfrm>
              <a:off x="1143000" y="2693988"/>
              <a:ext cx="1041400" cy="965200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1600"/>
                <a:gd name="T2" fmla="*/ 21600 w 21600"/>
                <a:gd name="T3" fmla="*/ 21600 h 21600"/>
                <a:gd name="T4" fmla="*/ 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50800" cap="rnd">
              <a:solidFill>
                <a:schemeClr val="accent3">
                  <a:lumMod val="60000"/>
                  <a:lumOff val="40000"/>
                </a:schemeClr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7" name="Arc 5"/>
            <p:cNvSpPr>
              <a:spLocks/>
            </p:cNvSpPr>
            <p:nvPr/>
          </p:nvSpPr>
          <p:spPr bwMode="auto">
            <a:xfrm rot="10800000">
              <a:off x="2195737" y="3608388"/>
              <a:ext cx="1041400" cy="965200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1600"/>
                <a:gd name="T2" fmla="*/ 21600 w 21600"/>
                <a:gd name="T3" fmla="*/ 21600 h 21600"/>
                <a:gd name="T4" fmla="*/ 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50800" cap="rnd">
              <a:solidFill>
                <a:schemeClr val="accent3">
                  <a:lumMod val="60000"/>
                  <a:lumOff val="40000"/>
                </a:schemeClr>
              </a:solidFill>
              <a:round/>
              <a:headEnd type="triangle" w="med" len="med"/>
              <a:tailEnd/>
            </a:ln>
            <a:effectLst/>
          </p:spPr>
          <p:txBody>
            <a:bodyPr wrap="none" anchor="ctr"/>
            <a:lstStyle/>
            <a:p>
              <a:endParaRPr lang="zh-TW" altLang="en-US"/>
            </a:p>
          </p:txBody>
        </p:sp>
      </p:grpSp>
      <p:grpSp>
        <p:nvGrpSpPr>
          <p:cNvPr id="3" name="群組 54"/>
          <p:cNvGrpSpPr/>
          <p:nvPr/>
        </p:nvGrpSpPr>
        <p:grpSpPr>
          <a:xfrm>
            <a:off x="1305367" y="2616260"/>
            <a:ext cx="2081680" cy="1872208"/>
            <a:chOff x="1169988" y="2708920"/>
            <a:chExt cx="2081680" cy="1872208"/>
          </a:xfrm>
        </p:grpSpPr>
        <p:sp>
          <p:nvSpPr>
            <p:cNvPr id="45" name="Arc 13"/>
            <p:cNvSpPr>
              <a:spLocks/>
            </p:cNvSpPr>
            <p:nvPr/>
          </p:nvSpPr>
          <p:spPr bwMode="auto">
            <a:xfrm rot="10800000">
              <a:off x="1169988" y="3615928"/>
              <a:ext cx="1041400" cy="965200"/>
            </a:xfrm>
            <a:custGeom>
              <a:avLst/>
              <a:gdLst>
                <a:gd name="G0" fmla="+- 21600 0 0"/>
                <a:gd name="G1" fmla="+- 21600 0 0"/>
                <a:gd name="G2" fmla="+- 21600 0 0"/>
                <a:gd name="T0" fmla="*/ 0 w 21600"/>
                <a:gd name="T1" fmla="*/ 21600 h 21600"/>
                <a:gd name="T2" fmla="*/ 21567 w 21600"/>
                <a:gd name="T3" fmla="*/ 0 h 21600"/>
                <a:gd name="T4" fmla="*/ 2160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0" y="21600"/>
                  </a:moveTo>
                  <a:cubicBezTo>
                    <a:pt x="0" y="9683"/>
                    <a:pt x="9650" y="18"/>
                    <a:pt x="21567" y="0"/>
                  </a:cubicBezTo>
                </a:path>
                <a:path w="21600" h="21600" stroke="0" extrusionOk="0">
                  <a:moveTo>
                    <a:pt x="0" y="21600"/>
                  </a:moveTo>
                  <a:cubicBezTo>
                    <a:pt x="0" y="9683"/>
                    <a:pt x="9650" y="18"/>
                    <a:pt x="21567" y="0"/>
                  </a:cubicBezTo>
                  <a:lnTo>
                    <a:pt x="21600" y="21600"/>
                  </a:lnTo>
                  <a:close/>
                </a:path>
              </a:pathLst>
            </a:custGeom>
            <a:noFill/>
            <a:ln w="50800" cap="rnd">
              <a:solidFill>
                <a:srgbClr val="790015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46" name="Arc 14"/>
            <p:cNvSpPr>
              <a:spLocks/>
            </p:cNvSpPr>
            <p:nvPr/>
          </p:nvSpPr>
          <p:spPr bwMode="auto">
            <a:xfrm>
              <a:off x="2210268" y="2708920"/>
              <a:ext cx="1041400" cy="965200"/>
            </a:xfrm>
            <a:custGeom>
              <a:avLst/>
              <a:gdLst>
                <a:gd name="G0" fmla="+- 21600 0 0"/>
                <a:gd name="G1" fmla="+- 21600 0 0"/>
                <a:gd name="G2" fmla="+- 21600 0 0"/>
                <a:gd name="T0" fmla="*/ 0 w 21600"/>
                <a:gd name="T1" fmla="*/ 21600 h 21600"/>
                <a:gd name="T2" fmla="*/ 21567 w 21600"/>
                <a:gd name="T3" fmla="*/ 0 h 21600"/>
                <a:gd name="T4" fmla="*/ 2160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0" y="21600"/>
                  </a:moveTo>
                  <a:cubicBezTo>
                    <a:pt x="0" y="9683"/>
                    <a:pt x="9650" y="18"/>
                    <a:pt x="21567" y="0"/>
                  </a:cubicBezTo>
                </a:path>
                <a:path w="21600" h="21600" stroke="0" extrusionOk="0">
                  <a:moveTo>
                    <a:pt x="0" y="21600"/>
                  </a:moveTo>
                  <a:cubicBezTo>
                    <a:pt x="0" y="9683"/>
                    <a:pt x="9650" y="18"/>
                    <a:pt x="21567" y="0"/>
                  </a:cubicBezTo>
                  <a:lnTo>
                    <a:pt x="21600" y="21600"/>
                  </a:lnTo>
                  <a:close/>
                </a:path>
              </a:pathLst>
            </a:custGeom>
            <a:noFill/>
            <a:ln w="50800" cap="rnd">
              <a:solidFill>
                <a:srgbClr val="790015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zh-TW" altLang="en-US"/>
            </a:p>
          </p:txBody>
        </p:sp>
      </p:grpSp>
      <p:grpSp>
        <p:nvGrpSpPr>
          <p:cNvPr id="4" name="群組 55"/>
          <p:cNvGrpSpPr/>
          <p:nvPr/>
        </p:nvGrpSpPr>
        <p:grpSpPr>
          <a:xfrm>
            <a:off x="3534815" y="2601328"/>
            <a:ext cx="2094137" cy="1879600"/>
            <a:chOff x="1143000" y="2693988"/>
            <a:chExt cx="2094137" cy="1879600"/>
          </a:xfrm>
        </p:grpSpPr>
        <p:sp>
          <p:nvSpPr>
            <p:cNvPr id="57" name="Arc 4"/>
            <p:cNvSpPr>
              <a:spLocks/>
            </p:cNvSpPr>
            <p:nvPr/>
          </p:nvSpPr>
          <p:spPr bwMode="auto">
            <a:xfrm>
              <a:off x="1143000" y="2693988"/>
              <a:ext cx="1041400" cy="965200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1600"/>
                <a:gd name="T2" fmla="*/ 21600 w 21600"/>
                <a:gd name="T3" fmla="*/ 21600 h 21600"/>
                <a:gd name="T4" fmla="*/ 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50800" cap="rnd">
              <a:solidFill>
                <a:schemeClr val="accent2">
                  <a:lumMod val="60000"/>
                  <a:lumOff val="40000"/>
                </a:schemeClr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58" name="Arc 5"/>
            <p:cNvSpPr>
              <a:spLocks/>
            </p:cNvSpPr>
            <p:nvPr/>
          </p:nvSpPr>
          <p:spPr bwMode="auto">
            <a:xfrm rot="10800000">
              <a:off x="2195737" y="3608388"/>
              <a:ext cx="1041400" cy="965200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1600"/>
                <a:gd name="T2" fmla="*/ 21600 w 21600"/>
                <a:gd name="T3" fmla="*/ 21600 h 21600"/>
                <a:gd name="T4" fmla="*/ 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50800" cap="rnd">
              <a:solidFill>
                <a:schemeClr val="accent2">
                  <a:lumMod val="60000"/>
                  <a:lumOff val="40000"/>
                </a:schemeClr>
              </a:solidFill>
              <a:round/>
              <a:headEnd type="triangle" w="med" len="med"/>
              <a:tailEnd/>
            </a:ln>
            <a:effectLst/>
          </p:spPr>
          <p:txBody>
            <a:bodyPr wrap="none" anchor="ctr"/>
            <a:lstStyle/>
            <a:p>
              <a:endParaRPr lang="zh-TW" altLang="en-US"/>
            </a:p>
          </p:txBody>
        </p:sp>
      </p:grpSp>
      <p:grpSp>
        <p:nvGrpSpPr>
          <p:cNvPr id="5" name="群組 58"/>
          <p:cNvGrpSpPr/>
          <p:nvPr/>
        </p:nvGrpSpPr>
        <p:grpSpPr>
          <a:xfrm>
            <a:off x="3561803" y="2616260"/>
            <a:ext cx="2081680" cy="1872208"/>
            <a:chOff x="1169988" y="2708920"/>
            <a:chExt cx="2081680" cy="1872208"/>
          </a:xfrm>
        </p:grpSpPr>
        <p:sp>
          <p:nvSpPr>
            <p:cNvPr id="60" name="Arc 13"/>
            <p:cNvSpPr>
              <a:spLocks/>
            </p:cNvSpPr>
            <p:nvPr/>
          </p:nvSpPr>
          <p:spPr bwMode="auto">
            <a:xfrm rot="10800000">
              <a:off x="1169988" y="3615928"/>
              <a:ext cx="1041400" cy="965200"/>
            </a:xfrm>
            <a:custGeom>
              <a:avLst/>
              <a:gdLst>
                <a:gd name="G0" fmla="+- 21600 0 0"/>
                <a:gd name="G1" fmla="+- 21600 0 0"/>
                <a:gd name="G2" fmla="+- 21600 0 0"/>
                <a:gd name="T0" fmla="*/ 0 w 21600"/>
                <a:gd name="T1" fmla="*/ 21600 h 21600"/>
                <a:gd name="T2" fmla="*/ 21567 w 21600"/>
                <a:gd name="T3" fmla="*/ 0 h 21600"/>
                <a:gd name="T4" fmla="*/ 2160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0" y="21600"/>
                  </a:moveTo>
                  <a:cubicBezTo>
                    <a:pt x="0" y="9683"/>
                    <a:pt x="9650" y="18"/>
                    <a:pt x="21567" y="0"/>
                  </a:cubicBezTo>
                </a:path>
                <a:path w="21600" h="21600" stroke="0" extrusionOk="0">
                  <a:moveTo>
                    <a:pt x="0" y="21600"/>
                  </a:moveTo>
                  <a:cubicBezTo>
                    <a:pt x="0" y="9683"/>
                    <a:pt x="9650" y="18"/>
                    <a:pt x="21567" y="0"/>
                  </a:cubicBezTo>
                  <a:lnTo>
                    <a:pt x="21600" y="21600"/>
                  </a:lnTo>
                  <a:close/>
                </a:path>
              </a:pathLst>
            </a:custGeom>
            <a:noFill/>
            <a:ln w="50800" cap="rnd">
              <a:solidFill>
                <a:srgbClr val="00206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61" name="Arc 14"/>
            <p:cNvSpPr>
              <a:spLocks/>
            </p:cNvSpPr>
            <p:nvPr/>
          </p:nvSpPr>
          <p:spPr bwMode="auto">
            <a:xfrm>
              <a:off x="2210268" y="2708920"/>
              <a:ext cx="1041400" cy="965200"/>
            </a:xfrm>
            <a:custGeom>
              <a:avLst/>
              <a:gdLst>
                <a:gd name="G0" fmla="+- 21600 0 0"/>
                <a:gd name="G1" fmla="+- 21600 0 0"/>
                <a:gd name="G2" fmla="+- 21600 0 0"/>
                <a:gd name="T0" fmla="*/ 0 w 21600"/>
                <a:gd name="T1" fmla="*/ 21600 h 21600"/>
                <a:gd name="T2" fmla="*/ 21567 w 21600"/>
                <a:gd name="T3" fmla="*/ 0 h 21600"/>
                <a:gd name="T4" fmla="*/ 2160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0" y="21600"/>
                  </a:moveTo>
                  <a:cubicBezTo>
                    <a:pt x="0" y="9683"/>
                    <a:pt x="9650" y="18"/>
                    <a:pt x="21567" y="0"/>
                  </a:cubicBezTo>
                </a:path>
                <a:path w="21600" h="21600" stroke="0" extrusionOk="0">
                  <a:moveTo>
                    <a:pt x="0" y="21600"/>
                  </a:moveTo>
                  <a:cubicBezTo>
                    <a:pt x="0" y="9683"/>
                    <a:pt x="9650" y="18"/>
                    <a:pt x="21567" y="0"/>
                  </a:cubicBezTo>
                  <a:lnTo>
                    <a:pt x="21600" y="21600"/>
                  </a:lnTo>
                  <a:close/>
                </a:path>
              </a:pathLst>
            </a:custGeom>
            <a:noFill/>
            <a:ln w="50800" cap="rnd">
              <a:solidFill>
                <a:srgbClr val="002060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zh-TW" altLang="en-US"/>
            </a:p>
          </p:txBody>
        </p:sp>
      </p:grpSp>
      <p:grpSp>
        <p:nvGrpSpPr>
          <p:cNvPr id="14" name="群組 61"/>
          <p:cNvGrpSpPr/>
          <p:nvPr/>
        </p:nvGrpSpPr>
        <p:grpSpPr>
          <a:xfrm>
            <a:off x="5760511" y="2601328"/>
            <a:ext cx="2094137" cy="1879600"/>
            <a:chOff x="1143000" y="2693988"/>
            <a:chExt cx="2094137" cy="1879600"/>
          </a:xfrm>
        </p:grpSpPr>
        <p:sp>
          <p:nvSpPr>
            <p:cNvPr id="63" name="Arc 4"/>
            <p:cNvSpPr>
              <a:spLocks/>
            </p:cNvSpPr>
            <p:nvPr/>
          </p:nvSpPr>
          <p:spPr bwMode="auto">
            <a:xfrm>
              <a:off x="1143000" y="2693988"/>
              <a:ext cx="1041400" cy="965200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1600"/>
                <a:gd name="T2" fmla="*/ 21600 w 21600"/>
                <a:gd name="T3" fmla="*/ 21600 h 21600"/>
                <a:gd name="T4" fmla="*/ 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50800" cap="rnd">
              <a:solidFill>
                <a:srgbClr val="00B0F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64" name="Arc 5"/>
            <p:cNvSpPr>
              <a:spLocks/>
            </p:cNvSpPr>
            <p:nvPr/>
          </p:nvSpPr>
          <p:spPr bwMode="auto">
            <a:xfrm rot="10800000">
              <a:off x="2195737" y="3608388"/>
              <a:ext cx="1041400" cy="965200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1600"/>
                <a:gd name="T2" fmla="*/ 21600 w 21600"/>
                <a:gd name="T3" fmla="*/ 21600 h 21600"/>
                <a:gd name="T4" fmla="*/ 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50800" cap="rnd">
              <a:solidFill>
                <a:srgbClr val="00B0F0"/>
              </a:solidFill>
              <a:round/>
              <a:headEnd type="triangle" w="med" len="med"/>
              <a:tailEnd/>
            </a:ln>
            <a:effectLst/>
          </p:spPr>
          <p:txBody>
            <a:bodyPr wrap="none" anchor="ctr"/>
            <a:lstStyle/>
            <a:p>
              <a:endParaRPr lang="zh-TW" altLang="en-US"/>
            </a:p>
          </p:txBody>
        </p:sp>
      </p:grpSp>
      <p:grpSp>
        <p:nvGrpSpPr>
          <p:cNvPr id="15" name="群組 64"/>
          <p:cNvGrpSpPr/>
          <p:nvPr/>
        </p:nvGrpSpPr>
        <p:grpSpPr>
          <a:xfrm>
            <a:off x="5787499" y="2616260"/>
            <a:ext cx="2081680" cy="1872208"/>
            <a:chOff x="1169988" y="2708920"/>
            <a:chExt cx="2081680" cy="1872208"/>
          </a:xfrm>
        </p:grpSpPr>
        <p:sp>
          <p:nvSpPr>
            <p:cNvPr id="66" name="Arc 13"/>
            <p:cNvSpPr>
              <a:spLocks/>
            </p:cNvSpPr>
            <p:nvPr/>
          </p:nvSpPr>
          <p:spPr bwMode="auto">
            <a:xfrm rot="10800000">
              <a:off x="1169988" y="3615928"/>
              <a:ext cx="1041400" cy="965200"/>
            </a:xfrm>
            <a:custGeom>
              <a:avLst/>
              <a:gdLst>
                <a:gd name="G0" fmla="+- 21600 0 0"/>
                <a:gd name="G1" fmla="+- 21600 0 0"/>
                <a:gd name="G2" fmla="+- 21600 0 0"/>
                <a:gd name="T0" fmla="*/ 0 w 21600"/>
                <a:gd name="T1" fmla="*/ 21600 h 21600"/>
                <a:gd name="T2" fmla="*/ 21567 w 21600"/>
                <a:gd name="T3" fmla="*/ 0 h 21600"/>
                <a:gd name="T4" fmla="*/ 2160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0" y="21600"/>
                  </a:moveTo>
                  <a:cubicBezTo>
                    <a:pt x="0" y="9683"/>
                    <a:pt x="9650" y="18"/>
                    <a:pt x="21567" y="0"/>
                  </a:cubicBezTo>
                </a:path>
                <a:path w="21600" h="21600" stroke="0" extrusionOk="0">
                  <a:moveTo>
                    <a:pt x="0" y="21600"/>
                  </a:moveTo>
                  <a:cubicBezTo>
                    <a:pt x="0" y="9683"/>
                    <a:pt x="9650" y="18"/>
                    <a:pt x="21567" y="0"/>
                  </a:cubicBezTo>
                  <a:lnTo>
                    <a:pt x="21600" y="21600"/>
                  </a:lnTo>
                  <a:close/>
                </a:path>
              </a:pathLst>
            </a:custGeom>
            <a:noFill/>
            <a:ln w="50800" cap="rnd">
              <a:solidFill>
                <a:srgbClr val="00B05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67" name="Arc 14"/>
            <p:cNvSpPr>
              <a:spLocks/>
            </p:cNvSpPr>
            <p:nvPr/>
          </p:nvSpPr>
          <p:spPr bwMode="auto">
            <a:xfrm>
              <a:off x="2210268" y="2708920"/>
              <a:ext cx="1041400" cy="965200"/>
            </a:xfrm>
            <a:custGeom>
              <a:avLst/>
              <a:gdLst>
                <a:gd name="G0" fmla="+- 21600 0 0"/>
                <a:gd name="G1" fmla="+- 21600 0 0"/>
                <a:gd name="G2" fmla="+- 21600 0 0"/>
                <a:gd name="T0" fmla="*/ 0 w 21600"/>
                <a:gd name="T1" fmla="*/ 21600 h 21600"/>
                <a:gd name="T2" fmla="*/ 21567 w 21600"/>
                <a:gd name="T3" fmla="*/ 0 h 21600"/>
                <a:gd name="T4" fmla="*/ 2160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0" y="21600"/>
                  </a:moveTo>
                  <a:cubicBezTo>
                    <a:pt x="0" y="9683"/>
                    <a:pt x="9650" y="18"/>
                    <a:pt x="21567" y="0"/>
                  </a:cubicBezTo>
                </a:path>
                <a:path w="21600" h="21600" stroke="0" extrusionOk="0">
                  <a:moveTo>
                    <a:pt x="0" y="21600"/>
                  </a:moveTo>
                  <a:cubicBezTo>
                    <a:pt x="0" y="9683"/>
                    <a:pt x="9650" y="18"/>
                    <a:pt x="21567" y="0"/>
                  </a:cubicBezTo>
                  <a:lnTo>
                    <a:pt x="21600" y="21600"/>
                  </a:lnTo>
                  <a:close/>
                </a:path>
              </a:pathLst>
            </a:custGeom>
            <a:noFill/>
            <a:ln w="50800" cap="rnd">
              <a:solidFill>
                <a:srgbClr val="00B050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zh-TW" altLang="en-US"/>
            </a:p>
          </p:txBody>
        </p:sp>
      </p:grpSp>
      <p:sp>
        <p:nvSpPr>
          <p:cNvPr id="69" name="Text Box 7"/>
          <p:cNvSpPr txBox="1">
            <a:spLocks noChangeArrowheads="1"/>
          </p:cNvSpPr>
          <p:nvPr/>
        </p:nvSpPr>
        <p:spPr bwMode="auto">
          <a:xfrm>
            <a:off x="2987824" y="5589240"/>
            <a:ext cx="915635" cy="52322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 eaLnBrk="0" hangingPunct="0"/>
            <a:r>
              <a:rPr lang="en-US" altLang="zh-TW" sz="2800" dirty="0" smtClean="0"/>
              <a:t>1980</a:t>
            </a:r>
            <a:endParaRPr lang="en-US" altLang="zh-TW" sz="2800" dirty="0"/>
          </a:p>
        </p:txBody>
      </p:sp>
      <p:sp>
        <p:nvSpPr>
          <p:cNvPr id="70" name="Text Box 8"/>
          <p:cNvSpPr txBox="1">
            <a:spLocks noChangeArrowheads="1"/>
          </p:cNvSpPr>
          <p:nvPr/>
        </p:nvSpPr>
        <p:spPr bwMode="auto">
          <a:xfrm>
            <a:off x="5223520" y="5589240"/>
            <a:ext cx="915635" cy="52322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 eaLnBrk="0" hangingPunct="0"/>
            <a:r>
              <a:rPr lang="en-US" altLang="zh-TW" sz="2800" dirty="0" smtClean="0"/>
              <a:t>1995</a:t>
            </a:r>
            <a:endParaRPr lang="en-US" altLang="zh-TW" sz="2800" dirty="0"/>
          </a:p>
        </p:txBody>
      </p:sp>
      <p:sp>
        <p:nvSpPr>
          <p:cNvPr id="71" name="Text Box 21"/>
          <p:cNvSpPr txBox="1">
            <a:spLocks noChangeArrowheads="1"/>
          </p:cNvSpPr>
          <p:nvPr/>
        </p:nvSpPr>
        <p:spPr bwMode="auto">
          <a:xfrm>
            <a:off x="1076901" y="5590728"/>
            <a:ext cx="915635" cy="52322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 eaLnBrk="0" hangingPunct="0"/>
            <a:r>
              <a:rPr lang="en-US" altLang="zh-TW" sz="2800" dirty="0" smtClean="0"/>
              <a:t>1970</a:t>
            </a:r>
            <a:endParaRPr lang="en-US" altLang="zh-TW" sz="2800" dirty="0"/>
          </a:p>
        </p:txBody>
      </p:sp>
      <p:sp>
        <p:nvSpPr>
          <p:cNvPr id="72" name="Text Box 22"/>
          <p:cNvSpPr txBox="1">
            <a:spLocks noChangeArrowheads="1"/>
          </p:cNvSpPr>
          <p:nvPr/>
        </p:nvSpPr>
        <p:spPr bwMode="auto">
          <a:xfrm>
            <a:off x="7524328" y="5589240"/>
            <a:ext cx="1095375" cy="51911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 eaLnBrk="0" hangingPunct="0"/>
            <a:r>
              <a:rPr lang="en-US" altLang="zh-TW" sz="2800" dirty="0"/>
              <a:t>2000+</a:t>
            </a:r>
          </a:p>
        </p:txBody>
      </p:sp>
      <p:grpSp>
        <p:nvGrpSpPr>
          <p:cNvPr id="16" name="群組 33"/>
          <p:cNvGrpSpPr/>
          <p:nvPr/>
        </p:nvGrpSpPr>
        <p:grpSpPr>
          <a:xfrm>
            <a:off x="827584" y="1896180"/>
            <a:ext cx="8136904" cy="3600400"/>
            <a:chOff x="827584" y="1700808"/>
            <a:chExt cx="8136904" cy="3600400"/>
          </a:xfrm>
        </p:grpSpPr>
        <p:cxnSp>
          <p:nvCxnSpPr>
            <p:cNvPr id="74" name="直線接點 73"/>
            <p:cNvCxnSpPr/>
            <p:nvPr/>
          </p:nvCxnSpPr>
          <p:spPr>
            <a:xfrm rot="5400000">
              <a:off x="-972616" y="3501008"/>
              <a:ext cx="3600400" cy="0"/>
            </a:xfrm>
            <a:prstGeom prst="line">
              <a:avLst/>
            </a:prstGeom>
            <a:ln w="76200">
              <a:headEnd type="stealth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76" name="直線接點 75"/>
            <p:cNvCxnSpPr/>
            <p:nvPr/>
          </p:nvCxnSpPr>
          <p:spPr>
            <a:xfrm rot="10800000">
              <a:off x="827584" y="5301208"/>
              <a:ext cx="8136904" cy="0"/>
            </a:xfrm>
            <a:prstGeom prst="line">
              <a:avLst/>
            </a:prstGeom>
            <a:ln w="76200">
              <a:headEnd type="stealth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3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0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8" presetClass="entr" presetSubtype="3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2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8" presetClass="entr" presetSubtype="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3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000"/>
                            </p:stCondLst>
                            <p:childTnLst>
                              <p:par>
                                <p:cTn id="31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3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8" presetClass="entr" presetSubtype="3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36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3000"/>
                            </p:stCondLst>
                            <p:childTnLst>
                              <p:par>
                                <p:cTn id="44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9" grpId="0"/>
      <p:bldP spid="10" grpId="0"/>
      <p:bldP spid="11" grpId="0"/>
      <p:bldP spid="12" grpId="0"/>
      <p:bldP spid="13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Distributed computing</a:t>
            </a:r>
            <a:endParaRPr lang="zh-TW" altLang="en-US" dirty="0"/>
          </a:p>
        </p:txBody>
      </p:sp>
      <p:sp>
        <p:nvSpPr>
          <p:cNvPr id="5" name="文字版面配置區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 smtClean="0"/>
              <a:t>Cluster Computing</a:t>
            </a:r>
          </a:p>
          <a:p>
            <a:r>
              <a:rPr lang="en-US" altLang="zh-TW" dirty="0" smtClean="0">
                <a:solidFill>
                  <a:schemeClr val="bg1">
                    <a:lumMod val="65000"/>
                  </a:schemeClr>
                </a:solidFill>
              </a:rPr>
              <a:t>Grid Computing</a:t>
            </a:r>
          </a:p>
          <a:p>
            <a:r>
              <a:rPr lang="en-US" altLang="zh-TW" dirty="0" smtClean="0">
                <a:solidFill>
                  <a:schemeClr val="bg1">
                    <a:lumMod val="65000"/>
                  </a:schemeClr>
                </a:solidFill>
              </a:rPr>
              <a:t>Cloud Computing</a:t>
            </a:r>
            <a:endParaRPr lang="zh-TW" altLang="en-US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Cluster Computing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25144"/>
          </a:xfrm>
        </p:spPr>
        <p:txBody>
          <a:bodyPr>
            <a:normAutofit/>
          </a:bodyPr>
          <a:lstStyle/>
          <a:p>
            <a:r>
              <a:rPr lang="en-US" altLang="zh-TW" dirty="0" smtClean="0"/>
              <a:t>A cluster is a type of parallel and distributed system, which consists of a collection of </a:t>
            </a:r>
            <a:r>
              <a:rPr lang="en-US" altLang="zh-TW" i="1" dirty="0" smtClean="0">
                <a:solidFill>
                  <a:srgbClr val="00B0F0"/>
                </a:solidFill>
              </a:rPr>
              <a:t>inter-connected stand-alone</a:t>
            </a:r>
            <a:r>
              <a:rPr lang="en-US" altLang="zh-TW" dirty="0" smtClean="0"/>
              <a:t> computers working together as a </a:t>
            </a:r>
            <a:r>
              <a:rPr lang="en-US" altLang="zh-TW" i="1" dirty="0" smtClean="0">
                <a:solidFill>
                  <a:srgbClr val="00B0F0"/>
                </a:solidFill>
              </a:rPr>
              <a:t>single</a:t>
            </a:r>
            <a:r>
              <a:rPr lang="en-US" altLang="zh-TW" dirty="0" smtClean="0"/>
              <a:t> integrated computing resource</a:t>
            </a:r>
          </a:p>
          <a:p>
            <a:endParaRPr lang="en-US" altLang="zh-CN" dirty="0" smtClean="0">
              <a:ea typeface="SimSun" pitchFamily="2" charset="-122"/>
            </a:endParaRPr>
          </a:p>
        </p:txBody>
      </p:sp>
      <p:pic>
        <p:nvPicPr>
          <p:cNvPr id="50178" name="Picture 2" descr="D:\Data\edu_NTHU\_myResearchNotes\cloud computing\_Course\slides\tmp\cluster.jpe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751071" y="3645024"/>
            <a:ext cx="3641859" cy="282779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The Cluster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97152"/>
          </a:xfrm>
        </p:spPr>
        <p:txBody>
          <a:bodyPr>
            <a:normAutofit lnSpcReduction="10000"/>
          </a:bodyPr>
          <a:lstStyle/>
          <a:p>
            <a:r>
              <a:rPr lang="en-US" altLang="zh-TW" dirty="0" smtClean="0"/>
              <a:t>A Node</a:t>
            </a:r>
          </a:p>
          <a:p>
            <a:pPr lvl="1"/>
            <a:r>
              <a:rPr lang="en-US" altLang="zh-TW" dirty="0" smtClean="0"/>
              <a:t>A single or multiprocessor system with memory, I/O facilities, &amp; OS </a:t>
            </a:r>
          </a:p>
          <a:p>
            <a:endParaRPr lang="en-US" altLang="zh-TW" dirty="0" smtClean="0"/>
          </a:p>
          <a:p>
            <a:r>
              <a:rPr lang="en-US" altLang="zh-TW" dirty="0" smtClean="0"/>
              <a:t>A Cluster:</a:t>
            </a:r>
          </a:p>
          <a:p>
            <a:pPr lvl="1"/>
            <a:r>
              <a:rPr lang="en-US" altLang="zh-TW" dirty="0" smtClean="0"/>
              <a:t>Generally two or more computers (nodes) connected together</a:t>
            </a:r>
          </a:p>
          <a:p>
            <a:pPr lvl="1"/>
            <a:r>
              <a:rPr lang="en-US" altLang="zh-TW" dirty="0" smtClean="0"/>
              <a:t>In a single cabinet, or physically separated &amp; connected via a LAN</a:t>
            </a:r>
          </a:p>
          <a:p>
            <a:pPr lvl="1"/>
            <a:r>
              <a:rPr lang="en-US" altLang="zh-TW" dirty="0" smtClean="0"/>
              <a:t>Appear as a single system to users and applications </a:t>
            </a:r>
          </a:p>
          <a:p>
            <a:pPr lvl="1"/>
            <a:r>
              <a:rPr lang="en-US" altLang="zh-TW" dirty="0" smtClean="0"/>
              <a:t>Provide a cost-effective way to gain features and benefits</a:t>
            </a:r>
          </a:p>
          <a:p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Parallel Computing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Parallel Computing </a:t>
            </a:r>
          </a:p>
          <a:p>
            <a:pPr lvl="1"/>
            <a:r>
              <a:rPr lang="en-US" altLang="zh-TW" dirty="0" smtClean="0"/>
              <a:t>A form of computation in which many </a:t>
            </a:r>
            <a:r>
              <a:rPr lang="en-US" altLang="zh-TW" i="1" dirty="0" smtClean="0">
                <a:solidFill>
                  <a:srgbClr val="00B0F0"/>
                </a:solidFill>
              </a:rPr>
              <a:t>calculations are carried out simultaneously</a:t>
            </a:r>
          </a:p>
          <a:p>
            <a:pPr lvl="1"/>
            <a:r>
              <a:rPr lang="en-US" altLang="zh-TW" dirty="0" smtClean="0"/>
              <a:t>Large problems can often be divided into smaller ones, which are then solved concurrently ("</a:t>
            </a:r>
            <a:r>
              <a:rPr lang="en-US" altLang="zh-TW" i="1" dirty="0" smtClean="0">
                <a:solidFill>
                  <a:srgbClr val="00B0F0"/>
                </a:solidFill>
              </a:rPr>
              <a:t>in parallel</a:t>
            </a:r>
            <a:r>
              <a:rPr lang="en-US" altLang="zh-TW" dirty="0" smtClean="0"/>
              <a:t>")</a:t>
            </a:r>
          </a:p>
          <a:p>
            <a:endParaRPr lang="en-US" altLang="zh-TW" dirty="0" smtClean="0"/>
          </a:p>
          <a:p>
            <a:r>
              <a:rPr lang="en-US" altLang="zh-TW" dirty="0" smtClean="0"/>
              <a:t>Advantages</a:t>
            </a:r>
          </a:p>
          <a:p>
            <a:pPr lvl="1"/>
            <a:r>
              <a:rPr lang="en-US" altLang="zh-TW" dirty="0" smtClean="0"/>
              <a:t>Cost efficient</a:t>
            </a:r>
          </a:p>
          <a:p>
            <a:pPr lvl="1"/>
            <a:r>
              <a:rPr lang="en-US" altLang="zh-TW" dirty="0" smtClean="0"/>
              <a:t>High performance</a:t>
            </a:r>
          </a:p>
          <a:p>
            <a:pPr lvl="1"/>
            <a:r>
              <a:rPr lang="en-US" altLang="zh-TW" dirty="0" smtClean="0"/>
              <a:t>Improve Utilization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Parallel Programming Models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Parallel programming model </a:t>
            </a:r>
          </a:p>
          <a:p>
            <a:pPr lvl="1"/>
            <a:r>
              <a:rPr lang="en-US" altLang="zh-TW" dirty="0" smtClean="0"/>
              <a:t>A set of software technologies to express parallel algorithms and match applications with the underlying parallel systems</a:t>
            </a:r>
          </a:p>
          <a:p>
            <a:pPr lvl="1"/>
            <a:endParaRPr lang="en-US" altLang="zh-TW" dirty="0" smtClean="0"/>
          </a:p>
          <a:p>
            <a:r>
              <a:rPr lang="en-US" altLang="zh-TW" dirty="0" smtClean="0"/>
              <a:t>Flynn’s taxonomy</a:t>
            </a:r>
          </a:p>
          <a:p>
            <a:r>
              <a:rPr lang="en-US" altLang="zh-TW" dirty="0" smtClean="0"/>
              <a:t>Shared-memory or Distributed-memory model</a:t>
            </a:r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/>
              <a:t>Flynn's Taxonomy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2260848"/>
          </a:xfrm>
        </p:spPr>
        <p:txBody>
          <a:bodyPr/>
          <a:lstStyle/>
          <a:p>
            <a:r>
              <a:rPr lang="en-US" altLang="zh-TW" dirty="0" smtClean="0"/>
              <a:t>Programs and computers are classified by </a:t>
            </a:r>
          </a:p>
          <a:p>
            <a:pPr lvl="1"/>
            <a:r>
              <a:rPr lang="en-US" altLang="zh-TW" dirty="0" smtClean="0"/>
              <a:t>whether they were operating using a single set or multiple sets of instructions</a:t>
            </a:r>
          </a:p>
          <a:p>
            <a:pPr lvl="1"/>
            <a:r>
              <a:rPr lang="en-US" altLang="zh-TW" dirty="0" smtClean="0"/>
              <a:t>whether or not those instructions were using a single or multiple sets of data</a:t>
            </a:r>
            <a:endParaRPr lang="zh-TW" altLang="en-US" dirty="0"/>
          </a:p>
        </p:txBody>
      </p:sp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1679848" y="4029040"/>
          <a:ext cx="5784304" cy="24688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56413"/>
                <a:gridCol w="2299790"/>
                <a:gridCol w="1928101"/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sz="2400" b="1" kern="1200" cap="none" spc="0" dirty="0" smtClean="0">
                        <a:ln w="12700">
                          <a:solidFill>
                            <a:schemeClr val="tx2">
                              <a:satMod val="155000"/>
                            </a:schemeClr>
                          </a:solidFill>
                          <a:prstDash val="solid"/>
                        </a:ln>
                        <a:solidFill>
                          <a:schemeClr val="bg2">
                            <a:tint val="85000"/>
                            <a:satMod val="155000"/>
                          </a:schemeClr>
                        </a:solidFill>
                        <a:effectLst>
                          <a:outerShdw blurRad="41275" dist="20320" dir="1800000" algn="tl" rotWithShape="0">
                            <a:srgbClr val="000000">
                              <a:alpha val="40000"/>
                            </a:srgbClr>
                          </a:outerShdw>
                        </a:effectLst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b="1" cap="none" spc="0" dirty="0" smtClean="0">
                          <a:ln w="12700">
                            <a:solidFill>
                              <a:schemeClr val="tx2">
                                <a:satMod val="155000"/>
                              </a:schemeClr>
                            </a:solidFill>
                            <a:prstDash val="solid"/>
                          </a:ln>
                          <a:solidFill>
                            <a:schemeClr val="bg2">
                              <a:tint val="85000"/>
                              <a:satMod val="155000"/>
                            </a:schemeClr>
                          </a:solidFill>
                          <a:effectLst>
                            <a:outerShdw blurRad="41275" dist="20320" dir="1800000" algn="tl" rotWithShape="0">
                              <a:srgbClr val="000000">
                                <a:alpha val="40000"/>
                              </a:srgbClr>
                            </a:outerShdw>
                          </a:effectLst>
                        </a:rPr>
                        <a:t>Single</a:t>
                      </a:r>
                      <a:br>
                        <a:rPr lang="en-US" altLang="zh-TW" sz="2400" b="1" cap="none" spc="0" dirty="0" smtClean="0">
                          <a:ln w="12700">
                            <a:solidFill>
                              <a:schemeClr val="tx2">
                                <a:satMod val="155000"/>
                              </a:schemeClr>
                            </a:solidFill>
                            <a:prstDash val="solid"/>
                          </a:ln>
                          <a:solidFill>
                            <a:schemeClr val="bg2">
                              <a:tint val="85000"/>
                              <a:satMod val="155000"/>
                            </a:schemeClr>
                          </a:solidFill>
                          <a:effectLst>
                            <a:outerShdw blurRad="41275" dist="20320" dir="1800000" algn="tl" rotWithShape="0">
                              <a:srgbClr val="000000">
                                <a:alpha val="40000"/>
                              </a:srgbClr>
                            </a:outerShdw>
                          </a:effectLst>
                        </a:rPr>
                      </a:br>
                      <a:r>
                        <a:rPr lang="en-US" altLang="zh-TW" sz="2400" b="1" cap="none" spc="0" dirty="0" smtClean="0">
                          <a:ln w="12700">
                            <a:solidFill>
                              <a:schemeClr val="tx2">
                                <a:satMod val="155000"/>
                              </a:schemeClr>
                            </a:solidFill>
                            <a:prstDash val="solid"/>
                          </a:ln>
                          <a:solidFill>
                            <a:schemeClr val="bg2">
                              <a:tint val="85000"/>
                              <a:satMod val="155000"/>
                            </a:schemeClr>
                          </a:solidFill>
                          <a:effectLst>
                            <a:outerShdw blurRad="41275" dist="20320" dir="1800000" algn="tl" rotWithShape="0">
                              <a:srgbClr val="000000">
                                <a:alpha val="40000"/>
                              </a:srgbClr>
                            </a:outerShdw>
                          </a:effectLst>
                        </a:rPr>
                        <a:t>Instruction</a:t>
                      </a:r>
                      <a:endParaRPr lang="zh-TW" altLang="en-US" sz="2400" b="1" cap="none" spc="0" dirty="0">
                        <a:ln w="12700">
                          <a:solidFill>
                            <a:schemeClr val="tx2">
                              <a:satMod val="155000"/>
                            </a:schemeClr>
                          </a:solidFill>
                          <a:prstDash val="solid"/>
                        </a:ln>
                        <a:solidFill>
                          <a:schemeClr val="bg2">
                            <a:tint val="85000"/>
                            <a:satMod val="155000"/>
                          </a:schemeClr>
                        </a:solidFill>
                        <a:effectLst>
                          <a:outerShdw blurRad="41275" dist="20320" dir="1800000" algn="tl" rotWithShape="0">
                            <a:srgbClr val="000000">
                              <a:alpha val="40000"/>
                            </a:srgbClr>
                          </a:outerShdw>
                        </a:effectLst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cap="none" spc="0" dirty="0" smtClean="0">
                          <a:ln w="12700">
                            <a:solidFill>
                              <a:schemeClr val="tx2">
                                <a:satMod val="155000"/>
                              </a:schemeClr>
                            </a:solidFill>
                            <a:prstDash val="solid"/>
                          </a:ln>
                          <a:solidFill>
                            <a:schemeClr val="bg2">
                              <a:tint val="85000"/>
                              <a:satMod val="155000"/>
                            </a:schemeClr>
                          </a:solidFill>
                          <a:effectLst>
                            <a:outerShdw blurRad="41275" dist="20320" dir="1800000" algn="tl" rotWithShape="0">
                              <a:srgbClr val="000000">
                                <a:alpha val="40000"/>
                              </a:srgbClr>
                            </a:outerShdw>
                          </a:effectLst>
                        </a:rPr>
                        <a:t>Multiple Instructions</a:t>
                      </a:r>
                      <a:endParaRPr lang="zh-TW" altLang="en-US" sz="2400" b="1" cap="none" spc="0" dirty="0">
                        <a:ln w="12700">
                          <a:solidFill>
                            <a:schemeClr val="tx2">
                              <a:satMod val="155000"/>
                            </a:schemeClr>
                          </a:solidFill>
                          <a:prstDash val="solid"/>
                        </a:ln>
                        <a:solidFill>
                          <a:schemeClr val="bg2">
                            <a:tint val="85000"/>
                            <a:satMod val="155000"/>
                          </a:schemeClr>
                        </a:solidFill>
                        <a:effectLst>
                          <a:outerShdw blurRad="41275" dist="20320" dir="1800000" algn="tl" rotWithShape="0">
                            <a:srgbClr val="000000">
                              <a:alpha val="40000"/>
                            </a:srgbClr>
                          </a:outerShdw>
                        </a:effectLst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b="1" kern="1200" cap="none" spc="0" dirty="0" smtClean="0">
                          <a:ln w="12700">
                            <a:solidFill>
                              <a:schemeClr val="tx2">
                                <a:satMod val="155000"/>
                              </a:schemeClr>
                            </a:solidFill>
                            <a:prstDash val="solid"/>
                          </a:ln>
                          <a:solidFill>
                            <a:schemeClr val="bg2">
                              <a:tint val="85000"/>
                              <a:satMod val="155000"/>
                            </a:schemeClr>
                          </a:solidFill>
                          <a:effectLst>
                            <a:outerShdw blurRad="41275" dist="20320" dir="1800000" algn="tl" rotWithShape="0">
                              <a:srgbClr val="000000">
                                <a:alpha val="40000"/>
                              </a:srgbClr>
                            </a:outerShdw>
                          </a:effectLst>
                        </a:rPr>
                        <a:t>Single</a:t>
                      </a:r>
                      <a:br>
                        <a:rPr lang="en-US" altLang="zh-TW" sz="2400" b="1" kern="1200" cap="none" spc="0" dirty="0" smtClean="0">
                          <a:ln w="12700">
                            <a:solidFill>
                              <a:schemeClr val="tx2">
                                <a:satMod val="155000"/>
                              </a:schemeClr>
                            </a:solidFill>
                            <a:prstDash val="solid"/>
                          </a:ln>
                          <a:solidFill>
                            <a:schemeClr val="bg2">
                              <a:tint val="85000"/>
                              <a:satMod val="155000"/>
                            </a:schemeClr>
                          </a:solidFill>
                          <a:effectLst>
                            <a:outerShdw blurRad="41275" dist="20320" dir="1800000" algn="tl" rotWithShape="0">
                              <a:srgbClr val="000000">
                                <a:alpha val="40000"/>
                              </a:srgbClr>
                            </a:outerShdw>
                          </a:effectLst>
                        </a:rPr>
                      </a:br>
                      <a:r>
                        <a:rPr lang="en-US" altLang="zh-TW" sz="2400" b="1" kern="1200" cap="none" spc="0" dirty="0" smtClean="0">
                          <a:ln w="12700">
                            <a:solidFill>
                              <a:schemeClr val="tx2">
                                <a:satMod val="155000"/>
                              </a:schemeClr>
                            </a:solidFill>
                            <a:prstDash val="solid"/>
                          </a:ln>
                          <a:solidFill>
                            <a:schemeClr val="bg2">
                              <a:tint val="85000"/>
                              <a:satMod val="155000"/>
                            </a:schemeClr>
                          </a:solidFill>
                          <a:effectLst>
                            <a:outerShdw blurRad="41275" dist="20320" dir="1800000" algn="tl" rotWithShape="0">
                              <a:srgbClr val="000000">
                                <a:alpha val="40000"/>
                              </a:srgbClr>
                            </a:outerShdw>
                          </a:effectLst>
                        </a:rPr>
                        <a:t>Data</a:t>
                      </a:r>
                      <a:endParaRPr lang="zh-TW" altLang="en-US" sz="2400" b="1" kern="1200" cap="none" spc="0" dirty="0" smtClean="0">
                        <a:ln w="12700">
                          <a:solidFill>
                            <a:schemeClr val="tx2">
                              <a:satMod val="155000"/>
                            </a:schemeClr>
                          </a:solidFill>
                          <a:prstDash val="solid"/>
                        </a:ln>
                        <a:solidFill>
                          <a:schemeClr val="bg2">
                            <a:tint val="85000"/>
                            <a:satMod val="155000"/>
                          </a:schemeClr>
                        </a:solidFill>
                        <a:effectLst>
                          <a:outerShdw blurRad="41275" dist="20320" dir="1800000" algn="tl" rotWithShape="0">
                            <a:srgbClr val="000000">
                              <a:alpha val="40000"/>
                            </a:srgbClr>
                          </a:outerShdw>
                        </a:effectLst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cap="none" spc="0" dirty="0" smtClean="0">
                          <a:ln w="10541" cmpd="sng">
                            <a:solidFill>
                              <a:schemeClr val="accent1">
                                <a:shade val="88000"/>
                                <a:satMod val="110000"/>
                              </a:schemeClr>
                            </a:solidFill>
                            <a:prstDash val="solid"/>
                          </a:ln>
                          <a:gradFill>
                            <a:gsLst>
                              <a:gs pos="0">
                                <a:schemeClr val="accent1">
                                  <a:tint val="40000"/>
                                  <a:satMod val="250000"/>
                                </a:schemeClr>
                              </a:gs>
                              <a:gs pos="9000">
                                <a:schemeClr val="accent1">
                                  <a:tint val="52000"/>
                                  <a:satMod val="300000"/>
                                </a:schemeClr>
                              </a:gs>
                              <a:gs pos="50000">
                                <a:schemeClr val="accent1">
                                  <a:shade val="20000"/>
                                  <a:satMod val="300000"/>
                                </a:schemeClr>
                              </a:gs>
                              <a:gs pos="79000">
                                <a:schemeClr val="accent1">
                                  <a:tint val="52000"/>
                                  <a:satMod val="300000"/>
                                </a:schemeClr>
                              </a:gs>
                              <a:gs pos="100000">
                                <a:schemeClr val="accent1">
                                  <a:tint val="40000"/>
                                  <a:satMod val="250000"/>
                                </a:schemeClr>
                              </a:gs>
                            </a:gsLst>
                            <a:lin ang="5400000"/>
                          </a:gradFill>
                          <a:effectLst/>
                        </a:rPr>
                        <a:t>SISD</a:t>
                      </a:r>
                      <a:endParaRPr lang="zh-TW" altLang="en-US" sz="2400" b="1" cap="none" spc="0" dirty="0">
                        <a:ln w="10541" cmpd="sng">
                          <a:solidFill>
                            <a:schemeClr val="accent1">
                              <a:shade val="88000"/>
                              <a:satMod val="110000"/>
                            </a:schemeClr>
                          </a:solidFill>
                          <a:prstDash val="solid"/>
                        </a:ln>
                        <a:gradFill>
                          <a:gsLst>
                            <a:gs pos="0">
                              <a:schemeClr val="accent1">
                                <a:tint val="40000"/>
                                <a:satMod val="250000"/>
                              </a:schemeClr>
                            </a:gs>
                            <a:gs pos="9000">
                              <a:schemeClr val="accent1">
                                <a:tint val="52000"/>
                                <a:satMod val="300000"/>
                              </a:schemeClr>
                            </a:gs>
                            <a:gs pos="50000">
                              <a:schemeClr val="accent1">
                                <a:shade val="20000"/>
                                <a:satMod val="300000"/>
                              </a:schemeClr>
                            </a:gs>
                            <a:gs pos="79000">
                              <a:schemeClr val="accent1">
                                <a:tint val="52000"/>
                                <a:satMod val="300000"/>
                              </a:schemeClr>
                            </a:gs>
                            <a:gs pos="100000">
                              <a:schemeClr val="accent1">
                                <a:tint val="40000"/>
                                <a:satMod val="250000"/>
                              </a:schemeClr>
                            </a:gs>
                          </a:gsLst>
                          <a:lin ang="5400000"/>
                        </a:gra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cap="none" spc="0" dirty="0" smtClean="0">
                          <a:ln w="10541" cmpd="sng">
                            <a:solidFill>
                              <a:schemeClr val="accent1">
                                <a:shade val="88000"/>
                                <a:satMod val="110000"/>
                              </a:schemeClr>
                            </a:solidFill>
                            <a:prstDash val="solid"/>
                          </a:ln>
                          <a:gradFill>
                            <a:gsLst>
                              <a:gs pos="0">
                                <a:schemeClr val="accent1">
                                  <a:tint val="40000"/>
                                  <a:satMod val="250000"/>
                                </a:schemeClr>
                              </a:gs>
                              <a:gs pos="9000">
                                <a:schemeClr val="accent1">
                                  <a:tint val="52000"/>
                                  <a:satMod val="300000"/>
                                </a:schemeClr>
                              </a:gs>
                              <a:gs pos="50000">
                                <a:schemeClr val="accent1">
                                  <a:shade val="20000"/>
                                  <a:satMod val="300000"/>
                                </a:schemeClr>
                              </a:gs>
                              <a:gs pos="79000">
                                <a:schemeClr val="accent1">
                                  <a:tint val="52000"/>
                                  <a:satMod val="300000"/>
                                </a:schemeClr>
                              </a:gs>
                              <a:gs pos="100000">
                                <a:schemeClr val="accent1">
                                  <a:tint val="40000"/>
                                  <a:satMod val="250000"/>
                                </a:schemeClr>
                              </a:gs>
                            </a:gsLst>
                            <a:lin ang="5400000"/>
                          </a:gradFill>
                          <a:effectLst/>
                        </a:rPr>
                        <a:t>MISD</a:t>
                      </a:r>
                      <a:endParaRPr lang="zh-TW" altLang="en-US" sz="2400" b="1" cap="none" spc="0" dirty="0">
                        <a:ln w="10541" cmpd="sng">
                          <a:solidFill>
                            <a:schemeClr val="accent1">
                              <a:shade val="88000"/>
                              <a:satMod val="110000"/>
                            </a:schemeClr>
                          </a:solidFill>
                          <a:prstDash val="solid"/>
                        </a:ln>
                        <a:gradFill>
                          <a:gsLst>
                            <a:gs pos="0">
                              <a:schemeClr val="accent1">
                                <a:tint val="40000"/>
                                <a:satMod val="250000"/>
                              </a:schemeClr>
                            </a:gs>
                            <a:gs pos="9000">
                              <a:schemeClr val="accent1">
                                <a:tint val="52000"/>
                                <a:satMod val="300000"/>
                              </a:schemeClr>
                            </a:gs>
                            <a:gs pos="50000">
                              <a:schemeClr val="accent1">
                                <a:shade val="20000"/>
                                <a:satMod val="300000"/>
                              </a:schemeClr>
                            </a:gs>
                            <a:gs pos="79000">
                              <a:schemeClr val="accent1">
                                <a:tint val="52000"/>
                                <a:satMod val="300000"/>
                              </a:schemeClr>
                            </a:gs>
                            <a:gs pos="100000">
                              <a:schemeClr val="accent1">
                                <a:tint val="40000"/>
                                <a:satMod val="250000"/>
                              </a:schemeClr>
                            </a:gs>
                          </a:gsLst>
                          <a:lin ang="5400000"/>
                        </a:gradFill>
                        <a:effectLst/>
                      </a:endParaRP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b="1" kern="1200" cap="none" spc="0" dirty="0" smtClean="0">
                          <a:ln w="12700">
                            <a:solidFill>
                              <a:schemeClr val="tx2">
                                <a:satMod val="155000"/>
                              </a:schemeClr>
                            </a:solidFill>
                            <a:prstDash val="solid"/>
                          </a:ln>
                          <a:solidFill>
                            <a:schemeClr val="bg2">
                              <a:tint val="85000"/>
                              <a:satMod val="155000"/>
                            </a:schemeClr>
                          </a:solidFill>
                          <a:effectLst>
                            <a:outerShdw blurRad="41275" dist="20320" dir="1800000" algn="tl" rotWithShape="0">
                              <a:srgbClr val="000000">
                                <a:alpha val="40000"/>
                              </a:srgbClr>
                            </a:outerShdw>
                          </a:effectLst>
                        </a:rPr>
                        <a:t>Multiple</a:t>
                      </a:r>
                      <a:br>
                        <a:rPr lang="en-US" altLang="zh-TW" sz="2400" b="1" kern="1200" cap="none" spc="0" dirty="0" smtClean="0">
                          <a:ln w="12700">
                            <a:solidFill>
                              <a:schemeClr val="tx2">
                                <a:satMod val="155000"/>
                              </a:schemeClr>
                            </a:solidFill>
                            <a:prstDash val="solid"/>
                          </a:ln>
                          <a:solidFill>
                            <a:schemeClr val="bg2">
                              <a:tint val="85000"/>
                              <a:satMod val="155000"/>
                            </a:schemeClr>
                          </a:solidFill>
                          <a:effectLst>
                            <a:outerShdw blurRad="41275" dist="20320" dir="1800000" algn="tl" rotWithShape="0">
                              <a:srgbClr val="000000">
                                <a:alpha val="40000"/>
                              </a:srgbClr>
                            </a:outerShdw>
                          </a:effectLst>
                        </a:rPr>
                      </a:br>
                      <a:r>
                        <a:rPr lang="en-US" altLang="zh-TW" sz="2400" b="1" kern="1200" cap="none" spc="0" dirty="0" smtClean="0">
                          <a:ln w="12700">
                            <a:solidFill>
                              <a:schemeClr val="tx2">
                                <a:satMod val="155000"/>
                              </a:schemeClr>
                            </a:solidFill>
                            <a:prstDash val="solid"/>
                          </a:ln>
                          <a:solidFill>
                            <a:schemeClr val="bg2">
                              <a:tint val="85000"/>
                              <a:satMod val="155000"/>
                            </a:schemeClr>
                          </a:solidFill>
                          <a:effectLst>
                            <a:outerShdw blurRad="41275" dist="20320" dir="1800000" algn="tl" rotWithShape="0">
                              <a:srgbClr val="000000">
                                <a:alpha val="40000"/>
                              </a:srgbClr>
                            </a:outerShdw>
                          </a:effectLst>
                        </a:rPr>
                        <a:t>Data</a:t>
                      </a:r>
                      <a:endParaRPr lang="zh-TW" altLang="en-US" sz="2400" b="1" kern="1200" cap="none" spc="0" dirty="0" smtClean="0">
                        <a:ln w="12700">
                          <a:solidFill>
                            <a:schemeClr val="tx2">
                              <a:satMod val="155000"/>
                            </a:schemeClr>
                          </a:solidFill>
                          <a:prstDash val="solid"/>
                        </a:ln>
                        <a:solidFill>
                          <a:schemeClr val="bg2">
                            <a:tint val="85000"/>
                            <a:satMod val="155000"/>
                          </a:schemeClr>
                        </a:solidFill>
                        <a:effectLst>
                          <a:outerShdw blurRad="41275" dist="20320" dir="1800000" algn="tl" rotWithShape="0">
                            <a:srgbClr val="000000">
                              <a:alpha val="40000"/>
                            </a:srgbClr>
                          </a:outerShdw>
                        </a:effectLst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cap="none" spc="0" dirty="0" smtClean="0">
                          <a:ln w="10541" cmpd="sng">
                            <a:solidFill>
                              <a:schemeClr val="accent1">
                                <a:shade val="88000"/>
                                <a:satMod val="110000"/>
                              </a:schemeClr>
                            </a:solidFill>
                            <a:prstDash val="solid"/>
                          </a:ln>
                          <a:gradFill>
                            <a:gsLst>
                              <a:gs pos="0">
                                <a:schemeClr val="accent1">
                                  <a:tint val="40000"/>
                                  <a:satMod val="250000"/>
                                </a:schemeClr>
                              </a:gs>
                              <a:gs pos="9000">
                                <a:schemeClr val="accent1">
                                  <a:tint val="52000"/>
                                  <a:satMod val="300000"/>
                                </a:schemeClr>
                              </a:gs>
                              <a:gs pos="50000">
                                <a:schemeClr val="accent1">
                                  <a:shade val="20000"/>
                                  <a:satMod val="300000"/>
                                </a:schemeClr>
                              </a:gs>
                              <a:gs pos="79000">
                                <a:schemeClr val="accent1">
                                  <a:tint val="52000"/>
                                  <a:satMod val="300000"/>
                                </a:schemeClr>
                              </a:gs>
                              <a:gs pos="100000">
                                <a:schemeClr val="accent1">
                                  <a:tint val="40000"/>
                                  <a:satMod val="250000"/>
                                </a:schemeClr>
                              </a:gs>
                            </a:gsLst>
                            <a:lin ang="5400000"/>
                          </a:gradFill>
                          <a:effectLst/>
                        </a:rPr>
                        <a:t>SIMD</a:t>
                      </a:r>
                      <a:endParaRPr lang="zh-TW" altLang="en-US" sz="2400" b="1" cap="none" spc="0" dirty="0">
                        <a:ln w="10541" cmpd="sng">
                          <a:solidFill>
                            <a:schemeClr val="accent1">
                              <a:shade val="88000"/>
                              <a:satMod val="110000"/>
                            </a:schemeClr>
                          </a:solidFill>
                          <a:prstDash val="solid"/>
                        </a:ln>
                        <a:gradFill>
                          <a:gsLst>
                            <a:gs pos="0">
                              <a:schemeClr val="accent1">
                                <a:tint val="40000"/>
                                <a:satMod val="250000"/>
                              </a:schemeClr>
                            </a:gs>
                            <a:gs pos="9000">
                              <a:schemeClr val="accent1">
                                <a:tint val="52000"/>
                                <a:satMod val="300000"/>
                              </a:schemeClr>
                            </a:gs>
                            <a:gs pos="50000">
                              <a:schemeClr val="accent1">
                                <a:shade val="20000"/>
                                <a:satMod val="300000"/>
                              </a:schemeClr>
                            </a:gs>
                            <a:gs pos="79000">
                              <a:schemeClr val="accent1">
                                <a:tint val="52000"/>
                                <a:satMod val="300000"/>
                              </a:schemeClr>
                            </a:gs>
                            <a:gs pos="100000">
                              <a:schemeClr val="accent1">
                                <a:tint val="40000"/>
                                <a:satMod val="250000"/>
                              </a:schemeClr>
                            </a:gs>
                          </a:gsLst>
                          <a:lin ang="5400000"/>
                        </a:gra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cap="none" spc="0" dirty="0" smtClean="0">
                          <a:ln w="10541" cmpd="sng">
                            <a:solidFill>
                              <a:schemeClr val="accent1">
                                <a:shade val="88000"/>
                                <a:satMod val="110000"/>
                              </a:schemeClr>
                            </a:solidFill>
                            <a:prstDash val="solid"/>
                          </a:ln>
                          <a:gradFill>
                            <a:gsLst>
                              <a:gs pos="0">
                                <a:schemeClr val="accent1">
                                  <a:tint val="40000"/>
                                  <a:satMod val="250000"/>
                                </a:schemeClr>
                              </a:gs>
                              <a:gs pos="9000">
                                <a:schemeClr val="accent1">
                                  <a:tint val="52000"/>
                                  <a:satMod val="300000"/>
                                </a:schemeClr>
                              </a:gs>
                              <a:gs pos="50000">
                                <a:schemeClr val="accent1">
                                  <a:shade val="20000"/>
                                  <a:satMod val="300000"/>
                                </a:schemeClr>
                              </a:gs>
                              <a:gs pos="79000">
                                <a:schemeClr val="accent1">
                                  <a:tint val="52000"/>
                                  <a:satMod val="300000"/>
                                </a:schemeClr>
                              </a:gs>
                              <a:gs pos="100000">
                                <a:schemeClr val="accent1">
                                  <a:tint val="40000"/>
                                  <a:satMod val="250000"/>
                                </a:schemeClr>
                              </a:gs>
                            </a:gsLst>
                            <a:lin ang="5400000"/>
                          </a:gradFill>
                          <a:effectLst/>
                        </a:rPr>
                        <a:t>MIMD</a:t>
                      </a:r>
                      <a:endParaRPr lang="zh-TW" altLang="en-US" sz="2400" b="1" cap="none" spc="0" dirty="0">
                        <a:ln w="10541" cmpd="sng">
                          <a:solidFill>
                            <a:schemeClr val="accent1">
                              <a:shade val="88000"/>
                              <a:satMod val="110000"/>
                            </a:schemeClr>
                          </a:solidFill>
                          <a:prstDash val="solid"/>
                        </a:ln>
                        <a:gradFill>
                          <a:gsLst>
                            <a:gs pos="0">
                              <a:schemeClr val="accent1">
                                <a:tint val="40000"/>
                                <a:satMod val="250000"/>
                              </a:schemeClr>
                            </a:gs>
                            <a:gs pos="9000">
                              <a:schemeClr val="accent1">
                                <a:tint val="52000"/>
                                <a:satMod val="300000"/>
                              </a:schemeClr>
                            </a:gs>
                            <a:gs pos="50000">
                              <a:schemeClr val="accent1">
                                <a:shade val="20000"/>
                                <a:satMod val="300000"/>
                              </a:schemeClr>
                            </a:gs>
                            <a:gs pos="79000">
                              <a:schemeClr val="accent1">
                                <a:tint val="52000"/>
                                <a:satMod val="300000"/>
                              </a:schemeClr>
                            </a:gs>
                            <a:gs pos="100000">
                              <a:schemeClr val="accent1">
                                <a:tint val="40000"/>
                                <a:satMod val="250000"/>
                              </a:schemeClr>
                            </a:gs>
                          </a:gsLst>
                          <a:lin ang="5400000"/>
                        </a:gradFill>
                        <a:effectLst/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Two Basic Models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/>
              <a:t>Shared memory model</a:t>
            </a:r>
          </a:p>
          <a:p>
            <a:pPr lvl="1"/>
            <a:r>
              <a:rPr lang="en-US" sz="2000" dirty="0" smtClean="0"/>
              <a:t>Memory can be simultaneously accessed by multiple process with an intent to provide communication among them or avoid redundant copies</a:t>
            </a:r>
            <a:endParaRPr lang="en-US" sz="2000" dirty="0"/>
          </a:p>
        </p:txBody>
      </p:sp>
      <p:pic>
        <p:nvPicPr>
          <p:cNvPr id="24579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16627" y="3619467"/>
            <a:ext cx="8093973" cy="22479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Two Basic Models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2044824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Distributed memory model</a:t>
            </a:r>
          </a:p>
          <a:p>
            <a:pPr lvl="1"/>
            <a:r>
              <a:rPr lang="en-US" dirty="0" smtClean="0"/>
              <a:t>A multiple-processor computer system in which each processor has its own private memory</a:t>
            </a:r>
          </a:p>
          <a:p>
            <a:pPr lvl="1"/>
            <a:r>
              <a:rPr lang="en-US" dirty="0" smtClean="0"/>
              <a:t>Computational tasks can only operate on local data, and if remote data is required, the computational task must communicate with one or more remote processors</a:t>
            </a:r>
            <a:endParaRPr lang="en-US" dirty="0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02804" y="3510544"/>
            <a:ext cx="7338392" cy="32712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Computer Collaboration in Cluster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600200"/>
            <a:ext cx="8075240" cy="4525963"/>
          </a:xfrm>
        </p:spPr>
        <p:txBody>
          <a:bodyPr>
            <a:normAutofit/>
          </a:bodyPr>
          <a:lstStyle/>
          <a:p>
            <a:r>
              <a:rPr lang="en-US" altLang="zh-TW" sz="2800" dirty="0" smtClean="0"/>
              <a:t>How machines co-work in cluster?</a:t>
            </a:r>
          </a:p>
          <a:p>
            <a:pPr lvl="1"/>
            <a:r>
              <a:rPr lang="en-US" altLang="zh-TW" sz="2400" dirty="0" smtClean="0"/>
              <a:t>Using MPI to inter-connect those stand-alone computers</a:t>
            </a:r>
          </a:p>
          <a:p>
            <a:endParaRPr lang="en-US" altLang="zh-TW" sz="2800" dirty="0" smtClean="0"/>
          </a:p>
          <a:p>
            <a:r>
              <a:rPr lang="en-US" altLang="zh-TW" sz="2800" dirty="0" smtClean="0"/>
              <a:t>Massage Passing Interface (MPI)</a:t>
            </a:r>
          </a:p>
          <a:p>
            <a:pPr lvl="1"/>
            <a:r>
              <a:rPr lang="en-US" altLang="zh-TW" sz="2400" dirty="0" smtClean="0">
                <a:ea typeface="新細明體" pitchFamily="18" charset="-120"/>
              </a:rPr>
              <a:t>A specification that allows computers communicate with each other</a:t>
            </a:r>
          </a:p>
          <a:p>
            <a:pPr lvl="1"/>
            <a:r>
              <a:rPr lang="en-US" altLang="zh-TW" sz="2400" dirty="0" smtClean="0">
                <a:ea typeface="新細明體" pitchFamily="18" charset="-120"/>
              </a:rPr>
              <a:t>Use Message Passing to do synchronization</a:t>
            </a:r>
            <a:br>
              <a:rPr lang="en-US" altLang="zh-TW" sz="2400" dirty="0" smtClean="0">
                <a:ea typeface="新細明體" pitchFamily="18" charset="-120"/>
              </a:rPr>
            </a:br>
            <a:endParaRPr lang="en-US" altLang="zh-TW" sz="2400" dirty="0" smtClean="0">
              <a:ea typeface="新細明體" pitchFamily="18" charset="-12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Massage Passing Interface (</a:t>
            </a:r>
            <a:r>
              <a:rPr lang="en-US" dirty="0" smtClean="0"/>
              <a:t>MPI)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1468760"/>
          </a:xfrm>
        </p:spPr>
        <p:txBody>
          <a:bodyPr>
            <a:normAutofit/>
          </a:bodyPr>
          <a:lstStyle/>
          <a:p>
            <a:r>
              <a:rPr lang="en-US" sz="2800" dirty="0" smtClean="0"/>
              <a:t>Distributed memory programming model</a:t>
            </a:r>
          </a:p>
          <a:p>
            <a:r>
              <a:rPr lang="en-US" sz="2800" dirty="0" smtClean="0"/>
              <a:t>Complete computers connected through an interconnection network</a:t>
            </a:r>
            <a:endParaRPr lang="en-US" sz="2800" dirty="0"/>
          </a:p>
        </p:txBody>
      </p:sp>
      <p:pic>
        <p:nvPicPr>
          <p:cNvPr id="5" name="Picture 5"/>
          <p:cNvPicPr>
            <a:picLocks noChangeAspect="1" noChangeArrowheads="1"/>
          </p:cNvPicPr>
          <p:nvPr/>
        </p:nvPicPr>
        <p:blipFill>
          <a:blip r:embed="rId2" cstate="print"/>
          <a:srcRect l="21544" t="18507" r="12409" b="12839"/>
          <a:stretch>
            <a:fillRect/>
          </a:stretch>
        </p:blipFill>
        <p:spPr bwMode="auto">
          <a:xfrm>
            <a:off x="2231740" y="3265512"/>
            <a:ext cx="4680520" cy="32598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Massage Passing Interface (MPI)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914400"/>
          </a:xfrm>
        </p:spPr>
        <p:txBody>
          <a:bodyPr>
            <a:noAutofit/>
          </a:bodyPr>
          <a:lstStyle/>
          <a:p>
            <a:r>
              <a:rPr lang="en-US" sz="2800" dirty="0" smtClean="0"/>
              <a:t>Single program with multiple data (SPMD)</a:t>
            </a:r>
          </a:p>
          <a:p>
            <a:pPr lvl="1"/>
            <a:r>
              <a:rPr lang="en-US" sz="2400" dirty="0" smtClean="0"/>
              <a:t>Similar to SIMD (single instruction multiple data)</a:t>
            </a:r>
            <a:endParaRPr lang="en-US" sz="2400" dirty="0"/>
          </a:p>
        </p:txBody>
      </p:sp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62000" y="3316288"/>
            <a:ext cx="7200900" cy="3236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ext Box 6"/>
          <p:cNvSpPr txBox="1">
            <a:spLocks noChangeArrowheads="1"/>
          </p:cNvSpPr>
          <p:nvPr/>
        </p:nvSpPr>
        <p:spPr bwMode="auto">
          <a:xfrm>
            <a:off x="3581400" y="2794556"/>
            <a:ext cx="195598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zh-TW" b="1" i="1" dirty="0">
                <a:solidFill>
                  <a:srgbClr val="CC0000"/>
                </a:solidFill>
              </a:rPr>
              <a:t>the same program</a:t>
            </a:r>
          </a:p>
        </p:txBody>
      </p:sp>
      <p:sp>
        <p:nvSpPr>
          <p:cNvPr id="6" name="Line 7"/>
          <p:cNvSpPr>
            <a:spLocks noChangeShapeType="1"/>
          </p:cNvSpPr>
          <p:nvPr/>
        </p:nvSpPr>
        <p:spPr bwMode="auto">
          <a:xfrm flipH="1">
            <a:off x="2851150" y="3097213"/>
            <a:ext cx="649287" cy="3603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/>
          <a:lstStyle/>
          <a:p>
            <a:endParaRPr lang="en-US"/>
          </a:p>
        </p:txBody>
      </p:sp>
      <p:sp>
        <p:nvSpPr>
          <p:cNvPr id="7" name="Line 8"/>
          <p:cNvSpPr>
            <a:spLocks noChangeShapeType="1"/>
          </p:cNvSpPr>
          <p:nvPr/>
        </p:nvSpPr>
        <p:spPr bwMode="auto">
          <a:xfrm>
            <a:off x="5586412" y="3097213"/>
            <a:ext cx="576263" cy="3603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1" name="Straight Arrow Connector 70"/>
          <p:cNvCxnSpPr>
            <a:endCxn id="56" idx="3"/>
          </p:cNvCxnSpPr>
          <p:nvPr/>
        </p:nvCxnSpPr>
        <p:spPr>
          <a:xfrm rot="10800000" flipV="1">
            <a:off x="2997644" y="3962398"/>
            <a:ext cx="1421959" cy="73317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Massage Passing Interface (MPI)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533399"/>
          </a:xfrm>
        </p:spPr>
        <p:txBody>
          <a:bodyPr>
            <a:normAutofit/>
          </a:bodyPr>
          <a:lstStyle/>
          <a:p>
            <a:r>
              <a:rPr lang="en-US" sz="2800" dirty="0" smtClean="0"/>
              <a:t>Typical parallel execution flow :</a:t>
            </a:r>
            <a:endParaRPr lang="en-US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4125558" y="1676400"/>
            <a:ext cx="6472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Start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3733800" y="2416884"/>
            <a:ext cx="1447800" cy="381000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i="1" dirty="0" smtClean="0">
                <a:solidFill>
                  <a:schemeClr val="accent3">
                    <a:lumMod val="50000"/>
                  </a:schemeClr>
                </a:solidFill>
              </a:rPr>
              <a:t>Initialization</a:t>
            </a:r>
            <a:endParaRPr lang="en-US" b="1" i="1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7" name="Down Arrow 6"/>
          <p:cNvSpPr/>
          <p:nvPr/>
        </p:nvSpPr>
        <p:spPr>
          <a:xfrm>
            <a:off x="4267200" y="2035884"/>
            <a:ext cx="381000" cy="304800"/>
          </a:xfrm>
          <a:prstGeom prst="downArrow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762000" y="3102684"/>
            <a:ext cx="1295400" cy="457200"/>
          </a:xfrm>
          <a:prstGeom prst="ellipse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en-US" sz="1600" b="1" i="1" dirty="0" smtClean="0">
                <a:solidFill>
                  <a:schemeClr val="accent3">
                    <a:lumMod val="50000"/>
                  </a:schemeClr>
                </a:solidFill>
              </a:rPr>
              <a:t>Process 1</a:t>
            </a:r>
            <a:endParaRPr lang="en-US" sz="1600" b="1" i="1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9" name="Oval 8"/>
          <p:cNvSpPr/>
          <p:nvPr/>
        </p:nvSpPr>
        <p:spPr>
          <a:xfrm>
            <a:off x="2286000" y="3102684"/>
            <a:ext cx="1295400" cy="457200"/>
          </a:xfrm>
          <a:prstGeom prst="ellipse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en-US" sz="1600" b="1" i="1" dirty="0" smtClean="0">
                <a:solidFill>
                  <a:schemeClr val="accent3">
                    <a:lumMod val="50000"/>
                  </a:schemeClr>
                </a:solidFill>
              </a:rPr>
              <a:t>Process 2</a:t>
            </a:r>
            <a:endParaRPr lang="en-US" sz="1600" b="1" i="1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10" name="Oval 9"/>
          <p:cNvSpPr/>
          <p:nvPr/>
        </p:nvSpPr>
        <p:spPr>
          <a:xfrm>
            <a:off x="3810000" y="3102684"/>
            <a:ext cx="1295400" cy="457200"/>
          </a:xfrm>
          <a:prstGeom prst="ellipse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en-US" sz="1600" b="1" i="1" dirty="0" smtClean="0">
                <a:solidFill>
                  <a:schemeClr val="accent3">
                    <a:lumMod val="50000"/>
                  </a:schemeClr>
                </a:solidFill>
              </a:rPr>
              <a:t>Process 3</a:t>
            </a:r>
            <a:endParaRPr lang="en-US" sz="1600" b="1" i="1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12" name="Oval 11"/>
          <p:cNvSpPr/>
          <p:nvPr/>
        </p:nvSpPr>
        <p:spPr>
          <a:xfrm>
            <a:off x="6858000" y="3102684"/>
            <a:ext cx="1295400" cy="457200"/>
          </a:xfrm>
          <a:prstGeom prst="ellipse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en-US" sz="1600" b="1" i="1" dirty="0" smtClean="0">
                <a:solidFill>
                  <a:schemeClr val="accent3">
                    <a:lumMod val="50000"/>
                  </a:schemeClr>
                </a:solidFill>
              </a:rPr>
              <a:t>Process N</a:t>
            </a:r>
            <a:endParaRPr lang="en-US" sz="1600" b="1" i="1" dirty="0">
              <a:solidFill>
                <a:schemeClr val="accent3">
                  <a:lumMod val="50000"/>
                </a:schemeClr>
              </a:solidFill>
            </a:endParaRPr>
          </a:p>
        </p:txBody>
      </p:sp>
      <p:cxnSp>
        <p:nvCxnSpPr>
          <p:cNvPr id="15" name="Straight Arrow Connector 14"/>
          <p:cNvCxnSpPr>
            <a:stCxn id="6" idx="2"/>
            <a:endCxn id="8" idx="7"/>
          </p:cNvCxnSpPr>
          <p:nvPr/>
        </p:nvCxnSpPr>
        <p:spPr>
          <a:xfrm rot="5400000">
            <a:off x="2976820" y="1688758"/>
            <a:ext cx="371755" cy="259000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>
            <a:stCxn id="6" idx="2"/>
            <a:endCxn id="9" idx="7"/>
          </p:cNvCxnSpPr>
          <p:nvPr/>
        </p:nvCxnSpPr>
        <p:spPr>
          <a:xfrm rot="5400000">
            <a:off x="3738820" y="2450758"/>
            <a:ext cx="371755" cy="106600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>
            <a:stCxn id="6" idx="2"/>
            <a:endCxn id="10" idx="0"/>
          </p:cNvCxnSpPr>
          <p:nvPr/>
        </p:nvCxnSpPr>
        <p:spPr>
          <a:xfrm rot="5400000">
            <a:off x="4305300" y="2950284"/>
            <a:ext cx="304800" cy="158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>
            <a:stCxn id="6" idx="2"/>
            <a:endCxn id="12" idx="1"/>
          </p:cNvCxnSpPr>
          <p:nvPr/>
        </p:nvCxnSpPr>
        <p:spPr>
          <a:xfrm rot="16200000" flipH="1">
            <a:off x="5566826" y="1688757"/>
            <a:ext cx="371755" cy="259000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>
            <a:stCxn id="6" idx="2"/>
          </p:cNvCxnSpPr>
          <p:nvPr/>
        </p:nvCxnSpPr>
        <p:spPr>
          <a:xfrm rot="16200000" flipH="1">
            <a:off x="4857750" y="2397834"/>
            <a:ext cx="381000" cy="11811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5257800" y="3178884"/>
            <a:ext cx="13917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accent3">
                    <a:lumMod val="75000"/>
                  </a:schemeClr>
                </a:solidFill>
              </a:rPr>
              <a:t>▪  ▪  ▪  ▪  ▪  ▪  ▪</a:t>
            </a:r>
            <a:endParaRPr lang="en-US" dirty="0">
              <a:solidFill>
                <a:schemeClr val="accent3">
                  <a:lumMod val="75000"/>
                </a:schemeClr>
              </a:solidFill>
            </a:endParaRPr>
          </a:p>
        </p:txBody>
      </p:sp>
      <p:cxnSp>
        <p:nvCxnSpPr>
          <p:cNvPr id="33" name="Straight Arrow Connector 32"/>
          <p:cNvCxnSpPr>
            <a:stCxn id="8" idx="4"/>
          </p:cNvCxnSpPr>
          <p:nvPr/>
        </p:nvCxnSpPr>
        <p:spPr>
          <a:xfrm rot="5400000">
            <a:off x="462353" y="4496025"/>
            <a:ext cx="1883488" cy="11206"/>
          </a:xfrm>
          <a:prstGeom prst="straightConnector1">
            <a:avLst/>
          </a:prstGeom>
          <a:ln>
            <a:solidFill>
              <a:schemeClr val="accent3">
                <a:lumMod val="75000"/>
              </a:schemeClr>
            </a:solidFill>
            <a:tailEnd type="arrow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>
            <a:stCxn id="9" idx="4"/>
          </p:cNvCxnSpPr>
          <p:nvPr/>
        </p:nvCxnSpPr>
        <p:spPr>
          <a:xfrm rot="5400000">
            <a:off x="1967529" y="4498713"/>
            <a:ext cx="1905000" cy="27342"/>
          </a:xfrm>
          <a:prstGeom prst="straightConnector1">
            <a:avLst/>
          </a:prstGeom>
          <a:ln>
            <a:solidFill>
              <a:schemeClr val="accent3">
                <a:lumMod val="75000"/>
              </a:schemeClr>
            </a:solidFill>
            <a:tailEnd type="arrow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>
            <a:stCxn id="10" idx="4"/>
          </p:cNvCxnSpPr>
          <p:nvPr/>
        </p:nvCxnSpPr>
        <p:spPr>
          <a:xfrm rot="5400000">
            <a:off x="3486150" y="4493334"/>
            <a:ext cx="1905000" cy="38100"/>
          </a:xfrm>
          <a:prstGeom prst="straightConnector1">
            <a:avLst/>
          </a:prstGeom>
          <a:ln>
            <a:solidFill>
              <a:schemeClr val="accent3">
                <a:lumMod val="75000"/>
              </a:schemeClr>
            </a:solidFill>
            <a:tailEnd type="arrow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>
            <a:stCxn id="12" idx="4"/>
          </p:cNvCxnSpPr>
          <p:nvPr/>
        </p:nvCxnSpPr>
        <p:spPr>
          <a:xfrm rot="5400000">
            <a:off x="6534150" y="4493334"/>
            <a:ext cx="1905000" cy="38100"/>
          </a:xfrm>
          <a:prstGeom prst="straightConnector1">
            <a:avLst/>
          </a:prstGeom>
          <a:ln>
            <a:solidFill>
              <a:schemeClr val="accent3">
                <a:lumMod val="75000"/>
              </a:schemeClr>
            </a:solidFill>
            <a:tailEnd type="arrow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49" name="Rounded Rectangle 48"/>
          <p:cNvSpPr/>
          <p:nvPr/>
        </p:nvSpPr>
        <p:spPr>
          <a:xfrm>
            <a:off x="762000" y="5464884"/>
            <a:ext cx="7391400" cy="38100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i="1" dirty="0" smtClean="0">
                <a:solidFill>
                  <a:schemeClr val="accent2">
                    <a:lumMod val="50000"/>
                  </a:schemeClr>
                </a:solidFill>
              </a:rPr>
              <a:t>Finalization</a:t>
            </a:r>
            <a:endParaRPr lang="en-US" b="1" i="1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50" name="Down Arrow 49"/>
          <p:cNvSpPr/>
          <p:nvPr/>
        </p:nvSpPr>
        <p:spPr>
          <a:xfrm>
            <a:off x="4267200" y="5943600"/>
            <a:ext cx="381000" cy="304800"/>
          </a:xfrm>
          <a:prstGeom prst="downArrow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 52"/>
          <p:cNvSpPr/>
          <p:nvPr/>
        </p:nvSpPr>
        <p:spPr>
          <a:xfrm>
            <a:off x="1339326" y="4648200"/>
            <a:ext cx="152400" cy="457200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TextBox 50"/>
          <p:cNvSpPr txBox="1"/>
          <p:nvPr/>
        </p:nvSpPr>
        <p:spPr>
          <a:xfrm>
            <a:off x="3907716" y="6248400"/>
            <a:ext cx="11035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Complete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1339326" y="3657600"/>
            <a:ext cx="152400" cy="457200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/>
          <p:cNvSpPr/>
          <p:nvPr/>
        </p:nvSpPr>
        <p:spPr>
          <a:xfrm>
            <a:off x="4373217" y="3645672"/>
            <a:ext cx="155712" cy="1196671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 57"/>
          <p:cNvSpPr/>
          <p:nvPr/>
        </p:nvSpPr>
        <p:spPr>
          <a:xfrm>
            <a:off x="7434001" y="3646998"/>
            <a:ext cx="152400" cy="457200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Rectangle 58"/>
          <p:cNvSpPr/>
          <p:nvPr/>
        </p:nvSpPr>
        <p:spPr>
          <a:xfrm>
            <a:off x="7434001" y="4187687"/>
            <a:ext cx="152400" cy="457200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3" name="Straight Arrow Connector 62"/>
          <p:cNvCxnSpPr>
            <a:endCxn id="53" idx="0"/>
          </p:cNvCxnSpPr>
          <p:nvPr/>
        </p:nvCxnSpPr>
        <p:spPr>
          <a:xfrm rot="10800000" flipV="1">
            <a:off x="1415526" y="4419600"/>
            <a:ext cx="1480074" cy="2286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56" name="Rectangle 55"/>
          <p:cNvSpPr/>
          <p:nvPr/>
        </p:nvSpPr>
        <p:spPr>
          <a:xfrm>
            <a:off x="2854519" y="4190999"/>
            <a:ext cx="143124" cy="1009153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0" name="Straight Arrow Connector 59"/>
          <p:cNvCxnSpPr>
            <a:stCxn id="52" idx="3"/>
            <a:endCxn id="56" idx="0"/>
          </p:cNvCxnSpPr>
          <p:nvPr/>
        </p:nvCxnSpPr>
        <p:spPr>
          <a:xfrm>
            <a:off x="1491726" y="3886200"/>
            <a:ext cx="1434355" cy="304799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74" name="Straight Arrow Connector 73"/>
          <p:cNvCxnSpPr>
            <a:stCxn id="58" idx="1"/>
          </p:cNvCxnSpPr>
          <p:nvPr/>
        </p:nvCxnSpPr>
        <p:spPr>
          <a:xfrm rot="10800000" flipV="1">
            <a:off x="6705601" y="3875598"/>
            <a:ext cx="728401" cy="16300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77" name="Straight Arrow Connector 76"/>
          <p:cNvCxnSpPr>
            <a:endCxn id="59" idx="1"/>
          </p:cNvCxnSpPr>
          <p:nvPr/>
        </p:nvCxnSpPr>
        <p:spPr>
          <a:xfrm>
            <a:off x="6705600" y="4267200"/>
            <a:ext cx="728401" cy="14908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82" name="TextBox 81"/>
          <p:cNvSpPr txBox="1"/>
          <p:nvPr/>
        </p:nvSpPr>
        <p:spPr>
          <a:xfrm>
            <a:off x="1461143" y="4035623"/>
            <a:ext cx="135825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1" dirty="0" smtClean="0">
                <a:solidFill>
                  <a:schemeClr val="accent2">
                    <a:lumMod val="50000"/>
                  </a:schemeClr>
                </a:solidFill>
              </a:rPr>
              <a:t>Communication</a:t>
            </a:r>
            <a:endParaRPr lang="en-US" sz="1400" b="1" i="1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83" name="TextBox 82"/>
          <p:cNvSpPr txBox="1"/>
          <p:nvPr/>
        </p:nvSpPr>
        <p:spPr>
          <a:xfrm>
            <a:off x="2985143" y="4343400"/>
            <a:ext cx="135825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1" dirty="0" smtClean="0">
                <a:solidFill>
                  <a:schemeClr val="accent2">
                    <a:lumMod val="50000"/>
                  </a:schemeClr>
                </a:solidFill>
              </a:rPr>
              <a:t>Communication</a:t>
            </a:r>
            <a:endParaRPr lang="en-US" sz="1400" b="1" i="1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84" name="TextBox 83"/>
          <p:cNvSpPr txBox="1"/>
          <p:nvPr/>
        </p:nvSpPr>
        <p:spPr>
          <a:xfrm>
            <a:off x="5562600" y="3994674"/>
            <a:ext cx="135825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1" dirty="0" smtClean="0">
                <a:solidFill>
                  <a:schemeClr val="accent2">
                    <a:lumMod val="50000"/>
                  </a:schemeClr>
                </a:solidFill>
              </a:rPr>
              <a:t>Communication</a:t>
            </a:r>
            <a:endParaRPr lang="en-US" sz="1400" b="1" i="1" dirty="0">
              <a:solidFill>
                <a:schemeClr val="accent2">
                  <a:lumMod val="50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Cluster Applications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 smtClean="0"/>
              <a:t>Cluster had become the mainstream computing system</a:t>
            </a:r>
            <a:endParaRPr lang="zh-TW" altLang="en-US" dirty="0" smtClean="0"/>
          </a:p>
          <a:p>
            <a:endParaRPr lang="en-US" altLang="zh-TW" dirty="0" smtClean="0"/>
          </a:p>
          <a:p>
            <a:r>
              <a:rPr lang="en-US" altLang="zh-TW" dirty="0" smtClean="0"/>
              <a:t>Apply parallel program to</a:t>
            </a:r>
          </a:p>
          <a:p>
            <a:pPr lvl="1"/>
            <a:r>
              <a:rPr lang="en-US" altLang="zh-TW" dirty="0" smtClean="0"/>
              <a:t>Computing intensive</a:t>
            </a:r>
          </a:p>
          <a:p>
            <a:pPr lvl="1"/>
            <a:r>
              <a:rPr lang="en-US" altLang="zh-TW" dirty="0" smtClean="0"/>
              <a:t>Data intensive </a:t>
            </a:r>
          </a:p>
          <a:p>
            <a:pPr lvl="1"/>
            <a:r>
              <a:rPr lang="en-US" altLang="zh-TW" dirty="0" smtClean="0"/>
              <a:t>Timing critical system</a:t>
            </a:r>
          </a:p>
          <a:p>
            <a:pPr lvl="1"/>
            <a:r>
              <a:rPr lang="en-US" altLang="zh-TW" dirty="0" smtClean="0"/>
              <a:t>… any time you are pleased</a:t>
            </a:r>
          </a:p>
          <a:p>
            <a:endParaRPr lang="zh-TW" altLang="en-US" dirty="0"/>
          </a:p>
        </p:txBody>
      </p:sp>
      <p:pic>
        <p:nvPicPr>
          <p:cNvPr id="4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427984" y="2636912"/>
            <a:ext cx="4619146" cy="41177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Distributed computing</a:t>
            </a:r>
            <a:endParaRPr lang="zh-TW" altLang="en-US" dirty="0"/>
          </a:p>
        </p:txBody>
      </p:sp>
      <p:sp>
        <p:nvSpPr>
          <p:cNvPr id="5" name="文字版面配置區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 smtClean="0">
                <a:solidFill>
                  <a:schemeClr val="bg1">
                    <a:lumMod val="65000"/>
                  </a:schemeClr>
                </a:solidFill>
              </a:rPr>
              <a:t>Cluster Computing</a:t>
            </a:r>
          </a:p>
          <a:p>
            <a:r>
              <a:rPr lang="en-US" altLang="zh-TW" dirty="0" smtClean="0"/>
              <a:t>Grid Computing</a:t>
            </a:r>
          </a:p>
          <a:p>
            <a:r>
              <a:rPr lang="en-US" altLang="zh-TW" dirty="0" smtClean="0">
                <a:solidFill>
                  <a:schemeClr val="bg1">
                    <a:lumMod val="65000"/>
                  </a:schemeClr>
                </a:solidFill>
              </a:rPr>
              <a:t>Cloud Computing</a:t>
            </a:r>
            <a:endParaRPr lang="zh-TW" altLang="en-US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Demand for More Computing Power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8507288" cy="5257800"/>
          </a:xfrm>
        </p:spPr>
        <p:txBody>
          <a:bodyPr>
            <a:normAutofit/>
          </a:bodyPr>
          <a:lstStyle/>
          <a:p>
            <a:r>
              <a:rPr lang="en-US" altLang="zh-TW" dirty="0" smtClean="0"/>
              <a:t>The large-scale, computational-/data-intensive scientific applications require more resources</a:t>
            </a:r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Applications</a:t>
            </a:r>
          </a:p>
          <a:p>
            <a:pPr lvl="1"/>
            <a:r>
              <a:rPr lang="en-US" dirty="0" smtClean="0"/>
              <a:t>Scientific application</a:t>
            </a:r>
          </a:p>
          <a:p>
            <a:pPr lvl="1"/>
            <a:r>
              <a:rPr lang="en-US" dirty="0" smtClean="0"/>
              <a:t>Computer animation</a:t>
            </a:r>
          </a:p>
          <a:p>
            <a:pPr lvl="1"/>
            <a:r>
              <a:rPr lang="en-US" dirty="0" smtClean="0"/>
              <a:t>Computer games</a:t>
            </a:r>
          </a:p>
          <a:p>
            <a:pPr lvl="1"/>
            <a:r>
              <a:rPr lang="en-US" dirty="0" smtClean="0"/>
              <a:t>Image processing</a:t>
            </a:r>
          </a:p>
          <a:p>
            <a:pPr lvl="1"/>
            <a:r>
              <a:rPr lang="en-US" dirty="0" smtClean="0"/>
              <a:t>Data mining</a:t>
            </a:r>
          </a:p>
          <a:p>
            <a:pPr lvl="1"/>
            <a:r>
              <a:rPr lang="en-US" dirty="0" smtClean="0"/>
              <a:t>… etc</a:t>
            </a:r>
          </a:p>
        </p:txBody>
      </p:sp>
      <p:pic>
        <p:nvPicPr>
          <p:cNvPr id="23554" name="Picture 2" descr="http://www.uniclust.it/images/stories/fluid-dynamics.jpg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500796" y="3068960"/>
            <a:ext cx="1490803" cy="149080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23556" name="Picture 4" descr="http://www.midnightkite.com/PlanetPovray/planets-5.jpg">
            <a:hlinkClick r:id="rId3"/>
          </p:cNvPr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211960" y="5157192"/>
            <a:ext cx="2496912" cy="1529359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23558" name="Picture 6" descr="http://www.ucar.edu/communications/newsreleases/2004/wrf.jp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6187536" y="4093524"/>
            <a:ext cx="1927763" cy="192776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Grid Computing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600200"/>
            <a:ext cx="8686800" cy="4853136"/>
          </a:xfrm>
        </p:spPr>
        <p:txBody>
          <a:bodyPr>
            <a:normAutofit/>
          </a:bodyPr>
          <a:lstStyle/>
          <a:p>
            <a:r>
              <a:rPr lang="en-US" altLang="zh-TW" dirty="0" smtClean="0"/>
              <a:t>Grid computing</a:t>
            </a:r>
          </a:p>
          <a:p>
            <a:pPr lvl="1"/>
            <a:r>
              <a:rPr lang="en-US" altLang="zh-TW" dirty="0" smtClean="0"/>
              <a:t>To coordinate resource sharing and problem solving in dynamic, multi-institutional virtual organization (VO)</a:t>
            </a:r>
          </a:p>
          <a:p>
            <a:endParaRPr lang="en-US" altLang="zh-TW" dirty="0" smtClean="0"/>
          </a:p>
          <a:p>
            <a:r>
              <a:rPr lang="en-US" altLang="zh-TW" dirty="0" smtClean="0"/>
              <a:t>Provide the generic approach for a general resource-sharing framework that address the VO requirement</a:t>
            </a:r>
          </a:p>
          <a:p>
            <a:r>
              <a:rPr lang="en-US" altLang="zh-TW" dirty="0" smtClean="0"/>
              <a:t>Support the creation and use of computation- and data-enriched environments</a:t>
            </a:r>
          </a:p>
          <a:p>
            <a:r>
              <a:rPr lang="en-US" altLang="zh-TW" dirty="0" smtClean="0"/>
              <a:t>Uses open standards and interfaces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The Grid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TW" dirty="0" smtClean="0"/>
              <a:t>Grid</a:t>
            </a:r>
          </a:p>
          <a:p>
            <a:pPr lvl="1"/>
            <a:r>
              <a:rPr lang="en-US" altLang="zh-TW" dirty="0" smtClean="0"/>
              <a:t>An analogy with the electric power grid around 1910</a:t>
            </a:r>
          </a:p>
          <a:p>
            <a:pPr lvl="1"/>
            <a:endParaRPr lang="en-US" altLang="zh-TW" dirty="0" smtClean="0"/>
          </a:p>
          <a:p>
            <a:pPr lvl="1"/>
            <a:r>
              <a:rPr lang="en-US" altLang="zh-TW" dirty="0" smtClean="0"/>
              <a:t>In the mid-1990s, this term is coined to denote a proposed </a:t>
            </a:r>
            <a:r>
              <a:rPr lang="en-US" altLang="zh-TW" i="1" dirty="0" smtClean="0">
                <a:solidFill>
                  <a:srgbClr val="00B0F0"/>
                </a:solidFill>
              </a:rPr>
              <a:t>distributed computing infrastructure </a:t>
            </a:r>
            <a:r>
              <a:rPr lang="en-US" altLang="zh-TW" dirty="0" smtClean="0"/>
              <a:t>for advanced science and engineering</a:t>
            </a:r>
          </a:p>
          <a:p>
            <a:pPr lvl="1"/>
            <a:endParaRPr lang="en-US" altLang="zh-TW" dirty="0" smtClean="0"/>
          </a:p>
        </p:txBody>
      </p:sp>
      <p:pic>
        <p:nvPicPr>
          <p:cNvPr id="9" name="Picture 2" descr="D:\Data\edu_NTHU\_myResearchNotes\cloud computing\_Course\slides\500px-Electricity_Grid_Schematic_English.svg.png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 cstate="print"/>
          <a:stretch>
            <a:fillRect/>
          </a:stretch>
        </p:blipFill>
        <p:spPr bwMode="auto">
          <a:xfrm>
            <a:off x="4945292" y="1600200"/>
            <a:ext cx="3947188" cy="5186605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Resource Collaboration in Grids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53136"/>
          </a:xfrm>
        </p:spPr>
        <p:txBody>
          <a:bodyPr>
            <a:normAutofit/>
          </a:bodyPr>
          <a:lstStyle/>
          <a:p>
            <a:r>
              <a:rPr lang="en-US" altLang="zh-TW" dirty="0" smtClean="0"/>
              <a:t>Virtual Organization (VO)</a:t>
            </a:r>
          </a:p>
          <a:p>
            <a:pPr lvl="1"/>
            <a:r>
              <a:rPr lang="en-US" altLang="zh-TW" dirty="0" smtClean="0"/>
              <a:t>A set of individuals and/or institutions defined by such sharing rules form</a:t>
            </a:r>
          </a:p>
          <a:p>
            <a:pPr lvl="2"/>
            <a:r>
              <a:rPr lang="en-US" altLang="zh-TW" dirty="0" smtClean="0"/>
              <a:t>what is shared</a:t>
            </a:r>
          </a:p>
          <a:p>
            <a:pPr lvl="2"/>
            <a:r>
              <a:rPr lang="en-US" altLang="zh-TW" dirty="0" smtClean="0"/>
              <a:t>who is allowed to share</a:t>
            </a:r>
          </a:p>
          <a:p>
            <a:pPr lvl="2"/>
            <a:r>
              <a:rPr lang="en-US" altLang="zh-TW" dirty="0" smtClean="0"/>
              <a:t>the conditions under which sharing occurs</a:t>
            </a:r>
          </a:p>
          <a:p>
            <a:endParaRPr lang="en-US" altLang="zh-TW" dirty="0" smtClean="0"/>
          </a:p>
          <a:p>
            <a:r>
              <a:rPr lang="en-US" altLang="zh-TW" dirty="0" smtClean="0"/>
              <a:t>An actual organization can participate in one or more VOs by sharing some or all of its</a:t>
            </a:r>
            <a:r>
              <a:rPr lang="zh-TW" altLang="en-US" dirty="0" smtClean="0"/>
              <a:t> </a:t>
            </a:r>
            <a:r>
              <a:rPr lang="en-US" altLang="zh-TW" dirty="0" smtClean="0"/>
              <a:t>resources</a:t>
            </a:r>
            <a:endParaRPr lang="zh-TW" altLang="en-US" dirty="0" smtClean="0"/>
          </a:p>
          <a:p>
            <a:endParaRPr lang="en-US" altLang="zh-TW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Example of VOs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412776"/>
            <a:ext cx="8686800" cy="1684784"/>
          </a:xfrm>
        </p:spPr>
        <p:txBody>
          <a:bodyPr>
            <a:normAutofit fontScale="92500"/>
          </a:bodyPr>
          <a:lstStyle/>
          <a:p>
            <a:r>
              <a:rPr lang="en-US" altLang="zh-TW" dirty="0" smtClean="0"/>
              <a:t>Three actual organizations (the ovals) &amp; Two VOs (P, Q)</a:t>
            </a:r>
          </a:p>
          <a:p>
            <a:pPr lvl="1"/>
            <a:r>
              <a:rPr lang="en-US" altLang="zh-TW" dirty="0" smtClean="0"/>
              <a:t>P:</a:t>
            </a:r>
            <a:r>
              <a:rPr lang="zh-TW" altLang="en-US" dirty="0" smtClean="0"/>
              <a:t> </a:t>
            </a:r>
            <a:r>
              <a:rPr lang="en-US" altLang="zh-TW" dirty="0" smtClean="0"/>
              <a:t>links participants in an</a:t>
            </a:r>
            <a:r>
              <a:rPr lang="zh-TW" altLang="en-US" dirty="0" smtClean="0"/>
              <a:t> </a:t>
            </a:r>
            <a:r>
              <a:rPr lang="en-US" altLang="zh-TW" dirty="0" smtClean="0"/>
              <a:t>aerospace design consortium</a:t>
            </a:r>
          </a:p>
          <a:p>
            <a:pPr lvl="1"/>
            <a:r>
              <a:rPr lang="en-US" altLang="zh-TW" dirty="0" smtClean="0"/>
              <a:t>Q:</a:t>
            </a:r>
            <a:r>
              <a:rPr lang="zh-TW" altLang="en-US" dirty="0" smtClean="0"/>
              <a:t> </a:t>
            </a:r>
            <a:r>
              <a:rPr lang="en-US" altLang="zh-TW" dirty="0" smtClean="0"/>
              <a:t>links colleagues who have agreed to share spare computing</a:t>
            </a:r>
            <a:r>
              <a:rPr lang="zh-TW" altLang="en-US" dirty="0" smtClean="0"/>
              <a:t> </a:t>
            </a:r>
            <a:r>
              <a:rPr lang="en-US" altLang="zh-TW" dirty="0" smtClean="0"/>
              <a:t>to run ray tracing computations</a:t>
            </a:r>
            <a:endParaRPr lang="zh-TW" altLang="en-US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47324" y="3212976"/>
            <a:ext cx="8249353" cy="35086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Grid Environments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600200"/>
            <a:ext cx="8686800" cy="4925144"/>
          </a:xfrm>
        </p:spPr>
        <p:txBody>
          <a:bodyPr>
            <a:normAutofit fontScale="92500" lnSpcReduction="10000"/>
          </a:bodyPr>
          <a:lstStyle/>
          <a:p>
            <a:r>
              <a:rPr lang="en-US" altLang="zh-TW" dirty="0" smtClean="0"/>
              <a:t>Resources are heterogeneous </a:t>
            </a:r>
          </a:p>
          <a:p>
            <a:pPr lvl="1"/>
            <a:r>
              <a:rPr lang="en-US" altLang="zh-TW" dirty="0" smtClean="0"/>
              <a:t>supercomputers, storage systems, data sources, and specialized devices owned by different administrative domains</a:t>
            </a:r>
          </a:p>
          <a:p>
            <a:endParaRPr lang="en-US" altLang="zh-TW" dirty="0" smtClean="0"/>
          </a:p>
          <a:p>
            <a:r>
              <a:rPr lang="en-US" altLang="zh-TW" dirty="0" smtClean="0"/>
              <a:t>Enables the sharing, selection, and aggregation of a wide variety of geographically distributed resources </a:t>
            </a:r>
          </a:p>
          <a:p>
            <a:endParaRPr lang="en-US" altLang="zh-TW" dirty="0" smtClean="0"/>
          </a:p>
          <a:p>
            <a:r>
              <a:rPr lang="en-US" altLang="zh-TW" dirty="0" smtClean="0"/>
              <a:t>To solve large scale resource-intensive problems in science, engineering, and commerce</a:t>
            </a:r>
          </a:p>
          <a:p>
            <a:endParaRPr lang="en-US" altLang="zh-TW" dirty="0" smtClean="0"/>
          </a:p>
          <a:p>
            <a:r>
              <a:rPr lang="en-US" altLang="zh-TW" dirty="0" smtClean="0"/>
              <a:t>Hailed as the next revolution after the Internet and the World Wide Web</a:t>
            </a:r>
          </a:p>
          <a:p>
            <a:endParaRPr lang="en-US" altLang="zh-TW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ctrTitle" idx="4294967295"/>
          </p:nvPr>
        </p:nvSpPr>
        <p:spPr>
          <a:xfrm>
            <a:off x="0" y="2420888"/>
            <a:ext cx="7772400" cy="1470025"/>
          </a:xfrm>
        </p:spPr>
        <p:txBody>
          <a:bodyPr>
            <a:normAutofit fontScale="90000"/>
          </a:bodyPr>
          <a:lstStyle/>
          <a:p>
            <a:pPr marL="342900" indent="-342900">
              <a:spcBef>
                <a:spcPct val="20000"/>
              </a:spcBef>
            </a:pPr>
            <a:r>
              <a:rPr lang="en-US" altLang="zh-TW" dirty="0" smtClean="0"/>
              <a:t>Taiwan </a:t>
            </a:r>
            <a:r>
              <a:rPr lang="en-US" altLang="zh-TW" dirty="0" err="1" smtClean="0"/>
              <a:t>UniGrid</a:t>
            </a:r>
            <a:r>
              <a:rPr lang="en-US" altLang="zh-TW" dirty="0" smtClean="0"/>
              <a:t/>
            </a:r>
            <a:br>
              <a:rPr lang="en-US" altLang="zh-TW" dirty="0" smtClean="0"/>
            </a:br>
            <a:r>
              <a:rPr lang="en-US" altLang="zh-TW" sz="2800" b="0" i="0" dirty="0" smtClean="0">
                <a:solidFill>
                  <a:srgbClr val="1F497D">
                    <a:lumMod val="75000"/>
                  </a:srgbClr>
                </a:solidFill>
                <a:latin typeface="Cambria" pitchFamily="18" charset="0"/>
                <a:cs typeface="+mn-cs"/>
              </a:rPr>
              <a:t>A University Grid Platform in Taiwan</a:t>
            </a:r>
            <a:br>
              <a:rPr lang="en-US" altLang="zh-TW" sz="2800" b="0" i="0" dirty="0" smtClean="0">
                <a:solidFill>
                  <a:srgbClr val="1F497D">
                    <a:lumMod val="75000"/>
                  </a:srgbClr>
                </a:solidFill>
                <a:latin typeface="Cambria" pitchFamily="18" charset="0"/>
                <a:cs typeface="+mn-cs"/>
              </a:rPr>
            </a:br>
            <a:endParaRPr lang="zh-TW" altLang="en-US" dirty="0"/>
          </a:p>
        </p:txBody>
      </p:sp>
      <p:pic>
        <p:nvPicPr>
          <p:cNvPr id="6" name="Picture 6" descr="C:\Documents and Settings\shedoh\桌面\PortalLogo_images\unigrid_logo1.gif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868144" y="4509120"/>
            <a:ext cx="2557868" cy="1905612"/>
          </a:xfrm>
          <a:prstGeom prst="rect">
            <a:avLst/>
          </a:prstGeom>
          <a:noFill/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</p:pic>
      <p:sp>
        <p:nvSpPr>
          <p:cNvPr id="7" name="矩形 6"/>
          <p:cNvSpPr/>
          <p:nvPr/>
        </p:nvSpPr>
        <p:spPr>
          <a:xfrm>
            <a:off x="5700257" y="6381328"/>
            <a:ext cx="297619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 smtClean="0">
                <a:solidFill>
                  <a:srgbClr val="1F497D">
                    <a:lumMod val="75000"/>
                  </a:srgbClr>
                </a:solidFill>
                <a:latin typeface="Cambria" pitchFamily="18" charset="0"/>
              </a:rPr>
              <a:t>http://www.unigrid.org.tw/</a:t>
            </a:r>
            <a:endParaRPr lang="zh-TW" altLang="en-US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Taiwan </a:t>
            </a:r>
            <a:r>
              <a:rPr lang="en-US" altLang="zh-TW" dirty="0" err="1" smtClean="0"/>
              <a:t>UniGrid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5554960" cy="4525963"/>
          </a:xfrm>
        </p:spPr>
        <p:txBody>
          <a:bodyPr>
            <a:normAutofit fontScale="92500"/>
          </a:bodyPr>
          <a:lstStyle/>
          <a:p>
            <a:r>
              <a:rPr lang="en-US" altLang="zh-TW" dirty="0" smtClean="0">
                <a:ea typeface="新細明體" pitchFamily="18" charset="-120"/>
              </a:rPr>
              <a:t>Motivation</a:t>
            </a:r>
          </a:p>
          <a:p>
            <a:pPr lvl="1"/>
            <a:r>
              <a:rPr lang="en-US" altLang="zh-TW" dirty="0" smtClean="0"/>
              <a:t>Integrate computers from universities and research institutes in Taiwan to form a general purpose Grid platform for researchers in Taiwan to conduct Grid related research</a:t>
            </a:r>
          </a:p>
          <a:p>
            <a:endParaRPr lang="en-US" altLang="zh-TW" dirty="0" smtClean="0">
              <a:ea typeface="新細明體" pitchFamily="18" charset="-120"/>
            </a:endParaRPr>
          </a:p>
          <a:p>
            <a:r>
              <a:rPr lang="en-US" altLang="zh-TW" dirty="0" smtClean="0">
                <a:ea typeface="新細明體" pitchFamily="18" charset="-120"/>
              </a:rPr>
              <a:t>All participating institutes contribute some resources to collaborate for large scale applications</a:t>
            </a:r>
          </a:p>
          <a:p>
            <a:endParaRPr lang="zh-TW" altLang="en-US" dirty="0"/>
          </a:p>
        </p:txBody>
      </p:sp>
      <p:pic>
        <p:nvPicPr>
          <p:cNvPr id="5" name="Picture 9" descr="unigrid location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>
          <a:xfrm>
            <a:off x="5940152" y="1628800"/>
            <a:ext cx="2657475" cy="4830763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/>
              <a:t>Basic System Architecture</a:t>
            </a:r>
            <a:endParaRPr lang="zh-TW" altLang="en-US" dirty="0"/>
          </a:p>
        </p:txBody>
      </p:sp>
      <p:grpSp>
        <p:nvGrpSpPr>
          <p:cNvPr id="10" name="內容版面配置區 9"/>
          <p:cNvGrpSpPr>
            <a:grpSpLocks noGrp="1"/>
          </p:cNvGrpSpPr>
          <p:nvPr>
            <p:ph idx="1"/>
          </p:nvPr>
        </p:nvGrpSpPr>
        <p:grpSpPr>
          <a:xfrm>
            <a:off x="457200" y="1600200"/>
            <a:ext cx="8229600" cy="4525963"/>
            <a:chOff x="7281807" y="16832230"/>
            <a:chExt cx="11534856" cy="5143536"/>
          </a:xfrm>
        </p:grpSpPr>
        <p:sp>
          <p:nvSpPr>
            <p:cNvPr id="11" name="矩形 10"/>
            <p:cNvSpPr/>
            <p:nvPr/>
          </p:nvSpPr>
          <p:spPr>
            <a:xfrm>
              <a:off x="7281807" y="18618180"/>
              <a:ext cx="11534856" cy="1071570"/>
            </a:xfrm>
            <a:prstGeom prst="rect">
              <a:avLst/>
            </a:prstGeom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TW" sz="2800" b="1" dirty="0" smtClean="0">
                  <a:solidFill>
                    <a:srgbClr val="0000FF"/>
                  </a:solidFill>
                </a:rPr>
                <a:t>Middleware</a:t>
              </a:r>
              <a:endParaRPr lang="zh-TW" altLang="en-US" sz="2800" b="1" dirty="0">
                <a:solidFill>
                  <a:srgbClr val="0000FF"/>
                </a:solidFill>
              </a:endParaRPr>
            </a:p>
          </p:txBody>
        </p:sp>
        <p:grpSp>
          <p:nvGrpSpPr>
            <p:cNvPr id="12" name="群組 70"/>
            <p:cNvGrpSpPr/>
            <p:nvPr/>
          </p:nvGrpSpPr>
          <p:grpSpPr>
            <a:xfrm>
              <a:off x="7281807" y="19689750"/>
              <a:ext cx="3429024" cy="2286016"/>
              <a:chOff x="7281807" y="19689750"/>
              <a:chExt cx="3429024" cy="2286016"/>
            </a:xfrm>
          </p:grpSpPr>
          <p:sp>
            <p:nvSpPr>
              <p:cNvPr id="23" name="矩形 22"/>
              <p:cNvSpPr/>
              <p:nvPr/>
            </p:nvSpPr>
            <p:spPr>
              <a:xfrm>
                <a:off x="7281807" y="19689750"/>
                <a:ext cx="3429024" cy="1233494"/>
              </a:xfrm>
              <a:prstGeom prst="rect">
                <a:avLst/>
              </a:prstGeom>
              <a:scene3d>
                <a:camera prst="orthographicFront"/>
                <a:lightRig rig="threePt" dir="t"/>
              </a:scene3d>
              <a:sp3d>
                <a:bevelT/>
              </a:sp3d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anchor="ctr"/>
              <a:lstStyle/>
              <a:p>
                <a:pPr algn="ctr">
                  <a:defRPr/>
                </a:pPr>
                <a:r>
                  <a:rPr lang="en-US" altLang="zh-TW" sz="2400" dirty="0"/>
                  <a:t>Machine/Cluster</a:t>
                </a:r>
                <a:endParaRPr lang="zh-TW" altLang="en-US" sz="2400" dirty="0"/>
              </a:p>
            </p:txBody>
          </p:sp>
          <p:sp>
            <p:nvSpPr>
              <p:cNvPr id="24" name="矩形 23"/>
              <p:cNvSpPr/>
              <p:nvPr/>
            </p:nvSpPr>
            <p:spPr>
              <a:xfrm>
                <a:off x="7281807" y="20923244"/>
                <a:ext cx="1857388" cy="1052522"/>
              </a:xfrm>
              <a:prstGeom prst="rect">
                <a:avLst/>
              </a:prstGeom>
              <a:scene3d>
                <a:camera prst="orthographicFront"/>
                <a:lightRig rig="threePt" dir="t"/>
              </a:scene3d>
              <a:sp3d>
                <a:bevelT/>
              </a:sp3d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r>
                  <a:rPr lang="en-US" altLang="zh-TW" dirty="0"/>
                  <a:t>Computing</a:t>
                </a:r>
                <a:endParaRPr lang="zh-TW" altLang="en-US" sz="2400" dirty="0"/>
              </a:p>
            </p:txBody>
          </p:sp>
          <p:sp>
            <p:nvSpPr>
              <p:cNvPr id="25" name="矩形 24"/>
              <p:cNvSpPr/>
              <p:nvPr/>
            </p:nvSpPr>
            <p:spPr>
              <a:xfrm>
                <a:off x="9139195" y="20923244"/>
                <a:ext cx="1571636" cy="1052522"/>
              </a:xfrm>
              <a:prstGeom prst="rect">
                <a:avLst/>
              </a:prstGeom>
              <a:scene3d>
                <a:camera prst="orthographicFront"/>
                <a:lightRig rig="threePt" dir="t"/>
              </a:scene3d>
              <a:sp3d>
                <a:bevelT/>
              </a:sp3d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r>
                  <a:rPr lang="en-US" altLang="zh-TW" dirty="0"/>
                  <a:t>Storage</a:t>
                </a:r>
                <a:endParaRPr lang="zh-TW" altLang="en-US" sz="2400" dirty="0"/>
              </a:p>
            </p:txBody>
          </p:sp>
        </p:grpSp>
        <p:sp>
          <p:nvSpPr>
            <p:cNvPr id="13" name="矩形 12"/>
            <p:cNvSpPr/>
            <p:nvPr/>
          </p:nvSpPr>
          <p:spPr>
            <a:xfrm>
              <a:off x="7281807" y="17689486"/>
              <a:ext cx="11534856" cy="928694"/>
            </a:xfrm>
            <a:prstGeom prst="rect">
              <a:avLst/>
            </a:prstGeom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TW" sz="2800" b="1" dirty="0">
                  <a:solidFill>
                    <a:srgbClr val="0000FF"/>
                  </a:solidFill>
                </a:rPr>
                <a:t>Services</a:t>
              </a:r>
              <a:endParaRPr lang="zh-TW" altLang="en-US" sz="2800" b="1" dirty="0">
                <a:solidFill>
                  <a:srgbClr val="0000FF"/>
                </a:solidFill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7281807" y="16832230"/>
              <a:ext cx="11534856" cy="857256"/>
            </a:xfrm>
            <a:prstGeom prst="rect">
              <a:avLst/>
            </a:prstGeom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TW" sz="2800" b="1" dirty="0">
                  <a:solidFill>
                    <a:srgbClr val="0000FF"/>
                  </a:solidFill>
                </a:rPr>
                <a:t>User Interface</a:t>
              </a:r>
              <a:endParaRPr lang="zh-TW" altLang="en-US" sz="2800" b="1" dirty="0">
                <a:solidFill>
                  <a:srgbClr val="0000FF"/>
                </a:solidFill>
              </a:endParaRPr>
            </a:p>
          </p:txBody>
        </p:sp>
        <p:grpSp>
          <p:nvGrpSpPr>
            <p:cNvPr id="15" name="群組 68"/>
            <p:cNvGrpSpPr/>
            <p:nvPr/>
          </p:nvGrpSpPr>
          <p:grpSpPr>
            <a:xfrm>
              <a:off x="15383670" y="19689750"/>
              <a:ext cx="3429025" cy="2286016"/>
              <a:chOff x="15383670" y="19689750"/>
              <a:chExt cx="3429025" cy="2286016"/>
            </a:xfrm>
          </p:grpSpPr>
          <p:sp>
            <p:nvSpPr>
              <p:cNvPr id="20" name="矩形 19"/>
              <p:cNvSpPr/>
              <p:nvPr/>
            </p:nvSpPr>
            <p:spPr>
              <a:xfrm>
                <a:off x="15383670" y="19689750"/>
                <a:ext cx="3429024" cy="1233494"/>
              </a:xfrm>
              <a:prstGeom prst="rect">
                <a:avLst/>
              </a:prstGeom>
              <a:scene3d>
                <a:camera prst="orthographicFront"/>
                <a:lightRig rig="threePt" dir="t"/>
              </a:scene3d>
              <a:sp3d>
                <a:bevelT/>
              </a:sp3d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anchor="ctr"/>
              <a:lstStyle/>
              <a:p>
                <a:pPr algn="ctr">
                  <a:defRPr/>
                </a:pPr>
                <a:r>
                  <a:rPr lang="en-US" altLang="zh-TW" sz="2400" dirty="0"/>
                  <a:t>Machine/Cluster</a:t>
                </a:r>
                <a:endParaRPr lang="zh-TW" altLang="en-US" sz="2400" dirty="0"/>
              </a:p>
            </p:txBody>
          </p:sp>
          <p:sp>
            <p:nvSpPr>
              <p:cNvPr id="21" name="矩形 20"/>
              <p:cNvSpPr/>
              <p:nvPr/>
            </p:nvSpPr>
            <p:spPr>
              <a:xfrm>
                <a:off x="15383670" y="20923244"/>
                <a:ext cx="1857388" cy="1052522"/>
              </a:xfrm>
              <a:prstGeom prst="rect">
                <a:avLst/>
              </a:prstGeom>
              <a:scene3d>
                <a:camera prst="orthographicFront"/>
                <a:lightRig rig="threePt" dir="t"/>
              </a:scene3d>
              <a:sp3d>
                <a:bevelT/>
              </a:sp3d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r>
                  <a:rPr lang="en-US" altLang="zh-TW" dirty="0"/>
                  <a:t>Computing</a:t>
                </a:r>
                <a:endParaRPr lang="zh-TW" altLang="en-US" sz="2400" dirty="0"/>
              </a:p>
            </p:txBody>
          </p:sp>
          <p:sp>
            <p:nvSpPr>
              <p:cNvPr id="22" name="矩形 21"/>
              <p:cNvSpPr/>
              <p:nvPr/>
            </p:nvSpPr>
            <p:spPr>
              <a:xfrm>
                <a:off x="17241059" y="20923244"/>
                <a:ext cx="1571636" cy="1052522"/>
              </a:xfrm>
              <a:prstGeom prst="rect">
                <a:avLst/>
              </a:prstGeom>
              <a:scene3d>
                <a:camera prst="orthographicFront"/>
                <a:lightRig rig="threePt" dir="t"/>
              </a:scene3d>
              <a:sp3d>
                <a:bevelT/>
              </a:sp3d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r>
                  <a:rPr lang="en-US" altLang="zh-TW" dirty="0"/>
                  <a:t>Storage</a:t>
                </a:r>
                <a:endParaRPr lang="zh-TW" altLang="en-US" sz="2400" dirty="0"/>
              </a:p>
            </p:txBody>
          </p:sp>
        </p:grpSp>
        <p:grpSp>
          <p:nvGrpSpPr>
            <p:cNvPr id="16" name="群組 69"/>
            <p:cNvGrpSpPr/>
            <p:nvPr/>
          </p:nvGrpSpPr>
          <p:grpSpPr>
            <a:xfrm>
              <a:off x="11332738" y="19689750"/>
              <a:ext cx="3429024" cy="2286016"/>
              <a:chOff x="11332738" y="19689750"/>
              <a:chExt cx="3429024" cy="2286016"/>
            </a:xfrm>
          </p:grpSpPr>
          <p:sp>
            <p:nvSpPr>
              <p:cNvPr id="17" name="矩形 16"/>
              <p:cNvSpPr/>
              <p:nvPr/>
            </p:nvSpPr>
            <p:spPr>
              <a:xfrm>
                <a:off x="11332738" y="19689750"/>
                <a:ext cx="3429024" cy="1233494"/>
              </a:xfrm>
              <a:prstGeom prst="rect">
                <a:avLst/>
              </a:prstGeom>
              <a:scene3d>
                <a:camera prst="orthographicFront"/>
                <a:lightRig rig="threePt" dir="t"/>
              </a:scene3d>
              <a:sp3d>
                <a:bevelT/>
              </a:sp3d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anchor="ctr"/>
              <a:lstStyle/>
              <a:p>
                <a:pPr algn="ctr">
                  <a:defRPr/>
                </a:pPr>
                <a:r>
                  <a:rPr lang="en-US" altLang="zh-TW" sz="2400" dirty="0"/>
                  <a:t>Machine/Cluster</a:t>
                </a:r>
                <a:endParaRPr lang="zh-TW" altLang="en-US" sz="2400" dirty="0"/>
              </a:p>
            </p:txBody>
          </p:sp>
          <p:sp>
            <p:nvSpPr>
              <p:cNvPr id="18" name="矩形 17"/>
              <p:cNvSpPr/>
              <p:nvPr/>
            </p:nvSpPr>
            <p:spPr>
              <a:xfrm>
                <a:off x="11332738" y="20923244"/>
                <a:ext cx="1857388" cy="1052522"/>
              </a:xfrm>
              <a:prstGeom prst="rect">
                <a:avLst/>
              </a:prstGeom>
              <a:scene3d>
                <a:camera prst="orthographicFront"/>
                <a:lightRig rig="threePt" dir="t"/>
              </a:scene3d>
              <a:sp3d>
                <a:bevelT/>
              </a:sp3d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r>
                  <a:rPr lang="en-US" altLang="zh-TW" dirty="0"/>
                  <a:t>Computing</a:t>
                </a:r>
                <a:endParaRPr lang="zh-TW" altLang="en-US" sz="2400" dirty="0"/>
              </a:p>
            </p:txBody>
          </p:sp>
          <p:sp>
            <p:nvSpPr>
              <p:cNvPr id="19" name="矩形 18"/>
              <p:cNvSpPr/>
              <p:nvPr/>
            </p:nvSpPr>
            <p:spPr>
              <a:xfrm>
                <a:off x="13190126" y="20923244"/>
                <a:ext cx="1571636" cy="1052522"/>
              </a:xfrm>
              <a:prstGeom prst="rect">
                <a:avLst/>
              </a:prstGeom>
              <a:scene3d>
                <a:camera prst="orthographicFront"/>
                <a:lightRig rig="threePt" dir="t"/>
              </a:scene3d>
              <a:sp3d>
                <a:bevelT/>
              </a:sp3d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r>
                  <a:rPr lang="en-US" altLang="zh-TW" dirty="0"/>
                  <a:t>Storage</a:t>
                </a:r>
                <a:endParaRPr lang="zh-TW" altLang="en-US" sz="2400" dirty="0"/>
              </a:p>
            </p:txBody>
          </p:sp>
        </p:grpSp>
      </p:grp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 err="1" smtClean="0"/>
              <a:t>UniGrid</a:t>
            </a:r>
            <a:r>
              <a:rPr lang="en-US" altLang="zh-TW" dirty="0" smtClean="0"/>
              <a:t> System Architecture</a:t>
            </a:r>
            <a:endParaRPr lang="zh-TW" altLang="en-US" dirty="0"/>
          </a:p>
        </p:txBody>
      </p:sp>
      <p:grpSp>
        <p:nvGrpSpPr>
          <p:cNvPr id="6" name="內容版面配置區 5"/>
          <p:cNvGrpSpPr>
            <a:grpSpLocks noGrp="1"/>
          </p:cNvGrpSpPr>
          <p:nvPr>
            <p:ph idx="1"/>
          </p:nvPr>
        </p:nvGrpSpPr>
        <p:grpSpPr>
          <a:xfrm>
            <a:off x="457200" y="1600200"/>
            <a:ext cx="8229600" cy="5069160"/>
            <a:chOff x="17211689" y="8974050"/>
            <a:chExt cx="12644526" cy="8215370"/>
          </a:xfrm>
        </p:grpSpPr>
        <p:sp>
          <p:nvSpPr>
            <p:cNvPr id="7" name="圓角矩形 6"/>
            <p:cNvSpPr/>
            <p:nvPr/>
          </p:nvSpPr>
          <p:spPr>
            <a:xfrm>
              <a:off x="17211689" y="8974050"/>
              <a:ext cx="12644526" cy="1389257"/>
            </a:xfrm>
            <a:prstGeom prst="roundRect">
              <a:avLst>
                <a:gd name="adj" fmla="val 8818"/>
              </a:avLst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lIns="0" tIns="0" rIns="0" bIns="0" rtlCol="0" anchor="t" anchorCtr="0"/>
            <a:lstStyle/>
            <a:p>
              <a:pPr algn="ctr"/>
              <a:r>
                <a:rPr lang="en-US" altLang="zh-TW" sz="2000" b="1" dirty="0" smtClean="0"/>
                <a:t>Portal</a:t>
              </a:r>
            </a:p>
          </p:txBody>
        </p:sp>
        <p:sp>
          <p:nvSpPr>
            <p:cNvPr id="9" name="圓角矩形 8"/>
            <p:cNvSpPr/>
            <p:nvPr/>
          </p:nvSpPr>
          <p:spPr>
            <a:xfrm>
              <a:off x="17211689" y="11121006"/>
              <a:ext cx="3816001" cy="3620436"/>
            </a:xfrm>
            <a:prstGeom prst="roundRect">
              <a:avLst>
                <a:gd name="adj" fmla="val 8818"/>
              </a:avLst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lIns="0" tIns="0" rIns="0" bIns="0" rtlCol="0" anchor="t" anchorCtr="0"/>
            <a:lstStyle/>
            <a:p>
              <a:pPr algn="ctr"/>
              <a:r>
                <a:rPr lang="en-US" altLang="zh-TW" sz="2000" b="1" dirty="0" smtClean="0"/>
                <a:t>Storage Service</a:t>
              </a:r>
            </a:p>
          </p:txBody>
        </p:sp>
        <p:sp>
          <p:nvSpPr>
            <p:cNvPr id="10" name="矩形 9"/>
            <p:cNvSpPr/>
            <p:nvPr/>
          </p:nvSpPr>
          <p:spPr>
            <a:xfrm>
              <a:off x="17497441" y="9274096"/>
              <a:ext cx="3240000" cy="9000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dirty="0" smtClean="0"/>
                <a:t>Data Management</a:t>
              </a:r>
              <a:endParaRPr lang="zh-TW" altLang="en-US" dirty="0"/>
            </a:p>
          </p:txBody>
        </p:sp>
        <p:sp>
          <p:nvSpPr>
            <p:cNvPr id="11" name="矩形 10"/>
            <p:cNvSpPr/>
            <p:nvPr/>
          </p:nvSpPr>
          <p:spPr>
            <a:xfrm>
              <a:off x="26330463" y="9274096"/>
              <a:ext cx="3240000" cy="9000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dirty="0" smtClean="0"/>
                <a:t>Workflow</a:t>
              </a:r>
              <a:br>
                <a:rPr lang="en-US" altLang="zh-TW" dirty="0" smtClean="0"/>
              </a:br>
              <a:r>
                <a:rPr lang="en-US" altLang="zh-TW" dirty="0" smtClean="0"/>
                <a:t>Management</a:t>
              </a:r>
              <a:endParaRPr lang="zh-TW" altLang="en-US" dirty="0"/>
            </a:p>
          </p:txBody>
        </p:sp>
        <p:sp>
          <p:nvSpPr>
            <p:cNvPr id="12" name="圓角矩形 11"/>
            <p:cNvSpPr/>
            <p:nvPr/>
          </p:nvSpPr>
          <p:spPr>
            <a:xfrm>
              <a:off x="21625952" y="11121006"/>
              <a:ext cx="3816001" cy="3620436"/>
            </a:xfrm>
            <a:prstGeom prst="roundRect">
              <a:avLst>
                <a:gd name="adj" fmla="val 8818"/>
              </a:avLst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lIns="0" tIns="0" rIns="0" bIns="0" rtlCol="0" anchor="t" anchorCtr="0"/>
            <a:lstStyle/>
            <a:p>
              <a:pPr algn="ctr"/>
              <a:r>
                <a:rPr lang="en-US" altLang="zh-TW" sz="2000" b="1" dirty="0" smtClean="0"/>
                <a:t>Information Service</a:t>
              </a:r>
            </a:p>
          </p:txBody>
        </p:sp>
        <p:sp>
          <p:nvSpPr>
            <p:cNvPr id="13" name="圓角矩形 12"/>
            <p:cNvSpPr/>
            <p:nvPr/>
          </p:nvSpPr>
          <p:spPr>
            <a:xfrm>
              <a:off x="26040214" y="11121006"/>
              <a:ext cx="3816001" cy="3620436"/>
            </a:xfrm>
            <a:prstGeom prst="roundRect">
              <a:avLst>
                <a:gd name="adj" fmla="val 8818"/>
              </a:avLst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lIns="0" tIns="0" rIns="0" bIns="0" rtlCol="0" anchor="t" anchorCtr="0"/>
            <a:lstStyle/>
            <a:p>
              <a:pPr algn="ctr"/>
              <a:r>
                <a:rPr lang="en-US" altLang="zh-TW" sz="2000" b="1" dirty="0" smtClean="0"/>
                <a:t>Computing Service</a:t>
              </a:r>
            </a:p>
          </p:txBody>
        </p:sp>
        <p:sp>
          <p:nvSpPr>
            <p:cNvPr id="14" name="矩形 13"/>
            <p:cNvSpPr/>
            <p:nvPr/>
          </p:nvSpPr>
          <p:spPr>
            <a:xfrm>
              <a:off x="26330463" y="13574776"/>
              <a:ext cx="3240000" cy="9000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dirty="0" smtClean="0"/>
                <a:t>Resource Broker</a:t>
              </a:r>
              <a:endParaRPr lang="zh-TW" altLang="en-US" dirty="0"/>
            </a:p>
          </p:txBody>
        </p:sp>
        <p:sp>
          <p:nvSpPr>
            <p:cNvPr id="15" name="矩形 14"/>
            <p:cNvSpPr/>
            <p:nvPr/>
          </p:nvSpPr>
          <p:spPr>
            <a:xfrm>
              <a:off x="26330463" y="12217454"/>
              <a:ext cx="3240000" cy="9000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dirty="0" smtClean="0"/>
                <a:t>Global Queue</a:t>
              </a:r>
              <a:endParaRPr lang="zh-TW" altLang="en-US" dirty="0"/>
            </a:p>
          </p:txBody>
        </p:sp>
        <p:sp>
          <p:nvSpPr>
            <p:cNvPr id="16" name="矩形 15"/>
            <p:cNvSpPr/>
            <p:nvPr/>
          </p:nvSpPr>
          <p:spPr>
            <a:xfrm>
              <a:off x="21926597" y="13574776"/>
              <a:ext cx="3240000" cy="9000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dirty="0" smtClean="0"/>
                <a:t>Visualization Tool</a:t>
              </a:r>
              <a:endParaRPr lang="zh-TW" altLang="en-US" dirty="0"/>
            </a:p>
          </p:txBody>
        </p:sp>
        <p:sp>
          <p:nvSpPr>
            <p:cNvPr id="17" name="矩形 16"/>
            <p:cNvSpPr/>
            <p:nvPr/>
          </p:nvSpPr>
          <p:spPr>
            <a:xfrm>
              <a:off x="21926597" y="12217454"/>
              <a:ext cx="3240000" cy="9000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dirty="0" smtClean="0"/>
                <a:t>Information Monitor</a:t>
              </a:r>
              <a:endParaRPr lang="zh-TW" altLang="en-US" dirty="0"/>
            </a:p>
          </p:txBody>
        </p:sp>
        <p:sp>
          <p:nvSpPr>
            <p:cNvPr id="18" name="矩形 17"/>
            <p:cNvSpPr/>
            <p:nvPr/>
          </p:nvSpPr>
          <p:spPr>
            <a:xfrm>
              <a:off x="17497441" y="13574776"/>
              <a:ext cx="3240000" cy="9000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dirty="0" smtClean="0"/>
                <a:t>Replica Service</a:t>
              </a:r>
              <a:endParaRPr lang="zh-TW" altLang="en-US" dirty="0"/>
            </a:p>
          </p:txBody>
        </p:sp>
        <p:sp>
          <p:nvSpPr>
            <p:cNvPr id="19" name="矩形 18"/>
            <p:cNvSpPr/>
            <p:nvPr/>
          </p:nvSpPr>
          <p:spPr>
            <a:xfrm>
              <a:off x="17497441" y="12217454"/>
              <a:ext cx="3240000" cy="9000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dirty="0" smtClean="0"/>
                <a:t>Virtual Storage Service</a:t>
              </a:r>
              <a:endParaRPr lang="zh-TW" altLang="en-US" dirty="0"/>
            </a:p>
          </p:txBody>
        </p:sp>
        <p:sp>
          <p:nvSpPr>
            <p:cNvPr id="20" name="圓角矩形 19"/>
            <p:cNvSpPr/>
            <p:nvPr/>
          </p:nvSpPr>
          <p:spPr>
            <a:xfrm>
              <a:off x="17211689" y="15555616"/>
              <a:ext cx="12644526" cy="1633804"/>
            </a:xfrm>
            <a:prstGeom prst="roundRect">
              <a:avLst>
                <a:gd name="adj" fmla="val 8818"/>
              </a:avLst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tIns="0" rIns="0" bIns="0" rtlCol="0" anchor="t" anchorCtr="0"/>
            <a:lstStyle/>
            <a:p>
              <a:pPr algn="ctr"/>
              <a:r>
                <a:rPr lang="en-US" altLang="zh-TW" sz="2000" b="1" dirty="0" err="1" smtClean="0"/>
                <a:t>UniGrid</a:t>
              </a:r>
              <a:r>
                <a:rPr lang="en-US" altLang="zh-TW" sz="2000" b="1" dirty="0" smtClean="0"/>
                <a:t> Middleware</a:t>
              </a:r>
            </a:p>
          </p:txBody>
        </p:sp>
        <p:sp>
          <p:nvSpPr>
            <p:cNvPr id="21" name="矩形 20"/>
            <p:cNvSpPr/>
            <p:nvPr/>
          </p:nvSpPr>
          <p:spPr>
            <a:xfrm>
              <a:off x="21926596" y="16172720"/>
              <a:ext cx="3240000" cy="899999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dirty="0" err="1" smtClean="0"/>
                <a:t>Unibox</a:t>
              </a:r>
              <a:endParaRPr lang="zh-TW" altLang="en-US" dirty="0"/>
            </a:p>
          </p:txBody>
        </p:sp>
        <p:cxnSp>
          <p:nvCxnSpPr>
            <p:cNvPr id="22" name="直線單箭頭接點 21"/>
            <p:cNvCxnSpPr>
              <a:stCxn id="10" idx="3"/>
              <a:endCxn id="11" idx="1"/>
            </p:cNvCxnSpPr>
            <p:nvPr/>
          </p:nvCxnSpPr>
          <p:spPr>
            <a:xfrm>
              <a:off x="20737441" y="9724096"/>
              <a:ext cx="5593022" cy="1588"/>
            </a:xfrm>
            <a:prstGeom prst="straightConnector1">
              <a:avLst/>
            </a:prstGeom>
            <a:ln>
              <a:prstDash val="dash"/>
              <a:headEnd type="arrow"/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3" name="直線單箭頭接點 22"/>
            <p:cNvCxnSpPr>
              <a:stCxn id="12" idx="0"/>
              <a:endCxn id="7" idx="2"/>
            </p:cNvCxnSpPr>
            <p:nvPr/>
          </p:nvCxnSpPr>
          <p:spPr>
            <a:xfrm rot="16200000" flipV="1">
              <a:off x="23155104" y="10742154"/>
              <a:ext cx="757699" cy="2"/>
            </a:xfrm>
            <a:prstGeom prst="straightConnector1">
              <a:avLst/>
            </a:prstGeom>
            <a:ln>
              <a:headEnd type="arrow"/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4" name="直線單箭頭接點 23"/>
            <p:cNvCxnSpPr>
              <a:stCxn id="13" idx="0"/>
            </p:cNvCxnSpPr>
            <p:nvPr/>
          </p:nvCxnSpPr>
          <p:spPr>
            <a:xfrm rot="5400000" flipH="1" flipV="1">
              <a:off x="27603744" y="10765275"/>
              <a:ext cx="700202" cy="11259"/>
            </a:xfrm>
            <a:prstGeom prst="straightConnector1">
              <a:avLst/>
            </a:prstGeom>
            <a:ln>
              <a:headEnd type="arrow"/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直線單箭頭接點 24"/>
            <p:cNvCxnSpPr>
              <a:stCxn id="9" idx="0"/>
            </p:cNvCxnSpPr>
            <p:nvPr/>
          </p:nvCxnSpPr>
          <p:spPr>
            <a:xfrm rot="16200000" flipV="1">
              <a:off x="18763960" y="10765274"/>
              <a:ext cx="700202" cy="11261"/>
            </a:xfrm>
            <a:prstGeom prst="straightConnector1">
              <a:avLst/>
            </a:prstGeom>
            <a:ln>
              <a:headEnd type="arrow"/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6" name="直線單箭頭接點 25"/>
            <p:cNvCxnSpPr>
              <a:stCxn id="12" idx="3"/>
              <a:endCxn id="13" idx="1"/>
            </p:cNvCxnSpPr>
            <p:nvPr/>
          </p:nvCxnSpPr>
          <p:spPr>
            <a:xfrm>
              <a:off x="25441953" y="12931225"/>
              <a:ext cx="598261" cy="2574"/>
            </a:xfrm>
            <a:prstGeom prst="straightConnector1">
              <a:avLst/>
            </a:prstGeom>
            <a:ln>
              <a:headEnd type="arrow"/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7" name="直線單箭頭接點 26"/>
            <p:cNvCxnSpPr>
              <a:stCxn id="9" idx="3"/>
              <a:endCxn id="12" idx="1"/>
            </p:cNvCxnSpPr>
            <p:nvPr/>
          </p:nvCxnSpPr>
          <p:spPr>
            <a:xfrm>
              <a:off x="21027690" y="12931225"/>
              <a:ext cx="598263" cy="2574"/>
            </a:xfrm>
            <a:prstGeom prst="straightConnector1">
              <a:avLst/>
            </a:prstGeom>
            <a:ln>
              <a:headEnd type="arrow"/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8" name="直線單箭頭接點 27"/>
            <p:cNvCxnSpPr>
              <a:stCxn id="20" idx="0"/>
              <a:endCxn id="12" idx="2"/>
            </p:cNvCxnSpPr>
            <p:nvPr/>
          </p:nvCxnSpPr>
          <p:spPr>
            <a:xfrm rot="5400000" flipH="1" flipV="1">
              <a:off x="23126866" y="15148530"/>
              <a:ext cx="814174" cy="2"/>
            </a:xfrm>
            <a:prstGeom prst="straightConnector1">
              <a:avLst/>
            </a:prstGeom>
            <a:ln>
              <a:headEnd type="arrow"/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9" name="直線單箭頭接點 28"/>
            <p:cNvCxnSpPr>
              <a:stCxn id="9" idx="2"/>
            </p:cNvCxnSpPr>
            <p:nvPr/>
          </p:nvCxnSpPr>
          <p:spPr>
            <a:xfrm rot="5400000">
              <a:off x="18706974" y="15142899"/>
              <a:ext cx="814174" cy="11261"/>
            </a:xfrm>
            <a:prstGeom prst="straightConnector1">
              <a:avLst/>
            </a:prstGeom>
            <a:ln>
              <a:headEnd type="arrow"/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30" name="直線單箭頭接點 29"/>
            <p:cNvCxnSpPr>
              <a:stCxn id="13" idx="2"/>
            </p:cNvCxnSpPr>
            <p:nvPr/>
          </p:nvCxnSpPr>
          <p:spPr>
            <a:xfrm rot="16200000" flipH="1">
              <a:off x="27546759" y="15142899"/>
              <a:ext cx="814174" cy="11259"/>
            </a:xfrm>
            <a:prstGeom prst="straightConnector1">
              <a:avLst/>
            </a:prstGeom>
            <a:ln>
              <a:headEnd type="arrow"/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Major Services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TW" dirty="0" smtClean="0"/>
              <a:t>Portal &amp; Single-Sign-On</a:t>
            </a:r>
          </a:p>
          <a:p>
            <a:pPr lvl="1"/>
            <a:r>
              <a:rPr lang="en-US" altLang="zh-TW" dirty="0" smtClean="0"/>
              <a:t>Provide an interface for legal users to use available resources and services in the </a:t>
            </a:r>
            <a:r>
              <a:rPr lang="en-US" altLang="zh-TW" dirty="0" err="1" smtClean="0"/>
              <a:t>UniGrid</a:t>
            </a:r>
            <a:r>
              <a:rPr lang="en-US" altLang="zh-TW" dirty="0" smtClean="0"/>
              <a:t> system</a:t>
            </a:r>
          </a:p>
          <a:p>
            <a:r>
              <a:rPr lang="en-US" altLang="zh-TW" dirty="0" smtClean="0"/>
              <a:t>Computing service</a:t>
            </a:r>
          </a:p>
          <a:p>
            <a:pPr lvl="1"/>
            <a:r>
              <a:rPr lang="en-US" altLang="zh-TW" dirty="0" smtClean="0"/>
              <a:t>Deal with the job execution process including the automatically scheduling  and management policy</a:t>
            </a:r>
          </a:p>
          <a:p>
            <a:r>
              <a:rPr lang="en-US" altLang="zh-TW" dirty="0" smtClean="0"/>
              <a:t>Storage service</a:t>
            </a:r>
          </a:p>
          <a:p>
            <a:pPr lvl="1"/>
            <a:r>
              <a:rPr lang="en-US" altLang="zh-TW" dirty="0" smtClean="0"/>
              <a:t>Provide a collaborative storage space for </a:t>
            </a:r>
            <a:r>
              <a:rPr lang="en-US" altLang="zh-TW" dirty="0" err="1" smtClean="0"/>
              <a:t>UniGrid</a:t>
            </a:r>
            <a:r>
              <a:rPr lang="en-US" altLang="zh-TW" dirty="0" smtClean="0"/>
              <a:t> users to share their files</a:t>
            </a:r>
          </a:p>
          <a:p>
            <a:r>
              <a:rPr lang="en-US" altLang="zh-TW" dirty="0" smtClean="0"/>
              <a:t>Information service</a:t>
            </a:r>
          </a:p>
          <a:p>
            <a:pPr lvl="1"/>
            <a:r>
              <a:rPr lang="en-US" altLang="zh-TW" dirty="0" smtClean="0"/>
              <a:t>Monitor and provide the information of resource status</a:t>
            </a:r>
            <a:endParaRPr lang="zh-TW" altLang="en-US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17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7504" y="836712"/>
            <a:ext cx="7533419" cy="56242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標題 5"/>
          <p:cNvSpPr>
            <a:spLocks noGrp="1"/>
          </p:cNvSpPr>
          <p:nvPr>
            <p:ph type="title"/>
          </p:nvPr>
        </p:nvSpPr>
        <p:spPr>
          <a:xfrm>
            <a:off x="457200" y="-27384"/>
            <a:ext cx="8229600" cy="1143000"/>
          </a:xfrm>
        </p:spPr>
        <p:txBody>
          <a:bodyPr/>
          <a:lstStyle/>
          <a:p>
            <a:r>
              <a:rPr lang="en-US" altLang="zh-TW" dirty="0" smtClean="0"/>
              <a:t>Screenshot</a:t>
            </a:r>
            <a:endParaRPr lang="zh-TW" altLang="en-US" dirty="0"/>
          </a:p>
        </p:txBody>
      </p:sp>
      <p:pic>
        <p:nvPicPr>
          <p:cNvPr id="11" name="Picture 6" descr="Figure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>
          <a:xfrm>
            <a:off x="5385598" y="836712"/>
            <a:ext cx="3650897" cy="5616624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8" name="Picture 10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>
          <a:xfrm>
            <a:off x="919061" y="1340768"/>
            <a:ext cx="7305879" cy="547984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0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3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out)">
                                      <p:cBhvr>
                                        <p:cTn id="1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 idx="4294967295"/>
          </p:nvPr>
        </p:nvSpPr>
        <p:spPr>
          <a:xfrm>
            <a:off x="0" y="274638"/>
            <a:ext cx="8229600" cy="1143000"/>
          </a:xfrm>
        </p:spPr>
        <p:txBody>
          <a:bodyPr/>
          <a:lstStyle/>
          <a:p>
            <a:r>
              <a:rPr lang="en-US" altLang="zh-TW" dirty="0" smtClean="0"/>
              <a:t>Computing Paradigm Evolution</a:t>
            </a:r>
            <a:endParaRPr lang="zh-TW" altLang="en-US" dirty="0"/>
          </a:p>
        </p:txBody>
      </p:sp>
      <p:grpSp>
        <p:nvGrpSpPr>
          <p:cNvPr id="495" name="群組 494"/>
          <p:cNvGrpSpPr/>
          <p:nvPr/>
        </p:nvGrpSpPr>
        <p:grpSpPr>
          <a:xfrm>
            <a:off x="500609" y="1218456"/>
            <a:ext cx="8142783" cy="5497278"/>
            <a:chOff x="683568" y="1218456"/>
            <a:chExt cx="8142783" cy="5497278"/>
          </a:xfrm>
        </p:grpSpPr>
        <p:pic>
          <p:nvPicPr>
            <p:cNvPr id="1507" name="Picture 2" descr="E:\CLIP_ART\BUSINESS\BUILDING\OFCBLD03.WMF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4768369" y="2554163"/>
              <a:ext cx="1013990" cy="802790"/>
            </a:xfrm>
            <a:prstGeom prst="rect">
              <a:avLst/>
            </a:prstGeom>
            <a:noFill/>
          </p:spPr>
        </p:pic>
        <p:grpSp>
          <p:nvGrpSpPr>
            <p:cNvPr id="3" name="Group 3"/>
            <p:cNvGrpSpPr>
              <a:grpSpLocks/>
            </p:cNvGrpSpPr>
            <p:nvPr/>
          </p:nvGrpSpPr>
          <p:grpSpPr bwMode="auto">
            <a:xfrm>
              <a:off x="1464297" y="4630342"/>
              <a:ext cx="1474654" cy="961335"/>
              <a:chOff x="913" y="2523"/>
              <a:chExt cx="1083" cy="743"/>
            </a:xfrm>
          </p:grpSpPr>
          <p:grpSp>
            <p:nvGrpSpPr>
              <p:cNvPr id="4" name="Group 4"/>
              <p:cNvGrpSpPr>
                <a:grpSpLocks/>
              </p:cNvGrpSpPr>
              <p:nvPr/>
            </p:nvGrpSpPr>
            <p:grpSpPr bwMode="auto">
              <a:xfrm>
                <a:off x="1150" y="3092"/>
                <a:ext cx="666" cy="126"/>
                <a:chOff x="1150" y="3092"/>
                <a:chExt cx="666" cy="126"/>
              </a:xfrm>
            </p:grpSpPr>
            <p:grpSp>
              <p:nvGrpSpPr>
                <p:cNvPr id="5" name="Group 5"/>
                <p:cNvGrpSpPr>
                  <a:grpSpLocks/>
                </p:cNvGrpSpPr>
                <p:nvPr/>
              </p:nvGrpSpPr>
              <p:grpSpPr bwMode="auto">
                <a:xfrm>
                  <a:off x="1150" y="3092"/>
                  <a:ext cx="666" cy="126"/>
                  <a:chOff x="1150" y="3092"/>
                  <a:chExt cx="666" cy="126"/>
                </a:xfrm>
              </p:grpSpPr>
              <p:sp>
                <p:nvSpPr>
                  <p:cNvPr id="2004" name="Rectangle 6"/>
                  <p:cNvSpPr>
                    <a:spLocks noChangeArrowheads="1"/>
                  </p:cNvSpPr>
                  <p:nvPr/>
                </p:nvSpPr>
                <p:spPr bwMode="auto">
                  <a:xfrm>
                    <a:off x="1154" y="3200"/>
                    <a:ext cx="656" cy="18"/>
                  </a:xfrm>
                  <a:prstGeom prst="rect">
                    <a:avLst/>
                  </a:prstGeom>
                  <a:solidFill>
                    <a:srgbClr val="C0C0C0"/>
                  </a:solidFill>
                  <a:ln w="12700">
                    <a:solidFill>
                      <a:srgbClr val="000000"/>
                    </a:solidFill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TW" altLang="en-US"/>
                  </a:p>
                </p:txBody>
              </p:sp>
              <p:sp>
                <p:nvSpPr>
                  <p:cNvPr id="2005" name="Freeform 7"/>
                  <p:cNvSpPr>
                    <a:spLocks/>
                  </p:cNvSpPr>
                  <p:nvPr/>
                </p:nvSpPr>
                <p:spPr bwMode="auto">
                  <a:xfrm>
                    <a:off x="1150" y="3092"/>
                    <a:ext cx="666" cy="107"/>
                  </a:xfrm>
                  <a:custGeom>
                    <a:avLst/>
                    <a:gdLst/>
                    <a:ahLst/>
                    <a:cxnLst>
                      <a:cxn ang="0">
                        <a:pos x="0" y="106"/>
                      </a:cxn>
                      <a:cxn ang="0">
                        <a:pos x="665" y="106"/>
                      </a:cxn>
                      <a:cxn ang="0">
                        <a:pos x="626" y="1"/>
                      </a:cxn>
                      <a:cxn ang="0">
                        <a:pos x="49" y="0"/>
                      </a:cxn>
                      <a:cxn ang="0">
                        <a:pos x="0" y="106"/>
                      </a:cxn>
                    </a:cxnLst>
                    <a:rect l="0" t="0" r="r" b="b"/>
                    <a:pathLst>
                      <a:path w="666" h="107">
                        <a:moveTo>
                          <a:pt x="0" y="106"/>
                        </a:moveTo>
                        <a:lnTo>
                          <a:pt x="665" y="106"/>
                        </a:lnTo>
                        <a:lnTo>
                          <a:pt x="626" y="1"/>
                        </a:lnTo>
                        <a:lnTo>
                          <a:pt x="49" y="0"/>
                        </a:lnTo>
                        <a:lnTo>
                          <a:pt x="0" y="106"/>
                        </a:lnTo>
                      </a:path>
                    </a:pathLst>
                  </a:custGeom>
                  <a:solidFill>
                    <a:srgbClr val="C0C0C0"/>
                  </a:solidFill>
                  <a:ln w="12700" cap="rnd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endParaRPr lang="zh-TW" altLang="en-US"/>
                  </a:p>
                </p:txBody>
              </p:sp>
              <p:sp>
                <p:nvSpPr>
                  <p:cNvPr id="2006" name="Freeform 8"/>
                  <p:cNvSpPr>
                    <a:spLocks/>
                  </p:cNvSpPr>
                  <p:nvPr/>
                </p:nvSpPr>
                <p:spPr bwMode="auto">
                  <a:xfrm>
                    <a:off x="1170" y="3104"/>
                    <a:ext cx="623" cy="81"/>
                  </a:xfrm>
                  <a:custGeom>
                    <a:avLst/>
                    <a:gdLst/>
                    <a:ahLst/>
                    <a:cxnLst>
                      <a:cxn ang="0">
                        <a:pos x="35" y="0"/>
                      </a:cxn>
                      <a:cxn ang="0">
                        <a:pos x="0" y="80"/>
                      </a:cxn>
                      <a:cxn ang="0">
                        <a:pos x="622" y="80"/>
                      </a:cxn>
                      <a:cxn ang="0">
                        <a:pos x="593" y="0"/>
                      </a:cxn>
                    </a:cxnLst>
                    <a:rect l="0" t="0" r="r" b="b"/>
                    <a:pathLst>
                      <a:path w="623" h="81">
                        <a:moveTo>
                          <a:pt x="35" y="0"/>
                        </a:moveTo>
                        <a:lnTo>
                          <a:pt x="0" y="80"/>
                        </a:lnTo>
                        <a:lnTo>
                          <a:pt x="622" y="80"/>
                        </a:lnTo>
                        <a:lnTo>
                          <a:pt x="593" y="0"/>
                        </a:lnTo>
                      </a:path>
                    </a:pathLst>
                  </a:custGeom>
                  <a:noFill/>
                  <a:ln w="12700" cap="rnd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endParaRPr lang="zh-TW" altLang="en-US"/>
                  </a:p>
                </p:txBody>
              </p:sp>
            </p:grpSp>
            <p:grpSp>
              <p:nvGrpSpPr>
                <p:cNvPr id="6" name="Group 9"/>
                <p:cNvGrpSpPr>
                  <a:grpSpLocks/>
                </p:cNvGrpSpPr>
                <p:nvPr/>
              </p:nvGrpSpPr>
              <p:grpSpPr bwMode="auto">
                <a:xfrm>
                  <a:off x="1222" y="3102"/>
                  <a:ext cx="525" cy="25"/>
                  <a:chOff x="1222" y="3102"/>
                  <a:chExt cx="525" cy="25"/>
                </a:xfrm>
              </p:grpSpPr>
              <p:sp>
                <p:nvSpPr>
                  <p:cNvPr id="1998" name="Freeform 10"/>
                  <p:cNvSpPr>
                    <a:spLocks/>
                  </p:cNvSpPr>
                  <p:nvPr/>
                </p:nvSpPr>
                <p:spPr bwMode="auto">
                  <a:xfrm>
                    <a:off x="1222" y="3102"/>
                    <a:ext cx="23" cy="17"/>
                  </a:xfrm>
                  <a:custGeom>
                    <a:avLst/>
                    <a:gdLst/>
                    <a:ahLst/>
                    <a:cxnLst>
                      <a:cxn ang="0">
                        <a:pos x="6" y="0"/>
                      </a:cxn>
                      <a:cxn ang="0">
                        <a:pos x="22" y="0"/>
                      </a:cxn>
                      <a:cxn ang="0">
                        <a:pos x="17" y="16"/>
                      </a:cxn>
                      <a:cxn ang="0">
                        <a:pos x="0" y="16"/>
                      </a:cxn>
                      <a:cxn ang="0">
                        <a:pos x="6" y="0"/>
                      </a:cxn>
                    </a:cxnLst>
                    <a:rect l="0" t="0" r="r" b="b"/>
                    <a:pathLst>
                      <a:path w="23" h="17">
                        <a:moveTo>
                          <a:pt x="6" y="0"/>
                        </a:moveTo>
                        <a:lnTo>
                          <a:pt x="22" y="0"/>
                        </a:lnTo>
                        <a:lnTo>
                          <a:pt x="17" y="16"/>
                        </a:lnTo>
                        <a:lnTo>
                          <a:pt x="0" y="16"/>
                        </a:lnTo>
                        <a:lnTo>
                          <a:pt x="6" y="0"/>
                        </a:lnTo>
                      </a:path>
                    </a:pathLst>
                  </a:custGeom>
                  <a:solidFill>
                    <a:srgbClr val="808080"/>
                  </a:solidFill>
                  <a:ln w="12700" cap="rnd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endParaRPr lang="zh-TW" altLang="en-US"/>
                  </a:p>
                </p:txBody>
              </p:sp>
              <p:sp>
                <p:nvSpPr>
                  <p:cNvPr id="1999" name="Freeform 11"/>
                  <p:cNvSpPr>
                    <a:spLocks/>
                  </p:cNvSpPr>
                  <p:nvPr/>
                </p:nvSpPr>
                <p:spPr bwMode="auto">
                  <a:xfrm>
                    <a:off x="1274" y="3102"/>
                    <a:ext cx="83" cy="15"/>
                  </a:xfrm>
                  <a:custGeom>
                    <a:avLst/>
                    <a:gdLst/>
                    <a:ahLst/>
                    <a:cxnLst>
                      <a:cxn ang="0">
                        <a:pos x="4" y="0"/>
                      </a:cxn>
                      <a:cxn ang="0">
                        <a:pos x="82" y="0"/>
                      </a:cxn>
                      <a:cxn ang="0">
                        <a:pos x="79" y="14"/>
                      </a:cxn>
                      <a:cxn ang="0">
                        <a:pos x="0" y="14"/>
                      </a:cxn>
                      <a:cxn ang="0">
                        <a:pos x="4" y="0"/>
                      </a:cxn>
                    </a:cxnLst>
                    <a:rect l="0" t="0" r="r" b="b"/>
                    <a:pathLst>
                      <a:path w="83" h="15">
                        <a:moveTo>
                          <a:pt x="4" y="0"/>
                        </a:moveTo>
                        <a:lnTo>
                          <a:pt x="82" y="0"/>
                        </a:lnTo>
                        <a:lnTo>
                          <a:pt x="79" y="14"/>
                        </a:lnTo>
                        <a:lnTo>
                          <a:pt x="0" y="14"/>
                        </a:lnTo>
                        <a:lnTo>
                          <a:pt x="4" y="0"/>
                        </a:lnTo>
                      </a:path>
                    </a:pathLst>
                  </a:custGeom>
                  <a:solidFill>
                    <a:srgbClr val="808080"/>
                  </a:solidFill>
                  <a:ln w="12700" cap="rnd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endParaRPr lang="zh-TW" altLang="en-US"/>
                  </a:p>
                </p:txBody>
              </p:sp>
              <p:sp>
                <p:nvSpPr>
                  <p:cNvPr id="2000" name="Freeform 12"/>
                  <p:cNvSpPr>
                    <a:spLocks/>
                  </p:cNvSpPr>
                  <p:nvPr/>
                </p:nvSpPr>
                <p:spPr bwMode="auto">
                  <a:xfrm>
                    <a:off x="1379" y="3102"/>
                    <a:ext cx="80" cy="17"/>
                  </a:xfrm>
                  <a:custGeom>
                    <a:avLst/>
                    <a:gdLst/>
                    <a:ahLst/>
                    <a:cxnLst>
                      <a:cxn ang="0">
                        <a:pos x="3" y="0"/>
                      </a:cxn>
                      <a:cxn ang="0">
                        <a:pos x="79" y="0"/>
                      </a:cxn>
                      <a:cxn ang="0">
                        <a:pos x="78" y="16"/>
                      </a:cxn>
                      <a:cxn ang="0">
                        <a:pos x="0" y="16"/>
                      </a:cxn>
                      <a:cxn ang="0">
                        <a:pos x="3" y="0"/>
                      </a:cxn>
                    </a:cxnLst>
                    <a:rect l="0" t="0" r="r" b="b"/>
                    <a:pathLst>
                      <a:path w="80" h="17">
                        <a:moveTo>
                          <a:pt x="3" y="0"/>
                        </a:moveTo>
                        <a:lnTo>
                          <a:pt x="79" y="0"/>
                        </a:lnTo>
                        <a:lnTo>
                          <a:pt x="78" y="16"/>
                        </a:lnTo>
                        <a:lnTo>
                          <a:pt x="0" y="16"/>
                        </a:lnTo>
                        <a:lnTo>
                          <a:pt x="3" y="0"/>
                        </a:lnTo>
                      </a:path>
                    </a:pathLst>
                  </a:custGeom>
                  <a:solidFill>
                    <a:srgbClr val="808080"/>
                  </a:solidFill>
                  <a:ln w="12700" cap="rnd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endParaRPr lang="zh-TW" altLang="en-US"/>
                  </a:p>
                </p:txBody>
              </p:sp>
              <p:sp>
                <p:nvSpPr>
                  <p:cNvPr id="2001" name="Freeform 13"/>
                  <p:cNvSpPr>
                    <a:spLocks/>
                  </p:cNvSpPr>
                  <p:nvPr/>
                </p:nvSpPr>
                <p:spPr bwMode="auto">
                  <a:xfrm>
                    <a:off x="1474" y="3102"/>
                    <a:ext cx="82" cy="17"/>
                  </a:xfrm>
                  <a:custGeom>
                    <a:avLst/>
                    <a:gdLst/>
                    <a:ahLst/>
                    <a:cxnLst>
                      <a:cxn ang="0">
                        <a:pos x="1" y="0"/>
                      </a:cxn>
                      <a:cxn ang="0">
                        <a:pos x="81" y="0"/>
                      </a:cxn>
                      <a:cxn ang="0">
                        <a:pos x="81" y="16"/>
                      </a:cxn>
                      <a:cxn ang="0">
                        <a:pos x="0" y="16"/>
                      </a:cxn>
                      <a:cxn ang="0">
                        <a:pos x="1" y="0"/>
                      </a:cxn>
                    </a:cxnLst>
                    <a:rect l="0" t="0" r="r" b="b"/>
                    <a:pathLst>
                      <a:path w="82" h="17">
                        <a:moveTo>
                          <a:pt x="1" y="0"/>
                        </a:moveTo>
                        <a:lnTo>
                          <a:pt x="81" y="0"/>
                        </a:lnTo>
                        <a:lnTo>
                          <a:pt x="81" y="16"/>
                        </a:lnTo>
                        <a:lnTo>
                          <a:pt x="0" y="16"/>
                        </a:lnTo>
                        <a:lnTo>
                          <a:pt x="1" y="0"/>
                        </a:lnTo>
                      </a:path>
                    </a:pathLst>
                  </a:custGeom>
                  <a:solidFill>
                    <a:srgbClr val="808080"/>
                  </a:solidFill>
                  <a:ln w="12700" cap="rnd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endParaRPr lang="zh-TW" altLang="en-US"/>
                  </a:p>
                </p:txBody>
              </p:sp>
              <p:sp>
                <p:nvSpPr>
                  <p:cNvPr id="2002" name="Freeform 14"/>
                  <p:cNvSpPr>
                    <a:spLocks/>
                  </p:cNvSpPr>
                  <p:nvPr/>
                </p:nvSpPr>
                <p:spPr bwMode="auto">
                  <a:xfrm>
                    <a:off x="1571" y="3102"/>
                    <a:ext cx="71" cy="18"/>
                  </a:xfrm>
                  <a:custGeom>
                    <a:avLst/>
                    <a:gdLst/>
                    <a:ahLst/>
                    <a:cxnLst>
                      <a:cxn ang="0">
                        <a:pos x="0" y="0"/>
                      </a:cxn>
                      <a:cxn ang="0">
                        <a:pos x="68" y="0"/>
                      </a:cxn>
                      <a:cxn ang="0">
                        <a:pos x="70" y="17"/>
                      </a:cxn>
                      <a:cxn ang="0">
                        <a:pos x="0" y="17"/>
                      </a:cxn>
                      <a:cxn ang="0">
                        <a:pos x="0" y="0"/>
                      </a:cxn>
                    </a:cxnLst>
                    <a:rect l="0" t="0" r="r" b="b"/>
                    <a:pathLst>
                      <a:path w="71" h="18">
                        <a:moveTo>
                          <a:pt x="0" y="0"/>
                        </a:moveTo>
                        <a:lnTo>
                          <a:pt x="68" y="0"/>
                        </a:lnTo>
                        <a:lnTo>
                          <a:pt x="70" y="17"/>
                        </a:lnTo>
                        <a:lnTo>
                          <a:pt x="0" y="17"/>
                        </a:lnTo>
                        <a:lnTo>
                          <a:pt x="0" y="0"/>
                        </a:lnTo>
                      </a:path>
                    </a:pathLst>
                  </a:custGeom>
                  <a:solidFill>
                    <a:srgbClr val="808080"/>
                  </a:solidFill>
                  <a:ln w="12700" cap="rnd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endParaRPr lang="zh-TW" altLang="en-US"/>
                  </a:p>
                </p:txBody>
              </p:sp>
              <p:sp>
                <p:nvSpPr>
                  <p:cNvPr id="2003" name="Freeform 15"/>
                  <p:cNvSpPr>
                    <a:spLocks/>
                  </p:cNvSpPr>
                  <p:nvPr/>
                </p:nvSpPr>
                <p:spPr bwMode="auto">
                  <a:xfrm>
                    <a:off x="1660" y="3112"/>
                    <a:ext cx="87" cy="15"/>
                  </a:xfrm>
                  <a:custGeom>
                    <a:avLst/>
                    <a:gdLst/>
                    <a:ahLst/>
                    <a:cxnLst>
                      <a:cxn ang="0">
                        <a:pos x="0" y="0"/>
                      </a:cxn>
                      <a:cxn ang="0">
                        <a:pos x="78" y="0"/>
                      </a:cxn>
                      <a:cxn ang="0">
                        <a:pos x="86" y="14"/>
                      </a:cxn>
                      <a:cxn ang="0">
                        <a:pos x="4" y="14"/>
                      </a:cxn>
                      <a:cxn ang="0">
                        <a:pos x="0" y="0"/>
                      </a:cxn>
                    </a:cxnLst>
                    <a:rect l="0" t="0" r="r" b="b"/>
                    <a:pathLst>
                      <a:path w="87" h="15">
                        <a:moveTo>
                          <a:pt x="0" y="0"/>
                        </a:moveTo>
                        <a:lnTo>
                          <a:pt x="78" y="0"/>
                        </a:lnTo>
                        <a:lnTo>
                          <a:pt x="86" y="14"/>
                        </a:lnTo>
                        <a:lnTo>
                          <a:pt x="4" y="14"/>
                        </a:lnTo>
                        <a:lnTo>
                          <a:pt x="0" y="0"/>
                        </a:lnTo>
                      </a:path>
                    </a:pathLst>
                  </a:custGeom>
                  <a:solidFill>
                    <a:srgbClr val="808080"/>
                  </a:solidFill>
                  <a:ln w="12700" cap="rnd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endParaRPr lang="zh-TW" altLang="en-US"/>
                  </a:p>
                </p:txBody>
              </p:sp>
            </p:grpSp>
            <p:grpSp>
              <p:nvGrpSpPr>
                <p:cNvPr id="7" name="Group 16"/>
                <p:cNvGrpSpPr>
                  <a:grpSpLocks/>
                </p:cNvGrpSpPr>
                <p:nvPr/>
              </p:nvGrpSpPr>
              <p:grpSpPr bwMode="auto">
                <a:xfrm>
                  <a:off x="1206" y="3130"/>
                  <a:ext cx="543" cy="42"/>
                  <a:chOff x="1206" y="3130"/>
                  <a:chExt cx="543" cy="42"/>
                </a:xfrm>
              </p:grpSpPr>
              <p:grpSp>
                <p:nvGrpSpPr>
                  <p:cNvPr id="8" name="Group 17"/>
                  <p:cNvGrpSpPr>
                    <a:grpSpLocks/>
                  </p:cNvGrpSpPr>
                  <p:nvPr/>
                </p:nvGrpSpPr>
                <p:grpSpPr bwMode="auto">
                  <a:xfrm>
                    <a:off x="1254" y="3132"/>
                    <a:ext cx="265" cy="36"/>
                    <a:chOff x="1254" y="3132"/>
                    <a:chExt cx="265" cy="36"/>
                  </a:xfrm>
                </p:grpSpPr>
                <p:sp>
                  <p:nvSpPr>
                    <p:cNvPr id="1994" name="Line 18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254" y="3132"/>
                      <a:ext cx="250" cy="0"/>
                    </a:xfrm>
                    <a:prstGeom prst="line">
                      <a:avLst/>
                    </a:prstGeom>
                    <a:noFill/>
                    <a:ln w="1270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</p:spPr>
                  <p:txBody>
                    <a:bodyPr wrap="none" anchor="ctr"/>
                    <a:lstStyle/>
                    <a:p>
                      <a:endParaRPr lang="zh-TW" altLang="en-US"/>
                    </a:p>
                  </p:txBody>
                </p:sp>
                <p:sp>
                  <p:nvSpPr>
                    <p:cNvPr id="1995" name="Line 19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265" y="3144"/>
                      <a:ext cx="254" cy="0"/>
                    </a:xfrm>
                    <a:prstGeom prst="line">
                      <a:avLst/>
                    </a:prstGeom>
                    <a:noFill/>
                    <a:ln w="1270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</p:spPr>
                  <p:txBody>
                    <a:bodyPr wrap="none" anchor="ctr"/>
                    <a:lstStyle/>
                    <a:p>
                      <a:endParaRPr lang="zh-TW" altLang="en-US"/>
                    </a:p>
                  </p:txBody>
                </p:sp>
                <p:sp>
                  <p:nvSpPr>
                    <p:cNvPr id="1996" name="Line 20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268" y="3156"/>
                      <a:ext cx="220" cy="0"/>
                    </a:xfrm>
                    <a:prstGeom prst="line">
                      <a:avLst/>
                    </a:prstGeom>
                    <a:noFill/>
                    <a:ln w="1270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</p:spPr>
                  <p:txBody>
                    <a:bodyPr wrap="none" anchor="ctr"/>
                    <a:lstStyle/>
                    <a:p>
                      <a:endParaRPr lang="zh-TW" altLang="en-US"/>
                    </a:p>
                  </p:txBody>
                </p:sp>
                <p:sp>
                  <p:nvSpPr>
                    <p:cNvPr id="1997" name="Line 21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273" y="3168"/>
                      <a:ext cx="23" cy="0"/>
                    </a:xfrm>
                    <a:prstGeom prst="line">
                      <a:avLst/>
                    </a:prstGeom>
                    <a:noFill/>
                    <a:ln w="1270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</p:spPr>
                  <p:txBody>
                    <a:bodyPr wrap="none" anchor="ctr"/>
                    <a:lstStyle/>
                    <a:p>
                      <a:endParaRPr lang="zh-TW" altLang="en-US"/>
                    </a:p>
                  </p:txBody>
                </p:sp>
              </p:grpSp>
              <p:grpSp>
                <p:nvGrpSpPr>
                  <p:cNvPr id="9" name="Group 22"/>
                  <p:cNvGrpSpPr>
                    <a:grpSpLocks/>
                  </p:cNvGrpSpPr>
                  <p:nvPr/>
                </p:nvGrpSpPr>
                <p:grpSpPr bwMode="auto">
                  <a:xfrm>
                    <a:off x="1206" y="3137"/>
                    <a:ext cx="38" cy="24"/>
                    <a:chOff x="1206" y="3137"/>
                    <a:chExt cx="38" cy="24"/>
                  </a:xfrm>
                </p:grpSpPr>
                <p:sp>
                  <p:nvSpPr>
                    <p:cNvPr id="1991" name="Line 23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218" y="3137"/>
                      <a:ext cx="18" cy="0"/>
                    </a:xfrm>
                    <a:prstGeom prst="line">
                      <a:avLst/>
                    </a:prstGeom>
                    <a:noFill/>
                    <a:ln w="1270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</p:spPr>
                  <p:txBody>
                    <a:bodyPr wrap="none" anchor="ctr"/>
                    <a:lstStyle/>
                    <a:p>
                      <a:endParaRPr lang="zh-TW" altLang="en-US"/>
                    </a:p>
                  </p:txBody>
                </p:sp>
                <p:sp>
                  <p:nvSpPr>
                    <p:cNvPr id="1992" name="Line 24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213" y="3150"/>
                      <a:ext cx="17" cy="0"/>
                    </a:xfrm>
                    <a:prstGeom prst="line">
                      <a:avLst/>
                    </a:prstGeom>
                    <a:noFill/>
                    <a:ln w="1270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</p:spPr>
                  <p:txBody>
                    <a:bodyPr wrap="none" anchor="ctr"/>
                    <a:lstStyle/>
                    <a:p>
                      <a:endParaRPr lang="zh-TW" altLang="en-US"/>
                    </a:p>
                  </p:txBody>
                </p:sp>
                <p:sp>
                  <p:nvSpPr>
                    <p:cNvPr id="1993" name="Line 25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206" y="3161"/>
                      <a:ext cx="38" cy="0"/>
                    </a:xfrm>
                    <a:prstGeom prst="line">
                      <a:avLst/>
                    </a:prstGeom>
                    <a:noFill/>
                    <a:ln w="1270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</p:spPr>
                  <p:txBody>
                    <a:bodyPr wrap="none" anchor="ctr"/>
                    <a:lstStyle/>
                    <a:p>
                      <a:endParaRPr lang="zh-TW" altLang="en-US"/>
                    </a:p>
                  </p:txBody>
                </p:sp>
              </p:grpSp>
              <p:grpSp>
                <p:nvGrpSpPr>
                  <p:cNvPr id="10" name="Group 26"/>
                  <p:cNvGrpSpPr>
                    <a:grpSpLocks/>
                  </p:cNvGrpSpPr>
                  <p:nvPr/>
                </p:nvGrpSpPr>
                <p:grpSpPr bwMode="auto">
                  <a:xfrm>
                    <a:off x="1312" y="3130"/>
                    <a:ext cx="241" cy="39"/>
                    <a:chOff x="1312" y="3130"/>
                    <a:chExt cx="241" cy="39"/>
                  </a:xfrm>
                </p:grpSpPr>
                <p:sp>
                  <p:nvSpPr>
                    <p:cNvPr id="1985" name="Line 27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312" y="3168"/>
                      <a:ext cx="148" cy="0"/>
                    </a:xfrm>
                    <a:prstGeom prst="line">
                      <a:avLst/>
                    </a:prstGeom>
                    <a:noFill/>
                    <a:ln w="1270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</p:spPr>
                  <p:txBody>
                    <a:bodyPr wrap="none" anchor="ctr"/>
                    <a:lstStyle/>
                    <a:p>
                      <a:endParaRPr lang="zh-TW" altLang="en-US"/>
                    </a:p>
                  </p:txBody>
                </p:sp>
                <p:sp>
                  <p:nvSpPr>
                    <p:cNvPr id="1986" name="Line 28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524" y="3130"/>
                      <a:ext cx="29" cy="0"/>
                    </a:xfrm>
                    <a:prstGeom prst="line">
                      <a:avLst/>
                    </a:prstGeom>
                    <a:noFill/>
                    <a:ln w="1270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</p:spPr>
                  <p:txBody>
                    <a:bodyPr wrap="none" anchor="ctr"/>
                    <a:lstStyle/>
                    <a:p>
                      <a:endParaRPr lang="zh-TW" altLang="en-US"/>
                    </a:p>
                  </p:txBody>
                </p:sp>
                <p:sp>
                  <p:nvSpPr>
                    <p:cNvPr id="1987" name="Line 29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534" y="3144"/>
                      <a:ext cx="19" cy="0"/>
                    </a:xfrm>
                    <a:prstGeom prst="line">
                      <a:avLst/>
                    </a:prstGeom>
                    <a:noFill/>
                    <a:ln w="1270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</p:spPr>
                  <p:txBody>
                    <a:bodyPr wrap="none" anchor="ctr"/>
                    <a:lstStyle/>
                    <a:p>
                      <a:endParaRPr lang="zh-TW" altLang="en-US"/>
                    </a:p>
                  </p:txBody>
                </p:sp>
                <p:sp>
                  <p:nvSpPr>
                    <p:cNvPr id="1988" name="Line 30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514" y="3157"/>
                      <a:ext cx="39" cy="0"/>
                    </a:xfrm>
                    <a:prstGeom prst="line">
                      <a:avLst/>
                    </a:prstGeom>
                    <a:noFill/>
                    <a:ln w="1270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</p:spPr>
                  <p:txBody>
                    <a:bodyPr wrap="none" anchor="ctr"/>
                    <a:lstStyle/>
                    <a:p>
                      <a:endParaRPr lang="zh-TW" altLang="en-US"/>
                    </a:p>
                  </p:txBody>
                </p:sp>
                <p:sp>
                  <p:nvSpPr>
                    <p:cNvPr id="1989" name="Line 31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474" y="3168"/>
                      <a:ext cx="17" cy="0"/>
                    </a:xfrm>
                    <a:prstGeom prst="line">
                      <a:avLst/>
                    </a:prstGeom>
                    <a:noFill/>
                    <a:ln w="1270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</p:spPr>
                  <p:txBody>
                    <a:bodyPr wrap="none" anchor="ctr"/>
                    <a:lstStyle/>
                    <a:p>
                      <a:endParaRPr lang="zh-TW" altLang="en-US"/>
                    </a:p>
                  </p:txBody>
                </p:sp>
                <p:sp>
                  <p:nvSpPr>
                    <p:cNvPr id="1990" name="Line 32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507" y="3169"/>
                      <a:ext cx="45" cy="0"/>
                    </a:xfrm>
                    <a:prstGeom prst="line">
                      <a:avLst/>
                    </a:prstGeom>
                    <a:noFill/>
                    <a:ln w="1270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</p:spPr>
                  <p:txBody>
                    <a:bodyPr wrap="none" anchor="ctr"/>
                    <a:lstStyle/>
                    <a:p>
                      <a:endParaRPr lang="zh-TW" altLang="en-US"/>
                    </a:p>
                  </p:txBody>
                </p:sp>
              </p:grpSp>
              <p:grpSp>
                <p:nvGrpSpPr>
                  <p:cNvPr id="11" name="Group 33"/>
                  <p:cNvGrpSpPr>
                    <a:grpSpLocks/>
                  </p:cNvGrpSpPr>
                  <p:nvPr/>
                </p:nvGrpSpPr>
                <p:grpSpPr bwMode="auto">
                  <a:xfrm>
                    <a:off x="1575" y="3137"/>
                    <a:ext cx="69" cy="33"/>
                    <a:chOff x="1575" y="3137"/>
                    <a:chExt cx="69" cy="33"/>
                  </a:xfrm>
                </p:grpSpPr>
                <p:sp>
                  <p:nvSpPr>
                    <p:cNvPr id="1982" name="Line 34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575" y="3137"/>
                      <a:ext cx="65" cy="0"/>
                    </a:xfrm>
                    <a:prstGeom prst="line">
                      <a:avLst/>
                    </a:prstGeom>
                    <a:noFill/>
                    <a:ln w="1270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</p:spPr>
                  <p:txBody>
                    <a:bodyPr wrap="none" anchor="ctr"/>
                    <a:lstStyle/>
                    <a:p>
                      <a:endParaRPr lang="zh-TW" altLang="en-US"/>
                    </a:p>
                  </p:txBody>
                </p:sp>
                <p:sp>
                  <p:nvSpPr>
                    <p:cNvPr id="1983" name="Line 35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585" y="3153"/>
                      <a:ext cx="57" cy="0"/>
                    </a:xfrm>
                    <a:prstGeom prst="line">
                      <a:avLst/>
                    </a:prstGeom>
                    <a:noFill/>
                    <a:ln w="1270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</p:spPr>
                  <p:txBody>
                    <a:bodyPr wrap="none" anchor="ctr"/>
                    <a:lstStyle/>
                    <a:p>
                      <a:endParaRPr lang="zh-TW" altLang="en-US"/>
                    </a:p>
                  </p:txBody>
                </p:sp>
                <p:sp>
                  <p:nvSpPr>
                    <p:cNvPr id="1984" name="Line 36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586" y="3170"/>
                      <a:ext cx="58" cy="0"/>
                    </a:xfrm>
                    <a:prstGeom prst="line">
                      <a:avLst/>
                    </a:prstGeom>
                    <a:noFill/>
                    <a:ln w="1270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</p:spPr>
                  <p:txBody>
                    <a:bodyPr wrap="none" anchor="ctr"/>
                    <a:lstStyle/>
                    <a:p>
                      <a:endParaRPr lang="zh-TW" altLang="en-US"/>
                    </a:p>
                  </p:txBody>
                </p:sp>
              </p:grpSp>
              <p:grpSp>
                <p:nvGrpSpPr>
                  <p:cNvPr id="12" name="Group 37"/>
                  <p:cNvGrpSpPr>
                    <a:grpSpLocks/>
                  </p:cNvGrpSpPr>
                  <p:nvPr/>
                </p:nvGrpSpPr>
                <p:grpSpPr bwMode="auto">
                  <a:xfrm>
                    <a:off x="1665" y="3137"/>
                    <a:ext cx="84" cy="35"/>
                    <a:chOff x="1665" y="3137"/>
                    <a:chExt cx="84" cy="35"/>
                  </a:xfrm>
                </p:grpSpPr>
                <p:sp>
                  <p:nvSpPr>
                    <p:cNvPr id="1976" name="Line 38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672" y="3137"/>
                      <a:ext cx="62" cy="0"/>
                    </a:xfrm>
                    <a:prstGeom prst="line">
                      <a:avLst/>
                    </a:prstGeom>
                    <a:noFill/>
                    <a:ln w="1270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</p:spPr>
                  <p:txBody>
                    <a:bodyPr wrap="none" anchor="ctr"/>
                    <a:lstStyle/>
                    <a:p>
                      <a:endParaRPr lang="zh-TW" altLang="en-US"/>
                    </a:p>
                  </p:txBody>
                </p:sp>
                <p:sp>
                  <p:nvSpPr>
                    <p:cNvPr id="1977" name="Line 39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665" y="3151"/>
                      <a:ext cx="49" cy="0"/>
                    </a:xfrm>
                    <a:prstGeom prst="line">
                      <a:avLst/>
                    </a:prstGeom>
                    <a:noFill/>
                    <a:ln w="1270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</p:spPr>
                  <p:txBody>
                    <a:bodyPr wrap="none" anchor="ctr"/>
                    <a:lstStyle/>
                    <a:p>
                      <a:endParaRPr lang="zh-TW" altLang="en-US"/>
                    </a:p>
                  </p:txBody>
                </p:sp>
                <p:sp>
                  <p:nvSpPr>
                    <p:cNvPr id="1978" name="Line 40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672" y="3161"/>
                      <a:ext cx="45" cy="0"/>
                    </a:xfrm>
                    <a:prstGeom prst="line">
                      <a:avLst/>
                    </a:prstGeom>
                    <a:noFill/>
                    <a:ln w="1270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</p:spPr>
                  <p:txBody>
                    <a:bodyPr wrap="none" anchor="ctr"/>
                    <a:lstStyle/>
                    <a:p>
                      <a:endParaRPr lang="zh-TW" altLang="en-US"/>
                    </a:p>
                  </p:txBody>
                </p:sp>
                <p:sp>
                  <p:nvSpPr>
                    <p:cNvPr id="1979" name="Line 41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669" y="3172"/>
                      <a:ext cx="58" cy="0"/>
                    </a:xfrm>
                    <a:prstGeom prst="line">
                      <a:avLst/>
                    </a:prstGeom>
                    <a:noFill/>
                    <a:ln w="1270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</p:spPr>
                  <p:txBody>
                    <a:bodyPr wrap="none" anchor="ctr"/>
                    <a:lstStyle/>
                    <a:p>
                      <a:endParaRPr lang="zh-TW" altLang="en-US"/>
                    </a:p>
                  </p:txBody>
                </p:sp>
                <p:sp>
                  <p:nvSpPr>
                    <p:cNvPr id="1980" name="Line 42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734" y="3151"/>
                      <a:ext cx="11" cy="0"/>
                    </a:xfrm>
                    <a:prstGeom prst="line">
                      <a:avLst/>
                    </a:prstGeom>
                    <a:noFill/>
                    <a:ln w="1270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</p:spPr>
                  <p:txBody>
                    <a:bodyPr wrap="none" anchor="ctr"/>
                    <a:lstStyle/>
                    <a:p>
                      <a:endParaRPr lang="zh-TW" altLang="en-US"/>
                    </a:p>
                  </p:txBody>
                </p:sp>
                <p:sp>
                  <p:nvSpPr>
                    <p:cNvPr id="1981" name="Line 43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740" y="3167"/>
                      <a:ext cx="9" cy="0"/>
                    </a:xfrm>
                    <a:prstGeom prst="line">
                      <a:avLst/>
                    </a:prstGeom>
                    <a:noFill/>
                    <a:ln w="12700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</p:spPr>
                  <p:txBody>
                    <a:bodyPr wrap="none" anchor="ctr"/>
                    <a:lstStyle/>
                    <a:p>
                      <a:endParaRPr lang="zh-TW" altLang="en-US"/>
                    </a:p>
                  </p:txBody>
                </p:sp>
              </p:grpSp>
            </p:grpSp>
          </p:grpSp>
          <p:grpSp>
            <p:nvGrpSpPr>
              <p:cNvPr id="13" name="Group 44"/>
              <p:cNvGrpSpPr>
                <a:grpSpLocks/>
              </p:cNvGrpSpPr>
              <p:nvPr/>
            </p:nvGrpSpPr>
            <p:grpSpPr bwMode="auto">
              <a:xfrm>
                <a:off x="1820" y="3161"/>
                <a:ext cx="176" cy="105"/>
                <a:chOff x="1820" y="3161"/>
                <a:chExt cx="176" cy="105"/>
              </a:xfrm>
            </p:grpSpPr>
            <p:sp>
              <p:nvSpPr>
                <p:cNvPr id="1957" name="Freeform 45"/>
                <p:cNvSpPr>
                  <a:spLocks/>
                </p:cNvSpPr>
                <p:nvPr/>
              </p:nvSpPr>
              <p:spPr bwMode="auto">
                <a:xfrm>
                  <a:off x="1820" y="3161"/>
                  <a:ext cx="176" cy="7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33" y="3"/>
                    </a:cxn>
                    <a:cxn ang="0">
                      <a:pos x="57" y="5"/>
                    </a:cxn>
                    <a:cxn ang="0">
                      <a:pos x="78" y="8"/>
                    </a:cxn>
                    <a:cxn ang="0">
                      <a:pos x="100" y="13"/>
                    </a:cxn>
                    <a:cxn ang="0">
                      <a:pos x="115" y="16"/>
                    </a:cxn>
                    <a:cxn ang="0">
                      <a:pos x="134" y="21"/>
                    </a:cxn>
                    <a:cxn ang="0">
                      <a:pos x="144" y="24"/>
                    </a:cxn>
                    <a:cxn ang="0">
                      <a:pos x="152" y="26"/>
                    </a:cxn>
                    <a:cxn ang="0">
                      <a:pos x="156" y="28"/>
                    </a:cxn>
                    <a:cxn ang="0">
                      <a:pos x="160" y="29"/>
                    </a:cxn>
                    <a:cxn ang="0">
                      <a:pos x="164" y="31"/>
                    </a:cxn>
                    <a:cxn ang="0">
                      <a:pos x="169" y="34"/>
                    </a:cxn>
                    <a:cxn ang="0">
                      <a:pos x="173" y="37"/>
                    </a:cxn>
                    <a:cxn ang="0">
                      <a:pos x="175" y="41"/>
                    </a:cxn>
                    <a:cxn ang="0">
                      <a:pos x="175" y="44"/>
                    </a:cxn>
                    <a:cxn ang="0">
                      <a:pos x="174" y="48"/>
                    </a:cxn>
                    <a:cxn ang="0">
                      <a:pos x="173" y="53"/>
                    </a:cxn>
                    <a:cxn ang="0">
                      <a:pos x="171" y="57"/>
                    </a:cxn>
                    <a:cxn ang="0">
                      <a:pos x="168" y="60"/>
                    </a:cxn>
                    <a:cxn ang="0">
                      <a:pos x="164" y="64"/>
                    </a:cxn>
                    <a:cxn ang="0">
                      <a:pos x="160" y="66"/>
                    </a:cxn>
                    <a:cxn ang="0">
                      <a:pos x="155" y="67"/>
                    </a:cxn>
                    <a:cxn ang="0">
                      <a:pos x="150" y="69"/>
                    </a:cxn>
                    <a:cxn ang="0">
                      <a:pos x="143" y="69"/>
                    </a:cxn>
                    <a:cxn ang="0">
                      <a:pos x="137" y="68"/>
                    </a:cxn>
                    <a:cxn ang="0">
                      <a:pos x="127" y="66"/>
                    </a:cxn>
                  </a:cxnLst>
                  <a:rect l="0" t="0" r="r" b="b"/>
                  <a:pathLst>
                    <a:path w="176" h="70">
                      <a:moveTo>
                        <a:pt x="0" y="0"/>
                      </a:moveTo>
                      <a:lnTo>
                        <a:pt x="33" y="3"/>
                      </a:lnTo>
                      <a:lnTo>
                        <a:pt x="57" y="5"/>
                      </a:lnTo>
                      <a:lnTo>
                        <a:pt x="78" y="8"/>
                      </a:lnTo>
                      <a:lnTo>
                        <a:pt x="100" y="13"/>
                      </a:lnTo>
                      <a:lnTo>
                        <a:pt x="115" y="16"/>
                      </a:lnTo>
                      <a:lnTo>
                        <a:pt x="134" y="21"/>
                      </a:lnTo>
                      <a:lnTo>
                        <a:pt x="144" y="24"/>
                      </a:lnTo>
                      <a:lnTo>
                        <a:pt x="152" y="26"/>
                      </a:lnTo>
                      <a:lnTo>
                        <a:pt x="156" y="28"/>
                      </a:lnTo>
                      <a:lnTo>
                        <a:pt x="160" y="29"/>
                      </a:lnTo>
                      <a:lnTo>
                        <a:pt x="164" y="31"/>
                      </a:lnTo>
                      <a:lnTo>
                        <a:pt x="169" y="34"/>
                      </a:lnTo>
                      <a:lnTo>
                        <a:pt x="173" y="37"/>
                      </a:lnTo>
                      <a:lnTo>
                        <a:pt x="175" y="41"/>
                      </a:lnTo>
                      <a:lnTo>
                        <a:pt x="175" y="44"/>
                      </a:lnTo>
                      <a:lnTo>
                        <a:pt x="174" y="48"/>
                      </a:lnTo>
                      <a:lnTo>
                        <a:pt x="173" y="53"/>
                      </a:lnTo>
                      <a:lnTo>
                        <a:pt x="171" y="57"/>
                      </a:lnTo>
                      <a:lnTo>
                        <a:pt x="168" y="60"/>
                      </a:lnTo>
                      <a:lnTo>
                        <a:pt x="164" y="64"/>
                      </a:lnTo>
                      <a:lnTo>
                        <a:pt x="160" y="66"/>
                      </a:lnTo>
                      <a:lnTo>
                        <a:pt x="155" y="67"/>
                      </a:lnTo>
                      <a:lnTo>
                        <a:pt x="150" y="69"/>
                      </a:lnTo>
                      <a:lnTo>
                        <a:pt x="143" y="69"/>
                      </a:lnTo>
                      <a:lnTo>
                        <a:pt x="137" y="68"/>
                      </a:lnTo>
                      <a:lnTo>
                        <a:pt x="127" y="66"/>
                      </a:lnTo>
                    </a:path>
                  </a:pathLst>
                </a:custGeom>
                <a:noFill/>
                <a:ln w="25400" cap="rnd" cmpd="sng">
                  <a:solidFill>
                    <a:srgbClr val="C0C0C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zh-TW" altLang="en-US"/>
                </a:p>
              </p:txBody>
            </p:sp>
            <p:grpSp>
              <p:nvGrpSpPr>
                <p:cNvPr id="14" name="Group 46"/>
                <p:cNvGrpSpPr>
                  <a:grpSpLocks/>
                </p:cNvGrpSpPr>
                <p:nvPr/>
              </p:nvGrpSpPr>
              <p:grpSpPr bwMode="auto">
                <a:xfrm>
                  <a:off x="1828" y="3196"/>
                  <a:ext cx="122" cy="70"/>
                  <a:chOff x="1828" y="3196"/>
                  <a:chExt cx="122" cy="70"/>
                </a:xfrm>
              </p:grpSpPr>
              <p:grpSp>
                <p:nvGrpSpPr>
                  <p:cNvPr id="15" name="Group 47"/>
                  <p:cNvGrpSpPr>
                    <a:grpSpLocks/>
                  </p:cNvGrpSpPr>
                  <p:nvPr/>
                </p:nvGrpSpPr>
                <p:grpSpPr bwMode="auto">
                  <a:xfrm>
                    <a:off x="1828" y="3196"/>
                    <a:ext cx="122" cy="70"/>
                    <a:chOff x="1828" y="3196"/>
                    <a:chExt cx="122" cy="70"/>
                  </a:xfrm>
                </p:grpSpPr>
                <p:sp>
                  <p:nvSpPr>
                    <p:cNvPr id="1964" name="Freeform 48"/>
                    <p:cNvSpPr>
                      <a:spLocks/>
                    </p:cNvSpPr>
                    <p:nvPr/>
                  </p:nvSpPr>
                  <p:spPr bwMode="auto">
                    <a:xfrm>
                      <a:off x="1828" y="3196"/>
                      <a:ext cx="75" cy="44"/>
                    </a:xfrm>
                    <a:custGeom>
                      <a:avLst/>
                      <a:gdLst/>
                      <a:ahLst/>
                      <a:cxnLst>
                        <a:cxn ang="0">
                          <a:pos x="0" y="26"/>
                        </a:cxn>
                        <a:cxn ang="0">
                          <a:pos x="19" y="0"/>
                        </a:cxn>
                        <a:cxn ang="0">
                          <a:pos x="74" y="14"/>
                        </a:cxn>
                        <a:cxn ang="0">
                          <a:pos x="52" y="43"/>
                        </a:cxn>
                        <a:cxn ang="0">
                          <a:pos x="0" y="26"/>
                        </a:cxn>
                      </a:cxnLst>
                      <a:rect l="0" t="0" r="r" b="b"/>
                      <a:pathLst>
                        <a:path w="75" h="44">
                          <a:moveTo>
                            <a:pt x="0" y="26"/>
                          </a:moveTo>
                          <a:lnTo>
                            <a:pt x="19" y="0"/>
                          </a:lnTo>
                          <a:lnTo>
                            <a:pt x="74" y="14"/>
                          </a:lnTo>
                          <a:lnTo>
                            <a:pt x="52" y="43"/>
                          </a:lnTo>
                          <a:lnTo>
                            <a:pt x="0" y="26"/>
                          </a:lnTo>
                        </a:path>
                      </a:pathLst>
                    </a:custGeom>
                    <a:solidFill>
                      <a:srgbClr val="E0E0E0"/>
                    </a:solidFill>
                    <a:ln w="12700" cap="rnd" cmpd="sng">
                      <a:noFill/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/>
                    <a:lstStyle/>
                    <a:p>
                      <a:endParaRPr lang="zh-TW" altLang="en-US"/>
                    </a:p>
                  </p:txBody>
                </p:sp>
                <p:sp>
                  <p:nvSpPr>
                    <p:cNvPr id="1965" name="Freeform 49"/>
                    <p:cNvSpPr>
                      <a:spLocks/>
                    </p:cNvSpPr>
                    <p:nvPr/>
                  </p:nvSpPr>
                  <p:spPr bwMode="auto">
                    <a:xfrm>
                      <a:off x="1828" y="3223"/>
                      <a:ext cx="53" cy="43"/>
                    </a:xfrm>
                    <a:custGeom>
                      <a:avLst/>
                      <a:gdLst/>
                      <a:ahLst/>
                      <a:cxnLst>
                        <a:cxn ang="0">
                          <a:pos x="0" y="0"/>
                        </a:cxn>
                        <a:cxn ang="0">
                          <a:pos x="0" y="23"/>
                        </a:cxn>
                        <a:cxn ang="0">
                          <a:pos x="1" y="23"/>
                        </a:cxn>
                        <a:cxn ang="0">
                          <a:pos x="52" y="42"/>
                        </a:cxn>
                        <a:cxn ang="0">
                          <a:pos x="52" y="18"/>
                        </a:cxn>
                        <a:cxn ang="0">
                          <a:pos x="0" y="0"/>
                        </a:cxn>
                      </a:cxnLst>
                      <a:rect l="0" t="0" r="r" b="b"/>
                      <a:pathLst>
                        <a:path w="53" h="43">
                          <a:moveTo>
                            <a:pt x="0" y="0"/>
                          </a:moveTo>
                          <a:lnTo>
                            <a:pt x="0" y="23"/>
                          </a:lnTo>
                          <a:lnTo>
                            <a:pt x="1" y="23"/>
                          </a:lnTo>
                          <a:lnTo>
                            <a:pt x="52" y="42"/>
                          </a:lnTo>
                          <a:lnTo>
                            <a:pt x="52" y="18"/>
                          </a:lnTo>
                          <a:lnTo>
                            <a:pt x="0" y="0"/>
                          </a:lnTo>
                        </a:path>
                      </a:pathLst>
                    </a:custGeom>
                    <a:solidFill>
                      <a:srgbClr val="C0C0C0"/>
                    </a:solidFill>
                    <a:ln w="12700" cap="rnd" cmpd="sng">
                      <a:noFill/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/>
                    <a:lstStyle/>
                    <a:p>
                      <a:endParaRPr lang="zh-TW" altLang="en-US"/>
                    </a:p>
                  </p:txBody>
                </p:sp>
                <p:sp>
                  <p:nvSpPr>
                    <p:cNvPr id="1966" name="Freeform 50"/>
                    <p:cNvSpPr>
                      <a:spLocks/>
                    </p:cNvSpPr>
                    <p:nvPr/>
                  </p:nvSpPr>
                  <p:spPr bwMode="auto">
                    <a:xfrm>
                      <a:off x="1882" y="3212"/>
                      <a:ext cx="68" cy="54"/>
                    </a:xfrm>
                    <a:custGeom>
                      <a:avLst/>
                      <a:gdLst/>
                      <a:ahLst/>
                      <a:cxnLst>
                        <a:cxn ang="0">
                          <a:pos x="0" y="29"/>
                        </a:cxn>
                        <a:cxn ang="0">
                          <a:pos x="21" y="0"/>
                        </a:cxn>
                        <a:cxn ang="0">
                          <a:pos x="67" y="8"/>
                        </a:cxn>
                        <a:cxn ang="0">
                          <a:pos x="67" y="29"/>
                        </a:cxn>
                        <a:cxn ang="0">
                          <a:pos x="0" y="53"/>
                        </a:cxn>
                        <a:cxn ang="0">
                          <a:pos x="0" y="29"/>
                        </a:cxn>
                      </a:cxnLst>
                      <a:rect l="0" t="0" r="r" b="b"/>
                      <a:pathLst>
                        <a:path w="68" h="54">
                          <a:moveTo>
                            <a:pt x="0" y="29"/>
                          </a:moveTo>
                          <a:lnTo>
                            <a:pt x="21" y="0"/>
                          </a:lnTo>
                          <a:lnTo>
                            <a:pt x="67" y="8"/>
                          </a:lnTo>
                          <a:lnTo>
                            <a:pt x="67" y="29"/>
                          </a:lnTo>
                          <a:lnTo>
                            <a:pt x="0" y="53"/>
                          </a:lnTo>
                          <a:lnTo>
                            <a:pt x="0" y="29"/>
                          </a:lnTo>
                        </a:path>
                      </a:pathLst>
                    </a:custGeom>
                    <a:solidFill>
                      <a:srgbClr val="A0A0A0"/>
                    </a:solidFill>
                    <a:ln w="12700" cap="rnd" cmpd="sng">
                      <a:noFill/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/>
                    <a:lstStyle/>
                    <a:p>
                      <a:endParaRPr lang="zh-TW" altLang="en-US"/>
                    </a:p>
                  </p:txBody>
                </p:sp>
                <p:sp>
                  <p:nvSpPr>
                    <p:cNvPr id="1967" name="Freeform 51"/>
                    <p:cNvSpPr>
                      <a:spLocks/>
                    </p:cNvSpPr>
                    <p:nvPr/>
                  </p:nvSpPr>
                  <p:spPr bwMode="auto">
                    <a:xfrm>
                      <a:off x="1848" y="3196"/>
                      <a:ext cx="102" cy="22"/>
                    </a:xfrm>
                    <a:custGeom>
                      <a:avLst/>
                      <a:gdLst/>
                      <a:ahLst/>
                      <a:cxnLst>
                        <a:cxn ang="0">
                          <a:pos x="0" y="0"/>
                        </a:cxn>
                        <a:cxn ang="0">
                          <a:pos x="51" y="5"/>
                        </a:cxn>
                        <a:cxn ang="0">
                          <a:pos x="101" y="21"/>
                        </a:cxn>
                        <a:cxn ang="0">
                          <a:pos x="55" y="14"/>
                        </a:cxn>
                        <a:cxn ang="0">
                          <a:pos x="0" y="0"/>
                        </a:cxn>
                      </a:cxnLst>
                      <a:rect l="0" t="0" r="r" b="b"/>
                      <a:pathLst>
                        <a:path w="102" h="22">
                          <a:moveTo>
                            <a:pt x="0" y="0"/>
                          </a:moveTo>
                          <a:lnTo>
                            <a:pt x="51" y="5"/>
                          </a:lnTo>
                          <a:lnTo>
                            <a:pt x="101" y="21"/>
                          </a:lnTo>
                          <a:lnTo>
                            <a:pt x="55" y="14"/>
                          </a:lnTo>
                          <a:lnTo>
                            <a:pt x="0" y="0"/>
                          </a:lnTo>
                        </a:path>
                      </a:pathLst>
                    </a:custGeom>
                    <a:solidFill>
                      <a:srgbClr val="808080"/>
                    </a:solidFill>
                    <a:ln w="12700" cap="rnd" cmpd="sng">
                      <a:noFill/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/>
                    <a:lstStyle/>
                    <a:p>
                      <a:endParaRPr lang="zh-TW" altLang="en-US"/>
                    </a:p>
                  </p:txBody>
                </p:sp>
              </p:grpSp>
              <p:grpSp>
                <p:nvGrpSpPr>
                  <p:cNvPr id="16" name="Group 52"/>
                  <p:cNvGrpSpPr>
                    <a:grpSpLocks/>
                  </p:cNvGrpSpPr>
                  <p:nvPr/>
                </p:nvGrpSpPr>
                <p:grpSpPr bwMode="auto">
                  <a:xfrm>
                    <a:off x="1832" y="3214"/>
                    <a:ext cx="113" cy="37"/>
                    <a:chOff x="1832" y="3214"/>
                    <a:chExt cx="113" cy="37"/>
                  </a:xfrm>
                </p:grpSpPr>
                <p:sp>
                  <p:nvSpPr>
                    <p:cNvPr id="1961" name="Line 53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832" y="3233"/>
                      <a:ext cx="46" cy="10"/>
                    </a:xfrm>
                    <a:prstGeom prst="line">
                      <a:avLst/>
                    </a:prstGeom>
                    <a:noFill/>
                    <a:ln w="12700">
                      <a:solidFill>
                        <a:srgbClr val="808080"/>
                      </a:solidFill>
                      <a:round/>
                      <a:headEnd/>
                      <a:tailEnd/>
                    </a:ln>
                    <a:effectLst/>
                  </p:spPr>
                  <p:txBody>
                    <a:bodyPr wrap="none" anchor="ctr"/>
                    <a:lstStyle/>
                    <a:p>
                      <a:endParaRPr lang="zh-TW" altLang="en-US"/>
                    </a:p>
                  </p:txBody>
                </p:sp>
                <p:sp>
                  <p:nvSpPr>
                    <p:cNvPr id="1962" name="Line 54"/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1887" y="3214"/>
                      <a:ext cx="13" cy="37"/>
                    </a:xfrm>
                    <a:prstGeom prst="line">
                      <a:avLst/>
                    </a:prstGeom>
                    <a:noFill/>
                    <a:ln w="12700">
                      <a:solidFill>
                        <a:srgbClr val="606060"/>
                      </a:solidFill>
                      <a:round/>
                      <a:headEnd/>
                      <a:tailEnd/>
                    </a:ln>
                    <a:effectLst/>
                  </p:spPr>
                  <p:txBody>
                    <a:bodyPr wrap="none" anchor="ctr"/>
                    <a:lstStyle/>
                    <a:p>
                      <a:endParaRPr lang="zh-TW" altLang="en-US"/>
                    </a:p>
                  </p:txBody>
                </p:sp>
                <p:sp>
                  <p:nvSpPr>
                    <p:cNvPr id="1963" name="Line 55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909" y="3218"/>
                      <a:ext cx="36" cy="4"/>
                    </a:xfrm>
                    <a:prstGeom prst="line">
                      <a:avLst/>
                    </a:prstGeom>
                    <a:noFill/>
                    <a:ln w="12700">
                      <a:solidFill>
                        <a:srgbClr val="606060"/>
                      </a:solidFill>
                      <a:round/>
                      <a:headEnd/>
                      <a:tailEnd/>
                    </a:ln>
                    <a:effectLst/>
                  </p:spPr>
                  <p:txBody>
                    <a:bodyPr wrap="none" anchor="ctr"/>
                    <a:lstStyle/>
                    <a:p>
                      <a:endParaRPr lang="zh-TW" altLang="en-US"/>
                    </a:p>
                  </p:txBody>
                </p:sp>
              </p:grpSp>
            </p:grpSp>
          </p:grpSp>
          <p:grpSp>
            <p:nvGrpSpPr>
              <p:cNvPr id="17" name="Group 56"/>
              <p:cNvGrpSpPr>
                <a:grpSpLocks/>
              </p:cNvGrpSpPr>
              <p:nvPr/>
            </p:nvGrpSpPr>
            <p:grpSpPr bwMode="auto">
              <a:xfrm>
                <a:off x="1303" y="3027"/>
                <a:ext cx="353" cy="61"/>
                <a:chOff x="1303" y="3027"/>
                <a:chExt cx="353" cy="61"/>
              </a:xfrm>
            </p:grpSpPr>
            <p:sp>
              <p:nvSpPr>
                <p:cNvPr id="1955" name="Freeform 57"/>
                <p:cNvSpPr>
                  <a:spLocks/>
                </p:cNvSpPr>
                <p:nvPr/>
              </p:nvSpPr>
              <p:spPr bwMode="auto">
                <a:xfrm>
                  <a:off x="1303" y="3027"/>
                  <a:ext cx="353" cy="34"/>
                </a:xfrm>
                <a:custGeom>
                  <a:avLst/>
                  <a:gdLst/>
                  <a:ahLst/>
                  <a:cxnLst>
                    <a:cxn ang="0">
                      <a:pos x="0" y="33"/>
                    </a:cxn>
                    <a:cxn ang="0">
                      <a:pos x="352" y="33"/>
                    </a:cxn>
                    <a:cxn ang="0">
                      <a:pos x="332" y="0"/>
                    </a:cxn>
                    <a:cxn ang="0">
                      <a:pos x="21" y="0"/>
                    </a:cxn>
                    <a:cxn ang="0">
                      <a:pos x="0" y="33"/>
                    </a:cxn>
                  </a:cxnLst>
                  <a:rect l="0" t="0" r="r" b="b"/>
                  <a:pathLst>
                    <a:path w="353" h="34">
                      <a:moveTo>
                        <a:pt x="0" y="33"/>
                      </a:moveTo>
                      <a:lnTo>
                        <a:pt x="352" y="33"/>
                      </a:lnTo>
                      <a:lnTo>
                        <a:pt x="332" y="0"/>
                      </a:lnTo>
                      <a:lnTo>
                        <a:pt x="21" y="0"/>
                      </a:lnTo>
                      <a:lnTo>
                        <a:pt x="0" y="33"/>
                      </a:lnTo>
                    </a:path>
                  </a:pathLst>
                </a:custGeom>
                <a:solidFill>
                  <a:srgbClr val="C0C0C0"/>
                </a:solidFill>
                <a:ln w="12700" cap="rnd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zh-TW" altLang="en-US"/>
                </a:p>
              </p:txBody>
            </p:sp>
            <p:sp>
              <p:nvSpPr>
                <p:cNvPr id="1956" name="Rectangle 58"/>
                <p:cNvSpPr>
                  <a:spLocks noChangeArrowheads="1"/>
                </p:cNvSpPr>
                <p:nvPr/>
              </p:nvSpPr>
              <p:spPr bwMode="auto">
                <a:xfrm>
                  <a:off x="1306" y="3063"/>
                  <a:ext cx="345" cy="25"/>
                </a:xfrm>
                <a:prstGeom prst="rect">
                  <a:avLst/>
                </a:prstGeom>
                <a:solidFill>
                  <a:srgbClr val="C0C0C0"/>
                </a:solidFill>
                <a:ln w="12700">
                  <a:solidFill>
                    <a:srgbClr val="000000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</p:grpSp>
          <p:sp>
            <p:nvSpPr>
              <p:cNvPr id="1930" name="Freeform 59"/>
              <p:cNvSpPr>
                <a:spLocks/>
              </p:cNvSpPr>
              <p:nvPr/>
            </p:nvSpPr>
            <p:spPr bwMode="auto">
              <a:xfrm>
                <a:off x="1385" y="2998"/>
                <a:ext cx="189" cy="63"/>
              </a:xfrm>
              <a:custGeom>
                <a:avLst/>
                <a:gdLst/>
                <a:ahLst/>
                <a:cxnLst>
                  <a:cxn ang="0">
                    <a:pos x="0" y="35"/>
                  </a:cxn>
                  <a:cxn ang="0">
                    <a:pos x="0" y="0"/>
                  </a:cxn>
                  <a:cxn ang="0">
                    <a:pos x="188" y="0"/>
                  </a:cxn>
                  <a:cxn ang="0">
                    <a:pos x="188" y="36"/>
                  </a:cxn>
                  <a:cxn ang="0">
                    <a:pos x="187" y="39"/>
                  </a:cxn>
                  <a:cxn ang="0">
                    <a:pos x="185" y="42"/>
                  </a:cxn>
                  <a:cxn ang="0">
                    <a:pos x="182" y="45"/>
                  </a:cxn>
                  <a:cxn ang="0">
                    <a:pos x="178" y="47"/>
                  </a:cxn>
                  <a:cxn ang="0">
                    <a:pos x="172" y="50"/>
                  </a:cxn>
                  <a:cxn ang="0">
                    <a:pos x="167" y="52"/>
                  </a:cxn>
                  <a:cxn ang="0">
                    <a:pos x="161" y="54"/>
                  </a:cxn>
                  <a:cxn ang="0">
                    <a:pos x="154" y="56"/>
                  </a:cxn>
                  <a:cxn ang="0">
                    <a:pos x="148" y="57"/>
                  </a:cxn>
                  <a:cxn ang="0">
                    <a:pos x="138" y="59"/>
                  </a:cxn>
                  <a:cxn ang="0">
                    <a:pos x="130" y="60"/>
                  </a:cxn>
                  <a:cxn ang="0">
                    <a:pos x="122" y="61"/>
                  </a:cxn>
                  <a:cxn ang="0">
                    <a:pos x="113" y="62"/>
                  </a:cxn>
                  <a:cxn ang="0">
                    <a:pos x="102" y="62"/>
                  </a:cxn>
                  <a:cxn ang="0">
                    <a:pos x="89" y="62"/>
                  </a:cxn>
                  <a:cxn ang="0">
                    <a:pos x="77" y="62"/>
                  </a:cxn>
                  <a:cxn ang="0">
                    <a:pos x="66" y="61"/>
                  </a:cxn>
                  <a:cxn ang="0">
                    <a:pos x="55" y="60"/>
                  </a:cxn>
                  <a:cxn ang="0">
                    <a:pos x="46" y="59"/>
                  </a:cxn>
                  <a:cxn ang="0">
                    <a:pos x="39" y="57"/>
                  </a:cxn>
                  <a:cxn ang="0">
                    <a:pos x="31" y="55"/>
                  </a:cxn>
                  <a:cxn ang="0">
                    <a:pos x="24" y="53"/>
                  </a:cxn>
                  <a:cxn ang="0">
                    <a:pos x="17" y="51"/>
                  </a:cxn>
                  <a:cxn ang="0">
                    <a:pos x="12" y="48"/>
                  </a:cxn>
                  <a:cxn ang="0">
                    <a:pos x="8" y="46"/>
                  </a:cxn>
                  <a:cxn ang="0">
                    <a:pos x="5" y="43"/>
                  </a:cxn>
                  <a:cxn ang="0">
                    <a:pos x="3" y="41"/>
                  </a:cxn>
                  <a:cxn ang="0">
                    <a:pos x="1" y="38"/>
                  </a:cxn>
                  <a:cxn ang="0">
                    <a:pos x="0" y="35"/>
                  </a:cxn>
                </a:cxnLst>
                <a:rect l="0" t="0" r="r" b="b"/>
                <a:pathLst>
                  <a:path w="189" h="63">
                    <a:moveTo>
                      <a:pt x="0" y="35"/>
                    </a:moveTo>
                    <a:lnTo>
                      <a:pt x="0" y="0"/>
                    </a:lnTo>
                    <a:lnTo>
                      <a:pt x="188" y="0"/>
                    </a:lnTo>
                    <a:lnTo>
                      <a:pt x="188" y="36"/>
                    </a:lnTo>
                    <a:lnTo>
                      <a:pt x="187" y="39"/>
                    </a:lnTo>
                    <a:lnTo>
                      <a:pt x="185" y="42"/>
                    </a:lnTo>
                    <a:lnTo>
                      <a:pt x="182" y="45"/>
                    </a:lnTo>
                    <a:lnTo>
                      <a:pt x="178" y="47"/>
                    </a:lnTo>
                    <a:lnTo>
                      <a:pt x="172" y="50"/>
                    </a:lnTo>
                    <a:lnTo>
                      <a:pt x="167" y="52"/>
                    </a:lnTo>
                    <a:lnTo>
                      <a:pt x="161" y="54"/>
                    </a:lnTo>
                    <a:lnTo>
                      <a:pt x="154" y="56"/>
                    </a:lnTo>
                    <a:lnTo>
                      <a:pt x="148" y="57"/>
                    </a:lnTo>
                    <a:lnTo>
                      <a:pt x="138" y="59"/>
                    </a:lnTo>
                    <a:lnTo>
                      <a:pt x="130" y="60"/>
                    </a:lnTo>
                    <a:lnTo>
                      <a:pt x="122" y="61"/>
                    </a:lnTo>
                    <a:lnTo>
                      <a:pt x="113" y="62"/>
                    </a:lnTo>
                    <a:lnTo>
                      <a:pt x="102" y="62"/>
                    </a:lnTo>
                    <a:lnTo>
                      <a:pt x="89" y="62"/>
                    </a:lnTo>
                    <a:lnTo>
                      <a:pt x="77" y="62"/>
                    </a:lnTo>
                    <a:lnTo>
                      <a:pt x="66" y="61"/>
                    </a:lnTo>
                    <a:lnTo>
                      <a:pt x="55" y="60"/>
                    </a:lnTo>
                    <a:lnTo>
                      <a:pt x="46" y="59"/>
                    </a:lnTo>
                    <a:lnTo>
                      <a:pt x="39" y="57"/>
                    </a:lnTo>
                    <a:lnTo>
                      <a:pt x="31" y="55"/>
                    </a:lnTo>
                    <a:lnTo>
                      <a:pt x="24" y="53"/>
                    </a:lnTo>
                    <a:lnTo>
                      <a:pt x="17" y="51"/>
                    </a:lnTo>
                    <a:lnTo>
                      <a:pt x="12" y="48"/>
                    </a:lnTo>
                    <a:lnTo>
                      <a:pt x="8" y="46"/>
                    </a:lnTo>
                    <a:lnTo>
                      <a:pt x="5" y="43"/>
                    </a:lnTo>
                    <a:lnTo>
                      <a:pt x="3" y="41"/>
                    </a:lnTo>
                    <a:lnTo>
                      <a:pt x="1" y="38"/>
                    </a:lnTo>
                    <a:lnTo>
                      <a:pt x="0" y="35"/>
                    </a:lnTo>
                  </a:path>
                </a:pathLst>
              </a:custGeom>
              <a:solidFill>
                <a:srgbClr val="C0C0C0"/>
              </a:solidFill>
              <a:ln w="12700" cap="rnd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1931" name="AutoShape 60"/>
              <p:cNvSpPr>
                <a:spLocks noChangeArrowheads="1"/>
              </p:cNvSpPr>
              <p:nvPr/>
            </p:nvSpPr>
            <p:spPr bwMode="auto">
              <a:xfrm>
                <a:off x="1263" y="2523"/>
                <a:ext cx="430" cy="483"/>
              </a:xfrm>
              <a:prstGeom prst="roundRect">
                <a:avLst>
                  <a:gd name="adj" fmla="val 2120"/>
                </a:avLst>
              </a:prstGeom>
              <a:solidFill>
                <a:srgbClr val="C0C0C0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TW" altLang="en-US"/>
              </a:p>
            </p:txBody>
          </p:sp>
          <p:sp>
            <p:nvSpPr>
              <p:cNvPr id="1932" name="AutoShape 61"/>
              <p:cNvSpPr>
                <a:spLocks noChangeArrowheads="1"/>
              </p:cNvSpPr>
              <p:nvPr/>
            </p:nvSpPr>
            <p:spPr bwMode="auto">
              <a:xfrm>
                <a:off x="1293" y="2561"/>
                <a:ext cx="377" cy="401"/>
              </a:xfrm>
              <a:prstGeom prst="roundRect">
                <a:avLst>
                  <a:gd name="adj" fmla="val 16667"/>
                </a:avLst>
              </a:prstGeom>
              <a:solidFill>
                <a:srgbClr val="808080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TW" altLang="en-US"/>
              </a:p>
            </p:txBody>
          </p:sp>
          <p:sp>
            <p:nvSpPr>
              <p:cNvPr id="1933" name="Rectangle 62"/>
              <p:cNvSpPr>
                <a:spLocks noChangeArrowheads="1"/>
              </p:cNvSpPr>
              <p:nvPr/>
            </p:nvSpPr>
            <p:spPr bwMode="auto">
              <a:xfrm>
                <a:off x="1302" y="2987"/>
                <a:ext cx="39" cy="6"/>
              </a:xfrm>
              <a:prstGeom prst="rect">
                <a:avLst/>
              </a:prstGeom>
              <a:solidFill>
                <a:schemeClr val="tx1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TW" altLang="en-US"/>
              </a:p>
            </p:txBody>
          </p:sp>
          <p:sp>
            <p:nvSpPr>
              <p:cNvPr id="1934" name="Rectangle 63"/>
              <p:cNvSpPr>
                <a:spLocks noChangeArrowheads="1"/>
              </p:cNvSpPr>
              <p:nvPr/>
            </p:nvSpPr>
            <p:spPr bwMode="auto">
              <a:xfrm>
                <a:off x="962" y="2613"/>
                <a:ext cx="121" cy="165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TW" altLang="en-US"/>
              </a:p>
            </p:txBody>
          </p:sp>
          <p:grpSp>
            <p:nvGrpSpPr>
              <p:cNvPr id="18" name="Group 64"/>
              <p:cNvGrpSpPr>
                <a:grpSpLocks/>
              </p:cNvGrpSpPr>
              <p:nvPr/>
            </p:nvGrpSpPr>
            <p:grpSpPr bwMode="auto">
              <a:xfrm>
                <a:off x="913" y="2576"/>
                <a:ext cx="176" cy="662"/>
                <a:chOff x="913" y="2576"/>
                <a:chExt cx="176" cy="662"/>
              </a:xfrm>
            </p:grpSpPr>
            <p:sp>
              <p:nvSpPr>
                <p:cNvPr id="1953" name="Rectangle 65"/>
                <p:cNvSpPr>
                  <a:spLocks noChangeArrowheads="1"/>
                </p:cNvSpPr>
                <p:nvPr/>
              </p:nvSpPr>
              <p:spPr bwMode="auto">
                <a:xfrm>
                  <a:off x="959" y="2577"/>
                  <a:ext cx="130" cy="655"/>
                </a:xfrm>
                <a:prstGeom prst="rect">
                  <a:avLst/>
                </a:prstGeom>
                <a:solidFill>
                  <a:srgbClr val="C0C0C0"/>
                </a:solidFill>
                <a:ln w="12700">
                  <a:solidFill>
                    <a:srgbClr val="000000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954" name="Freeform 66"/>
                <p:cNvSpPr>
                  <a:spLocks/>
                </p:cNvSpPr>
                <p:nvPr/>
              </p:nvSpPr>
              <p:spPr bwMode="auto">
                <a:xfrm>
                  <a:off x="913" y="2576"/>
                  <a:ext cx="43" cy="662"/>
                </a:xfrm>
                <a:custGeom>
                  <a:avLst/>
                  <a:gdLst/>
                  <a:ahLst/>
                  <a:cxnLst>
                    <a:cxn ang="0">
                      <a:pos x="42" y="0"/>
                    </a:cxn>
                    <a:cxn ang="0">
                      <a:pos x="42" y="661"/>
                    </a:cxn>
                    <a:cxn ang="0">
                      <a:pos x="0" y="598"/>
                    </a:cxn>
                    <a:cxn ang="0">
                      <a:pos x="0" y="70"/>
                    </a:cxn>
                    <a:cxn ang="0">
                      <a:pos x="42" y="0"/>
                    </a:cxn>
                  </a:cxnLst>
                  <a:rect l="0" t="0" r="r" b="b"/>
                  <a:pathLst>
                    <a:path w="43" h="662">
                      <a:moveTo>
                        <a:pt x="42" y="0"/>
                      </a:moveTo>
                      <a:lnTo>
                        <a:pt x="42" y="661"/>
                      </a:lnTo>
                      <a:lnTo>
                        <a:pt x="0" y="598"/>
                      </a:lnTo>
                      <a:lnTo>
                        <a:pt x="0" y="70"/>
                      </a:lnTo>
                      <a:lnTo>
                        <a:pt x="42" y="0"/>
                      </a:lnTo>
                    </a:path>
                  </a:pathLst>
                </a:custGeom>
                <a:solidFill>
                  <a:srgbClr val="C0C0C0"/>
                </a:solidFill>
                <a:ln w="12700" cap="rnd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zh-TW" altLang="en-US"/>
                </a:p>
              </p:txBody>
            </p:sp>
          </p:grpSp>
          <p:sp>
            <p:nvSpPr>
              <p:cNvPr id="1936" name="Line 67"/>
              <p:cNvSpPr>
                <a:spLocks noChangeShapeType="1"/>
              </p:cNvSpPr>
              <p:nvPr/>
            </p:nvSpPr>
            <p:spPr bwMode="auto">
              <a:xfrm>
                <a:off x="948" y="2591"/>
                <a:ext cx="0" cy="633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TW" altLang="en-US"/>
              </a:p>
            </p:txBody>
          </p:sp>
          <p:grpSp>
            <p:nvGrpSpPr>
              <p:cNvPr id="19" name="Group 68"/>
              <p:cNvGrpSpPr>
                <a:grpSpLocks/>
              </p:cNvGrpSpPr>
              <p:nvPr/>
            </p:nvGrpSpPr>
            <p:grpSpPr bwMode="auto">
              <a:xfrm>
                <a:off x="973" y="3031"/>
                <a:ext cx="105" cy="165"/>
                <a:chOff x="973" y="3031"/>
                <a:chExt cx="105" cy="165"/>
              </a:xfrm>
            </p:grpSpPr>
            <p:grpSp>
              <p:nvGrpSpPr>
                <p:cNvPr id="20" name="Group 69"/>
                <p:cNvGrpSpPr>
                  <a:grpSpLocks/>
                </p:cNvGrpSpPr>
                <p:nvPr/>
              </p:nvGrpSpPr>
              <p:grpSpPr bwMode="auto">
                <a:xfrm>
                  <a:off x="973" y="3031"/>
                  <a:ext cx="37" cy="165"/>
                  <a:chOff x="973" y="3031"/>
                  <a:chExt cx="37" cy="165"/>
                </a:xfrm>
              </p:grpSpPr>
              <p:sp>
                <p:nvSpPr>
                  <p:cNvPr id="1949" name="Rectangle 70"/>
                  <p:cNvSpPr>
                    <a:spLocks noChangeArrowheads="1"/>
                  </p:cNvSpPr>
                  <p:nvPr/>
                </p:nvSpPr>
                <p:spPr bwMode="auto">
                  <a:xfrm>
                    <a:off x="973" y="3168"/>
                    <a:ext cx="37" cy="28"/>
                  </a:xfrm>
                  <a:prstGeom prst="rect">
                    <a:avLst/>
                  </a:prstGeom>
                  <a:solidFill>
                    <a:schemeClr val="tx1"/>
                  </a:solidFill>
                  <a:ln w="12700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TW" altLang="en-US"/>
                  </a:p>
                </p:txBody>
              </p:sp>
              <p:sp>
                <p:nvSpPr>
                  <p:cNvPr id="1950" name="Rectangle 71"/>
                  <p:cNvSpPr>
                    <a:spLocks noChangeArrowheads="1"/>
                  </p:cNvSpPr>
                  <p:nvPr/>
                </p:nvSpPr>
                <p:spPr bwMode="auto">
                  <a:xfrm>
                    <a:off x="973" y="3125"/>
                    <a:ext cx="37" cy="14"/>
                  </a:xfrm>
                  <a:prstGeom prst="rect">
                    <a:avLst/>
                  </a:prstGeom>
                  <a:solidFill>
                    <a:schemeClr val="tx1"/>
                  </a:solidFill>
                  <a:ln w="12700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TW" altLang="en-US"/>
                  </a:p>
                </p:txBody>
              </p:sp>
              <p:sp>
                <p:nvSpPr>
                  <p:cNvPr id="1951" name="Rectangle 72"/>
                  <p:cNvSpPr>
                    <a:spLocks noChangeArrowheads="1"/>
                  </p:cNvSpPr>
                  <p:nvPr/>
                </p:nvSpPr>
                <p:spPr bwMode="auto">
                  <a:xfrm>
                    <a:off x="973" y="3074"/>
                    <a:ext cx="37" cy="20"/>
                  </a:xfrm>
                  <a:prstGeom prst="rect">
                    <a:avLst/>
                  </a:prstGeom>
                  <a:solidFill>
                    <a:schemeClr val="tx1"/>
                  </a:solidFill>
                  <a:ln w="12700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TW" altLang="en-US"/>
                  </a:p>
                </p:txBody>
              </p:sp>
              <p:sp>
                <p:nvSpPr>
                  <p:cNvPr id="1952" name="Rectangle 73"/>
                  <p:cNvSpPr>
                    <a:spLocks noChangeArrowheads="1"/>
                  </p:cNvSpPr>
                  <p:nvPr/>
                </p:nvSpPr>
                <p:spPr bwMode="auto">
                  <a:xfrm>
                    <a:off x="973" y="3031"/>
                    <a:ext cx="37" cy="14"/>
                  </a:xfrm>
                  <a:prstGeom prst="rect">
                    <a:avLst/>
                  </a:prstGeom>
                  <a:solidFill>
                    <a:schemeClr val="tx1"/>
                  </a:solidFill>
                  <a:ln w="12700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TW" altLang="en-US"/>
                  </a:p>
                </p:txBody>
              </p:sp>
            </p:grpSp>
            <p:sp>
              <p:nvSpPr>
                <p:cNvPr id="1945" name="Rectangle 74"/>
                <p:cNvSpPr>
                  <a:spLocks noChangeArrowheads="1"/>
                </p:cNvSpPr>
                <p:nvPr/>
              </p:nvSpPr>
              <p:spPr bwMode="auto">
                <a:xfrm>
                  <a:off x="1042" y="3168"/>
                  <a:ext cx="36" cy="28"/>
                </a:xfrm>
                <a:prstGeom prst="rect">
                  <a:avLst/>
                </a:prstGeom>
                <a:solidFill>
                  <a:schemeClr val="tx1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946" name="Rectangle 75"/>
                <p:cNvSpPr>
                  <a:spLocks noChangeArrowheads="1"/>
                </p:cNvSpPr>
                <p:nvPr/>
              </p:nvSpPr>
              <p:spPr bwMode="auto">
                <a:xfrm>
                  <a:off x="1042" y="3125"/>
                  <a:ext cx="36" cy="14"/>
                </a:xfrm>
                <a:prstGeom prst="rect">
                  <a:avLst/>
                </a:prstGeom>
                <a:solidFill>
                  <a:schemeClr val="tx1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947" name="Rectangle 76"/>
                <p:cNvSpPr>
                  <a:spLocks noChangeArrowheads="1"/>
                </p:cNvSpPr>
                <p:nvPr/>
              </p:nvSpPr>
              <p:spPr bwMode="auto">
                <a:xfrm>
                  <a:off x="1042" y="3074"/>
                  <a:ext cx="36" cy="20"/>
                </a:xfrm>
                <a:prstGeom prst="rect">
                  <a:avLst/>
                </a:prstGeom>
                <a:solidFill>
                  <a:schemeClr val="tx1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948" name="Rectangle 77"/>
                <p:cNvSpPr>
                  <a:spLocks noChangeArrowheads="1"/>
                </p:cNvSpPr>
                <p:nvPr/>
              </p:nvSpPr>
              <p:spPr bwMode="auto">
                <a:xfrm>
                  <a:off x="1042" y="3031"/>
                  <a:ext cx="36" cy="14"/>
                </a:xfrm>
                <a:prstGeom prst="rect">
                  <a:avLst/>
                </a:prstGeom>
                <a:solidFill>
                  <a:schemeClr val="tx1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</p:grpSp>
          <p:sp>
            <p:nvSpPr>
              <p:cNvPr id="1938" name="Rectangle 78" descr="Narrow vertical"/>
              <p:cNvSpPr>
                <a:spLocks noChangeArrowheads="1"/>
              </p:cNvSpPr>
              <p:nvPr/>
            </p:nvSpPr>
            <p:spPr bwMode="auto">
              <a:xfrm>
                <a:off x="979" y="2732"/>
                <a:ext cx="90" cy="82"/>
              </a:xfrm>
              <a:prstGeom prst="rect">
                <a:avLst/>
              </a:prstGeom>
              <a:pattFill prst="narVert">
                <a:fgClr>
                  <a:schemeClr val="bg1"/>
                </a:fgClr>
                <a:bgClr>
                  <a:schemeClr val="tx1"/>
                </a:bgClr>
              </a:patt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TW" altLang="en-US"/>
              </a:p>
            </p:txBody>
          </p:sp>
          <p:sp>
            <p:nvSpPr>
              <p:cNvPr id="1939" name="Rectangle 79" descr="Narrow vertical"/>
              <p:cNvSpPr>
                <a:spLocks noChangeArrowheads="1"/>
              </p:cNvSpPr>
              <p:nvPr/>
            </p:nvSpPr>
            <p:spPr bwMode="auto">
              <a:xfrm>
                <a:off x="973" y="2872"/>
                <a:ext cx="100" cy="122"/>
              </a:xfrm>
              <a:prstGeom prst="rect">
                <a:avLst/>
              </a:prstGeom>
              <a:pattFill prst="narVert">
                <a:fgClr>
                  <a:schemeClr val="bg1"/>
                </a:fgClr>
                <a:bgClr>
                  <a:schemeClr val="tx1"/>
                </a:bgClr>
              </a:patt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TW" altLang="en-US"/>
              </a:p>
            </p:txBody>
          </p:sp>
          <p:grpSp>
            <p:nvGrpSpPr>
              <p:cNvPr id="21" name="Group 80"/>
              <p:cNvGrpSpPr>
                <a:grpSpLocks/>
              </p:cNvGrpSpPr>
              <p:nvPr/>
            </p:nvGrpSpPr>
            <p:grpSpPr bwMode="auto">
              <a:xfrm>
                <a:off x="979" y="2664"/>
                <a:ext cx="90" cy="46"/>
                <a:chOff x="979" y="2664"/>
                <a:chExt cx="90" cy="46"/>
              </a:xfrm>
            </p:grpSpPr>
            <p:sp>
              <p:nvSpPr>
                <p:cNvPr id="1941" name="Rectangle 81"/>
                <p:cNvSpPr>
                  <a:spLocks noChangeArrowheads="1"/>
                </p:cNvSpPr>
                <p:nvPr/>
              </p:nvSpPr>
              <p:spPr bwMode="auto">
                <a:xfrm>
                  <a:off x="979" y="2664"/>
                  <a:ext cx="90" cy="46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942" name="Rectangle 82"/>
                <p:cNvSpPr>
                  <a:spLocks noChangeArrowheads="1"/>
                </p:cNvSpPr>
                <p:nvPr/>
              </p:nvSpPr>
              <p:spPr bwMode="auto">
                <a:xfrm>
                  <a:off x="982" y="2671"/>
                  <a:ext cx="87" cy="3"/>
                </a:xfrm>
                <a:prstGeom prst="rect">
                  <a:avLst/>
                </a:prstGeom>
                <a:solidFill>
                  <a:schemeClr val="tx1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943" name="Rectangle 83"/>
                <p:cNvSpPr>
                  <a:spLocks noChangeArrowheads="1"/>
                </p:cNvSpPr>
                <p:nvPr/>
              </p:nvSpPr>
              <p:spPr bwMode="auto">
                <a:xfrm>
                  <a:off x="982" y="2692"/>
                  <a:ext cx="87" cy="7"/>
                </a:xfrm>
                <a:prstGeom prst="rect">
                  <a:avLst/>
                </a:prstGeom>
                <a:solidFill>
                  <a:schemeClr val="tx1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</p:grpSp>
        </p:grpSp>
        <p:grpSp>
          <p:nvGrpSpPr>
            <p:cNvPr id="22" name="Group 84"/>
            <p:cNvGrpSpPr>
              <a:grpSpLocks/>
            </p:cNvGrpSpPr>
            <p:nvPr/>
          </p:nvGrpSpPr>
          <p:grpSpPr bwMode="auto">
            <a:xfrm>
              <a:off x="2671554" y="3632519"/>
              <a:ext cx="684377" cy="1173986"/>
              <a:chOff x="2098" y="1790"/>
              <a:chExt cx="502" cy="908"/>
            </a:xfrm>
          </p:grpSpPr>
          <p:sp>
            <p:nvSpPr>
              <p:cNvPr id="1905" name="Rectangle 85"/>
              <p:cNvSpPr>
                <a:spLocks noChangeArrowheads="1"/>
              </p:cNvSpPr>
              <p:nvPr/>
            </p:nvSpPr>
            <p:spPr bwMode="auto">
              <a:xfrm>
                <a:off x="2098" y="1790"/>
                <a:ext cx="498" cy="857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lIns="68575" tIns="34288" rIns="68575" bIns="34288">
                <a:spAutoFit/>
              </a:bodyPr>
              <a:lstStyle/>
              <a:p>
                <a:endParaRPr lang="zh-TW" altLang="en-US"/>
              </a:p>
            </p:txBody>
          </p:sp>
          <p:grpSp>
            <p:nvGrpSpPr>
              <p:cNvPr id="23" name="Group 86"/>
              <p:cNvGrpSpPr>
                <a:grpSpLocks/>
              </p:cNvGrpSpPr>
              <p:nvPr/>
            </p:nvGrpSpPr>
            <p:grpSpPr bwMode="auto">
              <a:xfrm>
                <a:off x="2127" y="2085"/>
                <a:ext cx="442" cy="533"/>
                <a:chOff x="2127" y="2085"/>
                <a:chExt cx="442" cy="533"/>
              </a:xfrm>
            </p:grpSpPr>
            <p:sp>
              <p:nvSpPr>
                <p:cNvPr id="1914" name="Rectangle 87" descr="Narrow vertical"/>
                <p:cNvSpPr>
                  <a:spLocks noChangeArrowheads="1"/>
                </p:cNvSpPr>
                <p:nvPr/>
              </p:nvSpPr>
              <p:spPr bwMode="auto">
                <a:xfrm>
                  <a:off x="2127" y="2085"/>
                  <a:ext cx="442" cy="533"/>
                </a:xfrm>
                <a:prstGeom prst="rect">
                  <a:avLst/>
                </a:prstGeom>
                <a:pattFill prst="narVert">
                  <a:fgClr>
                    <a:schemeClr val="tx1"/>
                  </a:fgClr>
                  <a:bgClr>
                    <a:schemeClr val="bg1"/>
                  </a:bgClr>
                </a:patt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lIns="68575" tIns="34288" rIns="68575" bIns="34288">
                  <a:spAutoFit/>
                </a:bodyPr>
                <a:lstStyle/>
                <a:p>
                  <a:endParaRPr lang="zh-TW" altLang="en-US"/>
                </a:p>
              </p:txBody>
            </p:sp>
            <p:sp>
              <p:nvSpPr>
                <p:cNvPr id="1915" name="Line 88"/>
                <p:cNvSpPr>
                  <a:spLocks noChangeShapeType="1"/>
                </p:cNvSpPr>
                <p:nvPr/>
              </p:nvSpPr>
              <p:spPr bwMode="auto">
                <a:xfrm>
                  <a:off x="2127" y="2580"/>
                  <a:ext cx="442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lIns="68575" tIns="34288" rIns="68575" bIns="34288">
                  <a:spAutoFit/>
                </a:bodyPr>
                <a:lstStyle/>
                <a:p>
                  <a:endParaRPr lang="zh-TW" altLang="en-US"/>
                </a:p>
              </p:txBody>
            </p:sp>
            <p:sp>
              <p:nvSpPr>
                <p:cNvPr id="1916" name="Line 89"/>
                <p:cNvSpPr>
                  <a:spLocks noChangeShapeType="1"/>
                </p:cNvSpPr>
                <p:nvPr/>
              </p:nvSpPr>
              <p:spPr bwMode="auto">
                <a:xfrm>
                  <a:off x="2127" y="2539"/>
                  <a:ext cx="442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lIns="68575" tIns="34288" rIns="68575" bIns="34288">
                  <a:spAutoFit/>
                </a:bodyPr>
                <a:lstStyle/>
                <a:p>
                  <a:endParaRPr lang="zh-TW" altLang="en-US"/>
                </a:p>
              </p:txBody>
            </p:sp>
            <p:sp>
              <p:nvSpPr>
                <p:cNvPr id="1917" name="Line 90"/>
                <p:cNvSpPr>
                  <a:spLocks noChangeShapeType="1"/>
                </p:cNvSpPr>
                <p:nvPr/>
              </p:nvSpPr>
              <p:spPr bwMode="auto">
                <a:xfrm>
                  <a:off x="2127" y="2497"/>
                  <a:ext cx="442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lIns="68575" tIns="34288" rIns="68575" bIns="34288">
                  <a:spAutoFit/>
                </a:bodyPr>
                <a:lstStyle/>
                <a:p>
                  <a:endParaRPr lang="zh-TW" altLang="en-US"/>
                </a:p>
              </p:txBody>
            </p:sp>
            <p:sp>
              <p:nvSpPr>
                <p:cNvPr id="1918" name="Line 91"/>
                <p:cNvSpPr>
                  <a:spLocks noChangeShapeType="1"/>
                </p:cNvSpPr>
                <p:nvPr/>
              </p:nvSpPr>
              <p:spPr bwMode="auto">
                <a:xfrm>
                  <a:off x="2127" y="2456"/>
                  <a:ext cx="442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lIns="68575" tIns="34288" rIns="68575" bIns="34288">
                  <a:spAutoFit/>
                </a:bodyPr>
                <a:lstStyle/>
                <a:p>
                  <a:endParaRPr lang="zh-TW" altLang="en-US"/>
                </a:p>
              </p:txBody>
            </p:sp>
            <p:sp>
              <p:nvSpPr>
                <p:cNvPr id="1919" name="Line 92"/>
                <p:cNvSpPr>
                  <a:spLocks noChangeShapeType="1"/>
                </p:cNvSpPr>
                <p:nvPr/>
              </p:nvSpPr>
              <p:spPr bwMode="auto">
                <a:xfrm>
                  <a:off x="2127" y="2413"/>
                  <a:ext cx="442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lIns="68575" tIns="34288" rIns="68575" bIns="34288">
                  <a:spAutoFit/>
                </a:bodyPr>
                <a:lstStyle/>
                <a:p>
                  <a:endParaRPr lang="zh-TW" altLang="en-US"/>
                </a:p>
              </p:txBody>
            </p:sp>
            <p:sp>
              <p:nvSpPr>
                <p:cNvPr id="1920" name="Line 93"/>
                <p:cNvSpPr>
                  <a:spLocks noChangeShapeType="1"/>
                </p:cNvSpPr>
                <p:nvPr/>
              </p:nvSpPr>
              <p:spPr bwMode="auto">
                <a:xfrm>
                  <a:off x="2127" y="2372"/>
                  <a:ext cx="442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lIns="68575" tIns="34288" rIns="68575" bIns="34288">
                  <a:spAutoFit/>
                </a:bodyPr>
                <a:lstStyle/>
                <a:p>
                  <a:endParaRPr lang="zh-TW" altLang="en-US"/>
                </a:p>
              </p:txBody>
            </p:sp>
            <p:sp>
              <p:nvSpPr>
                <p:cNvPr id="1921" name="Line 94"/>
                <p:cNvSpPr>
                  <a:spLocks noChangeShapeType="1"/>
                </p:cNvSpPr>
                <p:nvPr/>
              </p:nvSpPr>
              <p:spPr bwMode="auto">
                <a:xfrm>
                  <a:off x="2127" y="2330"/>
                  <a:ext cx="442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lIns="68575" tIns="34288" rIns="68575" bIns="34288">
                  <a:spAutoFit/>
                </a:bodyPr>
                <a:lstStyle/>
                <a:p>
                  <a:endParaRPr lang="zh-TW" altLang="en-US"/>
                </a:p>
              </p:txBody>
            </p:sp>
            <p:sp>
              <p:nvSpPr>
                <p:cNvPr id="1922" name="Line 95"/>
                <p:cNvSpPr>
                  <a:spLocks noChangeShapeType="1"/>
                </p:cNvSpPr>
                <p:nvPr/>
              </p:nvSpPr>
              <p:spPr bwMode="auto">
                <a:xfrm>
                  <a:off x="2127" y="2289"/>
                  <a:ext cx="442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lIns="68575" tIns="34288" rIns="68575" bIns="34288">
                  <a:spAutoFit/>
                </a:bodyPr>
                <a:lstStyle/>
                <a:p>
                  <a:endParaRPr lang="zh-TW" altLang="en-US"/>
                </a:p>
              </p:txBody>
            </p:sp>
            <p:sp>
              <p:nvSpPr>
                <p:cNvPr id="1923" name="Line 96"/>
                <p:cNvSpPr>
                  <a:spLocks noChangeShapeType="1"/>
                </p:cNvSpPr>
                <p:nvPr/>
              </p:nvSpPr>
              <p:spPr bwMode="auto">
                <a:xfrm>
                  <a:off x="2127" y="2247"/>
                  <a:ext cx="442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lIns="68575" tIns="34288" rIns="68575" bIns="34288">
                  <a:spAutoFit/>
                </a:bodyPr>
                <a:lstStyle/>
                <a:p>
                  <a:endParaRPr lang="zh-TW" altLang="en-US"/>
                </a:p>
              </p:txBody>
            </p:sp>
            <p:sp>
              <p:nvSpPr>
                <p:cNvPr id="1924" name="Line 97"/>
                <p:cNvSpPr>
                  <a:spLocks noChangeShapeType="1"/>
                </p:cNvSpPr>
                <p:nvPr/>
              </p:nvSpPr>
              <p:spPr bwMode="auto">
                <a:xfrm>
                  <a:off x="2127" y="2205"/>
                  <a:ext cx="442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lIns="68575" tIns="34288" rIns="68575" bIns="34288">
                  <a:spAutoFit/>
                </a:bodyPr>
                <a:lstStyle/>
                <a:p>
                  <a:endParaRPr lang="zh-TW" altLang="en-US"/>
                </a:p>
              </p:txBody>
            </p:sp>
            <p:sp>
              <p:nvSpPr>
                <p:cNvPr id="1925" name="Line 98"/>
                <p:cNvSpPr>
                  <a:spLocks noChangeShapeType="1"/>
                </p:cNvSpPr>
                <p:nvPr/>
              </p:nvSpPr>
              <p:spPr bwMode="auto">
                <a:xfrm>
                  <a:off x="2127" y="2164"/>
                  <a:ext cx="442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lIns="68575" tIns="34288" rIns="68575" bIns="34288">
                  <a:spAutoFit/>
                </a:bodyPr>
                <a:lstStyle/>
                <a:p>
                  <a:endParaRPr lang="zh-TW" altLang="en-US"/>
                </a:p>
              </p:txBody>
            </p:sp>
            <p:sp>
              <p:nvSpPr>
                <p:cNvPr id="1926" name="Line 99"/>
                <p:cNvSpPr>
                  <a:spLocks noChangeShapeType="1"/>
                </p:cNvSpPr>
                <p:nvPr/>
              </p:nvSpPr>
              <p:spPr bwMode="auto">
                <a:xfrm>
                  <a:off x="2127" y="2122"/>
                  <a:ext cx="442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lIns="68575" tIns="34288" rIns="68575" bIns="34288">
                  <a:spAutoFit/>
                </a:bodyPr>
                <a:lstStyle/>
                <a:p>
                  <a:endParaRPr lang="zh-TW" altLang="en-US"/>
                </a:p>
              </p:txBody>
            </p:sp>
          </p:grpSp>
          <p:sp>
            <p:nvSpPr>
              <p:cNvPr id="1907" name="Rectangle 100"/>
              <p:cNvSpPr>
                <a:spLocks noChangeArrowheads="1"/>
              </p:cNvSpPr>
              <p:nvPr/>
            </p:nvSpPr>
            <p:spPr bwMode="auto">
              <a:xfrm>
                <a:off x="2103" y="1804"/>
                <a:ext cx="497" cy="211"/>
              </a:xfrm>
              <a:prstGeom prst="rect">
                <a:avLst/>
              </a:prstGeom>
              <a:solidFill>
                <a:schemeClr val="tx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lIns="68575" tIns="34288" rIns="68575" bIns="34288">
                <a:spAutoFit/>
              </a:bodyPr>
              <a:lstStyle/>
              <a:p>
                <a:endParaRPr lang="zh-TW" altLang="en-US"/>
              </a:p>
            </p:txBody>
          </p:sp>
          <p:sp>
            <p:nvSpPr>
              <p:cNvPr id="1908" name="Line 101"/>
              <p:cNvSpPr>
                <a:spLocks noChangeShapeType="1"/>
              </p:cNvSpPr>
              <p:nvPr/>
            </p:nvSpPr>
            <p:spPr bwMode="auto">
              <a:xfrm>
                <a:off x="2274" y="1819"/>
                <a:ext cx="0" cy="167"/>
              </a:xfrm>
              <a:prstGeom prst="line">
                <a:avLst/>
              </a:prstGeom>
              <a:noFill/>
              <a:ln w="12700">
                <a:solidFill>
                  <a:schemeClr val="bg1"/>
                </a:solidFill>
                <a:round/>
                <a:headEnd/>
                <a:tailEnd/>
              </a:ln>
              <a:effectLst/>
            </p:spPr>
            <p:txBody>
              <a:bodyPr wrap="none" lIns="68575" tIns="34288" rIns="68575" bIns="34288">
                <a:spAutoFit/>
              </a:bodyPr>
              <a:lstStyle/>
              <a:p>
                <a:endParaRPr lang="zh-TW" altLang="en-US"/>
              </a:p>
            </p:txBody>
          </p:sp>
          <p:sp>
            <p:nvSpPr>
              <p:cNvPr id="1909" name="Rectangle 102"/>
              <p:cNvSpPr>
                <a:spLocks noChangeArrowheads="1"/>
              </p:cNvSpPr>
              <p:nvPr/>
            </p:nvSpPr>
            <p:spPr bwMode="auto">
              <a:xfrm>
                <a:off x="2352" y="1815"/>
                <a:ext cx="189" cy="100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lIns="68575" tIns="34288" rIns="68575" bIns="34288">
                <a:spAutoFit/>
              </a:bodyPr>
              <a:lstStyle/>
              <a:p>
                <a:pPr defTabSz="677863"/>
                <a:r>
                  <a:rPr lang="en-US" altLang="zh-TW" sz="600" b="1">
                    <a:solidFill>
                      <a:schemeClr val="bg1"/>
                    </a:solidFill>
                    <a:latin typeface="Arial" charset="0"/>
                    <a:ea typeface="新細明體" charset="-120"/>
                  </a:rPr>
                  <a:t>2100</a:t>
                </a:r>
              </a:p>
            </p:txBody>
          </p:sp>
          <p:sp>
            <p:nvSpPr>
              <p:cNvPr id="1910" name="Rectangle 103"/>
              <p:cNvSpPr>
                <a:spLocks noChangeArrowheads="1"/>
              </p:cNvSpPr>
              <p:nvPr/>
            </p:nvSpPr>
            <p:spPr bwMode="auto">
              <a:xfrm>
                <a:off x="2503" y="1833"/>
                <a:ext cx="52" cy="22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lIns="68575" tIns="34288" rIns="68575" bIns="34288">
                <a:spAutoFit/>
              </a:bodyPr>
              <a:lstStyle/>
              <a:p>
                <a:endParaRPr lang="zh-TW" altLang="en-US"/>
              </a:p>
            </p:txBody>
          </p:sp>
          <p:sp>
            <p:nvSpPr>
              <p:cNvPr id="1911" name="Rectangle 104"/>
              <p:cNvSpPr>
                <a:spLocks noChangeArrowheads="1"/>
              </p:cNvSpPr>
              <p:nvPr/>
            </p:nvSpPr>
            <p:spPr bwMode="auto">
              <a:xfrm>
                <a:off x="2113" y="1833"/>
                <a:ext cx="51" cy="22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lIns="68575" tIns="34288" rIns="68575" bIns="34288">
                <a:spAutoFit/>
              </a:bodyPr>
              <a:lstStyle/>
              <a:p>
                <a:endParaRPr lang="zh-TW" altLang="en-US"/>
              </a:p>
            </p:txBody>
          </p:sp>
          <p:sp>
            <p:nvSpPr>
              <p:cNvPr id="1912" name="Rectangle 105"/>
              <p:cNvSpPr>
                <a:spLocks noChangeArrowheads="1"/>
              </p:cNvSpPr>
              <p:nvPr/>
            </p:nvSpPr>
            <p:spPr bwMode="auto">
              <a:xfrm>
                <a:off x="2158" y="2653"/>
                <a:ext cx="16" cy="45"/>
              </a:xfrm>
              <a:prstGeom prst="rect">
                <a:avLst/>
              </a:prstGeom>
              <a:solidFill>
                <a:schemeClr val="tx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lIns="68575" tIns="34288" rIns="68575" bIns="34288">
                <a:spAutoFit/>
              </a:bodyPr>
              <a:lstStyle/>
              <a:p>
                <a:endParaRPr lang="zh-TW" altLang="en-US"/>
              </a:p>
            </p:txBody>
          </p:sp>
          <p:sp>
            <p:nvSpPr>
              <p:cNvPr id="1913" name="Rectangle 106"/>
              <p:cNvSpPr>
                <a:spLocks noChangeArrowheads="1"/>
              </p:cNvSpPr>
              <p:nvPr/>
            </p:nvSpPr>
            <p:spPr bwMode="auto">
              <a:xfrm>
                <a:off x="2528" y="2653"/>
                <a:ext cx="16" cy="45"/>
              </a:xfrm>
              <a:prstGeom prst="rect">
                <a:avLst/>
              </a:prstGeom>
              <a:solidFill>
                <a:schemeClr val="tx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lIns="68575" tIns="34288" rIns="68575" bIns="34288">
                <a:spAutoFit/>
              </a:bodyPr>
              <a:lstStyle/>
              <a:p>
                <a:endParaRPr lang="zh-TW" altLang="en-US"/>
              </a:p>
            </p:txBody>
          </p:sp>
        </p:grpSp>
        <p:grpSp>
          <p:nvGrpSpPr>
            <p:cNvPr id="24" name="Group 107"/>
            <p:cNvGrpSpPr>
              <a:grpSpLocks/>
            </p:cNvGrpSpPr>
            <p:nvPr/>
          </p:nvGrpSpPr>
          <p:grpSpPr bwMode="auto">
            <a:xfrm>
              <a:off x="3561112" y="2752983"/>
              <a:ext cx="1044437" cy="1155118"/>
              <a:chOff x="2187" y="1296"/>
              <a:chExt cx="789" cy="918"/>
            </a:xfrm>
          </p:grpSpPr>
          <p:sp>
            <p:nvSpPr>
              <p:cNvPr id="1712" name="Rectangle 108" descr="70%"/>
              <p:cNvSpPr>
                <a:spLocks noChangeArrowheads="1"/>
              </p:cNvSpPr>
              <p:nvPr/>
            </p:nvSpPr>
            <p:spPr bwMode="auto">
              <a:xfrm>
                <a:off x="2411" y="1728"/>
                <a:ext cx="354" cy="69"/>
              </a:xfrm>
              <a:prstGeom prst="rect">
                <a:avLst/>
              </a:prstGeom>
              <a:pattFill prst="pct70">
                <a:fgClr>
                  <a:schemeClr val="tx1"/>
                </a:fgClr>
                <a:bgClr>
                  <a:schemeClr val="bg1"/>
                </a:bgClr>
              </a:patt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lIns="23853" tIns="11924" rIns="23853" bIns="11924">
                <a:spAutoFit/>
              </a:bodyPr>
              <a:lstStyle/>
              <a:p>
                <a:endParaRPr lang="zh-TW" altLang="en-US"/>
              </a:p>
            </p:txBody>
          </p:sp>
          <p:grpSp>
            <p:nvGrpSpPr>
              <p:cNvPr id="25" name="Group 109"/>
              <p:cNvGrpSpPr>
                <a:grpSpLocks/>
              </p:cNvGrpSpPr>
              <p:nvPr/>
            </p:nvGrpSpPr>
            <p:grpSpPr bwMode="auto">
              <a:xfrm>
                <a:off x="2187" y="1968"/>
                <a:ext cx="144" cy="235"/>
                <a:chOff x="2941" y="1914"/>
                <a:chExt cx="140" cy="228"/>
              </a:xfrm>
            </p:grpSpPr>
            <p:sp>
              <p:nvSpPr>
                <p:cNvPr id="1883" name="Rectangle 110"/>
                <p:cNvSpPr>
                  <a:spLocks noChangeArrowheads="1"/>
                </p:cNvSpPr>
                <p:nvPr/>
              </p:nvSpPr>
              <p:spPr bwMode="auto">
                <a:xfrm>
                  <a:off x="2941" y="1914"/>
                  <a:ext cx="139" cy="215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lIns="23853" tIns="11924" rIns="23853" bIns="11924">
                  <a:spAutoFit/>
                </a:bodyPr>
                <a:lstStyle/>
                <a:p>
                  <a:endParaRPr lang="zh-TW" altLang="en-US"/>
                </a:p>
              </p:txBody>
            </p:sp>
            <p:grpSp>
              <p:nvGrpSpPr>
                <p:cNvPr id="26" name="Group 111"/>
                <p:cNvGrpSpPr>
                  <a:grpSpLocks/>
                </p:cNvGrpSpPr>
                <p:nvPr/>
              </p:nvGrpSpPr>
              <p:grpSpPr bwMode="auto">
                <a:xfrm>
                  <a:off x="2950" y="1990"/>
                  <a:ext cx="123" cy="132"/>
                  <a:chOff x="2950" y="1990"/>
                  <a:chExt cx="123" cy="132"/>
                </a:xfrm>
              </p:grpSpPr>
              <p:sp>
                <p:nvSpPr>
                  <p:cNvPr id="1892" name="Rectangle 112" descr="25%"/>
                  <p:cNvSpPr>
                    <a:spLocks noChangeArrowheads="1"/>
                  </p:cNvSpPr>
                  <p:nvPr/>
                </p:nvSpPr>
                <p:spPr bwMode="auto">
                  <a:xfrm>
                    <a:off x="2950" y="1990"/>
                    <a:ext cx="123" cy="132"/>
                  </a:xfrm>
                  <a:prstGeom prst="rect">
                    <a:avLst/>
                  </a:prstGeom>
                  <a:pattFill prst="pct25">
                    <a:fgClr>
                      <a:schemeClr val="tx1"/>
                    </a:fgClr>
                    <a:bgClr>
                      <a:schemeClr val="bg1"/>
                    </a:bgClr>
                  </a:pattFill>
                  <a:ln w="12700">
                    <a:solidFill>
                      <a:schemeClr val="bg1"/>
                    </a:solidFill>
                    <a:miter lim="800000"/>
                    <a:headEnd/>
                    <a:tailEnd/>
                  </a:ln>
                  <a:effectLst/>
                </p:spPr>
                <p:txBody>
                  <a:bodyPr wrap="none" lIns="23853" tIns="11924" rIns="23853" bIns="11924">
                    <a:spAutoFit/>
                  </a:bodyPr>
                  <a:lstStyle/>
                  <a:p>
                    <a:endParaRPr lang="zh-TW" altLang="en-US"/>
                  </a:p>
                </p:txBody>
              </p:sp>
              <p:sp>
                <p:nvSpPr>
                  <p:cNvPr id="1893" name="Line 113"/>
                  <p:cNvSpPr>
                    <a:spLocks noChangeShapeType="1"/>
                  </p:cNvSpPr>
                  <p:nvPr/>
                </p:nvSpPr>
                <p:spPr bwMode="auto">
                  <a:xfrm>
                    <a:off x="2950" y="2115"/>
                    <a:ext cx="123" cy="0"/>
                  </a:xfrm>
                  <a:prstGeom prst="line">
                    <a:avLst/>
                  </a:prstGeom>
                  <a:noFill/>
                  <a:ln w="127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lIns="23853" tIns="11924" rIns="23853" bIns="11924">
                    <a:spAutoFit/>
                  </a:bodyPr>
                  <a:lstStyle/>
                  <a:p>
                    <a:endParaRPr lang="zh-TW" altLang="en-US"/>
                  </a:p>
                </p:txBody>
              </p:sp>
              <p:sp>
                <p:nvSpPr>
                  <p:cNvPr id="1894" name="Line 114"/>
                  <p:cNvSpPr>
                    <a:spLocks noChangeShapeType="1"/>
                  </p:cNvSpPr>
                  <p:nvPr/>
                </p:nvSpPr>
                <p:spPr bwMode="auto">
                  <a:xfrm>
                    <a:off x="2950" y="2104"/>
                    <a:ext cx="123" cy="0"/>
                  </a:xfrm>
                  <a:prstGeom prst="line">
                    <a:avLst/>
                  </a:prstGeom>
                  <a:noFill/>
                  <a:ln w="127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lIns="23853" tIns="11924" rIns="23853" bIns="11924">
                    <a:spAutoFit/>
                  </a:bodyPr>
                  <a:lstStyle/>
                  <a:p>
                    <a:endParaRPr lang="zh-TW" altLang="en-US"/>
                  </a:p>
                </p:txBody>
              </p:sp>
              <p:sp>
                <p:nvSpPr>
                  <p:cNvPr id="1895" name="Line 115"/>
                  <p:cNvSpPr>
                    <a:spLocks noChangeShapeType="1"/>
                  </p:cNvSpPr>
                  <p:nvPr/>
                </p:nvSpPr>
                <p:spPr bwMode="auto">
                  <a:xfrm>
                    <a:off x="2950" y="2093"/>
                    <a:ext cx="123" cy="0"/>
                  </a:xfrm>
                  <a:prstGeom prst="line">
                    <a:avLst/>
                  </a:prstGeom>
                  <a:noFill/>
                  <a:ln w="127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lIns="23853" tIns="11924" rIns="23853" bIns="11924">
                    <a:spAutoFit/>
                  </a:bodyPr>
                  <a:lstStyle/>
                  <a:p>
                    <a:endParaRPr lang="zh-TW" altLang="en-US"/>
                  </a:p>
                </p:txBody>
              </p:sp>
              <p:sp>
                <p:nvSpPr>
                  <p:cNvPr id="1896" name="Line 116"/>
                  <p:cNvSpPr>
                    <a:spLocks noChangeShapeType="1"/>
                  </p:cNvSpPr>
                  <p:nvPr/>
                </p:nvSpPr>
                <p:spPr bwMode="auto">
                  <a:xfrm>
                    <a:off x="2950" y="2083"/>
                    <a:ext cx="123" cy="0"/>
                  </a:xfrm>
                  <a:prstGeom prst="line">
                    <a:avLst/>
                  </a:prstGeom>
                  <a:noFill/>
                  <a:ln w="127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lIns="23853" tIns="11924" rIns="23853" bIns="11924">
                    <a:spAutoFit/>
                  </a:bodyPr>
                  <a:lstStyle/>
                  <a:p>
                    <a:endParaRPr lang="zh-TW" altLang="en-US"/>
                  </a:p>
                </p:txBody>
              </p:sp>
              <p:sp>
                <p:nvSpPr>
                  <p:cNvPr id="1897" name="Line 117"/>
                  <p:cNvSpPr>
                    <a:spLocks noChangeShapeType="1"/>
                  </p:cNvSpPr>
                  <p:nvPr/>
                </p:nvSpPr>
                <p:spPr bwMode="auto">
                  <a:xfrm>
                    <a:off x="2950" y="2072"/>
                    <a:ext cx="123" cy="0"/>
                  </a:xfrm>
                  <a:prstGeom prst="line">
                    <a:avLst/>
                  </a:prstGeom>
                  <a:noFill/>
                  <a:ln w="127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lIns="23853" tIns="11924" rIns="23853" bIns="11924">
                    <a:spAutoFit/>
                  </a:bodyPr>
                  <a:lstStyle/>
                  <a:p>
                    <a:endParaRPr lang="zh-TW" altLang="en-US"/>
                  </a:p>
                </p:txBody>
              </p:sp>
              <p:sp>
                <p:nvSpPr>
                  <p:cNvPr id="1898" name="Line 118"/>
                  <p:cNvSpPr>
                    <a:spLocks noChangeShapeType="1"/>
                  </p:cNvSpPr>
                  <p:nvPr/>
                </p:nvSpPr>
                <p:spPr bwMode="auto">
                  <a:xfrm>
                    <a:off x="2950" y="2061"/>
                    <a:ext cx="123" cy="0"/>
                  </a:xfrm>
                  <a:prstGeom prst="line">
                    <a:avLst/>
                  </a:prstGeom>
                  <a:noFill/>
                  <a:ln w="127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lIns="23853" tIns="11924" rIns="23853" bIns="11924">
                    <a:spAutoFit/>
                  </a:bodyPr>
                  <a:lstStyle/>
                  <a:p>
                    <a:endParaRPr lang="zh-TW" altLang="en-US"/>
                  </a:p>
                </p:txBody>
              </p:sp>
              <p:sp>
                <p:nvSpPr>
                  <p:cNvPr id="1899" name="Line 119"/>
                  <p:cNvSpPr>
                    <a:spLocks noChangeShapeType="1"/>
                  </p:cNvSpPr>
                  <p:nvPr/>
                </p:nvSpPr>
                <p:spPr bwMode="auto">
                  <a:xfrm>
                    <a:off x="2950" y="2050"/>
                    <a:ext cx="123" cy="0"/>
                  </a:xfrm>
                  <a:prstGeom prst="line">
                    <a:avLst/>
                  </a:prstGeom>
                  <a:noFill/>
                  <a:ln w="127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lIns="23853" tIns="11924" rIns="23853" bIns="11924">
                    <a:spAutoFit/>
                  </a:bodyPr>
                  <a:lstStyle/>
                  <a:p>
                    <a:endParaRPr lang="zh-TW" altLang="en-US"/>
                  </a:p>
                </p:txBody>
              </p:sp>
              <p:sp>
                <p:nvSpPr>
                  <p:cNvPr id="1900" name="Line 120"/>
                  <p:cNvSpPr>
                    <a:spLocks noChangeShapeType="1"/>
                  </p:cNvSpPr>
                  <p:nvPr/>
                </p:nvSpPr>
                <p:spPr bwMode="auto">
                  <a:xfrm>
                    <a:off x="2950" y="2040"/>
                    <a:ext cx="123" cy="0"/>
                  </a:xfrm>
                  <a:prstGeom prst="line">
                    <a:avLst/>
                  </a:prstGeom>
                  <a:noFill/>
                  <a:ln w="127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lIns="23853" tIns="11924" rIns="23853" bIns="11924">
                    <a:spAutoFit/>
                  </a:bodyPr>
                  <a:lstStyle/>
                  <a:p>
                    <a:endParaRPr lang="zh-TW" altLang="en-US"/>
                  </a:p>
                </p:txBody>
              </p:sp>
              <p:sp>
                <p:nvSpPr>
                  <p:cNvPr id="1901" name="Line 121"/>
                  <p:cNvSpPr>
                    <a:spLocks noChangeShapeType="1"/>
                  </p:cNvSpPr>
                  <p:nvPr/>
                </p:nvSpPr>
                <p:spPr bwMode="auto">
                  <a:xfrm>
                    <a:off x="2950" y="2029"/>
                    <a:ext cx="123" cy="0"/>
                  </a:xfrm>
                  <a:prstGeom prst="line">
                    <a:avLst/>
                  </a:prstGeom>
                  <a:noFill/>
                  <a:ln w="127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lIns="23853" tIns="11924" rIns="23853" bIns="11924">
                    <a:spAutoFit/>
                  </a:bodyPr>
                  <a:lstStyle/>
                  <a:p>
                    <a:endParaRPr lang="zh-TW" altLang="en-US"/>
                  </a:p>
                </p:txBody>
              </p:sp>
              <p:sp>
                <p:nvSpPr>
                  <p:cNvPr id="1902" name="Line 122"/>
                  <p:cNvSpPr>
                    <a:spLocks noChangeShapeType="1"/>
                  </p:cNvSpPr>
                  <p:nvPr/>
                </p:nvSpPr>
                <p:spPr bwMode="auto">
                  <a:xfrm>
                    <a:off x="2950" y="2018"/>
                    <a:ext cx="123" cy="0"/>
                  </a:xfrm>
                  <a:prstGeom prst="line">
                    <a:avLst/>
                  </a:prstGeom>
                  <a:noFill/>
                  <a:ln w="127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lIns="23853" tIns="11924" rIns="23853" bIns="11924">
                    <a:spAutoFit/>
                  </a:bodyPr>
                  <a:lstStyle/>
                  <a:p>
                    <a:endParaRPr lang="zh-TW" altLang="en-US"/>
                  </a:p>
                </p:txBody>
              </p:sp>
              <p:sp>
                <p:nvSpPr>
                  <p:cNvPr id="1903" name="Line 123"/>
                  <p:cNvSpPr>
                    <a:spLocks noChangeShapeType="1"/>
                  </p:cNvSpPr>
                  <p:nvPr/>
                </p:nvSpPr>
                <p:spPr bwMode="auto">
                  <a:xfrm>
                    <a:off x="2950" y="2008"/>
                    <a:ext cx="123" cy="0"/>
                  </a:xfrm>
                  <a:prstGeom prst="line">
                    <a:avLst/>
                  </a:prstGeom>
                  <a:noFill/>
                  <a:ln w="127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lIns="23853" tIns="11924" rIns="23853" bIns="11924">
                    <a:spAutoFit/>
                  </a:bodyPr>
                  <a:lstStyle/>
                  <a:p>
                    <a:endParaRPr lang="zh-TW" altLang="en-US"/>
                  </a:p>
                </p:txBody>
              </p:sp>
              <p:sp>
                <p:nvSpPr>
                  <p:cNvPr id="1904" name="Line 124"/>
                  <p:cNvSpPr>
                    <a:spLocks noChangeShapeType="1"/>
                  </p:cNvSpPr>
                  <p:nvPr/>
                </p:nvSpPr>
                <p:spPr bwMode="auto">
                  <a:xfrm>
                    <a:off x="2950" y="1997"/>
                    <a:ext cx="123" cy="0"/>
                  </a:xfrm>
                  <a:prstGeom prst="line">
                    <a:avLst/>
                  </a:prstGeom>
                  <a:noFill/>
                  <a:ln w="127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lIns="23853" tIns="11924" rIns="23853" bIns="11924">
                    <a:spAutoFit/>
                  </a:bodyPr>
                  <a:lstStyle/>
                  <a:p>
                    <a:endParaRPr lang="zh-TW" altLang="en-US"/>
                  </a:p>
                </p:txBody>
              </p:sp>
            </p:grpSp>
            <p:sp>
              <p:nvSpPr>
                <p:cNvPr id="1885" name="Rectangle 125"/>
                <p:cNvSpPr>
                  <a:spLocks noChangeArrowheads="1"/>
                </p:cNvSpPr>
                <p:nvPr/>
              </p:nvSpPr>
              <p:spPr bwMode="auto">
                <a:xfrm>
                  <a:off x="2943" y="1918"/>
                  <a:ext cx="138" cy="48"/>
                </a:xfrm>
                <a:prstGeom prst="rect">
                  <a:avLst/>
                </a:prstGeom>
                <a:solidFill>
                  <a:schemeClr val="tx1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lIns="23853" tIns="11924" rIns="23853" bIns="11924">
                  <a:spAutoFit/>
                </a:bodyPr>
                <a:lstStyle/>
                <a:p>
                  <a:endParaRPr lang="zh-TW" altLang="en-US"/>
                </a:p>
              </p:txBody>
            </p:sp>
            <p:sp>
              <p:nvSpPr>
                <p:cNvPr id="1886" name="Line 126"/>
                <p:cNvSpPr>
                  <a:spLocks noChangeShapeType="1"/>
                </p:cNvSpPr>
                <p:nvPr/>
              </p:nvSpPr>
              <p:spPr bwMode="auto">
                <a:xfrm>
                  <a:off x="2990" y="1922"/>
                  <a:ext cx="0" cy="36"/>
                </a:xfrm>
                <a:prstGeom prst="line">
                  <a:avLst/>
                </a:prstGeom>
                <a:noFill/>
                <a:ln w="12700">
                  <a:solidFill>
                    <a:schemeClr val="bg1"/>
                  </a:solidFill>
                  <a:round/>
                  <a:headEnd/>
                  <a:tailEnd/>
                </a:ln>
                <a:effectLst/>
              </p:spPr>
              <p:txBody>
                <a:bodyPr wrap="none" lIns="23853" tIns="11924" rIns="23853" bIns="11924">
                  <a:spAutoFit/>
                </a:bodyPr>
                <a:lstStyle/>
                <a:p>
                  <a:endParaRPr lang="zh-TW" altLang="en-US"/>
                </a:p>
              </p:txBody>
            </p:sp>
            <p:sp>
              <p:nvSpPr>
                <p:cNvPr id="1887" name="Rectangle 127"/>
                <p:cNvSpPr>
                  <a:spLocks noChangeArrowheads="1"/>
                </p:cNvSpPr>
                <p:nvPr/>
              </p:nvSpPr>
              <p:spPr bwMode="auto">
                <a:xfrm>
                  <a:off x="3012" y="1915"/>
                  <a:ext cx="64" cy="34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 wrap="none" lIns="23853" tIns="11924" rIns="23853" bIns="11924">
                  <a:spAutoFit/>
                </a:bodyPr>
                <a:lstStyle/>
                <a:p>
                  <a:pPr defTabSz="179388"/>
                  <a:r>
                    <a:rPr lang="en-US" altLang="zh-TW" sz="200" b="1">
                      <a:solidFill>
                        <a:schemeClr val="bg1"/>
                      </a:solidFill>
                      <a:latin typeface="Arial" charset="0"/>
                      <a:ea typeface="新細明體" charset="-120"/>
                    </a:rPr>
                    <a:t>2100</a:t>
                  </a:r>
                </a:p>
              </p:txBody>
            </p:sp>
            <p:sp>
              <p:nvSpPr>
                <p:cNvPr id="1888" name="Rectangle 128"/>
                <p:cNvSpPr>
                  <a:spLocks noChangeArrowheads="1"/>
                </p:cNvSpPr>
                <p:nvPr/>
              </p:nvSpPr>
              <p:spPr bwMode="auto">
                <a:xfrm>
                  <a:off x="3058" y="1925"/>
                  <a:ext cx="11" cy="1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lIns="23853" tIns="11924" rIns="23853" bIns="11924">
                  <a:spAutoFit/>
                </a:bodyPr>
                <a:lstStyle/>
                <a:p>
                  <a:endParaRPr lang="zh-TW" altLang="en-US"/>
                </a:p>
              </p:txBody>
            </p:sp>
            <p:sp>
              <p:nvSpPr>
                <p:cNvPr id="1889" name="Rectangle 129"/>
                <p:cNvSpPr>
                  <a:spLocks noChangeArrowheads="1"/>
                </p:cNvSpPr>
                <p:nvPr/>
              </p:nvSpPr>
              <p:spPr bwMode="auto">
                <a:xfrm>
                  <a:off x="2946" y="1925"/>
                  <a:ext cx="9" cy="1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lIns="23853" tIns="11924" rIns="23853" bIns="11924">
                  <a:spAutoFit/>
                </a:bodyPr>
                <a:lstStyle/>
                <a:p>
                  <a:endParaRPr lang="zh-TW" altLang="en-US"/>
                </a:p>
              </p:txBody>
            </p:sp>
            <p:sp>
              <p:nvSpPr>
                <p:cNvPr id="1890" name="Rectangle 130"/>
                <p:cNvSpPr>
                  <a:spLocks noChangeArrowheads="1"/>
                </p:cNvSpPr>
                <p:nvPr/>
              </p:nvSpPr>
              <p:spPr bwMode="auto">
                <a:xfrm>
                  <a:off x="2958" y="2137"/>
                  <a:ext cx="1" cy="5"/>
                </a:xfrm>
                <a:prstGeom prst="rect">
                  <a:avLst/>
                </a:prstGeom>
                <a:solidFill>
                  <a:schemeClr val="tx1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lIns="23853" tIns="11924" rIns="23853" bIns="11924">
                  <a:spAutoFit/>
                </a:bodyPr>
                <a:lstStyle/>
                <a:p>
                  <a:endParaRPr lang="zh-TW" altLang="en-US"/>
                </a:p>
              </p:txBody>
            </p:sp>
            <p:sp>
              <p:nvSpPr>
                <p:cNvPr id="1891" name="Rectangle 131"/>
                <p:cNvSpPr>
                  <a:spLocks noChangeArrowheads="1"/>
                </p:cNvSpPr>
                <p:nvPr/>
              </p:nvSpPr>
              <p:spPr bwMode="auto">
                <a:xfrm>
                  <a:off x="3065" y="2137"/>
                  <a:ext cx="1" cy="5"/>
                </a:xfrm>
                <a:prstGeom prst="rect">
                  <a:avLst/>
                </a:prstGeom>
                <a:solidFill>
                  <a:schemeClr val="tx1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lIns="23853" tIns="11924" rIns="23853" bIns="11924">
                  <a:spAutoFit/>
                </a:bodyPr>
                <a:lstStyle/>
                <a:p>
                  <a:endParaRPr lang="zh-TW" altLang="en-US"/>
                </a:p>
              </p:txBody>
            </p:sp>
          </p:grpSp>
          <p:grpSp>
            <p:nvGrpSpPr>
              <p:cNvPr id="27" name="Group 132"/>
              <p:cNvGrpSpPr>
                <a:grpSpLocks/>
              </p:cNvGrpSpPr>
              <p:nvPr/>
            </p:nvGrpSpPr>
            <p:grpSpPr bwMode="auto">
              <a:xfrm>
                <a:off x="2411" y="1972"/>
                <a:ext cx="144" cy="235"/>
                <a:chOff x="3159" y="1918"/>
                <a:chExt cx="140" cy="228"/>
              </a:xfrm>
            </p:grpSpPr>
            <p:sp>
              <p:nvSpPr>
                <p:cNvPr id="1861" name="Rectangle 133"/>
                <p:cNvSpPr>
                  <a:spLocks noChangeArrowheads="1"/>
                </p:cNvSpPr>
                <p:nvPr/>
              </p:nvSpPr>
              <p:spPr bwMode="auto">
                <a:xfrm>
                  <a:off x="3159" y="1918"/>
                  <a:ext cx="140" cy="215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lIns="23853" tIns="11924" rIns="23853" bIns="11924">
                  <a:spAutoFit/>
                </a:bodyPr>
                <a:lstStyle/>
                <a:p>
                  <a:endParaRPr lang="zh-TW" altLang="en-US"/>
                </a:p>
              </p:txBody>
            </p:sp>
            <p:grpSp>
              <p:nvGrpSpPr>
                <p:cNvPr id="28" name="Group 134"/>
                <p:cNvGrpSpPr>
                  <a:grpSpLocks/>
                </p:cNvGrpSpPr>
                <p:nvPr/>
              </p:nvGrpSpPr>
              <p:grpSpPr bwMode="auto">
                <a:xfrm>
                  <a:off x="3168" y="1993"/>
                  <a:ext cx="122" cy="132"/>
                  <a:chOff x="3168" y="1993"/>
                  <a:chExt cx="122" cy="132"/>
                </a:xfrm>
              </p:grpSpPr>
              <p:sp>
                <p:nvSpPr>
                  <p:cNvPr id="1870" name="Rectangle 135" descr="25%"/>
                  <p:cNvSpPr>
                    <a:spLocks noChangeArrowheads="1"/>
                  </p:cNvSpPr>
                  <p:nvPr/>
                </p:nvSpPr>
                <p:spPr bwMode="auto">
                  <a:xfrm>
                    <a:off x="3168" y="1993"/>
                    <a:ext cx="122" cy="132"/>
                  </a:xfrm>
                  <a:prstGeom prst="rect">
                    <a:avLst/>
                  </a:prstGeom>
                  <a:pattFill prst="pct25">
                    <a:fgClr>
                      <a:schemeClr val="tx1"/>
                    </a:fgClr>
                    <a:bgClr>
                      <a:schemeClr val="bg1"/>
                    </a:bgClr>
                  </a:pattFill>
                  <a:ln w="12700">
                    <a:solidFill>
                      <a:schemeClr val="bg1"/>
                    </a:solidFill>
                    <a:miter lim="800000"/>
                    <a:headEnd/>
                    <a:tailEnd/>
                  </a:ln>
                  <a:effectLst/>
                </p:spPr>
                <p:txBody>
                  <a:bodyPr wrap="none" lIns="23853" tIns="11924" rIns="23853" bIns="11924">
                    <a:spAutoFit/>
                  </a:bodyPr>
                  <a:lstStyle/>
                  <a:p>
                    <a:endParaRPr lang="zh-TW" altLang="en-US"/>
                  </a:p>
                </p:txBody>
              </p:sp>
              <p:sp>
                <p:nvSpPr>
                  <p:cNvPr id="1871" name="Line 136"/>
                  <p:cNvSpPr>
                    <a:spLocks noChangeShapeType="1"/>
                  </p:cNvSpPr>
                  <p:nvPr/>
                </p:nvSpPr>
                <p:spPr bwMode="auto">
                  <a:xfrm>
                    <a:off x="3168" y="2119"/>
                    <a:ext cx="122" cy="0"/>
                  </a:xfrm>
                  <a:prstGeom prst="line">
                    <a:avLst/>
                  </a:prstGeom>
                  <a:noFill/>
                  <a:ln w="127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lIns="23853" tIns="11924" rIns="23853" bIns="11924">
                    <a:spAutoFit/>
                  </a:bodyPr>
                  <a:lstStyle/>
                  <a:p>
                    <a:endParaRPr lang="zh-TW" altLang="en-US"/>
                  </a:p>
                </p:txBody>
              </p:sp>
              <p:sp>
                <p:nvSpPr>
                  <p:cNvPr id="1872" name="Line 137"/>
                  <p:cNvSpPr>
                    <a:spLocks noChangeShapeType="1"/>
                  </p:cNvSpPr>
                  <p:nvPr/>
                </p:nvSpPr>
                <p:spPr bwMode="auto">
                  <a:xfrm>
                    <a:off x="3168" y="2108"/>
                    <a:ext cx="122" cy="0"/>
                  </a:xfrm>
                  <a:prstGeom prst="line">
                    <a:avLst/>
                  </a:prstGeom>
                  <a:noFill/>
                  <a:ln w="127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lIns="23853" tIns="11924" rIns="23853" bIns="11924">
                    <a:spAutoFit/>
                  </a:bodyPr>
                  <a:lstStyle/>
                  <a:p>
                    <a:endParaRPr lang="zh-TW" altLang="en-US"/>
                  </a:p>
                </p:txBody>
              </p:sp>
              <p:sp>
                <p:nvSpPr>
                  <p:cNvPr id="1873" name="Line 138"/>
                  <p:cNvSpPr>
                    <a:spLocks noChangeShapeType="1"/>
                  </p:cNvSpPr>
                  <p:nvPr/>
                </p:nvSpPr>
                <p:spPr bwMode="auto">
                  <a:xfrm>
                    <a:off x="3168" y="2097"/>
                    <a:ext cx="122" cy="0"/>
                  </a:xfrm>
                  <a:prstGeom prst="line">
                    <a:avLst/>
                  </a:prstGeom>
                  <a:noFill/>
                  <a:ln w="127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lIns="23853" tIns="11924" rIns="23853" bIns="11924">
                    <a:spAutoFit/>
                  </a:bodyPr>
                  <a:lstStyle/>
                  <a:p>
                    <a:endParaRPr lang="zh-TW" altLang="en-US"/>
                  </a:p>
                </p:txBody>
              </p:sp>
              <p:sp>
                <p:nvSpPr>
                  <p:cNvPr id="1874" name="Line 139"/>
                  <p:cNvSpPr>
                    <a:spLocks noChangeShapeType="1"/>
                  </p:cNvSpPr>
                  <p:nvPr/>
                </p:nvSpPr>
                <p:spPr bwMode="auto">
                  <a:xfrm>
                    <a:off x="3168" y="2087"/>
                    <a:ext cx="122" cy="0"/>
                  </a:xfrm>
                  <a:prstGeom prst="line">
                    <a:avLst/>
                  </a:prstGeom>
                  <a:noFill/>
                  <a:ln w="127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lIns="23853" tIns="11924" rIns="23853" bIns="11924">
                    <a:spAutoFit/>
                  </a:bodyPr>
                  <a:lstStyle/>
                  <a:p>
                    <a:endParaRPr lang="zh-TW" altLang="en-US"/>
                  </a:p>
                </p:txBody>
              </p:sp>
              <p:sp>
                <p:nvSpPr>
                  <p:cNvPr id="1875" name="Line 140"/>
                  <p:cNvSpPr>
                    <a:spLocks noChangeShapeType="1"/>
                  </p:cNvSpPr>
                  <p:nvPr/>
                </p:nvSpPr>
                <p:spPr bwMode="auto">
                  <a:xfrm>
                    <a:off x="3168" y="2076"/>
                    <a:ext cx="122" cy="0"/>
                  </a:xfrm>
                  <a:prstGeom prst="line">
                    <a:avLst/>
                  </a:prstGeom>
                  <a:noFill/>
                  <a:ln w="127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lIns="23853" tIns="11924" rIns="23853" bIns="11924">
                    <a:spAutoFit/>
                  </a:bodyPr>
                  <a:lstStyle/>
                  <a:p>
                    <a:endParaRPr lang="zh-TW" altLang="en-US"/>
                  </a:p>
                </p:txBody>
              </p:sp>
              <p:sp>
                <p:nvSpPr>
                  <p:cNvPr id="1876" name="Line 141"/>
                  <p:cNvSpPr>
                    <a:spLocks noChangeShapeType="1"/>
                  </p:cNvSpPr>
                  <p:nvPr/>
                </p:nvSpPr>
                <p:spPr bwMode="auto">
                  <a:xfrm>
                    <a:off x="3168" y="2065"/>
                    <a:ext cx="122" cy="0"/>
                  </a:xfrm>
                  <a:prstGeom prst="line">
                    <a:avLst/>
                  </a:prstGeom>
                  <a:noFill/>
                  <a:ln w="127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lIns="23853" tIns="11924" rIns="23853" bIns="11924">
                    <a:spAutoFit/>
                  </a:bodyPr>
                  <a:lstStyle/>
                  <a:p>
                    <a:endParaRPr lang="zh-TW" altLang="en-US"/>
                  </a:p>
                </p:txBody>
              </p:sp>
              <p:sp>
                <p:nvSpPr>
                  <p:cNvPr id="1877" name="Line 142"/>
                  <p:cNvSpPr>
                    <a:spLocks noChangeShapeType="1"/>
                  </p:cNvSpPr>
                  <p:nvPr/>
                </p:nvSpPr>
                <p:spPr bwMode="auto">
                  <a:xfrm>
                    <a:off x="3168" y="2054"/>
                    <a:ext cx="122" cy="0"/>
                  </a:xfrm>
                  <a:prstGeom prst="line">
                    <a:avLst/>
                  </a:prstGeom>
                  <a:noFill/>
                  <a:ln w="127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lIns="23853" tIns="11924" rIns="23853" bIns="11924">
                    <a:spAutoFit/>
                  </a:bodyPr>
                  <a:lstStyle/>
                  <a:p>
                    <a:endParaRPr lang="zh-TW" altLang="en-US"/>
                  </a:p>
                </p:txBody>
              </p:sp>
              <p:sp>
                <p:nvSpPr>
                  <p:cNvPr id="1878" name="Line 143"/>
                  <p:cNvSpPr>
                    <a:spLocks noChangeShapeType="1"/>
                  </p:cNvSpPr>
                  <p:nvPr/>
                </p:nvSpPr>
                <p:spPr bwMode="auto">
                  <a:xfrm>
                    <a:off x="3168" y="2044"/>
                    <a:ext cx="122" cy="0"/>
                  </a:xfrm>
                  <a:prstGeom prst="line">
                    <a:avLst/>
                  </a:prstGeom>
                  <a:noFill/>
                  <a:ln w="127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lIns="23853" tIns="11924" rIns="23853" bIns="11924">
                    <a:spAutoFit/>
                  </a:bodyPr>
                  <a:lstStyle/>
                  <a:p>
                    <a:endParaRPr lang="zh-TW" altLang="en-US"/>
                  </a:p>
                </p:txBody>
              </p:sp>
              <p:sp>
                <p:nvSpPr>
                  <p:cNvPr id="1879" name="Line 144"/>
                  <p:cNvSpPr>
                    <a:spLocks noChangeShapeType="1"/>
                  </p:cNvSpPr>
                  <p:nvPr/>
                </p:nvSpPr>
                <p:spPr bwMode="auto">
                  <a:xfrm>
                    <a:off x="3168" y="2032"/>
                    <a:ext cx="122" cy="0"/>
                  </a:xfrm>
                  <a:prstGeom prst="line">
                    <a:avLst/>
                  </a:prstGeom>
                  <a:noFill/>
                  <a:ln w="127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lIns="23853" tIns="11924" rIns="23853" bIns="11924">
                    <a:spAutoFit/>
                  </a:bodyPr>
                  <a:lstStyle/>
                  <a:p>
                    <a:endParaRPr lang="zh-TW" altLang="en-US"/>
                  </a:p>
                </p:txBody>
              </p:sp>
              <p:sp>
                <p:nvSpPr>
                  <p:cNvPr id="1880" name="Line 145"/>
                  <p:cNvSpPr>
                    <a:spLocks noChangeShapeType="1"/>
                  </p:cNvSpPr>
                  <p:nvPr/>
                </p:nvSpPr>
                <p:spPr bwMode="auto">
                  <a:xfrm>
                    <a:off x="3168" y="2022"/>
                    <a:ext cx="122" cy="0"/>
                  </a:xfrm>
                  <a:prstGeom prst="line">
                    <a:avLst/>
                  </a:prstGeom>
                  <a:noFill/>
                  <a:ln w="127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lIns="23853" tIns="11924" rIns="23853" bIns="11924">
                    <a:spAutoFit/>
                  </a:bodyPr>
                  <a:lstStyle/>
                  <a:p>
                    <a:endParaRPr lang="zh-TW" altLang="en-US"/>
                  </a:p>
                </p:txBody>
              </p:sp>
              <p:sp>
                <p:nvSpPr>
                  <p:cNvPr id="1881" name="Line 146"/>
                  <p:cNvSpPr>
                    <a:spLocks noChangeShapeType="1"/>
                  </p:cNvSpPr>
                  <p:nvPr/>
                </p:nvSpPr>
                <p:spPr bwMode="auto">
                  <a:xfrm>
                    <a:off x="3168" y="2011"/>
                    <a:ext cx="122" cy="0"/>
                  </a:xfrm>
                  <a:prstGeom prst="line">
                    <a:avLst/>
                  </a:prstGeom>
                  <a:noFill/>
                  <a:ln w="127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lIns="23853" tIns="11924" rIns="23853" bIns="11924">
                    <a:spAutoFit/>
                  </a:bodyPr>
                  <a:lstStyle/>
                  <a:p>
                    <a:endParaRPr lang="zh-TW" altLang="en-US"/>
                  </a:p>
                </p:txBody>
              </p:sp>
              <p:sp>
                <p:nvSpPr>
                  <p:cNvPr id="1882" name="Line 147"/>
                  <p:cNvSpPr>
                    <a:spLocks noChangeShapeType="1"/>
                  </p:cNvSpPr>
                  <p:nvPr/>
                </p:nvSpPr>
                <p:spPr bwMode="auto">
                  <a:xfrm>
                    <a:off x="3168" y="2001"/>
                    <a:ext cx="122" cy="0"/>
                  </a:xfrm>
                  <a:prstGeom prst="line">
                    <a:avLst/>
                  </a:prstGeom>
                  <a:noFill/>
                  <a:ln w="127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lIns="23853" tIns="11924" rIns="23853" bIns="11924">
                    <a:spAutoFit/>
                  </a:bodyPr>
                  <a:lstStyle/>
                  <a:p>
                    <a:endParaRPr lang="zh-TW" altLang="en-US"/>
                  </a:p>
                </p:txBody>
              </p:sp>
            </p:grpSp>
            <p:sp>
              <p:nvSpPr>
                <p:cNvPr id="1863" name="Rectangle 148"/>
                <p:cNvSpPr>
                  <a:spLocks noChangeArrowheads="1"/>
                </p:cNvSpPr>
                <p:nvPr/>
              </p:nvSpPr>
              <p:spPr bwMode="auto">
                <a:xfrm>
                  <a:off x="3161" y="1922"/>
                  <a:ext cx="138" cy="48"/>
                </a:xfrm>
                <a:prstGeom prst="rect">
                  <a:avLst/>
                </a:prstGeom>
                <a:solidFill>
                  <a:schemeClr val="tx1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lIns="23853" tIns="11924" rIns="23853" bIns="11924">
                  <a:spAutoFit/>
                </a:bodyPr>
                <a:lstStyle/>
                <a:p>
                  <a:endParaRPr lang="zh-TW" altLang="en-US"/>
                </a:p>
              </p:txBody>
            </p:sp>
            <p:sp>
              <p:nvSpPr>
                <p:cNvPr id="1864" name="Line 149"/>
                <p:cNvSpPr>
                  <a:spLocks noChangeShapeType="1"/>
                </p:cNvSpPr>
                <p:nvPr/>
              </p:nvSpPr>
              <p:spPr bwMode="auto">
                <a:xfrm>
                  <a:off x="3208" y="1926"/>
                  <a:ext cx="0" cy="37"/>
                </a:xfrm>
                <a:prstGeom prst="line">
                  <a:avLst/>
                </a:prstGeom>
                <a:noFill/>
                <a:ln w="12700">
                  <a:solidFill>
                    <a:schemeClr val="bg1"/>
                  </a:solidFill>
                  <a:round/>
                  <a:headEnd/>
                  <a:tailEnd/>
                </a:ln>
                <a:effectLst/>
              </p:spPr>
              <p:txBody>
                <a:bodyPr wrap="none" lIns="23853" tIns="11924" rIns="23853" bIns="11924">
                  <a:spAutoFit/>
                </a:bodyPr>
                <a:lstStyle/>
                <a:p>
                  <a:endParaRPr lang="zh-TW" altLang="en-US"/>
                </a:p>
              </p:txBody>
            </p:sp>
            <p:sp>
              <p:nvSpPr>
                <p:cNvPr id="1865" name="Rectangle 150"/>
                <p:cNvSpPr>
                  <a:spLocks noChangeArrowheads="1"/>
                </p:cNvSpPr>
                <p:nvPr/>
              </p:nvSpPr>
              <p:spPr bwMode="auto">
                <a:xfrm>
                  <a:off x="3230" y="1919"/>
                  <a:ext cx="64" cy="34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 wrap="none" lIns="23853" tIns="11924" rIns="23853" bIns="11924">
                  <a:spAutoFit/>
                </a:bodyPr>
                <a:lstStyle/>
                <a:p>
                  <a:pPr defTabSz="179388"/>
                  <a:r>
                    <a:rPr lang="en-US" altLang="zh-TW" sz="200" b="1">
                      <a:solidFill>
                        <a:schemeClr val="bg1"/>
                      </a:solidFill>
                      <a:latin typeface="Arial" charset="0"/>
                      <a:ea typeface="新細明體" charset="-120"/>
                    </a:rPr>
                    <a:t>2100</a:t>
                  </a:r>
                </a:p>
              </p:txBody>
            </p:sp>
            <p:sp>
              <p:nvSpPr>
                <p:cNvPr id="1866" name="Rectangle 151"/>
                <p:cNvSpPr>
                  <a:spLocks noChangeArrowheads="1"/>
                </p:cNvSpPr>
                <p:nvPr/>
              </p:nvSpPr>
              <p:spPr bwMode="auto">
                <a:xfrm>
                  <a:off x="3276" y="1925"/>
                  <a:ext cx="11" cy="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lIns="23853" tIns="11924" rIns="23853" bIns="11924">
                  <a:spAutoFit/>
                </a:bodyPr>
                <a:lstStyle/>
                <a:p>
                  <a:endParaRPr lang="zh-TW" altLang="en-US"/>
                </a:p>
              </p:txBody>
            </p:sp>
            <p:sp>
              <p:nvSpPr>
                <p:cNvPr id="1867" name="Rectangle 152"/>
                <p:cNvSpPr>
                  <a:spLocks noChangeArrowheads="1"/>
                </p:cNvSpPr>
                <p:nvPr/>
              </p:nvSpPr>
              <p:spPr bwMode="auto">
                <a:xfrm>
                  <a:off x="3164" y="1925"/>
                  <a:ext cx="8" cy="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lIns="23853" tIns="11924" rIns="23853" bIns="11924">
                  <a:spAutoFit/>
                </a:bodyPr>
                <a:lstStyle/>
                <a:p>
                  <a:endParaRPr lang="zh-TW" altLang="en-US"/>
                </a:p>
              </p:txBody>
            </p:sp>
            <p:sp>
              <p:nvSpPr>
                <p:cNvPr id="1868" name="Rectangle 153"/>
                <p:cNvSpPr>
                  <a:spLocks noChangeArrowheads="1"/>
                </p:cNvSpPr>
                <p:nvPr/>
              </p:nvSpPr>
              <p:spPr bwMode="auto">
                <a:xfrm>
                  <a:off x="3176" y="2141"/>
                  <a:ext cx="1" cy="5"/>
                </a:xfrm>
                <a:prstGeom prst="rect">
                  <a:avLst/>
                </a:prstGeom>
                <a:solidFill>
                  <a:schemeClr val="tx1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lIns="23853" tIns="11924" rIns="23853" bIns="11924">
                  <a:spAutoFit/>
                </a:bodyPr>
                <a:lstStyle/>
                <a:p>
                  <a:endParaRPr lang="zh-TW" altLang="en-US"/>
                </a:p>
              </p:txBody>
            </p:sp>
            <p:sp>
              <p:nvSpPr>
                <p:cNvPr id="1869" name="Rectangle 154"/>
                <p:cNvSpPr>
                  <a:spLocks noChangeArrowheads="1"/>
                </p:cNvSpPr>
                <p:nvPr/>
              </p:nvSpPr>
              <p:spPr bwMode="auto">
                <a:xfrm>
                  <a:off x="3280" y="2141"/>
                  <a:ext cx="6" cy="5"/>
                </a:xfrm>
                <a:prstGeom prst="rect">
                  <a:avLst/>
                </a:prstGeom>
                <a:solidFill>
                  <a:schemeClr val="tx1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lIns="23853" tIns="11924" rIns="23853" bIns="11924">
                  <a:spAutoFit/>
                </a:bodyPr>
                <a:lstStyle/>
                <a:p>
                  <a:endParaRPr lang="zh-TW" altLang="en-US"/>
                </a:p>
              </p:txBody>
            </p:sp>
          </p:grpSp>
          <p:grpSp>
            <p:nvGrpSpPr>
              <p:cNvPr id="29" name="Group 155"/>
              <p:cNvGrpSpPr>
                <a:grpSpLocks/>
              </p:cNvGrpSpPr>
              <p:nvPr/>
            </p:nvGrpSpPr>
            <p:grpSpPr bwMode="auto">
              <a:xfrm>
                <a:off x="2610" y="1972"/>
                <a:ext cx="145" cy="235"/>
                <a:chOff x="3352" y="1918"/>
                <a:chExt cx="141" cy="228"/>
              </a:xfrm>
            </p:grpSpPr>
            <p:sp>
              <p:nvSpPr>
                <p:cNvPr id="1839" name="Rectangle 156"/>
                <p:cNvSpPr>
                  <a:spLocks noChangeArrowheads="1"/>
                </p:cNvSpPr>
                <p:nvPr/>
              </p:nvSpPr>
              <p:spPr bwMode="auto">
                <a:xfrm>
                  <a:off x="3352" y="1918"/>
                  <a:ext cx="140" cy="215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lIns="23853" tIns="11924" rIns="23853" bIns="11924">
                  <a:spAutoFit/>
                </a:bodyPr>
                <a:lstStyle/>
                <a:p>
                  <a:endParaRPr lang="zh-TW" altLang="en-US"/>
                </a:p>
              </p:txBody>
            </p:sp>
            <p:grpSp>
              <p:nvGrpSpPr>
                <p:cNvPr id="30" name="Group 157"/>
                <p:cNvGrpSpPr>
                  <a:grpSpLocks/>
                </p:cNvGrpSpPr>
                <p:nvPr/>
              </p:nvGrpSpPr>
              <p:grpSpPr bwMode="auto">
                <a:xfrm>
                  <a:off x="3361" y="1993"/>
                  <a:ext cx="122" cy="132"/>
                  <a:chOff x="3361" y="1993"/>
                  <a:chExt cx="122" cy="132"/>
                </a:xfrm>
              </p:grpSpPr>
              <p:sp>
                <p:nvSpPr>
                  <p:cNvPr id="1848" name="Rectangle 158" descr="25%"/>
                  <p:cNvSpPr>
                    <a:spLocks noChangeArrowheads="1"/>
                  </p:cNvSpPr>
                  <p:nvPr/>
                </p:nvSpPr>
                <p:spPr bwMode="auto">
                  <a:xfrm>
                    <a:off x="3361" y="1993"/>
                    <a:ext cx="122" cy="132"/>
                  </a:xfrm>
                  <a:prstGeom prst="rect">
                    <a:avLst/>
                  </a:prstGeom>
                  <a:pattFill prst="pct25">
                    <a:fgClr>
                      <a:schemeClr val="tx1"/>
                    </a:fgClr>
                    <a:bgClr>
                      <a:schemeClr val="bg1"/>
                    </a:bgClr>
                  </a:pattFill>
                  <a:ln w="12700">
                    <a:solidFill>
                      <a:schemeClr val="bg1"/>
                    </a:solidFill>
                    <a:miter lim="800000"/>
                    <a:headEnd/>
                    <a:tailEnd/>
                  </a:ln>
                  <a:effectLst/>
                </p:spPr>
                <p:txBody>
                  <a:bodyPr wrap="none" lIns="23853" tIns="11924" rIns="23853" bIns="11924">
                    <a:spAutoFit/>
                  </a:bodyPr>
                  <a:lstStyle/>
                  <a:p>
                    <a:endParaRPr lang="zh-TW" altLang="en-US"/>
                  </a:p>
                </p:txBody>
              </p:sp>
              <p:sp>
                <p:nvSpPr>
                  <p:cNvPr id="1849" name="Line 159"/>
                  <p:cNvSpPr>
                    <a:spLocks noChangeShapeType="1"/>
                  </p:cNvSpPr>
                  <p:nvPr/>
                </p:nvSpPr>
                <p:spPr bwMode="auto">
                  <a:xfrm>
                    <a:off x="3361" y="2119"/>
                    <a:ext cx="122" cy="0"/>
                  </a:xfrm>
                  <a:prstGeom prst="line">
                    <a:avLst/>
                  </a:prstGeom>
                  <a:noFill/>
                  <a:ln w="127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lIns="23853" tIns="11924" rIns="23853" bIns="11924">
                    <a:spAutoFit/>
                  </a:bodyPr>
                  <a:lstStyle/>
                  <a:p>
                    <a:endParaRPr lang="zh-TW" altLang="en-US"/>
                  </a:p>
                </p:txBody>
              </p:sp>
              <p:sp>
                <p:nvSpPr>
                  <p:cNvPr id="1850" name="Line 160"/>
                  <p:cNvSpPr>
                    <a:spLocks noChangeShapeType="1"/>
                  </p:cNvSpPr>
                  <p:nvPr/>
                </p:nvSpPr>
                <p:spPr bwMode="auto">
                  <a:xfrm>
                    <a:off x="3361" y="2108"/>
                    <a:ext cx="122" cy="0"/>
                  </a:xfrm>
                  <a:prstGeom prst="line">
                    <a:avLst/>
                  </a:prstGeom>
                  <a:noFill/>
                  <a:ln w="127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lIns="23853" tIns="11924" rIns="23853" bIns="11924">
                    <a:spAutoFit/>
                  </a:bodyPr>
                  <a:lstStyle/>
                  <a:p>
                    <a:endParaRPr lang="zh-TW" altLang="en-US"/>
                  </a:p>
                </p:txBody>
              </p:sp>
              <p:sp>
                <p:nvSpPr>
                  <p:cNvPr id="1851" name="Line 161"/>
                  <p:cNvSpPr>
                    <a:spLocks noChangeShapeType="1"/>
                  </p:cNvSpPr>
                  <p:nvPr/>
                </p:nvSpPr>
                <p:spPr bwMode="auto">
                  <a:xfrm>
                    <a:off x="3361" y="2097"/>
                    <a:ext cx="122" cy="0"/>
                  </a:xfrm>
                  <a:prstGeom prst="line">
                    <a:avLst/>
                  </a:prstGeom>
                  <a:noFill/>
                  <a:ln w="127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lIns="23853" tIns="11924" rIns="23853" bIns="11924">
                    <a:spAutoFit/>
                  </a:bodyPr>
                  <a:lstStyle/>
                  <a:p>
                    <a:endParaRPr lang="zh-TW" altLang="en-US"/>
                  </a:p>
                </p:txBody>
              </p:sp>
              <p:sp>
                <p:nvSpPr>
                  <p:cNvPr id="1852" name="Line 162"/>
                  <p:cNvSpPr>
                    <a:spLocks noChangeShapeType="1"/>
                  </p:cNvSpPr>
                  <p:nvPr/>
                </p:nvSpPr>
                <p:spPr bwMode="auto">
                  <a:xfrm>
                    <a:off x="3361" y="2087"/>
                    <a:ext cx="122" cy="0"/>
                  </a:xfrm>
                  <a:prstGeom prst="line">
                    <a:avLst/>
                  </a:prstGeom>
                  <a:noFill/>
                  <a:ln w="127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lIns="23853" tIns="11924" rIns="23853" bIns="11924">
                    <a:spAutoFit/>
                  </a:bodyPr>
                  <a:lstStyle/>
                  <a:p>
                    <a:endParaRPr lang="zh-TW" altLang="en-US"/>
                  </a:p>
                </p:txBody>
              </p:sp>
              <p:sp>
                <p:nvSpPr>
                  <p:cNvPr id="1853" name="Line 163"/>
                  <p:cNvSpPr>
                    <a:spLocks noChangeShapeType="1"/>
                  </p:cNvSpPr>
                  <p:nvPr/>
                </p:nvSpPr>
                <p:spPr bwMode="auto">
                  <a:xfrm>
                    <a:off x="3361" y="2076"/>
                    <a:ext cx="122" cy="0"/>
                  </a:xfrm>
                  <a:prstGeom prst="line">
                    <a:avLst/>
                  </a:prstGeom>
                  <a:noFill/>
                  <a:ln w="127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lIns="23853" tIns="11924" rIns="23853" bIns="11924">
                    <a:spAutoFit/>
                  </a:bodyPr>
                  <a:lstStyle/>
                  <a:p>
                    <a:endParaRPr lang="zh-TW" altLang="en-US"/>
                  </a:p>
                </p:txBody>
              </p:sp>
              <p:sp>
                <p:nvSpPr>
                  <p:cNvPr id="1854" name="Line 164"/>
                  <p:cNvSpPr>
                    <a:spLocks noChangeShapeType="1"/>
                  </p:cNvSpPr>
                  <p:nvPr/>
                </p:nvSpPr>
                <p:spPr bwMode="auto">
                  <a:xfrm>
                    <a:off x="3361" y="2065"/>
                    <a:ext cx="122" cy="0"/>
                  </a:xfrm>
                  <a:prstGeom prst="line">
                    <a:avLst/>
                  </a:prstGeom>
                  <a:noFill/>
                  <a:ln w="127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lIns="23853" tIns="11924" rIns="23853" bIns="11924">
                    <a:spAutoFit/>
                  </a:bodyPr>
                  <a:lstStyle/>
                  <a:p>
                    <a:endParaRPr lang="zh-TW" altLang="en-US"/>
                  </a:p>
                </p:txBody>
              </p:sp>
              <p:sp>
                <p:nvSpPr>
                  <p:cNvPr id="1855" name="Line 165"/>
                  <p:cNvSpPr>
                    <a:spLocks noChangeShapeType="1"/>
                  </p:cNvSpPr>
                  <p:nvPr/>
                </p:nvSpPr>
                <p:spPr bwMode="auto">
                  <a:xfrm>
                    <a:off x="3361" y="2054"/>
                    <a:ext cx="122" cy="0"/>
                  </a:xfrm>
                  <a:prstGeom prst="line">
                    <a:avLst/>
                  </a:prstGeom>
                  <a:noFill/>
                  <a:ln w="127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lIns="23853" tIns="11924" rIns="23853" bIns="11924">
                    <a:spAutoFit/>
                  </a:bodyPr>
                  <a:lstStyle/>
                  <a:p>
                    <a:endParaRPr lang="zh-TW" altLang="en-US"/>
                  </a:p>
                </p:txBody>
              </p:sp>
              <p:sp>
                <p:nvSpPr>
                  <p:cNvPr id="1856" name="Line 166"/>
                  <p:cNvSpPr>
                    <a:spLocks noChangeShapeType="1"/>
                  </p:cNvSpPr>
                  <p:nvPr/>
                </p:nvSpPr>
                <p:spPr bwMode="auto">
                  <a:xfrm>
                    <a:off x="3361" y="2044"/>
                    <a:ext cx="122" cy="0"/>
                  </a:xfrm>
                  <a:prstGeom prst="line">
                    <a:avLst/>
                  </a:prstGeom>
                  <a:noFill/>
                  <a:ln w="127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lIns="23853" tIns="11924" rIns="23853" bIns="11924">
                    <a:spAutoFit/>
                  </a:bodyPr>
                  <a:lstStyle/>
                  <a:p>
                    <a:endParaRPr lang="zh-TW" altLang="en-US"/>
                  </a:p>
                </p:txBody>
              </p:sp>
              <p:sp>
                <p:nvSpPr>
                  <p:cNvPr id="1857" name="Line 167"/>
                  <p:cNvSpPr>
                    <a:spLocks noChangeShapeType="1"/>
                  </p:cNvSpPr>
                  <p:nvPr/>
                </p:nvSpPr>
                <p:spPr bwMode="auto">
                  <a:xfrm>
                    <a:off x="3361" y="2032"/>
                    <a:ext cx="122" cy="0"/>
                  </a:xfrm>
                  <a:prstGeom prst="line">
                    <a:avLst/>
                  </a:prstGeom>
                  <a:noFill/>
                  <a:ln w="127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lIns="23853" tIns="11924" rIns="23853" bIns="11924">
                    <a:spAutoFit/>
                  </a:bodyPr>
                  <a:lstStyle/>
                  <a:p>
                    <a:endParaRPr lang="zh-TW" altLang="en-US"/>
                  </a:p>
                </p:txBody>
              </p:sp>
              <p:sp>
                <p:nvSpPr>
                  <p:cNvPr id="1858" name="Line 168"/>
                  <p:cNvSpPr>
                    <a:spLocks noChangeShapeType="1"/>
                  </p:cNvSpPr>
                  <p:nvPr/>
                </p:nvSpPr>
                <p:spPr bwMode="auto">
                  <a:xfrm>
                    <a:off x="3361" y="2022"/>
                    <a:ext cx="122" cy="0"/>
                  </a:xfrm>
                  <a:prstGeom prst="line">
                    <a:avLst/>
                  </a:prstGeom>
                  <a:noFill/>
                  <a:ln w="127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lIns="23853" tIns="11924" rIns="23853" bIns="11924">
                    <a:spAutoFit/>
                  </a:bodyPr>
                  <a:lstStyle/>
                  <a:p>
                    <a:endParaRPr lang="zh-TW" altLang="en-US"/>
                  </a:p>
                </p:txBody>
              </p:sp>
              <p:sp>
                <p:nvSpPr>
                  <p:cNvPr id="1859" name="Line 169"/>
                  <p:cNvSpPr>
                    <a:spLocks noChangeShapeType="1"/>
                  </p:cNvSpPr>
                  <p:nvPr/>
                </p:nvSpPr>
                <p:spPr bwMode="auto">
                  <a:xfrm>
                    <a:off x="3361" y="2011"/>
                    <a:ext cx="122" cy="0"/>
                  </a:xfrm>
                  <a:prstGeom prst="line">
                    <a:avLst/>
                  </a:prstGeom>
                  <a:noFill/>
                  <a:ln w="127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lIns="23853" tIns="11924" rIns="23853" bIns="11924">
                    <a:spAutoFit/>
                  </a:bodyPr>
                  <a:lstStyle/>
                  <a:p>
                    <a:endParaRPr lang="zh-TW" altLang="en-US"/>
                  </a:p>
                </p:txBody>
              </p:sp>
              <p:sp>
                <p:nvSpPr>
                  <p:cNvPr id="1860" name="Line 170"/>
                  <p:cNvSpPr>
                    <a:spLocks noChangeShapeType="1"/>
                  </p:cNvSpPr>
                  <p:nvPr/>
                </p:nvSpPr>
                <p:spPr bwMode="auto">
                  <a:xfrm>
                    <a:off x="3361" y="2001"/>
                    <a:ext cx="122" cy="0"/>
                  </a:xfrm>
                  <a:prstGeom prst="line">
                    <a:avLst/>
                  </a:prstGeom>
                  <a:noFill/>
                  <a:ln w="127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lIns="23853" tIns="11924" rIns="23853" bIns="11924">
                    <a:spAutoFit/>
                  </a:bodyPr>
                  <a:lstStyle/>
                  <a:p>
                    <a:endParaRPr lang="zh-TW" altLang="en-US"/>
                  </a:p>
                </p:txBody>
              </p:sp>
            </p:grpSp>
            <p:sp>
              <p:nvSpPr>
                <p:cNvPr id="1841" name="Rectangle 171"/>
                <p:cNvSpPr>
                  <a:spLocks noChangeArrowheads="1"/>
                </p:cNvSpPr>
                <p:nvPr/>
              </p:nvSpPr>
              <p:spPr bwMode="auto">
                <a:xfrm>
                  <a:off x="3354" y="1922"/>
                  <a:ext cx="139" cy="48"/>
                </a:xfrm>
                <a:prstGeom prst="rect">
                  <a:avLst/>
                </a:prstGeom>
                <a:solidFill>
                  <a:schemeClr val="tx1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lIns="23853" tIns="11924" rIns="23853" bIns="11924">
                  <a:spAutoFit/>
                </a:bodyPr>
                <a:lstStyle/>
                <a:p>
                  <a:endParaRPr lang="zh-TW" altLang="en-US"/>
                </a:p>
              </p:txBody>
            </p:sp>
            <p:sp>
              <p:nvSpPr>
                <p:cNvPr id="1842" name="Line 172"/>
                <p:cNvSpPr>
                  <a:spLocks noChangeShapeType="1"/>
                </p:cNvSpPr>
                <p:nvPr/>
              </p:nvSpPr>
              <p:spPr bwMode="auto">
                <a:xfrm>
                  <a:off x="3402" y="1926"/>
                  <a:ext cx="0" cy="37"/>
                </a:xfrm>
                <a:prstGeom prst="line">
                  <a:avLst/>
                </a:prstGeom>
                <a:noFill/>
                <a:ln w="12700">
                  <a:solidFill>
                    <a:schemeClr val="bg1"/>
                  </a:solidFill>
                  <a:round/>
                  <a:headEnd/>
                  <a:tailEnd/>
                </a:ln>
                <a:effectLst/>
              </p:spPr>
              <p:txBody>
                <a:bodyPr wrap="none" lIns="23853" tIns="11924" rIns="23853" bIns="11924">
                  <a:spAutoFit/>
                </a:bodyPr>
                <a:lstStyle/>
                <a:p>
                  <a:endParaRPr lang="zh-TW" altLang="en-US"/>
                </a:p>
              </p:txBody>
            </p:sp>
            <p:sp>
              <p:nvSpPr>
                <p:cNvPr id="1843" name="Rectangle 173"/>
                <p:cNvSpPr>
                  <a:spLocks noChangeArrowheads="1"/>
                </p:cNvSpPr>
                <p:nvPr/>
              </p:nvSpPr>
              <p:spPr bwMode="auto">
                <a:xfrm>
                  <a:off x="3424" y="1919"/>
                  <a:ext cx="64" cy="34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 wrap="none" lIns="23853" tIns="11924" rIns="23853" bIns="11924">
                  <a:spAutoFit/>
                </a:bodyPr>
                <a:lstStyle/>
                <a:p>
                  <a:pPr defTabSz="179388"/>
                  <a:r>
                    <a:rPr lang="en-US" altLang="zh-TW" sz="200" b="1">
                      <a:solidFill>
                        <a:schemeClr val="bg1"/>
                      </a:solidFill>
                      <a:latin typeface="Arial" charset="0"/>
                      <a:ea typeface="新細明體" charset="-120"/>
                    </a:rPr>
                    <a:t>2100</a:t>
                  </a:r>
                </a:p>
              </p:txBody>
            </p:sp>
            <p:sp>
              <p:nvSpPr>
                <p:cNvPr id="1844" name="Rectangle 174"/>
                <p:cNvSpPr>
                  <a:spLocks noChangeArrowheads="1"/>
                </p:cNvSpPr>
                <p:nvPr/>
              </p:nvSpPr>
              <p:spPr bwMode="auto">
                <a:xfrm>
                  <a:off x="3469" y="1925"/>
                  <a:ext cx="11" cy="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lIns="23853" tIns="11924" rIns="23853" bIns="11924">
                  <a:spAutoFit/>
                </a:bodyPr>
                <a:lstStyle/>
                <a:p>
                  <a:endParaRPr lang="zh-TW" altLang="en-US"/>
                </a:p>
              </p:txBody>
            </p:sp>
            <p:sp>
              <p:nvSpPr>
                <p:cNvPr id="1845" name="Rectangle 175"/>
                <p:cNvSpPr>
                  <a:spLocks noChangeArrowheads="1"/>
                </p:cNvSpPr>
                <p:nvPr/>
              </p:nvSpPr>
              <p:spPr bwMode="auto">
                <a:xfrm>
                  <a:off x="3357" y="1925"/>
                  <a:ext cx="9" cy="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lIns="23853" tIns="11924" rIns="23853" bIns="11924">
                  <a:spAutoFit/>
                </a:bodyPr>
                <a:lstStyle/>
                <a:p>
                  <a:endParaRPr lang="zh-TW" altLang="en-US"/>
                </a:p>
              </p:txBody>
            </p:sp>
            <p:sp>
              <p:nvSpPr>
                <p:cNvPr id="1846" name="Rectangle 176"/>
                <p:cNvSpPr>
                  <a:spLocks noChangeArrowheads="1"/>
                </p:cNvSpPr>
                <p:nvPr/>
              </p:nvSpPr>
              <p:spPr bwMode="auto">
                <a:xfrm>
                  <a:off x="3366" y="2141"/>
                  <a:ext cx="7" cy="5"/>
                </a:xfrm>
                <a:prstGeom prst="rect">
                  <a:avLst/>
                </a:prstGeom>
                <a:solidFill>
                  <a:schemeClr val="tx1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lIns="23853" tIns="11924" rIns="23853" bIns="11924">
                  <a:spAutoFit/>
                </a:bodyPr>
                <a:lstStyle/>
                <a:p>
                  <a:endParaRPr lang="zh-TW" altLang="en-US"/>
                </a:p>
              </p:txBody>
            </p:sp>
            <p:sp>
              <p:nvSpPr>
                <p:cNvPr id="1847" name="Rectangle 177"/>
                <p:cNvSpPr>
                  <a:spLocks noChangeArrowheads="1"/>
                </p:cNvSpPr>
                <p:nvPr/>
              </p:nvSpPr>
              <p:spPr bwMode="auto">
                <a:xfrm>
                  <a:off x="3474" y="2141"/>
                  <a:ext cx="6" cy="5"/>
                </a:xfrm>
                <a:prstGeom prst="rect">
                  <a:avLst/>
                </a:prstGeom>
                <a:solidFill>
                  <a:schemeClr val="tx1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lIns="23853" tIns="11924" rIns="23853" bIns="11924">
                  <a:spAutoFit/>
                </a:bodyPr>
                <a:lstStyle/>
                <a:p>
                  <a:endParaRPr lang="zh-TW" altLang="en-US"/>
                </a:p>
              </p:txBody>
            </p:sp>
          </p:grpSp>
          <p:grpSp>
            <p:nvGrpSpPr>
              <p:cNvPr id="31" name="Group 178"/>
              <p:cNvGrpSpPr>
                <a:grpSpLocks/>
              </p:cNvGrpSpPr>
              <p:nvPr/>
            </p:nvGrpSpPr>
            <p:grpSpPr bwMode="auto">
              <a:xfrm>
                <a:off x="2832" y="1980"/>
                <a:ext cx="144" cy="234"/>
                <a:chOff x="3568" y="1925"/>
                <a:chExt cx="140" cy="228"/>
              </a:xfrm>
            </p:grpSpPr>
            <p:sp>
              <p:nvSpPr>
                <p:cNvPr id="1817" name="Rectangle 179"/>
                <p:cNvSpPr>
                  <a:spLocks noChangeArrowheads="1"/>
                </p:cNvSpPr>
                <p:nvPr/>
              </p:nvSpPr>
              <p:spPr bwMode="auto">
                <a:xfrm>
                  <a:off x="3568" y="1925"/>
                  <a:ext cx="139" cy="215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lIns="23853" tIns="11924" rIns="23853" bIns="11924">
                  <a:spAutoFit/>
                </a:bodyPr>
                <a:lstStyle/>
                <a:p>
                  <a:endParaRPr lang="zh-TW" altLang="en-US"/>
                </a:p>
              </p:txBody>
            </p:sp>
            <p:grpSp>
              <p:nvGrpSpPr>
                <p:cNvPr id="1504" name="Group 180"/>
                <p:cNvGrpSpPr>
                  <a:grpSpLocks/>
                </p:cNvGrpSpPr>
                <p:nvPr/>
              </p:nvGrpSpPr>
              <p:grpSpPr bwMode="auto">
                <a:xfrm>
                  <a:off x="3576" y="2001"/>
                  <a:ext cx="122" cy="132"/>
                  <a:chOff x="3576" y="2001"/>
                  <a:chExt cx="122" cy="132"/>
                </a:xfrm>
              </p:grpSpPr>
              <p:sp>
                <p:nvSpPr>
                  <p:cNvPr id="1826" name="Rectangle 181" descr="25%"/>
                  <p:cNvSpPr>
                    <a:spLocks noChangeArrowheads="1"/>
                  </p:cNvSpPr>
                  <p:nvPr/>
                </p:nvSpPr>
                <p:spPr bwMode="auto">
                  <a:xfrm>
                    <a:off x="3576" y="2001"/>
                    <a:ext cx="122" cy="132"/>
                  </a:xfrm>
                  <a:prstGeom prst="rect">
                    <a:avLst/>
                  </a:prstGeom>
                  <a:pattFill prst="pct25">
                    <a:fgClr>
                      <a:schemeClr val="tx1"/>
                    </a:fgClr>
                    <a:bgClr>
                      <a:schemeClr val="bg1"/>
                    </a:bgClr>
                  </a:pattFill>
                  <a:ln w="12700">
                    <a:solidFill>
                      <a:schemeClr val="bg1"/>
                    </a:solidFill>
                    <a:miter lim="800000"/>
                    <a:headEnd/>
                    <a:tailEnd/>
                  </a:ln>
                  <a:effectLst/>
                </p:spPr>
                <p:txBody>
                  <a:bodyPr wrap="none" lIns="23853" tIns="11924" rIns="23853" bIns="11924">
                    <a:spAutoFit/>
                  </a:bodyPr>
                  <a:lstStyle/>
                  <a:p>
                    <a:endParaRPr lang="zh-TW" altLang="en-US"/>
                  </a:p>
                </p:txBody>
              </p:sp>
              <p:sp>
                <p:nvSpPr>
                  <p:cNvPr id="1827" name="Line 182"/>
                  <p:cNvSpPr>
                    <a:spLocks noChangeShapeType="1"/>
                  </p:cNvSpPr>
                  <p:nvPr/>
                </p:nvSpPr>
                <p:spPr bwMode="auto">
                  <a:xfrm>
                    <a:off x="3576" y="2126"/>
                    <a:ext cx="122" cy="0"/>
                  </a:xfrm>
                  <a:prstGeom prst="line">
                    <a:avLst/>
                  </a:prstGeom>
                  <a:noFill/>
                  <a:ln w="127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lIns="23853" tIns="11924" rIns="23853" bIns="11924">
                    <a:spAutoFit/>
                  </a:bodyPr>
                  <a:lstStyle/>
                  <a:p>
                    <a:endParaRPr lang="zh-TW" altLang="en-US"/>
                  </a:p>
                </p:txBody>
              </p:sp>
              <p:sp>
                <p:nvSpPr>
                  <p:cNvPr id="1828" name="Line 183"/>
                  <p:cNvSpPr>
                    <a:spLocks noChangeShapeType="1"/>
                  </p:cNvSpPr>
                  <p:nvPr/>
                </p:nvSpPr>
                <p:spPr bwMode="auto">
                  <a:xfrm>
                    <a:off x="3576" y="2115"/>
                    <a:ext cx="122" cy="0"/>
                  </a:xfrm>
                  <a:prstGeom prst="line">
                    <a:avLst/>
                  </a:prstGeom>
                  <a:noFill/>
                  <a:ln w="127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lIns="23853" tIns="11924" rIns="23853" bIns="11924">
                    <a:spAutoFit/>
                  </a:bodyPr>
                  <a:lstStyle/>
                  <a:p>
                    <a:endParaRPr lang="zh-TW" altLang="en-US"/>
                  </a:p>
                </p:txBody>
              </p:sp>
              <p:sp>
                <p:nvSpPr>
                  <p:cNvPr id="1829" name="Line 184"/>
                  <p:cNvSpPr>
                    <a:spLocks noChangeShapeType="1"/>
                  </p:cNvSpPr>
                  <p:nvPr/>
                </p:nvSpPr>
                <p:spPr bwMode="auto">
                  <a:xfrm>
                    <a:off x="3576" y="2104"/>
                    <a:ext cx="122" cy="0"/>
                  </a:xfrm>
                  <a:prstGeom prst="line">
                    <a:avLst/>
                  </a:prstGeom>
                  <a:noFill/>
                  <a:ln w="127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lIns="23853" tIns="11924" rIns="23853" bIns="11924">
                    <a:spAutoFit/>
                  </a:bodyPr>
                  <a:lstStyle/>
                  <a:p>
                    <a:endParaRPr lang="zh-TW" altLang="en-US"/>
                  </a:p>
                </p:txBody>
              </p:sp>
              <p:sp>
                <p:nvSpPr>
                  <p:cNvPr id="1830" name="Line 185"/>
                  <p:cNvSpPr>
                    <a:spLocks noChangeShapeType="1"/>
                  </p:cNvSpPr>
                  <p:nvPr/>
                </p:nvSpPr>
                <p:spPr bwMode="auto">
                  <a:xfrm>
                    <a:off x="3576" y="2094"/>
                    <a:ext cx="122" cy="0"/>
                  </a:xfrm>
                  <a:prstGeom prst="line">
                    <a:avLst/>
                  </a:prstGeom>
                  <a:noFill/>
                  <a:ln w="127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lIns="23853" tIns="11924" rIns="23853" bIns="11924">
                    <a:spAutoFit/>
                  </a:bodyPr>
                  <a:lstStyle/>
                  <a:p>
                    <a:endParaRPr lang="zh-TW" altLang="en-US"/>
                  </a:p>
                </p:txBody>
              </p:sp>
              <p:sp>
                <p:nvSpPr>
                  <p:cNvPr id="1831" name="Line 186"/>
                  <p:cNvSpPr>
                    <a:spLocks noChangeShapeType="1"/>
                  </p:cNvSpPr>
                  <p:nvPr/>
                </p:nvSpPr>
                <p:spPr bwMode="auto">
                  <a:xfrm>
                    <a:off x="3576" y="2083"/>
                    <a:ext cx="122" cy="0"/>
                  </a:xfrm>
                  <a:prstGeom prst="line">
                    <a:avLst/>
                  </a:prstGeom>
                  <a:noFill/>
                  <a:ln w="127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lIns="23853" tIns="11924" rIns="23853" bIns="11924">
                    <a:spAutoFit/>
                  </a:bodyPr>
                  <a:lstStyle/>
                  <a:p>
                    <a:endParaRPr lang="zh-TW" altLang="en-US"/>
                  </a:p>
                </p:txBody>
              </p:sp>
              <p:sp>
                <p:nvSpPr>
                  <p:cNvPr id="1832" name="Line 187"/>
                  <p:cNvSpPr>
                    <a:spLocks noChangeShapeType="1"/>
                  </p:cNvSpPr>
                  <p:nvPr/>
                </p:nvSpPr>
                <p:spPr bwMode="auto">
                  <a:xfrm>
                    <a:off x="3576" y="2072"/>
                    <a:ext cx="122" cy="0"/>
                  </a:xfrm>
                  <a:prstGeom prst="line">
                    <a:avLst/>
                  </a:prstGeom>
                  <a:noFill/>
                  <a:ln w="127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lIns="23853" tIns="11924" rIns="23853" bIns="11924">
                    <a:spAutoFit/>
                  </a:bodyPr>
                  <a:lstStyle/>
                  <a:p>
                    <a:endParaRPr lang="zh-TW" altLang="en-US"/>
                  </a:p>
                </p:txBody>
              </p:sp>
              <p:sp>
                <p:nvSpPr>
                  <p:cNvPr id="1833" name="Line 188"/>
                  <p:cNvSpPr>
                    <a:spLocks noChangeShapeType="1"/>
                  </p:cNvSpPr>
                  <p:nvPr/>
                </p:nvSpPr>
                <p:spPr bwMode="auto">
                  <a:xfrm>
                    <a:off x="3576" y="2062"/>
                    <a:ext cx="122" cy="0"/>
                  </a:xfrm>
                  <a:prstGeom prst="line">
                    <a:avLst/>
                  </a:prstGeom>
                  <a:noFill/>
                  <a:ln w="127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lIns="23853" tIns="11924" rIns="23853" bIns="11924">
                    <a:spAutoFit/>
                  </a:bodyPr>
                  <a:lstStyle/>
                  <a:p>
                    <a:endParaRPr lang="zh-TW" altLang="en-US"/>
                  </a:p>
                </p:txBody>
              </p:sp>
              <p:sp>
                <p:nvSpPr>
                  <p:cNvPr id="1834" name="Line 189"/>
                  <p:cNvSpPr>
                    <a:spLocks noChangeShapeType="1"/>
                  </p:cNvSpPr>
                  <p:nvPr/>
                </p:nvSpPr>
                <p:spPr bwMode="auto">
                  <a:xfrm>
                    <a:off x="3576" y="2050"/>
                    <a:ext cx="122" cy="0"/>
                  </a:xfrm>
                  <a:prstGeom prst="line">
                    <a:avLst/>
                  </a:prstGeom>
                  <a:noFill/>
                  <a:ln w="127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lIns="23853" tIns="11924" rIns="23853" bIns="11924">
                    <a:spAutoFit/>
                  </a:bodyPr>
                  <a:lstStyle/>
                  <a:p>
                    <a:endParaRPr lang="zh-TW" altLang="en-US"/>
                  </a:p>
                </p:txBody>
              </p:sp>
              <p:sp>
                <p:nvSpPr>
                  <p:cNvPr id="1835" name="Line 190"/>
                  <p:cNvSpPr>
                    <a:spLocks noChangeShapeType="1"/>
                  </p:cNvSpPr>
                  <p:nvPr/>
                </p:nvSpPr>
                <p:spPr bwMode="auto">
                  <a:xfrm>
                    <a:off x="3576" y="2040"/>
                    <a:ext cx="122" cy="0"/>
                  </a:xfrm>
                  <a:prstGeom prst="line">
                    <a:avLst/>
                  </a:prstGeom>
                  <a:noFill/>
                  <a:ln w="127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lIns="23853" tIns="11924" rIns="23853" bIns="11924">
                    <a:spAutoFit/>
                  </a:bodyPr>
                  <a:lstStyle/>
                  <a:p>
                    <a:endParaRPr lang="zh-TW" altLang="en-US"/>
                  </a:p>
                </p:txBody>
              </p:sp>
              <p:sp>
                <p:nvSpPr>
                  <p:cNvPr id="1836" name="Line 191"/>
                  <p:cNvSpPr>
                    <a:spLocks noChangeShapeType="1"/>
                  </p:cNvSpPr>
                  <p:nvPr/>
                </p:nvSpPr>
                <p:spPr bwMode="auto">
                  <a:xfrm>
                    <a:off x="3576" y="2029"/>
                    <a:ext cx="122" cy="0"/>
                  </a:xfrm>
                  <a:prstGeom prst="line">
                    <a:avLst/>
                  </a:prstGeom>
                  <a:noFill/>
                  <a:ln w="127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lIns="23853" tIns="11924" rIns="23853" bIns="11924">
                    <a:spAutoFit/>
                  </a:bodyPr>
                  <a:lstStyle/>
                  <a:p>
                    <a:endParaRPr lang="zh-TW" altLang="en-US"/>
                  </a:p>
                </p:txBody>
              </p:sp>
              <p:sp>
                <p:nvSpPr>
                  <p:cNvPr id="1837" name="Line 192"/>
                  <p:cNvSpPr>
                    <a:spLocks noChangeShapeType="1"/>
                  </p:cNvSpPr>
                  <p:nvPr/>
                </p:nvSpPr>
                <p:spPr bwMode="auto">
                  <a:xfrm>
                    <a:off x="3576" y="2019"/>
                    <a:ext cx="122" cy="0"/>
                  </a:xfrm>
                  <a:prstGeom prst="line">
                    <a:avLst/>
                  </a:prstGeom>
                  <a:noFill/>
                  <a:ln w="127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lIns="23853" tIns="11924" rIns="23853" bIns="11924">
                    <a:spAutoFit/>
                  </a:bodyPr>
                  <a:lstStyle/>
                  <a:p>
                    <a:endParaRPr lang="zh-TW" altLang="en-US"/>
                  </a:p>
                </p:txBody>
              </p:sp>
              <p:sp>
                <p:nvSpPr>
                  <p:cNvPr id="1838" name="Line 193"/>
                  <p:cNvSpPr>
                    <a:spLocks noChangeShapeType="1"/>
                  </p:cNvSpPr>
                  <p:nvPr/>
                </p:nvSpPr>
                <p:spPr bwMode="auto">
                  <a:xfrm>
                    <a:off x="3576" y="2008"/>
                    <a:ext cx="122" cy="0"/>
                  </a:xfrm>
                  <a:prstGeom prst="line">
                    <a:avLst/>
                  </a:prstGeom>
                  <a:noFill/>
                  <a:ln w="127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lIns="23853" tIns="11924" rIns="23853" bIns="11924">
                    <a:spAutoFit/>
                  </a:bodyPr>
                  <a:lstStyle/>
                  <a:p>
                    <a:endParaRPr lang="zh-TW" altLang="en-US"/>
                  </a:p>
                </p:txBody>
              </p:sp>
            </p:grpSp>
            <p:sp>
              <p:nvSpPr>
                <p:cNvPr id="1819" name="Rectangle 194"/>
                <p:cNvSpPr>
                  <a:spLocks noChangeArrowheads="1"/>
                </p:cNvSpPr>
                <p:nvPr/>
              </p:nvSpPr>
              <p:spPr bwMode="auto">
                <a:xfrm>
                  <a:off x="3570" y="1929"/>
                  <a:ext cx="138" cy="48"/>
                </a:xfrm>
                <a:prstGeom prst="rect">
                  <a:avLst/>
                </a:prstGeom>
                <a:solidFill>
                  <a:schemeClr val="tx1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lIns="23853" tIns="11924" rIns="23853" bIns="11924">
                  <a:spAutoFit/>
                </a:bodyPr>
                <a:lstStyle/>
                <a:p>
                  <a:endParaRPr lang="zh-TW" altLang="en-US"/>
                </a:p>
              </p:txBody>
            </p:sp>
            <p:sp>
              <p:nvSpPr>
                <p:cNvPr id="1820" name="Line 195"/>
                <p:cNvSpPr>
                  <a:spLocks noChangeShapeType="1"/>
                </p:cNvSpPr>
                <p:nvPr/>
              </p:nvSpPr>
              <p:spPr bwMode="auto">
                <a:xfrm>
                  <a:off x="3616" y="1933"/>
                  <a:ext cx="0" cy="36"/>
                </a:xfrm>
                <a:prstGeom prst="line">
                  <a:avLst/>
                </a:prstGeom>
                <a:noFill/>
                <a:ln w="12700">
                  <a:solidFill>
                    <a:schemeClr val="bg1"/>
                  </a:solidFill>
                  <a:round/>
                  <a:headEnd/>
                  <a:tailEnd/>
                </a:ln>
                <a:effectLst/>
              </p:spPr>
              <p:txBody>
                <a:bodyPr wrap="none" lIns="23853" tIns="11924" rIns="23853" bIns="11924">
                  <a:spAutoFit/>
                </a:bodyPr>
                <a:lstStyle/>
                <a:p>
                  <a:endParaRPr lang="zh-TW" altLang="en-US"/>
                </a:p>
              </p:txBody>
            </p:sp>
            <p:sp>
              <p:nvSpPr>
                <p:cNvPr id="1821" name="Rectangle 196"/>
                <p:cNvSpPr>
                  <a:spLocks noChangeArrowheads="1"/>
                </p:cNvSpPr>
                <p:nvPr/>
              </p:nvSpPr>
              <p:spPr bwMode="auto">
                <a:xfrm>
                  <a:off x="3639" y="1926"/>
                  <a:ext cx="64" cy="34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 wrap="none" lIns="23853" tIns="11924" rIns="23853" bIns="11924">
                  <a:spAutoFit/>
                </a:bodyPr>
                <a:lstStyle/>
                <a:p>
                  <a:pPr defTabSz="179388"/>
                  <a:r>
                    <a:rPr lang="en-US" altLang="zh-TW" sz="200" b="1">
                      <a:solidFill>
                        <a:schemeClr val="bg1"/>
                      </a:solidFill>
                      <a:latin typeface="Arial" charset="0"/>
                      <a:ea typeface="新細明體" charset="-120"/>
                    </a:rPr>
                    <a:t>2100</a:t>
                  </a:r>
                </a:p>
              </p:txBody>
            </p:sp>
            <p:sp>
              <p:nvSpPr>
                <p:cNvPr id="1822" name="Rectangle 197"/>
                <p:cNvSpPr>
                  <a:spLocks noChangeArrowheads="1"/>
                </p:cNvSpPr>
                <p:nvPr/>
              </p:nvSpPr>
              <p:spPr bwMode="auto">
                <a:xfrm>
                  <a:off x="3684" y="1936"/>
                  <a:ext cx="12" cy="1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lIns="23853" tIns="11924" rIns="23853" bIns="11924">
                  <a:spAutoFit/>
                </a:bodyPr>
                <a:lstStyle/>
                <a:p>
                  <a:endParaRPr lang="zh-TW" altLang="en-US"/>
                </a:p>
              </p:txBody>
            </p:sp>
            <p:sp>
              <p:nvSpPr>
                <p:cNvPr id="1823" name="Rectangle 198"/>
                <p:cNvSpPr>
                  <a:spLocks noChangeArrowheads="1"/>
                </p:cNvSpPr>
                <p:nvPr/>
              </p:nvSpPr>
              <p:spPr bwMode="auto">
                <a:xfrm>
                  <a:off x="3572" y="1936"/>
                  <a:ext cx="10" cy="1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lIns="23853" tIns="11924" rIns="23853" bIns="11924">
                  <a:spAutoFit/>
                </a:bodyPr>
                <a:lstStyle/>
                <a:p>
                  <a:endParaRPr lang="zh-TW" altLang="en-US"/>
                </a:p>
              </p:txBody>
            </p:sp>
            <p:sp>
              <p:nvSpPr>
                <p:cNvPr id="1824" name="Rectangle 199"/>
                <p:cNvSpPr>
                  <a:spLocks noChangeArrowheads="1"/>
                </p:cNvSpPr>
                <p:nvPr/>
              </p:nvSpPr>
              <p:spPr bwMode="auto">
                <a:xfrm>
                  <a:off x="3585" y="2148"/>
                  <a:ext cx="1" cy="5"/>
                </a:xfrm>
                <a:prstGeom prst="rect">
                  <a:avLst/>
                </a:prstGeom>
                <a:solidFill>
                  <a:schemeClr val="tx1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lIns="23853" tIns="11924" rIns="23853" bIns="11924">
                  <a:spAutoFit/>
                </a:bodyPr>
                <a:lstStyle/>
                <a:p>
                  <a:endParaRPr lang="zh-TW" altLang="en-US"/>
                </a:p>
              </p:txBody>
            </p:sp>
            <p:sp>
              <p:nvSpPr>
                <p:cNvPr id="1825" name="Rectangle 200"/>
                <p:cNvSpPr>
                  <a:spLocks noChangeArrowheads="1"/>
                </p:cNvSpPr>
                <p:nvPr/>
              </p:nvSpPr>
              <p:spPr bwMode="auto">
                <a:xfrm>
                  <a:off x="3692" y="2148"/>
                  <a:ext cx="1" cy="5"/>
                </a:xfrm>
                <a:prstGeom prst="rect">
                  <a:avLst/>
                </a:prstGeom>
                <a:solidFill>
                  <a:schemeClr val="tx1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lIns="23853" tIns="11924" rIns="23853" bIns="11924">
                  <a:spAutoFit/>
                </a:bodyPr>
                <a:lstStyle/>
                <a:p>
                  <a:endParaRPr lang="zh-TW" altLang="en-US"/>
                </a:p>
              </p:txBody>
            </p:sp>
          </p:grpSp>
          <p:sp>
            <p:nvSpPr>
              <p:cNvPr id="1717" name="Line 201"/>
              <p:cNvSpPr>
                <a:spLocks noChangeShapeType="1"/>
              </p:cNvSpPr>
              <p:nvPr/>
            </p:nvSpPr>
            <p:spPr bwMode="auto">
              <a:xfrm flipH="1">
                <a:off x="2219" y="1776"/>
                <a:ext cx="210" cy="195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lIns="23853" tIns="11924" rIns="23853" bIns="11924">
                <a:spAutoFit/>
              </a:bodyPr>
              <a:lstStyle/>
              <a:p>
                <a:endParaRPr lang="zh-TW" altLang="en-US"/>
              </a:p>
            </p:txBody>
          </p:sp>
          <p:sp>
            <p:nvSpPr>
              <p:cNvPr id="1718" name="Line 202"/>
              <p:cNvSpPr>
                <a:spLocks noChangeShapeType="1"/>
              </p:cNvSpPr>
              <p:nvPr/>
            </p:nvSpPr>
            <p:spPr bwMode="auto">
              <a:xfrm flipH="1">
                <a:off x="2459" y="1791"/>
                <a:ext cx="49" cy="18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lIns="23853" tIns="11924" rIns="23853" bIns="11924">
                <a:spAutoFit/>
              </a:bodyPr>
              <a:lstStyle/>
              <a:p>
                <a:endParaRPr lang="zh-TW" altLang="en-US"/>
              </a:p>
            </p:txBody>
          </p:sp>
          <p:sp>
            <p:nvSpPr>
              <p:cNvPr id="1719" name="Line 203"/>
              <p:cNvSpPr>
                <a:spLocks noChangeShapeType="1"/>
              </p:cNvSpPr>
              <p:nvPr/>
            </p:nvSpPr>
            <p:spPr bwMode="auto">
              <a:xfrm>
                <a:off x="2630" y="1791"/>
                <a:ext cx="69" cy="18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lIns="23853" tIns="11924" rIns="23853" bIns="11924">
                <a:spAutoFit/>
              </a:bodyPr>
              <a:lstStyle/>
              <a:p>
                <a:endParaRPr lang="zh-TW" altLang="en-US"/>
              </a:p>
            </p:txBody>
          </p:sp>
          <p:sp>
            <p:nvSpPr>
              <p:cNvPr id="1720" name="Line 204"/>
              <p:cNvSpPr>
                <a:spLocks noChangeShapeType="1"/>
              </p:cNvSpPr>
              <p:nvPr/>
            </p:nvSpPr>
            <p:spPr bwMode="auto">
              <a:xfrm>
                <a:off x="2699" y="1776"/>
                <a:ext cx="192" cy="195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lIns="23853" tIns="11924" rIns="23853" bIns="11924">
                <a:spAutoFit/>
              </a:bodyPr>
              <a:lstStyle/>
              <a:p>
                <a:endParaRPr lang="zh-TW" altLang="en-US"/>
              </a:p>
            </p:txBody>
          </p:sp>
          <p:grpSp>
            <p:nvGrpSpPr>
              <p:cNvPr id="1505" name="Group 205"/>
              <p:cNvGrpSpPr>
                <a:grpSpLocks/>
              </p:cNvGrpSpPr>
              <p:nvPr/>
            </p:nvGrpSpPr>
            <p:grpSpPr bwMode="auto">
              <a:xfrm>
                <a:off x="2187" y="1307"/>
                <a:ext cx="144" cy="235"/>
                <a:chOff x="2941" y="1227"/>
                <a:chExt cx="140" cy="228"/>
              </a:xfrm>
            </p:grpSpPr>
            <p:sp>
              <p:nvSpPr>
                <p:cNvPr id="1795" name="Rectangle 206"/>
                <p:cNvSpPr>
                  <a:spLocks noChangeArrowheads="1"/>
                </p:cNvSpPr>
                <p:nvPr/>
              </p:nvSpPr>
              <p:spPr bwMode="auto">
                <a:xfrm>
                  <a:off x="2941" y="1227"/>
                  <a:ext cx="139" cy="215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lIns="23853" tIns="11924" rIns="23853" bIns="11924">
                  <a:spAutoFit/>
                </a:bodyPr>
                <a:lstStyle/>
                <a:p>
                  <a:endParaRPr lang="zh-TW" altLang="en-US"/>
                </a:p>
              </p:txBody>
            </p:sp>
            <p:grpSp>
              <p:nvGrpSpPr>
                <p:cNvPr id="1506" name="Group 207"/>
                <p:cNvGrpSpPr>
                  <a:grpSpLocks/>
                </p:cNvGrpSpPr>
                <p:nvPr/>
              </p:nvGrpSpPr>
              <p:grpSpPr bwMode="auto">
                <a:xfrm>
                  <a:off x="2950" y="1303"/>
                  <a:ext cx="123" cy="131"/>
                  <a:chOff x="2950" y="1303"/>
                  <a:chExt cx="123" cy="131"/>
                </a:xfrm>
              </p:grpSpPr>
              <p:sp>
                <p:nvSpPr>
                  <p:cNvPr id="1804" name="Rectangle 208" descr="25%"/>
                  <p:cNvSpPr>
                    <a:spLocks noChangeArrowheads="1"/>
                  </p:cNvSpPr>
                  <p:nvPr/>
                </p:nvSpPr>
                <p:spPr bwMode="auto">
                  <a:xfrm>
                    <a:off x="2950" y="1303"/>
                    <a:ext cx="123" cy="131"/>
                  </a:xfrm>
                  <a:prstGeom prst="rect">
                    <a:avLst/>
                  </a:prstGeom>
                  <a:pattFill prst="pct25">
                    <a:fgClr>
                      <a:schemeClr val="tx1"/>
                    </a:fgClr>
                    <a:bgClr>
                      <a:schemeClr val="bg1"/>
                    </a:bgClr>
                  </a:pattFill>
                  <a:ln w="12700">
                    <a:solidFill>
                      <a:schemeClr val="bg1"/>
                    </a:solidFill>
                    <a:miter lim="800000"/>
                    <a:headEnd/>
                    <a:tailEnd/>
                  </a:ln>
                  <a:effectLst/>
                </p:spPr>
                <p:txBody>
                  <a:bodyPr wrap="none" lIns="23853" tIns="11924" rIns="23853" bIns="11924">
                    <a:spAutoFit/>
                  </a:bodyPr>
                  <a:lstStyle/>
                  <a:p>
                    <a:endParaRPr lang="zh-TW" altLang="en-US"/>
                  </a:p>
                </p:txBody>
              </p:sp>
              <p:sp>
                <p:nvSpPr>
                  <p:cNvPr id="1805" name="Line 209"/>
                  <p:cNvSpPr>
                    <a:spLocks noChangeShapeType="1"/>
                  </p:cNvSpPr>
                  <p:nvPr/>
                </p:nvSpPr>
                <p:spPr bwMode="auto">
                  <a:xfrm>
                    <a:off x="2950" y="1428"/>
                    <a:ext cx="123" cy="0"/>
                  </a:xfrm>
                  <a:prstGeom prst="line">
                    <a:avLst/>
                  </a:prstGeom>
                  <a:noFill/>
                  <a:ln w="127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lIns="23853" tIns="11924" rIns="23853" bIns="11924">
                    <a:spAutoFit/>
                  </a:bodyPr>
                  <a:lstStyle/>
                  <a:p>
                    <a:endParaRPr lang="zh-TW" altLang="en-US"/>
                  </a:p>
                </p:txBody>
              </p:sp>
              <p:sp>
                <p:nvSpPr>
                  <p:cNvPr id="1806" name="Line 210"/>
                  <p:cNvSpPr>
                    <a:spLocks noChangeShapeType="1"/>
                  </p:cNvSpPr>
                  <p:nvPr/>
                </p:nvSpPr>
                <p:spPr bwMode="auto">
                  <a:xfrm>
                    <a:off x="2950" y="1417"/>
                    <a:ext cx="123" cy="0"/>
                  </a:xfrm>
                  <a:prstGeom prst="line">
                    <a:avLst/>
                  </a:prstGeom>
                  <a:noFill/>
                  <a:ln w="127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lIns="23853" tIns="11924" rIns="23853" bIns="11924">
                    <a:spAutoFit/>
                  </a:bodyPr>
                  <a:lstStyle/>
                  <a:p>
                    <a:endParaRPr lang="zh-TW" altLang="en-US"/>
                  </a:p>
                </p:txBody>
              </p:sp>
              <p:sp>
                <p:nvSpPr>
                  <p:cNvPr id="1807" name="Line 211"/>
                  <p:cNvSpPr>
                    <a:spLocks noChangeShapeType="1"/>
                  </p:cNvSpPr>
                  <p:nvPr/>
                </p:nvSpPr>
                <p:spPr bwMode="auto">
                  <a:xfrm>
                    <a:off x="2950" y="1406"/>
                    <a:ext cx="123" cy="0"/>
                  </a:xfrm>
                  <a:prstGeom prst="line">
                    <a:avLst/>
                  </a:prstGeom>
                  <a:noFill/>
                  <a:ln w="127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lIns="23853" tIns="11924" rIns="23853" bIns="11924">
                    <a:spAutoFit/>
                  </a:bodyPr>
                  <a:lstStyle/>
                  <a:p>
                    <a:endParaRPr lang="zh-TW" altLang="en-US"/>
                  </a:p>
                </p:txBody>
              </p:sp>
              <p:sp>
                <p:nvSpPr>
                  <p:cNvPr id="1808" name="Line 212"/>
                  <p:cNvSpPr>
                    <a:spLocks noChangeShapeType="1"/>
                  </p:cNvSpPr>
                  <p:nvPr/>
                </p:nvSpPr>
                <p:spPr bwMode="auto">
                  <a:xfrm>
                    <a:off x="2950" y="1396"/>
                    <a:ext cx="123" cy="0"/>
                  </a:xfrm>
                  <a:prstGeom prst="line">
                    <a:avLst/>
                  </a:prstGeom>
                  <a:noFill/>
                  <a:ln w="127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lIns="23853" tIns="11924" rIns="23853" bIns="11924">
                    <a:spAutoFit/>
                  </a:bodyPr>
                  <a:lstStyle/>
                  <a:p>
                    <a:endParaRPr lang="zh-TW" altLang="en-US"/>
                  </a:p>
                </p:txBody>
              </p:sp>
              <p:sp>
                <p:nvSpPr>
                  <p:cNvPr id="1809" name="Line 213"/>
                  <p:cNvSpPr>
                    <a:spLocks noChangeShapeType="1"/>
                  </p:cNvSpPr>
                  <p:nvPr/>
                </p:nvSpPr>
                <p:spPr bwMode="auto">
                  <a:xfrm>
                    <a:off x="2950" y="1385"/>
                    <a:ext cx="123" cy="0"/>
                  </a:xfrm>
                  <a:prstGeom prst="line">
                    <a:avLst/>
                  </a:prstGeom>
                  <a:noFill/>
                  <a:ln w="127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lIns="23853" tIns="11924" rIns="23853" bIns="11924">
                    <a:spAutoFit/>
                  </a:bodyPr>
                  <a:lstStyle/>
                  <a:p>
                    <a:endParaRPr lang="zh-TW" altLang="en-US"/>
                  </a:p>
                </p:txBody>
              </p:sp>
              <p:sp>
                <p:nvSpPr>
                  <p:cNvPr id="1810" name="Line 214"/>
                  <p:cNvSpPr>
                    <a:spLocks noChangeShapeType="1"/>
                  </p:cNvSpPr>
                  <p:nvPr/>
                </p:nvSpPr>
                <p:spPr bwMode="auto">
                  <a:xfrm>
                    <a:off x="2950" y="1374"/>
                    <a:ext cx="123" cy="0"/>
                  </a:xfrm>
                  <a:prstGeom prst="line">
                    <a:avLst/>
                  </a:prstGeom>
                  <a:noFill/>
                  <a:ln w="127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lIns="23853" tIns="11924" rIns="23853" bIns="11924">
                    <a:spAutoFit/>
                  </a:bodyPr>
                  <a:lstStyle/>
                  <a:p>
                    <a:endParaRPr lang="zh-TW" altLang="en-US"/>
                  </a:p>
                </p:txBody>
              </p:sp>
              <p:sp>
                <p:nvSpPr>
                  <p:cNvPr id="1811" name="Line 215"/>
                  <p:cNvSpPr>
                    <a:spLocks noChangeShapeType="1"/>
                  </p:cNvSpPr>
                  <p:nvPr/>
                </p:nvSpPr>
                <p:spPr bwMode="auto">
                  <a:xfrm>
                    <a:off x="2950" y="1363"/>
                    <a:ext cx="123" cy="0"/>
                  </a:xfrm>
                  <a:prstGeom prst="line">
                    <a:avLst/>
                  </a:prstGeom>
                  <a:noFill/>
                  <a:ln w="127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lIns="23853" tIns="11924" rIns="23853" bIns="11924">
                    <a:spAutoFit/>
                  </a:bodyPr>
                  <a:lstStyle/>
                  <a:p>
                    <a:endParaRPr lang="zh-TW" altLang="en-US"/>
                  </a:p>
                </p:txBody>
              </p:sp>
              <p:sp>
                <p:nvSpPr>
                  <p:cNvPr id="1812" name="Line 216"/>
                  <p:cNvSpPr>
                    <a:spLocks noChangeShapeType="1"/>
                  </p:cNvSpPr>
                  <p:nvPr/>
                </p:nvSpPr>
                <p:spPr bwMode="auto">
                  <a:xfrm>
                    <a:off x="2950" y="1353"/>
                    <a:ext cx="123" cy="0"/>
                  </a:xfrm>
                  <a:prstGeom prst="line">
                    <a:avLst/>
                  </a:prstGeom>
                  <a:noFill/>
                  <a:ln w="127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lIns="23853" tIns="11924" rIns="23853" bIns="11924">
                    <a:spAutoFit/>
                  </a:bodyPr>
                  <a:lstStyle/>
                  <a:p>
                    <a:endParaRPr lang="zh-TW" altLang="en-US"/>
                  </a:p>
                </p:txBody>
              </p:sp>
              <p:sp>
                <p:nvSpPr>
                  <p:cNvPr id="1813" name="Line 217"/>
                  <p:cNvSpPr>
                    <a:spLocks noChangeShapeType="1"/>
                  </p:cNvSpPr>
                  <p:nvPr/>
                </p:nvSpPr>
                <p:spPr bwMode="auto">
                  <a:xfrm>
                    <a:off x="2950" y="1341"/>
                    <a:ext cx="123" cy="0"/>
                  </a:xfrm>
                  <a:prstGeom prst="line">
                    <a:avLst/>
                  </a:prstGeom>
                  <a:noFill/>
                  <a:ln w="127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lIns="23853" tIns="11924" rIns="23853" bIns="11924">
                    <a:spAutoFit/>
                  </a:bodyPr>
                  <a:lstStyle/>
                  <a:p>
                    <a:endParaRPr lang="zh-TW" altLang="en-US"/>
                  </a:p>
                </p:txBody>
              </p:sp>
              <p:sp>
                <p:nvSpPr>
                  <p:cNvPr id="1814" name="Line 218"/>
                  <p:cNvSpPr>
                    <a:spLocks noChangeShapeType="1"/>
                  </p:cNvSpPr>
                  <p:nvPr/>
                </p:nvSpPr>
                <p:spPr bwMode="auto">
                  <a:xfrm>
                    <a:off x="2950" y="1331"/>
                    <a:ext cx="123" cy="0"/>
                  </a:xfrm>
                  <a:prstGeom prst="line">
                    <a:avLst/>
                  </a:prstGeom>
                  <a:noFill/>
                  <a:ln w="127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lIns="23853" tIns="11924" rIns="23853" bIns="11924">
                    <a:spAutoFit/>
                  </a:bodyPr>
                  <a:lstStyle/>
                  <a:p>
                    <a:endParaRPr lang="zh-TW" altLang="en-US"/>
                  </a:p>
                </p:txBody>
              </p:sp>
              <p:sp>
                <p:nvSpPr>
                  <p:cNvPr id="1815" name="Line 219"/>
                  <p:cNvSpPr>
                    <a:spLocks noChangeShapeType="1"/>
                  </p:cNvSpPr>
                  <p:nvPr/>
                </p:nvSpPr>
                <p:spPr bwMode="auto">
                  <a:xfrm>
                    <a:off x="2950" y="1320"/>
                    <a:ext cx="123" cy="0"/>
                  </a:xfrm>
                  <a:prstGeom prst="line">
                    <a:avLst/>
                  </a:prstGeom>
                  <a:noFill/>
                  <a:ln w="127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lIns="23853" tIns="11924" rIns="23853" bIns="11924">
                    <a:spAutoFit/>
                  </a:bodyPr>
                  <a:lstStyle/>
                  <a:p>
                    <a:endParaRPr lang="zh-TW" altLang="en-US"/>
                  </a:p>
                </p:txBody>
              </p:sp>
              <p:sp>
                <p:nvSpPr>
                  <p:cNvPr id="1816" name="Line 220"/>
                  <p:cNvSpPr>
                    <a:spLocks noChangeShapeType="1"/>
                  </p:cNvSpPr>
                  <p:nvPr/>
                </p:nvSpPr>
                <p:spPr bwMode="auto">
                  <a:xfrm>
                    <a:off x="2950" y="1310"/>
                    <a:ext cx="123" cy="0"/>
                  </a:xfrm>
                  <a:prstGeom prst="line">
                    <a:avLst/>
                  </a:prstGeom>
                  <a:noFill/>
                  <a:ln w="127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lIns="23853" tIns="11924" rIns="23853" bIns="11924">
                    <a:spAutoFit/>
                  </a:bodyPr>
                  <a:lstStyle/>
                  <a:p>
                    <a:endParaRPr lang="zh-TW" altLang="en-US"/>
                  </a:p>
                </p:txBody>
              </p:sp>
            </p:grpSp>
            <p:sp>
              <p:nvSpPr>
                <p:cNvPr id="1797" name="Rectangle 221"/>
                <p:cNvSpPr>
                  <a:spLocks noChangeArrowheads="1"/>
                </p:cNvSpPr>
                <p:nvPr/>
              </p:nvSpPr>
              <p:spPr bwMode="auto">
                <a:xfrm>
                  <a:off x="2943" y="1231"/>
                  <a:ext cx="138" cy="48"/>
                </a:xfrm>
                <a:prstGeom prst="rect">
                  <a:avLst/>
                </a:prstGeom>
                <a:solidFill>
                  <a:schemeClr val="tx1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lIns="23853" tIns="11924" rIns="23853" bIns="11924">
                  <a:spAutoFit/>
                </a:bodyPr>
                <a:lstStyle/>
                <a:p>
                  <a:endParaRPr lang="zh-TW" altLang="en-US"/>
                </a:p>
              </p:txBody>
            </p:sp>
            <p:sp>
              <p:nvSpPr>
                <p:cNvPr id="1798" name="Line 222"/>
                <p:cNvSpPr>
                  <a:spLocks noChangeShapeType="1"/>
                </p:cNvSpPr>
                <p:nvPr/>
              </p:nvSpPr>
              <p:spPr bwMode="auto">
                <a:xfrm>
                  <a:off x="2990" y="1235"/>
                  <a:ext cx="0" cy="36"/>
                </a:xfrm>
                <a:prstGeom prst="line">
                  <a:avLst/>
                </a:prstGeom>
                <a:noFill/>
                <a:ln w="12700">
                  <a:solidFill>
                    <a:schemeClr val="bg1"/>
                  </a:solidFill>
                  <a:round/>
                  <a:headEnd/>
                  <a:tailEnd/>
                </a:ln>
                <a:effectLst/>
              </p:spPr>
              <p:txBody>
                <a:bodyPr wrap="none" lIns="23853" tIns="11924" rIns="23853" bIns="11924">
                  <a:spAutoFit/>
                </a:bodyPr>
                <a:lstStyle/>
                <a:p>
                  <a:endParaRPr lang="zh-TW" altLang="en-US"/>
                </a:p>
              </p:txBody>
            </p:sp>
            <p:sp>
              <p:nvSpPr>
                <p:cNvPr id="1799" name="Rectangle 223"/>
                <p:cNvSpPr>
                  <a:spLocks noChangeArrowheads="1"/>
                </p:cNvSpPr>
                <p:nvPr/>
              </p:nvSpPr>
              <p:spPr bwMode="auto">
                <a:xfrm>
                  <a:off x="3012" y="1228"/>
                  <a:ext cx="64" cy="34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 wrap="none" lIns="23853" tIns="11924" rIns="23853" bIns="11924">
                  <a:spAutoFit/>
                </a:bodyPr>
                <a:lstStyle/>
                <a:p>
                  <a:pPr defTabSz="179388"/>
                  <a:r>
                    <a:rPr lang="en-US" altLang="zh-TW" sz="200" b="1">
                      <a:solidFill>
                        <a:schemeClr val="bg1"/>
                      </a:solidFill>
                      <a:latin typeface="Arial" charset="0"/>
                      <a:ea typeface="新細明體" charset="-120"/>
                    </a:rPr>
                    <a:t>2100</a:t>
                  </a:r>
                </a:p>
              </p:txBody>
            </p:sp>
            <p:sp>
              <p:nvSpPr>
                <p:cNvPr id="1800" name="Rectangle 224"/>
                <p:cNvSpPr>
                  <a:spLocks noChangeArrowheads="1"/>
                </p:cNvSpPr>
                <p:nvPr/>
              </p:nvSpPr>
              <p:spPr bwMode="auto">
                <a:xfrm>
                  <a:off x="3058" y="1234"/>
                  <a:ext cx="11" cy="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lIns="23853" tIns="11924" rIns="23853" bIns="11924">
                  <a:spAutoFit/>
                </a:bodyPr>
                <a:lstStyle/>
                <a:p>
                  <a:endParaRPr lang="zh-TW" altLang="en-US"/>
                </a:p>
              </p:txBody>
            </p:sp>
            <p:sp>
              <p:nvSpPr>
                <p:cNvPr id="1801" name="Rectangle 225"/>
                <p:cNvSpPr>
                  <a:spLocks noChangeArrowheads="1"/>
                </p:cNvSpPr>
                <p:nvPr/>
              </p:nvSpPr>
              <p:spPr bwMode="auto">
                <a:xfrm>
                  <a:off x="2946" y="1234"/>
                  <a:ext cx="9" cy="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lIns="23853" tIns="11924" rIns="23853" bIns="11924">
                  <a:spAutoFit/>
                </a:bodyPr>
                <a:lstStyle/>
                <a:p>
                  <a:endParaRPr lang="zh-TW" altLang="en-US"/>
                </a:p>
              </p:txBody>
            </p:sp>
            <p:sp>
              <p:nvSpPr>
                <p:cNvPr id="1802" name="Rectangle 226"/>
                <p:cNvSpPr>
                  <a:spLocks noChangeArrowheads="1"/>
                </p:cNvSpPr>
                <p:nvPr/>
              </p:nvSpPr>
              <p:spPr bwMode="auto">
                <a:xfrm>
                  <a:off x="2958" y="1450"/>
                  <a:ext cx="1" cy="5"/>
                </a:xfrm>
                <a:prstGeom prst="rect">
                  <a:avLst/>
                </a:prstGeom>
                <a:solidFill>
                  <a:schemeClr val="tx1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lIns="23853" tIns="11924" rIns="23853" bIns="11924">
                  <a:spAutoFit/>
                </a:bodyPr>
                <a:lstStyle/>
                <a:p>
                  <a:endParaRPr lang="zh-TW" altLang="en-US"/>
                </a:p>
              </p:txBody>
            </p:sp>
            <p:sp>
              <p:nvSpPr>
                <p:cNvPr id="1803" name="Rectangle 227"/>
                <p:cNvSpPr>
                  <a:spLocks noChangeArrowheads="1"/>
                </p:cNvSpPr>
                <p:nvPr/>
              </p:nvSpPr>
              <p:spPr bwMode="auto">
                <a:xfrm>
                  <a:off x="3065" y="1450"/>
                  <a:ext cx="1" cy="5"/>
                </a:xfrm>
                <a:prstGeom prst="rect">
                  <a:avLst/>
                </a:prstGeom>
                <a:solidFill>
                  <a:schemeClr val="tx1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lIns="23853" tIns="11924" rIns="23853" bIns="11924">
                  <a:spAutoFit/>
                </a:bodyPr>
                <a:lstStyle/>
                <a:p>
                  <a:endParaRPr lang="zh-TW" altLang="en-US"/>
                </a:p>
              </p:txBody>
            </p:sp>
          </p:grpSp>
          <p:grpSp>
            <p:nvGrpSpPr>
              <p:cNvPr id="1508" name="Group 228"/>
              <p:cNvGrpSpPr>
                <a:grpSpLocks/>
              </p:cNvGrpSpPr>
              <p:nvPr/>
            </p:nvGrpSpPr>
            <p:grpSpPr bwMode="auto">
              <a:xfrm>
                <a:off x="2411" y="1303"/>
                <a:ext cx="144" cy="235"/>
                <a:chOff x="3159" y="1223"/>
                <a:chExt cx="140" cy="228"/>
              </a:xfrm>
            </p:grpSpPr>
            <p:sp>
              <p:nvSpPr>
                <p:cNvPr id="1773" name="Rectangle 229"/>
                <p:cNvSpPr>
                  <a:spLocks noChangeArrowheads="1"/>
                </p:cNvSpPr>
                <p:nvPr/>
              </p:nvSpPr>
              <p:spPr bwMode="auto">
                <a:xfrm>
                  <a:off x="3159" y="1223"/>
                  <a:ext cx="140" cy="215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lIns="23853" tIns="11924" rIns="23853" bIns="11924">
                  <a:spAutoFit/>
                </a:bodyPr>
                <a:lstStyle/>
                <a:p>
                  <a:endParaRPr lang="zh-TW" altLang="en-US"/>
                </a:p>
              </p:txBody>
            </p:sp>
            <p:grpSp>
              <p:nvGrpSpPr>
                <p:cNvPr id="1509" name="Group 230"/>
                <p:cNvGrpSpPr>
                  <a:grpSpLocks/>
                </p:cNvGrpSpPr>
                <p:nvPr/>
              </p:nvGrpSpPr>
              <p:grpSpPr bwMode="auto">
                <a:xfrm>
                  <a:off x="3168" y="1299"/>
                  <a:ext cx="122" cy="132"/>
                  <a:chOff x="3168" y="1299"/>
                  <a:chExt cx="122" cy="132"/>
                </a:xfrm>
              </p:grpSpPr>
              <p:sp>
                <p:nvSpPr>
                  <p:cNvPr id="1782" name="Rectangle 231" descr="25%"/>
                  <p:cNvSpPr>
                    <a:spLocks noChangeArrowheads="1"/>
                  </p:cNvSpPr>
                  <p:nvPr/>
                </p:nvSpPr>
                <p:spPr bwMode="auto">
                  <a:xfrm>
                    <a:off x="3168" y="1299"/>
                    <a:ext cx="122" cy="132"/>
                  </a:xfrm>
                  <a:prstGeom prst="rect">
                    <a:avLst/>
                  </a:prstGeom>
                  <a:pattFill prst="pct25">
                    <a:fgClr>
                      <a:schemeClr val="tx1"/>
                    </a:fgClr>
                    <a:bgClr>
                      <a:schemeClr val="bg1"/>
                    </a:bgClr>
                  </a:pattFill>
                  <a:ln w="12700">
                    <a:solidFill>
                      <a:schemeClr val="bg1"/>
                    </a:solidFill>
                    <a:miter lim="800000"/>
                    <a:headEnd/>
                    <a:tailEnd/>
                  </a:ln>
                  <a:effectLst/>
                </p:spPr>
                <p:txBody>
                  <a:bodyPr wrap="none" lIns="23853" tIns="11924" rIns="23853" bIns="11924">
                    <a:spAutoFit/>
                  </a:bodyPr>
                  <a:lstStyle/>
                  <a:p>
                    <a:endParaRPr lang="zh-TW" altLang="en-US"/>
                  </a:p>
                </p:txBody>
              </p:sp>
              <p:sp>
                <p:nvSpPr>
                  <p:cNvPr id="1783" name="Line 232"/>
                  <p:cNvSpPr>
                    <a:spLocks noChangeShapeType="1"/>
                  </p:cNvSpPr>
                  <p:nvPr/>
                </p:nvSpPr>
                <p:spPr bwMode="auto">
                  <a:xfrm>
                    <a:off x="3168" y="1424"/>
                    <a:ext cx="122" cy="0"/>
                  </a:xfrm>
                  <a:prstGeom prst="line">
                    <a:avLst/>
                  </a:prstGeom>
                  <a:noFill/>
                  <a:ln w="127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lIns="23853" tIns="11924" rIns="23853" bIns="11924">
                    <a:spAutoFit/>
                  </a:bodyPr>
                  <a:lstStyle/>
                  <a:p>
                    <a:endParaRPr lang="zh-TW" altLang="en-US"/>
                  </a:p>
                </p:txBody>
              </p:sp>
              <p:sp>
                <p:nvSpPr>
                  <p:cNvPr id="1784" name="Line 233"/>
                  <p:cNvSpPr>
                    <a:spLocks noChangeShapeType="1"/>
                  </p:cNvSpPr>
                  <p:nvPr/>
                </p:nvSpPr>
                <p:spPr bwMode="auto">
                  <a:xfrm>
                    <a:off x="3168" y="1413"/>
                    <a:ext cx="122" cy="0"/>
                  </a:xfrm>
                  <a:prstGeom prst="line">
                    <a:avLst/>
                  </a:prstGeom>
                  <a:noFill/>
                  <a:ln w="127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lIns="23853" tIns="11924" rIns="23853" bIns="11924">
                    <a:spAutoFit/>
                  </a:bodyPr>
                  <a:lstStyle/>
                  <a:p>
                    <a:endParaRPr lang="zh-TW" altLang="en-US"/>
                  </a:p>
                </p:txBody>
              </p:sp>
              <p:sp>
                <p:nvSpPr>
                  <p:cNvPr id="1785" name="Line 234"/>
                  <p:cNvSpPr>
                    <a:spLocks noChangeShapeType="1"/>
                  </p:cNvSpPr>
                  <p:nvPr/>
                </p:nvSpPr>
                <p:spPr bwMode="auto">
                  <a:xfrm>
                    <a:off x="3168" y="1402"/>
                    <a:ext cx="122" cy="0"/>
                  </a:xfrm>
                  <a:prstGeom prst="line">
                    <a:avLst/>
                  </a:prstGeom>
                  <a:noFill/>
                  <a:ln w="127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lIns="23853" tIns="11924" rIns="23853" bIns="11924">
                    <a:spAutoFit/>
                  </a:bodyPr>
                  <a:lstStyle/>
                  <a:p>
                    <a:endParaRPr lang="zh-TW" altLang="en-US"/>
                  </a:p>
                </p:txBody>
              </p:sp>
              <p:sp>
                <p:nvSpPr>
                  <p:cNvPr id="1786" name="Line 235"/>
                  <p:cNvSpPr>
                    <a:spLocks noChangeShapeType="1"/>
                  </p:cNvSpPr>
                  <p:nvPr/>
                </p:nvSpPr>
                <p:spPr bwMode="auto">
                  <a:xfrm>
                    <a:off x="3168" y="1392"/>
                    <a:ext cx="122" cy="0"/>
                  </a:xfrm>
                  <a:prstGeom prst="line">
                    <a:avLst/>
                  </a:prstGeom>
                  <a:noFill/>
                  <a:ln w="127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lIns="23853" tIns="11924" rIns="23853" bIns="11924">
                    <a:spAutoFit/>
                  </a:bodyPr>
                  <a:lstStyle/>
                  <a:p>
                    <a:endParaRPr lang="zh-TW" altLang="en-US"/>
                  </a:p>
                </p:txBody>
              </p:sp>
              <p:sp>
                <p:nvSpPr>
                  <p:cNvPr id="1787" name="Line 236"/>
                  <p:cNvSpPr>
                    <a:spLocks noChangeShapeType="1"/>
                  </p:cNvSpPr>
                  <p:nvPr/>
                </p:nvSpPr>
                <p:spPr bwMode="auto">
                  <a:xfrm>
                    <a:off x="3168" y="1380"/>
                    <a:ext cx="122" cy="0"/>
                  </a:xfrm>
                  <a:prstGeom prst="line">
                    <a:avLst/>
                  </a:prstGeom>
                  <a:noFill/>
                  <a:ln w="127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lIns="23853" tIns="11924" rIns="23853" bIns="11924">
                    <a:spAutoFit/>
                  </a:bodyPr>
                  <a:lstStyle/>
                  <a:p>
                    <a:endParaRPr lang="zh-TW" altLang="en-US"/>
                  </a:p>
                </p:txBody>
              </p:sp>
              <p:sp>
                <p:nvSpPr>
                  <p:cNvPr id="1788" name="Line 237"/>
                  <p:cNvSpPr>
                    <a:spLocks noChangeShapeType="1"/>
                  </p:cNvSpPr>
                  <p:nvPr/>
                </p:nvSpPr>
                <p:spPr bwMode="auto">
                  <a:xfrm>
                    <a:off x="3168" y="1370"/>
                    <a:ext cx="122" cy="0"/>
                  </a:xfrm>
                  <a:prstGeom prst="line">
                    <a:avLst/>
                  </a:prstGeom>
                  <a:noFill/>
                  <a:ln w="127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lIns="23853" tIns="11924" rIns="23853" bIns="11924">
                    <a:spAutoFit/>
                  </a:bodyPr>
                  <a:lstStyle/>
                  <a:p>
                    <a:endParaRPr lang="zh-TW" altLang="en-US"/>
                  </a:p>
                </p:txBody>
              </p:sp>
              <p:sp>
                <p:nvSpPr>
                  <p:cNvPr id="1789" name="Line 238"/>
                  <p:cNvSpPr>
                    <a:spLocks noChangeShapeType="1"/>
                  </p:cNvSpPr>
                  <p:nvPr/>
                </p:nvSpPr>
                <p:spPr bwMode="auto">
                  <a:xfrm>
                    <a:off x="3168" y="1359"/>
                    <a:ext cx="122" cy="0"/>
                  </a:xfrm>
                  <a:prstGeom prst="line">
                    <a:avLst/>
                  </a:prstGeom>
                  <a:noFill/>
                  <a:ln w="127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lIns="23853" tIns="11924" rIns="23853" bIns="11924">
                    <a:spAutoFit/>
                  </a:bodyPr>
                  <a:lstStyle/>
                  <a:p>
                    <a:endParaRPr lang="zh-TW" altLang="en-US"/>
                  </a:p>
                </p:txBody>
              </p:sp>
              <p:sp>
                <p:nvSpPr>
                  <p:cNvPr id="1790" name="Line 239"/>
                  <p:cNvSpPr>
                    <a:spLocks noChangeShapeType="1"/>
                  </p:cNvSpPr>
                  <p:nvPr/>
                </p:nvSpPr>
                <p:spPr bwMode="auto">
                  <a:xfrm>
                    <a:off x="3168" y="1349"/>
                    <a:ext cx="122" cy="0"/>
                  </a:xfrm>
                  <a:prstGeom prst="line">
                    <a:avLst/>
                  </a:prstGeom>
                  <a:noFill/>
                  <a:ln w="127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lIns="23853" tIns="11924" rIns="23853" bIns="11924">
                    <a:spAutoFit/>
                  </a:bodyPr>
                  <a:lstStyle/>
                  <a:p>
                    <a:endParaRPr lang="zh-TW" altLang="en-US"/>
                  </a:p>
                </p:txBody>
              </p:sp>
              <p:sp>
                <p:nvSpPr>
                  <p:cNvPr id="1791" name="Line 240"/>
                  <p:cNvSpPr>
                    <a:spLocks noChangeShapeType="1"/>
                  </p:cNvSpPr>
                  <p:nvPr/>
                </p:nvSpPr>
                <p:spPr bwMode="auto">
                  <a:xfrm>
                    <a:off x="3168" y="1338"/>
                    <a:ext cx="122" cy="0"/>
                  </a:xfrm>
                  <a:prstGeom prst="line">
                    <a:avLst/>
                  </a:prstGeom>
                  <a:noFill/>
                  <a:ln w="127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lIns="23853" tIns="11924" rIns="23853" bIns="11924">
                    <a:spAutoFit/>
                  </a:bodyPr>
                  <a:lstStyle/>
                  <a:p>
                    <a:endParaRPr lang="zh-TW" altLang="en-US"/>
                  </a:p>
                </p:txBody>
              </p:sp>
              <p:sp>
                <p:nvSpPr>
                  <p:cNvPr id="1792" name="Line 241"/>
                  <p:cNvSpPr>
                    <a:spLocks noChangeShapeType="1"/>
                  </p:cNvSpPr>
                  <p:nvPr/>
                </p:nvSpPr>
                <p:spPr bwMode="auto">
                  <a:xfrm>
                    <a:off x="3168" y="1327"/>
                    <a:ext cx="122" cy="0"/>
                  </a:xfrm>
                  <a:prstGeom prst="line">
                    <a:avLst/>
                  </a:prstGeom>
                  <a:noFill/>
                  <a:ln w="127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lIns="23853" tIns="11924" rIns="23853" bIns="11924">
                    <a:spAutoFit/>
                  </a:bodyPr>
                  <a:lstStyle/>
                  <a:p>
                    <a:endParaRPr lang="zh-TW" altLang="en-US"/>
                  </a:p>
                </p:txBody>
              </p:sp>
              <p:sp>
                <p:nvSpPr>
                  <p:cNvPr id="1793" name="Line 242"/>
                  <p:cNvSpPr>
                    <a:spLocks noChangeShapeType="1"/>
                  </p:cNvSpPr>
                  <p:nvPr/>
                </p:nvSpPr>
                <p:spPr bwMode="auto">
                  <a:xfrm>
                    <a:off x="3168" y="1317"/>
                    <a:ext cx="122" cy="0"/>
                  </a:xfrm>
                  <a:prstGeom prst="line">
                    <a:avLst/>
                  </a:prstGeom>
                  <a:noFill/>
                  <a:ln w="127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lIns="23853" tIns="11924" rIns="23853" bIns="11924">
                    <a:spAutoFit/>
                  </a:bodyPr>
                  <a:lstStyle/>
                  <a:p>
                    <a:endParaRPr lang="zh-TW" altLang="en-US"/>
                  </a:p>
                </p:txBody>
              </p:sp>
              <p:sp>
                <p:nvSpPr>
                  <p:cNvPr id="1794" name="Line 243"/>
                  <p:cNvSpPr>
                    <a:spLocks noChangeShapeType="1"/>
                  </p:cNvSpPr>
                  <p:nvPr/>
                </p:nvSpPr>
                <p:spPr bwMode="auto">
                  <a:xfrm>
                    <a:off x="3168" y="1306"/>
                    <a:ext cx="122" cy="0"/>
                  </a:xfrm>
                  <a:prstGeom prst="line">
                    <a:avLst/>
                  </a:prstGeom>
                  <a:noFill/>
                  <a:ln w="127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lIns="23853" tIns="11924" rIns="23853" bIns="11924">
                    <a:spAutoFit/>
                  </a:bodyPr>
                  <a:lstStyle/>
                  <a:p>
                    <a:endParaRPr lang="zh-TW" altLang="en-US"/>
                  </a:p>
                </p:txBody>
              </p:sp>
            </p:grpSp>
            <p:sp>
              <p:nvSpPr>
                <p:cNvPr id="1775" name="Rectangle 244"/>
                <p:cNvSpPr>
                  <a:spLocks noChangeArrowheads="1"/>
                </p:cNvSpPr>
                <p:nvPr/>
              </p:nvSpPr>
              <p:spPr bwMode="auto">
                <a:xfrm>
                  <a:off x="3161" y="1227"/>
                  <a:ext cx="138" cy="49"/>
                </a:xfrm>
                <a:prstGeom prst="rect">
                  <a:avLst/>
                </a:prstGeom>
                <a:solidFill>
                  <a:schemeClr val="tx1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lIns="23853" tIns="11924" rIns="23853" bIns="11924">
                  <a:spAutoFit/>
                </a:bodyPr>
                <a:lstStyle/>
                <a:p>
                  <a:endParaRPr lang="zh-TW" altLang="en-US"/>
                </a:p>
              </p:txBody>
            </p:sp>
            <p:sp>
              <p:nvSpPr>
                <p:cNvPr id="1776" name="Line 245"/>
                <p:cNvSpPr>
                  <a:spLocks noChangeShapeType="1"/>
                </p:cNvSpPr>
                <p:nvPr/>
              </p:nvSpPr>
              <p:spPr bwMode="auto">
                <a:xfrm>
                  <a:off x="3208" y="1231"/>
                  <a:ext cx="0" cy="36"/>
                </a:xfrm>
                <a:prstGeom prst="line">
                  <a:avLst/>
                </a:prstGeom>
                <a:noFill/>
                <a:ln w="12700">
                  <a:solidFill>
                    <a:schemeClr val="bg1"/>
                  </a:solidFill>
                  <a:round/>
                  <a:headEnd/>
                  <a:tailEnd/>
                </a:ln>
                <a:effectLst/>
              </p:spPr>
              <p:txBody>
                <a:bodyPr wrap="none" lIns="23853" tIns="11924" rIns="23853" bIns="11924">
                  <a:spAutoFit/>
                </a:bodyPr>
                <a:lstStyle/>
                <a:p>
                  <a:endParaRPr lang="zh-TW" altLang="en-US"/>
                </a:p>
              </p:txBody>
            </p:sp>
            <p:sp>
              <p:nvSpPr>
                <p:cNvPr id="1777" name="Rectangle 246"/>
                <p:cNvSpPr>
                  <a:spLocks noChangeArrowheads="1"/>
                </p:cNvSpPr>
                <p:nvPr/>
              </p:nvSpPr>
              <p:spPr bwMode="auto">
                <a:xfrm>
                  <a:off x="3230" y="1224"/>
                  <a:ext cx="64" cy="34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 wrap="none" lIns="23853" tIns="11924" rIns="23853" bIns="11924">
                  <a:spAutoFit/>
                </a:bodyPr>
                <a:lstStyle/>
                <a:p>
                  <a:pPr defTabSz="179388"/>
                  <a:r>
                    <a:rPr lang="en-US" altLang="zh-TW" sz="200" b="1">
                      <a:solidFill>
                        <a:schemeClr val="bg1"/>
                      </a:solidFill>
                      <a:latin typeface="Arial" charset="0"/>
                      <a:ea typeface="新細明體" charset="-120"/>
                    </a:rPr>
                    <a:t>2100</a:t>
                  </a:r>
                </a:p>
              </p:txBody>
            </p:sp>
            <p:sp>
              <p:nvSpPr>
                <p:cNvPr id="1778" name="Rectangle 247"/>
                <p:cNvSpPr>
                  <a:spLocks noChangeArrowheads="1"/>
                </p:cNvSpPr>
                <p:nvPr/>
              </p:nvSpPr>
              <p:spPr bwMode="auto">
                <a:xfrm>
                  <a:off x="3276" y="1234"/>
                  <a:ext cx="11" cy="1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lIns="23853" tIns="11924" rIns="23853" bIns="11924">
                  <a:spAutoFit/>
                </a:bodyPr>
                <a:lstStyle/>
                <a:p>
                  <a:endParaRPr lang="zh-TW" altLang="en-US"/>
                </a:p>
              </p:txBody>
            </p:sp>
            <p:sp>
              <p:nvSpPr>
                <p:cNvPr id="1779" name="Rectangle 248"/>
                <p:cNvSpPr>
                  <a:spLocks noChangeArrowheads="1"/>
                </p:cNvSpPr>
                <p:nvPr/>
              </p:nvSpPr>
              <p:spPr bwMode="auto">
                <a:xfrm>
                  <a:off x="3164" y="1234"/>
                  <a:ext cx="8" cy="1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lIns="23853" tIns="11924" rIns="23853" bIns="11924">
                  <a:spAutoFit/>
                </a:bodyPr>
                <a:lstStyle/>
                <a:p>
                  <a:endParaRPr lang="zh-TW" altLang="en-US"/>
                </a:p>
              </p:txBody>
            </p:sp>
            <p:sp>
              <p:nvSpPr>
                <p:cNvPr id="1780" name="Rectangle 249"/>
                <p:cNvSpPr>
                  <a:spLocks noChangeArrowheads="1"/>
                </p:cNvSpPr>
                <p:nvPr/>
              </p:nvSpPr>
              <p:spPr bwMode="auto">
                <a:xfrm>
                  <a:off x="3176" y="1446"/>
                  <a:ext cx="1" cy="5"/>
                </a:xfrm>
                <a:prstGeom prst="rect">
                  <a:avLst/>
                </a:prstGeom>
                <a:solidFill>
                  <a:schemeClr val="tx1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lIns="23853" tIns="11924" rIns="23853" bIns="11924">
                  <a:spAutoFit/>
                </a:bodyPr>
                <a:lstStyle/>
                <a:p>
                  <a:endParaRPr lang="zh-TW" altLang="en-US"/>
                </a:p>
              </p:txBody>
            </p:sp>
            <p:sp>
              <p:nvSpPr>
                <p:cNvPr id="1781" name="Rectangle 250"/>
                <p:cNvSpPr>
                  <a:spLocks noChangeArrowheads="1"/>
                </p:cNvSpPr>
                <p:nvPr/>
              </p:nvSpPr>
              <p:spPr bwMode="auto">
                <a:xfrm>
                  <a:off x="3280" y="1446"/>
                  <a:ext cx="6" cy="5"/>
                </a:xfrm>
                <a:prstGeom prst="rect">
                  <a:avLst/>
                </a:prstGeom>
                <a:solidFill>
                  <a:schemeClr val="tx1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lIns="23853" tIns="11924" rIns="23853" bIns="11924">
                  <a:spAutoFit/>
                </a:bodyPr>
                <a:lstStyle/>
                <a:p>
                  <a:endParaRPr lang="zh-TW" altLang="en-US"/>
                </a:p>
              </p:txBody>
            </p:sp>
          </p:grpSp>
          <p:grpSp>
            <p:nvGrpSpPr>
              <p:cNvPr id="1510" name="Group 251"/>
              <p:cNvGrpSpPr>
                <a:grpSpLocks/>
              </p:cNvGrpSpPr>
              <p:nvPr/>
            </p:nvGrpSpPr>
            <p:grpSpPr bwMode="auto">
              <a:xfrm>
                <a:off x="2610" y="1303"/>
                <a:ext cx="145" cy="235"/>
                <a:chOff x="3352" y="1223"/>
                <a:chExt cx="141" cy="228"/>
              </a:xfrm>
            </p:grpSpPr>
            <p:sp>
              <p:nvSpPr>
                <p:cNvPr id="1751" name="Rectangle 252"/>
                <p:cNvSpPr>
                  <a:spLocks noChangeArrowheads="1"/>
                </p:cNvSpPr>
                <p:nvPr/>
              </p:nvSpPr>
              <p:spPr bwMode="auto">
                <a:xfrm>
                  <a:off x="3352" y="1223"/>
                  <a:ext cx="140" cy="215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lIns="23853" tIns="11924" rIns="23853" bIns="11924">
                  <a:spAutoFit/>
                </a:bodyPr>
                <a:lstStyle/>
                <a:p>
                  <a:endParaRPr lang="zh-TW" altLang="en-US"/>
                </a:p>
              </p:txBody>
            </p:sp>
            <p:grpSp>
              <p:nvGrpSpPr>
                <p:cNvPr id="1511" name="Group 253"/>
                <p:cNvGrpSpPr>
                  <a:grpSpLocks/>
                </p:cNvGrpSpPr>
                <p:nvPr/>
              </p:nvGrpSpPr>
              <p:grpSpPr bwMode="auto">
                <a:xfrm>
                  <a:off x="3361" y="1299"/>
                  <a:ext cx="122" cy="132"/>
                  <a:chOff x="3361" y="1299"/>
                  <a:chExt cx="122" cy="132"/>
                </a:xfrm>
              </p:grpSpPr>
              <p:sp>
                <p:nvSpPr>
                  <p:cNvPr id="1760" name="Rectangle 254" descr="25%"/>
                  <p:cNvSpPr>
                    <a:spLocks noChangeArrowheads="1"/>
                  </p:cNvSpPr>
                  <p:nvPr/>
                </p:nvSpPr>
                <p:spPr bwMode="auto">
                  <a:xfrm>
                    <a:off x="3361" y="1299"/>
                    <a:ext cx="122" cy="132"/>
                  </a:xfrm>
                  <a:prstGeom prst="rect">
                    <a:avLst/>
                  </a:prstGeom>
                  <a:pattFill prst="pct25">
                    <a:fgClr>
                      <a:schemeClr val="tx1"/>
                    </a:fgClr>
                    <a:bgClr>
                      <a:schemeClr val="bg1"/>
                    </a:bgClr>
                  </a:pattFill>
                  <a:ln w="12700">
                    <a:solidFill>
                      <a:schemeClr val="bg1"/>
                    </a:solidFill>
                    <a:miter lim="800000"/>
                    <a:headEnd/>
                    <a:tailEnd/>
                  </a:ln>
                  <a:effectLst/>
                </p:spPr>
                <p:txBody>
                  <a:bodyPr wrap="none" lIns="23853" tIns="11924" rIns="23853" bIns="11924">
                    <a:spAutoFit/>
                  </a:bodyPr>
                  <a:lstStyle/>
                  <a:p>
                    <a:endParaRPr lang="zh-TW" altLang="en-US"/>
                  </a:p>
                </p:txBody>
              </p:sp>
              <p:sp>
                <p:nvSpPr>
                  <p:cNvPr id="1761" name="Line 255"/>
                  <p:cNvSpPr>
                    <a:spLocks noChangeShapeType="1"/>
                  </p:cNvSpPr>
                  <p:nvPr/>
                </p:nvSpPr>
                <p:spPr bwMode="auto">
                  <a:xfrm>
                    <a:off x="3361" y="1424"/>
                    <a:ext cx="122" cy="0"/>
                  </a:xfrm>
                  <a:prstGeom prst="line">
                    <a:avLst/>
                  </a:prstGeom>
                  <a:noFill/>
                  <a:ln w="127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lIns="23853" tIns="11924" rIns="23853" bIns="11924">
                    <a:spAutoFit/>
                  </a:bodyPr>
                  <a:lstStyle/>
                  <a:p>
                    <a:endParaRPr lang="zh-TW" altLang="en-US"/>
                  </a:p>
                </p:txBody>
              </p:sp>
              <p:sp>
                <p:nvSpPr>
                  <p:cNvPr id="1762" name="Line 256"/>
                  <p:cNvSpPr>
                    <a:spLocks noChangeShapeType="1"/>
                  </p:cNvSpPr>
                  <p:nvPr/>
                </p:nvSpPr>
                <p:spPr bwMode="auto">
                  <a:xfrm>
                    <a:off x="3361" y="1413"/>
                    <a:ext cx="122" cy="0"/>
                  </a:xfrm>
                  <a:prstGeom prst="line">
                    <a:avLst/>
                  </a:prstGeom>
                  <a:noFill/>
                  <a:ln w="127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lIns="23853" tIns="11924" rIns="23853" bIns="11924">
                    <a:spAutoFit/>
                  </a:bodyPr>
                  <a:lstStyle/>
                  <a:p>
                    <a:endParaRPr lang="zh-TW" altLang="en-US"/>
                  </a:p>
                </p:txBody>
              </p:sp>
              <p:sp>
                <p:nvSpPr>
                  <p:cNvPr id="1763" name="Line 257"/>
                  <p:cNvSpPr>
                    <a:spLocks noChangeShapeType="1"/>
                  </p:cNvSpPr>
                  <p:nvPr/>
                </p:nvSpPr>
                <p:spPr bwMode="auto">
                  <a:xfrm>
                    <a:off x="3361" y="1402"/>
                    <a:ext cx="122" cy="0"/>
                  </a:xfrm>
                  <a:prstGeom prst="line">
                    <a:avLst/>
                  </a:prstGeom>
                  <a:noFill/>
                  <a:ln w="127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lIns="23853" tIns="11924" rIns="23853" bIns="11924">
                    <a:spAutoFit/>
                  </a:bodyPr>
                  <a:lstStyle/>
                  <a:p>
                    <a:endParaRPr lang="zh-TW" altLang="en-US"/>
                  </a:p>
                </p:txBody>
              </p:sp>
              <p:sp>
                <p:nvSpPr>
                  <p:cNvPr id="1764" name="Line 258"/>
                  <p:cNvSpPr>
                    <a:spLocks noChangeShapeType="1"/>
                  </p:cNvSpPr>
                  <p:nvPr/>
                </p:nvSpPr>
                <p:spPr bwMode="auto">
                  <a:xfrm>
                    <a:off x="3361" y="1392"/>
                    <a:ext cx="122" cy="0"/>
                  </a:xfrm>
                  <a:prstGeom prst="line">
                    <a:avLst/>
                  </a:prstGeom>
                  <a:noFill/>
                  <a:ln w="127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lIns="23853" tIns="11924" rIns="23853" bIns="11924">
                    <a:spAutoFit/>
                  </a:bodyPr>
                  <a:lstStyle/>
                  <a:p>
                    <a:endParaRPr lang="zh-TW" altLang="en-US"/>
                  </a:p>
                </p:txBody>
              </p:sp>
              <p:sp>
                <p:nvSpPr>
                  <p:cNvPr id="1765" name="Line 259"/>
                  <p:cNvSpPr>
                    <a:spLocks noChangeShapeType="1"/>
                  </p:cNvSpPr>
                  <p:nvPr/>
                </p:nvSpPr>
                <p:spPr bwMode="auto">
                  <a:xfrm>
                    <a:off x="3361" y="1380"/>
                    <a:ext cx="122" cy="0"/>
                  </a:xfrm>
                  <a:prstGeom prst="line">
                    <a:avLst/>
                  </a:prstGeom>
                  <a:noFill/>
                  <a:ln w="127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lIns="23853" tIns="11924" rIns="23853" bIns="11924">
                    <a:spAutoFit/>
                  </a:bodyPr>
                  <a:lstStyle/>
                  <a:p>
                    <a:endParaRPr lang="zh-TW" altLang="en-US"/>
                  </a:p>
                </p:txBody>
              </p:sp>
              <p:sp>
                <p:nvSpPr>
                  <p:cNvPr id="1766" name="Line 260"/>
                  <p:cNvSpPr>
                    <a:spLocks noChangeShapeType="1"/>
                  </p:cNvSpPr>
                  <p:nvPr/>
                </p:nvSpPr>
                <p:spPr bwMode="auto">
                  <a:xfrm>
                    <a:off x="3361" y="1370"/>
                    <a:ext cx="122" cy="0"/>
                  </a:xfrm>
                  <a:prstGeom prst="line">
                    <a:avLst/>
                  </a:prstGeom>
                  <a:noFill/>
                  <a:ln w="127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lIns="23853" tIns="11924" rIns="23853" bIns="11924">
                    <a:spAutoFit/>
                  </a:bodyPr>
                  <a:lstStyle/>
                  <a:p>
                    <a:endParaRPr lang="zh-TW" altLang="en-US"/>
                  </a:p>
                </p:txBody>
              </p:sp>
              <p:sp>
                <p:nvSpPr>
                  <p:cNvPr id="1767" name="Line 261"/>
                  <p:cNvSpPr>
                    <a:spLocks noChangeShapeType="1"/>
                  </p:cNvSpPr>
                  <p:nvPr/>
                </p:nvSpPr>
                <p:spPr bwMode="auto">
                  <a:xfrm>
                    <a:off x="3361" y="1359"/>
                    <a:ext cx="122" cy="0"/>
                  </a:xfrm>
                  <a:prstGeom prst="line">
                    <a:avLst/>
                  </a:prstGeom>
                  <a:noFill/>
                  <a:ln w="127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lIns="23853" tIns="11924" rIns="23853" bIns="11924">
                    <a:spAutoFit/>
                  </a:bodyPr>
                  <a:lstStyle/>
                  <a:p>
                    <a:endParaRPr lang="zh-TW" altLang="en-US"/>
                  </a:p>
                </p:txBody>
              </p:sp>
              <p:sp>
                <p:nvSpPr>
                  <p:cNvPr id="1768" name="Line 262"/>
                  <p:cNvSpPr>
                    <a:spLocks noChangeShapeType="1"/>
                  </p:cNvSpPr>
                  <p:nvPr/>
                </p:nvSpPr>
                <p:spPr bwMode="auto">
                  <a:xfrm>
                    <a:off x="3361" y="1349"/>
                    <a:ext cx="122" cy="0"/>
                  </a:xfrm>
                  <a:prstGeom prst="line">
                    <a:avLst/>
                  </a:prstGeom>
                  <a:noFill/>
                  <a:ln w="127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lIns="23853" tIns="11924" rIns="23853" bIns="11924">
                    <a:spAutoFit/>
                  </a:bodyPr>
                  <a:lstStyle/>
                  <a:p>
                    <a:endParaRPr lang="zh-TW" altLang="en-US"/>
                  </a:p>
                </p:txBody>
              </p:sp>
              <p:sp>
                <p:nvSpPr>
                  <p:cNvPr id="1769" name="Line 263"/>
                  <p:cNvSpPr>
                    <a:spLocks noChangeShapeType="1"/>
                  </p:cNvSpPr>
                  <p:nvPr/>
                </p:nvSpPr>
                <p:spPr bwMode="auto">
                  <a:xfrm>
                    <a:off x="3361" y="1338"/>
                    <a:ext cx="122" cy="0"/>
                  </a:xfrm>
                  <a:prstGeom prst="line">
                    <a:avLst/>
                  </a:prstGeom>
                  <a:noFill/>
                  <a:ln w="127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lIns="23853" tIns="11924" rIns="23853" bIns="11924">
                    <a:spAutoFit/>
                  </a:bodyPr>
                  <a:lstStyle/>
                  <a:p>
                    <a:endParaRPr lang="zh-TW" altLang="en-US"/>
                  </a:p>
                </p:txBody>
              </p:sp>
              <p:sp>
                <p:nvSpPr>
                  <p:cNvPr id="1770" name="Line 264"/>
                  <p:cNvSpPr>
                    <a:spLocks noChangeShapeType="1"/>
                  </p:cNvSpPr>
                  <p:nvPr/>
                </p:nvSpPr>
                <p:spPr bwMode="auto">
                  <a:xfrm>
                    <a:off x="3361" y="1327"/>
                    <a:ext cx="122" cy="0"/>
                  </a:xfrm>
                  <a:prstGeom prst="line">
                    <a:avLst/>
                  </a:prstGeom>
                  <a:noFill/>
                  <a:ln w="127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lIns="23853" tIns="11924" rIns="23853" bIns="11924">
                    <a:spAutoFit/>
                  </a:bodyPr>
                  <a:lstStyle/>
                  <a:p>
                    <a:endParaRPr lang="zh-TW" altLang="en-US"/>
                  </a:p>
                </p:txBody>
              </p:sp>
              <p:sp>
                <p:nvSpPr>
                  <p:cNvPr id="1771" name="Line 265"/>
                  <p:cNvSpPr>
                    <a:spLocks noChangeShapeType="1"/>
                  </p:cNvSpPr>
                  <p:nvPr/>
                </p:nvSpPr>
                <p:spPr bwMode="auto">
                  <a:xfrm>
                    <a:off x="3361" y="1317"/>
                    <a:ext cx="122" cy="0"/>
                  </a:xfrm>
                  <a:prstGeom prst="line">
                    <a:avLst/>
                  </a:prstGeom>
                  <a:noFill/>
                  <a:ln w="127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lIns="23853" tIns="11924" rIns="23853" bIns="11924">
                    <a:spAutoFit/>
                  </a:bodyPr>
                  <a:lstStyle/>
                  <a:p>
                    <a:endParaRPr lang="zh-TW" altLang="en-US"/>
                  </a:p>
                </p:txBody>
              </p:sp>
              <p:sp>
                <p:nvSpPr>
                  <p:cNvPr id="1772" name="Line 266"/>
                  <p:cNvSpPr>
                    <a:spLocks noChangeShapeType="1"/>
                  </p:cNvSpPr>
                  <p:nvPr/>
                </p:nvSpPr>
                <p:spPr bwMode="auto">
                  <a:xfrm>
                    <a:off x="3361" y="1306"/>
                    <a:ext cx="122" cy="0"/>
                  </a:xfrm>
                  <a:prstGeom prst="line">
                    <a:avLst/>
                  </a:prstGeom>
                  <a:noFill/>
                  <a:ln w="127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lIns="23853" tIns="11924" rIns="23853" bIns="11924">
                    <a:spAutoFit/>
                  </a:bodyPr>
                  <a:lstStyle/>
                  <a:p>
                    <a:endParaRPr lang="zh-TW" altLang="en-US"/>
                  </a:p>
                </p:txBody>
              </p:sp>
            </p:grpSp>
            <p:sp>
              <p:nvSpPr>
                <p:cNvPr id="1753" name="Rectangle 267"/>
                <p:cNvSpPr>
                  <a:spLocks noChangeArrowheads="1"/>
                </p:cNvSpPr>
                <p:nvPr/>
              </p:nvSpPr>
              <p:spPr bwMode="auto">
                <a:xfrm>
                  <a:off x="3354" y="1227"/>
                  <a:ext cx="139" cy="49"/>
                </a:xfrm>
                <a:prstGeom prst="rect">
                  <a:avLst/>
                </a:prstGeom>
                <a:solidFill>
                  <a:schemeClr val="tx1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lIns="23853" tIns="11924" rIns="23853" bIns="11924">
                  <a:spAutoFit/>
                </a:bodyPr>
                <a:lstStyle/>
                <a:p>
                  <a:endParaRPr lang="zh-TW" altLang="en-US"/>
                </a:p>
              </p:txBody>
            </p:sp>
            <p:sp>
              <p:nvSpPr>
                <p:cNvPr id="1754" name="Line 268"/>
                <p:cNvSpPr>
                  <a:spLocks noChangeShapeType="1"/>
                </p:cNvSpPr>
                <p:nvPr/>
              </p:nvSpPr>
              <p:spPr bwMode="auto">
                <a:xfrm>
                  <a:off x="3402" y="1231"/>
                  <a:ext cx="0" cy="36"/>
                </a:xfrm>
                <a:prstGeom prst="line">
                  <a:avLst/>
                </a:prstGeom>
                <a:noFill/>
                <a:ln w="12700">
                  <a:solidFill>
                    <a:schemeClr val="bg1"/>
                  </a:solidFill>
                  <a:round/>
                  <a:headEnd/>
                  <a:tailEnd/>
                </a:ln>
                <a:effectLst/>
              </p:spPr>
              <p:txBody>
                <a:bodyPr wrap="none" lIns="23853" tIns="11924" rIns="23853" bIns="11924">
                  <a:spAutoFit/>
                </a:bodyPr>
                <a:lstStyle/>
                <a:p>
                  <a:endParaRPr lang="zh-TW" altLang="en-US"/>
                </a:p>
              </p:txBody>
            </p:sp>
            <p:sp>
              <p:nvSpPr>
                <p:cNvPr id="1755" name="Rectangle 269"/>
                <p:cNvSpPr>
                  <a:spLocks noChangeArrowheads="1"/>
                </p:cNvSpPr>
                <p:nvPr/>
              </p:nvSpPr>
              <p:spPr bwMode="auto">
                <a:xfrm>
                  <a:off x="3424" y="1224"/>
                  <a:ext cx="64" cy="34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 wrap="none" lIns="23853" tIns="11924" rIns="23853" bIns="11924">
                  <a:spAutoFit/>
                </a:bodyPr>
                <a:lstStyle/>
                <a:p>
                  <a:pPr defTabSz="179388"/>
                  <a:r>
                    <a:rPr lang="en-US" altLang="zh-TW" sz="200" b="1">
                      <a:solidFill>
                        <a:schemeClr val="bg1"/>
                      </a:solidFill>
                      <a:latin typeface="Arial" charset="0"/>
                      <a:ea typeface="新細明體" charset="-120"/>
                    </a:rPr>
                    <a:t>2100</a:t>
                  </a:r>
                </a:p>
              </p:txBody>
            </p:sp>
            <p:sp>
              <p:nvSpPr>
                <p:cNvPr id="1756" name="Rectangle 270"/>
                <p:cNvSpPr>
                  <a:spLocks noChangeArrowheads="1"/>
                </p:cNvSpPr>
                <p:nvPr/>
              </p:nvSpPr>
              <p:spPr bwMode="auto">
                <a:xfrm>
                  <a:off x="3469" y="1234"/>
                  <a:ext cx="11" cy="1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lIns="23853" tIns="11924" rIns="23853" bIns="11924">
                  <a:spAutoFit/>
                </a:bodyPr>
                <a:lstStyle/>
                <a:p>
                  <a:endParaRPr lang="zh-TW" altLang="en-US"/>
                </a:p>
              </p:txBody>
            </p:sp>
            <p:sp>
              <p:nvSpPr>
                <p:cNvPr id="1757" name="Rectangle 271"/>
                <p:cNvSpPr>
                  <a:spLocks noChangeArrowheads="1"/>
                </p:cNvSpPr>
                <p:nvPr/>
              </p:nvSpPr>
              <p:spPr bwMode="auto">
                <a:xfrm>
                  <a:off x="3357" y="1234"/>
                  <a:ext cx="9" cy="1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lIns="23853" tIns="11924" rIns="23853" bIns="11924">
                  <a:spAutoFit/>
                </a:bodyPr>
                <a:lstStyle/>
                <a:p>
                  <a:endParaRPr lang="zh-TW" altLang="en-US"/>
                </a:p>
              </p:txBody>
            </p:sp>
            <p:sp>
              <p:nvSpPr>
                <p:cNvPr id="1758" name="Rectangle 272"/>
                <p:cNvSpPr>
                  <a:spLocks noChangeArrowheads="1"/>
                </p:cNvSpPr>
                <p:nvPr/>
              </p:nvSpPr>
              <p:spPr bwMode="auto">
                <a:xfrm>
                  <a:off x="3366" y="1446"/>
                  <a:ext cx="7" cy="5"/>
                </a:xfrm>
                <a:prstGeom prst="rect">
                  <a:avLst/>
                </a:prstGeom>
                <a:solidFill>
                  <a:schemeClr val="tx1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lIns="23853" tIns="11924" rIns="23853" bIns="11924">
                  <a:spAutoFit/>
                </a:bodyPr>
                <a:lstStyle/>
                <a:p>
                  <a:endParaRPr lang="zh-TW" altLang="en-US"/>
                </a:p>
              </p:txBody>
            </p:sp>
            <p:sp>
              <p:nvSpPr>
                <p:cNvPr id="1759" name="Rectangle 273"/>
                <p:cNvSpPr>
                  <a:spLocks noChangeArrowheads="1"/>
                </p:cNvSpPr>
                <p:nvPr/>
              </p:nvSpPr>
              <p:spPr bwMode="auto">
                <a:xfrm>
                  <a:off x="3474" y="1446"/>
                  <a:ext cx="6" cy="5"/>
                </a:xfrm>
                <a:prstGeom prst="rect">
                  <a:avLst/>
                </a:prstGeom>
                <a:solidFill>
                  <a:schemeClr val="tx1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lIns="23853" tIns="11924" rIns="23853" bIns="11924">
                  <a:spAutoFit/>
                </a:bodyPr>
                <a:lstStyle/>
                <a:p>
                  <a:endParaRPr lang="zh-TW" altLang="en-US"/>
                </a:p>
              </p:txBody>
            </p:sp>
          </p:grpSp>
          <p:grpSp>
            <p:nvGrpSpPr>
              <p:cNvPr id="1512" name="Group 274"/>
              <p:cNvGrpSpPr>
                <a:grpSpLocks/>
              </p:cNvGrpSpPr>
              <p:nvPr/>
            </p:nvGrpSpPr>
            <p:grpSpPr bwMode="auto">
              <a:xfrm>
                <a:off x="2832" y="1296"/>
                <a:ext cx="144" cy="234"/>
                <a:chOff x="3568" y="1216"/>
                <a:chExt cx="140" cy="228"/>
              </a:xfrm>
            </p:grpSpPr>
            <p:sp>
              <p:nvSpPr>
                <p:cNvPr id="1729" name="Rectangle 275"/>
                <p:cNvSpPr>
                  <a:spLocks noChangeArrowheads="1"/>
                </p:cNvSpPr>
                <p:nvPr/>
              </p:nvSpPr>
              <p:spPr bwMode="auto">
                <a:xfrm>
                  <a:off x="3568" y="1216"/>
                  <a:ext cx="139" cy="215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lIns="23853" tIns="11924" rIns="23853" bIns="11924">
                  <a:spAutoFit/>
                </a:bodyPr>
                <a:lstStyle/>
                <a:p>
                  <a:endParaRPr lang="zh-TW" altLang="en-US"/>
                </a:p>
              </p:txBody>
            </p:sp>
            <p:grpSp>
              <p:nvGrpSpPr>
                <p:cNvPr id="1513" name="Group 276"/>
                <p:cNvGrpSpPr>
                  <a:grpSpLocks/>
                </p:cNvGrpSpPr>
                <p:nvPr/>
              </p:nvGrpSpPr>
              <p:grpSpPr bwMode="auto">
                <a:xfrm>
                  <a:off x="3576" y="1292"/>
                  <a:ext cx="122" cy="132"/>
                  <a:chOff x="3576" y="1292"/>
                  <a:chExt cx="122" cy="132"/>
                </a:xfrm>
              </p:grpSpPr>
              <p:sp>
                <p:nvSpPr>
                  <p:cNvPr id="1738" name="Rectangle 277" descr="25%"/>
                  <p:cNvSpPr>
                    <a:spLocks noChangeArrowheads="1"/>
                  </p:cNvSpPr>
                  <p:nvPr/>
                </p:nvSpPr>
                <p:spPr bwMode="auto">
                  <a:xfrm>
                    <a:off x="3576" y="1292"/>
                    <a:ext cx="122" cy="132"/>
                  </a:xfrm>
                  <a:prstGeom prst="rect">
                    <a:avLst/>
                  </a:prstGeom>
                  <a:pattFill prst="pct25">
                    <a:fgClr>
                      <a:schemeClr val="tx1"/>
                    </a:fgClr>
                    <a:bgClr>
                      <a:schemeClr val="bg1"/>
                    </a:bgClr>
                  </a:pattFill>
                  <a:ln w="12700">
                    <a:solidFill>
                      <a:schemeClr val="bg1"/>
                    </a:solidFill>
                    <a:miter lim="800000"/>
                    <a:headEnd/>
                    <a:tailEnd/>
                  </a:ln>
                  <a:effectLst/>
                </p:spPr>
                <p:txBody>
                  <a:bodyPr wrap="none" lIns="23853" tIns="11924" rIns="23853" bIns="11924">
                    <a:spAutoFit/>
                  </a:bodyPr>
                  <a:lstStyle/>
                  <a:p>
                    <a:endParaRPr lang="zh-TW" altLang="en-US"/>
                  </a:p>
                </p:txBody>
              </p:sp>
              <p:sp>
                <p:nvSpPr>
                  <p:cNvPr id="1739" name="Line 278"/>
                  <p:cNvSpPr>
                    <a:spLocks noChangeShapeType="1"/>
                  </p:cNvSpPr>
                  <p:nvPr/>
                </p:nvSpPr>
                <p:spPr bwMode="auto">
                  <a:xfrm>
                    <a:off x="3576" y="1417"/>
                    <a:ext cx="122" cy="0"/>
                  </a:xfrm>
                  <a:prstGeom prst="line">
                    <a:avLst/>
                  </a:prstGeom>
                  <a:noFill/>
                  <a:ln w="127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lIns="23853" tIns="11924" rIns="23853" bIns="11924">
                    <a:spAutoFit/>
                  </a:bodyPr>
                  <a:lstStyle/>
                  <a:p>
                    <a:endParaRPr lang="zh-TW" altLang="en-US"/>
                  </a:p>
                </p:txBody>
              </p:sp>
              <p:sp>
                <p:nvSpPr>
                  <p:cNvPr id="1740" name="Line 279"/>
                  <p:cNvSpPr>
                    <a:spLocks noChangeShapeType="1"/>
                  </p:cNvSpPr>
                  <p:nvPr/>
                </p:nvSpPr>
                <p:spPr bwMode="auto">
                  <a:xfrm>
                    <a:off x="3576" y="1406"/>
                    <a:ext cx="122" cy="0"/>
                  </a:xfrm>
                  <a:prstGeom prst="line">
                    <a:avLst/>
                  </a:prstGeom>
                  <a:noFill/>
                  <a:ln w="127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lIns="23853" tIns="11924" rIns="23853" bIns="11924">
                    <a:spAutoFit/>
                  </a:bodyPr>
                  <a:lstStyle/>
                  <a:p>
                    <a:endParaRPr lang="zh-TW" altLang="en-US"/>
                  </a:p>
                </p:txBody>
              </p:sp>
              <p:sp>
                <p:nvSpPr>
                  <p:cNvPr id="1741" name="Line 280"/>
                  <p:cNvSpPr>
                    <a:spLocks noChangeShapeType="1"/>
                  </p:cNvSpPr>
                  <p:nvPr/>
                </p:nvSpPr>
                <p:spPr bwMode="auto">
                  <a:xfrm>
                    <a:off x="3576" y="1395"/>
                    <a:ext cx="122" cy="0"/>
                  </a:xfrm>
                  <a:prstGeom prst="line">
                    <a:avLst/>
                  </a:prstGeom>
                  <a:noFill/>
                  <a:ln w="127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lIns="23853" tIns="11924" rIns="23853" bIns="11924">
                    <a:spAutoFit/>
                  </a:bodyPr>
                  <a:lstStyle/>
                  <a:p>
                    <a:endParaRPr lang="zh-TW" altLang="en-US"/>
                  </a:p>
                </p:txBody>
              </p:sp>
              <p:sp>
                <p:nvSpPr>
                  <p:cNvPr id="1742" name="Line 281"/>
                  <p:cNvSpPr>
                    <a:spLocks noChangeShapeType="1"/>
                  </p:cNvSpPr>
                  <p:nvPr/>
                </p:nvSpPr>
                <p:spPr bwMode="auto">
                  <a:xfrm>
                    <a:off x="3576" y="1385"/>
                    <a:ext cx="122" cy="0"/>
                  </a:xfrm>
                  <a:prstGeom prst="line">
                    <a:avLst/>
                  </a:prstGeom>
                  <a:noFill/>
                  <a:ln w="127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lIns="23853" tIns="11924" rIns="23853" bIns="11924">
                    <a:spAutoFit/>
                  </a:bodyPr>
                  <a:lstStyle/>
                  <a:p>
                    <a:endParaRPr lang="zh-TW" altLang="en-US"/>
                  </a:p>
                </p:txBody>
              </p:sp>
              <p:sp>
                <p:nvSpPr>
                  <p:cNvPr id="1743" name="Line 282"/>
                  <p:cNvSpPr>
                    <a:spLocks noChangeShapeType="1"/>
                  </p:cNvSpPr>
                  <p:nvPr/>
                </p:nvSpPr>
                <p:spPr bwMode="auto">
                  <a:xfrm>
                    <a:off x="3576" y="1374"/>
                    <a:ext cx="122" cy="0"/>
                  </a:xfrm>
                  <a:prstGeom prst="line">
                    <a:avLst/>
                  </a:prstGeom>
                  <a:noFill/>
                  <a:ln w="127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lIns="23853" tIns="11924" rIns="23853" bIns="11924">
                    <a:spAutoFit/>
                  </a:bodyPr>
                  <a:lstStyle/>
                  <a:p>
                    <a:endParaRPr lang="zh-TW" altLang="en-US"/>
                  </a:p>
                </p:txBody>
              </p:sp>
              <p:sp>
                <p:nvSpPr>
                  <p:cNvPr id="1744" name="Line 283"/>
                  <p:cNvSpPr>
                    <a:spLocks noChangeShapeType="1"/>
                  </p:cNvSpPr>
                  <p:nvPr/>
                </p:nvSpPr>
                <p:spPr bwMode="auto">
                  <a:xfrm>
                    <a:off x="3576" y="1363"/>
                    <a:ext cx="122" cy="0"/>
                  </a:xfrm>
                  <a:prstGeom prst="line">
                    <a:avLst/>
                  </a:prstGeom>
                  <a:noFill/>
                  <a:ln w="127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lIns="23853" tIns="11924" rIns="23853" bIns="11924">
                    <a:spAutoFit/>
                  </a:bodyPr>
                  <a:lstStyle/>
                  <a:p>
                    <a:endParaRPr lang="zh-TW" altLang="en-US"/>
                  </a:p>
                </p:txBody>
              </p:sp>
              <p:sp>
                <p:nvSpPr>
                  <p:cNvPr id="1745" name="Line 284"/>
                  <p:cNvSpPr>
                    <a:spLocks noChangeShapeType="1"/>
                  </p:cNvSpPr>
                  <p:nvPr/>
                </p:nvSpPr>
                <p:spPr bwMode="auto">
                  <a:xfrm>
                    <a:off x="3576" y="1353"/>
                    <a:ext cx="122" cy="0"/>
                  </a:xfrm>
                  <a:prstGeom prst="line">
                    <a:avLst/>
                  </a:prstGeom>
                  <a:noFill/>
                  <a:ln w="127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lIns="23853" tIns="11924" rIns="23853" bIns="11924">
                    <a:spAutoFit/>
                  </a:bodyPr>
                  <a:lstStyle/>
                  <a:p>
                    <a:endParaRPr lang="zh-TW" altLang="en-US"/>
                  </a:p>
                </p:txBody>
              </p:sp>
              <p:sp>
                <p:nvSpPr>
                  <p:cNvPr id="1746" name="Line 285"/>
                  <p:cNvSpPr>
                    <a:spLocks noChangeShapeType="1"/>
                  </p:cNvSpPr>
                  <p:nvPr/>
                </p:nvSpPr>
                <p:spPr bwMode="auto">
                  <a:xfrm>
                    <a:off x="3576" y="1341"/>
                    <a:ext cx="122" cy="0"/>
                  </a:xfrm>
                  <a:prstGeom prst="line">
                    <a:avLst/>
                  </a:prstGeom>
                  <a:noFill/>
                  <a:ln w="127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lIns="23853" tIns="11924" rIns="23853" bIns="11924">
                    <a:spAutoFit/>
                  </a:bodyPr>
                  <a:lstStyle/>
                  <a:p>
                    <a:endParaRPr lang="zh-TW" altLang="en-US"/>
                  </a:p>
                </p:txBody>
              </p:sp>
              <p:sp>
                <p:nvSpPr>
                  <p:cNvPr id="1747" name="Line 286"/>
                  <p:cNvSpPr>
                    <a:spLocks noChangeShapeType="1"/>
                  </p:cNvSpPr>
                  <p:nvPr/>
                </p:nvSpPr>
                <p:spPr bwMode="auto">
                  <a:xfrm>
                    <a:off x="3576" y="1331"/>
                    <a:ext cx="122" cy="0"/>
                  </a:xfrm>
                  <a:prstGeom prst="line">
                    <a:avLst/>
                  </a:prstGeom>
                  <a:noFill/>
                  <a:ln w="127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lIns="23853" tIns="11924" rIns="23853" bIns="11924">
                    <a:spAutoFit/>
                  </a:bodyPr>
                  <a:lstStyle/>
                  <a:p>
                    <a:endParaRPr lang="zh-TW" altLang="en-US"/>
                  </a:p>
                </p:txBody>
              </p:sp>
              <p:sp>
                <p:nvSpPr>
                  <p:cNvPr id="1748" name="Line 287"/>
                  <p:cNvSpPr>
                    <a:spLocks noChangeShapeType="1"/>
                  </p:cNvSpPr>
                  <p:nvPr/>
                </p:nvSpPr>
                <p:spPr bwMode="auto">
                  <a:xfrm>
                    <a:off x="3576" y="1320"/>
                    <a:ext cx="122" cy="0"/>
                  </a:xfrm>
                  <a:prstGeom prst="line">
                    <a:avLst/>
                  </a:prstGeom>
                  <a:noFill/>
                  <a:ln w="127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lIns="23853" tIns="11924" rIns="23853" bIns="11924">
                    <a:spAutoFit/>
                  </a:bodyPr>
                  <a:lstStyle/>
                  <a:p>
                    <a:endParaRPr lang="zh-TW" altLang="en-US"/>
                  </a:p>
                </p:txBody>
              </p:sp>
              <p:sp>
                <p:nvSpPr>
                  <p:cNvPr id="1749" name="Line 288"/>
                  <p:cNvSpPr>
                    <a:spLocks noChangeShapeType="1"/>
                  </p:cNvSpPr>
                  <p:nvPr/>
                </p:nvSpPr>
                <p:spPr bwMode="auto">
                  <a:xfrm>
                    <a:off x="3576" y="1310"/>
                    <a:ext cx="122" cy="0"/>
                  </a:xfrm>
                  <a:prstGeom prst="line">
                    <a:avLst/>
                  </a:prstGeom>
                  <a:noFill/>
                  <a:ln w="127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lIns="23853" tIns="11924" rIns="23853" bIns="11924">
                    <a:spAutoFit/>
                  </a:bodyPr>
                  <a:lstStyle/>
                  <a:p>
                    <a:endParaRPr lang="zh-TW" altLang="en-US"/>
                  </a:p>
                </p:txBody>
              </p:sp>
              <p:sp>
                <p:nvSpPr>
                  <p:cNvPr id="1750" name="Line 289"/>
                  <p:cNvSpPr>
                    <a:spLocks noChangeShapeType="1"/>
                  </p:cNvSpPr>
                  <p:nvPr/>
                </p:nvSpPr>
                <p:spPr bwMode="auto">
                  <a:xfrm>
                    <a:off x="3576" y="1299"/>
                    <a:ext cx="122" cy="0"/>
                  </a:xfrm>
                  <a:prstGeom prst="line">
                    <a:avLst/>
                  </a:prstGeom>
                  <a:noFill/>
                  <a:ln w="12700">
                    <a:solidFill>
                      <a:schemeClr val="bg1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lIns="23853" tIns="11924" rIns="23853" bIns="11924">
                    <a:spAutoFit/>
                  </a:bodyPr>
                  <a:lstStyle/>
                  <a:p>
                    <a:endParaRPr lang="zh-TW" altLang="en-US"/>
                  </a:p>
                </p:txBody>
              </p:sp>
            </p:grpSp>
            <p:sp>
              <p:nvSpPr>
                <p:cNvPr id="1731" name="Rectangle 290"/>
                <p:cNvSpPr>
                  <a:spLocks noChangeArrowheads="1"/>
                </p:cNvSpPr>
                <p:nvPr/>
              </p:nvSpPr>
              <p:spPr bwMode="auto">
                <a:xfrm>
                  <a:off x="3570" y="1220"/>
                  <a:ext cx="138" cy="48"/>
                </a:xfrm>
                <a:prstGeom prst="rect">
                  <a:avLst/>
                </a:prstGeom>
                <a:solidFill>
                  <a:schemeClr val="tx1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lIns="23853" tIns="11924" rIns="23853" bIns="11924">
                  <a:spAutoFit/>
                </a:bodyPr>
                <a:lstStyle/>
                <a:p>
                  <a:endParaRPr lang="zh-TW" altLang="en-US"/>
                </a:p>
              </p:txBody>
            </p:sp>
            <p:sp>
              <p:nvSpPr>
                <p:cNvPr id="1732" name="Line 291"/>
                <p:cNvSpPr>
                  <a:spLocks noChangeShapeType="1"/>
                </p:cNvSpPr>
                <p:nvPr/>
              </p:nvSpPr>
              <p:spPr bwMode="auto">
                <a:xfrm>
                  <a:off x="3616" y="1224"/>
                  <a:ext cx="0" cy="36"/>
                </a:xfrm>
                <a:prstGeom prst="line">
                  <a:avLst/>
                </a:prstGeom>
                <a:noFill/>
                <a:ln w="12700">
                  <a:solidFill>
                    <a:schemeClr val="bg1"/>
                  </a:solidFill>
                  <a:round/>
                  <a:headEnd/>
                  <a:tailEnd/>
                </a:ln>
                <a:effectLst/>
              </p:spPr>
              <p:txBody>
                <a:bodyPr wrap="none" lIns="23853" tIns="11924" rIns="23853" bIns="11924">
                  <a:spAutoFit/>
                </a:bodyPr>
                <a:lstStyle/>
                <a:p>
                  <a:endParaRPr lang="zh-TW" altLang="en-US"/>
                </a:p>
              </p:txBody>
            </p:sp>
            <p:sp>
              <p:nvSpPr>
                <p:cNvPr id="1733" name="Rectangle 292"/>
                <p:cNvSpPr>
                  <a:spLocks noChangeArrowheads="1"/>
                </p:cNvSpPr>
                <p:nvPr/>
              </p:nvSpPr>
              <p:spPr bwMode="auto">
                <a:xfrm>
                  <a:off x="3639" y="1217"/>
                  <a:ext cx="64" cy="34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 wrap="none" lIns="23853" tIns="11924" rIns="23853" bIns="11924">
                  <a:spAutoFit/>
                </a:bodyPr>
                <a:lstStyle/>
                <a:p>
                  <a:pPr defTabSz="179388"/>
                  <a:r>
                    <a:rPr lang="en-US" altLang="zh-TW" sz="200" b="1">
                      <a:solidFill>
                        <a:schemeClr val="bg1"/>
                      </a:solidFill>
                      <a:latin typeface="Arial" charset="0"/>
                      <a:ea typeface="新細明體" charset="-120"/>
                    </a:rPr>
                    <a:t>2100</a:t>
                  </a:r>
                </a:p>
              </p:txBody>
            </p:sp>
            <p:sp>
              <p:nvSpPr>
                <p:cNvPr id="1734" name="Rectangle 293"/>
                <p:cNvSpPr>
                  <a:spLocks noChangeArrowheads="1"/>
                </p:cNvSpPr>
                <p:nvPr/>
              </p:nvSpPr>
              <p:spPr bwMode="auto">
                <a:xfrm>
                  <a:off x="3684" y="1227"/>
                  <a:ext cx="12" cy="1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lIns="23853" tIns="11924" rIns="23853" bIns="11924">
                  <a:spAutoFit/>
                </a:bodyPr>
                <a:lstStyle/>
                <a:p>
                  <a:endParaRPr lang="zh-TW" altLang="en-US"/>
                </a:p>
              </p:txBody>
            </p:sp>
            <p:sp>
              <p:nvSpPr>
                <p:cNvPr id="1735" name="Rectangle 294"/>
                <p:cNvSpPr>
                  <a:spLocks noChangeArrowheads="1"/>
                </p:cNvSpPr>
                <p:nvPr/>
              </p:nvSpPr>
              <p:spPr bwMode="auto">
                <a:xfrm>
                  <a:off x="3572" y="1227"/>
                  <a:ext cx="10" cy="1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lIns="23853" tIns="11924" rIns="23853" bIns="11924">
                  <a:spAutoFit/>
                </a:bodyPr>
                <a:lstStyle/>
                <a:p>
                  <a:endParaRPr lang="zh-TW" altLang="en-US"/>
                </a:p>
              </p:txBody>
            </p:sp>
            <p:sp>
              <p:nvSpPr>
                <p:cNvPr id="1736" name="Rectangle 295"/>
                <p:cNvSpPr>
                  <a:spLocks noChangeArrowheads="1"/>
                </p:cNvSpPr>
                <p:nvPr/>
              </p:nvSpPr>
              <p:spPr bwMode="auto">
                <a:xfrm>
                  <a:off x="3585" y="1439"/>
                  <a:ext cx="1" cy="5"/>
                </a:xfrm>
                <a:prstGeom prst="rect">
                  <a:avLst/>
                </a:prstGeom>
                <a:solidFill>
                  <a:schemeClr val="tx1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lIns="23853" tIns="11924" rIns="23853" bIns="11924">
                  <a:spAutoFit/>
                </a:bodyPr>
                <a:lstStyle/>
                <a:p>
                  <a:endParaRPr lang="zh-TW" altLang="en-US"/>
                </a:p>
              </p:txBody>
            </p:sp>
            <p:sp>
              <p:nvSpPr>
                <p:cNvPr id="1737" name="Rectangle 296"/>
                <p:cNvSpPr>
                  <a:spLocks noChangeArrowheads="1"/>
                </p:cNvSpPr>
                <p:nvPr/>
              </p:nvSpPr>
              <p:spPr bwMode="auto">
                <a:xfrm>
                  <a:off x="3692" y="1439"/>
                  <a:ext cx="1" cy="5"/>
                </a:xfrm>
                <a:prstGeom prst="rect">
                  <a:avLst/>
                </a:prstGeom>
                <a:solidFill>
                  <a:schemeClr val="tx1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lIns="23853" tIns="11924" rIns="23853" bIns="11924">
                  <a:spAutoFit/>
                </a:bodyPr>
                <a:lstStyle/>
                <a:p>
                  <a:endParaRPr lang="zh-TW" altLang="en-US"/>
                </a:p>
              </p:txBody>
            </p:sp>
          </p:grpSp>
          <p:sp>
            <p:nvSpPr>
              <p:cNvPr id="1725" name="Line 297"/>
              <p:cNvSpPr>
                <a:spLocks noChangeShapeType="1"/>
              </p:cNvSpPr>
              <p:nvPr/>
            </p:nvSpPr>
            <p:spPr bwMode="auto">
              <a:xfrm flipH="1" flipV="1">
                <a:off x="2219" y="1536"/>
                <a:ext cx="202" cy="199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lIns="23853" tIns="11924" rIns="23853" bIns="11924">
                <a:spAutoFit/>
              </a:bodyPr>
              <a:lstStyle/>
              <a:p>
                <a:endParaRPr lang="zh-TW" altLang="en-US"/>
              </a:p>
            </p:txBody>
          </p:sp>
          <p:sp>
            <p:nvSpPr>
              <p:cNvPr id="1726" name="Line 298"/>
              <p:cNvSpPr>
                <a:spLocks noChangeShapeType="1"/>
              </p:cNvSpPr>
              <p:nvPr/>
            </p:nvSpPr>
            <p:spPr bwMode="auto">
              <a:xfrm flipH="1" flipV="1">
                <a:off x="2459" y="1536"/>
                <a:ext cx="49" cy="19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lIns="23853" tIns="11924" rIns="23853" bIns="11924">
                <a:spAutoFit/>
              </a:bodyPr>
              <a:lstStyle/>
              <a:p>
                <a:endParaRPr lang="zh-TW" altLang="en-US"/>
              </a:p>
            </p:txBody>
          </p:sp>
          <p:sp>
            <p:nvSpPr>
              <p:cNvPr id="1727" name="Line 299"/>
              <p:cNvSpPr>
                <a:spLocks noChangeShapeType="1"/>
              </p:cNvSpPr>
              <p:nvPr/>
            </p:nvSpPr>
            <p:spPr bwMode="auto">
              <a:xfrm flipV="1">
                <a:off x="2630" y="1536"/>
                <a:ext cx="21" cy="19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lIns="23853" tIns="11924" rIns="23853" bIns="11924">
                <a:spAutoFit/>
              </a:bodyPr>
              <a:lstStyle/>
              <a:p>
                <a:endParaRPr lang="zh-TW" altLang="en-US"/>
              </a:p>
            </p:txBody>
          </p:sp>
          <p:sp>
            <p:nvSpPr>
              <p:cNvPr id="1728" name="Line 300"/>
              <p:cNvSpPr>
                <a:spLocks noChangeShapeType="1"/>
              </p:cNvSpPr>
              <p:nvPr/>
            </p:nvSpPr>
            <p:spPr bwMode="auto">
              <a:xfrm flipV="1">
                <a:off x="2747" y="1536"/>
                <a:ext cx="144" cy="19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lIns="23853" tIns="11924" rIns="23853" bIns="11924">
                <a:spAutoFit/>
              </a:bodyPr>
              <a:lstStyle/>
              <a:p>
                <a:endParaRPr lang="zh-TW" altLang="en-US"/>
              </a:p>
            </p:txBody>
          </p:sp>
        </p:grpSp>
        <p:grpSp>
          <p:nvGrpSpPr>
            <p:cNvPr id="1524" name="Group 301"/>
            <p:cNvGrpSpPr>
              <a:grpSpLocks/>
            </p:cNvGrpSpPr>
            <p:nvPr/>
          </p:nvGrpSpPr>
          <p:grpSpPr bwMode="auto">
            <a:xfrm>
              <a:off x="5912088" y="1784357"/>
              <a:ext cx="1207257" cy="1439438"/>
              <a:chOff x="3600" y="574"/>
              <a:chExt cx="1104" cy="1281"/>
            </a:xfrm>
          </p:grpSpPr>
          <p:pic>
            <p:nvPicPr>
              <p:cNvPr id="1591" name="Picture 302"/>
              <p:cNvPicPr>
                <a:picLocks noChangeArrowheads="1"/>
              </p:cNvPicPr>
              <p:nvPr/>
            </p:nvPicPr>
            <p:blipFill>
              <a:blip r:embed="rId3" cstate="print"/>
              <a:srcRect/>
              <a:stretch>
                <a:fillRect/>
              </a:stretch>
            </p:blipFill>
            <p:spPr bwMode="auto">
              <a:xfrm>
                <a:off x="3756" y="890"/>
                <a:ext cx="812" cy="666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/>
            </p:spPr>
          </p:pic>
          <p:grpSp>
            <p:nvGrpSpPr>
              <p:cNvPr id="1526" name="Group 303"/>
              <p:cNvGrpSpPr>
                <a:grpSpLocks/>
              </p:cNvGrpSpPr>
              <p:nvPr/>
            </p:nvGrpSpPr>
            <p:grpSpPr bwMode="auto">
              <a:xfrm>
                <a:off x="4078" y="574"/>
                <a:ext cx="202" cy="289"/>
                <a:chOff x="4466" y="666"/>
                <a:chExt cx="213" cy="282"/>
              </a:xfrm>
            </p:grpSpPr>
            <p:sp>
              <p:nvSpPr>
                <p:cNvPr id="1693" name="Rectangle 304"/>
                <p:cNvSpPr>
                  <a:spLocks noChangeArrowheads="1"/>
                </p:cNvSpPr>
                <p:nvPr/>
              </p:nvSpPr>
              <p:spPr bwMode="auto">
                <a:xfrm>
                  <a:off x="4529" y="789"/>
                  <a:ext cx="93" cy="42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grpSp>
              <p:nvGrpSpPr>
                <p:cNvPr id="1527" name="Group 305"/>
                <p:cNvGrpSpPr>
                  <a:grpSpLocks/>
                </p:cNvGrpSpPr>
                <p:nvPr/>
              </p:nvGrpSpPr>
              <p:grpSpPr bwMode="auto">
                <a:xfrm>
                  <a:off x="4466" y="831"/>
                  <a:ext cx="213" cy="117"/>
                  <a:chOff x="4466" y="831"/>
                  <a:chExt cx="213" cy="117"/>
                </a:xfrm>
              </p:grpSpPr>
              <p:sp>
                <p:nvSpPr>
                  <p:cNvPr id="1704" name="Line 306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4479" y="832"/>
                    <a:ext cx="41" cy="72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TW" altLang="en-US"/>
                  </a:p>
                </p:txBody>
              </p:sp>
              <p:sp>
                <p:nvSpPr>
                  <p:cNvPr id="1705" name="Line 307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4545" y="832"/>
                    <a:ext cx="0" cy="67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TW" altLang="en-US"/>
                  </a:p>
                </p:txBody>
              </p:sp>
              <p:sp>
                <p:nvSpPr>
                  <p:cNvPr id="1706" name="Line 308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4602" y="831"/>
                    <a:ext cx="0" cy="69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TW" altLang="en-US"/>
                  </a:p>
                </p:txBody>
              </p:sp>
              <p:sp>
                <p:nvSpPr>
                  <p:cNvPr id="1707" name="Rectangle 309"/>
                  <p:cNvSpPr>
                    <a:spLocks noChangeArrowheads="1"/>
                  </p:cNvSpPr>
                  <p:nvPr/>
                </p:nvSpPr>
                <p:spPr bwMode="auto">
                  <a:xfrm>
                    <a:off x="4466" y="904"/>
                    <a:ext cx="18" cy="40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TW" altLang="en-US"/>
                  </a:p>
                </p:txBody>
              </p:sp>
              <p:sp>
                <p:nvSpPr>
                  <p:cNvPr id="1708" name="Rectangle 310"/>
                  <p:cNvSpPr>
                    <a:spLocks noChangeArrowheads="1"/>
                  </p:cNvSpPr>
                  <p:nvPr/>
                </p:nvSpPr>
                <p:spPr bwMode="auto">
                  <a:xfrm>
                    <a:off x="4534" y="900"/>
                    <a:ext cx="21" cy="48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TW" altLang="en-US"/>
                  </a:p>
                </p:txBody>
              </p:sp>
              <p:sp>
                <p:nvSpPr>
                  <p:cNvPr id="1709" name="Rectangle 311"/>
                  <p:cNvSpPr>
                    <a:spLocks noChangeArrowheads="1"/>
                  </p:cNvSpPr>
                  <p:nvPr/>
                </p:nvSpPr>
                <p:spPr bwMode="auto">
                  <a:xfrm>
                    <a:off x="4590" y="899"/>
                    <a:ext cx="19" cy="47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TW" altLang="en-US"/>
                  </a:p>
                </p:txBody>
              </p:sp>
              <p:sp>
                <p:nvSpPr>
                  <p:cNvPr id="1710" name="Rectangle 312"/>
                  <p:cNvSpPr>
                    <a:spLocks noChangeArrowheads="1"/>
                  </p:cNvSpPr>
                  <p:nvPr/>
                </p:nvSpPr>
                <p:spPr bwMode="auto">
                  <a:xfrm>
                    <a:off x="4662" y="904"/>
                    <a:ext cx="17" cy="40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TW" altLang="en-US"/>
                  </a:p>
                </p:txBody>
              </p:sp>
              <p:sp>
                <p:nvSpPr>
                  <p:cNvPr id="1711" name="Line 313"/>
                  <p:cNvSpPr>
                    <a:spLocks noChangeShapeType="1"/>
                  </p:cNvSpPr>
                  <p:nvPr/>
                </p:nvSpPr>
                <p:spPr bwMode="auto">
                  <a:xfrm flipH="1" flipV="1">
                    <a:off x="4618" y="832"/>
                    <a:ext cx="60" cy="72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TW" altLang="en-US"/>
                  </a:p>
                </p:txBody>
              </p:sp>
            </p:grpSp>
            <p:grpSp>
              <p:nvGrpSpPr>
                <p:cNvPr id="1528" name="Group 314"/>
                <p:cNvGrpSpPr>
                  <a:grpSpLocks/>
                </p:cNvGrpSpPr>
                <p:nvPr/>
              </p:nvGrpSpPr>
              <p:grpSpPr bwMode="auto">
                <a:xfrm>
                  <a:off x="4466" y="666"/>
                  <a:ext cx="213" cy="109"/>
                  <a:chOff x="4466" y="666"/>
                  <a:chExt cx="213" cy="109"/>
                </a:xfrm>
              </p:grpSpPr>
              <p:sp>
                <p:nvSpPr>
                  <p:cNvPr id="1696" name="Line 315"/>
                  <p:cNvSpPr>
                    <a:spLocks noChangeShapeType="1"/>
                  </p:cNvSpPr>
                  <p:nvPr/>
                </p:nvSpPr>
                <p:spPr bwMode="auto">
                  <a:xfrm>
                    <a:off x="4479" y="718"/>
                    <a:ext cx="41" cy="57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TW" altLang="en-US"/>
                  </a:p>
                </p:txBody>
              </p:sp>
              <p:sp>
                <p:nvSpPr>
                  <p:cNvPr id="1697" name="Line 316"/>
                  <p:cNvSpPr>
                    <a:spLocks noChangeShapeType="1"/>
                  </p:cNvSpPr>
                  <p:nvPr/>
                </p:nvSpPr>
                <p:spPr bwMode="auto">
                  <a:xfrm>
                    <a:off x="4545" y="724"/>
                    <a:ext cx="0" cy="50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TW" altLang="en-US"/>
                  </a:p>
                </p:txBody>
              </p:sp>
              <p:sp>
                <p:nvSpPr>
                  <p:cNvPr id="1698" name="Line 317"/>
                  <p:cNvSpPr>
                    <a:spLocks noChangeShapeType="1"/>
                  </p:cNvSpPr>
                  <p:nvPr/>
                </p:nvSpPr>
                <p:spPr bwMode="auto">
                  <a:xfrm>
                    <a:off x="4602" y="721"/>
                    <a:ext cx="0" cy="54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TW" altLang="en-US"/>
                  </a:p>
                </p:txBody>
              </p:sp>
              <p:sp>
                <p:nvSpPr>
                  <p:cNvPr id="1699" name="Rectangle 318"/>
                  <p:cNvSpPr>
                    <a:spLocks noChangeArrowheads="1"/>
                  </p:cNvSpPr>
                  <p:nvPr/>
                </p:nvSpPr>
                <p:spPr bwMode="auto">
                  <a:xfrm>
                    <a:off x="4466" y="670"/>
                    <a:ext cx="18" cy="40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TW" altLang="en-US"/>
                  </a:p>
                </p:txBody>
              </p:sp>
              <p:sp>
                <p:nvSpPr>
                  <p:cNvPr id="1700" name="Rectangle 319"/>
                  <p:cNvSpPr>
                    <a:spLocks noChangeArrowheads="1"/>
                  </p:cNvSpPr>
                  <p:nvPr/>
                </p:nvSpPr>
                <p:spPr bwMode="auto">
                  <a:xfrm>
                    <a:off x="4534" y="666"/>
                    <a:ext cx="21" cy="47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TW" altLang="en-US"/>
                  </a:p>
                </p:txBody>
              </p:sp>
              <p:sp>
                <p:nvSpPr>
                  <p:cNvPr id="1701" name="Rectangle 320"/>
                  <p:cNvSpPr>
                    <a:spLocks noChangeArrowheads="1"/>
                  </p:cNvSpPr>
                  <p:nvPr/>
                </p:nvSpPr>
                <p:spPr bwMode="auto">
                  <a:xfrm>
                    <a:off x="4590" y="668"/>
                    <a:ext cx="19" cy="48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TW" altLang="en-US"/>
                  </a:p>
                </p:txBody>
              </p:sp>
              <p:sp>
                <p:nvSpPr>
                  <p:cNvPr id="1702" name="Rectangle 321"/>
                  <p:cNvSpPr>
                    <a:spLocks noChangeArrowheads="1"/>
                  </p:cNvSpPr>
                  <p:nvPr/>
                </p:nvSpPr>
                <p:spPr bwMode="auto">
                  <a:xfrm>
                    <a:off x="4662" y="670"/>
                    <a:ext cx="17" cy="40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TW" altLang="en-US"/>
                  </a:p>
                </p:txBody>
              </p:sp>
              <p:sp>
                <p:nvSpPr>
                  <p:cNvPr id="1703" name="Line 322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4618" y="718"/>
                    <a:ext cx="60" cy="57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TW" altLang="en-US"/>
                  </a:p>
                </p:txBody>
              </p:sp>
            </p:grpSp>
          </p:grpSp>
          <p:grpSp>
            <p:nvGrpSpPr>
              <p:cNvPr id="1532" name="Group 323"/>
              <p:cNvGrpSpPr>
                <a:grpSpLocks/>
              </p:cNvGrpSpPr>
              <p:nvPr/>
            </p:nvGrpSpPr>
            <p:grpSpPr bwMode="auto">
              <a:xfrm>
                <a:off x="4502" y="754"/>
                <a:ext cx="202" cy="288"/>
                <a:chOff x="4913" y="839"/>
                <a:chExt cx="213" cy="281"/>
              </a:xfrm>
            </p:grpSpPr>
            <p:sp>
              <p:nvSpPr>
                <p:cNvPr id="1674" name="Rectangle 324"/>
                <p:cNvSpPr>
                  <a:spLocks noChangeArrowheads="1"/>
                </p:cNvSpPr>
                <p:nvPr/>
              </p:nvSpPr>
              <p:spPr bwMode="auto">
                <a:xfrm>
                  <a:off x="4976" y="962"/>
                  <a:ext cx="93" cy="42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grpSp>
              <p:nvGrpSpPr>
                <p:cNvPr id="1533" name="Group 325"/>
                <p:cNvGrpSpPr>
                  <a:grpSpLocks/>
                </p:cNvGrpSpPr>
                <p:nvPr/>
              </p:nvGrpSpPr>
              <p:grpSpPr bwMode="auto">
                <a:xfrm>
                  <a:off x="4913" y="1004"/>
                  <a:ext cx="213" cy="116"/>
                  <a:chOff x="4913" y="1004"/>
                  <a:chExt cx="213" cy="116"/>
                </a:xfrm>
              </p:grpSpPr>
              <p:sp>
                <p:nvSpPr>
                  <p:cNvPr id="1685" name="Line 326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4926" y="1004"/>
                    <a:ext cx="41" cy="73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TW" altLang="en-US"/>
                  </a:p>
                </p:txBody>
              </p:sp>
              <p:sp>
                <p:nvSpPr>
                  <p:cNvPr id="1686" name="Line 327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4992" y="1005"/>
                    <a:ext cx="0" cy="66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TW" altLang="en-US"/>
                  </a:p>
                </p:txBody>
              </p:sp>
              <p:sp>
                <p:nvSpPr>
                  <p:cNvPr id="1687" name="Line 328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5047" y="1004"/>
                    <a:ext cx="0" cy="69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TW" altLang="en-US"/>
                  </a:p>
                </p:txBody>
              </p:sp>
              <p:sp>
                <p:nvSpPr>
                  <p:cNvPr id="1688" name="Rectangle 329"/>
                  <p:cNvSpPr>
                    <a:spLocks noChangeArrowheads="1"/>
                  </p:cNvSpPr>
                  <p:nvPr/>
                </p:nvSpPr>
                <p:spPr bwMode="auto">
                  <a:xfrm>
                    <a:off x="4913" y="1077"/>
                    <a:ext cx="17" cy="40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TW" altLang="en-US"/>
                  </a:p>
                </p:txBody>
              </p:sp>
              <p:sp>
                <p:nvSpPr>
                  <p:cNvPr id="1689" name="Rectangle 330"/>
                  <p:cNvSpPr>
                    <a:spLocks noChangeArrowheads="1"/>
                  </p:cNvSpPr>
                  <p:nvPr/>
                </p:nvSpPr>
                <p:spPr bwMode="auto">
                  <a:xfrm>
                    <a:off x="4981" y="1073"/>
                    <a:ext cx="20" cy="47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TW" altLang="en-US"/>
                  </a:p>
                </p:txBody>
              </p:sp>
              <p:sp>
                <p:nvSpPr>
                  <p:cNvPr id="1690" name="Rectangle 331"/>
                  <p:cNvSpPr>
                    <a:spLocks noChangeArrowheads="1"/>
                  </p:cNvSpPr>
                  <p:nvPr/>
                </p:nvSpPr>
                <p:spPr bwMode="auto">
                  <a:xfrm>
                    <a:off x="5037" y="1071"/>
                    <a:ext cx="18" cy="48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TW" altLang="en-US"/>
                  </a:p>
                </p:txBody>
              </p:sp>
              <p:sp>
                <p:nvSpPr>
                  <p:cNvPr id="1691" name="Rectangle 332"/>
                  <p:cNvSpPr>
                    <a:spLocks noChangeArrowheads="1"/>
                  </p:cNvSpPr>
                  <p:nvPr/>
                </p:nvSpPr>
                <p:spPr bwMode="auto">
                  <a:xfrm>
                    <a:off x="5109" y="1077"/>
                    <a:ext cx="17" cy="40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TW" altLang="en-US"/>
                  </a:p>
                </p:txBody>
              </p:sp>
              <p:sp>
                <p:nvSpPr>
                  <p:cNvPr id="1692" name="Line 333"/>
                  <p:cNvSpPr>
                    <a:spLocks noChangeShapeType="1"/>
                  </p:cNvSpPr>
                  <p:nvPr/>
                </p:nvSpPr>
                <p:spPr bwMode="auto">
                  <a:xfrm flipH="1" flipV="1">
                    <a:off x="5065" y="1004"/>
                    <a:ext cx="60" cy="73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TW" altLang="en-US"/>
                  </a:p>
                </p:txBody>
              </p:sp>
            </p:grpSp>
            <p:grpSp>
              <p:nvGrpSpPr>
                <p:cNvPr id="1551" name="Group 334"/>
                <p:cNvGrpSpPr>
                  <a:grpSpLocks/>
                </p:cNvGrpSpPr>
                <p:nvPr/>
              </p:nvGrpSpPr>
              <p:grpSpPr bwMode="auto">
                <a:xfrm>
                  <a:off x="4913" y="839"/>
                  <a:ext cx="213" cy="109"/>
                  <a:chOff x="4913" y="839"/>
                  <a:chExt cx="213" cy="109"/>
                </a:xfrm>
              </p:grpSpPr>
              <p:sp>
                <p:nvSpPr>
                  <p:cNvPr id="1677" name="Line 335"/>
                  <p:cNvSpPr>
                    <a:spLocks noChangeShapeType="1"/>
                  </p:cNvSpPr>
                  <p:nvPr/>
                </p:nvSpPr>
                <p:spPr bwMode="auto">
                  <a:xfrm>
                    <a:off x="4926" y="891"/>
                    <a:ext cx="41" cy="57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TW" altLang="en-US"/>
                  </a:p>
                </p:txBody>
              </p:sp>
              <p:sp>
                <p:nvSpPr>
                  <p:cNvPr id="1678" name="Line 336"/>
                  <p:cNvSpPr>
                    <a:spLocks noChangeShapeType="1"/>
                  </p:cNvSpPr>
                  <p:nvPr/>
                </p:nvSpPr>
                <p:spPr bwMode="auto">
                  <a:xfrm>
                    <a:off x="4992" y="896"/>
                    <a:ext cx="0" cy="51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TW" altLang="en-US"/>
                  </a:p>
                </p:txBody>
              </p:sp>
              <p:sp>
                <p:nvSpPr>
                  <p:cNvPr id="1679" name="Line 337"/>
                  <p:cNvSpPr>
                    <a:spLocks noChangeShapeType="1"/>
                  </p:cNvSpPr>
                  <p:nvPr/>
                </p:nvSpPr>
                <p:spPr bwMode="auto">
                  <a:xfrm>
                    <a:off x="5047" y="894"/>
                    <a:ext cx="0" cy="54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TW" altLang="en-US"/>
                  </a:p>
                </p:txBody>
              </p:sp>
              <p:sp>
                <p:nvSpPr>
                  <p:cNvPr id="1680" name="Rectangle 338"/>
                  <p:cNvSpPr>
                    <a:spLocks noChangeArrowheads="1"/>
                  </p:cNvSpPr>
                  <p:nvPr/>
                </p:nvSpPr>
                <p:spPr bwMode="auto">
                  <a:xfrm>
                    <a:off x="4913" y="842"/>
                    <a:ext cx="17" cy="41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TW" altLang="en-US"/>
                  </a:p>
                </p:txBody>
              </p:sp>
              <p:sp>
                <p:nvSpPr>
                  <p:cNvPr id="1681" name="Rectangle 339"/>
                  <p:cNvSpPr>
                    <a:spLocks noChangeArrowheads="1"/>
                  </p:cNvSpPr>
                  <p:nvPr/>
                </p:nvSpPr>
                <p:spPr bwMode="auto">
                  <a:xfrm>
                    <a:off x="4981" y="839"/>
                    <a:ext cx="20" cy="47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TW" altLang="en-US"/>
                  </a:p>
                </p:txBody>
              </p:sp>
              <p:sp>
                <p:nvSpPr>
                  <p:cNvPr id="1682" name="Rectangle 340"/>
                  <p:cNvSpPr>
                    <a:spLocks noChangeArrowheads="1"/>
                  </p:cNvSpPr>
                  <p:nvPr/>
                </p:nvSpPr>
                <p:spPr bwMode="auto">
                  <a:xfrm>
                    <a:off x="5037" y="841"/>
                    <a:ext cx="18" cy="47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TW" altLang="en-US"/>
                  </a:p>
                </p:txBody>
              </p:sp>
              <p:sp>
                <p:nvSpPr>
                  <p:cNvPr id="1683" name="Rectangle 341"/>
                  <p:cNvSpPr>
                    <a:spLocks noChangeArrowheads="1"/>
                  </p:cNvSpPr>
                  <p:nvPr/>
                </p:nvSpPr>
                <p:spPr bwMode="auto">
                  <a:xfrm>
                    <a:off x="5109" y="842"/>
                    <a:ext cx="17" cy="41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TW" altLang="en-US"/>
                  </a:p>
                </p:txBody>
              </p:sp>
              <p:sp>
                <p:nvSpPr>
                  <p:cNvPr id="1684" name="Line 342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5065" y="891"/>
                    <a:ext cx="60" cy="57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TW" altLang="en-US"/>
                  </a:p>
                </p:txBody>
              </p:sp>
            </p:grpSp>
          </p:grpSp>
          <p:grpSp>
            <p:nvGrpSpPr>
              <p:cNvPr id="1552" name="Group 343"/>
              <p:cNvGrpSpPr>
                <a:grpSpLocks/>
              </p:cNvGrpSpPr>
              <p:nvPr/>
            </p:nvGrpSpPr>
            <p:grpSpPr bwMode="auto">
              <a:xfrm>
                <a:off x="4502" y="1385"/>
                <a:ext cx="202" cy="289"/>
                <a:chOff x="4913" y="1461"/>
                <a:chExt cx="213" cy="282"/>
              </a:xfrm>
            </p:grpSpPr>
            <p:sp>
              <p:nvSpPr>
                <p:cNvPr id="1655" name="Rectangle 344"/>
                <p:cNvSpPr>
                  <a:spLocks noChangeArrowheads="1"/>
                </p:cNvSpPr>
                <p:nvPr/>
              </p:nvSpPr>
              <p:spPr bwMode="auto">
                <a:xfrm>
                  <a:off x="4976" y="1584"/>
                  <a:ext cx="93" cy="42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grpSp>
              <p:nvGrpSpPr>
                <p:cNvPr id="1570" name="Group 345"/>
                <p:cNvGrpSpPr>
                  <a:grpSpLocks/>
                </p:cNvGrpSpPr>
                <p:nvPr/>
              </p:nvGrpSpPr>
              <p:grpSpPr bwMode="auto">
                <a:xfrm>
                  <a:off x="4913" y="1626"/>
                  <a:ext cx="213" cy="117"/>
                  <a:chOff x="4913" y="1626"/>
                  <a:chExt cx="213" cy="117"/>
                </a:xfrm>
              </p:grpSpPr>
              <p:sp>
                <p:nvSpPr>
                  <p:cNvPr id="1666" name="Line 346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4926" y="1627"/>
                    <a:ext cx="41" cy="72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TW" altLang="en-US"/>
                  </a:p>
                </p:txBody>
              </p:sp>
              <p:sp>
                <p:nvSpPr>
                  <p:cNvPr id="1667" name="Line 347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4992" y="1627"/>
                    <a:ext cx="0" cy="67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TW" altLang="en-US"/>
                  </a:p>
                </p:txBody>
              </p:sp>
              <p:sp>
                <p:nvSpPr>
                  <p:cNvPr id="1668" name="Line 348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5047" y="1626"/>
                    <a:ext cx="0" cy="69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TW" altLang="en-US"/>
                  </a:p>
                </p:txBody>
              </p:sp>
              <p:sp>
                <p:nvSpPr>
                  <p:cNvPr id="1669" name="Rectangle 349"/>
                  <p:cNvSpPr>
                    <a:spLocks noChangeArrowheads="1"/>
                  </p:cNvSpPr>
                  <p:nvPr/>
                </p:nvSpPr>
                <p:spPr bwMode="auto">
                  <a:xfrm>
                    <a:off x="4913" y="1699"/>
                    <a:ext cx="17" cy="40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TW" altLang="en-US"/>
                  </a:p>
                </p:txBody>
              </p:sp>
              <p:sp>
                <p:nvSpPr>
                  <p:cNvPr id="1670" name="Rectangle 350"/>
                  <p:cNvSpPr>
                    <a:spLocks noChangeArrowheads="1"/>
                  </p:cNvSpPr>
                  <p:nvPr/>
                </p:nvSpPr>
                <p:spPr bwMode="auto">
                  <a:xfrm>
                    <a:off x="4981" y="1695"/>
                    <a:ext cx="20" cy="48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TW" altLang="en-US"/>
                  </a:p>
                </p:txBody>
              </p:sp>
              <p:sp>
                <p:nvSpPr>
                  <p:cNvPr id="1671" name="Rectangle 351"/>
                  <p:cNvSpPr>
                    <a:spLocks noChangeArrowheads="1"/>
                  </p:cNvSpPr>
                  <p:nvPr/>
                </p:nvSpPr>
                <p:spPr bwMode="auto">
                  <a:xfrm>
                    <a:off x="5037" y="1694"/>
                    <a:ext cx="18" cy="47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TW" altLang="en-US"/>
                  </a:p>
                </p:txBody>
              </p:sp>
              <p:sp>
                <p:nvSpPr>
                  <p:cNvPr id="1672" name="Rectangle 352"/>
                  <p:cNvSpPr>
                    <a:spLocks noChangeArrowheads="1"/>
                  </p:cNvSpPr>
                  <p:nvPr/>
                </p:nvSpPr>
                <p:spPr bwMode="auto">
                  <a:xfrm>
                    <a:off x="5109" y="1699"/>
                    <a:ext cx="17" cy="40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TW" altLang="en-US"/>
                  </a:p>
                </p:txBody>
              </p:sp>
              <p:sp>
                <p:nvSpPr>
                  <p:cNvPr id="1673" name="Line 353"/>
                  <p:cNvSpPr>
                    <a:spLocks noChangeShapeType="1"/>
                  </p:cNvSpPr>
                  <p:nvPr/>
                </p:nvSpPr>
                <p:spPr bwMode="auto">
                  <a:xfrm flipH="1" flipV="1">
                    <a:off x="5065" y="1627"/>
                    <a:ext cx="60" cy="72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TW" altLang="en-US"/>
                  </a:p>
                </p:txBody>
              </p:sp>
            </p:grpSp>
            <p:grpSp>
              <p:nvGrpSpPr>
                <p:cNvPr id="1571" name="Group 354"/>
                <p:cNvGrpSpPr>
                  <a:grpSpLocks/>
                </p:cNvGrpSpPr>
                <p:nvPr/>
              </p:nvGrpSpPr>
              <p:grpSpPr bwMode="auto">
                <a:xfrm>
                  <a:off x="4913" y="1461"/>
                  <a:ext cx="213" cy="109"/>
                  <a:chOff x="4913" y="1461"/>
                  <a:chExt cx="213" cy="109"/>
                </a:xfrm>
              </p:grpSpPr>
              <p:sp>
                <p:nvSpPr>
                  <p:cNvPr id="1658" name="Line 355"/>
                  <p:cNvSpPr>
                    <a:spLocks noChangeShapeType="1"/>
                  </p:cNvSpPr>
                  <p:nvPr/>
                </p:nvSpPr>
                <p:spPr bwMode="auto">
                  <a:xfrm>
                    <a:off x="4926" y="1513"/>
                    <a:ext cx="41" cy="57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TW" altLang="en-US"/>
                  </a:p>
                </p:txBody>
              </p:sp>
              <p:sp>
                <p:nvSpPr>
                  <p:cNvPr id="1659" name="Line 356"/>
                  <p:cNvSpPr>
                    <a:spLocks noChangeShapeType="1"/>
                  </p:cNvSpPr>
                  <p:nvPr/>
                </p:nvSpPr>
                <p:spPr bwMode="auto">
                  <a:xfrm>
                    <a:off x="4992" y="1519"/>
                    <a:ext cx="0" cy="50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TW" altLang="en-US"/>
                  </a:p>
                </p:txBody>
              </p:sp>
              <p:sp>
                <p:nvSpPr>
                  <p:cNvPr id="1660" name="Line 357"/>
                  <p:cNvSpPr>
                    <a:spLocks noChangeShapeType="1"/>
                  </p:cNvSpPr>
                  <p:nvPr/>
                </p:nvSpPr>
                <p:spPr bwMode="auto">
                  <a:xfrm>
                    <a:off x="5047" y="1517"/>
                    <a:ext cx="0" cy="53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TW" altLang="en-US"/>
                  </a:p>
                </p:txBody>
              </p:sp>
              <p:sp>
                <p:nvSpPr>
                  <p:cNvPr id="1661" name="Rectangle 358"/>
                  <p:cNvSpPr>
                    <a:spLocks noChangeArrowheads="1"/>
                  </p:cNvSpPr>
                  <p:nvPr/>
                </p:nvSpPr>
                <p:spPr bwMode="auto">
                  <a:xfrm>
                    <a:off x="4913" y="1465"/>
                    <a:ext cx="17" cy="40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TW" altLang="en-US"/>
                  </a:p>
                </p:txBody>
              </p:sp>
              <p:sp>
                <p:nvSpPr>
                  <p:cNvPr id="1662" name="Rectangle 359"/>
                  <p:cNvSpPr>
                    <a:spLocks noChangeArrowheads="1"/>
                  </p:cNvSpPr>
                  <p:nvPr/>
                </p:nvSpPr>
                <p:spPr bwMode="auto">
                  <a:xfrm>
                    <a:off x="4981" y="1461"/>
                    <a:ext cx="20" cy="48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TW" altLang="en-US"/>
                  </a:p>
                </p:txBody>
              </p:sp>
              <p:sp>
                <p:nvSpPr>
                  <p:cNvPr id="1663" name="Rectangle 360"/>
                  <p:cNvSpPr>
                    <a:spLocks noChangeArrowheads="1"/>
                  </p:cNvSpPr>
                  <p:nvPr/>
                </p:nvSpPr>
                <p:spPr bwMode="auto">
                  <a:xfrm>
                    <a:off x="5037" y="1463"/>
                    <a:ext cx="18" cy="48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TW" altLang="en-US"/>
                  </a:p>
                </p:txBody>
              </p:sp>
              <p:sp>
                <p:nvSpPr>
                  <p:cNvPr id="1664" name="Rectangle 361"/>
                  <p:cNvSpPr>
                    <a:spLocks noChangeArrowheads="1"/>
                  </p:cNvSpPr>
                  <p:nvPr/>
                </p:nvSpPr>
                <p:spPr bwMode="auto">
                  <a:xfrm>
                    <a:off x="5109" y="1465"/>
                    <a:ext cx="17" cy="40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TW" altLang="en-US"/>
                  </a:p>
                </p:txBody>
              </p:sp>
              <p:sp>
                <p:nvSpPr>
                  <p:cNvPr id="1665" name="Line 362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5065" y="1513"/>
                    <a:ext cx="60" cy="57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TW" altLang="en-US"/>
                  </a:p>
                </p:txBody>
              </p:sp>
            </p:grpSp>
          </p:grpSp>
          <p:grpSp>
            <p:nvGrpSpPr>
              <p:cNvPr id="1592" name="Group 363"/>
              <p:cNvGrpSpPr>
                <a:grpSpLocks/>
              </p:cNvGrpSpPr>
              <p:nvPr/>
            </p:nvGrpSpPr>
            <p:grpSpPr bwMode="auto">
              <a:xfrm>
                <a:off x="4085" y="1566"/>
                <a:ext cx="201" cy="289"/>
                <a:chOff x="4473" y="1640"/>
                <a:chExt cx="212" cy="282"/>
              </a:xfrm>
            </p:grpSpPr>
            <p:sp>
              <p:nvSpPr>
                <p:cNvPr id="1636" name="Rectangle 364"/>
                <p:cNvSpPr>
                  <a:spLocks noChangeArrowheads="1"/>
                </p:cNvSpPr>
                <p:nvPr/>
              </p:nvSpPr>
              <p:spPr bwMode="auto">
                <a:xfrm>
                  <a:off x="4534" y="1764"/>
                  <a:ext cx="95" cy="41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grpSp>
              <p:nvGrpSpPr>
                <p:cNvPr id="1593" name="Group 365"/>
                <p:cNvGrpSpPr>
                  <a:grpSpLocks/>
                </p:cNvGrpSpPr>
                <p:nvPr/>
              </p:nvGrpSpPr>
              <p:grpSpPr bwMode="auto">
                <a:xfrm>
                  <a:off x="4473" y="1805"/>
                  <a:ext cx="212" cy="117"/>
                  <a:chOff x="4473" y="1805"/>
                  <a:chExt cx="212" cy="117"/>
                </a:xfrm>
              </p:grpSpPr>
              <p:sp>
                <p:nvSpPr>
                  <p:cNvPr id="1647" name="Line 366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4485" y="1806"/>
                    <a:ext cx="41" cy="72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TW" altLang="en-US"/>
                  </a:p>
                </p:txBody>
              </p:sp>
              <p:sp>
                <p:nvSpPr>
                  <p:cNvPr id="1648" name="Line 367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4552" y="1807"/>
                    <a:ext cx="0" cy="66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TW" altLang="en-US"/>
                  </a:p>
                </p:txBody>
              </p:sp>
              <p:sp>
                <p:nvSpPr>
                  <p:cNvPr id="1649" name="Line 368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4607" y="1805"/>
                    <a:ext cx="0" cy="70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TW" altLang="en-US"/>
                  </a:p>
                </p:txBody>
              </p:sp>
              <p:sp>
                <p:nvSpPr>
                  <p:cNvPr id="1650" name="Rectangle 369"/>
                  <p:cNvSpPr>
                    <a:spLocks noChangeArrowheads="1"/>
                  </p:cNvSpPr>
                  <p:nvPr/>
                </p:nvSpPr>
                <p:spPr bwMode="auto">
                  <a:xfrm>
                    <a:off x="4473" y="1878"/>
                    <a:ext cx="17" cy="40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TW" altLang="en-US"/>
                  </a:p>
                </p:txBody>
              </p:sp>
              <p:sp>
                <p:nvSpPr>
                  <p:cNvPr id="1651" name="Rectangle 370"/>
                  <p:cNvSpPr>
                    <a:spLocks noChangeArrowheads="1"/>
                  </p:cNvSpPr>
                  <p:nvPr/>
                </p:nvSpPr>
                <p:spPr bwMode="auto">
                  <a:xfrm>
                    <a:off x="4541" y="1875"/>
                    <a:ext cx="20" cy="47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TW" altLang="en-US"/>
                  </a:p>
                </p:txBody>
              </p:sp>
              <p:sp>
                <p:nvSpPr>
                  <p:cNvPr id="1652" name="Rectangle 371"/>
                  <p:cNvSpPr>
                    <a:spLocks noChangeArrowheads="1"/>
                  </p:cNvSpPr>
                  <p:nvPr/>
                </p:nvSpPr>
                <p:spPr bwMode="auto">
                  <a:xfrm>
                    <a:off x="4596" y="1873"/>
                    <a:ext cx="18" cy="48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TW" altLang="en-US"/>
                  </a:p>
                </p:txBody>
              </p:sp>
              <p:sp>
                <p:nvSpPr>
                  <p:cNvPr id="1653" name="Rectangle 372"/>
                  <p:cNvSpPr>
                    <a:spLocks noChangeArrowheads="1"/>
                  </p:cNvSpPr>
                  <p:nvPr/>
                </p:nvSpPr>
                <p:spPr bwMode="auto">
                  <a:xfrm>
                    <a:off x="4667" y="1878"/>
                    <a:ext cx="18" cy="40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TW" altLang="en-US"/>
                  </a:p>
                </p:txBody>
              </p:sp>
              <p:sp>
                <p:nvSpPr>
                  <p:cNvPr id="1654" name="Line 373"/>
                  <p:cNvSpPr>
                    <a:spLocks noChangeShapeType="1"/>
                  </p:cNvSpPr>
                  <p:nvPr/>
                </p:nvSpPr>
                <p:spPr bwMode="auto">
                  <a:xfrm flipH="1" flipV="1">
                    <a:off x="4624" y="1806"/>
                    <a:ext cx="60" cy="72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TW" altLang="en-US"/>
                  </a:p>
                </p:txBody>
              </p:sp>
            </p:grpSp>
            <p:grpSp>
              <p:nvGrpSpPr>
                <p:cNvPr id="1594" name="Group 374"/>
                <p:cNvGrpSpPr>
                  <a:grpSpLocks/>
                </p:cNvGrpSpPr>
                <p:nvPr/>
              </p:nvGrpSpPr>
              <p:grpSpPr bwMode="auto">
                <a:xfrm>
                  <a:off x="4473" y="1640"/>
                  <a:ext cx="212" cy="109"/>
                  <a:chOff x="4473" y="1640"/>
                  <a:chExt cx="212" cy="109"/>
                </a:xfrm>
              </p:grpSpPr>
              <p:sp>
                <p:nvSpPr>
                  <p:cNvPr id="1639" name="Line 375"/>
                  <p:cNvSpPr>
                    <a:spLocks noChangeShapeType="1"/>
                  </p:cNvSpPr>
                  <p:nvPr/>
                </p:nvSpPr>
                <p:spPr bwMode="auto">
                  <a:xfrm>
                    <a:off x="4485" y="1692"/>
                    <a:ext cx="41" cy="57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TW" altLang="en-US"/>
                  </a:p>
                </p:txBody>
              </p:sp>
              <p:sp>
                <p:nvSpPr>
                  <p:cNvPr id="1640" name="Line 376"/>
                  <p:cNvSpPr>
                    <a:spLocks noChangeShapeType="1"/>
                  </p:cNvSpPr>
                  <p:nvPr/>
                </p:nvSpPr>
                <p:spPr bwMode="auto">
                  <a:xfrm>
                    <a:off x="4552" y="1698"/>
                    <a:ext cx="0" cy="50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TW" altLang="en-US"/>
                  </a:p>
                </p:txBody>
              </p:sp>
              <p:sp>
                <p:nvSpPr>
                  <p:cNvPr id="1641" name="Line 377"/>
                  <p:cNvSpPr>
                    <a:spLocks noChangeShapeType="1"/>
                  </p:cNvSpPr>
                  <p:nvPr/>
                </p:nvSpPr>
                <p:spPr bwMode="auto">
                  <a:xfrm>
                    <a:off x="4607" y="1696"/>
                    <a:ext cx="0" cy="53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TW" altLang="en-US"/>
                  </a:p>
                </p:txBody>
              </p:sp>
              <p:sp>
                <p:nvSpPr>
                  <p:cNvPr id="1642" name="Rectangle 378"/>
                  <p:cNvSpPr>
                    <a:spLocks noChangeArrowheads="1"/>
                  </p:cNvSpPr>
                  <p:nvPr/>
                </p:nvSpPr>
                <p:spPr bwMode="auto">
                  <a:xfrm>
                    <a:off x="4473" y="1644"/>
                    <a:ext cx="17" cy="40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TW" altLang="en-US"/>
                  </a:p>
                </p:txBody>
              </p:sp>
              <p:sp>
                <p:nvSpPr>
                  <p:cNvPr id="1643" name="Rectangle 379"/>
                  <p:cNvSpPr>
                    <a:spLocks noChangeArrowheads="1"/>
                  </p:cNvSpPr>
                  <p:nvPr/>
                </p:nvSpPr>
                <p:spPr bwMode="auto">
                  <a:xfrm>
                    <a:off x="4541" y="1640"/>
                    <a:ext cx="20" cy="48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TW" altLang="en-US"/>
                  </a:p>
                </p:txBody>
              </p:sp>
              <p:sp>
                <p:nvSpPr>
                  <p:cNvPr id="1644" name="Rectangle 380"/>
                  <p:cNvSpPr>
                    <a:spLocks noChangeArrowheads="1"/>
                  </p:cNvSpPr>
                  <p:nvPr/>
                </p:nvSpPr>
                <p:spPr bwMode="auto">
                  <a:xfrm>
                    <a:off x="4596" y="1643"/>
                    <a:ext cx="18" cy="47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TW" altLang="en-US"/>
                  </a:p>
                </p:txBody>
              </p:sp>
              <p:sp>
                <p:nvSpPr>
                  <p:cNvPr id="1645" name="Rectangle 381"/>
                  <p:cNvSpPr>
                    <a:spLocks noChangeArrowheads="1"/>
                  </p:cNvSpPr>
                  <p:nvPr/>
                </p:nvSpPr>
                <p:spPr bwMode="auto">
                  <a:xfrm>
                    <a:off x="4667" y="1644"/>
                    <a:ext cx="18" cy="40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TW" altLang="en-US"/>
                  </a:p>
                </p:txBody>
              </p:sp>
              <p:sp>
                <p:nvSpPr>
                  <p:cNvPr id="1646" name="Line 382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4624" y="1692"/>
                    <a:ext cx="60" cy="57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TW" altLang="en-US"/>
                  </a:p>
                </p:txBody>
              </p:sp>
            </p:grpSp>
          </p:grpSp>
          <p:grpSp>
            <p:nvGrpSpPr>
              <p:cNvPr id="1595" name="Group 383"/>
              <p:cNvGrpSpPr>
                <a:grpSpLocks/>
              </p:cNvGrpSpPr>
              <p:nvPr/>
            </p:nvGrpSpPr>
            <p:grpSpPr bwMode="auto">
              <a:xfrm>
                <a:off x="3640" y="1423"/>
                <a:ext cx="201" cy="288"/>
                <a:chOff x="4004" y="1496"/>
                <a:chExt cx="212" cy="281"/>
              </a:xfrm>
            </p:grpSpPr>
            <p:sp>
              <p:nvSpPr>
                <p:cNvPr id="1617" name="Rectangle 384"/>
                <p:cNvSpPr>
                  <a:spLocks noChangeArrowheads="1"/>
                </p:cNvSpPr>
                <p:nvPr/>
              </p:nvSpPr>
              <p:spPr bwMode="auto">
                <a:xfrm>
                  <a:off x="4066" y="1619"/>
                  <a:ext cx="94" cy="42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grpSp>
              <p:nvGrpSpPr>
                <p:cNvPr id="1596" name="Group 385"/>
                <p:cNvGrpSpPr>
                  <a:grpSpLocks/>
                </p:cNvGrpSpPr>
                <p:nvPr/>
              </p:nvGrpSpPr>
              <p:grpSpPr bwMode="auto">
                <a:xfrm>
                  <a:off x="4004" y="1661"/>
                  <a:ext cx="212" cy="116"/>
                  <a:chOff x="4004" y="1661"/>
                  <a:chExt cx="212" cy="116"/>
                </a:xfrm>
              </p:grpSpPr>
              <p:sp>
                <p:nvSpPr>
                  <p:cNvPr id="1628" name="Line 386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4017" y="1661"/>
                    <a:ext cx="41" cy="72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TW" altLang="en-US"/>
                  </a:p>
                </p:txBody>
              </p:sp>
              <p:sp>
                <p:nvSpPr>
                  <p:cNvPr id="1629" name="Line 387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4083" y="1662"/>
                    <a:ext cx="0" cy="66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TW" altLang="en-US"/>
                  </a:p>
                </p:txBody>
              </p:sp>
              <p:sp>
                <p:nvSpPr>
                  <p:cNvPr id="1630" name="Line 388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4139" y="1661"/>
                    <a:ext cx="0" cy="69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TW" altLang="en-US"/>
                  </a:p>
                </p:txBody>
              </p:sp>
              <p:sp>
                <p:nvSpPr>
                  <p:cNvPr id="1631" name="Rectangle 389"/>
                  <p:cNvSpPr>
                    <a:spLocks noChangeArrowheads="1"/>
                  </p:cNvSpPr>
                  <p:nvPr/>
                </p:nvSpPr>
                <p:spPr bwMode="auto">
                  <a:xfrm>
                    <a:off x="4004" y="1733"/>
                    <a:ext cx="18" cy="41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TW" altLang="en-US"/>
                  </a:p>
                </p:txBody>
              </p:sp>
              <p:sp>
                <p:nvSpPr>
                  <p:cNvPr id="1632" name="Rectangle 390"/>
                  <p:cNvSpPr>
                    <a:spLocks noChangeArrowheads="1"/>
                  </p:cNvSpPr>
                  <p:nvPr/>
                </p:nvSpPr>
                <p:spPr bwMode="auto">
                  <a:xfrm>
                    <a:off x="4072" y="1730"/>
                    <a:ext cx="21" cy="47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TW" altLang="en-US"/>
                  </a:p>
                </p:txBody>
              </p:sp>
              <p:sp>
                <p:nvSpPr>
                  <p:cNvPr id="1633" name="Rectangle 391"/>
                  <p:cNvSpPr>
                    <a:spLocks noChangeArrowheads="1"/>
                  </p:cNvSpPr>
                  <p:nvPr/>
                </p:nvSpPr>
                <p:spPr bwMode="auto">
                  <a:xfrm>
                    <a:off x="4127" y="1728"/>
                    <a:ext cx="19" cy="48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TW" altLang="en-US"/>
                  </a:p>
                </p:txBody>
              </p:sp>
              <p:sp>
                <p:nvSpPr>
                  <p:cNvPr id="1634" name="Rectangle 392"/>
                  <p:cNvSpPr>
                    <a:spLocks noChangeArrowheads="1"/>
                  </p:cNvSpPr>
                  <p:nvPr/>
                </p:nvSpPr>
                <p:spPr bwMode="auto">
                  <a:xfrm>
                    <a:off x="4199" y="1733"/>
                    <a:ext cx="17" cy="41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TW" altLang="en-US"/>
                  </a:p>
                </p:txBody>
              </p:sp>
              <p:sp>
                <p:nvSpPr>
                  <p:cNvPr id="1635" name="Line 393"/>
                  <p:cNvSpPr>
                    <a:spLocks noChangeShapeType="1"/>
                  </p:cNvSpPr>
                  <p:nvPr/>
                </p:nvSpPr>
                <p:spPr bwMode="auto">
                  <a:xfrm flipH="1" flipV="1">
                    <a:off x="4155" y="1661"/>
                    <a:ext cx="61" cy="72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TW" altLang="en-US"/>
                  </a:p>
                </p:txBody>
              </p:sp>
            </p:grpSp>
            <p:grpSp>
              <p:nvGrpSpPr>
                <p:cNvPr id="1597" name="Group 394"/>
                <p:cNvGrpSpPr>
                  <a:grpSpLocks/>
                </p:cNvGrpSpPr>
                <p:nvPr/>
              </p:nvGrpSpPr>
              <p:grpSpPr bwMode="auto">
                <a:xfrm>
                  <a:off x="4004" y="1496"/>
                  <a:ext cx="212" cy="108"/>
                  <a:chOff x="4004" y="1496"/>
                  <a:chExt cx="212" cy="108"/>
                </a:xfrm>
              </p:grpSpPr>
              <p:sp>
                <p:nvSpPr>
                  <p:cNvPr id="1620" name="Line 395"/>
                  <p:cNvSpPr>
                    <a:spLocks noChangeShapeType="1"/>
                  </p:cNvSpPr>
                  <p:nvPr/>
                </p:nvSpPr>
                <p:spPr bwMode="auto">
                  <a:xfrm>
                    <a:off x="4017" y="1548"/>
                    <a:ext cx="41" cy="56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TW" altLang="en-US"/>
                  </a:p>
                </p:txBody>
              </p:sp>
              <p:sp>
                <p:nvSpPr>
                  <p:cNvPr id="1621" name="Line 396"/>
                  <p:cNvSpPr>
                    <a:spLocks noChangeShapeType="1"/>
                  </p:cNvSpPr>
                  <p:nvPr/>
                </p:nvSpPr>
                <p:spPr bwMode="auto">
                  <a:xfrm>
                    <a:off x="4083" y="1553"/>
                    <a:ext cx="0" cy="51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TW" altLang="en-US"/>
                  </a:p>
                </p:txBody>
              </p:sp>
              <p:sp>
                <p:nvSpPr>
                  <p:cNvPr id="1622" name="Line 397"/>
                  <p:cNvSpPr>
                    <a:spLocks noChangeShapeType="1"/>
                  </p:cNvSpPr>
                  <p:nvPr/>
                </p:nvSpPr>
                <p:spPr bwMode="auto">
                  <a:xfrm>
                    <a:off x="4139" y="1551"/>
                    <a:ext cx="0" cy="53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TW" altLang="en-US"/>
                  </a:p>
                </p:txBody>
              </p:sp>
              <p:sp>
                <p:nvSpPr>
                  <p:cNvPr id="1623" name="Rectangle 398"/>
                  <p:cNvSpPr>
                    <a:spLocks noChangeArrowheads="1"/>
                  </p:cNvSpPr>
                  <p:nvPr/>
                </p:nvSpPr>
                <p:spPr bwMode="auto">
                  <a:xfrm>
                    <a:off x="4004" y="1499"/>
                    <a:ext cx="18" cy="41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TW" altLang="en-US"/>
                  </a:p>
                </p:txBody>
              </p:sp>
              <p:sp>
                <p:nvSpPr>
                  <p:cNvPr id="1624" name="Rectangle 399"/>
                  <p:cNvSpPr>
                    <a:spLocks noChangeArrowheads="1"/>
                  </p:cNvSpPr>
                  <p:nvPr/>
                </p:nvSpPr>
                <p:spPr bwMode="auto">
                  <a:xfrm>
                    <a:off x="4072" y="1496"/>
                    <a:ext cx="21" cy="47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TW" altLang="en-US"/>
                  </a:p>
                </p:txBody>
              </p:sp>
              <p:sp>
                <p:nvSpPr>
                  <p:cNvPr id="1625" name="Rectangle 400"/>
                  <p:cNvSpPr>
                    <a:spLocks noChangeArrowheads="1"/>
                  </p:cNvSpPr>
                  <p:nvPr/>
                </p:nvSpPr>
                <p:spPr bwMode="auto">
                  <a:xfrm>
                    <a:off x="4127" y="1498"/>
                    <a:ext cx="19" cy="47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TW" altLang="en-US"/>
                  </a:p>
                </p:txBody>
              </p:sp>
              <p:sp>
                <p:nvSpPr>
                  <p:cNvPr id="1626" name="Rectangle 401"/>
                  <p:cNvSpPr>
                    <a:spLocks noChangeArrowheads="1"/>
                  </p:cNvSpPr>
                  <p:nvPr/>
                </p:nvSpPr>
                <p:spPr bwMode="auto">
                  <a:xfrm>
                    <a:off x="4199" y="1499"/>
                    <a:ext cx="17" cy="41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TW" altLang="en-US"/>
                  </a:p>
                </p:txBody>
              </p:sp>
              <p:sp>
                <p:nvSpPr>
                  <p:cNvPr id="1627" name="Line 402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4155" y="1548"/>
                    <a:ext cx="61" cy="56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TW" altLang="en-US"/>
                  </a:p>
                </p:txBody>
              </p:sp>
            </p:grpSp>
          </p:grpSp>
          <p:grpSp>
            <p:nvGrpSpPr>
              <p:cNvPr id="1599" name="Group 403"/>
              <p:cNvGrpSpPr>
                <a:grpSpLocks/>
              </p:cNvGrpSpPr>
              <p:nvPr/>
            </p:nvGrpSpPr>
            <p:grpSpPr bwMode="auto">
              <a:xfrm>
                <a:off x="3600" y="779"/>
                <a:ext cx="202" cy="288"/>
                <a:chOff x="3962" y="867"/>
                <a:chExt cx="213" cy="281"/>
              </a:xfrm>
            </p:grpSpPr>
            <p:sp>
              <p:nvSpPr>
                <p:cNvPr id="1598" name="Rectangle 404"/>
                <p:cNvSpPr>
                  <a:spLocks noChangeArrowheads="1"/>
                </p:cNvSpPr>
                <p:nvPr/>
              </p:nvSpPr>
              <p:spPr bwMode="auto">
                <a:xfrm>
                  <a:off x="4025" y="990"/>
                  <a:ext cx="93" cy="42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grpSp>
              <p:nvGrpSpPr>
                <p:cNvPr id="1600" name="Group 405"/>
                <p:cNvGrpSpPr>
                  <a:grpSpLocks/>
                </p:cNvGrpSpPr>
                <p:nvPr/>
              </p:nvGrpSpPr>
              <p:grpSpPr bwMode="auto">
                <a:xfrm>
                  <a:off x="3962" y="1032"/>
                  <a:ext cx="213" cy="116"/>
                  <a:chOff x="3962" y="1032"/>
                  <a:chExt cx="213" cy="116"/>
                </a:xfrm>
              </p:grpSpPr>
              <p:sp>
                <p:nvSpPr>
                  <p:cNvPr id="1609" name="Line 406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3975" y="1033"/>
                    <a:ext cx="41" cy="72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TW" altLang="en-US"/>
                  </a:p>
                </p:txBody>
              </p:sp>
              <p:sp>
                <p:nvSpPr>
                  <p:cNvPr id="1610" name="Line 407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4041" y="1033"/>
                    <a:ext cx="0" cy="67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TW" altLang="en-US"/>
                  </a:p>
                </p:txBody>
              </p:sp>
              <p:sp>
                <p:nvSpPr>
                  <p:cNvPr id="1611" name="Line 408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4097" y="1032"/>
                    <a:ext cx="0" cy="69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TW" altLang="en-US"/>
                  </a:p>
                </p:txBody>
              </p:sp>
              <p:sp>
                <p:nvSpPr>
                  <p:cNvPr id="1612" name="Rectangle 409"/>
                  <p:cNvSpPr>
                    <a:spLocks noChangeArrowheads="1"/>
                  </p:cNvSpPr>
                  <p:nvPr/>
                </p:nvSpPr>
                <p:spPr bwMode="auto">
                  <a:xfrm>
                    <a:off x="3962" y="1105"/>
                    <a:ext cx="17" cy="40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TW" altLang="en-US"/>
                  </a:p>
                </p:txBody>
              </p:sp>
              <p:sp>
                <p:nvSpPr>
                  <p:cNvPr id="1613" name="Rectangle 410"/>
                  <p:cNvSpPr>
                    <a:spLocks noChangeArrowheads="1"/>
                  </p:cNvSpPr>
                  <p:nvPr/>
                </p:nvSpPr>
                <p:spPr bwMode="auto">
                  <a:xfrm>
                    <a:off x="4030" y="1101"/>
                    <a:ext cx="20" cy="47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TW" altLang="en-US"/>
                  </a:p>
                </p:txBody>
              </p:sp>
              <p:sp>
                <p:nvSpPr>
                  <p:cNvPr id="1614" name="Rectangle 411"/>
                  <p:cNvSpPr>
                    <a:spLocks noChangeArrowheads="1"/>
                  </p:cNvSpPr>
                  <p:nvPr/>
                </p:nvSpPr>
                <p:spPr bwMode="auto">
                  <a:xfrm>
                    <a:off x="4086" y="1100"/>
                    <a:ext cx="19" cy="47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TW" altLang="en-US"/>
                  </a:p>
                </p:txBody>
              </p:sp>
              <p:sp>
                <p:nvSpPr>
                  <p:cNvPr id="1615" name="Rectangle 412"/>
                  <p:cNvSpPr>
                    <a:spLocks noChangeArrowheads="1"/>
                  </p:cNvSpPr>
                  <p:nvPr/>
                </p:nvSpPr>
                <p:spPr bwMode="auto">
                  <a:xfrm>
                    <a:off x="4158" y="1105"/>
                    <a:ext cx="17" cy="40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TW" altLang="en-US"/>
                  </a:p>
                </p:txBody>
              </p:sp>
              <p:sp>
                <p:nvSpPr>
                  <p:cNvPr id="1616" name="Line 413"/>
                  <p:cNvSpPr>
                    <a:spLocks noChangeShapeType="1"/>
                  </p:cNvSpPr>
                  <p:nvPr/>
                </p:nvSpPr>
                <p:spPr bwMode="auto">
                  <a:xfrm flipH="1" flipV="1">
                    <a:off x="4114" y="1033"/>
                    <a:ext cx="60" cy="72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TW" altLang="en-US"/>
                  </a:p>
                </p:txBody>
              </p:sp>
            </p:grpSp>
            <p:grpSp>
              <p:nvGrpSpPr>
                <p:cNvPr id="1618" name="Group 414"/>
                <p:cNvGrpSpPr>
                  <a:grpSpLocks/>
                </p:cNvGrpSpPr>
                <p:nvPr/>
              </p:nvGrpSpPr>
              <p:grpSpPr bwMode="auto">
                <a:xfrm>
                  <a:off x="3962" y="867"/>
                  <a:ext cx="213" cy="109"/>
                  <a:chOff x="3962" y="867"/>
                  <a:chExt cx="213" cy="109"/>
                </a:xfrm>
              </p:grpSpPr>
              <p:sp>
                <p:nvSpPr>
                  <p:cNvPr id="1601" name="Line 415"/>
                  <p:cNvSpPr>
                    <a:spLocks noChangeShapeType="1"/>
                  </p:cNvSpPr>
                  <p:nvPr/>
                </p:nvSpPr>
                <p:spPr bwMode="auto">
                  <a:xfrm>
                    <a:off x="3975" y="919"/>
                    <a:ext cx="41" cy="57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TW" altLang="en-US"/>
                  </a:p>
                </p:txBody>
              </p:sp>
              <p:sp>
                <p:nvSpPr>
                  <p:cNvPr id="1602" name="Line 416"/>
                  <p:cNvSpPr>
                    <a:spLocks noChangeShapeType="1"/>
                  </p:cNvSpPr>
                  <p:nvPr/>
                </p:nvSpPr>
                <p:spPr bwMode="auto">
                  <a:xfrm>
                    <a:off x="4041" y="925"/>
                    <a:ext cx="0" cy="50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TW" altLang="en-US"/>
                  </a:p>
                </p:txBody>
              </p:sp>
              <p:sp>
                <p:nvSpPr>
                  <p:cNvPr id="1603" name="Line 417"/>
                  <p:cNvSpPr>
                    <a:spLocks noChangeShapeType="1"/>
                  </p:cNvSpPr>
                  <p:nvPr/>
                </p:nvSpPr>
                <p:spPr bwMode="auto">
                  <a:xfrm>
                    <a:off x="4097" y="922"/>
                    <a:ext cx="0" cy="54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TW" altLang="en-US"/>
                  </a:p>
                </p:txBody>
              </p:sp>
              <p:sp>
                <p:nvSpPr>
                  <p:cNvPr id="1604" name="Rectangle 418"/>
                  <p:cNvSpPr>
                    <a:spLocks noChangeArrowheads="1"/>
                  </p:cNvSpPr>
                  <p:nvPr/>
                </p:nvSpPr>
                <p:spPr bwMode="auto">
                  <a:xfrm>
                    <a:off x="3962" y="871"/>
                    <a:ext cx="17" cy="40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TW" altLang="en-US"/>
                  </a:p>
                </p:txBody>
              </p:sp>
              <p:sp>
                <p:nvSpPr>
                  <p:cNvPr id="1605" name="Rectangle 419"/>
                  <p:cNvSpPr>
                    <a:spLocks noChangeArrowheads="1"/>
                  </p:cNvSpPr>
                  <p:nvPr/>
                </p:nvSpPr>
                <p:spPr bwMode="auto">
                  <a:xfrm>
                    <a:off x="4030" y="867"/>
                    <a:ext cx="20" cy="47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TW" altLang="en-US"/>
                  </a:p>
                </p:txBody>
              </p:sp>
              <p:sp>
                <p:nvSpPr>
                  <p:cNvPr id="1606" name="Rectangle 420"/>
                  <p:cNvSpPr>
                    <a:spLocks noChangeArrowheads="1"/>
                  </p:cNvSpPr>
                  <p:nvPr/>
                </p:nvSpPr>
                <p:spPr bwMode="auto">
                  <a:xfrm>
                    <a:off x="4086" y="869"/>
                    <a:ext cx="19" cy="48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TW" altLang="en-US"/>
                  </a:p>
                </p:txBody>
              </p:sp>
              <p:sp>
                <p:nvSpPr>
                  <p:cNvPr id="1607" name="Rectangle 421"/>
                  <p:cNvSpPr>
                    <a:spLocks noChangeArrowheads="1"/>
                  </p:cNvSpPr>
                  <p:nvPr/>
                </p:nvSpPr>
                <p:spPr bwMode="auto">
                  <a:xfrm>
                    <a:off x="4158" y="871"/>
                    <a:ext cx="17" cy="40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TW" altLang="en-US"/>
                  </a:p>
                </p:txBody>
              </p:sp>
              <p:sp>
                <p:nvSpPr>
                  <p:cNvPr id="1608" name="Line 422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4114" y="919"/>
                    <a:ext cx="60" cy="57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TW" altLang="en-US"/>
                  </a:p>
                </p:txBody>
              </p:sp>
            </p:grpSp>
          </p:grpSp>
        </p:grpSp>
        <p:sp>
          <p:nvSpPr>
            <p:cNvPr id="1514" name="Rectangle 425"/>
            <p:cNvSpPr>
              <a:spLocks noChangeArrowheads="1"/>
            </p:cNvSpPr>
            <p:nvPr/>
          </p:nvSpPr>
          <p:spPr bwMode="auto">
            <a:xfrm>
              <a:off x="981383" y="6135260"/>
              <a:ext cx="1613900" cy="555531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square" lIns="93067" tIns="45717" rIns="93067" bIns="45717">
              <a:spAutoFit/>
            </a:bodyPr>
            <a:lstStyle/>
            <a:p>
              <a:pPr algn="ctr" defTabSz="939800">
                <a:lnSpc>
                  <a:spcPct val="70000"/>
                </a:lnSpc>
                <a:spcBef>
                  <a:spcPct val="50000"/>
                </a:spcBef>
              </a:pPr>
              <a:r>
                <a:rPr lang="en-US" altLang="zh-TW" sz="1500" b="1" dirty="0" smtClean="0">
                  <a:ea typeface="新細明體" charset="-120"/>
                </a:rPr>
                <a:t>Desktop </a:t>
              </a:r>
              <a:br>
                <a:rPr lang="en-US" altLang="zh-TW" sz="1500" b="1" dirty="0" smtClean="0">
                  <a:ea typeface="新細明體" charset="-120"/>
                </a:rPr>
              </a:br>
              <a:r>
                <a:rPr lang="en-US" altLang="zh-TW" sz="1400" b="1" dirty="0" smtClean="0">
                  <a:ea typeface="新細明體" charset="-120"/>
                </a:rPr>
                <a:t>(Single or Multi-processors)</a:t>
              </a:r>
              <a:endParaRPr lang="en-US" altLang="zh-TW" sz="1400" b="1" dirty="0">
                <a:ea typeface="新細明體" charset="-120"/>
              </a:endParaRPr>
            </a:p>
          </p:txBody>
        </p:sp>
        <p:sp>
          <p:nvSpPr>
            <p:cNvPr id="1515" name="Rectangle 426"/>
            <p:cNvSpPr>
              <a:spLocks noChangeArrowheads="1"/>
            </p:cNvSpPr>
            <p:nvPr/>
          </p:nvSpPr>
          <p:spPr bwMode="auto">
            <a:xfrm>
              <a:off x="2493551" y="6135260"/>
              <a:ext cx="1181561" cy="580474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square" lIns="93067" tIns="45717" rIns="93067" bIns="45717">
              <a:spAutoFit/>
            </a:bodyPr>
            <a:lstStyle/>
            <a:p>
              <a:pPr algn="ctr" defTabSz="939800">
                <a:lnSpc>
                  <a:spcPct val="70000"/>
                </a:lnSpc>
                <a:spcBef>
                  <a:spcPct val="50000"/>
                </a:spcBef>
              </a:pPr>
              <a:r>
                <a:rPr lang="en-US" altLang="zh-TW" sz="1500" b="1" dirty="0">
                  <a:ea typeface="新細明體" charset="-120"/>
                </a:rPr>
                <a:t>SMPs or </a:t>
              </a:r>
              <a:r>
                <a:rPr lang="en-US" altLang="zh-TW" sz="1500" b="1" dirty="0" smtClean="0">
                  <a:ea typeface="新細明體" charset="-120"/>
                </a:rPr>
                <a:t>Super-computers</a:t>
              </a:r>
              <a:endParaRPr lang="en-US" altLang="zh-TW" sz="1500" b="1" dirty="0">
                <a:ea typeface="新細明體" charset="-120"/>
              </a:endParaRPr>
            </a:p>
          </p:txBody>
        </p:sp>
        <p:sp>
          <p:nvSpPr>
            <p:cNvPr id="1516" name="Rectangle 427"/>
            <p:cNvSpPr>
              <a:spLocks noChangeArrowheads="1"/>
            </p:cNvSpPr>
            <p:nvPr/>
          </p:nvSpPr>
          <p:spPr bwMode="auto">
            <a:xfrm>
              <a:off x="3723985" y="6135260"/>
              <a:ext cx="929806" cy="46165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square" lIns="93067" tIns="45717" rIns="93067" bIns="45717">
              <a:spAutoFit/>
            </a:bodyPr>
            <a:lstStyle/>
            <a:p>
              <a:pPr algn="ctr" defTabSz="939800">
                <a:lnSpc>
                  <a:spcPct val="55000"/>
                </a:lnSpc>
                <a:spcBef>
                  <a:spcPct val="50000"/>
                </a:spcBef>
              </a:pPr>
              <a:r>
                <a:rPr lang="en-US" altLang="zh-TW" sz="1500" b="1" dirty="0">
                  <a:ea typeface="新細明體" charset="-120"/>
                </a:rPr>
                <a:t>Local</a:t>
              </a:r>
            </a:p>
            <a:p>
              <a:pPr algn="ctr" defTabSz="939800">
                <a:lnSpc>
                  <a:spcPct val="55000"/>
                </a:lnSpc>
                <a:spcBef>
                  <a:spcPct val="50000"/>
                </a:spcBef>
              </a:pPr>
              <a:r>
                <a:rPr lang="en-US" altLang="zh-TW" sz="1500" b="1" dirty="0">
                  <a:ea typeface="新細明體" charset="-120"/>
                </a:rPr>
                <a:t>Cluster</a:t>
              </a:r>
            </a:p>
          </p:txBody>
        </p:sp>
        <p:sp>
          <p:nvSpPr>
            <p:cNvPr id="1517" name="Rectangle 428"/>
            <p:cNvSpPr>
              <a:spLocks noChangeArrowheads="1"/>
            </p:cNvSpPr>
            <p:nvPr/>
          </p:nvSpPr>
          <p:spPr bwMode="auto">
            <a:xfrm>
              <a:off x="6040541" y="6137376"/>
              <a:ext cx="1430911" cy="46165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square" lIns="93067" tIns="45717" rIns="93067" bIns="45717">
              <a:spAutoFit/>
            </a:bodyPr>
            <a:lstStyle/>
            <a:p>
              <a:pPr algn="ctr" defTabSz="939800">
                <a:lnSpc>
                  <a:spcPct val="55000"/>
                </a:lnSpc>
                <a:spcBef>
                  <a:spcPct val="50000"/>
                </a:spcBef>
              </a:pPr>
              <a:r>
                <a:rPr lang="en-US" altLang="zh-TW" sz="1500" b="1" dirty="0">
                  <a:ea typeface="新細明體" charset="-120"/>
                </a:rPr>
                <a:t>Global</a:t>
              </a:r>
            </a:p>
            <a:p>
              <a:pPr algn="ctr" defTabSz="939800">
                <a:lnSpc>
                  <a:spcPct val="55000"/>
                </a:lnSpc>
                <a:spcBef>
                  <a:spcPct val="50000"/>
                </a:spcBef>
              </a:pPr>
              <a:r>
                <a:rPr lang="en-US" altLang="zh-TW" sz="1500" b="1" dirty="0">
                  <a:ea typeface="新細明體" charset="-120"/>
                </a:rPr>
                <a:t>Cluster/Grid</a:t>
              </a:r>
            </a:p>
          </p:txBody>
        </p:sp>
        <p:sp>
          <p:nvSpPr>
            <p:cNvPr id="1518" name="Rectangle 429"/>
            <p:cNvSpPr>
              <a:spLocks noChangeArrowheads="1"/>
            </p:cNvSpPr>
            <p:nvPr/>
          </p:nvSpPr>
          <p:spPr bwMode="auto">
            <a:xfrm>
              <a:off x="683568" y="3175759"/>
              <a:ext cx="384929" cy="2259074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vert="vert270" lIns="93067" tIns="45717" rIns="93067" bIns="45717">
              <a:spAutoFit/>
            </a:bodyPr>
            <a:lstStyle/>
            <a:p>
              <a:pPr defTabSz="939800">
                <a:lnSpc>
                  <a:spcPct val="80000"/>
                </a:lnSpc>
                <a:spcBef>
                  <a:spcPct val="50000"/>
                </a:spcBef>
              </a:pPr>
              <a:r>
                <a:rPr lang="en-US" altLang="zh-TW" sz="1600" b="1" dirty="0" smtClean="0">
                  <a:ea typeface="新細明體" charset="-120"/>
                </a:rPr>
                <a:t>RESOURCE CAPACITY</a:t>
              </a:r>
              <a:endParaRPr lang="en-US" altLang="zh-TW" sz="1600" b="1" dirty="0">
                <a:ea typeface="新細明體" charset="-120"/>
              </a:endParaRPr>
            </a:p>
          </p:txBody>
        </p:sp>
        <p:sp>
          <p:nvSpPr>
            <p:cNvPr id="1519" name="Text Box 432"/>
            <p:cNvSpPr txBox="1">
              <a:spLocks noChangeArrowheads="1"/>
            </p:cNvSpPr>
            <p:nvPr/>
          </p:nvSpPr>
          <p:spPr bwMode="auto">
            <a:xfrm>
              <a:off x="7386983" y="6043354"/>
              <a:ext cx="1422184" cy="55399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 defTabSz="931863"/>
              <a:r>
                <a:rPr lang="en-US" altLang="zh-TW" sz="1500" b="1" dirty="0" smtClean="0">
                  <a:solidFill>
                    <a:srgbClr val="0070C0"/>
                  </a:solidFill>
                  <a:ea typeface="新細明體" charset="-120"/>
                </a:rPr>
                <a:t>Next big thing</a:t>
              </a:r>
            </a:p>
            <a:p>
              <a:pPr algn="ctr" defTabSz="931863"/>
              <a:r>
                <a:rPr lang="en-US" altLang="zh-TW" sz="1500" b="1" dirty="0" smtClean="0">
                  <a:solidFill>
                    <a:srgbClr val="0070C0"/>
                  </a:solidFill>
                  <a:ea typeface="新細明體" charset="-120"/>
                </a:rPr>
                <a:t>Grid or Cloud??</a:t>
              </a:r>
              <a:endParaRPr lang="en-US" altLang="zh-TW" sz="1500" b="1" dirty="0">
                <a:solidFill>
                  <a:srgbClr val="0070C0"/>
                </a:solidFill>
                <a:ea typeface="新細明體" charset="-120"/>
              </a:endParaRPr>
            </a:p>
          </p:txBody>
        </p:sp>
        <p:sp>
          <p:nvSpPr>
            <p:cNvPr id="1525" name="Rectangle 441"/>
            <p:cNvSpPr>
              <a:spLocks noChangeArrowheads="1"/>
            </p:cNvSpPr>
            <p:nvPr/>
          </p:nvSpPr>
          <p:spPr bwMode="auto">
            <a:xfrm>
              <a:off x="4704829" y="6135260"/>
              <a:ext cx="1407620" cy="46165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square" lIns="93067" tIns="45717" rIns="93067" bIns="45717">
              <a:spAutoFit/>
            </a:bodyPr>
            <a:lstStyle/>
            <a:p>
              <a:pPr algn="ctr" defTabSz="939800">
                <a:lnSpc>
                  <a:spcPct val="55000"/>
                </a:lnSpc>
                <a:spcBef>
                  <a:spcPct val="50000"/>
                </a:spcBef>
              </a:pPr>
              <a:r>
                <a:rPr lang="en-US" altLang="zh-TW" sz="1500" b="1" dirty="0">
                  <a:ea typeface="新細明體" charset="-120"/>
                </a:rPr>
                <a:t>Enterprise</a:t>
              </a:r>
            </a:p>
            <a:p>
              <a:pPr algn="ctr" defTabSz="939800">
                <a:lnSpc>
                  <a:spcPct val="55000"/>
                </a:lnSpc>
                <a:spcBef>
                  <a:spcPct val="50000"/>
                </a:spcBef>
              </a:pPr>
              <a:r>
                <a:rPr lang="en-US" altLang="zh-TW" sz="1500" b="1" dirty="0">
                  <a:ea typeface="新細明體" charset="-120"/>
                </a:rPr>
                <a:t>Cluster/Grid</a:t>
              </a:r>
            </a:p>
          </p:txBody>
        </p:sp>
        <p:grpSp>
          <p:nvGrpSpPr>
            <p:cNvPr id="1637" name="Group 442"/>
            <p:cNvGrpSpPr>
              <a:grpSpLocks/>
            </p:cNvGrpSpPr>
            <p:nvPr/>
          </p:nvGrpSpPr>
          <p:grpSpPr bwMode="auto">
            <a:xfrm>
              <a:off x="5022546" y="3296559"/>
              <a:ext cx="266074" cy="364905"/>
              <a:chOff x="4473" y="1640"/>
              <a:chExt cx="212" cy="282"/>
            </a:xfrm>
          </p:grpSpPr>
          <p:sp>
            <p:nvSpPr>
              <p:cNvPr id="1569" name="Rectangle 443"/>
              <p:cNvSpPr>
                <a:spLocks noChangeArrowheads="1"/>
              </p:cNvSpPr>
              <p:nvPr/>
            </p:nvSpPr>
            <p:spPr bwMode="auto">
              <a:xfrm>
                <a:off x="4534" y="1764"/>
                <a:ext cx="95" cy="41"/>
              </a:xfrm>
              <a:prstGeom prst="rect">
                <a:avLst/>
              </a:prstGeom>
              <a:solidFill>
                <a:srgbClr val="FF0000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TW" altLang="en-US"/>
              </a:p>
            </p:txBody>
          </p:sp>
          <p:grpSp>
            <p:nvGrpSpPr>
              <p:cNvPr id="1638" name="Group 444"/>
              <p:cNvGrpSpPr>
                <a:grpSpLocks/>
              </p:cNvGrpSpPr>
              <p:nvPr/>
            </p:nvGrpSpPr>
            <p:grpSpPr bwMode="auto">
              <a:xfrm>
                <a:off x="4473" y="1805"/>
                <a:ext cx="212" cy="117"/>
                <a:chOff x="4473" y="1805"/>
                <a:chExt cx="212" cy="117"/>
              </a:xfrm>
            </p:grpSpPr>
            <p:sp>
              <p:nvSpPr>
                <p:cNvPr id="1580" name="Line 445"/>
                <p:cNvSpPr>
                  <a:spLocks noChangeShapeType="1"/>
                </p:cNvSpPr>
                <p:nvPr/>
              </p:nvSpPr>
              <p:spPr bwMode="auto">
                <a:xfrm flipV="1">
                  <a:off x="4485" y="1806"/>
                  <a:ext cx="41" cy="72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581" name="Line 446"/>
                <p:cNvSpPr>
                  <a:spLocks noChangeShapeType="1"/>
                </p:cNvSpPr>
                <p:nvPr/>
              </p:nvSpPr>
              <p:spPr bwMode="auto">
                <a:xfrm flipV="1">
                  <a:off x="4552" y="1807"/>
                  <a:ext cx="0" cy="66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582" name="Line 447"/>
                <p:cNvSpPr>
                  <a:spLocks noChangeShapeType="1"/>
                </p:cNvSpPr>
                <p:nvPr/>
              </p:nvSpPr>
              <p:spPr bwMode="auto">
                <a:xfrm flipV="1">
                  <a:off x="4607" y="1805"/>
                  <a:ext cx="0" cy="7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583" name="Rectangle 448"/>
                <p:cNvSpPr>
                  <a:spLocks noChangeArrowheads="1"/>
                </p:cNvSpPr>
                <p:nvPr/>
              </p:nvSpPr>
              <p:spPr bwMode="auto">
                <a:xfrm>
                  <a:off x="4473" y="1878"/>
                  <a:ext cx="17" cy="40"/>
                </a:xfrm>
                <a:prstGeom prst="rect">
                  <a:avLst/>
                </a:prstGeom>
                <a:solidFill>
                  <a:srgbClr val="FF0000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584" name="Rectangle 449"/>
                <p:cNvSpPr>
                  <a:spLocks noChangeArrowheads="1"/>
                </p:cNvSpPr>
                <p:nvPr/>
              </p:nvSpPr>
              <p:spPr bwMode="auto">
                <a:xfrm>
                  <a:off x="4541" y="1875"/>
                  <a:ext cx="20" cy="47"/>
                </a:xfrm>
                <a:prstGeom prst="rect">
                  <a:avLst/>
                </a:prstGeom>
                <a:solidFill>
                  <a:srgbClr val="FF0000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585" name="Rectangle 450"/>
                <p:cNvSpPr>
                  <a:spLocks noChangeArrowheads="1"/>
                </p:cNvSpPr>
                <p:nvPr/>
              </p:nvSpPr>
              <p:spPr bwMode="auto">
                <a:xfrm>
                  <a:off x="4596" y="1873"/>
                  <a:ext cx="18" cy="48"/>
                </a:xfrm>
                <a:prstGeom prst="rect">
                  <a:avLst/>
                </a:prstGeom>
                <a:solidFill>
                  <a:srgbClr val="FF0000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586" name="Rectangle 451"/>
                <p:cNvSpPr>
                  <a:spLocks noChangeArrowheads="1"/>
                </p:cNvSpPr>
                <p:nvPr/>
              </p:nvSpPr>
              <p:spPr bwMode="auto">
                <a:xfrm>
                  <a:off x="4667" y="1878"/>
                  <a:ext cx="18" cy="40"/>
                </a:xfrm>
                <a:prstGeom prst="rect">
                  <a:avLst/>
                </a:prstGeom>
                <a:solidFill>
                  <a:srgbClr val="FF0000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587" name="Line 452"/>
                <p:cNvSpPr>
                  <a:spLocks noChangeShapeType="1"/>
                </p:cNvSpPr>
                <p:nvPr/>
              </p:nvSpPr>
              <p:spPr bwMode="auto">
                <a:xfrm flipH="1" flipV="1">
                  <a:off x="4624" y="1806"/>
                  <a:ext cx="60" cy="72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</p:grpSp>
          <p:grpSp>
            <p:nvGrpSpPr>
              <p:cNvPr id="1656" name="Group 453"/>
              <p:cNvGrpSpPr>
                <a:grpSpLocks/>
              </p:cNvGrpSpPr>
              <p:nvPr/>
            </p:nvGrpSpPr>
            <p:grpSpPr bwMode="auto">
              <a:xfrm>
                <a:off x="4473" y="1640"/>
                <a:ext cx="212" cy="109"/>
                <a:chOff x="4473" y="1640"/>
                <a:chExt cx="212" cy="109"/>
              </a:xfrm>
            </p:grpSpPr>
            <p:sp>
              <p:nvSpPr>
                <p:cNvPr id="1572" name="Line 454"/>
                <p:cNvSpPr>
                  <a:spLocks noChangeShapeType="1"/>
                </p:cNvSpPr>
                <p:nvPr/>
              </p:nvSpPr>
              <p:spPr bwMode="auto">
                <a:xfrm>
                  <a:off x="4485" y="1692"/>
                  <a:ext cx="41" cy="57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573" name="Line 455"/>
                <p:cNvSpPr>
                  <a:spLocks noChangeShapeType="1"/>
                </p:cNvSpPr>
                <p:nvPr/>
              </p:nvSpPr>
              <p:spPr bwMode="auto">
                <a:xfrm>
                  <a:off x="4552" y="1698"/>
                  <a:ext cx="0" cy="5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574" name="Line 456"/>
                <p:cNvSpPr>
                  <a:spLocks noChangeShapeType="1"/>
                </p:cNvSpPr>
                <p:nvPr/>
              </p:nvSpPr>
              <p:spPr bwMode="auto">
                <a:xfrm>
                  <a:off x="4607" y="1696"/>
                  <a:ext cx="0" cy="53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575" name="Rectangle 457"/>
                <p:cNvSpPr>
                  <a:spLocks noChangeArrowheads="1"/>
                </p:cNvSpPr>
                <p:nvPr/>
              </p:nvSpPr>
              <p:spPr bwMode="auto">
                <a:xfrm>
                  <a:off x="4473" y="1644"/>
                  <a:ext cx="17" cy="40"/>
                </a:xfrm>
                <a:prstGeom prst="rect">
                  <a:avLst/>
                </a:prstGeom>
                <a:solidFill>
                  <a:srgbClr val="FF0000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576" name="Rectangle 458"/>
                <p:cNvSpPr>
                  <a:spLocks noChangeArrowheads="1"/>
                </p:cNvSpPr>
                <p:nvPr/>
              </p:nvSpPr>
              <p:spPr bwMode="auto">
                <a:xfrm>
                  <a:off x="4541" y="1640"/>
                  <a:ext cx="20" cy="48"/>
                </a:xfrm>
                <a:prstGeom prst="rect">
                  <a:avLst/>
                </a:prstGeom>
                <a:solidFill>
                  <a:srgbClr val="FF0000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577" name="Rectangle 459"/>
                <p:cNvSpPr>
                  <a:spLocks noChangeArrowheads="1"/>
                </p:cNvSpPr>
                <p:nvPr/>
              </p:nvSpPr>
              <p:spPr bwMode="auto">
                <a:xfrm>
                  <a:off x="4596" y="1643"/>
                  <a:ext cx="18" cy="47"/>
                </a:xfrm>
                <a:prstGeom prst="rect">
                  <a:avLst/>
                </a:prstGeom>
                <a:solidFill>
                  <a:srgbClr val="FF0000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578" name="Rectangle 460"/>
                <p:cNvSpPr>
                  <a:spLocks noChangeArrowheads="1"/>
                </p:cNvSpPr>
                <p:nvPr/>
              </p:nvSpPr>
              <p:spPr bwMode="auto">
                <a:xfrm>
                  <a:off x="4667" y="1644"/>
                  <a:ext cx="18" cy="40"/>
                </a:xfrm>
                <a:prstGeom prst="rect">
                  <a:avLst/>
                </a:prstGeom>
                <a:solidFill>
                  <a:srgbClr val="FF0000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579" name="Line 461"/>
                <p:cNvSpPr>
                  <a:spLocks noChangeShapeType="1"/>
                </p:cNvSpPr>
                <p:nvPr/>
              </p:nvSpPr>
              <p:spPr bwMode="auto">
                <a:xfrm flipH="1">
                  <a:off x="4624" y="1692"/>
                  <a:ext cx="60" cy="57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</p:grpSp>
        </p:grpSp>
        <p:grpSp>
          <p:nvGrpSpPr>
            <p:cNvPr id="1657" name="Group 462"/>
            <p:cNvGrpSpPr>
              <a:grpSpLocks/>
            </p:cNvGrpSpPr>
            <p:nvPr/>
          </p:nvGrpSpPr>
          <p:grpSpPr bwMode="auto">
            <a:xfrm>
              <a:off x="5530864" y="3175763"/>
              <a:ext cx="266074" cy="364905"/>
              <a:chOff x="4473" y="1640"/>
              <a:chExt cx="212" cy="282"/>
            </a:xfrm>
          </p:grpSpPr>
          <p:sp>
            <p:nvSpPr>
              <p:cNvPr id="1550" name="Rectangle 463"/>
              <p:cNvSpPr>
                <a:spLocks noChangeArrowheads="1"/>
              </p:cNvSpPr>
              <p:nvPr/>
            </p:nvSpPr>
            <p:spPr bwMode="auto">
              <a:xfrm>
                <a:off x="4534" y="1764"/>
                <a:ext cx="95" cy="41"/>
              </a:xfrm>
              <a:prstGeom prst="rect">
                <a:avLst/>
              </a:prstGeom>
              <a:solidFill>
                <a:srgbClr val="FF0000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TW" altLang="en-US"/>
              </a:p>
            </p:txBody>
          </p:sp>
          <p:grpSp>
            <p:nvGrpSpPr>
              <p:cNvPr id="1675" name="Group 464"/>
              <p:cNvGrpSpPr>
                <a:grpSpLocks/>
              </p:cNvGrpSpPr>
              <p:nvPr/>
            </p:nvGrpSpPr>
            <p:grpSpPr bwMode="auto">
              <a:xfrm>
                <a:off x="4473" y="1805"/>
                <a:ext cx="212" cy="117"/>
                <a:chOff x="4473" y="1805"/>
                <a:chExt cx="212" cy="117"/>
              </a:xfrm>
            </p:grpSpPr>
            <p:sp>
              <p:nvSpPr>
                <p:cNvPr id="1561" name="Line 465"/>
                <p:cNvSpPr>
                  <a:spLocks noChangeShapeType="1"/>
                </p:cNvSpPr>
                <p:nvPr/>
              </p:nvSpPr>
              <p:spPr bwMode="auto">
                <a:xfrm flipV="1">
                  <a:off x="4485" y="1806"/>
                  <a:ext cx="41" cy="72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562" name="Line 466"/>
                <p:cNvSpPr>
                  <a:spLocks noChangeShapeType="1"/>
                </p:cNvSpPr>
                <p:nvPr/>
              </p:nvSpPr>
              <p:spPr bwMode="auto">
                <a:xfrm flipV="1">
                  <a:off x="4552" y="1807"/>
                  <a:ext cx="0" cy="66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563" name="Line 467"/>
                <p:cNvSpPr>
                  <a:spLocks noChangeShapeType="1"/>
                </p:cNvSpPr>
                <p:nvPr/>
              </p:nvSpPr>
              <p:spPr bwMode="auto">
                <a:xfrm flipV="1">
                  <a:off x="4607" y="1805"/>
                  <a:ext cx="0" cy="7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564" name="Rectangle 468"/>
                <p:cNvSpPr>
                  <a:spLocks noChangeArrowheads="1"/>
                </p:cNvSpPr>
                <p:nvPr/>
              </p:nvSpPr>
              <p:spPr bwMode="auto">
                <a:xfrm>
                  <a:off x="4473" y="1878"/>
                  <a:ext cx="17" cy="40"/>
                </a:xfrm>
                <a:prstGeom prst="rect">
                  <a:avLst/>
                </a:prstGeom>
                <a:solidFill>
                  <a:srgbClr val="FF0000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565" name="Rectangle 469"/>
                <p:cNvSpPr>
                  <a:spLocks noChangeArrowheads="1"/>
                </p:cNvSpPr>
                <p:nvPr/>
              </p:nvSpPr>
              <p:spPr bwMode="auto">
                <a:xfrm>
                  <a:off x="4541" y="1875"/>
                  <a:ext cx="20" cy="47"/>
                </a:xfrm>
                <a:prstGeom prst="rect">
                  <a:avLst/>
                </a:prstGeom>
                <a:solidFill>
                  <a:srgbClr val="FF0000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566" name="Rectangle 470"/>
                <p:cNvSpPr>
                  <a:spLocks noChangeArrowheads="1"/>
                </p:cNvSpPr>
                <p:nvPr/>
              </p:nvSpPr>
              <p:spPr bwMode="auto">
                <a:xfrm>
                  <a:off x="4596" y="1873"/>
                  <a:ext cx="18" cy="48"/>
                </a:xfrm>
                <a:prstGeom prst="rect">
                  <a:avLst/>
                </a:prstGeom>
                <a:solidFill>
                  <a:srgbClr val="FF0000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567" name="Rectangle 471"/>
                <p:cNvSpPr>
                  <a:spLocks noChangeArrowheads="1"/>
                </p:cNvSpPr>
                <p:nvPr/>
              </p:nvSpPr>
              <p:spPr bwMode="auto">
                <a:xfrm>
                  <a:off x="4667" y="1878"/>
                  <a:ext cx="18" cy="40"/>
                </a:xfrm>
                <a:prstGeom prst="rect">
                  <a:avLst/>
                </a:prstGeom>
                <a:solidFill>
                  <a:srgbClr val="FF0000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568" name="Line 472"/>
                <p:cNvSpPr>
                  <a:spLocks noChangeShapeType="1"/>
                </p:cNvSpPr>
                <p:nvPr/>
              </p:nvSpPr>
              <p:spPr bwMode="auto">
                <a:xfrm flipH="1" flipV="1">
                  <a:off x="4624" y="1806"/>
                  <a:ext cx="60" cy="72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</p:grpSp>
          <p:grpSp>
            <p:nvGrpSpPr>
              <p:cNvPr id="1676" name="Group 473"/>
              <p:cNvGrpSpPr>
                <a:grpSpLocks/>
              </p:cNvGrpSpPr>
              <p:nvPr/>
            </p:nvGrpSpPr>
            <p:grpSpPr bwMode="auto">
              <a:xfrm>
                <a:off x="4473" y="1640"/>
                <a:ext cx="212" cy="109"/>
                <a:chOff x="4473" y="1640"/>
                <a:chExt cx="212" cy="109"/>
              </a:xfrm>
            </p:grpSpPr>
            <p:sp>
              <p:nvSpPr>
                <p:cNvPr id="1553" name="Line 474"/>
                <p:cNvSpPr>
                  <a:spLocks noChangeShapeType="1"/>
                </p:cNvSpPr>
                <p:nvPr/>
              </p:nvSpPr>
              <p:spPr bwMode="auto">
                <a:xfrm>
                  <a:off x="4485" y="1692"/>
                  <a:ext cx="41" cy="57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554" name="Line 475"/>
                <p:cNvSpPr>
                  <a:spLocks noChangeShapeType="1"/>
                </p:cNvSpPr>
                <p:nvPr/>
              </p:nvSpPr>
              <p:spPr bwMode="auto">
                <a:xfrm>
                  <a:off x="4552" y="1698"/>
                  <a:ext cx="0" cy="5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555" name="Line 476"/>
                <p:cNvSpPr>
                  <a:spLocks noChangeShapeType="1"/>
                </p:cNvSpPr>
                <p:nvPr/>
              </p:nvSpPr>
              <p:spPr bwMode="auto">
                <a:xfrm>
                  <a:off x="4607" y="1696"/>
                  <a:ext cx="0" cy="53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556" name="Rectangle 477"/>
                <p:cNvSpPr>
                  <a:spLocks noChangeArrowheads="1"/>
                </p:cNvSpPr>
                <p:nvPr/>
              </p:nvSpPr>
              <p:spPr bwMode="auto">
                <a:xfrm>
                  <a:off x="4473" y="1644"/>
                  <a:ext cx="17" cy="40"/>
                </a:xfrm>
                <a:prstGeom prst="rect">
                  <a:avLst/>
                </a:prstGeom>
                <a:solidFill>
                  <a:srgbClr val="FF0000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557" name="Rectangle 478"/>
                <p:cNvSpPr>
                  <a:spLocks noChangeArrowheads="1"/>
                </p:cNvSpPr>
                <p:nvPr/>
              </p:nvSpPr>
              <p:spPr bwMode="auto">
                <a:xfrm>
                  <a:off x="4541" y="1640"/>
                  <a:ext cx="20" cy="48"/>
                </a:xfrm>
                <a:prstGeom prst="rect">
                  <a:avLst/>
                </a:prstGeom>
                <a:solidFill>
                  <a:srgbClr val="FF0000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558" name="Rectangle 479"/>
                <p:cNvSpPr>
                  <a:spLocks noChangeArrowheads="1"/>
                </p:cNvSpPr>
                <p:nvPr/>
              </p:nvSpPr>
              <p:spPr bwMode="auto">
                <a:xfrm>
                  <a:off x="4596" y="1643"/>
                  <a:ext cx="18" cy="47"/>
                </a:xfrm>
                <a:prstGeom prst="rect">
                  <a:avLst/>
                </a:prstGeom>
                <a:solidFill>
                  <a:srgbClr val="FF0000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559" name="Rectangle 480"/>
                <p:cNvSpPr>
                  <a:spLocks noChangeArrowheads="1"/>
                </p:cNvSpPr>
                <p:nvPr/>
              </p:nvSpPr>
              <p:spPr bwMode="auto">
                <a:xfrm>
                  <a:off x="4667" y="1644"/>
                  <a:ext cx="18" cy="40"/>
                </a:xfrm>
                <a:prstGeom prst="rect">
                  <a:avLst/>
                </a:prstGeom>
                <a:solidFill>
                  <a:srgbClr val="FF0000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560" name="Line 481"/>
                <p:cNvSpPr>
                  <a:spLocks noChangeShapeType="1"/>
                </p:cNvSpPr>
                <p:nvPr/>
              </p:nvSpPr>
              <p:spPr bwMode="auto">
                <a:xfrm flipH="1">
                  <a:off x="4624" y="1692"/>
                  <a:ext cx="60" cy="57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</p:grpSp>
        </p:grpSp>
        <p:grpSp>
          <p:nvGrpSpPr>
            <p:cNvPr id="1694" name="Group 482"/>
            <p:cNvGrpSpPr>
              <a:grpSpLocks/>
            </p:cNvGrpSpPr>
            <p:nvPr/>
          </p:nvGrpSpPr>
          <p:grpSpPr bwMode="auto">
            <a:xfrm>
              <a:off x="4895466" y="2148997"/>
              <a:ext cx="266074" cy="364905"/>
              <a:chOff x="4473" y="1640"/>
              <a:chExt cx="212" cy="282"/>
            </a:xfrm>
          </p:grpSpPr>
          <p:sp>
            <p:nvSpPr>
              <p:cNvPr id="1531" name="Rectangle 483"/>
              <p:cNvSpPr>
                <a:spLocks noChangeArrowheads="1"/>
              </p:cNvSpPr>
              <p:nvPr/>
            </p:nvSpPr>
            <p:spPr bwMode="auto">
              <a:xfrm>
                <a:off x="4534" y="1764"/>
                <a:ext cx="95" cy="41"/>
              </a:xfrm>
              <a:prstGeom prst="rect">
                <a:avLst/>
              </a:prstGeom>
              <a:solidFill>
                <a:srgbClr val="FF0000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TW" altLang="en-US"/>
              </a:p>
            </p:txBody>
          </p:sp>
          <p:grpSp>
            <p:nvGrpSpPr>
              <p:cNvPr id="1695" name="Group 484"/>
              <p:cNvGrpSpPr>
                <a:grpSpLocks/>
              </p:cNvGrpSpPr>
              <p:nvPr/>
            </p:nvGrpSpPr>
            <p:grpSpPr bwMode="auto">
              <a:xfrm>
                <a:off x="4473" y="1805"/>
                <a:ext cx="212" cy="117"/>
                <a:chOff x="4473" y="1805"/>
                <a:chExt cx="212" cy="117"/>
              </a:xfrm>
            </p:grpSpPr>
            <p:sp>
              <p:nvSpPr>
                <p:cNvPr id="1542" name="Line 485"/>
                <p:cNvSpPr>
                  <a:spLocks noChangeShapeType="1"/>
                </p:cNvSpPr>
                <p:nvPr/>
              </p:nvSpPr>
              <p:spPr bwMode="auto">
                <a:xfrm flipV="1">
                  <a:off x="4485" y="1806"/>
                  <a:ext cx="41" cy="72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543" name="Line 486"/>
                <p:cNvSpPr>
                  <a:spLocks noChangeShapeType="1"/>
                </p:cNvSpPr>
                <p:nvPr/>
              </p:nvSpPr>
              <p:spPr bwMode="auto">
                <a:xfrm flipV="1">
                  <a:off x="4552" y="1807"/>
                  <a:ext cx="0" cy="66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544" name="Line 487"/>
                <p:cNvSpPr>
                  <a:spLocks noChangeShapeType="1"/>
                </p:cNvSpPr>
                <p:nvPr/>
              </p:nvSpPr>
              <p:spPr bwMode="auto">
                <a:xfrm flipV="1">
                  <a:off x="4607" y="1805"/>
                  <a:ext cx="0" cy="7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545" name="Rectangle 488"/>
                <p:cNvSpPr>
                  <a:spLocks noChangeArrowheads="1"/>
                </p:cNvSpPr>
                <p:nvPr/>
              </p:nvSpPr>
              <p:spPr bwMode="auto">
                <a:xfrm>
                  <a:off x="4473" y="1878"/>
                  <a:ext cx="17" cy="40"/>
                </a:xfrm>
                <a:prstGeom prst="rect">
                  <a:avLst/>
                </a:prstGeom>
                <a:solidFill>
                  <a:srgbClr val="FF0000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546" name="Rectangle 489"/>
                <p:cNvSpPr>
                  <a:spLocks noChangeArrowheads="1"/>
                </p:cNvSpPr>
                <p:nvPr/>
              </p:nvSpPr>
              <p:spPr bwMode="auto">
                <a:xfrm>
                  <a:off x="4541" y="1875"/>
                  <a:ext cx="20" cy="47"/>
                </a:xfrm>
                <a:prstGeom prst="rect">
                  <a:avLst/>
                </a:prstGeom>
                <a:solidFill>
                  <a:srgbClr val="FF0000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547" name="Rectangle 490"/>
                <p:cNvSpPr>
                  <a:spLocks noChangeArrowheads="1"/>
                </p:cNvSpPr>
                <p:nvPr/>
              </p:nvSpPr>
              <p:spPr bwMode="auto">
                <a:xfrm>
                  <a:off x="4596" y="1873"/>
                  <a:ext cx="18" cy="48"/>
                </a:xfrm>
                <a:prstGeom prst="rect">
                  <a:avLst/>
                </a:prstGeom>
                <a:solidFill>
                  <a:srgbClr val="FF0000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548" name="Rectangle 491"/>
                <p:cNvSpPr>
                  <a:spLocks noChangeArrowheads="1"/>
                </p:cNvSpPr>
                <p:nvPr/>
              </p:nvSpPr>
              <p:spPr bwMode="auto">
                <a:xfrm>
                  <a:off x="4667" y="1878"/>
                  <a:ext cx="18" cy="40"/>
                </a:xfrm>
                <a:prstGeom prst="rect">
                  <a:avLst/>
                </a:prstGeom>
                <a:solidFill>
                  <a:srgbClr val="FF0000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549" name="Line 492"/>
                <p:cNvSpPr>
                  <a:spLocks noChangeShapeType="1"/>
                </p:cNvSpPr>
                <p:nvPr/>
              </p:nvSpPr>
              <p:spPr bwMode="auto">
                <a:xfrm flipH="1" flipV="1">
                  <a:off x="4624" y="1806"/>
                  <a:ext cx="60" cy="72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</p:grpSp>
          <p:grpSp>
            <p:nvGrpSpPr>
              <p:cNvPr id="1713" name="Group 493"/>
              <p:cNvGrpSpPr>
                <a:grpSpLocks/>
              </p:cNvGrpSpPr>
              <p:nvPr/>
            </p:nvGrpSpPr>
            <p:grpSpPr bwMode="auto">
              <a:xfrm>
                <a:off x="4473" y="1640"/>
                <a:ext cx="212" cy="109"/>
                <a:chOff x="4473" y="1640"/>
                <a:chExt cx="212" cy="109"/>
              </a:xfrm>
            </p:grpSpPr>
            <p:sp>
              <p:nvSpPr>
                <p:cNvPr id="1534" name="Line 494"/>
                <p:cNvSpPr>
                  <a:spLocks noChangeShapeType="1"/>
                </p:cNvSpPr>
                <p:nvPr/>
              </p:nvSpPr>
              <p:spPr bwMode="auto">
                <a:xfrm>
                  <a:off x="4485" y="1692"/>
                  <a:ext cx="41" cy="57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535" name="Line 495"/>
                <p:cNvSpPr>
                  <a:spLocks noChangeShapeType="1"/>
                </p:cNvSpPr>
                <p:nvPr/>
              </p:nvSpPr>
              <p:spPr bwMode="auto">
                <a:xfrm>
                  <a:off x="4552" y="1698"/>
                  <a:ext cx="0" cy="5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536" name="Line 496"/>
                <p:cNvSpPr>
                  <a:spLocks noChangeShapeType="1"/>
                </p:cNvSpPr>
                <p:nvPr/>
              </p:nvSpPr>
              <p:spPr bwMode="auto">
                <a:xfrm>
                  <a:off x="4607" y="1696"/>
                  <a:ext cx="0" cy="53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537" name="Rectangle 497"/>
                <p:cNvSpPr>
                  <a:spLocks noChangeArrowheads="1"/>
                </p:cNvSpPr>
                <p:nvPr/>
              </p:nvSpPr>
              <p:spPr bwMode="auto">
                <a:xfrm>
                  <a:off x="4473" y="1644"/>
                  <a:ext cx="17" cy="40"/>
                </a:xfrm>
                <a:prstGeom prst="rect">
                  <a:avLst/>
                </a:prstGeom>
                <a:solidFill>
                  <a:srgbClr val="FF0000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538" name="Rectangle 498"/>
                <p:cNvSpPr>
                  <a:spLocks noChangeArrowheads="1"/>
                </p:cNvSpPr>
                <p:nvPr/>
              </p:nvSpPr>
              <p:spPr bwMode="auto">
                <a:xfrm>
                  <a:off x="4541" y="1640"/>
                  <a:ext cx="20" cy="48"/>
                </a:xfrm>
                <a:prstGeom prst="rect">
                  <a:avLst/>
                </a:prstGeom>
                <a:solidFill>
                  <a:srgbClr val="FF0000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539" name="Rectangle 499"/>
                <p:cNvSpPr>
                  <a:spLocks noChangeArrowheads="1"/>
                </p:cNvSpPr>
                <p:nvPr/>
              </p:nvSpPr>
              <p:spPr bwMode="auto">
                <a:xfrm>
                  <a:off x="4596" y="1643"/>
                  <a:ext cx="18" cy="47"/>
                </a:xfrm>
                <a:prstGeom prst="rect">
                  <a:avLst/>
                </a:prstGeom>
                <a:solidFill>
                  <a:srgbClr val="FF0000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540" name="Rectangle 500"/>
                <p:cNvSpPr>
                  <a:spLocks noChangeArrowheads="1"/>
                </p:cNvSpPr>
                <p:nvPr/>
              </p:nvSpPr>
              <p:spPr bwMode="auto">
                <a:xfrm>
                  <a:off x="4667" y="1644"/>
                  <a:ext cx="18" cy="40"/>
                </a:xfrm>
                <a:prstGeom prst="rect">
                  <a:avLst/>
                </a:prstGeom>
                <a:solidFill>
                  <a:srgbClr val="FF0000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541" name="Line 501"/>
                <p:cNvSpPr>
                  <a:spLocks noChangeShapeType="1"/>
                </p:cNvSpPr>
                <p:nvPr/>
              </p:nvSpPr>
              <p:spPr bwMode="auto">
                <a:xfrm flipH="1">
                  <a:off x="4624" y="1692"/>
                  <a:ext cx="60" cy="57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</p:grpSp>
        </p:grpSp>
        <p:grpSp>
          <p:nvGrpSpPr>
            <p:cNvPr id="1714" name="群組 502"/>
            <p:cNvGrpSpPr/>
            <p:nvPr/>
          </p:nvGrpSpPr>
          <p:grpSpPr>
            <a:xfrm>
              <a:off x="1230015" y="1340768"/>
              <a:ext cx="7488832" cy="4608512"/>
              <a:chOff x="1475656" y="1340768"/>
              <a:chExt cx="7488832" cy="4608512"/>
            </a:xfrm>
          </p:grpSpPr>
          <p:cxnSp>
            <p:nvCxnSpPr>
              <p:cNvPr id="507" name="直線接點 506"/>
              <p:cNvCxnSpPr/>
              <p:nvPr/>
            </p:nvCxnSpPr>
            <p:spPr>
              <a:xfrm rot="5400000">
                <a:off x="-828600" y="3645024"/>
                <a:ext cx="4608512" cy="0"/>
              </a:xfrm>
              <a:prstGeom prst="line">
                <a:avLst/>
              </a:prstGeom>
              <a:ln w="76200">
                <a:headEnd type="stealth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08" name="直線接點 507"/>
              <p:cNvCxnSpPr/>
              <p:nvPr/>
            </p:nvCxnSpPr>
            <p:spPr>
              <a:xfrm rot="10800000">
                <a:off x="1475656" y="5949280"/>
                <a:ext cx="7488832" cy="0"/>
              </a:xfrm>
              <a:prstGeom prst="line">
                <a:avLst/>
              </a:prstGeom>
              <a:ln w="76200">
                <a:headEnd type="stealth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504" name="雲朵形 503"/>
            <p:cNvSpPr/>
            <p:nvPr/>
          </p:nvSpPr>
          <p:spPr>
            <a:xfrm>
              <a:off x="7134671" y="1218456"/>
              <a:ext cx="1691680" cy="1274440"/>
            </a:xfrm>
            <a:prstGeom prst="cloud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dirty="0" smtClean="0"/>
                <a:t>What’s next ? </a:t>
              </a:r>
              <a:endParaRPr lang="zh-TW" altLang="en-US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Distributed computing</a:t>
            </a:r>
            <a:endParaRPr lang="zh-TW" altLang="en-US" dirty="0"/>
          </a:p>
        </p:txBody>
      </p:sp>
      <p:sp>
        <p:nvSpPr>
          <p:cNvPr id="5" name="文字版面配置區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 smtClean="0">
                <a:solidFill>
                  <a:schemeClr val="bg1">
                    <a:lumMod val="65000"/>
                  </a:schemeClr>
                </a:solidFill>
              </a:rPr>
              <a:t>Cluster Computing</a:t>
            </a:r>
          </a:p>
          <a:p>
            <a:r>
              <a:rPr lang="en-US" altLang="zh-TW" dirty="0" smtClean="0">
                <a:solidFill>
                  <a:schemeClr val="bg1">
                    <a:lumMod val="65000"/>
                  </a:schemeClr>
                </a:solidFill>
              </a:rPr>
              <a:t>Grid Computing</a:t>
            </a:r>
          </a:p>
          <a:p>
            <a:r>
              <a:rPr lang="en-US" altLang="zh-TW" dirty="0" smtClean="0"/>
              <a:t>Cloud Computing – Next big thing </a:t>
            </a:r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 smtClean="0"/>
              <a:t>Long united, must divide </a:t>
            </a:r>
            <a:br>
              <a:rPr lang="en-US" altLang="zh-TW" dirty="0" smtClean="0"/>
            </a:br>
            <a:r>
              <a:rPr lang="en-US" altLang="zh-TW" dirty="0" smtClean="0"/>
              <a:t>Long divided, must unite</a:t>
            </a:r>
            <a:endParaRPr lang="zh-TW" altLang="en-US" dirty="0"/>
          </a:p>
        </p:txBody>
      </p:sp>
      <p:pic>
        <p:nvPicPr>
          <p:cNvPr id="5017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82563" y="1510555"/>
            <a:ext cx="8778875" cy="52308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Next Big Thing</a:t>
            </a:r>
            <a:endParaRPr lang="zh-TW" altLang="en-US" dirty="0"/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Google search trends – all years</a:t>
            </a:r>
            <a:endParaRPr lang="zh-TW" altLang="en-US" dirty="0"/>
          </a:p>
        </p:txBody>
      </p:sp>
      <p:pic>
        <p:nvPicPr>
          <p:cNvPr id="51211" name="Picture 11"/>
          <p:cNvPicPr>
            <a:picLocks noChangeAspect="1" noChangeArrowheads="1"/>
          </p:cNvPicPr>
          <p:nvPr/>
        </p:nvPicPr>
        <p:blipFill>
          <a:blip r:embed="rId2" cstate="print"/>
          <a:srcRect l="1178" t="29080" r="45903" b="24721"/>
          <a:stretch>
            <a:fillRect/>
          </a:stretch>
        </p:blipFill>
        <p:spPr bwMode="auto">
          <a:xfrm>
            <a:off x="832820" y="2348880"/>
            <a:ext cx="7771627" cy="38164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1213" name="Picture 13"/>
          <p:cNvPicPr>
            <a:picLocks noChangeAspect="1" noChangeArrowheads="1"/>
          </p:cNvPicPr>
          <p:nvPr/>
        </p:nvPicPr>
        <p:blipFill>
          <a:blip r:embed="rId3" cstate="print"/>
          <a:srcRect l="945" t="31920" r="66925" b="12641"/>
          <a:stretch>
            <a:fillRect/>
          </a:stretch>
        </p:blipFill>
        <p:spPr bwMode="auto">
          <a:xfrm>
            <a:off x="2123728" y="2060848"/>
            <a:ext cx="4896544" cy="47525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out)">
                                      <p:cBhvr>
                                        <p:cTn id="7" dur="1000"/>
                                        <p:tgtEl>
                                          <p:spTgt spid="51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The “Cloud”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600200"/>
            <a:ext cx="8579296" cy="2332856"/>
          </a:xfrm>
        </p:spPr>
        <p:txBody>
          <a:bodyPr>
            <a:normAutofit fontScale="85000" lnSpcReduction="10000"/>
          </a:bodyPr>
          <a:lstStyle/>
          <a:p>
            <a:r>
              <a:rPr lang="en-US" altLang="zh-TW" dirty="0" smtClean="0"/>
              <a:t>The term “cloud” is often used as a metaphor for the Internet.</a:t>
            </a:r>
          </a:p>
          <a:p>
            <a:pPr lvl="1"/>
            <a:r>
              <a:rPr lang="en-US" altLang="zh-TW" dirty="0" smtClean="0"/>
              <a:t>A simplified way to represent the complicated operations in the network</a:t>
            </a:r>
          </a:p>
          <a:p>
            <a:r>
              <a:rPr lang="en-US" altLang="zh-TW" dirty="0" smtClean="0">
                <a:ea typeface="新細明體" pitchFamily="18" charset="-120"/>
              </a:rPr>
              <a:t>Currently, the term “cloud” is further used as an abstraction of complexities </a:t>
            </a:r>
          </a:p>
          <a:p>
            <a:pPr lvl="1"/>
            <a:r>
              <a:rPr lang="en-US" altLang="zh-TW" dirty="0" smtClean="0">
                <a:ea typeface="新細明體" pitchFamily="18" charset="-120"/>
              </a:rPr>
              <a:t>E.g., servers, applications, data, and heterogeneous platforms</a:t>
            </a:r>
          </a:p>
          <a:p>
            <a:endParaRPr lang="en-US" altLang="zh-TW" dirty="0" smtClean="0"/>
          </a:p>
          <a:p>
            <a:pPr lvl="1"/>
            <a:endParaRPr lang="en-US" altLang="zh-TW" dirty="0" smtClean="0"/>
          </a:p>
          <a:p>
            <a:endParaRPr lang="zh-TW" altLang="en-US" dirty="0"/>
          </a:p>
        </p:txBody>
      </p:sp>
      <p:grpSp>
        <p:nvGrpSpPr>
          <p:cNvPr id="11" name="群組 10"/>
          <p:cNvGrpSpPr/>
          <p:nvPr/>
        </p:nvGrpSpPr>
        <p:grpSpPr>
          <a:xfrm>
            <a:off x="2285746" y="3933056"/>
            <a:ext cx="4572508" cy="2808312"/>
            <a:chOff x="1835696" y="3212976"/>
            <a:chExt cx="5400600" cy="3672408"/>
          </a:xfrm>
        </p:grpSpPr>
        <p:pic>
          <p:nvPicPr>
            <p:cNvPr id="84994" name="Picture 2" descr="C:\Documents and Settings\5G\Local Settings\Temporary Internet Files\Content.IE5\O9YV8TA7\dglxasset[5].aspx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2488143" y="3356992"/>
              <a:ext cx="4167715" cy="3240360"/>
            </a:xfrm>
            <a:prstGeom prst="rect">
              <a:avLst/>
            </a:prstGeom>
            <a:noFill/>
          </p:spPr>
        </p:pic>
        <p:pic>
          <p:nvPicPr>
            <p:cNvPr id="84996" name="Picture 4" descr="C:\Documents and Settings\5G\Local Settings\Temporary Internet Files\Content.IE5\C9IV0LU7\MM900282845[1].gif"/>
            <p:cNvPicPr>
              <a:picLocks noChangeAspect="1" noChangeArrowheads="1" noCrop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5868144" y="3861048"/>
              <a:ext cx="1368152" cy="1100069"/>
            </a:xfrm>
            <a:prstGeom prst="rect">
              <a:avLst/>
            </a:prstGeom>
            <a:noFill/>
          </p:spPr>
        </p:pic>
        <p:pic>
          <p:nvPicPr>
            <p:cNvPr id="84997" name="Picture 5" descr="C:\Documents and Settings\5G\Local Settings\Temporary Internet Files\Content.IE5\4TUVSL27\MM900283842[2].gif"/>
            <p:cNvPicPr>
              <a:picLocks noChangeAspect="1" noChangeArrowheads="1" noCrop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5940152" y="5589240"/>
              <a:ext cx="864096" cy="1045277"/>
            </a:xfrm>
            <a:prstGeom prst="rect">
              <a:avLst/>
            </a:prstGeom>
            <a:noFill/>
          </p:spPr>
        </p:pic>
        <p:pic>
          <p:nvPicPr>
            <p:cNvPr id="84999" name="Picture 7" descr="C:\Documents and Settings\5G\Local Settings\Temporary Internet Files\Content.IE5\05I38XQJ\MM900234774[2].gif"/>
            <p:cNvPicPr>
              <a:picLocks noChangeAspect="1" noChangeArrowheads="1" noCrop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4074913" y="3212976"/>
              <a:ext cx="1001143" cy="1052049"/>
            </a:xfrm>
            <a:prstGeom prst="rect">
              <a:avLst/>
            </a:prstGeom>
            <a:noFill/>
          </p:spPr>
        </p:pic>
        <p:pic>
          <p:nvPicPr>
            <p:cNvPr id="85000" name="Picture 8" descr="C:\Documents and Settings\5G\Local Settings\Temporary Internet Files\Content.IE5\4TUVSL27\MM900283011[2].gif"/>
            <p:cNvPicPr>
              <a:picLocks noChangeAspect="1" noChangeArrowheads="1" noCrop="1"/>
            </p:cNvPicPr>
            <p:nvPr/>
          </p:nvPicPr>
          <p:blipFill>
            <a:blip r:embed="rId6" cstate="print"/>
            <a:srcRect/>
            <a:stretch>
              <a:fillRect/>
            </a:stretch>
          </p:blipFill>
          <p:spPr bwMode="auto">
            <a:xfrm>
              <a:off x="1835696" y="5733256"/>
              <a:ext cx="936104" cy="936104"/>
            </a:xfrm>
            <a:prstGeom prst="rect">
              <a:avLst/>
            </a:prstGeom>
            <a:noFill/>
          </p:spPr>
        </p:pic>
        <p:pic>
          <p:nvPicPr>
            <p:cNvPr id="85001" name="Picture 9" descr="C:\Documents and Settings\5G\Local Settings\Temporary Internet Files\Content.IE5\O9YV8TA7\MM900284002[2].gif"/>
            <p:cNvPicPr>
              <a:picLocks noChangeAspect="1" noChangeArrowheads="1" noCrop="1"/>
            </p:cNvPicPr>
            <p:nvPr/>
          </p:nvPicPr>
          <p:blipFill>
            <a:blip r:embed="rId7" cstate="print"/>
            <a:srcRect/>
            <a:stretch>
              <a:fillRect/>
            </a:stretch>
          </p:blipFill>
          <p:spPr bwMode="auto">
            <a:xfrm>
              <a:off x="4211960" y="5854443"/>
              <a:ext cx="1075765" cy="1030941"/>
            </a:xfrm>
            <a:prstGeom prst="rect">
              <a:avLst/>
            </a:prstGeom>
            <a:noFill/>
          </p:spPr>
        </p:pic>
        <p:pic>
          <p:nvPicPr>
            <p:cNvPr id="85006" name="Picture 14" descr="C:\Documents and Settings\5G\Local Settings\Temporary Internet Files\Content.IE5\05I38XQJ\MM900288920[2].gif"/>
            <p:cNvPicPr>
              <a:picLocks noChangeAspect="1" noChangeArrowheads="1" noCrop="1"/>
            </p:cNvPicPr>
            <p:nvPr/>
          </p:nvPicPr>
          <p:blipFill>
            <a:blip r:embed="rId8" cstate="print"/>
            <a:srcRect/>
            <a:stretch>
              <a:fillRect/>
            </a:stretch>
          </p:blipFill>
          <p:spPr bwMode="auto">
            <a:xfrm>
              <a:off x="1979712" y="3933056"/>
              <a:ext cx="936104" cy="936104"/>
            </a:xfrm>
            <a:prstGeom prst="rect">
              <a:avLst/>
            </a:prstGeom>
            <a:noFill/>
          </p:spPr>
        </p:pic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標題 13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 smtClean="0"/>
              <a:t>Cloud Computing – A New Paradigm</a:t>
            </a:r>
            <a:endParaRPr lang="zh-TW" altLang="en-US" dirty="0"/>
          </a:p>
        </p:txBody>
      </p:sp>
      <p:sp>
        <p:nvSpPr>
          <p:cNvPr id="134" name="內容版面配置區 133"/>
          <p:cNvSpPr>
            <a:spLocks noGrp="1"/>
          </p:cNvSpPr>
          <p:nvPr>
            <p:ph idx="1"/>
          </p:nvPr>
        </p:nvSpPr>
        <p:spPr>
          <a:xfrm>
            <a:off x="457200" y="1600200"/>
            <a:ext cx="8686800" cy="1828800"/>
          </a:xfrm>
        </p:spPr>
        <p:txBody>
          <a:bodyPr>
            <a:normAutofit fontScale="92500" lnSpcReduction="20000"/>
          </a:bodyPr>
          <a:lstStyle/>
          <a:p>
            <a:r>
              <a:rPr lang="en-US" altLang="zh-TW" dirty="0" smtClean="0"/>
              <a:t>An IT service delivered to users that provides:</a:t>
            </a:r>
          </a:p>
          <a:p>
            <a:pPr lvl="1"/>
            <a:r>
              <a:rPr lang="en-US" altLang="zh-TW" dirty="0" smtClean="0"/>
              <a:t>A simple user interface that automatically provisions IT resources</a:t>
            </a:r>
          </a:p>
          <a:p>
            <a:pPr lvl="1"/>
            <a:r>
              <a:rPr lang="en-US" altLang="zh-TW" dirty="0" smtClean="0"/>
              <a:t>Capacity on demand with massive scalability</a:t>
            </a:r>
          </a:p>
          <a:p>
            <a:pPr lvl="1"/>
            <a:r>
              <a:rPr lang="en-US" altLang="zh-TW" dirty="0" smtClean="0"/>
              <a:t>Innovative service delivery models for applications</a:t>
            </a:r>
            <a:endParaRPr lang="zh-TW" altLang="en-US" i="1" dirty="0">
              <a:solidFill>
                <a:srgbClr val="00B0F0"/>
              </a:solidFill>
            </a:endParaRPr>
          </a:p>
        </p:txBody>
      </p:sp>
      <p:sp>
        <p:nvSpPr>
          <p:cNvPr id="198" name="Line 3"/>
          <p:cNvSpPr>
            <a:spLocks noChangeShapeType="1"/>
          </p:cNvSpPr>
          <p:nvPr/>
        </p:nvSpPr>
        <p:spPr bwMode="auto">
          <a:xfrm>
            <a:off x="4787900" y="3460452"/>
            <a:ext cx="477838" cy="233363"/>
          </a:xfrm>
          <a:prstGeom prst="line">
            <a:avLst/>
          </a:prstGeom>
          <a:noFill/>
          <a:ln w="6350">
            <a:noFill/>
            <a:miter lim="800000"/>
            <a:headEnd/>
            <a:tailEnd type="triangle" w="med" len="med"/>
          </a:ln>
          <a:effectLst/>
        </p:spPr>
        <p:txBody>
          <a:bodyPr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99" name="Line 4"/>
          <p:cNvSpPr>
            <a:spLocks noChangeShapeType="1"/>
          </p:cNvSpPr>
          <p:nvPr/>
        </p:nvSpPr>
        <p:spPr bwMode="auto">
          <a:xfrm>
            <a:off x="2438400" y="4222452"/>
            <a:ext cx="0" cy="2362200"/>
          </a:xfrm>
          <a:prstGeom prst="line">
            <a:avLst/>
          </a:prstGeom>
          <a:noFill/>
          <a:ln w="38100">
            <a:solidFill>
              <a:srgbClr val="CCCCFF"/>
            </a:solidFill>
            <a:prstDash val="sysDot"/>
            <a:round/>
            <a:headEnd/>
            <a:tailEnd/>
          </a:ln>
          <a:effectLst/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00" name="Text Box 5"/>
          <p:cNvSpPr txBox="1">
            <a:spLocks noChangeArrowheads="1"/>
          </p:cNvSpPr>
          <p:nvPr/>
        </p:nvSpPr>
        <p:spPr bwMode="auto">
          <a:xfrm>
            <a:off x="573088" y="4937936"/>
            <a:ext cx="1636712" cy="91991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lIns="57582" tIns="28791" rIns="57582" bIns="28791">
            <a:spAutoFit/>
          </a:bodyPr>
          <a:lstStyle/>
          <a:p>
            <a:pPr marL="144463" indent="-144463" defTabSz="576263">
              <a:buClr>
                <a:schemeClr val="tx1"/>
              </a:buClr>
              <a:buFontTx/>
              <a:buChar char="•"/>
            </a:pPr>
            <a:r>
              <a:rPr lang="en-US" altLang="ja-JP" sz="1400" dirty="0">
                <a:solidFill>
                  <a:srgbClr val="000000"/>
                </a:solidFill>
                <a:ea typeface="MS Mincho" pitchFamily="49" charset="-128"/>
                <a:cs typeface="Tahoma" pitchFamily="34" charset="0"/>
              </a:rPr>
              <a:t>Solving large problems with parallel computing</a:t>
            </a:r>
            <a:r>
              <a:rPr lang="en-US" altLang="ja-JP" sz="1400" dirty="0">
                <a:solidFill>
                  <a:srgbClr val="000000"/>
                </a:solidFill>
                <a:ea typeface="MS PGothic" pitchFamily="34" charset="-128"/>
                <a:cs typeface="Tahoma" pitchFamily="34" charset="0"/>
              </a:rPr>
              <a:t> </a:t>
            </a:r>
          </a:p>
          <a:p>
            <a:pPr marL="144463" indent="-144463" defTabSz="576263">
              <a:buClr>
                <a:schemeClr val="tx1"/>
              </a:buClr>
              <a:buFontTx/>
              <a:buChar char="•"/>
            </a:pPr>
            <a:endParaRPr lang="en-US" altLang="ja-JP" sz="1400" dirty="0">
              <a:solidFill>
                <a:srgbClr val="000000"/>
              </a:solidFill>
              <a:ea typeface="MS PGothic" pitchFamily="34" charset="-128"/>
              <a:cs typeface="Tahoma" pitchFamily="34" charset="0"/>
            </a:endParaRPr>
          </a:p>
        </p:txBody>
      </p:sp>
      <p:sp>
        <p:nvSpPr>
          <p:cNvPr id="201" name="Text Box 6"/>
          <p:cNvSpPr txBox="1">
            <a:spLocks noChangeArrowheads="1"/>
          </p:cNvSpPr>
          <p:nvPr/>
        </p:nvSpPr>
        <p:spPr bwMode="auto">
          <a:xfrm>
            <a:off x="5029200" y="4391836"/>
            <a:ext cx="1524000" cy="91991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lIns="57582" tIns="28791" rIns="57582" bIns="28791">
            <a:spAutoFit/>
          </a:bodyPr>
          <a:lstStyle/>
          <a:p>
            <a:pPr marL="144463" indent="-144463" defTabSz="576263" eaLnBrk="0" hangingPunct="0">
              <a:buClr>
                <a:schemeClr val="tx1"/>
              </a:buClr>
              <a:buFontTx/>
              <a:buChar char="•"/>
            </a:pPr>
            <a:r>
              <a:rPr lang="en-US" altLang="zh-TW" sz="1400" dirty="0">
                <a:solidFill>
                  <a:srgbClr val="000000"/>
                </a:solidFill>
                <a:ea typeface="MS Mincho" pitchFamily="49" charset="-128"/>
                <a:cs typeface="Tahoma" pitchFamily="34" charset="0"/>
              </a:rPr>
              <a:t>Network-based subscriptions to applications</a:t>
            </a:r>
          </a:p>
          <a:p>
            <a:pPr marL="144463" indent="-144463" defTabSz="576263" eaLnBrk="0" hangingPunct="0">
              <a:buClr>
                <a:schemeClr val="tx1"/>
              </a:buClr>
              <a:buFontTx/>
              <a:buChar char="•"/>
            </a:pPr>
            <a:endParaRPr lang="zh-TW" altLang="en-US" sz="1400" dirty="0">
              <a:solidFill>
                <a:srgbClr val="000000"/>
              </a:solidFill>
              <a:ea typeface="MS Mincho" pitchFamily="49" charset="-128"/>
              <a:cs typeface="Tahoma" pitchFamily="34" charset="0"/>
            </a:endParaRPr>
          </a:p>
        </p:txBody>
      </p:sp>
      <p:sp>
        <p:nvSpPr>
          <p:cNvPr id="202" name="Line 7"/>
          <p:cNvSpPr>
            <a:spLocks noChangeShapeType="1"/>
          </p:cNvSpPr>
          <p:nvPr/>
        </p:nvSpPr>
        <p:spPr bwMode="auto">
          <a:xfrm>
            <a:off x="6858000" y="3536652"/>
            <a:ext cx="0" cy="3048000"/>
          </a:xfrm>
          <a:prstGeom prst="line">
            <a:avLst/>
          </a:prstGeom>
          <a:noFill/>
          <a:ln w="38100">
            <a:solidFill>
              <a:srgbClr val="CCCCFF"/>
            </a:solidFill>
            <a:prstDash val="sysDot"/>
            <a:round/>
            <a:headEnd/>
            <a:tailEnd/>
          </a:ln>
          <a:effectLst/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03" name="Text Box 8"/>
          <p:cNvSpPr txBox="1">
            <a:spLocks noChangeArrowheads="1"/>
          </p:cNvSpPr>
          <p:nvPr/>
        </p:nvSpPr>
        <p:spPr bwMode="auto">
          <a:xfrm>
            <a:off x="152400" y="4089102"/>
            <a:ext cx="679450" cy="3619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57582" tIns="28791" rIns="57582" bIns="28791">
            <a:spAutoFit/>
          </a:bodyPr>
          <a:lstStyle/>
          <a:p>
            <a:pPr defTabSz="576263" eaLnBrk="0" hangingPunct="0">
              <a:buClr>
                <a:srgbClr val="2F4F88"/>
              </a:buClr>
              <a:buFont typeface="Wingdings" pitchFamily="2" charset="2"/>
              <a:buNone/>
            </a:pPr>
            <a:r>
              <a:rPr lang="en-US" altLang="zh-TW" sz="2000" b="1" dirty="0">
                <a:solidFill>
                  <a:srgbClr val="000000"/>
                </a:solidFill>
                <a:ea typeface="MS PGothic" pitchFamily="34" charset="-128"/>
                <a:cs typeface="Tahoma" pitchFamily="34" charset="0"/>
              </a:rPr>
              <a:t>1990</a:t>
            </a:r>
          </a:p>
        </p:txBody>
      </p:sp>
      <p:sp>
        <p:nvSpPr>
          <p:cNvPr id="204" name="Text Box 10"/>
          <p:cNvSpPr txBox="1">
            <a:spLocks noChangeArrowheads="1"/>
          </p:cNvSpPr>
          <p:nvPr/>
        </p:nvSpPr>
        <p:spPr bwMode="auto">
          <a:xfrm>
            <a:off x="2743200" y="4709336"/>
            <a:ext cx="1905000" cy="91991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lIns="57582" tIns="28791" rIns="57582" bIns="28791">
            <a:spAutoFit/>
          </a:bodyPr>
          <a:lstStyle/>
          <a:p>
            <a:pPr marL="144463" indent="-144463" defTabSz="576263">
              <a:buClr>
                <a:schemeClr val="tx1"/>
              </a:buClr>
              <a:buFontTx/>
              <a:buChar char="•"/>
            </a:pPr>
            <a:r>
              <a:rPr lang="en-US" altLang="ja-JP" sz="1400" dirty="0">
                <a:solidFill>
                  <a:srgbClr val="000000"/>
                </a:solidFill>
                <a:ea typeface="MS Mincho" pitchFamily="49" charset="-128"/>
                <a:cs typeface="Tahoma" pitchFamily="34" charset="0"/>
              </a:rPr>
              <a:t>Offering computing resources as a metered service</a:t>
            </a:r>
            <a:r>
              <a:rPr lang="en-US" altLang="ja-JP" sz="1400" dirty="0">
                <a:solidFill>
                  <a:srgbClr val="000000"/>
                </a:solidFill>
                <a:ea typeface="MS PGothic" pitchFamily="34" charset="-128"/>
                <a:cs typeface="Tahoma" pitchFamily="34" charset="0"/>
              </a:rPr>
              <a:t> </a:t>
            </a:r>
          </a:p>
          <a:p>
            <a:pPr marL="144463" indent="-144463" defTabSz="576263">
              <a:buClr>
                <a:schemeClr val="tx1"/>
              </a:buClr>
              <a:buFontTx/>
              <a:buChar char="•"/>
            </a:pPr>
            <a:endParaRPr lang="en-US" altLang="ja-JP" sz="1400" dirty="0">
              <a:solidFill>
                <a:srgbClr val="000000"/>
              </a:solidFill>
              <a:ea typeface="MS PGothic" pitchFamily="34" charset="-128"/>
              <a:cs typeface="Tahoma" pitchFamily="34" charset="0"/>
            </a:endParaRPr>
          </a:p>
        </p:txBody>
      </p:sp>
      <p:grpSp>
        <p:nvGrpSpPr>
          <p:cNvPr id="2" name="Group 11"/>
          <p:cNvGrpSpPr>
            <a:grpSpLocks/>
          </p:cNvGrpSpPr>
          <p:nvPr/>
        </p:nvGrpSpPr>
        <p:grpSpPr bwMode="auto">
          <a:xfrm>
            <a:off x="7162800" y="5609927"/>
            <a:ext cx="1447800" cy="898525"/>
            <a:chOff x="4361" y="2468"/>
            <a:chExt cx="1416" cy="1040"/>
          </a:xfrm>
        </p:grpSpPr>
        <p:sp>
          <p:nvSpPr>
            <p:cNvPr id="206" name="Cloud"/>
            <p:cNvSpPr>
              <a:spLocks noChangeAspect="1" noEditPoints="1" noChangeArrowheads="1"/>
            </p:cNvSpPr>
            <p:nvPr/>
          </p:nvSpPr>
          <p:spPr bwMode="auto">
            <a:xfrm rot="180039">
              <a:off x="4361" y="2468"/>
              <a:ext cx="1416" cy="1040"/>
            </a:xfrm>
            <a:custGeom>
              <a:avLst/>
              <a:gdLst>
                <a:gd name="T0" fmla="*/ 67 w 21600"/>
                <a:gd name="T1" fmla="*/ 10800 h 21600"/>
                <a:gd name="T2" fmla="*/ 10800 w 21600"/>
                <a:gd name="T3" fmla="*/ 21577 h 21600"/>
                <a:gd name="T4" fmla="*/ 21582 w 21600"/>
                <a:gd name="T5" fmla="*/ 10800 h 21600"/>
                <a:gd name="T6" fmla="*/ 10800 w 21600"/>
                <a:gd name="T7" fmla="*/ 1235 h 21600"/>
                <a:gd name="T8" fmla="*/ 2977 w 21600"/>
                <a:gd name="T9" fmla="*/ 3262 h 21600"/>
                <a:gd name="T10" fmla="*/ 17087 w 21600"/>
                <a:gd name="T11" fmla="*/ 17337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T8" t="T9" r="T10" b="T11"/>
              <a:pathLst>
                <a:path w="21600" h="21600" extrusionOk="0">
                  <a:moveTo>
                    <a:pt x="1949" y="7180"/>
                  </a:moveTo>
                  <a:cubicBezTo>
                    <a:pt x="841" y="7336"/>
                    <a:pt x="0" y="8613"/>
                    <a:pt x="0" y="10137"/>
                  </a:cubicBezTo>
                  <a:cubicBezTo>
                    <a:pt x="-1" y="11192"/>
                    <a:pt x="409" y="12169"/>
                    <a:pt x="1074" y="12702"/>
                  </a:cubicBezTo>
                  <a:lnTo>
                    <a:pt x="1063" y="12668"/>
                  </a:lnTo>
                  <a:cubicBezTo>
                    <a:pt x="685" y="13217"/>
                    <a:pt x="475" y="13940"/>
                    <a:pt x="475" y="14690"/>
                  </a:cubicBezTo>
                  <a:cubicBezTo>
                    <a:pt x="475" y="16325"/>
                    <a:pt x="1451" y="17650"/>
                    <a:pt x="2655" y="17650"/>
                  </a:cubicBezTo>
                  <a:cubicBezTo>
                    <a:pt x="2739" y="17650"/>
                    <a:pt x="2824" y="17643"/>
                    <a:pt x="2909" y="17629"/>
                  </a:cubicBezTo>
                  <a:lnTo>
                    <a:pt x="2897" y="17649"/>
                  </a:lnTo>
                  <a:cubicBezTo>
                    <a:pt x="3585" y="19288"/>
                    <a:pt x="4863" y="20300"/>
                    <a:pt x="6247" y="20300"/>
                  </a:cubicBezTo>
                  <a:cubicBezTo>
                    <a:pt x="6947" y="20299"/>
                    <a:pt x="7635" y="20039"/>
                    <a:pt x="8235" y="19546"/>
                  </a:cubicBezTo>
                  <a:lnTo>
                    <a:pt x="8229" y="19550"/>
                  </a:lnTo>
                  <a:cubicBezTo>
                    <a:pt x="8855" y="20829"/>
                    <a:pt x="9908" y="21597"/>
                    <a:pt x="11036" y="21597"/>
                  </a:cubicBezTo>
                  <a:cubicBezTo>
                    <a:pt x="12523" y="21596"/>
                    <a:pt x="13836" y="20267"/>
                    <a:pt x="14267" y="18324"/>
                  </a:cubicBezTo>
                  <a:lnTo>
                    <a:pt x="14270" y="18350"/>
                  </a:lnTo>
                  <a:cubicBezTo>
                    <a:pt x="14730" y="18740"/>
                    <a:pt x="15260" y="18947"/>
                    <a:pt x="15802" y="18947"/>
                  </a:cubicBezTo>
                  <a:cubicBezTo>
                    <a:pt x="17390" y="18946"/>
                    <a:pt x="18682" y="17205"/>
                    <a:pt x="18694" y="15045"/>
                  </a:cubicBezTo>
                  <a:lnTo>
                    <a:pt x="18689" y="15035"/>
                  </a:lnTo>
                  <a:cubicBezTo>
                    <a:pt x="20357" y="14710"/>
                    <a:pt x="21597" y="12765"/>
                    <a:pt x="21597" y="10472"/>
                  </a:cubicBezTo>
                  <a:cubicBezTo>
                    <a:pt x="21597" y="9456"/>
                    <a:pt x="21350" y="8469"/>
                    <a:pt x="20896" y="7663"/>
                  </a:cubicBezTo>
                  <a:lnTo>
                    <a:pt x="20889" y="7661"/>
                  </a:lnTo>
                  <a:cubicBezTo>
                    <a:pt x="21031" y="7208"/>
                    <a:pt x="21105" y="6721"/>
                    <a:pt x="21105" y="6228"/>
                  </a:cubicBezTo>
                  <a:cubicBezTo>
                    <a:pt x="21105" y="4588"/>
                    <a:pt x="20299" y="3150"/>
                    <a:pt x="19139" y="2719"/>
                  </a:cubicBezTo>
                  <a:lnTo>
                    <a:pt x="19148" y="2712"/>
                  </a:lnTo>
                  <a:cubicBezTo>
                    <a:pt x="18940" y="1142"/>
                    <a:pt x="17933" y="0"/>
                    <a:pt x="16758" y="0"/>
                  </a:cubicBezTo>
                  <a:cubicBezTo>
                    <a:pt x="16044" y="-1"/>
                    <a:pt x="15367" y="426"/>
                    <a:pt x="14905" y="1165"/>
                  </a:cubicBezTo>
                  <a:lnTo>
                    <a:pt x="14909" y="1170"/>
                  </a:lnTo>
                  <a:cubicBezTo>
                    <a:pt x="14497" y="432"/>
                    <a:pt x="13855" y="0"/>
                    <a:pt x="13174" y="0"/>
                  </a:cubicBezTo>
                  <a:cubicBezTo>
                    <a:pt x="12347" y="-1"/>
                    <a:pt x="11590" y="637"/>
                    <a:pt x="11221" y="1645"/>
                  </a:cubicBezTo>
                  <a:lnTo>
                    <a:pt x="11229" y="1694"/>
                  </a:lnTo>
                  <a:cubicBezTo>
                    <a:pt x="10730" y="1024"/>
                    <a:pt x="10058" y="650"/>
                    <a:pt x="9358" y="650"/>
                  </a:cubicBezTo>
                  <a:cubicBezTo>
                    <a:pt x="8372" y="649"/>
                    <a:pt x="7466" y="1391"/>
                    <a:pt x="7003" y="2578"/>
                  </a:cubicBezTo>
                  <a:lnTo>
                    <a:pt x="6995" y="2602"/>
                  </a:lnTo>
                  <a:cubicBezTo>
                    <a:pt x="6477" y="2189"/>
                    <a:pt x="5888" y="1972"/>
                    <a:pt x="5288" y="1972"/>
                  </a:cubicBezTo>
                  <a:cubicBezTo>
                    <a:pt x="3423" y="1972"/>
                    <a:pt x="1912" y="4029"/>
                    <a:pt x="1912" y="6567"/>
                  </a:cubicBezTo>
                  <a:cubicBezTo>
                    <a:pt x="1911" y="6774"/>
                    <a:pt x="1922" y="6981"/>
                    <a:pt x="1942" y="7186"/>
                  </a:cubicBezTo>
                  <a:close/>
                </a:path>
                <a:path w="21600" h="21600" fill="none" extrusionOk="0">
                  <a:moveTo>
                    <a:pt x="1074" y="12702"/>
                  </a:moveTo>
                  <a:cubicBezTo>
                    <a:pt x="1407" y="12969"/>
                    <a:pt x="1786" y="13110"/>
                    <a:pt x="2172" y="13110"/>
                  </a:cubicBezTo>
                  <a:cubicBezTo>
                    <a:pt x="2228" y="13109"/>
                    <a:pt x="2285" y="13107"/>
                    <a:pt x="2341" y="13101"/>
                  </a:cubicBezTo>
                </a:path>
                <a:path w="21600" h="21600" fill="none" extrusionOk="0">
                  <a:moveTo>
                    <a:pt x="2909" y="17629"/>
                  </a:moveTo>
                  <a:cubicBezTo>
                    <a:pt x="3099" y="17599"/>
                    <a:pt x="3285" y="17535"/>
                    <a:pt x="3463" y="17439"/>
                  </a:cubicBezTo>
                </a:path>
                <a:path w="21600" h="21600" fill="none" extrusionOk="0">
                  <a:moveTo>
                    <a:pt x="7895" y="18680"/>
                  </a:moveTo>
                  <a:cubicBezTo>
                    <a:pt x="7983" y="18985"/>
                    <a:pt x="8095" y="19277"/>
                    <a:pt x="8229" y="19550"/>
                  </a:cubicBezTo>
                </a:path>
                <a:path w="21600" h="21600" fill="none" extrusionOk="0">
                  <a:moveTo>
                    <a:pt x="14267" y="18324"/>
                  </a:moveTo>
                  <a:cubicBezTo>
                    <a:pt x="14336" y="18013"/>
                    <a:pt x="14380" y="17693"/>
                    <a:pt x="14400" y="17370"/>
                  </a:cubicBezTo>
                </a:path>
                <a:path w="21600" h="21600" fill="none" extrusionOk="0">
                  <a:moveTo>
                    <a:pt x="18694" y="15045"/>
                  </a:moveTo>
                  <a:cubicBezTo>
                    <a:pt x="18694" y="15034"/>
                    <a:pt x="18695" y="15024"/>
                    <a:pt x="18695" y="15013"/>
                  </a:cubicBezTo>
                  <a:cubicBezTo>
                    <a:pt x="18695" y="13508"/>
                    <a:pt x="18063" y="12136"/>
                    <a:pt x="17069" y="11477"/>
                  </a:cubicBezTo>
                </a:path>
                <a:path w="21600" h="21600" fill="none" extrusionOk="0">
                  <a:moveTo>
                    <a:pt x="20165" y="8999"/>
                  </a:moveTo>
                  <a:cubicBezTo>
                    <a:pt x="20479" y="8635"/>
                    <a:pt x="20726" y="8177"/>
                    <a:pt x="20889" y="7661"/>
                  </a:cubicBezTo>
                </a:path>
                <a:path w="21600" h="21600" fill="none" extrusionOk="0">
                  <a:moveTo>
                    <a:pt x="19186" y="3344"/>
                  </a:moveTo>
                  <a:cubicBezTo>
                    <a:pt x="19186" y="3328"/>
                    <a:pt x="19187" y="3313"/>
                    <a:pt x="19187" y="3297"/>
                  </a:cubicBezTo>
                  <a:cubicBezTo>
                    <a:pt x="19187" y="3101"/>
                    <a:pt x="19174" y="2905"/>
                    <a:pt x="19148" y="2712"/>
                  </a:cubicBezTo>
                </a:path>
                <a:path w="21600" h="21600" fill="none" extrusionOk="0">
                  <a:moveTo>
                    <a:pt x="14905" y="1165"/>
                  </a:moveTo>
                  <a:cubicBezTo>
                    <a:pt x="14754" y="1408"/>
                    <a:pt x="14629" y="1679"/>
                    <a:pt x="14535" y="1971"/>
                  </a:cubicBezTo>
                </a:path>
                <a:path w="21600" h="21600" fill="none" extrusionOk="0">
                  <a:moveTo>
                    <a:pt x="11221" y="1645"/>
                  </a:moveTo>
                  <a:cubicBezTo>
                    <a:pt x="11140" y="1866"/>
                    <a:pt x="11080" y="2099"/>
                    <a:pt x="11041" y="2340"/>
                  </a:cubicBezTo>
                </a:path>
                <a:path w="21600" h="21600" fill="none" extrusionOk="0">
                  <a:moveTo>
                    <a:pt x="7645" y="3276"/>
                  </a:moveTo>
                  <a:cubicBezTo>
                    <a:pt x="7449" y="3016"/>
                    <a:pt x="7231" y="2790"/>
                    <a:pt x="6995" y="2602"/>
                  </a:cubicBezTo>
                </a:path>
                <a:path w="21600" h="21600" fill="none" extrusionOk="0">
                  <a:moveTo>
                    <a:pt x="1942" y="7186"/>
                  </a:moveTo>
                  <a:cubicBezTo>
                    <a:pt x="1966" y="7426"/>
                    <a:pt x="2004" y="7663"/>
                    <a:pt x="2056" y="7895"/>
                  </a:cubicBezTo>
                </a:path>
              </a:pathLst>
            </a:custGeom>
            <a:solidFill>
              <a:srgbClr val="C0C0C0">
                <a:alpha val="80000"/>
              </a:srgbClr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>
              <a:outerShdw dist="107763" dir="2700000" algn="ctr" rotWithShape="0">
                <a:srgbClr val="0B3767">
                  <a:alpha val="50000"/>
                </a:srgbClr>
              </a:outerShdw>
            </a:effectLst>
          </p:spPr>
          <p:txBody>
            <a:bodyPr lIns="57582" tIns="28791" rIns="57582" bIns="28791"/>
            <a:lstStyle/>
            <a:p>
              <a:pPr marL="0" marR="0" lvl="0" indent="0" defTabSz="576263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300" b="1" i="1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pic>
          <p:nvPicPr>
            <p:cNvPr id="207" name="Picture 13" descr="MCj04352420000[1]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 rot="180039">
              <a:off x="4609" y="2639"/>
              <a:ext cx="100" cy="281"/>
            </a:xfrm>
            <a:prstGeom prst="rect">
              <a:avLst/>
            </a:prstGeom>
            <a:noFill/>
          </p:spPr>
        </p:pic>
        <p:pic>
          <p:nvPicPr>
            <p:cNvPr id="208" name="Picture 14" descr="MCj04352420000[1]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 rot="180039">
              <a:off x="4910" y="2601"/>
              <a:ext cx="99" cy="281"/>
            </a:xfrm>
            <a:prstGeom prst="rect">
              <a:avLst/>
            </a:prstGeom>
            <a:noFill/>
          </p:spPr>
        </p:pic>
        <p:pic>
          <p:nvPicPr>
            <p:cNvPr id="209" name="Picture 15" descr="MCj04352420000[1]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 rot="180039">
              <a:off x="5372" y="3053"/>
              <a:ext cx="100" cy="280"/>
            </a:xfrm>
            <a:prstGeom prst="rect">
              <a:avLst/>
            </a:prstGeom>
            <a:noFill/>
          </p:spPr>
        </p:pic>
        <p:pic>
          <p:nvPicPr>
            <p:cNvPr id="210" name="Picture 16" descr="MCj04352420000[1]"/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 rot="180039">
              <a:off x="5471" y="2843"/>
              <a:ext cx="99" cy="282"/>
            </a:xfrm>
            <a:prstGeom prst="rect">
              <a:avLst/>
            </a:prstGeom>
            <a:noFill/>
          </p:spPr>
        </p:pic>
        <p:sp>
          <p:nvSpPr>
            <p:cNvPr id="211" name="Line 17"/>
            <p:cNvSpPr>
              <a:spLocks noChangeShapeType="1"/>
            </p:cNvSpPr>
            <p:nvPr/>
          </p:nvSpPr>
          <p:spPr bwMode="auto">
            <a:xfrm rot="180039" flipV="1">
              <a:off x="4830" y="2766"/>
              <a:ext cx="411" cy="146"/>
            </a:xfrm>
            <a:prstGeom prst="line">
              <a:avLst/>
            </a:prstGeom>
            <a:noFill/>
            <a:ln w="9525">
              <a:solidFill>
                <a:srgbClr val="3333CC"/>
              </a:solidFill>
              <a:prstDash val="dash"/>
              <a:round/>
              <a:headEnd/>
              <a:tailEnd/>
            </a:ln>
            <a:effectLst/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12" name="Line 18"/>
            <p:cNvSpPr>
              <a:spLocks noChangeShapeType="1"/>
            </p:cNvSpPr>
            <p:nvPr/>
          </p:nvSpPr>
          <p:spPr bwMode="auto">
            <a:xfrm rot="180039" flipH="1">
              <a:off x="4712" y="2858"/>
              <a:ext cx="75" cy="161"/>
            </a:xfrm>
            <a:prstGeom prst="line">
              <a:avLst/>
            </a:prstGeom>
            <a:noFill/>
            <a:ln w="9525">
              <a:solidFill>
                <a:srgbClr val="3333CC"/>
              </a:solidFill>
              <a:prstDash val="dash"/>
              <a:round/>
              <a:headEnd/>
              <a:tailEnd/>
            </a:ln>
            <a:effectLst/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13" name="Line 19"/>
            <p:cNvSpPr>
              <a:spLocks noChangeShapeType="1"/>
            </p:cNvSpPr>
            <p:nvPr/>
          </p:nvSpPr>
          <p:spPr bwMode="auto">
            <a:xfrm rot="180039">
              <a:off x="5031" y="3251"/>
              <a:ext cx="187" cy="54"/>
            </a:xfrm>
            <a:prstGeom prst="line">
              <a:avLst/>
            </a:prstGeom>
            <a:noFill/>
            <a:ln w="9525">
              <a:solidFill>
                <a:srgbClr val="3333CC"/>
              </a:solidFill>
              <a:prstDash val="dash"/>
              <a:round/>
              <a:headEnd/>
              <a:tailEnd/>
            </a:ln>
            <a:effectLst/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14" name="Line 20"/>
            <p:cNvSpPr>
              <a:spLocks noChangeShapeType="1"/>
            </p:cNvSpPr>
            <p:nvPr/>
          </p:nvSpPr>
          <p:spPr bwMode="auto">
            <a:xfrm rot="180039">
              <a:off x="4976" y="2819"/>
              <a:ext cx="112" cy="201"/>
            </a:xfrm>
            <a:prstGeom prst="line">
              <a:avLst/>
            </a:prstGeom>
            <a:noFill/>
            <a:ln w="9525">
              <a:solidFill>
                <a:srgbClr val="3333CC"/>
              </a:solidFill>
              <a:prstDash val="dash"/>
              <a:round/>
              <a:headEnd/>
              <a:tailEnd/>
            </a:ln>
            <a:effectLst/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15" name="Line 21"/>
            <p:cNvSpPr>
              <a:spLocks noChangeShapeType="1"/>
            </p:cNvSpPr>
            <p:nvPr/>
          </p:nvSpPr>
          <p:spPr bwMode="auto">
            <a:xfrm rot="180039" flipV="1">
              <a:off x="5194" y="3030"/>
              <a:ext cx="74" cy="0"/>
            </a:xfrm>
            <a:prstGeom prst="line">
              <a:avLst/>
            </a:prstGeom>
            <a:noFill/>
            <a:ln w="9525">
              <a:solidFill>
                <a:srgbClr val="3333CC"/>
              </a:solidFill>
              <a:prstDash val="dash"/>
              <a:round/>
              <a:headEnd/>
              <a:tailEnd/>
            </a:ln>
            <a:effectLst/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16" name="Line 22"/>
            <p:cNvSpPr>
              <a:spLocks noChangeShapeType="1"/>
            </p:cNvSpPr>
            <p:nvPr/>
          </p:nvSpPr>
          <p:spPr bwMode="auto">
            <a:xfrm rot="180039" flipV="1">
              <a:off x="5258" y="3155"/>
              <a:ext cx="112" cy="147"/>
            </a:xfrm>
            <a:prstGeom prst="line">
              <a:avLst/>
            </a:prstGeom>
            <a:noFill/>
            <a:ln w="9525">
              <a:solidFill>
                <a:srgbClr val="3333CC"/>
              </a:solidFill>
              <a:prstDash val="dash"/>
              <a:round/>
              <a:headEnd/>
              <a:tailEnd/>
            </a:ln>
            <a:effectLst/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17" name="Line 23"/>
            <p:cNvSpPr>
              <a:spLocks noChangeShapeType="1"/>
            </p:cNvSpPr>
            <p:nvPr/>
          </p:nvSpPr>
          <p:spPr bwMode="auto">
            <a:xfrm rot="180039">
              <a:off x="5319" y="2769"/>
              <a:ext cx="149" cy="54"/>
            </a:xfrm>
            <a:prstGeom prst="line">
              <a:avLst/>
            </a:prstGeom>
            <a:noFill/>
            <a:ln w="9525">
              <a:solidFill>
                <a:srgbClr val="3333CC"/>
              </a:solidFill>
              <a:prstDash val="dash"/>
              <a:round/>
              <a:headEnd/>
              <a:tailEnd/>
            </a:ln>
            <a:effectLst/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18" name="Line 24"/>
            <p:cNvSpPr>
              <a:spLocks noChangeShapeType="1"/>
            </p:cNvSpPr>
            <p:nvPr/>
          </p:nvSpPr>
          <p:spPr bwMode="auto">
            <a:xfrm rot="180039" flipV="1">
              <a:off x="4985" y="2703"/>
              <a:ext cx="261" cy="106"/>
            </a:xfrm>
            <a:prstGeom prst="line">
              <a:avLst/>
            </a:prstGeom>
            <a:noFill/>
            <a:ln w="9525">
              <a:solidFill>
                <a:srgbClr val="3333CC"/>
              </a:solidFill>
              <a:prstDash val="dash"/>
              <a:round/>
              <a:headEnd/>
              <a:tailEnd/>
            </a:ln>
            <a:effectLst/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19" name="Line 25"/>
            <p:cNvSpPr>
              <a:spLocks noChangeShapeType="1"/>
            </p:cNvSpPr>
            <p:nvPr/>
          </p:nvSpPr>
          <p:spPr bwMode="auto">
            <a:xfrm rot="180039" flipV="1">
              <a:off x="5347" y="2931"/>
              <a:ext cx="112" cy="54"/>
            </a:xfrm>
            <a:prstGeom prst="line">
              <a:avLst/>
            </a:prstGeom>
            <a:noFill/>
            <a:ln w="9525">
              <a:solidFill>
                <a:srgbClr val="3333CC"/>
              </a:solidFill>
              <a:prstDash val="dash"/>
              <a:round/>
              <a:headEnd/>
              <a:tailEnd/>
            </a:ln>
            <a:effectLst/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20" name="Line 26"/>
            <p:cNvSpPr>
              <a:spLocks noChangeShapeType="1"/>
            </p:cNvSpPr>
            <p:nvPr/>
          </p:nvSpPr>
          <p:spPr bwMode="auto">
            <a:xfrm rot="180039" flipV="1">
              <a:off x="5163" y="2872"/>
              <a:ext cx="299" cy="67"/>
            </a:xfrm>
            <a:prstGeom prst="line">
              <a:avLst/>
            </a:prstGeom>
            <a:noFill/>
            <a:ln w="9525">
              <a:solidFill>
                <a:srgbClr val="3333CC"/>
              </a:solidFill>
              <a:prstDash val="dash"/>
              <a:round/>
              <a:headEnd/>
              <a:tailEnd/>
            </a:ln>
            <a:effectLst/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21" name="Line 27"/>
            <p:cNvSpPr>
              <a:spLocks noChangeShapeType="1"/>
            </p:cNvSpPr>
            <p:nvPr/>
          </p:nvSpPr>
          <p:spPr bwMode="auto">
            <a:xfrm rot="180039" flipV="1">
              <a:off x="5267" y="2930"/>
              <a:ext cx="224" cy="268"/>
            </a:xfrm>
            <a:prstGeom prst="line">
              <a:avLst/>
            </a:prstGeom>
            <a:noFill/>
            <a:ln w="9525">
              <a:solidFill>
                <a:srgbClr val="3333CC"/>
              </a:solidFill>
              <a:prstDash val="dash"/>
              <a:round/>
              <a:headEnd/>
              <a:tailEnd/>
            </a:ln>
            <a:effectLst/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22" name="Line 28"/>
            <p:cNvSpPr>
              <a:spLocks noChangeShapeType="1"/>
            </p:cNvSpPr>
            <p:nvPr/>
          </p:nvSpPr>
          <p:spPr bwMode="auto">
            <a:xfrm rot="180039">
              <a:off x="4781" y="2958"/>
              <a:ext cx="149" cy="214"/>
            </a:xfrm>
            <a:prstGeom prst="line">
              <a:avLst/>
            </a:prstGeom>
            <a:noFill/>
            <a:ln w="9525">
              <a:solidFill>
                <a:srgbClr val="3333CC"/>
              </a:solidFill>
              <a:prstDash val="dash"/>
              <a:round/>
              <a:headEnd/>
              <a:tailEnd/>
            </a:ln>
            <a:effectLst/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23" name="Line 29"/>
            <p:cNvSpPr>
              <a:spLocks noChangeShapeType="1"/>
            </p:cNvSpPr>
            <p:nvPr/>
          </p:nvSpPr>
          <p:spPr bwMode="auto">
            <a:xfrm rot="180039">
              <a:off x="4817" y="2924"/>
              <a:ext cx="374" cy="320"/>
            </a:xfrm>
            <a:prstGeom prst="line">
              <a:avLst/>
            </a:prstGeom>
            <a:noFill/>
            <a:ln w="9525">
              <a:solidFill>
                <a:srgbClr val="3333CC"/>
              </a:solidFill>
              <a:prstDash val="dash"/>
              <a:round/>
              <a:headEnd/>
              <a:tailEnd/>
            </a:ln>
            <a:effectLst/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24" name="Line 30"/>
            <p:cNvSpPr>
              <a:spLocks noChangeShapeType="1"/>
            </p:cNvSpPr>
            <p:nvPr/>
          </p:nvSpPr>
          <p:spPr bwMode="auto">
            <a:xfrm rot="180039" flipV="1">
              <a:off x="4816" y="3015"/>
              <a:ext cx="262" cy="161"/>
            </a:xfrm>
            <a:prstGeom prst="line">
              <a:avLst/>
            </a:prstGeom>
            <a:noFill/>
            <a:ln w="9525">
              <a:solidFill>
                <a:srgbClr val="3333CC"/>
              </a:solidFill>
              <a:prstDash val="dash"/>
              <a:round/>
              <a:headEnd/>
              <a:tailEnd/>
            </a:ln>
            <a:effectLst/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25" name="Line 31"/>
            <p:cNvSpPr>
              <a:spLocks noChangeShapeType="1"/>
            </p:cNvSpPr>
            <p:nvPr/>
          </p:nvSpPr>
          <p:spPr bwMode="auto">
            <a:xfrm rot="180039">
              <a:off x="4981" y="2717"/>
              <a:ext cx="261" cy="199"/>
            </a:xfrm>
            <a:prstGeom prst="line">
              <a:avLst/>
            </a:prstGeom>
            <a:noFill/>
            <a:ln w="9525">
              <a:solidFill>
                <a:srgbClr val="3333CC"/>
              </a:solidFill>
              <a:prstDash val="dash"/>
              <a:round/>
              <a:headEnd/>
              <a:tailEnd/>
            </a:ln>
            <a:effectLst/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26" name="Line 32"/>
            <p:cNvSpPr>
              <a:spLocks noChangeShapeType="1"/>
            </p:cNvSpPr>
            <p:nvPr/>
          </p:nvSpPr>
          <p:spPr bwMode="auto">
            <a:xfrm rot="180039">
              <a:off x="5151" y="3085"/>
              <a:ext cx="224" cy="67"/>
            </a:xfrm>
            <a:prstGeom prst="line">
              <a:avLst/>
            </a:prstGeom>
            <a:noFill/>
            <a:ln w="9525">
              <a:solidFill>
                <a:srgbClr val="3333CC"/>
              </a:solidFill>
              <a:prstDash val="dash"/>
              <a:round/>
              <a:headEnd/>
              <a:tailEnd/>
            </a:ln>
            <a:effectLst/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27" name="Line 33"/>
            <p:cNvSpPr>
              <a:spLocks noChangeShapeType="1"/>
            </p:cNvSpPr>
            <p:nvPr/>
          </p:nvSpPr>
          <p:spPr bwMode="auto">
            <a:xfrm rot="180039" flipV="1">
              <a:off x="5313" y="2872"/>
              <a:ext cx="0" cy="67"/>
            </a:xfrm>
            <a:prstGeom prst="line">
              <a:avLst/>
            </a:prstGeom>
            <a:noFill/>
            <a:ln w="9525">
              <a:solidFill>
                <a:srgbClr val="3333CC"/>
              </a:solidFill>
              <a:prstDash val="dash"/>
              <a:round/>
              <a:headEnd/>
              <a:tailEnd/>
            </a:ln>
            <a:effectLst/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28" name="Line 34"/>
            <p:cNvSpPr>
              <a:spLocks noChangeShapeType="1"/>
            </p:cNvSpPr>
            <p:nvPr/>
          </p:nvSpPr>
          <p:spPr bwMode="auto">
            <a:xfrm rot="180039" flipV="1">
              <a:off x="5129" y="2760"/>
              <a:ext cx="112" cy="160"/>
            </a:xfrm>
            <a:prstGeom prst="line">
              <a:avLst/>
            </a:prstGeom>
            <a:noFill/>
            <a:ln w="9525">
              <a:solidFill>
                <a:srgbClr val="3333CC"/>
              </a:solidFill>
              <a:prstDash val="dash"/>
              <a:round/>
              <a:headEnd/>
              <a:tailEnd/>
            </a:ln>
            <a:effectLst/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29" name="Line 35"/>
            <p:cNvSpPr>
              <a:spLocks noChangeShapeType="1"/>
            </p:cNvSpPr>
            <p:nvPr/>
          </p:nvSpPr>
          <p:spPr bwMode="auto">
            <a:xfrm rot="180039" flipH="1" flipV="1">
              <a:off x="5150" y="3080"/>
              <a:ext cx="38" cy="107"/>
            </a:xfrm>
            <a:prstGeom prst="line">
              <a:avLst/>
            </a:prstGeom>
            <a:noFill/>
            <a:ln w="9525">
              <a:solidFill>
                <a:srgbClr val="3333CC"/>
              </a:solidFill>
              <a:prstDash val="dash"/>
              <a:round/>
              <a:headEnd/>
              <a:tailEnd/>
            </a:ln>
            <a:effectLst/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pic>
          <p:nvPicPr>
            <p:cNvPr id="230" name="Picture 36" descr="MCj04352420000[1]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 rot="180039">
              <a:off x="4756" y="2701"/>
              <a:ext cx="99" cy="280"/>
            </a:xfrm>
            <a:prstGeom prst="rect">
              <a:avLst/>
            </a:prstGeom>
            <a:noFill/>
          </p:spPr>
        </p:pic>
        <p:pic>
          <p:nvPicPr>
            <p:cNvPr id="231" name="Picture 37" descr="MCj04352420000[1]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 rot="180039">
              <a:off x="5180" y="3151"/>
              <a:ext cx="99" cy="280"/>
            </a:xfrm>
            <a:prstGeom prst="rect">
              <a:avLst/>
            </a:prstGeom>
            <a:noFill/>
          </p:spPr>
        </p:pic>
        <p:sp>
          <p:nvSpPr>
            <p:cNvPr id="232" name="Line 38"/>
            <p:cNvSpPr>
              <a:spLocks noChangeShapeType="1"/>
            </p:cNvSpPr>
            <p:nvPr/>
          </p:nvSpPr>
          <p:spPr bwMode="auto">
            <a:xfrm rot="180039">
              <a:off x="4737" y="3128"/>
              <a:ext cx="74" cy="106"/>
            </a:xfrm>
            <a:prstGeom prst="line">
              <a:avLst/>
            </a:prstGeom>
            <a:noFill/>
            <a:ln w="9525">
              <a:solidFill>
                <a:srgbClr val="3333CC"/>
              </a:solidFill>
              <a:prstDash val="dash"/>
              <a:round/>
              <a:headEnd/>
              <a:tailEnd/>
            </a:ln>
            <a:effectLst/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33" name="Line 39"/>
            <p:cNvSpPr>
              <a:spLocks noChangeShapeType="1"/>
            </p:cNvSpPr>
            <p:nvPr/>
          </p:nvSpPr>
          <p:spPr bwMode="auto">
            <a:xfrm rot="180039" flipH="1" flipV="1">
              <a:off x="4639" y="2853"/>
              <a:ext cx="37" cy="161"/>
            </a:xfrm>
            <a:prstGeom prst="line">
              <a:avLst/>
            </a:prstGeom>
            <a:noFill/>
            <a:ln w="9525">
              <a:solidFill>
                <a:srgbClr val="3333CC"/>
              </a:solidFill>
              <a:prstDash val="dash"/>
              <a:round/>
              <a:headEnd/>
              <a:tailEnd/>
            </a:ln>
            <a:effectLst/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34" name="Line 40"/>
            <p:cNvSpPr>
              <a:spLocks noChangeShapeType="1"/>
            </p:cNvSpPr>
            <p:nvPr/>
          </p:nvSpPr>
          <p:spPr bwMode="auto">
            <a:xfrm rot="180039" flipV="1">
              <a:off x="4874" y="2705"/>
              <a:ext cx="37" cy="53"/>
            </a:xfrm>
            <a:prstGeom prst="line">
              <a:avLst/>
            </a:prstGeom>
            <a:noFill/>
            <a:ln w="9525">
              <a:solidFill>
                <a:srgbClr val="3333CC"/>
              </a:solidFill>
              <a:prstDash val="dash"/>
              <a:round/>
              <a:headEnd/>
              <a:tailEnd/>
            </a:ln>
            <a:effectLst/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35" name="Line 41"/>
            <p:cNvSpPr>
              <a:spLocks noChangeShapeType="1"/>
            </p:cNvSpPr>
            <p:nvPr/>
          </p:nvSpPr>
          <p:spPr bwMode="auto">
            <a:xfrm rot="180039" flipV="1">
              <a:off x="4727" y="2647"/>
              <a:ext cx="187" cy="54"/>
            </a:xfrm>
            <a:prstGeom prst="line">
              <a:avLst/>
            </a:prstGeom>
            <a:noFill/>
            <a:ln w="9525">
              <a:solidFill>
                <a:srgbClr val="3333CC"/>
              </a:solidFill>
              <a:prstDash val="dash"/>
              <a:round/>
              <a:headEnd/>
              <a:tailEnd/>
            </a:ln>
            <a:effectLst/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36" name="Line 42"/>
            <p:cNvSpPr>
              <a:spLocks noChangeShapeType="1"/>
            </p:cNvSpPr>
            <p:nvPr/>
          </p:nvSpPr>
          <p:spPr bwMode="auto">
            <a:xfrm rot="180039" flipV="1">
              <a:off x="5027" y="2664"/>
              <a:ext cx="224" cy="0"/>
            </a:xfrm>
            <a:prstGeom prst="line">
              <a:avLst/>
            </a:prstGeom>
            <a:noFill/>
            <a:ln w="9525">
              <a:solidFill>
                <a:srgbClr val="3333CC"/>
              </a:solidFill>
              <a:prstDash val="dash"/>
              <a:round/>
              <a:headEnd/>
              <a:tailEnd/>
            </a:ln>
            <a:effectLst/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37" name="Line 43"/>
            <p:cNvSpPr>
              <a:spLocks noChangeShapeType="1"/>
            </p:cNvSpPr>
            <p:nvPr/>
          </p:nvSpPr>
          <p:spPr bwMode="auto">
            <a:xfrm rot="180039">
              <a:off x="5286" y="2677"/>
              <a:ext cx="224" cy="55"/>
            </a:xfrm>
            <a:prstGeom prst="line">
              <a:avLst/>
            </a:prstGeom>
            <a:noFill/>
            <a:ln w="9525">
              <a:solidFill>
                <a:srgbClr val="3333CC"/>
              </a:solidFill>
              <a:prstDash val="dash"/>
              <a:round/>
              <a:headEnd/>
              <a:tailEnd/>
            </a:ln>
            <a:effectLst/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38" name="Line 44"/>
            <p:cNvSpPr>
              <a:spLocks noChangeShapeType="1"/>
            </p:cNvSpPr>
            <p:nvPr/>
          </p:nvSpPr>
          <p:spPr bwMode="auto">
            <a:xfrm rot="180039">
              <a:off x="4935" y="2815"/>
              <a:ext cx="38" cy="322"/>
            </a:xfrm>
            <a:prstGeom prst="line">
              <a:avLst/>
            </a:prstGeom>
            <a:noFill/>
            <a:ln w="9525">
              <a:solidFill>
                <a:srgbClr val="3333CC"/>
              </a:solidFill>
              <a:prstDash val="dash"/>
              <a:round/>
              <a:headEnd/>
              <a:tailEnd/>
            </a:ln>
            <a:effectLst/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39" name="Line 45"/>
            <p:cNvSpPr>
              <a:spLocks noChangeShapeType="1"/>
            </p:cNvSpPr>
            <p:nvPr/>
          </p:nvSpPr>
          <p:spPr bwMode="auto">
            <a:xfrm rot="180039" flipV="1">
              <a:off x="4882" y="3241"/>
              <a:ext cx="75" cy="53"/>
            </a:xfrm>
            <a:prstGeom prst="line">
              <a:avLst/>
            </a:prstGeom>
            <a:noFill/>
            <a:ln w="9525">
              <a:solidFill>
                <a:srgbClr val="3333CC"/>
              </a:solidFill>
              <a:prstDash val="dash"/>
              <a:round/>
              <a:headEnd/>
              <a:tailEnd/>
            </a:ln>
            <a:effectLst/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40" name="Line 46"/>
            <p:cNvSpPr>
              <a:spLocks noChangeShapeType="1"/>
            </p:cNvSpPr>
            <p:nvPr/>
          </p:nvSpPr>
          <p:spPr bwMode="auto">
            <a:xfrm rot="180039" flipV="1">
              <a:off x="5038" y="3089"/>
              <a:ext cx="75" cy="107"/>
            </a:xfrm>
            <a:prstGeom prst="line">
              <a:avLst/>
            </a:prstGeom>
            <a:noFill/>
            <a:ln w="9525">
              <a:solidFill>
                <a:srgbClr val="3333CC"/>
              </a:solidFill>
              <a:prstDash val="dash"/>
              <a:round/>
              <a:headEnd/>
              <a:tailEnd/>
            </a:ln>
            <a:effectLst/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41" name="Line 47"/>
            <p:cNvSpPr>
              <a:spLocks noChangeShapeType="1"/>
            </p:cNvSpPr>
            <p:nvPr/>
          </p:nvSpPr>
          <p:spPr bwMode="auto">
            <a:xfrm rot="180039" flipV="1">
              <a:off x="5164" y="2828"/>
              <a:ext cx="75" cy="107"/>
            </a:xfrm>
            <a:prstGeom prst="line">
              <a:avLst/>
            </a:prstGeom>
            <a:noFill/>
            <a:ln w="9525">
              <a:solidFill>
                <a:srgbClr val="3333CC"/>
              </a:solidFill>
              <a:prstDash val="dash"/>
              <a:round/>
              <a:headEnd/>
              <a:tailEnd/>
            </a:ln>
            <a:effectLst/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pic>
          <p:nvPicPr>
            <p:cNvPr id="242" name="Picture 48" descr="MCj04352420000[1]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 rot="180039">
              <a:off x="5470" y="2630"/>
              <a:ext cx="99" cy="280"/>
            </a:xfrm>
            <a:prstGeom prst="rect">
              <a:avLst/>
            </a:prstGeom>
            <a:noFill/>
          </p:spPr>
        </p:pic>
        <p:pic>
          <p:nvPicPr>
            <p:cNvPr id="243" name="Picture 49" descr="MCj04352420000[1]"/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 rot="180039">
              <a:off x="5080" y="2917"/>
              <a:ext cx="99" cy="282"/>
            </a:xfrm>
            <a:prstGeom prst="rect">
              <a:avLst/>
            </a:prstGeom>
            <a:noFill/>
          </p:spPr>
        </p:pic>
        <p:pic>
          <p:nvPicPr>
            <p:cNvPr id="244" name="Picture 50" descr="MCj04352420000[1]"/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 rot="180039">
              <a:off x="5229" y="2925"/>
              <a:ext cx="99" cy="282"/>
            </a:xfrm>
            <a:prstGeom prst="rect">
              <a:avLst/>
            </a:prstGeom>
            <a:noFill/>
          </p:spPr>
        </p:pic>
        <p:pic>
          <p:nvPicPr>
            <p:cNvPr id="245" name="Picture 51" descr="MCj04352420000[1]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 rot="180039">
              <a:off x="5244" y="2659"/>
              <a:ext cx="99" cy="279"/>
            </a:xfrm>
            <a:prstGeom prst="rect">
              <a:avLst/>
            </a:prstGeom>
            <a:noFill/>
          </p:spPr>
        </p:pic>
        <p:pic>
          <p:nvPicPr>
            <p:cNvPr id="246" name="Picture 52" descr="MCj04352420000[1]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 rot="180039">
              <a:off x="4932" y="3125"/>
              <a:ext cx="99" cy="281"/>
            </a:xfrm>
            <a:prstGeom prst="rect">
              <a:avLst/>
            </a:prstGeom>
            <a:noFill/>
          </p:spPr>
        </p:pic>
        <p:pic>
          <p:nvPicPr>
            <p:cNvPr id="247" name="Picture 53" descr="MCj04352420000[1]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 rot="180039">
              <a:off x="4664" y="3017"/>
              <a:ext cx="99" cy="280"/>
            </a:xfrm>
            <a:prstGeom prst="rect">
              <a:avLst/>
            </a:prstGeom>
            <a:noFill/>
          </p:spPr>
        </p:pic>
        <p:pic>
          <p:nvPicPr>
            <p:cNvPr id="248" name="Picture 54" descr="MCj04352420000[1]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 rot="180039">
              <a:off x="4767" y="3170"/>
              <a:ext cx="99" cy="280"/>
            </a:xfrm>
            <a:prstGeom prst="rect">
              <a:avLst/>
            </a:prstGeom>
            <a:noFill/>
          </p:spPr>
        </p:pic>
        <p:sp>
          <p:nvSpPr>
            <p:cNvPr id="249" name="Line 55"/>
            <p:cNvSpPr>
              <a:spLocks noChangeShapeType="1"/>
            </p:cNvSpPr>
            <p:nvPr/>
          </p:nvSpPr>
          <p:spPr bwMode="auto">
            <a:xfrm rot="180039">
              <a:off x="4673" y="2804"/>
              <a:ext cx="149" cy="375"/>
            </a:xfrm>
            <a:prstGeom prst="line">
              <a:avLst/>
            </a:prstGeom>
            <a:noFill/>
            <a:ln w="9525">
              <a:solidFill>
                <a:srgbClr val="3333CC"/>
              </a:solidFill>
              <a:prstDash val="dash"/>
              <a:round/>
              <a:headEnd/>
              <a:tailEnd/>
            </a:ln>
            <a:effectLst/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250" name="Line 56"/>
          <p:cNvSpPr>
            <a:spLocks noChangeShapeType="1"/>
          </p:cNvSpPr>
          <p:nvPr/>
        </p:nvSpPr>
        <p:spPr bwMode="auto">
          <a:xfrm>
            <a:off x="4644008" y="3933056"/>
            <a:ext cx="4192" cy="2651596"/>
          </a:xfrm>
          <a:prstGeom prst="line">
            <a:avLst/>
          </a:prstGeom>
          <a:noFill/>
          <a:ln w="38100">
            <a:solidFill>
              <a:srgbClr val="CCCCFF"/>
            </a:solidFill>
            <a:prstDash val="sysDot"/>
            <a:round/>
            <a:headEnd/>
            <a:tailEnd/>
          </a:ln>
          <a:effectLst/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51" name="Text Box 57"/>
          <p:cNvSpPr txBox="1">
            <a:spLocks noChangeArrowheads="1"/>
          </p:cNvSpPr>
          <p:nvPr/>
        </p:nvSpPr>
        <p:spPr bwMode="auto">
          <a:xfrm>
            <a:off x="7086600" y="3993374"/>
            <a:ext cx="1877888" cy="91991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57582" tIns="28791" rIns="57582" bIns="28791">
            <a:spAutoFit/>
          </a:bodyPr>
          <a:lstStyle/>
          <a:p>
            <a:pPr marL="144463" indent="-144463" defTabSz="576263">
              <a:spcBef>
                <a:spcPct val="50000"/>
              </a:spcBef>
              <a:buClr>
                <a:schemeClr val="tx1"/>
              </a:buClr>
              <a:buFontTx/>
              <a:buChar char="•"/>
            </a:pPr>
            <a:r>
              <a:rPr lang="en-US" altLang="zh-TW" sz="1400" dirty="0">
                <a:solidFill>
                  <a:srgbClr val="000000"/>
                </a:solidFill>
                <a:ea typeface="MS Mincho" pitchFamily="49" charset="-128"/>
                <a:cs typeface="Tahoma" pitchFamily="34" charset="0"/>
              </a:rPr>
              <a:t>Anytime, anywhere access to </a:t>
            </a:r>
            <a:r>
              <a:rPr lang="en-US" altLang="zh-TW" sz="1400" dirty="0" smtClean="0">
                <a:solidFill>
                  <a:srgbClr val="000000"/>
                </a:solidFill>
                <a:ea typeface="MS Mincho" pitchFamily="49" charset="-128"/>
                <a:cs typeface="Tahoma" pitchFamily="34" charset="0"/>
              </a:rPr>
              <a:t>resources </a:t>
            </a:r>
            <a:r>
              <a:rPr lang="en-US" altLang="zh-TW" sz="1400" dirty="0">
                <a:solidFill>
                  <a:srgbClr val="000000"/>
                </a:solidFill>
                <a:ea typeface="MS Mincho" pitchFamily="49" charset="-128"/>
                <a:cs typeface="Tahoma" pitchFamily="34" charset="0"/>
              </a:rPr>
              <a:t>delivered dynamically as a </a:t>
            </a:r>
            <a:r>
              <a:rPr lang="en-US" altLang="zh-TW" sz="1400" dirty="0" smtClean="0">
                <a:solidFill>
                  <a:srgbClr val="000000"/>
                </a:solidFill>
                <a:ea typeface="MS Mincho" pitchFamily="49" charset="-128"/>
                <a:cs typeface="Tahoma" pitchFamily="34" charset="0"/>
              </a:rPr>
              <a:t>service</a:t>
            </a:r>
            <a:endParaRPr lang="zh-TW" altLang="en-US" sz="1400" dirty="0">
              <a:solidFill>
                <a:srgbClr val="000000"/>
              </a:solidFill>
              <a:ea typeface="MS Mincho" pitchFamily="49" charset="-128"/>
              <a:cs typeface="Tahoma" pitchFamily="34" charset="0"/>
            </a:endParaRPr>
          </a:p>
        </p:txBody>
      </p:sp>
      <p:sp>
        <p:nvSpPr>
          <p:cNvPr id="252" name="Text Box 59"/>
          <p:cNvSpPr txBox="1">
            <a:spLocks noChangeArrowheads="1"/>
          </p:cNvSpPr>
          <p:nvPr/>
        </p:nvSpPr>
        <p:spPr bwMode="auto">
          <a:xfrm>
            <a:off x="8312150" y="2774652"/>
            <a:ext cx="679450" cy="3619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57582" tIns="28791" rIns="57582" bIns="28791">
            <a:spAutoFit/>
          </a:bodyPr>
          <a:lstStyle/>
          <a:p>
            <a:pPr defTabSz="576263" eaLnBrk="0" hangingPunct="0">
              <a:buClr>
                <a:srgbClr val="2F4F88"/>
              </a:buClr>
              <a:buFont typeface="Wingdings" pitchFamily="2" charset="2"/>
              <a:buNone/>
            </a:pPr>
            <a:r>
              <a:rPr lang="en-US" altLang="zh-TW" sz="2000" b="1">
                <a:solidFill>
                  <a:srgbClr val="000000"/>
                </a:solidFill>
                <a:ea typeface="MS PGothic" pitchFamily="34" charset="-128"/>
                <a:cs typeface="Tahoma" pitchFamily="34" charset="0"/>
              </a:rPr>
              <a:t>2009</a:t>
            </a:r>
          </a:p>
        </p:txBody>
      </p:sp>
      <p:pic>
        <p:nvPicPr>
          <p:cNvPr id="253" name="Picture 60" descr="j0402693[1]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3048000" y="5641677"/>
            <a:ext cx="896938" cy="889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54" name="Picture 61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5257800" y="5648027"/>
            <a:ext cx="936625" cy="941388"/>
          </a:xfrm>
          <a:prstGeom prst="rect">
            <a:avLst/>
          </a:prstGeom>
          <a:noFill/>
        </p:spPr>
      </p:pic>
      <p:sp>
        <p:nvSpPr>
          <p:cNvPr id="255" name="Text Box 62"/>
          <p:cNvSpPr txBox="1">
            <a:spLocks noChangeArrowheads="1"/>
          </p:cNvSpPr>
          <p:nvPr/>
        </p:nvSpPr>
        <p:spPr bwMode="auto">
          <a:xfrm>
            <a:off x="4773613" y="4073227"/>
            <a:ext cx="199016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TW" sz="1600" b="1">
                <a:solidFill>
                  <a:srgbClr val="000000"/>
                </a:solidFill>
                <a:ea typeface="MS PGothic" pitchFamily="34" charset="-128"/>
                <a:cs typeface="Tahoma" pitchFamily="34" charset="0"/>
              </a:rPr>
              <a:t>Software as a Service</a:t>
            </a:r>
          </a:p>
        </p:txBody>
      </p:sp>
      <p:sp>
        <p:nvSpPr>
          <p:cNvPr id="256" name="Text Box 63"/>
          <p:cNvSpPr txBox="1">
            <a:spLocks noChangeArrowheads="1"/>
          </p:cNvSpPr>
          <p:nvPr/>
        </p:nvSpPr>
        <p:spPr bwMode="auto">
          <a:xfrm>
            <a:off x="2667000" y="4365104"/>
            <a:ext cx="1689886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TW" sz="1600" b="1" dirty="0">
                <a:solidFill>
                  <a:srgbClr val="000000"/>
                </a:solidFill>
                <a:ea typeface="MS PGothic" pitchFamily="34" charset="-128"/>
                <a:cs typeface="Tahoma" pitchFamily="34" charset="0"/>
              </a:rPr>
              <a:t>Utility Computing</a:t>
            </a:r>
          </a:p>
        </p:txBody>
      </p:sp>
      <p:sp>
        <p:nvSpPr>
          <p:cNvPr id="257" name="Text Box 64"/>
          <p:cNvSpPr txBox="1">
            <a:spLocks noChangeArrowheads="1"/>
          </p:cNvSpPr>
          <p:nvPr/>
        </p:nvSpPr>
        <p:spPr bwMode="auto">
          <a:xfrm>
            <a:off x="7016750" y="3692227"/>
            <a:ext cx="1657826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TW" sz="1600" b="1" dirty="0">
                <a:solidFill>
                  <a:srgbClr val="000000"/>
                </a:solidFill>
                <a:ea typeface="MS PGothic" pitchFamily="34" charset="-128"/>
                <a:cs typeface="Tahoma" pitchFamily="34" charset="0"/>
              </a:rPr>
              <a:t>Cloud Computing</a:t>
            </a:r>
          </a:p>
        </p:txBody>
      </p:sp>
      <p:sp>
        <p:nvSpPr>
          <p:cNvPr id="258" name="Text Box 65"/>
          <p:cNvSpPr txBox="1">
            <a:spLocks noChangeArrowheads="1"/>
          </p:cNvSpPr>
          <p:nvPr/>
        </p:nvSpPr>
        <p:spPr bwMode="auto">
          <a:xfrm>
            <a:off x="533400" y="4606627"/>
            <a:ext cx="1532792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TW" sz="1600" b="1" dirty="0">
                <a:solidFill>
                  <a:srgbClr val="000000"/>
                </a:solidFill>
                <a:ea typeface="MS PGothic" pitchFamily="34" charset="-128"/>
                <a:cs typeface="Tahoma" pitchFamily="34" charset="0"/>
              </a:rPr>
              <a:t>Grid Computing</a:t>
            </a:r>
          </a:p>
        </p:txBody>
      </p:sp>
      <p:pic>
        <p:nvPicPr>
          <p:cNvPr id="259" name="Picture 66" descr="GRID_Computer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609600" y="5517852"/>
            <a:ext cx="1285875" cy="1079500"/>
          </a:xfrm>
          <a:prstGeom prst="rect">
            <a:avLst/>
          </a:prstGeom>
          <a:noFill/>
        </p:spPr>
      </p:pic>
      <p:sp>
        <p:nvSpPr>
          <p:cNvPr id="260" name="Line 68"/>
          <p:cNvSpPr>
            <a:spLocks noChangeShapeType="1"/>
          </p:cNvSpPr>
          <p:nvPr/>
        </p:nvSpPr>
        <p:spPr bwMode="auto">
          <a:xfrm rot="20161932">
            <a:off x="565150" y="2846090"/>
            <a:ext cx="8045450" cy="2081212"/>
          </a:xfrm>
          <a:prstGeom prst="line">
            <a:avLst/>
          </a:prstGeom>
          <a:noFill/>
          <a:ln w="57150">
            <a:solidFill>
              <a:srgbClr val="DFFF66"/>
            </a:solidFill>
            <a:round/>
            <a:headEnd/>
            <a:tailEnd type="triangle" w="med" len="med"/>
          </a:ln>
          <a:effectLst>
            <a:outerShdw dist="35921" dir="2700000" algn="ctr" rotWithShape="0">
              <a:srgbClr val="808080"/>
            </a:outerShdw>
          </a:effectLst>
        </p:spPr>
        <p:txBody>
          <a:bodyPr lIns="0" tIns="0" rIns="0" bIns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Cloud Computing in Mathematics</a:t>
            </a:r>
            <a:endParaRPr lang="zh-TW" altLang="en-US" dirty="0"/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709119"/>
          </a:xfrm>
        </p:spPr>
        <p:txBody>
          <a:bodyPr>
            <a:normAutofit fontScale="92500" lnSpcReduction="10000"/>
          </a:bodyPr>
          <a:lstStyle/>
          <a:p>
            <a:r>
              <a:rPr lang="en-US" altLang="zh-TW" dirty="0" smtClean="0"/>
              <a:t>1</a:t>
            </a:r>
          </a:p>
          <a:p>
            <a:pPr lvl="1"/>
            <a:r>
              <a:rPr lang="en-US" altLang="zh-TW" dirty="0" smtClean="0"/>
              <a:t>One single integrated environment</a:t>
            </a:r>
          </a:p>
          <a:p>
            <a:pPr lvl="1"/>
            <a:r>
              <a:rPr lang="en-US" altLang="zh-TW" dirty="0" smtClean="0"/>
              <a:t>A collection pool of resources and services</a:t>
            </a:r>
          </a:p>
          <a:p>
            <a:endParaRPr lang="en-US" altLang="zh-TW" dirty="0" smtClean="0"/>
          </a:p>
          <a:p>
            <a:r>
              <a:rPr lang="en-US" altLang="zh-TW" dirty="0" smtClean="0"/>
              <a:t>0</a:t>
            </a:r>
          </a:p>
          <a:p>
            <a:pPr lvl="1"/>
            <a:r>
              <a:rPr lang="en-US" altLang="zh-TW" dirty="0" smtClean="0"/>
              <a:t>Zero management</a:t>
            </a:r>
          </a:p>
          <a:p>
            <a:pPr lvl="1"/>
            <a:r>
              <a:rPr lang="en-US" altLang="zh-TW" dirty="0" smtClean="0"/>
              <a:t>Automatic management and resilience of resource or service up/down/fail</a:t>
            </a:r>
          </a:p>
          <a:p>
            <a:r>
              <a:rPr lang="en-US" altLang="zh-TW" dirty="0" smtClean="0">
                <a:latin typeface="Times New Roman"/>
                <a:cs typeface="Times New Roman"/>
              </a:rPr>
              <a:t>∞</a:t>
            </a:r>
          </a:p>
          <a:p>
            <a:pPr lvl="1"/>
            <a:r>
              <a:rPr lang="en-US" altLang="zh-TW" dirty="0" smtClean="0">
                <a:latin typeface="Times New Roman"/>
                <a:cs typeface="Times New Roman"/>
              </a:rPr>
              <a:t>Endless possibility</a:t>
            </a:r>
          </a:p>
          <a:p>
            <a:pPr lvl="1"/>
            <a:r>
              <a:rPr lang="en-US" altLang="zh-TW" dirty="0" smtClean="0">
                <a:latin typeface="Times New Roman"/>
                <a:cs typeface="Times New Roman"/>
              </a:rPr>
              <a:t>Scalability, Availability, Accessibility, Manageability, Performance</a:t>
            </a:r>
            <a:endParaRPr lang="zh-TW" altLang="en-US" dirty="0"/>
          </a:p>
        </p:txBody>
      </p:sp>
      <p:pic>
        <p:nvPicPr>
          <p:cNvPr id="50181" name="Picture 5" descr="C:\Documents and Settings\5G\Local Settings\Temporary Internet Files\Content.IE5\4TUVSL27\dglxasset[1].aspx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 rot="5400000">
            <a:off x="7161014" y="4910510"/>
            <a:ext cx="1844824" cy="190614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363272" cy="868362"/>
          </a:xfrm>
        </p:spPr>
        <p:txBody>
          <a:bodyPr>
            <a:noAutofit/>
          </a:bodyPr>
          <a:lstStyle/>
          <a:p>
            <a:r>
              <a:rPr lang="en-US" altLang="zh-TW" sz="4000" dirty="0" smtClean="0"/>
              <a:t>Cloud Computing in IT</a:t>
            </a:r>
            <a:endParaRPr lang="zh-TW" altLang="en-US" sz="4000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257800"/>
          </a:xfrm>
        </p:spPr>
        <p:txBody>
          <a:bodyPr>
            <a:normAutofit/>
          </a:bodyPr>
          <a:lstStyle/>
          <a:p>
            <a:r>
              <a:rPr lang="en-US" altLang="zh-TW" dirty="0" smtClean="0"/>
              <a:t>An acquisition and delivery model of IT resources </a:t>
            </a:r>
          </a:p>
          <a:p>
            <a:pPr lvl="1"/>
            <a:r>
              <a:rPr lang="en-US" altLang="zh-TW" dirty="0" smtClean="0"/>
              <a:t>Help improve business </a:t>
            </a:r>
            <a:r>
              <a:rPr lang="en-US" altLang="zh-TW" i="1" dirty="0" smtClean="0">
                <a:solidFill>
                  <a:srgbClr val="00B0F0"/>
                </a:solidFill>
              </a:rPr>
              <a:t>performance</a:t>
            </a:r>
            <a:r>
              <a:rPr lang="en-US" altLang="zh-TW" dirty="0" smtClean="0"/>
              <a:t> and control the </a:t>
            </a:r>
            <a:r>
              <a:rPr lang="en-US" altLang="zh-TW" i="1" dirty="0" smtClean="0">
                <a:solidFill>
                  <a:srgbClr val="00B0F0"/>
                </a:solidFill>
              </a:rPr>
              <a:t>costs</a:t>
            </a:r>
            <a:r>
              <a:rPr lang="en-US" altLang="zh-TW" dirty="0" smtClean="0"/>
              <a:t> of delivering IT resources to the organization</a:t>
            </a:r>
          </a:p>
          <a:p>
            <a:r>
              <a:rPr lang="en-US" altLang="zh-TW" dirty="0" smtClean="0"/>
              <a:t>From a user perspective</a:t>
            </a:r>
          </a:p>
          <a:p>
            <a:pPr lvl="1"/>
            <a:r>
              <a:rPr lang="en-US" altLang="zh-TW" dirty="0" smtClean="0"/>
              <a:t>Provides a means of acquiring computing services via the internet while making the technology beyond the user device almost </a:t>
            </a:r>
            <a:r>
              <a:rPr lang="en-US" altLang="zh-TW" i="1" dirty="0" smtClean="0">
                <a:solidFill>
                  <a:srgbClr val="00B0F0"/>
                </a:solidFill>
              </a:rPr>
              <a:t>invisible</a:t>
            </a:r>
          </a:p>
          <a:p>
            <a:r>
              <a:rPr lang="en-US" altLang="zh-TW" dirty="0" smtClean="0"/>
              <a:t>From an organization perspective</a:t>
            </a:r>
          </a:p>
          <a:p>
            <a:pPr lvl="1"/>
            <a:r>
              <a:rPr lang="en-US" altLang="zh-TW" dirty="0" smtClean="0"/>
              <a:t>Delivers services for consumer and business needs in a simplified way, </a:t>
            </a:r>
            <a:r>
              <a:rPr lang="en-US" altLang="zh-TW" i="1" dirty="0" smtClean="0">
                <a:solidFill>
                  <a:srgbClr val="00B0F0"/>
                </a:solidFill>
              </a:rPr>
              <a:t>providing unbounded scale </a:t>
            </a:r>
            <a:r>
              <a:rPr lang="en-US" altLang="zh-TW" dirty="0" smtClean="0"/>
              <a:t>and</a:t>
            </a:r>
            <a:r>
              <a:rPr lang="en-US" altLang="zh-TW" i="1" dirty="0" smtClean="0">
                <a:solidFill>
                  <a:srgbClr val="00B0F0"/>
                </a:solidFill>
              </a:rPr>
              <a:t> differentiated quality of service </a:t>
            </a:r>
            <a:r>
              <a:rPr lang="en-US" altLang="zh-TW" dirty="0" smtClean="0"/>
              <a:t>to foster rapid innovation and decision making</a:t>
            </a:r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群組 12"/>
          <p:cNvGrpSpPr/>
          <p:nvPr/>
        </p:nvGrpSpPr>
        <p:grpSpPr>
          <a:xfrm>
            <a:off x="0" y="1700808"/>
            <a:ext cx="6962775" cy="5149137"/>
            <a:chOff x="0" y="1700808"/>
            <a:chExt cx="6962775" cy="5149137"/>
          </a:xfrm>
        </p:grpSpPr>
        <p:pic>
          <p:nvPicPr>
            <p:cNvPr id="50179" name="Picture 3" descr="D:\Data\edu_NTHU\paper_nthu\Cloud computing\_cloud slides\Gartner\[Gartner 2008] Hype Cycle for Emerging Technologies 2.jpg"/>
            <p:cNvPicPr>
              <a:picLocks noChangeAspect="1" noChangeArrowheads="1"/>
            </p:cNvPicPr>
            <p:nvPr/>
          </p:nvPicPr>
          <p:blipFill>
            <a:blip r:embed="rId2" cstate="print"/>
            <a:srcRect t="5656"/>
            <a:stretch>
              <a:fillRect/>
            </a:stretch>
          </p:blipFill>
          <p:spPr bwMode="auto">
            <a:xfrm>
              <a:off x="0" y="1700808"/>
              <a:ext cx="6962775" cy="5149137"/>
            </a:xfrm>
            <a:prstGeom prst="rect">
              <a:avLst/>
            </a:prstGeom>
            <a:noFill/>
          </p:spPr>
        </p:pic>
        <p:sp>
          <p:nvSpPr>
            <p:cNvPr id="12" name="橢圓 11"/>
            <p:cNvSpPr/>
            <p:nvPr/>
          </p:nvSpPr>
          <p:spPr>
            <a:xfrm>
              <a:off x="467544" y="2924944"/>
              <a:ext cx="1268556" cy="288032"/>
            </a:xfrm>
            <a:prstGeom prst="ellipse">
              <a:avLst/>
            </a:prstGeom>
            <a:noFill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9" name="群組 8"/>
          <p:cNvGrpSpPr/>
          <p:nvPr/>
        </p:nvGrpSpPr>
        <p:grpSpPr>
          <a:xfrm>
            <a:off x="1691680" y="1176096"/>
            <a:ext cx="7452320" cy="5277240"/>
            <a:chOff x="1691680" y="1392120"/>
            <a:chExt cx="7452320" cy="5277240"/>
          </a:xfrm>
        </p:grpSpPr>
        <p:grpSp>
          <p:nvGrpSpPr>
            <p:cNvPr id="7" name="群組 6"/>
            <p:cNvGrpSpPr/>
            <p:nvPr/>
          </p:nvGrpSpPr>
          <p:grpSpPr>
            <a:xfrm>
              <a:off x="1691680" y="1392120"/>
              <a:ext cx="7452320" cy="5277240"/>
              <a:chOff x="683569" y="1392120"/>
              <a:chExt cx="8460432" cy="5277240"/>
            </a:xfrm>
          </p:grpSpPr>
          <p:pic>
            <p:nvPicPr>
              <p:cNvPr id="50178" name="Picture 2"/>
              <p:cNvPicPr>
                <a:picLocks noChangeAspect="1" noChangeArrowheads="1"/>
              </p:cNvPicPr>
              <p:nvPr/>
            </p:nvPicPr>
            <p:blipFill>
              <a:blip r:embed="rId3" cstate="print"/>
              <a:srcRect/>
              <a:stretch>
                <a:fillRect/>
              </a:stretch>
            </p:blipFill>
            <p:spPr bwMode="auto">
              <a:xfrm>
                <a:off x="683569" y="1392120"/>
                <a:ext cx="8460432" cy="527724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6" name="橢圓 5"/>
              <p:cNvSpPr/>
              <p:nvPr/>
            </p:nvSpPr>
            <p:spPr>
              <a:xfrm>
                <a:off x="3059832" y="1412776"/>
                <a:ext cx="1440160" cy="288032"/>
              </a:xfrm>
              <a:prstGeom prst="ellipse">
                <a:avLst/>
              </a:prstGeom>
              <a:noFill/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  <p:sp>
          <p:nvSpPr>
            <p:cNvPr id="8" name="文字方塊 7"/>
            <p:cNvSpPr txBox="1"/>
            <p:nvPr/>
          </p:nvSpPr>
          <p:spPr>
            <a:xfrm>
              <a:off x="7599884" y="1412776"/>
              <a:ext cx="143661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 smtClean="0"/>
                <a:t>Gartner 2009</a:t>
              </a:r>
              <a:endParaRPr lang="zh-TW" altLang="en-US" dirty="0"/>
            </a:p>
          </p:txBody>
        </p:sp>
      </p:grpSp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4000" dirty="0" smtClean="0"/>
              <a:t>Emerging Technologies Hype Cycle</a:t>
            </a:r>
            <a:endParaRPr lang="zh-TW" altLang="en-US" sz="4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0" y="274638"/>
            <a:ext cx="8686800" cy="1143000"/>
          </a:xfrm>
        </p:spPr>
        <p:txBody>
          <a:bodyPr>
            <a:noAutofit/>
          </a:bodyPr>
          <a:lstStyle/>
          <a:p>
            <a:r>
              <a:rPr lang="en-US" altLang="zh-TW" sz="4000" dirty="0" smtClean="0"/>
              <a:t>Emerging Technologies Priority Matrix</a:t>
            </a:r>
            <a:endParaRPr lang="zh-TW" altLang="en-US" sz="4000" dirty="0"/>
          </a:p>
        </p:txBody>
      </p:sp>
      <p:pic>
        <p:nvPicPr>
          <p:cNvPr id="51202" name="Picture 2"/>
          <p:cNvPicPr>
            <a:picLocks noChangeAspect="1" noChangeArrowheads="1"/>
          </p:cNvPicPr>
          <p:nvPr/>
        </p:nvPicPr>
        <p:blipFill>
          <a:blip r:embed="rId2" cstate="print"/>
          <a:srcRect b="1384"/>
          <a:stretch>
            <a:fillRect/>
          </a:stretch>
        </p:blipFill>
        <p:spPr bwMode="auto">
          <a:xfrm>
            <a:off x="683569" y="1403753"/>
            <a:ext cx="8424936" cy="5121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文字方塊 3"/>
          <p:cNvSpPr txBox="1"/>
          <p:nvPr/>
        </p:nvSpPr>
        <p:spPr>
          <a:xfrm>
            <a:off x="7596336" y="6444044"/>
            <a:ext cx="14366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Gartner 2009</a:t>
            </a:r>
            <a:endParaRPr lang="zh-TW" altLang="en-US" dirty="0"/>
          </a:p>
        </p:txBody>
      </p:sp>
      <p:sp>
        <p:nvSpPr>
          <p:cNvPr id="5" name="橢圓 4"/>
          <p:cNvSpPr/>
          <p:nvPr/>
        </p:nvSpPr>
        <p:spPr>
          <a:xfrm>
            <a:off x="3851920" y="1916832"/>
            <a:ext cx="1268556" cy="288032"/>
          </a:xfrm>
          <a:prstGeom prst="ellipse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Benefits from Cloud Computing</a:t>
            </a:r>
            <a:endParaRPr lang="zh-TW" altLang="en-US" dirty="0"/>
          </a:p>
        </p:txBody>
      </p:sp>
      <p:grpSp>
        <p:nvGrpSpPr>
          <p:cNvPr id="75" name="群組 74"/>
          <p:cNvGrpSpPr/>
          <p:nvPr/>
        </p:nvGrpSpPr>
        <p:grpSpPr>
          <a:xfrm>
            <a:off x="-468560" y="1268760"/>
            <a:ext cx="9612560" cy="5544616"/>
            <a:chOff x="-324544" y="1412776"/>
            <a:chExt cx="9468544" cy="5400600"/>
          </a:xfrm>
        </p:grpSpPr>
        <p:sp>
          <p:nvSpPr>
            <p:cNvPr id="291" name="Rectangle 3"/>
            <p:cNvSpPr>
              <a:spLocks noChangeArrowheads="1"/>
            </p:cNvSpPr>
            <p:nvPr/>
          </p:nvSpPr>
          <p:spPr bwMode="auto">
            <a:xfrm>
              <a:off x="-324544" y="1412776"/>
              <a:ext cx="9468544" cy="6699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2000" b="0" i="1" u="none" strike="noStrike" kern="0" cap="none" spc="0" normalizeH="0" baseline="0" noProof="0" dirty="0" smtClean="0">
                  <a:ln>
                    <a:noFill/>
                  </a:ln>
                  <a:solidFill>
                    <a:srgbClr val="013064"/>
                  </a:solidFill>
                  <a:effectLst/>
                  <a:uLnTx/>
                  <a:uFillTx/>
                  <a:ea typeface="新細明體" charset="-120"/>
                </a:rPr>
                <a:t>Q: Rate the </a:t>
              </a:r>
              <a:r>
                <a:rPr kumimoji="0" lang="en-US" altLang="zh-TW" sz="2400" b="0" i="1" u="none" strike="noStrike" kern="0" cap="none" spc="0" normalizeH="0" baseline="0" noProof="0" dirty="0" smtClean="0">
                  <a:ln>
                    <a:noFill/>
                  </a:ln>
                  <a:solidFill>
                    <a:srgbClr val="006600"/>
                  </a:solidFill>
                  <a:effectLst/>
                  <a:uLnTx/>
                  <a:uFillTx/>
                  <a:ea typeface="新細明體" charset="-120"/>
                </a:rPr>
                <a:t>benefits</a:t>
              </a:r>
              <a:r>
                <a:rPr kumimoji="0" lang="en-US" altLang="zh-TW" sz="2000" b="0" i="1" u="none" strike="noStrike" kern="0" cap="none" spc="0" normalizeH="0" baseline="0" noProof="0" dirty="0" smtClean="0">
                  <a:ln>
                    <a:noFill/>
                  </a:ln>
                  <a:solidFill>
                    <a:srgbClr val="013064"/>
                  </a:solidFill>
                  <a:effectLst/>
                  <a:uLnTx/>
                  <a:uFillTx/>
                  <a:ea typeface="新細明體" charset="-120"/>
                </a:rPr>
                <a:t> commonly ascribed to the 'cloud'/on-demand model </a:t>
              </a:r>
              <a:br>
                <a:rPr kumimoji="0" lang="en-US" altLang="zh-TW" sz="2000" b="0" i="1" u="none" strike="noStrike" kern="0" cap="none" spc="0" normalizeH="0" baseline="0" noProof="0" dirty="0" smtClean="0">
                  <a:ln>
                    <a:noFill/>
                  </a:ln>
                  <a:solidFill>
                    <a:srgbClr val="013064"/>
                  </a:solidFill>
                  <a:effectLst/>
                  <a:uLnTx/>
                  <a:uFillTx/>
                  <a:ea typeface="新細明體" charset="-120"/>
                </a:rPr>
              </a:br>
              <a:endParaRPr kumimoji="0" lang="en-US" altLang="zh-TW" sz="1400" b="0" i="1" u="none" strike="noStrike" kern="0" cap="none" spc="0" normalizeH="0" baseline="0" noProof="0" dirty="0" smtClean="0">
                <a:ln>
                  <a:noFill/>
                </a:ln>
                <a:solidFill>
                  <a:srgbClr val="013064"/>
                </a:solidFill>
                <a:effectLst/>
                <a:uLnTx/>
                <a:uFillTx/>
                <a:ea typeface="新細明體" charset="-120"/>
              </a:endParaRPr>
            </a:p>
          </p:txBody>
        </p:sp>
        <p:sp>
          <p:nvSpPr>
            <p:cNvPr id="292" name="Text Box 4"/>
            <p:cNvSpPr txBox="1">
              <a:spLocks noChangeArrowheads="1"/>
            </p:cNvSpPr>
            <p:nvPr/>
          </p:nvSpPr>
          <p:spPr bwMode="auto">
            <a:xfrm>
              <a:off x="136996" y="6538739"/>
              <a:ext cx="4597832" cy="27463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8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013064"/>
                  </a:solidFill>
                  <a:effectLst/>
                  <a:uLnTx/>
                  <a:uFillTx/>
                  <a:ea typeface="新細明體" charset="-120"/>
                </a:rPr>
                <a:t>Source: IDC Enterprise Panel, 3Q09, n = 263, September 2009</a:t>
              </a:r>
            </a:p>
          </p:txBody>
        </p:sp>
        <p:grpSp>
          <p:nvGrpSpPr>
            <p:cNvPr id="294" name="Group 340"/>
            <p:cNvGrpSpPr>
              <a:grpSpLocks/>
            </p:cNvGrpSpPr>
            <p:nvPr/>
          </p:nvGrpSpPr>
          <p:grpSpPr bwMode="auto">
            <a:xfrm>
              <a:off x="-290023" y="1877913"/>
              <a:ext cx="9434023" cy="4143375"/>
              <a:chOff x="-3" y="1161"/>
              <a:chExt cx="5817" cy="2610"/>
            </a:xfrm>
          </p:grpSpPr>
          <p:sp>
            <p:nvSpPr>
              <p:cNvPr id="295" name="AutoShape 271"/>
              <p:cNvSpPr>
                <a:spLocks noChangeAspect="1" noChangeArrowheads="1" noTextEdit="1"/>
              </p:cNvSpPr>
              <p:nvPr/>
            </p:nvSpPr>
            <p:spPr bwMode="auto">
              <a:xfrm>
                <a:off x="54" y="1161"/>
                <a:ext cx="5760" cy="26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 smtClean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296" name="Rectangle 274"/>
              <p:cNvSpPr>
                <a:spLocks noChangeArrowheads="1"/>
              </p:cNvSpPr>
              <p:nvPr/>
            </p:nvSpPr>
            <p:spPr bwMode="auto">
              <a:xfrm>
                <a:off x="2254" y="1303"/>
                <a:ext cx="3295" cy="2031"/>
              </a:xfrm>
              <a:prstGeom prst="rect">
                <a:avLst/>
              </a:prstGeom>
              <a:solidFill>
                <a:srgbClr val="C0C0C0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0" cap="none" spc="0" normalizeH="0" baseline="0" noProof="0" smtClean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297" name="Line 275"/>
              <p:cNvSpPr>
                <a:spLocks noChangeShapeType="1"/>
              </p:cNvSpPr>
              <p:nvPr/>
            </p:nvSpPr>
            <p:spPr bwMode="auto">
              <a:xfrm>
                <a:off x="2616" y="1303"/>
                <a:ext cx="1" cy="203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 smtClean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298" name="Line 276"/>
              <p:cNvSpPr>
                <a:spLocks noChangeShapeType="1"/>
              </p:cNvSpPr>
              <p:nvPr/>
            </p:nvSpPr>
            <p:spPr bwMode="auto">
              <a:xfrm>
                <a:off x="2987" y="1303"/>
                <a:ext cx="1" cy="203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 smtClean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299" name="Line 277"/>
              <p:cNvSpPr>
                <a:spLocks noChangeShapeType="1"/>
              </p:cNvSpPr>
              <p:nvPr/>
            </p:nvSpPr>
            <p:spPr bwMode="auto">
              <a:xfrm>
                <a:off x="3349" y="1303"/>
                <a:ext cx="1" cy="203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 smtClean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300" name="Line 278"/>
              <p:cNvSpPr>
                <a:spLocks noChangeShapeType="1"/>
              </p:cNvSpPr>
              <p:nvPr/>
            </p:nvSpPr>
            <p:spPr bwMode="auto">
              <a:xfrm>
                <a:off x="3720" y="1303"/>
                <a:ext cx="1" cy="203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 smtClean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301" name="Line 279"/>
              <p:cNvSpPr>
                <a:spLocks noChangeShapeType="1"/>
              </p:cNvSpPr>
              <p:nvPr/>
            </p:nvSpPr>
            <p:spPr bwMode="auto">
              <a:xfrm>
                <a:off x="4082" y="1303"/>
                <a:ext cx="1" cy="203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 smtClean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302" name="Line 280"/>
              <p:cNvSpPr>
                <a:spLocks noChangeShapeType="1"/>
              </p:cNvSpPr>
              <p:nvPr/>
            </p:nvSpPr>
            <p:spPr bwMode="auto">
              <a:xfrm>
                <a:off x="4454" y="1303"/>
                <a:ext cx="1" cy="203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 smtClean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303" name="Line 281"/>
              <p:cNvSpPr>
                <a:spLocks noChangeShapeType="1"/>
              </p:cNvSpPr>
              <p:nvPr/>
            </p:nvSpPr>
            <p:spPr bwMode="auto">
              <a:xfrm>
                <a:off x="4816" y="1303"/>
                <a:ext cx="1" cy="203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 smtClean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304" name="Line 282"/>
              <p:cNvSpPr>
                <a:spLocks noChangeShapeType="1"/>
              </p:cNvSpPr>
              <p:nvPr/>
            </p:nvSpPr>
            <p:spPr bwMode="auto">
              <a:xfrm>
                <a:off x="5187" y="1303"/>
                <a:ext cx="1" cy="203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 smtClean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305" name="Line 283"/>
              <p:cNvSpPr>
                <a:spLocks noChangeShapeType="1"/>
              </p:cNvSpPr>
              <p:nvPr/>
            </p:nvSpPr>
            <p:spPr bwMode="auto">
              <a:xfrm>
                <a:off x="5549" y="1303"/>
                <a:ext cx="1" cy="203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 smtClean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306" name="Rectangle 284"/>
              <p:cNvSpPr>
                <a:spLocks noChangeArrowheads="1"/>
              </p:cNvSpPr>
              <p:nvPr/>
            </p:nvSpPr>
            <p:spPr bwMode="auto">
              <a:xfrm>
                <a:off x="2254" y="1303"/>
                <a:ext cx="3295" cy="2031"/>
              </a:xfrm>
              <a:prstGeom prst="rect">
                <a:avLst/>
              </a:prstGeom>
              <a:noFill/>
              <a:ln w="14288">
                <a:solidFill>
                  <a:srgbClr val="80808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0" cap="none" spc="0" normalizeH="0" baseline="0" noProof="0" smtClean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307" name="Rectangle 285"/>
              <p:cNvSpPr>
                <a:spLocks noChangeArrowheads="1"/>
              </p:cNvSpPr>
              <p:nvPr/>
            </p:nvSpPr>
            <p:spPr bwMode="auto">
              <a:xfrm>
                <a:off x="2254" y="3154"/>
                <a:ext cx="1979" cy="104"/>
              </a:xfrm>
              <a:prstGeom prst="rect">
                <a:avLst/>
              </a:prstGeom>
              <a:solidFill>
                <a:srgbClr val="006600"/>
              </a:solidFill>
              <a:ln w="14288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0" cap="none" spc="0" normalizeH="0" baseline="0" noProof="0" smtClean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308" name="Rectangle 286"/>
              <p:cNvSpPr>
                <a:spLocks noChangeArrowheads="1"/>
              </p:cNvSpPr>
              <p:nvPr/>
            </p:nvSpPr>
            <p:spPr bwMode="auto">
              <a:xfrm>
                <a:off x="2254" y="2898"/>
                <a:ext cx="2341" cy="104"/>
              </a:xfrm>
              <a:prstGeom prst="rect">
                <a:avLst/>
              </a:prstGeom>
              <a:solidFill>
                <a:srgbClr val="006600"/>
              </a:solidFill>
              <a:ln w="14288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0" cap="none" spc="0" normalizeH="0" baseline="0" noProof="0" smtClean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309" name="Rectangle 287"/>
              <p:cNvSpPr>
                <a:spLocks noChangeArrowheads="1"/>
              </p:cNvSpPr>
              <p:nvPr/>
            </p:nvSpPr>
            <p:spPr bwMode="auto">
              <a:xfrm>
                <a:off x="2254" y="2651"/>
                <a:ext cx="2367" cy="95"/>
              </a:xfrm>
              <a:prstGeom prst="rect">
                <a:avLst/>
              </a:prstGeom>
              <a:solidFill>
                <a:srgbClr val="006600"/>
              </a:solidFill>
              <a:ln w="14288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0" cap="none" spc="0" normalizeH="0" baseline="0" noProof="0" smtClean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310" name="Rectangle 288"/>
              <p:cNvSpPr>
                <a:spLocks noChangeArrowheads="1"/>
              </p:cNvSpPr>
              <p:nvPr/>
            </p:nvSpPr>
            <p:spPr bwMode="auto">
              <a:xfrm>
                <a:off x="2254" y="2395"/>
                <a:ext cx="2456" cy="104"/>
              </a:xfrm>
              <a:prstGeom prst="rect">
                <a:avLst/>
              </a:prstGeom>
              <a:solidFill>
                <a:srgbClr val="006600"/>
              </a:solidFill>
              <a:ln w="14288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0" cap="none" spc="0" normalizeH="0" baseline="0" noProof="0" smtClean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311" name="Rectangle 289"/>
              <p:cNvSpPr>
                <a:spLocks noChangeArrowheads="1"/>
              </p:cNvSpPr>
              <p:nvPr/>
            </p:nvSpPr>
            <p:spPr bwMode="auto">
              <a:xfrm>
                <a:off x="2254" y="2139"/>
                <a:ext cx="2509" cy="104"/>
              </a:xfrm>
              <a:prstGeom prst="rect">
                <a:avLst/>
              </a:prstGeom>
              <a:solidFill>
                <a:srgbClr val="006600"/>
              </a:solidFill>
              <a:ln w="14288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0" cap="none" spc="0" normalizeH="0" baseline="0" noProof="0" smtClean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312" name="Rectangle 290"/>
              <p:cNvSpPr>
                <a:spLocks noChangeArrowheads="1"/>
              </p:cNvSpPr>
              <p:nvPr/>
            </p:nvSpPr>
            <p:spPr bwMode="auto">
              <a:xfrm>
                <a:off x="2254" y="1882"/>
                <a:ext cx="2756" cy="105"/>
              </a:xfrm>
              <a:prstGeom prst="rect">
                <a:avLst/>
              </a:prstGeom>
              <a:solidFill>
                <a:srgbClr val="006600"/>
              </a:solidFill>
              <a:ln w="14288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0" cap="none" spc="0" normalizeH="0" baseline="0" noProof="0" smtClean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313" name="Rectangle 291"/>
              <p:cNvSpPr>
                <a:spLocks noChangeArrowheads="1"/>
              </p:cNvSpPr>
              <p:nvPr/>
            </p:nvSpPr>
            <p:spPr bwMode="auto">
              <a:xfrm>
                <a:off x="2254" y="1636"/>
                <a:ext cx="2844" cy="94"/>
              </a:xfrm>
              <a:prstGeom prst="rect">
                <a:avLst/>
              </a:prstGeom>
              <a:solidFill>
                <a:srgbClr val="006600"/>
              </a:solidFill>
              <a:ln w="14288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0" cap="none" spc="0" normalizeH="0" baseline="0" noProof="0" smtClean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314" name="Rectangle 292"/>
              <p:cNvSpPr>
                <a:spLocks noChangeArrowheads="1"/>
              </p:cNvSpPr>
              <p:nvPr/>
            </p:nvSpPr>
            <p:spPr bwMode="auto">
              <a:xfrm>
                <a:off x="2254" y="1379"/>
                <a:ext cx="2853" cy="105"/>
              </a:xfrm>
              <a:prstGeom prst="rect">
                <a:avLst/>
              </a:prstGeom>
              <a:solidFill>
                <a:srgbClr val="006600"/>
              </a:solidFill>
              <a:ln w="14288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0" cap="none" spc="0" normalizeH="0" baseline="0" noProof="0" smtClean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315" name="Line 293"/>
              <p:cNvSpPr>
                <a:spLocks noChangeShapeType="1"/>
              </p:cNvSpPr>
              <p:nvPr/>
            </p:nvSpPr>
            <p:spPr bwMode="auto">
              <a:xfrm>
                <a:off x="2254" y="3334"/>
                <a:ext cx="3295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 smtClean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316" name="Line 294"/>
              <p:cNvSpPr>
                <a:spLocks noChangeShapeType="1"/>
              </p:cNvSpPr>
              <p:nvPr/>
            </p:nvSpPr>
            <p:spPr bwMode="auto">
              <a:xfrm flipV="1">
                <a:off x="2254" y="3334"/>
                <a:ext cx="1" cy="38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 smtClean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317" name="Line 295"/>
              <p:cNvSpPr>
                <a:spLocks noChangeShapeType="1"/>
              </p:cNvSpPr>
              <p:nvPr/>
            </p:nvSpPr>
            <p:spPr bwMode="auto">
              <a:xfrm flipV="1">
                <a:off x="2616" y="3334"/>
                <a:ext cx="1" cy="38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 smtClean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318" name="Line 296"/>
              <p:cNvSpPr>
                <a:spLocks noChangeShapeType="1"/>
              </p:cNvSpPr>
              <p:nvPr/>
            </p:nvSpPr>
            <p:spPr bwMode="auto">
              <a:xfrm flipV="1">
                <a:off x="2987" y="3334"/>
                <a:ext cx="1" cy="38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 smtClean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319" name="Line 297"/>
              <p:cNvSpPr>
                <a:spLocks noChangeShapeType="1"/>
              </p:cNvSpPr>
              <p:nvPr/>
            </p:nvSpPr>
            <p:spPr bwMode="auto">
              <a:xfrm flipV="1">
                <a:off x="3349" y="3334"/>
                <a:ext cx="1" cy="38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 smtClean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320" name="Line 298"/>
              <p:cNvSpPr>
                <a:spLocks noChangeShapeType="1"/>
              </p:cNvSpPr>
              <p:nvPr/>
            </p:nvSpPr>
            <p:spPr bwMode="auto">
              <a:xfrm flipV="1">
                <a:off x="3720" y="3334"/>
                <a:ext cx="1" cy="38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 smtClean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321" name="Line 299"/>
              <p:cNvSpPr>
                <a:spLocks noChangeShapeType="1"/>
              </p:cNvSpPr>
              <p:nvPr/>
            </p:nvSpPr>
            <p:spPr bwMode="auto">
              <a:xfrm flipV="1">
                <a:off x="4082" y="3334"/>
                <a:ext cx="1" cy="38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 smtClean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322" name="Line 300"/>
              <p:cNvSpPr>
                <a:spLocks noChangeShapeType="1"/>
              </p:cNvSpPr>
              <p:nvPr/>
            </p:nvSpPr>
            <p:spPr bwMode="auto">
              <a:xfrm flipV="1">
                <a:off x="4454" y="3334"/>
                <a:ext cx="1" cy="38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 smtClean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323" name="Line 301"/>
              <p:cNvSpPr>
                <a:spLocks noChangeShapeType="1"/>
              </p:cNvSpPr>
              <p:nvPr/>
            </p:nvSpPr>
            <p:spPr bwMode="auto">
              <a:xfrm flipV="1">
                <a:off x="4816" y="3334"/>
                <a:ext cx="1" cy="38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 smtClean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324" name="Line 302"/>
              <p:cNvSpPr>
                <a:spLocks noChangeShapeType="1"/>
              </p:cNvSpPr>
              <p:nvPr/>
            </p:nvSpPr>
            <p:spPr bwMode="auto">
              <a:xfrm flipV="1">
                <a:off x="5187" y="3334"/>
                <a:ext cx="1" cy="38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 smtClean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325" name="Line 303"/>
              <p:cNvSpPr>
                <a:spLocks noChangeShapeType="1"/>
              </p:cNvSpPr>
              <p:nvPr/>
            </p:nvSpPr>
            <p:spPr bwMode="auto">
              <a:xfrm flipV="1">
                <a:off x="5549" y="3334"/>
                <a:ext cx="1" cy="38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 smtClean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326" name="Line 304"/>
              <p:cNvSpPr>
                <a:spLocks noChangeShapeType="1"/>
              </p:cNvSpPr>
              <p:nvPr/>
            </p:nvSpPr>
            <p:spPr bwMode="auto">
              <a:xfrm>
                <a:off x="2254" y="1303"/>
                <a:ext cx="1" cy="203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 smtClean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327" name="Line 305"/>
              <p:cNvSpPr>
                <a:spLocks noChangeShapeType="1"/>
              </p:cNvSpPr>
              <p:nvPr/>
            </p:nvSpPr>
            <p:spPr bwMode="auto">
              <a:xfrm>
                <a:off x="2218" y="3334"/>
                <a:ext cx="36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 smtClean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328" name="Line 306"/>
              <p:cNvSpPr>
                <a:spLocks noChangeShapeType="1"/>
              </p:cNvSpPr>
              <p:nvPr/>
            </p:nvSpPr>
            <p:spPr bwMode="auto">
              <a:xfrm>
                <a:off x="2218" y="3078"/>
                <a:ext cx="36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 smtClean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329" name="Line 307"/>
              <p:cNvSpPr>
                <a:spLocks noChangeShapeType="1"/>
              </p:cNvSpPr>
              <p:nvPr/>
            </p:nvSpPr>
            <p:spPr bwMode="auto">
              <a:xfrm>
                <a:off x="2218" y="2822"/>
                <a:ext cx="36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 smtClean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330" name="Line 308"/>
              <p:cNvSpPr>
                <a:spLocks noChangeShapeType="1"/>
              </p:cNvSpPr>
              <p:nvPr/>
            </p:nvSpPr>
            <p:spPr bwMode="auto">
              <a:xfrm>
                <a:off x="2218" y="2575"/>
                <a:ext cx="36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 smtClean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331" name="Line 309"/>
              <p:cNvSpPr>
                <a:spLocks noChangeShapeType="1"/>
              </p:cNvSpPr>
              <p:nvPr/>
            </p:nvSpPr>
            <p:spPr bwMode="auto">
              <a:xfrm>
                <a:off x="2218" y="2319"/>
                <a:ext cx="36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 smtClean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332" name="Line 310"/>
              <p:cNvSpPr>
                <a:spLocks noChangeShapeType="1"/>
              </p:cNvSpPr>
              <p:nvPr/>
            </p:nvSpPr>
            <p:spPr bwMode="auto">
              <a:xfrm>
                <a:off x="2218" y="2063"/>
                <a:ext cx="36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 smtClean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333" name="Line 311"/>
              <p:cNvSpPr>
                <a:spLocks noChangeShapeType="1"/>
              </p:cNvSpPr>
              <p:nvPr/>
            </p:nvSpPr>
            <p:spPr bwMode="auto">
              <a:xfrm>
                <a:off x="2218" y="1806"/>
                <a:ext cx="36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 smtClean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334" name="Line 312"/>
              <p:cNvSpPr>
                <a:spLocks noChangeShapeType="1"/>
              </p:cNvSpPr>
              <p:nvPr/>
            </p:nvSpPr>
            <p:spPr bwMode="auto">
              <a:xfrm>
                <a:off x="2218" y="1560"/>
                <a:ext cx="36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 smtClean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335" name="Line 313"/>
              <p:cNvSpPr>
                <a:spLocks noChangeShapeType="1"/>
              </p:cNvSpPr>
              <p:nvPr/>
            </p:nvSpPr>
            <p:spPr bwMode="auto">
              <a:xfrm>
                <a:off x="2218" y="1303"/>
                <a:ext cx="36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 smtClean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336" name="Rectangle 314"/>
              <p:cNvSpPr>
                <a:spLocks noChangeArrowheads="1"/>
              </p:cNvSpPr>
              <p:nvPr/>
            </p:nvSpPr>
            <p:spPr bwMode="auto">
              <a:xfrm>
                <a:off x="4268" y="3126"/>
                <a:ext cx="346" cy="14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500" b="0" i="0" u="none" strike="noStrike" kern="0" cap="none" spc="0" normalizeH="0" baseline="0" noProof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新細明體" charset="-120"/>
                  </a:rPr>
                  <a:t>54.0%</a:t>
                </a:r>
                <a:endParaRPr kumimoji="0" lang="en-US" altLang="zh-TW" sz="2400" b="0" i="0" u="none" strike="noStrike" kern="0" cap="none" spc="0" normalizeH="0" baseline="0" noProof="0" smtClean="0">
                  <a:ln>
                    <a:noFill/>
                  </a:ln>
                  <a:solidFill>
                    <a:srgbClr val="013064"/>
                  </a:solidFill>
                  <a:effectLst/>
                  <a:uLnTx/>
                  <a:uFillTx/>
                  <a:ea typeface="新細明體" charset="-120"/>
                </a:endParaRPr>
              </a:p>
            </p:txBody>
          </p:sp>
          <p:sp>
            <p:nvSpPr>
              <p:cNvPr id="337" name="Rectangle 315"/>
              <p:cNvSpPr>
                <a:spLocks noChangeArrowheads="1"/>
              </p:cNvSpPr>
              <p:nvPr/>
            </p:nvSpPr>
            <p:spPr bwMode="auto">
              <a:xfrm>
                <a:off x="4630" y="2869"/>
                <a:ext cx="346" cy="14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500" b="0" i="0" u="none" strike="noStrike" kern="0" cap="none" spc="0" normalizeH="0" baseline="0" noProof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新細明體" charset="-120"/>
                  </a:rPr>
                  <a:t>63.9%</a:t>
                </a:r>
                <a:endParaRPr kumimoji="0" lang="en-US" altLang="zh-TW" sz="2400" b="0" i="0" u="none" strike="noStrike" kern="0" cap="none" spc="0" normalizeH="0" baseline="0" noProof="0" smtClean="0">
                  <a:ln>
                    <a:noFill/>
                  </a:ln>
                  <a:solidFill>
                    <a:srgbClr val="013064"/>
                  </a:solidFill>
                  <a:effectLst/>
                  <a:uLnTx/>
                  <a:uFillTx/>
                  <a:ea typeface="新細明體" charset="-120"/>
                </a:endParaRPr>
              </a:p>
            </p:txBody>
          </p:sp>
          <p:sp>
            <p:nvSpPr>
              <p:cNvPr id="338" name="Rectangle 316"/>
              <p:cNvSpPr>
                <a:spLocks noChangeArrowheads="1"/>
              </p:cNvSpPr>
              <p:nvPr/>
            </p:nvSpPr>
            <p:spPr bwMode="auto">
              <a:xfrm>
                <a:off x="4657" y="2623"/>
                <a:ext cx="346" cy="14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500" b="0" i="0" u="none" strike="noStrike" kern="0" cap="none" spc="0" normalizeH="0" baseline="0" noProof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新細明體" charset="-120"/>
                  </a:rPr>
                  <a:t>64.6%</a:t>
                </a:r>
                <a:endParaRPr kumimoji="0" lang="en-US" altLang="zh-TW" sz="2400" b="0" i="0" u="none" strike="noStrike" kern="0" cap="none" spc="0" normalizeH="0" baseline="0" noProof="0" smtClean="0">
                  <a:ln>
                    <a:noFill/>
                  </a:ln>
                  <a:solidFill>
                    <a:srgbClr val="013064"/>
                  </a:solidFill>
                  <a:effectLst/>
                  <a:uLnTx/>
                  <a:uFillTx/>
                  <a:ea typeface="新細明體" charset="-120"/>
                </a:endParaRPr>
              </a:p>
            </p:txBody>
          </p:sp>
          <p:sp>
            <p:nvSpPr>
              <p:cNvPr id="339" name="Rectangle 317"/>
              <p:cNvSpPr>
                <a:spLocks noChangeArrowheads="1"/>
              </p:cNvSpPr>
              <p:nvPr/>
            </p:nvSpPr>
            <p:spPr bwMode="auto">
              <a:xfrm>
                <a:off x="4745" y="2366"/>
                <a:ext cx="345" cy="14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500" b="0" i="0" u="none" strike="noStrike" kern="0" cap="none" spc="0" normalizeH="0" baseline="0" noProof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新細明體" charset="-120"/>
                  </a:rPr>
                  <a:t>67.0%</a:t>
                </a:r>
                <a:endParaRPr kumimoji="0" lang="en-US" altLang="zh-TW" sz="2400" b="0" i="0" u="none" strike="noStrike" kern="0" cap="none" spc="0" normalizeH="0" baseline="0" noProof="0" smtClean="0">
                  <a:ln>
                    <a:noFill/>
                  </a:ln>
                  <a:solidFill>
                    <a:srgbClr val="013064"/>
                  </a:solidFill>
                  <a:effectLst/>
                  <a:uLnTx/>
                  <a:uFillTx/>
                  <a:ea typeface="新細明體" charset="-120"/>
                </a:endParaRPr>
              </a:p>
            </p:txBody>
          </p:sp>
          <p:sp>
            <p:nvSpPr>
              <p:cNvPr id="340" name="Rectangle 318"/>
              <p:cNvSpPr>
                <a:spLocks noChangeArrowheads="1"/>
              </p:cNvSpPr>
              <p:nvPr/>
            </p:nvSpPr>
            <p:spPr bwMode="auto">
              <a:xfrm>
                <a:off x="4798" y="2110"/>
                <a:ext cx="346" cy="14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500" b="0" i="0" u="none" strike="noStrike" kern="0" cap="none" spc="0" normalizeH="0" baseline="0" noProof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新細明體" charset="-120"/>
                  </a:rPr>
                  <a:t>68.5%</a:t>
                </a:r>
                <a:endParaRPr kumimoji="0" lang="en-US" altLang="zh-TW" sz="2400" b="0" i="0" u="none" strike="noStrike" kern="0" cap="none" spc="0" normalizeH="0" baseline="0" noProof="0" smtClean="0">
                  <a:ln>
                    <a:noFill/>
                  </a:ln>
                  <a:solidFill>
                    <a:srgbClr val="013064"/>
                  </a:solidFill>
                  <a:effectLst/>
                  <a:uLnTx/>
                  <a:uFillTx/>
                  <a:ea typeface="新細明體" charset="-120"/>
                </a:endParaRPr>
              </a:p>
            </p:txBody>
          </p:sp>
          <p:sp>
            <p:nvSpPr>
              <p:cNvPr id="341" name="Rectangle 319"/>
              <p:cNvSpPr>
                <a:spLocks noChangeArrowheads="1"/>
              </p:cNvSpPr>
              <p:nvPr/>
            </p:nvSpPr>
            <p:spPr bwMode="auto">
              <a:xfrm>
                <a:off x="5045" y="1854"/>
                <a:ext cx="345" cy="14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500" b="0" i="0" u="none" strike="noStrike" kern="0" cap="none" spc="0" normalizeH="0" baseline="0" noProof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新細明體" charset="-120"/>
                  </a:rPr>
                  <a:t>75.3%</a:t>
                </a:r>
                <a:endParaRPr kumimoji="0" lang="en-US" altLang="zh-TW" sz="2400" b="0" i="0" u="none" strike="noStrike" kern="0" cap="none" spc="0" normalizeH="0" baseline="0" noProof="0" smtClean="0">
                  <a:ln>
                    <a:noFill/>
                  </a:ln>
                  <a:solidFill>
                    <a:srgbClr val="013064"/>
                  </a:solidFill>
                  <a:effectLst/>
                  <a:uLnTx/>
                  <a:uFillTx/>
                  <a:ea typeface="新細明體" charset="-120"/>
                </a:endParaRPr>
              </a:p>
            </p:txBody>
          </p:sp>
          <p:sp>
            <p:nvSpPr>
              <p:cNvPr id="342" name="Rectangle 320"/>
              <p:cNvSpPr>
                <a:spLocks noChangeArrowheads="1"/>
              </p:cNvSpPr>
              <p:nvPr/>
            </p:nvSpPr>
            <p:spPr bwMode="auto">
              <a:xfrm>
                <a:off x="5134" y="1607"/>
                <a:ext cx="346" cy="14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500" b="0" i="0" u="none" strike="noStrike" kern="0" cap="none" spc="0" normalizeH="0" baseline="0" noProof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新細明體" charset="-120"/>
                  </a:rPr>
                  <a:t>77.7%</a:t>
                </a:r>
                <a:endParaRPr kumimoji="0" lang="en-US" altLang="zh-TW" sz="2400" b="0" i="0" u="none" strike="noStrike" kern="0" cap="none" spc="0" normalizeH="0" baseline="0" noProof="0" smtClean="0">
                  <a:ln>
                    <a:noFill/>
                  </a:ln>
                  <a:solidFill>
                    <a:srgbClr val="013064"/>
                  </a:solidFill>
                  <a:effectLst/>
                  <a:uLnTx/>
                  <a:uFillTx/>
                  <a:ea typeface="新細明體" charset="-120"/>
                </a:endParaRPr>
              </a:p>
            </p:txBody>
          </p:sp>
          <p:sp>
            <p:nvSpPr>
              <p:cNvPr id="343" name="Rectangle 321"/>
              <p:cNvSpPr>
                <a:spLocks noChangeArrowheads="1"/>
              </p:cNvSpPr>
              <p:nvPr/>
            </p:nvSpPr>
            <p:spPr bwMode="auto">
              <a:xfrm>
                <a:off x="5143" y="1351"/>
                <a:ext cx="346" cy="14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500" b="0" i="0" u="none" strike="noStrike" kern="0" cap="none" spc="0" normalizeH="0" baseline="0" noProof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新細明體" charset="-120"/>
                  </a:rPr>
                  <a:t>77.9%</a:t>
                </a:r>
                <a:endParaRPr kumimoji="0" lang="en-US" altLang="zh-TW" sz="2400" b="0" i="0" u="none" strike="noStrike" kern="0" cap="none" spc="0" normalizeH="0" baseline="0" noProof="0" smtClean="0">
                  <a:ln>
                    <a:noFill/>
                  </a:ln>
                  <a:solidFill>
                    <a:srgbClr val="013064"/>
                  </a:solidFill>
                  <a:effectLst/>
                  <a:uLnTx/>
                  <a:uFillTx/>
                  <a:ea typeface="新細明體" charset="-120"/>
                </a:endParaRPr>
              </a:p>
            </p:txBody>
          </p:sp>
          <p:sp>
            <p:nvSpPr>
              <p:cNvPr id="344" name="Rectangle 322"/>
              <p:cNvSpPr>
                <a:spLocks noChangeArrowheads="1"/>
              </p:cNvSpPr>
              <p:nvPr/>
            </p:nvSpPr>
            <p:spPr bwMode="auto">
              <a:xfrm>
                <a:off x="2174" y="3439"/>
                <a:ext cx="177" cy="14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500" b="0" i="0" u="none" strike="noStrike" kern="0" cap="none" spc="0" normalizeH="0" baseline="0" noProof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新細明體" charset="-120"/>
                  </a:rPr>
                  <a:t>0%</a:t>
                </a:r>
                <a:endParaRPr kumimoji="0" lang="en-US" altLang="zh-TW" sz="2400" b="0" i="0" u="none" strike="noStrike" kern="0" cap="none" spc="0" normalizeH="0" baseline="0" noProof="0" smtClean="0">
                  <a:ln>
                    <a:noFill/>
                  </a:ln>
                  <a:solidFill>
                    <a:srgbClr val="013064"/>
                  </a:solidFill>
                  <a:effectLst/>
                  <a:uLnTx/>
                  <a:uFillTx/>
                  <a:ea typeface="新細明體" charset="-120"/>
                </a:endParaRPr>
              </a:p>
            </p:txBody>
          </p:sp>
          <p:sp>
            <p:nvSpPr>
              <p:cNvPr id="345" name="Rectangle 323"/>
              <p:cNvSpPr>
                <a:spLocks noChangeArrowheads="1"/>
              </p:cNvSpPr>
              <p:nvPr/>
            </p:nvSpPr>
            <p:spPr bwMode="auto">
              <a:xfrm>
                <a:off x="2501" y="3439"/>
                <a:ext cx="244" cy="14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500" b="0" i="0" u="none" strike="noStrike" kern="0" cap="none" spc="0" normalizeH="0" baseline="0" noProof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新細明體" charset="-120"/>
                  </a:rPr>
                  <a:t>10%</a:t>
                </a:r>
                <a:endParaRPr kumimoji="0" lang="en-US" altLang="zh-TW" sz="2400" b="0" i="0" u="none" strike="noStrike" kern="0" cap="none" spc="0" normalizeH="0" baseline="0" noProof="0" smtClean="0">
                  <a:ln>
                    <a:noFill/>
                  </a:ln>
                  <a:solidFill>
                    <a:srgbClr val="013064"/>
                  </a:solidFill>
                  <a:effectLst/>
                  <a:uLnTx/>
                  <a:uFillTx/>
                  <a:ea typeface="新細明體" charset="-120"/>
                </a:endParaRPr>
              </a:p>
            </p:txBody>
          </p:sp>
          <p:sp>
            <p:nvSpPr>
              <p:cNvPr id="346" name="Rectangle 324"/>
              <p:cNvSpPr>
                <a:spLocks noChangeArrowheads="1"/>
              </p:cNvSpPr>
              <p:nvPr/>
            </p:nvSpPr>
            <p:spPr bwMode="auto">
              <a:xfrm>
                <a:off x="2872" y="3439"/>
                <a:ext cx="244" cy="14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500" b="0" i="0" u="none" strike="noStrike" kern="0" cap="none" spc="0" normalizeH="0" baseline="0" noProof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新細明體" charset="-120"/>
                  </a:rPr>
                  <a:t>20%</a:t>
                </a:r>
                <a:endParaRPr kumimoji="0" lang="en-US" altLang="zh-TW" sz="2400" b="0" i="0" u="none" strike="noStrike" kern="0" cap="none" spc="0" normalizeH="0" baseline="0" noProof="0" smtClean="0">
                  <a:ln>
                    <a:noFill/>
                  </a:ln>
                  <a:solidFill>
                    <a:srgbClr val="013064"/>
                  </a:solidFill>
                  <a:effectLst/>
                  <a:uLnTx/>
                  <a:uFillTx/>
                  <a:ea typeface="新細明體" charset="-120"/>
                </a:endParaRPr>
              </a:p>
            </p:txBody>
          </p:sp>
          <p:sp>
            <p:nvSpPr>
              <p:cNvPr id="347" name="Rectangle 325"/>
              <p:cNvSpPr>
                <a:spLocks noChangeArrowheads="1"/>
              </p:cNvSpPr>
              <p:nvPr/>
            </p:nvSpPr>
            <p:spPr bwMode="auto">
              <a:xfrm>
                <a:off x="3234" y="3439"/>
                <a:ext cx="245" cy="14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500" b="0" i="0" u="none" strike="noStrike" kern="0" cap="none" spc="0" normalizeH="0" baseline="0" noProof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新細明體" charset="-120"/>
                  </a:rPr>
                  <a:t>30%</a:t>
                </a:r>
                <a:endParaRPr kumimoji="0" lang="en-US" altLang="zh-TW" sz="2400" b="0" i="0" u="none" strike="noStrike" kern="0" cap="none" spc="0" normalizeH="0" baseline="0" noProof="0" smtClean="0">
                  <a:ln>
                    <a:noFill/>
                  </a:ln>
                  <a:solidFill>
                    <a:srgbClr val="013064"/>
                  </a:solidFill>
                  <a:effectLst/>
                  <a:uLnTx/>
                  <a:uFillTx/>
                  <a:ea typeface="新細明體" charset="-120"/>
                </a:endParaRPr>
              </a:p>
            </p:txBody>
          </p:sp>
          <p:sp>
            <p:nvSpPr>
              <p:cNvPr id="348" name="Rectangle 326"/>
              <p:cNvSpPr>
                <a:spLocks noChangeArrowheads="1"/>
              </p:cNvSpPr>
              <p:nvPr/>
            </p:nvSpPr>
            <p:spPr bwMode="auto">
              <a:xfrm>
                <a:off x="3605" y="3439"/>
                <a:ext cx="245" cy="14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500" b="0" i="0" u="none" strike="noStrike" kern="0" cap="none" spc="0" normalizeH="0" baseline="0" noProof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新細明體" charset="-120"/>
                  </a:rPr>
                  <a:t>40%</a:t>
                </a:r>
                <a:endParaRPr kumimoji="0" lang="en-US" altLang="zh-TW" sz="2400" b="0" i="0" u="none" strike="noStrike" kern="0" cap="none" spc="0" normalizeH="0" baseline="0" noProof="0" smtClean="0">
                  <a:ln>
                    <a:noFill/>
                  </a:ln>
                  <a:solidFill>
                    <a:srgbClr val="013064"/>
                  </a:solidFill>
                  <a:effectLst/>
                  <a:uLnTx/>
                  <a:uFillTx/>
                  <a:ea typeface="新細明體" charset="-120"/>
                </a:endParaRPr>
              </a:p>
            </p:txBody>
          </p:sp>
          <p:sp>
            <p:nvSpPr>
              <p:cNvPr id="349" name="Rectangle 327"/>
              <p:cNvSpPr>
                <a:spLocks noChangeArrowheads="1"/>
              </p:cNvSpPr>
              <p:nvPr/>
            </p:nvSpPr>
            <p:spPr bwMode="auto">
              <a:xfrm>
                <a:off x="3968" y="3439"/>
                <a:ext cx="245" cy="14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500" b="0" i="0" u="none" strike="noStrike" kern="0" cap="none" spc="0" normalizeH="0" baseline="0" noProof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新細明體" charset="-120"/>
                  </a:rPr>
                  <a:t>50%</a:t>
                </a:r>
                <a:endParaRPr kumimoji="0" lang="en-US" altLang="zh-TW" sz="2400" b="0" i="0" u="none" strike="noStrike" kern="0" cap="none" spc="0" normalizeH="0" baseline="0" noProof="0" smtClean="0">
                  <a:ln>
                    <a:noFill/>
                  </a:ln>
                  <a:solidFill>
                    <a:srgbClr val="013064"/>
                  </a:solidFill>
                  <a:effectLst/>
                  <a:uLnTx/>
                  <a:uFillTx/>
                  <a:ea typeface="新細明體" charset="-120"/>
                </a:endParaRPr>
              </a:p>
            </p:txBody>
          </p:sp>
          <p:sp>
            <p:nvSpPr>
              <p:cNvPr id="350" name="Rectangle 328"/>
              <p:cNvSpPr>
                <a:spLocks noChangeArrowheads="1"/>
              </p:cNvSpPr>
              <p:nvPr/>
            </p:nvSpPr>
            <p:spPr bwMode="auto">
              <a:xfrm>
                <a:off x="4339" y="3439"/>
                <a:ext cx="245" cy="14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500" b="0" i="0" u="none" strike="noStrike" kern="0" cap="none" spc="0" normalizeH="0" baseline="0" noProof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新細明體" charset="-120"/>
                  </a:rPr>
                  <a:t>60%</a:t>
                </a:r>
                <a:endParaRPr kumimoji="0" lang="en-US" altLang="zh-TW" sz="2400" b="0" i="0" u="none" strike="noStrike" kern="0" cap="none" spc="0" normalizeH="0" baseline="0" noProof="0" smtClean="0">
                  <a:ln>
                    <a:noFill/>
                  </a:ln>
                  <a:solidFill>
                    <a:srgbClr val="013064"/>
                  </a:solidFill>
                  <a:effectLst/>
                  <a:uLnTx/>
                  <a:uFillTx/>
                  <a:ea typeface="新細明體" charset="-120"/>
                </a:endParaRPr>
              </a:p>
            </p:txBody>
          </p:sp>
          <p:sp>
            <p:nvSpPr>
              <p:cNvPr id="351" name="Rectangle 329"/>
              <p:cNvSpPr>
                <a:spLocks noChangeArrowheads="1"/>
              </p:cNvSpPr>
              <p:nvPr/>
            </p:nvSpPr>
            <p:spPr bwMode="auto">
              <a:xfrm>
                <a:off x="4701" y="3439"/>
                <a:ext cx="244" cy="14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500" b="0" i="0" u="none" strike="noStrike" kern="0" cap="none" spc="0" normalizeH="0" baseline="0" noProof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新細明體" charset="-120"/>
                  </a:rPr>
                  <a:t>70%</a:t>
                </a:r>
                <a:endParaRPr kumimoji="0" lang="en-US" altLang="zh-TW" sz="2400" b="0" i="0" u="none" strike="noStrike" kern="0" cap="none" spc="0" normalizeH="0" baseline="0" noProof="0" smtClean="0">
                  <a:ln>
                    <a:noFill/>
                  </a:ln>
                  <a:solidFill>
                    <a:srgbClr val="013064"/>
                  </a:solidFill>
                  <a:effectLst/>
                  <a:uLnTx/>
                  <a:uFillTx/>
                  <a:ea typeface="新細明體" charset="-120"/>
                </a:endParaRPr>
              </a:p>
            </p:txBody>
          </p:sp>
          <p:sp>
            <p:nvSpPr>
              <p:cNvPr id="352" name="Rectangle 330"/>
              <p:cNvSpPr>
                <a:spLocks noChangeArrowheads="1"/>
              </p:cNvSpPr>
              <p:nvPr/>
            </p:nvSpPr>
            <p:spPr bwMode="auto">
              <a:xfrm>
                <a:off x="5072" y="3439"/>
                <a:ext cx="244" cy="14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500" b="0" i="0" u="none" strike="noStrike" kern="0" cap="none" spc="0" normalizeH="0" baseline="0" noProof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新細明體" charset="-120"/>
                  </a:rPr>
                  <a:t>80%</a:t>
                </a:r>
                <a:endParaRPr kumimoji="0" lang="en-US" altLang="zh-TW" sz="2400" b="0" i="0" u="none" strike="noStrike" kern="0" cap="none" spc="0" normalizeH="0" baseline="0" noProof="0" smtClean="0">
                  <a:ln>
                    <a:noFill/>
                  </a:ln>
                  <a:solidFill>
                    <a:srgbClr val="013064"/>
                  </a:solidFill>
                  <a:effectLst/>
                  <a:uLnTx/>
                  <a:uFillTx/>
                  <a:ea typeface="新細明體" charset="-120"/>
                </a:endParaRPr>
              </a:p>
            </p:txBody>
          </p:sp>
          <p:sp>
            <p:nvSpPr>
              <p:cNvPr id="353" name="Rectangle 331"/>
              <p:cNvSpPr>
                <a:spLocks noChangeArrowheads="1"/>
              </p:cNvSpPr>
              <p:nvPr/>
            </p:nvSpPr>
            <p:spPr bwMode="auto">
              <a:xfrm>
                <a:off x="5434" y="3439"/>
                <a:ext cx="244" cy="14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500" b="0" i="0" u="none" strike="noStrike" kern="0" cap="none" spc="0" normalizeH="0" baseline="0" noProof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新細明體" charset="-120"/>
                  </a:rPr>
                  <a:t>90%</a:t>
                </a:r>
                <a:endParaRPr kumimoji="0" lang="en-US" altLang="zh-TW" sz="2400" b="0" i="0" u="none" strike="noStrike" kern="0" cap="none" spc="0" normalizeH="0" baseline="0" noProof="0" smtClean="0">
                  <a:ln>
                    <a:noFill/>
                  </a:ln>
                  <a:solidFill>
                    <a:srgbClr val="013064"/>
                  </a:solidFill>
                  <a:effectLst/>
                  <a:uLnTx/>
                  <a:uFillTx/>
                  <a:ea typeface="新細明體" charset="-120"/>
                </a:endParaRPr>
              </a:p>
            </p:txBody>
          </p:sp>
          <p:sp>
            <p:nvSpPr>
              <p:cNvPr id="354" name="Rectangle 332"/>
              <p:cNvSpPr>
                <a:spLocks noChangeArrowheads="1"/>
              </p:cNvSpPr>
              <p:nvPr/>
            </p:nvSpPr>
            <p:spPr bwMode="auto">
              <a:xfrm>
                <a:off x="379" y="3135"/>
                <a:ext cx="1851" cy="14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marL="0" marR="0" lvl="0" indent="0" algn="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500" b="0" i="0" u="none" strike="noStrike" kern="0" cap="none" spc="0" normalizeH="0" baseline="0" noProof="0" dirty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新細明體" charset="-120"/>
                  </a:rPr>
                  <a:t>Seems like the way of the future</a:t>
                </a:r>
                <a:endParaRPr kumimoji="0" lang="en-US" altLang="zh-TW" sz="24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013064"/>
                  </a:solidFill>
                  <a:effectLst/>
                  <a:uLnTx/>
                  <a:uFillTx/>
                  <a:ea typeface="新細明體" charset="-120"/>
                </a:endParaRPr>
              </a:p>
            </p:txBody>
          </p:sp>
          <p:sp>
            <p:nvSpPr>
              <p:cNvPr id="355" name="Rectangle 333"/>
              <p:cNvSpPr>
                <a:spLocks noChangeArrowheads="1"/>
              </p:cNvSpPr>
              <p:nvPr/>
            </p:nvSpPr>
            <p:spPr bwMode="auto">
              <a:xfrm>
                <a:off x="-3" y="2879"/>
                <a:ext cx="2237" cy="14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marL="0" marR="0" lvl="0" indent="0" algn="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500" b="0" i="0" u="none" strike="noStrike" kern="0" cap="none" spc="0" normalizeH="0" baseline="0" noProof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新細明體" charset="-120"/>
                  </a:rPr>
                  <a:t>Sharing systems with partners simpler</a:t>
                </a:r>
                <a:endParaRPr kumimoji="0" lang="en-US" altLang="zh-TW" sz="2400" b="0" i="0" u="none" strike="noStrike" kern="0" cap="none" spc="0" normalizeH="0" baseline="0" noProof="0" smtClean="0">
                  <a:ln>
                    <a:noFill/>
                  </a:ln>
                  <a:solidFill>
                    <a:srgbClr val="013064"/>
                  </a:solidFill>
                  <a:effectLst/>
                  <a:uLnTx/>
                  <a:uFillTx/>
                  <a:ea typeface="新細明體" charset="-120"/>
                </a:endParaRPr>
              </a:p>
            </p:txBody>
          </p:sp>
          <p:sp>
            <p:nvSpPr>
              <p:cNvPr id="356" name="Rectangle 334"/>
              <p:cNvSpPr>
                <a:spLocks noChangeArrowheads="1"/>
              </p:cNvSpPr>
              <p:nvPr/>
            </p:nvSpPr>
            <p:spPr bwMode="auto">
              <a:xfrm>
                <a:off x="325" y="2623"/>
                <a:ext cx="1899" cy="14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marL="0" marR="0" lvl="0" indent="0" algn="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500" b="0" i="0" u="none" strike="noStrike" kern="0" cap="none" spc="0" normalizeH="0" baseline="0" noProof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新細明體" charset="-120"/>
                  </a:rPr>
                  <a:t>Always offers latest functionality</a:t>
                </a:r>
                <a:endParaRPr kumimoji="0" lang="en-US" altLang="zh-TW" sz="2400" b="0" i="0" u="none" strike="noStrike" kern="0" cap="none" spc="0" normalizeH="0" baseline="0" noProof="0" smtClean="0">
                  <a:ln>
                    <a:noFill/>
                  </a:ln>
                  <a:solidFill>
                    <a:srgbClr val="013064"/>
                  </a:solidFill>
                  <a:effectLst/>
                  <a:uLnTx/>
                  <a:uFillTx/>
                  <a:ea typeface="新細明體" charset="-120"/>
                </a:endParaRPr>
              </a:p>
            </p:txBody>
          </p:sp>
          <p:sp>
            <p:nvSpPr>
              <p:cNvPr id="357" name="Rectangle 335"/>
              <p:cNvSpPr>
                <a:spLocks noChangeArrowheads="1"/>
              </p:cNvSpPr>
              <p:nvPr/>
            </p:nvSpPr>
            <p:spPr bwMode="auto">
              <a:xfrm>
                <a:off x="95" y="2366"/>
                <a:ext cx="2148" cy="14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marL="0" marR="0" lvl="0" indent="0" algn="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500" b="0" i="0" u="none" strike="noStrike" kern="0" cap="none" spc="0" normalizeH="0" baseline="0" noProof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新細明體" charset="-120"/>
                  </a:rPr>
                  <a:t>Requires less in-house IT staff, costs</a:t>
                </a:r>
                <a:endParaRPr kumimoji="0" lang="en-US" altLang="zh-TW" sz="2400" b="0" i="0" u="none" strike="noStrike" kern="0" cap="none" spc="0" normalizeH="0" baseline="0" noProof="0" smtClean="0">
                  <a:ln>
                    <a:noFill/>
                  </a:ln>
                  <a:solidFill>
                    <a:srgbClr val="013064"/>
                  </a:solidFill>
                  <a:effectLst/>
                  <a:uLnTx/>
                  <a:uFillTx/>
                  <a:ea typeface="新細明體" charset="-120"/>
                </a:endParaRPr>
              </a:p>
            </p:txBody>
          </p:sp>
          <p:sp>
            <p:nvSpPr>
              <p:cNvPr id="358" name="Rectangle 336"/>
              <p:cNvSpPr>
                <a:spLocks noChangeArrowheads="1"/>
              </p:cNvSpPr>
              <p:nvPr/>
            </p:nvSpPr>
            <p:spPr bwMode="auto">
              <a:xfrm>
                <a:off x="452" y="2120"/>
                <a:ext cx="1766" cy="14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marL="0" marR="0" lvl="0" indent="0" algn="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500" b="0" i="0" u="none" strike="noStrike" kern="0" cap="none" spc="0" normalizeH="0" baseline="0" noProof="0" dirty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新細明體" charset="-120"/>
                  </a:rPr>
                  <a:t>Encourages standard systems</a:t>
                </a:r>
                <a:endParaRPr kumimoji="0" lang="en-US" altLang="zh-TW" sz="24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013064"/>
                  </a:solidFill>
                  <a:effectLst/>
                  <a:uLnTx/>
                  <a:uFillTx/>
                  <a:ea typeface="新細明體" charset="-120"/>
                </a:endParaRPr>
              </a:p>
            </p:txBody>
          </p:sp>
          <p:sp>
            <p:nvSpPr>
              <p:cNvPr id="359" name="Rectangle 337"/>
              <p:cNvSpPr>
                <a:spLocks noChangeArrowheads="1"/>
              </p:cNvSpPr>
              <p:nvPr/>
            </p:nvSpPr>
            <p:spPr bwMode="auto">
              <a:xfrm>
                <a:off x="1128" y="1863"/>
                <a:ext cx="1067" cy="14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marL="0" marR="0" lvl="0" indent="0" algn="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500" b="0" i="0" u="none" strike="noStrike" kern="0" cap="none" spc="0" normalizeH="0" baseline="0" noProof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新細明體" charset="-120"/>
                  </a:rPr>
                  <a:t>Monthly payments</a:t>
                </a:r>
                <a:endParaRPr kumimoji="0" lang="en-US" altLang="zh-TW" sz="2400" b="0" i="0" u="none" strike="noStrike" kern="0" cap="none" spc="0" normalizeH="0" baseline="0" noProof="0" smtClean="0">
                  <a:ln>
                    <a:noFill/>
                  </a:ln>
                  <a:solidFill>
                    <a:srgbClr val="013064"/>
                  </a:solidFill>
                  <a:effectLst/>
                  <a:uLnTx/>
                  <a:uFillTx/>
                  <a:ea typeface="新細明體" charset="-120"/>
                </a:endParaRPr>
              </a:p>
            </p:txBody>
          </p:sp>
          <p:sp>
            <p:nvSpPr>
              <p:cNvPr id="360" name="Rectangle 338"/>
              <p:cNvSpPr>
                <a:spLocks noChangeArrowheads="1"/>
              </p:cNvSpPr>
              <p:nvPr/>
            </p:nvSpPr>
            <p:spPr bwMode="auto">
              <a:xfrm>
                <a:off x="348" y="1607"/>
                <a:ext cx="1872" cy="14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marL="0" marR="0" lvl="0" indent="0" algn="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500" b="0" i="0" u="none" strike="noStrike" kern="0" cap="none" spc="0" normalizeH="0" baseline="0" noProof="0" dirty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新細明體" charset="-120"/>
                  </a:rPr>
                  <a:t>Easy/fast to deploy to end-users</a:t>
                </a:r>
                <a:endParaRPr kumimoji="0" lang="en-US" altLang="zh-TW" sz="24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013064"/>
                  </a:solidFill>
                  <a:effectLst/>
                  <a:uLnTx/>
                  <a:uFillTx/>
                  <a:ea typeface="新細明體" charset="-120"/>
                </a:endParaRPr>
              </a:p>
            </p:txBody>
          </p:sp>
          <p:sp>
            <p:nvSpPr>
              <p:cNvPr id="361" name="Rectangle 339"/>
              <p:cNvSpPr>
                <a:spLocks noChangeArrowheads="1"/>
              </p:cNvSpPr>
              <p:nvPr/>
            </p:nvSpPr>
            <p:spPr bwMode="auto">
              <a:xfrm>
                <a:off x="1000" y="1351"/>
                <a:ext cx="1239" cy="14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marL="0" marR="0" lvl="0" indent="0" algn="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500" b="0" i="0" u="none" strike="noStrike" kern="0" cap="none" spc="0" normalizeH="0" baseline="0" noProof="0" dirty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新細明體" charset="-120"/>
                  </a:rPr>
                  <a:t>Pay only for what you use</a:t>
                </a:r>
                <a:endParaRPr kumimoji="0" lang="en-US" altLang="zh-TW" sz="24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013064"/>
                  </a:solidFill>
                  <a:effectLst/>
                  <a:uLnTx/>
                  <a:uFillTx/>
                  <a:ea typeface="新細明體" charset="-120"/>
                </a:endParaRPr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Adoption of Cloud Computing</a:t>
            </a:r>
            <a:endParaRPr lang="zh-TW" altLang="en-US" dirty="0"/>
          </a:p>
        </p:txBody>
      </p:sp>
      <p:grpSp>
        <p:nvGrpSpPr>
          <p:cNvPr id="399" name="群組 398"/>
          <p:cNvGrpSpPr/>
          <p:nvPr/>
        </p:nvGrpSpPr>
        <p:grpSpPr>
          <a:xfrm>
            <a:off x="0" y="1268760"/>
            <a:ext cx="9252520" cy="5522912"/>
            <a:chOff x="0" y="1103313"/>
            <a:chExt cx="9252520" cy="5522912"/>
          </a:xfrm>
        </p:grpSpPr>
        <p:sp>
          <p:nvSpPr>
            <p:cNvPr id="400" name="AutoShape 10"/>
            <p:cNvSpPr>
              <a:spLocks noChangeAspect="1" noChangeArrowheads="1" noTextEdit="1"/>
            </p:cNvSpPr>
            <p:nvPr/>
          </p:nvSpPr>
          <p:spPr bwMode="auto">
            <a:xfrm>
              <a:off x="0" y="1731963"/>
              <a:ext cx="9144000" cy="483393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402" name="Rectangle 7"/>
            <p:cNvSpPr>
              <a:spLocks noChangeArrowheads="1"/>
            </p:cNvSpPr>
            <p:nvPr/>
          </p:nvSpPr>
          <p:spPr bwMode="auto">
            <a:xfrm>
              <a:off x="443483" y="1103313"/>
              <a:ext cx="8809037" cy="457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2000" b="0" i="1" u="none" strike="noStrike" kern="0" cap="none" spc="0" normalizeH="0" baseline="0" noProof="0" dirty="0" smtClean="0">
                  <a:ln>
                    <a:noFill/>
                  </a:ln>
                  <a:solidFill>
                    <a:srgbClr val="013064"/>
                  </a:solidFill>
                  <a:effectLst/>
                  <a:uLnTx/>
                  <a:uFillTx/>
                  <a:ea typeface="新細明體" pitchFamily="18" charset="-120"/>
                </a:rPr>
                <a:t>Q: Rate your </a:t>
              </a:r>
              <a:r>
                <a:rPr kumimoji="0" lang="en-US" altLang="zh-TW" sz="2400" b="0" i="1" u="none" strike="noStrike" kern="0" cap="none" spc="0" normalizeH="0" baseline="0" noProof="0" dirty="0" smtClean="0">
                  <a:ln>
                    <a:noFill/>
                  </a:ln>
                  <a:solidFill>
                    <a:srgbClr val="333399"/>
                  </a:solidFill>
                  <a:effectLst/>
                  <a:uLnTx/>
                  <a:uFillTx/>
                  <a:ea typeface="新細明體" pitchFamily="18" charset="-120"/>
                </a:rPr>
                <a:t>likelihood to pursue </a:t>
              </a:r>
              <a:r>
                <a:rPr kumimoji="0" lang="en-US" altLang="zh-TW" sz="2000" b="0" i="1" u="none" strike="noStrike" kern="0" cap="none" spc="0" normalizeH="0" baseline="0" noProof="0" dirty="0" smtClean="0">
                  <a:ln>
                    <a:noFill/>
                  </a:ln>
                  <a:solidFill>
                    <a:srgbClr val="013064"/>
                  </a:solidFill>
                  <a:effectLst/>
                  <a:uLnTx/>
                  <a:uFillTx/>
                  <a:ea typeface="新細明體" pitchFamily="18" charset="-120"/>
                </a:rPr>
                <a:t>the cloud model for the following </a:t>
              </a:r>
            </a:p>
          </p:txBody>
        </p:sp>
        <p:sp>
          <p:nvSpPr>
            <p:cNvPr id="403" name="Text Box 8"/>
            <p:cNvSpPr txBox="1">
              <a:spLocks noChangeArrowheads="1"/>
            </p:cNvSpPr>
            <p:nvPr/>
          </p:nvSpPr>
          <p:spPr bwMode="auto">
            <a:xfrm>
              <a:off x="0" y="6351588"/>
              <a:ext cx="4440237" cy="27463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8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013064"/>
                  </a:solidFill>
                  <a:effectLst/>
                  <a:uLnTx/>
                  <a:uFillTx/>
                  <a:ea typeface="新細明體" pitchFamily="18" charset="-120"/>
                </a:rPr>
                <a:t>Source: IDC Enterprise Panel, 3Q09, n = 263, September 2009</a:t>
              </a:r>
            </a:p>
          </p:txBody>
        </p:sp>
        <p:grpSp>
          <p:nvGrpSpPr>
            <p:cNvPr id="404" name="Group 95"/>
            <p:cNvGrpSpPr>
              <a:grpSpLocks/>
            </p:cNvGrpSpPr>
            <p:nvPr/>
          </p:nvGrpSpPr>
          <p:grpSpPr bwMode="auto">
            <a:xfrm>
              <a:off x="90484" y="1633538"/>
              <a:ext cx="8996373" cy="4311655"/>
              <a:chOff x="57" y="1029"/>
              <a:chExt cx="5667" cy="2716"/>
            </a:xfrm>
          </p:grpSpPr>
          <p:sp>
            <p:nvSpPr>
              <p:cNvPr id="405" name="Rectangle 13"/>
              <p:cNvSpPr>
                <a:spLocks noChangeArrowheads="1"/>
              </p:cNvSpPr>
              <p:nvPr/>
            </p:nvSpPr>
            <p:spPr bwMode="auto">
              <a:xfrm>
                <a:off x="1975" y="1029"/>
                <a:ext cx="3707" cy="2493"/>
              </a:xfrm>
              <a:prstGeom prst="rect">
                <a:avLst/>
              </a:prstGeom>
              <a:solidFill>
                <a:srgbClr val="C0C0C0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0" cap="none" spc="0" normalizeH="0" baseline="0" noProof="0" smtClean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406" name="Line 14"/>
              <p:cNvSpPr>
                <a:spLocks noChangeShapeType="1"/>
              </p:cNvSpPr>
              <p:nvPr/>
            </p:nvSpPr>
            <p:spPr bwMode="auto">
              <a:xfrm>
                <a:off x="2436" y="1029"/>
                <a:ext cx="1" cy="2493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 smtClean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407" name="Line 15"/>
              <p:cNvSpPr>
                <a:spLocks noChangeShapeType="1"/>
              </p:cNvSpPr>
              <p:nvPr/>
            </p:nvSpPr>
            <p:spPr bwMode="auto">
              <a:xfrm>
                <a:off x="2906" y="1029"/>
                <a:ext cx="1" cy="2493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 smtClean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408" name="Line 16"/>
              <p:cNvSpPr>
                <a:spLocks noChangeShapeType="1"/>
              </p:cNvSpPr>
              <p:nvPr/>
            </p:nvSpPr>
            <p:spPr bwMode="auto">
              <a:xfrm>
                <a:off x="3367" y="1029"/>
                <a:ext cx="1" cy="2493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 smtClean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409" name="Line 17"/>
              <p:cNvSpPr>
                <a:spLocks noChangeShapeType="1"/>
              </p:cNvSpPr>
              <p:nvPr/>
            </p:nvSpPr>
            <p:spPr bwMode="auto">
              <a:xfrm>
                <a:off x="3829" y="1029"/>
                <a:ext cx="1" cy="2493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 smtClean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410" name="Line 18"/>
              <p:cNvSpPr>
                <a:spLocks noChangeShapeType="1"/>
              </p:cNvSpPr>
              <p:nvPr/>
            </p:nvSpPr>
            <p:spPr bwMode="auto">
              <a:xfrm>
                <a:off x="4290" y="1029"/>
                <a:ext cx="1" cy="2493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 smtClean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411" name="Line 19"/>
              <p:cNvSpPr>
                <a:spLocks noChangeShapeType="1"/>
              </p:cNvSpPr>
              <p:nvPr/>
            </p:nvSpPr>
            <p:spPr bwMode="auto">
              <a:xfrm>
                <a:off x="4759" y="1029"/>
                <a:ext cx="1" cy="2493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 smtClean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412" name="Line 20"/>
              <p:cNvSpPr>
                <a:spLocks noChangeShapeType="1"/>
              </p:cNvSpPr>
              <p:nvPr/>
            </p:nvSpPr>
            <p:spPr bwMode="auto">
              <a:xfrm>
                <a:off x="5221" y="1029"/>
                <a:ext cx="1" cy="2493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 smtClean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413" name="Line 21"/>
              <p:cNvSpPr>
                <a:spLocks noChangeShapeType="1"/>
              </p:cNvSpPr>
              <p:nvPr/>
            </p:nvSpPr>
            <p:spPr bwMode="auto">
              <a:xfrm>
                <a:off x="5682" y="1029"/>
                <a:ext cx="1" cy="2493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 smtClean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414" name="Rectangle 22"/>
              <p:cNvSpPr>
                <a:spLocks noChangeArrowheads="1"/>
              </p:cNvSpPr>
              <p:nvPr/>
            </p:nvSpPr>
            <p:spPr bwMode="auto">
              <a:xfrm>
                <a:off x="1975" y="1029"/>
                <a:ext cx="3707" cy="2493"/>
              </a:xfrm>
              <a:prstGeom prst="rect">
                <a:avLst/>
              </a:prstGeom>
              <a:noFill/>
              <a:ln w="14288">
                <a:solidFill>
                  <a:srgbClr val="80808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0" cap="none" spc="0" normalizeH="0" baseline="0" noProof="0" smtClean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415" name="Rectangle 23"/>
              <p:cNvSpPr>
                <a:spLocks noChangeArrowheads="1"/>
              </p:cNvSpPr>
              <p:nvPr/>
            </p:nvSpPr>
            <p:spPr bwMode="auto">
              <a:xfrm>
                <a:off x="1975" y="3380"/>
                <a:ext cx="2255" cy="80"/>
              </a:xfrm>
              <a:prstGeom prst="rect">
                <a:avLst/>
              </a:prstGeom>
              <a:solidFill>
                <a:srgbClr val="333399"/>
              </a:solidFill>
              <a:ln w="14288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0" cap="none" spc="0" normalizeH="0" baseline="0" noProof="0" smtClean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416" name="Rectangle 24"/>
              <p:cNvSpPr>
                <a:spLocks noChangeArrowheads="1"/>
              </p:cNvSpPr>
              <p:nvPr/>
            </p:nvSpPr>
            <p:spPr bwMode="auto">
              <a:xfrm>
                <a:off x="1975" y="3166"/>
                <a:ext cx="2272" cy="89"/>
              </a:xfrm>
              <a:prstGeom prst="rect">
                <a:avLst/>
              </a:prstGeom>
              <a:solidFill>
                <a:srgbClr val="333399"/>
              </a:solidFill>
              <a:ln w="14288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0" cap="none" spc="0" normalizeH="0" baseline="0" noProof="0" smtClean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417" name="Rectangle 25"/>
              <p:cNvSpPr>
                <a:spLocks noChangeArrowheads="1"/>
              </p:cNvSpPr>
              <p:nvPr/>
            </p:nvSpPr>
            <p:spPr bwMode="auto">
              <a:xfrm>
                <a:off x="1975" y="2962"/>
                <a:ext cx="2306" cy="80"/>
              </a:xfrm>
              <a:prstGeom prst="rect">
                <a:avLst/>
              </a:prstGeom>
              <a:solidFill>
                <a:srgbClr val="333399"/>
              </a:solidFill>
              <a:ln w="14288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0" cap="none" spc="0" normalizeH="0" baseline="0" noProof="0" smtClean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418" name="Rectangle 26"/>
              <p:cNvSpPr>
                <a:spLocks noChangeArrowheads="1"/>
              </p:cNvSpPr>
              <p:nvPr/>
            </p:nvSpPr>
            <p:spPr bwMode="auto">
              <a:xfrm>
                <a:off x="1975" y="2757"/>
                <a:ext cx="2349" cy="80"/>
              </a:xfrm>
              <a:prstGeom prst="rect">
                <a:avLst/>
              </a:prstGeom>
              <a:solidFill>
                <a:srgbClr val="333399"/>
              </a:solidFill>
              <a:ln w="14288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0" cap="none" spc="0" normalizeH="0" baseline="0" noProof="0" smtClean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419" name="Rectangle 27"/>
              <p:cNvSpPr>
                <a:spLocks noChangeArrowheads="1"/>
              </p:cNvSpPr>
              <p:nvPr/>
            </p:nvSpPr>
            <p:spPr bwMode="auto">
              <a:xfrm>
                <a:off x="1975" y="2543"/>
                <a:ext cx="2375" cy="89"/>
              </a:xfrm>
              <a:prstGeom prst="rect">
                <a:avLst/>
              </a:prstGeom>
              <a:solidFill>
                <a:srgbClr val="333399"/>
              </a:solidFill>
              <a:ln w="14288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0" cap="none" spc="0" normalizeH="0" baseline="0" noProof="0" smtClean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420" name="Rectangle 28"/>
              <p:cNvSpPr>
                <a:spLocks noChangeArrowheads="1"/>
              </p:cNvSpPr>
              <p:nvPr/>
            </p:nvSpPr>
            <p:spPr bwMode="auto">
              <a:xfrm>
                <a:off x="1975" y="2338"/>
                <a:ext cx="2451" cy="80"/>
              </a:xfrm>
              <a:prstGeom prst="rect">
                <a:avLst/>
              </a:prstGeom>
              <a:solidFill>
                <a:srgbClr val="333399"/>
              </a:solidFill>
              <a:ln w="14288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0" cap="none" spc="0" normalizeH="0" baseline="0" noProof="0" smtClean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421" name="Rectangle 29"/>
              <p:cNvSpPr>
                <a:spLocks noChangeArrowheads="1"/>
              </p:cNvSpPr>
              <p:nvPr/>
            </p:nvSpPr>
            <p:spPr bwMode="auto">
              <a:xfrm>
                <a:off x="1975" y="2133"/>
                <a:ext cx="2537" cy="81"/>
              </a:xfrm>
              <a:prstGeom prst="rect">
                <a:avLst/>
              </a:prstGeom>
              <a:solidFill>
                <a:srgbClr val="333399"/>
              </a:solidFill>
              <a:ln w="14288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0" cap="none" spc="0" normalizeH="0" baseline="0" noProof="0" smtClean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422" name="Rectangle 30"/>
              <p:cNvSpPr>
                <a:spLocks noChangeArrowheads="1"/>
              </p:cNvSpPr>
              <p:nvPr/>
            </p:nvSpPr>
            <p:spPr bwMode="auto">
              <a:xfrm>
                <a:off x="1975" y="1920"/>
                <a:ext cx="2554" cy="89"/>
              </a:xfrm>
              <a:prstGeom prst="rect">
                <a:avLst/>
              </a:prstGeom>
              <a:solidFill>
                <a:srgbClr val="333399"/>
              </a:solidFill>
              <a:ln w="14288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0" cap="none" spc="0" normalizeH="0" baseline="0" noProof="0" smtClean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423" name="Rectangle 31"/>
              <p:cNvSpPr>
                <a:spLocks noChangeArrowheads="1"/>
              </p:cNvSpPr>
              <p:nvPr/>
            </p:nvSpPr>
            <p:spPr bwMode="auto">
              <a:xfrm>
                <a:off x="1975" y="1715"/>
                <a:ext cx="2579" cy="80"/>
              </a:xfrm>
              <a:prstGeom prst="rect">
                <a:avLst/>
              </a:prstGeom>
              <a:solidFill>
                <a:srgbClr val="333399"/>
              </a:solidFill>
              <a:ln w="14288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0" cap="none" spc="0" normalizeH="0" baseline="0" noProof="0" smtClean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424" name="Rectangle 32"/>
              <p:cNvSpPr>
                <a:spLocks noChangeArrowheads="1"/>
              </p:cNvSpPr>
              <p:nvPr/>
            </p:nvSpPr>
            <p:spPr bwMode="auto">
              <a:xfrm>
                <a:off x="1975" y="1510"/>
                <a:ext cx="2750" cy="80"/>
              </a:xfrm>
              <a:prstGeom prst="rect">
                <a:avLst/>
              </a:prstGeom>
              <a:solidFill>
                <a:srgbClr val="333399"/>
              </a:solidFill>
              <a:ln w="14288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0" cap="none" spc="0" normalizeH="0" baseline="0" noProof="0" smtClean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425" name="Rectangle 33"/>
              <p:cNvSpPr>
                <a:spLocks noChangeArrowheads="1"/>
              </p:cNvSpPr>
              <p:nvPr/>
            </p:nvSpPr>
            <p:spPr bwMode="auto">
              <a:xfrm>
                <a:off x="1975" y="1297"/>
                <a:ext cx="3100" cy="89"/>
              </a:xfrm>
              <a:prstGeom prst="rect">
                <a:avLst/>
              </a:prstGeom>
              <a:solidFill>
                <a:srgbClr val="333399"/>
              </a:solidFill>
              <a:ln w="14288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0" cap="none" spc="0" normalizeH="0" baseline="0" noProof="0" smtClean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426" name="Rectangle 34"/>
              <p:cNvSpPr>
                <a:spLocks noChangeArrowheads="1"/>
              </p:cNvSpPr>
              <p:nvPr/>
            </p:nvSpPr>
            <p:spPr bwMode="auto">
              <a:xfrm>
                <a:off x="1975" y="1092"/>
                <a:ext cx="3118" cy="80"/>
              </a:xfrm>
              <a:prstGeom prst="rect">
                <a:avLst/>
              </a:prstGeom>
              <a:solidFill>
                <a:srgbClr val="333399"/>
              </a:solidFill>
              <a:ln w="14288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0" cap="none" spc="0" normalizeH="0" baseline="0" noProof="0" smtClean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427" name="Line 35"/>
              <p:cNvSpPr>
                <a:spLocks noChangeShapeType="1"/>
              </p:cNvSpPr>
              <p:nvPr/>
            </p:nvSpPr>
            <p:spPr bwMode="auto">
              <a:xfrm>
                <a:off x="1975" y="3522"/>
                <a:ext cx="3707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 smtClean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428" name="Line 36"/>
              <p:cNvSpPr>
                <a:spLocks noChangeShapeType="1"/>
              </p:cNvSpPr>
              <p:nvPr/>
            </p:nvSpPr>
            <p:spPr bwMode="auto">
              <a:xfrm flipV="1">
                <a:off x="1975" y="3522"/>
                <a:ext cx="1" cy="36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 smtClean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429" name="Line 37"/>
              <p:cNvSpPr>
                <a:spLocks noChangeShapeType="1"/>
              </p:cNvSpPr>
              <p:nvPr/>
            </p:nvSpPr>
            <p:spPr bwMode="auto">
              <a:xfrm flipV="1">
                <a:off x="2436" y="3522"/>
                <a:ext cx="1" cy="36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 smtClean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430" name="Line 38"/>
              <p:cNvSpPr>
                <a:spLocks noChangeShapeType="1"/>
              </p:cNvSpPr>
              <p:nvPr/>
            </p:nvSpPr>
            <p:spPr bwMode="auto">
              <a:xfrm flipV="1">
                <a:off x="2906" y="3522"/>
                <a:ext cx="1" cy="36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 smtClean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431" name="Line 39"/>
              <p:cNvSpPr>
                <a:spLocks noChangeShapeType="1"/>
              </p:cNvSpPr>
              <p:nvPr/>
            </p:nvSpPr>
            <p:spPr bwMode="auto">
              <a:xfrm flipV="1">
                <a:off x="3367" y="3522"/>
                <a:ext cx="1" cy="36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 smtClean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432" name="Line 40"/>
              <p:cNvSpPr>
                <a:spLocks noChangeShapeType="1"/>
              </p:cNvSpPr>
              <p:nvPr/>
            </p:nvSpPr>
            <p:spPr bwMode="auto">
              <a:xfrm flipV="1">
                <a:off x="3829" y="3522"/>
                <a:ext cx="1" cy="36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 smtClean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433" name="Line 41"/>
              <p:cNvSpPr>
                <a:spLocks noChangeShapeType="1"/>
              </p:cNvSpPr>
              <p:nvPr/>
            </p:nvSpPr>
            <p:spPr bwMode="auto">
              <a:xfrm flipV="1">
                <a:off x="4290" y="3522"/>
                <a:ext cx="1" cy="36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 smtClean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434" name="Line 42"/>
              <p:cNvSpPr>
                <a:spLocks noChangeShapeType="1"/>
              </p:cNvSpPr>
              <p:nvPr/>
            </p:nvSpPr>
            <p:spPr bwMode="auto">
              <a:xfrm flipV="1">
                <a:off x="4759" y="3522"/>
                <a:ext cx="1" cy="36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 smtClean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435" name="Line 43"/>
              <p:cNvSpPr>
                <a:spLocks noChangeShapeType="1"/>
              </p:cNvSpPr>
              <p:nvPr/>
            </p:nvSpPr>
            <p:spPr bwMode="auto">
              <a:xfrm flipV="1">
                <a:off x="5221" y="3522"/>
                <a:ext cx="1" cy="36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 smtClean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436" name="Line 44"/>
              <p:cNvSpPr>
                <a:spLocks noChangeShapeType="1"/>
              </p:cNvSpPr>
              <p:nvPr/>
            </p:nvSpPr>
            <p:spPr bwMode="auto">
              <a:xfrm flipV="1">
                <a:off x="5682" y="3522"/>
                <a:ext cx="1" cy="36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 smtClean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437" name="Line 45"/>
              <p:cNvSpPr>
                <a:spLocks noChangeShapeType="1"/>
              </p:cNvSpPr>
              <p:nvPr/>
            </p:nvSpPr>
            <p:spPr bwMode="auto">
              <a:xfrm>
                <a:off x="1975" y="1029"/>
                <a:ext cx="1" cy="2493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 smtClean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438" name="Line 46"/>
              <p:cNvSpPr>
                <a:spLocks noChangeShapeType="1"/>
              </p:cNvSpPr>
              <p:nvPr/>
            </p:nvSpPr>
            <p:spPr bwMode="auto">
              <a:xfrm>
                <a:off x="1941" y="3522"/>
                <a:ext cx="34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 smtClean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439" name="Line 47"/>
              <p:cNvSpPr>
                <a:spLocks noChangeShapeType="1"/>
              </p:cNvSpPr>
              <p:nvPr/>
            </p:nvSpPr>
            <p:spPr bwMode="auto">
              <a:xfrm>
                <a:off x="1941" y="3318"/>
                <a:ext cx="34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 smtClean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440" name="Line 48"/>
              <p:cNvSpPr>
                <a:spLocks noChangeShapeType="1"/>
              </p:cNvSpPr>
              <p:nvPr/>
            </p:nvSpPr>
            <p:spPr bwMode="auto">
              <a:xfrm>
                <a:off x="1941" y="3104"/>
                <a:ext cx="34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 smtClean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441" name="Line 49"/>
              <p:cNvSpPr>
                <a:spLocks noChangeShapeType="1"/>
              </p:cNvSpPr>
              <p:nvPr/>
            </p:nvSpPr>
            <p:spPr bwMode="auto">
              <a:xfrm>
                <a:off x="1941" y="2899"/>
                <a:ext cx="34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 smtClean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442" name="Line 50"/>
              <p:cNvSpPr>
                <a:spLocks noChangeShapeType="1"/>
              </p:cNvSpPr>
              <p:nvPr/>
            </p:nvSpPr>
            <p:spPr bwMode="auto">
              <a:xfrm>
                <a:off x="1941" y="2694"/>
                <a:ext cx="34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 smtClean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443" name="Line 51"/>
              <p:cNvSpPr>
                <a:spLocks noChangeShapeType="1"/>
              </p:cNvSpPr>
              <p:nvPr/>
            </p:nvSpPr>
            <p:spPr bwMode="auto">
              <a:xfrm>
                <a:off x="1941" y="2481"/>
                <a:ext cx="34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 smtClean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444" name="Line 52"/>
              <p:cNvSpPr>
                <a:spLocks noChangeShapeType="1"/>
              </p:cNvSpPr>
              <p:nvPr/>
            </p:nvSpPr>
            <p:spPr bwMode="auto">
              <a:xfrm>
                <a:off x="1941" y="2276"/>
                <a:ext cx="34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 smtClean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445" name="Line 53"/>
              <p:cNvSpPr>
                <a:spLocks noChangeShapeType="1"/>
              </p:cNvSpPr>
              <p:nvPr/>
            </p:nvSpPr>
            <p:spPr bwMode="auto">
              <a:xfrm>
                <a:off x="1941" y="2071"/>
                <a:ext cx="34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 smtClean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446" name="Line 54"/>
              <p:cNvSpPr>
                <a:spLocks noChangeShapeType="1"/>
              </p:cNvSpPr>
              <p:nvPr/>
            </p:nvSpPr>
            <p:spPr bwMode="auto">
              <a:xfrm>
                <a:off x="1941" y="1857"/>
                <a:ext cx="34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 smtClean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447" name="Line 55"/>
              <p:cNvSpPr>
                <a:spLocks noChangeShapeType="1"/>
              </p:cNvSpPr>
              <p:nvPr/>
            </p:nvSpPr>
            <p:spPr bwMode="auto">
              <a:xfrm>
                <a:off x="1941" y="1653"/>
                <a:ext cx="34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 smtClean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448" name="Line 56"/>
              <p:cNvSpPr>
                <a:spLocks noChangeShapeType="1"/>
              </p:cNvSpPr>
              <p:nvPr/>
            </p:nvSpPr>
            <p:spPr bwMode="auto">
              <a:xfrm>
                <a:off x="1941" y="1448"/>
                <a:ext cx="34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 smtClean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449" name="Line 57"/>
              <p:cNvSpPr>
                <a:spLocks noChangeShapeType="1"/>
              </p:cNvSpPr>
              <p:nvPr/>
            </p:nvSpPr>
            <p:spPr bwMode="auto">
              <a:xfrm>
                <a:off x="1941" y="1234"/>
                <a:ext cx="34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 smtClean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450" name="Line 58"/>
              <p:cNvSpPr>
                <a:spLocks noChangeShapeType="1"/>
              </p:cNvSpPr>
              <p:nvPr/>
            </p:nvSpPr>
            <p:spPr bwMode="auto">
              <a:xfrm>
                <a:off x="1941" y="1029"/>
                <a:ext cx="34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 smtClean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451" name="Rectangle 59"/>
              <p:cNvSpPr>
                <a:spLocks noChangeArrowheads="1"/>
              </p:cNvSpPr>
              <p:nvPr/>
            </p:nvSpPr>
            <p:spPr bwMode="auto">
              <a:xfrm>
                <a:off x="4264" y="3344"/>
                <a:ext cx="295" cy="12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300" b="0" i="0" u="none" strike="noStrike" kern="0" cap="none" spc="0" normalizeH="0" baseline="0" noProof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新細明體" pitchFamily="18" charset="-120"/>
                  </a:rPr>
                  <a:t>48.6%</a:t>
                </a:r>
                <a:endParaRPr kumimoji="0" lang="en-US" altLang="zh-TW" sz="2400" b="0" i="0" u="none" strike="noStrike" kern="0" cap="none" spc="0" normalizeH="0" baseline="0" noProof="0" smtClean="0">
                  <a:ln>
                    <a:noFill/>
                  </a:ln>
                  <a:solidFill>
                    <a:srgbClr val="013064"/>
                  </a:solidFill>
                  <a:effectLst/>
                  <a:uLnTx/>
                  <a:uFillTx/>
                  <a:ea typeface="新細明體" pitchFamily="18" charset="-120"/>
                </a:endParaRPr>
              </a:p>
            </p:txBody>
          </p:sp>
          <p:sp>
            <p:nvSpPr>
              <p:cNvPr id="452" name="Rectangle 60"/>
              <p:cNvSpPr>
                <a:spLocks noChangeArrowheads="1"/>
              </p:cNvSpPr>
              <p:nvPr/>
            </p:nvSpPr>
            <p:spPr bwMode="auto">
              <a:xfrm>
                <a:off x="4281" y="3140"/>
                <a:ext cx="295" cy="12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300" b="0" i="0" u="none" strike="noStrike" kern="0" cap="none" spc="0" normalizeH="0" baseline="0" noProof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新細明體" pitchFamily="18" charset="-120"/>
                  </a:rPr>
                  <a:t>49.1%</a:t>
                </a:r>
                <a:endParaRPr kumimoji="0" lang="en-US" altLang="zh-TW" sz="2400" b="0" i="0" u="none" strike="noStrike" kern="0" cap="none" spc="0" normalizeH="0" baseline="0" noProof="0" smtClean="0">
                  <a:ln>
                    <a:noFill/>
                  </a:ln>
                  <a:solidFill>
                    <a:srgbClr val="013064"/>
                  </a:solidFill>
                  <a:effectLst/>
                  <a:uLnTx/>
                  <a:uFillTx/>
                  <a:ea typeface="新細明體" pitchFamily="18" charset="-120"/>
                </a:endParaRPr>
              </a:p>
            </p:txBody>
          </p:sp>
          <p:sp>
            <p:nvSpPr>
              <p:cNvPr id="453" name="Rectangle 61"/>
              <p:cNvSpPr>
                <a:spLocks noChangeArrowheads="1"/>
              </p:cNvSpPr>
              <p:nvPr/>
            </p:nvSpPr>
            <p:spPr bwMode="auto">
              <a:xfrm>
                <a:off x="4315" y="2926"/>
                <a:ext cx="295" cy="12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300" b="0" i="0" u="none" strike="noStrike" kern="0" cap="none" spc="0" normalizeH="0" baseline="0" noProof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新細明體" pitchFamily="18" charset="-120"/>
                  </a:rPr>
                  <a:t>49.8%</a:t>
                </a:r>
                <a:endParaRPr kumimoji="0" lang="en-US" altLang="zh-TW" sz="2400" b="0" i="0" u="none" strike="noStrike" kern="0" cap="none" spc="0" normalizeH="0" baseline="0" noProof="0" smtClean="0">
                  <a:ln>
                    <a:noFill/>
                  </a:ln>
                  <a:solidFill>
                    <a:srgbClr val="013064"/>
                  </a:solidFill>
                  <a:effectLst/>
                  <a:uLnTx/>
                  <a:uFillTx/>
                  <a:ea typeface="新細明體" pitchFamily="18" charset="-120"/>
                </a:endParaRPr>
              </a:p>
            </p:txBody>
          </p:sp>
          <p:sp>
            <p:nvSpPr>
              <p:cNvPr id="454" name="Rectangle 62"/>
              <p:cNvSpPr>
                <a:spLocks noChangeArrowheads="1"/>
              </p:cNvSpPr>
              <p:nvPr/>
            </p:nvSpPr>
            <p:spPr bwMode="auto">
              <a:xfrm>
                <a:off x="4358" y="2721"/>
                <a:ext cx="295" cy="12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300" b="0" i="0" u="none" strike="noStrike" kern="0" cap="none" spc="0" normalizeH="0" baseline="0" noProof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新細明體" pitchFamily="18" charset="-120"/>
                  </a:rPr>
                  <a:t>50.6%</a:t>
                </a:r>
                <a:endParaRPr kumimoji="0" lang="en-US" altLang="zh-TW" sz="2400" b="0" i="0" u="none" strike="noStrike" kern="0" cap="none" spc="0" normalizeH="0" baseline="0" noProof="0" smtClean="0">
                  <a:ln>
                    <a:noFill/>
                  </a:ln>
                  <a:solidFill>
                    <a:srgbClr val="013064"/>
                  </a:solidFill>
                  <a:effectLst/>
                  <a:uLnTx/>
                  <a:uFillTx/>
                  <a:ea typeface="新細明體" pitchFamily="18" charset="-120"/>
                </a:endParaRPr>
              </a:p>
            </p:txBody>
          </p:sp>
          <p:sp>
            <p:nvSpPr>
              <p:cNvPr id="455" name="Rectangle 63"/>
              <p:cNvSpPr>
                <a:spLocks noChangeArrowheads="1"/>
              </p:cNvSpPr>
              <p:nvPr/>
            </p:nvSpPr>
            <p:spPr bwMode="auto">
              <a:xfrm>
                <a:off x="4384" y="2516"/>
                <a:ext cx="295" cy="12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300" b="0" i="0" u="none" strike="noStrike" kern="0" cap="none" spc="0" normalizeH="0" baseline="0" noProof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新細明體" pitchFamily="18" charset="-120"/>
                  </a:rPr>
                  <a:t>51.3%</a:t>
                </a:r>
                <a:endParaRPr kumimoji="0" lang="en-US" altLang="zh-TW" sz="2400" b="0" i="0" u="none" strike="noStrike" kern="0" cap="none" spc="0" normalizeH="0" baseline="0" noProof="0" smtClean="0">
                  <a:ln>
                    <a:noFill/>
                  </a:ln>
                  <a:solidFill>
                    <a:srgbClr val="013064"/>
                  </a:solidFill>
                  <a:effectLst/>
                  <a:uLnTx/>
                  <a:uFillTx/>
                  <a:ea typeface="新細明體" pitchFamily="18" charset="-120"/>
                </a:endParaRPr>
              </a:p>
            </p:txBody>
          </p:sp>
          <p:sp>
            <p:nvSpPr>
              <p:cNvPr id="456" name="Rectangle 64"/>
              <p:cNvSpPr>
                <a:spLocks noChangeArrowheads="1"/>
              </p:cNvSpPr>
              <p:nvPr/>
            </p:nvSpPr>
            <p:spPr bwMode="auto">
              <a:xfrm>
                <a:off x="4461" y="2303"/>
                <a:ext cx="295" cy="12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300" b="0" i="0" u="none" strike="noStrike" kern="0" cap="none" spc="0" normalizeH="0" baseline="0" noProof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新細明體" pitchFamily="18" charset="-120"/>
                  </a:rPr>
                  <a:t>52.9%</a:t>
                </a:r>
                <a:endParaRPr kumimoji="0" lang="en-US" altLang="zh-TW" sz="2400" b="0" i="0" u="none" strike="noStrike" kern="0" cap="none" spc="0" normalizeH="0" baseline="0" noProof="0" smtClean="0">
                  <a:ln>
                    <a:noFill/>
                  </a:ln>
                  <a:solidFill>
                    <a:srgbClr val="013064"/>
                  </a:solidFill>
                  <a:effectLst/>
                  <a:uLnTx/>
                  <a:uFillTx/>
                  <a:ea typeface="新細明體" pitchFamily="18" charset="-120"/>
                </a:endParaRPr>
              </a:p>
            </p:txBody>
          </p:sp>
          <p:sp>
            <p:nvSpPr>
              <p:cNvPr id="457" name="Rectangle 65"/>
              <p:cNvSpPr>
                <a:spLocks noChangeArrowheads="1"/>
              </p:cNvSpPr>
              <p:nvPr/>
            </p:nvSpPr>
            <p:spPr bwMode="auto">
              <a:xfrm>
                <a:off x="4546" y="2098"/>
                <a:ext cx="295" cy="12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300" b="0" i="0" u="none" strike="noStrike" kern="0" cap="none" spc="0" normalizeH="0" baseline="0" noProof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新細明體" pitchFamily="18" charset="-120"/>
                  </a:rPr>
                  <a:t>54.8%</a:t>
                </a:r>
                <a:endParaRPr kumimoji="0" lang="en-US" altLang="zh-TW" sz="2400" b="0" i="0" u="none" strike="noStrike" kern="0" cap="none" spc="0" normalizeH="0" baseline="0" noProof="0" smtClean="0">
                  <a:ln>
                    <a:noFill/>
                  </a:ln>
                  <a:solidFill>
                    <a:srgbClr val="013064"/>
                  </a:solidFill>
                  <a:effectLst/>
                  <a:uLnTx/>
                  <a:uFillTx/>
                  <a:ea typeface="新細明體" pitchFamily="18" charset="-120"/>
                </a:endParaRPr>
              </a:p>
            </p:txBody>
          </p:sp>
          <p:sp>
            <p:nvSpPr>
              <p:cNvPr id="458" name="Rectangle 66"/>
              <p:cNvSpPr>
                <a:spLocks noChangeArrowheads="1"/>
              </p:cNvSpPr>
              <p:nvPr/>
            </p:nvSpPr>
            <p:spPr bwMode="auto">
              <a:xfrm>
                <a:off x="4563" y="1893"/>
                <a:ext cx="295" cy="12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300" b="0" i="0" u="none" strike="noStrike" kern="0" cap="none" spc="0" normalizeH="0" baseline="0" noProof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新細明體" pitchFamily="18" charset="-120"/>
                  </a:rPr>
                  <a:t>55.1%</a:t>
                </a:r>
                <a:endParaRPr kumimoji="0" lang="en-US" altLang="zh-TW" sz="2400" b="0" i="0" u="none" strike="noStrike" kern="0" cap="none" spc="0" normalizeH="0" baseline="0" noProof="0" smtClean="0">
                  <a:ln>
                    <a:noFill/>
                  </a:ln>
                  <a:solidFill>
                    <a:srgbClr val="013064"/>
                  </a:solidFill>
                  <a:effectLst/>
                  <a:uLnTx/>
                  <a:uFillTx/>
                  <a:ea typeface="新細明體" pitchFamily="18" charset="-120"/>
                </a:endParaRPr>
              </a:p>
            </p:txBody>
          </p:sp>
          <p:sp>
            <p:nvSpPr>
              <p:cNvPr id="459" name="Rectangle 67"/>
              <p:cNvSpPr>
                <a:spLocks noChangeArrowheads="1"/>
              </p:cNvSpPr>
              <p:nvPr/>
            </p:nvSpPr>
            <p:spPr bwMode="auto">
              <a:xfrm>
                <a:off x="4589" y="1679"/>
                <a:ext cx="295" cy="12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300" b="0" i="0" u="none" strike="noStrike" kern="0" cap="none" spc="0" normalizeH="0" baseline="0" noProof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新細明體" pitchFamily="18" charset="-120"/>
                  </a:rPr>
                  <a:t>55.6%</a:t>
                </a:r>
                <a:endParaRPr kumimoji="0" lang="en-US" altLang="zh-TW" sz="2400" b="0" i="0" u="none" strike="noStrike" kern="0" cap="none" spc="0" normalizeH="0" baseline="0" noProof="0" smtClean="0">
                  <a:ln>
                    <a:noFill/>
                  </a:ln>
                  <a:solidFill>
                    <a:srgbClr val="013064"/>
                  </a:solidFill>
                  <a:effectLst/>
                  <a:uLnTx/>
                  <a:uFillTx/>
                  <a:ea typeface="新細明體" pitchFamily="18" charset="-120"/>
                </a:endParaRPr>
              </a:p>
            </p:txBody>
          </p:sp>
          <p:sp>
            <p:nvSpPr>
              <p:cNvPr id="460" name="Rectangle 68"/>
              <p:cNvSpPr>
                <a:spLocks noChangeArrowheads="1"/>
              </p:cNvSpPr>
              <p:nvPr/>
            </p:nvSpPr>
            <p:spPr bwMode="auto">
              <a:xfrm>
                <a:off x="4759" y="1475"/>
                <a:ext cx="295" cy="12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300" b="0" i="0" u="none" strike="noStrike" kern="0" cap="none" spc="0" normalizeH="0" baseline="0" noProof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新細明體" pitchFamily="18" charset="-120"/>
                  </a:rPr>
                  <a:t>59.4%</a:t>
                </a:r>
                <a:endParaRPr kumimoji="0" lang="en-US" altLang="zh-TW" sz="2400" b="0" i="0" u="none" strike="noStrike" kern="0" cap="none" spc="0" normalizeH="0" baseline="0" noProof="0" smtClean="0">
                  <a:ln>
                    <a:noFill/>
                  </a:ln>
                  <a:solidFill>
                    <a:srgbClr val="013064"/>
                  </a:solidFill>
                  <a:effectLst/>
                  <a:uLnTx/>
                  <a:uFillTx/>
                  <a:ea typeface="新細明體" pitchFamily="18" charset="-120"/>
                </a:endParaRPr>
              </a:p>
            </p:txBody>
          </p:sp>
          <p:sp>
            <p:nvSpPr>
              <p:cNvPr id="461" name="Rectangle 69"/>
              <p:cNvSpPr>
                <a:spLocks noChangeArrowheads="1"/>
              </p:cNvSpPr>
              <p:nvPr/>
            </p:nvSpPr>
            <p:spPr bwMode="auto">
              <a:xfrm>
                <a:off x="5110" y="1270"/>
                <a:ext cx="295" cy="12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300" b="0" i="0" u="none" strike="noStrike" kern="0" cap="none" spc="0" normalizeH="0" baseline="0" noProof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新細明體" pitchFamily="18" charset="-120"/>
                  </a:rPr>
                  <a:t>66.9%</a:t>
                </a:r>
                <a:endParaRPr kumimoji="0" lang="en-US" altLang="zh-TW" sz="2400" b="0" i="0" u="none" strike="noStrike" kern="0" cap="none" spc="0" normalizeH="0" baseline="0" noProof="0" smtClean="0">
                  <a:ln>
                    <a:noFill/>
                  </a:ln>
                  <a:solidFill>
                    <a:srgbClr val="013064"/>
                  </a:solidFill>
                  <a:effectLst/>
                  <a:uLnTx/>
                  <a:uFillTx/>
                  <a:ea typeface="新細明體" pitchFamily="18" charset="-120"/>
                </a:endParaRPr>
              </a:p>
            </p:txBody>
          </p:sp>
          <p:sp>
            <p:nvSpPr>
              <p:cNvPr id="462" name="Rectangle 70"/>
              <p:cNvSpPr>
                <a:spLocks noChangeArrowheads="1"/>
              </p:cNvSpPr>
              <p:nvPr/>
            </p:nvSpPr>
            <p:spPr bwMode="auto">
              <a:xfrm>
                <a:off x="5127" y="1056"/>
                <a:ext cx="295" cy="12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300" b="0" i="0" u="none" strike="noStrike" kern="0" cap="none" spc="0" normalizeH="0" baseline="0" noProof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新細明體" pitchFamily="18" charset="-120"/>
                  </a:rPr>
                  <a:t>67.3%</a:t>
                </a:r>
                <a:endParaRPr kumimoji="0" lang="en-US" altLang="zh-TW" sz="2400" b="0" i="0" u="none" strike="noStrike" kern="0" cap="none" spc="0" normalizeH="0" baseline="0" noProof="0" smtClean="0">
                  <a:ln>
                    <a:noFill/>
                  </a:ln>
                  <a:solidFill>
                    <a:srgbClr val="013064"/>
                  </a:solidFill>
                  <a:effectLst/>
                  <a:uLnTx/>
                  <a:uFillTx/>
                  <a:ea typeface="新細明體" pitchFamily="18" charset="-120"/>
                </a:endParaRPr>
              </a:p>
            </p:txBody>
          </p:sp>
          <p:sp>
            <p:nvSpPr>
              <p:cNvPr id="463" name="Rectangle 71"/>
              <p:cNvSpPr>
                <a:spLocks noChangeArrowheads="1"/>
              </p:cNvSpPr>
              <p:nvPr/>
            </p:nvSpPr>
            <p:spPr bwMode="auto">
              <a:xfrm>
                <a:off x="1898" y="3620"/>
                <a:ext cx="150" cy="12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300" b="0" i="0" u="none" strike="noStrike" kern="0" cap="none" spc="0" normalizeH="0" baseline="0" noProof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新細明體" pitchFamily="18" charset="-120"/>
                  </a:rPr>
                  <a:t>0%</a:t>
                </a:r>
                <a:endParaRPr kumimoji="0" lang="en-US" altLang="zh-TW" sz="2400" b="0" i="0" u="none" strike="noStrike" kern="0" cap="none" spc="0" normalizeH="0" baseline="0" noProof="0" smtClean="0">
                  <a:ln>
                    <a:noFill/>
                  </a:ln>
                  <a:solidFill>
                    <a:srgbClr val="013064"/>
                  </a:solidFill>
                  <a:effectLst/>
                  <a:uLnTx/>
                  <a:uFillTx/>
                  <a:ea typeface="新細明體" pitchFamily="18" charset="-120"/>
                </a:endParaRPr>
              </a:p>
            </p:txBody>
          </p:sp>
          <p:sp>
            <p:nvSpPr>
              <p:cNvPr id="464" name="Rectangle 72"/>
              <p:cNvSpPr>
                <a:spLocks noChangeArrowheads="1"/>
              </p:cNvSpPr>
              <p:nvPr/>
            </p:nvSpPr>
            <p:spPr bwMode="auto">
              <a:xfrm>
                <a:off x="2334" y="3620"/>
                <a:ext cx="208" cy="12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300" b="0" i="0" u="none" strike="noStrike" kern="0" cap="none" spc="0" normalizeH="0" baseline="0" noProof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新細明體" pitchFamily="18" charset="-120"/>
                  </a:rPr>
                  <a:t>10%</a:t>
                </a:r>
                <a:endParaRPr kumimoji="0" lang="en-US" altLang="zh-TW" sz="2400" b="0" i="0" u="none" strike="noStrike" kern="0" cap="none" spc="0" normalizeH="0" baseline="0" noProof="0" smtClean="0">
                  <a:ln>
                    <a:noFill/>
                  </a:ln>
                  <a:solidFill>
                    <a:srgbClr val="013064"/>
                  </a:solidFill>
                  <a:effectLst/>
                  <a:uLnTx/>
                  <a:uFillTx/>
                  <a:ea typeface="新細明體" pitchFamily="18" charset="-120"/>
                </a:endParaRPr>
              </a:p>
            </p:txBody>
          </p:sp>
          <p:sp>
            <p:nvSpPr>
              <p:cNvPr id="465" name="Rectangle 73"/>
              <p:cNvSpPr>
                <a:spLocks noChangeArrowheads="1"/>
              </p:cNvSpPr>
              <p:nvPr/>
            </p:nvSpPr>
            <p:spPr bwMode="auto">
              <a:xfrm>
                <a:off x="2804" y="3620"/>
                <a:ext cx="208" cy="12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300" b="0" i="0" u="none" strike="noStrike" kern="0" cap="none" spc="0" normalizeH="0" baseline="0" noProof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新細明體" pitchFamily="18" charset="-120"/>
                  </a:rPr>
                  <a:t>20%</a:t>
                </a:r>
                <a:endParaRPr kumimoji="0" lang="en-US" altLang="zh-TW" sz="2400" b="0" i="0" u="none" strike="noStrike" kern="0" cap="none" spc="0" normalizeH="0" baseline="0" noProof="0" smtClean="0">
                  <a:ln>
                    <a:noFill/>
                  </a:ln>
                  <a:solidFill>
                    <a:srgbClr val="013064"/>
                  </a:solidFill>
                  <a:effectLst/>
                  <a:uLnTx/>
                  <a:uFillTx/>
                  <a:ea typeface="新細明體" pitchFamily="18" charset="-120"/>
                </a:endParaRPr>
              </a:p>
            </p:txBody>
          </p:sp>
          <p:sp>
            <p:nvSpPr>
              <p:cNvPr id="466" name="Rectangle 74"/>
              <p:cNvSpPr>
                <a:spLocks noChangeArrowheads="1"/>
              </p:cNvSpPr>
              <p:nvPr/>
            </p:nvSpPr>
            <p:spPr bwMode="auto">
              <a:xfrm>
                <a:off x="3265" y="3620"/>
                <a:ext cx="208" cy="12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300" b="0" i="0" u="none" strike="noStrike" kern="0" cap="none" spc="0" normalizeH="0" baseline="0" noProof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新細明體" pitchFamily="18" charset="-120"/>
                  </a:rPr>
                  <a:t>30%</a:t>
                </a:r>
                <a:endParaRPr kumimoji="0" lang="en-US" altLang="zh-TW" sz="2400" b="0" i="0" u="none" strike="noStrike" kern="0" cap="none" spc="0" normalizeH="0" baseline="0" noProof="0" smtClean="0">
                  <a:ln>
                    <a:noFill/>
                  </a:ln>
                  <a:solidFill>
                    <a:srgbClr val="013064"/>
                  </a:solidFill>
                  <a:effectLst/>
                  <a:uLnTx/>
                  <a:uFillTx/>
                  <a:ea typeface="新細明體" pitchFamily="18" charset="-120"/>
                </a:endParaRPr>
              </a:p>
            </p:txBody>
          </p:sp>
          <p:sp>
            <p:nvSpPr>
              <p:cNvPr id="467" name="Rectangle 75"/>
              <p:cNvSpPr>
                <a:spLocks noChangeArrowheads="1"/>
              </p:cNvSpPr>
              <p:nvPr/>
            </p:nvSpPr>
            <p:spPr bwMode="auto">
              <a:xfrm>
                <a:off x="3726" y="3620"/>
                <a:ext cx="208" cy="12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300" b="0" i="0" u="none" strike="noStrike" kern="0" cap="none" spc="0" normalizeH="0" baseline="0" noProof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新細明體" pitchFamily="18" charset="-120"/>
                  </a:rPr>
                  <a:t>40%</a:t>
                </a:r>
                <a:endParaRPr kumimoji="0" lang="en-US" altLang="zh-TW" sz="2400" b="0" i="0" u="none" strike="noStrike" kern="0" cap="none" spc="0" normalizeH="0" baseline="0" noProof="0" smtClean="0">
                  <a:ln>
                    <a:noFill/>
                  </a:ln>
                  <a:solidFill>
                    <a:srgbClr val="013064"/>
                  </a:solidFill>
                  <a:effectLst/>
                  <a:uLnTx/>
                  <a:uFillTx/>
                  <a:ea typeface="新細明體" pitchFamily="18" charset="-120"/>
                </a:endParaRPr>
              </a:p>
            </p:txBody>
          </p:sp>
          <p:sp>
            <p:nvSpPr>
              <p:cNvPr id="468" name="Rectangle 76"/>
              <p:cNvSpPr>
                <a:spLocks noChangeArrowheads="1"/>
              </p:cNvSpPr>
              <p:nvPr/>
            </p:nvSpPr>
            <p:spPr bwMode="auto">
              <a:xfrm>
                <a:off x="4187" y="3620"/>
                <a:ext cx="208" cy="12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300" b="0" i="0" u="none" strike="noStrike" kern="0" cap="none" spc="0" normalizeH="0" baseline="0" noProof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新細明體" pitchFamily="18" charset="-120"/>
                  </a:rPr>
                  <a:t>50%</a:t>
                </a:r>
                <a:endParaRPr kumimoji="0" lang="en-US" altLang="zh-TW" sz="2400" b="0" i="0" u="none" strike="noStrike" kern="0" cap="none" spc="0" normalizeH="0" baseline="0" noProof="0" smtClean="0">
                  <a:ln>
                    <a:noFill/>
                  </a:ln>
                  <a:solidFill>
                    <a:srgbClr val="013064"/>
                  </a:solidFill>
                  <a:effectLst/>
                  <a:uLnTx/>
                  <a:uFillTx/>
                  <a:ea typeface="新細明體" pitchFamily="18" charset="-120"/>
                </a:endParaRPr>
              </a:p>
            </p:txBody>
          </p:sp>
          <p:sp>
            <p:nvSpPr>
              <p:cNvPr id="469" name="Rectangle 77"/>
              <p:cNvSpPr>
                <a:spLocks noChangeArrowheads="1"/>
              </p:cNvSpPr>
              <p:nvPr/>
            </p:nvSpPr>
            <p:spPr bwMode="auto">
              <a:xfrm>
                <a:off x="4657" y="3620"/>
                <a:ext cx="208" cy="12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300" b="0" i="0" u="none" strike="noStrike" kern="0" cap="none" spc="0" normalizeH="0" baseline="0" noProof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新細明體" pitchFamily="18" charset="-120"/>
                  </a:rPr>
                  <a:t>60%</a:t>
                </a:r>
                <a:endParaRPr kumimoji="0" lang="en-US" altLang="zh-TW" sz="2400" b="0" i="0" u="none" strike="noStrike" kern="0" cap="none" spc="0" normalizeH="0" baseline="0" noProof="0" smtClean="0">
                  <a:ln>
                    <a:noFill/>
                  </a:ln>
                  <a:solidFill>
                    <a:srgbClr val="013064"/>
                  </a:solidFill>
                  <a:effectLst/>
                  <a:uLnTx/>
                  <a:uFillTx/>
                  <a:ea typeface="新細明體" pitchFamily="18" charset="-120"/>
                </a:endParaRPr>
              </a:p>
            </p:txBody>
          </p:sp>
          <p:sp>
            <p:nvSpPr>
              <p:cNvPr id="470" name="Rectangle 78"/>
              <p:cNvSpPr>
                <a:spLocks noChangeArrowheads="1"/>
              </p:cNvSpPr>
              <p:nvPr/>
            </p:nvSpPr>
            <p:spPr bwMode="auto">
              <a:xfrm>
                <a:off x="5118" y="3620"/>
                <a:ext cx="208" cy="12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300" b="0" i="0" u="none" strike="noStrike" kern="0" cap="none" spc="0" normalizeH="0" baseline="0" noProof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新細明體" pitchFamily="18" charset="-120"/>
                  </a:rPr>
                  <a:t>70%</a:t>
                </a:r>
                <a:endParaRPr kumimoji="0" lang="en-US" altLang="zh-TW" sz="2400" b="0" i="0" u="none" strike="noStrike" kern="0" cap="none" spc="0" normalizeH="0" baseline="0" noProof="0" smtClean="0">
                  <a:ln>
                    <a:noFill/>
                  </a:ln>
                  <a:solidFill>
                    <a:srgbClr val="013064"/>
                  </a:solidFill>
                  <a:effectLst/>
                  <a:uLnTx/>
                  <a:uFillTx/>
                  <a:ea typeface="新細明體" pitchFamily="18" charset="-120"/>
                </a:endParaRPr>
              </a:p>
            </p:txBody>
          </p:sp>
          <p:sp>
            <p:nvSpPr>
              <p:cNvPr id="471" name="Rectangle 79"/>
              <p:cNvSpPr>
                <a:spLocks noChangeArrowheads="1"/>
              </p:cNvSpPr>
              <p:nvPr/>
            </p:nvSpPr>
            <p:spPr bwMode="auto">
              <a:xfrm>
                <a:off x="5516" y="3620"/>
                <a:ext cx="208" cy="12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300" b="0" i="0" u="none" strike="noStrike" kern="0" cap="none" spc="0" normalizeH="0" baseline="0" noProof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新細明體" pitchFamily="18" charset="-120"/>
                  </a:rPr>
                  <a:t>80%</a:t>
                </a:r>
                <a:endParaRPr kumimoji="0" lang="en-US" altLang="zh-TW" sz="2400" b="0" i="0" u="none" strike="noStrike" kern="0" cap="none" spc="0" normalizeH="0" baseline="0" noProof="0" smtClean="0">
                  <a:ln>
                    <a:noFill/>
                  </a:ln>
                  <a:solidFill>
                    <a:srgbClr val="013064"/>
                  </a:solidFill>
                  <a:effectLst/>
                  <a:uLnTx/>
                  <a:uFillTx/>
                  <a:ea typeface="新細明體" pitchFamily="18" charset="-120"/>
                </a:endParaRPr>
              </a:p>
            </p:txBody>
          </p:sp>
          <p:sp>
            <p:nvSpPr>
              <p:cNvPr id="472" name="Rectangle 80"/>
              <p:cNvSpPr>
                <a:spLocks noChangeArrowheads="1"/>
              </p:cNvSpPr>
              <p:nvPr/>
            </p:nvSpPr>
            <p:spPr bwMode="auto">
              <a:xfrm>
                <a:off x="759" y="3344"/>
                <a:ext cx="1147" cy="14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marL="0" marR="0" lvl="0" indent="0" algn="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500" b="0" i="0" u="none" strike="noStrike" kern="0" cap="none" spc="0" normalizeH="0" baseline="0" noProof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新細明體" pitchFamily="18" charset="-120"/>
                  </a:rPr>
                  <a:t>IT/Information Security</a:t>
                </a:r>
                <a:endParaRPr kumimoji="0" lang="en-US" altLang="zh-TW" sz="1500" b="0" i="0" u="none" strike="noStrike" kern="0" cap="none" spc="0" normalizeH="0" baseline="0" noProof="0" smtClean="0">
                  <a:ln>
                    <a:noFill/>
                  </a:ln>
                  <a:solidFill>
                    <a:srgbClr val="013064"/>
                  </a:solidFill>
                  <a:effectLst/>
                  <a:uLnTx/>
                  <a:uFillTx/>
                  <a:ea typeface="新細明體" pitchFamily="18" charset="-120"/>
                </a:endParaRPr>
              </a:p>
            </p:txBody>
          </p:sp>
          <p:sp>
            <p:nvSpPr>
              <p:cNvPr id="473" name="Rectangle 81"/>
              <p:cNvSpPr>
                <a:spLocks noChangeArrowheads="1"/>
              </p:cNvSpPr>
              <p:nvPr/>
            </p:nvSpPr>
            <p:spPr bwMode="auto">
              <a:xfrm>
                <a:off x="57" y="3140"/>
                <a:ext cx="1838" cy="14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marL="0" marR="0" lvl="0" indent="0" algn="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500" b="0" i="0" u="none" strike="noStrike" kern="0" cap="none" spc="0" normalizeH="0" baseline="0" noProof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新細明體" pitchFamily="18" charset="-120"/>
                  </a:rPr>
                  <a:t>Application dev/test/deploy platform</a:t>
                </a:r>
                <a:endParaRPr kumimoji="0" lang="en-US" altLang="zh-TW" sz="1500" b="0" i="0" u="none" strike="noStrike" kern="0" cap="none" spc="0" normalizeH="0" baseline="0" noProof="0" smtClean="0">
                  <a:ln>
                    <a:noFill/>
                  </a:ln>
                  <a:solidFill>
                    <a:srgbClr val="013064"/>
                  </a:solidFill>
                  <a:effectLst/>
                  <a:uLnTx/>
                  <a:uFillTx/>
                  <a:ea typeface="新細明體" pitchFamily="18" charset="-120"/>
                </a:endParaRPr>
              </a:p>
            </p:txBody>
          </p:sp>
          <p:sp>
            <p:nvSpPr>
              <p:cNvPr id="474" name="Rectangle 82"/>
              <p:cNvSpPr>
                <a:spLocks noChangeArrowheads="1"/>
              </p:cNvSpPr>
              <p:nvPr/>
            </p:nvSpPr>
            <p:spPr bwMode="auto">
              <a:xfrm>
                <a:off x="349" y="2935"/>
                <a:ext cx="1512" cy="14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marL="0" marR="0" lvl="0" indent="0" algn="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500" b="0" i="0" u="none" strike="noStrike" kern="0" cap="none" spc="0" normalizeH="0" baseline="0" noProof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新細明體" pitchFamily="18" charset="-120"/>
                  </a:rPr>
                  <a:t>Business Intelligence/Analytics</a:t>
                </a:r>
                <a:endParaRPr kumimoji="0" lang="en-US" altLang="zh-TW" sz="1500" b="0" i="0" u="none" strike="noStrike" kern="0" cap="none" spc="0" normalizeH="0" baseline="0" noProof="0" smtClean="0">
                  <a:ln>
                    <a:noFill/>
                  </a:ln>
                  <a:solidFill>
                    <a:srgbClr val="013064"/>
                  </a:solidFill>
                  <a:effectLst/>
                  <a:uLnTx/>
                  <a:uFillTx/>
                  <a:ea typeface="新細明體" pitchFamily="18" charset="-120"/>
                </a:endParaRPr>
              </a:p>
            </p:txBody>
          </p:sp>
          <p:sp>
            <p:nvSpPr>
              <p:cNvPr id="475" name="Rectangle 83"/>
              <p:cNvSpPr>
                <a:spLocks noChangeArrowheads="1"/>
              </p:cNvSpPr>
              <p:nvPr/>
            </p:nvSpPr>
            <p:spPr bwMode="auto">
              <a:xfrm>
                <a:off x="559" y="2721"/>
                <a:ext cx="1336" cy="14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marL="0" marR="0" lvl="0" indent="0" algn="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500" b="0" i="0" u="none" strike="noStrike" kern="0" cap="none" spc="0" normalizeH="0" baseline="0" noProof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新細明體" pitchFamily="18" charset="-120"/>
                  </a:rPr>
                  <a:t>Server capacity on demand</a:t>
                </a:r>
                <a:endParaRPr kumimoji="0" lang="en-US" altLang="zh-TW" sz="1500" b="0" i="0" u="none" strike="noStrike" kern="0" cap="none" spc="0" normalizeH="0" baseline="0" noProof="0" smtClean="0">
                  <a:ln>
                    <a:noFill/>
                  </a:ln>
                  <a:solidFill>
                    <a:srgbClr val="013064"/>
                  </a:solidFill>
                  <a:effectLst/>
                  <a:uLnTx/>
                  <a:uFillTx/>
                  <a:ea typeface="新細明體" pitchFamily="18" charset="-120"/>
                </a:endParaRPr>
              </a:p>
            </p:txBody>
          </p:sp>
          <p:sp>
            <p:nvSpPr>
              <p:cNvPr id="476" name="Rectangle 84"/>
              <p:cNvSpPr>
                <a:spLocks noChangeArrowheads="1"/>
              </p:cNvSpPr>
              <p:nvPr/>
            </p:nvSpPr>
            <p:spPr bwMode="auto">
              <a:xfrm>
                <a:off x="650" y="2516"/>
                <a:ext cx="1241" cy="14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marL="0" marR="0" lvl="0" indent="0" algn="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500" b="0" i="0" u="none" strike="noStrike" kern="0" cap="none" spc="0" normalizeH="0" baseline="0" noProof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新細明體" pitchFamily="18" charset="-120"/>
                  </a:rPr>
                  <a:t>IT Management software</a:t>
                </a:r>
                <a:endParaRPr kumimoji="0" lang="en-US" altLang="zh-TW" sz="1500" b="0" i="0" u="none" strike="noStrike" kern="0" cap="none" spc="0" normalizeH="0" baseline="0" noProof="0" smtClean="0">
                  <a:ln>
                    <a:noFill/>
                  </a:ln>
                  <a:solidFill>
                    <a:srgbClr val="013064"/>
                  </a:solidFill>
                  <a:effectLst/>
                  <a:uLnTx/>
                  <a:uFillTx/>
                  <a:ea typeface="新細明體" pitchFamily="18" charset="-120"/>
                </a:endParaRPr>
              </a:p>
            </p:txBody>
          </p:sp>
          <p:sp>
            <p:nvSpPr>
              <p:cNvPr id="477" name="Rectangle 85"/>
              <p:cNvSpPr>
                <a:spLocks noChangeArrowheads="1"/>
              </p:cNvSpPr>
              <p:nvPr/>
            </p:nvSpPr>
            <p:spPr bwMode="auto">
              <a:xfrm>
                <a:off x="488" y="2312"/>
                <a:ext cx="1397" cy="14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marL="0" marR="0" lvl="0" indent="0" algn="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500" b="0" i="0" u="none" strike="noStrike" kern="0" cap="none" spc="0" normalizeH="0" baseline="0" noProof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新細明體" pitchFamily="18" charset="-120"/>
                  </a:rPr>
                  <a:t>Storage capacity on demand</a:t>
                </a:r>
                <a:endParaRPr kumimoji="0" lang="en-US" altLang="zh-TW" sz="1500" b="0" i="0" u="none" strike="noStrike" kern="0" cap="none" spc="0" normalizeH="0" baseline="0" noProof="0" smtClean="0">
                  <a:ln>
                    <a:noFill/>
                  </a:ln>
                  <a:solidFill>
                    <a:srgbClr val="013064"/>
                  </a:solidFill>
                  <a:effectLst/>
                  <a:uLnTx/>
                  <a:uFillTx/>
                  <a:ea typeface="新細明體" pitchFamily="18" charset="-120"/>
                </a:endParaRPr>
              </a:p>
            </p:txBody>
          </p:sp>
          <p:sp>
            <p:nvSpPr>
              <p:cNvPr id="478" name="Rectangle 86"/>
              <p:cNvSpPr>
                <a:spLocks noChangeArrowheads="1"/>
              </p:cNvSpPr>
              <p:nvPr/>
            </p:nvSpPr>
            <p:spPr bwMode="auto">
              <a:xfrm>
                <a:off x="163" y="2098"/>
                <a:ext cx="1705" cy="14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marL="0" marR="0" lvl="0" indent="0" algn="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500" b="0" i="0" u="none" strike="noStrike" kern="0" cap="none" spc="0" normalizeH="0" baseline="0" noProof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新細明體" pitchFamily="18" charset="-120"/>
                  </a:rPr>
                  <a:t>Data/Content Distribution services</a:t>
                </a:r>
                <a:endParaRPr kumimoji="0" lang="en-US" altLang="zh-TW" sz="1500" b="0" i="0" u="none" strike="noStrike" kern="0" cap="none" spc="0" normalizeH="0" baseline="0" noProof="0" smtClean="0">
                  <a:ln>
                    <a:noFill/>
                  </a:ln>
                  <a:solidFill>
                    <a:srgbClr val="013064"/>
                  </a:solidFill>
                  <a:effectLst/>
                  <a:uLnTx/>
                  <a:uFillTx/>
                  <a:ea typeface="新細明體" pitchFamily="18" charset="-120"/>
                </a:endParaRPr>
              </a:p>
            </p:txBody>
          </p:sp>
          <p:sp>
            <p:nvSpPr>
              <p:cNvPr id="479" name="Rectangle 87"/>
              <p:cNvSpPr>
                <a:spLocks noChangeArrowheads="1"/>
              </p:cNvSpPr>
              <p:nvPr/>
            </p:nvSpPr>
            <p:spPr bwMode="auto">
              <a:xfrm>
                <a:off x="574" y="1893"/>
                <a:ext cx="1308" cy="14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marL="0" marR="0" lvl="0" indent="0" algn="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500" b="0" i="0" u="none" strike="noStrike" kern="0" cap="none" spc="0" normalizeH="0" baseline="0" noProof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新細明體" pitchFamily="18" charset="-120"/>
                  </a:rPr>
                  <a:t>Personal productivity apps</a:t>
                </a:r>
                <a:endParaRPr kumimoji="0" lang="en-US" altLang="zh-TW" sz="1500" b="0" i="0" u="none" strike="noStrike" kern="0" cap="none" spc="0" normalizeH="0" baseline="0" noProof="0" smtClean="0">
                  <a:ln>
                    <a:noFill/>
                  </a:ln>
                  <a:solidFill>
                    <a:srgbClr val="013064"/>
                  </a:solidFill>
                  <a:effectLst/>
                  <a:uLnTx/>
                  <a:uFillTx/>
                  <a:ea typeface="新細明體" pitchFamily="18" charset="-120"/>
                </a:endParaRPr>
              </a:p>
            </p:txBody>
          </p:sp>
          <p:sp>
            <p:nvSpPr>
              <p:cNvPr id="480" name="Rectangle 88"/>
              <p:cNvSpPr>
                <a:spLocks noChangeArrowheads="1"/>
              </p:cNvSpPr>
              <p:nvPr/>
            </p:nvSpPr>
            <p:spPr bwMode="auto">
              <a:xfrm>
                <a:off x="399" y="1688"/>
                <a:ext cx="1462" cy="14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marL="0" marR="0" lvl="0" indent="0" algn="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500" b="0" i="0" u="none" strike="noStrike" kern="0" cap="none" spc="0" normalizeH="0" baseline="0" noProof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新細明體" pitchFamily="18" charset="-120"/>
                  </a:rPr>
                  <a:t>Business apps (CRM, HR, ERP)</a:t>
                </a:r>
                <a:endParaRPr kumimoji="0" lang="en-US" altLang="zh-TW" sz="1500" b="0" i="0" u="none" strike="noStrike" kern="0" cap="none" spc="0" normalizeH="0" baseline="0" noProof="0" smtClean="0">
                  <a:ln>
                    <a:noFill/>
                  </a:ln>
                  <a:solidFill>
                    <a:srgbClr val="013064"/>
                  </a:solidFill>
                  <a:effectLst/>
                  <a:uLnTx/>
                  <a:uFillTx/>
                  <a:ea typeface="新細明體" pitchFamily="18" charset="-120"/>
                </a:endParaRPr>
              </a:p>
            </p:txBody>
          </p:sp>
          <p:sp>
            <p:nvSpPr>
              <p:cNvPr id="481" name="Rectangle 89"/>
              <p:cNvSpPr>
                <a:spLocks noChangeArrowheads="1"/>
              </p:cNvSpPr>
              <p:nvPr/>
            </p:nvSpPr>
            <p:spPr bwMode="auto">
              <a:xfrm>
                <a:off x="297" y="1475"/>
                <a:ext cx="1604" cy="14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marL="0" marR="0" lvl="0" indent="0" algn="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500" b="0" i="0" u="none" strike="noStrike" kern="0" cap="none" spc="0" normalizeH="0" baseline="0" noProof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新細明體" pitchFamily="18" charset="-120"/>
                  </a:rPr>
                  <a:t>Data Back-up or Archive services</a:t>
                </a:r>
                <a:endParaRPr kumimoji="0" lang="en-US" altLang="zh-TW" sz="1500" b="0" i="0" u="none" strike="noStrike" kern="0" cap="none" spc="0" normalizeH="0" baseline="0" noProof="0" smtClean="0">
                  <a:ln>
                    <a:noFill/>
                  </a:ln>
                  <a:solidFill>
                    <a:srgbClr val="013064"/>
                  </a:solidFill>
                  <a:effectLst/>
                  <a:uLnTx/>
                  <a:uFillTx/>
                  <a:ea typeface="新細明體" pitchFamily="18" charset="-120"/>
                </a:endParaRPr>
              </a:p>
            </p:txBody>
          </p:sp>
          <p:sp>
            <p:nvSpPr>
              <p:cNvPr id="482" name="Rectangle 90"/>
              <p:cNvSpPr>
                <a:spLocks noChangeArrowheads="1"/>
              </p:cNvSpPr>
              <p:nvPr/>
            </p:nvSpPr>
            <p:spPr bwMode="auto">
              <a:xfrm>
                <a:off x="360" y="1270"/>
                <a:ext cx="1513" cy="14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marL="0" marR="0" lvl="0" indent="0" algn="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500" b="0" i="0" u="none" strike="noStrike" kern="0" cap="none" spc="0" normalizeH="0" baseline="0" noProof="0" dirty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新細明體" pitchFamily="18" charset="-120"/>
                  </a:rPr>
                  <a:t>Web applications/Web serving</a:t>
                </a:r>
                <a:endParaRPr kumimoji="0" lang="en-US" altLang="zh-TW" sz="15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013064"/>
                  </a:solidFill>
                  <a:effectLst/>
                  <a:uLnTx/>
                  <a:uFillTx/>
                  <a:ea typeface="新細明體" pitchFamily="18" charset="-120"/>
                </a:endParaRPr>
              </a:p>
            </p:txBody>
          </p:sp>
          <p:sp>
            <p:nvSpPr>
              <p:cNvPr id="483" name="Rectangle 91"/>
              <p:cNvSpPr>
                <a:spLocks noChangeArrowheads="1"/>
              </p:cNvSpPr>
              <p:nvPr/>
            </p:nvSpPr>
            <p:spPr bwMode="auto">
              <a:xfrm>
                <a:off x="567" y="1065"/>
                <a:ext cx="1286" cy="14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marL="0" marR="0" lvl="0" indent="0" algn="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500" b="0" i="0" u="none" strike="noStrike" kern="0" cap="none" spc="0" normalizeH="0" baseline="0" noProof="0" dirty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新細明體" pitchFamily="18" charset="-120"/>
                  </a:rPr>
                  <a:t>Collaboration applications</a:t>
                </a:r>
                <a:endParaRPr kumimoji="0" lang="en-US" altLang="zh-TW" sz="15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013064"/>
                  </a:solidFill>
                  <a:effectLst/>
                  <a:uLnTx/>
                  <a:uFillTx/>
                  <a:ea typeface="新細明體" pitchFamily="18" charset="-120"/>
                </a:endParaRPr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Cloud Value Drivers &amp; Effects</a:t>
            </a:r>
            <a:endParaRPr lang="zh-TW" altLang="en-US" dirty="0"/>
          </a:p>
        </p:txBody>
      </p:sp>
      <p:pic>
        <p:nvPicPr>
          <p:cNvPr id="51202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42888" y="1142826"/>
            <a:ext cx="8656637" cy="5670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群組 13"/>
          <p:cNvGrpSpPr/>
          <p:nvPr/>
        </p:nvGrpSpPr>
        <p:grpSpPr>
          <a:xfrm>
            <a:off x="0" y="757638"/>
            <a:ext cx="1707147" cy="943170"/>
            <a:chOff x="3449069" y="-84875"/>
            <a:chExt cx="1742821" cy="1526298"/>
          </a:xfrm>
        </p:grpSpPr>
        <p:sp>
          <p:nvSpPr>
            <p:cNvPr id="24" name="橢圓 23"/>
            <p:cNvSpPr/>
            <p:nvPr/>
          </p:nvSpPr>
          <p:spPr>
            <a:xfrm>
              <a:off x="3449069" y="-84875"/>
              <a:ext cx="1742821" cy="1526298"/>
            </a:xfrm>
            <a:prstGeom prst="ellipse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5" name="橢圓 4"/>
            <p:cNvSpPr/>
            <p:nvPr/>
          </p:nvSpPr>
          <p:spPr>
            <a:xfrm>
              <a:off x="3704299" y="138646"/>
              <a:ext cx="1232361" cy="1079256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2860" tIns="22860" rIns="22860" bIns="22860" numCol="1" spcCol="1270" anchor="ctr" anchorCtr="0">
              <a:noAutofit/>
            </a:bodyPr>
            <a:lstStyle/>
            <a:p>
              <a:pPr lvl="0" algn="ctr"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altLang="zh-TW" sz="1800" kern="1200" dirty="0" smtClean="0"/>
                <a:t>Lower costs</a:t>
              </a:r>
              <a:endParaRPr lang="zh-TW" altLang="en-US" sz="1800" kern="1200" dirty="0"/>
            </a:p>
          </p:txBody>
        </p:sp>
      </p:grp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 smtClean="0"/>
              <a:t>Lower IT operating and capital costs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700808"/>
            <a:ext cx="8229600" cy="4680520"/>
          </a:xfrm>
        </p:spPr>
        <p:txBody>
          <a:bodyPr>
            <a:normAutofit fontScale="92500" lnSpcReduction="20000"/>
          </a:bodyPr>
          <a:lstStyle/>
          <a:p>
            <a:r>
              <a:rPr lang="en-US" altLang="zh-TW" dirty="0" smtClean="0"/>
              <a:t>The leading value driver is lower IT operating and capital costs </a:t>
            </a:r>
          </a:p>
          <a:p>
            <a:endParaRPr lang="en-US" altLang="zh-TW" dirty="0" smtClean="0"/>
          </a:p>
          <a:p>
            <a:r>
              <a:rPr lang="en-US" altLang="zh-TW" dirty="0" smtClean="0"/>
              <a:t>Lower IT cost</a:t>
            </a:r>
          </a:p>
          <a:p>
            <a:pPr lvl="1"/>
            <a:r>
              <a:rPr lang="en-US" altLang="zh-TW" dirty="0" smtClean="0"/>
              <a:t>Optimize, consolidate and reduce servers </a:t>
            </a:r>
          </a:p>
          <a:p>
            <a:pPr lvl="1"/>
            <a:r>
              <a:rPr lang="en-US" altLang="zh-TW" dirty="0" smtClean="0"/>
              <a:t>Improve capital utilization &amp; quality</a:t>
            </a:r>
          </a:p>
          <a:p>
            <a:pPr lvl="1"/>
            <a:r>
              <a:rPr lang="en-US" altLang="zh-TW" dirty="0" smtClean="0"/>
              <a:t>Reduce energy costs </a:t>
            </a:r>
          </a:p>
          <a:p>
            <a:r>
              <a:rPr lang="en-US" altLang="zh-TW" dirty="0" smtClean="0"/>
              <a:t>Enables implementation of ideas or applications</a:t>
            </a:r>
          </a:p>
          <a:p>
            <a:pPr lvl="1"/>
            <a:r>
              <a:rPr lang="en-US" altLang="zh-TW" dirty="0" smtClean="0"/>
              <a:t>Cheaper pilots encourages experimentation and innovation </a:t>
            </a:r>
          </a:p>
          <a:p>
            <a:pPr lvl="1"/>
            <a:r>
              <a:rPr lang="en-US" altLang="zh-TW" dirty="0" smtClean="0"/>
              <a:t>Reduction in the costs for large, compute and storage intensive applications </a:t>
            </a:r>
          </a:p>
          <a:p>
            <a:pPr lvl="1"/>
            <a:r>
              <a:rPr lang="en-US" altLang="zh-TW" dirty="0" smtClean="0"/>
              <a:t>A Pay for Use model and the lower cloud costs of large computing and storage resources</a:t>
            </a:r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群組 9"/>
          <p:cNvGrpSpPr/>
          <p:nvPr/>
        </p:nvGrpSpPr>
        <p:grpSpPr>
          <a:xfrm>
            <a:off x="0" y="757638"/>
            <a:ext cx="1707147" cy="943170"/>
            <a:chOff x="5777889" y="2298753"/>
            <a:chExt cx="1742821" cy="1526298"/>
          </a:xfrm>
        </p:grpSpPr>
        <p:sp>
          <p:nvSpPr>
            <p:cNvPr id="14" name="橢圓 13"/>
            <p:cNvSpPr/>
            <p:nvPr/>
          </p:nvSpPr>
          <p:spPr>
            <a:xfrm>
              <a:off x="5777889" y="2298753"/>
              <a:ext cx="1742821" cy="1526298"/>
            </a:xfrm>
            <a:prstGeom prst="ellipse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hueOff val="1560506"/>
                <a:satOff val="-1946"/>
                <a:lumOff val="458"/>
                <a:alphaOff val="0"/>
              </a:schemeClr>
            </a:fillRef>
            <a:effectRef idx="0">
              <a:schemeClr val="accent2">
                <a:hueOff val="1560506"/>
                <a:satOff val="-1946"/>
                <a:lumOff val="458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5" name="橢圓 6"/>
            <p:cNvSpPr/>
            <p:nvPr/>
          </p:nvSpPr>
          <p:spPr>
            <a:xfrm>
              <a:off x="6033119" y="2522274"/>
              <a:ext cx="1232361" cy="1079256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2860" tIns="22860" rIns="22860" bIns="22860" numCol="1" spcCol="1270" anchor="ctr" anchorCtr="0">
              <a:noAutofit/>
            </a:bodyPr>
            <a:lstStyle/>
            <a:p>
              <a:pPr lvl="0" algn="ctr"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altLang="en-US" sz="1800" kern="1200" dirty="0" smtClean="0"/>
                <a:t>Fine grained and rapid provisioning</a:t>
              </a:r>
              <a:endParaRPr lang="zh-TW" altLang="en-US" sz="1800" kern="1200" dirty="0"/>
            </a:p>
          </p:txBody>
        </p:sp>
      </p:grp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lvl="0" defTabSz="622300">
              <a:lnSpc>
                <a:spcPct val="90000"/>
              </a:lnSpc>
              <a:spcAft>
                <a:spcPct val="35000"/>
              </a:spcAft>
            </a:pPr>
            <a:r>
              <a:rPr lang="en-US" altLang="en-US" dirty="0" smtClean="0"/>
              <a:t>Fine grained and rapid provisioning</a:t>
            </a:r>
            <a:endParaRPr lang="zh-TW" altLang="en-US" dirty="0"/>
          </a:p>
        </p:txBody>
      </p:sp>
      <p:sp>
        <p:nvSpPr>
          <p:cNvPr id="11" name="內容版面配置區 10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1180728"/>
          </a:xfrm>
        </p:spPr>
        <p:txBody>
          <a:bodyPr>
            <a:normAutofit fontScale="92500"/>
          </a:bodyPr>
          <a:lstStyle/>
          <a:p>
            <a:r>
              <a:rPr lang="en-US" altLang="zh-TW" dirty="0" smtClean="0"/>
              <a:t>Fine grained IT services with very rapid provisioning change the way IT can acquire capacity </a:t>
            </a:r>
            <a:endParaRPr lang="zh-TW" altLang="en-US" dirty="0"/>
          </a:p>
        </p:txBody>
      </p:sp>
      <p:graphicFrame>
        <p:nvGraphicFramePr>
          <p:cNvPr id="12" name="內容版面配置區 9"/>
          <p:cNvGraphicFramePr>
            <a:graphicFrameLocks/>
          </p:cNvGraphicFramePr>
          <p:nvPr/>
        </p:nvGraphicFramePr>
        <p:xfrm>
          <a:off x="457200" y="2564904"/>
          <a:ext cx="8229600" cy="4028440"/>
        </p:xfrm>
        <a:graphic>
          <a:graphicData uri="http://schemas.openxmlformats.org/drawingml/2006/table">
            <a:tbl>
              <a:tblPr firstRow="1" bandRow="1">
                <a:tableStyleId>{3C2FFA5D-87B4-456A-9821-1D502468CF0F}</a:tableStyleId>
              </a:tblPr>
              <a:tblGrid>
                <a:gridCol w="2743200"/>
                <a:gridCol w="2743200"/>
                <a:gridCol w="2743200"/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Traditional IT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Cloud</a:t>
                      </a:r>
                      <a:endParaRPr lang="zh-TW" altLang="en-US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Servers</a:t>
                      </a:r>
                      <a:endParaRPr lang="zh-TW" alt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dirty="0" smtClean="0"/>
                        <a:t>Today buy large capacities </a:t>
                      </a:r>
                    </a:p>
                    <a:p>
                      <a:pPr algn="l"/>
                      <a:r>
                        <a:rPr lang="en-US" altLang="zh-TW" dirty="0" smtClean="0"/>
                        <a:t>using multi-year leases/ </a:t>
                      </a:r>
                    </a:p>
                    <a:p>
                      <a:pPr algn="l"/>
                      <a:r>
                        <a:rPr lang="en-US" altLang="zh-TW" dirty="0" smtClean="0"/>
                        <a:t>capital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dirty="0" smtClean="0"/>
                        <a:t>With cloud capacity on demand, pay-as-you-go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Software</a:t>
                      </a:r>
                      <a:endParaRPr lang="zh-TW" alt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dirty="0" smtClean="0"/>
                        <a:t>Today multi-year Software </a:t>
                      </a:r>
                    </a:p>
                    <a:p>
                      <a:pPr algn="l"/>
                      <a:r>
                        <a:rPr lang="en-US" altLang="zh-TW" dirty="0" smtClean="0"/>
                        <a:t>Licenses by seat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dirty="0" smtClean="0"/>
                        <a:t>With cloud </a:t>
                      </a:r>
                      <a:r>
                        <a:rPr lang="en-US" altLang="zh-TW" dirty="0" err="1" smtClean="0"/>
                        <a:t>SaaS</a:t>
                      </a:r>
                      <a:r>
                        <a:rPr lang="en-US" altLang="zh-TW" dirty="0" smtClean="0"/>
                        <a:t> model, pay by the month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Infrastructure capacity in </a:t>
                      </a:r>
                    </a:p>
                    <a:p>
                      <a:pPr algn="ctr"/>
                      <a:r>
                        <a:rPr lang="en-US" altLang="zh-TW" dirty="0" smtClean="0"/>
                        <a:t>very small increments </a:t>
                      </a:r>
                      <a:endParaRPr lang="zh-TW" alt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dirty="0" smtClean="0"/>
                        <a:t>Traditional IT capacities </a:t>
                      </a:r>
                    </a:p>
                    <a:p>
                      <a:pPr algn="l"/>
                      <a:r>
                        <a:rPr lang="en-US" altLang="zh-TW" dirty="0" smtClean="0"/>
                        <a:t>come in large increments</a:t>
                      </a:r>
                    </a:p>
                    <a:p>
                      <a:pPr algn="l"/>
                      <a:r>
                        <a:rPr lang="en-US" altLang="zh-TW" dirty="0" smtClean="0"/>
                        <a:t>with up-front capital costs 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dirty="0" smtClean="0"/>
                        <a:t>Fine grained cloud services </a:t>
                      </a:r>
                    </a:p>
                    <a:p>
                      <a:pPr algn="l"/>
                      <a:r>
                        <a:rPr lang="en-US" altLang="zh-TW" dirty="0" smtClean="0"/>
                        <a:t>allow capacity to be obtained on just what is needed then and on a pay-as-you-go basis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Rapid provisioning and </a:t>
                      </a:r>
                    </a:p>
                    <a:p>
                      <a:pPr algn="ctr"/>
                      <a:r>
                        <a:rPr lang="en-US" altLang="zh-TW" dirty="0" smtClean="0"/>
                        <a:t>scaling up or down easily </a:t>
                      </a:r>
                      <a:endParaRPr lang="zh-TW" alt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dirty="0" smtClean="0"/>
                        <a:t>Today routine provisioning </a:t>
                      </a:r>
                    </a:p>
                    <a:p>
                      <a:pPr algn="l"/>
                      <a:r>
                        <a:rPr lang="en-US" altLang="zh-TW" dirty="0" smtClean="0"/>
                        <a:t>2 to 3 weeks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dirty="0" smtClean="0"/>
                        <a:t>With cloud provisioning</a:t>
                      </a:r>
                      <a:r>
                        <a:rPr lang="en-US" altLang="zh-TW" baseline="0" dirty="0" smtClean="0"/>
                        <a:t> in minutes to hours</a:t>
                      </a:r>
                      <a:endParaRPr lang="zh-TW" altLang="en-US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defTabSz="622300">
              <a:lnSpc>
                <a:spcPct val="90000"/>
              </a:lnSpc>
              <a:spcAft>
                <a:spcPct val="35000"/>
              </a:spcAft>
            </a:pPr>
            <a:r>
              <a:rPr lang="en-US" altLang="zh-TW" dirty="0" smtClean="0"/>
              <a:t>Removing IT complexity</a:t>
            </a:r>
            <a:endParaRPr lang="zh-TW" altLang="en-US" dirty="0"/>
          </a:p>
        </p:txBody>
      </p:sp>
      <p:sp>
        <p:nvSpPr>
          <p:cNvPr id="7" name="內容版面配置區 6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97152"/>
          </a:xfrm>
        </p:spPr>
        <p:txBody>
          <a:bodyPr>
            <a:normAutofit/>
          </a:bodyPr>
          <a:lstStyle/>
          <a:p>
            <a:r>
              <a:rPr lang="en-US" altLang="zh-TW" dirty="0" smtClean="0"/>
              <a:t>Removing IT complexity from end users</a:t>
            </a:r>
          </a:p>
          <a:p>
            <a:endParaRPr lang="en-US" altLang="zh-TW" dirty="0" smtClean="0"/>
          </a:p>
          <a:p>
            <a:r>
              <a:rPr lang="en-US" altLang="zh-TW" dirty="0" smtClean="0"/>
              <a:t>End users can easy to access services without worrying about technical details</a:t>
            </a:r>
          </a:p>
          <a:p>
            <a:pPr lvl="1"/>
            <a:r>
              <a:rPr lang="en-US" altLang="zh-TW" dirty="0" smtClean="0"/>
              <a:t>Acquire computing services via the Internet </a:t>
            </a:r>
          </a:p>
          <a:p>
            <a:pPr lvl="2"/>
            <a:r>
              <a:rPr lang="en-US" altLang="zh-TW" dirty="0" smtClean="0"/>
              <a:t>using web-based user interface </a:t>
            </a:r>
          </a:p>
          <a:p>
            <a:pPr lvl="1"/>
            <a:r>
              <a:rPr lang="en-US" altLang="zh-TW" dirty="0" smtClean="0"/>
              <a:t>Cloud enhances user experience through faster and richer cloud services</a:t>
            </a:r>
          </a:p>
        </p:txBody>
      </p:sp>
      <p:grpSp>
        <p:nvGrpSpPr>
          <p:cNvPr id="8" name="群組 7"/>
          <p:cNvGrpSpPr/>
          <p:nvPr/>
        </p:nvGrpSpPr>
        <p:grpSpPr>
          <a:xfrm>
            <a:off x="0" y="757638"/>
            <a:ext cx="1707147" cy="943170"/>
            <a:chOff x="3354908" y="4019577"/>
            <a:chExt cx="1742821" cy="1526298"/>
          </a:xfrm>
        </p:grpSpPr>
        <p:sp>
          <p:nvSpPr>
            <p:cNvPr id="12" name="橢圓 11"/>
            <p:cNvSpPr/>
            <p:nvPr/>
          </p:nvSpPr>
          <p:spPr>
            <a:xfrm>
              <a:off x="3354908" y="4019577"/>
              <a:ext cx="1742821" cy="1526298"/>
            </a:xfrm>
            <a:prstGeom prst="ellipse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hueOff val="3121013"/>
                <a:satOff val="-3893"/>
                <a:lumOff val="915"/>
                <a:alphaOff val="0"/>
              </a:schemeClr>
            </a:fillRef>
            <a:effectRef idx="0">
              <a:schemeClr val="accent2">
                <a:hueOff val="3121013"/>
                <a:satOff val="-3893"/>
                <a:lumOff val="915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3" name="橢圓 8"/>
            <p:cNvSpPr/>
            <p:nvPr/>
          </p:nvSpPr>
          <p:spPr>
            <a:xfrm>
              <a:off x="3610138" y="4243098"/>
              <a:ext cx="1232361" cy="1079256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2860" tIns="22860" rIns="22860" bIns="22860" numCol="1" spcCol="1270" anchor="ctr" anchorCtr="0">
              <a:noAutofit/>
            </a:bodyPr>
            <a:lstStyle/>
            <a:p>
              <a:pPr lvl="0" algn="ctr"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altLang="zh-TW" sz="1800" kern="1200" dirty="0" smtClean="0"/>
                <a:t>Removing IT complexity</a:t>
              </a:r>
              <a:endParaRPr lang="zh-TW" altLang="en-US" sz="1800" kern="120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defTabSz="622300">
              <a:lnSpc>
                <a:spcPct val="90000"/>
              </a:lnSpc>
              <a:spcAft>
                <a:spcPct val="35000"/>
              </a:spcAft>
            </a:pPr>
            <a:r>
              <a:rPr lang="en-US" altLang="en-US" dirty="0" smtClean="0"/>
              <a:t>Pay for what is used</a:t>
            </a:r>
            <a:endParaRPr lang="zh-TW" altLang="en-US" dirty="0"/>
          </a:p>
        </p:txBody>
      </p:sp>
      <p:sp>
        <p:nvSpPr>
          <p:cNvPr id="7" name="內容版面配置區 6"/>
          <p:cNvSpPr>
            <a:spLocks noGrp="1"/>
          </p:cNvSpPr>
          <p:nvPr>
            <p:ph idx="1"/>
          </p:nvPr>
        </p:nvSpPr>
        <p:spPr>
          <a:xfrm>
            <a:off x="457200" y="1700808"/>
            <a:ext cx="8229600" cy="3456384"/>
          </a:xfrm>
        </p:spPr>
        <p:txBody>
          <a:bodyPr>
            <a:normAutofit lnSpcReduction="10000"/>
          </a:bodyPr>
          <a:lstStyle/>
          <a:p>
            <a:r>
              <a:rPr lang="en-US" altLang="zh-TW" dirty="0" smtClean="0"/>
              <a:t>Cloud pricing models based on paying for what is used</a:t>
            </a:r>
          </a:p>
          <a:p>
            <a:pPr lvl="1"/>
            <a:endParaRPr lang="en-US" altLang="zh-TW" dirty="0" smtClean="0"/>
          </a:p>
          <a:p>
            <a:r>
              <a:rPr lang="en-US" altLang="zh-TW" dirty="0" smtClean="0"/>
              <a:t>Avoid the upfront cost for infrastructure and the financial risk</a:t>
            </a:r>
          </a:p>
          <a:p>
            <a:pPr lvl="1"/>
            <a:r>
              <a:rPr lang="en-US" altLang="zh-TW" dirty="0" smtClean="0"/>
              <a:t>Cloud pricing models allow pay for what is used</a:t>
            </a:r>
          </a:p>
          <a:p>
            <a:pPr lvl="1"/>
            <a:r>
              <a:rPr lang="en-US" altLang="zh-TW" dirty="0" smtClean="0"/>
              <a:t>Scare capital needed to invest in infrastructure is replaced with an operating expense</a:t>
            </a:r>
          </a:p>
        </p:txBody>
      </p:sp>
      <p:grpSp>
        <p:nvGrpSpPr>
          <p:cNvPr id="8" name="群組 7"/>
          <p:cNvGrpSpPr/>
          <p:nvPr/>
        </p:nvGrpSpPr>
        <p:grpSpPr>
          <a:xfrm>
            <a:off x="0" y="757638"/>
            <a:ext cx="1707147" cy="943170"/>
            <a:chOff x="1063532" y="2219318"/>
            <a:chExt cx="1742821" cy="1526298"/>
          </a:xfrm>
        </p:grpSpPr>
        <p:sp>
          <p:nvSpPr>
            <p:cNvPr id="11" name="橢圓 10"/>
            <p:cNvSpPr/>
            <p:nvPr/>
          </p:nvSpPr>
          <p:spPr>
            <a:xfrm>
              <a:off x="1063532" y="2219318"/>
              <a:ext cx="1742821" cy="1526298"/>
            </a:xfrm>
            <a:prstGeom prst="ellipse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hueOff val="4681519"/>
                <a:satOff val="-5839"/>
                <a:lumOff val="1373"/>
                <a:alphaOff val="0"/>
              </a:schemeClr>
            </a:fillRef>
            <a:effectRef idx="0">
              <a:schemeClr val="accent2">
                <a:hueOff val="4681519"/>
                <a:satOff val="-5839"/>
                <a:lumOff val="1373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2" name="橢圓 10"/>
            <p:cNvSpPr/>
            <p:nvPr/>
          </p:nvSpPr>
          <p:spPr>
            <a:xfrm>
              <a:off x="1318762" y="2442839"/>
              <a:ext cx="1232361" cy="1079256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2860" tIns="22860" rIns="22860" bIns="22860" numCol="1" spcCol="1270" anchor="ctr" anchorCtr="0">
              <a:noAutofit/>
            </a:bodyPr>
            <a:lstStyle/>
            <a:p>
              <a:pPr lvl="0" algn="ctr"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altLang="en-US" sz="1800" kern="1200" dirty="0" smtClean="0"/>
                <a:t>Pay for what is used</a:t>
              </a:r>
              <a:endParaRPr lang="zh-TW" altLang="en-US" sz="1800" kern="1200" dirty="0"/>
            </a:p>
          </p:txBody>
        </p:sp>
      </p:grpSp>
      <p:sp>
        <p:nvSpPr>
          <p:cNvPr id="9" name="內容版面配置區 2"/>
          <p:cNvSpPr txBox="1">
            <a:spLocks/>
          </p:cNvSpPr>
          <p:nvPr/>
        </p:nvSpPr>
        <p:spPr>
          <a:xfrm>
            <a:off x="5292080" y="5157192"/>
            <a:ext cx="3744416" cy="1684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buSzTx/>
              <a:tabLst/>
              <a:defRPr/>
            </a:pPr>
            <a:r>
              <a:rPr kumimoji="0" lang="en-US" altLang="zh-TW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Cambria" pitchFamily="18" charset="0"/>
                <a:ea typeface="+mn-ea"/>
                <a:cs typeface="+mn-cs"/>
              </a:rPr>
              <a:t>Typical IT budget models :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3">
                  <a:lumMod val="50000"/>
                </a:schemeClr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accent3">
                    <a:lumMod val="50000"/>
                  </a:schemeClr>
                </a:solidFill>
                <a:effectLst/>
                <a:uLnTx/>
                <a:uFillTx/>
                <a:latin typeface="Cambria" pitchFamily="18" charset="0"/>
                <a:ea typeface="+mn-ea"/>
                <a:cs typeface="+mn-cs"/>
              </a:rPr>
              <a:t>Applications: 35%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3">
                  <a:lumMod val="50000"/>
                </a:schemeClr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mbria" pitchFamily="18" charset="0"/>
                <a:ea typeface="+mn-ea"/>
                <a:cs typeface="+mn-cs"/>
              </a:rPr>
              <a:t>Infrastructure: 60%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3">
                  <a:lumMod val="50000"/>
                </a:schemeClr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accent3">
                    <a:lumMod val="50000"/>
                  </a:schemeClr>
                </a:solidFill>
                <a:effectLst/>
                <a:uLnTx/>
                <a:uFillTx/>
                <a:latin typeface="Cambria" pitchFamily="18" charset="0"/>
                <a:ea typeface="+mn-ea"/>
                <a:cs typeface="+mn-cs"/>
              </a:rPr>
              <a:t>Other: 5%</a:t>
            </a:r>
            <a:endParaRPr kumimoji="0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chemeClr val="accent3">
                  <a:lumMod val="50000"/>
                </a:schemeClr>
              </a:solidFill>
              <a:effectLst/>
              <a:uLnTx/>
              <a:uFillTx/>
              <a:latin typeface="Cambria" pitchFamily="18" charset="0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 smtClean="0"/>
              <a:t>Cloud Computing Players</a:t>
            </a:r>
            <a:br>
              <a:rPr lang="en-US" altLang="zh-TW" dirty="0" smtClean="0"/>
            </a:br>
            <a:r>
              <a:rPr lang="en-US" altLang="zh-TW" sz="3100" dirty="0" smtClean="0"/>
              <a:t>more and more…</a:t>
            </a:r>
            <a:endParaRPr lang="zh-TW" altLang="en-US" sz="3100" dirty="0"/>
          </a:p>
        </p:txBody>
      </p:sp>
      <p:grpSp>
        <p:nvGrpSpPr>
          <p:cNvPr id="3" name="Group 60"/>
          <p:cNvGrpSpPr>
            <a:grpSpLocks noGrp="1"/>
          </p:cNvGrpSpPr>
          <p:nvPr>
            <p:ph idx="1"/>
          </p:nvPr>
        </p:nvGrpSpPr>
        <p:grpSpPr bwMode="auto">
          <a:xfrm>
            <a:off x="390364" y="1628800"/>
            <a:ext cx="8363272" cy="4741987"/>
            <a:chOff x="763" y="768"/>
            <a:chExt cx="4230" cy="3160"/>
          </a:xfrm>
        </p:grpSpPr>
        <p:pic>
          <p:nvPicPr>
            <p:cNvPr id="46" name="Picture 10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816" y="768"/>
              <a:ext cx="3929" cy="1505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</p:pic>
        <p:pic>
          <p:nvPicPr>
            <p:cNvPr id="47" name="Picture 11" descr="IBM">
              <a:hlinkClick r:id="rId3"/>
            </p:cNvPr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3380" y="2320"/>
              <a:ext cx="556" cy="278"/>
            </a:xfrm>
            <a:prstGeom prst="rect">
              <a:avLst/>
            </a:prstGeom>
            <a:noFill/>
          </p:spPr>
        </p:pic>
        <p:pic>
          <p:nvPicPr>
            <p:cNvPr id="48" name="Picture 12" descr="Open Text">
              <a:hlinkClick r:id="rId5"/>
            </p:cNvPr>
            <p:cNvPicPr>
              <a:picLocks noChangeAspect="1" noChangeArrowheads="1"/>
            </p:cNvPicPr>
            <p:nvPr/>
          </p:nvPicPr>
          <p:blipFill>
            <a:blip r:embed="rId6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/>
            <a:stretch>
              <a:fillRect/>
            </a:stretch>
          </p:blipFill>
          <p:spPr bwMode="auto">
            <a:xfrm>
              <a:off x="2678" y="2318"/>
              <a:ext cx="648" cy="325"/>
            </a:xfrm>
            <a:prstGeom prst="rect">
              <a:avLst/>
            </a:prstGeom>
            <a:noFill/>
          </p:spPr>
        </p:pic>
        <p:pic>
          <p:nvPicPr>
            <p:cNvPr id="49" name="Picture 13" descr="Oracle">
              <a:hlinkClick r:id="rId7"/>
            </p:cNvPr>
            <p:cNvPicPr>
              <a:picLocks noChangeAspect="1" noChangeArrowheads="1"/>
            </p:cNvPicPr>
            <p:nvPr/>
          </p:nvPicPr>
          <p:blipFill>
            <a:blip r:embed="rId8" cstate="print"/>
            <a:srcRect/>
            <a:stretch>
              <a:fillRect/>
            </a:stretch>
          </p:blipFill>
          <p:spPr bwMode="auto">
            <a:xfrm>
              <a:off x="1695" y="2616"/>
              <a:ext cx="649" cy="324"/>
            </a:xfrm>
            <a:prstGeom prst="rect">
              <a:avLst/>
            </a:prstGeom>
            <a:noFill/>
          </p:spPr>
        </p:pic>
        <p:pic>
          <p:nvPicPr>
            <p:cNvPr id="50" name="Picture 14" descr="Alcatel Lucent">
              <a:hlinkClick r:id="rId9"/>
            </p:cNvPr>
            <p:cNvPicPr>
              <a:picLocks noChangeAspect="1" noChangeArrowheads="1"/>
            </p:cNvPicPr>
            <p:nvPr/>
          </p:nvPicPr>
          <p:blipFill>
            <a:blip r:embed="rId10" cstate="print"/>
            <a:srcRect/>
            <a:stretch>
              <a:fillRect/>
            </a:stretch>
          </p:blipFill>
          <p:spPr bwMode="auto">
            <a:xfrm>
              <a:off x="1335" y="2318"/>
              <a:ext cx="649" cy="325"/>
            </a:xfrm>
            <a:prstGeom prst="rect">
              <a:avLst/>
            </a:prstGeom>
            <a:noFill/>
          </p:spPr>
        </p:pic>
        <p:pic>
          <p:nvPicPr>
            <p:cNvPr id="51" name="Picture 15" descr="Horn Group">
              <a:hlinkClick r:id="rId11"/>
            </p:cNvPr>
            <p:cNvPicPr>
              <a:picLocks noChangeAspect="1" noChangeArrowheads="1"/>
            </p:cNvPicPr>
            <p:nvPr/>
          </p:nvPicPr>
          <p:blipFill>
            <a:blip r:embed="rId12" cstate="print"/>
            <a:srcRect/>
            <a:stretch>
              <a:fillRect/>
            </a:stretch>
          </p:blipFill>
          <p:spPr bwMode="auto">
            <a:xfrm>
              <a:off x="4416" y="2352"/>
              <a:ext cx="577" cy="288"/>
            </a:xfrm>
            <a:prstGeom prst="rect">
              <a:avLst/>
            </a:prstGeom>
            <a:noFill/>
          </p:spPr>
        </p:pic>
        <p:pic>
          <p:nvPicPr>
            <p:cNvPr id="52" name="Picture 16" descr="novell">
              <a:hlinkClick r:id="rId13"/>
            </p:cNvPr>
            <p:cNvPicPr>
              <a:picLocks noChangeAspect="1" noChangeArrowheads="1"/>
            </p:cNvPicPr>
            <p:nvPr/>
          </p:nvPicPr>
          <p:blipFill>
            <a:blip r:embed="rId14" cstate="print"/>
            <a:srcRect/>
            <a:stretch>
              <a:fillRect/>
            </a:stretch>
          </p:blipFill>
          <p:spPr bwMode="auto">
            <a:xfrm>
              <a:off x="2065" y="2323"/>
              <a:ext cx="567" cy="284"/>
            </a:xfrm>
            <a:prstGeom prst="rect">
              <a:avLst/>
            </a:prstGeom>
            <a:noFill/>
          </p:spPr>
        </p:pic>
        <p:pic>
          <p:nvPicPr>
            <p:cNvPr id="53" name="Picture 17" descr="Acquia">
              <a:hlinkClick r:id="rId15"/>
            </p:cNvPr>
            <p:cNvPicPr>
              <a:picLocks noChangeAspect="1" noChangeArrowheads="1"/>
            </p:cNvPicPr>
            <p:nvPr/>
          </p:nvPicPr>
          <p:blipFill>
            <a:blip r:embed="rId16" cstate="print"/>
            <a:srcRect/>
            <a:stretch>
              <a:fillRect/>
            </a:stretch>
          </p:blipFill>
          <p:spPr bwMode="auto">
            <a:xfrm>
              <a:off x="1533" y="3094"/>
              <a:ext cx="649" cy="324"/>
            </a:xfrm>
            <a:prstGeom prst="rect">
              <a:avLst/>
            </a:prstGeom>
            <a:noFill/>
          </p:spPr>
        </p:pic>
        <p:pic>
          <p:nvPicPr>
            <p:cNvPr id="54" name="Picture 18" descr="Alfresco">
              <a:hlinkClick r:id="rId17"/>
            </p:cNvPr>
            <p:cNvPicPr>
              <a:picLocks noChangeAspect="1" noChangeArrowheads="1"/>
            </p:cNvPicPr>
            <p:nvPr/>
          </p:nvPicPr>
          <p:blipFill>
            <a:blip r:embed="rId18" cstate="print"/>
            <a:srcRect/>
            <a:stretch>
              <a:fillRect/>
            </a:stretch>
          </p:blipFill>
          <p:spPr bwMode="auto">
            <a:xfrm>
              <a:off x="3885" y="2868"/>
              <a:ext cx="649" cy="325"/>
            </a:xfrm>
            <a:prstGeom prst="rect">
              <a:avLst/>
            </a:prstGeom>
            <a:noFill/>
          </p:spPr>
        </p:pic>
        <p:pic>
          <p:nvPicPr>
            <p:cNvPr id="55" name="Picture 19" descr="ConnectBeam">
              <a:hlinkClick r:id="rId19"/>
            </p:cNvPr>
            <p:cNvPicPr>
              <a:picLocks noChangeAspect="1" noChangeArrowheads="1"/>
            </p:cNvPicPr>
            <p:nvPr/>
          </p:nvPicPr>
          <p:blipFill>
            <a:blip r:embed="rId20" cstate="print"/>
            <a:srcRect/>
            <a:stretch>
              <a:fillRect/>
            </a:stretch>
          </p:blipFill>
          <p:spPr bwMode="auto">
            <a:xfrm>
              <a:off x="803" y="3071"/>
              <a:ext cx="712" cy="356"/>
            </a:xfrm>
            <a:prstGeom prst="rect">
              <a:avLst/>
            </a:prstGeom>
            <a:noFill/>
          </p:spPr>
        </p:pic>
        <p:pic>
          <p:nvPicPr>
            <p:cNvPr id="56" name="Picture 20" descr="IGLOO">
              <a:hlinkClick r:id="rId21"/>
            </p:cNvPr>
            <p:cNvPicPr>
              <a:picLocks noChangeAspect="1" noChangeArrowheads="1"/>
            </p:cNvPicPr>
            <p:nvPr/>
          </p:nvPicPr>
          <p:blipFill>
            <a:blip r:embed="rId22" cstate="print"/>
            <a:srcRect/>
            <a:stretch>
              <a:fillRect/>
            </a:stretch>
          </p:blipFill>
          <p:spPr bwMode="auto">
            <a:xfrm>
              <a:off x="2705" y="2868"/>
              <a:ext cx="648" cy="325"/>
            </a:xfrm>
            <a:prstGeom prst="rect">
              <a:avLst/>
            </a:prstGeom>
            <a:noFill/>
          </p:spPr>
        </p:pic>
        <p:pic>
          <p:nvPicPr>
            <p:cNvPr id="57" name="Picture 21" descr="Inquira">
              <a:hlinkClick r:id="rId23"/>
            </p:cNvPr>
            <p:cNvPicPr>
              <a:picLocks noChangeAspect="1" noChangeArrowheads="1"/>
            </p:cNvPicPr>
            <p:nvPr/>
          </p:nvPicPr>
          <p:blipFill>
            <a:blip r:embed="rId24" cstate="print"/>
            <a:srcRect/>
            <a:stretch>
              <a:fillRect/>
            </a:stretch>
          </p:blipFill>
          <p:spPr bwMode="auto">
            <a:xfrm>
              <a:off x="2256" y="3168"/>
              <a:ext cx="649" cy="325"/>
            </a:xfrm>
            <a:prstGeom prst="rect">
              <a:avLst/>
            </a:prstGeom>
            <a:noFill/>
          </p:spPr>
        </p:pic>
        <p:pic>
          <p:nvPicPr>
            <p:cNvPr id="58" name="Picture 22" descr="jive">
              <a:hlinkClick r:id="rId25"/>
            </p:cNvPr>
            <p:cNvPicPr>
              <a:picLocks noChangeAspect="1" noChangeArrowheads="1"/>
            </p:cNvPicPr>
            <p:nvPr/>
          </p:nvPicPr>
          <p:blipFill>
            <a:blip r:embed="rId26" cstate="print"/>
            <a:srcRect/>
            <a:stretch>
              <a:fillRect/>
            </a:stretch>
          </p:blipFill>
          <p:spPr bwMode="auto">
            <a:xfrm>
              <a:off x="3407" y="2922"/>
              <a:ext cx="451" cy="226"/>
            </a:xfrm>
            <a:prstGeom prst="rect">
              <a:avLst/>
            </a:prstGeom>
            <a:noFill/>
          </p:spPr>
        </p:pic>
        <p:pic>
          <p:nvPicPr>
            <p:cNvPr id="59" name="Picture 23" descr="liquidplanner">
              <a:hlinkClick r:id="rId27"/>
            </p:cNvPr>
            <p:cNvPicPr>
              <a:picLocks noChangeAspect="1" noChangeArrowheads="1"/>
            </p:cNvPicPr>
            <p:nvPr/>
          </p:nvPicPr>
          <p:blipFill>
            <a:blip r:embed="rId28" cstate="print"/>
            <a:srcRect/>
            <a:stretch>
              <a:fillRect/>
            </a:stretch>
          </p:blipFill>
          <p:spPr bwMode="auto">
            <a:xfrm>
              <a:off x="2236" y="2931"/>
              <a:ext cx="433" cy="217"/>
            </a:xfrm>
            <a:prstGeom prst="rect">
              <a:avLst/>
            </a:prstGeom>
            <a:noFill/>
          </p:spPr>
        </p:pic>
        <p:pic>
          <p:nvPicPr>
            <p:cNvPr id="60" name="Picture 24" descr="nGenera Corporation">
              <a:hlinkClick r:id="rId29"/>
            </p:cNvPr>
            <p:cNvPicPr>
              <a:picLocks noChangeAspect="1" noChangeArrowheads="1"/>
            </p:cNvPicPr>
            <p:nvPr/>
          </p:nvPicPr>
          <p:blipFill>
            <a:blip r:embed="rId30" cstate="print"/>
            <a:srcRect/>
            <a:stretch>
              <a:fillRect/>
            </a:stretch>
          </p:blipFill>
          <p:spPr bwMode="auto">
            <a:xfrm>
              <a:off x="1533" y="2859"/>
              <a:ext cx="649" cy="325"/>
            </a:xfrm>
            <a:prstGeom prst="rect">
              <a:avLst/>
            </a:prstGeom>
            <a:noFill/>
          </p:spPr>
        </p:pic>
        <p:pic>
          <p:nvPicPr>
            <p:cNvPr id="61" name="Picture 25" descr="Remy Corporation">
              <a:hlinkClick r:id="rId31"/>
            </p:cNvPr>
            <p:cNvPicPr>
              <a:picLocks noChangeAspect="1" noChangeArrowheads="1"/>
            </p:cNvPicPr>
            <p:nvPr/>
          </p:nvPicPr>
          <p:blipFill>
            <a:blip r:embed="rId32" cstate="print"/>
            <a:srcRect/>
            <a:stretch>
              <a:fillRect/>
            </a:stretch>
          </p:blipFill>
          <p:spPr bwMode="auto">
            <a:xfrm>
              <a:off x="794" y="2377"/>
              <a:ext cx="514" cy="257"/>
            </a:xfrm>
            <a:prstGeom prst="rect">
              <a:avLst/>
            </a:prstGeom>
            <a:noFill/>
          </p:spPr>
        </p:pic>
        <p:pic>
          <p:nvPicPr>
            <p:cNvPr id="62" name="Picture 26" descr="Socialtext">
              <a:hlinkClick r:id="rId33"/>
            </p:cNvPr>
            <p:cNvPicPr>
              <a:picLocks noChangeAspect="1" noChangeArrowheads="1"/>
            </p:cNvPicPr>
            <p:nvPr/>
          </p:nvPicPr>
          <p:blipFill>
            <a:blip r:embed="rId34" cstate="print"/>
            <a:srcRect/>
            <a:stretch>
              <a:fillRect/>
            </a:stretch>
          </p:blipFill>
          <p:spPr bwMode="auto">
            <a:xfrm>
              <a:off x="776" y="2562"/>
              <a:ext cx="793" cy="396"/>
            </a:xfrm>
            <a:prstGeom prst="rect">
              <a:avLst/>
            </a:prstGeom>
            <a:noFill/>
          </p:spPr>
        </p:pic>
        <p:pic>
          <p:nvPicPr>
            <p:cNvPr id="63" name="Picture 27" descr="Spigit">
              <a:hlinkClick r:id="rId35"/>
            </p:cNvPr>
            <p:cNvPicPr>
              <a:picLocks noChangeAspect="1" noChangeArrowheads="1"/>
            </p:cNvPicPr>
            <p:nvPr/>
          </p:nvPicPr>
          <p:blipFill>
            <a:blip r:embed="rId36" cstate="print"/>
            <a:srcRect/>
            <a:stretch>
              <a:fillRect/>
            </a:stretch>
          </p:blipFill>
          <p:spPr bwMode="auto">
            <a:xfrm>
              <a:off x="812" y="2859"/>
              <a:ext cx="649" cy="325"/>
            </a:xfrm>
            <a:prstGeom prst="rect">
              <a:avLst/>
            </a:prstGeom>
            <a:noFill/>
          </p:spPr>
        </p:pic>
        <p:pic>
          <p:nvPicPr>
            <p:cNvPr id="64" name="Picture 28" descr="Telligent">
              <a:hlinkClick r:id="rId37"/>
            </p:cNvPr>
            <p:cNvPicPr>
              <a:picLocks noChangeAspect="1" noChangeArrowheads="1"/>
            </p:cNvPicPr>
            <p:nvPr/>
          </p:nvPicPr>
          <p:blipFill>
            <a:blip r:embed="rId38" cstate="print"/>
            <a:srcRect/>
            <a:stretch>
              <a:fillRect/>
            </a:stretch>
          </p:blipFill>
          <p:spPr bwMode="auto">
            <a:xfrm>
              <a:off x="2434" y="2607"/>
              <a:ext cx="649" cy="324"/>
            </a:xfrm>
            <a:prstGeom prst="rect">
              <a:avLst/>
            </a:prstGeom>
            <a:noFill/>
          </p:spPr>
        </p:pic>
        <p:pic>
          <p:nvPicPr>
            <p:cNvPr id="65" name="Picture 29" descr="Trampoline">
              <a:hlinkClick r:id="rId39"/>
            </p:cNvPr>
            <p:cNvPicPr>
              <a:picLocks noChangeAspect="1" noChangeArrowheads="1"/>
            </p:cNvPicPr>
            <p:nvPr/>
          </p:nvPicPr>
          <p:blipFill>
            <a:blip r:embed="rId40" cstate="print"/>
            <a:srcRect/>
            <a:stretch>
              <a:fillRect/>
            </a:stretch>
          </p:blipFill>
          <p:spPr bwMode="auto">
            <a:xfrm>
              <a:off x="3129" y="2616"/>
              <a:ext cx="713" cy="261"/>
            </a:xfrm>
            <a:prstGeom prst="rect">
              <a:avLst/>
            </a:prstGeom>
            <a:noFill/>
          </p:spPr>
        </p:pic>
        <p:pic>
          <p:nvPicPr>
            <p:cNvPr id="66" name="Picture 30" descr="Worklight">
              <a:hlinkClick r:id="rId41"/>
            </p:cNvPr>
            <p:cNvPicPr>
              <a:picLocks noChangeAspect="1" noChangeArrowheads="1"/>
            </p:cNvPicPr>
            <p:nvPr/>
          </p:nvPicPr>
          <p:blipFill>
            <a:blip r:embed="rId42" cstate="print"/>
            <a:srcRect/>
            <a:stretch>
              <a:fillRect/>
            </a:stretch>
          </p:blipFill>
          <p:spPr bwMode="auto">
            <a:xfrm>
              <a:off x="3903" y="2589"/>
              <a:ext cx="649" cy="324"/>
            </a:xfrm>
            <a:prstGeom prst="rect">
              <a:avLst/>
            </a:prstGeom>
            <a:noFill/>
          </p:spPr>
        </p:pic>
        <p:pic>
          <p:nvPicPr>
            <p:cNvPr id="67" name="Picture 31" descr="elastra">
              <a:hlinkClick r:id="rId43"/>
            </p:cNvPr>
            <p:cNvPicPr>
              <a:picLocks noChangeAspect="1" noChangeArrowheads="1"/>
            </p:cNvPicPr>
            <p:nvPr/>
          </p:nvPicPr>
          <p:blipFill>
            <a:blip r:embed="rId44" cstate="print"/>
            <a:srcRect/>
            <a:stretch>
              <a:fillRect/>
            </a:stretch>
          </p:blipFill>
          <p:spPr bwMode="auto">
            <a:xfrm>
              <a:off x="2145" y="3521"/>
              <a:ext cx="504" cy="101"/>
            </a:xfrm>
            <a:prstGeom prst="rect">
              <a:avLst/>
            </a:prstGeom>
            <a:noFill/>
          </p:spPr>
        </p:pic>
        <p:pic>
          <p:nvPicPr>
            <p:cNvPr id="68" name="Picture 32" descr="banner_new_08"/>
            <p:cNvPicPr>
              <a:picLocks noChangeAspect="1" noChangeArrowheads="1"/>
            </p:cNvPicPr>
            <p:nvPr/>
          </p:nvPicPr>
          <p:blipFill>
            <a:blip r:embed="rId45" cstate="print"/>
            <a:srcRect/>
            <a:stretch>
              <a:fillRect/>
            </a:stretch>
          </p:blipFill>
          <p:spPr bwMode="auto">
            <a:xfrm>
              <a:off x="3804" y="3233"/>
              <a:ext cx="997" cy="206"/>
            </a:xfrm>
            <a:prstGeom prst="rect">
              <a:avLst/>
            </a:prstGeom>
            <a:noFill/>
          </p:spPr>
        </p:pic>
        <p:pic>
          <p:nvPicPr>
            <p:cNvPr id="69" name="Picture 33" descr="Netrics"/>
            <p:cNvPicPr>
              <a:picLocks noChangeAspect="1" noChangeArrowheads="1"/>
            </p:cNvPicPr>
            <p:nvPr/>
          </p:nvPicPr>
          <p:blipFill>
            <a:blip r:embed="rId46" cstate="print"/>
            <a:srcRect/>
            <a:stretch>
              <a:fillRect/>
            </a:stretch>
          </p:blipFill>
          <p:spPr bwMode="auto">
            <a:xfrm>
              <a:off x="1213" y="3633"/>
              <a:ext cx="676" cy="270"/>
            </a:xfrm>
            <a:prstGeom prst="rect">
              <a:avLst/>
            </a:prstGeom>
            <a:noFill/>
          </p:spPr>
        </p:pic>
        <p:pic>
          <p:nvPicPr>
            <p:cNvPr id="70" name="Picture 34" descr="CloudWorks Logo">
              <a:hlinkClick r:id="rId47"/>
            </p:cNvPr>
            <p:cNvPicPr>
              <a:picLocks noChangeAspect="1" noChangeArrowheads="1"/>
            </p:cNvPicPr>
            <p:nvPr/>
          </p:nvPicPr>
          <p:blipFill>
            <a:blip r:embed="rId48" cstate="print"/>
            <a:srcRect/>
            <a:stretch>
              <a:fillRect/>
            </a:stretch>
          </p:blipFill>
          <p:spPr bwMode="auto">
            <a:xfrm>
              <a:off x="3964" y="3431"/>
              <a:ext cx="816" cy="144"/>
            </a:xfrm>
            <a:prstGeom prst="rect">
              <a:avLst/>
            </a:prstGeom>
            <a:noFill/>
          </p:spPr>
        </p:pic>
        <p:pic>
          <p:nvPicPr>
            <p:cNvPr id="71" name="Picture 35" descr="Appistry">
              <a:hlinkClick r:id="rId49"/>
            </p:cNvPr>
            <p:cNvPicPr>
              <a:picLocks noChangeAspect="1" noChangeArrowheads="1"/>
            </p:cNvPicPr>
            <p:nvPr/>
          </p:nvPicPr>
          <p:blipFill>
            <a:blip r:embed="rId50" cstate="print"/>
            <a:srcRect/>
            <a:stretch>
              <a:fillRect/>
            </a:stretch>
          </p:blipFill>
          <p:spPr bwMode="auto">
            <a:xfrm>
              <a:off x="3097" y="3665"/>
              <a:ext cx="234" cy="262"/>
            </a:xfrm>
            <a:prstGeom prst="rect">
              <a:avLst/>
            </a:prstGeom>
            <a:noFill/>
          </p:spPr>
        </p:pic>
        <p:pic>
          <p:nvPicPr>
            <p:cNvPr id="72" name="Picture 36" descr="logoNirvanix"/>
            <p:cNvPicPr>
              <a:picLocks noChangeAspect="1" noChangeArrowheads="1"/>
            </p:cNvPicPr>
            <p:nvPr/>
          </p:nvPicPr>
          <p:blipFill>
            <a:blip r:embed="rId51" cstate="print"/>
            <a:srcRect/>
            <a:stretch>
              <a:fillRect/>
            </a:stretch>
          </p:blipFill>
          <p:spPr bwMode="auto">
            <a:xfrm>
              <a:off x="763" y="3622"/>
              <a:ext cx="383" cy="253"/>
            </a:xfrm>
            <a:prstGeom prst="rect">
              <a:avLst/>
            </a:prstGeom>
            <a:noFill/>
          </p:spPr>
        </p:pic>
        <p:pic>
          <p:nvPicPr>
            <p:cNvPr id="73" name="Picture 37" descr="skytap-logo"/>
            <p:cNvPicPr>
              <a:picLocks noChangeAspect="1" noChangeArrowheads="1"/>
            </p:cNvPicPr>
            <p:nvPr/>
          </p:nvPicPr>
          <p:blipFill>
            <a:blip r:embed="rId52" cstate="print"/>
            <a:srcRect/>
            <a:stretch>
              <a:fillRect/>
            </a:stretch>
          </p:blipFill>
          <p:spPr bwMode="auto">
            <a:xfrm>
              <a:off x="1998" y="3686"/>
              <a:ext cx="1000" cy="242"/>
            </a:xfrm>
            <a:prstGeom prst="rect">
              <a:avLst/>
            </a:prstGeom>
            <a:noFill/>
          </p:spPr>
        </p:pic>
        <p:pic>
          <p:nvPicPr>
            <p:cNvPr id="74" name="Picture 38" descr="ServePath Dedicated Server Hosting">
              <a:hlinkClick r:id="rId53"/>
            </p:cNvPr>
            <p:cNvPicPr>
              <a:picLocks noChangeAspect="1" noChangeArrowheads="1"/>
            </p:cNvPicPr>
            <p:nvPr/>
          </p:nvPicPr>
          <p:blipFill>
            <a:blip r:embed="rId54" cstate="print"/>
            <a:srcRect/>
            <a:stretch>
              <a:fillRect/>
            </a:stretch>
          </p:blipFill>
          <p:spPr bwMode="auto">
            <a:xfrm>
              <a:off x="3317" y="3457"/>
              <a:ext cx="594" cy="120"/>
            </a:xfrm>
            <a:prstGeom prst="rect">
              <a:avLst/>
            </a:prstGeom>
            <a:noFill/>
          </p:spPr>
        </p:pic>
        <p:pic>
          <p:nvPicPr>
            <p:cNvPr id="75" name="Picture 39" descr="ParaScale Cloud Storage Software">
              <a:hlinkClick r:id="rId55"/>
            </p:cNvPr>
            <p:cNvPicPr>
              <a:picLocks noChangeAspect="1" noChangeArrowheads="1"/>
            </p:cNvPicPr>
            <p:nvPr/>
          </p:nvPicPr>
          <p:blipFill>
            <a:blip r:embed="rId56" cstate="print"/>
            <a:srcRect/>
            <a:stretch>
              <a:fillRect/>
            </a:stretch>
          </p:blipFill>
          <p:spPr bwMode="auto">
            <a:xfrm>
              <a:off x="822" y="3442"/>
              <a:ext cx="645" cy="161"/>
            </a:xfrm>
            <a:prstGeom prst="rect">
              <a:avLst/>
            </a:prstGeom>
            <a:noFill/>
          </p:spPr>
        </p:pic>
        <p:pic>
          <p:nvPicPr>
            <p:cNvPr id="76" name="Picture 40" descr="3Tera utility computing logo">
              <a:hlinkClick r:id="rId57"/>
            </p:cNvPr>
            <p:cNvPicPr>
              <a:picLocks noChangeAspect="1" noChangeArrowheads="1"/>
            </p:cNvPicPr>
            <p:nvPr/>
          </p:nvPicPr>
          <p:blipFill>
            <a:blip r:embed="rId58" cstate="print"/>
            <a:srcRect r="56229"/>
            <a:stretch>
              <a:fillRect/>
            </a:stretch>
          </p:blipFill>
          <p:spPr bwMode="auto">
            <a:xfrm>
              <a:off x="1615" y="3436"/>
              <a:ext cx="431" cy="1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77" name="Picture 41"/>
            <p:cNvPicPr>
              <a:picLocks noChangeAspect="1" noChangeArrowheads="1"/>
            </p:cNvPicPr>
            <p:nvPr/>
          </p:nvPicPr>
          <p:blipFill>
            <a:blip r:embed="rId59" cstate="print"/>
            <a:srcRect l="11252" t="11646" r="62820" b="81520"/>
            <a:stretch>
              <a:fillRect/>
            </a:stretch>
          </p:blipFill>
          <p:spPr bwMode="auto">
            <a:xfrm>
              <a:off x="3049" y="3280"/>
              <a:ext cx="748" cy="12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78" name="Picture 42" descr="46684ab8e6a82"/>
            <p:cNvPicPr>
              <a:picLocks noChangeAspect="1" noChangeArrowheads="1"/>
            </p:cNvPicPr>
            <p:nvPr/>
          </p:nvPicPr>
          <p:blipFill>
            <a:blip r:embed="rId60" cstate="print"/>
            <a:srcRect/>
            <a:stretch>
              <a:fillRect/>
            </a:stretch>
          </p:blipFill>
          <p:spPr bwMode="auto">
            <a:xfrm>
              <a:off x="2731" y="3478"/>
              <a:ext cx="519" cy="160"/>
            </a:xfrm>
            <a:prstGeom prst="rect">
              <a:avLst/>
            </a:prstGeom>
            <a:noFill/>
          </p:spPr>
        </p:pic>
        <p:sp>
          <p:nvSpPr>
            <p:cNvPr id="79" name="Rectangle 48"/>
            <p:cNvSpPr>
              <a:spLocks noChangeArrowheads="1"/>
            </p:cNvSpPr>
            <p:nvPr/>
          </p:nvSpPr>
          <p:spPr bwMode="auto">
            <a:xfrm>
              <a:off x="912" y="768"/>
              <a:ext cx="1200" cy="38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pic>
          <p:nvPicPr>
            <p:cNvPr id="80" name="Picture 49"/>
            <p:cNvPicPr>
              <a:picLocks noChangeAspect="1" noChangeArrowheads="1"/>
            </p:cNvPicPr>
            <p:nvPr/>
          </p:nvPicPr>
          <p:blipFill>
            <a:blip r:embed="rId61" cstate="print"/>
            <a:srcRect/>
            <a:stretch>
              <a:fillRect/>
            </a:stretch>
          </p:blipFill>
          <p:spPr bwMode="auto">
            <a:xfrm>
              <a:off x="1440" y="816"/>
              <a:ext cx="624" cy="23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81" name="Picture 50" descr="Google_wordmark"/>
            <p:cNvPicPr>
              <a:picLocks noChangeAspect="1" noChangeArrowheads="1"/>
            </p:cNvPicPr>
            <p:nvPr/>
          </p:nvPicPr>
          <p:blipFill>
            <a:blip r:embed="rId62" cstate="print"/>
            <a:srcRect/>
            <a:stretch>
              <a:fillRect/>
            </a:stretch>
          </p:blipFill>
          <p:spPr bwMode="auto">
            <a:xfrm>
              <a:off x="766" y="872"/>
              <a:ext cx="626" cy="232"/>
            </a:xfrm>
            <a:prstGeom prst="rect">
              <a:avLst/>
            </a:prstGeom>
            <a:noFill/>
          </p:spPr>
        </p:pic>
        <p:sp>
          <p:nvSpPr>
            <p:cNvPr id="82" name="Rectangle 53"/>
            <p:cNvSpPr>
              <a:spLocks noChangeArrowheads="1"/>
            </p:cNvSpPr>
            <p:nvPr/>
          </p:nvSpPr>
          <p:spPr bwMode="auto">
            <a:xfrm>
              <a:off x="3408" y="768"/>
              <a:ext cx="720" cy="28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pic>
          <p:nvPicPr>
            <p:cNvPr id="83" name="Picture 55"/>
            <p:cNvPicPr>
              <a:picLocks noChangeAspect="1" noChangeArrowheads="1"/>
            </p:cNvPicPr>
            <p:nvPr/>
          </p:nvPicPr>
          <p:blipFill>
            <a:blip r:embed="rId63" cstate="print"/>
            <a:srcRect/>
            <a:stretch>
              <a:fillRect/>
            </a:stretch>
          </p:blipFill>
          <p:spPr bwMode="auto">
            <a:xfrm>
              <a:off x="3456" y="864"/>
              <a:ext cx="624" cy="1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84" name="Picture 57" descr="hp-logo1"/>
            <p:cNvPicPr>
              <a:picLocks noChangeAspect="1" noChangeArrowheads="1"/>
            </p:cNvPicPr>
            <p:nvPr/>
          </p:nvPicPr>
          <p:blipFill>
            <a:blip r:embed="rId64" cstate="print"/>
            <a:srcRect/>
            <a:stretch>
              <a:fillRect/>
            </a:stretch>
          </p:blipFill>
          <p:spPr bwMode="auto">
            <a:xfrm>
              <a:off x="3984" y="2352"/>
              <a:ext cx="384" cy="248"/>
            </a:xfrm>
            <a:prstGeom prst="rect">
              <a:avLst/>
            </a:prstGeom>
            <a:noFill/>
          </p:spPr>
        </p:pic>
        <p:sp>
          <p:nvSpPr>
            <p:cNvPr id="85" name="Rectangle 59"/>
            <p:cNvSpPr>
              <a:spLocks noChangeArrowheads="1"/>
            </p:cNvSpPr>
            <p:nvPr/>
          </p:nvSpPr>
          <p:spPr bwMode="auto">
            <a:xfrm>
              <a:off x="3456" y="768"/>
              <a:ext cx="624" cy="240"/>
            </a:xfrm>
            <a:prstGeom prst="rect">
              <a:avLst/>
            </a:prstGeom>
            <a:solidFill>
              <a:srgbClr val="FFFFFF">
                <a:alpha val="12000"/>
              </a:srgbClr>
            </a:solidFill>
            <a:ln w="9525">
              <a:solidFill>
                <a:srgbClr val="FFFFFF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 smtClean="0"/>
              <a:t>Players : </a:t>
            </a:r>
            <a:br>
              <a:rPr lang="en-US" altLang="zh-TW" dirty="0" smtClean="0"/>
            </a:br>
            <a:r>
              <a:rPr lang="en-US" altLang="zh-TW" dirty="0" smtClean="0"/>
              <a:t>Users </a:t>
            </a:r>
            <a:r>
              <a:rPr lang="en-US" altLang="zh-TW" i="0" dirty="0" smtClean="0"/>
              <a:t>(</a:t>
            </a:r>
            <a:r>
              <a:rPr lang="en-US" altLang="zh-TW" dirty="0" smtClean="0"/>
              <a:t>Consumers</a:t>
            </a:r>
            <a:r>
              <a:rPr lang="en-US" altLang="zh-TW" i="0" dirty="0" smtClean="0"/>
              <a:t>)</a:t>
            </a:r>
            <a:r>
              <a:rPr lang="en-US" altLang="zh-TW" dirty="0" smtClean="0"/>
              <a:t> or Providers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Players can act as Users or Providers in the Cloud Ecosystem</a:t>
            </a:r>
            <a:endParaRPr lang="zh-TW" altLang="en-US" dirty="0"/>
          </a:p>
        </p:txBody>
      </p:sp>
      <p:pic>
        <p:nvPicPr>
          <p:cNvPr id="58369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816150" y="2783165"/>
            <a:ext cx="5511700" cy="36774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Cloud Computing Economy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Enable </a:t>
            </a:r>
            <a:r>
              <a:rPr lang="en-US" altLang="zh-TW" dirty="0" err="1" smtClean="0"/>
              <a:t>SaaS</a:t>
            </a:r>
            <a:r>
              <a:rPr lang="en-US" altLang="zh-TW" dirty="0" smtClean="0"/>
              <a:t> providers that do not own IT infrastructure</a:t>
            </a:r>
            <a:endParaRPr lang="zh-TW" altLang="en-US" dirty="0"/>
          </a:p>
        </p:txBody>
      </p:sp>
      <p:grpSp>
        <p:nvGrpSpPr>
          <p:cNvPr id="49" name="群組 48"/>
          <p:cNvGrpSpPr/>
          <p:nvPr/>
        </p:nvGrpSpPr>
        <p:grpSpPr>
          <a:xfrm>
            <a:off x="739676" y="2818159"/>
            <a:ext cx="7664648" cy="3275137"/>
            <a:chOff x="939800" y="2780928"/>
            <a:chExt cx="7664648" cy="3275137"/>
          </a:xfrm>
        </p:grpSpPr>
        <p:grpSp>
          <p:nvGrpSpPr>
            <p:cNvPr id="26" name="Group 23"/>
            <p:cNvGrpSpPr>
              <a:grpSpLocks/>
            </p:cNvGrpSpPr>
            <p:nvPr/>
          </p:nvGrpSpPr>
          <p:grpSpPr bwMode="auto">
            <a:xfrm>
              <a:off x="939800" y="2780928"/>
              <a:ext cx="7664648" cy="3275137"/>
              <a:chOff x="592" y="2039"/>
              <a:chExt cx="4466" cy="1927"/>
            </a:xfrm>
          </p:grpSpPr>
          <p:sp>
            <p:nvSpPr>
              <p:cNvPr id="30" name="Text Box 7"/>
              <p:cNvSpPr txBox="1">
                <a:spLocks noChangeArrowheads="1"/>
              </p:cNvSpPr>
              <p:nvPr/>
            </p:nvSpPr>
            <p:spPr bwMode="auto">
              <a:xfrm>
                <a:off x="1248" y="2642"/>
                <a:ext cx="927" cy="36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600" b="1" i="0" u="none" strike="noStrike" kern="0" cap="none" spc="0" normalizeH="0" baseline="0" noProof="0" smtClean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ea typeface="新細明體" charset="-120"/>
                    <a:cs typeface="Arial" charset="0"/>
                  </a:rPr>
                  <a:t>Foundries</a:t>
                </a:r>
              </a:p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600" b="1" i="0" u="none" strike="noStrike" kern="0" cap="none" spc="0" normalizeH="0" baseline="0" noProof="0" smtClean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ea typeface="新細明體" charset="-120"/>
                    <a:cs typeface="Arial" charset="0"/>
                  </a:rPr>
                  <a:t>(TSMC, UMC)</a:t>
                </a:r>
              </a:p>
            </p:txBody>
          </p:sp>
          <p:sp>
            <p:nvSpPr>
              <p:cNvPr id="32" name="Text Box 9"/>
              <p:cNvSpPr txBox="1">
                <a:spLocks noChangeArrowheads="1"/>
              </p:cNvSpPr>
              <p:nvPr/>
            </p:nvSpPr>
            <p:spPr bwMode="auto">
              <a:xfrm>
                <a:off x="3459" y="2632"/>
                <a:ext cx="791" cy="36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600" b="1" i="0" u="none" strike="noStrike" kern="0" cap="none" spc="0" normalizeH="0" baseline="0" noProof="0" smtClean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ea typeface="新細明體" charset="-120"/>
                    <a:cs typeface="Arial" charset="0"/>
                  </a:rPr>
                  <a:t>Cloud</a:t>
                </a:r>
              </a:p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600" b="1" i="0" u="none" strike="noStrike" kern="0" cap="none" spc="0" normalizeH="0" baseline="0" noProof="0" smtClean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ea typeface="新細明體" charset="-120"/>
                    <a:cs typeface="Arial" charset="0"/>
                  </a:rPr>
                  <a:t>Computing</a:t>
                </a:r>
              </a:p>
            </p:txBody>
          </p:sp>
          <p:sp>
            <p:nvSpPr>
              <p:cNvPr id="33" name="Text Box 10"/>
              <p:cNvSpPr txBox="1">
                <a:spLocks noChangeArrowheads="1"/>
              </p:cNvSpPr>
              <p:nvPr/>
            </p:nvSpPr>
            <p:spPr bwMode="auto">
              <a:xfrm>
                <a:off x="1249" y="3414"/>
                <a:ext cx="971" cy="52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600" b="1" i="0" u="none" strike="noStrike" kern="0" cap="none" spc="0" normalizeH="0" baseline="0" noProof="0" smtClean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ea typeface="新細明體" charset="-120"/>
                    <a:cs typeface="Arial" charset="0"/>
                  </a:rPr>
                  <a:t>Fabless</a:t>
                </a:r>
              </a:p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600" b="1" i="0" u="none" strike="noStrike" kern="0" cap="none" spc="0" normalizeH="0" baseline="0" noProof="0" smtClean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ea typeface="新細明體" charset="-120"/>
                    <a:cs typeface="Arial" charset="0"/>
                  </a:rPr>
                  <a:t>Chip Design</a:t>
                </a:r>
              </a:p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600" b="1" i="0" u="none" strike="noStrike" kern="0" cap="none" spc="0" normalizeH="0" baseline="0" noProof="0" smtClean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ea typeface="新細明體" charset="-120"/>
                    <a:cs typeface="Arial" charset="0"/>
                  </a:rPr>
                  <a:t>(e.g. nVidia…)</a:t>
                </a:r>
              </a:p>
            </p:txBody>
          </p:sp>
          <p:sp>
            <p:nvSpPr>
              <p:cNvPr id="34" name="AutoShape 11"/>
              <p:cNvSpPr>
                <a:spLocks noChangeArrowheads="1"/>
              </p:cNvSpPr>
              <p:nvPr/>
            </p:nvSpPr>
            <p:spPr bwMode="auto">
              <a:xfrm>
                <a:off x="2436" y="2332"/>
                <a:ext cx="774" cy="1445"/>
              </a:xfrm>
              <a:prstGeom prst="leftRightArrow">
                <a:avLst>
                  <a:gd name="adj1" fmla="val 50000"/>
                  <a:gd name="adj2" fmla="val 20000"/>
                </a:avLst>
              </a:prstGeom>
              <a:solidFill>
                <a:srgbClr val="BBE0E3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0" cap="none" spc="0" normalizeH="0" baseline="0" noProof="0" smtClean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rPr>
                  <a:t>Analogy</a:t>
                </a:r>
              </a:p>
            </p:txBody>
          </p:sp>
          <p:sp>
            <p:nvSpPr>
              <p:cNvPr id="35" name="Text Box 12"/>
              <p:cNvSpPr txBox="1">
                <a:spLocks noChangeArrowheads="1"/>
              </p:cNvSpPr>
              <p:nvPr/>
            </p:nvSpPr>
            <p:spPr bwMode="auto">
              <a:xfrm>
                <a:off x="3360" y="3419"/>
                <a:ext cx="1069" cy="36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600" b="1" i="0" u="none" strike="noStrike" kern="0" cap="none" spc="0" normalizeH="0" baseline="0" noProof="0" smtClean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ea typeface="新細明體" charset="-120"/>
                    <a:cs typeface="Arial" charset="0"/>
                  </a:rPr>
                  <a:t>Datacenter-less</a:t>
                </a:r>
              </a:p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600" b="1" i="0" u="none" strike="noStrike" kern="0" cap="none" spc="0" normalizeH="0" baseline="0" noProof="0" smtClean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ea typeface="新細明體" charset="-120"/>
                    <a:cs typeface="Arial" charset="0"/>
                  </a:rPr>
                  <a:t>SaaS provider</a:t>
                </a:r>
              </a:p>
            </p:txBody>
          </p:sp>
          <p:sp>
            <p:nvSpPr>
              <p:cNvPr id="36" name="AutoShape 13"/>
              <p:cNvSpPr>
                <a:spLocks noChangeArrowheads="1"/>
              </p:cNvSpPr>
              <p:nvPr/>
            </p:nvSpPr>
            <p:spPr bwMode="auto">
              <a:xfrm>
                <a:off x="1585" y="3022"/>
                <a:ext cx="312" cy="355"/>
              </a:xfrm>
              <a:prstGeom prst="upArrow">
                <a:avLst>
                  <a:gd name="adj1" fmla="val 50000"/>
                  <a:gd name="adj2" fmla="val 28446"/>
                </a:avLst>
              </a:prstGeom>
              <a:solidFill>
                <a:srgbClr val="BBE0E3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 vert="eaVert"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 smtClean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37" name="AutoShape 14"/>
              <p:cNvSpPr>
                <a:spLocks noChangeArrowheads="1"/>
              </p:cNvSpPr>
              <p:nvPr/>
            </p:nvSpPr>
            <p:spPr bwMode="auto">
              <a:xfrm>
                <a:off x="916" y="2824"/>
                <a:ext cx="217" cy="928"/>
              </a:xfrm>
              <a:prstGeom prst="curvedRightArrow">
                <a:avLst>
                  <a:gd name="adj1" fmla="val 85530"/>
                  <a:gd name="adj2" fmla="val 171060"/>
                  <a:gd name="adj3" fmla="val 33333"/>
                </a:avLst>
              </a:prstGeom>
              <a:solidFill>
                <a:srgbClr val="BBE0E3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 smtClean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38" name="AutoShape 15"/>
              <p:cNvSpPr>
                <a:spLocks noChangeArrowheads="1"/>
              </p:cNvSpPr>
              <p:nvPr/>
            </p:nvSpPr>
            <p:spPr bwMode="auto">
              <a:xfrm>
                <a:off x="4497" y="2801"/>
                <a:ext cx="208" cy="935"/>
              </a:xfrm>
              <a:prstGeom prst="curvedLeftArrow">
                <a:avLst>
                  <a:gd name="adj1" fmla="val 89904"/>
                  <a:gd name="adj2" fmla="val 179808"/>
                  <a:gd name="adj3" fmla="val 33333"/>
                </a:avLst>
              </a:prstGeom>
              <a:solidFill>
                <a:srgbClr val="BBE0E3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 smtClean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39" name="Text Box 17"/>
              <p:cNvSpPr txBox="1">
                <a:spLocks noChangeArrowheads="1"/>
              </p:cNvSpPr>
              <p:nvPr/>
            </p:nvSpPr>
            <p:spPr bwMode="auto">
              <a:xfrm rot="16200000">
                <a:off x="489" y="3192"/>
                <a:ext cx="535" cy="21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600" b="1" i="0" u="none" strike="noStrike" kern="0" cap="none" spc="0" normalizeH="0" baseline="0" noProof="0" smtClean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ea typeface="新細明體" charset="-120"/>
                    <a:cs typeface="Arial" charset="0"/>
                  </a:rPr>
                  <a:t>Enable</a:t>
                </a:r>
              </a:p>
            </p:txBody>
          </p:sp>
          <p:sp>
            <p:nvSpPr>
              <p:cNvPr id="40" name="Text Box 18"/>
              <p:cNvSpPr txBox="1">
                <a:spLocks noChangeArrowheads="1"/>
              </p:cNvSpPr>
              <p:nvPr/>
            </p:nvSpPr>
            <p:spPr bwMode="auto">
              <a:xfrm rot="5400000">
                <a:off x="4607" y="3146"/>
                <a:ext cx="535" cy="21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1600" b="1" i="0" u="none" strike="noStrike" kern="0" cap="none" spc="0" normalizeH="0" baseline="0" noProof="0" smtClean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ea typeface="新細明體" charset="-120"/>
                    <a:cs typeface="Arial" charset="0"/>
                  </a:rPr>
                  <a:t>Enable</a:t>
                </a:r>
              </a:p>
            </p:txBody>
          </p:sp>
          <p:sp>
            <p:nvSpPr>
              <p:cNvPr id="41" name="Rectangle 19"/>
              <p:cNvSpPr>
                <a:spLocks noChangeArrowheads="1"/>
              </p:cNvSpPr>
              <p:nvPr/>
            </p:nvSpPr>
            <p:spPr bwMode="auto">
              <a:xfrm>
                <a:off x="592" y="2039"/>
                <a:ext cx="1789" cy="1927"/>
              </a:xfrm>
              <a:prstGeom prst="rect">
                <a:avLst/>
              </a:prstGeom>
              <a:noFill/>
              <a:ln w="9525">
                <a:solidFill>
                  <a:srgbClr val="000000"/>
                </a:solidFill>
                <a:prstDash val="sysDot"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 smtClean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42" name="Rectangle 20"/>
              <p:cNvSpPr>
                <a:spLocks noChangeArrowheads="1"/>
              </p:cNvSpPr>
              <p:nvPr/>
            </p:nvSpPr>
            <p:spPr bwMode="auto">
              <a:xfrm>
                <a:off x="3256" y="2044"/>
                <a:ext cx="1802" cy="1902"/>
              </a:xfrm>
              <a:prstGeom prst="rect">
                <a:avLst/>
              </a:prstGeom>
              <a:noFill/>
              <a:ln w="9525">
                <a:solidFill>
                  <a:srgbClr val="000000"/>
                </a:solidFill>
                <a:prstDash val="sysDot"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 smtClean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43" name="AutoShape 21"/>
              <p:cNvSpPr>
                <a:spLocks noChangeArrowheads="1"/>
              </p:cNvSpPr>
              <p:nvPr/>
            </p:nvSpPr>
            <p:spPr bwMode="auto">
              <a:xfrm>
                <a:off x="3711" y="3028"/>
                <a:ext cx="312" cy="329"/>
              </a:xfrm>
              <a:prstGeom prst="upArrow">
                <a:avLst>
                  <a:gd name="adj1" fmla="val 50000"/>
                  <a:gd name="adj2" fmla="val 26362"/>
                </a:avLst>
              </a:prstGeom>
              <a:solidFill>
                <a:srgbClr val="BBE0E3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 vert="eaVert"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0" cap="none" spc="0" normalizeH="0" baseline="0" noProof="0" smtClean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</p:grpSp>
        <p:sp>
          <p:nvSpPr>
            <p:cNvPr id="47" name="矩形 46"/>
            <p:cNvSpPr/>
            <p:nvPr/>
          </p:nvSpPr>
          <p:spPr>
            <a:xfrm>
              <a:off x="1547664" y="2924944"/>
              <a:ext cx="1872208" cy="698376"/>
            </a:xfrm>
            <a:prstGeom prst="rect">
              <a:avLst/>
            </a:prstGeom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>
                <a:defRPr/>
              </a:pPr>
              <a:r>
                <a:rPr lang="en-US" altLang="zh-TW" b="1" kern="0" dirty="0" smtClean="0">
                  <a:solidFill>
                    <a:sysClr val="windowText" lastClr="000000"/>
                  </a:solidFill>
                  <a:ea typeface="新細明體" charset="-120"/>
                  <a:cs typeface="Arial" charset="0"/>
                </a:rPr>
                <a:t>Semiconductor</a:t>
              </a:r>
            </a:p>
            <a:p>
              <a:pPr lvl="0" algn="ctr">
                <a:defRPr/>
              </a:pPr>
              <a:r>
                <a:rPr lang="en-US" altLang="zh-TW" b="1" kern="0" dirty="0" smtClean="0">
                  <a:solidFill>
                    <a:sysClr val="windowText" lastClr="000000"/>
                  </a:solidFill>
                  <a:ea typeface="新細明體" charset="-120"/>
                  <a:cs typeface="Arial" charset="0"/>
                </a:rPr>
                <a:t>Industry</a:t>
              </a:r>
              <a:endParaRPr lang="zh-TW" altLang="en-US" dirty="0"/>
            </a:p>
          </p:txBody>
        </p:sp>
        <p:sp>
          <p:nvSpPr>
            <p:cNvPr id="48" name="矩形 47"/>
            <p:cNvSpPr/>
            <p:nvPr/>
          </p:nvSpPr>
          <p:spPr>
            <a:xfrm>
              <a:off x="6156176" y="2924944"/>
              <a:ext cx="1872208" cy="698376"/>
            </a:xfrm>
            <a:prstGeom prst="rect">
              <a:avLst/>
            </a:prstGeom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>
                <a:defRPr/>
              </a:pPr>
              <a:r>
                <a:rPr lang="en-US" altLang="zh-TW" b="1" kern="0" dirty="0" smtClean="0">
                  <a:solidFill>
                    <a:sysClr val="windowText" lastClr="000000"/>
                  </a:solidFill>
                  <a:ea typeface="新細明體" charset="-120"/>
                  <a:cs typeface="Arial" charset="0"/>
                </a:rPr>
                <a:t>Software</a:t>
              </a:r>
            </a:p>
            <a:p>
              <a:pPr lvl="0" algn="ctr">
                <a:defRPr/>
              </a:pPr>
              <a:r>
                <a:rPr lang="en-US" altLang="zh-TW" b="1" kern="0" dirty="0" smtClean="0">
                  <a:solidFill>
                    <a:sysClr val="windowText" lastClr="000000"/>
                  </a:solidFill>
                  <a:ea typeface="新細明體" charset="-120"/>
                  <a:cs typeface="Arial" charset="0"/>
                </a:rPr>
                <a:t>Industry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/>
              <a:t>Industry Chain</a:t>
            </a:r>
            <a:endParaRPr lang="zh-TW" alt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 smtClean="0"/>
              <a:t>Mobile Phones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186808" cy="3951288"/>
          </a:xfrm>
        </p:spPr>
        <p:txBody>
          <a:bodyPr/>
          <a:lstStyle/>
          <a:p>
            <a:r>
              <a:rPr lang="en-US" altLang="zh-TW" dirty="0" smtClean="0"/>
              <a:t>Upstream</a:t>
            </a:r>
            <a:r>
              <a:rPr lang="zh-TW" altLang="en-US" dirty="0" smtClean="0"/>
              <a:t> </a:t>
            </a:r>
            <a:r>
              <a:rPr lang="en-US" altLang="zh-TW" dirty="0" smtClean="0"/>
              <a:t>–</a:t>
            </a:r>
            <a:r>
              <a:rPr lang="zh-TW" altLang="en-US" dirty="0" smtClean="0"/>
              <a:t> </a:t>
            </a:r>
            <a:r>
              <a:rPr lang="en-US" altLang="zh-TW" dirty="0" smtClean="0"/>
              <a:t>IC design</a:t>
            </a:r>
          </a:p>
          <a:p>
            <a:pPr lvl="1"/>
            <a:r>
              <a:rPr lang="en-US" altLang="zh-TW" dirty="0" smtClean="0"/>
              <a:t>Media Tech, Morning Star, etc.</a:t>
            </a:r>
          </a:p>
          <a:p>
            <a:r>
              <a:rPr lang="en-US" altLang="zh-TW" dirty="0" smtClean="0"/>
              <a:t>Midstream</a:t>
            </a:r>
            <a:r>
              <a:rPr lang="zh-TW" altLang="en-US" dirty="0" smtClean="0"/>
              <a:t> </a:t>
            </a:r>
            <a:r>
              <a:rPr lang="en-US" altLang="zh-TW" dirty="0" smtClean="0"/>
              <a:t>–</a:t>
            </a:r>
            <a:r>
              <a:rPr lang="zh-TW" altLang="en-US" dirty="0" smtClean="0"/>
              <a:t> </a:t>
            </a:r>
            <a:r>
              <a:rPr lang="en-US" altLang="zh-TW" dirty="0" smtClean="0"/>
              <a:t>foundry</a:t>
            </a:r>
          </a:p>
          <a:p>
            <a:pPr lvl="1"/>
            <a:r>
              <a:rPr lang="en-US" altLang="zh-TW" dirty="0" smtClean="0"/>
              <a:t>TSMC, UMC, etc.</a:t>
            </a:r>
          </a:p>
          <a:p>
            <a:r>
              <a:rPr lang="en-US" altLang="zh-TW" dirty="0" smtClean="0"/>
              <a:t>Downstream</a:t>
            </a:r>
            <a:r>
              <a:rPr lang="zh-TW" altLang="en-US" dirty="0" smtClean="0"/>
              <a:t> </a:t>
            </a:r>
            <a:r>
              <a:rPr lang="en-US" altLang="zh-TW" dirty="0" smtClean="0"/>
              <a:t>–</a:t>
            </a:r>
            <a:r>
              <a:rPr lang="zh-TW" altLang="en-US" dirty="0" smtClean="0"/>
              <a:t> </a:t>
            </a:r>
            <a:r>
              <a:rPr lang="en-US" altLang="zh-TW" dirty="0" smtClean="0"/>
              <a:t>production</a:t>
            </a:r>
          </a:p>
          <a:p>
            <a:pPr lvl="1"/>
            <a:r>
              <a:rPr lang="en-US" altLang="zh-TW" dirty="0" smtClean="0"/>
              <a:t>Asus, HTC, etc.</a:t>
            </a:r>
          </a:p>
          <a:p>
            <a:r>
              <a:rPr lang="en-US" altLang="zh-TW" dirty="0" smtClean="0"/>
              <a:t>End Users</a:t>
            </a:r>
          </a:p>
          <a:p>
            <a:pPr lvl="1"/>
            <a:r>
              <a:rPr lang="en-US" altLang="zh-TW" dirty="0" smtClean="0"/>
              <a:t>Smart phone</a:t>
            </a:r>
          </a:p>
          <a:p>
            <a:pPr lvl="1"/>
            <a:endParaRPr lang="zh-TW" altLang="en-US" dirty="0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altLang="zh-TW" dirty="0" smtClean="0"/>
              <a:t>Cloud Services</a:t>
            </a:r>
            <a:endParaRPr lang="zh-TW" altLang="en-US" dirty="0"/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498975" cy="3951288"/>
          </a:xfrm>
        </p:spPr>
        <p:txBody>
          <a:bodyPr/>
          <a:lstStyle/>
          <a:p>
            <a:r>
              <a:rPr lang="en-US" altLang="zh-TW" dirty="0" smtClean="0"/>
              <a:t>Upstream – </a:t>
            </a:r>
            <a:r>
              <a:rPr lang="en-US" altLang="zh-TW" dirty="0" err="1" smtClean="0"/>
              <a:t>IaaS</a:t>
            </a:r>
            <a:r>
              <a:rPr lang="en-US" altLang="zh-TW" dirty="0" smtClean="0"/>
              <a:t> provider</a:t>
            </a:r>
          </a:p>
          <a:p>
            <a:pPr lvl="1"/>
            <a:r>
              <a:rPr lang="en-US" altLang="zh-TW" dirty="0" smtClean="0"/>
              <a:t>Amazon EC2, CHT </a:t>
            </a:r>
            <a:r>
              <a:rPr lang="en-US" altLang="zh-TW" dirty="0" err="1" smtClean="0"/>
              <a:t>hicloud</a:t>
            </a:r>
            <a:r>
              <a:rPr lang="en-US" altLang="zh-TW" dirty="0" smtClean="0"/>
              <a:t>, </a:t>
            </a:r>
            <a:r>
              <a:rPr lang="en-US" altLang="zh-TW" dirty="0" err="1" smtClean="0"/>
              <a:t>ect</a:t>
            </a:r>
            <a:r>
              <a:rPr lang="en-US" altLang="zh-TW" dirty="0" smtClean="0"/>
              <a:t>.</a:t>
            </a:r>
          </a:p>
          <a:p>
            <a:r>
              <a:rPr lang="en-US" altLang="zh-TW" dirty="0" smtClean="0"/>
              <a:t>Midstream – </a:t>
            </a:r>
            <a:r>
              <a:rPr lang="en-US" altLang="zh-TW" dirty="0" err="1" smtClean="0"/>
              <a:t>PaaS</a:t>
            </a:r>
            <a:r>
              <a:rPr lang="en-US" altLang="zh-TW" dirty="0" smtClean="0"/>
              <a:t> provider</a:t>
            </a:r>
          </a:p>
          <a:p>
            <a:pPr lvl="1"/>
            <a:r>
              <a:rPr lang="en-US" altLang="zh-TW" dirty="0" smtClean="0"/>
              <a:t>Google GAE, Windows Azure, etc.</a:t>
            </a:r>
          </a:p>
          <a:p>
            <a:r>
              <a:rPr lang="en-US" altLang="zh-TW" dirty="0" smtClean="0"/>
              <a:t>Downstream – </a:t>
            </a:r>
            <a:r>
              <a:rPr lang="en-US" altLang="zh-TW" dirty="0" err="1" smtClean="0"/>
              <a:t>SaaS</a:t>
            </a:r>
            <a:r>
              <a:rPr lang="en-US" altLang="zh-TW" dirty="0" smtClean="0"/>
              <a:t> provider</a:t>
            </a:r>
          </a:p>
          <a:p>
            <a:pPr lvl="1"/>
            <a:r>
              <a:rPr lang="en-US" altLang="zh-TW" dirty="0" smtClean="0"/>
              <a:t>Saleforce.com, Google docs, etc.</a:t>
            </a:r>
          </a:p>
          <a:p>
            <a:r>
              <a:rPr lang="en-US" altLang="zh-TW" dirty="0" smtClean="0"/>
              <a:t>End Users</a:t>
            </a:r>
          </a:p>
          <a:p>
            <a:pPr lvl="1"/>
            <a:r>
              <a:rPr lang="en-US" altLang="zh-TW" dirty="0" smtClean="0"/>
              <a:t>Thin client</a:t>
            </a:r>
          </a:p>
          <a:p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Summary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600200"/>
            <a:ext cx="8363272" cy="4525963"/>
          </a:xfrm>
        </p:spPr>
        <p:txBody>
          <a:bodyPr>
            <a:normAutofit fontScale="92500" lnSpcReduction="10000"/>
          </a:bodyPr>
          <a:lstStyle/>
          <a:p>
            <a:r>
              <a:rPr lang="en-US" altLang="zh-TW" dirty="0" smtClean="0"/>
              <a:t>Long united, must divide; long divided, must unite</a:t>
            </a:r>
          </a:p>
          <a:p>
            <a:endParaRPr lang="en-US" altLang="zh-TW" dirty="0" smtClean="0"/>
          </a:p>
          <a:p>
            <a:r>
              <a:rPr lang="en-US" altLang="zh-TW" dirty="0" smtClean="0"/>
              <a:t>Modern IT require</a:t>
            </a:r>
          </a:p>
          <a:p>
            <a:pPr lvl="1"/>
            <a:r>
              <a:rPr lang="en-US" altLang="zh-TW" dirty="0" smtClean="0"/>
              <a:t>To increase capacity or add capabilities to their infrastructure dynamically</a:t>
            </a:r>
          </a:p>
          <a:p>
            <a:pPr lvl="2"/>
            <a:r>
              <a:rPr lang="en-US" altLang="zh-TW" dirty="0" smtClean="0"/>
              <a:t>without investing money in the purchase of new infrastructure</a:t>
            </a:r>
          </a:p>
          <a:p>
            <a:pPr lvl="1"/>
            <a:r>
              <a:rPr lang="en-US" altLang="zh-TW" dirty="0" smtClean="0"/>
              <a:t>All the while </a:t>
            </a:r>
          </a:p>
          <a:p>
            <a:pPr lvl="2"/>
            <a:r>
              <a:rPr lang="en-US" altLang="zh-TW" dirty="0" smtClean="0"/>
              <a:t>without needing to conduct training for new personnel </a:t>
            </a:r>
          </a:p>
          <a:p>
            <a:pPr lvl="2"/>
            <a:r>
              <a:rPr lang="en-US" altLang="zh-TW" dirty="0" smtClean="0"/>
              <a:t>without the need for licensing new software</a:t>
            </a:r>
          </a:p>
          <a:p>
            <a:pPr lvl="1"/>
            <a:endParaRPr lang="en-US" altLang="zh-TW" dirty="0" smtClean="0"/>
          </a:p>
          <a:p>
            <a:r>
              <a:rPr lang="en-US" altLang="zh-TW" dirty="0" smtClean="0"/>
              <a:t>Given a solution to the above mentioned demands</a:t>
            </a:r>
          </a:p>
          <a:p>
            <a:pPr lvl="1"/>
            <a:r>
              <a:rPr lang="en-US" altLang="zh-TW" dirty="0" smtClean="0"/>
              <a:t>Cloud computing is the next big thing in the world of IT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References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600200"/>
            <a:ext cx="8686800" cy="5257800"/>
          </a:xfrm>
        </p:spPr>
        <p:txBody>
          <a:bodyPr>
            <a:normAutofit fontScale="55000" lnSpcReduction="20000"/>
          </a:bodyPr>
          <a:lstStyle/>
          <a:p>
            <a:r>
              <a:rPr lang="en-US" altLang="zh-TW" dirty="0" smtClean="0"/>
              <a:t>IEEE Standard Computer Dictionary: A Compilation of IEEE Standard Computer Glossaries, 1990.</a:t>
            </a:r>
          </a:p>
          <a:p>
            <a:r>
              <a:rPr lang="en-US" altLang="zh-TW" dirty="0" smtClean="0"/>
              <a:t>R. </a:t>
            </a:r>
            <a:r>
              <a:rPr lang="en-US" altLang="zh-TW" dirty="0" err="1" smtClean="0"/>
              <a:t>Buyya</a:t>
            </a:r>
            <a:r>
              <a:rPr lang="en-US" altLang="zh-TW" dirty="0" smtClean="0"/>
              <a:t> (ed.),  High Performance Cluster Computing: Systems and Architectures, Prentice Hall, 1999.</a:t>
            </a:r>
          </a:p>
          <a:p>
            <a:r>
              <a:rPr lang="en-US" altLang="zh-TW" dirty="0" smtClean="0"/>
              <a:t>I. Foster, C. </a:t>
            </a:r>
            <a:r>
              <a:rPr lang="en-US" altLang="zh-TW" dirty="0" err="1" smtClean="0"/>
              <a:t>Kesselman</a:t>
            </a:r>
            <a:r>
              <a:rPr lang="en-US" altLang="zh-TW" dirty="0" smtClean="0"/>
              <a:t> (Eds.), The Grid: Blueprint for a Future Computing Infrastructure, Morgan Kaufmann, San Francisco, USA, 1999</a:t>
            </a:r>
          </a:p>
          <a:p>
            <a:r>
              <a:rPr lang="en-US" altLang="zh-TW" dirty="0" smtClean="0"/>
              <a:t>I. Foster et. al., “The Anatomy of the Grid. Enabling Scalable Virtual Organizations,” International Journal of High Performance Computing Applications, 2001.</a:t>
            </a:r>
          </a:p>
          <a:p>
            <a:r>
              <a:rPr lang="en-US" altLang="zh-TW" dirty="0" smtClean="0"/>
              <a:t>Computing Curricula 2005</a:t>
            </a:r>
          </a:p>
          <a:p>
            <a:r>
              <a:rPr lang="en-US" altLang="zh-TW" dirty="0" smtClean="0"/>
              <a:t>J. </a:t>
            </a:r>
            <a:r>
              <a:rPr lang="en-US" altLang="zh-TW" dirty="0" err="1" smtClean="0"/>
              <a:t>Rittinghouse</a:t>
            </a:r>
            <a:r>
              <a:rPr lang="en-US" altLang="zh-TW" dirty="0" smtClean="0"/>
              <a:t> and J. F. </a:t>
            </a:r>
            <a:r>
              <a:rPr lang="en-US" altLang="zh-TW" dirty="0" err="1" smtClean="0"/>
              <a:t>Ransome</a:t>
            </a:r>
            <a:r>
              <a:rPr lang="en-US" altLang="zh-TW" dirty="0" smtClean="0"/>
              <a:t>, Cloud Computing: Implementation, Management, and Security, CRC Press, 2009.</a:t>
            </a:r>
          </a:p>
          <a:p>
            <a:r>
              <a:rPr lang="en-US" altLang="zh-TW" dirty="0" smtClean="0"/>
              <a:t>M. </a:t>
            </a:r>
            <a:r>
              <a:rPr lang="en-US" altLang="zh-TW" dirty="0" err="1" smtClean="0"/>
              <a:t>Armbrust</a:t>
            </a:r>
            <a:r>
              <a:rPr lang="en-US" altLang="zh-TW" dirty="0" smtClean="0"/>
              <a:t> et. al., “Above the Clouds: A Berkeley View of Cloud Computing,” Technical Report No. UCB/EECS-2009-28, University of California at Berkeley, 2009. </a:t>
            </a:r>
          </a:p>
          <a:p>
            <a:r>
              <a:rPr lang="en-US" altLang="zh-TW" dirty="0" smtClean="0"/>
              <a:t>R. </a:t>
            </a:r>
            <a:r>
              <a:rPr lang="en-US" altLang="zh-TW" dirty="0" err="1" smtClean="0"/>
              <a:t>Buyya</a:t>
            </a:r>
            <a:r>
              <a:rPr lang="en-US" altLang="zh-TW" dirty="0" smtClean="0"/>
              <a:t> et. al., “Cloud computing and emerging IT platforms: Vision, hype, and reality for delivering computing as the 5th utility,” Future Generation Computer Systems, 2009.</a:t>
            </a:r>
          </a:p>
          <a:p>
            <a:r>
              <a:rPr lang="en-US" altLang="zh-TW" dirty="0" err="1" smtClean="0"/>
              <a:t>Hai</a:t>
            </a:r>
            <a:r>
              <a:rPr lang="en-US" altLang="zh-TW" dirty="0" smtClean="0"/>
              <a:t> Jin and Raj </a:t>
            </a:r>
            <a:r>
              <a:rPr lang="en-US" altLang="zh-TW" dirty="0" err="1" smtClean="0"/>
              <a:t>Buyya</a:t>
            </a:r>
            <a:r>
              <a:rPr lang="en-US" altLang="zh-TW" dirty="0" smtClean="0"/>
              <a:t>, High Performance Cluster Computing: Architectures and Systems.</a:t>
            </a:r>
          </a:p>
          <a:p>
            <a:r>
              <a:rPr lang="en-US" altLang="zh-TW" dirty="0" smtClean="0"/>
              <a:t>NIST (National Institute of Standards and Technology). http://csrc.nist.gov/groups/SNS/cloud-computing/</a:t>
            </a:r>
          </a:p>
          <a:p>
            <a:r>
              <a:rPr lang="en-US" altLang="zh-TW" dirty="0" smtClean="0"/>
              <a:t>Gartner, Inside the Hype Cycle: What’s Hot and What’s Not in 2009.</a:t>
            </a:r>
          </a:p>
          <a:p>
            <a:r>
              <a:rPr lang="en-US" altLang="zh-TW" dirty="0" smtClean="0"/>
              <a:t>Cloud Computing 2010 – An IDC Update.</a:t>
            </a:r>
          </a:p>
          <a:p>
            <a:r>
              <a:rPr lang="en-US" altLang="zh-TW" dirty="0" smtClean="0"/>
              <a:t>IBM Corporation.</a:t>
            </a:r>
          </a:p>
          <a:p>
            <a:r>
              <a:rPr lang="en-US" altLang="zh-TW" dirty="0" smtClean="0"/>
              <a:t>From Wikipedia, the free encyclopedia.</a:t>
            </a:r>
            <a:endParaRPr lang="zh-TW" altLang="en-US" dirty="0" smtClean="0"/>
          </a:p>
          <a:p>
            <a:r>
              <a:rPr lang="en-US" altLang="zh-TW" dirty="0" smtClean="0"/>
              <a:t>All resources of the materials and pictures were partially retrieved from the Internet.</a:t>
            </a:r>
          </a:p>
          <a:p>
            <a:endParaRPr lang="en-US" altLang="zh-TW" dirty="0" smtClean="0"/>
          </a:p>
          <a:p>
            <a:endParaRPr lang="en-US" altLang="zh-TW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Course Themes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ky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Course Themes</Template>
  <TotalTime>5316</TotalTime>
  <Words>2823</Words>
  <Application>Microsoft Office PowerPoint</Application>
  <PresentationFormat>如螢幕大小 (4:3)</PresentationFormat>
  <Paragraphs>601</Paragraphs>
  <Slides>71</Slides>
  <Notes>5</Notes>
  <HiddenSlides>0</HiddenSlides>
  <MMClips>0</MMClips>
  <ScaleCrop>false</ScaleCrop>
  <HeadingPairs>
    <vt:vector size="6" baseType="variant">
      <vt:variant>
        <vt:lpstr>佈景主題</vt:lpstr>
      </vt:variant>
      <vt:variant>
        <vt:i4>2</vt:i4>
      </vt:variant>
      <vt:variant>
        <vt:lpstr>內嵌 OLE 伺服程式</vt:lpstr>
      </vt:variant>
      <vt:variant>
        <vt:i4>1</vt:i4>
      </vt:variant>
      <vt:variant>
        <vt:lpstr>投影片標題</vt:lpstr>
      </vt:variant>
      <vt:variant>
        <vt:i4>71</vt:i4>
      </vt:variant>
    </vt:vector>
  </HeadingPairs>
  <TitlesOfParts>
    <vt:vector size="74" baseType="lpstr">
      <vt:lpstr>Course Themes</vt:lpstr>
      <vt:lpstr>Sky</vt:lpstr>
      <vt:lpstr>Clip</vt:lpstr>
      <vt:lpstr>雲端計算 Cloud Computing</vt:lpstr>
      <vt:lpstr>Agenda</vt:lpstr>
      <vt:lpstr>What’s Computing</vt:lpstr>
      <vt:lpstr>What’s Computing</vt:lpstr>
      <vt:lpstr>Computing in Computer Science</vt:lpstr>
      <vt:lpstr>投影片 6</vt:lpstr>
      <vt:lpstr>投影片 7</vt:lpstr>
      <vt:lpstr>The 5th Utility</vt:lpstr>
      <vt:lpstr>The 5th Utility</vt:lpstr>
      <vt:lpstr>Utility Computing</vt:lpstr>
      <vt:lpstr>The Creation of The Internet</vt:lpstr>
      <vt:lpstr>Variety of Paradigms</vt:lpstr>
      <vt:lpstr>Distributed Computing</vt:lpstr>
      <vt:lpstr>Distributed Computing</vt:lpstr>
      <vt:lpstr>Demand for Computing Power</vt:lpstr>
      <vt:lpstr>How to Run Applications Faster</vt:lpstr>
      <vt:lpstr>History</vt:lpstr>
      <vt:lpstr>Towards Commodity Computing</vt:lpstr>
      <vt:lpstr>Traditional Food Chain</vt:lpstr>
      <vt:lpstr>Food Chain of Computer</vt:lpstr>
      <vt:lpstr>Food Chain of Distributed Computing</vt:lpstr>
      <vt:lpstr>Rise &amp; Fall of Computing Technologies</vt:lpstr>
      <vt:lpstr>Distributed computing</vt:lpstr>
      <vt:lpstr>Cluster Computing</vt:lpstr>
      <vt:lpstr>The Cluster</vt:lpstr>
      <vt:lpstr>Parallel Computing</vt:lpstr>
      <vt:lpstr>Parallel Programming Models</vt:lpstr>
      <vt:lpstr>Flynn's Taxonomy</vt:lpstr>
      <vt:lpstr>Two Basic Models</vt:lpstr>
      <vt:lpstr>Two Basic Models</vt:lpstr>
      <vt:lpstr>Computer Collaboration in Cluster</vt:lpstr>
      <vt:lpstr>Massage Passing Interface (MPI)</vt:lpstr>
      <vt:lpstr>Massage Passing Interface (MPI)</vt:lpstr>
      <vt:lpstr>Massage Passing Interface (MPI)</vt:lpstr>
      <vt:lpstr>Cluster Applications</vt:lpstr>
      <vt:lpstr>Distributed computing</vt:lpstr>
      <vt:lpstr>Demand for More Computing Power</vt:lpstr>
      <vt:lpstr>Grid Computing</vt:lpstr>
      <vt:lpstr>The Grid</vt:lpstr>
      <vt:lpstr>Resource Collaboration in Grids</vt:lpstr>
      <vt:lpstr>Example of VOs</vt:lpstr>
      <vt:lpstr>Grid Environments</vt:lpstr>
      <vt:lpstr>Taiwan UniGrid A University Grid Platform in Taiwan </vt:lpstr>
      <vt:lpstr>Taiwan UniGrid</vt:lpstr>
      <vt:lpstr>Basic System Architecture</vt:lpstr>
      <vt:lpstr>UniGrid System Architecture</vt:lpstr>
      <vt:lpstr>Major Services</vt:lpstr>
      <vt:lpstr>Screenshot</vt:lpstr>
      <vt:lpstr>Computing Paradigm Evolution</vt:lpstr>
      <vt:lpstr>Distributed computing</vt:lpstr>
      <vt:lpstr>Long united, must divide  Long divided, must unite</vt:lpstr>
      <vt:lpstr>Next Big Thing</vt:lpstr>
      <vt:lpstr>The “Cloud”</vt:lpstr>
      <vt:lpstr>Cloud Computing – A New Paradigm</vt:lpstr>
      <vt:lpstr>Cloud Computing in Mathematics</vt:lpstr>
      <vt:lpstr>Cloud Computing in IT</vt:lpstr>
      <vt:lpstr>Emerging Technologies Hype Cycle</vt:lpstr>
      <vt:lpstr>Emerging Technologies Priority Matrix</vt:lpstr>
      <vt:lpstr>Benefits from Cloud Computing</vt:lpstr>
      <vt:lpstr>Adoption of Cloud Computing</vt:lpstr>
      <vt:lpstr>Cloud Value Drivers &amp; Effects</vt:lpstr>
      <vt:lpstr>Lower IT operating and capital costs</vt:lpstr>
      <vt:lpstr>Fine grained and rapid provisioning</vt:lpstr>
      <vt:lpstr>Removing IT complexity</vt:lpstr>
      <vt:lpstr>Pay for what is used</vt:lpstr>
      <vt:lpstr>Cloud Computing Players more and more…</vt:lpstr>
      <vt:lpstr>Players :  Users (Consumers) or Providers</vt:lpstr>
      <vt:lpstr>Cloud Computing Economy</vt:lpstr>
      <vt:lpstr>Industry Chain</vt:lpstr>
      <vt:lpstr>Summary</vt:lpstr>
      <vt:lpstr>References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Cloud Computing</dc:title>
  <cp:lastModifiedBy>5Gxp</cp:lastModifiedBy>
  <cp:revision>634</cp:revision>
  <dcterms:modified xsi:type="dcterms:W3CDTF">2010-09-16T07:08:53Z</dcterms:modified>
</cp:coreProperties>
</file>