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26.xml" ContentType="application/vnd.openxmlformats-officedocument.presentationml.slide+xml"/>
  <Override PartName="/ppt/slides/slide12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5"/>
  </p:notesMasterIdLst>
  <p:sldIdLst>
    <p:sldId id="257" r:id="rId2"/>
    <p:sldId id="321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71" r:id="rId30"/>
    <p:sldId id="362" r:id="rId31"/>
    <p:sldId id="363" r:id="rId32"/>
    <p:sldId id="498" r:id="rId33"/>
    <p:sldId id="364" r:id="rId34"/>
    <p:sldId id="365" r:id="rId35"/>
    <p:sldId id="366" r:id="rId36"/>
    <p:sldId id="367" r:id="rId37"/>
    <p:sldId id="368" r:id="rId38"/>
    <p:sldId id="369" r:id="rId39"/>
    <p:sldId id="370" r:id="rId40"/>
    <p:sldId id="494" r:id="rId41"/>
    <p:sldId id="495" r:id="rId42"/>
    <p:sldId id="496" r:id="rId43"/>
    <p:sldId id="388" r:id="rId44"/>
    <p:sldId id="383" r:id="rId45"/>
    <p:sldId id="384" r:id="rId46"/>
    <p:sldId id="385" r:id="rId47"/>
    <p:sldId id="386" r:id="rId48"/>
    <p:sldId id="387" r:id="rId49"/>
    <p:sldId id="389" r:id="rId50"/>
    <p:sldId id="390" r:id="rId51"/>
    <p:sldId id="391" r:id="rId52"/>
    <p:sldId id="392" r:id="rId53"/>
    <p:sldId id="482" r:id="rId54"/>
    <p:sldId id="483" r:id="rId55"/>
    <p:sldId id="484" r:id="rId56"/>
    <p:sldId id="485" r:id="rId57"/>
    <p:sldId id="486" r:id="rId58"/>
    <p:sldId id="487" r:id="rId59"/>
    <p:sldId id="488" r:id="rId60"/>
    <p:sldId id="489" r:id="rId61"/>
    <p:sldId id="490" r:id="rId62"/>
    <p:sldId id="491" r:id="rId63"/>
    <p:sldId id="492" r:id="rId64"/>
    <p:sldId id="470" r:id="rId65"/>
    <p:sldId id="393" r:id="rId66"/>
    <p:sldId id="394" r:id="rId67"/>
    <p:sldId id="395" r:id="rId68"/>
    <p:sldId id="396" r:id="rId69"/>
    <p:sldId id="397" r:id="rId70"/>
    <p:sldId id="398" r:id="rId71"/>
    <p:sldId id="399" r:id="rId72"/>
    <p:sldId id="497" r:id="rId73"/>
    <p:sldId id="493" r:id="rId74"/>
    <p:sldId id="467" r:id="rId75"/>
    <p:sldId id="406" r:id="rId76"/>
    <p:sldId id="407" r:id="rId77"/>
    <p:sldId id="408" r:id="rId78"/>
    <p:sldId id="409" r:id="rId79"/>
    <p:sldId id="410" r:id="rId80"/>
    <p:sldId id="411" r:id="rId81"/>
    <p:sldId id="412" r:id="rId82"/>
    <p:sldId id="422" r:id="rId83"/>
    <p:sldId id="423" r:id="rId84"/>
    <p:sldId id="424" r:id="rId85"/>
    <p:sldId id="425" r:id="rId86"/>
    <p:sldId id="426" r:id="rId87"/>
    <p:sldId id="427" r:id="rId88"/>
    <p:sldId id="428" r:id="rId89"/>
    <p:sldId id="429" r:id="rId90"/>
    <p:sldId id="471" r:id="rId91"/>
    <p:sldId id="472" r:id="rId92"/>
    <p:sldId id="473" r:id="rId93"/>
    <p:sldId id="474" r:id="rId94"/>
    <p:sldId id="475" r:id="rId95"/>
    <p:sldId id="476" r:id="rId96"/>
    <p:sldId id="477" r:id="rId97"/>
    <p:sldId id="478" r:id="rId98"/>
    <p:sldId id="479" r:id="rId99"/>
    <p:sldId id="430" r:id="rId100"/>
    <p:sldId id="431" r:id="rId101"/>
    <p:sldId id="432" r:id="rId102"/>
    <p:sldId id="433" r:id="rId103"/>
    <p:sldId id="434" r:id="rId104"/>
    <p:sldId id="435" r:id="rId105"/>
    <p:sldId id="436" r:id="rId106"/>
    <p:sldId id="437" r:id="rId107"/>
    <p:sldId id="438" r:id="rId108"/>
    <p:sldId id="439" r:id="rId109"/>
    <p:sldId id="440" r:id="rId110"/>
    <p:sldId id="441" r:id="rId111"/>
    <p:sldId id="442" r:id="rId112"/>
    <p:sldId id="443" r:id="rId113"/>
    <p:sldId id="444" r:id="rId114"/>
    <p:sldId id="445" r:id="rId115"/>
    <p:sldId id="446" r:id="rId116"/>
    <p:sldId id="447" r:id="rId117"/>
    <p:sldId id="448" r:id="rId118"/>
    <p:sldId id="449" r:id="rId119"/>
    <p:sldId id="450" r:id="rId120"/>
    <p:sldId id="451" r:id="rId121"/>
    <p:sldId id="452" r:id="rId122"/>
    <p:sldId id="453" r:id="rId123"/>
    <p:sldId id="454" r:id="rId124"/>
    <p:sldId id="455" r:id="rId125"/>
    <p:sldId id="456" r:id="rId126"/>
    <p:sldId id="457" r:id="rId127"/>
    <p:sldId id="458" r:id="rId128"/>
    <p:sldId id="459" r:id="rId129"/>
    <p:sldId id="460" r:id="rId130"/>
    <p:sldId id="461" r:id="rId131"/>
    <p:sldId id="462" r:id="rId132"/>
    <p:sldId id="463" r:id="rId133"/>
    <p:sldId id="481" r:id="rId1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31" autoAdjust="0"/>
    <p:restoredTop sz="94660"/>
  </p:normalViewPr>
  <p:slideViewPr>
    <p:cSldViewPr>
      <p:cViewPr varScale="1">
        <p:scale>
          <a:sx n="102" d="100"/>
          <a:sy n="102" d="100"/>
        </p:scale>
        <p:origin x="-1451" y="-8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49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C071D-4A79-496C-87EF-2E08D0BFC3BD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0BB83-8579-4205-99EC-326DBBD7960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F0BB83-8579-4205-99EC-326DBBD79608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編輯環境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7E15C-E5F6-470A-BD7D-CC4F9EE89419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2010/11/9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lipse.org/" TargetMode="External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l.google.com/eclipse/plugin/3.X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www.pythonware.com/products/pil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intl/en/appengine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code.google.com/intl/en/appengine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bs.tw/share/bgsys" TargetMode="External"/><Relationship Id="rId2" Type="http://schemas.openxmlformats.org/officeDocument/2006/relationships/hyperlink" Target="http://beautyg.webbs.tw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://randomhash.appspot.com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4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intl/en/appengine/tools_tips.html" TargetMode="External"/><Relationship Id="rId2" Type="http://schemas.openxmlformats.org/officeDocument/2006/relationships/hyperlink" Target="http://code.google.com/intl/en/appengin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s5421.sslab.cs.nthu.edu.tw/" TargetMode="External"/><Relationship Id="rId5" Type="http://schemas.openxmlformats.org/officeDocument/2006/relationships/hyperlink" Target="http://randomhash.appspot.com/" TargetMode="External"/><Relationship Id="rId4" Type="http://schemas.openxmlformats.org/officeDocument/2006/relationships/hyperlink" Target="http://albumdemo01.appsp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Lab - Google App Engine</a:t>
            </a:r>
          </a:p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zh-TW" altLang="en-US" sz="32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</a:p>
          <a:p>
            <a:pPr lvl="1"/>
            <a:r>
              <a:rPr lang="en-US" altLang="zh-TW" dirty="0" smtClean="0"/>
              <a:t>What is Google App Engine?</a:t>
            </a:r>
          </a:p>
          <a:p>
            <a:r>
              <a:rPr lang="en-US" altLang="zh-TW" dirty="0" smtClean="0"/>
              <a:t>Installation </a:t>
            </a:r>
          </a:p>
          <a:p>
            <a:pPr lvl="1"/>
            <a:r>
              <a:rPr lang="en-US" altLang="zh-TW" dirty="0" smtClean="0"/>
              <a:t>How to start?</a:t>
            </a:r>
          </a:p>
          <a:p>
            <a:r>
              <a:rPr lang="en-US" altLang="zh-TW" dirty="0" smtClean="0"/>
              <a:t>Lab </a:t>
            </a:r>
          </a:p>
          <a:p>
            <a:pPr lvl="1"/>
            <a:r>
              <a:rPr lang="en-US" altLang="zh-TW" dirty="0" smtClean="0"/>
              <a:t>What do we do?</a:t>
            </a:r>
          </a:p>
          <a:p>
            <a:r>
              <a:rPr lang="en-US" altLang="zh-TW" dirty="0" smtClean="0"/>
              <a:t>API</a:t>
            </a:r>
          </a:p>
          <a:p>
            <a:pPr lvl="1"/>
            <a:r>
              <a:rPr lang="en-US" altLang="zh-TW" dirty="0" smtClean="0"/>
              <a:t>How to complete it?</a:t>
            </a:r>
          </a:p>
          <a:p>
            <a:pPr>
              <a:buNone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Overview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Concept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App Engine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Google app engine (GAE) is platform as a service (</a:t>
            </a:r>
            <a:r>
              <a:rPr lang="en-US" altLang="zh-TW" dirty="0" err="1" smtClean="0"/>
              <a:t>PaaS</a:t>
            </a:r>
            <a:r>
              <a:rPr lang="en-US" altLang="zh-TW" dirty="0" smtClean="0"/>
              <a:t>) in cloud-computation system.</a:t>
            </a:r>
          </a:p>
          <a:p>
            <a:r>
              <a:rPr lang="en-US" altLang="zh-TW" dirty="0" smtClean="0"/>
              <a:t>In April 2008, it was first released as a beta version with Python as a programming language.</a:t>
            </a:r>
          </a:p>
          <a:p>
            <a:r>
              <a:rPr lang="en-US" altLang="zh-TW" dirty="0" smtClean="0"/>
              <a:t>Currently, the support programming language are Python 2.5 and Java 6.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4437112"/>
            <a:ext cx="2196827" cy="1686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They claim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Google App Engine enables you to build and host web apps on the same systems that power Google applications.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Google App Engine is a platform for developing and hosting web application in Google-managed data center.</a:t>
            </a:r>
          </a:p>
          <a:p>
            <a:endParaRPr lang="en-US" altLang="zh-TW" dirty="0" smtClean="0"/>
          </a:p>
          <a:p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131840" y="2852936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- Google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131840" y="5301208"/>
            <a:ext cx="1598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- Wikipedia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Goal of GAE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GAE lets you run your web applications on Google’s infrastructure.</a:t>
            </a:r>
          </a:p>
          <a:p>
            <a:r>
              <a:rPr lang="en-US" altLang="zh-TW" dirty="0" smtClean="0"/>
              <a:t>GAE designs goals:</a:t>
            </a:r>
          </a:p>
          <a:p>
            <a:pPr lvl="1"/>
            <a:r>
              <a:rPr lang="en-US" altLang="zh-TW" dirty="0" smtClean="0"/>
              <a:t>Make the system easy to use.</a:t>
            </a:r>
          </a:p>
          <a:p>
            <a:pPr lvl="1"/>
            <a:r>
              <a:rPr lang="en-US" altLang="zh-TW" dirty="0" smtClean="0"/>
              <a:t>Make it easy to scale.</a:t>
            </a:r>
          </a:p>
          <a:p>
            <a:pPr lvl="1"/>
            <a:r>
              <a:rPr lang="en-US" altLang="zh-TW" dirty="0" smtClean="0"/>
              <a:t>Make it free to get started.</a:t>
            </a:r>
          </a:p>
          <a:p>
            <a:r>
              <a:rPr lang="en-US" altLang="zh-TW" dirty="0" smtClean="0"/>
              <a:t>GAE also provides a App Engine SDK that support programmers developing in their computer.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And more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You do not need to purchase, maintain, and manage all of infrastructures.</a:t>
            </a:r>
          </a:p>
          <a:p>
            <a:r>
              <a:rPr lang="en-US" altLang="zh-TW" dirty="0" smtClean="0"/>
              <a:t>You just upload your application, and it is ready to serve your users.</a:t>
            </a:r>
          </a:p>
          <a:p>
            <a:r>
              <a:rPr lang="en-US" altLang="zh-TW" dirty="0" smtClean="0"/>
              <a:t>There are no set-up costs and recurring fees, you only pay for what you use.</a:t>
            </a:r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6863" y="2478088"/>
            <a:ext cx="601027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Benefits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GAE provides an infrastructure for running web apps</a:t>
            </a:r>
          </a:p>
          <a:p>
            <a:pPr lvl="1"/>
            <a:r>
              <a:rPr lang="en-US" altLang="zh-TW" dirty="0" smtClean="0"/>
              <a:t>It means that we're focused, specifically on web applications.</a:t>
            </a:r>
          </a:p>
          <a:p>
            <a:pPr lvl="1"/>
            <a:r>
              <a:rPr lang="en-US" altLang="zh-TW" dirty="0" smtClean="0"/>
              <a:t>Making web services easy to run, easy to deploy, and easy to scale.</a:t>
            </a:r>
          </a:p>
          <a:p>
            <a:r>
              <a:rPr lang="en-US" altLang="zh-TW" dirty="0" smtClean="0"/>
              <a:t>GAE do not run arbitrary compute jobs, also do not give a raw virtual machine.</a:t>
            </a:r>
          </a:p>
          <a:p>
            <a:r>
              <a:rPr lang="en-US" altLang="zh-TW" dirty="0" smtClean="0"/>
              <a:t>Instead, GAE provide a way for you to package up your code, specify how you want it to run in response to requests, and then we run and serve it for you.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More benefits </a:t>
            </a:r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3140968"/>
            <a:ext cx="2759679" cy="2118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3131840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Easy to initial 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331640" y="4869160"/>
            <a:ext cx="1856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Pay as you go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508104" y="5085184"/>
            <a:ext cx="2745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Need not to manage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331640" y="3212976"/>
            <a:ext cx="208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Hosting service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076056" y="3140968"/>
            <a:ext cx="3868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Need not to build data center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203848" y="2420888"/>
            <a:ext cx="2887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Need not to purchase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084168" y="4437112"/>
            <a:ext cx="150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Scalability 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51520" y="4077072"/>
            <a:ext cx="3479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Free domain name service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3131840" y="5949280"/>
            <a:ext cx="37321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>
                <a:solidFill>
                  <a:srgbClr val="FFFF00"/>
                </a:solidFill>
                <a:latin typeface="Algerian" pitchFamily="82" charset="0"/>
              </a:rPr>
              <a:t>Free your mind</a:t>
            </a:r>
            <a:endParaRPr lang="zh-TW" altLang="en-US" sz="36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Overview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Concept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59632" y="2329716"/>
            <a:ext cx="432048" cy="2808312"/>
          </a:xfrm>
          <a:prstGeom prst="rect">
            <a:avLst/>
          </a:prstGeom>
          <a:solidFill>
            <a:srgbClr val="FFFF00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dirty="0" smtClean="0"/>
              <a:t>Web interface</a:t>
            </a: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1835696" y="3409836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rot="10800000">
            <a:off x="1835696" y="3913892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691680" y="29777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Request 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691680" y="39859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Response 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rot="10800000">
            <a:off x="539552" y="4066292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79512" y="41206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Web page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329355" y="3193812"/>
            <a:ext cx="1330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transactions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5436096" y="3625860"/>
            <a:ext cx="93610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rot="10800000">
            <a:off x="5436097" y="3985900"/>
            <a:ext cx="936105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465668" y="3976608"/>
            <a:ext cx="76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grpSp>
        <p:nvGrpSpPr>
          <p:cNvPr id="3" name="群組 26"/>
          <p:cNvGrpSpPr/>
          <p:nvPr/>
        </p:nvGrpSpPr>
        <p:grpSpPr>
          <a:xfrm>
            <a:off x="2699792" y="2761764"/>
            <a:ext cx="2592288" cy="1728192"/>
            <a:chOff x="3419872" y="2492896"/>
            <a:chExt cx="2592288" cy="1728192"/>
          </a:xfrm>
        </p:grpSpPr>
        <p:sp>
          <p:nvSpPr>
            <p:cNvPr id="6" name="圓角矩形 5"/>
            <p:cNvSpPr/>
            <p:nvPr/>
          </p:nvSpPr>
          <p:spPr>
            <a:xfrm>
              <a:off x="3419872" y="2492896"/>
              <a:ext cx="2592288" cy="1728192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zh-TW" dirty="0" smtClean="0"/>
                <a:t>Sandbox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283968" y="2996952"/>
              <a:ext cx="1512168" cy="1008112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Runtime</a:t>
              </a:r>
            </a:p>
            <a:p>
              <a:pPr algn="ctr"/>
              <a:r>
                <a:rPr lang="en-US" altLang="zh-TW" dirty="0" smtClean="0"/>
                <a:t>environment</a:t>
              </a:r>
              <a:endParaRPr lang="zh-TW" altLang="en-US" dirty="0"/>
            </a:p>
          </p:txBody>
        </p:sp>
      </p:grpSp>
      <p:grpSp>
        <p:nvGrpSpPr>
          <p:cNvPr id="4" name="群組 35"/>
          <p:cNvGrpSpPr/>
          <p:nvPr/>
        </p:nvGrpSpPr>
        <p:grpSpPr>
          <a:xfrm>
            <a:off x="6588224" y="2512060"/>
            <a:ext cx="2016224" cy="2069068"/>
            <a:chOff x="6588224" y="2420888"/>
            <a:chExt cx="2016224" cy="2069068"/>
          </a:xfrm>
        </p:grpSpPr>
        <p:grpSp>
          <p:nvGrpSpPr>
            <p:cNvPr id="7" name="群組 44"/>
            <p:cNvGrpSpPr/>
            <p:nvPr/>
          </p:nvGrpSpPr>
          <p:grpSpPr>
            <a:xfrm>
              <a:off x="6732240" y="2420888"/>
              <a:ext cx="1872208" cy="1944216"/>
              <a:chOff x="6732240" y="2204864"/>
              <a:chExt cx="1872208" cy="1944216"/>
            </a:xfrm>
          </p:grpSpPr>
          <p:sp>
            <p:nvSpPr>
              <p:cNvPr id="28" name="圓角矩形 27"/>
              <p:cNvSpPr/>
              <p:nvPr/>
            </p:nvSpPr>
            <p:spPr>
              <a:xfrm>
                <a:off x="7164288" y="2204864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圓角矩形 28"/>
              <p:cNvSpPr/>
              <p:nvPr/>
            </p:nvSpPr>
            <p:spPr>
              <a:xfrm>
                <a:off x="7020272" y="2348880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0" name="圓角矩形 29"/>
              <p:cNvSpPr/>
              <p:nvPr/>
            </p:nvSpPr>
            <p:spPr>
              <a:xfrm>
                <a:off x="6876256" y="2492896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1" name="圓角矩形 30"/>
              <p:cNvSpPr/>
              <p:nvPr/>
            </p:nvSpPr>
            <p:spPr>
              <a:xfrm>
                <a:off x="6732240" y="2636912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9" name="圓角矩形 8"/>
            <p:cNvSpPr/>
            <p:nvPr/>
          </p:nvSpPr>
          <p:spPr>
            <a:xfrm>
              <a:off x="6588224" y="2977788"/>
              <a:ext cx="1440160" cy="1512168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Datastore</a:t>
              </a:r>
              <a:endParaRPr lang="en-US" altLang="zh-TW" dirty="0" smtClean="0"/>
            </a:p>
            <a:p>
              <a:pPr algn="ctr"/>
              <a:r>
                <a:rPr lang="en-US" altLang="zh-TW" dirty="0" err="1" smtClean="0"/>
                <a:t>Memcache</a:t>
              </a:r>
              <a:endParaRPr lang="zh-TW" altLang="en-US" dirty="0"/>
            </a:p>
          </p:txBody>
        </p:sp>
      </p:grpSp>
      <p:cxnSp>
        <p:nvCxnSpPr>
          <p:cNvPr id="11" name="直線單箭頭接點 10"/>
          <p:cNvCxnSpPr/>
          <p:nvPr/>
        </p:nvCxnSpPr>
        <p:spPr>
          <a:xfrm>
            <a:off x="539552" y="3193812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23528" y="28244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Browser 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3841884"/>
            <a:ext cx="423764" cy="4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3" name="直線單箭頭接點 42"/>
          <p:cNvCxnSpPr/>
          <p:nvPr/>
        </p:nvCxnSpPr>
        <p:spPr>
          <a:xfrm>
            <a:off x="2915816" y="3553852"/>
            <a:ext cx="864096" cy="1588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2" name="Picture 4" descr="D:\Slide\comput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1052736"/>
            <a:ext cx="1089206" cy="1159272"/>
          </a:xfrm>
          <a:prstGeom prst="rect">
            <a:avLst/>
          </a:prstGeom>
          <a:noFill/>
        </p:spPr>
      </p:pic>
      <p:cxnSp>
        <p:nvCxnSpPr>
          <p:cNvPr id="52" name="直線單箭頭接點 51"/>
          <p:cNvCxnSpPr/>
          <p:nvPr/>
        </p:nvCxnSpPr>
        <p:spPr>
          <a:xfrm flipV="1">
            <a:off x="3635896" y="1916832"/>
            <a:ext cx="1368152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rot="5400000">
            <a:off x="4860032" y="2276872"/>
            <a:ext cx="504056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220072" y="2276872"/>
            <a:ext cx="19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URL fetch or E-mail</a:t>
            </a:r>
            <a:endParaRPr lang="zh-TW" altLang="en-US" dirty="0"/>
          </a:p>
        </p:txBody>
      </p:sp>
      <p:sp>
        <p:nvSpPr>
          <p:cNvPr id="32" name="橢圓 31"/>
          <p:cNvSpPr/>
          <p:nvPr/>
        </p:nvSpPr>
        <p:spPr>
          <a:xfrm>
            <a:off x="1763688" y="5373216"/>
            <a:ext cx="2808312" cy="122413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More services </a:t>
            </a:r>
            <a:endParaRPr lang="zh-TW" alt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4" name="直線單箭頭接點 33"/>
          <p:cNvCxnSpPr/>
          <p:nvPr/>
        </p:nvCxnSpPr>
        <p:spPr>
          <a:xfrm rot="5400000">
            <a:off x="2735796" y="4833156"/>
            <a:ext cx="576064" cy="72008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491880" y="4509120"/>
            <a:ext cx="183043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Schedule routine 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5868144" y="5301208"/>
            <a:ext cx="2592288" cy="108012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Static Storage </a:t>
            </a:r>
            <a:endParaRPr lang="zh-TW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555776" y="1916832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HTTP / HTTPS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59632" y="2329716"/>
            <a:ext cx="432048" cy="280831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interface</a:t>
            </a: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1835696" y="3409836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rot="10800000">
            <a:off x="1835696" y="3913892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691680" y="29777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Request 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691680" y="39859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Response 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rot="10800000">
            <a:off x="539552" y="40662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79512" y="41206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page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29355" y="3193812"/>
            <a:ext cx="1330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transactions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1" name="直線單箭頭接點 20"/>
          <p:cNvCxnSpPr/>
          <p:nvPr/>
        </p:nvCxnSpPr>
        <p:spPr>
          <a:xfrm>
            <a:off x="5436096" y="3625860"/>
            <a:ext cx="936104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rot="10800000">
            <a:off x="5436097" y="3985900"/>
            <a:ext cx="936105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465668" y="3976608"/>
            <a:ext cx="76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Result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3" name="群組 26"/>
          <p:cNvGrpSpPr/>
          <p:nvPr/>
        </p:nvGrpSpPr>
        <p:grpSpPr>
          <a:xfrm>
            <a:off x="2699792" y="2761764"/>
            <a:ext cx="2592288" cy="1728192"/>
            <a:chOff x="3419872" y="2492896"/>
            <a:chExt cx="2592288" cy="1728192"/>
          </a:xfrm>
        </p:grpSpPr>
        <p:sp>
          <p:nvSpPr>
            <p:cNvPr id="6" name="圓角矩形 5"/>
            <p:cNvSpPr/>
            <p:nvPr/>
          </p:nvSpPr>
          <p:spPr>
            <a:xfrm>
              <a:off x="3419872" y="2492896"/>
              <a:ext cx="2592288" cy="1728192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zh-TW" dirty="0" smtClean="0"/>
                <a:t>Sandbox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283968" y="2996952"/>
              <a:ext cx="1512168" cy="1008112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Runtime</a:t>
              </a:r>
            </a:p>
            <a:p>
              <a:pPr algn="ctr"/>
              <a:r>
                <a:rPr lang="en-US" altLang="zh-TW" dirty="0" smtClean="0"/>
                <a:t>environment</a:t>
              </a:r>
              <a:endParaRPr lang="zh-TW" altLang="en-US" dirty="0"/>
            </a:p>
          </p:txBody>
        </p:sp>
      </p:grpSp>
      <p:grpSp>
        <p:nvGrpSpPr>
          <p:cNvPr id="4" name="群組 35"/>
          <p:cNvGrpSpPr/>
          <p:nvPr/>
        </p:nvGrpSpPr>
        <p:grpSpPr>
          <a:xfrm>
            <a:off x="6588224" y="2512060"/>
            <a:ext cx="2016224" cy="2069068"/>
            <a:chOff x="6588224" y="2420888"/>
            <a:chExt cx="2016224" cy="2069068"/>
          </a:xfrm>
          <a:solidFill>
            <a:schemeClr val="bg1">
              <a:lumMod val="75000"/>
            </a:schemeClr>
          </a:solidFill>
        </p:grpSpPr>
        <p:grpSp>
          <p:nvGrpSpPr>
            <p:cNvPr id="7" name="群組 44"/>
            <p:cNvGrpSpPr/>
            <p:nvPr/>
          </p:nvGrpSpPr>
          <p:grpSpPr>
            <a:xfrm>
              <a:off x="6732240" y="2420888"/>
              <a:ext cx="1872208" cy="1944216"/>
              <a:chOff x="6732240" y="2204864"/>
              <a:chExt cx="1872208" cy="1944216"/>
            </a:xfrm>
            <a:grpFill/>
          </p:grpSpPr>
          <p:sp>
            <p:nvSpPr>
              <p:cNvPr id="28" name="圓角矩形 27"/>
              <p:cNvSpPr/>
              <p:nvPr/>
            </p:nvSpPr>
            <p:spPr>
              <a:xfrm>
                <a:off x="7164288" y="2204864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圓角矩形 28"/>
              <p:cNvSpPr/>
              <p:nvPr/>
            </p:nvSpPr>
            <p:spPr>
              <a:xfrm>
                <a:off x="7020272" y="2348880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0" name="圓角矩形 29"/>
              <p:cNvSpPr/>
              <p:nvPr/>
            </p:nvSpPr>
            <p:spPr>
              <a:xfrm>
                <a:off x="6876256" y="2492896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1" name="圓角矩形 30"/>
              <p:cNvSpPr/>
              <p:nvPr/>
            </p:nvSpPr>
            <p:spPr>
              <a:xfrm>
                <a:off x="6732240" y="2636912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9" name="圓角矩形 8"/>
            <p:cNvSpPr/>
            <p:nvPr/>
          </p:nvSpPr>
          <p:spPr>
            <a:xfrm>
              <a:off x="6588224" y="2977788"/>
              <a:ext cx="1440160" cy="1512168"/>
            </a:xfrm>
            <a:prstGeom prst="round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Datastore</a:t>
              </a:r>
              <a:endParaRPr lang="en-US" altLang="zh-TW" dirty="0" smtClean="0"/>
            </a:p>
            <a:p>
              <a:pPr algn="ctr"/>
              <a:r>
                <a:rPr lang="en-US" altLang="zh-TW" dirty="0" err="1" smtClean="0"/>
                <a:t>Memcache</a:t>
              </a:r>
              <a:endParaRPr lang="zh-TW" altLang="en-US" dirty="0"/>
            </a:p>
          </p:txBody>
        </p:sp>
      </p:grpSp>
      <p:cxnSp>
        <p:nvCxnSpPr>
          <p:cNvPr id="11" name="直線單箭頭接點 10"/>
          <p:cNvCxnSpPr/>
          <p:nvPr/>
        </p:nvCxnSpPr>
        <p:spPr>
          <a:xfrm>
            <a:off x="539552" y="319381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23528" y="28244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Browser</a:t>
            </a:r>
            <a:r>
              <a:rPr lang="en-US" altLang="zh-TW" dirty="0" smtClean="0"/>
              <a:t> 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3841884"/>
            <a:ext cx="423764" cy="4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3" name="直線單箭頭接點 42"/>
          <p:cNvCxnSpPr/>
          <p:nvPr/>
        </p:nvCxnSpPr>
        <p:spPr>
          <a:xfrm>
            <a:off x="2915816" y="3553852"/>
            <a:ext cx="864096" cy="1588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2" name="Picture 4" descr="D:\Slide\computer.png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20000" contrast="-40000"/>
          </a:blip>
          <a:srcRect/>
          <a:stretch>
            <a:fillRect/>
          </a:stretch>
        </p:blipFill>
        <p:spPr bwMode="auto">
          <a:xfrm>
            <a:off x="5220072" y="1052736"/>
            <a:ext cx="1089206" cy="1159272"/>
          </a:xfrm>
          <a:prstGeom prst="rect">
            <a:avLst/>
          </a:prstGeom>
          <a:noFill/>
        </p:spPr>
      </p:pic>
      <p:cxnSp>
        <p:nvCxnSpPr>
          <p:cNvPr id="52" name="直線單箭頭接點 51"/>
          <p:cNvCxnSpPr/>
          <p:nvPr/>
        </p:nvCxnSpPr>
        <p:spPr>
          <a:xfrm flipV="1">
            <a:off x="3635896" y="1916832"/>
            <a:ext cx="1368152" cy="57606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rot="5400000">
            <a:off x="4860032" y="2276872"/>
            <a:ext cx="504056" cy="21602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220072" y="2276872"/>
            <a:ext cx="19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URL fetch or E-mail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1763688" y="5373216"/>
            <a:ext cx="2808312" cy="122413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bg1">
                    <a:lumMod val="75000"/>
                  </a:schemeClr>
                </a:solidFill>
              </a:rPr>
              <a:t>More services </a:t>
            </a:r>
            <a:endParaRPr lang="zh-TW" alt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4" name="直線單箭頭接點 33"/>
          <p:cNvCxnSpPr/>
          <p:nvPr/>
        </p:nvCxnSpPr>
        <p:spPr>
          <a:xfrm rot="5400000">
            <a:off x="2735796" y="4833156"/>
            <a:ext cx="576064" cy="7200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491880" y="4509120"/>
            <a:ext cx="1830437" cy="36933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Schedule routine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868144" y="5301208"/>
            <a:ext cx="2592288" cy="10801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</a:rPr>
              <a:t>Static Storage 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555776" y="1916832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HTTP / HTTPS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Sandbox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Sandbox is a security mechanism for separating running programs and often used to execute untested programs.</a:t>
            </a:r>
          </a:p>
          <a:p>
            <a:r>
              <a:rPr lang="en-US" altLang="zh-TW" dirty="0" smtClean="0"/>
              <a:t>Applications run in sandbox that provides limited access to the underlying operating system.</a:t>
            </a:r>
          </a:p>
          <a:p>
            <a:pPr>
              <a:buNone/>
            </a:pPr>
            <a:endParaRPr lang="en-US" altLang="zh-TW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2492896"/>
            <a:ext cx="4271797" cy="3203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Sandbox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Sandbox is independent of the hardware, operating system and physical location of the web server.</a:t>
            </a:r>
          </a:p>
          <a:p>
            <a:pPr lvl="1"/>
            <a:r>
              <a:rPr lang="en-US" altLang="zh-TW" dirty="0" smtClean="0"/>
              <a:t>Access other computer only on the Internet through the provided URL fetch.</a:t>
            </a:r>
          </a:p>
          <a:p>
            <a:pPr lvl="1"/>
            <a:r>
              <a:rPr lang="en-US" altLang="zh-TW" dirty="0" smtClean="0"/>
              <a:t>Other computer can only connect to GAE application by making HTTP (or HTTPS) requests.</a:t>
            </a:r>
          </a:p>
          <a:p>
            <a:r>
              <a:rPr lang="en-US" altLang="zh-TW" dirty="0" smtClean="0"/>
              <a:t>Application also cannot write to the file system, only can read which upload with application code.</a:t>
            </a:r>
          </a:p>
          <a:p>
            <a:pPr lvl="1"/>
            <a:r>
              <a:rPr lang="en-US" altLang="zh-TW" dirty="0" smtClean="0"/>
              <a:t>App must use the GAE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 that persists between requests.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Runtime Environment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provides two runtime environment, Python and Java, which can be used to design web services.</a:t>
            </a:r>
          </a:p>
          <a:p>
            <a:r>
              <a:rPr lang="en-US" altLang="zh-TW" dirty="0" smtClean="0"/>
              <a:t>GAE includes rich APIs and tools for web application development.</a:t>
            </a:r>
          </a:p>
          <a:p>
            <a:r>
              <a:rPr lang="en-US" altLang="zh-TW" dirty="0" smtClean="0"/>
              <a:t>In general, GAE provides standard library, like JRE standard library or Python 2.X standard library.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1835696" y="3409836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rot="10800000">
            <a:off x="1835696" y="39138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691680" y="29777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Request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691680" y="39859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Response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 rot="10800000">
            <a:off x="539552" y="40662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79512" y="41206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page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29355" y="3193812"/>
            <a:ext cx="1330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transactions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5436096" y="3625860"/>
            <a:ext cx="93610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rot="10800000">
            <a:off x="5436097" y="3985900"/>
            <a:ext cx="936105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465668" y="3976608"/>
            <a:ext cx="76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grpSp>
        <p:nvGrpSpPr>
          <p:cNvPr id="3" name="群組 26"/>
          <p:cNvGrpSpPr/>
          <p:nvPr/>
        </p:nvGrpSpPr>
        <p:grpSpPr>
          <a:xfrm>
            <a:off x="2699792" y="2761764"/>
            <a:ext cx="2592288" cy="1728192"/>
            <a:chOff x="3419872" y="2492896"/>
            <a:chExt cx="2592288" cy="1728192"/>
          </a:xfrm>
          <a:solidFill>
            <a:schemeClr val="bg1">
              <a:lumMod val="85000"/>
            </a:schemeClr>
          </a:solidFill>
        </p:grpSpPr>
        <p:sp>
          <p:nvSpPr>
            <p:cNvPr id="6" name="圓角矩形 5"/>
            <p:cNvSpPr/>
            <p:nvPr/>
          </p:nvSpPr>
          <p:spPr>
            <a:xfrm>
              <a:off x="3419872" y="2492896"/>
              <a:ext cx="2592288" cy="1728192"/>
            </a:xfrm>
            <a:prstGeom prst="roundRect">
              <a:avLst/>
            </a:prstGeom>
            <a:grp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50000"/>
                    </a:schemeClr>
                  </a:solidFill>
                </a:rPr>
                <a:t>Sandbox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283968" y="2996952"/>
              <a:ext cx="1512168" cy="1008112"/>
            </a:xfrm>
            <a:prstGeom prst="roundRect">
              <a:avLst/>
            </a:prstGeom>
            <a:grpFill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Runtime</a:t>
              </a:r>
            </a:p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environment</a:t>
              </a:r>
              <a:endParaRPr lang="zh-TW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4" name="群組 35"/>
          <p:cNvGrpSpPr/>
          <p:nvPr/>
        </p:nvGrpSpPr>
        <p:grpSpPr>
          <a:xfrm>
            <a:off x="6588224" y="2512060"/>
            <a:ext cx="2016224" cy="2069068"/>
            <a:chOff x="6588224" y="2420888"/>
            <a:chExt cx="2016224" cy="2069068"/>
          </a:xfrm>
        </p:grpSpPr>
        <p:grpSp>
          <p:nvGrpSpPr>
            <p:cNvPr id="5" name="群組 44"/>
            <p:cNvGrpSpPr/>
            <p:nvPr/>
          </p:nvGrpSpPr>
          <p:grpSpPr>
            <a:xfrm>
              <a:off x="6732240" y="2420888"/>
              <a:ext cx="1872208" cy="1944216"/>
              <a:chOff x="6732240" y="2204864"/>
              <a:chExt cx="1872208" cy="1944216"/>
            </a:xfrm>
          </p:grpSpPr>
          <p:sp>
            <p:nvSpPr>
              <p:cNvPr id="28" name="圓角矩形 27"/>
              <p:cNvSpPr/>
              <p:nvPr/>
            </p:nvSpPr>
            <p:spPr>
              <a:xfrm>
                <a:off x="7164288" y="2204864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圓角矩形 28"/>
              <p:cNvSpPr/>
              <p:nvPr/>
            </p:nvSpPr>
            <p:spPr>
              <a:xfrm>
                <a:off x="7020272" y="2348880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0" name="圓角矩形 29"/>
              <p:cNvSpPr/>
              <p:nvPr/>
            </p:nvSpPr>
            <p:spPr>
              <a:xfrm>
                <a:off x="6876256" y="2492896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1" name="圓角矩形 30"/>
              <p:cNvSpPr/>
              <p:nvPr/>
            </p:nvSpPr>
            <p:spPr>
              <a:xfrm>
                <a:off x="6732240" y="2636912"/>
                <a:ext cx="1440160" cy="1512168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9" name="圓角矩形 8"/>
            <p:cNvSpPr/>
            <p:nvPr/>
          </p:nvSpPr>
          <p:spPr>
            <a:xfrm>
              <a:off x="6588224" y="2977788"/>
              <a:ext cx="1440160" cy="1512168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Datastore</a:t>
              </a:r>
              <a:endParaRPr lang="en-US" altLang="zh-TW" dirty="0" smtClean="0"/>
            </a:p>
            <a:p>
              <a:pPr algn="ctr"/>
              <a:r>
                <a:rPr lang="en-US" altLang="zh-TW" dirty="0" err="1" smtClean="0"/>
                <a:t>Memcache</a:t>
              </a:r>
              <a:endParaRPr lang="zh-TW" altLang="en-US" dirty="0"/>
            </a:p>
          </p:txBody>
        </p:sp>
      </p:grpSp>
      <p:cxnSp>
        <p:nvCxnSpPr>
          <p:cNvPr id="11" name="直線單箭頭接點 10"/>
          <p:cNvCxnSpPr/>
          <p:nvPr/>
        </p:nvCxnSpPr>
        <p:spPr>
          <a:xfrm>
            <a:off x="539552" y="319381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323528" y="28244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Browser 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30000"/>
          </a:blip>
          <a:srcRect/>
          <a:stretch>
            <a:fillRect/>
          </a:stretch>
        </p:blipFill>
        <p:spPr bwMode="auto">
          <a:xfrm>
            <a:off x="3059832" y="3841884"/>
            <a:ext cx="423764" cy="4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3" name="直線單箭頭接點 42"/>
          <p:cNvCxnSpPr/>
          <p:nvPr/>
        </p:nvCxnSpPr>
        <p:spPr>
          <a:xfrm>
            <a:off x="2915816" y="3553852"/>
            <a:ext cx="864096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2" name="Picture 4" descr="D:\Slide\computer.png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5220072" y="1052736"/>
            <a:ext cx="1089206" cy="1159272"/>
          </a:xfrm>
          <a:prstGeom prst="rect">
            <a:avLst/>
          </a:prstGeom>
          <a:noFill/>
        </p:spPr>
      </p:pic>
      <p:cxnSp>
        <p:nvCxnSpPr>
          <p:cNvPr id="52" name="直線單箭頭接點 51"/>
          <p:cNvCxnSpPr/>
          <p:nvPr/>
        </p:nvCxnSpPr>
        <p:spPr>
          <a:xfrm flipV="1">
            <a:off x="3635896" y="1916832"/>
            <a:ext cx="1368152" cy="57606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rot="5400000">
            <a:off x="4860032" y="2276872"/>
            <a:ext cx="504056" cy="21602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5220072" y="2276872"/>
            <a:ext cx="19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URL fetch or E-mail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1763688" y="5373216"/>
            <a:ext cx="2808312" cy="122413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More services </a:t>
            </a:r>
            <a:endParaRPr lang="zh-TW" alt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4" name="直線單箭頭接點 33"/>
          <p:cNvCxnSpPr/>
          <p:nvPr/>
        </p:nvCxnSpPr>
        <p:spPr>
          <a:xfrm rot="5400000">
            <a:off x="2735796" y="4833156"/>
            <a:ext cx="576064" cy="7200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3491880" y="4509120"/>
            <a:ext cx="1830437" cy="36933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Schedule routine 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555776" y="1916832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HTTP / HTTPS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868144" y="5301208"/>
            <a:ext cx="2592288" cy="108012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Static Storage </a:t>
            </a:r>
            <a:endParaRPr lang="zh-TW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259632" y="2329716"/>
            <a:ext cx="432048" cy="280831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provide two type of storage space</a:t>
            </a:r>
          </a:p>
          <a:p>
            <a:pPr lvl="1"/>
            <a:r>
              <a:rPr lang="en-US" altLang="zh-TW" dirty="0" smtClean="0"/>
              <a:t>Static </a:t>
            </a:r>
          </a:p>
          <a:p>
            <a:pPr lvl="1"/>
            <a:r>
              <a:rPr lang="en-US" altLang="zh-TW" dirty="0" smtClean="0"/>
              <a:t>Dynamic </a:t>
            </a:r>
          </a:p>
          <a:p>
            <a:r>
              <a:rPr lang="en-US" altLang="zh-TW" dirty="0" smtClean="0"/>
              <a:t>Static storage space cannot be modified when application running.</a:t>
            </a:r>
          </a:p>
          <a:p>
            <a:r>
              <a:rPr lang="en-US" altLang="zh-TW" dirty="0" smtClean="0"/>
              <a:t>Dynamic storage space usually be used as a memory cache or disks.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provides a dynamic storage space, called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, which is based on a powerful distributed data storage.</a:t>
            </a:r>
          </a:p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is a </a:t>
            </a:r>
            <a:r>
              <a:rPr lang="en-US" altLang="zh-TW" dirty="0" err="1" smtClean="0"/>
              <a:t>schemaless</a:t>
            </a:r>
            <a:r>
              <a:rPr lang="en-US" altLang="zh-TW" dirty="0" smtClean="0"/>
              <a:t> object storage space, with a query engine and atomic transactions.</a:t>
            </a:r>
          </a:p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provides robust scalable data storage for your web application.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stores data entities with properties, organized by application-defined kinds.</a:t>
            </a:r>
          </a:p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can perform queries over entities of the same kind, with filters and sort orders on property values and keys.</a:t>
            </a:r>
          </a:p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 can execute multiple operations in a single transaction, and roll back the entire transaction if any of the operations fail.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6"/>
          <p:cNvGrpSpPr/>
          <p:nvPr/>
        </p:nvGrpSpPr>
        <p:grpSpPr>
          <a:xfrm>
            <a:off x="2699792" y="2761764"/>
            <a:ext cx="2592288" cy="1728192"/>
            <a:chOff x="3419872" y="2492896"/>
            <a:chExt cx="2592288" cy="1728192"/>
          </a:xfrm>
          <a:solidFill>
            <a:schemeClr val="bg1">
              <a:lumMod val="85000"/>
            </a:schemeClr>
          </a:solidFill>
        </p:grpSpPr>
        <p:sp>
          <p:nvSpPr>
            <p:cNvPr id="79" name="圓角矩形 78"/>
            <p:cNvSpPr/>
            <p:nvPr/>
          </p:nvSpPr>
          <p:spPr>
            <a:xfrm>
              <a:off x="3419872" y="2492896"/>
              <a:ext cx="2592288" cy="1728192"/>
            </a:xfrm>
            <a:prstGeom prst="roundRect">
              <a:avLst/>
            </a:prstGeom>
            <a:grp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50000"/>
                    </a:schemeClr>
                  </a:solidFill>
                </a:rPr>
                <a:t>Sandbox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0" name="圓角矩形 79"/>
            <p:cNvSpPr/>
            <p:nvPr/>
          </p:nvSpPr>
          <p:spPr>
            <a:xfrm>
              <a:off x="4283968" y="2996952"/>
              <a:ext cx="1512168" cy="1008112"/>
            </a:xfrm>
            <a:prstGeom prst="roundRect">
              <a:avLst/>
            </a:prstGeom>
            <a:grpFill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Runtime</a:t>
              </a:r>
            </a:p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environment</a:t>
              </a:r>
              <a:endParaRPr lang="zh-TW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cxnSp>
        <p:nvCxnSpPr>
          <p:cNvPr id="40" name="直線單箭頭接點 39"/>
          <p:cNvCxnSpPr/>
          <p:nvPr/>
        </p:nvCxnSpPr>
        <p:spPr>
          <a:xfrm>
            <a:off x="1835696" y="3409836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rot="10800000">
            <a:off x="1835696" y="39138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1691680" y="29777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Request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1691680" y="39859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Response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5" name="直線單箭頭接點 44"/>
          <p:cNvCxnSpPr/>
          <p:nvPr/>
        </p:nvCxnSpPr>
        <p:spPr>
          <a:xfrm rot="10800000">
            <a:off x="539552" y="40662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179512" y="41206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page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>
            <a:off x="539552" y="319381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323528" y="28244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Browser 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8" name="直線單箭頭接點 57"/>
          <p:cNvCxnSpPr/>
          <p:nvPr/>
        </p:nvCxnSpPr>
        <p:spPr>
          <a:xfrm flipV="1">
            <a:off x="3635896" y="1916832"/>
            <a:ext cx="1368152" cy="57606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rot="5400000">
            <a:off x="4860032" y="2276872"/>
            <a:ext cx="504056" cy="21602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0" name="橢圓 59"/>
          <p:cNvSpPr/>
          <p:nvPr/>
        </p:nvSpPr>
        <p:spPr>
          <a:xfrm>
            <a:off x="1763688" y="5373216"/>
            <a:ext cx="2808312" cy="122413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More services </a:t>
            </a:r>
            <a:endParaRPr lang="zh-TW" alt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1" name="直線單箭頭接點 60"/>
          <p:cNvCxnSpPr/>
          <p:nvPr/>
        </p:nvCxnSpPr>
        <p:spPr>
          <a:xfrm rot="5400000">
            <a:off x="2735796" y="4833156"/>
            <a:ext cx="576064" cy="7200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2555776" y="1916832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HTTP / HTTPS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329355" y="3193812"/>
            <a:ext cx="1330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transactions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64" name="直線單箭頭接點 63"/>
          <p:cNvCxnSpPr/>
          <p:nvPr/>
        </p:nvCxnSpPr>
        <p:spPr>
          <a:xfrm>
            <a:off x="5436096" y="3625860"/>
            <a:ext cx="936104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rot="10800000">
            <a:off x="5436097" y="3985900"/>
            <a:ext cx="936105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5465668" y="3976608"/>
            <a:ext cx="76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Result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4" name="群組 35"/>
          <p:cNvGrpSpPr/>
          <p:nvPr/>
        </p:nvGrpSpPr>
        <p:grpSpPr>
          <a:xfrm>
            <a:off x="6588224" y="2512060"/>
            <a:ext cx="2016224" cy="2069068"/>
            <a:chOff x="6588224" y="2420888"/>
            <a:chExt cx="2016224" cy="2069068"/>
          </a:xfrm>
          <a:solidFill>
            <a:schemeClr val="bg1">
              <a:lumMod val="75000"/>
            </a:schemeClr>
          </a:solidFill>
        </p:grpSpPr>
        <p:grpSp>
          <p:nvGrpSpPr>
            <p:cNvPr id="5" name="群組 44"/>
            <p:cNvGrpSpPr/>
            <p:nvPr/>
          </p:nvGrpSpPr>
          <p:grpSpPr>
            <a:xfrm>
              <a:off x="6732240" y="2420888"/>
              <a:ext cx="1872208" cy="1944216"/>
              <a:chOff x="6732240" y="2204864"/>
              <a:chExt cx="1872208" cy="1944216"/>
            </a:xfrm>
            <a:grpFill/>
          </p:grpSpPr>
          <p:sp>
            <p:nvSpPr>
              <p:cNvPr id="70" name="圓角矩形 69"/>
              <p:cNvSpPr/>
              <p:nvPr/>
            </p:nvSpPr>
            <p:spPr>
              <a:xfrm>
                <a:off x="7164288" y="2204864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71" name="圓角矩形 70"/>
              <p:cNvSpPr/>
              <p:nvPr/>
            </p:nvSpPr>
            <p:spPr>
              <a:xfrm>
                <a:off x="7020272" y="2348880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72" name="圓角矩形 71"/>
              <p:cNvSpPr/>
              <p:nvPr/>
            </p:nvSpPr>
            <p:spPr>
              <a:xfrm>
                <a:off x="6876256" y="2492896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73" name="圓角矩形 72"/>
              <p:cNvSpPr/>
              <p:nvPr/>
            </p:nvSpPr>
            <p:spPr>
              <a:xfrm>
                <a:off x="6732240" y="2636912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69" name="圓角矩形 68"/>
            <p:cNvSpPr/>
            <p:nvPr/>
          </p:nvSpPr>
          <p:spPr>
            <a:xfrm>
              <a:off x="6588224" y="2977788"/>
              <a:ext cx="1440160" cy="1512168"/>
            </a:xfrm>
            <a:prstGeom prst="round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Datastore</a:t>
              </a:r>
              <a:endParaRPr lang="en-US" altLang="zh-TW" dirty="0" smtClean="0"/>
            </a:p>
            <a:p>
              <a:pPr algn="ctr"/>
              <a:r>
                <a:rPr lang="en-US" altLang="zh-TW" dirty="0" err="1" smtClean="0"/>
                <a:t>Memcache</a:t>
              </a:r>
              <a:endParaRPr lang="zh-TW" altLang="en-US" dirty="0"/>
            </a:p>
          </p:txBody>
        </p:sp>
      </p:grpSp>
      <p:sp>
        <p:nvSpPr>
          <p:cNvPr id="74" name="矩形 73"/>
          <p:cNvSpPr/>
          <p:nvPr/>
        </p:nvSpPr>
        <p:spPr>
          <a:xfrm>
            <a:off x="5868144" y="5301208"/>
            <a:ext cx="2592288" cy="10801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</a:rPr>
              <a:t>Static Storage 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5" name="Picture 4" descr="D:\Slide\computer.png"/>
          <p:cNvPicPr>
            <a:picLocks noChangeAspect="1" noChangeArrowheads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5220072" y="1052736"/>
            <a:ext cx="1089206" cy="1159272"/>
          </a:xfrm>
          <a:prstGeom prst="rect">
            <a:avLst/>
          </a:prstGeom>
          <a:noFill/>
        </p:spPr>
      </p:pic>
      <p:sp>
        <p:nvSpPr>
          <p:cNvPr id="76" name="文字方塊 75"/>
          <p:cNvSpPr txBox="1"/>
          <p:nvPr/>
        </p:nvSpPr>
        <p:spPr>
          <a:xfrm>
            <a:off x="5220072" y="2276872"/>
            <a:ext cx="19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URL fetch or E-mail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3491880" y="4509120"/>
            <a:ext cx="183043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Schedule routine </a:t>
            </a:r>
            <a:endParaRPr lang="zh-TW" altLang="en-US" dirty="0"/>
          </a:p>
        </p:txBody>
      </p:sp>
      <p:pic>
        <p:nvPicPr>
          <p:cNvPr id="81" name="Picture 3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30000"/>
          </a:blip>
          <a:srcRect/>
          <a:stretch>
            <a:fillRect/>
          </a:stretch>
        </p:blipFill>
        <p:spPr bwMode="auto">
          <a:xfrm>
            <a:off x="3059832" y="3841884"/>
            <a:ext cx="423764" cy="4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2" name="直線單箭頭接點 81"/>
          <p:cNvCxnSpPr/>
          <p:nvPr/>
        </p:nvCxnSpPr>
        <p:spPr>
          <a:xfrm>
            <a:off x="2915816" y="3553852"/>
            <a:ext cx="864096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1259632" y="2329716"/>
            <a:ext cx="432048" cy="280831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supports the computation ability with</a:t>
            </a:r>
          </a:p>
          <a:p>
            <a:pPr lvl="1"/>
            <a:r>
              <a:rPr lang="en-US" altLang="zh-TW" dirty="0" smtClean="0"/>
              <a:t>1.2 GHz Intel x86 CPU ability per unit per second.</a:t>
            </a:r>
          </a:p>
          <a:p>
            <a:pPr lvl="1"/>
            <a:r>
              <a:rPr lang="en-US" altLang="zh-TW" dirty="0" smtClean="0"/>
              <a:t>Update the index would cost more CPU times.</a:t>
            </a:r>
          </a:p>
          <a:p>
            <a:pPr lvl="1"/>
            <a:r>
              <a:rPr lang="en-US" altLang="zh-TW" dirty="0" smtClean="0"/>
              <a:t>Write is cost five times of read.</a:t>
            </a:r>
          </a:p>
          <a:p>
            <a:pPr lvl="1"/>
            <a:r>
              <a:rPr lang="en-US" altLang="zh-TW" dirty="0" smtClean="0"/>
              <a:t>Each query cost the same CPU time.</a:t>
            </a:r>
          </a:p>
          <a:p>
            <a:r>
              <a:rPr lang="en-US" altLang="zh-TW" dirty="0" smtClean="0"/>
              <a:t>GAE is not suitable for high-computation jobs for above limitations.</a:t>
            </a:r>
          </a:p>
          <a:p>
            <a:pPr lvl="1"/>
            <a:r>
              <a:rPr lang="en-US" altLang="zh-TW" dirty="0" smtClean="0"/>
              <a:t>Need not to have a high computation ability</a:t>
            </a:r>
          </a:p>
          <a:p>
            <a:pPr lvl="1">
              <a:buNone/>
            </a:pPr>
            <a:r>
              <a:rPr lang="en-US" altLang="zh-TW" dirty="0" smtClean="0"/>
              <a:t>     for web service.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6296" y="4437112"/>
            <a:ext cx="1503219" cy="195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Schedule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GAE allows you to configure regularly scheduled tasks that operate at defined times or regular intervals. </a:t>
            </a:r>
          </a:p>
          <a:p>
            <a:r>
              <a:rPr lang="en-US" altLang="zh-TW" dirty="0" smtClean="0"/>
              <a:t>GAE can perform background processing by inserting tasks into a queue.</a:t>
            </a:r>
          </a:p>
          <a:p>
            <a:r>
              <a:rPr lang="en-US" altLang="zh-TW" dirty="0" smtClean="0"/>
              <a:t>GAE provides schedule services that can</a:t>
            </a:r>
          </a:p>
          <a:p>
            <a:pPr lvl="1"/>
            <a:r>
              <a:rPr lang="en-US" altLang="zh-TW" dirty="0" smtClean="0"/>
              <a:t>Reduce the cost of CPU time</a:t>
            </a:r>
          </a:p>
          <a:p>
            <a:pPr lvl="1"/>
            <a:r>
              <a:rPr lang="en-US" altLang="zh-TW" dirty="0" smtClean="0"/>
              <a:t>Modular </a:t>
            </a:r>
          </a:p>
          <a:p>
            <a:pPr lvl="1"/>
            <a:r>
              <a:rPr lang="en-US" altLang="zh-TW" dirty="0" smtClean="0"/>
              <a:t>Periodically execute some functions.</a:t>
            </a:r>
          </a:p>
          <a:p>
            <a:pPr lvl="1"/>
            <a:r>
              <a:rPr lang="en-US" altLang="zh-TW" dirty="0" smtClean="0"/>
              <a:t>Execute some functions repetitively.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標題 7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cxnSp>
        <p:nvCxnSpPr>
          <p:cNvPr id="78" name="直線單箭頭接點 77"/>
          <p:cNvCxnSpPr/>
          <p:nvPr/>
        </p:nvCxnSpPr>
        <p:spPr>
          <a:xfrm>
            <a:off x="1835696" y="3409836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rot="10800000">
            <a:off x="1835696" y="39138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1691680" y="29777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Request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1691680" y="39859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Response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2" name="直線單箭頭接點 81"/>
          <p:cNvCxnSpPr/>
          <p:nvPr/>
        </p:nvCxnSpPr>
        <p:spPr>
          <a:xfrm rot="10800000">
            <a:off x="539552" y="40662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179512" y="41206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page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7" name="直線單箭頭接點 86"/>
          <p:cNvCxnSpPr/>
          <p:nvPr/>
        </p:nvCxnSpPr>
        <p:spPr>
          <a:xfrm>
            <a:off x="539552" y="319381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323528" y="28244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Browser 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93" name="直線單箭頭接點 92"/>
          <p:cNvCxnSpPr/>
          <p:nvPr/>
        </p:nvCxnSpPr>
        <p:spPr>
          <a:xfrm rot="5400000">
            <a:off x="2735796" y="4833156"/>
            <a:ext cx="576064" cy="7200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5" name="矩形 94"/>
          <p:cNvSpPr/>
          <p:nvPr/>
        </p:nvSpPr>
        <p:spPr>
          <a:xfrm>
            <a:off x="5329355" y="3193812"/>
            <a:ext cx="1330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transactions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96" name="直線單箭頭接點 95"/>
          <p:cNvCxnSpPr/>
          <p:nvPr/>
        </p:nvCxnSpPr>
        <p:spPr>
          <a:xfrm>
            <a:off x="5436096" y="3625860"/>
            <a:ext cx="936104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10800000">
            <a:off x="5436097" y="3985900"/>
            <a:ext cx="936105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5465668" y="3976608"/>
            <a:ext cx="76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Result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" name="群組 35"/>
          <p:cNvGrpSpPr/>
          <p:nvPr/>
        </p:nvGrpSpPr>
        <p:grpSpPr>
          <a:xfrm>
            <a:off x="6588224" y="2512060"/>
            <a:ext cx="2016224" cy="2069068"/>
            <a:chOff x="6588224" y="2420888"/>
            <a:chExt cx="2016224" cy="2069068"/>
          </a:xfrm>
          <a:solidFill>
            <a:schemeClr val="bg1">
              <a:lumMod val="75000"/>
            </a:schemeClr>
          </a:solidFill>
        </p:grpSpPr>
        <p:grpSp>
          <p:nvGrpSpPr>
            <p:cNvPr id="3" name="群組 44"/>
            <p:cNvGrpSpPr/>
            <p:nvPr/>
          </p:nvGrpSpPr>
          <p:grpSpPr>
            <a:xfrm>
              <a:off x="6732240" y="2420888"/>
              <a:ext cx="1872208" cy="1944216"/>
              <a:chOff x="6732240" y="2204864"/>
              <a:chExt cx="1872208" cy="1944216"/>
            </a:xfrm>
            <a:grpFill/>
          </p:grpSpPr>
          <p:sp>
            <p:nvSpPr>
              <p:cNvPr id="102" name="圓角矩形 101"/>
              <p:cNvSpPr/>
              <p:nvPr/>
            </p:nvSpPr>
            <p:spPr>
              <a:xfrm>
                <a:off x="7164288" y="2204864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3" name="圓角矩形 102"/>
              <p:cNvSpPr/>
              <p:nvPr/>
            </p:nvSpPr>
            <p:spPr>
              <a:xfrm>
                <a:off x="7020272" y="2348880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4" name="圓角矩形 103"/>
              <p:cNvSpPr/>
              <p:nvPr/>
            </p:nvSpPr>
            <p:spPr>
              <a:xfrm>
                <a:off x="6876256" y="2492896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5" name="圓角矩形 104"/>
              <p:cNvSpPr/>
              <p:nvPr/>
            </p:nvSpPr>
            <p:spPr>
              <a:xfrm>
                <a:off x="6732240" y="2636912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01" name="圓角矩形 100"/>
            <p:cNvSpPr/>
            <p:nvPr/>
          </p:nvSpPr>
          <p:spPr>
            <a:xfrm>
              <a:off x="6588224" y="2977788"/>
              <a:ext cx="1440160" cy="1512168"/>
            </a:xfrm>
            <a:prstGeom prst="round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Datastore</a:t>
              </a:r>
              <a:endParaRPr lang="en-US" altLang="zh-TW" dirty="0" smtClean="0"/>
            </a:p>
            <a:p>
              <a:pPr algn="ctr"/>
              <a:r>
                <a:rPr lang="en-US" altLang="zh-TW" dirty="0" err="1" smtClean="0"/>
                <a:t>Memcache</a:t>
              </a:r>
              <a:endParaRPr lang="zh-TW" altLang="en-US" dirty="0"/>
            </a:p>
          </p:txBody>
        </p:sp>
      </p:grpSp>
      <p:sp>
        <p:nvSpPr>
          <p:cNvPr id="106" name="矩形 105"/>
          <p:cNvSpPr/>
          <p:nvPr/>
        </p:nvSpPr>
        <p:spPr>
          <a:xfrm>
            <a:off x="5868144" y="5301208"/>
            <a:ext cx="2592288" cy="10801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</a:rPr>
              <a:t>Static Storage 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0" name="橢圓 109"/>
          <p:cNvSpPr/>
          <p:nvPr/>
        </p:nvSpPr>
        <p:spPr>
          <a:xfrm>
            <a:off x="1763688" y="5373216"/>
            <a:ext cx="2808312" cy="1224136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bg1">
                    <a:lumMod val="65000"/>
                  </a:schemeClr>
                </a:solidFill>
              </a:rPr>
              <a:t>More services </a:t>
            </a:r>
            <a:endParaRPr lang="zh-TW" altLang="en-US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3491880" y="4509120"/>
            <a:ext cx="1830437" cy="36933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Schedule routine 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2" name="Picture 4" descr="D:\Slide\comput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1052736"/>
            <a:ext cx="1089206" cy="1159272"/>
          </a:xfrm>
          <a:prstGeom prst="rect">
            <a:avLst/>
          </a:prstGeom>
          <a:noFill/>
        </p:spPr>
      </p:pic>
      <p:cxnSp>
        <p:nvCxnSpPr>
          <p:cNvPr id="113" name="直線單箭頭接點 112"/>
          <p:cNvCxnSpPr/>
          <p:nvPr/>
        </p:nvCxnSpPr>
        <p:spPr>
          <a:xfrm flipV="1">
            <a:off x="3635896" y="1916832"/>
            <a:ext cx="1368152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 rot="5400000">
            <a:off x="4860032" y="2276872"/>
            <a:ext cx="504056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5220072" y="2276872"/>
            <a:ext cx="19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URL fetch or E-mail</a:t>
            </a:r>
            <a:endParaRPr lang="zh-TW" altLang="en-US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2555776" y="1916832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HTTP / HTTPS</a:t>
            </a:r>
            <a:endParaRPr lang="zh-TW" altLang="en-US" dirty="0"/>
          </a:p>
        </p:txBody>
      </p:sp>
      <p:sp>
        <p:nvSpPr>
          <p:cNvPr id="117" name="矩形 116"/>
          <p:cNvSpPr/>
          <p:nvPr/>
        </p:nvSpPr>
        <p:spPr>
          <a:xfrm>
            <a:off x="1259632" y="2329716"/>
            <a:ext cx="432048" cy="280831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interface</a:t>
            </a:r>
          </a:p>
        </p:txBody>
      </p:sp>
      <p:grpSp>
        <p:nvGrpSpPr>
          <p:cNvPr id="4" name="群組 26"/>
          <p:cNvGrpSpPr/>
          <p:nvPr/>
        </p:nvGrpSpPr>
        <p:grpSpPr>
          <a:xfrm>
            <a:off x="2699792" y="2761764"/>
            <a:ext cx="2592288" cy="1728192"/>
            <a:chOff x="3419872" y="2492896"/>
            <a:chExt cx="2592288" cy="1728192"/>
          </a:xfrm>
          <a:solidFill>
            <a:schemeClr val="bg1">
              <a:lumMod val="85000"/>
            </a:schemeClr>
          </a:solidFill>
        </p:grpSpPr>
        <p:sp>
          <p:nvSpPr>
            <p:cNvPr id="119" name="圓角矩形 118"/>
            <p:cNvSpPr/>
            <p:nvPr/>
          </p:nvSpPr>
          <p:spPr>
            <a:xfrm>
              <a:off x="3419872" y="2492896"/>
              <a:ext cx="2592288" cy="1728192"/>
            </a:xfrm>
            <a:prstGeom prst="roundRect">
              <a:avLst/>
            </a:prstGeom>
            <a:grp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50000"/>
                    </a:schemeClr>
                  </a:solidFill>
                </a:rPr>
                <a:t>Sandbox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圓角矩形 119"/>
            <p:cNvSpPr/>
            <p:nvPr/>
          </p:nvSpPr>
          <p:spPr>
            <a:xfrm>
              <a:off x="4283968" y="2996952"/>
              <a:ext cx="1512168" cy="1008112"/>
            </a:xfrm>
            <a:prstGeom prst="roundRect">
              <a:avLst/>
            </a:prstGeom>
            <a:grpFill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Runtime</a:t>
              </a:r>
            </a:p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environment</a:t>
              </a:r>
              <a:endParaRPr lang="zh-TW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pic>
        <p:nvPicPr>
          <p:cNvPr id="121" name="Picture 3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30000"/>
          </a:blip>
          <a:srcRect/>
          <a:stretch>
            <a:fillRect/>
          </a:stretch>
        </p:blipFill>
        <p:spPr bwMode="auto">
          <a:xfrm>
            <a:off x="3059832" y="3841884"/>
            <a:ext cx="423764" cy="4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2" name="直線單箭頭接點 121"/>
          <p:cNvCxnSpPr/>
          <p:nvPr/>
        </p:nvCxnSpPr>
        <p:spPr>
          <a:xfrm>
            <a:off x="2915816" y="3553852"/>
            <a:ext cx="864096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URL Fetch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can communicate with other applications or access other resources on the web by fetching URLs.</a:t>
            </a:r>
          </a:p>
          <a:p>
            <a:pPr lvl="1"/>
            <a:r>
              <a:rPr lang="en-US" altLang="zh-TW" dirty="0" smtClean="0"/>
              <a:t>Download web page and images.</a:t>
            </a:r>
          </a:p>
          <a:p>
            <a:pPr lvl="1"/>
            <a:r>
              <a:rPr lang="en-US" altLang="zh-TW" dirty="0" smtClean="0"/>
              <a:t>Interact with other web site.</a:t>
            </a:r>
          </a:p>
          <a:p>
            <a:r>
              <a:rPr lang="en-US" altLang="zh-TW" dirty="0" smtClean="0"/>
              <a:t>But URL Fetch has some limitations </a:t>
            </a:r>
          </a:p>
          <a:p>
            <a:pPr lvl="1"/>
            <a:r>
              <a:rPr lang="en-US" altLang="zh-TW" dirty="0" smtClean="0"/>
              <a:t>Each request/response must finish under 30 seconds.</a:t>
            </a:r>
          </a:p>
          <a:p>
            <a:pPr lvl="1"/>
            <a:r>
              <a:rPr lang="en-US" altLang="zh-TW" dirty="0" smtClean="0"/>
              <a:t>Only on HTTP/HTTPS</a:t>
            </a:r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2564904"/>
            <a:ext cx="2109614" cy="1760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Interaction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Interaction between GAE and web site must follow the HTTP protocol.</a:t>
            </a:r>
          </a:p>
          <a:p>
            <a:pPr lvl="1"/>
            <a:r>
              <a:rPr lang="en-US" altLang="zh-TW" dirty="0" smtClean="0"/>
              <a:t>Method of HTTP request.</a:t>
            </a:r>
          </a:p>
          <a:p>
            <a:pPr lvl="1"/>
            <a:r>
              <a:rPr lang="en-US" altLang="zh-TW" dirty="0" smtClean="0"/>
              <a:t>Payload of each request.</a:t>
            </a:r>
          </a:p>
          <a:p>
            <a:pPr lvl="1"/>
            <a:r>
              <a:rPr lang="en-US" altLang="zh-TW" dirty="0" smtClean="0"/>
              <a:t>Status and content of response message.</a:t>
            </a:r>
          </a:p>
          <a:p>
            <a:pPr lvl="1"/>
            <a:r>
              <a:rPr lang="en-US" altLang="zh-TW" dirty="0" smtClean="0"/>
              <a:t>More important, like a human.</a:t>
            </a:r>
          </a:p>
          <a:p>
            <a:r>
              <a:rPr lang="en-US" altLang="zh-TW" dirty="0" smtClean="0"/>
              <a:t>Some web site does not like ‘robot’ to access.</a:t>
            </a:r>
          </a:p>
          <a:p>
            <a:pPr lvl="1"/>
            <a:r>
              <a:rPr lang="en-US" altLang="zh-TW" dirty="0" smtClean="0"/>
              <a:t>Limit the request per minute.</a:t>
            </a:r>
          </a:p>
          <a:p>
            <a:pPr lvl="1"/>
            <a:r>
              <a:rPr lang="en-US" altLang="zh-TW" dirty="0" smtClean="0"/>
              <a:t>Reject and recode the wrong request method.</a:t>
            </a:r>
          </a:p>
          <a:p>
            <a:pPr lvl="1"/>
            <a:r>
              <a:rPr lang="en-US" altLang="zh-TW" dirty="0" smtClean="0"/>
              <a:t>Send some check messages.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標題 7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cxnSp>
        <p:nvCxnSpPr>
          <p:cNvPr id="78" name="直線單箭頭接點 77"/>
          <p:cNvCxnSpPr/>
          <p:nvPr/>
        </p:nvCxnSpPr>
        <p:spPr>
          <a:xfrm>
            <a:off x="1835696" y="3409836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rot="10800000">
            <a:off x="1835696" y="39138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0" name="文字方塊 79"/>
          <p:cNvSpPr txBox="1"/>
          <p:nvPr/>
        </p:nvSpPr>
        <p:spPr>
          <a:xfrm>
            <a:off x="1691680" y="29777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Request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1691680" y="39859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Response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2" name="直線單箭頭接點 81"/>
          <p:cNvCxnSpPr/>
          <p:nvPr/>
        </p:nvCxnSpPr>
        <p:spPr>
          <a:xfrm rot="10800000">
            <a:off x="539552" y="406629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179512" y="412062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page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7" name="直線單箭頭接點 86"/>
          <p:cNvCxnSpPr/>
          <p:nvPr/>
        </p:nvCxnSpPr>
        <p:spPr>
          <a:xfrm>
            <a:off x="539552" y="3193812"/>
            <a:ext cx="64807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323528" y="282448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Browser 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329355" y="3193812"/>
            <a:ext cx="1330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transactions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96" name="直線單箭頭接點 95"/>
          <p:cNvCxnSpPr/>
          <p:nvPr/>
        </p:nvCxnSpPr>
        <p:spPr>
          <a:xfrm>
            <a:off x="5436096" y="3625860"/>
            <a:ext cx="936104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rot="10800000">
            <a:off x="5436097" y="3985900"/>
            <a:ext cx="936105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5465668" y="3976608"/>
            <a:ext cx="76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Result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" name="群組 35"/>
          <p:cNvGrpSpPr/>
          <p:nvPr/>
        </p:nvGrpSpPr>
        <p:grpSpPr>
          <a:xfrm>
            <a:off x="6588224" y="2512060"/>
            <a:ext cx="2016224" cy="2069068"/>
            <a:chOff x="6588224" y="2420888"/>
            <a:chExt cx="2016224" cy="2069068"/>
          </a:xfrm>
          <a:solidFill>
            <a:schemeClr val="bg1">
              <a:lumMod val="75000"/>
            </a:schemeClr>
          </a:solidFill>
        </p:grpSpPr>
        <p:grpSp>
          <p:nvGrpSpPr>
            <p:cNvPr id="3" name="群組 44"/>
            <p:cNvGrpSpPr/>
            <p:nvPr/>
          </p:nvGrpSpPr>
          <p:grpSpPr>
            <a:xfrm>
              <a:off x="6732240" y="2420888"/>
              <a:ext cx="1872208" cy="1944216"/>
              <a:chOff x="6732240" y="2204864"/>
              <a:chExt cx="1872208" cy="1944216"/>
            </a:xfrm>
            <a:grpFill/>
          </p:grpSpPr>
          <p:sp>
            <p:nvSpPr>
              <p:cNvPr id="102" name="圓角矩形 101"/>
              <p:cNvSpPr/>
              <p:nvPr/>
            </p:nvSpPr>
            <p:spPr>
              <a:xfrm>
                <a:off x="7164288" y="2204864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3" name="圓角矩形 102"/>
              <p:cNvSpPr/>
              <p:nvPr/>
            </p:nvSpPr>
            <p:spPr>
              <a:xfrm>
                <a:off x="7020272" y="2348880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4" name="圓角矩形 103"/>
              <p:cNvSpPr/>
              <p:nvPr/>
            </p:nvSpPr>
            <p:spPr>
              <a:xfrm>
                <a:off x="6876256" y="2492896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5" name="圓角矩形 104"/>
              <p:cNvSpPr/>
              <p:nvPr/>
            </p:nvSpPr>
            <p:spPr>
              <a:xfrm>
                <a:off x="6732240" y="2636912"/>
                <a:ext cx="1440160" cy="1512168"/>
              </a:xfrm>
              <a:prstGeom prst="round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01" name="圓角矩形 100"/>
            <p:cNvSpPr/>
            <p:nvPr/>
          </p:nvSpPr>
          <p:spPr>
            <a:xfrm>
              <a:off x="6588224" y="2977788"/>
              <a:ext cx="1440160" cy="1512168"/>
            </a:xfrm>
            <a:prstGeom prst="roundRect">
              <a:avLst/>
            </a:prstGeom>
            <a:grp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Datastore</a:t>
              </a:r>
              <a:endParaRPr lang="en-US" altLang="zh-TW" dirty="0" smtClean="0"/>
            </a:p>
            <a:p>
              <a:pPr algn="ctr"/>
              <a:r>
                <a:rPr lang="en-US" altLang="zh-TW" dirty="0" err="1" smtClean="0"/>
                <a:t>Memcache</a:t>
              </a:r>
              <a:endParaRPr lang="zh-TW" altLang="en-US" dirty="0"/>
            </a:p>
          </p:txBody>
        </p:sp>
      </p:grpSp>
      <p:sp>
        <p:nvSpPr>
          <p:cNvPr id="106" name="矩形 105"/>
          <p:cNvSpPr/>
          <p:nvPr/>
        </p:nvSpPr>
        <p:spPr>
          <a:xfrm>
            <a:off x="5868144" y="5301208"/>
            <a:ext cx="2592288" cy="10801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bg1">
                    <a:lumMod val="75000"/>
                  </a:schemeClr>
                </a:solidFill>
              </a:rPr>
              <a:t>Static Storage 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1" name="文字方塊 110"/>
          <p:cNvSpPr txBox="1"/>
          <p:nvPr/>
        </p:nvSpPr>
        <p:spPr>
          <a:xfrm>
            <a:off x="3491880" y="4509120"/>
            <a:ext cx="1830437" cy="36933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Schedule routine 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259632" y="2329716"/>
            <a:ext cx="432048" cy="280831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Web interface</a:t>
            </a:r>
          </a:p>
        </p:txBody>
      </p:sp>
      <p:grpSp>
        <p:nvGrpSpPr>
          <p:cNvPr id="4" name="群組 26"/>
          <p:cNvGrpSpPr/>
          <p:nvPr/>
        </p:nvGrpSpPr>
        <p:grpSpPr>
          <a:xfrm>
            <a:off x="2699792" y="2761764"/>
            <a:ext cx="2592288" cy="1728192"/>
            <a:chOff x="3419872" y="2492896"/>
            <a:chExt cx="2592288" cy="1728192"/>
          </a:xfrm>
          <a:solidFill>
            <a:schemeClr val="bg1">
              <a:lumMod val="85000"/>
            </a:schemeClr>
          </a:solidFill>
        </p:grpSpPr>
        <p:sp>
          <p:nvSpPr>
            <p:cNvPr id="119" name="圓角矩形 118"/>
            <p:cNvSpPr/>
            <p:nvPr/>
          </p:nvSpPr>
          <p:spPr>
            <a:xfrm>
              <a:off x="3419872" y="2492896"/>
              <a:ext cx="2592288" cy="1728192"/>
            </a:xfrm>
            <a:prstGeom prst="roundRect">
              <a:avLst/>
            </a:prstGeom>
            <a:grp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50000"/>
                    </a:schemeClr>
                  </a:solidFill>
                </a:rPr>
                <a:t>Sandbox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圓角矩形 119"/>
            <p:cNvSpPr/>
            <p:nvPr/>
          </p:nvSpPr>
          <p:spPr>
            <a:xfrm>
              <a:off x="4283968" y="2996952"/>
              <a:ext cx="1512168" cy="1008112"/>
            </a:xfrm>
            <a:prstGeom prst="roundRect">
              <a:avLst/>
            </a:prstGeom>
            <a:grpFill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Runtime</a:t>
              </a:r>
            </a:p>
            <a:p>
              <a:pPr algn="ctr"/>
              <a:r>
                <a:rPr lang="en-US" altLang="zh-TW" dirty="0" smtClean="0">
                  <a:solidFill>
                    <a:schemeClr val="bg1">
                      <a:lumMod val="75000"/>
                    </a:schemeClr>
                  </a:solidFill>
                </a:rPr>
                <a:t>environment</a:t>
              </a:r>
              <a:endParaRPr lang="zh-TW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pic>
        <p:nvPicPr>
          <p:cNvPr id="121" name="Picture 3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30000"/>
          </a:blip>
          <a:srcRect/>
          <a:stretch>
            <a:fillRect/>
          </a:stretch>
        </p:blipFill>
        <p:spPr bwMode="auto">
          <a:xfrm>
            <a:off x="3059832" y="3841884"/>
            <a:ext cx="423764" cy="4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2" name="直線單箭頭接點 121"/>
          <p:cNvCxnSpPr/>
          <p:nvPr/>
        </p:nvCxnSpPr>
        <p:spPr>
          <a:xfrm>
            <a:off x="2915816" y="3553852"/>
            <a:ext cx="864096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橢圓 36"/>
          <p:cNvSpPr/>
          <p:nvPr/>
        </p:nvSpPr>
        <p:spPr>
          <a:xfrm>
            <a:off x="1763688" y="5373216"/>
            <a:ext cx="2808312" cy="122413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More services </a:t>
            </a:r>
            <a:endParaRPr lang="zh-TW" alt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8" name="直線單箭頭接點 37"/>
          <p:cNvCxnSpPr/>
          <p:nvPr/>
        </p:nvCxnSpPr>
        <p:spPr>
          <a:xfrm rot="5400000">
            <a:off x="2735796" y="4833156"/>
            <a:ext cx="576064" cy="72008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3635896" y="1916832"/>
            <a:ext cx="1368152" cy="57606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rot="5400000">
            <a:off x="4860032" y="2276872"/>
            <a:ext cx="504056" cy="21602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2555776" y="1916832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HTTP / HTTPS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2" name="Picture 4" descr="D:\Slide\computer.png"/>
          <p:cNvPicPr>
            <a:picLocks noChangeAspect="1" noChangeArrowheads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5220072" y="1052736"/>
            <a:ext cx="1089206" cy="1159272"/>
          </a:xfrm>
          <a:prstGeom prst="rect">
            <a:avLst/>
          </a:prstGeom>
          <a:noFill/>
        </p:spPr>
      </p:pic>
      <p:sp>
        <p:nvSpPr>
          <p:cNvPr id="43" name="文字方塊 42"/>
          <p:cNvSpPr txBox="1"/>
          <p:nvPr/>
        </p:nvSpPr>
        <p:spPr>
          <a:xfrm>
            <a:off x="5220072" y="2276872"/>
            <a:ext cx="1971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URL fetch or E-mail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Other Services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OAuth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protocol that allows a user to grant a third party limited permission to access a web application on user behalf, without sharing user credentials</a:t>
            </a:r>
          </a:p>
          <a:p>
            <a:r>
              <a:rPr lang="en-US" altLang="zh-TW" dirty="0" smtClean="0"/>
              <a:t>XMPP</a:t>
            </a:r>
          </a:p>
          <a:p>
            <a:pPr lvl="1"/>
            <a:r>
              <a:rPr lang="en-US" altLang="zh-TW" dirty="0" smtClean="0"/>
              <a:t>An app can send and receive instant messages to and from any XMPP-compatible instant messaging service.</a:t>
            </a:r>
          </a:p>
          <a:p>
            <a:r>
              <a:rPr lang="en-US" altLang="zh-TW" dirty="0" err="1" smtClean="0"/>
              <a:t>Multitenancy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The Namespaces API in Google App Engine makes it easy to compartmentalize your Google App Engine data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Installation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Prepared work</a:t>
            </a:r>
          </a:p>
          <a:p>
            <a:pPr marL="0" lvl="1">
              <a:buClr>
                <a:schemeClr val="accent1">
                  <a:lumMod val="75000"/>
                </a:schemeClr>
              </a:buClr>
            </a:pP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Install GAE</a:t>
            </a:r>
          </a:p>
          <a:p>
            <a:pPr marL="0" lvl="1">
              <a:buClr>
                <a:schemeClr val="accent1">
                  <a:lumMod val="75000"/>
                </a:schemeClr>
              </a:buClr>
            </a:pP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An example</a:t>
            </a:r>
          </a:p>
          <a:p>
            <a:pPr marL="0" lvl="1">
              <a:buClr>
                <a:schemeClr val="accent1">
                  <a:lumMod val="75000"/>
                </a:schemeClr>
              </a:buClr>
            </a:pP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Expected warning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Prepared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Google App Engine (GAE)</a:t>
            </a:r>
          </a:p>
          <a:p>
            <a:pPr lvl="1"/>
            <a:r>
              <a:rPr lang="en-US" altLang="zh-TW" dirty="0" smtClean="0"/>
              <a:t>Run your web apps on Google’s infrastructure.</a:t>
            </a:r>
          </a:p>
          <a:p>
            <a:pPr lvl="1"/>
            <a:r>
              <a:rPr lang="en-US" altLang="zh-TW" dirty="0" smtClean="0"/>
              <a:t>Easy to build, easy to maintain, easy to scale.</a:t>
            </a:r>
          </a:p>
          <a:p>
            <a:r>
              <a:rPr lang="en-US" altLang="zh-TW" dirty="0" smtClean="0"/>
              <a:t>Support two programming Language</a:t>
            </a:r>
          </a:p>
          <a:p>
            <a:pPr lvl="1"/>
            <a:r>
              <a:rPr lang="en-US" altLang="zh-TW" dirty="0" smtClean="0"/>
              <a:t>Python </a:t>
            </a:r>
          </a:p>
          <a:p>
            <a:pPr lvl="1"/>
            <a:r>
              <a:rPr lang="en-US" altLang="zh-TW" dirty="0" smtClean="0"/>
              <a:t>Java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3861048"/>
            <a:ext cx="1641287" cy="224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3977977"/>
            <a:ext cx="2187327" cy="2187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2555776" y="6165304"/>
            <a:ext cx="191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www.python.org/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652120" y="6165304"/>
            <a:ext cx="166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www.java.com/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Prepared 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Python</a:t>
            </a:r>
          </a:p>
          <a:p>
            <a:pPr lvl="1"/>
            <a:r>
              <a:rPr lang="en-US" altLang="zh-TW" dirty="0" smtClean="0"/>
              <a:t>Python 2.5 or upper version </a:t>
            </a:r>
            <a:r>
              <a:rPr lang="en-US" altLang="zh-TW" dirty="0" smtClean="0">
                <a:solidFill>
                  <a:srgbClr val="C00000"/>
                </a:solidFill>
              </a:rPr>
              <a:t>(official support 2.5.x)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32 bit is recommended</a:t>
            </a:r>
          </a:p>
          <a:p>
            <a:pPr lvl="1"/>
            <a:r>
              <a:rPr lang="en-US" altLang="zh-TW" dirty="0" smtClean="0"/>
              <a:t>In Microsoft OS, remember to set Path.</a:t>
            </a:r>
          </a:p>
          <a:p>
            <a:pPr lvl="1"/>
            <a:r>
              <a:rPr lang="en-US" altLang="zh-TW" dirty="0" smtClean="0"/>
              <a:t>No Python 3K version.</a:t>
            </a:r>
          </a:p>
          <a:p>
            <a:pPr lvl="1"/>
            <a:r>
              <a:rPr lang="en-US" altLang="zh-TW" dirty="0" smtClean="0">
                <a:hlinkClick r:id="rId2"/>
              </a:rPr>
              <a:t>http://www.python.org/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Java</a:t>
            </a:r>
          </a:p>
          <a:p>
            <a:pPr lvl="1"/>
            <a:r>
              <a:rPr lang="en-US" altLang="zh-TW" dirty="0" smtClean="0"/>
              <a:t>A complete Java 6 runtime environment.</a:t>
            </a:r>
          </a:p>
          <a:p>
            <a:pPr lvl="1"/>
            <a:r>
              <a:rPr lang="en-US" altLang="zh-TW" dirty="0" smtClean="0"/>
              <a:t>Java web technology standards, including </a:t>
            </a:r>
            <a:r>
              <a:rPr lang="en-US" altLang="zh-TW" dirty="0" err="1" smtClean="0"/>
              <a:t>servlets</a:t>
            </a:r>
            <a:r>
              <a:rPr lang="en-US" altLang="zh-TW" dirty="0" smtClean="0"/>
              <a:t>, JDO and JPA ...etc.</a:t>
            </a:r>
          </a:p>
          <a:p>
            <a:pPr lvl="1"/>
            <a:r>
              <a:rPr lang="en-US" altLang="zh-TW" dirty="0" smtClean="0"/>
              <a:t>Install eclipse and GAE-</a:t>
            </a:r>
            <a:r>
              <a:rPr lang="en-US" altLang="zh-TW" dirty="0" err="1" smtClean="0"/>
              <a:t>plugin</a:t>
            </a:r>
            <a:endParaRPr lang="en-US" altLang="zh-TW" dirty="0" smtClean="0"/>
          </a:p>
          <a:p>
            <a:pPr lvl="1"/>
            <a:r>
              <a:rPr lang="en-US" altLang="zh-TW" dirty="0" smtClean="0">
                <a:hlinkClick r:id="rId3"/>
              </a:rPr>
              <a:t>http://www.eclipse.org/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>
                <a:hlinkClick r:id="rId4"/>
              </a:rPr>
              <a:t>http://dl.google.com/eclipse/plugin/3.X</a:t>
            </a:r>
            <a:r>
              <a:rPr lang="en-US" altLang="zh-TW" dirty="0" smtClean="0"/>
              <a:t> 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PIL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GAE, you must install PIL (Python Image Library) for using image API on local machine.</a:t>
            </a:r>
          </a:p>
          <a:p>
            <a:r>
              <a:rPr lang="en-US" altLang="zh-TW" dirty="0" smtClean="0"/>
              <a:t> </a:t>
            </a:r>
            <a:r>
              <a:rPr lang="en-US" altLang="zh-TW" dirty="0" smtClean="0">
                <a:hlinkClick r:id="rId2"/>
              </a:rPr>
              <a:t>http://www.pythonware.com/products/pil/</a:t>
            </a:r>
            <a:endParaRPr lang="en-US" altLang="zh-TW" dirty="0" smtClean="0"/>
          </a:p>
          <a:p>
            <a:r>
              <a:rPr lang="en-US" altLang="zh-TW" dirty="0" smtClean="0"/>
              <a:t>Choose one version for the corresponding 32-bit Python 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8269" t="57698" r="35032" b="19485"/>
          <a:stretch>
            <a:fillRect/>
          </a:stretch>
        </p:blipFill>
        <p:spPr bwMode="auto">
          <a:xfrm>
            <a:off x="1115616" y="4077072"/>
            <a:ext cx="6912768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2617710"/>
            <a:ext cx="3312368" cy="4195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Go to </a:t>
            </a:r>
            <a:r>
              <a:rPr lang="en-US" altLang="zh-TW" dirty="0" smtClean="0">
                <a:hlinkClick r:id="rId3"/>
              </a:rPr>
              <a:t>http://code.google.com/intl/en/appengine/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Download the GAE SDK from internet.</a:t>
            </a:r>
          </a:p>
          <a:p>
            <a:r>
              <a:rPr lang="en-US" altLang="zh-TW" dirty="0" smtClean="0"/>
              <a:t>Install the SDK</a:t>
            </a:r>
          </a:p>
          <a:p>
            <a:pPr>
              <a:buNone/>
            </a:pP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868144" y="3284984"/>
            <a:ext cx="2304256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3573016"/>
            <a:ext cx="3989653" cy="3119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Installation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Press next as default setting, or select other what you need.</a:t>
            </a:r>
          </a:p>
          <a:p>
            <a:r>
              <a:rPr lang="en-US" altLang="zh-TW" dirty="0" smtClean="0"/>
              <a:t>At the end, you would see</a:t>
            </a:r>
          </a:p>
          <a:p>
            <a:r>
              <a:rPr lang="en-US" altLang="zh-TW" dirty="0" smtClean="0"/>
              <a:t>Run GAE Launcher</a:t>
            </a:r>
          </a:p>
          <a:p>
            <a:pPr>
              <a:buNone/>
            </a:pPr>
            <a:r>
              <a:rPr lang="en-US" altLang="zh-TW" dirty="0" smtClean="0"/>
              <a:t> </a:t>
            </a:r>
          </a:p>
          <a:p>
            <a:endParaRPr lang="zh-TW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3645024"/>
            <a:ext cx="3743137" cy="2926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573016"/>
            <a:ext cx="3359386" cy="3107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Test environment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Windows 7 – 32 bits </a:t>
            </a:r>
          </a:p>
          <a:p>
            <a:r>
              <a:rPr lang="en-US" altLang="zh-TW" dirty="0" smtClean="0"/>
              <a:t>Python – 2.5.4 32 bit</a:t>
            </a:r>
          </a:p>
          <a:p>
            <a:r>
              <a:rPr lang="en-US" altLang="zh-TW" dirty="0" smtClean="0"/>
              <a:t>APP Engine SDK - 1.3.8</a:t>
            </a:r>
          </a:p>
          <a:p>
            <a:pPr lvl="1"/>
            <a:r>
              <a:rPr lang="en-US" altLang="zh-TW" dirty="0" smtClean="0"/>
              <a:t>API version: 1</a:t>
            </a:r>
          </a:p>
          <a:p>
            <a:r>
              <a:rPr lang="en-US" altLang="zh-TW" dirty="0" smtClean="0"/>
              <a:t>Notepad ++</a:t>
            </a: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3356992"/>
            <a:ext cx="4358003" cy="3268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GAE Account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provides free quotas for user</a:t>
            </a:r>
          </a:p>
          <a:p>
            <a:pPr lvl="1"/>
            <a:r>
              <a:rPr lang="en-US" altLang="zh-TW" dirty="0" smtClean="0"/>
              <a:t>1GB stored data</a:t>
            </a:r>
          </a:p>
          <a:p>
            <a:pPr lvl="1"/>
            <a:r>
              <a:rPr lang="en-US" altLang="zh-TW" dirty="0" smtClean="0"/>
              <a:t>200 indexes</a:t>
            </a:r>
          </a:p>
          <a:p>
            <a:pPr lvl="1"/>
            <a:r>
              <a:rPr lang="en-US" altLang="zh-TW" dirty="0" smtClean="0"/>
              <a:t>141,241,791 API calls / day ; 784,676  calls/min</a:t>
            </a:r>
          </a:p>
          <a:p>
            <a:pPr lvl="1"/>
            <a:r>
              <a:rPr lang="en-US" altLang="zh-TW" dirty="0" smtClean="0"/>
              <a:t>46 hours CPU times</a:t>
            </a:r>
          </a:p>
          <a:p>
            <a:pPr lvl="1"/>
            <a:r>
              <a:rPr lang="en-US" altLang="zh-TW" dirty="0" smtClean="0"/>
              <a:t>…etc</a:t>
            </a:r>
          </a:p>
          <a:p>
            <a:r>
              <a:rPr lang="en-US" altLang="zh-TW" dirty="0" smtClean="0"/>
              <a:t>Prepared </a:t>
            </a:r>
          </a:p>
          <a:p>
            <a:pPr lvl="1"/>
            <a:r>
              <a:rPr lang="en-US" altLang="zh-TW" dirty="0" smtClean="0"/>
              <a:t>Google account</a:t>
            </a:r>
          </a:p>
          <a:p>
            <a:pPr lvl="1"/>
            <a:r>
              <a:rPr lang="en-US" altLang="zh-TW" dirty="0" smtClean="0"/>
              <a:t>Cell phone 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 up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 to </a:t>
            </a:r>
            <a:r>
              <a:rPr lang="en-US" altLang="zh-TW" dirty="0" smtClean="0">
                <a:hlinkClick r:id="rId2"/>
              </a:rPr>
              <a:t>http://code.google.com/intl/en/appengine/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2617710"/>
            <a:ext cx="3312368" cy="4195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5868144" y="3068960"/>
            <a:ext cx="2448272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Simple Example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3528" y="1412776"/>
            <a:ext cx="1855764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application: hello </a:t>
            </a:r>
          </a:p>
          <a:p>
            <a:r>
              <a:rPr lang="en-US" altLang="zh-TW" dirty="0" smtClean="0"/>
              <a:t>version: 1</a:t>
            </a:r>
          </a:p>
          <a:p>
            <a:r>
              <a:rPr lang="en-US" altLang="zh-TW" dirty="0" smtClean="0"/>
              <a:t>runtime: python</a:t>
            </a:r>
          </a:p>
          <a:p>
            <a:r>
              <a:rPr lang="en-US" altLang="zh-TW" dirty="0" err="1" smtClean="0"/>
              <a:t>api_version</a:t>
            </a:r>
            <a:r>
              <a:rPr lang="en-US" altLang="zh-TW" dirty="0" smtClean="0"/>
              <a:t>: 1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handlers:</a:t>
            </a:r>
          </a:p>
          <a:p>
            <a:r>
              <a:rPr lang="en-US" altLang="zh-TW" dirty="0" smtClean="0"/>
              <a:t>- </a:t>
            </a:r>
            <a:r>
              <a:rPr lang="en-US" altLang="zh-TW" dirty="0" err="1" smtClean="0"/>
              <a:t>url</a:t>
            </a:r>
            <a:r>
              <a:rPr lang="en-US" altLang="zh-TW" dirty="0" smtClean="0"/>
              <a:t>: /.*</a:t>
            </a:r>
          </a:p>
          <a:p>
            <a:r>
              <a:rPr lang="en-US" altLang="zh-TW" dirty="0" smtClean="0"/>
              <a:t>  script: main.py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23528" y="980728"/>
            <a:ext cx="1036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app.yaml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428204" y="1412776"/>
            <a:ext cx="193892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print “hello world”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428204" y="980728"/>
            <a:ext cx="9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main.py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50793" t="27300" r="23232" b="40730"/>
          <a:stretch>
            <a:fillRect/>
          </a:stretch>
        </p:blipFill>
        <p:spPr bwMode="auto">
          <a:xfrm>
            <a:off x="2339752" y="2636912"/>
            <a:ext cx="3848426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064" y="1340768"/>
            <a:ext cx="3935450" cy="3640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 cstate="print"/>
          <a:srcRect t="14538" r="79131" b="58566"/>
          <a:stretch>
            <a:fillRect/>
          </a:stretch>
        </p:blipFill>
        <p:spPr bwMode="auto">
          <a:xfrm>
            <a:off x="4716016" y="3284984"/>
            <a:ext cx="3816424" cy="266429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Simple Example (cont.)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File – New – Web Application Project.</a:t>
            </a:r>
          </a:p>
          <a:p>
            <a:r>
              <a:rPr lang="en-US" altLang="zh-TW" dirty="0" smtClean="0"/>
              <a:t>Enter the project name which disable GWT.</a:t>
            </a:r>
          </a:p>
          <a:p>
            <a:r>
              <a:rPr lang="en-US" altLang="zh-TW" dirty="0" smtClean="0"/>
              <a:t>Run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C:\Users\cmj\Downloads\快照1.png"/>
          <p:cNvPicPr>
            <a:picLocks noChangeAspect="1" noChangeArrowheads="1"/>
          </p:cNvPicPr>
          <p:nvPr/>
        </p:nvPicPr>
        <p:blipFill>
          <a:blip r:embed="rId2" cstate="print"/>
          <a:srcRect l="18266" r="42989" b="16311"/>
          <a:stretch>
            <a:fillRect/>
          </a:stretch>
        </p:blipFill>
        <p:spPr bwMode="auto">
          <a:xfrm>
            <a:off x="4427984" y="1268760"/>
            <a:ext cx="4248472" cy="5158859"/>
          </a:xfrm>
          <a:prstGeom prst="rect">
            <a:avLst/>
          </a:prstGeom>
          <a:noFill/>
        </p:spPr>
      </p:pic>
      <p:pic>
        <p:nvPicPr>
          <p:cNvPr id="2052" name="Picture 4" descr="C:\Users\cmj\Downloads\快照3.png"/>
          <p:cNvPicPr>
            <a:picLocks noChangeAspect="1" noChangeArrowheads="1"/>
          </p:cNvPicPr>
          <p:nvPr/>
        </p:nvPicPr>
        <p:blipFill>
          <a:blip r:embed="rId3" cstate="print"/>
          <a:srcRect t="22330" r="59202" b="33011"/>
          <a:stretch>
            <a:fillRect/>
          </a:stretch>
        </p:blipFill>
        <p:spPr bwMode="auto">
          <a:xfrm>
            <a:off x="4283968" y="2348880"/>
            <a:ext cx="4680520" cy="2880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Make sure that you have set the PATH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for Python</a:t>
            </a:r>
          </a:p>
          <a:p>
            <a:pPr lvl="1"/>
            <a:r>
              <a:rPr lang="en-US" altLang="zh-TW" dirty="0" smtClean="0"/>
              <a:t>C</a:t>
            </a:r>
            <a:r>
              <a:rPr lang="en-US" altLang="zh-TW" dirty="0"/>
              <a:t>:\</a:t>
            </a:r>
            <a:r>
              <a:rPr lang="en-US" altLang="zh-TW" dirty="0" smtClean="0"/>
              <a:t>Python25\</a:t>
            </a:r>
            <a:endParaRPr lang="en-US" altLang="zh-TW" dirty="0"/>
          </a:p>
          <a:p>
            <a:pPr lvl="1"/>
            <a:r>
              <a:rPr lang="en-US" altLang="zh-TW" dirty="0" smtClean="0"/>
              <a:t>C</a:t>
            </a:r>
            <a:r>
              <a:rPr lang="en-US" altLang="zh-TW" dirty="0"/>
              <a:t>:\</a:t>
            </a:r>
            <a:r>
              <a:rPr lang="en-US" altLang="zh-TW" dirty="0" smtClean="0"/>
              <a:t>Python25\Tools\Scripts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8268" y="3068960"/>
            <a:ext cx="4119905" cy="3624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5508104" y="4437112"/>
            <a:ext cx="1296144" cy="21602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5053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Path 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268760"/>
            <a:ext cx="40005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268760"/>
            <a:ext cx="375285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107504" y="5445224"/>
            <a:ext cx="5012398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append: </a:t>
            </a:r>
          </a:p>
          <a:p>
            <a:pPr marL="0" lvl="1"/>
            <a:r>
              <a:rPr lang="en-US" altLang="zh-TW" dirty="0" smtClean="0"/>
              <a:t>	;C:\</a:t>
            </a:r>
            <a:r>
              <a:rPr lang="en-US" altLang="zh-TW" smtClean="0"/>
              <a:t>Python25\;C</a:t>
            </a:r>
            <a:r>
              <a:rPr lang="en-US" altLang="zh-TW" dirty="0" smtClean="0"/>
              <a:t>:\Python25\Tools\Scripts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685800" y="4406900"/>
            <a:ext cx="7772400" cy="1362075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Lab Assignment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body" idx="4294967295"/>
          </p:nvPr>
        </p:nvSpPr>
        <p:spPr>
          <a:xfrm>
            <a:off x="685800" y="2906713"/>
            <a:ext cx="7772400" cy="1500187"/>
          </a:xfrm>
        </p:spPr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0" indent="0" algn="r">
              <a:buNone/>
            </a:pPr>
            <a:r>
              <a:rPr lang="en-US" altLang="zh-TW" sz="3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Guestbook Prototype</a:t>
            </a:r>
            <a:endParaRPr lang="zh-TW" alt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LAb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Real case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Lab requirement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Before we start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表特機 </a:t>
            </a:r>
            <a:r>
              <a:rPr lang="en-US" altLang="zh-TW" dirty="0" smtClean="0">
                <a:hlinkClick r:id="rId2"/>
              </a:rPr>
              <a:t>http://beautyg.webbs.tw/</a:t>
            </a:r>
            <a:endParaRPr lang="en-US" altLang="zh-TW" dirty="0" smtClean="0"/>
          </a:p>
          <a:p>
            <a:r>
              <a:rPr lang="en-US" altLang="zh-TW" dirty="0" smtClean="0">
                <a:hlinkClick r:id="rId3"/>
              </a:rPr>
              <a:t>http://www.webbs.tw/share/bgsys</a:t>
            </a:r>
            <a:r>
              <a:rPr lang="en-US" altLang="zh-TW" dirty="0" smtClean="0"/>
              <a:t>   </a:t>
            </a:r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t="15385"/>
          <a:stretch>
            <a:fillRect/>
          </a:stretch>
        </p:blipFill>
        <p:spPr bwMode="auto">
          <a:xfrm>
            <a:off x="611560" y="2924944"/>
            <a:ext cx="8062864" cy="3695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971600" y="2060848"/>
            <a:ext cx="2376264" cy="115212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BBS </a:t>
            </a:r>
            <a:r>
              <a:rPr lang="en-US" altLang="zh-TW" dirty="0" err="1" smtClean="0"/>
              <a:t>Bot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971600" y="3789040"/>
            <a:ext cx="2376264" cy="115212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Web </a:t>
            </a:r>
            <a:r>
              <a:rPr lang="en-US" altLang="zh-TW" dirty="0" err="1" smtClean="0"/>
              <a:t>Bot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4427984" y="2996952"/>
            <a:ext cx="2376264" cy="115212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GAE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12358"/>
          <a:stretch>
            <a:fillRect/>
          </a:stretch>
        </p:blipFill>
        <p:spPr bwMode="auto">
          <a:xfrm>
            <a:off x="467544" y="260648"/>
            <a:ext cx="3238328" cy="1537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向下箭號 8"/>
          <p:cNvSpPr/>
          <p:nvPr/>
        </p:nvSpPr>
        <p:spPr>
          <a:xfrm>
            <a:off x="1691680" y="1844824"/>
            <a:ext cx="864096" cy="288032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l="26452" t="32711" r="23949"/>
          <a:stretch>
            <a:fillRect/>
          </a:stretch>
        </p:blipFill>
        <p:spPr bwMode="auto">
          <a:xfrm>
            <a:off x="1085379" y="5157192"/>
            <a:ext cx="2118469" cy="1556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向下箭號 11"/>
          <p:cNvSpPr/>
          <p:nvPr/>
        </p:nvSpPr>
        <p:spPr>
          <a:xfrm rot="10800000">
            <a:off x="1691681" y="4869160"/>
            <a:ext cx="864096" cy="288032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3491880" y="2708920"/>
            <a:ext cx="720080" cy="648072"/>
          </a:xfrm>
          <a:prstGeom prst="straightConnector1">
            <a:avLst/>
          </a:prstGeom>
          <a:ln>
            <a:prstDash val="lg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3419872" y="3789040"/>
            <a:ext cx="792088" cy="504056"/>
          </a:xfrm>
          <a:prstGeom prst="straightConnector1">
            <a:avLst/>
          </a:prstGeom>
          <a:ln>
            <a:prstDash val="lg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 t="15385"/>
          <a:stretch>
            <a:fillRect/>
          </a:stretch>
        </p:blipFill>
        <p:spPr bwMode="auto">
          <a:xfrm>
            <a:off x="4696378" y="4797152"/>
            <a:ext cx="3978046" cy="182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向下箭號 17"/>
          <p:cNvSpPr/>
          <p:nvPr/>
        </p:nvSpPr>
        <p:spPr>
          <a:xfrm rot="20708198">
            <a:off x="5786440" y="4249894"/>
            <a:ext cx="864096" cy="59855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BBS </a:t>
            </a:r>
            <a:r>
              <a:rPr lang="en-US" altLang="zh-TW" dirty="0" err="1" smtClean="0"/>
              <a:t>Bot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Simulate the behavior of user</a:t>
            </a:r>
          </a:p>
          <a:p>
            <a:pPr lvl="1"/>
            <a:r>
              <a:rPr lang="en-US" altLang="zh-TW" dirty="0" smtClean="0"/>
              <a:t>Log in.</a:t>
            </a:r>
          </a:p>
          <a:p>
            <a:pPr lvl="1"/>
            <a:r>
              <a:rPr lang="en-US" altLang="zh-TW" dirty="0" smtClean="0"/>
              <a:t>Enter beauty board.</a:t>
            </a:r>
          </a:p>
          <a:p>
            <a:pPr lvl="1"/>
            <a:r>
              <a:rPr lang="en-US" altLang="zh-TW" dirty="0" smtClean="0"/>
              <a:t>Watch the new post.</a:t>
            </a:r>
          </a:p>
          <a:p>
            <a:r>
              <a:rPr lang="en-US" altLang="zh-TW" dirty="0" smtClean="0"/>
              <a:t>Search the newest 100 post from button to top.</a:t>
            </a:r>
          </a:p>
          <a:p>
            <a:pPr lvl="1"/>
            <a:r>
              <a:rPr lang="en-US" altLang="zh-TW" dirty="0" smtClean="0"/>
              <a:t>Save each post.</a:t>
            </a:r>
          </a:p>
          <a:p>
            <a:pPr lvl="1"/>
            <a:r>
              <a:rPr lang="en-US" altLang="zh-TW" dirty="0" smtClean="0"/>
              <a:t>Translate to module B: Web Bot.</a:t>
            </a:r>
          </a:p>
          <a:p>
            <a:r>
              <a:rPr lang="en-US" altLang="zh-TW" dirty="0" err="1" smtClean="0"/>
              <a:t>ansi</a:t>
            </a:r>
            <a:r>
              <a:rPr lang="en-US" altLang="zh-TW" dirty="0" smtClean="0"/>
              <a:t>-terminal</a:t>
            </a:r>
          </a:p>
          <a:p>
            <a:pPr lvl="1"/>
            <a:r>
              <a:rPr lang="en-US" altLang="zh-TW" dirty="0" smtClean="0"/>
              <a:t>Output agreement of telnet.</a:t>
            </a:r>
          </a:p>
          <a:p>
            <a:pPr lvl="1"/>
            <a:r>
              <a:rPr lang="en-US" altLang="zh-TW" dirty="0" smtClean="0"/>
              <a:t>Control codes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</a:t>
            </a:r>
            <a:r>
              <a:rPr lang="en-US" altLang="zh-TW" dirty="0" err="1" smtClean="0"/>
              <a:t>Bot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Analysis the post</a:t>
            </a:r>
          </a:p>
          <a:p>
            <a:pPr lvl="1"/>
            <a:r>
              <a:rPr lang="en-US" altLang="zh-TW" dirty="0" smtClean="0"/>
              <a:t>Separate the album links.</a:t>
            </a:r>
          </a:p>
          <a:p>
            <a:r>
              <a:rPr lang="en-US" altLang="zh-TW" dirty="0" smtClean="0"/>
              <a:t>Simulate the behavior of user</a:t>
            </a:r>
          </a:p>
          <a:p>
            <a:pPr lvl="1"/>
            <a:r>
              <a:rPr lang="en-US" altLang="zh-TW" dirty="0" smtClean="0"/>
              <a:t>Link to web (include redirect).</a:t>
            </a:r>
          </a:p>
          <a:p>
            <a:pPr lvl="1"/>
            <a:r>
              <a:rPr lang="en-US" altLang="zh-TW" dirty="0" smtClean="0"/>
              <a:t>Scan all photos in this link.</a:t>
            </a:r>
          </a:p>
          <a:p>
            <a:pPr lvl="1"/>
            <a:r>
              <a:rPr lang="en-US" altLang="zh-TW" dirty="0" smtClean="0"/>
              <a:t>Save all images.</a:t>
            </a:r>
          </a:p>
          <a:p>
            <a:r>
              <a:rPr lang="en-US" altLang="zh-TW" dirty="0" smtClean="0"/>
              <a:t>Some web site would ban ‘robot’</a:t>
            </a:r>
          </a:p>
          <a:p>
            <a:pPr lvl="1"/>
            <a:r>
              <a:rPr lang="en-US" altLang="zh-TW" dirty="0" smtClean="0"/>
              <a:t>Must be Customized.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GAE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Basic web page of </a:t>
            </a:r>
            <a:r>
              <a:rPr lang="en-US" altLang="zh-TW" dirty="0" err="1" smtClean="0"/>
              <a:t>BeautyG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Web page</a:t>
            </a:r>
          </a:p>
          <a:p>
            <a:pPr lvl="1"/>
            <a:r>
              <a:rPr lang="en-US" altLang="zh-TW" dirty="0" smtClean="0"/>
              <a:t>Data center</a:t>
            </a:r>
          </a:p>
          <a:p>
            <a:r>
              <a:rPr lang="en-US" altLang="zh-TW" dirty="0" smtClean="0"/>
              <a:t>The web has two parts</a:t>
            </a:r>
          </a:p>
          <a:p>
            <a:pPr lvl="1"/>
            <a:r>
              <a:rPr lang="en-US" altLang="zh-TW" dirty="0" smtClean="0"/>
              <a:t>Ajax/</a:t>
            </a:r>
            <a:r>
              <a:rPr lang="en-US" altLang="zh-TW" dirty="0" err="1" smtClean="0"/>
              <a:t>JQuart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Workflow of interface and all web page.</a:t>
            </a:r>
          </a:p>
          <a:p>
            <a:pPr lvl="1"/>
            <a:r>
              <a:rPr lang="en-US" altLang="zh-TW" dirty="0" smtClean="0"/>
              <a:t>Flash/ActionScript3</a:t>
            </a:r>
          </a:p>
          <a:p>
            <a:pPr lvl="2"/>
            <a:r>
              <a:rPr lang="en-US" altLang="zh-TW" dirty="0" smtClean="0"/>
              <a:t>Communication between web and GAE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LAb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Real case</a:t>
            </a:r>
          </a:p>
          <a:p>
            <a:r>
              <a:rPr lang="en-US" altLang="zh-TW" dirty="0" smtClean="0"/>
              <a:t>Lab requirement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Goal of Lab</a:t>
            </a:r>
            <a:endParaRPr lang="zh-TW" alt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14772"/>
          <a:stretch>
            <a:fillRect/>
          </a:stretch>
        </p:blipFill>
        <p:spPr bwMode="auto">
          <a:xfrm>
            <a:off x="457200" y="1963577"/>
            <a:ext cx="8229600" cy="3799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 t="14211"/>
          <a:stretch>
            <a:fillRect/>
          </a:stretch>
        </p:blipFill>
        <p:spPr bwMode="auto">
          <a:xfrm>
            <a:off x="467544" y="1988840"/>
            <a:ext cx="8212846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539552" y="1484784"/>
            <a:ext cx="3554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http://albumdemo01.appspot.com/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1520" y="5877272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Online-user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596336" y="5877272"/>
            <a:ext cx="1495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URL Fetch 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411760" y="5877272"/>
            <a:ext cx="947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Log-in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347864" y="5877272"/>
            <a:ext cx="1543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GuestBook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err="1" smtClean="0"/>
              <a:t>GuestBook</a:t>
            </a:r>
            <a:r>
              <a:rPr lang="en-US" altLang="zh-TW" dirty="0" smtClean="0"/>
              <a:t> : two basic functionalities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Storage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Query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Membership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Log-in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On-line user (</a:t>
            </a:r>
            <a:r>
              <a:rPr lang="en-US" altLang="zh-TW" dirty="0" smtClean="0">
                <a:solidFill>
                  <a:srgbClr val="FF0000"/>
                </a:solidFill>
              </a:rPr>
              <a:t>ALL users</a:t>
            </a:r>
            <a:r>
              <a:rPr lang="en-US" altLang="zh-TW" dirty="0" smtClean="0"/>
              <a:t>, at least 3 users)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Periodically fetch the content of a web page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Using “</a:t>
            </a:r>
            <a:r>
              <a:rPr lang="en-US" altLang="zh-TW" dirty="0" err="1" smtClean="0"/>
              <a:t>Cron</a:t>
            </a:r>
            <a:r>
              <a:rPr lang="en-US" altLang="zh-TW" dirty="0" smtClean="0"/>
              <a:t> Jobs” to fetch the content of TA web site is the minimal requirement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Other special designs and functionalities (20%)</a:t>
            </a:r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932040" y="4941168"/>
            <a:ext cx="3422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hlinkClick r:id="rId2"/>
              </a:rPr>
              <a:t>http://randomhash.appspot.com/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Required (cont.)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147248" cy="499715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Source </a:t>
            </a:r>
            <a:r>
              <a:rPr lang="en-US" altLang="zh-TW" dirty="0" smtClean="0"/>
              <a:t>code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The project (including all files).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README file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Runtime environment &amp; Test environment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What’s your special designs and functionalities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Hard-Copy </a:t>
            </a:r>
            <a:r>
              <a:rPr lang="en-US" altLang="zh-TW" dirty="0" smtClean="0"/>
              <a:t>Report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Methodology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How </a:t>
            </a:r>
            <a:r>
              <a:rPr lang="en-US" altLang="zh-TW" dirty="0" smtClean="0"/>
              <a:t>to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altLang="zh-TW" dirty="0" smtClean="0"/>
              <a:t>Screenshot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dirty="0" smtClean="0"/>
              <a:t>Lesson learn &amp; Discussion</a:t>
            </a:r>
          </a:p>
          <a:p>
            <a:pPr marL="514350" indent="-514350">
              <a:buNone/>
            </a:pPr>
            <a:endParaRPr lang="en-US" altLang="zh-TW" dirty="0" smtClean="0"/>
          </a:p>
          <a:p>
            <a:pPr marL="514350" indent="-514350">
              <a:buNone/>
            </a:pPr>
            <a:r>
              <a:rPr lang="en-US" altLang="zh-TW" dirty="0" smtClean="0"/>
              <a:t># CANNOT run your program will get 0 point</a:t>
            </a:r>
          </a:p>
          <a:p>
            <a:pPr marL="514350" indent="-514350">
              <a:buNone/>
            </a:pPr>
            <a:r>
              <a:rPr lang="en-US" altLang="zh-TW" dirty="0" smtClean="0"/>
              <a:t># You can deploy to GAE online, but also need to give the source code</a:t>
            </a:r>
          </a:p>
          <a:p>
            <a:pPr marL="514350" indent="-514350">
              <a:buNone/>
            </a:pPr>
            <a:r>
              <a:rPr lang="en-US" altLang="zh-TW" dirty="0" smtClean="0"/>
              <a:t># No LATE is allowed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 smtClean="0"/>
              <a:t>Next...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Introduction to Python </a:t>
            </a:r>
          </a:p>
          <a:p>
            <a:r>
              <a:rPr lang="en-US" altLang="zh-TW" dirty="0" smtClean="0"/>
              <a:t>Sample code</a:t>
            </a:r>
          </a:p>
          <a:p>
            <a:r>
              <a:rPr lang="en-US" altLang="zh-TW" dirty="0" smtClean="0"/>
              <a:t>GAE APIs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Python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 is a general-purpose high-level programming language whose design philosophy emphasizes code readability.</a:t>
            </a:r>
          </a:p>
          <a:p>
            <a:r>
              <a:rPr lang="en-US" altLang="zh-TW" dirty="0" smtClean="0"/>
              <a:t>The Zen of Python</a:t>
            </a:r>
          </a:p>
          <a:p>
            <a:pPr lvl="1"/>
            <a:r>
              <a:rPr lang="en-US" altLang="zh-TW" b="1" dirty="0" smtClean="0"/>
              <a:t>There should be one-- and preferably only one --obvious way to do it.</a:t>
            </a:r>
          </a:p>
          <a:p>
            <a:pPr lvl="1"/>
            <a:r>
              <a:rPr lang="en-US" altLang="zh-TW" b="1" dirty="0" smtClean="0"/>
              <a:t>Explicit is better than implicit.</a:t>
            </a:r>
            <a:r>
              <a:rPr lang="en-US" altLang="zh-TW" dirty="0" smtClean="0"/>
              <a:t> 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355976" y="4797152"/>
            <a:ext cx="4445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http://www.python.org/dev/peps/pep-0020/</a:t>
            </a:r>
            <a:endParaRPr lang="zh-TW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628801"/>
            <a:ext cx="7772400" cy="27781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Variable </a:t>
            </a:r>
          </a:p>
          <a:p>
            <a:r>
              <a:rPr lang="en-US" altLang="zh-TW" dirty="0" smtClean="0"/>
              <a:t>Library </a:t>
            </a:r>
          </a:p>
          <a:p>
            <a:r>
              <a:rPr lang="en-US" altLang="zh-TW" dirty="0" smtClean="0"/>
              <a:t>Indent rules</a:t>
            </a:r>
          </a:p>
          <a:p>
            <a:r>
              <a:rPr lang="en-US" altLang="zh-TW" dirty="0" smtClean="0"/>
              <a:t>Condition </a:t>
            </a:r>
          </a:p>
          <a:p>
            <a:r>
              <a:rPr lang="en-US" altLang="zh-TW" dirty="0" smtClean="0"/>
              <a:t>Loop </a:t>
            </a:r>
          </a:p>
          <a:p>
            <a:r>
              <a:rPr lang="en-US" altLang="zh-TW" dirty="0" smtClean="0"/>
              <a:t>Function </a:t>
            </a:r>
          </a:p>
          <a:p>
            <a:r>
              <a:rPr lang="en-US" altLang="zh-TW" dirty="0" smtClean="0"/>
              <a:t>Class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Variable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 variables do not have to be explicitly declared to reserve memory space.</a:t>
            </a:r>
          </a:p>
          <a:p>
            <a:r>
              <a:rPr lang="en-US" altLang="zh-TW" dirty="0" smtClean="0"/>
              <a:t>The declaration happens automatically when you assign a value to a variable.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619672" y="3789040"/>
            <a:ext cx="5671617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Answer	= True	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Boolean</a:t>
            </a:r>
          </a:p>
          <a:p>
            <a:r>
              <a:rPr lang="en-US" altLang="zh-TW" sz="2400" dirty="0" smtClean="0"/>
              <a:t>Counter	= 100	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An integer</a:t>
            </a:r>
          </a:p>
          <a:p>
            <a:r>
              <a:rPr lang="en-US" altLang="zh-TW" sz="2400" dirty="0" smtClean="0"/>
              <a:t>Length		= 30.1	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A float</a:t>
            </a:r>
          </a:p>
          <a:p>
            <a:r>
              <a:rPr lang="en-US" altLang="zh-TW" sz="2400" dirty="0" err="1" smtClean="0"/>
              <a:t>Nane</a:t>
            </a:r>
            <a:r>
              <a:rPr lang="en-US" altLang="zh-TW" sz="2400" dirty="0" smtClean="0"/>
              <a:t>		= “John”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A string</a:t>
            </a:r>
          </a:p>
          <a:p>
            <a:r>
              <a:rPr lang="en-US" altLang="zh-TW" sz="2400" dirty="0" smtClean="0"/>
              <a:t>List		= [1, 2 , 3 ]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A list</a:t>
            </a:r>
          </a:p>
          <a:p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Dictionary	= {‘A’:1, ‘B’: 3}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A dictionary 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Library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 has many libraries, like standard library, GUI, image, network, … etc.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47664" y="2636912"/>
            <a:ext cx="4179349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import</a:t>
            </a:r>
            <a:r>
              <a:rPr lang="en-US" altLang="zh-TW" sz="2400" dirty="0" smtClean="0"/>
              <a:t>	</a:t>
            </a:r>
            <a:r>
              <a:rPr lang="en-US" altLang="zh-TW" sz="2400" dirty="0" err="1" smtClean="0"/>
              <a:t>facebook</a:t>
            </a:r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0070C0"/>
                </a:solidFill>
              </a:rPr>
              <a:t>from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facebook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import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Facebook</a:t>
            </a:r>
            <a:endParaRPr lang="zh-TW" altLang="en-US" sz="2400" dirty="0"/>
          </a:p>
        </p:txBody>
      </p:sp>
      <p:sp>
        <p:nvSpPr>
          <p:cNvPr id="5" name="流程圖: 文件 4"/>
          <p:cNvSpPr/>
          <p:nvPr/>
        </p:nvSpPr>
        <p:spPr>
          <a:xfrm>
            <a:off x="5436096" y="4149080"/>
            <a:ext cx="2160240" cy="2448272"/>
          </a:xfrm>
          <a:prstGeom prst="flowChartDocumen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class </a:t>
            </a:r>
            <a:r>
              <a:rPr lang="en-US" altLang="zh-TW" dirty="0" err="1" smtClean="0"/>
              <a:t>Facebook</a:t>
            </a:r>
            <a:r>
              <a:rPr lang="en-US" altLang="zh-TW" dirty="0" smtClean="0"/>
              <a:t>():</a:t>
            </a:r>
          </a:p>
          <a:p>
            <a:r>
              <a:rPr lang="en-US" altLang="zh-TW" dirty="0" smtClean="0"/>
              <a:t>        …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5436096" y="3717032"/>
            <a:ext cx="132677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facebook.py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1259632" y="4437112"/>
            <a:ext cx="1800200" cy="158417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APP 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 rot="10800000" flipV="1">
            <a:off x="3203848" y="3933056"/>
            <a:ext cx="2088232" cy="648072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10800000" flipV="1">
            <a:off x="3275856" y="4509120"/>
            <a:ext cx="2232248" cy="504056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292080" y="3645024"/>
            <a:ext cx="2448272" cy="2996952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Indent rules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 does not use </a:t>
            </a:r>
            <a:r>
              <a:rPr lang="en-US" altLang="zh-TW" b="1" dirty="0" smtClean="0"/>
              <a:t>{</a:t>
            </a:r>
            <a:r>
              <a:rPr lang="en-US" altLang="zh-TW" dirty="0" smtClean="0"/>
              <a:t> … </a:t>
            </a:r>
            <a:r>
              <a:rPr lang="en-US" altLang="zh-TW" b="1" dirty="0" smtClean="0"/>
              <a:t>}</a:t>
            </a:r>
            <a:r>
              <a:rPr lang="en-US" altLang="zh-TW" dirty="0" smtClean="0"/>
              <a:t> to segment the codes</a:t>
            </a:r>
          </a:p>
          <a:p>
            <a:r>
              <a:rPr lang="en-US" altLang="zh-TW" dirty="0" smtClean="0"/>
              <a:t>Instead, Python uses indent rule.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27584" y="2708920"/>
            <a:ext cx="3339376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if</a:t>
            </a:r>
            <a:r>
              <a:rPr lang="en-US" altLang="zh-TW" sz="2400" dirty="0" smtClean="0"/>
              <a:t> x </a:t>
            </a:r>
            <a:r>
              <a:rPr lang="en-US" altLang="zh-TW" sz="2400" dirty="0" smtClean="0">
                <a:solidFill>
                  <a:srgbClr val="0070C0"/>
                </a:solidFill>
              </a:rPr>
              <a:t>is</a:t>
            </a:r>
            <a:r>
              <a:rPr lang="en-US" altLang="zh-TW" sz="2400" dirty="0" smtClean="0"/>
              <a:t> 10 </a:t>
            </a:r>
            <a:r>
              <a:rPr lang="en-US" altLang="zh-TW" sz="2400" dirty="0" smtClean="0">
                <a:solidFill>
                  <a:srgbClr val="0070C0"/>
                </a:solidFill>
              </a:rPr>
              <a:t>and</a:t>
            </a:r>
            <a:r>
              <a:rPr lang="en-US" altLang="zh-TW" sz="2400" dirty="0" smtClean="0"/>
              <a:t> y </a:t>
            </a:r>
            <a:r>
              <a:rPr lang="en-US" altLang="zh-TW" sz="2400" dirty="0" smtClean="0">
                <a:solidFill>
                  <a:srgbClr val="0070C0"/>
                </a:solidFill>
              </a:rPr>
              <a:t>is</a:t>
            </a:r>
            <a:r>
              <a:rPr lang="en-US" altLang="zh-TW" sz="2400" dirty="0" smtClean="0"/>
              <a:t> ‘a’:	</a:t>
            </a:r>
            <a:endParaRPr lang="en-US" altLang="zh-TW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sz="2400" dirty="0" smtClean="0"/>
              <a:t>        statement</a:t>
            </a:r>
          </a:p>
          <a:p>
            <a:endParaRPr lang="en-US" altLang="zh-TW" sz="2400" dirty="0" smtClean="0"/>
          </a:p>
          <a:p>
            <a:r>
              <a:rPr lang="en-US" altLang="zh-TW" sz="2400" dirty="0" err="1" smtClean="0">
                <a:solidFill>
                  <a:srgbClr val="0070C0"/>
                </a:solidFill>
              </a:rPr>
              <a:t>elif</a:t>
            </a:r>
            <a:r>
              <a:rPr lang="en-US" altLang="zh-TW" sz="2400" dirty="0" smtClean="0"/>
              <a:t> x </a:t>
            </a:r>
            <a:r>
              <a:rPr lang="en-US" altLang="zh-TW" sz="2400" dirty="0" smtClean="0">
                <a:solidFill>
                  <a:srgbClr val="0070C0"/>
                </a:solidFill>
              </a:rPr>
              <a:t>is not </a:t>
            </a:r>
            <a:r>
              <a:rPr lang="en-US" altLang="zh-TW" sz="2400" dirty="0" smtClean="0"/>
              <a:t>100 </a:t>
            </a:r>
            <a:r>
              <a:rPr lang="en-US" altLang="zh-TW" sz="2400" dirty="0" smtClean="0">
                <a:solidFill>
                  <a:srgbClr val="0070C0"/>
                </a:solidFill>
              </a:rPr>
              <a:t>or</a:t>
            </a:r>
            <a:r>
              <a:rPr lang="en-US" altLang="zh-TW" sz="2400" dirty="0" smtClean="0"/>
              <a:t> y </a:t>
            </a:r>
            <a:r>
              <a:rPr lang="en-US" altLang="zh-TW" sz="2400" dirty="0" smtClean="0">
                <a:solidFill>
                  <a:srgbClr val="0070C0"/>
                </a:solidFill>
              </a:rPr>
              <a:t>is</a:t>
            </a:r>
            <a:r>
              <a:rPr lang="en-US" altLang="zh-TW" sz="2400" dirty="0" smtClean="0"/>
              <a:t> ‘b’:</a:t>
            </a:r>
            <a:endParaRPr lang="en-US" altLang="zh-TW" sz="24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sz="2400" dirty="0" smtClean="0"/>
              <a:t> </a:t>
            </a:r>
            <a:r>
              <a:rPr lang="zh-TW" altLang="en-US" sz="2400" dirty="0" smtClean="0"/>
              <a:t>       </a:t>
            </a:r>
            <a:r>
              <a:rPr lang="en-US" altLang="zh-TW" sz="2400" dirty="0" smtClean="0"/>
              <a:t>statement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4644008" y="3429000"/>
            <a:ext cx="3399649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class 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fun(</a:t>
            </a:r>
            <a:r>
              <a:rPr lang="en-US" altLang="zh-TW" sz="2400" dirty="0" smtClean="0">
                <a:solidFill>
                  <a:schemeClr val="accent2"/>
                </a:solidFill>
              </a:rPr>
              <a:t>self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var1, </a:t>
            </a:r>
            <a:r>
              <a:rPr lang="en-US" altLang="zh-TW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var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2):</a:t>
            </a:r>
          </a:p>
          <a:p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statement…</a:t>
            </a:r>
          </a:p>
          <a:p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# more statement</a:t>
            </a:r>
          </a:p>
          <a:p>
            <a:endParaRPr lang="en-US" altLang="zh-TW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altLang="zh-TW" sz="2400" dirty="0" smtClean="0">
                <a:solidFill>
                  <a:srgbClr val="0070C0"/>
                </a:solidFill>
              </a:rPr>
              <a:t>return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ref1, ref2 </a:t>
            </a: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Condition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 uses many condition statement</a:t>
            </a:r>
          </a:p>
          <a:p>
            <a:pPr lvl="1"/>
            <a:r>
              <a:rPr lang="en-US" altLang="zh-TW" dirty="0" smtClean="0"/>
              <a:t>if, else, </a:t>
            </a:r>
            <a:r>
              <a:rPr lang="en-US" altLang="zh-TW" dirty="0" err="1" smtClean="0"/>
              <a:t>elif</a:t>
            </a:r>
            <a:r>
              <a:rPr lang="en-US" altLang="zh-TW" dirty="0" smtClean="0"/>
              <a:t>, is, not, and, or,…etc.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15616" y="2996952"/>
            <a:ext cx="6305444" cy="30469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if</a:t>
            </a:r>
            <a:r>
              <a:rPr lang="en-US" altLang="zh-TW" sz="2400" dirty="0" smtClean="0"/>
              <a:t> x </a:t>
            </a:r>
            <a:r>
              <a:rPr lang="en-US" altLang="zh-TW" sz="2400" dirty="0" smtClean="0">
                <a:solidFill>
                  <a:srgbClr val="0070C0"/>
                </a:solidFill>
              </a:rPr>
              <a:t>is</a:t>
            </a:r>
            <a:r>
              <a:rPr lang="en-US" altLang="zh-TW" sz="2400" dirty="0" smtClean="0"/>
              <a:t> 10 </a:t>
            </a:r>
            <a:r>
              <a:rPr lang="en-US" altLang="zh-TW" sz="2400" dirty="0" smtClean="0">
                <a:solidFill>
                  <a:srgbClr val="0070C0"/>
                </a:solidFill>
              </a:rPr>
              <a:t>and</a:t>
            </a:r>
            <a:r>
              <a:rPr lang="en-US" altLang="zh-TW" sz="2400" dirty="0" smtClean="0"/>
              <a:t> y </a:t>
            </a:r>
            <a:r>
              <a:rPr lang="en-US" altLang="zh-TW" sz="2400" dirty="0" smtClean="0">
                <a:solidFill>
                  <a:srgbClr val="0070C0"/>
                </a:solidFill>
              </a:rPr>
              <a:t>is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not</a:t>
            </a:r>
            <a:r>
              <a:rPr lang="en-US" altLang="zh-TW" sz="2400" dirty="0" smtClean="0"/>
              <a:t> ‘a’: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x=10 and y=/= ‘a’ </a:t>
            </a:r>
          </a:p>
          <a:p>
            <a:r>
              <a:rPr lang="en-US" altLang="zh-TW" sz="2400" dirty="0" smtClean="0"/>
              <a:t>        statement</a:t>
            </a:r>
          </a:p>
          <a:p>
            <a:endParaRPr lang="en-US" altLang="zh-TW" sz="2400" dirty="0" smtClean="0"/>
          </a:p>
          <a:p>
            <a:r>
              <a:rPr lang="en-US" altLang="zh-TW" sz="2400" dirty="0" err="1" smtClean="0">
                <a:solidFill>
                  <a:srgbClr val="0070C0"/>
                </a:solidFill>
              </a:rPr>
              <a:t>elif</a:t>
            </a:r>
            <a:r>
              <a:rPr lang="en-US" altLang="zh-TW" sz="2400" dirty="0" smtClean="0"/>
              <a:t> x </a:t>
            </a:r>
            <a:r>
              <a:rPr lang="en-US" altLang="zh-TW" sz="2400" dirty="0" smtClean="0">
                <a:solidFill>
                  <a:srgbClr val="0070C0"/>
                </a:solidFill>
              </a:rPr>
              <a:t>is not </a:t>
            </a:r>
            <a:r>
              <a:rPr lang="en-US" altLang="zh-TW" sz="2400" dirty="0" smtClean="0"/>
              <a:t>100 </a:t>
            </a:r>
            <a:r>
              <a:rPr lang="en-US" altLang="zh-TW" sz="2400" dirty="0" smtClean="0">
                <a:solidFill>
                  <a:srgbClr val="0070C0"/>
                </a:solidFill>
              </a:rPr>
              <a:t>or</a:t>
            </a:r>
            <a:r>
              <a:rPr lang="en-US" altLang="zh-TW" sz="2400" dirty="0" smtClean="0"/>
              <a:t> y </a:t>
            </a:r>
            <a:r>
              <a:rPr lang="en-US" altLang="zh-TW" sz="2400" dirty="0" smtClean="0">
                <a:solidFill>
                  <a:srgbClr val="0070C0"/>
                </a:solidFill>
              </a:rPr>
              <a:t>is</a:t>
            </a:r>
            <a:r>
              <a:rPr lang="en-US" altLang="zh-TW" sz="2400" dirty="0" smtClean="0"/>
              <a:t> ‘b’: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x =/= 100 or y=‘b’</a:t>
            </a:r>
          </a:p>
          <a:p>
            <a:r>
              <a:rPr lang="en-US" altLang="zh-TW" sz="2400" dirty="0" smtClean="0"/>
              <a:t> </a:t>
            </a:r>
            <a:r>
              <a:rPr lang="zh-TW" altLang="en-US" sz="2400" dirty="0" smtClean="0"/>
              <a:t>       </a:t>
            </a:r>
            <a:r>
              <a:rPr lang="en-US" altLang="zh-TW" sz="2400" dirty="0" smtClean="0"/>
              <a:t>statement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0070C0"/>
                </a:solidFill>
              </a:rPr>
              <a:t>else</a:t>
            </a:r>
            <a:r>
              <a:rPr lang="en-US" altLang="zh-TW" sz="2400" dirty="0" smtClean="0"/>
              <a:t>:			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else</a:t>
            </a:r>
          </a:p>
          <a:p>
            <a:r>
              <a:rPr lang="en-US" altLang="zh-TW" sz="2400" dirty="0" smtClean="0"/>
              <a:t> </a:t>
            </a:r>
            <a:r>
              <a:rPr lang="zh-TW" altLang="en-US" sz="2400" dirty="0" smtClean="0"/>
              <a:t>       </a:t>
            </a:r>
            <a:r>
              <a:rPr lang="en-US" altLang="zh-TW" sz="2400" dirty="0" smtClean="0"/>
              <a:t>statement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Loop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For loop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While loop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11560" y="2132856"/>
            <a:ext cx="6789103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for</a:t>
            </a:r>
            <a:r>
              <a:rPr lang="en-US" altLang="zh-TW" sz="2400" dirty="0" smtClean="0"/>
              <a:t> x </a:t>
            </a:r>
            <a:r>
              <a:rPr lang="en-US" altLang="zh-TW" sz="2400" dirty="0" smtClean="0">
                <a:solidFill>
                  <a:srgbClr val="0070C0"/>
                </a:solidFill>
              </a:rPr>
              <a:t>in</a:t>
            </a:r>
            <a:r>
              <a:rPr lang="en-US" altLang="zh-TW" sz="2400" dirty="0" smtClean="0"/>
              <a:t> range(10):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loop 10 times</a:t>
            </a:r>
          </a:p>
          <a:p>
            <a:r>
              <a:rPr lang="en-US" altLang="zh-TW" sz="2400" dirty="0" smtClean="0"/>
              <a:t>	some functionality 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0070C0"/>
                </a:solidFill>
              </a:rPr>
              <a:t>for</a:t>
            </a:r>
            <a:r>
              <a:rPr lang="en-US" altLang="zh-TW" sz="2400" dirty="0" smtClean="0"/>
              <a:t> x </a:t>
            </a:r>
            <a:r>
              <a:rPr lang="en-US" altLang="zh-TW" sz="2400" dirty="0" smtClean="0">
                <a:solidFill>
                  <a:srgbClr val="0070C0"/>
                </a:solidFill>
              </a:rPr>
              <a:t>in</a:t>
            </a:r>
            <a:r>
              <a:rPr lang="en-US" altLang="zh-TW" sz="2400" dirty="0" smtClean="0"/>
              <a:t> List:	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sequentially use elms. in List </a:t>
            </a:r>
          </a:p>
          <a:p>
            <a:r>
              <a:rPr lang="en-US" altLang="zh-TW" sz="2400" dirty="0" smtClean="0"/>
              <a:t>	some functionality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83568" y="4658360"/>
            <a:ext cx="2821542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while 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 </a:t>
            </a:r>
            <a:r>
              <a:rPr lang="en-US" altLang="zh-TW" sz="2400" dirty="0" smtClean="0">
                <a:solidFill>
                  <a:srgbClr val="0070C0"/>
                </a:solidFill>
              </a:rPr>
              <a:t>is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True</a:t>
            </a:r>
            <a:r>
              <a:rPr lang="en-US" altLang="zh-TW" sz="2400" dirty="0" smtClean="0"/>
              <a:t>:</a:t>
            </a:r>
          </a:p>
          <a:p>
            <a:r>
              <a:rPr lang="en-US" altLang="zh-TW" sz="2400" dirty="0" smtClean="0"/>
              <a:t>	do something</a:t>
            </a:r>
          </a:p>
          <a:p>
            <a:r>
              <a:rPr lang="en-US" altLang="zh-TW" sz="2400" dirty="0" smtClean="0"/>
              <a:t>	…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	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 uses </a:t>
            </a:r>
            <a:r>
              <a:rPr lang="en-US" altLang="zh-TW" b="1" dirty="0" smtClean="0">
                <a:solidFill>
                  <a:srgbClr val="0070C0"/>
                </a:solidFill>
              </a:rPr>
              <a:t>def </a:t>
            </a:r>
            <a:r>
              <a:rPr lang="en-US" altLang="zh-TW" dirty="0" smtClean="0"/>
              <a:t>to declare the function.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1560" y="2132856"/>
            <a:ext cx="3877985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def 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function_1(</a:t>
            </a:r>
            <a:r>
              <a:rPr lang="en-US" altLang="zh-TW" sz="2400" dirty="0" smtClean="0">
                <a:solidFill>
                  <a:schemeClr val="accent2"/>
                </a:solidFill>
              </a:rPr>
              <a:t>self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param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):</a:t>
            </a:r>
          </a:p>
          <a:p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do something </a:t>
            </a:r>
          </a:p>
          <a:p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…</a:t>
            </a:r>
          </a:p>
          <a:p>
            <a:endParaRPr lang="en-US" altLang="zh-TW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return </a:t>
            </a:r>
            <a:r>
              <a:rPr lang="en-US" altLang="zh-TW" sz="2400" dirty="0" smtClean="0">
                <a:solidFill>
                  <a:srgbClr val="FF0000"/>
                </a:solidFill>
              </a:rPr>
              <a:t>A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altLang="zh-TW" sz="2400" dirty="0" smtClean="0">
                <a:solidFill>
                  <a:srgbClr val="FF0000"/>
                </a:solidFill>
              </a:rPr>
              <a:t>B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… etc;	</a:t>
            </a:r>
            <a:endParaRPr lang="zh-TW" altLang="en-US" sz="2400" dirty="0"/>
          </a:p>
        </p:txBody>
      </p:sp>
      <p:sp>
        <p:nvSpPr>
          <p:cNvPr id="6" name="立方體 5"/>
          <p:cNvSpPr/>
          <p:nvPr/>
        </p:nvSpPr>
        <p:spPr>
          <a:xfrm>
            <a:off x="3491880" y="5013176"/>
            <a:ext cx="2160240" cy="1008112"/>
          </a:xfrm>
          <a:prstGeom prst="cub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Function 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1331640" y="4941168"/>
            <a:ext cx="1152128" cy="100811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param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6300192" y="4149080"/>
            <a:ext cx="648072" cy="64807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7308304" y="4149080"/>
            <a:ext cx="648072" cy="64807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156176" y="4005064"/>
            <a:ext cx="1872208" cy="8640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2699792" y="5517232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弧形 12"/>
          <p:cNvSpPr/>
          <p:nvPr/>
        </p:nvSpPr>
        <p:spPr>
          <a:xfrm>
            <a:off x="5004048" y="4869160"/>
            <a:ext cx="1728192" cy="648072"/>
          </a:xfrm>
          <a:prstGeom prst="arc">
            <a:avLst>
              <a:gd name="adj1" fmla="val 38306"/>
              <a:gd name="adj2" fmla="val 5069049"/>
            </a:avLst>
          </a:prstGeom>
          <a:ln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004048" y="2708920"/>
            <a:ext cx="3519681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A</a:t>
            </a:r>
            <a:r>
              <a:rPr lang="en-US" altLang="zh-TW" sz="2400" dirty="0" smtClean="0"/>
              <a:t>,</a:t>
            </a:r>
            <a:r>
              <a:rPr lang="en-US" altLang="zh-TW" sz="2400" dirty="0" smtClean="0">
                <a:solidFill>
                  <a:srgbClr val="FF0000"/>
                </a:solidFill>
              </a:rPr>
              <a:t> B </a:t>
            </a:r>
            <a:r>
              <a:rPr lang="en-US" altLang="zh-TW" sz="2400" dirty="0" smtClean="0"/>
              <a:t>= function_1(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param</a:t>
            </a:r>
            <a:r>
              <a:rPr lang="en-US" altLang="zh-TW" sz="2400" dirty="0" smtClean="0"/>
              <a:t> ) 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Class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Python’s class mechanism adds classes to the language with a minimum of new syntax and semantics.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38031" y="3002176"/>
            <a:ext cx="5370381" cy="3416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class</a:t>
            </a:r>
            <a:r>
              <a:rPr lang="en-US" altLang="zh-TW" sz="2400" dirty="0" smtClean="0"/>
              <a:t> Model_1(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inhert</a:t>
            </a:r>
            <a:r>
              <a:rPr lang="en-US" altLang="zh-TW" sz="2400" dirty="0" smtClean="0"/>
              <a:t> ):</a:t>
            </a:r>
          </a:p>
          <a:p>
            <a:r>
              <a:rPr lang="en-US" altLang="zh-TW" sz="2400" dirty="0" smtClean="0"/>
              <a:t>	</a:t>
            </a:r>
            <a:r>
              <a:rPr lang="en-US" altLang="zh-TW" sz="2400" dirty="0" smtClean="0">
                <a:solidFill>
                  <a:srgbClr val="0070C0"/>
                </a:solidFill>
              </a:rPr>
              <a:t>def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C00000"/>
                </a:solidFill>
              </a:rPr>
              <a:t>__init__</a:t>
            </a:r>
            <a:r>
              <a:rPr lang="en-US" altLang="zh-TW" sz="2400" dirty="0" smtClean="0"/>
              <a:t>(</a:t>
            </a:r>
            <a:r>
              <a:rPr lang="en-US" altLang="zh-TW" sz="2400" dirty="0" smtClean="0">
                <a:solidFill>
                  <a:srgbClr val="0070C0"/>
                </a:solidFill>
              </a:rPr>
              <a:t>self</a:t>
            </a:r>
            <a:r>
              <a:rPr lang="en-US" altLang="zh-TW" sz="2400" dirty="0" smtClean="0"/>
              <a:t>):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initialize</a:t>
            </a:r>
          </a:p>
          <a:p>
            <a:r>
              <a:rPr lang="en-US" altLang="zh-TW" sz="2400" dirty="0" smtClean="0"/>
              <a:t>		</a:t>
            </a:r>
            <a:r>
              <a:rPr lang="en-US" altLang="zh-TW" sz="2400" dirty="0" err="1" smtClean="0"/>
              <a:t>self.a</a:t>
            </a:r>
            <a:r>
              <a:rPr lang="en-US" altLang="zh-TW" sz="2400" dirty="0" smtClean="0"/>
              <a:t> 	= 1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global var.</a:t>
            </a:r>
          </a:p>
          <a:p>
            <a:r>
              <a:rPr lang="en-US" altLang="zh-TW" sz="2400" dirty="0" smtClean="0"/>
              <a:t>		A 	= ‘a’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local var.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	</a:t>
            </a:r>
            <a:r>
              <a:rPr lang="en-US" altLang="zh-TW" sz="2400" dirty="0" smtClean="0">
                <a:solidFill>
                  <a:srgbClr val="0070C0"/>
                </a:solidFill>
              </a:rPr>
              <a:t>def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C00000"/>
                </a:solidFill>
              </a:rPr>
              <a:t>fun_1</a:t>
            </a:r>
            <a:r>
              <a:rPr lang="en-US" altLang="zh-TW" sz="2400" dirty="0" smtClean="0"/>
              <a:t>(</a:t>
            </a:r>
            <a:r>
              <a:rPr lang="en-US" altLang="zh-TW" sz="2400" dirty="0" smtClean="0">
                <a:solidFill>
                  <a:srgbClr val="0070C0"/>
                </a:solidFill>
              </a:rPr>
              <a:t>self</a:t>
            </a:r>
            <a:r>
              <a:rPr lang="en-US" altLang="zh-TW" sz="2400" dirty="0" smtClean="0"/>
              <a:t>):	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function 1</a:t>
            </a:r>
          </a:p>
          <a:p>
            <a:r>
              <a:rPr lang="en-US" altLang="zh-TW" sz="2400" dirty="0" smtClean="0"/>
              <a:t>		</a:t>
            </a:r>
            <a:r>
              <a:rPr lang="en-US" altLang="zh-TW" sz="2400" dirty="0" err="1" smtClean="0"/>
              <a:t>self.a</a:t>
            </a:r>
            <a:r>
              <a:rPr lang="en-US" altLang="zh-TW" sz="2400" dirty="0" smtClean="0"/>
              <a:t> 	= 2</a:t>
            </a:r>
          </a:p>
          <a:p>
            <a:r>
              <a:rPr lang="en-US" altLang="zh-TW" sz="2400" dirty="0" smtClean="0"/>
              <a:t>		A 	= ‘b’</a:t>
            </a:r>
          </a:p>
          <a:p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619672" y="1362248"/>
            <a:ext cx="4803110" cy="41549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Bubble Sort</a:t>
            </a:r>
          </a:p>
          <a:p>
            <a:r>
              <a:rPr lang="en-US" altLang="zh-TW" sz="2400" dirty="0" smtClean="0"/>
              <a:t>LIST = [1,7,5,6,8,3,2,9,4]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FFC000"/>
                </a:solidFill>
              </a:rPr>
              <a:t>for</a:t>
            </a:r>
            <a:r>
              <a:rPr lang="en-US" altLang="zh-TW" sz="2400" dirty="0" smtClean="0"/>
              <a:t> x </a:t>
            </a:r>
            <a:r>
              <a:rPr lang="en-US" altLang="zh-TW" sz="2400" dirty="0" smtClean="0">
                <a:solidFill>
                  <a:srgbClr val="FFC000"/>
                </a:solidFill>
              </a:rPr>
              <a:t>in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range</a:t>
            </a:r>
            <a:r>
              <a:rPr lang="en-US" altLang="zh-TW" sz="2400" dirty="0" smtClean="0"/>
              <a:t>(  </a:t>
            </a:r>
            <a:r>
              <a:rPr lang="en-US" altLang="zh-TW" sz="2400" dirty="0" err="1" smtClean="0">
                <a:solidFill>
                  <a:srgbClr val="0070C0"/>
                </a:solidFill>
              </a:rPr>
              <a:t>len</a:t>
            </a:r>
            <a:r>
              <a:rPr lang="en-US" altLang="zh-TW" sz="2400" dirty="0" smtClean="0"/>
              <a:t>(LIST) - 1  ):</a:t>
            </a:r>
          </a:p>
          <a:p>
            <a:r>
              <a:rPr lang="en-US" altLang="zh-TW" sz="2400" dirty="0" smtClean="0"/>
              <a:t>        </a:t>
            </a:r>
            <a:r>
              <a:rPr lang="en-US" altLang="zh-TW" sz="2400" dirty="0" smtClean="0">
                <a:solidFill>
                  <a:srgbClr val="FFC000"/>
                </a:solidFill>
              </a:rPr>
              <a:t>for</a:t>
            </a:r>
            <a:r>
              <a:rPr lang="en-US" altLang="zh-TW" sz="2400" dirty="0" smtClean="0"/>
              <a:t> y </a:t>
            </a:r>
            <a:r>
              <a:rPr lang="en-US" altLang="zh-TW" sz="2400" dirty="0" smtClean="0">
                <a:solidFill>
                  <a:srgbClr val="FFC000"/>
                </a:solidFill>
              </a:rPr>
              <a:t>in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range</a:t>
            </a:r>
            <a:r>
              <a:rPr lang="en-US" altLang="zh-TW" sz="2400" dirty="0" smtClean="0"/>
              <a:t>(  </a:t>
            </a:r>
            <a:r>
              <a:rPr lang="en-US" altLang="zh-TW" sz="2400" dirty="0" err="1" smtClean="0">
                <a:solidFill>
                  <a:srgbClr val="0070C0"/>
                </a:solidFill>
              </a:rPr>
              <a:t>len</a:t>
            </a:r>
            <a:r>
              <a:rPr lang="en-US" altLang="zh-TW" sz="2400" dirty="0" smtClean="0"/>
              <a:t>(LIST) - x - 1  ):</a:t>
            </a:r>
          </a:p>
          <a:p>
            <a:r>
              <a:rPr lang="en-US" altLang="zh-TW" sz="2400" dirty="0" smtClean="0"/>
              <a:t>                </a:t>
            </a:r>
            <a:r>
              <a:rPr lang="en-US" altLang="zh-TW" sz="2400" dirty="0" smtClean="0">
                <a:solidFill>
                  <a:srgbClr val="0070C0"/>
                </a:solidFill>
              </a:rPr>
              <a:t>if</a:t>
            </a:r>
            <a:r>
              <a:rPr lang="en-US" altLang="zh-TW" sz="2400" dirty="0" smtClean="0"/>
              <a:t> LIST[y] &gt; LIST[y+1]:</a:t>
            </a:r>
          </a:p>
          <a:p>
            <a:r>
              <a:rPr lang="en-US" altLang="zh-TW" sz="2400" dirty="0" smtClean="0"/>
              <a:t>                        temp        = LIST[y]</a:t>
            </a:r>
          </a:p>
          <a:p>
            <a:r>
              <a:rPr lang="en-US" altLang="zh-TW" sz="2400" dirty="0" smtClean="0"/>
              <a:t>	           LIST[y]     = LIST[y+1]</a:t>
            </a:r>
          </a:p>
          <a:p>
            <a:r>
              <a:rPr lang="en-US" altLang="zh-TW" sz="2400" dirty="0" smtClean="0"/>
              <a:t>	           LIST[y+1] = temp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0070C0"/>
                </a:solidFill>
              </a:rPr>
              <a:t>print</a:t>
            </a:r>
            <a:r>
              <a:rPr lang="en-US" altLang="zh-TW" sz="2400" dirty="0" smtClean="0"/>
              <a:t> LIST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2666727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Sample Code</a:t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36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Guestbook</a:t>
            </a:r>
            <a:endParaRPr lang="zh-TW" altLang="en-US" sz="3600" b="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t="15265" r="74406" b="18586"/>
          <a:stretch>
            <a:fillRect/>
          </a:stretch>
        </p:blipFill>
        <p:spPr bwMode="auto">
          <a:xfrm>
            <a:off x="2256443" y="1196752"/>
            <a:ext cx="3971741" cy="556043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" name="直線接點 5"/>
          <p:cNvCxnSpPr/>
          <p:nvPr/>
        </p:nvCxnSpPr>
        <p:spPr>
          <a:xfrm rot="5400000">
            <a:off x="1439652" y="1952836"/>
            <a:ext cx="136815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267744" y="2708920"/>
            <a:ext cx="2160240" cy="396044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23528" y="1700808"/>
            <a:ext cx="1539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Input area 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51520" y="4365104"/>
            <a:ext cx="190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Message area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5428" r="53682" b="3338"/>
          <a:stretch>
            <a:fillRect/>
          </a:stretch>
        </p:blipFill>
        <p:spPr bwMode="auto">
          <a:xfrm>
            <a:off x="3707904" y="1368152"/>
            <a:ext cx="4968552" cy="530120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(cont.) 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4067944" y="1556792"/>
            <a:ext cx="4608512" cy="720080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4139952" y="4005064"/>
            <a:ext cx="3024336" cy="576064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4067944" y="4725144"/>
            <a:ext cx="3024336" cy="1944216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4211960" y="3573016"/>
            <a:ext cx="158417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45501" y="1844824"/>
            <a:ext cx="958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Library </a:t>
            </a:r>
            <a:endParaRPr lang="zh-TW" altLang="en-US" sz="2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95536" y="3284984"/>
            <a:ext cx="20694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Object</a:t>
            </a:r>
          </a:p>
          <a:p>
            <a:r>
              <a:rPr lang="en-US" altLang="zh-TW" sz="2000" dirty="0" smtClean="0"/>
              <a:t>    - store instance </a:t>
            </a:r>
            <a:endParaRPr lang="zh-TW" altLang="en-US" sz="2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95536" y="3933056"/>
            <a:ext cx="2597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Class </a:t>
            </a:r>
          </a:p>
          <a:p>
            <a:r>
              <a:rPr lang="en-US" altLang="zh-TW" sz="2000" dirty="0" smtClean="0"/>
              <a:t>    - major functionality </a:t>
            </a:r>
            <a:endParaRPr lang="zh-TW" altLang="en-US" sz="2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5536" y="4942909"/>
            <a:ext cx="29928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Web interface</a:t>
            </a:r>
          </a:p>
          <a:p>
            <a:r>
              <a:rPr lang="en-US" altLang="zh-TW" sz="2000" dirty="0" smtClean="0"/>
              <a:t>    - easy to build web page 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2" grpId="0"/>
      <p:bldP spid="13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(cont.)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l="987" t="5088" r="43889" b="75285"/>
          <a:stretch>
            <a:fillRect/>
          </a:stretch>
        </p:blipFill>
        <p:spPr bwMode="auto">
          <a:xfrm>
            <a:off x="107504" y="1556792"/>
            <a:ext cx="8856984" cy="170813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683568" y="3645024"/>
            <a:ext cx="2461892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2400" dirty="0" smtClean="0"/>
              <a:t>Entity library</a:t>
            </a:r>
          </a:p>
          <a:p>
            <a:pPr marL="800100" lvl="1" indent="-342900">
              <a:buAutoNum type="arabicPeriod"/>
            </a:pPr>
            <a:r>
              <a:rPr lang="en-US" altLang="zh-TW" sz="2000" dirty="0" smtClean="0"/>
              <a:t>db</a:t>
            </a:r>
          </a:p>
          <a:p>
            <a:pPr marL="342900" indent="-342900">
              <a:buAutoNum type="arabicPeriod"/>
            </a:pPr>
            <a:r>
              <a:rPr lang="en-US" altLang="zh-TW" sz="2400" dirty="0" smtClean="0"/>
              <a:t>Web library</a:t>
            </a:r>
          </a:p>
          <a:p>
            <a:pPr marL="800100" lvl="1" indent="-342900">
              <a:buAutoNum type="arabicPeriod"/>
            </a:pPr>
            <a:r>
              <a:rPr lang="en-US" altLang="zh-TW" sz="2000" dirty="0" err="1" smtClean="0"/>
              <a:t>webapp</a:t>
            </a:r>
            <a:endParaRPr lang="en-US" altLang="zh-TW" sz="2000" dirty="0" smtClean="0"/>
          </a:p>
          <a:p>
            <a:pPr marL="800100" lvl="1" indent="-342900">
              <a:buAutoNum type="arabicPeriod"/>
            </a:pPr>
            <a:r>
              <a:rPr lang="en-US" altLang="zh-TW" sz="2000" dirty="0" err="1" smtClean="0"/>
              <a:t>run_wsgi_app</a:t>
            </a:r>
            <a:endParaRPr lang="en-US" altLang="zh-TW" sz="2000" dirty="0" smtClean="0"/>
          </a:p>
          <a:p>
            <a:pPr marL="342900" indent="-342900">
              <a:buAutoNum type="arabicPeriod"/>
            </a:pPr>
            <a:r>
              <a:rPr lang="en-US" altLang="zh-TW" sz="2400" dirty="0" smtClean="0"/>
              <a:t>Image library </a:t>
            </a:r>
          </a:p>
          <a:p>
            <a:pPr marL="800100" lvl="1" indent="-342900">
              <a:buAutoNum type="arabicPeriod"/>
            </a:pPr>
            <a:r>
              <a:rPr lang="en-US" altLang="zh-TW" sz="2000" dirty="0" smtClean="0"/>
              <a:t>images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(cont.)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181" t="23381" r="52357" b="43181"/>
          <a:stretch>
            <a:fillRect/>
          </a:stretch>
        </p:blipFill>
        <p:spPr bwMode="auto">
          <a:xfrm>
            <a:off x="323528" y="1988840"/>
            <a:ext cx="8496944" cy="331236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t="33254" r="80511" b="56466"/>
          <a:stretch>
            <a:fillRect/>
          </a:stretch>
        </p:blipFill>
        <p:spPr bwMode="auto">
          <a:xfrm>
            <a:off x="4860032" y="1628800"/>
            <a:ext cx="3960440" cy="113155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t="45796" r="54132" b="4047"/>
          <a:stretch>
            <a:fillRect/>
          </a:stretch>
        </p:blipFill>
        <p:spPr bwMode="auto">
          <a:xfrm>
            <a:off x="395536" y="1412776"/>
            <a:ext cx="8388424" cy="496855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" name="直線接點 5"/>
          <p:cNvCxnSpPr/>
          <p:nvPr/>
        </p:nvCxnSpPr>
        <p:spPr>
          <a:xfrm rot="5400000">
            <a:off x="4608004" y="5697252"/>
            <a:ext cx="122413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5580112" y="5445224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Main part 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115616" y="3356992"/>
            <a:ext cx="5328592" cy="136815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6588224" y="3501008"/>
            <a:ext cx="201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Web interface 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043608" y="1916832"/>
            <a:ext cx="7632848" cy="100811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5436096" y="1412776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Functionality 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(cont.)</a:t>
            </a:r>
            <a:endParaRPr lang="zh-TW" alt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7953"/>
          <a:stretch>
            <a:fillRect/>
          </a:stretch>
        </p:blipFill>
        <p:spPr bwMode="auto">
          <a:xfrm>
            <a:off x="107504" y="1628800"/>
            <a:ext cx="8951717" cy="4463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接點 7"/>
          <p:cNvCxnSpPr/>
          <p:nvPr/>
        </p:nvCxnSpPr>
        <p:spPr>
          <a:xfrm>
            <a:off x="1187624" y="2204864"/>
            <a:ext cx="30243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187624" y="6021288"/>
            <a:ext cx="324036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115616" y="2636912"/>
            <a:ext cx="5760640" cy="122413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115616" y="4077072"/>
            <a:ext cx="7704856" cy="129614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179512" y="3212976"/>
            <a:ext cx="1204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Input area 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5536" y="4293096"/>
            <a:ext cx="815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Query </a:t>
            </a:r>
            <a:endParaRPr lang="zh-TW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 t="15265" r="83686" b="36764"/>
          <a:stretch>
            <a:fillRect/>
          </a:stretch>
        </p:blipFill>
        <p:spPr bwMode="auto">
          <a:xfrm>
            <a:off x="7092280" y="1628800"/>
            <a:ext cx="1491825" cy="237626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(cont.)</a:t>
            </a:r>
            <a:endParaRPr lang="zh-TW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34331"/>
            <a:ext cx="8229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403648" y="2348880"/>
            <a:ext cx="4104456" cy="64807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331640" y="3573016"/>
            <a:ext cx="4320480" cy="194421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012160" y="2420888"/>
            <a:ext cx="114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Image link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084168" y="3645024"/>
            <a:ext cx="2498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Upload to GAE </a:t>
            </a:r>
            <a:r>
              <a:rPr lang="en-US" altLang="zh-TW" dirty="0" err="1" smtClean="0"/>
              <a:t>datastore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3746847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GAE APIs</a:t>
            </a:r>
            <a:br>
              <a:rPr lang="en-US" altLang="zh-TW" dirty="0" smtClean="0"/>
            </a:br>
            <a: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</a:t>
            </a:r>
            <a:b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  <a:b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Schedule</a:t>
            </a:r>
            <a:b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b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200" b="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 to some functionalities of Google App Engine.</a:t>
            </a:r>
          </a:p>
          <a:p>
            <a:pPr lvl="1"/>
            <a:r>
              <a:rPr lang="en-US" altLang="zh-TW" dirty="0" smtClean="0"/>
              <a:t>Storage Space</a:t>
            </a:r>
          </a:p>
          <a:p>
            <a:pPr lvl="1"/>
            <a:r>
              <a:rPr lang="en-US" altLang="zh-TW" dirty="0" smtClean="0"/>
              <a:t>Query data</a:t>
            </a:r>
          </a:p>
          <a:p>
            <a:pPr lvl="1"/>
            <a:r>
              <a:rPr lang="en-US" altLang="zh-TW" dirty="0" smtClean="0"/>
              <a:t>Schedule routine </a:t>
            </a:r>
          </a:p>
          <a:p>
            <a:pPr lvl="1"/>
            <a:r>
              <a:rPr lang="en-US" altLang="zh-TW" dirty="0" smtClean="0"/>
              <a:t>Communication </a:t>
            </a:r>
          </a:p>
          <a:p>
            <a:pPr lvl="1"/>
            <a:r>
              <a:rPr lang="en-US" altLang="zh-TW" dirty="0" smtClean="0"/>
              <a:t>Other Services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2780928"/>
            <a:ext cx="4893835" cy="367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Static </a:t>
            </a:r>
            <a:r>
              <a:rPr lang="en-US" altLang="zh-TW" dirty="0" err="1" smtClean="0"/>
              <a:t>vs</a:t>
            </a:r>
            <a:r>
              <a:rPr lang="en-US" altLang="zh-TW" dirty="0" smtClean="0"/>
              <a:t> Dynamic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 GAE, storage space can be separated into two parts</a:t>
            </a:r>
          </a:p>
          <a:p>
            <a:pPr lvl="1"/>
            <a:r>
              <a:rPr lang="en-US" altLang="zh-TW" dirty="0" smtClean="0"/>
              <a:t>Static </a:t>
            </a:r>
          </a:p>
          <a:p>
            <a:pPr lvl="2"/>
            <a:r>
              <a:rPr lang="en-US" altLang="zh-TW" dirty="0" smtClean="0"/>
              <a:t>Static space</a:t>
            </a:r>
          </a:p>
          <a:p>
            <a:pPr lvl="2"/>
            <a:r>
              <a:rPr lang="en-US" altLang="zh-TW" dirty="0" err="1" smtClean="0"/>
              <a:t>Blobstore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Dynamic </a:t>
            </a:r>
          </a:p>
          <a:p>
            <a:pPr lvl="2"/>
            <a:r>
              <a:rPr lang="en-US" altLang="zh-TW" dirty="0" err="1" smtClean="0"/>
              <a:t>Datastore</a:t>
            </a:r>
            <a:r>
              <a:rPr lang="en-US" altLang="zh-TW" dirty="0" smtClean="0"/>
              <a:t> </a:t>
            </a:r>
          </a:p>
          <a:p>
            <a:pPr lvl="2"/>
            <a:r>
              <a:rPr lang="en-US" altLang="zh-TW" dirty="0" err="1" smtClean="0"/>
              <a:t>Memcache</a:t>
            </a:r>
            <a:r>
              <a:rPr lang="en-US" altLang="zh-TW" dirty="0" smtClean="0"/>
              <a:t> </a:t>
            </a:r>
          </a:p>
          <a:p>
            <a:endParaRPr lang="en-US" altLang="zh-TW" dirty="0" smtClean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2852936"/>
            <a:ext cx="3811116" cy="3111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Static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Static space </a:t>
            </a:r>
          </a:p>
          <a:p>
            <a:pPr lvl="1"/>
            <a:r>
              <a:rPr lang="en-US" altLang="zh-TW" dirty="0" smtClean="0"/>
              <a:t>Web service source files</a:t>
            </a:r>
          </a:p>
          <a:p>
            <a:pPr lvl="1"/>
            <a:r>
              <a:rPr lang="en-US" altLang="zh-TW" dirty="0" smtClean="0"/>
              <a:t>Configure file</a:t>
            </a:r>
          </a:p>
          <a:p>
            <a:pPr lvl="1"/>
            <a:r>
              <a:rPr lang="en-US" altLang="zh-TW" dirty="0" smtClean="0"/>
              <a:t>Background images</a:t>
            </a:r>
          </a:p>
          <a:p>
            <a:r>
              <a:rPr lang="en-US" altLang="zh-TW" dirty="0" err="1" smtClean="0"/>
              <a:t>Blobstore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Larger than 1MB file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Image</a:t>
            </a:r>
          </a:p>
          <a:p>
            <a:pPr lvl="2"/>
            <a:r>
              <a:rPr lang="en-US" altLang="zh-TW" dirty="0" smtClean="0"/>
              <a:t>Video or Music</a:t>
            </a:r>
          </a:p>
          <a:p>
            <a:pPr lvl="2"/>
            <a:r>
              <a:rPr lang="en-US" altLang="zh-TW" dirty="0" smtClean="0"/>
              <a:t>Execute file</a:t>
            </a:r>
          </a:p>
          <a:p>
            <a:pPr lvl="2"/>
            <a:r>
              <a:rPr lang="en-US" altLang="zh-TW" dirty="0" smtClean="0"/>
              <a:t>…etc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Dynamic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Dynamic provisioning which can dynamically insert, update, delete any data on demand.</a:t>
            </a:r>
          </a:p>
          <a:p>
            <a:pPr lvl="1"/>
            <a:r>
              <a:rPr lang="en-US" altLang="zh-TW" dirty="0" smtClean="0"/>
              <a:t>Each </a:t>
            </a:r>
            <a:r>
              <a:rPr lang="en-US" altLang="zh-TW" b="1" dirty="0" smtClean="0"/>
              <a:t>entity </a:t>
            </a:r>
            <a:r>
              <a:rPr lang="en-US" altLang="zh-TW" dirty="0" smtClean="0"/>
              <a:t>does not large than 1MB</a:t>
            </a:r>
          </a:p>
          <a:p>
            <a:r>
              <a:rPr lang="en-US" altLang="zh-TW" dirty="0" err="1" smtClean="0"/>
              <a:t>Memcache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On the usage of a memory cache is to speed up common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 queries.</a:t>
            </a:r>
          </a:p>
          <a:p>
            <a:pPr lvl="1"/>
            <a:r>
              <a:rPr lang="en-US" altLang="zh-TW" dirty="0" smtClean="0"/>
              <a:t>Values can expire from the </a:t>
            </a:r>
            <a:r>
              <a:rPr lang="en-US" altLang="zh-TW" dirty="0" err="1" smtClean="0"/>
              <a:t>memcache</a:t>
            </a:r>
            <a:r>
              <a:rPr lang="en-US" altLang="zh-TW" dirty="0" smtClean="0"/>
              <a:t> at any time, and may be expired prior to the expiration deadline set for the value.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Space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Static 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Blobstore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Datastore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Memcache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Static </a:t>
            </a:r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Source codes</a:t>
            </a:r>
          </a:p>
          <a:p>
            <a:pPr lvl="1"/>
            <a:r>
              <a:rPr lang="en-US" altLang="zh-TW" dirty="0" smtClean="0"/>
              <a:t>python codes</a:t>
            </a:r>
          </a:p>
          <a:p>
            <a:r>
              <a:rPr lang="en-US" altLang="zh-TW" dirty="0" smtClean="0"/>
              <a:t>YAML – (YAML </a:t>
            </a:r>
            <a:r>
              <a:rPr lang="en-US" altLang="zh-TW" dirty="0" err="1" smtClean="0"/>
              <a:t>Ain't</a:t>
            </a:r>
            <a:r>
              <a:rPr lang="en-US" altLang="zh-TW" dirty="0" smtClean="0"/>
              <a:t> a Markup Language)</a:t>
            </a:r>
          </a:p>
          <a:p>
            <a:pPr lvl="1"/>
            <a:r>
              <a:rPr lang="en-US" altLang="zh-TW" dirty="0" smtClean="0"/>
              <a:t>profile </a:t>
            </a:r>
          </a:p>
          <a:p>
            <a:r>
              <a:rPr lang="en-US" altLang="zh-TW" dirty="0" smtClean="0"/>
              <a:t>Static file</a:t>
            </a:r>
          </a:p>
          <a:p>
            <a:pPr lvl="1"/>
            <a:r>
              <a:rPr lang="en-US" altLang="zh-TW" dirty="0" smtClean="0"/>
              <a:t>Background image </a:t>
            </a:r>
          </a:p>
          <a:p>
            <a:pPr lvl="1"/>
            <a:r>
              <a:rPr lang="en-US" altLang="zh-TW" dirty="0" smtClean="0"/>
              <a:t>.</a:t>
            </a:r>
            <a:r>
              <a:rPr lang="en-US" altLang="zh-TW" dirty="0" err="1" smtClean="0"/>
              <a:t>css</a:t>
            </a:r>
            <a:r>
              <a:rPr lang="en-US" altLang="zh-TW" dirty="0" smtClean="0"/>
              <a:t> template </a:t>
            </a:r>
          </a:p>
          <a:p>
            <a:pPr lvl="1"/>
            <a:r>
              <a:rPr lang="en-US" altLang="zh-TW" dirty="0" err="1" smtClean="0"/>
              <a:t>Javascript</a:t>
            </a:r>
            <a:r>
              <a:rPr lang="en-US" altLang="zh-TW" dirty="0" smtClean="0"/>
              <a:t> source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Project 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>
                <a:solidFill>
                  <a:srgbClr val="C00000"/>
                </a:solidFill>
              </a:rPr>
              <a:t>my_application</a:t>
            </a:r>
            <a:r>
              <a:rPr lang="en-US" altLang="zh-TW" dirty="0" smtClean="0">
                <a:solidFill>
                  <a:srgbClr val="C00000"/>
                </a:solidFill>
              </a:rPr>
              <a:t>/</a:t>
            </a:r>
          </a:p>
          <a:p>
            <a:pPr>
              <a:buNone/>
            </a:pPr>
            <a:r>
              <a:rPr lang="en-US" altLang="zh-TW" dirty="0" smtClean="0">
                <a:solidFill>
                  <a:srgbClr val="C00000"/>
                </a:solidFill>
              </a:rPr>
              <a:t>		</a:t>
            </a:r>
            <a:r>
              <a:rPr lang="en-US" altLang="zh-TW" dirty="0" smtClean="0">
                <a:solidFill>
                  <a:srgbClr val="002060"/>
                </a:solidFill>
              </a:rPr>
              <a:t>|</a:t>
            </a:r>
          </a:p>
          <a:p>
            <a:pPr>
              <a:buNone/>
            </a:pPr>
            <a:r>
              <a:rPr lang="en-US" altLang="zh-TW" dirty="0" smtClean="0"/>
              <a:t>		|- </a:t>
            </a:r>
            <a:r>
              <a:rPr lang="en-US" altLang="zh-TW" dirty="0" err="1" smtClean="0"/>
              <a:t>app.yaml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		|- main.py</a:t>
            </a:r>
          </a:p>
          <a:p>
            <a:pPr>
              <a:buNone/>
            </a:pPr>
            <a:r>
              <a:rPr lang="en-US" altLang="zh-TW" dirty="0" smtClean="0"/>
              <a:t>		|- </a:t>
            </a:r>
            <a:r>
              <a:rPr lang="en-US" altLang="zh-TW" dirty="0" err="1" smtClean="0">
                <a:solidFill>
                  <a:srgbClr val="C00000"/>
                </a:solidFill>
              </a:rPr>
              <a:t>static_file</a:t>
            </a:r>
            <a:r>
              <a:rPr lang="en-US" altLang="zh-TW" dirty="0" smtClean="0">
                <a:solidFill>
                  <a:srgbClr val="C00000"/>
                </a:solidFill>
              </a:rPr>
              <a:t>/</a:t>
            </a:r>
          </a:p>
          <a:p>
            <a:pPr>
              <a:buNone/>
            </a:pPr>
            <a:r>
              <a:rPr lang="en-US" altLang="zh-TW" dirty="0" smtClean="0"/>
              <a:t>			|</a:t>
            </a:r>
          </a:p>
          <a:p>
            <a:pPr>
              <a:buNone/>
            </a:pPr>
            <a:r>
              <a:rPr lang="en-US" altLang="zh-TW" dirty="0" smtClean="0"/>
              <a:t>			|- background.png</a:t>
            </a:r>
          </a:p>
          <a:p>
            <a:pPr>
              <a:buNone/>
            </a:pPr>
            <a:r>
              <a:rPr lang="en-US" altLang="zh-TW" dirty="0" smtClean="0"/>
              <a:t>			|- setting.css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YAML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Script handlers</a:t>
            </a:r>
          </a:p>
          <a:p>
            <a:pPr lvl="1"/>
            <a:r>
              <a:rPr lang="en-US" altLang="zh-TW" dirty="0" smtClean="0"/>
              <a:t>The URL pattern, as a regular expression.</a:t>
            </a:r>
          </a:p>
          <a:p>
            <a:pPr lvl="1"/>
            <a:r>
              <a:rPr lang="en-US" altLang="zh-TW" dirty="0" smtClean="0"/>
              <a:t>The path to the script, from the application root directory.</a:t>
            </a:r>
          </a:p>
          <a:p>
            <a:r>
              <a:rPr lang="en-US" altLang="zh-TW" dirty="0" err="1" smtClean="0"/>
              <a:t>static_dir</a:t>
            </a:r>
            <a:r>
              <a:rPr lang="en-US" altLang="zh-TW" dirty="0" smtClean="0"/>
              <a:t> and </a:t>
            </a:r>
            <a:r>
              <a:rPr lang="en-US" altLang="zh-TW" dirty="0" err="1" smtClean="0"/>
              <a:t>static_files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Static files are not available in the application's file system.</a:t>
            </a:r>
          </a:p>
        </p:txBody>
      </p:sp>
      <p:grpSp>
        <p:nvGrpSpPr>
          <p:cNvPr id="3" name="群組 8"/>
          <p:cNvGrpSpPr/>
          <p:nvPr/>
        </p:nvGrpSpPr>
        <p:grpSpPr>
          <a:xfrm>
            <a:off x="5220072" y="1340768"/>
            <a:ext cx="3435621" cy="4247317"/>
            <a:chOff x="5220072" y="1628800"/>
            <a:chExt cx="3435621" cy="4247317"/>
          </a:xfrm>
        </p:grpSpPr>
        <p:sp>
          <p:nvSpPr>
            <p:cNvPr id="4" name="文字方塊 3"/>
            <p:cNvSpPr txBox="1"/>
            <p:nvPr/>
          </p:nvSpPr>
          <p:spPr>
            <a:xfrm>
              <a:off x="5220072" y="1628800"/>
              <a:ext cx="3435621" cy="42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application: </a:t>
              </a:r>
              <a:r>
                <a:rPr lang="en-US" altLang="zh-TW" dirty="0" err="1" smtClean="0"/>
                <a:t>myapp</a:t>
              </a:r>
              <a:r>
                <a:rPr lang="en-US" altLang="zh-TW" dirty="0" smtClean="0"/>
                <a:t> </a:t>
              </a:r>
            </a:p>
            <a:p>
              <a:r>
                <a:rPr lang="en-US" altLang="zh-TW" dirty="0" smtClean="0"/>
                <a:t>version: 1 </a:t>
              </a:r>
            </a:p>
            <a:p>
              <a:r>
                <a:rPr lang="en-US" altLang="zh-TW" dirty="0" smtClean="0"/>
                <a:t>runtime: python </a:t>
              </a:r>
            </a:p>
            <a:p>
              <a:r>
                <a:rPr lang="en-US" altLang="zh-TW" dirty="0" err="1" smtClean="0"/>
                <a:t>api_version</a:t>
              </a:r>
              <a:r>
                <a:rPr lang="en-US" altLang="zh-TW" dirty="0" smtClean="0"/>
                <a:t>: 1 </a:t>
              </a:r>
            </a:p>
            <a:p>
              <a:endParaRPr lang="en-US" altLang="zh-TW" dirty="0" smtClean="0"/>
            </a:p>
            <a:p>
              <a:r>
                <a:rPr lang="en-US" altLang="zh-TW" dirty="0" smtClean="0"/>
                <a:t>handlers:  </a:t>
              </a:r>
            </a:p>
            <a:p>
              <a:r>
                <a:rPr lang="en-US" altLang="zh-TW" dirty="0" smtClean="0"/>
                <a:t>  - </a:t>
              </a:r>
              <a:r>
                <a:rPr lang="en-US" altLang="zh-TW" dirty="0" err="1" smtClean="0"/>
                <a:t>url</a:t>
              </a:r>
              <a:r>
                <a:rPr lang="en-US" altLang="zh-TW" dirty="0" smtClean="0"/>
                <a:t>: / </a:t>
              </a:r>
            </a:p>
            <a:p>
              <a:r>
                <a:rPr lang="en-US" altLang="zh-TW" dirty="0" smtClean="0"/>
                <a:t>    script: home.py </a:t>
              </a:r>
            </a:p>
            <a:p>
              <a:endParaRPr lang="en-US" altLang="zh-TW" dirty="0" smtClean="0"/>
            </a:p>
            <a:p>
              <a:r>
                <a:rPr lang="en-US" altLang="zh-TW" dirty="0" smtClean="0"/>
                <a:t>  - </a:t>
              </a:r>
              <a:r>
                <a:rPr lang="en-US" altLang="zh-TW" dirty="0" err="1" smtClean="0"/>
                <a:t>url</a:t>
              </a:r>
              <a:r>
                <a:rPr lang="en-US" altLang="zh-TW" dirty="0" smtClean="0"/>
                <a:t>: /</a:t>
              </a:r>
              <a:r>
                <a:rPr lang="en-US" altLang="zh-TW" dirty="0" err="1" smtClean="0"/>
                <a:t>stylesheets</a:t>
              </a:r>
              <a:r>
                <a:rPr lang="en-US" altLang="zh-TW" dirty="0" smtClean="0"/>
                <a:t> </a:t>
              </a:r>
            </a:p>
            <a:p>
              <a:r>
                <a:rPr lang="en-US" altLang="zh-TW" dirty="0" smtClean="0"/>
                <a:t>    </a:t>
              </a:r>
              <a:r>
                <a:rPr lang="en-US" altLang="zh-TW" dirty="0" err="1" smtClean="0"/>
                <a:t>static_dir</a:t>
              </a:r>
              <a:r>
                <a:rPr lang="en-US" altLang="zh-TW" dirty="0" smtClean="0"/>
                <a:t>: </a:t>
              </a:r>
              <a:r>
                <a:rPr lang="en-US" altLang="zh-TW" dirty="0" err="1" smtClean="0"/>
                <a:t>stylesheets</a:t>
              </a:r>
              <a:r>
                <a:rPr lang="en-US" altLang="zh-TW" dirty="0" smtClean="0"/>
                <a:t> </a:t>
              </a:r>
            </a:p>
            <a:p>
              <a:endParaRPr lang="en-US" altLang="zh-TW" dirty="0" smtClean="0"/>
            </a:p>
            <a:p>
              <a:r>
                <a:rPr lang="en-US" altLang="zh-TW" dirty="0" smtClean="0"/>
                <a:t>  - </a:t>
              </a:r>
              <a:r>
                <a:rPr lang="en-US" altLang="zh-TW" dirty="0" err="1" smtClean="0"/>
                <a:t>url</a:t>
              </a:r>
              <a:r>
                <a:rPr lang="en-US" altLang="zh-TW" dirty="0" smtClean="0"/>
                <a:t>: /(.*\.(</a:t>
              </a:r>
              <a:r>
                <a:rPr lang="en-US" altLang="zh-TW" dirty="0" err="1" smtClean="0"/>
                <a:t>gif|png|jpg</a:t>
              </a:r>
              <a:r>
                <a:rPr lang="en-US" altLang="zh-TW" dirty="0" smtClean="0"/>
                <a:t>)) </a:t>
              </a:r>
            </a:p>
            <a:p>
              <a:r>
                <a:rPr lang="en-US" altLang="zh-TW" dirty="0" smtClean="0"/>
                <a:t>    </a:t>
              </a:r>
              <a:r>
                <a:rPr lang="en-US" altLang="zh-TW" dirty="0" err="1" smtClean="0"/>
                <a:t>static_files</a:t>
              </a:r>
              <a:r>
                <a:rPr lang="en-US" altLang="zh-TW" dirty="0" smtClean="0"/>
                <a:t>: static/\1 </a:t>
              </a:r>
            </a:p>
            <a:p>
              <a:r>
                <a:rPr lang="en-US" altLang="zh-TW" dirty="0" smtClean="0"/>
                <a:t>    upload: static/(.*\.(</a:t>
              </a:r>
              <a:r>
                <a:rPr lang="en-US" altLang="zh-TW" dirty="0" err="1" smtClean="0"/>
                <a:t>gif|png|jpg</a:t>
              </a:r>
              <a:r>
                <a:rPr lang="en-US" altLang="zh-TW" dirty="0" smtClean="0"/>
                <a:t>))</a:t>
              </a:r>
              <a:endParaRPr lang="zh-TW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265952" y="1683390"/>
              <a:ext cx="1898335" cy="1601594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/>
        </p:nvSpPr>
        <p:spPr>
          <a:xfrm>
            <a:off x="5220072" y="5877272"/>
            <a:ext cx="1482906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Hint: </a:t>
            </a:r>
          </a:p>
          <a:p>
            <a:r>
              <a:rPr lang="en-US" altLang="zh-TW" dirty="0" smtClean="0"/>
              <a:t>    variable: .*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Space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Static </a:t>
            </a:r>
          </a:p>
          <a:p>
            <a:r>
              <a:rPr lang="en-US" altLang="zh-TW" dirty="0" err="1" smtClean="0"/>
              <a:t>Blobstore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Datastore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Memcache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Blobstore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02832" cy="4525963"/>
          </a:xfrm>
        </p:spPr>
        <p:txBody>
          <a:bodyPr/>
          <a:lstStyle/>
          <a:p>
            <a:r>
              <a:rPr lang="en-US" altLang="zh-TW" dirty="0" smtClean="0"/>
              <a:t>In GAE, large file cannot be used in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Instead, GAE provides </a:t>
            </a:r>
            <a:r>
              <a:rPr lang="en-US" altLang="zh-TW" dirty="0" err="1" smtClean="0"/>
              <a:t>blobstore</a:t>
            </a:r>
            <a:r>
              <a:rPr lang="en-US" altLang="zh-TW" dirty="0" smtClean="0"/>
              <a:t> to store large file</a:t>
            </a:r>
          </a:p>
          <a:p>
            <a:pPr lvl="1"/>
            <a:r>
              <a:rPr lang="en-US" altLang="zh-TW" dirty="0" smtClean="0"/>
              <a:t>.bmp image </a:t>
            </a:r>
          </a:p>
          <a:p>
            <a:pPr lvl="1"/>
            <a:r>
              <a:rPr lang="en-US" altLang="zh-TW" dirty="0" smtClean="0"/>
              <a:t>video</a:t>
            </a:r>
          </a:p>
          <a:p>
            <a:r>
              <a:rPr lang="en-US" altLang="zh-TW" dirty="0" err="1" smtClean="0"/>
              <a:t>Blobstore</a:t>
            </a:r>
            <a:r>
              <a:rPr lang="en-US" altLang="zh-TW" dirty="0" smtClean="0"/>
              <a:t> can only be used like as a CD.</a:t>
            </a:r>
          </a:p>
          <a:p>
            <a:endParaRPr lang="en-US" altLang="zh-TW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1772816"/>
            <a:ext cx="3024336" cy="3879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sp>
        <p:nvSpPr>
          <p:cNvPr id="7" name="立方體 6"/>
          <p:cNvSpPr/>
          <p:nvPr/>
        </p:nvSpPr>
        <p:spPr>
          <a:xfrm>
            <a:off x="5940152" y="1772816"/>
            <a:ext cx="2376264" cy="3960440"/>
          </a:xfrm>
          <a:prstGeom prst="cub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 smtClean="0"/>
              <a:t>Blobstore</a:t>
            </a:r>
            <a:endParaRPr lang="zh-TW" altLang="en-US" sz="2800" dirty="0"/>
          </a:p>
        </p:txBody>
      </p:sp>
      <p:sp>
        <p:nvSpPr>
          <p:cNvPr id="8" name="流程圖: 文件 7"/>
          <p:cNvSpPr/>
          <p:nvPr/>
        </p:nvSpPr>
        <p:spPr>
          <a:xfrm>
            <a:off x="611560" y="1196752"/>
            <a:ext cx="936104" cy="1224136"/>
          </a:xfrm>
          <a:prstGeom prst="flowChartDocumen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Text </a:t>
            </a:r>
            <a:endParaRPr lang="zh-TW" altLang="en-US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1691680" y="1844824"/>
            <a:ext cx="3960440" cy="792088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907704" y="3789040"/>
            <a:ext cx="3744416" cy="73596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068960"/>
            <a:ext cx="1372170" cy="1181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797152"/>
            <a:ext cx="1901011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0" name="直線單箭頭接點 19"/>
          <p:cNvCxnSpPr/>
          <p:nvPr/>
        </p:nvCxnSpPr>
        <p:spPr>
          <a:xfrm flipV="1">
            <a:off x="2555776" y="4942756"/>
            <a:ext cx="3240360" cy="862508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Function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475656" y="1988840"/>
            <a:ext cx="6705875" cy="15696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from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google.appengine.ext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import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blobstore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en-US" altLang="zh-TW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upload_url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altLang="zh-TW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blobstore.create_upload_url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('/upload')</a:t>
            </a:r>
          </a:p>
          <a:p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redirect to /upload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475656" y="4365104"/>
            <a:ext cx="5281574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class</a:t>
            </a:r>
            <a:r>
              <a:rPr lang="en-US" altLang="zh-TW" dirty="0" smtClean="0"/>
              <a:t> __</a:t>
            </a:r>
            <a:r>
              <a:rPr lang="en-US" altLang="zh-TW" dirty="0" err="1" smtClean="0"/>
              <a:t>BlobInfo</a:t>
            </a:r>
            <a:r>
              <a:rPr lang="en-US" altLang="zh-TW" dirty="0" smtClean="0"/>
              <a:t>__(</a:t>
            </a:r>
            <a:r>
              <a:rPr lang="en-US" altLang="zh-TW" dirty="0" err="1" smtClean="0"/>
              <a:t>db.Model</a:t>
            </a:r>
            <a:r>
              <a:rPr lang="en-US" altLang="zh-TW" dirty="0" smtClean="0"/>
              <a:t>):</a:t>
            </a:r>
          </a:p>
          <a:p>
            <a:r>
              <a:rPr lang="en-US" altLang="zh-TW" dirty="0" smtClean="0"/>
              <a:t>	</a:t>
            </a:r>
            <a:r>
              <a:rPr lang="en-US" altLang="zh-TW" dirty="0" err="1" smtClean="0"/>
              <a:t>content_type</a:t>
            </a:r>
            <a:r>
              <a:rPr lang="en-US" altLang="zh-TW" dirty="0" smtClean="0"/>
              <a:t> 	= </a:t>
            </a:r>
            <a:r>
              <a:rPr lang="en-US" altLang="zh-TW" dirty="0" err="1" smtClean="0"/>
              <a:t>db.StringProperty</a:t>
            </a:r>
            <a:r>
              <a:rPr lang="en-US" altLang="zh-TW" dirty="0" smtClean="0"/>
              <a:t>()</a:t>
            </a:r>
          </a:p>
          <a:p>
            <a:r>
              <a:rPr lang="en-US" altLang="zh-TW" dirty="0" smtClean="0"/>
              <a:t>	creation		= </a:t>
            </a:r>
            <a:r>
              <a:rPr lang="en-US" altLang="zh-TW" dirty="0" err="1" smtClean="0"/>
              <a:t>db.DataTimeProperty</a:t>
            </a:r>
            <a:r>
              <a:rPr lang="en-US" altLang="zh-TW" dirty="0" smtClean="0"/>
              <a:t>()</a:t>
            </a:r>
          </a:p>
          <a:p>
            <a:r>
              <a:rPr lang="en-US" altLang="zh-TW" dirty="0" smtClean="0"/>
              <a:t>	filename		= </a:t>
            </a:r>
            <a:r>
              <a:rPr lang="en-US" altLang="zh-TW" dirty="0" err="1" smtClean="0"/>
              <a:t>db.StringProperty</a:t>
            </a:r>
            <a:r>
              <a:rPr lang="en-US" altLang="zh-TW" dirty="0" smtClean="0"/>
              <a:t>()</a:t>
            </a:r>
          </a:p>
          <a:p>
            <a:r>
              <a:rPr lang="en-US" altLang="zh-TW" dirty="0" smtClean="0"/>
              <a:t>	size		= </a:t>
            </a:r>
            <a:r>
              <a:rPr lang="en-US" altLang="zh-TW" dirty="0" err="1" smtClean="0"/>
              <a:t>db.IntegerProperty</a:t>
            </a:r>
            <a:r>
              <a:rPr lang="en-US" altLang="zh-TW" dirty="0" smtClean="0"/>
              <a:t>()</a:t>
            </a:r>
          </a:p>
        </p:txBody>
      </p:sp>
      <p:grpSp>
        <p:nvGrpSpPr>
          <p:cNvPr id="6" name="群組 10"/>
          <p:cNvGrpSpPr/>
          <p:nvPr/>
        </p:nvGrpSpPr>
        <p:grpSpPr>
          <a:xfrm>
            <a:off x="827584" y="2748990"/>
            <a:ext cx="2088232" cy="1368152"/>
            <a:chOff x="35496" y="3284984"/>
            <a:chExt cx="2088232" cy="1368152"/>
          </a:xfrm>
        </p:grpSpPr>
        <p:sp>
          <p:nvSpPr>
            <p:cNvPr id="7" name="矩形 6"/>
            <p:cNvSpPr/>
            <p:nvPr/>
          </p:nvSpPr>
          <p:spPr>
            <a:xfrm>
              <a:off x="755576" y="3284984"/>
              <a:ext cx="1368152" cy="36004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接點 8"/>
            <p:cNvCxnSpPr/>
            <p:nvPr/>
          </p:nvCxnSpPr>
          <p:spPr>
            <a:xfrm rot="10800000" flipV="1">
              <a:off x="107504" y="3604954"/>
              <a:ext cx="648072" cy="6080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35496" y="4253026"/>
              <a:ext cx="1630318" cy="40011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dirty="0" smtClean="0"/>
                <a:t>Storage space</a:t>
              </a:r>
              <a:endParaRPr lang="zh-TW" alt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14700" r="75982" b="63600"/>
          <a:stretch>
            <a:fillRect/>
          </a:stretch>
        </p:blipFill>
        <p:spPr bwMode="auto">
          <a:xfrm>
            <a:off x="251520" y="1700808"/>
            <a:ext cx="4392488" cy="223224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2132856"/>
            <a:ext cx="6336704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Sketch 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707904" y="1700808"/>
            <a:ext cx="1080120" cy="100811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/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907704" y="4005064"/>
            <a:ext cx="1080120" cy="100811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/upload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724128" y="4005064"/>
            <a:ext cx="1080120" cy="100811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/serve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32040" y="1772816"/>
            <a:ext cx="33070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/>
              <a:t>Create upload URL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Submit something to this URL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Redirect to /upload 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 rot="5400000">
            <a:off x="2555776" y="2852936"/>
            <a:ext cx="1152128" cy="864096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043608" y="5229200"/>
            <a:ext cx="2790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dirty="0" smtClean="0"/>
              <a:t>Parse upload file</a:t>
            </a:r>
          </a:p>
          <a:p>
            <a:pPr marL="342900" indent="-342900">
              <a:buAutoNum type="arabicPeriod"/>
            </a:pPr>
            <a:r>
              <a:rPr lang="en-US" altLang="zh-TW" dirty="0" smtClean="0"/>
              <a:t>Redirect to /</a:t>
            </a:r>
            <a:r>
              <a:rPr lang="en-US" altLang="zh-TW" dirty="0" err="1" smtClean="0"/>
              <a:t>serve?XXXX</a:t>
            </a:r>
            <a:endParaRPr lang="en-US" altLang="zh-TW" dirty="0" smtClean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3275856" y="4437112"/>
            <a:ext cx="2088232" cy="1588"/>
          </a:xfrm>
          <a:prstGeom prst="straightConnector1">
            <a:avLst/>
          </a:prstGeom>
          <a:ln>
            <a:prstDash val="lg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580112" y="52292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1.Send file  </a:t>
            </a:r>
            <a:endParaRPr lang="zh-TW" altLang="en-US" dirty="0"/>
          </a:p>
        </p:txBody>
      </p:sp>
      <p:sp>
        <p:nvSpPr>
          <p:cNvPr id="15" name="弧形 14"/>
          <p:cNvSpPr/>
          <p:nvPr/>
        </p:nvSpPr>
        <p:spPr>
          <a:xfrm>
            <a:off x="6372200" y="3429000"/>
            <a:ext cx="1440160" cy="936104"/>
          </a:xfrm>
          <a:prstGeom prst="arc">
            <a:avLst>
              <a:gd name="adj1" fmla="val 10783837"/>
              <a:gd name="adj2" fmla="val 17201075"/>
            </a:avLst>
          </a:prstGeom>
          <a:ln>
            <a:tailEnd type="stealt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/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95536" y="1772816"/>
            <a:ext cx="8468857" cy="34778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class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MainHandler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>
                <a:solidFill>
                  <a:srgbClr val="0070C0"/>
                </a:solidFill>
              </a:rPr>
              <a:t>webapp.RequestHandler</a:t>
            </a:r>
            <a:r>
              <a:rPr lang="en-US" altLang="zh-TW" sz="2000" dirty="0" smtClean="0"/>
              <a:t>):</a:t>
            </a:r>
          </a:p>
          <a:p>
            <a:r>
              <a:rPr lang="en-US" altLang="zh-TW" sz="2000" dirty="0" smtClean="0"/>
              <a:t>    </a:t>
            </a:r>
            <a:r>
              <a:rPr lang="en-US" altLang="zh-TW" sz="2000" dirty="0" smtClean="0">
                <a:solidFill>
                  <a:srgbClr val="0070C0"/>
                </a:solidFill>
              </a:rPr>
              <a:t>def</a:t>
            </a:r>
            <a:r>
              <a:rPr lang="en-US" altLang="zh-TW" sz="2000" dirty="0" smtClean="0"/>
              <a:t> get(</a:t>
            </a:r>
            <a:r>
              <a:rPr lang="en-US" altLang="zh-TW" sz="2000" dirty="0" smtClean="0">
                <a:solidFill>
                  <a:srgbClr val="C00000"/>
                </a:solidFill>
              </a:rPr>
              <a:t>self</a:t>
            </a:r>
            <a:r>
              <a:rPr lang="en-US" altLang="zh-TW" sz="2000" dirty="0" smtClean="0"/>
              <a:t>):</a:t>
            </a:r>
          </a:p>
          <a:p>
            <a:r>
              <a:rPr lang="en-US" altLang="zh-TW" sz="2000" dirty="0" smtClean="0"/>
              <a:t>       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upload_url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blobstore.create_upload_url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('/test')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self.response.out.write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('&lt;html&gt;&lt;body&gt;')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self.response.out.write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'&lt;form action="%s" method="POST"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enctype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="multipart/form-data"&gt;' 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%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upload_url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self.response.out.write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"""Upload File: &lt;input type="file" name="file"&gt;&lt;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br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&gt; 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&lt;input type="submit“ name="submit" value="Submit"&gt;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&lt;/form&gt;&lt;/body&gt;&lt;/html&gt;""")</a:t>
            </a:r>
          </a:p>
        </p:txBody>
      </p:sp>
      <p:sp>
        <p:nvSpPr>
          <p:cNvPr id="4" name="矩形 3"/>
          <p:cNvSpPr/>
          <p:nvPr/>
        </p:nvSpPr>
        <p:spPr>
          <a:xfrm>
            <a:off x="1331640" y="3356992"/>
            <a:ext cx="7344816" cy="28803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/upload  </a:t>
            </a:r>
            <a:r>
              <a:rPr lang="en-US" altLang="zh-TW" sz="2800" dirty="0" smtClean="0"/>
              <a:t>&amp; </a:t>
            </a:r>
            <a:r>
              <a:rPr lang="en-US" altLang="zh-TW" dirty="0" smtClean="0"/>
              <a:t> /serve 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395536" y="1772816"/>
            <a:ext cx="8315994" cy="16312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class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UploadHandler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>
                <a:solidFill>
                  <a:srgbClr val="0070C0"/>
                </a:solidFill>
              </a:rPr>
              <a:t>blobstore_handlers.BlobstoreUploadHandler</a:t>
            </a:r>
            <a:r>
              <a:rPr lang="en-US" altLang="zh-TW" sz="2000" dirty="0" smtClean="0"/>
              <a:t>):</a:t>
            </a:r>
          </a:p>
          <a:p>
            <a:r>
              <a:rPr lang="en-US" altLang="zh-TW" sz="2000" dirty="0" smtClean="0"/>
              <a:t>    </a:t>
            </a:r>
            <a:r>
              <a:rPr lang="en-US" altLang="zh-TW" sz="2000" dirty="0" smtClean="0">
                <a:solidFill>
                  <a:srgbClr val="0070C0"/>
                </a:solidFill>
              </a:rPr>
              <a:t>def</a:t>
            </a:r>
            <a:r>
              <a:rPr lang="en-US" altLang="zh-TW" sz="2000" dirty="0" smtClean="0"/>
              <a:t> post(</a:t>
            </a:r>
            <a:r>
              <a:rPr lang="en-US" altLang="zh-TW" sz="2000" dirty="0" smtClean="0">
                <a:solidFill>
                  <a:srgbClr val="C00000"/>
                </a:solidFill>
              </a:rPr>
              <a:t>self</a:t>
            </a:r>
            <a:r>
              <a:rPr lang="en-US" altLang="zh-TW" sz="2000" dirty="0" smtClean="0"/>
              <a:t>):</a:t>
            </a:r>
          </a:p>
          <a:p>
            <a:r>
              <a:rPr lang="en-US" altLang="zh-TW" sz="2000" dirty="0" smtClean="0"/>
              <a:t>        </a:t>
            </a:r>
            <a:r>
              <a:rPr lang="en-US" altLang="zh-TW" sz="2000" dirty="0" err="1" smtClean="0"/>
              <a:t>upload_files</a:t>
            </a:r>
            <a:r>
              <a:rPr lang="en-US" altLang="zh-TW" sz="2000" dirty="0" smtClean="0"/>
              <a:t> =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self.get_uploads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('file')  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'file' is file upload field in the form</a:t>
            </a:r>
          </a:p>
          <a:p>
            <a:r>
              <a:rPr lang="en-US" altLang="zh-TW" sz="2000" dirty="0" smtClean="0"/>
              <a:t>        </a:t>
            </a:r>
            <a:r>
              <a:rPr lang="en-US" altLang="zh-TW" sz="2000" dirty="0" err="1" smtClean="0"/>
              <a:t>blob_info</a:t>
            </a:r>
            <a:r>
              <a:rPr lang="en-US" altLang="zh-TW" sz="2000" dirty="0" smtClean="0"/>
              <a:t> = </a:t>
            </a:r>
            <a:r>
              <a:rPr lang="en-US" altLang="zh-TW" sz="2000" dirty="0" err="1" smtClean="0"/>
              <a:t>upload_files</a:t>
            </a:r>
            <a:r>
              <a:rPr lang="en-US" altLang="zh-TW" sz="2000" dirty="0" smtClean="0"/>
              <a:t>[0]</a:t>
            </a:r>
          </a:p>
          <a:p>
            <a:r>
              <a:rPr lang="en-US" altLang="zh-TW" sz="2000" dirty="0" smtClean="0"/>
              <a:t>       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self.redirect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('/serve/%s' </a:t>
            </a:r>
            <a:r>
              <a:rPr lang="en-US" altLang="zh-TW" sz="2000" dirty="0" smtClean="0"/>
              <a:t>% blob_info.key())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395536" y="4077072"/>
            <a:ext cx="7348487" cy="22467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class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ServeHandler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>
                <a:solidFill>
                  <a:srgbClr val="0070C0"/>
                </a:solidFill>
              </a:rPr>
              <a:t>blobstore_handlers.BlobstoreDownloadHandler</a:t>
            </a:r>
            <a:r>
              <a:rPr lang="en-US" altLang="zh-TW" sz="2000" dirty="0" smtClean="0"/>
              <a:t>):</a:t>
            </a:r>
            <a:br>
              <a:rPr lang="en-US" altLang="zh-TW" sz="2000" dirty="0" smtClean="0"/>
            </a:br>
            <a:r>
              <a:rPr lang="en-US" altLang="zh-TW" sz="2000" dirty="0" smtClean="0"/>
              <a:t>    </a:t>
            </a:r>
            <a:r>
              <a:rPr lang="en-US" altLang="zh-TW" sz="2000" dirty="0" smtClean="0">
                <a:solidFill>
                  <a:srgbClr val="0070C0"/>
                </a:solidFill>
              </a:rPr>
              <a:t>def</a:t>
            </a:r>
            <a:r>
              <a:rPr lang="en-US" altLang="zh-TW" sz="2000" dirty="0" smtClean="0"/>
              <a:t> get(</a:t>
            </a:r>
            <a:r>
              <a:rPr lang="en-US" altLang="zh-TW" sz="2000" dirty="0" smtClean="0">
                <a:solidFill>
                  <a:srgbClr val="C00000"/>
                </a:solidFill>
              </a:rPr>
              <a:t>self</a:t>
            </a:r>
            <a:r>
              <a:rPr lang="en-US" altLang="zh-TW" sz="2000" dirty="0" smtClean="0"/>
              <a:t>, </a:t>
            </a:r>
            <a:r>
              <a:rPr lang="en-US" altLang="zh-TW" sz="2000" dirty="0" smtClean="0">
                <a:solidFill>
                  <a:srgbClr val="C00000"/>
                </a:solidFill>
              </a:rPr>
              <a:t>resource</a:t>
            </a:r>
            <a:r>
              <a:rPr lang="en-US" altLang="zh-TW" sz="2000" dirty="0" smtClean="0"/>
              <a:t>):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resource = </a:t>
            </a:r>
            <a:r>
              <a:rPr lang="en-US" altLang="zh-TW" sz="2000" dirty="0" err="1" smtClean="0"/>
              <a:t>str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urllib.unquote</a:t>
            </a:r>
            <a:r>
              <a:rPr lang="en-US" altLang="zh-TW" sz="2000" dirty="0" smtClean="0"/>
              <a:t>(resource))</a:t>
            </a:r>
          </a:p>
          <a:p>
            <a:r>
              <a:rPr lang="en-US" altLang="zh-TW" sz="2000" dirty="0" smtClean="0"/>
              <a:t>        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e.g. unquote(‘abc%20def’) = ‘</a:t>
            </a:r>
            <a:r>
              <a:rPr lang="en-US" altLang="zh-TW" sz="2000" dirty="0" err="1" smtClean="0">
                <a:solidFill>
                  <a:schemeClr val="bg1">
                    <a:lumMod val="50000"/>
                  </a:schemeClr>
                </a:solidFill>
              </a:rPr>
              <a:t>abc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 def’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        </a:t>
            </a:r>
            <a:r>
              <a:rPr lang="en-US" altLang="zh-TW" sz="2000" dirty="0" err="1" smtClean="0"/>
              <a:t>blob_info</a:t>
            </a:r>
            <a:r>
              <a:rPr lang="en-US" altLang="zh-TW" sz="2000" dirty="0" smtClean="0"/>
              <a:t> = </a:t>
            </a:r>
            <a:r>
              <a:rPr lang="en-US" altLang="zh-TW" sz="2000" dirty="0" err="1" smtClean="0"/>
              <a:t>blobstore.BlobInfo.get</a:t>
            </a:r>
            <a:r>
              <a:rPr lang="en-US" altLang="zh-TW" sz="2000" dirty="0" smtClean="0"/>
              <a:t>(resource)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</a:t>
            </a:r>
            <a:r>
              <a:rPr lang="en-US" altLang="zh-TW" sz="2000" dirty="0" err="1" smtClean="0"/>
              <a:t>self.send_blob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blob_info</a:t>
            </a:r>
            <a:r>
              <a:rPr lang="en-US" altLang="zh-TW" sz="2000" dirty="0" smtClean="0"/>
              <a:t>)</a:t>
            </a:r>
            <a:br>
              <a:rPr lang="en-US" altLang="zh-TW" sz="2000" dirty="0" smtClean="0"/>
            </a:br>
            <a:endParaRPr lang="zh-TW" altLang="en-US" sz="2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395536" y="1268760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/upload 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5536" y="3573016"/>
            <a:ext cx="827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/serve </a:t>
            </a:r>
            <a:endParaRPr lang="zh-TW" altLang="en-US" dirty="0"/>
          </a:p>
        </p:txBody>
      </p:sp>
      <p:cxnSp>
        <p:nvCxnSpPr>
          <p:cNvPr id="11" name="直線接點 10"/>
          <p:cNvCxnSpPr/>
          <p:nvPr/>
        </p:nvCxnSpPr>
        <p:spPr>
          <a:xfrm>
            <a:off x="2627784" y="2132856"/>
            <a:ext cx="46805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2483768" y="4437112"/>
            <a:ext cx="489654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Space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Static</a:t>
            </a:r>
            <a:r>
              <a:rPr lang="en-US" altLang="zh-TW" dirty="0" smtClean="0"/>
              <a:t> 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Blobstore</a:t>
            </a:r>
            <a:endParaRPr lang="en-US" altLang="zh-TW" dirty="0" smtClean="0"/>
          </a:p>
          <a:p>
            <a:r>
              <a:rPr lang="en-US" altLang="zh-TW" dirty="0" err="1" smtClean="0"/>
              <a:t>Datastore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Memcache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Entity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GAE, every object is called </a:t>
            </a:r>
            <a:r>
              <a:rPr lang="en-US" altLang="zh-TW" b="1" dirty="0" smtClean="0"/>
              <a:t>entity</a:t>
            </a:r>
            <a:r>
              <a:rPr lang="en-US" altLang="zh-TW" dirty="0" smtClean="0"/>
              <a:t> in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Each entity has one or many properties that can describe the instance.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3501008"/>
            <a:ext cx="4136976" cy="3102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7"/>
          <p:cNvSpPr txBox="1"/>
          <p:nvPr/>
        </p:nvSpPr>
        <p:spPr>
          <a:xfrm>
            <a:off x="3635896" y="6237312"/>
            <a:ext cx="1449499" cy="40011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entity := Cat</a:t>
            </a:r>
            <a:endParaRPr lang="zh-TW" altLang="en-US" sz="2000" dirty="0"/>
          </a:p>
        </p:txBody>
      </p:sp>
      <p:grpSp>
        <p:nvGrpSpPr>
          <p:cNvPr id="2" name="群組 13"/>
          <p:cNvGrpSpPr/>
          <p:nvPr/>
        </p:nvGrpSpPr>
        <p:grpSpPr>
          <a:xfrm>
            <a:off x="6391954" y="3645024"/>
            <a:ext cx="1732406" cy="639363"/>
            <a:chOff x="6391954" y="3645024"/>
            <a:chExt cx="1732406" cy="639363"/>
          </a:xfrm>
        </p:grpSpPr>
        <p:sp>
          <p:nvSpPr>
            <p:cNvPr id="11" name="文字方塊 10"/>
            <p:cNvSpPr txBox="1"/>
            <p:nvPr/>
          </p:nvSpPr>
          <p:spPr>
            <a:xfrm>
              <a:off x="7236296" y="3645024"/>
              <a:ext cx="888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Age:= 1</a:t>
              </a:r>
              <a:endParaRPr lang="zh-TW" altLang="en-US" u="sng" dirty="0"/>
            </a:p>
          </p:txBody>
        </p:sp>
        <p:cxnSp>
          <p:nvCxnSpPr>
            <p:cNvPr id="13" name="直線接點 12"/>
            <p:cNvCxnSpPr/>
            <p:nvPr/>
          </p:nvCxnSpPr>
          <p:spPr>
            <a:xfrm rot="10800000" flipV="1">
              <a:off x="6391954" y="3964997"/>
              <a:ext cx="936104" cy="3193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群組 15"/>
          <p:cNvGrpSpPr/>
          <p:nvPr/>
        </p:nvGrpSpPr>
        <p:grpSpPr>
          <a:xfrm>
            <a:off x="6542344" y="4653136"/>
            <a:ext cx="2534250" cy="642258"/>
            <a:chOff x="6389944" y="3645024"/>
            <a:chExt cx="2534250" cy="642258"/>
          </a:xfrm>
        </p:grpSpPr>
        <p:sp>
          <p:nvSpPr>
            <p:cNvPr id="17" name="文字方塊 16"/>
            <p:cNvSpPr txBox="1"/>
            <p:nvPr/>
          </p:nvSpPr>
          <p:spPr>
            <a:xfrm>
              <a:off x="7236296" y="3645024"/>
              <a:ext cx="16878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Weight := 1.5KG</a:t>
              </a:r>
              <a:endParaRPr lang="zh-TW" altLang="en-US" u="sng" dirty="0"/>
            </a:p>
          </p:txBody>
        </p:sp>
        <p:cxnSp>
          <p:nvCxnSpPr>
            <p:cNvPr id="18" name="直線接點 17"/>
            <p:cNvCxnSpPr/>
            <p:nvPr/>
          </p:nvCxnSpPr>
          <p:spPr>
            <a:xfrm rot="10800000" flipV="1">
              <a:off x="6389944" y="3967892"/>
              <a:ext cx="936104" cy="3193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群組 18"/>
          <p:cNvGrpSpPr/>
          <p:nvPr/>
        </p:nvGrpSpPr>
        <p:grpSpPr>
          <a:xfrm>
            <a:off x="539552" y="3789040"/>
            <a:ext cx="2304582" cy="567355"/>
            <a:chOff x="7236296" y="3645024"/>
            <a:chExt cx="2304582" cy="567355"/>
          </a:xfrm>
        </p:grpSpPr>
        <p:sp>
          <p:nvSpPr>
            <p:cNvPr id="20" name="文字方塊 19"/>
            <p:cNvSpPr txBox="1"/>
            <p:nvPr/>
          </p:nvSpPr>
          <p:spPr>
            <a:xfrm>
              <a:off x="7236296" y="3645024"/>
              <a:ext cx="15406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Status:= sleep</a:t>
              </a:r>
              <a:endParaRPr lang="zh-TW" altLang="en-US" u="sng" dirty="0"/>
            </a:p>
          </p:txBody>
        </p:sp>
        <p:cxnSp>
          <p:nvCxnSpPr>
            <p:cNvPr id="21" name="直線接點 20"/>
            <p:cNvCxnSpPr/>
            <p:nvPr/>
          </p:nvCxnSpPr>
          <p:spPr>
            <a:xfrm rot="10800000">
              <a:off x="8604774" y="3955705"/>
              <a:ext cx="936104" cy="256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群組 22"/>
          <p:cNvGrpSpPr/>
          <p:nvPr/>
        </p:nvGrpSpPr>
        <p:grpSpPr>
          <a:xfrm>
            <a:off x="467544" y="4581128"/>
            <a:ext cx="2232249" cy="567355"/>
            <a:chOff x="7236296" y="3645024"/>
            <a:chExt cx="2232249" cy="567355"/>
          </a:xfrm>
        </p:grpSpPr>
        <p:sp>
          <p:nvSpPr>
            <p:cNvPr id="24" name="文字方塊 23"/>
            <p:cNvSpPr txBox="1"/>
            <p:nvPr/>
          </p:nvSpPr>
          <p:spPr>
            <a:xfrm>
              <a:off x="7236296" y="3645024"/>
              <a:ext cx="1377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Name:= jean</a:t>
              </a:r>
              <a:endParaRPr lang="zh-TW" altLang="en-US" u="sng" dirty="0"/>
            </a:p>
          </p:txBody>
        </p:sp>
        <p:cxnSp>
          <p:nvCxnSpPr>
            <p:cNvPr id="25" name="直線接點 24"/>
            <p:cNvCxnSpPr/>
            <p:nvPr/>
          </p:nvCxnSpPr>
          <p:spPr>
            <a:xfrm rot="10800000">
              <a:off x="8532441" y="3955705"/>
              <a:ext cx="936104" cy="256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群組 21"/>
          <p:cNvGrpSpPr/>
          <p:nvPr/>
        </p:nvGrpSpPr>
        <p:grpSpPr>
          <a:xfrm>
            <a:off x="901456" y="5445224"/>
            <a:ext cx="1582312" cy="567355"/>
            <a:chOff x="7670208" y="3645024"/>
            <a:chExt cx="1582312" cy="567355"/>
          </a:xfrm>
        </p:grpSpPr>
        <p:sp>
          <p:nvSpPr>
            <p:cNvPr id="26" name="文字方塊 25"/>
            <p:cNvSpPr txBox="1"/>
            <p:nvPr/>
          </p:nvSpPr>
          <p:spPr>
            <a:xfrm>
              <a:off x="7670208" y="3645024"/>
              <a:ext cx="746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photo</a:t>
              </a:r>
              <a:endParaRPr lang="zh-TW" altLang="en-US" u="sng" dirty="0"/>
            </a:p>
          </p:txBody>
        </p:sp>
        <p:cxnSp>
          <p:nvCxnSpPr>
            <p:cNvPr id="27" name="直線接點 26"/>
            <p:cNvCxnSpPr/>
            <p:nvPr/>
          </p:nvCxnSpPr>
          <p:spPr>
            <a:xfrm rot="10800000">
              <a:off x="8316416" y="3955705"/>
              <a:ext cx="936104" cy="256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Instance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supports a fixed set of value types for properties.</a:t>
            </a:r>
          </a:p>
          <a:p>
            <a:r>
              <a:rPr lang="en-US" altLang="zh-TW" dirty="0" smtClean="0"/>
              <a:t>The constructor of the property could define as</a:t>
            </a:r>
          </a:p>
          <a:p>
            <a:pPr lvl="1"/>
            <a:r>
              <a:rPr lang="en-US" altLang="zh-TW" dirty="0" smtClean="0"/>
              <a:t>Name </a:t>
            </a:r>
          </a:p>
          <a:p>
            <a:pPr lvl="1"/>
            <a:r>
              <a:rPr lang="en-US" altLang="zh-TW" dirty="0" smtClean="0"/>
              <a:t>Default value</a:t>
            </a:r>
          </a:p>
          <a:p>
            <a:pPr lvl="1"/>
            <a:r>
              <a:rPr lang="en-US" altLang="zh-TW" dirty="0" smtClean="0"/>
              <a:t>Required default</a:t>
            </a:r>
          </a:p>
          <a:p>
            <a:pPr lvl="1"/>
            <a:r>
              <a:rPr lang="en-US" altLang="zh-TW" dirty="0" smtClean="0"/>
              <a:t>Choice list</a:t>
            </a:r>
          </a:p>
          <a:p>
            <a:pPr lvl="1"/>
            <a:r>
              <a:rPr lang="en-US" altLang="zh-TW" dirty="0" smtClean="0"/>
              <a:t>Indexed </a:t>
            </a:r>
          </a:p>
        </p:txBody>
      </p:sp>
      <p:sp>
        <p:nvSpPr>
          <p:cNvPr id="13" name="圓角矩形 12"/>
          <p:cNvSpPr/>
          <p:nvPr/>
        </p:nvSpPr>
        <p:spPr>
          <a:xfrm>
            <a:off x="3851920" y="3717032"/>
            <a:ext cx="4464496" cy="24482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TW" dirty="0" smtClean="0"/>
              <a:t>Properties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95936" y="5517232"/>
            <a:ext cx="1152128" cy="5040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Boolean 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5508104" y="5517232"/>
            <a:ext cx="1152128" cy="5040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Integer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7020272" y="5517232"/>
            <a:ext cx="1152128" cy="5040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String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995936" y="4869160"/>
            <a:ext cx="1224136" cy="50405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List 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508104" y="4869160"/>
            <a:ext cx="1224136" cy="50405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Date/Time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995936" y="4221088"/>
            <a:ext cx="1224136" cy="50405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Text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508104" y="4221088"/>
            <a:ext cx="1224136" cy="50405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Blob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948264" y="4869160"/>
            <a:ext cx="1224136" cy="50405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E-mail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020272" y="4221088"/>
            <a:ext cx="1224136" cy="50405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…etc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Example: cat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611560" y="1758295"/>
            <a:ext cx="7920880" cy="2246769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from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google.appengine.ext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2000" dirty="0" smtClean="0">
                <a:solidFill>
                  <a:srgbClr val="0070C0"/>
                </a:solidFill>
              </a:rPr>
              <a:t>import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db</a:t>
            </a:r>
          </a:p>
          <a:p>
            <a:r>
              <a:rPr lang="en-US" altLang="zh-TW" sz="2000" dirty="0" smtClean="0">
                <a:solidFill>
                  <a:srgbClr val="0070C0"/>
                </a:solidFill>
              </a:rPr>
              <a:t>class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rgbClr val="7030A0"/>
                </a:solidFill>
              </a:rPr>
              <a:t>Cat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db.Model</a:t>
            </a:r>
            <a:r>
              <a:rPr lang="en-US" altLang="zh-TW" sz="2000" dirty="0" smtClean="0"/>
              <a:t>):</a:t>
            </a:r>
            <a:br>
              <a:rPr lang="en-US" altLang="zh-TW" sz="2000" dirty="0" smtClean="0"/>
            </a:br>
            <a:r>
              <a:rPr lang="en-US" altLang="zh-TW" sz="2000" dirty="0" smtClean="0"/>
              <a:t>	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name	=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db.StringProperty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(default=‘cat’)</a:t>
            </a:r>
            <a:b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age	=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db.IntegerProperty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(required=True)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weight	=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db.IntegerProperty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 indexed=False)</a:t>
            </a:r>
          </a:p>
          <a:p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status	=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db.StringProperty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 choices = [‘sleep’, ‘eat’, ‘play’] )	photo	= </a:t>
            </a:r>
            <a:r>
              <a:rPr lang="en-US" altLang="zh-TW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db.BlobProperty</a:t>
            </a:r>
            <a:r>
              <a:rPr lang="en-US" altLang="zh-TW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  <a:endParaRPr lang="zh-TW" alt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3" name="群組 24"/>
          <p:cNvGrpSpPr/>
          <p:nvPr/>
        </p:nvGrpSpPr>
        <p:grpSpPr>
          <a:xfrm>
            <a:off x="827584" y="2708920"/>
            <a:ext cx="8066183" cy="2179404"/>
            <a:chOff x="827584" y="2708920"/>
            <a:chExt cx="8066183" cy="2179404"/>
          </a:xfrm>
        </p:grpSpPr>
        <p:cxnSp>
          <p:nvCxnSpPr>
            <p:cNvPr id="7" name="直線接點 6"/>
            <p:cNvCxnSpPr/>
            <p:nvPr/>
          </p:nvCxnSpPr>
          <p:spPr>
            <a:xfrm>
              <a:off x="1619672" y="2708920"/>
              <a:ext cx="4248472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827584" y="4365104"/>
              <a:ext cx="80661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Name has a string property which default value is ‘cat’</a:t>
              </a:r>
              <a:endParaRPr lang="zh-TW" altLang="en-US" sz="2800" dirty="0"/>
            </a:p>
          </p:txBody>
        </p:sp>
      </p:grpSp>
      <p:grpSp>
        <p:nvGrpSpPr>
          <p:cNvPr id="4" name="群組 26"/>
          <p:cNvGrpSpPr/>
          <p:nvPr/>
        </p:nvGrpSpPr>
        <p:grpSpPr>
          <a:xfrm>
            <a:off x="971600" y="2996952"/>
            <a:ext cx="7433189" cy="2322259"/>
            <a:chOff x="971600" y="2996952"/>
            <a:chExt cx="7433189" cy="2322259"/>
          </a:xfrm>
        </p:grpSpPr>
        <p:cxnSp>
          <p:nvCxnSpPr>
            <p:cNvPr id="8" name="直線接點 7"/>
            <p:cNvCxnSpPr/>
            <p:nvPr/>
          </p:nvCxnSpPr>
          <p:spPr>
            <a:xfrm flipV="1">
              <a:off x="1619672" y="2996952"/>
              <a:ext cx="4608512" cy="870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971600" y="4365104"/>
              <a:ext cx="743318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Age has a integer property which have to a value, </a:t>
              </a:r>
            </a:p>
            <a:p>
              <a:r>
                <a:rPr lang="en-US" altLang="zh-TW" sz="2800" dirty="0" smtClean="0"/>
                <a:t>otherwise GAE would throw an exception </a:t>
              </a:r>
              <a:endParaRPr lang="zh-TW" altLang="en-US" sz="2800" dirty="0"/>
            </a:p>
          </p:txBody>
        </p:sp>
      </p:grpSp>
      <p:grpSp>
        <p:nvGrpSpPr>
          <p:cNvPr id="6" name="群組 28"/>
          <p:cNvGrpSpPr/>
          <p:nvPr/>
        </p:nvGrpSpPr>
        <p:grpSpPr>
          <a:xfrm>
            <a:off x="899592" y="3284984"/>
            <a:ext cx="6250109" cy="2106235"/>
            <a:chOff x="899592" y="3284984"/>
            <a:chExt cx="6250109" cy="2106235"/>
          </a:xfrm>
        </p:grpSpPr>
        <p:cxnSp>
          <p:nvCxnSpPr>
            <p:cNvPr id="15" name="直線接點 14"/>
            <p:cNvCxnSpPr/>
            <p:nvPr/>
          </p:nvCxnSpPr>
          <p:spPr>
            <a:xfrm>
              <a:off x="1619672" y="3284984"/>
              <a:ext cx="468052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文字方塊 27"/>
            <p:cNvSpPr txBox="1"/>
            <p:nvPr/>
          </p:nvSpPr>
          <p:spPr>
            <a:xfrm>
              <a:off x="899592" y="4437112"/>
              <a:ext cx="625010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Weight has a integer property which GAE </a:t>
              </a:r>
            </a:p>
            <a:p>
              <a:r>
                <a:rPr lang="en-US" altLang="zh-TW" sz="2800" dirty="0" smtClean="0"/>
                <a:t>would not index it.</a:t>
              </a:r>
            </a:p>
          </p:txBody>
        </p:sp>
      </p:grpSp>
      <p:grpSp>
        <p:nvGrpSpPr>
          <p:cNvPr id="9" name="群組 30"/>
          <p:cNvGrpSpPr/>
          <p:nvPr/>
        </p:nvGrpSpPr>
        <p:grpSpPr>
          <a:xfrm>
            <a:off x="899592" y="3618897"/>
            <a:ext cx="6840760" cy="1772322"/>
            <a:chOff x="899592" y="3618897"/>
            <a:chExt cx="6840760" cy="1772322"/>
          </a:xfrm>
        </p:grpSpPr>
        <p:cxnSp>
          <p:nvCxnSpPr>
            <p:cNvPr id="20" name="直線接點 19"/>
            <p:cNvCxnSpPr/>
            <p:nvPr/>
          </p:nvCxnSpPr>
          <p:spPr>
            <a:xfrm>
              <a:off x="1619672" y="3618897"/>
              <a:ext cx="612068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文字方塊 29"/>
            <p:cNvSpPr txBox="1"/>
            <p:nvPr/>
          </p:nvSpPr>
          <p:spPr>
            <a:xfrm>
              <a:off x="899592" y="4437112"/>
              <a:ext cx="591392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Status has a string property which only </a:t>
              </a:r>
            </a:p>
            <a:p>
              <a:r>
                <a:rPr lang="en-US" altLang="zh-TW" sz="2800" dirty="0" smtClean="0"/>
                <a:t>can be chosen by three choice.</a:t>
              </a:r>
              <a:endParaRPr lang="zh-TW" altLang="en-US" sz="2800" dirty="0"/>
            </a:p>
          </p:txBody>
        </p:sp>
      </p:grpSp>
      <p:grpSp>
        <p:nvGrpSpPr>
          <p:cNvPr id="10" name="群組 32"/>
          <p:cNvGrpSpPr/>
          <p:nvPr/>
        </p:nvGrpSpPr>
        <p:grpSpPr>
          <a:xfrm>
            <a:off x="755576" y="3933056"/>
            <a:ext cx="7849841" cy="1099284"/>
            <a:chOff x="755576" y="3933056"/>
            <a:chExt cx="7849841" cy="1099284"/>
          </a:xfrm>
        </p:grpSpPr>
        <p:cxnSp>
          <p:nvCxnSpPr>
            <p:cNvPr id="14" name="直線接點 13"/>
            <p:cNvCxnSpPr/>
            <p:nvPr/>
          </p:nvCxnSpPr>
          <p:spPr>
            <a:xfrm>
              <a:off x="1619672" y="3933056"/>
              <a:ext cx="2952328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文字方塊 31"/>
            <p:cNvSpPr txBox="1"/>
            <p:nvPr/>
          </p:nvSpPr>
          <p:spPr>
            <a:xfrm>
              <a:off x="755576" y="4509120"/>
              <a:ext cx="78498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Photo is a blob property which can store a binary file</a:t>
              </a:r>
              <a:endParaRPr lang="zh-TW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Each property has its limitation</a:t>
            </a:r>
          </a:p>
          <a:p>
            <a:pPr lvl="1"/>
            <a:r>
              <a:rPr lang="en-US" altLang="zh-TW" dirty="0" smtClean="0"/>
              <a:t>Short string has to be less than 500 characters in length.</a:t>
            </a:r>
          </a:p>
          <a:p>
            <a:pPr lvl="1"/>
            <a:r>
              <a:rPr lang="en-US" altLang="zh-TW" dirty="0" smtClean="0"/>
              <a:t>List cannot be a empty list (Python only).</a:t>
            </a:r>
          </a:p>
          <a:p>
            <a:pPr lvl="1"/>
            <a:r>
              <a:rPr lang="en-US" altLang="zh-TW" dirty="0" smtClean="0"/>
              <a:t>Text and Blob have to be less than 1MB in size.</a:t>
            </a:r>
          </a:p>
          <a:p>
            <a:r>
              <a:rPr lang="en-US" altLang="zh-TW" dirty="0" smtClean="0"/>
              <a:t>In every entity, there is an important property called </a:t>
            </a:r>
            <a:r>
              <a:rPr lang="en-US" altLang="zh-TW" i="1" dirty="0" smtClean="0">
                <a:solidFill>
                  <a:srgbClr val="FF0000"/>
                </a:solidFill>
              </a:rPr>
              <a:t>key</a:t>
            </a:r>
            <a:r>
              <a:rPr lang="en-US" altLang="zh-TW" dirty="0" smtClean="0"/>
              <a:t>.</a:t>
            </a:r>
          </a:p>
          <a:p>
            <a:r>
              <a:rPr lang="en-US" altLang="zh-TW" b="1" dirty="0" smtClean="0">
                <a:solidFill>
                  <a:schemeClr val="accent1">
                    <a:lumMod val="50000"/>
                  </a:schemeClr>
                </a:solidFill>
              </a:rPr>
              <a:t>Key</a:t>
            </a:r>
            <a:r>
              <a:rPr lang="en-US" altLang="zh-TW" dirty="0" smtClean="0"/>
              <a:t> is a special entity which is one and only one property in each entity.</a:t>
            </a:r>
          </a:p>
          <a:p>
            <a:pPr lvl="1"/>
            <a:r>
              <a:rPr lang="en-US" altLang="zh-TW" dirty="0" smtClean="0"/>
              <a:t>app	- application name which store this instance.</a:t>
            </a:r>
          </a:p>
          <a:p>
            <a:pPr lvl="1"/>
            <a:r>
              <a:rPr lang="en-US" altLang="zh-TW" dirty="0" smtClean="0"/>
              <a:t>kind	- instance type by string</a:t>
            </a:r>
          </a:p>
          <a:p>
            <a:pPr lvl="1"/>
            <a:r>
              <a:rPr lang="en-US" altLang="zh-TW" dirty="0" smtClean="0"/>
              <a:t>id	- instance id</a:t>
            </a:r>
          </a:p>
          <a:p>
            <a:pPr lvl="1"/>
            <a:r>
              <a:rPr lang="en-US" altLang="zh-TW" dirty="0" smtClean="0"/>
              <a:t>name 	- instance name</a:t>
            </a:r>
          </a:p>
          <a:p>
            <a:pPr lvl="1">
              <a:buNone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Key</a:t>
            </a:r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395536" y="1412776"/>
            <a:ext cx="3168352" cy="15121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/>
              <a:t>Entity </a:t>
            </a:r>
            <a:endParaRPr lang="zh-TW" altLang="en-US" sz="3200" dirty="0"/>
          </a:p>
        </p:txBody>
      </p:sp>
      <p:sp>
        <p:nvSpPr>
          <p:cNvPr id="5" name="圓角矩形 4"/>
          <p:cNvSpPr/>
          <p:nvPr/>
        </p:nvSpPr>
        <p:spPr>
          <a:xfrm>
            <a:off x="4067944" y="2132856"/>
            <a:ext cx="1728192" cy="64807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Property A</a:t>
            </a:r>
            <a:endParaRPr lang="zh-TW" altLang="en-US" sz="2400" dirty="0"/>
          </a:p>
        </p:txBody>
      </p:sp>
      <p:sp>
        <p:nvSpPr>
          <p:cNvPr id="6" name="圓角矩形 5"/>
          <p:cNvSpPr/>
          <p:nvPr/>
        </p:nvSpPr>
        <p:spPr>
          <a:xfrm>
            <a:off x="4067944" y="2996952"/>
            <a:ext cx="1728192" cy="64807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Property B</a:t>
            </a:r>
            <a:endParaRPr lang="zh-TW" altLang="en-US" sz="2400" dirty="0"/>
          </a:p>
        </p:txBody>
      </p:sp>
      <p:sp>
        <p:nvSpPr>
          <p:cNvPr id="7" name="圓角矩形 6"/>
          <p:cNvSpPr/>
          <p:nvPr/>
        </p:nvSpPr>
        <p:spPr>
          <a:xfrm>
            <a:off x="4067944" y="3861048"/>
            <a:ext cx="1728192" cy="64807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Key </a:t>
            </a:r>
            <a:endParaRPr lang="zh-TW" altLang="en-US" sz="2400" dirty="0"/>
          </a:p>
        </p:txBody>
      </p:sp>
      <p:sp>
        <p:nvSpPr>
          <p:cNvPr id="8" name="橢圓 7"/>
          <p:cNvSpPr/>
          <p:nvPr/>
        </p:nvSpPr>
        <p:spPr>
          <a:xfrm>
            <a:off x="6228184" y="3573016"/>
            <a:ext cx="1728192" cy="64807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App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6300192" y="4365104"/>
            <a:ext cx="1728192" cy="64807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Kind 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6300192" y="5157192"/>
            <a:ext cx="1728192" cy="64807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Name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6372200" y="5949280"/>
            <a:ext cx="1728192" cy="64807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Id</a:t>
            </a:r>
            <a:endParaRPr lang="zh-TW" altLang="en-US" dirty="0"/>
          </a:p>
        </p:txBody>
      </p:sp>
      <p:cxnSp>
        <p:nvCxnSpPr>
          <p:cNvPr id="13" name="直線接點 12"/>
          <p:cNvCxnSpPr/>
          <p:nvPr/>
        </p:nvCxnSpPr>
        <p:spPr>
          <a:xfrm>
            <a:off x="3563888" y="2204864"/>
            <a:ext cx="504056" cy="216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4" idx="3"/>
            <a:endCxn id="6" idx="1"/>
          </p:cNvCxnSpPr>
          <p:nvPr/>
        </p:nvCxnSpPr>
        <p:spPr>
          <a:xfrm>
            <a:off x="3563888" y="2168860"/>
            <a:ext cx="504056" cy="1152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4" idx="3"/>
          </p:cNvCxnSpPr>
          <p:nvPr/>
        </p:nvCxnSpPr>
        <p:spPr>
          <a:xfrm>
            <a:off x="3563888" y="2168860"/>
            <a:ext cx="504056" cy="19802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endCxn id="8" idx="2"/>
          </p:cNvCxnSpPr>
          <p:nvPr/>
        </p:nvCxnSpPr>
        <p:spPr>
          <a:xfrm flipV="1">
            <a:off x="5796136" y="3897052"/>
            <a:ext cx="432048" cy="32403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7" idx="3"/>
            <a:endCxn id="9" idx="2"/>
          </p:cNvCxnSpPr>
          <p:nvPr/>
        </p:nvCxnSpPr>
        <p:spPr>
          <a:xfrm>
            <a:off x="5796136" y="4185084"/>
            <a:ext cx="504056" cy="50405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endCxn id="10" idx="2"/>
          </p:cNvCxnSpPr>
          <p:nvPr/>
        </p:nvCxnSpPr>
        <p:spPr>
          <a:xfrm rot="16200000" flipH="1">
            <a:off x="5418094" y="4599130"/>
            <a:ext cx="1260140" cy="50405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endCxn id="11" idx="2"/>
          </p:cNvCxnSpPr>
          <p:nvPr/>
        </p:nvCxnSpPr>
        <p:spPr>
          <a:xfrm rot="16200000" flipH="1">
            <a:off x="5058054" y="4959170"/>
            <a:ext cx="2052228" cy="57606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Property </a:t>
            </a:r>
            <a:endParaRPr lang="zh-TW" altLang="en-US" dirty="0"/>
          </a:p>
        </p:txBody>
      </p:sp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3501008"/>
            <a:ext cx="4136976" cy="3102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文字方塊 33"/>
          <p:cNvSpPr txBox="1"/>
          <p:nvPr/>
        </p:nvSpPr>
        <p:spPr>
          <a:xfrm>
            <a:off x="3635896" y="6237312"/>
            <a:ext cx="1449499" cy="40011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entity := Cat</a:t>
            </a:r>
            <a:endParaRPr lang="zh-TW" altLang="en-US" sz="2000" dirty="0"/>
          </a:p>
        </p:txBody>
      </p:sp>
      <p:grpSp>
        <p:nvGrpSpPr>
          <p:cNvPr id="3" name="群組 34"/>
          <p:cNvGrpSpPr/>
          <p:nvPr/>
        </p:nvGrpSpPr>
        <p:grpSpPr>
          <a:xfrm>
            <a:off x="6391954" y="3645024"/>
            <a:ext cx="1732406" cy="639363"/>
            <a:chOff x="6391954" y="3645024"/>
            <a:chExt cx="1732406" cy="639363"/>
          </a:xfrm>
        </p:grpSpPr>
        <p:sp>
          <p:nvSpPr>
            <p:cNvPr id="36" name="文字方塊 35"/>
            <p:cNvSpPr txBox="1"/>
            <p:nvPr/>
          </p:nvSpPr>
          <p:spPr>
            <a:xfrm>
              <a:off x="7236296" y="3645024"/>
              <a:ext cx="8880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Age:= 1</a:t>
              </a:r>
              <a:endParaRPr lang="zh-TW" altLang="en-US" u="sng" dirty="0"/>
            </a:p>
          </p:txBody>
        </p:sp>
        <p:cxnSp>
          <p:nvCxnSpPr>
            <p:cNvPr id="37" name="直線接點 36"/>
            <p:cNvCxnSpPr/>
            <p:nvPr/>
          </p:nvCxnSpPr>
          <p:spPr>
            <a:xfrm rot="10800000" flipV="1">
              <a:off x="6391954" y="3964997"/>
              <a:ext cx="936104" cy="3193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群組 37"/>
          <p:cNvGrpSpPr/>
          <p:nvPr/>
        </p:nvGrpSpPr>
        <p:grpSpPr>
          <a:xfrm>
            <a:off x="6542344" y="4653136"/>
            <a:ext cx="2534250" cy="642258"/>
            <a:chOff x="6389944" y="3645024"/>
            <a:chExt cx="2534250" cy="642258"/>
          </a:xfrm>
        </p:grpSpPr>
        <p:sp>
          <p:nvSpPr>
            <p:cNvPr id="39" name="文字方塊 38"/>
            <p:cNvSpPr txBox="1"/>
            <p:nvPr/>
          </p:nvSpPr>
          <p:spPr>
            <a:xfrm>
              <a:off x="7236296" y="3645024"/>
              <a:ext cx="16878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Weight := 1.5KG</a:t>
              </a:r>
              <a:endParaRPr lang="zh-TW" altLang="en-US" u="sng" dirty="0"/>
            </a:p>
          </p:txBody>
        </p:sp>
        <p:cxnSp>
          <p:nvCxnSpPr>
            <p:cNvPr id="40" name="直線接點 39"/>
            <p:cNvCxnSpPr/>
            <p:nvPr/>
          </p:nvCxnSpPr>
          <p:spPr>
            <a:xfrm rot="10800000" flipV="1">
              <a:off x="6389944" y="3967892"/>
              <a:ext cx="936104" cy="3193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群組 40"/>
          <p:cNvGrpSpPr/>
          <p:nvPr/>
        </p:nvGrpSpPr>
        <p:grpSpPr>
          <a:xfrm>
            <a:off x="539552" y="3789040"/>
            <a:ext cx="2304582" cy="567355"/>
            <a:chOff x="7236296" y="3645024"/>
            <a:chExt cx="2304582" cy="567355"/>
          </a:xfrm>
        </p:grpSpPr>
        <p:sp>
          <p:nvSpPr>
            <p:cNvPr id="42" name="文字方塊 41"/>
            <p:cNvSpPr txBox="1"/>
            <p:nvPr/>
          </p:nvSpPr>
          <p:spPr>
            <a:xfrm>
              <a:off x="7236296" y="3645024"/>
              <a:ext cx="15406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Status:= sleep</a:t>
              </a:r>
              <a:endParaRPr lang="zh-TW" altLang="en-US" u="sng" dirty="0"/>
            </a:p>
          </p:txBody>
        </p:sp>
        <p:cxnSp>
          <p:nvCxnSpPr>
            <p:cNvPr id="43" name="直線接點 42"/>
            <p:cNvCxnSpPr/>
            <p:nvPr/>
          </p:nvCxnSpPr>
          <p:spPr>
            <a:xfrm rot="10800000">
              <a:off x="8604774" y="3955705"/>
              <a:ext cx="936104" cy="256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群組 43"/>
          <p:cNvGrpSpPr/>
          <p:nvPr/>
        </p:nvGrpSpPr>
        <p:grpSpPr>
          <a:xfrm>
            <a:off x="467544" y="4581128"/>
            <a:ext cx="2232249" cy="567355"/>
            <a:chOff x="7236296" y="3645024"/>
            <a:chExt cx="2232249" cy="567355"/>
          </a:xfrm>
        </p:grpSpPr>
        <p:sp>
          <p:nvSpPr>
            <p:cNvPr id="45" name="文字方塊 44"/>
            <p:cNvSpPr txBox="1"/>
            <p:nvPr/>
          </p:nvSpPr>
          <p:spPr>
            <a:xfrm>
              <a:off x="7236296" y="3645024"/>
              <a:ext cx="132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Name:=jean</a:t>
              </a:r>
              <a:endParaRPr lang="zh-TW" altLang="en-US" u="sng" dirty="0"/>
            </a:p>
          </p:txBody>
        </p:sp>
        <p:cxnSp>
          <p:nvCxnSpPr>
            <p:cNvPr id="46" name="直線接點 45"/>
            <p:cNvCxnSpPr/>
            <p:nvPr/>
          </p:nvCxnSpPr>
          <p:spPr>
            <a:xfrm rot="10800000">
              <a:off x="8532441" y="3955705"/>
              <a:ext cx="936104" cy="256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文字方塊 47"/>
          <p:cNvSpPr txBox="1"/>
          <p:nvPr/>
        </p:nvSpPr>
        <p:spPr>
          <a:xfrm>
            <a:off x="611560" y="1700808"/>
            <a:ext cx="4896661" cy="1200329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app	= ‘Taiwan’</a:t>
            </a:r>
          </a:p>
          <a:p>
            <a:r>
              <a:rPr lang="en-US" altLang="zh-TW" dirty="0" smtClean="0"/>
              <a:t>kind	= ‘Cat’</a:t>
            </a:r>
          </a:p>
          <a:p>
            <a:r>
              <a:rPr lang="en-US" altLang="zh-TW" dirty="0" smtClean="0"/>
              <a:t>name	= ‘F.catus.Taiwan.taipei.2008-01-21.100 ‘</a:t>
            </a:r>
          </a:p>
          <a:p>
            <a:r>
              <a:rPr lang="en-US" altLang="zh-TW" dirty="0" smtClean="0"/>
              <a:t>id 	= agdjb3VudGVycgsLEgV3b3JkcxgoDA </a:t>
            </a:r>
          </a:p>
        </p:txBody>
      </p:sp>
      <p:cxnSp>
        <p:nvCxnSpPr>
          <p:cNvPr id="50" name="直線接點 49"/>
          <p:cNvCxnSpPr/>
          <p:nvPr/>
        </p:nvCxnSpPr>
        <p:spPr>
          <a:xfrm rot="16200000" flipH="1">
            <a:off x="3455876" y="2943530"/>
            <a:ext cx="576064" cy="504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群組 51"/>
          <p:cNvGrpSpPr/>
          <p:nvPr/>
        </p:nvGrpSpPr>
        <p:grpSpPr>
          <a:xfrm>
            <a:off x="901456" y="5445224"/>
            <a:ext cx="1582312" cy="567355"/>
            <a:chOff x="7670208" y="3645024"/>
            <a:chExt cx="1582312" cy="567355"/>
          </a:xfrm>
        </p:grpSpPr>
        <p:sp>
          <p:nvSpPr>
            <p:cNvPr id="53" name="文字方塊 52"/>
            <p:cNvSpPr txBox="1"/>
            <p:nvPr/>
          </p:nvSpPr>
          <p:spPr>
            <a:xfrm>
              <a:off x="7670208" y="3645024"/>
              <a:ext cx="746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 smtClean="0"/>
                <a:t>photo</a:t>
              </a:r>
              <a:endParaRPr lang="zh-TW" altLang="en-US" u="sng" dirty="0"/>
            </a:p>
          </p:txBody>
        </p:sp>
        <p:cxnSp>
          <p:nvCxnSpPr>
            <p:cNvPr id="54" name="直線接點 53"/>
            <p:cNvCxnSpPr/>
            <p:nvPr/>
          </p:nvCxnSpPr>
          <p:spPr>
            <a:xfrm rot="10800000">
              <a:off x="8316416" y="3955705"/>
              <a:ext cx="936104" cy="256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Example: my cat </a:t>
            </a:r>
            <a:endParaRPr lang="zh-TW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2162547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683568" y="1772816"/>
            <a:ext cx="3729226" cy="267765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Cat </a:t>
            </a:r>
            <a:r>
              <a:rPr lang="en-US" altLang="zh-TW" sz="2400" dirty="0" err="1" smtClean="0"/>
              <a:t>my_cat</a:t>
            </a:r>
            <a:r>
              <a:rPr lang="en-US" altLang="zh-TW" sz="2400" dirty="0" smtClean="0"/>
              <a:t>(</a:t>
            </a:r>
          </a:p>
          <a:p>
            <a:r>
              <a:rPr lang="en-US" altLang="zh-TW" sz="2400" dirty="0" smtClean="0"/>
              <a:t>	name	= ‘jean’,</a:t>
            </a:r>
          </a:p>
          <a:p>
            <a:r>
              <a:rPr lang="en-US" altLang="zh-TW" sz="2400" dirty="0" smtClean="0"/>
              <a:t>	age	= 2,</a:t>
            </a:r>
          </a:p>
          <a:p>
            <a:r>
              <a:rPr lang="en-US" altLang="zh-TW" sz="2400" dirty="0" smtClean="0"/>
              <a:t>	weight	= 1.5,</a:t>
            </a:r>
          </a:p>
          <a:p>
            <a:r>
              <a:rPr lang="en-US" altLang="zh-TW" sz="2400" dirty="0" smtClean="0"/>
              <a:t>	status	= ‘play’,</a:t>
            </a:r>
          </a:p>
          <a:p>
            <a:r>
              <a:rPr lang="en-US" altLang="zh-TW" sz="2400" dirty="0" smtClean="0"/>
              <a:t>	photo 	= ‘image.jpg’)</a:t>
            </a:r>
          </a:p>
          <a:p>
            <a:endParaRPr lang="en-US" altLang="zh-TW" sz="2400" dirty="0" smtClean="0"/>
          </a:p>
        </p:txBody>
      </p:sp>
      <p:grpSp>
        <p:nvGrpSpPr>
          <p:cNvPr id="3" name="群組 8"/>
          <p:cNvGrpSpPr/>
          <p:nvPr/>
        </p:nvGrpSpPr>
        <p:grpSpPr>
          <a:xfrm>
            <a:off x="7380312" y="2150274"/>
            <a:ext cx="846819" cy="702662"/>
            <a:chOff x="7380312" y="2150274"/>
            <a:chExt cx="846819" cy="702662"/>
          </a:xfrm>
        </p:grpSpPr>
        <p:sp>
          <p:nvSpPr>
            <p:cNvPr id="6" name="文字方塊 5"/>
            <p:cNvSpPr txBox="1"/>
            <p:nvPr/>
          </p:nvSpPr>
          <p:spPr>
            <a:xfrm>
              <a:off x="7640111" y="2150274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u="sng" dirty="0" smtClean="0"/>
                <a:t>jean</a:t>
              </a:r>
              <a:endParaRPr lang="zh-TW" altLang="en-US" i="1" u="sng" dirty="0"/>
            </a:p>
          </p:txBody>
        </p:sp>
        <p:cxnSp>
          <p:nvCxnSpPr>
            <p:cNvPr id="8" name="直線接點 7"/>
            <p:cNvCxnSpPr/>
            <p:nvPr/>
          </p:nvCxnSpPr>
          <p:spPr>
            <a:xfrm rot="10800000" flipV="1">
              <a:off x="7380312" y="2461538"/>
              <a:ext cx="360040" cy="3913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群組 9"/>
          <p:cNvGrpSpPr/>
          <p:nvPr/>
        </p:nvGrpSpPr>
        <p:grpSpPr>
          <a:xfrm>
            <a:off x="7452320" y="2582322"/>
            <a:ext cx="1114520" cy="702662"/>
            <a:chOff x="7380312" y="2150274"/>
            <a:chExt cx="1114520" cy="702662"/>
          </a:xfrm>
        </p:grpSpPr>
        <p:sp>
          <p:nvSpPr>
            <p:cNvPr id="11" name="文字方塊 10"/>
            <p:cNvSpPr txBox="1"/>
            <p:nvPr/>
          </p:nvSpPr>
          <p:spPr>
            <a:xfrm>
              <a:off x="7640111" y="2150274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u="sng" dirty="0" smtClean="0"/>
                <a:t>2 years</a:t>
              </a:r>
              <a:endParaRPr lang="zh-TW" altLang="en-US" i="1" u="sng" dirty="0"/>
            </a:p>
          </p:txBody>
        </p:sp>
        <p:cxnSp>
          <p:nvCxnSpPr>
            <p:cNvPr id="12" name="直線接點 11"/>
            <p:cNvCxnSpPr/>
            <p:nvPr/>
          </p:nvCxnSpPr>
          <p:spPr>
            <a:xfrm rot="10800000" flipV="1">
              <a:off x="7380312" y="2461538"/>
              <a:ext cx="360040" cy="3913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群組 12"/>
          <p:cNvGrpSpPr/>
          <p:nvPr/>
        </p:nvGrpSpPr>
        <p:grpSpPr>
          <a:xfrm>
            <a:off x="7524328" y="2942362"/>
            <a:ext cx="1046168" cy="702662"/>
            <a:chOff x="7380312" y="2150274"/>
            <a:chExt cx="1046168" cy="702662"/>
          </a:xfrm>
        </p:grpSpPr>
        <p:sp>
          <p:nvSpPr>
            <p:cNvPr id="14" name="文字方塊 13"/>
            <p:cNvSpPr txBox="1"/>
            <p:nvPr/>
          </p:nvSpPr>
          <p:spPr>
            <a:xfrm>
              <a:off x="7640111" y="2150274"/>
              <a:ext cx="786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u="sng" dirty="0" smtClean="0"/>
                <a:t>1.5 KG</a:t>
              </a:r>
              <a:endParaRPr lang="zh-TW" altLang="en-US" i="1" u="sng" dirty="0"/>
            </a:p>
          </p:txBody>
        </p:sp>
        <p:cxnSp>
          <p:nvCxnSpPr>
            <p:cNvPr id="15" name="直線接點 14"/>
            <p:cNvCxnSpPr/>
            <p:nvPr/>
          </p:nvCxnSpPr>
          <p:spPr>
            <a:xfrm rot="10800000" flipV="1">
              <a:off x="7380312" y="2461538"/>
              <a:ext cx="360040" cy="3913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群組 15"/>
          <p:cNvGrpSpPr/>
          <p:nvPr/>
        </p:nvGrpSpPr>
        <p:grpSpPr>
          <a:xfrm>
            <a:off x="5652120" y="2276872"/>
            <a:ext cx="692955" cy="674782"/>
            <a:chOff x="7983501" y="2169770"/>
            <a:chExt cx="692955" cy="674782"/>
          </a:xfrm>
        </p:grpSpPr>
        <p:sp>
          <p:nvSpPr>
            <p:cNvPr id="17" name="文字方塊 16"/>
            <p:cNvSpPr txBox="1"/>
            <p:nvPr/>
          </p:nvSpPr>
          <p:spPr>
            <a:xfrm>
              <a:off x="7983501" y="2169770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i="1" u="sng" dirty="0" smtClean="0"/>
                <a:t>play</a:t>
              </a:r>
              <a:endParaRPr lang="zh-TW" altLang="en-US" i="1" u="sng" dirty="0"/>
            </a:p>
          </p:txBody>
        </p:sp>
        <p:cxnSp>
          <p:nvCxnSpPr>
            <p:cNvPr id="18" name="直線接點 17"/>
            <p:cNvCxnSpPr/>
            <p:nvPr/>
          </p:nvCxnSpPr>
          <p:spPr>
            <a:xfrm rot="16200000" flipH="1">
              <a:off x="8388424" y="2556520"/>
              <a:ext cx="360040" cy="2160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文字方塊 24"/>
          <p:cNvSpPr txBox="1"/>
          <p:nvPr/>
        </p:nvSpPr>
        <p:spPr>
          <a:xfrm>
            <a:off x="683568" y="3933056"/>
            <a:ext cx="1781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my_cat.put()</a:t>
            </a:r>
          </a:p>
        </p:txBody>
      </p:sp>
      <p:grpSp>
        <p:nvGrpSpPr>
          <p:cNvPr id="10" name="群組 28"/>
          <p:cNvGrpSpPr/>
          <p:nvPr/>
        </p:nvGrpSpPr>
        <p:grpSpPr>
          <a:xfrm>
            <a:off x="6804248" y="4149080"/>
            <a:ext cx="1440160" cy="720080"/>
            <a:chOff x="6372200" y="4005064"/>
            <a:chExt cx="1440160" cy="720080"/>
          </a:xfrm>
        </p:grpSpPr>
        <p:sp>
          <p:nvSpPr>
            <p:cNvPr id="26" name="矩形 25"/>
            <p:cNvSpPr/>
            <p:nvPr/>
          </p:nvSpPr>
          <p:spPr>
            <a:xfrm>
              <a:off x="6372200" y="4293096"/>
              <a:ext cx="1440160" cy="432048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Key </a:t>
              </a:r>
              <a:endParaRPr lang="zh-TW" altLang="en-US" dirty="0"/>
            </a:p>
          </p:txBody>
        </p:sp>
        <p:cxnSp>
          <p:nvCxnSpPr>
            <p:cNvPr id="28" name="直線接點 27"/>
            <p:cNvCxnSpPr/>
            <p:nvPr/>
          </p:nvCxnSpPr>
          <p:spPr>
            <a:xfrm rot="16200000" flipH="1">
              <a:off x="7020272" y="4077072"/>
              <a:ext cx="288032" cy="1440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4869160"/>
            <a:ext cx="1872208" cy="1673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6" name="直線單箭頭接點 35"/>
          <p:cNvCxnSpPr/>
          <p:nvPr/>
        </p:nvCxnSpPr>
        <p:spPr>
          <a:xfrm rot="10800000" flipV="1">
            <a:off x="2843808" y="4221088"/>
            <a:ext cx="4032448" cy="1368152"/>
          </a:xfrm>
          <a:prstGeom prst="straightConnector1">
            <a:avLst/>
          </a:prstGeom>
          <a:ln w="57150"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群組 37"/>
          <p:cNvGrpSpPr/>
          <p:nvPr/>
        </p:nvGrpSpPr>
        <p:grpSpPr>
          <a:xfrm>
            <a:off x="1448378" y="1052736"/>
            <a:ext cx="6652014" cy="5233937"/>
            <a:chOff x="-612576" y="1052736"/>
            <a:chExt cx="6652014" cy="5233937"/>
          </a:xfrm>
        </p:grpSpPr>
        <p:pic>
          <p:nvPicPr>
            <p:cNvPr id="39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39552" y="1052736"/>
              <a:ext cx="4659288" cy="4659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0" name="文字方塊 39"/>
            <p:cNvSpPr txBox="1"/>
            <p:nvPr/>
          </p:nvSpPr>
          <p:spPr>
            <a:xfrm>
              <a:off x="-612576" y="5517232"/>
              <a:ext cx="665201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400" dirty="0" smtClean="0"/>
                <a:t>We do not upload to server!</a:t>
              </a:r>
              <a:endParaRPr lang="zh-TW" altLang="en-US" sz="4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Insert, Update and Delete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put</a:t>
            </a:r>
            <a:r>
              <a:rPr lang="en-US" altLang="zh-TW" dirty="0" smtClean="0"/>
              <a:t>(), the upload function, is also can be used as a update function.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put</a:t>
            </a:r>
            <a:r>
              <a:rPr lang="en-US" altLang="zh-TW" dirty="0" smtClean="0"/>
              <a:t>(key) would update the data identified by key value.</a:t>
            </a:r>
          </a:p>
          <a:p>
            <a:r>
              <a:rPr lang="en-US" altLang="zh-TW" dirty="0" smtClean="0"/>
              <a:t>Also, GAE can use </a:t>
            </a:r>
            <a:r>
              <a:rPr lang="en-US" altLang="zh-TW" dirty="0" smtClean="0">
                <a:solidFill>
                  <a:srgbClr val="FF0000"/>
                </a:solidFill>
              </a:rPr>
              <a:t>delete</a:t>
            </a:r>
            <a:r>
              <a:rPr lang="en-US" altLang="zh-TW" dirty="0" smtClean="0"/>
              <a:t>(key) to delete an entity.</a:t>
            </a:r>
          </a:p>
          <a:p>
            <a:pPr lvl="1"/>
            <a:r>
              <a:rPr lang="en-US" altLang="zh-TW" dirty="0" smtClean="0"/>
              <a:t>Deleting an entity does not change any Key values in the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 that may have referred to the entity.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2050" name="Picture 2" descr="D:\Slide\Graph\m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4725144"/>
            <a:ext cx="1445178" cy="1479823"/>
          </a:xfrm>
          <a:prstGeom prst="rect">
            <a:avLst/>
          </a:prstGeom>
          <a:noFill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5229200"/>
            <a:ext cx="1041610" cy="834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2724831" y="5306838"/>
            <a:ext cx="983073" cy="786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圓角矩形圖說文字 12"/>
          <p:cNvSpPr/>
          <p:nvPr/>
        </p:nvSpPr>
        <p:spPr>
          <a:xfrm>
            <a:off x="2555776" y="4509120"/>
            <a:ext cx="1080120" cy="576064"/>
          </a:xfrm>
          <a:prstGeom prst="wedgeRoundRectCallout">
            <a:avLst>
              <a:gd name="adj1" fmla="val -37764"/>
              <a:gd name="adj2" fmla="val 60988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Put</a:t>
            </a:r>
            <a:endParaRPr lang="zh-TW" altLang="en-US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28184" y="4509120"/>
            <a:ext cx="1872208" cy="1673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圓角矩形圖說文字 13"/>
          <p:cNvSpPr/>
          <p:nvPr/>
        </p:nvSpPr>
        <p:spPr>
          <a:xfrm>
            <a:off x="2555776" y="4509120"/>
            <a:ext cx="1080120" cy="576064"/>
          </a:xfrm>
          <a:prstGeom prst="wedgeRoundRectCallout">
            <a:avLst>
              <a:gd name="adj1" fmla="val -37764"/>
              <a:gd name="adj2" fmla="val 60988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Put(key)</a:t>
            </a:r>
            <a:endParaRPr lang="zh-TW" altLang="en-US" dirty="0"/>
          </a:p>
        </p:txBody>
      </p:sp>
      <p:sp>
        <p:nvSpPr>
          <p:cNvPr id="15" name="圓角矩形圖說文字 14"/>
          <p:cNvSpPr/>
          <p:nvPr/>
        </p:nvSpPr>
        <p:spPr>
          <a:xfrm>
            <a:off x="2555776" y="4509120"/>
            <a:ext cx="1080120" cy="576064"/>
          </a:xfrm>
          <a:prstGeom prst="wedgeRoundRectCallout">
            <a:avLst>
              <a:gd name="adj1" fmla="val -37764"/>
              <a:gd name="adj2" fmla="val 60988"/>
              <a:gd name="adj3" fmla="val 16667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Delete(key)</a:t>
            </a:r>
            <a:endParaRPr lang="zh-TW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08582E-6 L 0.58871 0.0023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02105E-6 L 0.59062 -3.02105E-6 " pathEditMode="relative" ptsTypes="AA">
                                      <p:cBhvr>
                                        <p:cTn id="24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Storage Space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Static 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Blobstore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Datastore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 smtClean="0"/>
              <a:t>Memcache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Memcache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High performance scalable web applications often use a distributed in-memory data cache. </a:t>
            </a:r>
          </a:p>
          <a:p>
            <a:pPr lvl="1"/>
            <a:r>
              <a:rPr lang="en-US" altLang="zh-TW" dirty="0" smtClean="0"/>
              <a:t>many requests make the same query with the same parameters.</a:t>
            </a:r>
          </a:p>
          <a:p>
            <a:pPr lvl="1"/>
            <a:r>
              <a:rPr lang="en-US" altLang="zh-TW" dirty="0" smtClean="0"/>
              <a:t>the results do not need to appear on the web site right away.</a:t>
            </a:r>
          </a:p>
          <a:p>
            <a:pPr lvl="1"/>
            <a:r>
              <a:rPr lang="en-US" altLang="zh-TW" dirty="0" smtClean="0"/>
              <a:t>only perform the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 query if the results are absent or expired.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Memcache</a:t>
            </a:r>
            <a:r>
              <a:rPr lang="en-US" altLang="zh-TW" dirty="0" smtClean="0"/>
              <a:t>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But </a:t>
            </a:r>
            <a:r>
              <a:rPr lang="en-US" altLang="zh-TW" dirty="0" err="1" smtClean="0"/>
              <a:t>Memcache</a:t>
            </a:r>
            <a:r>
              <a:rPr lang="en-US" altLang="zh-TW" dirty="0" smtClean="0"/>
              <a:t> has some limitations</a:t>
            </a:r>
          </a:p>
          <a:p>
            <a:pPr lvl="1"/>
            <a:r>
              <a:rPr lang="en-US" altLang="zh-TW" dirty="0" smtClean="0"/>
              <a:t>Maximum to 1MB of total size.</a:t>
            </a:r>
          </a:p>
          <a:p>
            <a:pPr lvl="1"/>
            <a:r>
              <a:rPr lang="en-US" altLang="zh-TW" dirty="0" smtClean="0"/>
              <a:t>data should probably be stored in the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 in addition to the </a:t>
            </a:r>
            <a:r>
              <a:rPr lang="en-US" altLang="zh-TW" dirty="0" err="1" smtClean="0"/>
              <a:t>memcache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A key can be any size. If larger than 250 bytes, it is hashed to a 250-bytes value before storing or retrieving.</a:t>
            </a:r>
          </a:p>
          <a:p>
            <a:pPr lvl="1"/>
            <a:r>
              <a:rPr lang="en-US" altLang="zh-TW" dirty="0" smtClean="0"/>
              <a:t>The "multi" batch operations can have any number of elements, but total size must not exceed 1 MB.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Memcache</a:t>
            </a:r>
            <a:r>
              <a:rPr lang="en-US" altLang="zh-TW" dirty="0" smtClean="0"/>
              <a:t> has many methods</a:t>
            </a:r>
          </a:p>
          <a:p>
            <a:pPr lvl="1"/>
            <a:r>
              <a:rPr lang="en-US" altLang="zh-TW" dirty="0" smtClean="0"/>
              <a:t>Set, get, delete, add, replace, offset,  </a:t>
            </a:r>
            <a:r>
              <a:rPr lang="en-US" altLang="zh-TW" dirty="0" err="1" smtClean="0"/>
              <a:t>incr</a:t>
            </a:r>
            <a:r>
              <a:rPr lang="en-US" altLang="zh-TW" dirty="0" smtClean="0"/>
              <a:t>, and flush.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971600" y="2708920"/>
            <a:ext cx="6883295" cy="37856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set(key, value, time=0, </a:t>
            </a:r>
            <a:r>
              <a:rPr lang="en-US" altLang="zh-TW" sz="2000" dirty="0" err="1" smtClean="0"/>
              <a:t>min_compress_len</a:t>
            </a:r>
            <a:r>
              <a:rPr lang="en-US" altLang="zh-TW" sz="2000" dirty="0" smtClean="0"/>
              <a:t>=0, namespace=None)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altLang="zh-TW" sz="2000" dirty="0" err="1" smtClean="0">
                <a:solidFill>
                  <a:schemeClr val="bg1">
                    <a:lumMod val="50000"/>
                  </a:schemeClr>
                </a:solidFill>
              </a:rPr>
              <a:t>min_compress_len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: Ignored option for compatibility.</a:t>
            </a:r>
          </a:p>
          <a:p>
            <a:endParaRPr lang="en-US" altLang="zh-TW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sz="2000" dirty="0" err="1" smtClean="0"/>
              <a:t>get_multi</a:t>
            </a:r>
            <a:r>
              <a:rPr lang="en-US" altLang="zh-TW" sz="2000" dirty="0" smtClean="0"/>
              <a:t>(keys, </a:t>
            </a:r>
            <a:r>
              <a:rPr lang="en-US" altLang="zh-TW" sz="2000" dirty="0" err="1" smtClean="0"/>
              <a:t>key_prefix</a:t>
            </a:r>
            <a:r>
              <a:rPr lang="en-US" altLang="zh-TW" sz="2000" dirty="0" smtClean="0"/>
              <a:t>='', namespace=None)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en-US" altLang="zh-TW" sz="2000" dirty="0" err="1" smtClean="0">
                <a:solidFill>
                  <a:schemeClr val="bg1">
                    <a:lumMod val="50000"/>
                  </a:schemeClr>
                </a:solidFill>
              </a:rPr>
              <a:t>key_prefix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: Prefix to </a:t>
            </a:r>
            <a:r>
              <a:rPr lang="en-US" altLang="zh-TW" sz="2000" dirty="0" err="1" smtClean="0">
                <a:solidFill>
                  <a:schemeClr val="bg1">
                    <a:lumMod val="50000"/>
                  </a:schemeClr>
                </a:solidFill>
              </a:rPr>
              <a:t>prepend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 to all keys.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return a dictionary of the keys</a:t>
            </a:r>
          </a:p>
          <a:p>
            <a:endParaRPr lang="en-US" altLang="zh-TW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sz="2000" dirty="0" err="1" smtClean="0"/>
              <a:t>flush_all</a:t>
            </a:r>
            <a:r>
              <a:rPr lang="en-US" altLang="zh-TW" sz="2000" dirty="0" smtClean="0"/>
              <a:t>()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Deletes everything in </a:t>
            </a:r>
            <a:r>
              <a:rPr lang="en-US" altLang="zh-TW" sz="2000" dirty="0" err="1" smtClean="0">
                <a:solidFill>
                  <a:schemeClr val="bg1">
                    <a:lumMod val="50000"/>
                  </a:schemeClr>
                </a:solidFill>
              </a:rPr>
              <a:t>memcache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altLang="zh-TW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sz="2000" dirty="0" err="1" smtClean="0"/>
              <a:t>incr</a:t>
            </a:r>
            <a:r>
              <a:rPr lang="en-US" altLang="zh-TW" sz="2000" dirty="0" smtClean="0"/>
              <a:t>(key, delta=1, namespace=None, </a:t>
            </a:r>
            <a:r>
              <a:rPr lang="en-US" altLang="zh-TW" sz="2000" dirty="0" err="1" smtClean="0"/>
              <a:t>initial_value</a:t>
            </a:r>
            <a:r>
              <a:rPr lang="en-US" altLang="zh-TW" sz="2000" dirty="0" smtClean="0"/>
              <a:t>=None)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Atomically increments a key's value.</a:t>
            </a:r>
            <a:endParaRPr lang="zh-TW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9552" y="1484784"/>
            <a:ext cx="8254952" cy="4401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from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google.appengine.api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rgbClr val="0070C0"/>
                </a:solidFill>
              </a:rPr>
              <a:t>import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memcache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Add a value if it doesn't exist in the cache, with a cache expiration of 1 hour.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err="1" smtClean="0"/>
              <a:t>memcache.add</a:t>
            </a:r>
            <a:r>
              <a:rPr lang="en-US" altLang="zh-TW" sz="2000" dirty="0" smtClean="0"/>
              <a:t>(key="weather_USA_98105", value="raining", time=3600)</a:t>
            </a:r>
            <a:br>
              <a:rPr lang="en-US" altLang="zh-TW" sz="2000" dirty="0" smtClean="0"/>
            </a:b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Looks up multiple keys from </a:t>
            </a:r>
            <a:r>
              <a:rPr lang="en-US" altLang="zh-TW" sz="2000" dirty="0" err="1" smtClean="0">
                <a:solidFill>
                  <a:schemeClr val="bg1">
                    <a:lumMod val="50000"/>
                  </a:schemeClr>
                </a:solidFill>
              </a:rPr>
              <a:t>memcache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 in one operation.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The returned value is a dictionary of the keys and values.</a:t>
            </a:r>
          </a:p>
          <a:p>
            <a:r>
              <a:rPr lang="en-US" altLang="zh-TW" sz="2000" dirty="0" err="1" smtClean="0"/>
              <a:t>get_multi</a:t>
            </a:r>
            <a:r>
              <a:rPr lang="en-US" altLang="zh-TW" sz="2000" dirty="0" smtClean="0"/>
              <a:t>(keys=[‘</a:t>
            </a:r>
            <a:r>
              <a:rPr lang="en-US" altLang="zh-TW" sz="2000" dirty="0" err="1" smtClean="0"/>
              <a:t>a’,’b</a:t>
            </a:r>
            <a:r>
              <a:rPr lang="en-US" altLang="zh-TW" sz="2000" dirty="0" smtClean="0"/>
              <a:t>’], </a:t>
            </a:r>
            <a:r>
              <a:rPr lang="en-US" altLang="zh-TW" sz="2000" dirty="0" err="1" smtClean="0"/>
              <a:t>key_prefix</a:t>
            </a:r>
            <a:r>
              <a:rPr lang="en-US" altLang="zh-TW" sz="2000" dirty="0" smtClean="0"/>
              <a:t>='weather_', namespace=None)</a:t>
            </a:r>
            <a:br>
              <a:rPr lang="en-US" altLang="zh-TW" sz="2000" dirty="0" smtClean="0"/>
            </a:b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Atomically increment an integer value.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err="1" smtClean="0"/>
              <a:t>memcache.set</a:t>
            </a:r>
            <a:r>
              <a:rPr lang="en-US" altLang="zh-TW" sz="2000" dirty="0" smtClean="0"/>
              <a:t>(key="counter", 0)</a:t>
            </a:r>
            <a:br>
              <a:rPr lang="en-US" altLang="zh-TW" sz="2000" dirty="0" smtClean="0"/>
            </a:br>
            <a:r>
              <a:rPr lang="en-US" altLang="zh-TW" sz="2000" dirty="0" err="1" smtClean="0"/>
              <a:t>memcache.incr</a:t>
            </a:r>
            <a:r>
              <a:rPr lang="en-US" altLang="zh-TW" sz="2000" dirty="0" smtClean="0"/>
              <a:t>("counter")</a:t>
            </a:r>
            <a:br>
              <a:rPr lang="en-US" altLang="zh-TW" sz="2000" dirty="0" smtClean="0"/>
            </a:br>
            <a:r>
              <a:rPr lang="en-US" altLang="zh-TW" sz="2000" dirty="0" err="1" smtClean="0"/>
              <a:t>memcache.incr</a:t>
            </a:r>
            <a:r>
              <a:rPr lang="en-US" altLang="zh-TW" sz="2000" dirty="0" smtClean="0"/>
              <a:t>("counter")</a:t>
            </a:r>
            <a:br>
              <a:rPr lang="en-US" altLang="zh-TW" sz="2000" dirty="0" smtClean="0"/>
            </a:br>
            <a:r>
              <a:rPr lang="en-US" altLang="zh-TW" sz="2000" dirty="0" err="1" smtClean="0"/>
              <a:t>memcache.incr</a:t>
            </a:r>
            <a:r>
              <a:rPr lang="en-US" altLang="zh-TW" sz="2000" dirty="0" smtClean="0"/>
              <a:t>("counter")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Query data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Index 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GQL (Google Query Language)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Index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Datastore</a:t>
            </a:r>
            <a:r>
              <a:rPr lang="en-US" altLang="zh-TW" dirty="0" smtClean="0"/>
              <a:t> uses </a:t>
            </a:r>
            <a:r>
              <a:rPr lang="en-US" altLang="zh-TW" b="1" dirty="0" smtClean="0"/>
              <a:t>indexes</a:t>
            </a:r>
            <a:r>
              <a:rPr lang="en-US" altLang="zh-TW" dirty="0" smtClean="0"/>
              <a:t> for every query your application makes.</a:t>
            </a:r>
          </a:p>
          <a:p>
            <a:pPr lvl="1"/>
            <a:r>
              <a:rPr lang="en-US" altLang="zh-TW" dirty="0" smtClean="0"/>
              <a:t>More than one condition of a query.</a:t>
            </a:r>
          </a:p>
          <a:p>
            <a:r>
              <a:rPr lang="en-US" altLang="zh-TW" dirty="0" smtClean="0"/>
              <a:t>These </a:t>
            </a:r>
            <a:r>
              <a:rPr lang="en-US" altLang="zh-TW" b="1" dirty="0" smtClean="0"/>
              <a:t>indexes</a:t>
            </a:r>
            <a:r>
              <a:rPr lang="en-US" altLang="zh-TW" dirty="0" smtClean="0"/>
              <a:t> are updated whenever an entity changes, so the results can be returned quickly when the app makes a query.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4293096"/>
            <a:ext cx="3590553" cy="2388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index.yaml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Index also uses YAML</a:t>
            </a:r>
          </a:p>
          <a:p>
            <a:pPr lvl="1"/>
            <a:r>
              <a:rPr lang="en-US" altLang="zh-TW" dirty="0" smtClean="0"/>
              <a:t>kind – the kind of the entity for the query.</a:t>
            </a:r>
          </a:p>
          <a:p>
            <a:pPr lvl="1"/>
            <a:r>
              <a:rPr lang="en-US" altLang="zh-TW" dirty="0" smtClean="0"/>
              <a:t>properties - a list of properties to include as columns of the index</a:t>
            </a:r>
          </a:p>
          <a:p>
            <a:pPr lvl="1"/>
            <a:r>
              <a:rPr lang="en-US" altLang="zh-TW" dirty="0" smtClean="0"/>
              <a:t>ancestor - yes if the query has an ancestor clause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940152" y="1556792"/>
            <a:ext cx="2113271" cy="470898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indexes: </a:t>
            </a:r>
          </a:p>
          <a:p>
            <a:endParaRPr lang="en-US" altLang="zh-TW" sz="2000" dirty="0" smtClean="0"/>
          </a:p>
          <a:p>
            <a:pPr>
              <a:buFontTx/>
              <a:buChar char="-"/>
            </a:pPr>
            <a:r>
              <a:rPr lang="en-US" altLang="zh-TW" sz="2000" dirty="0" smtClean="0"/>
              <a:t> kind: Cat </a:t>
            </a:r>
          </a:p>
          <a:p>
            <a:r>
              <a:rPr lang="en-US" altLang="zh-TW" sz="2000" dirty="0" smtClean="0"/>
              <a:t>  ancestor: no </a:t>
            </a:r>
          </a:p>
          <a:p>
            <a:r>
              <a:rPr lang="en-US" altLang="zh-TW" sz="2000" dirty="0" smtClean="0"/>
              <a:t>  properties: </a:t>
            </a:r>
          </a:p>
          <a:p>
            <a:r>
              <a:rPr lang="en-US" altLang="zh-TW" sz="2000" dirty="0" smtClean="0"/>
              <a:t>  - name: name </a:t>
            </a:r>
          </a:p>
          <a:p>
            <a:r>
              <a:rPr lang="en-US" altLang="zh-TW" sz="2000" dirty="0" smtClean="0"/>
              <a:t>  - name: age </a:t>
            </a:r>
          </a:p>
          <a:p>
            <a:r>
              <a:rPr lang="en-US" altLang="zh-TW" sz="2000" dirty="0" smtClean="0"/>
              <a:t>    direction: </a:t>
            </a:r>
            <a:r>
              <a:rPr lang="en-US" altLang="zh-TW" sz="2000" dirty="0" err="1" smtClean="0"/>
              <a:t>desc</a:t>
            </a:r>
            <a:r>
              <a:rPr lang="en-US" altLang="zh-TW" sz="2000" dirty="0" smtClean="0"/>
              <a:t> </a:t>
            </a:r>
          </a:p>
          <a:p>
            <a:endParaRPr lang="en-US" altLang="zh-TW" sz="2000" dirty="0" smtClean="0"/>
          </a:p>
          <a:p>
            <a:pPr>
              <a:buFontTx/>
              <a:buChar char="-"/>
            </a:pPr>
            <a:r>
              <a:rPr lang="en-US" altLang="zh-TW" sz="2000" dirty="0" smtClean="0"/>
              <a:t> kind: Cat </a:t>
            </a:r>
          </a:p>
          <a:p>
            <a:r>
              <a:rPr lang="en-US" altLang="zh-TW" sz="2000" dirty="0" smtClean="0"/>
              <a:t>  properties: </a:t>
            </a:r>
          </a:p>
          <a:p>
            <a:r>
              <a:rPr lang="en-US" altLang="zh-TW" sz="2000" dirty="0" smtClean="0"/>
              <a:t>  - name: name </a:t>
            </a:r>
          </a:p>
          <a:p>
            <a:r>
              <a:rPr lang="en-US" altLang="zh-TW" sz="2000" dirty="0" smtClean="0"/>
              <a:t>    direction: </a:t>
            </a:r>
            <a:r>
              <a:rPr lang="en-US" altLang="zh-TW" sz="2000" dirty="0" err="1" smtClean="0"/>
              <a:t>asc</a:t>
            </a:r>
            <a:r>
              <a:rPr lang="en-US" altLang="zh-TW" sz="2000" dirty="0" smtClean="0"/>
              <a:t> </a:t>
            </a:r>
          </a:p>
          <a:p>
            <a:r>
              <a:rPr lang="en-US" altLang="zh-TW" sz="2000" dirty="0" smtClean="0"/>
              <a:t>  - name: whiskers </a:t>
            </a:r>
          </a:p>
          <a:p>
            <a:r>
              <a:rPr lang="en-US" altLang="zh-TW" sz="2000" dirty="0" smtClean="0"/>
              <a:t>    direction: </a:t>
            </a:r>
            <a:r>
              <a:rPr lang="en-US" altLang="zh-TW" sz="2000" dirty="0" err="1" smtClean="0"/>
              <a:t>desc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Query data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Index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GQL (Google Query Language)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GQL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GQL is a SQL-like language for retrieving entities or keys from the GAE scalable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GQL is based on </a:t>
            </a:r>
            <a:r>
              <a:rPr lang="en-US" altLang="zh-TW" dirty="0" err="1" smtClean="0"/>
              <a:t>bigtable</a:t>
            </a:r>
            <a:r>
              <a:rPr lang="en-US" altLang="zh-TW" dirty="0" smtClean="0"/>
              <a:t> technique which is a key-value </a:t>
            </a:r>
            <a:r>
              <a:rPr lang="en-US" altLang="zh-TW" dirty="0" err="1" smtClean="0"/>
              <a:t>datastore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GQL does not support the </a:t>
            </a:r>
            <a:r>
              <a:rPr lang="en-US" altLang="zh-TW" b="1" dirty="0" smtClean="0"/>
              <a:t>JOIN </a:t>
            </a:r>
            <a:r>
              <a:rPr lang="en-US" altLang="zh-TW" dirty="0" smtClean="0"/>
              <a:t>statement, because it seems to be inefficient when queries span more than one machine.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GQL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r>
              <a:rPr lang="en-US" altLang="zh-TW" dirty="0" smtClean="0"/>
              <a:t>This shared-nothing approach allows disks to fail without the system failing.</a:t>
            </a:r>
            <a:endParaRPr lang="zh-TW" altLang="en-US" dirty="0" smtClean="0"/>
          </a:p>
          <a:p>
            <a:r>
              <a:rPr lang="en-US" altLang="zh-TW" dirty="0" smtClean="0"/>
              <a:t>Instead, one-to-many and many-to-many relationships can be accomplished using </a:t>
            </a:r>
            <a:r>
              <a:rPr lang="en-US" altLang="zh-TW" b="1" dirty="0" smtClean="0"/>
              <a:t>Reference</a:t>
            </a:r>
            <a:r>
              <a:rPr lang="en-US" altLang="zh-TW" dirty="0" smtClean="0"/>
              <a:t> Property in GAE.</a:t>
            </a:r>
          </a:p>
          <a:p>
            <a:r>
              <a:rPr lang="en-US" altLang="zh-TW" dirty="0" smtClean="0"/>
              <a:t>In GQL, the number of results for each query are at most 1000.</a:t>
            </a:r>
          </a:p>
          <a:p>
            <a:r>
              <a:rPr lang="en-US" altLang="zh-TW" dirty="0" smtClean="0"/>
              <a:t>Use </a:t>
            </a:r>
            <a:r>
              <a:rPr lang="en-US" altLang="zh-TW" b="1" dirty="0" smtClean="0"/>
              <a:t>OFFSET </a:t>
            </a:r>
            <a:r>
              <a:rPr lang="en-US" altLang="zh-TW" dirty="0" smtClean="0"/>
              <a:t>statement can skip many results to find first result you need.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GQL (cont.)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99592" y="1844824"/>
            <a:ext cx="7424725" cy="25853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SELECT [* | __key__] FROM &lt;kind&gt;</a:t>
            </a:r>
          </a:p>
          <a:p>
            <a:r>
              <a:rPr lang="en-US" altLang="zh-TW" dirty="0" smtClean="0"/>
              <a:t>	[WHERE &lt;condition&gt; [AND &lt;condition&gt; ...]] </a:t>
            </a:r>
          </a:p>
          <a:p>
            <a:r>
              <a:rPr lang="en-US" altLang="zh-TW" dirty="0" smtClean="0"/>
              <a:t>	[ORDER BY &lt;property&gt; [ASC | DESC] [, &lt;property&gt; [ASC | DESC] ...]] </a:t>
            </a:r>
          </a:p>
          <a:p>
            <a:r>
              <a:rPr lang="en-US" altLang="zh-TW" dirty="0" smtClean="0"/>
              <a:t>	[LIMIT [&lt;offset&gt;,]&lt;count&gt;] </a:t>
            </a:r>
          </a:p>
          <a:p>
            <a:r>
              <a:rPr lang="en-US" altLang="zh-TW" dirty="0" smtClean="0"/>
              <a:t>	[OFFSET &lt;offset&gt;]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&lt;condition&gt; := &lt;property&gt; {&lt; | &lt;= | &gt; | &gt;= | = | != } &lt;value&gt; </a:t>
            </a:r>
          </a:p>
          <a:p>
            <a:r>
              <a:rPr lang="en-US" altLang="zh-TW" dirty="0" smtClean="0"/>
              <a:t>&lt;condition&gt; := &lt;property&gt; IN &lt;list&gt;</a:t>
            </a:r>
          </a:p>
          <a:p>
            <a:r>
              <a:rPr lang="en-US" altLang="zh-TW" dirty="0" smtClean="0"/>
              <a:t> &lt;condition&gt; := ANCESTOR IS &lt;entity or key&gt; </a:t>
            </a:r>
            <a:endParaRPr lang="zh-TW" altLang="en-US" dirty="0"/>
          </a:p>
        </p:txBody>
      </p:sp>
      <p:grpSp>
        <p:nvGrpSpPr>
          <p:cNvPr id="5" name="群組 19"/>
          <p:cNvGrpSpPr/>
          <p:nvPr/>
        </p:nvGrpSpPr>
        <p:grpSpPr>
          <a:xfrm>
            <a:off x="971600" y="2178737"/>
            <a:ext cx="6460551" cy="2925611"/>
            <a:chOff x="971600" y="2178737"/>
            <a:chExt cx="6460551" cy="2925611"/>
          </a:xfrm>
        </p:grpSpPr>
        <p:cxnSp>
          <p:nvCxnSpPr>
            <p:cNvPr id="6" name="直線接點 5"/>
            <p:cNvCxnSpPr/>
            <p:nvPr/>
          </p:nvCxnSpPr>
          <p:spPr>
            <a:xfrm>
              <a:off x="971600" y="2178737"/>
              <a:ext cx="324036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971600" y="4581128"/>
              <a:ext cx="64605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Choose the entity type and show the result</a:t>
              </a:r>
              <a:endParaRPr lang="zh-TW" altLang="en-US" sz="2800" dirty="0"/>
            </a:p>
          </p:txBody>
        </p:sp>
      </p:grpSp>
      <p:grpSp>
        <p:nvGrpSpPr>
          <p:cNvPr id="8" name="群組 20"/>
          <p:cNvGrpSpPr/>
          <p:nvPr/>
        </p:nvGrpSpPr>
        <p:grpSpPr>
          <a:xfrm>
            <a:off x="971600" y="2438306"/>
            <a:ext cx="4896544" cy="2666042"/>
            <a:chOff x="971600" y="2438306"/>
            <a:chExt cx="4896544" cy="2666042"/>
          </a:xfrm>
        </p:grpSpPr>
        <p:cxnSp>
          <p:nvCxnSpPr>
            <p:cNvPr id="7" name="直線接點 6"/>
            <p:cNvCxnSpPr/>
            <p:nvPr/>
          </p:nvCxnSpPr>
          <p:spPr>
            <a:xfrm>
              <a:off x="1907704" y="2438306"/>
              <a:ext cx="396044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971600" y="4581128"/>
              <a:ext cx="30347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Set the condition(s)</a:t>
              </a:r>
              <a:endParaRPr lang="zh-TW" altLang="en-US" sz="2800" dirty="0"/>
            </a:p>
          </p:txBody>
        </p:sp>
      </p:grpSp>
      <p:grpSp>
        <p:nvGrpSpPr>
          <p:cNvPr id="10" name="群組 21"/>
          <p:cNvGrpSpPr/>
          <p:nvPr/>
        </p:nvGrpSpPr>
        <p:grpSpPr>
          <a:xfrm>
            <a:off x="971600" y="2717629"/>
            <a:ext cx="7128792" cy="2386719"/>
            <a:chOff x="971600" y="2717629"/>
            <a:chExt cx="7128792" cy="2386719"/>
          </a:xfrm>
        </p:grpSpPr>
        <p:cxnSp>
          <p:nvCxnSpPr>
            <p:cNvPr id="9" name="直線接點 8"/>
            <p:cNvCxnSpPr/>
            <p:nvPr/>
          </p:nvCxnSpPr>
          <p:spPr>
            <a:xfrm>
              <a:off x="1907704" y="2717629"/>
              <a:ext cx="6192688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文字方塊 18"/>
            <p:cNvSpPr txBox="1"/>
            <p:nvPr/>
          </p:nvSpPr>
          <p:spPr>
            <a:xfrm>
              <a:off x="971600" y="4581128"/>
              <a:ext cx="57152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Sort the result by the given properties</a:t>
              </a:r>
              <a:endParaRPr lang="zh-TW" altLang="en-US" sz="2800" dirty="0"/>
            </a:p>
          </p:txBody>
        </p:sp>
      </p:grpSp>
      <p:grpSp>
        <p:nvGrpSpPr>
          <p:cNvPr id="12" name="群組 24"/>
          <p:cNvGrpSpPr/>
          <p:nvPr/>
        </p:nvGrpSpPr>
        <p:grpSpPr>
          <a:xfrm>
            <a:off x="971600" y="2996952"/>
            <a:ext cx="6193299" cy="2538283"/>
            <a:chOff x="971600" y="2996952"/>
            <a:chExt cx="6193299" cy="2538283"/>
          </a:xfrm>
        </p:grpSpPr>
        <p:cxnSp>
          <p:nvCxnSpPr>
            <p:cNvPr id="13" name="直線接點 12"/>
            <p:cNvCxnSpPr/>
            <p:nvPr/>
          </p:nvCxnSpPr>
          <p:spPr>
            <a:xfrm>
              <a:off x="1907704" y="3265230"/>
              <a:ext cx="1584176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" name="群組 23"/>
            <p:cNvGrpSpPr/>
            <p:nvPr/>
          </p:nvGrpSpPr>
          <p:grpSpPr>
            <a:xfrm>
              <a:off x="971600" y="2996952"/>
              <a:ext cx="6193299" cy="2538283"/>
              <a:chOff x="971600" y="2996952"/>
              <a:chExt cx="6193299" cy="2538283"/>
            </a:xfrm>
          </p:grpSpPr>
          <p:cxnSp>
            <p:nvCxnSpPr>
              <p:cNvPr id="11" name="直線接點 10"/>
              <p:cNvCxnSpPr/>
              <p:nvPr/>
            </p:nvCxnSpPr>
            <p:spPr>
              <a:xfrm>
                <a:off x="1907704" y="2996952"/>
                <a:ext cx="2376264" cy="0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3" name="文字方塊 22"/>
              <p:cNvSpPr txBox="1"/>
              <p:nvPr/>
            </p:nvSpPr>
            <p:spPr>
              <a:xfrm>
                <a:off x="971600" y="4581128"/>
                <a:ext cx="619329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Limit the numbers of result, and can skip </a:t>
                </a:r>
              </a:p>
              <a:p>
                <a:r>
                  <a:rPr lang="en-US" altLang="zh-TW" sz="2800" dirty="0" smtClean="0"/>
                  <a:t>numbers of results</a:t>
                </a:r>
                <a:endParaRPr lang="zh-TW" altLang="en-US" sz="2800" dirty="0"/>
              </a:p>
            </p:txBody>
          </p:sp>
        </p:grpSp>
      </p:grpSp>
      <p:grpSp>
        <p:nvGrpSpPr>
          <p:cNvPr id="15" name="群組 26"/>
          <p:cNvGrpSpPr/>
          <p:nvPr/>
        </p:nvGrpSpPr>
        <p:grpSpPr>
          <a:xfrm>
            <a:off x="971600" y="3501008"/>
            <a:ext cx="5544616" cy="1675348"/>
            <a:chOff x="971600" y="3501008"/>
            <a:chExt cx="5544616" cy="1675348"/>
          </a:xfrm>
        </p:grpSpPr>
        <p:sp>
          <p:nvSpPr>
            <p:cNvPr id="16" name="矩形 15"/>
            <p:cNvSpPr/>
            <p:nvPr/>
          </p:nvSpPr>
          <p:spPr>
            <a:xfrm>
              <a:off x="971600" y="3501008"/>
              <a:ext cx="5544616" cy="864096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1043608" y="465313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/>
                <a:t>Conditions </a:t>
              </a:r>
              <a:endParaRPr lang="zh-TW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67544" y="1268760"/>
            <a:ext cx="6493957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query = 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“SELECT * from User WHERE age &gt; 10 “ 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 “</a:t>
            </a:r>
          </a:p>
          <a:p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		 ORDER by  birthday DESC”</a:t>
            </a:r>
          </a:p>
          <a:p>
            <a:r>
              <a:rPr lang="en-US" altLang="zh-TW" sz="2400" dirty="0" smtClean="0"/>
              <a:t>results = </a:t>
            </a:r>
            <a:r>
              <a:rPr lang="en-US" altLang="zh-TW" sz="2400" dirty="0" err="1" smtClean="0"/>
              <a:t>db.GqlQuery</a:t>
            </a:r>
            <a:r>
              <a:rPr lang="en-US" altLang="zh-TW" sz="2400" dirty="0" smtClean="0"/>
              <a:t>(query) 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2051720" y="2780928"/>
            <a:ext cx="6733318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query = 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“WHERE age &gt; 10 ORDER by  birthday DESC”</a:t>
            </a:r>
            <a:endParaRPr lang="en-US" altLang="zh-TW" sz="2400" dirty="0" smtClean="0"/>
          </a:p>
          <a:p>
            <a:r>
              <a:rPr lang="en-US" altLang="zh-TW" sz="2400" dirty="0" smtClean="0"/>
              <a:t>results = User.gql(query)</a:t>
            </a:r>
            <a:endParaRPr lang="zh-TW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3861048"/>
            <a:ext cx="3810000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Comparison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Compared with </a:t>
            </a:r>
            <a:r>
              <a:rPr lang="en-US" altLang="zh-TW" dirty="0" err="1" smtClean="0"/>
              <a:t>MySQL</a:t>
            </a:r>
            <a:r>
              <a:rPr lang="en-US" altLang="zh-TW" dirty="0" smtClean="0"/>
              <a:t>, one of popular of SQL language, GQL has some difference and similar part.</a:t>
            </a:r>
          </a:p>
          <a:p>
            <a:r>
              <a:rPr lang="en-US" altLang="zh-TW" dirty="0" smtClean="0"/>
              <a:t>GQL has a high similarity of syntax between </a:t>
            </a:r>
            <a:r>
              <a:rPr lang="en-US" altLang="zh-TW" dirty="0" err="1" smtClean="0"/>
              <a:t>MySQL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SELECT syntax</a:t>
            </a:r>
          </a:p>
          <a:p>
            <a:pPr lvl="1"/>
            <a:r>
              <a:rPr lang="en-US" altLang="zh-TW" dirty="0" smtClean="0"/>
              <a:t>Condition syntax</a:t>
            </a:r>
          </a:p>
          <a:p>
            <a:r>
              <a:rPr lang="en-US" altLang="zh-TW" dirty="0" smtClean="0"/>
              <a:t>But there are many differences between GQL and </a:t>
            </a:r>
            <a:r>
              <a:rPr lang="en-US" altLang="zh-TW" dirty="0" err="1" smtClean="0"/>
              <a:t>MySQL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Comparison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546848" cy="4525963"/>
          </a:xfrm>
        </p:spPr>
        <p:txBody>
          <a:bodyPr/>
          <a:lstStyle/>
          <a:p>
            <a:r>
              <a:rPr lang="en-US" altLang="zh-TW" dirty="0" smtClean="0"/>
              <a:t>The biggest difference is the commands.</a:t>
            </a:r>
          </a:p>
          <a:p>
            <a:pPr lvl="1"/>
            <a:r>
              <a:rPr lang="en-US" altLang="zh-TW" dirty="0" smtClean="0"/>
              <a:t>GQL has no privilege commands, like GRANT, FLUSH.</a:t>
            </a:r>
          </a:p>
          <a:p>
            <a:pPr lvl="1"/>
            <a:r>
              <a:rPr lang="en-US" altLang="zh-TW" dirty="0" smtClean="0"/>
              <a:t>GQL does not provide friendly commands for operating table.</a:t>
            </a:r>
          </a:p>
          <a:p>
            <a:pPr lvl="1"/>
            <a:r>
              <a:rPr lang="en-US" altLang="zh-TW" dirty="0" smtClean="0"/>
              <a:t>GQL does not support some queried commands.</a:t>
            </a:r>
          </a:p>
          <a:p>
            <a:endParaRPr lang="zh-TW" alt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2708920"/>
            <a:ext cx="199072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Comparison 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1520" y="3573016"/>
            <a:ext cx="1872208" cy="64807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err="1" smtClean="0"/>
              <a:t>MySQL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2843808" y="2132856"/>
            <a:ext cx="1944216" cy="57606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Privilege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2843808" y="3573016"/>
            <a:ext cx="1944216" cy="57606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Operator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2843808" y="4869160"/>
            <a:ext cx="1944216" cy="5760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Query 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 rot="5400000">
            <a:off x="1763688" y="2780928"/>
            <a:ext cx="1440160" cy="720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endCxn id="7" idx="1"/>
          </p:cNvCxnSpPr>
          <p:nvPr/>
        </p:nvCxnSpPr>
        <p:spPr>
          <a:xfrm>
            <a:off x="2123728" y="3861048"/>
            <a:ext cx="7200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endCxn id="8" idx="1"/>
          </p:cNvCxnSpPr>
          <p:nvPr/>
        </p:nvCxnSpPr>
        <p:spPr>
          <a:xfrm rot="16200000" flipH="1">
            <a:off x="1835696" y="4149080"/>
            <a:ext cx="1296144" cy="720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圓角矩形 16"/>
          <p:cNvSpPr/>
          <p:nvPr/>
        </p:nvSpPr>
        <p:spPr>
          <a:xfrm>
            <a:off x="5220072" y="1772816"/>
            <a:ext cx="2808312" cy="1224136"/>
          </a:xfrm>
          <a:prstGeom prst="round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508104" y="1916832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GRANT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6516216" y="1916832"/>
            <a:ext cx="935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REVOKE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228184" y="2420888"/>
            <a:ext cx="780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FLUSH</a:t>
            </a:r>
            <a:endParaRPr lang="zh-TW" altLang="en-US" dirty="0"/>
          </a:p>
        </p:txBody>
      </p:sp>
      <p:sp>
        <p:nvSpPr>
          <p:cNvPr id="22" name="圓角矩形 21"/>
          <p:cNvSpPr/>
          <p:nvPr/>
        </p:nvSpPr>
        <p:spPr>
          <a:xfrm>
            <a:off x="5292080" y="3284984"/>
            <a:ext cx="2808312" cy="1224136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圓角矩形 25"/>
          <p:cNvSpPr/>
          <p:nvPr/>
        </p:nvSpPr>
        <p:spPr>
          <a:xfrm>
            <a:off x="5292080" y="4653136"/>
            <a:ext cx="2808312" cy="1224136"/>
          </a:xfrm>
          <a:prstGeom prst="round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580112" y="4869160"/>
            <a:ext cx="1005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REPLACE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5580112" y="3933056"/>
            <a:ext cx="7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ALTER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6084168" y="3501008"/>
            <a:ext cx="1098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OPTIMIZE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6588224" y="3933056"/>
            <a:ext cx="702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LOAD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6732240" y="4869160"/>
            <a:ext cx="86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COUNT</a:t>
            </a:r>
            <a:endParaRPr lang="zh-TW" altLang="en-US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580112" y="5373216"/>
            <a:ext cx="871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GROUP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804248" y="537321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JOIN</a:t>
            </a:r>
            <a:endParaRPr lang="zh-TW" altLang="en-US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4788024" y="2420888"/>
            <a:ext cx="43204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7" idx="3"/>
            <a:endCxn id="22" idx="1"/>
          </p:cNvCxnSpPr>
          <p:nvPr/>
        </p:nvCxnSpPr>
        <p:spPr>
          <a:xfrm>
            <a:off x="4788024" y="3861048"/>
            <a:ext cx="504056" cy="3600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endCxn id="26" idx="1"/>
          </p:cNvCxnSpPr>
          <p:nvPr/>
        </p:nvCxnSpPr>
        <p:spPr>
          <a:xfrm>
            <a:off x="4788024" y="5157192"/>
            <a:ext cx="504056" cy="10801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1124744"/>
            <a:ext cx="4659288" cy="465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Schedule routine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Cron</a:t>
            </a:r>
            <a:r>
              <a:rPr lang="en-US" altLang="zh-TW" dirty="0" smtClean="0"/>
              <a:t> jobs</a:t>
            </a:r>
          </a:p>
          <a:p>
            <a:r>
              <a:rPr lang="en-US" altLang="zh-TW" dirty="0" smtClean="0"/>
              <a:t>Tasks Queue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Schedule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GAE provides two types of computation models</a:t>
            </a:r>
          </a:p>
          <a:p>
            <a:pPr lvl="1"/>
            <a:r>
              <a:rPr lang="en-US" altLang="zh-TW" dirty="0" err="1" smtClean="0"/>
              <a:t>Cron</a:t>
            </a:r>
            <a:r>
              <a:rPr lang="en-US" altLang="zh-TW" dirty="0" smtClean="0"/>
              <a:t> jobs</a:t>
            </a:r>
          </a:p>
          <a:p>
            <a:pPr lvl="1"/>
            <a:r>
              <a:rPr lang="en-US" altLang="zh-TW" dirty="0" smtClean="0"/>
              <a:t>Tasks queue</a:t>
            </a:r>
          </a:p>
          <a:p>
            <a:r>
              <a:rPr lang="en-US" altLang="zh-TW" dirty="0" smtClean="0"/>
              <a:t>All of two are used for some periodical jobs.</a:t>
            </a:r>
          </a:p>
          <a:p>
            <a:r>
              <a:rPr lang="en-US" altLang="zh-TW" dirty="0" err="1" smtClean="0"/>
              <a:t>Cron</a:t>
            </a:r>
            <a:r>
              <a:rPr lang="en-US" altLang="zh-TW" dirty="0" smtClean="0"/>
              <a:t> jobs and Tasks are also subject to the same limits and quotas as a normal HTTP request.</a:t>
            </a:r>
          </a:p>
          <a:p>
            <a:pPr lvl="1"/>
            <a:r>
              <a:rPr lang="en-US" altLang="zh-TW" dirty="0" smtClean="0"/>
              <a:t>The lifetime of a </a:t>
            </a:r>
            <a:r>
              <a:rPr lang="en-US" altLang="zh-TW" dirty="0" err="1" smtClean="0"/>
              <a:t>cron</a:t>
            </a:r>
            <a:r>
              <a:rPr lang="en-US" altLang="zh-TW" dirty="0" smtClean="0"/>
              <a:t> job’s or a task’s execution is limited to 30 seconds.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Schedule routine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Cron</a:t>
            </a:r>
            <a:r>
              <a:rPr lang="en-US" altLang="zh-TW" dirty="0" smtClean="0"/>
              <a:t> jobs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Tasks Queue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Cron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</a:t>
            </a:r>
            <a:r>
              <a:rPr lang="en-US" altLang="zh-TW" i="1" dirty="0" err="1" smtClean="0">
                <a:solidFill>
                  <a:srgbClr val="FF0000"/>
                </a:solidFill>
              </a:rPr>
              <a:t>cron</a:t>
            </a:r>
            <a:r>
              <a:rPr lang="en-US" altLang="zh-TW" i="1" dirty="0" smtClean="0">
                <a:solidFill>
                  <a:srgbClr val="FF0000"/>
                </a:solidFill>
              </a:rPr>
              <a:t> jobs </a:t>
            </a:r>
            <a:r>
              <a:rPr lang="en-US" altLang="zh-TW" dirty="0" smtClean="0"/>
              <a:t>allows you to configure regularly scheduled tasks that operate at defined times or regular intervals.</a:t>
            </a:r>
          </a:p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cron</a:t>
            </a:r>
            <a:r>
              <a:rPr lang="en-US" altLang="zh-TW" dirty="0" smtClean="0"/>
              <a:t> jobs are automatically triggered by the App Engine </a:t>
            </a:r>
            <a:r>
              <a:rPr lang="en-US" altLang="zh-TW" dirty="0" err="1" smtClean="0"/>
              <a:t>Cron</a:t>
            </a:r>
            <a:r>
              <a:rPr lang="en-US" altLang="zh-TW" dirty="0" smtClean="0"/>
              <a:t> Service.</a:t>
            </a:r>
          </a:p>
          <a:p>
            <a:pPr lvl="1"/>
            <a:r>
              <a:rPr lang="en-US" altLang="zh-TW" dirty="0" smtClean="0"/>
              <a:t>Update some cached data every 10 minutes.</a:t>
            </a:r>
          </a:p>
          <a:p>
            <a:pPr lvl="1"/>
            <a:r>
              <a:rPr lang="en-US" altLang="zh-TW" dirty="0" smtClean="0"/>
              <a:t>Update some summary information every once an hour. </a:t>
            </a:r>
          </a:p>
          <a:p>
            <a:pPr lvl="1"/>
            <a:r>
              <a:rPr lang="en-US" altLang="zh-TW" dirty="0" smtClean="0"/>
              <a:t>Send e-mail every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cron.yaml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80626" y="1412776"/>
            <a:ext cx="4431534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err="1" smtClean="0"/>
              <a:t>cron</a:t>
            </a:r>
            <a:r>
              <a:rPr lang="en-US" altLang="zh-TW" sz="2000" dirty="0" smtClean="0"/>
              <a:t>: </a:t>
            </a:r>
          </a:p>
          <a:p>
            <a:r>
              <a:rPr lang="en-US" altLang="zh-TW" sz="2000" dirty="0" smtClean="0"/>
              <a:t>  - description: daily summary job </a:t>
            </a:r>
          </a:p>
          <a:p>
            <a:r>
              <a:rPr lang="en-US" altLang="zh-TW" sz="2000" dirty="0" smtClean="0"/>
              <a:t>     </a:t>
            </a:r>
            <a:r>
              <a:rPr lang="en-US" altLang="zh-TW" sz="2000" dirty="0" err="1" smtClean="0"/>
              <a:t>url</a:t>
            </a:r>
            <a:r>
              <a:rPr lang="en-US" altLang="zh-TW" sz="2000" dirty="0" smtClean="0"/>
              <a:t>: /tasks/summary </a:t>
            </a:r>
          </a:p>
          <a:p>
            <a:r>
              <a:rPr lang="en-US" altLang="zh-TW" sz="2000" dirty="0" smtClean="0"/>
              <a:t>     schedule: every 24 hours 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  - description: </a:t>
            </a:r>
            <a:r>
              <a:rPr lang="en-US" altLang="zh-TW" sz="2000" dirty="0" err="1" smtClean="0"/>
              <a:t>monday</a:t>
            </a:r>
            <a:r>
              <a:rPr lang="en-US" altLang="zh-TW" sz="2000" dirty="0" smtClean="0"/>
              <a:t> morning </a:t>
            </a:r>
            <a:r>
              <a:rPr lang="en-US" altLang="zh-TW" sz="2000" dirty="0" err="1" smtClean="0"/>
              <a:t>mailout</a:t>
            </a:r>
            <a:r>
              <a:rPr lang="en-US" altLang="zh-TW" sz="2000" dirty="0" smtClean="0"/>
              <a:t> </a:t>
            </a:r>
          </a:p>
          <a:p>
            <a:r>
              <a:rPr lang="en-US" altLang="zh-TW" sz="2000" dirty="0" smtClean="0"/>
              <a:t>    </a:t>
            </a:r>
            <a:r>
              <a:rPr lang="en-US" altLang="zh-TW" sz="2000" dirty="0" err="1" smtClean="0"/>
              <a:t>url</a:t>
            </a:r>
            <a:r>
              <a:rPr lang="en-US" altLang="zh-TW" sz="2000" dirty="0" smtClean="0"/>
              <a:t>: /mail/weekly </a:t>
            </a:r>
          </a:p>
          <a:p>
            <a:r>
              <a:rPr lang="en-US" altLang="zh-TW" sz="2000" dirty="0" smtClean="0"/>
              <a:t>    schedule: every </a:t>
            </a:r>
            <a:r>
              <a:rPr lang="en-US" altLang="zh-TW" sz="2000" dirty="0" err="1" smtClean="0"/>
              <a:t>monday</a:t>
            </a:r>
            <a:r>
              <a:rPr lang="en-US" altLang="zh-TW" sz="2000" dirty="0" smtClean="0"/>
              <a:t> 09:00 </a:t>
            </a:r>
          </a:p>
          <a:p>
            <a:r>
              <a:rPr lang="en-US" altLang="zh-TW" sz="2000" dirty="0" smtClean="0"/>
              <a:t>    </a:t>
            </a:r>
            <a:r>
              <a:rPr lang="en-US" altLang="zh-TW" sz="2000" dirty="0" err="1" smtClean="0"/>
              <a:t>timezone</a:t>
            </a:r>
            <a:r>
              <a:rPr lang="en-US" altLang="zh-TW" sz="2000" dirty="0" smtClean="0"/>
              <a:t>: Australia/NSW</a:t>
            </a:r>
            <a:endParaRPr lang="zh-TW" altLang="en-US" sz="2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15616" y="4365104"/>
            <a:ext cx="64270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schedule:</a:t>
            </a:r>
          </a:p>
          <a:p>
            <a:r>
              <a:rPr lang="en-US" altLang="zh-TW" dirty="0" smtClean="0"/>
              <a:t>    time range</a:t>
            </a:r>
          </a:p>
          <a:p>
            <a:r>
              <a:rPr lang="en-US" altLang="zh-TW" dirty="0" smtClean="0"/>
              <a:t>  </a:t>
            </a:r>
            <a:r>
              <a:rPr lang="en-US" altLang="zh-TW" dirty="0" smtClean="0">
                <a:solidFill>
                  <a:srgbClr val="C00000"/>
                </a:solidFill>
              </a:rPr>
              <a:t> ("every"|ordinal) </a:t>
            </a:r>
            <a:r>
              <a:rPr lang="en-US" altLang="zh-TW" dirty="0" smtClean="0">
                <a:solidFill>
                  <a:srgbClr val="002060"/>
                </a:solidFill>
              </a:rPr>
              <a:t>(days) </a:t>
            </a:r>
            <a:r>
              <a:rPr lang="en-US" altLang="zh-TW" dirty="0" smtClean="0">
                <a:solidFill>
                  <a:srgbClr val="C00000"/>
                </a:solidFill>
              </a:rPr>
              <a:t>["of" (</a:t>
            </a:r>
            <a:r>
              <a:rPr lang="en-US" altLang="zh-TW" dirty="0" err="1" smtClean="0">
                <a:solidFill>
                  <a:srgbClr val="C00000"/>
                </a:solidFill>
              </a:rPr>
              <a:t>monthspec</a:t>
            </a:r>
            <a:r>
              <a:rPr lang="en-US" altLang="zh-TW" dirty="0" smtClean="0">
                <a:solidFill>
                  <a:srgbClr val="C00000"/>
                </a:solidFill>
              </a:rPr>
              <a:t>)] </a:t>
            </a:r>
            <a:r>
              <a:rPr lang="en-US" altLang="zh-TW" dirty="0" smtClean="0">
                <a:solidFill>
                  <a:srgbClr val="002060"/>
                </a:solidFill>
              </a:rPr>
              <a:t>(time)</a:t>
            </a:r>
            <a:r>
              <a:rPr lang="en-US" altLang="zh-TW" dirty="0" smtClean="0"/>
              <a:t> (synchronized)</a:t>
            </a:r>
            <a:endParaRPr lang="zh-TW" altLang="en-US" dirty="0" smtClean="0">
              <a:solidFill>
                <a:srgbClr val="002060"/>
              </a:solidFill>
            </a:endParaRPr>
          </a:p>
          <a:p>
            <a:endParaRPr lang="zh-TW" altLang="en-US" dirty="0"/>
          </a:p>
        </p:txBody>
      </p:sp>
      <p:grpSp>
        <p:nvGrpSpPr>
          <p:cNvPr id="3" name="群組 10"/>
          <p:cNvGrpSpPr/>
          <p:nvPr/>
        </p:nvGrpSpPr>
        <p:grpSpPr>
          <a:xfrm>
            <a:off x="683568" y="2348880"/>
            <a:ext cx="3273322" cy="585356"/>
            <a:chOff x="683568" y="2348880"/>
            <a:chExt cx="3273322" cy="585356"/>
          </a:xfrm>
        </p:grpSpPr>
        <p:cxnSp>
          <p:nvCxnSpPr>
            <p:cNvPr id="7" name="直線接點 6"/>
            <p:cNvCxnSpPr/>
            <p:nvPr/>
          </p:nvCxnSpPr>
          <p:spPr>
            <a:xfrm>
              <a:off x="1940666" y="2348880"/>
              <a:ext cx="2016224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文字方塊 7"/>
            <p:cNvSpPr txBox="1"/>
            <p:nvPr/>
          </p:nvSpPr>
          <p:spPr>
            <a:xfrm>
              <a:off x="683568" y="2564904"/>
              <a:ext cx="482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job</a:t>
              </a:r>
              <a:endParaRPr lang="zh-TW" altLang="en-US" dirty="0"/>
            </a:p>
          </p:txBody>
        </p:sp>
        <p:cxnSp>
          <p:nvCxnSpPr>
            <p:cNvPr id="10" name="直線接點 9"/>
            <p:cNvCxnSpPr/>
            <p:nvPr/>
          </p:nvCxnSpPr>
          <p:spPr>
            <a:xfrm rot="10800000" flipV="1">
              <a:off x="1187624" y="2348880"/>
              <a:ext cx="720080" cy="3600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Synchronized </a:t>
            </a:r>
            <a:endParaRPr lang="zh-TW" altLang="en-US" dirty="0"/>
          </a:p>
        </p:txBody>
      </p:sp>
      <p:sp>
        <p:nvSpPr>
          <p:cNvPr id="34" name="內容版面配置區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By default, an interval schedule starts the next interval after the last job has completed.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5157192"/>
            <a:ext cx="8208912" cy="504056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23528" y="5877272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00:00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244408" y="5877272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24:00</a:t>
            </a:r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>
            <a:off x="611560" y="479715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115616" y="49411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3491880" y="479715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067944" y="49411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300192" y="479715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6804248" y="4941168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179512" y="4293096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Schedule 2</a:t>
            </a:r>
            <a:endParaRPr lang="zh-TW" altLang="en-US" dirty="0"/>
          </a:p>
        </p:txBody>
      </p:sp>
      <p:cxnSp>
        <p:nvCxnSpPr>
          <p:cNvPr id="26" name="直線接點 25"/>
          <p:cNvCxnSpPr/>
          <p:nvPr/>
        </p:nvCxnSpPr>
        <p:spPr>
          <a:xfrm>
            <a:off x="611560" y="357301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1331640" y="371703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3491880" y="357301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4283968" y="371703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6300192" y="3573016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7020272" y="3717032"/>
            <a:ext cx="7200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79512" y="3068960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Schedule 1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Schedule routine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Cron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jobs</a:t>
            </a:r>
          </a:p>
          <a:p>
            <a:r>
              <a:rPr lang="en-US" altLang="zh-TW" dirty="0" smtClean="0"/>
              <a:t>Tasks Queue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Task Queue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If an app needs to execute some background work, it may use the Task Queue API to organize that work into small, discrete units, called </a:t>
            </a:r>
            <a:r>
              <a:rPr lang="en-US" altLang="zh-TW" dirty="0" smtClean="0">
                <a:solidFill>
                  <a:srgbClr val="FF0000"/>
                </a:solidFill>
              </a:rPr>
              <a:t>Task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app then inserts these Tasks into one or more Queues. </a:t>
            </a:r>
          </a:p>
          <a:p>
            <a:r>
              <a:rPr lang="en-US" altLang="zh-TW" dirty="0" smtClean="0"/>
              <a:t>App Engine automatically detects new Tasks and executes them when system resources permit.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queue.yaml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99592" y="1700808"/>
            <a:ext cx="4308937" cy="378565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queue: </a:t>
            </a:r>
          </a:p>
          <a:p>
            <a:r>
              <a:rPr lang="en-US" altLang="zh-TW" sz="2400" dirty="0" smtClean="0"/>
              <a:t>  - name: default </a:t>
            </a:r>
          </a:p>
          <a:p>
            <a:r>
              <a:rPr lang="en-US" altLang="zh-TW" sz="2400" dirty="0" smtClean="0"/>
              <a:t>    rate: 1/s 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  - name: mail-queue </a:t>
            </a:r>
          </a:p>
          <a:p>
            <a:r>
              <a:rPr lang="en-US" altLang="zh-TW" sz="2400" dirty="0" smtClean="0"/>
              <a:t>    rate: 2000/d </a:t>
            </a:r>
          </a:p>
          <a:p>
            <a:r>
              <a:rPr lang="en-US" altLang="zh-TW" sz="2400" dirty="0" smtClean="0"/>
              <a:t>    </a:t>
            </a:r>
            <a:r>
              <a:rPr lang="en-US" altLang="zh-TW" sz="2400" dirty="0" err="1" smtClean="0"/>
              <a:t>bucket_size</a:t>
            </a:r>
            <a:r>
              <a:rPr lang="en-US" altLang="zh-TW" sz="2400" dirty="0" smtClean="0"/>
              <a:t>: 10 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  - name: background-processing </a:t>
            </a:r>
          </a:p>
          <a:p>
            <a:r>
              <a:rPr lang="en-US" altLang="zh-TW" sz="2400" dirty="0" smtClean="0"/>
              <a:t>    rate: 5/s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364088" y="1628800"/>
            <a:ext cx="24572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Default setting</a:t>
            </a:r>
          </a:p>
          <a:p>
            <a:r>
              <a:rPr lang="en-US" altLang="zh-TW" dirty="0" smtClean="0"/>
              <a:t>        - 5 tasks per second</a:t>
            </a:r>
          </a:p>
          <a:p>
            <a:r>
              <a:rPr lang="en-US" altLang="zh-TW" dirty="0" smtClean="0"/>
              <a:t>        - 5 bucket size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436096" y="3356992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rate</a:t>
            </a:r>
          </a:p>
          <a:p>
            <a:r>
              <a:rPr lang="en-US" altLang="zh-TW" dirty="0" smtClean="0"/>
              <a:t>    - The average rate at which tasks are processed on this queue.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508104" y="4509120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bucket_size</a:t>
            </a:r>
            <a:endParaRPr lang="en-US" altLang="zh-TW" dirty="0" smtClean="0"/>
          </a:p>
          <a:p>
            <a:r>
              <a:rPr lang="en-US" altLang="zh-TW" dirty="0" smtClean="0"/>
              <a:t>    - Limits the </a:t>
            </a:r>
            <a:r>
              <a:rPr lang="en-US" altLang="zh-TW" dirty="0" err="1" smtClean="0"/>
              <a:t>burstiness</a:t>
            </a:r>
            <a:r>
              <a:rPr lang="en-US" altLang="zh-TW" dirty="0" smtClean="0"/>
              <a:t> of the queue's processing.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99592" y="1772816"/>
            <a:ext cx="6927987" cy="41549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B0F0"/>
                </a:solidFill>
              </a:rPr>
              <a:t>from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google.appengine.api.labs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B0F0"/>
                </a:solidFill>
              </a:rPr>
              <a:t>import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taskqueue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00B0F0"/>
                </a:solidFill>
              </a:rPr>
              <a:t>class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CounterHandler</a:t>
            </a:r>
            <a:r>
              <a:rPr lang="en-US" altLang="zh-TW" sz="2400" dirty="0" smtClean="0"/>
              <a:t>(</a:t>
            </a:r>
            <a:r>
              <a:rPr lang="en-US" altLang="zh-TW" sz="2400" dirty="0" err="1" smtClean="0">
                <a:solidFill>
                  <a:srgbClr val="00B0F0"/>
                </a:solidFill>
              </a:rPr>
              <a:t>webapp.RequestHandler</a:t>
            </a:r>
            <a:r>
              <a:rPr lang="en-US" altLang="zh-TW" sz="2400" dirty="0" smtClean="0"/>
              <a:t>):</a:t>
            </a:r>
            <a:br>
              <a:rPr lang="en-US" altLang="zh-TW" sz="2400" dirty="0" smtClean="0"/>
            </a:br>
            <a:r>
              <a:rPr lang="en-US" altLang="zh-TW" sz="2400" dirty="0" smtClean="0"/>
              <a:t>     </a:t>
            </a:r>
            <a:r>
              <a:rPr lang="en-US" altLang="zh-TW" sz="2400" dirty="0" smtClean="0">
                <a:solidFill>
                  <a:srgbClr val="00B0F0"/>
                </a:solidFill>
              </a:rPr>
              <a:t>def</a:t>
            </a:r>
            <a:r>
              <a:rPr lang="en-US" altLang="zh-TW" sz="2400" dirty="0" smtClean="0"/>
              <a:t> post(</a:t>
            </a:r>
            <a:r>
              <a:rPr lang="en-US" altLang="zh-TW" sz="2400" dirty="0" smtClean="0">
                <a:solidFill>
                  <a:srgbClr val="C00000"/>
                </a:solidFill>
              </a:rPr>
              <a:t>self</a:t>
            </a:r>
            <a:r>
              <a:rPr lang="en-US" altLang="zh-TW" sz="2400" dirty="0" smtClean="0"/>
              <a:t>):</a:t>
            </a:r>
            <a:br>
              <a:rPr lang="en-US" altLang="zh-TW" sz="2400" dirty="0" smtClean="0"/>
            </a:br>
            <a:r>
              <a:rPr lang="en-US" altLang="zh-TW" sz="2400" dirty="0" smtClean="0"/>
              <a:t>        key = </a:t>
            </a:r>
            <a:r>
              <a:rPr lang="en-US" altLang="zh-TW" sz="2400" dirty="0" err="1" smtClean="0"/>
              <a:t>self.request.get</a:t>
            </a:r>
            <a:r>
              <a:rPr lang="en-US" altLang="zh-TW" sz="2400" dirty="0" smtClean="0"/>
              <a:t>('key')</a:t>
            </a:r>
            <a:br>
              <a:rPr lang="en-US" altLang="zh-TW" sz="2400" dirty="0" smtClean="0"/>
            </a:b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        </a:t>
            </a:r>
            <a:r>
              <a:rPr lang="en-US" altLang="zh-TW" sz="2400" dirty="0" smtClean="0">
                <a:solidFill>
                  <a:schemeClr val="bg1">
                    <a:lumMod val="50000"/>
                  </a:schemeClr>
                </a:solidFill>
              </a:rPr>
              <a:t># Add the task to the default queue.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        </a:t>
            </a:r>
            <a:r>
              <a:rPr lang="en-US" altLang="zh-TW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taskqueue.add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altLang="zh-TW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url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='/worker', </a:t>
            </a:r>
            <a:r>
              <a:rPr lang="en-US" altLang="zh-TW" sz="2400" dirty="0" err="1" smtClean="0"/>
              <a:t>params</a:t>
            </a:r>
            <a:r>
              <a:rPr lang="en-US" altLang="zh-TW" sz="2400" dirty="0" smtClean="0"/>
              <a:t>={</a:t>
            </a:r>
            <a:r>
              <a:rPr lang="en-US" altLang="zh-TW" sz="2400" dirty="0" smtClean="0">
                <a:solidFill>
                  <a:srgbClr val="C00000"/>
                </a:solidFill>
              </a:rPr>
              <a:t>'key'</a:t>
            </a:r>
            <a:r>
              <a:rPr lang="en-US" altLang="zh-TW" sz="2400" dirty="0" smtClean="0"/>
              <a:t>: key})</a:t>
            </a:r>
            <a:br>
              <a:rPr lang="en-US" altLang="zh-TW" sz="2400" dirty="0" smtClean="0"/>
            </a:b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        </a:t>
            </a:r>
            <a:r>
              <a:rPr lang="en-US" altLang="zh-TW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self.redirect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('/')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Communication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URL Fetch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App Engine applications can communicate with other applications or access other resources on the web by fetching URLs.</a:t>
            </a:r>
          </a:p>
          <a:p>
            <a:pPr lvl="1"/>
            <a:r>
              <a:rPr lang="en-US" altLang="zh-TW" dirty="0" smtClean="0"/>
              <a:t>HTTP and HTTPS requests and receive responses. </a:t>
            </a:r>
          </a:p>
          <a:p>
            <a:r>
              <a:rPr lang="en-US" altLang="zh-TW" dirty="0" smtClean="0"/>
              <a:t>You can use the Python standard libraries or GAE library</a:t>
            </a:r>
          </a:p>
          <a:p>
            <a:pPr lvl="1"/>
            <a:r>
              <a:rPr lang="en-US" altLang="zh-TW" dirty="0" err="1" smtClean="0"/>
              <a:t>urllib</a:t>
            </a:r>
            <a:r>
              <a:rPr lang="en-US" altLang="zh-TW" dirty="0" smtClean="0"/>
              <a:t>, urllib2, or </a:t>
            </a:r>
            <a:r>
              <a:rPr lang="en-US" altLang="zh-TW" dirty="0" err="1" smtClean="0"/>
              <a:t>httplib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urlfetch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Function 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45183" y="1110223"/>
            <a:ext cx="7179145" cy="224676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fetch(	</a:t>
            </a:r>
            <a:r>
              <a:rPr lang="en-US" altLang="zh-TW" sz="2000" dirty="0" err="1" smtClean="0"/>
              <a:t>url</a:t>
            </a:r>
            <a:r>
              <a:rPr lang="en-US" altLang="zh-TW" sz="2000" dirty="0" smtClean="0"/>
              <a:t>, 	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HTTP or HTTPS URL</a:t>
            </a:r>
          </a:p>
          <a:p>
            <a:r>
              <a:rPr lang="en-US" altLang="zh-TW" sz="2000" dirty="0" smtClean="0"/>
              <a:t>	payload=None, 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Body content for POST of PUT</a:t>
            </a:r>
          </a:p>
          <a:p>
            <a:r>
              <a:rPr lang="en-US" altLang="zh-TW" sz="2000" dirty="0" smtClean="0"/>
              <a:t>	method=GET, 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HTTP method</a:t>
            </a:r>
          </a:p>
          <a:p>
            <a:r>
              <a:rPr lang="en-US" altLang="zh-TW" sz="2000" dirty="0" smtClean="0"/>
              <a:t>	headers={}, 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set of HTTP Headers</a:t>
            </a:r>
          </a:p>
          <a:p>
            <a:r>
              <a:rPr lang="en-US" altLang="zh-TW" sz="2000" dirty="0" smtClean="0"/>
              <a:t>	</a:t>
            </a:r>
            <a:r>
              <a:rPr lang="en-US" altLang="zh-TW" sz="2000" dirty="0" err="1" smtClean="0"/>
              <a:t>allow_truncated</a:t>
            </a:r>
            <a:r>
              <a:rPr lang="en-US" altLang="zh-TW" sz="2000" dirty="0" smtClean="0"/>
              <a:t>=False, 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machine of truncate response</a:t>
            </a:r>
          </a:p>
          <a:p>
            <a:r>
              <a:rPr lang="en-US" altLang="zh-TW" sz="2000" dirty="0" smtClean="0"/>
              <a:t>	</a:t>
            </a:r>
            <a:r>
              <a:rPr lang="en-US" altLang="zh-TW" sz="2000" dirty="0" err="1" smtClean="0"/>
              <a:t>follow_redirects</a:t>
            </a:r>
            <a:r>
              <a:rPr lang="en-US" altLang="zh-TW" sz="2000" dirty="0" smtClean="0"/>
              <a:t>=True, 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up to 5 consecutive redirects</a:t>
            </a:r>
          </a:p>
          <a:p>
            <a:r>
              <a:rPr lang="en-US" altLang="zh-TW" sz="2000" dirty="0" smtClean="0"/>
              <a:t>	deadline=None)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time out (default: 5, up to 10)</a:t>
            </a:r>
            <a:endParaRPr lang="zh-TW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187624" y="3501008"/>
            <a:ext cx="7659341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return:</a:t>
            </a:r>
          </a:p>
          <a:p>
            <a:r>
              <a:rPr lang="en-US" altLang="zh-TW" sz="2000" dirty="0" smtClean="0"/>
              <a:t>	 content	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return web page</a:t>
            </a:r>
          </a:p>
          <a:p>
            <a:r>
              <a:rPr lang="en-US" altLang="zh-TW" sz="2000" dirty="0" smtClean="0"/>
              <a:t>	 </a:t>
            </a:r>
            <a:r>
              <a:rPr lang="en-US" altLang="zh-TW" sz="2000" dirty="0" err="1" smtClean="0"/>
              <a:t>content_was_truncated</a:t>
            </a:r>
            <a:r>
              <a:rPr lang="en-US" altLang="zh-TW" sz="2000" dirty="0" smtClean="0"/>
              <a:t>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truncate or not</a:t>
            </a:r>
          </a:p>
          <a:p>
            <a:r>
              <a:rPr lang="en-US" altLang="zh-TW" sz="2000" dirty="0" smtClean="0"/>
              <a:t>	 </a:t>
            </a:r>
            <a:r>
              <a:rPr lang="en-US" altLang="zh-TW" sz="2000" dirty="0" err="1" smtClean="0"/>
              <a:t>status_code</a:t>
            </a:r>
            <a:r>
              <a:rPr lang="en-US" altLang="zh-TW" sz="2000" dirty="0" smtClean="0"/>
              <a:t>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status code</a:t>
            </a:r>
          </a:p>
          <a:p>
            <a:r>
              <a:rPr lang="en-US" altLang="zh-TW" sz="2000" dirty="0" smtClean="0"/>
              <a:t>	 headers	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HTTP header</a:t>
            </a:r>
          </a:p>
          <a:p>
            <a:r>
              <a:rPr lang="en-US" altLang="zh-TW" sz="2000" dirty="0" smtClean="0"/>
              <a:t>	 </a:t>
            </a:r>
            <a:r>
              <a:rPr lang="en-US" altLang="zh-TW" sz="2000" dirty="0" err="1" smtClean="0"/>
              <a:t>final_url</a:t>
            </a:r>
            <a:r>
              <a:rPr lang="en-US" altLang="zh-TW" sz="2000" dirty="0" smtClean="0"/>
              <a:t> 		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actual URL returned this response.</a:t>
            </a:r>
            <a:endParaRPr lang="zh-TW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Example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87624" y="1340768"/>
            <a:ext cx="5500865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from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google.appengine.api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import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urlfetch</a:t>
            </a:r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en-US" altLang="zh-TW" sz="2400" dirty="0" err="1" smtClean="0"/>
              <a:t>url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 "http://www.google.com/"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result = </a:t>
            </a:r>
            <a:r>
              <a:rPr lang="en-US" altLang="zh-TW" sz="2400" dirty="0" err="1" smtClean="0"/>
              <a:t>urlfetch.fetch</a:t>
            </a:r>
            <a:r>
              <a:rPr lang="en-US" altLang="zh-TW" sz="2400" dirty="0" smtClean="0"/>
              <a:t>(</a:t>
            </a:r>
            <a:r>
              <a:rPr lang="en-US" altLang="zh-TW" sz="2400" dirty="0" err="1" smtClean="0"/>
              <a:t>url</a:t>
            </a:r>
            <a:r>
              <a:rPr lang="en-US" altLang="zh-TW" sz="2400" dirty="0" smtClean="0"/>
              <a:t>)</a:t>
            </a:r>
            <a:br>
              <a:rPr lang="en-US" altLang="zh-TW" sz="2400" dirty="0" smtClean="0"/>
            </a:br>
            <a:r>
              <a:rPr lang="en-US" altLang="zh-TW" sz="2400" dirty="0" smtClean="0"/>
              <a:t>if </a:t>
            </a:r>
            <a:r>
              <a:rPr lang="en-US" altLang="zh-TW" sz="2400" dirty="0" err="1" smtClean="0"/>
              <a:t>result.status_code</a:t>
            </a:r>
            <a:r>
              <a:rPr lang="en-US" altLang="zh-TW" sz="2400" dirty="0" smtClean="0"/>
              <a:t> == 200:</a:t>
            </a:r>
            <a:br>
              <a:rPr lang="en-US" altLang="zh-TW" sz="2400" dirty="0" smtClean="0"/>
            </a:br>
            <a:r>
              <a:rPr lang="en-US" altLang="zh-TW" sz="2400" dirty="0" smtClean="0"/>
              <a:t>    </a:t>
            </a:r>
            <a:r>
              <a:rPr lang="en-US" altLang="zh-TW" sz="2400" dirty="0" err="1" smtClean="0"/>
              <a:t>doSomethingWithResult</a:t>
            </a:r>
            <a:r>
              <a:rPr lang="en-US" altLang="zh-TW" sz="2400" dirty="0" smtClean="0"/>
              <a:t>(</a:t>
            </a:r>
            <a:r>
              <a:rPr lang="en-US" altLang="zh-TW" sz="2400" dirty="0" err="1" smtClean="0"/>
              <a:t>result.content</a:t>
            </a:r>
            <a:r>
              <a:rPr lang="en-US" altLang="zh-TW" sz="2400" dirty="0" smtClean="0"/>
              <a:t>)</a:t>
            </a:r>
            <a:endParaRPr lang="zh-TW" altLang="en-US" sz="2400" dirty="0"/>
          </a:p>
        </p:txBody>
      </p:sp>
      <p:pic>
        <p:nvPicPr>
          <p:cNvPr id="1026" name="Picture 2" descr="D:\Slide\Graph\m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437112"/>
            <a:ext cx="1309588" cy="1340982"/>
          </a:xfrm>
          <a:prstGeom prst="rect">
            <a:avLst/>
          </a:prstGeom>
          <a:noFill/>
        </p:spPr>
      </p:pic>
      <p:pic>
        <p:nvPicPr>
          <p:cNvPr id="1027" name="Picture 3" descr="D:\Slide\Graph\comput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4077072"/>
            <a:ext cx="1156862" cy="1231280"/>
          </a:xfrm>
          <a:prstGeom prst="rect">
            <a:avLst/>
          </a:prstGeom>
          <a:noFill/>
        </p:spPr>
      </p:pic>
      <p:cxnSp>
        <p:nvCxnSpPr>
          <p:cNvPr id="9" name="直線單箭頭接點 8"/>
          <p:cNvCxnSpPr/>
          <p:nvPr/>
        </p:nvCxnSpPr>
        <p:spPr>
          <a:xfrm flipV="1">
            <a:off x="2411760" y="4509120"/>
            <a:ext cx="3168352" cy="43204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2483768" y="4149080"/>
            <a:ext cx="99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 smtClean="0"/>
              <a:t>urlfetch</a:t>
            </a:r>
            <a:endParaRPr lang="zh-TW" altLang="en-US" sz="2000" dirty="0"/>
          </a:p>
        </p:txBody>
      </p:sp>
      <p:cxnSp>
        <p:nvCxnSpPr>
          <p:cNvPr id="12" name="直線單箭頭接點 11"/>
          <p:cNvCxnSpPr/>
          <p:nvPr/>
        </p:nvCxnSpPr>
        <p:spPr>
          <a:xfrm rot="10800000" flipV="1">
            <a:off x="3059832" y="4725144"/>
            <a:ext cx="2952328" cy="432048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211960" y="5085184"/>
            <a:ext cx="1850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chemeClr val="accent2"/>
                </a:solidFill>
              </a:rPr>
              <a:t>return response</a:t>
            </a:r>
            <a:endParaRPr lang="zh-TW" altLang="en-US" sz="2000" dirty="0">
              <a:solidFill>
                <a:schemeClr val="accent2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1250758"/>
            <a:ext cx="6936432" cy="520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Other Service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User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User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App Engine applications can authenticate users who have Google Accounts or </a:t>
            </a:r>
            <a:r>
              <a:rPr lang="en-US" altLang="zh-TW" dirty="0" err="1" smtClean="0"/>
              <a:t>OpenID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An application can detect whether the current user has signed in, and can redirect the user to a sign-in page to sign in or create a new account.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3933056"/>
            <a:ext cx="3649588" cy="2737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User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 instance of the User class represents a user.</a:t>
            </a:r>
          </a:p>
          <a:p>
            <a:pPr lvl="1"/>
            <a:r>
              <a:rPr lang="en-US" altLang="zh-TW" dirty="0" smtClean="0"/>
              <a:t>nickname</a:t>
            </a:r>
          </a:p>
          <a:p>
            <a:pPr lvl="1"/>
            <a:r>
              <a:rPr lang="en-US" altLang="zh-TW" dirty="0" smtClean="0"/>
              <a:t>email</a:t>
            </a:r>
          </a:p>
          <a:p>
            <a:pPr lvl="1"/>
            <a:r>
              <a:rPr lang="en-US" altLang="zh-TW" dirty="0" err="1" smtClean="0"/>
              <a:t>user_id</a:t>
            </a:r>
            <a:endParaRPr lang="en-US" altLang="zh-TW" dirty="0" smtClean="0"/>
          </a:p>
          <a:p>
            <a:r>
              <a:rPr lang="en-US" altLang="zh-TW" dirty="0" smtClean="0"/>
              <a:t>There are three functions </a:t>
            </a:r>
          </a:p>
          <a:p>
            <a:pPr lvl="1"/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251520" y="3933056"/>
            <a:ext cx="8696483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err="1" smtClean="0"/>
              <a:t>create_login_url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dest_url</a:t>
            </a:r>
            <a:r>
              <a:rPr lang="en-US" altLang="zh-TW" sz="2000" dirty="0" smtClean="0"/>
              <a:t>=None, _</a:t>
            </a:r>
            <a:r>
              <a:rPr lang="en-US" altLang="zh-TW" sz="2000" dirty="0" err="1" smtClean="0"/>
              <a:t>auth_domain</a:t>
            </a:r>
            <a:r>
              <a:rPr lang="en-US" altLang="zh-TW" sz="2000" dirty="0" smtClean="0"/>
              <a:t>=None, </a:t>
            </a:r>
            <a:r>
              <a:rPr lang="en-US" altLang="zh-TW" sz="2000" dirty="0" err="1" smtClean="0"/>
              <a:t>federated_identity</a:t>
            </a:r>
            <a:r>
              <a:rPr lang="en-US" altLang="zh-TW" sz="2000" dirty="0" smtClean="0"/>
              <a:t>=None)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return a URL</a:t>
            </a:r>
          </a:p>
          <a:p>
            <a:r>
              <a:rPr lang="en-US" altLang="zh-TW" sz="2000" dirty="0" err="1" smtClean="0"/>
              <a:t>create_logout_url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dest_url</a:t>
            </a:r>
            <a:r>
              <a:rPr lang="en-US" altLang="zh-TW" sz="2000" dirty="0" smtClean="0"/>
              <a:t>)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return a URL</a:t>
            </a:r>
          </a:p>
          <a:p>
            <a:r>
              <a:rPr lang="en-US" altLang="zh-TW" sz="2000" dirty="0" err="1" smtClean="0"/>
              <a:t>get_current_user</a:t>
            </a:r>
            <a:r>
              <a:rPr lang="en-US" altLang="zh-TW" sz="2000" dirty="0" smtClean="0"/>
              <a:t>()</a:t>
            </a:r>
          </a:p>
          <a:p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# return a User object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364088" y="4509120"/>
            <a:ext cx="2731325" cy="1200329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_</a:t>
            </a:r>
            <a:r>
              <a:rPr lang="en-US" altLang="zh-TW" dirty="0" err="1" smtClean="0"/>
              <a:t>auth_domain</a:t>
            </a:r>
            <a:r>
              <a:rPr lang="en-US" altLang="zh-TW" dirty="0" smtClean="0"/>
              <a:t>: </a:t>
            </a:r>
          </a:p>
          <a:p>
            <a:r>
              <a:rPr lang="en-US" altLang="zh-TW" dirty="0" smtClean="0"/>
              <a:t>	ignored</a:t>
            </a:r>
          </a:p>
          <a:p>
            <a:r>
              <a:rPr lang="en-US" altLang="zh-TW" dirty="0" err="1" smtClean="0"/>
              <a:t>federated_identity</a:t>
            </a:r>
            <a:r>
              <a:rPr lang="en-US" altLang="zh-TW" dirty="0" smtClean="0"/>
              <a:t>:</a:t>
            </a:r>
          </a:p>
          <a:p>
            <a:r>
              <a:rPr lang="en-US" altLang="zh-TW" dirty="0" smtClean="0"/>
              <a:t>	</a:t>
            </a:r>
            <a:r>
              <a:rPr lang="en-US" altLang="zh-TW" dirty="0" err="1" smtClean="0"/>
              <a:t>OpenID</a:t>
            </a:r>
            <a:r>
              <a:rPr lang="en-US" altLang="zh-TW" dirty="0" smtClean="0"/>
              <a:t> identifier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3528" y="1772816"/>
            <a:ext cx="8065478" cy="40934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solidFill>
                  <a:srgbClr val="0070C0"/>
                </a:solidFill>
              </a:rPr>
              <a:t>from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google.appengine.api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rgbClr val="0070C0"/>
                </a:solidFill>
              </a:rPr>
              <a:t>import</a:t>
            </a:r>
            <a:r>
              <a:rPr lang="en-US" altLang="zh-TW" sz="2000" dirty="0" smtClean="0"/>
              <a:t> users</a:t>
            </a:r>
            <a:br>
              <a:rPr lang="en-US" altLang="zh-TW" sz="2000" dirty="0" smtClean="0"/>
            </a:b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>
                <a:solidFill>
                  <a:srgbClr val="0070C0"/>
                </a:solidFill>
              </a:rPr>
              <a:t>class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MyHandler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webapp.RequestHandler</a:t>
            </a:r>
            <a:r>
              <a:rPr lang="en-US" altLang="zh-TW" sz="2000" dirty="0" smtClean="0"/>
              <a:t>):</a:t>
            </a:r>
            <a:br>
              <a:rPr lang="en-US" altLang="zh-TW" sz="2000" dirty="0" smtClean="0"/>
            </a:br>
            <a:r>
              <a:rPr lang="en-US" altLang="zh-TW" sz="2000" dirty="0" smtClean="0"/>
              <a:t>    </a:t>
            </a:r>
            <a:r>
              <a:rPr lang="en-US" altLang="zh-TW" sz="2000" dirty="0" smtClean="0">
                <a:solidFill>
                  <a:srgbClr val="0070C0"/>
                </a:solidFill>
              </a:rPr>
              <a:t>def</a:t>
            </a:r>
            <a:r>
              <a:rPr lang="en-US" altLang="zh-TW" sz="2000" dirty="0" smtClean="0"/>
              <a:t> get(</a:t>
            </a:r>
            <a:r>
              <a:rPr lang="en-US" altLang="zh-TW" sz="2000" dirty="0" smtClean="0">
                <a:solidFill>
                  <a:srgbClr val="C00000"/>
                </a:solidFill>
              </a:rPr>
              <a:t>self</a:t>
            </a:r>
            <a:r>
              <a:rPr lang="en-US" altLang="zh-TW" sz="2000" dirty="0" smtClean="0"/>
              <a:t>):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user = </a:t>
            </a:r>
            <a:r>
              <a:rPr lang="en-US" altLang="zh-TW" sz="2000" dirty="0" err="1" smtClean="0"/>
              <a:t>users.get_current_user</a:t>
            </a:r>
            <a:r>
              <a:rPr lang="en-US" altLang="zh-TW" sz="2000" dirty="0" smtClean="0"/>
              <a:t>()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</a:t>
            </a:r>
            <a:r>
              <a:rPr lang="en-US" altLang="zh-TW" sz="2000" dirty="0" smtClean="0">
                <a:solidFill>
                  <a:srgbClr val="0070C0"/>
                </a:solidFill>
              </a:rPr>
              <a:t>if</a:t>
            </a:r>
            <a:r>
              <a:rPr lang="en-US" altLang="zh-TW" sz="2000" dirty="0" smtClean="0"/>
              <a:t> user: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    greeting = ("Welcome, %s! (&lt;a </a:t>
            </a:r>
            <a:r>
              <a:rPr lang="en-US" altLang="zh-TW" sz="2000" dirty="0" err="1" smtClean="0"/>
              <a:t>href</a:t>
            </a:r>
            <a:r>
              <a:rPr lang="en-US" altLang="zh-TW" sz="2000" dirty="0" smtClean="0"/>
              <a:t>=\"%s\"&gt;sign out&lt;/a&gt;)" %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                (</a:t>
            </a:r>
            <a:r>
              <a:rPr lang="en-US" altLang="zh-TW" sz="2000" dirty="0" err="1" smtClean="0"/>
              <a:t>user.nickname</a:t>
            </a:r>
            <a:r>
              <a:rPr lang="en-US" altLang="zh-TW" sz="2000" dirty="0" smtClean="0"/>
              <a:t>(), </a:t>
            </a:r>
            <a:r>
              <a:rPr lang="en-US" altLang="zh-TW" sz="2000" dirty="0" err="1" smtClean="0"/>
              <a:t>users.create_logout_url</a:t>
            </a:r>
            <a:r>
              <a:rPr lang="en-US" altLang="zh-TW" sz="2000" dirty="0" smtClean="0"/>
              <a:t>("/")))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</a:t>
            </a:r>
            <a:r>
              <a:rPr lang="en-US" altLang="zh-TW" sz="2000" dirty="0" smtClean="0">
                <a:solidFill>
                  <a:srgbClr val="0070C0"/>
                </a:solidFill>
              </a:rPr>
              <a:t>else</a:t>
            </a:r>
            <a:r>
              <a:rPr lang="en-US" altLang="zh-TW" sz="2000" dirty="0" smtClean="0"/>
              <a:t>: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    greeting = ("&lt;a </a:t>
            </a:r>
            <a:r>
              <a:rPr lang="en-US" altLang="zh-TW" sz="2000" dirty="0" err="1" smtClean="0"/>
              <a:t>href</a:t>
            </a:r>
            <a:r>
              <a:rPr lang="en-US" altLang="zh-TW" sz="2000" dirty="0" smtClean="0"/>
              <a:t>=\"%s\"&gt;Sign in or register&lt;/a&gt;." %</a:t>
            </a:r>
            <a:br>
              <a:rPr lang="en-US" altLang="zh-TW" sz="2000" dirty="0" smtClean="0"/>
            </a:br>
            <a:r>
              <a:rPr lang="en-US" altLang="zh-TW" sz="2000" dirty="0" smtClean="0"/>
              <a:t>                        </a:t>
            </a:r>
            <a:r>
              <a:rPr lang="en-US" altLang="zh-TW" sz="2000" dirty="0" err="1" smtClean="0"/>
              <a:t>users.create_login_url</a:t>
            </a:r>
            <a:r>
              <a:rPr lang="en-US" altLang="zh-TW" sz="2000" dirty="0" smtClean="0"/>
              <a:t>("/"))</a:t>
            </a:r>
            <a:br>
              <a:rPr lang="en-US" altLang="zh-TW" sz="2000" dirty="0" smtClean="0"/>
            </a:b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        </a:t>
            </a:r>
            <a:r>
              <a:rPr lang="en-US" altLang="zh-TW" sz="2000" dirty="0" err="1" smtClean="0"/>
              <a:t>self.response.out.write</a:t>
            </a:r>
            <a:r>
              <a:rPr lang="en-US" altLang="zh-TW" sz="2000" dirty="0" smtClean="0"/>
              <a:t>("&lt;html&gt;&lt;body&gt;%s&lt;/body&gt;&lt;/html&gt;" % greeting)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97152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Google App Engine</a:t>
            </a:r>
          </a:p>
          <a:p>
            <a:pPr>
              <a:buNone/>
            </a:pPr>
            <a:r>
              <a:rPr lang="en-US" altLang="zh-TW" sz="2600" dirty="0" smtClean="0"/>
              <a:t> 	</a:t>
            </a:r>
            <a:r>
              <a:rPr lang="en-US" altLang="zh-TW" sz="2600" dirty="0" smtClean="0">
                <a:hlinkClick r:id="rId2"/>
              </a:rPr>
              <a:t>http://code.google.com/intl/en/appengine/</a:t>
            </a:r>
            <a:endParaRPr lang="en-US" altLang="zh-TW" sz="2600" dirty="0" smtClean="0"/>
          </a:p>
          <a:p>
            <a:r>
              <a:rPr lang="en-US" altLang="zh-TW" dirty="0" smtClean="0"/>
              <a:t>Google App Engine - Tools and Tips</a:t>
            </a:r>
          </a:p>
          <a:p>
            <a:pPr>
              <a:buNone/>
            </a:pPr>
            <a:r>
              <a:rPr lang="en-US" altLang="zh-TW" dirty="0" smtClean="0"/>
              <a:t>     </a:t>
            </a:r>
            <a:r>
              <a:rPr lang="en-US" altLang="zh-TW" sz="2600" dirty="0" smtClean="0">
                <a:hlinkClick r:id="rId3"/>
              </a:rPr>
              <a:t>http://code.google.com/intl/en/appengine/tools_tips.html</a:t>
            </a:r>
            <a:r>
              <a:rPr lang="en-US" altLang="zh-TW" sz="2600" dirty="0" smtClean="0"/>
              <a:t> 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Sample of Lab </a:t>
            </a:r>
          </a:p>
          <a:p>
            <a:pPr>
              <a:buNone/>
            </a:pPr>
            <a:r>
              <a:rPr lang="en-US" altLang="zh-TW" sz="2600" dirty="0" smtClean="0"/>
              <a:t> 	</a:t>
            </a:r>
            <a:r>
              <a:rPr lang="en-US" altLang="zh-TW" sz="2600" dirty="0" smtClean="0">
                <a:hlinkClick r:id="rId4"/>
              </a:rPr>
              <a:t>http://albumdemo01.appspot.com/</a:t>
            </a:r>
            <a:r>
              <a:rPr lang="en-US" altLang="zh-TW" sz="2600" dirty="0" smtClean="0"/>
              <a:t> </a:t>
            </a:r>
          </a:p>
          <a:p>
            <a:r>
              <a:rPr lang="en-US" altLang="zh-TW" dirty="0" smtClean="0"/>
              <a:t>Simple web page that you need to fetch the content</a:t>
            </a:r>
          </a:p>
          <a:p>
            <a:pPr>
              <a:buNone/>
            </a:pPr>
            <a:r>
              <a:rPr lang="en-US" altLang="zh-TW" sz="2600" dirty="0" smtClean="0"/>
              <a:t> 	</a:t>
            </a:r>
            <a:r>
              <a:rPr lang="en-US" altLang="zh-TW" sz="2600" dirty="0" smtClean="0">
                <a:hlinkClick r:id="rId5"/>
              </a:rPr>
              <a:t>http://randomhash.appspot.com/</a:t>
            </a:r>
            <a:r>
              <a:rPr lang="en-US" altLang="zh-TW" sz="2600" dirty="0" smtClean="0"/>
              <a:t>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Check the latest announcement on the course website</a:t>
            </a:r>
          </a:p>
          <a:p>
            <a:pPr lvl="1"/>
            <a:r>
              <a:rPr lang="en-US" altLang="zh-TW" dirty="0" smtClean="0">
                <a:hlinkClick r:id="rId6"/>
              </a:rPr>
              <a:t>http://cs5421.sslab.cs.nthu.edu.tw/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673</TotalTime>
  <Words>4122</Words>
  <Application>Microsoft Office PowerPoint</Application>
  <PresentationFormat>如螢幕大小 (4:3)</PresentationFormat>
  <Paragraphs>1036</Paragraphs>
  <Slides>133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133</vt:i4>
      </vt:variant>
    </vt:vector>
  </HeadingPairs>
  <TitlesOfParts>
    <vt:vector size="134" baseType="lpstr">
      <vt:lpstr>Course Themes</vt:lpstr>
      <vt:lpstr>雲端計算 Cloud Computing</vt:lpstr>
      <vt:lpstr>Agenda</vt:lpstr>
      <vt:lpstr>Introduction </vt:lpstr>
      <vt:lpstr>Google App Engine</vt:lpstr>
      <vt:lpstr>They claim </vt:lpstr>
      <vt:lpstr>Goal of GAE</vt:lpstr>
      <vt:lpstr>And more</vt:lpstr>
      <vt:lpstr>Benefits </vt:lpstr>
      <vt:lpstr>More benefits </vt:lpstr>
      <vt:lpstr>投影片 10</vt:lpstr>
      <vt:lpstr>Introduction </vt:lpstr>
      <vt:lpstr>Sketch </vt:lpstr>
      <vt:lpstr>Sketch </vt:lpstr>
      <vt:lpstr>Sandbox</vt:lpstr>
      <vt:lpstr>Sandbox</vt:lpstr>
      <vt:lpstr>Runtime Environment </vt:lpstr>
      <vt:lpstr>Sketch </vt:lpstr>
      <vt:lpstr>Storage space</vt:lpstr>
      <vt:lpstr>Datastore </vt:lpstr>
      <vt:lpstr>Datastore </vt:lpstr>
      <vt:lpstr>Sketch </vt:lpstr>
      <vt:lpstr>Computation </vt:lpstr>
      <vt:lpstr>Schedule Service</vt:lpstr>
      <vt:lpstr>Sketch </vt:lpstr>
      <vt:lpstr>URL Fetch </vt:lpstr>
      <vt:lpstr>Interaction</vt:lpstr>
      <vt:lpstr>Sketch </vt:lpstr>
      <vt:lpstr>Other Services </vt:lpstr>
      <vt:lpstr>Installation </vt:lpstr>
      <vt:lpstr>Prepared </vt:lpstr>
      <vt:lpstr>Prepared  (cont.)</vt:lpstr>
      <vt:lpstr>PIL</vt:lpstr>
      <vt:lpstr>Installation</vt:lpstr>
      <vt:lpstr>Installation (cont.)</vt:lpstr>
      <vt:lpstr>Test environment </vt:lpstr>
      <vt:lpstr>GAE Account </vt:lpstr>
      <vt:lpstr>Sign up</vt:lpstr>
      <vt:lpstr>Simple Example</vt:lpstr>
      <vt:lpstr>Simple Example (cont.)</vt:lpstr>
      <vt:lpstr>Warning</vt:lpstr>
      <vt:lpstr>Path </vt:lpstr>
      <vt:lpstr>Lab Assignment</vt:lpstr>
      <vt:lpstr>LAb</vt:lpstr>
      <vt:lpstr>Before we start </vt:lpstr>
      <vt:lpstr>Sketch </vt:lpstr>
      <vt:lpstr>BBS Bot</vt:lpstr>
      <vt:lpstr>Web Bot</vt:lpstr>
      <vt:lpstr>GAE</vt:lpstr>
      <vt:lpstr>LAb</vt:lpstr>
      <vt:lpstr>Goal of Lab</vt:lpstr>
      <vt:lpstr>Required</vt:lpstr>
      <vt:lpstr>Required (cont.) </vt:lpstr>
      <vt:lpstr>Next...</vt:lpstr>
      <vt:lpstr>Python </vt:lpstr>
      <vt:lpstr>Sketch </vt:lpstr>
      <vt:lpstr>Variable </vt:lpstr>
      <vt:lpstr>Library </vt:lpstr>
      <vt:lpstr>Indent rules</vt:lpstr>
      <vt:lpstr>Condition </vt:lpstr>
      <vt:lpstr>Loop </vt:lpstr>
      <vt:lpstr>Function </vt:lpstr>
      <vt:lpstr>Class </vt:lpstr>
      <vt:lpstr>Sample </vt:lpstr>
      <vt:lpstr>Sample Code  Basic Guestbook</vt:lpstr>
      <vt:lpstr>Sample </vt:lpstr>
      <vt:lpstr>Sample (cont.) </vt:lpstr>
      <vt:lpstr>Sample (cont.)</vt:lpstr>
      <vt:lpstr>Sample (cont.)</vt:lpstr>
      <vt:lpstr>Sample (cont.)</vt:lpstr>
      <vt:lpstr>Sample (cont.)</vt:lpstr>
      <vt:lpstr>Sample (cont.)</vt:lpstr>
      <vt:lpstr>GAE APIs Storage Query Schedule Communication Others…</vt:lpstr>
      <vt:lpstr>Sketch </vt:lpstr>
      <vt:lpstr>Storage </vt:lpstr>
      <vt:lpstr>Static vs Dynamic </vt:lpstr>
      <vt:lpstr>Static </vt:lpstr>
      <vt:lpstr>Dynamic </vt:lpstr>
      <vt:lpstr>Storage Space </vt:lpstr>
      <vt:lpstr>Static </vt:lpstr>
      <vt:lpstr>Project </vt:lpstr>
      <vt:lpstr>YAML</vt:lpstr>
      <vt:lpstr>Storage Space </vt:lpstr>
      <vt:lpstr>Blobstore </vt:lpstr>
      <vt:lpstr>Sketch </vt:lpstr>
      <vt:lpstr>Function </vt:lpstr>
      <vt:lpstr>Sample </vt:lpstr>
      <vt:lpstr>Sketch </vt:lpstr>
      <vt:lpstr>/</vt:lpstr>
      <vt:lpstr>/upload  &amp;  /serve </vt:lpstr>
      <vt:lpstr>Storage Space </vt:lpstr>
      <vt:lpstr>Entity </vt:lpstr>
      <vt:lpstr>Instance </vt:lpstr>
      <vt:lpstr>Example: cat</vt:lpstr>
      <vt:lpstr>Property </vt:lpstr>
      <vt:lpstr>Key</vt:lpstr>
      <vt:lpstr>Property </vt:lpstr>
      <vt:lpstr>Example: my cat </vt:lpstr>
      <vt:lpstr>Insert, Update and Delete</vt:lpstr>
      <vt:lpstr>Storage Space </vt:lpstr>
      <vt:lpstr>Memcache </vt:lpstr>
      <vt:lpstr>Memcache (cont.)</vt:lpstr>
      <vt:lpstr>Function </vt:lpstr>
      <vt:lpstr>Example</vt:lpstr>
      <vt:lpstr>Query data</vt:lpstr>
      <vt:lpstr>Index</vt:lpstr>
      <vt:lpstr>index.yaml</vt:lpstr>
      <vt:lpstr>Query data</vt:lpstr>
      <vt:lpstr>GQL</vt:lpstr>
      <vt:lpstr>GQL (cont.)</vt:lpstr>
      <vt:lpstr>GQL (cont.)</vt:lpstr>
      <vt:lpstr>Example </vt:lpstr>
      <vt:lpstr>Comparison </vt:lpstr>
      <vt:lpstr>Comparison </vt:lpstr>
      <vt:lpstr>Comparison </vt:lpstr>
      <vt:lpstr>Schedule routine </vt:lpstr>
      <vt:lpstr>Schedule service</vt:lpstr>
      <vt:lpstr>Schedule routine </vt:lpstr>
      <vt:lpstr>Cron </vt:lpstr>
      <vt:lpstr>cron.yaml</vt:lpstr>
      <vt:lpstr>Synchronized </vt:lpstr>
      <vt:lpstr>Schedule routine </vt:lpstr>
      <vt:lpstr>Task Queue</vt:lpstr>
      <vt:lpstr>queue.yaml</vt:lpstr>
      <vt:lpstr>Example </vt:lpstr>
      <vt:lpstr>Communication </vt:lpstr>
      <vt:lpstr>Introduction </vt:lpstr>
      <vt:lpstr>Function </vt:lpstr>
      <vt:lpstr>Example </vt:lpstr>
      <vt:lpstr>Other Service</vt:lpstr>
      <vt:lpstr>User</vt:lpstr>
      <vt:lpstr>User</vt:lpstr>
      <vt:lpstr>Example </vt:lpstr>
      <vt:lpstr>More Information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App Engine - Lab</dc:title>
  <dc:creator>cmj</dc:creator>
  <cp:lastModifiedBy>5Gxp</cp:lastModifiedBy>
  <cp:revision>177</cp:revision>
  <dcterms:created xsi:type="dcterms:W3CDTF">2010-11-01T03:44:40Z</dcterms:created>
  <dcterms:modified xsi:type="dcterms:W3CDTF">2010-11-09T10:30:15Z</dcterms:modified>
</cp:coreProperties>
</file>