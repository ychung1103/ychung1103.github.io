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129.xml" ContentType="application/vnd.openxmlformats-officedocument.presentationml.slide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slides/slide125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slides/slide126.xml" ContentType="application/vnd.openxmlformats-officedocument.presentationml.slide+xml"/>
  <Override PartName="/ppt/slides/slide12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slides/slide124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3"/>
  </p:notesMasterIdLst>
  <p:sldIdLst>
    <p:sldId id="443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69" r:id="rId10"/>
    <p:sldId id="276" r:id="rId11"/>
    <p:sldId id="270" r:id="rId12"/>
    <p:sldId id="296" r:id="rId13"/>
    <p:sldId id="271" r:id="rId14"/>
    <p:sldId id="272" r:id="rId15"/>
    <p:sldId id="273" r:id="rId16"/>
    <p:sldId id="274" r:id="rId17"/>
    <p:sldId id="386" r:id="rId18"/>
    <p:sldId id="441" r:id="rId19"/>
    <p:sldId id="281" r:id="rId20"/>
    <p:sldId id="280" r:id="rId21"/>
    <p:sldId id="291" r:id="rId22"/>
    <p:sldId id="387" r:id="rId23"/>
    <p:sldId id="440" r:id="rId24"/>
    <p:sldId id="282" r:id="rId25"/>
    <p:sldId id="283" r:id="rId26"/>
    <p:sldId id="284" r:id="rId27"/>
    <p:sldId id="439" r:id="rId28"/>
    <p:sldId id="285" r:id="rId29"/>
    <p:sldId id="286" r:id="rId30"/>
    <p:sldId id="287" r:id="rId31"/>
    <p:sldId id="442" r:id="rId32"/>
    <p:sldId id="288" r:id="rId33"/>
    <p:sldId id="289" r:id="rId34"/>
    <p:sldId id="290" r:id="rId35"/>
    <p:sldId id="435" r:id="rId36"/>
    <p:sldId id="436" r:id="rId37"/>
    <p:sldId id="437" r:id="rId38"/>
    <p:sldId id="438" r:id="rId39"/>
    <p:sldId id="261" r:id="rId40"/>
    <p:sldId id="292" r:id="rId41"/>
    <p:sldId id="297" r:id="rId42"/>
    <p:sldId id="402" r:id="rId43"/>
    <p:sldId id="403" r:id="rId44"/>
    <p:sldId id="422" r:id="rId45"/>
    <p:sldId id="298" r:id="rId46"/>
    <p:sldId id="299" r:id="rId47"/>
    <p:sldId id="300" r:id="rId48"/>
    <p:sldId id="301" r:id="rId49"/>
    <p:sldId id="388" r:id="rId50"/>
    <p:sldId id="421" r:id="rId51"/>
    <p:sldId id="389" r:id="rId52"/>
    <p:sldId id="304" r:id="rId53"/>
    <p:sldId id="305" r:id="rId54"/>
    <p:sldId id="306" r:id="rId55"/>
    <p:sldId id="307" r:id="rId56"/>
    <p:sldId id="333" r:id="rId57"/>
    <p:sldId id="309" r:id="rId58"/>
    <p:sldId id="310" r:id="rId59"/>
    <p:sldId id="311" r:id="rId60"/>
    <p:sldId id="312" r:id="rId61"/>
    <p:sldId id="313" r:id="rId62"/>
    <p:sldId id="314" r:id="rId63"/>
    <p:sldId id="332" r:id="rId64"/>
    <p:sldId id="316" r:id="rId65"/>
    <p:sldId id="317" r:id="rId66"/>
    <p:sldId id="318" r:id="rId67"/>
    <p:sldId id="319" r:id="rId68"/>
    <p:sldId id="320" r:id="rId69"/>
    <p:sldId id="321" r:id="rId70"/>
    <p:sldId id="330" r:id="rId71"/>
    <p:sldId id="323" r:id="rId72"/>
    <p:sldId id="324" r:id="rId73"/>
    <p:sldId id="325" r:id="rId74"/>
    <p:sldId id="326" r:id="rId75"/>
    <p:sldId id="328" r:id="rId76"/>
    <p:sldId id="399" r:id="rId77"/>
    <p:sldId id="404" r:id="rId78"/>
    <p:sldId id="405" r:id="rId79"/>
    <p:sldId id="406" r:id="rId80"/>
    <p:sldId id="407" r:id="rId81"/>
    <p:sldId id="408" r:id="rId82"/>
    <p:sldId id="409" r:id="rId83"/>
    <p:sldId id="410" r:id="rId84"/>
    <p:sldId id="411" r:id="rId85"/>
    <p:sldId id="412" r:id="rId86"/>
    <p:sldId id="413" r:id="rId87"/>
    <p:sldId id="414" r:id="rId88"/>
    <p:sldId id="415" r:id="rId89"/>
    <p:sldId id="416" r:id="rId90"/>
    <p:sldId id="417" r:id="rId91"/>
    <p:sldId id="418" r:id="rId92"/>
    <p:sldId id="419" r:id="rId93"/>
    <p:sldId id="420" r:id="rId94"/>
    <p:sldId id="394" r:id="rId95"/>
    <p:sldId id="334" r:id="rId96"/>
    <p:sldId id="335" r:id="rId97"/>
    <p:sldId id="336" r:id="rId98"/>
    <p:sldId id="423" r:id="rId99"/>
    <p:sldId id="338" r:id="rId100"/>
    <p:sldId id="339" r:id="rId101"/>
    <p:sldId id="340" r:id="rId102"/>
    <p:sldId id="341" r:id="rId103"/>
    <p:sldId id="342" r:id="rId104"/>
    <p:sldId id="343" r:id="rId105"/>
    <p:sldId id="344" r:id="rId106"/>
    <p:sldId id="345" r:id="rId107"/>
    <p:sldId id="346" r:id="rId108"/>
    <p:sldId id="347" r:id="rId109"/>
    <p:sldId id="431" r:id="rId110"/>
    <p:sldId id="426" r:id="rId111"/>
    <p:sldId id="427" r:id="rId112"/>
    <p:sldId id="428" r:id="rId113"/>
    <p:sldId id="429" r:id="rId114"/>
    <p:sldId id="430" r:id="rId115"/>
    <p:sldId id="424" r:id="rId116"/>
    <p:sldId id="432" r:id="rId117"/>
    <p:sldId id="348" r:id="rId118"/>
    <p:sldId id="350" r:id="rId119"/>
    <p:sldId id="351" r:id="rId120"/>
    <p:sldId id="352" r:id="rId121"/>
    <p:sldId id="353" r:id="rId122"/>
    <p:sldId id="354" r:id="rId123"/>
    <p:sldId id="355" r:id="rId124"/>
    <p:sldId id="433" r:id="rId125"/>
    <p:sldId id="356" r:id="rId126"/>
    <p:sldId id="295" r:id="rId127"/>
    <p:sldId id="384" r:id="rId128"/>
    <p:sldId id="385" r:id="rId129"/>
    <p:sldId id="434" r:id="rId130"/>
    <p:sldId id="357" r:id="rId131"/>
    <p:sldId id="358" r:id="rId13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77" y="-8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13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7E8C5-21A9-4977-896D-873331212A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69AEB-4B19-460C-A2D2-45E9D57D1A3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9CD0B-F548-4F0C-B9CE-CFE28D58D5FE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2011/6/27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12.png"/><Relationship Id="rId4" Type="http://schemas.openxmlformats.org/officeDocument/2006/relationships/image" Target="../media/image44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12.png"/><Relationship Id="rId4" Type="http://schemas.openxmlformats.org/officeDocument/2006/relationships/image" Target="../media/image50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" TargetMode="External"/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alesforce.com/tw/" TargetMode="External"/><Relationship Id="rId2" Type="http://schemas.openxmlformats.org/officeDocument/2006/relationships/hyperlink" Target="http://en.wikipedia.org/wiki/Software_as_a_service#Key_characteristi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openid.net/" TargetMode="External"/><Relationship Id="rId5" Type="http://schemas.openxmlformats.org/officeDocument/2006/relationships/hyperlink" Target="http://www.w3.org/TR/2007/REC-soap12-part1-20070427/#intro" TargetMode="External"/><Relationship Id="rId4" Type="http://schemas.openxmlformats.org/officeDocument/2006/relationships/hyperlink" Target="http://www.w3.org/TR/wsdl2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200400"/>
            <a:ext cx="6629400" cy="2362200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Software as a Service</a:t>
            </a:r>
          </a:p>
          <a:p>
            <a:pPr algn="ctr"/>
            <a:endParaRPr lang="en-US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2800" i="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</a:p>
          <a:p>
            <a:pPr lvl="1"/>
            <a:r>
              <a:rPr lang="en-US" altLang="zh-TW" dirty="0" smtClean="0"/>
              <a:t>New business model</a:t>
            </a:r>
          </a:p>
          <a:p>
            <a:pPr lvl="1"/>
            <a:r>
              <a:rPr lang="en-US" altLang="zh-TW" dirty="0" smtClean="0"/>
              <a:t>What is </a:t>
            </a:r>
            <a:r>
              <a:rPr lang="en-US" altLang="zh-TW" dirty="0" err="1" smtClean="0"/>
              <a:t>SaaS</a:t>
            </a:r>
            <a:endParaRPr lang="en-US" altLang="zh-TW" dirty="0" smtClean="0"/>
          </a:p>
          <a:p>
            <a:r>
              <a:rPr lang="en-US" altLang="zh-TW" dirty="0" err="1" smtClean="0"/>
              <a:t>SaaS</a:t>
            </a:r>
            <a:r>
              <a:rPr lang="en-US" altLang="zh-TW" dirty="0" smtClean="0"/>
              <a:t>: properties</a:t>
            </a:r>
          </a:p>
          <a:p>
            <a:pPr lvl="1"/>
            <a:r>
              <a:rPr lang="en-US" altLang="zh-TW" dirty="0" smtClean="0"/>
              <a:t>User and vendor view</a:t>
            </a:r>
          </a:p>
          <a:p>
            <a:pPr lvl="1"/>
            <a:r>
              <a:rPr lang="en-US" altLang="zh-TW" dirty="0" smtClean="0"/>
              <a:t>Cloud properties</a:t>
            </a:r>
          </a:p>
          <a:p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 err="1" smtClean="0"/>
              <a:t>SaaS</a:t>
            </a:r>
            <a:r>
              <a:rPr lang="en-US" altLang="zh-TW" dirty="0" smtClean="0"/>
              <a:t>: technique</a:t>
            </a:r>
          </a:p>
          <a:p>
            <a:pPr lvl="1"/>
            <a:r>
              <a:rPr lang="en-US" altLang="zh-TW" dirty="0" smtClean="0"/>
              <a:t>Service </a:t>
            </a:r>
            <a:r>
              <a:rPr lang="en-US" altLang="zh-TW" dirty="0" smtClean="0"/>
              <a:t>layer </a:t>
            </a:r>
          </a:p>
          <a:p>
            <a:pPr lvl="1"/>
            <a:r>
              <a:rPr lang="en-US" altLang="zh-TW" dirty="0" smtClean="0"/>
              <a:t>User interface </a:t>
            </a:r>
          </a:p>
          <a:p>
            <a:r>
              <a:rPr lang="en-US" altLang="zh-TW" dirty="0" smtClean="0"/>
              <a:t>Case Study</a:t>
            </a:r>
          </a:p>
          <a:p>
            <a:pPr lvl="1"/>
            <a:r>
              <a:rPr lang="en-US" altLang="zh-TW" dirty="0" smtClean="0"/>
              <a:t>Salesforce.com</a:t>
            </a:r>
          </a:p>
          <a:p>
            <a:pPr lvl="1"/>
            <a:r>
              <a:rPr lang="en-US" altLang="zh-TW" dirty="0" err="1" smtClean="0"/>
              <a:t>eyeOS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Service model</a:t>
            </a:r>
          </a:p>
          <a:p>
            <a:r>
              <a:rPr lang="en-US" altLang="zh-TW" dirty="0" smtClean="0"/>
              <a:t>Definition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Software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21</a:t>
            </a:r>
            <a:r>
              <a:rPr lang="en-US" altLang="zh-TW" baseline="30000" dirty="0" smtClean="0"/>
              <a:t>th</a:t>
            </a:r>
            <a:r>
              <a:rPr lang="en-US" altLang="zh-TW" dirty="0" smtClean="0"/>
              <a:t> century</a:t>
            </a:r>
          </a:p>
          <a:p>
            <a:pPr lvl="1"/>
            <a:r>
              <a:rPr lang="en-US" altLang="zh-TW" dirty="0" smtClean="0"/>
              <a:t>We may not want buy a software</a:t>
            </a:r>
          </a:p>
          <a:p>
            <a:pPr lvl="2"/>
            <a:r>
              <a:rPr lang="en-US" altLang="zh-TW" dirty="0" smtClean="0"/>
              <a:t>Instead, software can be billed by usage.</a:t>
            </a:r>
          </a:p>
          <a:p>
            <a:pPr lvl="1"/>
            <a:r>
              <a:rPr lang="en-US" altLang="zh-TW" dirty="0" smtClean="0"/>
              <a:t>A professional software is much expensive</a:t>
            </a:r>
          </a:p>
          <a:p>
            <a:pPr lvl="2"/>
            <a:r>
              <a:rPr lang="en-US" altLang="zh-TW" dirty="0" smtClean="0"/>
              <a:t>Someone may only need to use few times</a:t>
            </a:r>
          </a:p>
          <a:p>
            <a:pPr lvl="1"/>
            <a:endParaRPr lang="en-US" altLang="zh-TW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5301208"/>
            <a:ext cx="1682955" cy="1051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59" y="3933056"/>
            <a:ext cx="1824203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47251" y="4851570"/>
            <a:ext cx="2609029" cy="1956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2" descr="C:\Users\cmj\Pictures\1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96137" y="3150096"/>
            <a:ext cx="3347864" cy="25108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How about rent?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Someone </a:t>
            </a:r>
            <a:r>
              <a:rPr lang="en-US" altLang="zh-TW" dirty="0" smtClean="0"/>
              <a:t>needs </a:t>
            </a:r>
            <a:r>
              <a:rPr lang="en-US" altLang="zh-TW" dirty="0" smtClean="0"/>
              <a:t>a software, but</a:t>
            </a:r>
          </a:p>
          <a:p>
            <a:pPr lvl="1"/>
            <a:r>
              <a:rPr lang="en-US" altLang="zh-TW" dirty="0" smtClean="0"/>
              <a:t>Use few times</a:t>
            </a:r>
          </a:p>
          <a:p>
            <a:pPr lvl="1"/>
            <a:r>
              <a:rPr lang="en-US" altLang="zh-TW" dirty="0" smtClean="0"/>
              <a:t>Have </a:t>
            </a:r>
            <a:r>
              <a:rPr lang="en-US" altLang="zh-TW" dirty="0" smtClean="0"/>
              <a:t>not </a:t>
            </a:r>
            <a:r>
              <a:rPr lang="en-US" altLang="zh-TW" dirty="0" smtClean="0"/>
              <a:t>much money</a:t>
            </a:r>
          </a:p>
          <a:p>
            <a:pPr lvl="1"/>
            <a:r>
              <a:rPr lang="en-US" altLang="zh-TW" dirty="0" smtClean="0"/>
              <a:t>Share with the company’s partner</a:t>
            </a:r>
          </a:p>
          <a:p>
            <a:pPr lvl="1"/>
            <a:r>
              <a:rPr lang="en-US" altLang="zh-TW" dirty="0" smtClean="0"/>
              <a:t>…</a:t>
            </a:r>
          </a:p>
          <a:p>
            <a:r>
              <a:rPr lang="en-US" altLang="zh-TW" dirty="0" smtClean="0"/>
              <a:t>Can we rent a software?</a:t>
            </a:r>
          </a:p>
          <a:p>
            <a:pPr lvl="1"/>
            <a:r>
              <a:rPr lang="en-US" altLang="zh-TW" dirty="0" smtClean="0"/>
              <a:t>Decrease the TOC (total ownership  cost)</a:t>
            </a:r>
            <a:endParaRPr lang="zh-TW" altLang="en-US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1843881"/>
            <a:ext cx="40386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ASP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Application service provider (ASP) is one of the </a:t>
            </a:r>
            <a:r>
              <a:rPr lang="en-US" altLang="zh-TW" dirty="0" smtClean="0"/>
              <a:t>choice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ASP moves the applications to Internet</a:t>
            </a:r>
          </a:p>
          <a:p>
            <a:pPr lvl="1"/>
            <a:r>
              <a:rPr lang="en-US" altLang="zh-TW" dirty="0" smtClean="0"/>
              <a:t>ASP packaged software into a object that can be rented</a:t>
            </a:r>
          </a:p>
          <a:p>
            <a:r>
              <a:rPr lang="en-US" altLang="zh-TW" dirty="0" smtClean="0"/>
              <a:t>The provider is responsible for maintaining the hardware and for managing the system</a:t>
            </a:r>
          </a:p>
          <a:p>
            <a:pPr lvl="1"/>
            <a:r>
              <a:rPr lang="en-US" altLang="zh-TW" dirty="0" smtClean="0"/>
              <a:t>Customers can focus on the usage</a:t>
            </a:r>
          </a:p>
          <a:p>
            <a:pPr lvl="1"/>
            <a:r>
              <a:rPr lang="en-US" altLang="zh-TW" dirty="0" smtClean="0"/>
              <a:t>Customers need not to worry about the system’s operation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E-mail service</a:t>
            </a:r>
          </a:p>
          <a:p>
            <a:pPr lvl="1"/>
            <a:r>
              <a:rPr lang="en-US" altLang="zh-TW" dirty="0" smtClean="0"/>
              <a:t>The provider hosts the mail service, manages the system and maintain the hardware</a:t>
            </a:r>
          </a:p>
          <a:p>
            <a:pPr lvl="1"/>
            <a:r>
              <a:rPr lang="en-US" altLang="zh-TW" dirty="0" smtClean="0"/>
              <a:t>The customer uses the service without buying the hardware and software </a:t>
            </a:r>
            <a:r>
              <a:rPr lang="en-US" altLang="zh-TW" dirty="0" smtClean="0"/>
              <a:t>license </a:t>
            </a:r>
            <a:endParaRPr lang="en-US" altLang="zh-TW" dirty="0" smtClean="0"/>
          </a:p>
          <a:p>
            <a:pPr lvl="1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</a:t>
            </a:r>
            <a:endParaRPr lang="zh-TW" altLang="en-US" dirty="0"/>
          </a:p>
        </p:txBody>
      </p:sp>
      <p:sp>
        <p:nvSpPr>
          <p:cNvPr id="13" name="弧形 12"/>
          <p:cNvSpPr/>
          <p:nvPr/>
        </p:nvSpPr>
        <p:spPr>
          <a:xfrm rot="12435833">
            <a:off x="5814879" y="4334480"/>
            <a:ext cx="1944216" cy="3382792"/>
          </a:xfrm>
          <a:prstGeom prst="arc">
            <a:avLst>
              <a:gd name="adj1" fmla="val 17780292"/>
              <a:gd name="adj2" fmla="val 5206365"/>
            </a:avLst>
          </a:prstGeom>
          <a:ln>
            <a:prstDash val="lg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" name="群組 11"/>
          <p:cNvGrpSpPr/>
          <p:nvPr/>
        </p:nvGrpSpPr>
        <p:grpSpPr>
          <a:xfrm>
            <a:off x="2987824" y="3645024"/>
            <a:ext cx="5184576" cy="2935820"/>
            <a:chOff x="2321279" y="3140968"/>
            <a:chExt cx="5851121" cy="3439876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21279" y="4283167"/>
              <a:ext cx="873216" cy="73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6" name="Picture 2" descr="D:\Slide\Graph\computer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06463" y="4221088"/>
              <a:ext cx="1427485" cy="1519312"/>
            </a:xfrm>
            <a:prstGeom prst="rect">
              <a:avLst/>
            </a:prstGeom>
            <a:noFill/>
          </p:spPr>
        </p:pic>
        <p:pic>
          <p:nvPicPr>
            <p:cNvPr id="1027" name="Picture 3" descr="D:\Slide\Graph\email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914575" y="3789040"/>
              <a:ext cx="859160" cy="859160"/>
            </a:xfrm>
            <a:prstGeom prst="rect">
              <a:avLst/>
            </a:prstGeom>
            <a:noFill/>
          </p:spPr>
        </p:pic>
        <p:pic>
          <p:nvPicPr>
            <p:cNvPr id="1030" name="Picture 6" descr="D:\Slide\Graph\update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834455" y="5085184"/>
              <a:ext cx="1445324" cy="1282204"/>
            </a:xfrm>
            <a:prstGeom prst="rect">
              <a:avLst/>
            </a:prstGeom>
            <a:noFill/>
          </p:spPr>
        </p:pic>
        <p:pic>
          <p:nvPicPr>
            <p:cNvPr id="1031" name="Picture 7" descr="D:\Slide\Graph\Windows-Vista-Icons-039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660232" y="3140968"/>
              <a:ext cx="1512168" cy="1512168"/>
            </a:xfrm>
            <a:prstGeom prst="rect">
              <a:avLst/>
            </a:prstGeom>
            <a:noFill/>
          </p:spPr>
        </p:pic>
        <p:sp>
          <p:nvSpPr>
            <p:cNvPr id="10" name="弧形 9"/>
            <p:cNvSpPr/>
            <p:nvPr/>
          </p:nvSpPr>
          <p:spPr>
            <a:xfrm rot="21386452">
              <a:off x="3225611" y="3198052"/>
              <a:ext cx="1944216" cy="3382792"/>
            </a:xfrm>
            <a:prstGeom prst="arc">
              <a:avLst>
                <a:gd name="adj1" fmla="val 17780292"/>
                <a:gd name="adj2" fmla="val 5206365"/>
              </a:avLst>
            </a:prstGeom>
            <a:ln>
              <a:prstDash val="lg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032" name="Picture 8" descr="D:\Slide\Graph\firefox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372200" y="5229200"/>
              <a:ext cx="1284567" cy="1250082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Benefit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Consumers can reduce </a:t>
            </a:r>
          </a:p>
          <a:p>
            <a:pPr lvl="1"/>
            <a:r>
              <a:rPr lang="en-US" altLang="zh-TW" dirty="0" smtClean="0"/>
              <a:t>Total ownership cost</a:t>
            </a:r>
          </a:p>
          <a:p>
            <a:pPr lvl="1"/>
            <a:r>
              <a:rPr lang="en-US" altLang="zh-TW" dirty="0" smtClean="0"/>
              <a:t>Requirement of IT personnel</a:t>
            </a:r>
          </a:p>
          <a:p>
            <a:pPr lvl="1"/>
            <a:r>
              <a:rPr lang="en-US" altLang="zh-TW" dirty="0" smtClean="0"/>
              <a:t>Maintain and upgrade </a:t>
            </a:r>
          </a:p>
          <a:p>
            <a:r>
              <a:rPr lang="en-US" altLang="zh-TW" dirty="0" smtClean="0"/>
              <a:t>But there are some </a:t>
            </a:r>
            <a:r>
              <a:rPr lang="en-US" altLang="zh-TW" dirty="0" smtClean="0"/>
              <a:t>tradeoffs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Lock-in </a:t>
            </a:r>
          </a:p>
          <a:p>
            <a:pPr lvl="1"/>
            <a:r>
              <a:rPr lang="en-US" altLang="zh-TW" dirty="0" smtClean="0"/>
              <a:t>Lengthy bid process</a:t>
            </a:r>
          </a:p>
          <a:p>
            <a:pPr lvl="1"/>
            <a:r>
              <a:rPr lang="en-US" altLang="zh-TW" dirty="0" smtClean="0"/>
              <a:t>Loss of fine tuning</a:t>
            </a:r>
          </a:p>
          <a:p>
            <a:pPr lvl="1"/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1196752"/>
            <a:ext cx="1955756" cy="2835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1960" y="4153172"/>
            <a:ext cx="3245311" cy="251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Software as a Service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SaaS</a:t>
            </a:r>
            <a:r>
              <a:rPr lang="en-US" altLang="zh-TW" dirty="0" smtClean="0"/>
              <a:t> is </a:t>
            </a:r>
            <a:r>
              <a:rPr lang="en-US" altLang="zh-TW" dirty="0" smtClean="0"/>
              <a:t>another </a:t>
            </a:r>
            <a:r>
              <a:rPr lang="en-US" altLang="zh-TW" dirty="0" smtClean="0"/>
              <a:t>solution</a:t>
            </a:r>
          </a:p>
          <a:p>
            <a:pPr lvl="1"/>
            <a:r>
              <a:rPr lang="en-US" altLang="zh-TW" dirty="0" smtClean="0"/>
              <a:t>Not sold off</a:t>
            </a:r>
          </a:p>
          <a:p>
            <a:pPr lvl="1"/>
            <a:r>
              <a:rPr lang="en-US" altLang="zh-TW" dirty="0" smtClean="0"/>
              <a:t>Pay-as-you-go</a:t>
            </a:r>
          </a:p>
          <a:p>
            <a:pPr lvl="1"/>
            <a:r>
              <a:rPr lang="en-US" altLang="zh-TW" dirty="0" smtClean="0"/>
              <a:t>Interact between client and </a:t>
            </a:r>
            <a:r>
              <a:rPr lang="en-US" altLang="zh-TW" dirty="0" smtClean="0"/>
              <a:t>back-end platform</a:t>
            </a:r>
            <a:endParaRPr lang="en-US" altLang="zh-TW" dirty="0" smtClean="0"/>
          </a:p>
          <a:p>
            <a:r>
              <a:rPr lang="en-US" altLang="zh-TW" dirty="0" smtClean="0"/>
              <a:t>Compared </a:t>
            </a:r>
          </a:p>
          <a:p>
            <a:pPr lvl="1"/>
            <a:r>
              <a:rPr lang="en-US" altLang="zh-TW" dirty="0" smtClean="0"/>
              <a:t>ASP is a </a:t>
            </a:r>
            <a:r>
              <a:rPr lang="en-US" altLang="zh-TW" dirty="0" smtClean="0">
                <a:solidFill>
                  <a:srgbClr val="FF0000"/>
                </a:solidFill>
              </a:rPr>
              <a:t>provider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err="1" smtClean="0"/>
              <a:t>SaaS</a:t>
            </a:r>
            <a:r>
              <a:rPr lang="en-US" altLang="zh-TW" dirty="0" smtClean="0"/>
              <a:t> is a </a:t>
            </a:r>
            <a:r>
              <a:rPr lang="en-US" altLang="zh-TW" dirty="0" smtClean="0">
                <a:solidFill>
                  <a:srgbClr val="FF0000"/>
                </a:solidFill>
              </a:rPr>
              <a:t>service model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3645024"/>
            <a:ext cx="3053975" cy="3068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04248" y="3501008"/>
            <a:ext cx="998290" cy="998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Service model</a:t>
            </a:r>
          </a:p>
          <a:p>
            <a:r>
              <a:rPr lang="en-US" altLang="zh-TW" dirty="0" smtClean="0"/>
              <a:t>Definition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SaaS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zh-TW" dirty="0" smtClean="0"/>
              <a:t>Software as a Service (</a:t>
            </a:r>
            <a:r>
              <a:rPr lang="en-GB" altLang="zh-TW" dirty="0" err="1" smtClean="0"/>
              <a:t>SaaS</a:t>
            </a:r>
            <a:r>
              <a:rPr lang="en-GB" altLang="zh-TW" dirty="0" smtClean="0"/>
              <a:t>) </a:t>
            </a:r>
          </a:p>
          <a:p>
            <a:pPr lvl="1"/>
            <a:r>
              <a:rPr lang="en-GB" altLang="zh-TW" dirty="0" smtClean="0"/>
              <a:t>delivering </a:t>
            </a:r>
            <a:r>
              <a:rPr lang="en-GB" altLang="zh-TW" dirty="0" smtClean="0"/>
              <a:t>software as a service over the Internet</a:t>
            </a:r>
          </a:p>
          <a:p>
            <a:pPr lvl="1"/>
            <a:r>
              <a:rPr lang="en-GB" altLang="zh-TW" dirty="0" smtClean="0"/>
              <a:t>eliminating the need to install</a:t>
            </a:r>
          </a:p>
          <a:p>
            <a:pPr lvl="1"/>
            <a:r>
              <a:rPr lang="en-GB" altLang="zh-TW" dirty="0" smtClean="0"/>
              <a:t>simplifying maintenance and </a:t>
            </a:r>
            <a:r>
              <a:rPr lang="en-GB" altLang="zh-TW" dirty="0" smtClean="0"/>
              <a:t>support</a:t>
            </a:r>
            <a:endParaRPr lang="en-US" altLang="zh-TW" dirty="0" smtClean="0"/>
          </a:p>
          <a:p>
            <a:r>
              <a:rPr lang="en-US" altLang="zh-TW" dirty="0" err="1" smtClean="0"/>
              <a:t>SaaS</a:t>
            </a:r>
            <a:r>
              <a:rPr lang="en-US" altLang="zh-TW" dirty="0" smtClean="0"/>
              <a:t> not only has the advantage of the ASP, but also has extra benefit</a:t>
            </a:r>
          </a:p>
          <a:p>
            <a:pPr lvl="1"/>
            <a:r>
              <a:rPr lang="en-US" altLang="zh-TW" dirty="0" smtClean="0"/>
              <a:t>Fit your requirement</a:t>
            </a:r>
          </a:p>
          <a:p>
            <a:pPr lvl="1"/>
            <a:r>
              <a:rPr lang="en-US" altLang="zh-TW" dirty="0" smtClean="0"/>
              <a:t>Increasing or decreasing resources on demand</a:t>
            </a:r>
          </a:p>
          <a:p>
            <a:pPr lvl="1"/>
            <a:r>
              <a:rPr lang="en-US" altLang="zh-TW" dirty="0" smtClean="0"/>
              <a:t>Easy to apply, easy to use and easy to leave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Definition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general,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 can classify by the mode of delivery and system maturity</a:t>
            </a:r>
          </a:p>
          <a:p>
            <a:pPr lvl="1"/>
            <a:r>
              <a:rPr lang="en-US" altLang="zh-TW" dirty="0" smtClean="0"/>
              <a:t>Ad-hoc</a:t>
            </a:r>
          </a:p>
          <a:p>
            <a:pPr lvl="1"/>
            <a:r>
              <a:rPr lang="en-US" altLang="zh-TW" dirty="0" smtClean="0"/>
              <a:t>Configurable </a:t>
            </a:r>
          </a:p>
          <a:p>
            <a:pPr lvl="1"/>
            <a:r>
              <a:rPr lang="en-US" altLang="zh-TW" dirty="0" smtClean="0"/>
              <a:t>Multi-tenant</a:t>
            </a:r>
          </a:p>
          <a:p>
            <a:pPr lvl="1"/>
            <a:r>
              <a:rPr lang="en-US" altLang="zh-TW" dirty="0" smtClean="0"/>
              <a:t>Scalability and customized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Ad-hoc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simplest architecture of </a:t>
            </a:r>
            <a:r>
              <a:rPr lang="en-US" altLang="zh-TW" dirty="0" err="1" smtClean="0"/>
              <a:t>SaaS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vendor provide many hardware which can install the software user need.</a:t>
            </a:r>
          </a:p>
          <a:p>
            <a:pPr lvl="1"/>
            <a:r>
              <a:rPr lang="en-US" altLang="zh-TW" dirty="0" smtClean="0"/>
              <a:t>Each customer has his own hosts and the applications run on these hosts.</a:t>
            </a:r>
          </a:p>
          <a:p>
            <a:pPr lvl="1"/>
            <a:r>
              <a:rPr lang="en-US" altLang="zh-TW" dirty="0" smtClean="0"/>
              <a:t>The hosts and applications is independence for each other.</a:t>
            </a:r>
          </a:p>
          <a:p>
            <a:pPr lvl="1"/>
            <a:r>
              <a:rPr lang="en-US" altLang="zh-TW" dirty="0" smtClean="0"/>
              <a:t>Customer can reduce the costs of hardware and administration.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Configurable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second level of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 which</a:t>
            </a:r>
          </a:p>
          <a:p>
            <a:pPr lvl="1"/>
            <a:r>
              <a:rPr lang="en-US" altLang="zh-TW" dirty="0" smtClean="0"/>
              <a:t>provides greater program flexibility through configurable metadata</a:t>
            </a:r>
          </a:p>
          <a:p>
            <a:pPr lvl="1"/>
            <a:r>
              <a:rPr lang="en-US" altLang="zh-TW" dirty="0" smtClean="0"/>
              <a:t>Provides  many instance to difference users through detailed configuration</a:t>
            </a:r>
          </a:p>
          <a:p>
            <a:pPr lvl="1"/>
            <a:r>
              <a:rPr lang="en-US" altLang="zh-TW" dirty="0" smtClean="0"/>
              <a:t>Simplifies maintenance and updating of a common code base</a:t>
            </a:r>
          </a:p>
          <a:p>
            <a:pPr lvl="1"/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4221087"/>
            <a:ext cx="3096344" cy="2319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Multi-tenant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third level of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 which</a:t>
            </a:r>
          </a:p>
          <a:p>
            <a:pPr lvl="1"/>
            <a:r>
              <a:rPr lang="en-US" altLang="zh-TW" dirty="0" smtClean="0"/>
              <a:t>Adds multi-tenant to the second level</a:t>
            </a:r>
          </a:p>
          <a:p>
            <a:pPr lvl="1"/>
            <a:r>
              <a:rPr lang="en-US" altLang="zh-TW" dirty="0" smtClean="0"/>
              <a:t>Provides a single program service to all customers by setting configuration</a:t>
            </a:r>
          </a:p>
          <a:p>
            <a:pPr lvl="1"/>
            <a:r>
              <a:rPr lang="en-US" altLang="zh-TW" dirty="0" smtClean="0"/>
              <a:t>More efficient use of server resource than level 2, but ultimately is limited in its scalability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2120" y="4149080"/>
            <a:ext cx="3178324" cy="2491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Scalability and Customized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last level of </a:t>
            </a:r>
            <a:r>
              <a:rPr lang="en-US" altLang="zh-TW" dirty="0" err="1" smtClean="0"/>
              <a:t>SaaS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SaaS</a:t>
            </a:r>
            <a:r>
              <a:rPr lang="en-US" altLang="zh-TW" dirty="0" smtClean="0"/>
              <a:t> adds the property of scalability and load-balance.</a:t>
            </a:r>
          </a:p>
          <a:p>
            <a:pPr lvl="1"/>
            <a:r>
              <a:rPr lang="en-US" altLang="zh-TW" dirty="0" smtClean="0"/>
              <a:t>The system’s capacity can increase or decrease to match demand.</a:t>
            </a:r>
          </a:p>
          <a:p>
            <a:pPr lvl="1"/>
            <a:r>
              <a:rPr lang="en-US" altLang="zh-TW" dirty="0" smtClean="0"/>
              <a:t>Customers uses the application on the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 is similar as on the local host.</a:t>
            </a:r>
            <a:endParaRPr lang="zh-TW" altLang="en-US" dirty="0"/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3933056"/>
            <a:ext cx="2067694" cy="2067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4221088"/>
            <a:ext cx="3590330" cy="2245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So,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 is…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service model that delivers software</a:t>
            </a:r>
          </a:p>
          <a:p>
            <a:pPr lvl="1"/>
            <a:r>
              <a:rPr lang="en-US" altLang="zh-TW" dirty="0" smtClean="0"/>
              <a:t>User believe that use the dedicated machine and his own operating environment.</a:t>
            </a:r>
          </a:p>
          <a:p>
            <a:pPr lvl="1"/>
            <a:r>
              <a:rPr lang="en-US" altLang="zh-TW" dirty="0" smtClean="0"/>
              <a:t>Vendor can deploy many kind of software version by changing the profile.</a:t>
            </a:r>
          </a:p>
          <a:p>
            <a:pPr lvl="1"/>
            <a:r>
              <a:rPr lang="en-US" altLang="zh-TW" dirty="0" smtClean="0"/>
              <a:t>Consumer meet the requirements with few extra setting.</a:t>
            </a:r>
          </a:p>
          <a:p>
            <a:pPr lvl="1"/>
            <a:r>
              <a:rPr lang="en-US" altLang="zh-TW" dirty="0" smtClean="0"/>
              <a:t>Vendor can service lots of users and wide range of their needs.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4581128"/>
            <a:ext cx="2939818" cy="2204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Properties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Benefit 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Accessibility 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Elasticity 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Manageability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Reliability 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Characteristic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SaaS</a:t>
            </a:r>
            <a:r>
              <a:rPr lang="en-US" altLang="zh-TW" dirty="0" smtClean="0"/>
              <a:t> is a new model of operation in the beginning</a:t>
            </a:r>
          </a:p>
          <a:p>
            <a:pPr lvl="1"/>
            <a:r>
              <a:rPr lang="en-US" altLang="zh-TW" dirty="0" smtClean="0"/>
              <a:t>Providing service platform that users can use applications or software.</a:t>
            </a:r>
          </a:p>
          <a:p>
            <a:r>
              <a:rPr lang="en-US" altLang="zh-TW" dirty="0" smtClean="0"/>
              <a:t>In cloud computing,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 is one of three main service architecture</a:t>
            </a:r>
          </a:p>
          <a:p>
            <a:pPr lvl="1"/>
            <a:r>
              <a:rPr lang="en-US" altLang="zh-TW" dirty="0" smtClean="0"/>
              <a:t>Using the benefit of cloud computing,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 can supply more rich service on the web.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User view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Companies </a:t>
            </a:r>
          </a:p>
          <a:p>
            <a:pPr lvl="1"/>
            <a:r>
              <a:rPr lang="en-US" altLang="zh-TW" dirty="0" smtClean="0"/>
              <a:t>Low IT cost and management responsibility</a:t>
            </a:r>
          </a:p>
          <a:p>
            <a:pPr lvl="1"/>
            <a:r>
              <a:rPr lang="en-US" altLang="zh-TW" dirty="0" smtClean="0"/>
              <a:t>Short development time</a:t>
            </a:r>
          </a:p>
          <a:p>
            <a:pPr lvl="1"/>
            <a:r>
              <a:rPr lang="en-US" altLang="zh-TW" dirty="0" smtClean="0"/>
              <a:t>Pay-as-you-go</a:t>
            </a:r>
          </a:p>
          <a:p>
            <a:r>
              <a:rPr lang="en-US" altLang="zh-TW" dirty="0" smtClean="0"/>
              <a:t>End users</a:t>
            </a:r>
          </a:p>
          <a:p>
            <a:pPr lvl="1"/>
            <a:r>
              <a:rPr lang="en-US" altLang="zh-TW" dirty="0" smtClean="0"/>
              <a:t>Low learning curve</a:t>
            </a:r>
          </a:p>
          <a:p>
            <a:pPr lvl="2"/>
            <a:r>
              <a:rPr lang="en-US" altLang="zh-TW" dirty="0" smtClean="0"/>
              <a:t>Familiar or intuitive interface</a:t>
            </a:r>
          </a:p>
          <a:p>
            <a:pPr lvl="1"/>
            <a:r>
              <a:rPr lang="en-US" altLang="zh-TW" dirty="0" smtClean="0"/>
              <a:t>Global access</a:t>
            </a:r>
          </a:p>
          <a:p>
            <a:pPr lvl="2"/>
            <a:r>
              <a:rPr lang="en-US" altLang="zh-TW" dirty="0" smtClean="0"/>
              <a:t>Work on anywhere and anytime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Vendor view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Integrate all IT and resource</a:t>
            </a:r>
          </a:p>
          <a:p>
            <a:pPr lvl="1"/>
            <a:r>
              <a:rPr lang="en-US" altLang="zh-TW" dirty="0" smtClean="0"/>
              <a:t>Provide a high-end service.</a:t>
            </a:r>
          </a:p>
          <a:p>
            <a:pPr lvl="1"/>
            <a:r>
              <a:rPr lang="en-US" altLang="zh-TW" dirty="0" smtClean="0"/>
              <a:t>Reduce procurement and operating costs.</a:t>
            </a:r>
          </a:p>
          <a:p>
            <a:pPr lvl="1"/>
            <a:r>
              <a:rPr lang="en-US" altLang="zh-TW" dirty="0" smtClean="0"/>
              <a:t>Maintain is easier, billing is easier</a:t>
            </a:r>
          </a:p>
          <a:p>
            <a:r>
              <a:rPr lang="en-US" altLang="zh-TW" dirty="0" smtClean="0"/>
              <a:t>Economies of scale</a:t>
            </a:r>
          </a:p>
          <a:p>
            <a:pPr lvl="1"/>
            <a:r>
              <a:rPr lang="en-US" altLang="zh-TW" dirty="0" smtClean="0"/>
              <a:t>Winner-take-all</a:t>
            </a:r>
          </a:p>
          <a:p>
            <a:pPr lvl="1"/>
            <a:r>
              <a:rPr lang="en-US" altLang="zh-TW" dirty="0" smtClean="0"/>
              <a:t>Build it once, run it everywhere and charge monthly use fees.</a:t>
            </a:r>
          </a:p>
          <a:p>
            <a:r>
              <a:rPr lang="en-US" altLang="zh-TW" dirty="0" smtClean="0"/>
              <a:t>Usually, one system to provide for them all.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With Cloud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Accessibility</a:t>
            </a:r>
          </a:p>
          <a:p>
            <a:pPr lvl="1"/>
            <a:r>
              <a:rPr lang="en-US" altLang="zh-TW" dirty="0" smtClean="0"/>
              <a:t>Access service anywhere and anytime </a:t>
            </a:r>
          </a:p>
          <a:p>
            <a:r>
              <a:rPr lang="en-US" altLang="zh-TW" dirty="0" smtClean="0"/>
              <a:t>Elasticity</a:t>
            </a:r>
          </a:p>
          <a:p>
            <a:pPr lvl="1"/>
            <a:r>
              <a:rPr lang="en-US" altLang="zh-TW" dirty="0" smtClean="0"/>
              <a:t>Service all consumers</a:t>
            </a:r>
          </a:p>
          <a:p>
            <a:r>
              <a:rPr lang="en-US" altLang="zh-TW" dirty="0" smtClean="0"/>
              <a:t>Manageability</a:t>
            </a:r>
          </a:p>
          <a:p>
            <a:pPr lvl="1"/>
            <a:r>
              <a:rPr lang="en-US" altLang="zh-TW" dirty="0" smtClean="0"/>
              <a:t>Easy to be controlled, maintained and modified.</a:t>
            </a:r>
          </a:p>
          <a:p>
            <a:r>
              <a:rPr lang="en-US" altLang="zh-TW" dirty="0" smtClean="0"/>
              <a:t>Reliability </a:t>
            </a:r>
          </a:p>
          <a:p>
            <a:pPr lvl="1"/>
            <a:r>
              <a:rPr lang="en-US" altLang="zh-TW" dirty="0" smtClean="0"/>
              <a:t>Access control</a:t>
            </a:r>
            <a:r>
              <a:rPr lang="zh-TW" altLang="en-US" dirty="0" smtClean="0"/>
              <a:t> </a:t>
            </a:r>
            <a:r>
              <a:rPr lang="en-US" altLang="zh-TW" dirty="0" smtClean="0"/>
              <a:t>and avoid the phishing web page.</a:t>
            </a:r>
          </a:p>
        </p:txBody>
      </p:sp>
      <p:pic>
        <p:nvPicPr>
          <p:cNvPr id="3075" name="Picture 3" descr="C:\Users\cmj\Pictures\圖片1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296750"/>
            <a:ext cx="4038600" cy="31328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Properties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Benefit </a:t>
            </a:r>
          </a:p>
          <a:p>
            <a:r>
              <a:rPr lang="en-US" altLang="zh-TW" dirty="0" smtClean="0"/>
              <a:t>Accessibility 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Elasticity 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Manageability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Reliability 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Accessibility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End user can access the service provided by vendor anywhere</a:t>
            </a:r>
          </a:p>
          <a:p>
            <a:pPr lvl="1"/>
            <a:r>
              <a:rPr lang="en-US" altLang="zh-TW" dirty="0" smtClean="0"/>
              <a:t>School or home with the Ethernet</a:t>
            </a:r>
          </a:p>
          <a:p>
            <a:pPr lvl="1"/>
            <a:r>
              <a:rPr lang="en-US" altLang="zh-TW" dirty="0" smtClean="0"/>
              <a:t>Bus or TRTC with wireless network or 3G</a:t>
            </a:r>
          </a:p>
          <a:p>
            <a:pPr lvl="1"/>
            <a:r>
              <a:rPr lang="en-US" altLang="zh-TW" dirty="0" smtClean="0"/>
              <a:t>Any environment which can connect to Internet</a:t>
            </a:r>
          </a:p>
          <a:p>
            <a:r>
              <a:rPr lang="en-US" altLang="zh-TW" dirty="0" smtClean="0"/>
              <a:t>… and any platform</a:t>
            </a:r>
          </a:p>
          <a:p>
            <a:pPr lvl="1"/>
            <a:r>
              <a:rPr lang="en-US" altLang="zh-TW" dirty="0" smtClean="0"/>
              <a:t>Any OS, like Windows, Linux, Unix, Mac OS</a:t>
            </a:r>
          </a:p>
          <a:p>
            <a:pPr lvl="1"/>
            <a:r>
              <a:rPr lang="en-US" altLang="zh-TW" dirty="0" smtClean="0"/>
              <a:t>Any device, like desktop, notebook, smart phone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  <p:pic>
        <p:nvPicPr>
          <p:cNvPr id="3074" name="Picture 2" descr="C:\Users\cmj\Pictures\圖片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8640"/>
            <a:ext cx="1116381" cy="11141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Cross Platform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Cross platform is one of the core concept on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 accessibility </a:t>
            </a:r>
          </a:p>
          <a:p>
            <a:r>
              <a:rPr lang="en-US" altLang="zh-TW" dirty="0" smtClean="0"/>
              <a:t>Web Interface is one of solutions</a:t>
            </a:r>
          </a:p>
          <a:p>
            <a:pPr lvl="1"/>
            <a:r>
              <a:rPr lang="en-US" altLang="zh-TW" dirty="0" smtClean="0"/>
              <a:t>User access service in Internet without any application installing.</a:t>
            </a:r>
          </a:p>
          <a:p>
            <a:pPr lvl="1"/>
            <a:r>
              <a:rPr lang="en-US" altLang="zh-TW" dirty="0" smtClean="0"/>
              <a:t>Any browser gains the same result.</a:t>
            </a:r>
          </a:p>
          <a:p>
            <a:r>
              <a:rPr lang="en-US" altLang="zh-TW" dirty="0" smtClean="0"/>
              <a:t>Java is other solution</a:t>
            </a:r>
          </a:p>
          <a:p>
            <a:pPr lvl="1"/>
            <a:r>
              <a:rPr lang="en-US" altLang="zh-TW" dirty="0" smtClean="0"/>
              <a:t>Applications can run on JVM without any extra setting</a:t>
            </a:r>
          </a:p>
          <a:p>
            <a:pPr lvl="1">
              <a:buNone/>
            </a:pPr>
            <a:endParaRPr lang="en-US" altLang="zh-TW" dirty="0" smtClean="0"/>
          </a:p>
          <a:p>
            <a:pPr lvl="1"/>
            <a:endParaRPr lang="zh-TW" altLang="en-US" dirty="0"/>
          </a:p>
        </p:txBody>
      </p:sp>
      <p:pic>
        <p:nvPicPr>
          <p:cNvPr id="4" name="Picture 2" descr="C:\Users\cmj\Pictures\圖片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8640"/>
            <a:ext cx="1116381" cy="11141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Accessibility </a:t>
            </a:r>
            <a:r>
              <a:rPr lang="en-US" altLang="zh-TW" dirty="0" err="1" smtClean="0"/>
              <a:t>vs</a:t>
            </a:r>
            <a:r>
              <a:rPr lang="en-US" altLang="zh-TW" dirty="0" smtClean="0"/>
              <a:t> Availability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Availability is focus on the system’s reliability</a:t>
            </a:r>
          </a:p>
          <a:p>
            <a:pPr lvl="1"/>
            <a:r>
              <a:rPr lang="en-US" altLang="zh-TW" dirty="0" smtClean="0"/>
              <a:t>System’s capable rate</a:t>
            </a:r>
          </a:p>
          <a:p>
            <a:pPr lvl="1"/>
            <a:r>
              <a:rPr lang="en-US" altLang="zh-TW" dirty="0" smtClean="0"/>
              <a:t>Mean time between failures (MTBF)</a:t>
            </a:r>
          </a:p>
          <a:p>
            <a:pPr lvl="1"/>
            <a:r>
              <a:rPr lang="en-US" altLang="zh-TW" dirty="0" smtClean="0"/>
              <a:t>Mean time to recovery (MTTR)</a:t>
            </a:r>
          </a:p>
          <a:p>
            <a:r>
              <a:rPr lang="en-US" altLang="zh-TW" dirty="0" smtClean="0"/>
              <a:t>In the high availability system, usually uses nines  to correspond the ratio</a:t>
            </a:r>
          </a:p>
          <a:p>
            <a:pPr lvl="1"/>
            <a:r>
              <a:rPr lang="en-US" altLang="zh-TW" dirty="0" smtClean="0"/>
              <a:t>99.9% means 8.67 hours of downtime per year</a:t>
            </a:r>
          </a:p>
          <a:p>
            <a:pPr lvl="1"/>
            <a:r>
              <a:rPr lang="en-US" altLang="zh-TW" dirty="0" smtClean="0"/>
              <a:t>99.999% means 315 seconds of downtime per year</a:t>
            </a:r>
            <a:endParaRPr lang="zh-TW" altLang="en-US" dirty="0"/>
          </a:p>
        </p:txBody>
      </p:sp>
      <p:pic>
        <p:nvPicPr>
          <p:cNvPr id="4" name="Picture 2" descr="C:\Users\cmj\Pictures\圖片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8640"/>
            <a:ext cx="1116381" cy="1114144"/>
          </a:xfrm>
          <a:prstGeom prst="rect">
            <a:avLst/>
          </a:prstGeom>
          <a:noFill/>
        </p:spPr>
      </p:pic>
      <p:pic>
        <p:nvPicPr>
          <p:cNvPr id="4098" name="Picture 2" descr="C:\Users\cmj\Pictures\圖片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836712"/>
            <a:ext cx="897831" cy="89783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Properties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Benefit </a:t>
            </a:r>
          </a:p>
          <a:p>
            <a:r>
              <a:rPr lang="en-US" altLang="zh-TW" dirty="0" smtClean="0"/>
              <a:t>Accessibility </a:t>
            </a:r>
          </a:p>
          <a:p>
            <a:r>
              <a:rPr lang="en-US" altLang="zh-TW" dirty="0" smtClean="0"/>
              <a:t>Elasticity 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Manageability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Reliability 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Long Tail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Most of users does not use all ability of computer</a:t>
            </a:r>
          </a:p>
          <a:p>
            <a:pPr lvl="1"/>
            <a:r>
              <a:rPr lang="en-US" altLang="zh-TW" dirty="0" smtClean="0"/>
              <a:t>Lots of computers are idle and waste the energy</a:t>
            </a:r>
          </a:p>
          <a:p>
            <a:r>
              <a:rPr lang="en-US" altLang="zh-TW" dirty="0" smtClean="0"/>
              <a:t>But few users cannot meet their requirement when using the desktop</a:t>
            </a:r>
          </a:p>
          <a:p>
            <a:pPr lvl="1"/>
            <a:r>
              <a:rPr lang="en-US" altLang="zh-TW" dirty="0" smtClean="0"/>
              <a:t>Buying the professional server would also satisfy the long tail theory.</a:t>
            </a:r>
            <a:endParaRPr lang="zh-TW" altLang="en-US" dirty="0"/>
          </a:p>
        </p:txBody>
      </p:sp>
      <p:grpSp>
        <p:nvGrpSpPr>
          <p:cNvPr id="4" name="群組 10"/>
          <p:cNvGrpSpPr/>
          <p:nvPr/>
        </p:nvGrpSpPr>
        <p:grpSpPr>
          <a:xfrm>
            <a:off x="3707904" y="3933056"/>
            <a:ext cx="5482574" cy="2958054"/>
            <a:chOff x="3275856" y="3645024"/>
            <a:chExt cx="5920548" cy="3249346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578100" y="3645024"/>
              <a:ext cx="5538192" cy="28798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6" name="直線接點 5"/>
            <p:cNvCxnSpPr/>
            <p:nvPr/>
          </p:nvCxnSpPr>
          <p:spPr>
            <a:xfrm>
              <a:off x="3707904" y="5949280"/>
              <a:ext cx="4248472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文字方塊 6"/>
            <p:cNvSpPr txBox="1"/>
            <p:nvPr/>
          </p:nvSpPr>
          <p:spPr>
            <a:xfrm>
              <a:off x="6012160" y="5589240"/>
              <a:ext cx="1006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Desktop </a:t>
              </a:r>
              <a:endParaRPr lang="zh-TW" altLang="en-US" dirty="0"/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7308304" y="6488668"/>
              <a:ext cx="1888100" cy="4057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Number of users</a:t>
              </a:r>
              <a:endParaRPr lang="zh-TW" altLang="en-US" dirty="0"/>
            </a:p>
          </p:txBody>
        </p:sp>
        <p:sp>
          <p:nvSpPr>
            <p:cNvPr id="10" name="文字方塊 9"/>
            <p:cNvSpPr txBox="1"/>
            <p:nvPr/>
          </p:nvSpPr>
          <p:spPr>
            <a:xfrm rot="5400000">
              <a:off x="2557518" y="4435370"/>
              <a:ext cx="18060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Computer ability </a:t>
              </a:r>
              <a:endParaRPr lang="zh-TW" altLang="en-US" dirty="0"/>
            </a:p>
          </p:txBody>
        </p:sp>
      </p:grpSp>
      <p:sp>
        <p:nvSpPr>
          <p:cNvPr id="14" name="文字方塊 13"/>
          <p:cNvSpPr txBox="1"/>
          <p:nvPr/>
        </p:nvSpPr>
        <p:spPr>
          <a:xfrm>
            <a:off x="4211960" y="6021288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20%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5868144" y="6021288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80%</a:t>
            </a:r>
            <a:endParaRPr lang="zh-TW" altLang="en-US" dirty="0"/>
          </a:p>
        </p:txBody>
      </p:sp>
      <p:pic>
        <p:nvPicPr>
          <p:cNvPr id="5123" name="Picture 3" descr="C:\Users\cmj\Pictures\圖片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88640"/>
            <a:ext cx="1185863" cy="11858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Multi-tenant </a:t>
            </a:r>
            <a:endParaRPr lang="zh-TW" altLang="en-US" dirty="0"/>
          </a:p>
        </p:txBody>
      </p:sp>
      <p:sp>
        <p:nvSpPr>
          <p:cNvPr id="9" name="內容版面配置區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 cloud computing, number of  users will not  be limited to only few thousands</a:t>
            </a:r>
          </a:p>
          <a:p>
            <a:pPr lvl="1"/>
            <a:r>
              <a:rPr lang="en-US" altLang="zh-TW" dirty="0" smtClean="0"/>
              <a:t>Lots of users cloud use same application architecture with few personal profile.</a:t>
            </a:r>
          </a:p>
          <a:p>
            <a:pPr lvl="1"/>
            <a:r>
              <a:rPr lang="en-US" altLang="zh-TW" dirty="0" smtClean="0"/>
              <a:t>Re-build the hardware or re-</a:t>
            </a:r>
            <a:r>
              <a:rPr lang="en-US" altLang="zh-TW" dirty="0" err="1" smtClean="0"/>
              <a:t>deisgn</a:t>
            </a:r>
            <a:r>
              <a:rPr lang="en-US" altLang="zh-TW" dirty="0" smtClean="0"/>
              <a:t> software is waste and unrealistic</a:t>
            </a:r>
          </a:p>
          <a:p>
            <a:r>
              <a:rPr lang="en-US" altLang="zh-TW" dirty="0" smtClean="0"/>
              <a:t>Instead, mass deployment with few metadata</a:t>
            </a:r>
            <a:r>
              <a:rPr lang="zh-TW" altLang="en-US" dirty="0" smtClean="0"/>
              <a:t> </a:t>
            </a:r>
            <a:r>
              <a:rPr lang="en-US" altLang="zh-TW" dirty="0" smtClean="0"/>
              <a:t>can reduce lots of time and money</a:t>
            </a:r>
            <a:endParaRPr lang="zh-TW" altLang="en-US" dirty="0"/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6251487" y="4125778"/>
            <a:ext cx="2031085" cy="3085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C:\Users\cmj\Pictures\圖片4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88640"/>
            <a:ext cx="1185863" cy="11858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Technique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Virtual machine that user run application on his independent system.</a:t>
            </a:r>
          </a:p>
          <a:p>
            <a:pPr lvl="1"/>
            <a:r>
              <a:rPr lang="en-US" altLang="zh-TW" dirty="0" smtClean="0"/>
              <a:t>Developed the basis system which can install personnel plug-in or package.</a:t>
            </a:r>
          </a:p>
          <a:p>
            <a:r>
              <a:rPr lang="en-US" altLang="zh-TW" dirty="0" smtClean="0"/>
              <a:t>Dist partition or independent structure scheme that user store information and file in his independent storage space.</a:t>
            </a:r>
          </a:p>
          <a:p>
            <a:pPr lvl="1"/>
            <a:r>
              <a:rPr lang="en-US" altLang="zh-TW" dirty="0" smtClean="0"/>
              <a:t>All data store in the same storage device</a:t>
            </a:r>
          </a:p>
          <a:p>
            <a:pPr lvl="1"/>
            <a:r>
              <a:rPr lang="en-US" altLang="zh-TW" dirty="0" smtClean="0"/>
              <a:t>Each user can only access their data by application controlled.</a:t>
            </a:r>
            <a:endParaRPr lang="zh-TW" altLang="en-US" dirty="0"/>
          </a:p>
        </p:txBody>
      </p:sp>
      <p:pic>
        <p:nvPicPr>
          <p:cNvPr id="4" name="Picture 3" descr="C:\Users\cmj\Pictures\圖片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8640"/>
            <a:ext cx="1185863" cy="11858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Properties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Benefit </a:t>
            </a:r>
          </a:p>
          <a:p>
            <a:r>
              <a:rPr lang="en-US" altLang="zh-TW" dirty="0" smtClean="0"/>
              <a:t>Accessibility </a:t>
            </a:r>
          </a:p>
          <a:p>
            <a:r>
              <a:rPr lang="en-US" altLang="zh-TW" dirty="0" smtClean="0"/>
              <a:t>Elasticity </a:t>
            </a:r>
          </a:p>
          <a:p>
            <a:r>
              <a:rPr lang="en-US" altLang="zh-TW" dirty="0" smtClean="0"/>
              <a:t>Manageability</a:t>
            </a:r>
          </a:p>
          <a:p>
            <a:r>
              <a:rPr lang="en-US" altLang="zh-TW" dirty="0" smtClean="0">
                <a:solidFill>
                  <a:schemeClr val="bg1">
                    <a:lumMod val="75000"/>
                  </a:schemeClr>
                </a:solidFill>
              </a:rPr>
              <a:t>Reliability 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Centralization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Cloud computing collect all data and all computing capacity  in one or few data center</a:t>
            </a:r>
          </a:p>
          <a:p>
            <a:pPr lvl="1"/>
            <a:r>
              <a:rPr lang="en-US" altLang="zh-TW" dirty="0" smtClean="0"/>
              <a:t>Centralized management, deploy and update</a:t>
            </a:r>
          </a:p>
          <a:p>
            <a:r>
              <a:rPr lang="en-US" altLang="zh-TW" dirty="0" smtClean="0"/>
              <a:t>Consumer is not limited to local residents, instead, everyone can become a user of cloud computing service</a:t>
            </a:r>
          </a:p>
          <a:p>
            <a:pPr lvl="1"/>
            <a:r>
              <a:rPr lang="en-US" altLang="zh-TW" dirty="0" smtClean="0"/>
              <a:t>Low ability vendor supplied would decrease the user experience</a:t>
            </a:r>
          </a:p>
          <a:p>
            <a:pPr lvl="1"/>
            <a:r>
              <a:rPr lang="en-US" altLang="zh-TW" dirty="0" smtClean="0"/>
              <a:t>The distance of user and data center could large than hundreds to thousands of kilometers</a:t>
            </a:r>
          </a:p>
          <a:p>
            <a:pPr lvl="1"/>
            <a:endParaRPr lang="en-US" altLang="zh-TW" dirty="0" smtClean="0"/>
          </a:p>
        </p:txBody>
      </p:sp>
      <p:pic>
        <p:nvPicPr>
          <p:cNvPr id="4" name="Picture 2" descr="C:\Users\cmj\Pictures\圖片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8640"/>
            <a:ext cx="1152128" cy="114981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Deployment and Consistent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Data centers would locate in the key cities</a:t>
            </a:r>
          </a:p>
          <a:p>
            <a:pPr lvl="1"/>
            <a:r>
              <a:rPr lang="en-US" altLang="zh-TW" dirty="0" smtClean="0"/>
              <a:t>Google has 19 locations in the US, 12 in Europe, one in Russia, one in South America and three in Asia</a:t>
            </a:r>
          </a:p>
          <a:p>
            <a:pPr lvl="1"/>
            <a:r>
              <a:rPr lang="en-US" altLang="zh-TW" dirty="0" smtClean="0"/>
              <a:t>User connect to nearest data center and reduce the connection latency </a:t>
            </a:r>
          </a:p>
          <a:p>
            <a:r>
              <a:rPr lang="en-US" altLang="zh-TW" dirty="0" smtClean="0"/>
              <a:t>Redundant  data center improves the reliability </a:t>
            </a:r>
          </a:p>
          <a:p>
            <a:pPr lvl="1"/>
            <a:r>
              <a:rPr lang="en-US" altLang="zh-TW" dirty="0" smtClean="0"/>
              <a:t>One of the data center down, user can access the other one, and user only fell a little delay.</a:t>
            </a:r>
          </a:p>
          <a:p>
            <a:pPr lvl="1"/>
            <a:r>
              <a:rPr lang="en-US" altLang="zh-TW" dirty="0" smtClean="0"/>
              <a:t>But vendor should be worry about the consistent between data centers</a:t>
            </a:r>
          </a:p>
        </p:txBody>
      </p:sp>
      <p:pic>
        <p:nvPicPr>
          <p:cNvPr id="5" name="Picture 2" descr="C:\Users\cmj\Pictures\圖片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8640"/>
            <a:ext cx="1152128" cy="114981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Benefit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Centralization management	  increases the efficiency of management</a:t>
            </a:r>
          </a:p>
          <a:p>
            <a:pPr lvl="1"/>
            <a:r>
              <a:rPr lang="en-US" altLang="zh-TW" dirty="0" smtClean="0"/>
              <a:t>Vendor can hire the professional IT staff</a:t>
            </a:r>
          </a:p>
          <a:p>
            <a:pPr lvl="2"/>
            <a:r>
              <a:rPr lang="en-US" altLang="zh-TW" dirty="0" smtClean="0"/>
              <a:t>E.g. IBM’s security chief or Steve Jobs.</a:t>
            </a:r>
          </a:p>
          <a:p>
            <a:pPr lvl="1"/>
            <a:r>
              <a:rPr lang="en-US" altLang="zh-TW" dirty="0" smtClean="0"/>
              <a:t>Data center can increate the security, like buying an expensive and professional firewall </a:t>
            </a:r>
          </a:p>
          <a:p>
            <a:pPr lvl="1"/>
            <a:r>
              <a:rPr lang="en-US" altLang="zh-TW" dirty="0" smtClean="0"/>
              <a:t>Any failure in data center can be repaired on time</a:t>
            </a:r>
          </a:p>
          <a:p>
            <a:pPr lvl="1"/>
            <a:endParaRPr lang="zh-TW" altLang="en-US" dirty="0"/>
          </a:p>
        </p:txBody>
      </p:sp>
      <p:pic>
        <p:nvPicPr>
          <p:cNvPr id="5" name="Picture 2" descr="C:\Users\cmj\Pictures\圖片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8640"/>
            <a:ext cx="1152128" cy="114981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Properties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Benefit </a:t>
            </a:r>
          </a:p>
          <a:p>
            <a:r>
              <a:rPr lang="en-US" altLang="zh-TW" dirty="0" smtClean="0"/>
              <a:t>Accessibility </a:t>
            </a:r>
          </a:p>
          <a:p>
            <a:r>
              <a:rPr lang="en-US" altLang="zh-TW" dirty="0" smtClean="0"/>
              <a:t>Elasticity </a:t>
            </a:r>
          </a:p>
          <a:p>
            <a:r>
              <a:rPr lang="en-US" altLang="zh-TW" dirty="0" smtClean="0"/>
              <a:t>Manageability</a:t>
            </a:r>
          </a:p>
          <a:p>
            <a:r>
              <a:rPr lang="en-US" altLang="zh-TW" dirty="0" smtClean="0"/>
              <a:t>Reliability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Security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err="1" smtClean="0"/>
              <a:t>SaaS</a:t>
            </a:r>
            <a:r>
              <a:rPr lang="en-US" altLang="zh-TW" dirty="0" smtClean="0"/>
              <a:t> provides a group of </a:t>
            </a:r>
            <a:r>
              <a:rPr lang="en-US" altLang="zh-TW" dirty="0" err="1" smtClean="0"/>
              <a:t>servie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Most of services need to authenticate</a:t>
            </a:r>
          </a:p>
          <a:p>
            <a:pPr lvl="1"/>
            <a:r>
              <a:rPr lang="en-US" altLang="zh-TW" dirty="0" smtClean="0"/>
              <a:t>Service modules are integrated with each other</a:t>
            </a:r>
          </a:p>
          <a:p>
            <a:pPr lvl="1"/>
            <a:r>
              <a:rPr lang="en-US" altLang="zh-TW" dirty="0" smtClean="0"/>
              <a:t>Access level should be controlled</a:t>
            </a:r>
          </a:p>
          <a:p>
            <a:r>
              <a:rPr lang="en-US" altLang="zh-TW" dirty="0" smtClean="0"/>
              <a:t>In user view</a:t>
            </a:r>
          </a:p>
          <a:p>
            <a:pPr lvl="1"/>
            <a:r>
              <a:rPr lang="en-US" altLang="zh-TW" dirty="0" smtClean="0"/>
              <a:t>Login repeatedly is annoying</a:t>
            </a:r>
          </a:p>
          <a:p>
            <a:pPr lvl="1"/>
            <a:r>
              <a:rPr lang="en-US" altLang="zh-TW" dirty="0" smtClean="0"/>
              <a:t>Avoid falling into the phishing website</a:t>
            </a:r>
          </a:p>
          <a:p>
            <a:r>
              <a:rPr lang="en-US" altLang="zh-TW" dirty="0" smtClean="0"/>
              <a:t>In vendor view</a:t>
            </a:r>
          </a:p>
          <a:p>
            <a:pPr lvl="1"/>
            <a:r>
              <a:rPr lang="en-US" altLang="zh-TW" dirty="0" smtClean="0"/>
              <a:t>Carefully identify users</a:t>
            </a:r>
          </a:p>
          <a:p>
            <a:pPr lvl="1"/>
            <a:r>
              <a:rPr lang="en-US" altLang="zh-TW" dirty="0" smtClean="0"/>
              <a:t>Reduce security risks</a:t>
            </a:r>
          </a:p>
          <a:p>
            <a:pPr lvl="1"/>
            <a:endParaRPr lang="zh-TW" altLang="en-US" dirty="0"/>
          </a:p>
        </p:txBody>
      </p:sp>
      <p:pic>
        <p:nvPicPr>
          <p:cNvPr id="4098" name="Picture 2" descr="C:\Users\cmj\Pictures\圖片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8640"/>
            <a:ext cx="1185863" cy="11858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Authentication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err="1" smtClean="0"/>
              <a:t>SaaS</a:t>
            </a:r>
            <a:r>
              <a:rPr lang="en-US" altLang="zh-TW" dirty="0" smtClean="0"/>
              <a:t> provides two kinds of authentication that handle different scenarios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Many services in the same vendor</a:t>
            </a:r>
          </a:p>
          <a:p>
            <a:pPr lvl="1"/>
            <a:r>
              <a:rPr lang="en-US" altLang="zh-TW" dirty="0" smtClean="0"/>
              <a:t>One authentication can access all of services in the same domain.</a:t>
            </a:r>
          </a:p>
          <a:p>
            <a:pPr lvl="1"/>
            <a:r>
              <a:rPr lang="en-US" altLang="zh-TW" dirty="0" smtClean="0"/>
              <a:t>Unified manage the account permissions</a:t>
            </a:r>
          </a:p>
          <a:p>
            <a:r>
              <a:rPr lang="en-US" altLang="zh-TW" dirty="0" smtClean="0"/>
              <a:t>Many services in different vendors</a:t>
            </a:r>
          </a:p>
          <a:p>
            <a:pPr lvl="1"/>
            <a:r>
              <a:rPr lang="en-US" altLang="zh-TW" dirty="0" smtClean="0"/>
              <a:t>The impartial third-part responses the authentication</a:t>
            </a:r>
          </a:p>
          <a:p>
            <a:pPr lvl="1"/>
            <a:r>
              <a:rPr lang="en-US" altLang="zh-TW" dirty="0" smtClean="0"/>
              <a:t>Reduce the probability of collisions account</a:t>
            </a:r>
            <a:endParaRPr lang="zh-TW" altLang="en-US" dirty="0"/>
          </a:p>
        </p:txBody>
      </p:sp>
      <p:pic>
        <p:nvPicPr>
          <p:cNvPr id="4" name="Picture 2" descr="C:\Users\cmj\Pictures\圖片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8640"/>
            <a:ext cx="1185863" cy="11858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Advantage 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User </a:t>
            </a:r>
          </a:p>
          <a:p>
            <a:pPr lvl="1"/>
            <a:r>
              <a:rPr lang="en-US" altLang="zh-TW" dirty="0" smtClean="0"/>
              <a:t>Avoid to remember lots of user account and password</a:t>
            </a:r>
          </a:p>
          <a:p>
            <a:pPr lvl="1"/>
            <a:r>
              <a:rPr lang="en-US" altLang="zh-TW" dirty="0" smtClean="0"/>
              <a:t>Avoid to fall into the phishing website</a:t>
            </a:r>
          </a:p>
          <a:p>
            <a:pPr lvl="1"/>
            <a:r>
              <a:rPr lang="en-US" altLang="zh-TW" dirty="0" smtClean="0"/>
              <a:t>Increase the </a:t>
            </a:r>
            <a:r>
              <a:rPr lang="en-US" altLang="zh-TW" smtClean="0"/>
              <a:t>security factor</a:t>
            </a:r>
            <a:endParaRPr lang="en-US" altLang="zh-TW" dirty="0" smtClean="0"/>
          </a:p>
          <a:p>
            <a:r>
              <a:rPr lang="en-US" altLang="zh-TW" dirty="0" smtClean="0"/>
              <a:t>Vendor </a:t>
            </a:r>
          </a:p>
          <a:p>
            <a:pPr lvl="1"/>
            <a:r>
              <a:rPr lang="en-US" altLang="zh-TW" dirty="0" smtClean="0"/>
              <a:t>Easy to manage the user’s privacy data.</a:t>
            </a:r>
          </a:p>
          <a:p>
            <a:pPr lvl="1"/>
            <a:r>
              <a:rPr lang="en-US" altLang="zh-TW" dirty="0" smtClean="0"/>
              <a:t>Reduce extra authentication center.</a:t>
            </a:r>
          </a:p>
          <a:p>
            <a:pPr lvl="1"/>
            <a:r>
              <a:rPr lang="en-US" altLang="zh-TW" dirty="0" smtClean="0"/>
              <a:t>Reduce legal liability.</a:t>
            </a:r>
            <a:endParaRPr lang="zh-TW" altLang="en-US" dirty="0"/>
          </a:p>
        </p:txBody>
      </p:sp>
      <p:pic>
        <p:nvPicPr>
          <p:cNvPr id="4" name="Picture 2" descr="C:\Users\cmj\Pictures\圖片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8640"/>
            <a:ext cx="1185863" cy="11858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Technique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Overview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SaaS</a:t>
            </a:r>
            <a:r>
              <a:rPr lang="en-US" altLang="zh-TW" dirty="0" smtClean="0"/>
              <a:t> is a collection of lots of technology</a:t>
            </a:r>
          </a:p>
          <a:p>
            <a:pPr lvl="1"/>
            <a:r>
              <a:rPr lang="en-US" altLang="zh-TW" dirty="0" smtClean="0"/>
              <a:t>Platform</a:t>
            </a:r>
          </a:p>
          <a:p>
            <a:pPr lvl="1"/>
            <a:r>
              <a:rPr lang="en-US" altLang="zh-TW" dirty="0" smtClean="0"/>
              <a:t>Service layer </a:t>
            </a:r>
          </a:p>
          <a:p>
            <a:pPr lvl="1"/>
            <a:r>
              <a:rPr lang="en-US" altLang="zh-TW" dirty="0" smtClean="0"/>
              <a:t>User interface</a:t>
            </a:r>
          </a:p>
          <a:p>
            <a:pPr lvl="1"/>
            <a:endParaRPr lang="zh-TW" altLang="en-US" dirty="0"/>
          </a:p>
        </p:txBody>
      </p:sp>
      <p:pic>
        <p:nvPicPr>
          <p:cNvPr id="8" name="Picture 2" descr="C:\Users\cmj\Pictures\SaaS.png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912" y="2406538"/>
            <a:ext cx="5118720" cy="41629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Overview (cont.)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Platform </a:t>
            </a:r>
          </a:p>
          <a:p>
            <a:pPr lvl="1"/>
            <a:r>
              <a:rPr lang="en-US" altLang="zh-TW" dirty="0" smtClean="0"/>
              <a:t>Traditional or cloud platform that provides runtime environment</a:t>
            </a:r>
          </a:p>
          <a:p>
            <a:r>
              <a:rPr lang="en-US" altLang="zh-TW" dirty="0" smtClean="0"/>
              <a:t>Service layer</a:t>
            </a:r>
          </a:p>
          <a:p>
            <a:pPr lvl="1"/>
            <a:r>
              <a:rPr lang="en-US" altLang="zh-TW" dirty="0" smtClean="0"/>
              <a:t>Communicates or integrates between services</a:t>
            </a:r>
          </a:p>
          <a:p>
            <a:pPr lvl="1"/>
            <a:r>
              <a:rPr lang="en-US" altLang="zh-TW" dirty="0" smtClean="0"/>
              <a:t>Provides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 properties</a:t>
            </a:r>
          </a:p>
          <a:p>
            <a:r>
              <a:rPr lang="en-US" altLang="zh-TW" dirty="0" smtClean="0"/>
              <a:t>User interface</a:t>
            </a:r>
          </a:p>
          <a:p>
            <a:pPr lvl="1"/>
            <a:r>
              <a:rPr lang="en-US" altLang="zh-TW" dirty="0" smtClean="0"/>
              <a:t>Supplies an interesting and interactive interface</a:t>
            </a:r>
          </a:p>
          <a:p>
            <a:pPr lvl="1"/>
            <a:r>
              <a:rPr lang="en-US" altLang="zh-TW" dirty="0" smtClean="0"/>
              <a:t>Reduce the difficult to use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755576" y="1628800"/>
            <a:ext cx="7416824" cy="12961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6516216" y="2924944"/>
            <a:ext cx="147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solidFill>
                  <a:srgbClr val="C00000"/>
                </a:solidFill>
              </a:rPr>
              <a:t>PaaS</a:t>
            </a:r>
            <a:r>
              <a:rPr lang="en-US" altLang="zh-TW" sz="2000" b="1" dirty="0" smtClean="0">
                <a:solidFill>
                  <a:srgbClr val="C00000"/>
                </a:solidFill>
              </a:rPr>
              <a:t> or </a:t>
            </a:r>
            <a:r>
              <a:rPr lang="en-US" altLang="zh-TW" sz="2000" b="1" dirty="0" err="1" smtClean="0">
                <a:solidFill>
                  <a:srgbClr val="C00000"/>
                </a:solidFill>
              </a:rPr>
              <a:t>IaaS</a:t>
            </a:r>
            <a:endParaRPr lang="zh-TW" altLang="en-US" sz="2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Service Layer </a:t>
            </a:r>
            <a:endParaRPr lang="zh-TW" altLang="en-US" dirty="0"/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Service layer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Service layer provides many service concepts</a:t>
            </a:r>
          </a:p>
          <a:p>
            <a:pPr lvl="1"/>
            <a:r>
              <a:rPr lang="en-US" altLang="zh-TW" dirty="0" smtClean="0"/>
              <a:t>How to reduce the development time and cost?</a:t>
            </a:r>
          </a:p>
          <a:p>
            <a:pPr lvl="1"/>
            <a:r>
              <a:rPr lang="en-US" altLang="zh-TW" dirty="0" smtClean="0"/>
              <a:t>How to combine or integrate services and companies?</a:t>
            </a:r>
          </a:p>
          <a:p>
            <a:pPr lvl="1"/>
            <a:r>
              <a:rPr lang="en-US" altLang="zh-TW" dirty="0" smtClean="0"/>
              <a:t>How to handle the access control?</a:t>
            </a:r>
          </a:p>
          <a:p>
            <a:pPr lvl="1"/>
            <a:r>
              <a:rPr lang="en-US" altLang="zh-TW" dirty="0" smtClean="0"/>
              <a:t>…etc</a:t>
            </a:r>
          </a:p>
        </p:txBody>
      </p:sp>
      <p:pic>
        <p:nvPicPr>
          <p:cNvPr id="6146" name="Picture 2" descr="C:\Users\cmj\Pictures\圖片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3501008"/>
            <a:ext cx="3914079" cy="318383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Service Layer </a:t>
            </a:r>
            <a:endParaRPr lang="zh-TW" altLang="en-US" dirty="0"/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SOA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Web Service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Other service: standard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Scenario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company wants to design and develop a new web service</a:t>
            </a:r>
          </a:p>
          <a:p>
            <a:pPr lvl="1"/>
            <a:r>
              <a:rPr lang="en-US" altLang="zh-TW" dirty="0" smtClean="0"/>
              <a:t>There are many subprojects</a:t>
            </a:r>
            <a:r>
              <a:rPr lang="zh-TW" altLang="en-US" dirty="0" smtClean="0"/>
              <a:t> </a:t>
            </a:r>
            <a:r>
              <a:rPr lang="en-US" altLang="zh-TW" dirty="0" smtClean="0"/>
              <a:t>which could collaborate with each other.</a:t>
            </a:r>
          </a:p>
          <a:p>
            <a:pPr lvl="1"/>
            <a:r>
              <a:rPr lang="en-US" altLang="zh-TW" dirty="0" smtClean="0"/>
              <a:t>One or few members responses a subproject.</a:t>
            </a:r>
          </a:p>
          <a:p>
            <a:pPr lvl="1"/>
            <a:r>
              <a:rPr lang="en-US" altLang="zh-TW" dirty="0" smtClean="0"/>
              <a:t>Only few months of development time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4221088"/>
            <a:ext cx="3419872" cy="2564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SOA (Service-oriented architecture)  is a concept that is used for reducing the cost of money, human resource and development time</a:t>
            </a:r>
          </a:p>
          <a:p>
            <a:pPr lvl="1"/>
            <a:r>
              <a:rPr lang="en-US" altLang="zh-TW" dirty="0" smtClean="0"/>
              <a:t>Reuse the completed services</a:t>
            </a:r>
          </a:p>
          <a:p>
            <a:pPr lvl="1"/>
            <a:r>
              <a:rPr lang="en-US" altLang="zh-TW" dirty="0" smtClean="0"/>
              <a:t>Open and standard interface</a:t>
            </a:r>
          </a:p>
          <a:p>
            <a:pPr lvl="1"/>
            <a:r>
              <a:rPr lang="en-US" altLang="zh-TW" dirty="0" smtClean="0"/>
              <a:t>Service abstract</a:t>
            </a:r>
          </a:p>
          <a:p>
            <a:pPr lvl="1"/>
            <a:r>
              <a:rPr lang="en-US" altLang="zh-TW" dirty="0" smtClean="0"/>
              <a:t>Loosely coupled</a:t>
            </a:r>
          </a:p>
          <a:p>
            <a:pPr lvl="1"/>
            <a:r>
              <a:rPr lang="en-US" altLang="zh-TW" dirty="0" smtClean="0"/>
              <a:t>…etc</a:t>
            </a:r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  <p:pic>
        <p:nvPicPr>
          <p:cNvPr id="11266" name="Picture 2" descr="D:\Slide\Graph\ma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6256" y="5965452"/>
            <a:ext cx="546784" cy="631900"/>
          </a:xfrm>
          <a:prstGeom prst="rect">
            <a:avLst/>
          </a:prstGeom>
          <a:noFill/>
        </p:spPr>
      </p:pic>
      <p:sp>
        <p:nvSpPr>
          <p:cNvPr id="7" name="橢圓 6"/>
          <p:cNvSpPr/>
          <p:nvPr/>
        </p:nvSpPr>
        <p:spPr>
          <a:xfrm>
            <a:off x="5868144" y="5389388"/>
            <a:ext cx="1368152" cy="432048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service</a:t>
            </a:r>
            <a:endParaRPr lang="zh-TW" altLang="en-US" dirty="0"/>
          </a:p>
        </p:txBody>
      </p:sp>
      <p:sp>
        <p:nvSpPr>
          <p:cNvPr id="18" name="圓角矩形 17"/>
          <p:cNvSpPr/>
          <p:nvPr/>
        </p:nvSpPr>
        <p:spPr>
          <a:xfrm>
            <a:off x="5724128" y="3157140"/>
            <a:ext cx="1224136" cy="432048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service</a:t>
            </a:r>
            <a:endParaRPr lang="zh-TW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圓角矩形 18"/>
          <p:cNvSpPr/>
          <p:nvPr/>
        </p:nvSpPr>
        <p:spPr>
          <a:xfrm>
            <a:off x="6516216" y="4165252"/>
            <a:ext cx="1152128" cy="432048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service</a:t>
            </a:r>
            <a:endParaRPr lang="zh-TW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圓角矩形 19"/>
          <p:cNvSpPr/>
          <p:nvPr/>
        </p:nvSpPr>
        <p:spPr>
          <a:xfrm>
            <a:off x="7668344" y="3229148"/>
            <a:ext cx="1152128" cy="432048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service</a:t>
            </a:r>
            <a:endParaRPr lang="zh-TW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圓角矩形 20"/>
          <p:cNvSpPr/>
          <p:nvPr/>
        </p:nvSpPr>
        <p:spPr>
          <a:xfrm>
            <a:off x="5724128" y="4741316"/>
            <a:ext cx="1152128" cy="432048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service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22" name="圓角矩形 21"/>
          <p:cNvSpPr/>
          <p:nvPr/>
        </p:nvSpPr>
        <p:spPr>
          <a:xfrm>
            <a:off x="4644008" y="4093244"/>
            <a:ext cx="1152128" cy="432048"/>
          </a:xfrm>
          <a:prstGeom prst="roundRect">
            <a:avLst/>
          </a:prstGeom>
          <a:solidFill>
            <a:schemeClr val="tx2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service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26" name="直線接點 25"/>
          <p:cNvCxnSpPr>
            <a:stCxn id="19" idx="0"/>
            <a:endCxn id="18" idx="2"/>
          </p:cNvCxnSpPr>
          <p:nvPr/>
        </p:nvCxnSpPr>
        <p:spPr>
          <a:xfrm rot="16200000" flipV="1">
            <a:off x="6426206" y="3499178"/>
            <a:ext cx="576064" cy="7560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/>
          <p:cNvCxnSpPr>
            <a:stCxn id="19" idx="3"/>
            <a:endCxn id="20" idx="2"/>
          </p:cNvCxnSpPr>
          <p:nvPr/>
        </p:nvCxnSpPr>
        <p:spPr>
          <a:xfrm flipV="1">
            <a:off x="7668344" y="3661196"/>
            <a:ext cx="576064" cy="7200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18" idx="3"/>
            <a:endCxn id="20" idx="1"/>
          </p:cNvCxnSpPr>
          <p:nvPr/>
        </p:nvCxnSpPr>
        <p:spPr>
          <a:xfrm>
            <a:off x="6948264" y="3373164"/>
            <a:ext cx="720080" cy="720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21" idx="3"/>
            <a:endCxn id="19" idx="2"/>
          </p:cNvCxnSpPr>
          <p:nvPr/>
        </p:nvCxnSpPr>
        <p:spPr>
          <a:xfrm flipV="1">
            <a:off x="6876256" y="4597300"/>
            <a:ext cx="216024" cy="3600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21" idx="1"/>
            <a:endCxn id="22" idx="2"/>
          </p:cNvCxnSpPr>
          <p:nvPr/>
        </p:nvCxnSpPr>
        <p:spPr>
          <a:xfrm rot="10800000">
            <a:off x="5220072" y="4525292"/>
            <a:ext cx="504056" cy="4320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21" idx="2"/>
            <a:endCxn id="7" idx="0"/>
          </p:cNvCxnSpPr>
          <p:nvPr/>
        </p:nvCxnSpPr>
        <p:spPr>
          <a:xfrm rot="16200000" flipH="1">
            <a:off x="6318194" y="5155362"/>
            <a:ext cx="216024" cy="2520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11266" idx="1"/>
            <a:endCxn id="7" idx="4"/>
          </p:cNvCxnSpPr>
          <p:nvPr/>
        </p:nvCxnSpPr>
        <p:spPr>
          <a:xfrm rot="10800000">
            <a:off x="6552220" y="5821436"/>
            <a:ext cx="324036" cy="4599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Concept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Reuse each service</a:t>
            </a:r>
          </a:p>
          <a:p>
            <a:pPr lvl="1"/>
            <a:r>
              <a:rPr lang="en-US" altLang="zh-TW" dirty="0" smtClean="0"/>
              <a:t>Theoretically, each service can be reused every time.</a:t>
            </a:r>
          </a:p>
          <a:p>
            <a:pPr lvl="1"/>
            <a:r>
              <a:rPr lang="en-US" altLang="zh-TW" dirty="0" smtClean="0"/>
              <a:t>When designing a new project, just need to implement the new features.</a:t>
            </a:r>
          </a:p>
          <a:p>
            <a:r>
              <a:rPr lang="en-US" altLang="zh-TW" dirty="0" smtClean="0"/>
              <a:t>Open and standard interface </a:t>
            </a:r>
          </a:p>
          <a:p>
            <a:pPr lvl="1"/>
            <a:r>
              <a:rPr lang="en-US" altLang="zh-TW" dirty="0" smtClean="0"/>
              <a:t>Using the same interface (like REST, SOAP, RPC…etc) can easier to integrate, communicate and cross platform.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Concept 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Service abstract</a:t>
            </a:r>
          </a:p>
          <a:p>
            <a:pPr lvl="1"/>
            <a:r>
              <a:rPr lang="en-US" altLang="zh-TW" dirty="0" smtClean="0"/>
              <a:t>User only need to know how to use.</a:t>
            </a:r>
          </a:p>
          <a:p>
            <a:pPr lvl="1"/>
            <a:r>
              <a:rPr lang="en-US" altLang="zh-TW" dirty="0" smtClean="0"/>
              <a:t>Hiding the redundant information, user can use service easily with few necessary data.</a:t>
            </a:r>
          </a:p>
          <a:p>
            <a:r>
              <a:rPr lang="en-US" altLang="zh-TW" dirty="0" smtClean="0"/>
              <a:t>Loosely coupled</a:t>
            </a:r>
          </a:p>
          <a:p>
            <a:pPr lvl="1"/>
            <a:r>
              <a:rPr lang="en-US" altLang="zh-TW" dirty="0" smtClean="0"/>
              <a:t>One service module has little or no knowledge of the definitions of other module.</a:t>
            </a:r>
          </a:p>
          <a:p>
            <a:pPr lvl="1"/>
            <a:r>
              <a:rPr lang="en-US" altLang="zh-TW" dirty="0" smtClean="0"/>
              <a:t>Easy to update or patch without notifying other module.</a:t>
            </a:r>
          </a:p>
          <a:p>
            <a:r>
              <a:rPr lang="en-US" altLang="zh-TW" dirty="0" smtClean="0"/>
              <a:t>Stateless </a:t>
            </a:r>
          </a:p>
          <a:p>
            <a:pPr lvl="1"/>
            <a:r>
              <a:rPr lang="en-US" altLang="zh-TW" dirty="0" smtClean="0"/>
              <a:t>Server needs not to recode the user’s status.</a:t>
            </a:r>
          </a:p>
          <a:p>
            <a:pPr lvl="1"/>
            <a:r>
              <a:rPr lang="en-US" altLang="zh-TW" dirty="0" smtClean="0"/>
              <a:t>User send request with status that would be more flexibility on using service.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Tradeoff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But overuse these concept would limit the usage of service</a:t>
            </a:r>
          </a:p>
          <a:p>
            <a:pPr lvl="1"/>
            <a:r>
              <a:rPr lang="en-US" altLang="zh-TW" dirty="0" smtClean="0"/>
              <a:t>Highly abstraction lead to service module cannot be used intuitively.</a:t>
            </a:r>
          </a:p>
          <a:p>
            <a:pPr lvl="1"/>
            <a:r>
              <a:rPr lang="en-US" altLang="zh-TW" dirty="0" smtClean="0"/>
              <a:t>Loosely coupled lead to need extra information used in communication.</a:t>
            </a:r>
          </a:p>
          <a:p>
            <a:pPr lvl="1"/>
            <a:r>
              <a:rPr lang="en-US" altLang="zh-TW" dirty="0" smtClean="0"/>
              <a:t>Stateless lead to send large extra data, it would decrease performance.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Service Layer </a:t>
            </a:r>
            <a:endParaRPr lang="zh-TW" altLang="en-US" dirty="0"/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SOA</a:t>
            </a:r>
          </a:p>
          <a:p>
            <a:r>
              <a:rPr lang="en-US" altLang="zh-TW" dirty="0" smtClean="0"/>
              <a:t>Web Service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Other service: standard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Scenario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Service modules may not in the same machine</a:t>
            </a:r>
          </a:p>
          <a:p>
            <a:pPr lvl="1"/>
            <a:r>
              <a:rPr lang="en-US" altLang="zh-TW" dirty="0" smtClean="0"/>
              <a:t>In the same rack.</a:t>
            </a:r>
          </a:p>
          <a:p>
            <a:pPr lvl="1"/>
            <a:r>
              <a:rPr lang="en-US" altLang="zh-TW" dirty="0" smtClean="0"/>
              <a:t>In the same cluster.</a:t>
            </a:r>
          </a:p>
          <a:p>
            <a:pPr lvl="1"/>
            <a:r>
              <a:rPr lang="en-US" altLang="zh-TW" dirty="0" smtClean="0"/>
              <a:t>…etc.</a:t>
            </a:r>
          </a:p>
          <a:p>
            <a:r>
              <a:rPr lang="en-US" altLang="zh-TW" dirty="0" smtClean="0"/>
              <a:t>Communication between services is important</a:t>
            </a:r>
          </a:p>
          <a:p>
            <a:pPr lvl="1"/>
            <a:r>
              <a:rPr lang="en-US" altLang="zh-TW" dirty="0" smtClean="0"/>
              <a:t>Describe the service</a:t>
            </a:r>
          </a:p>
          <a:p>
            <a:pPr lvl="1"/>
            <a:r>
              <a:rPr lang="en-US" altLang="zh-TW" dirty="0" smtClean="0"/>
              <a:t>Deliver the service</a:t>
            </a:r>
          </a:p>
          <a:p>
            <a:pPr lvl="1"/>
            <a:r>
              <a:rPr lang="en-US" altLang="zh-TW" dirty="0" smtClean="0"/>
              <a:t>Publicize the service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 service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Web service is a service that responses the users’ requests</a:t>
            </a:r>
            <a:r>
              <a:rPr lang="zh-TW" altLang="en-US" dirty="0" smtClean="0"/>
              <a:t> </a:t>
            </a:r>
            <a:r>
              <a:rPr lang="en-US" altLang="zh-TW" dirty="0" smtClean="0"/>
              <a:t>by </a:t>
            </a:r>
          </a:p>
          <a:p>
            <a:pPr lvl="1"/>
            <a:r>
              <a:rPr lang="en-US" altLang="zh-TW" dirty="0" smtClean="0"/>
              <a:t>Using Internet technique</a:t>
            </a:r>
          </a:p>
          <a:p>
            <a:pPr lvl="1"/>
            <a:r>
              <a:rPr lang="en-US" altLang="zh-TW" dirty="0" smtClean="0"/>
              <a:t>Crossing different platforms</a:t>
            </a:r>
          </a:p>
          <a:p>
            <a:pPr lvl="1"/>
            <a:r>
              <a:rPr lang="en-US" altLang="zh-TW" dirty="0" smtClean="0"/>
              <a:t>Interacting, integrating and communicating with other services.</a:t>
            </a:r>
          </a:p>
          <a:p>
            <a:r>
              <a:rPr lang="en-US" altLang="zh-TW" dirty="0" smtClean="0"/>
              <a:t>The core concept of the web service</a:t>
            </a:r>
          </a:p>
          <a:p>
            <a:pPr lvl="1"/>
            <a:r>
              <a:rPr lang="en-US" altLang="zh-TW" dirty="0" smtClean="0"/>
              <a:t>Reuse the service</a:t>
            </a:r>
          </a:p>
          <a:p>
            <a:pPr lvl="1"/>
            <a:r>
              <a:rPr lang="en-US" altLang="zh-TW" dirty="0" smtClean="0"/>
              <a:t>Flexibility to integrate with other service</a:t>
            </a:r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Web-based Service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Web-based service is a service provided by web interface</a:t>
            </a:r>
          </a:p>
          <a:p>
            <a:pPr lvl="1"/>
            <a:r>
              <a:rPr lang="en-US" altLang="zh-TW" dirty="0" smtClean="0"/>
              <a:t>May or may not interactive with other web sites.</a:t>
            </a:r>
          </a:p>
          <a:p>
            <a:pPr lvl="1"/>
            <a:r>
              <a:rPr lang="en-US" altLang="zh-TW" dirty="0" smtClean="0"/>
              <a:t>May or may not provide their service. </a:t>
            </a:r>
          </a:p>
          <a:p>
            <a:r>
              <a:rPr lang="en-US" altLang="zh-TW" dirty="0" smtClean="0"/>
              <a:t>The benefit of web-based service</a:t>
            </a:r>
          </a:p>
          <a:p>
            <a:pPr lvl="1"/>
            <a:r>
              <a:rPr lang="en-US" altLang="zh-TW" dirty="0" smtClean="0"/>
              <a:t>Cross platform – you can access the service by the browser.</a:t>
            </a:r>
          </a:p>
          <a:p>
            <a:pPr lvl="1"/>
            <a:r>
              <a:rPr lang="en-US" altLang="zh-TW" dirty="0" smtClean="0"/>
              <a:t>Anywhere and anytime – in any place where you can connect to Internet.</a:t>
            </a:r>
          </a:p>
        </p:txBody>
      </p:sp>
      <p:sp>
        <p:nvSpPr>
          <p:cNvPr id="4" name="矩形 3"/>
          <p:cNvSpPr/>
          <p:nvPr/>
        </p:nvSpPr>
        <p:spPr>
          <a:xfrm rot="999455">
            <a:off x="1559928" y="2967335"/>
            <a:ext cx="602415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altLang="zh-TW" sz="8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≠Web Service</a:t>
            </a:r>
            <a:endParaRPr lang="zh-TW" altLang="en-US" sz="80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Why we need Web Service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Time</a:t>
            </a:r>
          </a:p>
          <a:p>
            <a:pPr lvl="1"/>
            <a:r>
              <a:rPr lang="en-US" altLang="zh-TW" dirty="0" smtClean="0"/>
              <a:t>The faster we provide service, the easier we get the money.</a:t>
            </a:r>
          </a:p>
          <a:p>
            <a:r>
              <a:rPr lang="en-US" altLang="zh-TW" dirty="0" smtClean="0"/>
              <a:t>Cost</a:t>
            </a:r>
          </a:p>
          <a:p>
            <a:pPr lvl="1"/>
            <a:r>
              <a:rPr lang="en-US" altLang="zh-TW" dirty="0" smtClean="0"/>
              <a:t>Reusing the service can reduce the R&amp;D costs.</a:t>
            </a:r>
          </a:p>
          <a:p>
            <a:r>
              <a:rPr lang="en-US" altLang="zh-TW" dirty="0" smtClean="0"/>
              <a:t>Flexibility </a:t>
            </a:r>
          </a:p>
          <a:p>
            <a:pPr lvl="1"/>
            <a:r>
              <a:rPr lang="en-US" altLang="zh-TW" dirty="0" smtClean="0"/>
              <a:t>Integration of services can supply more comprehensive services.</a:t>
            </a:r>
          </a:p>
          <a:p>
            <a:pPr>
              <a:buNone/>
            </a:pP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Triangle 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TW" dirty="0" smtClean="0"/>
              <a:t>Web service cloud be separate into three basic parts</a:t>
            </a:r>
          </a:p>
          <a:p>
            <a:pPr lvl="1"/>
            <a:r>
              <a:rPr lang="en-US" altLang="zh-TW" dirty="0" smtClean="0"/>
              <a:t>WSDL</a:t>
            </a:r>
          </a:p>
          <a:p>
            <a:pPr lvl="2"/>
            <a:r>
              <a:rPr lang="en-US" altLang="zh-TW" dirty="0" smtClean="0"/>
              <a:t>The description of web service, include the service name, functionality, company’s name, using method…etc.</a:t>
            </a:r>
          </a:p>
          <a:p>
            <a:pPr lvl="1"/>
            <a:r>
              <a:rPr lang="en-US" altLang="zh-TW" dirty="0" smtClean="0"/>
              <a:t>SOAP</a:t>
            </a:r>
          </a:p>
          <a:p>
            <a:pPr lvl="2"/>
            <a:r>
              <a:rPr lang="en-US" altLang="zh-TW" dirty="0" smtClean="0"/>
              <a:t>The method used to exchange messages between two nodes.</a:t>
            </a:r>
          </a:p>
          <a:p>
            <a:pPr lvl="1"/>
            <a:r>
              <a:rPr lang="en-US" altLang="zh-TW" dirty="0" smtClean="0"/>
              <a:t>UDDI</a:t>
            </a:r>
          </a:p>
          <a:p>
            <a:pPr lvl="2"/>
            <a:r>
              <a:rPr lang="en-US" altLang="zh-TW" dirty="0" smtClean="0"/>
              <a:t>A register center which can collection, integration and discovery web service.</a:t>
            </a:r>
            <a:endParaRPr lang="zh-TW" altLang="en-US" dirty="0"/>
          </a:p>
        </p:txBody>
      </p:sp>
      <p:pic>
        <p:nvPicPr>
          <p:cNvPr id="1026" name="Picture 2" descr="C:\Users\cmj\Pictures\圖片2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686229"/>
            <a:ext cx="4038600" cy="235390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 service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WSDL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SOAP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UDDI</a:t>
            </a:r>
          </a:p>
        </p:txBody>
      </p:sp>
      <p:pic>
        <p:nvPicPr>
          <p:cNvPr id="7170" name="Picture 2" descr="C:\Users\cmj\Pictures\圖片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7" y="548680"/>
            <a:ext cx="3806527" cy="30963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WSDL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Web service distribution language (WSDL) is an XML file that distributes the web service, include</a:t>
            </a:r>
          </a:p>
          <a:p>
            <a:pPr lvl="1"/>
            <a:r>
              <a:rPr lang="en-US" altLang="zh-TW" dirty="0" smtClean="0"/>
              <a:t>service information</a:t>
            </a:r>
          </a:p>
          <a:p>
            <a:pPr lvl="1"/>
            <a:r>
              <a:rPr lang="en-US" altLang="zh-TW" dirty="0" smtClean="0"/>
              <a:t>abstractive operations</a:t>
            </a:r>
          </a:p>
          <a:p>
            <a:pPr lvl="1"/>
            <a:r>
              <a:rPr lang="en-US" altLang="zh-TW" dirty="0" smtClean="0"/>
              <a:t>communication types</a:t>
            </a:r>
          </a:p>
          <a:p>
            <a:pPr lvl="1"/>
            <a:r>
              <a:rPr lang="en-US" altLang="zh-TW" dirty="0" smtClean="0"/>
              <a:t>other information that can improve the effective of exchange the service.</a:t>
            </a:r>
          </a:p>
          <a:p>
            <a:r>
              <a:rPr lang="en-US" altLang="zh-TW" dirty="0" smtClean="0"/>
              <a:t>The host can know the web service by analysis the WSDL file.</a:t>
            </a:r>
            <a:endParaRPr lang="en-US" altLang="zh-TW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Property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WSDL has four advantage on exchange the web service information</a:t>
            </a:r>
          </a:p>
          <a:p>
            <a:pPr lvl="1"/>
            <a:r>
              <a:rPr lang="en-US" altLang="zh-TW" dirty="0" smtClean="0"/>
              <a:t>Service abstract </a:t>
            </a:r>
          </a:p>
          <a:p>
            <a:pPr lvl="1"/>
            <a:r>
              <a:rPr lang="en-US" altLang="zh-TW" dirty="0" smtClean="0"/>
              <a:t>Cross platform</a:t>
            </a:r>
          </a:p>
          <a:p>
            <a:pPr lvl="1"/>
            <a:r>
              <a:rPr lang="en-US" altLang="zh-TW" dirty="0" smtClean="0"/>
              <a:t>Automatic </a:t>
            </a:r>
          </a:p>
          <a:p>
            <a:pPr lvl="1"/>
            <a:r>
              <a:rPr lang="en-US" altLang="zh-TW" dirty="0" smtClean="0"/>
              <a:t>Remote 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Property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Service abstract </a:t>
            </a:r>
          </a:p>
          <a:p>
            <a:pPr lvl="1"/>
            <a:r>
              <a:rPr lang="en-US" altLang="zh-TW" dirty="0" smtClean="0"/>
              <a:t>User can access the service without knowing the service’s operation logic.</a:t>
            </a:r>
          </a:p>
          <a:p>
            <a:pPr lvl="1"/>
            <a:r>
              <a:rPr lang="en-US" altLang="zh-TW" dirty="0" smtClean="0"/>
              <a:t>Providers can update or patch service without notifying the user.</a:t>
            </a:r>
          </a:p>
          <a:p>
            <a:r>
              <a:rPr lang="en-US" altLang="zh-TW" dirty="0" smtClean="0"/>
              <a:t>Cross platform</a:t>
            </a:r>
          </a:p>
          <a:p>
            <a:pPr lvl="1"/>
            <a:r>
              <a:rPr lang="en-US" altLang="zh-TW" dirty="0" smtClean="0"/>
              <a:t>WSDL uses the XML file to distribute service which can be used in any platform.</a:t>
            </a:r>
          </a:p>
          <a:p>
            <a:pPr lvl="1"/>
            <a:r>
              <a:rPr lang="en-US" altLang="zh-TW" dirty="0" smtClean="0"/>
              <a:t>XML is independent on platform, OS and programming language.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Property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Automatic </a:t>
            </a:r>
          </a:p>
          <a:p>
            <a:pPr lvl="1"/>
            <a:r>
              <a:rPr lang="en-US" altLang="zh-TW" dirty="0" smtClean="0"/>
              <a:t>There are many tools can generate or decode the XML file.</a:t>
            </a:r>
          </a:p>
          <a:p>
            <a:pPr lvl="1"/>
            <a:r>
              <a:rPr lang="en-US" altLang="zh-TW" dirty="0" smtClean="0"/>
              <a:t>Reduce the cost and human resource on producing the WSDL file.</a:t>
            </a:r>
          </a:p>
          <a:p>
            <a:r>
              <a:rPr lang="en-US" altLang="zh-TW" dirty="0" smtClean="0"/>
              <a:t>Remote </a:t>
            </a:r>
          </a:p>
          <a:p>
            <a:pPr lvl="1"/>
            <a:r>
              <a:rPr lang="en-US" altLang="zh-TW" dirty="0" smtClean="0"/>
              <a:t>By connecting to Internet and getting the correct mode of operation, user can access and call the service anywhere and anytime.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Four elements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WSDL has four basic elements for distributing the service</a:t>
            </a:r>
          </a:p>
          <a:p>
            <a:pPr lvl="1"/>
            <a:r>
              <a:rPr lang="en-US" altLang="zh-TW" dirty="0" smtClean="0"/>
              <a:t>Type</a:t>
            </a:r>
          </a:p>
          <a:p>
            <a:pPr lvl="2"/>
            <a:r>
              <a:rPr lang="en-US" altLang="zh-TW" dirty="0" smtClean="0"/>
              <a:t>data structure of web service information.</a:t>
            </a:r>
          </a:p>
          <a:p>
            <a:pPr lvl="1"/>
            <a:r>
              <a:rPr lang="en-US" altLang="zh-TW" dirty="0" smtClean="0"/>
              <a:t>Message</a:t>
            </a:r>
          </a:p>
          <a:p>
            <a:pPr lvl="2"/>
            <a:r>
              <a:rPr lang="en-US" altLang="zh-TW" dirty="0" smtClean="0"/>
              <a:t>the parameter of exchanging message.</a:t>
            </a:r>
          </a:p>
          <a:p>
            <a:pPr lvl="1"/>
            <a:r>
              <a:rPr lang="en-US" altLang="zh-TW" dirty="0" smtClean="0"/>
              <a:t>Binding </a:t>
            </a:r>
          </a:p>
          <a:p>
            <a:pPr lvl="2"/>
            <a:r>
              <a:rPr lang="en-US" altLang="zh-TW" dirty="0" smtClean="0"/>
              <a:t>The network protocol using on communication.</a:t>
            </a:r>
          </a:p>
          <a:p>
            <a:pPr lvl="1"/>
            <a:r>
              <a:rPr lang="en-US" altLang="zh-TW" dirty="0" err="1" smtClean="0"/>
              <a:t>PortType</a:t>
            </a:r>
            <a:r>
              <a:rPr lang="en-US" altLang="zh-TW" dirty="0" smtClean="0"/>
              <a:t> </a:t>
            </a:r>
          </a:p>
          <a:p>
            <a:pPr lvl="2"/>
            <a:r>
              <a:rPr lang="en-US" altLang="zh-TW" dirty="0" smtClean="0"/>
              <a:t>the request/response type on communication.</a:t>
            </a:r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PortType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One-Way</a:t>
            </a:r>
          </a:p>
          <a:p>
            <a:pPr lvl="1"/>
            <a:r>
              <a:rPr lang="en-US" altLang="zh-TW" dirty="0" smtClean="0"/>
              <a:t>Service receives message only.</a:t>
            </a:r>
          </a:p>
          <a:p>
            <a:pPr lvl="1"/>
            <a:r>
              <a:rPr lang="en-US" altLang="zh-TW" dirty="0" smtClean="0"/>
              <a:t>The operation has a single input element.</a:t>
            </a:r>
          </a:p>
          <a:p>
            <a:r>
              <a:rPr lang="en-US" altLang="zh-TW" dirty="0" smtClean="0"/>
              <a:t>Request-Response</a:t>
            </a:r>
          </a:p>
          <a:p>
            <a:pPr lvl="1"/>
            <a:r>
              <a:rPr lang="en-US" altLang="zh-TW" dirty="0" smtClean="0"/>
              <a:t>The service </a:t>
            </a:r>
            <a:r>
              <a:rPr lang="en-US" altLang="zh-TW" dirty="0" smtClean="0">
                <a:solidFill>
                  <a:srgbClr val="FF0000"/>
                </a:solidFill>
              </a:rPr>
              <a:t>receives</a:t>
            </a:r>
            <a:r>
              <a:rPr lang="en-US" altLang="zh-TW" dirty="0" smtClean="0"/>
              <a:t> a request message and send a response.</a:t>
            </a:r>
          </a:p>
          <a:p>
            <a:r>
              <a:rPr lang="en-US" altLang="zh-TW" dirty="0" smtClean="0"/>
              <a:t>Solicit-Response</a:t>
            </a:r>
          </a:p>
          <a:p>
            <a:pPr lvl="1"/>
            <a:r>
              <a:rPr lang="en-US" altLang="zh-TW" dirty="0" smtClean="0"/>
              <a:t>The service </a:t>
            </a:r>
            <a:r>
              <a:rPr lang="en-US" altLang="zh-TW" dirty="0" smtClean="0">
                <a:solidFill>
                  <a:srgbClr val="FF0000"/>
                </a:solidFill>
              </a:rPr>
              <a:t>sends</a:t>
            </a:r>
            <a:r>
              <a:rPr lang="en-US" altLang="zh-TW" dirty="0" smtClean="0"/>
              <a:t> a message and receives a response.</a:t>
            </a:r>
          </a:p>
          <a:p>
            <a:r>
              <a:rPr lang="en-US" altLang="zh-TW" dirty="0" smtClean="0"/>
              <a:t>Notification</a:t>
            </a:r>
          </a:p>
          <a:p>
            <a:pPr lvl="1"/>
            <a:r>
              <a:rPr lang="en-US" altLang="zh-TW" dirty="0" smtClean="0"/>
              <a:t>The service sends message only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 service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WSDL</a:t>
            </a:r>
          </a:p>
          <a:p>
            <a:r>
              <a:rPr lang="en-US" altLang="zh-TW" dirty="0" smtClean="0"/>
              <a:t>SOAP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UDDI</a:t>
            </a:r>
          </a:p>
        </p:txBody>
      </p:sp>
      <p:pic>
        <p:nvPicPr>
          <p:cNvPr id="6" name="Picture 2" descr="C:\Users\cmj\Pictures\圖片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7" y="548680"/>
            <a:ext cx="3806527" cy="30963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SOAP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Simple Object Access Protocol (SOAP) is a communication protocol based on XML</a:t>
            </a:r>
          </a:p>
          <a:p>
            <a:pPr lvl="1"/>
            <a:r>
              <a:rPr lang="en-US" altLang="zh-TW" dirty="0" smtClean="0"/>
              <a:t>By HTTP or other network protocol</a:t>
            </a:r>
          </a:p>
          <a:p>
            <a:pPr lvl="1"/>
            <a:r>
              <a:rPr lang="en-US" altLang="zh-TW" dirty="0" smtClean="0"/>
              <a:t>Exchanging web services’ information</a:t>
            </a:r>
          </a:p>
          <a:p>
            <a:pPr lvl="1"/>
            <a:r>
              <a:rPr lang="en-US" altLang="zh-TW" dirty="0" smtClean="0"/>
              <a:t>Connecting to other web services</a:t>
            </a:r>
          </a:p>
          <a:p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3933056"/>
            <a:ext cx="3854202" cy="259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Core concepts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core concepts of SOAP are simple and extendable</a:t>
            </a:r>
          </a:p>
          <a:p>
            <a:pPr lvl="1"/>
            <a:r>
              <a:rPr lang="en-US" altLang="zh-TW" dirty="0" smtClean="0"/>
              <a:t>To achieve these two concepts, SOAP omits the message framework of</a:t>
            </a:r>
          </a:p>
          <a:p>
            <a:pPr lvl="2"/>
            <a:r>
              <a:rPr lang="en-US" altLang="zh-TW" dirty="0" smtClean="0"/>
              <a:t>Reliability, security, correlation, routing … etc.</a:t>
            </a:r>
          </a:p>
          <a:p>
            <a:pPr lvl="1"/>
            <a:r>
              <a:rPr lang="en-US" altLang="zh-TW" dirty="0" smtClean="0"/>
              <a:t>Instead, put these functionality into the extensibility  module.</a:t>
            </a:r>
          </a:p>
          <a:p>
            <a:r>
              <a:rPr lang="en-US" altLang="zh-TW" dirty="0" smtClean="0"/>
              <a:t>The SOAP can be a lightweight protocol and has more flexibility.</a:t>
            </a:r>
          </a:p>
          <a:p>
            <a:endParaRPr lang="en-US" altLang="zh-TW" dirty="0" smtClean="0"/>
          </a:p>
          <a:p>
            <a:pPr lvl="2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Three basic module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message framework can be classify into three module</a:t>
            </a:r>
          </a:p>
          <a:p>
            <a:pPr lvl="1"/>
            <a:r>
              <a:rPr lang="en-US" altLang="zh-TW" dirty="0" smtClean="0"/>
              <a:t>Processing module</a:t>
            </a:r>
          </a:p>
          <a:p>
            <a:pPr lvl="1"/>
            <a:r>
              <a:rPr lang="en-US" altLang="zh-TW" dirty="0" smtClean="0"/>
              <a:t>Underlying module</a:t>
            </a:r>
          </a:p>
          <a:p>
            <a:pPr lvl="1"/>
            <a:r>
              <a:rPr lang="en-US" altLang="zh-TW" dirty="0" smtClean="0"/>
              <a:t>Message construct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And more, SOAP has a extensibility module which can add capability found in richer messaging environments.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Process Module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Processing module</a:t>
            </a:r>
          </a:p>
          <a:p>
            <a:pPr lvl="1"/>
            <a:r>
              <a:rPr lang="en-US" altLang="zh-TW" dirty="0" smtClean="0"/>
              <a:t>This module defines the method of processing message</a:t>
            </a:r>
          </a:p>
          <a:p>
            <a:pPr lvl="1"/>
            <a:r>
              <a:rPr lang="en-US" altLang="zh-TW" dirty="0" smtClean="0"/>
              <a:t>Message can pass through any numbers of intermediaries from sender to receiver.</a:t>
            </a:r>
          </a:p>
          <a:p>
            <a:pPr lvl="1"/>
            <a:r>
              <a:rPr lang="en-US" altLang="zh-TW" dirty="0" smtClean="0"/>
              <a:t>Support many types of message exchange patterns</a:t>
            </a:r>
          </a:p>
          <a:p>
            <a:pPr lvl="1"/>
            <a:r>
              <a:rPr lang="en-US" altLang="zh-TW" dirty="0" smtClean="0"/>
              <a:t>Each message is processed independent</a:t>
            </a:r>
          </a:p>
          <a:p>
            <a:pPr lvl="2"/>
            <a:r>
              <a:rPr lang="en-US" altLang="zh-TW" dirty="0" smtClean="0"/>
              <a:t>This means SOAP does not recode message’s state</a:t>
            </a:r>
          </a:p>
          <a:p>
            <a:pPr lvl="1"/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683568" y="5445224"/>
            <a:ext cx="2016224" cy="864096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Sender 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6660232" y="5445224"/>
            <a:ext cx="2016224" cy="864096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Terminal receiver</a:t>
            </a:r>
            <a:endParaRPr lang="zh-TW" altLang="en-US" dirty="0"/>
          </a:p>
        </p:txBody>
      </p:sp>
      <p:sp>
        <p:nvSpPr>
          <p:cNvPr id="7" name="雲朵形 6"/>
          <p:cNvSpPr/>
          <p:nvPr/>
        </p:nvSpPr>
        <p:spPr>
          <a:xfrm>
            <a:off x="3347864" y="4725144"/>
            <a:ext cx="2520280" cy="864096"/>
          </a:xfrm>
          <a:prstGeom prst="cloud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intermediaries</a:t>
            </a:r>
            <a:endParaRPr lang="zh-TW" altLang="en-US" dirty="0"/>
          </a:p>
        </p:txBody>
      </p:sp>
      <p:cxnSp>
        <p:nvCxnSpPr>
          <p:cNvPr id="9" name="直線單箭頭接點 8"/>
          <p:cNvCxnSpPr/>
          <p:nvPr/>
        </p:nvCxnSpPr>
        <p:spPr>
          <a:xfrm flipV="1">
            <a:off x="2267744" y="5085184"/>
            <a:ext cx="936104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5868144" y="5013176"/>
            <a:ext cx="1008112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4869160"/>
            <a:ext cx="752329" cy="59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4869160"/>
            <a:ext cx="752329" cy="59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5E-6 -2.83368E-6 L 0.23628 -0.07356 " pathEditMode="relative" ptsTypes="AA">
                                      <p:cBhvr>
                                        <p:cTn id="6" dur="2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28 -0.07356 L 0.5434 0.01041 " pathEditMode="relative" ptsTypes="AA">
                                      <p:cBhvr>
                                        <p:cTn id="9" dur="2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E-6 -2.27157E-6 L 0.52761 0.08397 " pathEditMode="relative" ptsTypes="AA">
                                      <p:cBhvr>
                                        <p:cTn id="1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Underlying Module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This module distributes the protocol used in SOAP.</a:t>
            </a:r>
          </a:p>
          <a:p>
            <a:pPr lvl="1"/>
            <a:r>
              <a:rPr lang="en-US" altLang="zh-TW" dirty="0" smtClean="0"/>
              <a:t>Can be carried within or on top of variety of other protocols.</a:t>
            </a:r>
          </a:p>
          <a:p>
            <a:r>
              <a:rPr lang="en-US" altLang="zh-TW" dirty="0" smtClean="0"/>
              <a:t>The boundary between SOAP and the underlying protocol is called a binding, and there are two purposes</a:t>
            </a:r>
          </a:p>
          <a:p>
            <a:pPr lvl="1"/>
            <a:r>
              <a:rPr lang="en-US" altLang="zh-TW" dirty="0" smtClean="0"/>
              <a:t>Passing an outgoing message of sending that message to another SOAP node.</a:t>
            </a:r>
          </a:p>
          <a:p>
            <a:pPr lvl="1"/>
            <a:r>
              <a:rPr lang="en-US" altLang="zh-TW" dirty="0" smtClean="0"/>
              <a:t>Passing an incoming message of processing that message.</a:t>
            </a:r>
          </a:p>
          <a:p>
            <a:pPr lvl="1"/>
            <a:endParaRPr lang="en-US" altLang="zh-TW" dirty="0" smtClean="0"/>
          </a:p>
          <a:p>
            <a:pPr lvl="2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Message Construct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</a:t>
            </a:r>
            <a:r>
              <a:rPr lang="zh-TW" altLang="en-US" dirty="0" smtClean="0"/>
              <a:t> </a:t>
            </a:r>
            <a:r>
              <a:rPr lang="en-US" altLang="zh-TW" dirty="0" smtClean="0"/>
              <a:t>SOAP</a:t>
            </a:r>
            <a:r>
              <a:rPr lang="zh-TW" altLang="en-US" dirty="0" smtClean="0"/>
              <a:t> </a:t>
            </a:r>
            <a:r>
              <a:rPr lang="en-US" altLang="zh-TW" dirty="0" smtClean="0"/>
              <a:t>message</a:t>
            </a:r>
            <a:r>
              <a:rPr lang="zh-TW" altLang="en-US" dirty="0" smtClean="0"/>
              <a:t> </a:t>
            </a:r>
            <a:r>
              <a:rPr lang="en-US" altLang="zh-TW" dirty="0" smtClean="0"/>
              <a:t>is</a:t>
            </a:r>
            <a:r>
              <a:rPr lang="zh-TW" altLang="en-US" dirty="0" smtClean="0"/>
              <a:t> </a:t>
            </a:r>
            <a:r>
              <a:rPr lang="en-US" altLang="zh-TW" dirty="0" smtClean="0"/>
              <a:t>specified</a:t>
            </a:r>
            <a:r>
              <a:rPr lang="zh-TW" altLang="en-US" dirty="0" smtClean="0"/>
              <a:t> </a:t>
            </a:r>
            <a:r>
              <a:rPr lang="en-US" altLang="zh-TW" dirty="0" smtClean="0"/>
              <a:t>as</a:t>
            </a:r>
            <a:r>
              <a:rPr lang="zh-TW" altLang="en-US" dirty="0" smtClean="0"/>
              <a:t> </a:t>
            </a:r>
            <a:r>
              <a:rPr lang="en-US" altLang="zh-TW" dirty="0" smtClean="0"/>
              <a:t>an</a:t>
            </a:r>
            <a:r>
              <a:rPr lang="zh-TW" altLang="en-US" dirty="0" smtClean="0"/>
              <a:t> </a:t>
            </a:r>
            <a:r>
              <a:rPr lang="en-US" altLang="zh-TW" dirty="0" smtClean="0"/>
              <a:t>XML </a:t>
            </a:r>
            <a:r>
              <a:rPr lang="en-US" altLang="zh-TW" dirty="0" err="1" smtClean="0"/>
              <a:t>infoset</a:t>
            </a:r>
            <a:r>
              <a:rPr lang="zh-TW" altLang="en-US" dirty="0" smtClean="0"/>
              <a:t> </a:t>
            </a:r>
            <a:r>
              <a:rPr lang="en-US" altLang="zh-TW" dirty="0" smtClean="0"/>
              <a:t>which</a:t>
            </a:r>
            <a:r>
              <a:rPr lang="zh-TW" altLang="en-US" dirty="0" smtClean="0"/>
              <a:t> </a:t>
            </a:r>
            <a:r>
              <a:rPr lang="en-US" altLang="zh-TW" dirty="0" smtClean="0"/>
              <a:t>is</a:t>
            </a:r>
            <a:r>
              <a:rPr lang="zh-TW" altLang="en-US" dirty="0" smtClean="0"/>
              <a:t> </a:t>
            </a:r>
            <a:r>
              <a:rPr lang="en-US" altLang="zh-TW" dirty="0" smtClean="0"/>
              <a:t>used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</a:t>
            </a:r>
            <a:r>
              <a:rPr lang="zh-TW" altLang="en-US" dirty="0" smtClean="0"/>
              <a:t> </a:t>
            </a:r>
            <a:r>
              <a:rPr lang="en-US" altLang="zh-TW" dirty="0" smtClean="0"/>
              <a:t>exchange</a:t>
            </a:r>
            <a:r>
              <a:rPr lang="zh-TW" altLang="en-US" dirty="0" smtClean="0"/>
              <a:t> </a:t>
            </a:r>
            <a:r>
              <a:rPr lang="en-US" altLang="zh-TW" dirty="0" smtClean="0"/>
              <a:t>message</a:t>
            </a:r>
            <a:r>
              <a:rPr lang="zh-TW" altLang="en-US" dirty="0" smtClean="0"/>
              <a:t> </a:t>
            </a:r>
            <a:r>
              <a:rPr lang="en-US" altLang="zh-TW" dirty="0" smtClean="0"/>
              <a:t>between</a:t>
            </a:r>
            <a:r>
              <a:rPr lang="zh-TW" altLang="en-US" dirty="0" smtClean="0"/>
              <a:t> </a:t>
            </a:r>
            <a:r>
              <a:rPr lang="en-US" altLang="zh-TW" dirty="0" smtClean="0"/>
              <a:t>two</a:t>
            </a:r>
            <a:r>
              <a:rPr lang="zh-TW" altLang="en-US" dirty="0" smtClean="0"/>
              <a:t> </a:t>
            </a:r>
            <a:r>
              <a:rPr lang="en-US" altLang="zh-TW" dirty="0" smtClean="0"/>
              <a:t>SOAP</a:t>
            </a:r>
            <a:r>
              <a:rPr lang="zh-TW" altLang="en-US" dirty="0" smtClean="0"/>
              <a:t> </a:t>
            </a:r>
            <a:r>
              <a:rPr lang="en-US" altLang="zh-TW" dirty="0" smtClean="0"/>
              <a:t>nodes.</a:t>
            </a:r>
          </a:p>
          <a:p>
            <a:r>
              <a:rPr lang="en-US" altLang="zh-TW" dirty="0" smtClean="0"/>
              <a:t>The SOAP message includes </a:t>
            </a:r>
          </a:p>
          <a:p>
            <a:pPr lvl="1"/>
            <a:r>
              <a:rPr lang="en-US" altLang="zh-TW" dirty="0" smtClean="0"/>
              <a:t>Commands</a:t>
            </a:r>
          </a:p>
          <a:p>
            <a:pPr lvl="1"/>
            <a:r>
              <a:rPr lang="en-US" altLang="zh-TW" dirty="0" smtClean="0"/>
              <a:t>Attributes </a:t>
            </a:r>
          </a:p>
          <a:p>
            <a:pPr lvl="1"/>
            <a:r>
              <a:rPr lang="en-US" altLang="zh-TW" dirty="0" smtClean="0"/>
              <a:t>Namespace </a:t>
            </a:r>
          </a:p>
          <a:p>
            <a:pPr lvl="2"/>
            <a:endParaRPr lang="en-US" altLang="zh-TW" dirty="0" smtClean="0"/>
          </a:p>
          <a:p>
            <a:pPr lvl="2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 service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WSDL</a:t>
            </a:r>
          </a:p>
          <a:p>
            <a:r>
              <a:rPr lang="en-US" altLang="zh-TW" dirty="0" smtClean="0"/>
              <a:t>SOAP</a:t>
            </a:r>
          </a:p>
          <a:p>
            <a:r>
              <a:rPr lang="en-US" altLang="zh-TW" dirty="0" smtClean="0"/>
              <a:t>UDDI</a:t>
            </a:r>
          </a:p>
        </p:txBody>
      </p:sp>
      <p:pic>
        <p:nvPicPr>
          <p:cNvPr id="6" name="Picture 2" descr="C:\Users\cmj\Pictures\圖片7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7" y="548680"/>
            <a:ext cx="3806527" cy="30963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UDDI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UDDI (Universal Description, Discovery, and Integration) is a cross-platform service which</a:t>
            </a:r>
          </a:p>
          <a:p>
            <a:pPr lvl="1"/>
            <a:r>
              <a:rPr lang="en-US" altLang="zh-TW" dirty="0" smtClean="0"/>
              <a:t>Based on XML.</a:t>
            </a:r>
          </a:p>
          <a:p>
            <a:pPr lvl="1"/>
            <a:r>
              <a:rPr lang="en-US" altLang="zh-TW" dirty="0" smtClean="0"/>
              <a:t>A register server.</a:t>
            </a:r>
          </a:p>
          <a:p>
            <a:pPr lvl="1"/>
            <a:r>
              <a:rPr lang="en-US" altLang="zh-TW" dirty="0" smtClean="0"/>
              <a:t>Can find the service you need.</a:t>
            </a:r>
          </a:p>
          <a:p>
            <a:pPr lvl="1"/>
            <a:r>
              <a:rPr lang="en-US" altLang="zh-TW" dirty="0" smtClean="0"/>
              <a:t>Can post your service.</a:t>
            </a:r>
          </a:p>
          <a:p>
            <a:pPr lvl="1"/>
            <a:r>
              <a:rPr lang="en-US" altLang="zh-TW" dirty="0" smtClean="0"/>
              <a:t>Can exchange your service to another company.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Why need UDDI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the world</a:t>
            </a:r>
          </a:p>
          <a:p>
            <a:pPr lvl="1"/>
            <a:r>
              <a:rPr lang="en-US" altLang="zh-TW" dirty="0" smtClean="0"/>
              <a:t>We cannot reach to anywhere.</a:t>
            </a:r>
          </a:p>
          <a:p>
            <a:pPr lvl="1"/>
            <a:r>
              <a:rPr lang="en-US" altLang="zh-TW" dirty="0" smtClean="0"/>
              <a:t>We cannot find the service directly.</a:t>
            </a:r>
          </a:p>
          <a:p>
            <a:pPr lvl="1"/>
            <a:r>
              <a:rPr lang="en-US" altLang="zh-TW" dirty="0" smtClean="0"/>
              <a:t>We cannot sell service to each person in the world.</a:t>
            </a:r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In the Internet</a:t>
            </a:r>
          </a:p>
          <a:p>
            <a:pPr lvl="1"/>
            <a:r>
              <a:rPr lang="en-US" altLang="zh-TW" dirty="0" smtClean="0"/>
              <a:t>Network links everyone in the Internet.</a:t>
            </a:r>
          </a:p>
          <a:p>
            <a:pPr lvl="1"/>
            <a:r>
              <a:rPr lang="en-US" altLang="zh-TW" dirty="0" smtClean="0"/>
              <a:t>Internet has no geographical boundaries.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Three pages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White page</a:t>
            </a:r>
          </a:p>
          <a:p>
            <a:pPr lvl="1"/>
            <a:r>
              <a:rPr lang="en-US" altLang="zh-TW" dirty="0" smtClean="0"/>
              <a:t>Give information about the service, include name and the description of  the business, which may support multiple languages.</a:t>
            </a:r>
          </a:p>
          <a:p>
            <a:r>
              <a:rPr lang="en-US" altLang="zh-TW" dirty="0" smtClean="0"/>
              <a:t>Yellow page</a:t>
            </a:r>
          </a:p>
          <a:p>
            <a:pPr lvl="1"/>
            <a:r>
              <a:rPr lang="en-US" altLang="zh-TW" dirty="0" smtClean="0"/>
              <a:t>Provide a classification of service of business based on the standard taxonomies.</a:t>
            </a:r>
          </a:p>
          <a:p>
            <a:r>
              <a:rPr lang="en-US" altLang="zh-TW" dirty="0" smtClean="0"/>
              <a:t>Green page</a:t>
            </a:r>
          </a:p>
          <a:p>
            <a:pPr lvl="1"/>
            <a:r>
              <a:rPr lang="en-US" altLang="zh-TW" dirty="0" smtClean="0"/>
              <a:t>Describe how to access the Web service, include the </a:t>
            </a:r>
            <a:r>
              <a:rPr lang="en-US" altLang="zh-TW" dirty="0" err="1" smtClean="0"/>
              <a:t>url</a:t>
            </a:r>
            <a:r>
              <a:rPr lang="en-US" altLang="zh-TW" dirty="0" smtClean="0"/>
              <a:t>, API and protocol.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Example: UDDI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company wants to post his web service </a:t>
            </a:r>
          </a:p>
          <a:p>
            <a:pPr lvl="1"/>
            <a:r>
              <a:rPr lang="en-US" altLang="zh-TW" dirty="0" smtClean="0"/>
              <a:t>Find a register center</a:t>
            </a:r>
          </a:p>
          <a:p>
            <a:pPr lvl="1"/>
            <a:r>
              <a:rPr lang="en-US" altLang="zh-TW" dirty="0" smtClean="0"/>
              <a:t>Design and upload their WSDL file and SOAP protocol</a:t>
            </a:r>
          </a:p>
          <a:p>
            <a:pPr lvl="1"/>
            <a:r>
              <a:rPr lang="en-US" altLang="zh-TW" dirty="0" smtClean="0"/>
              <a:t>Wait until customer connect to and use their service.</a:t>
            </a:r>
          </a:p>
          <a:p>
            <a:r>
              <a:rPr lang="en-US" altLang="zh-TW" dirty="0" smtClean="0"/>
              <a:t>…but he need some help</a:t>
            </a:r>
          </a:p>
          <a:p>
            <a:pPr lvl="1"/>
            <a:r>
              <a:rPr lang="en-US" altLang="zh-TW" dirty="0" smtClean="0"/>
              <a:t>Search the service from UDDI register center</a:t>
            </a:r>
          </a:p>
          <a:p>
            <a:pPr lvl="1"/>
            <a:r>
              <a:rPr lang="en-US" altLang="zh-TW" dirty="0" smtClean="0"/>
              <a:t>Find the service by some key-word</a:t>
            </a:r>
          </a:p>
          <a:p>
            <a:pPr lvl="1"/>
            <a:r>
              <a:rPr lang="en-US" altLang="zh-TW" dirty="0" smtClean="0"/>
              <a:t>Connect to the particular web service by the WSDL file and SOAP protocol.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橢圓 7"/>
          <p:cNvSpPr/>
          <p:nvPr/>
        </p:nvSpPr>
        <p:spPr>
          <a:xfrm>
            <a:off x="5436096" y="2132856"/>
            <a:ext cx="3240360" cy="295232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Example: Web Service</a:t>
            </a:r>
            <a:endParaRPr lang="zh-TW" altLang="en-US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3573016"/>
            <a:ext cx="1784714" cy="1338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24328" y="2204864"/>
            <a:ext cx="958500" cy="1742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6136" y="2132856"/>
            <a:ext cx="1967901" cy="182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文字方塊 8"/>
          <p:cNvSpPr txBox="1"/>
          <p:nvPr/>
        </p:nvSpPr>
        <p:spPr>
          <a:xfrm>
            <a:off x="5868144" y="5157192"/>
            <a:ext cx="234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Sell his service: flowers</a:t>
            </a:r>
            <a:endParaRPr lang="zh-TW" altLang="en-US" dirty="0"/>
          </a:p>
        </p:txBody>
      </p:sp>
      <p:grpSp>
        <p:nvGrpSpPr>
          <p:cNvPr id="3" name="群組 39"/>
          <p:cNvGrpSpPr/>
          <p:nvPr/>
        </p:nvGrpSpPr>
        <p:grpSpPr>
          <a:xfrm>
            <a:off x="971600" y="1196752"/>
            <a:ext cx="1706813" cy="2095376"/>
            <a:chOff x="971600" y="1196752"/>
            <a:chExt cx="1706813" cy="2095376"/>
          </a:xfrm>
        </p:grpSpPr>
        <p:pic>
          <p:nvPicPr>
            <p:cNvPr id="5126" name="Picture 6" descr="D:\Slide\Graph\computer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15616" y="1628800"/>
              <a:ext cx="1562797" cy="1663328"/>
            </a:xfrm>
            <a:prstGeom prst="rect">
              <a:avLst/>
            </a:prstGeom>
            <a:noFill/>
          </p:spPr>
        </p:pic>
        <p:sp>
          <p:nvSpPr>
            <p:cNvPr id="11" name="文字方塊 10"/>
            <p:cNvSpPr txBox="1"/>
            <p:nvPr/>
          </p:nvSpPr>
          <p:spPr>
            <a:xfrm>
              <a:off x="971600" y="1196752"/>
              <a:ext cx="1578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Register server</a:t>
              </a:r>
              <a:endParaRPr lang="zh-TW" altLang="en-US" dirty="0"/>
            </a:p>
          </p:txBody>
        </p:sp>
      </p:grpSp>
      <p:grpSp>
        <p:nvGrpSpPr>
          <p:cNvPr id="4" name="群組 17"/>
          <p:cNvGrpSpPr/>
          <p:nvPr/>
        </p:nvGrpSpPr>
        <p:grpSpPr>
          <a:xfrm>
            <a:off x="2915816" y="2126675"/>
            <a:ext cx="2232248" cy="726261"/>
            <a:chOff x="2915816" y="2126675"/>
            <a:chExt cx="2232248" cy="726261"/>
          </a:xfrm>
        </p:grpSpPr>
        <p:sp>
          <p:nvSpPr>
            <p:cNvPr id="15" name="文字方塊 14"/>
            <p:cNvSpPr txBox="1"/>
            <p:nvPr/>
          </p:nvSpPr>
          <p:spPr>
            <a:xfrm rot="785397">
              <a:off x="3221045" y="2126675"/>
              <a:ext cx="1895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Register his server</a:t>
              </a:r>
              <a:endParaRPr lang="zh-TW" altLang="en-US" dirty="0"/>
            </a:p>
          </p:txBody>
        </p:sp>
        <p:cxnSp>
          <p:nvCxnSpPr>
            <p:cNvPr id="17" name="直線單箭頭接點 16"/>
            <p:cNvCxnSpPr/>
            <p:nvPr/>
          </p:nvCxnSpPr>
          <p:spPr>
            <a:xfrm rot="10800000">
              <a:off x="2915816" y="2276872"/>
              <a:ext cx="2232248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" name="群組 22"/>
          <p:cNvGrpSpPr/>
          <p:nvPr/>
        </p:nvGrpSpPr>
        <p:grpSpPr>
          <a:xfrm>
            <a:off x="4788024" y="1268760"/>
            <a:ext cx="1094985" cy="1197546"/>
            <a:chOff x="4427984" y="1412776"/>
            <a:chExt cx="1094985" cy="1197546"/>
          </a:xfrm>
        </p:grpSpPr>
        <p:pic>
          <p:nvPicPr>
            <p:cNvPr id="5129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27984" y="1412776"/>
              <a:ext cx="903234" cy="11975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2" name="文字方塊 21"/>
            <p:cNvSpPr txBox="1"/>
            <p:nvPr/>
          </p:nvSpPr>
          <p:spPr>
            <a:xfrm>
              <a:off x="4788024" y="1844824"/>
              <a:ext cx="734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WSDL</a:t>
              </a:r>
              <a:endParaRPr lang="zh-TW" altLang="en-US" dirty="0"/>
            </a:p>
          </p:txBody>
        </p:sp>
      </p:grpSp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475656" y="4149080"/>
            <a:ext cx="1457311" cy="2012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" name="群組 38"/>
          <p:cNvGrpSpPr/>
          <p:nvPr/>
        </p:nvGrpSpPr>
        <p:grpSpPr>
          <a:xfrm>
            <a:off x="2195736" y="3429000"/>
            <a:ext cx="2049691" cy="792088"/>
            <a:chOff x="2195736" y="3429000"/>
            <a:chExt cx="2049691" cy="792088"/>
          </a:xfrm>
        </p:grpSpPr>
        <p:cxnSp>
          <p:nvCxnSpPr>
            <p:cNvPr id="28" name="直線單箭頭接點 27"/>
            <p:cNvCxnSpPr/>
            <p:nvPr/>
          </p:nvCxnSpPr>
          <p:spPr>
            <a:xfrm rot="16200000" flipV="1">
              <a:off x="1835696" y="3789040"/>
              <a:ext cx="792088" cy="7200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2349587" y="3633001"/>
              <a:ext cx="1895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Search the vendor</a:t>
              </a:r>
              <a:endParaRPr lang="zh-TW" altLang="en-US" dirty="0"/>
            </a:p>
          </p:txBody>
        </p:sp>
      </p:grpSp>
      <p:cxnSp>
        <p:nvCxnSpPr>
          <p:cNvPr id="33" name="直線單箭頭接點 32"/>
          <p:cNvCxnSpPr/>
          <p:nvPr/>
        </p:nvCxnSpPr>
        <p:spPr>
          <a:xfrm rot="16200000" flipH="1">
            <a:off x="1403648" y="3717032"/>
            <a:ext cx="792088" cy="72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" name="群組 44"/>
          <p:cNvGrpSpPr/>
          <p:nvPr/>
        </p:nvGrpSpPr>
        <p:grpSpPr>
          <a:xfrm>
            <a:off x="2915816" y="4293096"/>
            <a:ext cx="2448272" cy="724910"/>
            <a:chOff x="2915816" y="4293096"/>
            <a:chExt cx="2448272" cy="724910"/>
          </a:xfrm>
        </p:grpSpPr>
        <p:cxnSp>
          <p:nvCxnSpPr>
            <p:cNvPr id="37" name="直線單箭頭接點 36"/>
            <p:cNvCxnSpPr/>
            <p:nvPr/>
          </p:nvCxnSpPr>
          <p:spPr>
            <a:xfrm flipV="1">
              <a:off x="2915816" y="4293096"/>
              <a:ext cx="2448272" cy="504056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文字方塊 37"/>
            <p:cNvSpPr txBox="1"/>
            <p:nvPr/>
          </p:nvSpPr>
          <p:spPr>
            <a:xfrm rot="20840710">
              <a:off x="3660380" y="4648674"/>
              <a:ext cx="1314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Transaction </a:t>
              </a:r>
              <a:endParaRPr lang="zh-TW" altLang="en-US" dirty="0"/>
            </a:p>
          </p:txBody>
        </p:sp>
      </p:grpSp>
      <p:sp>
        <p:nvSpPr>
          <p:cNvPr id="41" name="橢圓形圖說文字 40"/>
          <p:cNvSpPr/>
          <p:nvPr/>
        </p:nvSpPr>
        <p:spPr>
          <a:xfrm>
            <a:off x="179512" y="4293096"/>
            <a:ext cx="1368152" cy="576064"/>
          </a:xfrm>
          <a:prstGeom prst="wedgeEllipseCallout">
            <a:avLst>
              <a:gd name="adj1" fmla="val 52366"/>
              <a:gd name="adj2" fmla="val 6410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 need flowers</a:t>
            </a:r>
            <a:endParaRPr lang="zh-TW" altLang="en-US" dirty="0"/>
          </a:p>
        </p:txBody>
      </p:sp>
      <p:grpSp>
        <p:nvGrpSpPr>
          <p:cNvPr id="10" name="群組 41"/>
          <p:cNvGrpSpPr/>
          <p:nvPr/>
        </p:nvGrpSpPr>
        <p:grpSpPr>
          <a:xfrm>
            <a:off x="323528" y="1700808"/>
            <a:ext cx="1094985" cy="1197546"/>
            <a:chOff x="4427984" y="1412776"/>
            <a:chExt cx="1094985" cy="1197546"/>
          </a:xfrm>
        </p:grpSpPr>
        <p:pic>
          <p:nvPicPr>
            <p:cNvPr id="43" name="Picture 9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27984" y="1412776"/>
              <a:ext cx="903234" cy="11975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44" name="文字方塊 43"/>
            <p:cNvSpPr txBox="1"/>
            <p:nvPr/>
          </p:nvSpPr>
          <p:spPr>
            <a:xfrm>
              <a:off x="4788024" y="1844824"/>
              <a:ext cx="7349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 smtClean="0"/>
                <a:t>WSDL</a:t>
              </a:r>
              <a:endParaRPr lang="zh-TW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8.29517E-6 L -0.28351 -0.11542 " pathEditMode="relative" ptsTypes="AA"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11111E-6 -1.70483E-6 L 0.06285 0.46172 " pathEditMode="relative" ptsTypes="AA">
                                      <p:cBhvr>
                                        <p:cTn id="4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Service Layer </a:t>
            </a:r>
            <a:endParaRPr lang="zh-TW" altLang="en-US" dirty="0"/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SOA</a:t>
            </a:r>
          </a:p>
          <a:p>
            <a:r>
              <a:rPr lang="en-US" altLang="zh-TW" dirty="0" smtClean="0"/>
              <a:t>Web Service</a:t>
            </a:r>
          </a:p>
          <a:p>
            <a:r>
              <a:rPr lang="en-US" altLang="zh-TW" dirty="0" smtClean="0"/>
              <a:t>Other service: standard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When scale up…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Web service provides a new way to use the service and cooperate with other companies, but</a:t>
            </a:r>
          </a:p>
          <a:p>
            <a:pPr lvl="1"/>
            <a:r>
              <a:rPr lang="en-US" altLang="zh-TW" dirty="0" smtClean="0"/>
              <a:t>When the users scale up, service cannot work at smooth as before.</a:t>
            </a:r>
          </a:p>
          <a:p>
            <a:pPr lvl="1"/>
            <a:r>
              <a:rPr lang="en-US" altLang="zh-TW" dirty="0" smtClean="0"/>
              <a:t>When service scale up, company re-development a new service.</a:t>
            </a:r>
          </a:p>
          <a:p>
            <a:pPr lvl="1"/>
            <a:endParaRPr lang="zh-TW" altLang="en-US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510250"/>
            <a:ext cx="4038600" cy="2705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Solutions 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, cloud provides a non-limitation environment that can serve users as many as possible.</a:t>
            </a:r>
          </a:p>
          <a:p>
            <a:r>
              <a:rPr lang="en-US" altLang="zh-TW" dirty="0" smtClean="0"/>
              <a:t>But service could be re-development many times</a:t>
            </a:r>
          </a:p>
          <a:p>
            <a:pPr lvl="1"/>
            <a:r>
              <a:rPr lang="en-US" altLang="zh-TW" dirty="0" smtClean="0"/>
              <a:t>There are many services in Internet</a:t>
            </a:r>
          </a:p>
          <a:p>
            <a:pPr lvl="1"/>
            <a:r>
              <a:rPr lang="en-US" altLang="zh-TW" dirty="0" smtClean="0"/>
              <a:t>Develop a new service is costly and risky</a:t>
            </a:r>
          </a:p>
          <a:p>
            <a:r>
              <a:rPr lang="en-US" altLang="zh-TW" dirty="0" smtClean="0"/>
              <a:t>Company should concentrate on the valuable service, not a duplication of development.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Suggestions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There are many suggestions for this problem</a:t>
            </a:r>
          </a:p>
          <a:p>
            <a:pPr lvl="1"/>
            <a:r>
              <a:rPr lang="en-US" altLang="zh-TW" dirty="0" smtClean="0"/>
              <a:t>Re-use the service</a:t>
            </a:r>
          </a:p>
          <a:p>
            <a:pPr lvl="1"/>
            <a:r>
              <a:rPr lang="en-US" altLang="zh-TW" dirty="0" smtClean="0"/>
              <a:t>Easy than SOAP to connect to services</a:t>
            </a:r>
          </a:p>
          <a:p>
            <a:pPr lvl="1"/>
            <a:r>
              <a:rPr lang="en-US" altLang="zh-TW" dirty="0" smtClean="0"/>
              <a:t>Reduce the complexity to use services</a:t>
            </a:r>
          </a:p>
          <a:p>
            <a:pPr lvl="1"/>
            <a:r>
              <a:rPr lang="en-US" altLang="zh-TW" dirty="0" smtClean="0"/>
              <a:t>A quantitative standard of services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3933056"/>
            <a:ext cx="3675235" cy="2780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Standards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OpenID</a:t>
            </a:r>
            <a:r>
              <a:rPr lang="en-US" altLang="zh-TW" dirty="0" smtClean="0"/>
              <a:t> and SSO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SLA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REST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Scenario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There are many service in Internet</a:t>
            </a:r>
          </a:p>
          <a:p>
            <a:pPr lvl="1"/>
            <a:r>
              <a:rPr lang="en-US" altLang="zh-TW" dirty="0" smtClean="0"/>
              <a:t>Email, blog, social network, web game …etc</a:t>
            </a:r>
          </a:p>
          <a:p>
            <a:pPr lvl="1"/>
            <a:r>
              <a:rPr lang="en-US" altLang="zh-TW" dirty="0" smtClean="0"/>
              <a:t>Many service require user authentication</a:t>
            </a:r>
          </a:p>
          <a:p>
            <a:r>
              <a:rPr lang="en-US" altLang="zh-TW" dirty="0" smtClean="0"/>
              <a:t>These will produce two kinds of problems</a:t>
            </a:r>
          </a:p>
          <a:p>
            <a:pPr lvl="1"/>
            <a:r>
              <a:rPr lang="en-US" altLang="zh-TW" dirty="0" smtClean="0"/>
              <a:t>Too many ID/password pair to should be remembered.</a:t>
            </a:r>
          </a:p>
          <a:p>
            <a:pPr lvl="1"/>
            <a:r>
              <a:rPr lang="en-US" altLang="zh-TW" dirty="0" smtClean="0"/>
              <a:t>Use same password in the imprudent site is not secure.</a:t>
            </a:r>
          </a:p>
          <a:p>
            <a:pPr lvl="1"/>
            <a:endParaRPr lang="en-US" altLang="zh-TW" dirty="0" smtClean="0"/>
          </a:p>
        </p:txBody>
      </p:sp>
      <p:pic>
        <p:nvPicPr>
          <p:cNvPr id="4" name="Picture 2" descr="D:\Slide\Graph\ma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2244" y="5222056"/>
            <a:ext cx="1093568" cy="1119783"/>
          </a:xfrm>
          <a:prstGeom prst="rect">
            <a:avLst/>
          </a:prstGeom>
          <a:noFill/>
        </p:spPr>
      </p:pic>
      <p:pic>
        <p:nvPicPr>
          <p:cNvPr id="7" name="Picture 3" descr="D:\Slide\Graph\emai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72049" y="4357960"/>
            <a:ext cx="792088" cy="792088"/>
          </a:xfrm>
          <a:prstGeom prst="rect">
            <a:avLst/>
          </a:prstGeom>
          <a:noFill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88073" y="5150048"/>
            <a:ext cx="1276015" cy="1006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 descr="D:\Slide\Graph\computer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44208" y="4573984"/>
            <a:ext cx="547959" cy="583208"/>
          </a:xfrm>
          <a:prstGeom prst="rect">
            <a:avLst/>
          </a:prstGeom>
          <a:noFill/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31840" y="5870128"/>
            <a:ext cx="1233488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線單箭頭接點 10"/>
          <p:cNvCxnSpPr/>
          <p:nvPr/>
        </p:nvCxnSpPr>
        <p:spPr>
          <a:xfrm flipV="1">
            <a:off x="2411760" y="4790008"/>
            <a:ext cx="144016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endCxn id="8" idx="1"/>
          </p:cNvCxnSpPr>
          <p:nvPr/>
        </p:nvCxnSpPr>
        <p:spPr>
          <a:xfrm flipV="1">
            <a:off x="2483768" y="5653075"/>
            <a:ext cx="1604305" cy="10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2411760" y="5942136"/>
            <a:ext cx="72008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5004048" y="4645992"/>
            <a:ext cx="1224136" cy="72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V="1">
            <a:off x="5436096" y="5654104"/>
            <a:ext cx="1224136" cy="720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4572000" y="6518200"/>
            <a:ext cx="86409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8" name="Picture 5" descr="D:\Slide\Graph\computer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04248" y="5222056"/>
            <a:ext cx="547959" cy="583208"/>
          </a:xfrm>
          <a:prstGeom prst="rect">
            <a:avLst/>
          </a:prstGeom>
          <a:noFill/>
        </p:spPr>
      </p:pic>
      <p:pic>
        <p:nvPicPr>
          <p:cNvPr id="20" name="Picture 5" descr="D:\Slide\Graph\computer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52120" y="6230168"/>
            <a:ext cx="547959" cy="5832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OpenID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OpenID</a:t>
            </a:r>
            <a:r>
              <a:rPr lang="en-US" altLang="zh-TW" dirty="0" smtClean="0"/>
              <a:t> is a new identify authentication system</a:t>
            </a:r>
          </a:p>
          <a:p>
            <a:pPr lvl="1"/>
            <a:r>
              <a:rPr lang="en-US" altLang="zh-TW" dirty="0" smtClean="0"/>
              <a:t>A open standard that users can be authenticated in a decentralized manner</a:t>
            </a:r>
          </a:p>
          <a:p>
            <a:pPr lvl="1"/>
            <a:r>
              <a:rPr lang="en-US" altLang="zh-TW" dirty="0" smtClean="0"/>
              <a:t>User can authenticate many service sites by only one username and password</a:t>
            </a:r>
          </a:p>
          <a:p>
            <a:pPr lvl="1"/>
            <a:r>
              <a:rPr lang="en-US" altLang="zh-TW" dirty="0" smtClean="0"/>
              <a:t>Account management is responsible to the trust company.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Architecture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 smtClean="0"/>
              <a:t>End user</a:t>
            </a:r>
          </a:p>
          <a:p>
            <a:pPr lvl="1"/>
            <a:r>
              <a:rPr lang="en-US" altLang="zh-TW" dirty="0" smtClean="0"/>
              <a:t>Show the legal identity </a:t>
            </a:r>
          </a:p>
          <a:p>
            <a:r>
              <a:rPr lang="en-US" altLang="zh-TW" dirty="0" smtClean="0"/>
              <a:t>Consumer </a:t>
            </a:r>
          </a:p>
          <a:p>
            <a:pPr lvl="1"/>
            <a:r>
              <a:rPr lang="en-US" altLang="zh-TW" dirty="0" smtClean="0"/>
              <a:t>Relying party</a:t>
            </a:r>
          </a:p>
          <a:p>
            <a:r>
              <a:rPr lang="en-US" altLang="zh-TW" dirty="0" smtClean="0"/>
              <a:t>Identity provider</a:t>
            </a:r>
          </a:p>
          <a:p>
            <a:pPr lvl="1"/>
            <a:r>
              <a:rPr lang="en-US" altLang="zh-TW" dirty="0" smtClean="0"/>
              <a:t>Authentication server 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825" y="2405856"/>
            <a:ext cx="318135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SSO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SSO (Single Sign-On) is another authentication method</a:t>
            </a:r>
          </a:p>
          <a:p>
            <a:pPr lvl="1"/>
            <a:r>
              <a:rPr lang="en-US" altLang="zh-TW" dirty="0" smtClean="0"/>
              <a:t>Used in the same domain site or service provider which want to use many services</a:t>
            </a:r>
          </a:p>
          <a:p>
            <a:r>
              <a:rPr lang="en-US" altLang="zh-TW" dirty="0" smtClean="0"/>
              <a:t>SSO can increate the security level</a:t>
            </a:r>
          </a:p>
          <a:p>
            <a:pPr lvl="1"/>
            <a:r>
              <a:rPr lang="en-US" altLang="zh-TW" dirty="0" smtClean="0"/>
              <a:t>Reduce the phishing success</a:t>
            </a:r>
          </a:p>
          <a:p>
            <a:pPr lvl="1"/>
            <a:r>
              <a:rPr lang="en-US" altLang="zh-TW" dirty="0" smtClean="0"/>
              <a:t>Avoid the re-entry the ID and password</a:t>
            </a:r>
          </a:p>
          <a:p>
            <a:pPr lvl="1"/>
            <a:r>
              <a:rPr lang="en-US" altLang="zh-TW" dirty="0" smtClean="0"/>
              <a:t>Exit system one time to keep security when user leave their computer.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Standards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OpenID</a:t>
            </a:r>
            <a:r>
              <a:rPr lang="en-US" altLang="zh-TW" dirty="0" smtClean="0"/>
              <a:t> and SSO</a:t>
            </a:r>
          </a:p>
          <a:p>
            <a:r>
              <a:rPr lang="en-US" altLang="zh-TW" dirty="0" smtClean="0"/>
              <a:t>SLA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REST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Scenario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multinational wants to rent a web service</a:t>
            </a:r>
          </a:p>
          <a:p>
            <a:pPr lvl="1"/>
            <a:r>
              <a:rPr lang="en-US" altLang="zh-TW" dirty="0" smtClean="0"/>
              <a:t>How to choice the provider?</a:t>
            </a:r>
          </a:p>
          <a:p>
            <a:pPr lvl="1"/>
            <a:r>
              <a:rPr lang="en-US" altLang="zh-TW" dirty="0" smtClean="0"/>
              <a:t>What level of service provider can provide?</a:t>
            </a:r>
          </a:p>
          <a:p>
            <a:pPr lvl="1"/>
            <a:r>
              <a:rPr lang="en-US" altLang="zh-TW" dirty="0" smtClean="0"/>
              <a:t>How to measure the service quality?</a:t>
            </a:r>
          </a:p>
          <a:p>
            <a:r>
              <a:rPr lang="en-US" altLang="zh-TW" dirty="0" smtClean="0"/>
              <a:t>The service is interruption or cannot meet the requirement</a:t>
            </a:r>
          </a:p>
          <a:p>
            <a:pPr lvl="1"/>
            <a:r>
              <a:rPr lang="en-US" altLang="zh-TW" dirty="0" smtClean="0"/>
              <a:t>How to claim the damages or loss?</a:t>
            </a:r>
          </a:p>
          <a:p>
            <a:pPr lvl="1">
              <a:buNone/>
            </a:pPr>
            <a:endParaRPr lang="en-US" altLang="zh-TW" dirty="0" smtClean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48264" y="5357967"/>
            <a:ext cx="1815877" cy="1217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雲朵形圖說文字 4"/>
          <p:cNvSpPr/>
          <p:nvPr/>
        </p:nvSpPr>
        <p:spPr>
          <a:xfrm>
            <a:off x="899592" y="4869160"/>
            <a:ext cx="5760640" cy="1368152"/>
          </a:xfrm>
          <a:prstGeom prst="cloudCallout">
            <a:avLst>
              <a:gd name="adj1" fmla="val 65873"/>
              <a:gd name="adj2" fmla="val 9375"/>
            </a:avLst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5085184"/>
            <a:ext cx="669347" cy="980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15816" y="5085184"/>
            <a:ext cx="727734" cy="982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95936" y="5085184"/>
            <a:ext cx="924694" cy="924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48064" y="5013176"/>
            <a:ext cx="660665" cy="99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SLA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SLA (Service Level Agreement) is a part of contract that classify the service level</a:t>
            </a:r>
          </a:p>
          <a:p>
            <a:pPr lvl="1"/>
            <a:r>
              <a:rPr lang="en-US" altLang="zh-TW" dirty="0" smtClean="0"/>
              <a:t>Service reliability</a:t>
            </a:r>
          </a:p>
          <a:p>
            <a:pPr lvl="1"/>
            <a:r>
              <a:rPr lang="en-US" altLang="zh-TW" dirty="0" smtClean="0"/>
              <a:t>Performance, include bandwidth, I/O speed, CPU …etc</a:t>
            </a:r>
          </a:p>
          <a:p>
            <a:pPr lvl="1"/>
            <a:r>
              <a:rPr lang="en-US" altLang="zh-TW" dirty="0" smtClean="0"/>
              <a:t>Average downtime</a:t>
            </a:r>
          </a:p>
          <a:p>
            <a:r>
              <a:rPr lang="en-US" altLang="zh-TW" dirty="0" smtClean="0"/>
              <a:t>Consumer can choice the service provider by SLA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4293096"/>
            <a:ext cx="4230638" cy="2469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Contract terms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Contract terms</a:t>
            </a:r>
          </a:p>
          <a:p>
            <a:pPr lvl="1"/>
            <a:r>
              <a:rPr lang="en-US" altLang="zh-TW" dirty="0" err="1" smtClean="0"/>
              <a:t>QoS</a:t>
            </a:r>
            <a:r>
              <a:rPr lang="zh-TW" altLang="en-US" dirty="0" smtClean="0"/>
              <a:t> </a:t>
            </a:r>
            <a:r>
              <a:rPr lang="en-US" altLang="zh-TW" dirty="0" smtClean="0"/>
              <a:t>(Quality of </a:t>
            </a:r>
            <a:r>
              <a:rPr lang="en-US" altLang="zh-TW" dirty="0" err="1" smtClean="0"/>
              <a:t>Servic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computing power, storage size, CPU speed.</a:t>
            </a:r>
          </a:p>
          <a:p>
            <a:pPr lvl="1"/>
            <a:r>
              <a:rPr lang="en-US" altLang="zh-TW" dirty="0" smtClean="0"/>
              <a:t>Management and maintain</a:t>
            </a:r>
          </a:p>
          <a:p>
            <a:pPr lvl="1"/>
            <a:r>
              <a:rPr lang="en-US" altLang="zh-TW" dirty="0" smtClean="0"/>
              <a:t>Mean time between failures, mean  time between response, and error rate</a:t>
            </a:r>
          </a:p>
          <a:p>
            <a:r>
              <a:rPr lang="en-US" altLang="zh-TW" dirty="0" smtClean="0"/>
              <a:t>Refund or compensation</a:t>
            </a:r>
          </a:p>
          <a:p>
            <a:pPr lvl="1"/>
            <a:r>
              <a:rPr lang="en-US" altLang="zh-TW" dirty="0" smtClean="0"/>
              <a:t>Below the guaranteed quality of service</a:t>
            </a:r>
          </a:p>
          <a:p>
            <a:pPr lvl="2"/>
            <a:r>
              <a:rPr lang="zh-TW" altLang="en-US" dirty="0" smtClean="0"/>
              <a:t>≦</a:t>
            </a:r>
            <a:r>
              <a:rPr lang="en-US" altLang="zh-TW" dirty="0" smtClean="0"/>
              <a:t>99%  refund 10% application billing or give some extra quota</a:t>
            </a:r>
          </a:p>
          <a:p>
            <a:pPr lvl="2"/>
            <a:r>
              <a:rPr lang="zh-TW" altLang="en-US" dirty="0" smtClean="0"/>
              <a:t>≦</a:t>
            </a:r>
            <a:r>
              <a:rPr lang="en-US" altLang="zh-TW" dirty="0" smtClean="0"/>
              <a:t>90%  refund 100% application billing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Standards 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OpenID</a:t>
            </a:r>
            <a:r>
              <a:rPr lang="en-US" altLang="zh-TW" dirty="0" smtClean="0"/>
              <a:t> and SSO</a:t>
            </a:r>
          </a:p>
          <a:p>
            <a:r>
              <a:rPr lang="en-US" altLang="zh-TW" dirty="0" smtClean="0"/>
              <a:t>SLA</a:t>
            </a:r>
          </a:p>
          <a:p>
            <a:r>
              <a:rPr lang="en-US" altLang="zh-TW" dirty="0" smtClean="0"/>
              <a:t>REST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HTTP and REST</a:t>
            </a:r>
            <a:endParaRPr lang="zh-TW" altLang="en-US" dirty="0"/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HTTP (</a:t>
            </a:r>
            <a:r>
              <a:rPr lang="en-US" altLang="zh-TW" dirty="0" err="1" smtClean="0"/>
              <a:t>HyperText</a:t>
            </a:r>
            <a:r>
              <a:rPr lang="en-US" altLang="zh-TW" dirty="0" smtClean="0"/>
              <a:t> Transfer Protocol) is a widely used protocol in the Internet</a:t>
            </a:r>
          </a:p>
          <a:p>
            <a:pPr lvl="1"/>
            <a:r>
              <a:rPr lang="en-US" altLang="zh-TW" dirty="0" smtClean="0"/>
              <a:t>The foundation of data communication for the WWW</a:t>
            </a:r>
          </a:p>
          <a:p>
            <a:pPr lvl="1"/>
            <a:r>
              <a:rPr lang="en-US" altLang="zh-TW" dirty="0" smtClean="0"/>
              <a:t>An the application layer</a:t>
            </a:r>
          </a:p>
          <a:p>
            <a:pPr lvl="1"/>
            <a:r>
              <a:rPr lang="en-US" altLang="zh-TW" dirty="0" smtClean="0"/>
              <a:t>HTTP can build on any communication layer (not only TCP), like SSDP (Simple Service Discovery Protocol)</a:t>
            </a:r>
          </a:p>
          <a:p>
            <a:r>
              <a:rPr lang="en-US" altLang="zh-TW" dirty="0" smtClean="0"/>
              <a:t>REST is the three implement methods of  Web Service</a:t>
            </a:r>
          </a:p>
          <a:p>
            <a:pPr lvl="1"/>
            <a:r>
              <a:rPr lang="en-US" altLang="zh-TW" dirty="0" smtClean="0"/>
              <a:t>Compared with SOA and XML-RPC, REST is more concise.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Three components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REST has three basic elements for communications</a:t>
            </a:r>
          </a:p>
          <a:p>
            <a:pPr lvl="1"/>
            <a:r>
              <a:rPr lang="en-US" altLang="zh-TW" dirty="0" smtClean="0"/>
              <a:t>Verbs      - what’s you wants</a:t>
            </a:r>
          </a:p>
          <a:p>
            <a:pPr lvl="2"/>
            <a:r>
              <a:rPr lang="en-US" altLang="zh-TW" dirty="0" smtClean="0"/>
              <a:t>Get image, put username and password, …etc.</a:t>
            </a:r>
          </a:p>
          <a:p>
            <a:pPr lvl="1"/>
            <a:r>
              <a:rPr lang="en-US" altLang="zh-TW" dirty="0" smtClean="0"/>
              <a:t>Nouns    - the target to provide service</a:t>
            </a:r>
          </a:p>
          <a:p>
            <a:pPr lvl="2"/>
            <a:r>
              <a:rPr lang="en-US" altLang="zh-TW" dirty="0" smtClean="0">
                <a:hlinkClick r:id="rId2"/>
              </a:rPr>
              <a:t>www.google.com/</a:t>
            </a:r>
            <a:r>
              <a:rPr lang="en-US" altLang="zh-TW" dirty="0" smtClean="0"/>
              <a:t> or </a:t>
            </a:r>
            <a:r>
              <a:rPr lang="en-US" altLang="zh-TW" dirty="0" smtClean="0">
                <a:hlinkClick r:id="rId3"/>
              </a:rPr>
              <a:t>http://www.youtube.com/watch</a:t>
            </a:r>
            <a:r>
              <a:rPr lang="en-US" altLang="zh-TW" dirty="0" smtClean="0"/>
              <a:t>? , …etc</a:t>
            </a:r>
          </a:p>
          <a:p>
            <a:pPr lvl="1"/>
            <a:r>
              <a:rPr lang="en-US" altLang="zh-TW" dirty="0" smtClean="0"/>
              <a:t>Content – the information or something service needs or response </a:t>
            </a:r>
          </a:p>
          <a:p>
            <a:pPr lvl="2"/>
            <a:r>
              <a:rPr lang="en-US" altLang="zh-TW" dirty="0" smtClean="0"/>
              <a:t>Image, video, something required.</a:t>
            </a:r>
          </a:p>
          <a:p>
            <a:pPr lvl="2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雲朵形圖說文字 24"/>
          <p:cNvSpPr/>
          <p:nvPr/>
        </p:nvSpPr>
        <p:spPr>
          <a:xfrm>
            <a:off x="3851920" y="2348880"/>
            <a:ext cx="3240360" cy="648072"/>
          </a:xfrm>
          <a:prstGeom prst="cloudCallout">
            <a:avLst>
              <a:gd name="adj1" fmla="val -52757"/>
              <a:gd name="adj2" fmla="val -176935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Three components  (cont.)</a:t>
            </a:r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124744"/>
            <a:ext cx="2369840" cy="177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3923928" y="2420888"/>
            <a:ext cx="3239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I want my daddy’s candy</a:t>
            </a:r>
            <a:endParaRPr lang="zh-TW" altLang="en-US" sz="2400" dirty="0"/>
          </a:p>
        </p:txBody>
      </p:sp>
      <p:cxnSp>
        <p:nvCxnSpPr>
          <p:cNvPr id="8" name="直線單箭頭接點 7"/>
          <p:cNvCxnSpPr/>
          <p:nvPr/>
        </p:nvCxnSpPr>
        <p:spPr>
          <a:xfrm rot="10800000" flipV="1">
            <a:off x="3779912" y="2924944"/>
            <a:ext cx="792088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rot="5400000">
            <a:off x="5040052" y="3248980"/>
            <a:ext cx="64807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rot="16200000" flipH="1">
            <a:off x="6444208" y="2996952"/>
            <a:ext cx="576064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圓角矩形 14"/>
          <p:cNvSpPr/>
          <p:nvPr/>
        </p:nvSpPr>
        <p:spPr>
          <a:xfrm>
            <a:off x="2771800" y="3645024"/>
            <a:ext cx="1152128" cy="57606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Want </a:t>
            </a:r>
            <a:endParaRPr lang="zh-TW" altLang="en-US" dirty="0"/>
          </a:p>
        </p:txBody>
      </p:sp>
      <p:sp>
        <p:nvSpPr>
          <p:cNvPr id="16" name="圓角矩形 15"/>
          <p:cNvSpPr/>
          <p:nvPr/>
        </p:nvSpPr>
        <p:spPr>
          <a:xfrm>
            <a:off x="4644008" y="3645024"/>
            <a:ext cx="1440160" cy="57606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My daddy</a:t>
            </a:r>
            <a:endParaRPr lang="zh-TW" altLang="en-US" dirty="0"/>
          </a:p>
        </p:txBody>
      </p:sp>
      <p:sp>
        <p:nvSpPr>
          <p:cNvPr id="17" name="圓角矩形 16"/>
          <p:cNvSpPr/>
          <p:nvPr/>
        </p:nvSpPr>
        <p:spPr>
          <a:xfrm>
            <a:off x="6516216" y="3645024"/>
            <a:ext cx="1440160" cy="57606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Candy </a:t>
            </a:r>
            <a:endParaRPr lang="zh-TW" altLang="en-US" dirty="0"/>
          </a:p>
        </p:txBody>
      </p:sp>
      <p:sp>
        <p:nvSpPr>
          <p:cNvPr id="22" name="橢圓形圖說文字 21"/>
          <p:cNvSpPr/>
          <p:nvPr/>
        </p:nvSpPr>
        <p:spPr>
          <a:xfrm>
            <a:off x="971600" y="4509120"/>
            <a:ext cx="2520280" cy="1008112"/>
          </a:xfrm>
          <a:prstGeom prst="wedgeEllipseCallout">
            <a:avLst>
              <a:gd name="adj1" fmla="val 21594"/>
              <a:gd name="adj2" fmla="val -63505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Maybe eat, play or just hold</a:t>
            </a:r>
            <a:endParaRPr lang="zh-TW" altLang="en-US" dirty="0"/>
          </a:p>
        </p:txBody>
      </p:sp>
      <p:sp>
        <p:nvSpPr>
          <p:cNvPr id="23" name="橢圓形圖說文字 22"/>
          <p:cNvSpPr/>
          <p:nvPr/>
        </p:nvSpPr>
        <p:spPr>
          <a:xfrm>
            <a:off x="6516216" y="4653136"/>
            <a:ext cx="2376264" cy="720080"/>
          </a:xfrm>
          <a:prstGeom prst="wedgeEllipseCallout">
            <a:avLst>
              <a:gd name="adj1" fmla="val -26032"/>
              <a:gd name="adj2" fmla="val -8244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Lollipop, chocolate …etc</a:t>
            </a:r>
            <a:endParaRPr lang="zh-TW" altLang="en-US" dirty="0"/>
          </a:p>
        </p:txBody>
      </p:sp>
      <p:sp>
        <p:nvSpPr>
          <p:cNvPr id="24" name="橢圓形圖說文字 23"/>
          <p:cNvSpPr/>
          <p:nvPr/>
        </p:nvSpPr>
        <p:spPr>
          <a:xfrm>
            <a:off x="4067944" y="4581128"/>
            <a:ext cx="2088232" cy="864096"/>
          </a:xfrm>
          <a:prstGeom prst="wedgeEllipseCallout">
            <a:avLst>
              <a:gd name="adj1" fmla="val 9244"/>
              <a:gd name="adj2" fmla="val -70579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Someone give her a candy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Benefit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Stateless </a:t>
            </a:r>
          </a:p>
          <a:p>
            <a:pPr lvl="1"/>
            <a:r>
              <a:rPr lang="en-US" altLang="zh-TW" dirty="0" smtClean="0"/>
              <a:t>There are no states in REST serve- side, instead</a:t>
            </a:r>
          </a:p>
          <a:p>
            <a:pPr lvl="1"/>
            <a:r>
              <a:rPr lang="en-US" altLang="zh-TW" dirty="0" smtClean="0"/>
              <a:t>User’s request with states can help server parallel processing request.</a:t>
            </a:r>
          </a:p>
          <a:p>
            <a:pPr lvl="1"/>
            <a:r>
              <a:rPr lang="en-US" altLang="zh-TW" dirty="0" smtClean="0"/>
              <a:t>Moreover, REST can cache popular data easier.</a:t>
            </a:r>
          </a:p>
          <a:p>
            <a:pPr lvl="1"/>
            <a:r>
              <a:rPr lang="en-US" altLang="zh-TW" dirty="0" smtClean="0"/>
              <a:t>Service can work normal when server updates or patch without notifying users.</a:t>
            </a:r>
          </a:p>
          <a:p>
            <a:r>
              <a:rPr lang="en-US" altLang="zh-TW" dirty="0" smtClean="0"/>
              <a:t>Client device </a:t>
            </a:r>
          </a:p>
          <a:p>
            <a:pPr lvl="1"/>
            <a:r>
              <a:rPr lang="en-US" altLang="zh-TW" dirty="0" smtClean="0"/>
              <a:t>The browser is the client, reduce the software requirements.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User interface</a:t>
            </a:r>
            <a:endParaRPr lang="zh-TW" altLang="en-US" dirty="0"/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User experience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User experience (UX) is about how a person feel about using a product or service.</a:t>
            </a:r>
          </a:p>
          <a:p>
            <a:pPr lvl="1"/>
            <a:r>
              <a:rPr lang="en-US" altLang="zh-TW" dirty="0" smtClean="0"/>
              <a:t>Highlights the experiential, affective, meaningful and valuable aspects.</a:t>
            </a:r>
          </a:p>
          <a:p>
            <a:pPr lvl="1"/>
            <a:r>
              <a:rPr lang="en-US" altLang="zh-TW" dirty="0" smtClean="0"/>
              <a:t>Include a person’s perceptions, like utility, easy of using and efficiency of system.</a:t>
            </a:r>
          </a:p>
          <a:p>
            <a:r>
              <a:rPr lang="en-US" altLang="zh-TW" dirty="0" smtClean="0"/>
              <a:t>Consider the following scenario </a:t>
            </a:r>
          </a:p>
          <a:p>
            <a:pPr lvl="1"/>
            <a:r>
              <a:rPr lang="en-US" altLang="zh-TW" dirty="0" smtClean="0"/>
              <a:t>Open a web page or click a button</a:t>
            </a:r>
          </a:p>
          <a:p>
            <a:pPr lvl="1"/>
            <a:r>
              <a:rPr lang="en-US" altLang="zh-TW" dirty="0" smtClean="0"/>
              <a:t>Watch the MV on YouTube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Access model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On the other hand, how to supply the service is also important in UX</a:t>
            </a:r>
          </a:p>
          <a:p>
            <a:pPr lvl="1"/>
            <a:r>
              <a:rPr lang="en-US" altLang="zh-TW" dirty="0" smtClean="0"/>
              <a:t>Command line</a:t>
            </a:r>
          </a:p>
          <a:p>
            <a:pPr lvl="1"/>
            <a:r>
              <a:rPr lang="en-US" altLang="zh-TW" dirty="0" smtClean="0"/>
              <a:t>Pure text or static image page?</a:t>
            </a:r>
          </a:p>
          <a:p>
            <a:pPr lvl="1"/>
            <a:r>
              <a:rPr lang="en-US" altLang="zh-TW" dirty="0" smtClean="0"/>
              <a:t>Or interactive interface with video?</a:t>
            </a:r>
          </a:p>
          <a:p>
            <a:pPr lvl="1"/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 r="44990"/>
          <a:stretch>
            <a:fillRect/>
          </a:stretch>
        </p:blipFill>
        <p:spPr bwMode="auto">
          <a:xfrm>
            <a:off x="6012160" y="2348880"/>
            <a:ext cx="2899655" cy="2855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 t="3210"/>
          <a:stretch>
            <a:fillRect/>
          </a:stretch>
        </p:blipFill>
        <p:spPr bwMode="auto">
          <a:xfrm>
            <a:off x="1331640" y="4221088"/>
            <a:ext cx="4141198" cy="217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Device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And more, device also affect the UX</a:t>
            </a:r>
          </a:p>
          <a:p>
            <a:pPr lvl="1"/>
            <a:r>
              <a:rPr lang="en-US" altLang="zh-TW" dirty="0" smtClean="0"/>
              <a:t>How about the </a:t>
            </a:r>
            <a:r>
              <a:rPr lang="en-US" altLang="zh-TW" dirty="0" err="1" smtClean="0"/>
              <a:t>Zuse</a:t>
            </a:r>
            <a:r>
              <a:rPr lang="en-US" altLang="zh-TW" dirty="0" smtClean="0"/>
              <a:t> Z3, the first working programmable computer machine?</a:t>
            </a:r>
          </a:p>
          <a:p>
            <a:pPr lvl="1"/>
            <a:r>
              <a:rPr lang="en-US" altLang="zh-TW" dirty="0" smtClean="0"/>
              <a:t>How about the IBM PC 5150?</a:t>
            </a:r>
          </a:p>
          <a:p>
            <a:pPr lvl="1"/>
            <a:r>
              <a:rPr lang="en-US" altLang="zh-TW" dirty="0" smtClean="0"/>
              <a:t>Or the </a:t>
            </a:r>
            <a:r>
              <a:rPr lang="en-US" altLang="zh-TW" dirty="0" err="1" smtClean="0"/>
              <a:t>iPad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2996952"/>
            <a:ext cx="2400267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7984" y="4149080"/>
            <a:ext cx="1997365" cy="1443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15616" y="4509120"/>
            <a:ext cx="2702479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User interface</a:t>
            </a:r>
            <a:endParaRPr lang="zh-TW" altLang="en-US" dirty="0"/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Web Technique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Client Device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Browser is the important media of Internet service</a:t>
            </a:r>
          </a:p>
          <a:p>
            <a:pPr lvl="1"/>
            <a:r>
              <a:rPr lang="en-US" altLang="zh-TW" dirty="0" smtClean="0"/>
              <a:t>Use browser to read or watch news, gossiping, videos or something you interesting.</a:t>
            </a:r>
          </a:p>
          <a:p>
            <a:pPr lvl="1"/>
            <a:r>
              <a:rPr lang="en-US" altLang="zh-TW" dirty="0" smtClean="0"/>
              <a:t>Communicate with friends or make new friends in Internet.</a:t>
            </a:r>
          </a:p>
          <a:p>
            <a:r>
              <a:rPr lang="en-US" altLang="zh-TW" dirty="0" smtClean="0"/>
              <a:t>Websites supply many things, like text, image or video, to users</a:t>
            </a:r>
          </a:p>
          <a:p>
            <a:pPr lvl="1"/>
            <a:r>
              <a:rPr lang="en-US" altLang="zh-TW" dirty="0" smtClean="0"/>
              <a:t>How to provide things users like?</a:t>
            </a:r>
          </a:p>
          <a:p>
            <a:pPr lvl="1"/>
            <a:r>
              <a:rPr lang="en-US" altLang="zh-TW" dirty="0" smtClean="0"/>
              <a:t>How to attract the user’s attention?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Access model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User interface most affect the user’s feel</a:t>
            </a:r>
          </a:p>
          <a:p>
            <a:pPr lvl="1"/>
            <a:r>
              <a:rPr lang="en-US" altLang="zh-TW" dirty="0" smtClean="0"/>
              <a:t>Terminal is the original interface, and user afraid to use it.</a:t>
            </a:r>
          </a:p>
          <a:p>
            <a:pPr lvl="1"/>
            <a:r>
              <a:rPr lang="en-US" altLang="zh-TW" dirty="0" smtClean="0"/>
              <a:t>Graph user interface (GUI) is more friendly to user, but it is hard to cross platform.</a:t>
            </a:r>
          </a:p>
          <a:p>
            <a:pPr lvl="1"/>
            <a:r>
              <a:rPr lang="en-US" altLang="zh-TW" dirty="0" smtClean="0"/>
              <a:t>Web-based interface (WUI) is a subclass of GUI, and most of all computer has browser.</a:t>
            </a:r>
          </a:p>
          <a:p>
            <a:pPr lvl="1"/>
            <a:r>
              <a:rPr lang="en-US" altLang="zh-TW" dirty="0" smtClean="0"/>
              <a:t>Touch-screen is the newest display model, user can control the monitor without keyboard and mouse.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Web-based Interface 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Web-based interface is most popular in recent years</a:t>
            </a:r>
          </a:p>
          <a:p>
            <a:pPr lvl="1"/>
            <a:r>
              <a:rPr lang="en-US" altLang="zh-TW" dirty="0" smtClean="0"/>
              <a:t>Web 1.0 gives users a new feeling, and change the user’s behavior of using computer.</a:t>
            </a:r>
          </a:p>
          <a:p>
            <a:pPr lvl="1"/>
            <a:r>
              <a:rPr lang="en-US" altLang="zh-TW" dirty="0" smtClean="0"/>
              <a:t>But web 1.0 provide static information, like image and text, that cannot meet the needs of current users.</a:t>
            </a:r>
          </a:p>
          <a:p>
            <a:pPr lvl="1"/>
            <a:r>
              <a:rPr lang="en-US" altLang="zh-TW" dirty="0" smtClean="0"/>
              <a:t>Web 2.0 is a group of new technique that can interact with users.</a:t>
            </a:r>
          </a:p>
          <a:p>
            <a:pPr lvl="1"/>
            <a:r>
              <a:rPr lang="en-US" altLang="zh-TW" dirty="0" smtClean="0"/>
              <a:t>Web 2.0 provides social network, web-games and more rich web service to users.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WUI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Web 2.0 integrates many new technique </a:t>
            </a:r>
          </a:p>
          <a:p>
            <a:pPr lvl="1"/>
            <a:r>
              <a:rPr lang="en-US" altLang="zh-TW" dirty="0" smtClean="0"/>
              <a:t>Two-way message protocol, like </a:t>
            </a:r>
            <a:r>
              <a:rPr lang="en-US" altLang="zh-TW" dirty="0" err="1" smtClean="0"/>
              <a:t>XMLHttp</a:t>
            </a:r>
            <a:r>
              <a:rPr lang="en-US" altLang="zh-TW" dirty="0" smtClean="0"/>
              <a:t>,  is used to communicate between users and sites without reload full web page.</a:t>
            </a:r>
          </a:p>
          <a:p>
            <a:pPr lvl="1"/>
            <a:r>
              <a:rPr lang="en-US" altLang="zh-TW" dirty="0" smtClean="0"/>
              <a:t>JavaScript provides rich and vivid interface that improves user experience </a:t>
            </a:r>
          </a:p>
          <a:p>
            <a:pPr lvl="1"/>
            <a:r>
              <a:rPr lang="en-US" altLang="zh-TW" dirty="0" smtClean="0"/>
              <a:t>Service-oriented architecture (SOA). Web application expose its functionality so that other can leverage and integrate this service.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 technique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Web 2.0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Application 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195" name="Picture 3" descr="C:\Users\cmj\Pictures\圖片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332656"/>
            <a:ext cx="4533747" cy="36878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Interactive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In Web 2.0, web sites or web applications supply more interesting interface and functionality to users</a:t>
            </a:r>
          </a:p>
          <a:p>
            <a:pPr lvl="1"/>
            <a:r>
              <a:rPr lang="en-US" altLang="zh-TW" dirty="0" smtClean="0"/>
              <a:t>Web games</a:t>
            </a:r>
          </a:p>
          <a:p>
            <a:pPr lvl="1"/>
            <a:r>
              <a:rPr lang="en-US" altLang="zh-TW" dirty="0" smtClean="0"/>
              <a:t>Social networking sites</a:t>
            </a:r>
          </a:p>
          <a:p>
            <a:pPr lvl="1"/>
            <a:r>
              <a:rPr lang="en-US" altLang="zh-TW" dirty="0" smtClean="0"/>
              <a:t>…etc</a:t>
            </a:r>
          </a:p>
          <a:p>
            <a:r>
              <a:rPr lang="en-US" altLang="zh-TW" dirty="0" smtClean="0"/>
              <a:t>The important element of success</a:t>
            </a:r>
          </a:p>
          <a:p>
            <a:pPr lvl="1"/>
            <a:r>
              <a:rPr lang="en-US" altLang="zh-TW" dirty="0" smtClean="0"/>
              <a:t>Interact with other users on the world</a:t>
            </a:r>
          </a:p>
          <a:p>
            <a:pPr lvl="1"/>
            <a:endParaRPr lang="zh-TW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2492896"/>
            <a:ext cx="2584090" cy="1834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200" y="4725144"/>
            <a:ext cx="2592288" cy="1879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Ajax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Ajax (Asynchronous JavaScript and XML) is the technique that achieve the interaction between human</a:t>
            </a:r>
          </a:p>
          <a:p>
            <a:pPr lvl="1"/>
            <a:r>
              <a:rPr lang="en-US" altLang="zh-TW" dirty="0" smtClean="0"/>
              <a:t>Ajax is not a single technique, instead, is a group of technique include </a:t>
            </a:r>
          </a:p>
          <a:p>
            <a:pPr lvl="2"/>
            <a:r>
              <a:rPr lang="en-US" altLang="zh-TW" dirty="0" err="1" smtClean="0"/>
              <a:t>JavasSript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CSS</a:t>
            </a:r>
          </a:p>
          <a:p>
            <a:pPr lvl="2"/>
            <a:r>
              <a:rPr lang="en-US" altLang="zh-TW" dirty="0" smtClean="0"/>
              <a:t>Dom (document object model)</a:t>
            </a:r>
          </a:p>
          <a:p>
            <a:pPr lvl="2"/>
            <a:r>
              <a:rPr lang="en-US" altLang="zh-TW" dirty="0" err="1" smtClean="0"/>
              <a:t>XMLHTTPRequest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…etc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Ajax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Basically, web 2.0 is constructed on the web 1.0</a:t>
            </a:r>
          </a:p>
          <a:p>
            <a:pPr lvl="1"/>
            <a:r>
              <a:rPr lang="en-US" altLang="zh-TW" dirty="0" smtClean="0"/>
              <a:t>Basic HTTP protocol, like hyperlinks, images or text</a:t>
            </a:r>
          </a:p>
          <a:p>
            <a:r>
              <a:rPr lang="en-US" altLang="zh-TW" dirty="0" smtClean="0"/>
              <a:t>JavaScript is the widely used in the form of client-side</a:t>
            </a:r>
          </a:p>
          <a:p>
            <a:pPr lvl="1"/>
            <a:r>
              <a:rPr lang="en-US" altLang="zh-TW" dirty="0" smtClean="0"/>
              <a:t>Supply the rich and interactive interface</a:t>
            </a:r>
          </a:p>
          <a:p>
            <a:r>
              <a:rPr lang="en-US" altLang="zh-TW" dirty="0" smtClean="0"/>
              <a:t>…and contains the CSS (Cascading Style Sheets) that </a:t>
            </a:r>
          </a:p>
          <a:p>
            <a:pPr lvl="1"/>
            <a:r>
              <a:rPr lang="en-US" altLang="zh-TW" dirty="0" smtClean="0"/>
              <a:t>Separate the construction and views </a:t>
            </a:r>
          </a:p>
          <a:p>
            <a:pPr lvl="1"/>
            <a:r>
              <a:rPr lang="en-US" altLang="zh-TW" dirty="0" smtClean="0"/>
              <a:t>Increase the readability of the original file</a:t>
            </a:r>
          </a:p>
          <a:p>
            <a:pPr lvl="1"/>
            <a:r>
              <a:rPr lang="en-US" altLang="zh-TW" dirty="0" smtClean="0"/>
              <a:t>Can be customized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DOM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DOM is a standard interface to process the XML files</a:t>
            </a:r>
          </a:p>
          <a:p>
            <a:pPr lvl="1"/>
            <a:r>
              <a:rPr lang="en-US" altLang="zh-TW" dirty="0" smtClean="0"/>
              <a:t>Can store the XML in the memory that can delete, modify and rearrange immediately</a:t>
            </a:r>
          </a:p>
          <a:p>
            <a:pPr lvl="1"/>
            <a:r>
              <a:rPr lang="en-US" altLang="zh-TW" dirty="0" smtClean="0"/>
              <a:t>Like cache, server can improve the performance </a:t>
            </a:r>
          </a:p>
          <a:p>
            <a:pPr lvl="1"/>
            <a:r>
              <a:rPr lang="en-US" altLang="zh-TW" dirty="0" smtClean="0"/>
              <a:t>But all of data, include the useless node and information, would also store into memory that waste the time and space.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XMLHTTPRequest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the begin, user need to get a new web page only re-flush the web page</a:t>
            </a:r>
          </a:p>
          <a:p>
            <a:pPr lvl="1"/>
            <a:r>
              <a:rPr lang="en-US" altLang="zh-TW" dirty="0" smtClean="0"/>
              <a:t>Waste time</a:t>
            </a:r>
          </a:p>
          <a:p>
            <a:pPr lvl="1"/>
            <a:r>
              <a:rPr lang="en-US" altLang="zh-TW" dirty="0" smtClean="0"/>
              <a:t>Could be slow down the server performance</a:t>
            </a:r>
          </a:p>
          <a:p>
            <a:r>
              <a:rPr lang="en-US" altLang="zh-TW" dirty="0" err="1" smtClean="0"/>
              <a:t>XMLHTTPRequest</a:t>
            </a:r>
            <a:r>
              <a:rPr lang="en-US" altLang="zh-TW" dirty="0" smtClean="0"/>
              <a:t> is the library of JavaScript, VBScript or else used in browser</a:t>
            </a:r>
          </a:p>
          <a:p>
            <a:pPr lvl="1"/>
            <a:r>
              <a:rPr lang="en-US" altLang="zh-TW" dirty="0" smtClean="0"/>
              <a:t>Send or receive XML and message between web server and browser</a:t>
            </a:r>
          </a:p>
          <a:p>
            <a:pPr lvl="1"/>
            <a:r>
              <a:rPr lang="en-US" altLang="zh-TW" dirty="0" smtClean="0"/>
              <a:t>Dynamically change or update the web pages without any plug-in or re-flush all web page</a:t>
            </a:r>
          </a:p>
          <a:p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 technique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Web 2.0</a:t>
            </a:r>
          </a:p>
          <a:p>
            <a:r>
              <a:rPr lang="en-US" altLang="zh-TW" dirty="0" smtClean="0"/>
              <a:t>Application </a:t>
            </a:r>
            <a:endParaRPr lang="zh-TW" altLang="en-US" dirty="0"/>
          </a:p>
        </p:txBody>
      </p:sp>
      <p:pic>
        <p:nvPicPr>
          <p:cNvPr id="8" name="Picture 3" descr="C:\Users\cmj\Pictures\圖片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332656"/>
            <a:ext cx="4533747" cy="36878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Application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Traditional application</a:t>
            </a:r>
          </a:p>
          <a:p>
            <a:pPr lvl="1"/>
            <a:r>
              <a:rPr lang="en-US" altLang="zh-TW" dirty="0" smtClean="0"/>
              <a:t>Download to local computer</a:t>
            </a:r>
          </a:p>
          <a:p>
            <a:pPr lvl="1"/>
            <a:r>
              <a:rPr lang="en-US" altLang="zh-TW" dirty="0" smtClean="0"/>
              <a:t>Install or decompression</a:t>
            </a:r>
          </a:p>
          <a:p>
            <a:pPr lvl="1"/>
            <a:r>
              <a:rPr lang="en-US" altLang="zh-TW" dirty="0" smtClean="0"/>
              <a:t>Concerned about  the compatibility of the system</a:t>
            </a:r>
          </a:p>
          <a:p>
            <a:pPr lvl="1"/>
            <a:r>
              <a:rPr lang="en-US" altLang="zh-TW" dirty="0" smtClean="0"/>
              <a:t>Concerned about the storage space and memory size</a:t>
            </a:r>
          </a:p>
          <a:p>
            <a:pPr lvl="1"/>
            <a:r>
              <a:rPr lang="en-US" altLang="zh-TW" dirty="0" smtClean="0"/>
              <a:t>Uninstall when no longer in use</a:t>
            </a:r>
            <a:endParaRPr lang="zh-TW" altLang="en-US" dirty="0"/>
          </a:p>
        </p:txBody>
      </p:sp>
      <p:sp>
        <p:nvSpPr>
          <p:cNvPr id="4" name="流程圖: 程序 3"/>
          <p:cNvSpPr/>
          <p:nvPr/>
        </p:nvSpPr>
        <p:spPr>
          <a:xfrm>
            <a:off x="467544" y="4437112"/>
            <a:ext cx="1728192" cy="720080"/>
          </a:xfrm>
          <a:prstGeom prst="flowChart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Download </a:t>
            </a:r>
            <a:endParaRPr lang="zh-TW" altLang="en-US" dirty="0"/>
          </a:p>
        </p:txBody>
      </p:sp>
      <p:sp>
        <p:nvSpPr>
          <p:cNvPr id="5" name="流程圖: 程序 4"/>
          <p:cNvSpPr/>
          <p:nvPr/>
        </p:nvSpPr>
        <p:spPr>
          <a:xfrm>
            <a:off x="2771800" y="4437112"/>
            <a:ext cx="1728192" cy="720080"/>
          </a:xfrm>
          <a:prstGeom prst="flowChart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Install </a:t>
            </a:r>
            <a:endParaRPr lang="zh-TW" altLang="en-US" dirty="0"/>
          </a:p>
        </p:txBody>
      </p:sp>
      <p:sp>
        <p:nvSpPr>
          <p:cNvPr id="7" name="流程圖: 決策 6"/>
          <p:cNvSpPr/>
          <p:nvPr/>
        </p:nvSpPr>
        <p:spPr>
          <a:xfrm>
            <a:off x="5004048" y="4437112"/>
            <a:ext cx="2880320" cy="792088"/>
          </a:xfrm>
          <a:prstGeom prst="flowChartDecisi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Compatibility </a:t>
            </a:r>
            <a:endParaRPr lang="zh-TW" altLang="en-US" dirty="0"/>
          </a:p>
        </p:txBody>
      </p:sp>
      <p:sp>
        <p:nvSpPr>
          <p:cNvPr id="8" name="流程圖: 程序 7"/>
          <p:cNvSpPr/>
          <p:nvPr/>
        </p:nvSpPr>
        <p:spPr>
          <a:xfrm>
            <a:off x="467544" y="5805264"/>
            <a:ext cx="1728192" cy="720080"/>
          </a:xfrm>
          <a:prstGeom prst="flowChart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Uninstall </a:t>
            </a:r>
            <a:endParaRPr lang="zh-TW" altLang="en-US" dirty="0"/>
          </a:p>
        </p:txBody>
      </p:sp>
      <p:sp>
        <p:nvSpPr>
          <p:cNvPr id="9" name="流程圖: 決策 8"/>
          <p:cNvSpPr/>
          <p:nvPr/>
        </p:nvSpPr>
        <p:spPr>
          <a:xfrm>
            <a:off x="3851920" y="5805264"/>
            <a:ext cx="2880320" cy="792088"/>
          </a:xfrm>
          <a:prstGeom prst="flowChartDecisi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Performance </a:t>
            </a:r>
            <a:endParaRPr lang="zh-TW" altLang="en-US" dirty="0"/>
          </a:p>
        </p:txBody>
      </p:sp>
      <p:cxnSp>
        <p:nvCxnSpPr>
          <p:cNvPr id="11" name="直線單箭頭接點 10"/>
          <p:cNvCxnSpPr/>
          <p:nvPr/>
        </p:nvCxnSpPr>
        <p:spPr>
          <a:xfrm>
            <a:off x="2267744" y="4797152"/>
            <a:ext cx="36004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4572000" y="4797152"/>
            <a:ext cx="36004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 rot="5400000">
            <a:off x="5616513" y="5336815"/>
            <a:ext cx="576064" cy="36083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rot="10800000">
            <a:off x="2555776" y="6165304"/>
            <a:ext cx="936104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rot="5400000" flipH="1" flipV="1">
            <a:off x="1043608" y="5517232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Web Application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Web application </a:t>
            </a:r>
          </a:p>
          <a:p>
            <a:pPr lvl="1"/>
            <a:r>
              <a:rPr lang="en-US" altLang="zh-TW" dirty="0" smtClean="0"/>
              <a:t>Link to web sites</a:t>
            </a:r>
          </a:p>
          <a:p>
            <a:pPr lvl="1"/>
            <a:r>
              <a:rPr lang="en-US" altLang="zh-TW" dirty="0" smtClean="0"/>
              <a:t>Try it</a:t>
            </a:r>
          </a:p>
          <a:p>
            <a:pPr lvl="1"/>
            <a:r>
              <a:rPr lang="en-US" altLang="zh-TW" dirty="0" smtClean="0"/>
              <a:t>Close the browser</a:t>
            </a:r>
          </a:p>
          <a:p>
            <a:r>
              <a:rPr lang="en-US" altLang="zh-TW" dirty="0" smtClean="0"/>
              <a:t>Compared with traditional application, web application is </a:t>
            </a:r>
          </a:p>
          <a:p>
            <a:pPr lvl="1"/>
            <a:r>
              <a:rPr lang="en-US" altLang="zh-TW" dirty="0" smtClean="0"/>
              <a:t>More simple and convenience</a:t>
            </a:r>
          </a:p>
          <a:p>
            <a:pPr lvl="1"/>
            <a:r>
              <a:rPr lang="en-US" altLang="zh-TW" dirty="0" smtClean="0"/>
              <a:t>Reduce the cost of storage space</a:t>
            </a:r>
          </a:p>
          <a:p>
            <a:pPr lvl="1"/>
            <a:r>
              <a:rPr lang="en-US" altLang="zh-TW" dirty="0" smtClean="0"/>
              <a:t>Need not to update</a:t>
            </a:r>
          </a:p>
          <a:p>
            <a:pPr lvl="1"/>
            <a:r>
              <a:rPr lang="en-US" altLang="zh-TW" dirty="0" smtClean="0"/>
              <a:t>Cross-platform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Drawbacks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Browser </a:t>
            </a:r>
          </a:p>
          <a:p>
            <a:pPr lvl="1"/>
            <a:r>
              <a:rPr lang="en-US" altLang="zh-TW" dirty="0" smtClean="0"/>
              <a:t>If the browser cannot support the functionality, applications would not work normally</a:t>
            </a:r>
          </a:p>
          <a:p>
            <a:pPr lvl="1"/>
            <a:r>
              <a:rPr lang="en-US" altLang="zh-TW" dirty="0" smtClean="0"/>
              <a:t>In general, web applications cannot work off-line</a:t>
            </a:r>
          </a:p>
          <a:p>
            <a:r>
              <a:rPr lang="en-US" altLang="zh-TW" dirty="0" smtClean="0"/>
              <a:t>Application </a:t>
            </a:r>
          </a:p>
          <a:p>
            <a:pPr lvl="1"/>
            <a:r>
              <a:rPr lang="en-US" altLang="zh-TW" dirty="0" smtClean="0"/>
              <a:t>Most of web applications are not open source and cannot customized easily</a:t>
            </a:r>
          </a:p>
          <a:p>
            <a:pPr lvl="1"/>
            <a:r>
              <a:rPr lang="en-US" altLang="zh-TW" dirty="0" smtClean="0"/>
              <a:t>Entirely dependent on vendor</a:t>
            </a:r>
          </a:p>
          <a:p>
            <a:pPr lvl="2"/>
            <a:r>
              <a:rPr lang="en-US" altLang="zh-TW" dirty="0" smtClean="0"/>
              <a:t>Stop service when vendor close down</a:t>
            </a:r>
          </a:p>
          <a:p>
            <a:pPr lvl="1"/>
            <a:r>
              <a:rPr lang="en-US" altLang="zh-TW" dirty="0" smtClean="0"/>
              <a:t>Company can search any data or behavior of users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WebOS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WebOS</a:t>
            </a:r>
            <a:r>
              <a:rPr lang="en-US" altLang="zh-TW" dirty="0" smtClean="0"/>
              <a:t> is a group of web applications that run as a operating system in Internet</a:t>
            </a:r>
          </a:p>
          <a:p>
            <a:pPr lvl="1"/>
            <a:r>
              <a:rPr lang="en-US" altLang="zh-TW" dirty="0" smtClean="0"/>
              <a:t>Like web application, but more powerful</a:t>
            </a:r>
          </a:p>
          <a:p>
            <a:pPr lvl="1"/>
            <a:r>
              <a:rPr lang="en-US" altLang="zh-TW" dirty="0" smtClean="0"/>
              <a:t>Provides many applications</a:t>
            </a:r>
          </a:p>
          <a:p>
            <a:pPr lvl="2"/>
            <a:r>
              <a:rPr lang="en-US" altLang="zh-TW" dirty="0" smtClean="0"/>
              <a:t>Like notepad, music player …etc</a:t>
            </a:r>
          </a:p>
          <a:p>
            <a:pPr lvl="1"/>
            <a:r>
              <a:rPr lang="en-US" altLang="zh-TW" dirty="0" smtClean="0"/>
              <a:t>Without a physical storage</a:t>
            </a:r>
          </a:p>
          <a:p>
            <a:pPr lvl="2"/>
            <a:r>
              <a:rPr lang="en-US" altLang="zh-TW" dirty="0" smtClean="0"/>
              <a:t>instead, all data and application are in the server side</a:t>
            </a:r>
          </a:p>
          <a:p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eyeOS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eyeOS</a:t>
            </a:r>
            <a:r>
              <a:rPr lang="en-US" altLang="zh-TW" dirty="0" smtClean="0"/>
              <a:t> is a open-source browser based web desktop</a:t>
            </a:r>
          </a:p>
          <a:p>
            <a:pPr lvl="1"/>
            <a:r>
              <a:rPr lang="en-US" altLang="zh-TW" dirty="0" smtClean="0"/>
              <a:t>Based on LAMP</a:t>
            </a:r>
          </a:p>
          <a:p>
            <a:pPr lvl="1"/>
            <a:r>
              <a:rPr lang="en-US" altLang="zh-TW" dirty="0" smtClean="0"/>
              <a:t>Work like a normal OS and simple to use</a:t>
            </a:r>
          </a:p>
          <a:p>
            <a:pPr lvl="2"/>
            <a:r>
              <a:rPr lang="en-US" altLang="zh-TW" dirty="0" smtClean="0"/>
              <a:t>Just like use web application</a:t>
            </a:r>
          </a:p>
          <a:p>
            <a:pPr lvl="1"/>
            <a:r>
              <a:rPr lang="en-US" altLang="zh-TW" dirty="0" smtClean="0"/>
              <a:t>Reduce the cost</a:t>
            </a:r>
          </a:p>
          <a:p>
            <a:pPr lvl="2"/>
            <a:r>
              <a:rPr lang="en-US" altLang="zh-TW" dirty="0" smtClean="0"/>
              <a:t>A device with Internet access</a:t>
            </a:r>
          </a:p>
          <a:p>
            <a:pPr lvl="2"/>
            <a:r>
              <a:rPr lang="en-US" altLang="zh-TW" dirty="0" smtClean="0"/>
              <a:t>A browser</a:t>
            </a:r>
          </a:p>
          <a:p>
            <a:pPr lvl="1"/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t="10904" r="63776" b="33851"/>
          <a:stretch>
            <a:fillRect/>
          </a:stretch>
        </p:blipFill>
        <p:spPr bwMode="auto">
          <a:xfrm>
            <a:off x="5004048" y="3429000"/>
            <a:ext cx="3960440" cy="3271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User Interface</a:t>
            </a:r>
            <a:endParaRPr lang="zh-TW" altLang="en-US" dirty="0"/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Web Technique</a:t>
            </a:r>
          </a:p>
          <a:p>
            <a:r>
              <a:rPr lang="en-US" altLang="zh-TW" smtClean="0"/>
              <a:t>Client Device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Client device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Client devices also affect user experience</a:t>
            </a:r>
          </a:p>
          <a:p>
            <a:pPr lvl="1"/>
            <a:r>
              <a:rPr lang="en-US" altLang="zh-TW" dirty="0" smtClean="0"/>
              <a:t>The client device is expensive or cheap?</a:t>
            </a:r>
          </a:p>
          <a:p>
            <a:pPr lvl="1"/>
            <a:r>
              <a:rPr lang="en-US" altLang="zh-TW" dirty="0" smtClean="0"/>
              <a:t>The client device is heavy or light?</a:t>
            </a:r>
          </a:p>
          <a:p>
            <a:pPr lvl="1"/>
            <a:r>
              <a:rPr lang="en-US" altLang="zh-TW" dirty="0" smtClean="0"/>
              <a:t>The client device is useful or redundant?</a:t>
            </a:r>
          </a:p>
          <a:p>
            <a:r>
              <a:rPr lang="en-US" altLang="zh-TW" dirty="0" smtClean="0"/>
              <a:t>Precisely, what kind of devices we need?</a:t>
            </a:r>
            <a:endParaRPr lang="en-US" altLang="zh-TW" dirty="0"/>
          </a:p>
          <a:p>
            <a:pPr lvl="1"/>
            <a:endParaRPr lang="en-US" altLang="zh-TW" dirty="0" smtClean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4149080"/>
            <a:ext cx="2719507" cy="183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80112" y="4221088"/>
            <a:ext cx="2657872" cy="1495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5157192"/>
            <a:ext cx="1227456" cy="1377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Client device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Thin client </a:t>
            </a:r>
            <a:r>
              <a:rPr lang="en-US" altLang="zh-TW" dirty="0" err="1" smtClean="0"/>
              <a:t>andThick</a:t>
            </a:r>
            <a:r>
              <a:rPr lang="en-US" altLang="zh-TW" dirty="0" smtClean="0"/>
              <a:t> client 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Mobile device</a:t>
            </a:r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Picture 2" descr="C:\Users\cmj\Pictures\圖片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260648"/>
            <a:ext cx="4499992" cy="366042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Thin client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If user care the price of the device or the usage of time</a:t>
            </a:r>
          </a:p>
          <a:p>
            <a:pPr lvl="1"/>
            <a:r>
              <a:rPr lang="en-US" altLang="zh-TW" dirty="0" smtClean="0"/>
              <a:t>Keep the core functionality and necessary interface</a:t>
            </a:r>
          </a:p>
          <a:p>
            <a:pPr lvl="2"/>
            <a:r>
              <a:rPr lang="en-US" altLang="zh-TW" dirty="0" smtClean="0"/>
              <a:t>Reduce the hardware and design cost.</a:t>
            </a:r>
          </a:p>
          <a:p>
            <a:pPr lvl="2"/>
            <a:r>
              <a:rPr lang="en-US" altLang="zh-TW" dirty="0" smtClean="0"/>
              <a:t>Reduce the energy usage.</a:t>
            </a:r>
          </a:p>
          <a:p>
            <a:pPr lvl="2"/>
            <a:r>
              <a:rPr lang="en-US" altLang="zh-TW" dirty="0" smtClean="0"/>
              <a:t>Reduce the management and maintain loading.</a:t>
            </a:r>
          </a:p>
          <a:p>
            <a:pPr lvl="1"/>
            <a:r>
              <a:rPr lang="en-US" altLang="zh-TW" dirty="0" smtClean="0"/>
              <a:t>remove hard disk, heavy OS …etc.</a:t>
            </a:r>
          </a:p>
          <a:p>
            <a:pPr lvl="2"/>
            <a:r>
              <a:rPr lang="en-US" altLang="zh-TW" dirty="0" smtClean="0"/>
              <a:t>Only reserve a monitor, I/O interface, communication interface and flash memory or CD-ROM.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Benefit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Management </a:t>
            </a:r>
          </a:p>
          <a:p>
            <a:pPr lvl="1"/>
            <a:r>
              <a:rPr lang="en-US" altLang="zh-TW" dirty="0" smtClean="0"/>
              <a:t>Remove the mechanical movable devices, like HDD or CD-ROM, can reduce the ratio of failure</a:t>
            </a:r>
          </a:p>
          <a:p>
            <a:pPr lvl="1"/>
            <a:r>
              <a:rPr lang="en-US" altLang="zh-TW" dirty="0" smtClean="0"/>
              <a:t>Lots of data would not store in the client</a:t>
            </a:r>
          </a:p>
          <a:p>
            <a:r>
              <a:rPr lang="en-US" altLang="zh-TW" dirty="0" smtClean="0"/>
              <a:t>Cost </a:t>
            </a:r>
          </a:p>
          <a:p>
            <a:pPr lvl="1"/>
            <a:r>
              <a:rPr lang="en-US" altLang="zh-TW" dirty="0" smtClean="0"/>
              <a:t>It would reduce the total cost without HDD, CD-ROM and high performance CPU</a:t>
            </a:r>
          </a:p>
          <a:p>
            <a:pPr lvl="1"/>
            <a:r>
              <a:rPr lang="en-US" altLang="zh-TW" dirty="0" smtClean="0"/>
              <a:t>Removed the extra hardware, it is low energy consumption.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 </a:t>
            </a:r>
            <a:r>
              <a:rPr lang="en-US" altLang="zh-TW" dirty="0" err="1" smtClean="0"/>
              <a:t>vs</a:t>
            </a:r>
            <a:r>
              <a:rPr lang="en-US" altLang="zh-TW" dirty="0" smtClean="0"/>
              <a:t> Thick Client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Thick clients, also call heavy clients, are full-featured computers</a:t>
            </a:r>
          </a:p>
          <a:p>
            <a:pPr lvl="1"/>
            <a:r>
              <a:rPr lang="en-US" altLang="zh-TW" dirty="0" smtClean="0"/>
              <a:t>Compared with thin client that loss full functionality without a network connection, thick can provide a fully functionality.</a:t>
            </a:r>
          </a:p>
          <a:p>
            <a:pPr lvl="1"/>
            <a:r>
              <a:rPr lang="en-US" altLang="zh-TW" dirty="0" smtClean="0"/>
              <a:t>Compared with thin client, thick client is more heavy and complexity that would be used carefully.</a:t>
            </a:r>
          </a:p>
          <a:p>
            <a:r>
              <a:rPr lang="en-US" altLang="zh-TW" dirty="0" smtClean="0"/>
              <a:t>Both of two are used in many scenario</a:t>
            </a:r>
          </a:p>
          <a:p>
            <a:pPr lvl="1"/>
            <a:r>
              <a:rPr lang="en-US" altLang="zh-TW" dirty="0" smtClean="0"/>
              <a:t>Need to compute complexity jobs</a:t>
            </a:r>
          </a:p>
          <a:p>
            <a:pPr lvl="1"/>
            <a:r>
              <a:rPr lang="en-US" altLang="zh-TW" dirty="0" smtClean="0"/>
              <a:t>Need to work in everywhere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Client device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Thin client </a:t>
            </a:r>
            <a:r>
              <a:rPr lang="en-US" altLang="zh-TW" dirty="0" err="1" smtClean="0"/>
              <a:t>andThick</a:t>
            </a:r>
            <a:r>
              <a:rPr lang="en-US" altLang="zh-TW" dirty="0" smtClean="0"/>
              <a:t> client </a:t>
            </a:r>
          </a:p>
          <a:p>
            <a:r>
              <a:rPr lang="en-US" altLang="zh-TW" dirty="0" smtClean="0"/>
              <a:t>Mobile device</a:t>
            </a:r>
            <a:endParaRPr lang="zh-TW" altLang="en-US" dirty="0"/>
          </a:p>
        </p:txBody>
      </p:sp>
      <p:pic>
        <p:nvPicPr>
          <p:cNvPr id="2050" name="Picture 2" descr="C:\Users\cmj\Pictures\圖片9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260648"/>
            <a:ext cx="4499992" cy="366042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Mobile device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Focus on the size of device and  easy to use</a:t>
            </a:r>
          </a:p>
          <a:p>
            <a:pPr lvl="1"/>
            <a:r>
              <a:rPr lang="en-US" altLang="zh-TW" dirty="0" err="1" smtClean="0"/>
              <a:t>Wifi</a:t>
            </a:r>
            <a:r>
              <a:rPr lang="en-US" altLang="zh-TW" dirty="0" smtClean="0"/>
              <a:t> is popular and widely used in the campus and commercial district</a:t>
            </a:r>
          </a:p>
          <a:p>
            <a:pPr lvl="1"/>
            <a:r>
              <a:rPr lang="en-US" altLang="zh-TW" dirty="0" smtClean="0"/>
              <a:t>Users may want to visit the website on the crowded bus to find the nearest restaurant.</a:t>
            </a:r>
          </a:p>
          <a:p>
            <a:r>
              <a:rPr lang="en-US" altLang="zh-TW" dirty="0" smtClean="0"/>
              <a:t>Different with desktop, user use mobile device for increasing efficiency that</a:t>
            </a:r>
          </a:p>
          <a:p>
            <a:pPr lvl="1"/>
            <a:r>
              <a:rPr lang="en-US" altLang="zh-TW" dirty="0" smtClean="0"/>
              <a:t>Sending and receiving e-mail.</a:t>
            </a:r>
          </a:p>
          <a:p>
            <a:pPr lvl="1"/>
            <a:r>
              <a:rPr lang="en-US" altLang="zh-TW" dirty="0" smtClean="0"/>
              <a:t>Finding the road map.</a:t>
            </a:r>
          </a:p>
          <a:p>
            <a:pPr lvl="1"/>
            <a:r>
              <a:rPr lang="en-US" altLang="zh-TW" dirty="0" smtClean="0"/>
              <a:t>…etc.</a:t>
            </a:r>
          </a:p>
          <a:p>
            <a:pPr lvl="1"/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Movable and Simple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Unlike the laptop, user need a handheld device that can easy used and portable</a:t>
            </a:r>
          </a:p>
          <a:p>
            <a:pPr lvl="1"/>
            <a:r>
              <a:rPr lang="en-US" altLang="zh-TW" dirty="0" smtClean="0"/>
              <a:t>Small enough that can handheld and put into the pocket</a:t>
            </a:r>
          </a:p>
          <a:p>
            <a:pPr lvl="1"/>
            <a:r>
              <a:rPr lang="en-US" altLang="zh-TW" dirty="0" smtClean="0"/>
              <a:t>Lightweight enough that not be a burden</a:t>
            </a:r>
          </a:p>
          <a:p>
            <a:pPr lvl="1"/>
            <a:r>
              <a:rPr lang="en-US" altLang="zh-TW" dirty="0" smtClean="0"/>
              <a:t>Simple enough that can easy use and control</a:t>
            </a:r>
          </a:p>
          <a:p>
            <a:r>
              <a:rPr lang="en-US" altLang="zh-TW" dirty="0" smtClean="0"/>
              <a:t>There are two popular of mobile device </a:t>
            </a:r>
          </a:p>
          <a:p>
            <a:pPr lvl="1"/>
            <a:r>
              <a:rPr lang="en-US" altLang="zh-TW" dirty="0" smtClean="0"/>
              <a:t>PDA</a:t>
            </a:r>
          </a:p>
          <a:p>
            <a:pPr lvl="1"/>
            <a:r>
              <a:rPr lang="en-US" altLang="zh-TW" dirty="0" smtClean="0"/>
              <a:t>Smart phone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PDA (personal digital assistant) is a device that functions as a personal information manager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 err="1" smtClean="0"/>
              <a:t>touchscreen</a:t>
            </a:r>
            <a:r>
              <a:rPr lang="en-US" altLang="zh-TW" dirty="0" smtClean="0"/>
              <a:t> for entering data</a:t>
            </a:r>
          </a:p>
          <a:p>
            <a:pPr lvl="1"/>
            <a:r>
              <a:rPr lang="en-US" altLang="zh-TW" dirty="0" smtClean="0"/>
              <a:t>A memory card for data storage</a:t>
            </a:r>
          </a:p>
          <a:p>
            <a:pPr lvl="1"/>
            <a:r>
              <a:rPr lang="en-US" altLang="zh-TW" dirty="0" err="1" smtClean="0"/>
              <a:t>Wifi</a:t>
            </a:r>
            <a:r>
              <a:rPr lang="en-US" altLang="zh-TW" dirty="0" smtClean="0"/>
              <a:t> and Bluetooth for Internet or exchanging data</a:t>
            </a:r>
          </a:p>
          <a:p>
            <a:r>
              <a:rPr lang="en-US" altLang="zh-TW" dirty="0" smtClean="0"/>
              <a:t>PDA also can use to </a:t>
            </a:r>
          </a:p>
          <a:p>
            <a:pPr lvl="1"/>
            <a:r>
              <a:rPr lang="en-US" altLang="zh-TW" dirty="0" smtClean="0"/>
              <a:t>Browse the web</a:t>
            </a:r>
          </a:p>
          <a:p>
            <a:pPr lvl="1"/>
            <a:r>
              <a:rPr lang="en-US" altLang="zh-TW" dirty="0" smtClean="0"/>
              <a:t>Display multimedia</a:t>
            </a:r>
          </a:p>
          <a:p>
            <a:pPr lvl="1"/>
            <a:r>
              <a:rPr lang="en-US" altLang="zh-TW" dirty="0" smtClean="0"/>
              <a:t>Play game</a:t>
            </a:r>
          </a:p>
          <a:p>
            <a:pPr lvl="1"/>
            <a:r>
              <a:rPr lang="en-US" altLang="zh-TW" dirty="0" smtClean="0"/>
              <a:t>GPS navigator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Smart Phone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smart phone is a phone that contain a open operating system</a:t>
            </a:r>
          </a:p>
          <a:p>
            <a:pPr lvl="1"/>
            <a:r>
              <a:rPr lang="en-US" altLang="zh-TW" dirty="0" smtClean="0"/>
              <a:t>Can install third-part applications</a:t>
            </a:r>
          </a:p>
          <a:p>
            <a:pPr lvl="1"/>
            <a:r>
              <a:rPr lang="en-US" altLang="zh-TW" dirty="0" smtClean="0"/>
              <a:t>Can be customized system without waiting patch</a:t>
            </a:r>
          </a:p>
          <a:p>
            <a:r>
              <a:rPr lang="en-US" altLang="zh-TW" dirty="0" smtClean="0"/>
              <a:t>Smart phone is now the popular mobile device</a:t>
            </a:r>
          </a:p>
          <a:p>
            <a:pPr lvl="1"/>
            <a:r>
              <a:rPr lang="en-US" altLang="zh-TW" dirty="0" smtClean="0"/>
              <a:t>Compared with PDA, smart phone combines the ability of phone and computer</a:t>
            </a:r>
          </a:p>
          <a:p>
            <a:pPr lvl="1"/>
            <a:r>
              <a:rPr lang="en-US" altLang="zh-TW" dirty="0" smtClean="0"/>
              <a:t>And more, smart phone can download the rich third-part applications, like games, weather or traffic information, news…etc.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Case Study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Salesforce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Salesforce</a:t>
            </a:r>
            <a:r>
              <a:rPr lang="en-US" altLang="zh-TW" dirty="0" smtClean="0"/>
              <a:t> is one of the popular </a:t>
            </a:r>
            <a:r>
              <a:rPr lang="en-US" altLang="zh-TW" dirty="0" err="1" smtClean="0"/>
              <a:t>SaaS</a:t>
            </a:r>
            <a:r>
              <a:rPr lang="en-US" altLang="zh-TW" dirty="0" smtClean="0"/>
              <a:t> service vendor</a:t>
            </a:r>
          </a:p>
          <a:p>
            <a:pPr lvl="1"/>
            <a:r>
              <a:rPr lang="en-US" altLang="zh-TW" dirty="0" smtClean="0"/>
              <a:t>An enterprise cloud computing company.</a:t>
            </a:r>
          </a:p>
          <a:p>
            <a:pPr lvl="1"/>
            <a:r>
              <a:rPr lang="en-US" altLang="zh-TW" dirty="0" smtClean="0"/>
              <a:t>Hosting the applications offsite.</a:t>
            </a:r>
          </a:p>
          <a:p>
            <a:pPr lvl="1"/>
            <a:r>
              <a:rPr lang="en-US" altLang="zh-TW" dirty="0" smtClean="0"/>
              <a:t>The CRM (Customer Relationship Management) is the well-known product.</a:t>
            </a:r>
          </a:p>
          <a:p>
            <a:r>
              <a:rPr lang="en-US" altLang="zh-TW" dirty="0" err="1" smtClean="0"/>
              <a:t>Salesforce</a:t>
            </a:r>
            <a:r>
              <a:rPr lang="en-US" altLang="zh-TW" dirty="0" smtClean="0"/>
              <a:t> provides many solutions on CRM</a:t>
            </a:r>
          </a:p>
          <a:p>
            <a:pPr lvl="1"/>
            <a:r>
              <a:rPr lang="en-US" altLang="zh-TW" dirty="0" smtClean="0"/>
              <a:t>Pay the rent per month</a:t>
            </a:r>
          </a:p>
          <a:p>
            <a:pPr lvl="1"/>
            <a:r>
              <a:rPr lang="en-US" altLang="zh-TW" dirty="0" smtClean="0"/>
              <a:t>Consumer can focus on the business, rather than stuck in the development environment.</a:t>
            </a:r>
            <a:endParaRPr lang="zh-TW" altLang="en-US" dirty="0"/>
          </a:p>
        </p:txBody>
      </p:sp>
      <p:pic>
        <p:nvPicPr>
          <p:cNvPr id="6" name="Picture 2" descr="C:\Users\cmj\Pictures\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8184" y="4869160"/>
            <a:ext cx="2399928" cy="179994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Service model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Company cloud not buy and maintain the expensive hardware and software license, instead,</a:t>
            </a:r>
          </a:p>
          <a:p>
            <a:pPr lvl="1"/>
            <a:r>
              <a:rPr lang="en-US" altLang="zh-TW" dirty="0" smtClean="0"/>
              <a:t>Rent the hardware and software that reduce the cost.</a:t>
            </a:r>
          </a:p>
          <a:p>
            <a:pPr lvl="1"/>
            <a:r>
              <a:rPr lang="en-US" altLang="zh-TW" dirty="0" smtClean="0"/>
              <a:t>Use the service on Internet</a:t>
            </a:r>
          </a:p>
          <a:p>
            <a:pPr lvl="1"/>
            <a:r>
              <a:rPr lang="en-US" altLang="zh-TW" dirty="0" smtClean="0"/>
              <a:t>Run the business applications, like CRM, HR, accounting, which are stable and reliable</a:t>
            </a:r>
          </a:p>
          <a:p>
            <a:pPr lvl="1"/>
            <a:r>
              <a:rPr lang="en-US" altLang="zh-TW" dirty="0" smtClean="0"/>
              <a:t>Collaborate with each other</a:t>
            </a:r>
          </a:p>
          <a:p>
            <a:pPr lvl="2"/>
            <a:r>
              <a:rPr lang="en-US" altLang="zh-TW" dirty="0" smtClean="0"/>
              <a:t>User can receive message immediately and friendly, like </a:t>
            </a:r>
            <a:r>
              <a:rPr lang="en-US" altLang="zh-TW" dirty="0" err="1" smtClean="0"/>
              <a:t>Facebook</a:t>
            </a:r>
            <a:r>
              <a:rPr lang="en-US" altLang="zh-TW" dirty="0" smtClean="0"/>
              <a:t> or twitter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Services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Sales cloud</a:t>
            </a:r>
          </a:p>
          <a:p>
            <a:pPr lvl="1"/>
            <a:r>
              <a:rPr lang="en-US" altLang="zh-TW" dirty="0" smtClean="0"/>
              <a:t>Supply faster and optimize of all sales stages.</a:t>
            </a:r>
          </a:p>
          <a:p>
            <a:pPr lvl="1"/>
            <a:r>
              <a:rPr lang="en-US" altLang="zh-TW" dirty="0" smtClean="0"/>
              <a:t>Business model and bid analysis.</a:t>
            </a:r>
          </a:p>
          <a:p>
            <a:r>
              <a:rPr lang="en-US" altLang="zh-TW" dirty="0" smtClean="0"/>
              <a:t>Chatter cloud</a:t>
            </a:r>
          </a:p>
          <a:p>
            <a:pPr lvl="1"/>
            <a:r>
              <a:rPr lang="en-US" altLang="zh-TW" dirty="0" smtClean="0"/>
              <a:t>Exchange daily information by chatter without email or network disk.</a:t>
            </a:r>
          </a:p>
          <a:p>
            <a:pPr lvl="1"/>
            <a:r>
              <a:rPr lang="en-US" altLang="zh-TW" dirty="0" smtClean="0"/>
              <a:t>Shared files and project states.</a:t>
            </a:r>
          </a:p>
          <a:p>
            <a:pPr lvl="1"/>
            <a:r>
              <a:rPr lang="en-US" altLang="zh-TW" dirty="0" smtClean="0"/>
              <a:t>Track personnel, information and group.</a:t>
            </a:r>
          </a:p>
          <a:p>
            <a:r>
              <a:rPr lang="en-US" altLang="zh-TW" dirty="0" smtClean="0"/>
              <a:t>Force.com</a:t>
            </a:r>
          </a:p>
          <a:p>
            <a:pPr lvl="1"/>
            <a:r>
              <a:rPr lang="en-US" altLang="zh-TW" dirty="0" smtClean="0"/>
              <a:t>An environment allows external developers to create add-on applications</a:t>
            </a:r>
          </a:p>
          <a:p>
            <a:pPr lvl="2"/>
            <a:r>
              <a:rPr lang="en-US" altLang="zh-TW" dirty="0" smtClean="0"/>
              <a:t>HR application, inventory Application , </a:t>
            </a:r>
            <a:r>
              <a:rPr lang="en-US" altLang="zh-TW" dirty="0" err="1" smtClean="0"/>
              <a:t>IPhone</a:t>
            </a:r>
            <a:r>
              <a:rPr lang="en-US" altLang="zh-TW" dirty="0" smtClean="0"/>
              <a:t> or Android applications</a:t>
            </a:r>
          </a:p>
          <a:p>
            <a:pPr lvl="1"/>
            <a:endParaRPr lang="en-US" altLang="zh-TW" dirty="0" smtClean="0"/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SaaS</a:t>
            </a:r>
            <a:r>
              <a:rPr lang="en-US" altLang="zh-TW" dirty="0" smtClean="0"/>
              <a:t> is not a single technique nor a new term</a:t>
            </a:r>
          </a:p>
          <a:p>
            <a:pPr lvl="1"/>
            <a:r>
              <a:rPr lang="en-US" altLang="zh-TW" dirty="0" smtClean="0"/>
              <a:t>A group of old and new techniques</a:t>
            </a:r>
          </a:p>
          <a:p>
            <a:pPr lvl="2"/>
            <a:r>
              <a:rPr lang="en-US" altLang="zh-TW" dirty="0" smtClean="0"/>
              <a:t>Server, platform, communication, interface and client device</a:t>
            </a:r>
          </a:p>
          <a:p>
            <a:pPr lvl="1"/>
            <a:r>
              <a:rPr lang="en-US" altLang="zh-TW" dirty="0" smtClean="0"/>
              <a:t>The server and platform can use the cloud technique or traditional</a:t>
            </a:r>
          </a:p>
          <a:p>
            <a:pPr lvl="1"/>
            <a:r>
              <a:rPr lang="en-US" altLang="zh-TW" dirty="0" smtClean="0"/>
              <a:t>Communication methods have to consider the cross-platform and multi-user environment</a:t>
            </a:r>
          </a:p>
          <a:p>
            <a:pPr lvl="1"/>
            <a:r>
              <a:rPr lang="en-US" altLang="zh-TW" dirty="0" smtClean="0"/>
              <a:t>Interface needs to simple and easy used</a:t>
            </a:r>
          </a:p>
          <a:p>
            <a:pPr lvl="1"/>
            <a:r>
              <a:rPr lang="en-US" altLang="zh-TW" dirty="0" smtClean="0"/>
              <a:t>User device and interface affect </a:t>
            </a:r>
            <a:r>
              <a:rPr lang="en-US" altLang="zh-TW" smtClean="0"/>
              <a:t>the UX</a:t>
            </a:r>
            <a:endParaRPr lang="zh-TW" altLang="en-US" dirty="0"/>
          </a:p>
        </p:txBody>
      </p:sp>
      <p:pic>
        <p:nvPicPr>
          <p:cNvPr id="1026" name="Picture 2" descr="C:\Users\cmj\Pictures\Saa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8224" y="4365104"/>
            <a:ext cx="2409174" cy="1959695"/>
          </a:xfrm>
          <a:prstGeom prst="rect">
            <a:avLst/>
          </a:prstGeom>
          <a:noFill/>
        </p:spPr>
      </p:pic>
      <p:pic>
        <p:nvPicPr>
          <p:cNvPr id="6" name="Picture 2" descr="C:\Users\cmj\Pictures\Saa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40624" y="4517504"/>
            <a:ext cx="2409174" cy="19596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Web sites</a:t>
            </a:r>
          </a:p>
          <a:p>
            <a:pPr lvl="1"/>
            <a:r>
              <a:rPr lang="en-US" altLang="zh-TW" dirty="0" err="1" smtClean="0"/>
              <a:t>SaaS</a:t>
            </a:r>
            <a:r>
              <a:rPr lang="en-US" altLang="zh-TW" u="sng" dirty="0" smtClean="0"/>
              <a:t> </a:t>
            </a:r>
            <a:r>
              <a:rPr lang="en-US" altLang="zh-TW" u="sng" dirty="0" smtClean="0">
                <a:hlinkClick r:id="rId2"/>
              </a:rPr>
              <a:t>http://en.wikipedia.org/wiki/Software_as_a_service#Key_characteristics</a:t>
            </a:r>
            <a:r>
              <a:rPr lang="en-US" altLang="zh-TW" u="sng" dirty="0" smtClean="0"/>
              <a:t> </a:t>
            </a:r>
          </a:p>
          <a:p>
            <a:pPr lvl="1"/>
            <a:r>
              <a:rPr lang="en-US" altLang="zh-TW" dirty="0" err="1" smtClean="0"/>
              <a:t>Salesforce</a:t>
            </a:r>
            <a:r>
              <a:rPr lang="en-US" altLang="zh-TW" dirty="0" smtClean="0"/>
              <a:t>  </a:t>
            </a:r>
            <a:r>
              <a:rPr lang="en-US" altLang="zh-TW" u="sng" dirty="0" smtClean="0">
                <a:hlinkClick r:id="rId3"/>
              </a:rPr>
              <a:t>http://www.salesforce.com/tw/</a:t>
            </a:r>
            <a:r>
              <a:rPr lang="en-US" altLang="zh-TW" u="sng" dirty="0" smtClean="0"/>
              <a:t> </a:t>
            </a:r>
          </a:p>
          <a:p>
            <a:pPr lvl="1"/>
            <a:r>
              <a:rPr lang="en-US" altLang="zh-TW" dirty="0" smtClean="0"/>
              <a:t>WSDL </a:t>
            </a:r>
            <a:r>
              <a:rPr lang="en-US" altLang="zh-TW" u="sng" dirty="0" smtClean="0">
                <a:hlinkClick r:id="rId4"/>
              </a:rPr>
              <a:t>http://www.w3.org/TR/wsdl20/</a:t>
            </a:r>
            <a:r>
              <a:rPr lang="en-US" altLang="zh-TW" u="sng" dirty="0" smtClean="0"/>
              <a:t> </a:t>
            </a:r>
          </a:p>
          <a:p>
            <a:pPr lvl="1"/>
            <a:r>
              <a:rPr lang="en-US" altLang="zh-TW" dirty="0" smtClean="0"/>
              <a:t>SOAP </a:t>
            </a:r>
            <a:r>
              <a:rPr lang="en-US" altLang="zh-TW" u="sng" dirty="0" smtClean="0">
                <a:hlinkClick r:id="rId5"/>
              </a:rPr>
              <a:t>http://www.w3.org/TR/2007/REC-soap12-part1-20070427/#intro</a:t>
            </a:r>
            <a:r>
              <a:rPr lang="en-US" altLang="zh-TW" u="sng" dirty="0" smtClean="0"/>
              <a:t> </a:t>
            </a:r>
          </a:p>
          <a:p>
            <a:pPr lvl="1"/>
            <a:r>
              <a:rPr lang="en-US" altLang="zh-TW" dirty="0" err="1" smtClean="0"/>
              <a:t>OpenID</a:t>
            </a:r>
            <a:r>
              <a:rPr lang="en-US" altLang="zh-TW" dirty="0" smtClean="0"/>
              <a:t> </a:t>
            </a:r>
            <a:r>
              <a:rPr lang="en-US" altLang="zh-TW" u="sng" dirty="0" smtClean="0">
                <a:hlinkClick r:id="rId6"/>
              </a:rPr>
              <a:t>http://openid.net/</a:t>
            </a:r>
            <a:r>
              <a:rPr lang="en-US" altLang="zh-TW" u="sng" dirty="0" smtClean="0"/>
              <a:t> 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2156</TotalTime>
  <Words>5133</Words>
  <Application>Microsoft Office PowerPoint</Application>
  <PresentationFormat>如螢幕大小 (4:3)</PresentationFormat>
  <Paragraphs>872</Paragraphs>
  <Slides>131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131</vt:i4>
      </vt:variant>
    </vt:vector>
  </HeadingPairs>
  <TitlesOfParts>
    <vt:vector size="132" baseType="lpstr">
      <vt:lpstr>Course Themes</vt:lpstr>
      <vt:lpstr>雲端計算 Cloud Computing</vt:lpstr>
      <vt:lpstr>Agenda </vt:lpstr>
      <vt:lpstr>Introduction </vt:lpstr>
      <vt:lpstr>Software </vt:lpstr>
      <vt:lpstr>How about rent?</vt:lpstr>
      <vt:lpstr>ASP</vt:lpstr>
      <vt:lpstr>Example </vt:lpstr>
      <vt:lpstr>Benefit </vt:lpstr>
      <vt:lpstr>Software as a Service</vt:lpstr>
      <vt:lpstr>Introduction </vt:lpstr>
      <vt:lpstr>SaaS</vt:lpstr>
      <vt:lpstr>Definition </vt:lpstr>
      <vt:lpstr>Ad-hoc</vt:lpstr>
      <vt:lpstr>Configurable </vt:lpstr>
      <vt:lpstr>Multi-tenant </vt:lpstr>
      <vt:lpstr>Scalability and Customized </vt:lpstr>
      <vt:lpstr>So, SaaS is…</vt:lpstr>
      <vt:lpstr>Properties </vt:lpstr>
      <vt:lpstr>Characteristic </vt:lpstr>
      <vt:lpstr>User view</vt:lpstr>
      <vt:lpstr>Vendor view</vt:lpstr>
      <vt:lpstr>With Cloud </vt:lpstr>
      <vt:lpstr>Properties </vt:lpstr>
      <vt:lpstr>Accessibility </vt:lpstr>
      <vt:lpstr>Cross Platform</vt:lpstr>
      <vt:lpstr>Accessibility vs Availability </vt:lpstr>
      <vt:lpstr>Properties </vt:lpstr>
      <vt:lpstr>Long Tail</vt:lpstr>
      <vt:lpstr>Multi-tenant </vt:lpstr>
      <vt:lpstr>Technique </vt:lpstr>
      <vt:lpstr>Properties </vt:lpstr>
      <vt:lpstr>Centralization </vt:lpstr>
      <vt:lpstr>Deployment and Consistent </vt:lpstr>
      <vt:lpstr>Benefit </vt:lpstr>
      <vt:lpstr>Properties </vt:lpstr>
      <vt:lpstr>Security </vt:lpstr>
      <vt:lpstr>Authentication </vt:lpstr>
      <vt:lpstr>Advantage  </vt:lpstr>
      <vt:lpstr>Technique </vt:lpstr>
      <vt:lpstr>Overview </vt:lpstr>
      <vt:lpstr>Overview (cont.)</vt:lpstr>
      <vt:lpstr>Service Layer </vt:lpstr>
      <vt:lpstr>Service layer</vt:lpstr>
      <vt:lpstr>Service Layer </vt:lpstr>
      <vt:lpstr>Scenario</vt:lpstr>
      <vt:lpstr>SOA</vt:lpstr>
      <vt:lpstr>Concept </vt:lpstr>
      <vt:lpstr>Concept  (cont.)</vt:lpstr>
      <vt:lpstr>Tradeoff</vt:lpstr>
      <vt:lpstr>Service Layer </vt:lpstr>
      <vt:lpstr>Scenario </vt:lpstr>
      <vt:lpstr>Web service </vt:lpstr>
      <vt:lpstr>Web-based Service</vt:lpstr>
      <vt:lpstr>Why we need Web Service </vt:lpstr>
      <vt:lpstr>Triangle </vt:lpstr>
      <vt:lpstr>Web service</vt:lpstr>
      <vt:lpstr>WSDL</vt:lpstr>
      <vt:lpstr>Property </vt:lpstr>
      <vt:lpstr>Property (cont.)</vt:lpstr>
      <vt:lpstr>Property (cont.)</vt:lpstr>
      <vt:lpstr>Four elements </vt:lpstr>
      <vt:lpstr>PortType </vt:lpstr>
      <vt:lpstr>Web service</vt:lpstr>
      <vt:lpstr>SOAP</vt:lpstr>
      <vt:lpstr>Core concepts </vt:lpstr>
      <vt:lpstr>Three basic module </vt:lpstr>
      <vt:lpstr>Process Module </vt:lpstr>
      <vt:lpstr>Underlying Module</vt:lpstr>
      <vt:lpstr>Message Construct</vt:lpstr>
      <vt:lpstr>Web service</vt:lpstr>
      <vt:lpstr>UDDI</vt:lpstr>
      <vt:lpstr>Why need UDDI</vt:lpstr>
      <vt:lpstr>Three pages</vt:lpstr>
      <vt:lpstr>Example: UDDI </vt:lpstr>
      <vt:lpstr>Example: Web Service</vt:lpstr>
      <vt:lpstr>Service Layer </vt:lpstr>
      <vt:lpstr>When scale up…</vt:lpstr>
      <vt:lpstr>Solutions </vt:lpstr>
      <vt:lpstr>Suggestions </vt:lpstr>
      <vt:lpstr>Standards </vt:lpstr>
      <vt:lpstr>Scenario</vt:lpstr>
      <vt:lpstr>OpenID</vt:lpstr>
      <vt:lpstr>Architecture </vt:lpstr>
      <vt:lpstr>SSO</vt:lpstr>
      <vt:lpstr>Standards </vt:lpstr>
      <vt:lpstr>Scenario </vt:lpstr>
      <vt:lpstr>SLA</vt:lpstr>
      <vt:lpstr>Contract terms</vt:lpstr>
      <vt:lpstr>Standards </vt:lpstr>
      <vt:lpstr>HTTP and REST</vt:lpstr>
      <vt:lpstr>Three components </vt:lpstr>
      <vt:lpstr>Three components  (cont.)</vt:lpstr>
      <vt:lpstr>Benefit </vt:lpstr>
      <vt:lpstr>User interface</vt:lpstr>
      <vt:lpstr>User experience </vt:lpstr>
      <vt:lpstr>Access model </vt:lpstr>
      <vt:lpstr>Device </vt:lpstr>
      <vt:lpstr>User interface</vt:lpstr>
      <vt:lpstr>Web</vt:lpstr>
      <vt:lpstr>Access model </vt:lpstr>
      <vt:lpstr>Web-based Interface  </vt:lpstr>
      <vt:lpstr>WUI (cont.)</vt:lpstr>
      <vt:lpstr>Web technique</vt:lpstr>
      <vt:lpstr>Interactive </vt:lpstr>
      <vt:lpstr>Ajax </vt:lpstr>
      <vt:lpstr>Ajax (cont.)</vt:lpstr>
      <vt:lpstr>DOM</vt:lpstr>
      <vt:lpstr>XMLHTTPRequest</vt:lpstr>
      <vt:lpstr>Web technique</vt:lpstr>
      <vt:lpstr>Application </vt:lpstr>
      <vt:lpstr>Web Application</vt:lpstr>
      <vt:lpstr>Drawbacks</vt:lpstr>
      <vt:lpstr>WebOS</vt:lpstr>
      <vt:lpstr>eyeOS</vt:lpstr>
      <vt:lpstr>User Interface</vt:lpstr>
      <vt:lpstr>Client device</vt:lpstr>
      <vt:lpstr>Client device</vt:lpstr>
      <vt:lpstr>Thin client </vt:lpstr>
      <vt:lpstr>Benefit </vt:lpstr>
      <vt:lpstr> vs Thick Client </vt:lpstr>
      <vt:lpstr>Client device</vt:lpstr>
      <vt:lpstr>Mobile device</vt:lpstr>
      <vt:lpstr>Movable and Simple</vt:lpstr>
      <vt:lpstr>PDA</vt:lpstr>
      <vt:lpstr>Smart Phone</vt:lpstr>
      <vt:lpstr>Case Study</vt:lpstr>
      <vt:lpstr>Salesforce</vt:lpstr>
      <vt:lpstr>Service model </vt:lpstr>
      <vt:lpstr>Services </vt:lpstr>
      <vt:lpstr>Summary </vt:lpstr>
      <vt:lpstr>Reference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雲端計算 Cloud Computing</dc:title>
  <dc:creator>cmj</dc:creator>
  <cp:lastModifiedBy>5g</cp:lastModifiedBy>
  <cp:revision>155</cp:revision>
  <dcterms:created xsi:type="dcterms:W3CDTF">2011-06-13T03:38:30Z</dcterms:created>
  <dcterms:modified xsi:type="dcterms:W3CDTF">2011-06-27T03:43:24Z</dcterms:modified>
</cp:coreProperties>
</file>