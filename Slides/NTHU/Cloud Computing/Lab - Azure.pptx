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94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s/slide102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s/slide99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97.xml" ContentType="application/vnd.openxmlformats-officedocument.presentationml.slide+xml"/>
  <Override PartName="/ppt/slides/slide10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95.xml" ContentType="application/vnd.openxmlformats-officedocument.presentationml.slide+xml"/>
  <Override PartName="/ppt/slides/slide103.xml" ContentType="application/vnd.openxmlformats-officedocument.presentationml.slide+xml"/>
  <Override PartName="/ppt/slides/slide10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s/slide82.xml" ContentType="application/vnd.openxmlformats-officedocument.presentationml.slide+xml"/>
  <Override PartName="/ppt/slides/slide9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9.xml" ContentType="application/vnd.openxmlformats-officedocument.presentationml.slide+xml"/>
  <Override PartName="/ppt/slides/slide98.xml" ContentType="application/vnd.openxmlformats-officedocument.presentationml.slide+xml"/>
  <Override PartName="/ppt/slides/slide108.xml" ContentType="application/vnd.openxmlformats-officedocument.presentationml.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slides/slide87.xml" ContentType="application/vnd.openxmlformats-officedocument.presentationml.slide+xml"/>
  <Override PartName="/ppt/slides/slide96.xml" ContentType="application/vnd.openxmlformats-officedocument.presentationml.slide+xml"/>
  <Override PartName="/ppt/slides/slide106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s/slide104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s/slide100.xml" ContentType="application/vnd.openxmlformats-officedocument.presentationml.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7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0"/>
  </p:notesMasterIdLst>
  <p:sldIdLst>
    <p:sldId id="364" r:id="rId2"/>
    <p:sldId id="257" r:id="rId3"/>
    <p:sldId id="259" r:id="rId4"/>
    <p:sldId id="260" r:id="rId5"/>
    <p:sldId id="37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7" r:id="rId21"/>
    <p:sldId id="276" r:id="rId22"/>
    <p:sldId id="278" r:id="rId23"/>
    <p:sldId id="365" r:id="rId24"/>
    <p:sldId id="370" r:id="rId25"/>
    <p:sldId id="279" r:id="rId26"/>
    <p:sldId id="283" r:id="rId27"/>
    <p:sldId id="280" r:id="rId28"/>
    <p:sldId id="281" r:id="rId29"/>
    <p:sldId id="282" r:id="rId30"/>
    <p:sldId id="284" r:id="rId31"/>
    <p:sldId id="285" r:id="rId32"/>
    <p:sldId id="286" r:id="rId33"/>
    <p:sldId id="368" r:id="rId34"/>
    <p:sldId id="289" r:id="rId35"/>
    <p:sldId id="290" r:id="rId36"/>
    <p:sldId id="291" r:id="rId37"/>
    <p:sldId id="287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69" r:id="rId90"/>
    <p:sldId id="344" r:id="rId91"/>
    <p:sldId id="345" r:id="rId92"/>
    <p:sldId id="346" r:id="rId93"/>
    <p:sldId id="347" r:id="rId94"/>
    <p:sldId id="348" r:id="rId95"/>
    <p:sldId id="349" r:id="rId96"/>
    <p:sldId id="350" r:id="rId97"/>
    <p:sldId id="351" r:id="rId98"/>
    <p:sldId id="352" r:id="rId99"/>
    <p:sldId id="353" r:id="rId100"/>
    <p:sldId id="354" r:id="rId101"/>
    <p:sldId id="355" r:id="rId102"/>
    <p:sldId id="356" r:id="rId103"/>
    <p:sldId id="357" r:id="rId104"/>
    <p:sldId id="358" r:id="rId105"/>
    <p:sldId id="359" r:id="rId106"/>
    <p:sldId id="360" r:id="rId107"/>
    <p:sldId id="361" r:id="rId108"/>
    <p:sldId id="363" r:id="rId109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44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12D2B8-7F16-4D7A-AD3A-7084540A80FD}" type="datetimeFigureOut">
              <a:rPr lang="zh-TW" altLang="en-US" smtClean="0"/>
              <a:pPr/>
              <a:t>2010/12/14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AA3D2F-32C7-4EAB-9812-39916B9396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398025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AA3D2F-32C7-4EAB-9812-39916B9396A5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4875C-87F8-4C79-A89B-4716E19F231A}" type="slidenum">
              <a:rPr lang="zh-TW" altLang="en-US" smtClean="0"/>
              <a:pPr/>
              <a:t>40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4875C-87F8-4C79-A89B-4716E19F231A}" type="slidenum">
              <a:rPr lang="zh-TW" altLang="en-US" smtClean="0"/>
              <a:pPr/>
              <a:t>53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 algn="ctr">
              <a:defRPr lang="en-US" sz="3600" b="1" i="1" kern="1200" dirty="0">
                <a:solidFill>
                  <a:schemeClr val="accent1">
                    <a:lumMod val="50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b">
            <a:normAutofit/>
          </a:bodyPr>
          <a:lstStyle>
            <a:lvl1pPr marL="0" indent="0" algn="l">
              <a:buNone/>
              <a:defRPr lang="en-US" sz="1800" b="1" i="1" kern="1200" dirty="0">
                <a:solidFill>
                  <a:schemeClr val="accent2">
                    <a:lumMod val="50000"/>
                  </a:schemeClr>
                </a:solidFill>
                <a:latin typeface="Cambria" pitchFamily="18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2010/12/14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Picture 6" descr="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74027" y="6030097"/>
            <a:ext cx="2743200" cy="762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>
            <a:lvl1pPr algn="r">
              <a:defRPr b="1">
                <a:latin typeface="+mj-lt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2010/12/14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2010/12/14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2010/12/14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2010/12/14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2010/12/14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2010/12/14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2010/12/14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2010/12/14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2010/12/14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2010/12/14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2010/12/14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914400" rtl="0" eaLnBrk="1" latinLnBrk="0" hangingPunct="1">
        <a:spcBef>
          <a:spcPct val="0"/>
        </a:spcBef>
        <a:buNone/>
        <a:defRPr sz="4400" b="1" i="1" kern="1200">
          <a:solidFill>
            <a:schemeClr val="accent5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800" kern="1200">
          <a:solidFill>
            <a:schemeClr val="tx2">
              <a:lumMod val="75000"/>
            </a:schemeClr>
          </a:solidFill>
          <a:latin typeface="Cambria" pitchFamily="18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3">
            <a:lumMod val="50000"/>
          </a:schemeClr>
        </a:buClr>
        <a:buFont typeface="Wingdings" pitchFamily="2" charset="2"/>
        <a:buChar char="§"/>
        <a:defRPr sz="2800" kern="1200">
          <a:solidFill>
            <a:schemeClr val="accent3">
              <a:lumMod val="50000"/>
            </a:schemeClr>
          </a:solidFill>
          <a:latin typeface="Cambria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4">
            <a:lumMod val="50000"/>
          </a:schemeClr>
        </a:buClr>
        <a:buFont typeface="Arial" pitchFamily="34" charset="0"/>
        <a:buChar char="•"/>
        <a:defRPr sz="2400" kern="1200">
          <a:solidFill>
            <a:schemeClr val="accent4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is.net/download" TargetMode="External"/><Relationship Id="rId2" Type="http://schemas.openxmlformats.org/officeDocument/2006/relationships/hyperlink" Target="http://www.microsoft.com/downloads/en/details.aspx?FamilyID=9cfb2d51-5ff4-4491-b0e5-b386f32c0992&amp;displaylang=en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asp.net/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hyperlink" Target="http://www.microsoft.com/express/Downloads/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hyperlink" Target="http://msdn.microsoft.com/en-us/windowsazure/default.aspx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hyperlink" Target="http://azurestorageexplorer.codeplex.com/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icrosoft.com/downloads/en/details.aspx?FamilyID=413e88f8-5966-4a83-b309-53b7b77edf78&amp;displaylang=en" TargetMode="External"/><Relationship Id="rId2" Type="http://schemas.openxmlformats.org/officeDocument/2006/relationships/hyperlink" Target="http://www.microsoft.com/downloads/en/details.aspx?displaylang=en&amp;FamilyID=2274a0a8-5d37-4eac-b50a-e197dc340f6f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0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4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hyperlink" Target="http://msdn.microsoft.com/zh-tw/windowsazure/dd439432(en-us).aspx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371600"/>
            <a:ext cx="7772400" cy="1905000"/>
          </a:xfrm>
        </p:spPr>
        <p:txBody>
          <a:bodyPr>
            <a:normAutofit/>
          </a:bodyPr>
          <a:lstStyle/>
          <a:p>
            <a:r>
              <a:rPr lang="zh-TW" altLang="en-US" sz="4000" i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雲端計算</a:t>
            </a:r>
            <a:r>
              <a:rPr lang="en-US" altLang="zh-TW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altLang="zh-TW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Cloud Computing</a:t>
            </a:r>
            <a:endParaRPr lang="en-US" sz="400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3200400"/>
            <a:ext cx="6629400" cy="2362200"/>
          </a:xfrm>
        </p:spPr>
        <p:txBody>
          <a:bodyPr>
            <a:normAutofit/>
          </a:bodyPr>
          <a:lstStyle/>
          <a:p>
            <a:pPr algn="ctr"/>
            <a:r>
              <a:rPr lang="en-US" altLang="zh-TW" sz="3200" i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  <a:ea typeface="標楷體" pitchFamily="65" charset="-120"/>
              </a:rPr>
              <a:t>Lab–Windows Azure</a:t>
            </a:r>
            <a:endParaRPr lang="en-US" altLang="zh-TW" sz="3200" i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itchFamily="65" charset="-120"/>
              <a:ea typeface="標楷體" pitchFamily="65" charset="-120"/>
            </a:endParaRPr>
          </a:p>
          <a:p>
            <a:pPr algn="ctr"/>
            <a:endParaRPr lang="en-US" sz="3200" i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itchFamily="65" charset="-120"/>
              <a:ea typeface="標楷體" pitchFamily="65" charset="-120"/>
            </a:endParaRPr>
          </a:p>
          <a:p>
            <a:pPr algn="ctr"/>
            <a:endParaRPr lang="en-US" sz="2800" i="0" dirty="0"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Agenda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Introduction</a:t>
            </a:r>
          </a:p>
          <a:p>
            <a:pPr lvl="1"/>
            <a:r>
              <a:rPr lang="en-US" altLang="zh-TW" dirty="0" smtClean="0"/>
              <a:t>Background of Windows Azure</a:t>
            </a:r>
          </a:p>
          <a:p>
            <a:r>
              <a:rPr lang="en-US" altLang="zh-TW" dirty="0" smtClean="0"/>
              <a:t>Installation</a:t>
            </a:r>
          </a:p>
          <a:p>
            <a:pPr lvl="1"/>
            <a:r>
              <a:rPr lang="en-US" altLang="zh-TW" dirty="0" smtClean="0"/>
              <a:t>Getting started</a:t>
            </a:r>
          </a:p>
          <a:p>
            <a:pPr lvl="1"/>
            <a:r>
              <a:rPr lang="en-US" altLang="zh-TW" dirty="0" smtClean="0"/>
              <a:t>Sample</a:t>
            </a:r>
          </a:p>
          <a:p>
            <a:r>
              <a:rPr lang="en-US" altLang="zh-TW" dirty="0" smtClean="0"/>
              <a:t>Two Exercises</a:t>
            </a:r>
          </a:p>
          <a:p>
            <a:pPr lvl="1"/>
            <a:r>
              <a:rPr lang="en-US" altLang="zh-TW" dirty="0" err="1" smtClean="0"/>
              <a:t>GuestBook</a:t>
            </a:r>
            <a:endParaRPr lang="en-US" altLang="zh-TW" dirty="0" smtClean="0"/>
          </a:p>
          <a:p>
            <a:pPr lvl="1"/>
            <a:r>
              <a:rPr lang="en-US" altLang="zh-TW" dirty="0" err="1" smtClean="0"/>
              <a:t>LotteryG</a:t>
            </a:r>
            <a:r>
              <a:rPr lang="en-US" altLang="zh-TW" dirty="0" smtClean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Introduction 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Microsoft’s Windows Azure is one of popular </a:t>
            </a:r>
            <a:r>
              <a:rPr lang="en-US" altLang="zh-TW" dirty="0" err="1" smtClean="0"/>
              <a:t>PaaS</a:t>
            </a:r>
            <a:r>
              <a:rPr lang="en-US" altLang="zh-TW" dirty="0" smtClean="0"/>
              <a:t> provider.</a:t>
            </a:r>
          </a:p>
          <a:p>
            <a:r>
              <a:rPr lang="en-US" altLang="zh-TW" dirty="0" smtClean="0"/>
              <a:t>Windows Azure start general availability at Feb 2010, and construct the global data center location at seven country.</a:t>
            </a:r>
          </a:p>
          <a:p>
            <a:r>
              <a:rPr lang="en-US" altLang="zh-TW" dirty="0" smtClean="0"/>
              <a:t>It is based on .NET and Microsoft’s supported development tools.</a:t>
            </a:r>
            <a:endParaRPr lang="zh-TW" altLang="en-US" dirty="0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00192" y="4509120"/>
            <a:ext cx="1921396" cy="1921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Azure</a:t>
            </a:r>
            <a:endParaRPr lang="zh-TW" altLang="en-US" dirty="0"/>
          </a:p>
        </p:txBody>
      </p:sp>
      <p:pic>
        <p:nvPicPr>
          <p:cNvPr id="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927870" y="2132856"/>
            <a:ext cx="728826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橢圓 4"/>
          <p:cNvSpPr/>
          <p:nvPr/>
        </p:nvSpPr>
        <p:spPr>
          <a:xfrm>
            <a:off x="1907704" y="2710661"/>
            <a:ext cx="2592288" cy="1944216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3" name="群組 8"/>
          <p:cNvGrpSpPr/>
          <p:nvPr/>
        </p:nvGrpSpPr>
        <p:grpSpPr>
          <a:xfrm>
            <a:off x="35496" y="2206605"/>
            <a:ext cx="2542619" cy="648072"/>
            <a:chOff x="323528" y="2420888"/>
            <a:chExt cx="2542619" cy="648072"/>
          </a:xfrm>
        </p:grpSpPr>
        <p:sp>
          <p:nvSpPr>
            <p:cNvPr id="6" name="文字方塊 5"/>
            <p:cNvSpPr txBox="1"/>
            <p:nvPr/>
          </p:nvSpPr>
          <p:spPr>
            <a:xfrm>
              <a:off x="323528" y="2420888"/>
              <a:ext cx="2542619" cy="36933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Basic cloud environment </a:t>
              </a:r>
              <a:endParaRPr lang="zh-TW" altLang="en-US" dirty="0"/>
            </a:p>
          </p:txBody>
        </p:sp>
        <p:cxnSp>
          <p:nvCxnSpPr>
            <p:cNvPr id="8" name="直線接點 7"/>
            <p:cNvCxnSpPr/>
            <p:nvPr/>
          </p:nvCxnSpPr>
          <p:spPr>
            <a:xfrm rot="16200000" flipH="1">
              <a:off x="2591780" y="2816932"/>
              <a:ext cx="288032" cy="21602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" name="群組 9"/>
          <p:cNvGrpSpPr/>
          <p:nvPr/>
        </p:nvGrpSpPr>
        <p:grpSpPr>
          <a:xfrm>
            <a:off x="4860032" y="2206605"/>
            <a:ext cx="1224136" cy="648072"/>
            <a:chOff x="1619672" y="2420888"/>
            <a:chExt cx="1224136" cy="648072"/>
          </a:xfrm>
        </p:grpSpPr>
        <p:sp>
          <p:nvSpPr>
            <p:cNvPr id="11" name="文字方塊 10"/>
            <p:cNvSpPr txBox="1"/>
            <p:nvPr/>
          </p:nvSpPr>
          <p:spPr>
            <a:xfrm>
              <a:off x="1619672" y="2420888"/>
              <a:ext cx="1111073" cy="36933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Database </a:t>
              </a:r>
              <a:endParaRPr lang="zh-TW" altLang="en-US" dirty="0"/>
            </a:p>
          </p:txBody>
        </p:sp>
        <p:cxnSp>
          <p:nvCxnSpPr>
            <p:cNvPr id="12" name="直線接點 11"/>
            <p:cNvCxnSpPr/>
            <p:nvPr/>
          </p:nvCxnSpPr>
          <p:spPr>
            <a:xfrm rot="16200000" flipH="1">
              <a:off x="2591780" y="2816932"/>
              <a:ext cx="288032" cy="21602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9" name="群組 12"/>
          <p:cNvGrpSpPr/>
          <p:nvPr/>
        </p:nvGrpSpPr>
        <p:grpSpPr>
          <a:xfrm>
            <a:off x="6084168" y="4150821"/>
            <a:ext cx="1673022" cy="934363"/>
            <a:chOff x="1619672" y="2132856"/>
            <a:chExt cx="1673022" cy="934363"/>
          </a:xfrm>
        </p:grpSpPr>
        <p:sp>
          <p:nvSpPr>
            <p:cNvPr id="14" name="文字方塊 13"/>
            <p:cNvSpPr txBox="1"/>
            <p:nvPr/>
          </p:nvSpPr>
          <p:spPr>
            <a:xfrm>
              <a:off x="1619672" y="2420888"/>
              <a:ext cx="1673022" cy="646331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Communication</a:t>
              </a:r>
            </a:p>
            <a:p>
              <a:r>
                <a:rPr lang="en-US" altLang="zh-TW" dirty="0" smtClean="0"/>
                <a:t>Security  </a:t>
              </a:r>
              <a:endParaRPr lang="zh-TW" altLang="en-US" dirty="0"/>
            </a:p>
          </p:txBody>
        </p:sp>
        <p:cxnSp>
          <p:nvCxnSpPr>
            <p:cNvPr id="15" name="直線接點 14"/>
            <p:cNvCxnSpPr/>
            <p:nvPr/>
          </p:nvCxnSpPr>
          <p:spPr>
            <a:xfrm rot="16200000" flipH="1">
              <a:off x="1799692" y="2168860"/>
              <a:ext cx="288032" cy="21602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Windows Azure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5694"/>
          <a:stretch/>
        </p:blipFill>
        <p:spPr bwMode="auto">
          <a:xfrm>
            <a:off x="1079612" y="1949824"/>
            <a:ext cx="6984776" cy="4863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168023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Lab Goal </a:t>
            </a:r>
            <a:endParaRPr lang="zh-TW" altLang="en-US" dirty="0"/>
          </a:p>
        </p:txBody>
      </p:sp>
      <p:sp>
        <p:nvSpPr>
          <p:cNvPr id="14" name="內容版面配置區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altLang="zh-TW" dirty="0" smtClean="0"/>
              <a:t>Storage Space</a:t>
            </a:r>
            <a:endParaRPr lang="it-IT" altLang="zh-TW" dirty="0"/>
          </a:p>
          <a:p>
            <a:r>
              <a:rPr lang="it-IT" altLang="zh-TW" dirty="0"/>
              <a:t>Computation Role</a:t>
            </a:r>
          </a:p>
          <a:p>
            <a:r>
              <a:rPr lang="it-IT" altLang="zh-TW" dirty="0" smtClean="0"/>
              <a:t>AppFabric</a:t>
            </a:r>
            <a:endParaRPr lang="zh-TW" altLang="en-US" dirty="0"/>
          </a:p>
        </p:txBody>
      </p:sp>
      <p:grpSp>
        <p:nvGrpSpPr>
          <p:cNvPr id="3" name="群組 3"/>
          <p:cNvGrpSpPr/>
          <p:nvPr/>
        </p:nvGrpSpPr>
        <p:grpSpPr>
          <a:xfrm>
            <a:off x="1979712" y="3356992"/>
            <a:ext cx="6120680" cy="2889612"/>
            <a:chOff x="1979712" y="3491716"/>
            <a:chExt cx="6120680" cy="2889612"/>
          </a:xfrm>
        </p:grpSpPr>
        <p:sp>
          <p:nvSpPr>
            <p:cNvPr id="5" name="矩形 4"/>
            <p:cNvSpPr/>
            <p:nvPr/>
          </p:nvSpPr>
          <p:spPr>
            <a:xfrm>
              <a:off x="1979712" y="3861048"/>
              <a:ext cx="6120680" cy="2520280"/>
            </a:xfrm>
            <a:prstGeom prst="rect">
              <a:avLst/>
            </a:prstGeom>
            <a:noFill/>
            <a:ln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文字方塊 5"/>
            <p:cNvSpPr txBox="1"/>
            <p:nvPr/>
          </p:nvSpPr>
          <p:spPr>
            <a:xfrm>
              <a:off x="7164288" y="3491716"/>
              <a:ext cx="8424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service</a:t>
              </a:r>
              <a:endParaRPr lang="zh-TW" altLang="en-US" dirty="0" smtClean="0"/>
            </a:p>
          </p:txBody>
        </p:sp>
      </p:grpSp>
      <p:sp>
        <p:nvSpPr>
          <p:cNvPr id="7" name="矩形 6"/>
          <p:cNvSpPr/>
          <p:nvPr/>
        </p:nvSpPr>
        <p:spPr>
          <a:xfrm>
            <a:off x="1763688" y="3942348"/>
            <a:ext cx="720080" cy="20882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Web</a:t>
            </a:r>
          </a:p>
          <a:p>
            <a:pPr algn="ctr"/>
            <a:r>
              <a:rPr lang="en-US" altLang="zh-TW" dirty="0" smtClean="0"/>
              <a:t>Role</a:t>
            </a:r>
            <a:endParaRPr lang="zh-TW" altLang="en-US" dirty="0"/>
          </a:p>
        </p:txBody>
      </p:sp>
      <p:sp>
        <p:nvSpPr>
          <p:cNvPr id="8" name="流程圖: 磁碟 7"/>
          <p:cNvSpPr/>
          <p:nvPr/>
        </p:nvSpPr>
        <p:spPr>
          <a:xfrm>
            <a:off x="4716016" y="5238492"/>
            <a:ext cx="2088232" cy="936104"/>
          </a:xfrm>
          <a:prstGeom prst="flowChartMagneticDisk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Storage </a:t>
            </a:r>
            <a:endParaRPr lang="zh-TW" altLang="en-US" dirty="0"/>
          </a:p>
        </p:txBody>
      </p:sp>
      <p:grpSp>
        <p:nvGrpSpPr>
          <p:cNvPr id="4" name="群組 8"/>
          <p:cNvGrpSpPr/>
          <p:nvPr/>
        </p:nvGrpSpPr>
        <p:grpSpPr>
          <a:xfrm>
            <a:off x="683568" y="3870340"/>
            <a:ext cx="1224136" cy="2025516"/>
            <a:chOff x="683568" y="4005064"/>
            <a:chExt cx="1224136" cy="2025516"/>
          </a:xfrm>
        </p:grpSpPr>
        <p:cxnSp>
          <p:nvCxnSpPr>
            <p:cNvPr id="10" name="直線單箭頭接點 9"/>
            <p:cNvCxnSpPr/>
            <p:nvPr/>
          </p:nvCxnSpPr>
          <p:spPr>
            <a:xfrm>
              <a:off x="1115616" y="4509120"/>
              <a:ext cx="792088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" name="直線單箭頭接點 10"/>
            <p:cNvCxnSpPr/>
            <p:nvPr/>
          </p:nvCxnSpPr>
          <p:spPr>
            <a:xfrm rot="10800000">
              <a:off x="1115616" y="5589240"/>
              <a:ext cx="72008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2" name="文字方塊 11"/>
            <p:cNvSpPr txBox="1"/>
            <p:nvPr/>
          </p:nvSpPr>
          <p:spPr>
            <a:xfrm>
              <a:off x="755576" y="4005064"/>
              <a:ext cx="9971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Request </a:t>
              </a:r>
              <a:endParaRPr lang="zh-TW" altLang="en-US" dirty="0"/>
            </a:p>
          </p:txBody>
        </p:sp>
        <p:sp>
          <p:nvSpPr>
            <p:cNvPr id="13" name="文字方塊 12"/>
            <p:cNvSpPr txBox="1"/>
            <p:nvPr/>
          </p:nvSpPr>
          <p:spPr>
            <a:xfrm>
              <a:off x="683568" y="5661248"/>
              <a:ext cx="11264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Web page</a:t>
              </a:r>
              <a:endParaRPr lang="zh-TW" altLang="en-US" dirty="0"/>
            </a:p>
          </p:txBody>
        </p:sp>
      </p:grpSp>
      <p:cxnSp>
        <p:nvCxnSpPr>
          <p:cNvPr id="15" name="直線單箭頭接點 14"/>
          <p:cNvCxnSpPr/>
          <p:nvPr/>
        </p:nvCxnSpPr>
        <p:spPr>
          <a:xfrm>
            <a:off x="2267744" y="5670540"/>
            <a:ext cx="2520280" cy="216024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2987824" y="3942348"/>
            <a:ext cx="1872208" cy="36004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rgbClr val="FF0000"/>
                </a:solidFill>
              </a:rPr>
              <a:t>Queue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8" name="圓角矩形 17"/>
          <p:cNvSpPr/>
          <p:nvPr/>
        </p:nvSpPr>
        <p:spPr>
          <a:xfrm>
            <a:off x="5364088" y="3942348"/>
            <a:ext cx="1872208" cy="504056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Worker Role</a:t>
            </a:r>
            <a:endParaRPr lang="zh-TW" altLang="en-US" dirty="0"/>
          </a:p>
        </p:txBody>
      </p:sp>
      <p:grpSp>
        <p:nvGrpSpPr>
          <p:cNvPr id="9" name="群組 18"/>
          <p:cNvGrpSpPr/>
          <p:nvPr/>
        </p:nvGrpSpPr>
        <p:grpSpPr>
          <a:xfrm>
            <a:off x="2339752" y="4158372"/>
            <a:ext cx="2952328" cy="513348"/>
            <a:chOff x="2339752" y="4293096"/>
            <a:chExt cx="2952328" cy="513348"/>
          </a:xfrm>
        </p:grpSpPr>
        <p:cxnSp>
          <p:nvCxnSpPr>
            <p:cNvPr id="20" name="直線單箭頭接點 19"/>
            <p:cNvCxnSpPr/>
            <p:nvPr/>
          </p:nvCxnSpPr>
          <p:spPr>
            <a:xfrm>
              <a:off x="2339752" y="4293096"/>
              <a:ext cx="504056" cy="1588"/>
            </a:xfrm>
            <a:prstGeom prst="straightConnector1">
              <a:avLst/>
            </a:prstGeom>
            <a:ln>
              <a:prstDash val="sysDot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直線單箭頭接點 20"/>
            <p:cNvCxnSpPr/>
            <p:nvPr/>
          </p:nvCxnSpPr>
          <p:spPr>
            <a:xfrm>
              <a:off x="4788024" y="4293096"/>
              <a:ext cx="504056" cy="1588"/>
            </a:xfrm>
            <a:prstGeom prst="straightConnector1">
              <a:avLst/>
            </a:prstGeom>
            <a:ln>
              <a:prstDash val="sysDot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文字方塊 21"/>
            <p:cNvSpPr txBox="1"/>
            <p:nvPr/>
          </p:nvSpPr>
          <p:spPr>
            <a:xfrm>
              <a:off x="3275856" y="4437112"/>
              <a:ext cx="10604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err="1" smtClean="0"/>
                <a:t>Messgae</a:t>
              </a:r>
              <a:r>
                <a:rPr lang="en-US" altLang="zh-TW" dirty="0" smtClean="0"/>
                <a:t> </a:t>
              </a:r>
              <a:endParaRPr lang="zh-TW" altLang="en-US" dirty="0"/>
            </a:p>
          </p:txBody>
        </p:sp>
      </p:grpSp>
      <p:cxnSp>
        <p:nvCxnSpPr>
          <p:cNvPr id="24" name="直線單箭頭接點 23"/>
          <p:cNvCxnSpPr/>
          <p:nvPr/>
        </p:nvCxnSpPr>
        <p:spPr>
          <a:xfrm rot="5400000" flipH="1" flipV="1">
            <a:off x="5040052" y="4626424"/>
            <a:ext cx="648072" cy="432048"/>
          </a:xfrm>
          <a:prstGeom prst="straightConnector1">
            <a:avLst/>
          </a:prstGeom>
          <a:ln>
            <a:prstDash val="sysDot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/>
          <p:nvPr/>
        </p:nvCxnSpPr>
        <p:spPr>
          <a:xfrm rot="5400000">
            <a:off x="5544108" y="4698432"/>
            <a:ext cx="648072" cy="432048"/>
          </a:xfrm>
          <a:prstGeom prst="straightConnector1">
            <a:avLst/>
          </a:prstGeom>
          <a:ln>
            <a:prstDash val="sysDot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弧形 29"/>
          <p:cNvSpPr/>
          <p:nvPr/>
        </p:nvSpPr>
        <p:spPr>
          <a:xfrm>
            <a:off x="6876256" y="4014356"/>
            <a:ext cx="1008112" cy="360040"/>
          </a:xfrm>
          <a:prstGeom prst="arc">
            <a:avLst>
              <a:gd name="adj1" fmla="val 14553229"/>
              <a:gd name="adj2" fmla="val 9868826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圓角矩形 31"/>
          <p:cNvSpPr/>
          <p:nvPr/>
        </p:nvSpPr>
        <p:spPr>
          <a:xfrm>
            <a:off x="5004048" y="2132856"/>
            <a:ext cx="2448272" cy="936104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…</a:t>
            </a:r>
            <a:endParaRPr lang="zh-TW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6012160" y="1700808"/>
            <a:ext cx="1441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Other service</a:t>
            </a:r>
            <a:endParaRPr lang="zh-TW" altLang="en-US" dirty="0"/>
          </a:p>
        </p:txBody>
      </p:sp>
      <p:cxnSp>
        <p:nvCxnSpPr>
          <p:cNvPr id="35" name="直線單箭頭接點 34"/>
          <p:cNvCxnSpPr/>
          <p:nvPr/>
        </p:nvCxnSpPr>
        <p:spPr>
          <a:xfrm rot="5400000">
            <a:off x="5148064" y="3212976"/>
            <a:ext cx="504056" cy="360040"/>
          </a:xfrm>
          <a:prstGeom prst="straightConnector1">
            <a:avLst/>
          </a:prstGeom>
          <a:ln>
            <a:prstDash val="sysDash"/>
            <a:headEnd type="arrow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Lab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Storage Space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Computation Role</a:t>
            </a:r>
          </a:p>
          <a:p>
            <a:r>
              <a:rPr lang="en-US" altLang="zh-TW" dirty="0" err="1" smtClean="0">
                <a:solidFill>
                  <a:schemeClr val="bg1">
                    <a:lumMod val="50000"/>
                  </a:schemeClr>
                </a:solidFill>
              </a:rPr>
              <a:t>AppFabric</a:t>
            </a:r>
            <a:endParaRPr lang="en-US" altLang="zh-TW" dirty="0" smtClean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908720"/>
            <a:ext cx="5527501" cy="3942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Storage Space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68144" y="1052736"/>
            <a:ext cx="2736304" cy="1824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27584" y="4797152"/>
            <a:ext cx="1390544" cy="1377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851920" y="4221088"/>
            <a:ext cx="4971473" cy="2474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211960" y="2564904"/>
            <a:ext cx="2951219" cy="2651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Storage Space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TW" dirty="0"/>
              <a:t>Azure provides three type of storage and each one provides a special purpose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Blob</a:t>
            </a:r>
          </a:p>
          <a:p>
            <a:pPr lvl="1"/>
            <a:r>
              <a:rPr lang="en-US" altLang="zh-TW" dirty="0" smtClean="0"/>
              <a:t>Provide blocks of storage that can store text or binary file. </a:t>
            </a:r>
          </a:p>
          <a:p>
            <a:r>
              <a:rPr lang="en-US" altLang="zh-TW" dirty="0" smtClean="0"/>
              <a:t>Table </a:t>
            </a:r>
          </a:p>
          <a:p>
            <a:pPr lvl="1"/>
            <a:r>
              <a:rPr lang="en-US" altLang="zh-TW" dirty="0" smtClean="0"/>
              <a:t>Provide structured-based storage.</a:t>
            </a:r>
          </a:p>
          <a:p>
            <a:r>
              <a:rPr lang="en-US" altLang="zh-TW" dirty="0" smtClean="0"/>
              <a:t>Queue </a:t>
            </a:r>
          </a:p>
          <a:p>
            <a:pPr lvl="1"/>
            <a:r>
              <a:rPr lang="en-US" altLang="zh-TW" dirty="0" smtClean="0"/>
              <a:t>Provide slices storage that supports communication between roles.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Blob 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l="3544" t="29803" r="49994" b="40393"/>
          <a:stretch>
            <a:fillRect/>
          </a:stretch>
        </p:blipFill>
        <p:spPr bwMode="auto">
          <a:xfrm>
            <a:off x="251520" y="3501008"/>
            <a:ext cx="8496944" cy="2952328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6" name="矩形 5"/>
          <p:cNvSpPr/>
          <p:nvPr/>
        </p:nvSpPr>
        <p:spPr>
          <a:xfrm>
            <a:off x="1547664" y="4797152"/>
            <a:ext cx="6912768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1547664" y="5229200"/>
            <a:ext cx="5904656" cy="6480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" name="群組 62"/>
          <p:cNvGrpSpPr/>
          <p:nvPr/>
        </p:nvGrpSpPr>
        <p:grpSpPr>
          <a:xfrm>
            <a:off x="2339752" y="836712"/>
            <a:ext cx="4320480" cy="2448272"/>
            <a:chOff x="1619672" y="620688"/>
            <a:chExt cx="4392488" cy="2952328"/>
          </a:xfrm>
        </p:grpSpPr>
        <p:grpSp>
          <p:nvGrpSpPr>
            <p:cNvPr id="3" name="群組 7"/>
            <p:cNvGrpSpPr/>
            <p:nvPr/>
          </p:nvGrpSpPr>
          <p:grpSpPr>
            <a:xfrm>
              <a:off x="1619672" y="620688"/>
              <a:ext cx="1080120" cy="2952328"/>
              <a:chOff x="827584" y="3717032"/>
              <a:chExt cx="1080120" cy="2952328"/>
            </a:xfrm>
          </p:grpSpPr>
          <p:sp>
            <p:nvSpPr>
              <p:cNvPr id="37" name="圓角矩形 36"/>
              <p:cNvSpPr/>
              <p:nvPr/>
            </p:nvSpPr>
            <p:spPr>
              <a:xfrm>
                <a:off x="827584" y="3717032"/>
                <a:ext cx="1080120" cy="2952328"/>
              </a:xfrm>
              <a:prstGeom prst="round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8" name="文字方塊 37"/>
              <p:cNvSpPr txBox="1"/>
              <p:nvPr/>
            </p:nvSpPr>
            <p:spPr>
              <a:xfrm>
                <a:off x="848850" y="3861048"/>
                <a:ext cx="9516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 smtClean="0">
                    <a:solidFill>
                      <a:schemeClr val="bg1"/>
                    </a:solidFill>
                  </a:rPr>
                  <a:t>Account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5" name="群組 8"/>
            <p:cNvGrpSpPr/>
            <p:nvPr/>
          </p:nvGrpSpPr>
          <p:grpSpPr>
            <a:xfrm>
              <a:off x="3251315" y="620688"/>
              <a:ext cx="1104661" cy="2952328"/>
              <a:chOff x="816951" y="3717032"/>
              <a:chExt cx="1104661" cy="2952328"/>
            </a:xfrm>
          </p:grpSpPr>
          <p:sp>
            <p:nvSpPr>
              <p:cNvPr id="40" name="圓角矩形 39"/>
              <p:cNvSpPr/>
              <p:nvPr/>
            </p:nvSpPr>
            <p:spPr>
              <a:xfrm>
                <a:off x="827584" y="3717032"/>
                <a:ext cx="1080120" cy="2952328"/>
              </a:xfrm>
              <a:prstGeom prst="round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1" name="文字方塊 40"/>
              <p:cNvSpPr txBox="1"/>
              <p:nvPr/>
            </p:nvSpPr>
            <p:spPr>
              <a:xfrm>
                <a:off x="816951" y="3861048"/>
                <a:ext cx="11046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 smtClean="0">
                    <a:solidFill>
                      <a:schemeClr val="bg1"/>
                    </a:solidFill>
                  </a:rPr>
                  <a:t>Container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8" name="群組 11"/>
            <p:cNvGrpSpPr/>
            <p:nvPr/>
          </p:nvGrpSpPr>
          <p:grpSpPr>
            <a:xfrm>
              <a:off x="4932040" y="620688"/>
              <a:ext cx="1080120" cy="2952328"/>
              <a:chOff x="827584" y="3717032"/>
              <a:chExt cx="1080120" cy="2952328"/>
            </a:xfrm>
          </p:grpSpPr>
          <p:sp>
            <p:nvSpPr>
              <p:cNvPr id="43" name="圓角矩形 42"/>
              <p:cNvSpPr/>
              <p:nvPr/>
            </p:nvSpPr>
            <p:spPr>
              <a:xfrm>
                <a:off x="827584" y="3717032"/>
                <a:ext cx="1080120" cy="2952328"/>
              </a:xfrm>
              <a:prstGeom prst="round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4" name="文字方塊 43"/>
              <p:cNvSpPr txBox="1"/>
              <p:nvPr/>
            </p:nvSpPr>
            <p:spPr>
              <a:xfrm>
                <a:off x="1053525" y="3861048"/>
                <a:ext cx="6062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 smtClean="0">
                    <a:solidFill>
                      <a:schemeClr val="bg1"/>
                    </a:solidFill>
                  </a:rPr>
                  <a:t>Blob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8" name="圓角矩形 47"/>
            <p:cNvSpPr/>
            <p:nvPr/>
          </p:nvSpPr>
          <p:spPr>
            <a:xfrm>
              <a:off x="5004048" y="2060848"/>
              <a:ext cx="936104" cy="432048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 dirty="0"/>
            </a:p>
          </p:txBody>
        </p:sp>
        <p:sp>
          <p:nvSpPr>
            <p:cNvPr id="49" name="圓角矩形 48"/>
            <p:cNvSpPr/>
            <p:nvPr/>
          </p:nvSpPr>
          <p:spPr>
            <a:xfrm>
              <a:off x="5004048" y="2708920"/>
              <a:ext cx="936104" cy="432048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 dirty="0"/>
            </a:p>
          </p:txBody>
        </p:sp>
        <p:cxnSp>
          <p:nvCxnSpPr>
            <p:cNvPr id="50" name="直線接點 49"/>
            <p:cNvCxnSpPr/>
            <p:nvPr/>
          </p:nvCxnSpPr>
          <p:spPr>
            <a:xfrm flipV="1">
              <a:off x="2123728" y="1628800"/>
              <a:ext cx="1296144" cy="504056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直線接點 50"/>
            <p:cNvCxnSpPr>
              <a:endCxn id="57" idx="1"/>
            </p:cNvCxnSpPr>
            <p:nvPr/>
          </p:nvCxnSpPr>
          <p:spPr>
            <a:xfrm>
              <a:off x="2195736" y="2204864"/>
              <a:ext cx="1210228" cy="360040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圓角矩形 51"/>
            <p:cNvSpPr/>
            <p:nvPr/>
          </p:nvSpPr>
          <p:spPr>
            <a:xfrm>
              <a:off x="5004048" y="1340768"/>
              <a:ext cx="936104" cy="432048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 dirty="0"/>
            </a:p>
          </p:txBody>
        </p:sp>
        <p:sp>
          <p:nvSpPr>
            <p:cNvPr id="55" name="圓角矩形 54"/>
            <p:cNvSpPr/>
            <p:nvPr/>
          </p:nvSpPr>
          <p:spPr>
            <a:xfrm>
              <a:off x="1753055" y="1927465"/>
              <a:ext cx="792088" cy="432048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6" name="圓角矩形 55"/>
            <p:cNvSpPr/>
            <p:nvPr/>
          </p:nvSpPr>
          <p:spPr>
            <a:xfrm>
              <a:off x="3397754" y="1340768"/>
              <a:ext cx="792088" cy="432048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 dirty="0"/>
            </a:p>
          </p:txBody>
        </p:sp>
        <p:sp>
          <p:nvSpPr>
            <p:cNvPr id="57" name="圓角矩形 56"/>
            <p:cNvSpPr/>
            <p:nvPr/>
          </p:nvSpPr>
          <p:spPr>
            <a:xfrm>
              <a:off x="3405964" y="2348880"/>
              <a:ext cx="792088" cy="432048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 dirty="0"/>
            </a:p>
          </p:txBody>
        </p:sp>
        <p:cxnSp>
          <p:nvCxnSpPr>
            <p:cNvPr id="58" name="直線接點 57"/>
            <p:cNvCxnSpPr>
              <a:stCxn id="57" idx="3"/>
              <a:endCxn id="48" idx="1"/>
            </p:cNvCxnSpPr>
            <p:nvPr/>
          </p:nvCxnSpPr>
          <p:spPr>
            <a:xfrm flipV="1">
              <a:off x="4198052" y="2276872"/>
              <a:ext cx="805996" cy="288032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直線接點 58"/>
            <p:cNvCxnSpPr>
              <a:stCxn id="57" idx="3"/>
              <a:endCxn id="49" idx="1"/>
            </p:cNvCxnSpPr>
            <p:nvPr/>
          </p:nvCxnSpPr>
          <p:spPr>
            <a:xfrm>
              <a:off x="4198052" y="2564904"/>
              <a:ext cx="805996" cy="36004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直線接點 59"/>
            <p:cNvCxnSpPr>
              <a:stCxn id="56" idx="3"/>
              <a:endCxn id="52" idx="1"/>
            </p:cNvCxnSpPr>
            <p:nvPr/>
          </p:nvCxnSpPr>
          <p:spPr>
            <a:xfrm>
              <a:off x="4189842" y="1556792"/>
              <a:ext cx="814206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Table</a:t>
            </a:r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 l="3544" t="50157" r="46456" b="18586"/>
          <a:stretch>
            <a:fillRect/>
          </a:stretch>
        </p:blipFill>
        <p:spPr bwMode="auto">
          <a:xfrm>
            <a:off x="0" y="3573016"/>
            <a:ext cx="9144000" cy="3096344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7" name="矩形 6"/>
          <p:cNvSpPr/>
          <p:nvPr/>
        </p:nvSpPr>
        <p:spPr>
          <a:xfrm>
            <a:off x="827584" y="980728"/>
            <a:ext cx="6480720" cy="2448272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1175336" y="1042522"/>
            <a:ext cx="1158297" cy="55465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FF00"/>
                </a:solidFill>
              </a:rPr>
              <a:t>Partition Key</a:t>
            </a:r>
          </a:p>
          <a:p>
            <a:pPr algn="ctr"/>
            <a:r>
              <a:rPr lang="en-US" altLang="zh-TW" dirty="0" smtClean="0">
                <a:solidFill>
                  <a:schemeClr val="bg1"/>
                </a:solidFill>
              </a:rPr>
              <a:t>Class 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2591114" y="1042522"/>
            <a:ext cx="848198" cy="55465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FF00"/>
                </a:solidFill>
              </a:rPr>
              <a:t>Row Key</a:t>
            </a:r>
          </a:p>
          <a:p>
            <a:r>
              <a:rPr lang="en-US" altLang="zh-TW" dirty="0" smtClean="0">
                <a:solidFill>
                  <a:schemeClr val="bg1"/>
                </a:solidFill>
              </a:rPr>
              <a:t>Number 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3775096" y="1042522"/>
            <a:ext cx="982358" cy="55465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 smtClean="0">
                <a:solidFill>
                  <a:srgbClr val="FFFF00"/>
                </a:solidFill>
              </a:rPr>
              <a:t>Property 1</a:t>
            </a:r>
          </a:p>
          <a:p>
            <a:pPr algn="ctr"/>
            <a:r>
              <a:rPr lang="en-US" altLang="zh-TW" dirty="0" smtClean="0">
                <a:solidFill>
                  <a:schemeClr val="bg1"/>
                </a:solidFill>
              </a:rPr>
              <a:t>Score 1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5044747" y="1042522"/>
            <a:ext cx="982358" cy="55465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 smtClean="0">
                <a:solidFill>
                  <a:srgbClr val="FFFF00"/>
                </a:solidFill>
              </a:rPr>
              <a:t>Property 2</a:t>
            </a:r>
          </a:p>
          <a:p>
            <a:pPr algn="ctr"/>
            <a:r>
              <a:rPr lang="en-US" altLang="zh-TW" dirty="0" smtClean="0">
                <a:solidFill>
                  <a:schemeClr val="bg1"/>
                </a:solidFill>
              </a:rPr>
              <a:t>Score 2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6208483" y="1899668"/>
            <a:ext cx="1065719" cy="33855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1600" dirty="0" smtClean="0">
                <a:solidFill>
                  <a:srgbClr val="FFFF00"/>
                </a:solidFill>
              </a:rPr>
              <a:t>Partition 1</a:t>
            </a:r>
            <a:endParaRPr lang="zh-TW" altLang="en-US" sz="1600" dirty="0">
              <a:solidFill>
                <a:srgbClr val="FFFF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6208484" y="2702994"/>
            <a:ext cx="1053878" cy="33855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1600" dirty="0" smtClean="0">
                <a:solidFill>
                  <a:srgbClr val="FFFF00"/>
                </a:solidFill>
              </a:rPr>
              <a:t>Partition 2</a:t>
            </a:r>
            <a:endParaRPr lang="zh-TW" altLang="en-US" sz="1600" dirty="0">
              <a:solidFill>
                <a:srgbClr val="FFFF00"/>
              </a:solidFill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6087565" y="1042522"/>
            <a:ext cx="961930" cy="400110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chemeClr val="bg1"/>
                </a:solidFill>
              </a:rPr>
              <a:t>Table A</a:t>
            </a:r>
            <a:endParaRPr lang="zh-TW" altLang="en-US" sz="2000" b="1" dirty="0">
              <a:solidFill>
                <a:schemeClr val="bg1"/>
              </a:solidFill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1187624" y="1772814"/>
          <a:ext cx="4968552" cy="1512170"/>
        </p:xfrm>
        <a:graphic>
          <a:graphicData uri="http://schemas.openxmlformats.org/drawingml/2006/table">
            <a:tbl>
              <a:tblPr bandRow="1">
                <a:tableStyleId>{D113A9D2-9D6B-4929-AA2D-F23B5EE8CBE7}</a:tableStyleId>
              </a:tblPr>
              <a:tblGrid>
                <a:gridCol w="1242138"/>
                <a:gridCol w="1242138"/>
                <a:gridCol w="1242138"/>
                <a:gridCol w="1242138"/>
              </a:tblGrid>
              <a:tr h="30243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Class</a:t>
                      </a:r>
                      <a:r>
                        <a:rPr lang="en-US" altLang="zh-TW" sz="1200" baseline="0" dirty="0" smtClean="0"/>
                        <a:t> A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No 1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A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A+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43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 smtClean="0"/>
                        <a:t>Class A</a:t>
                      </a:r>
                      <a:endParaRPr lang="zh-TW" altLang="en-US" sz="1200" dirty="0" smtClean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No 2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B-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B-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43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Class B</a:t>
                      </a:r>
                      <a:endParaRPr lang="zh-TW" altLang="en-US" sz="1200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No 1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B+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A-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43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 smtClean="0"/>
                        <a:t>Class B</a:t>
                      </a:r>
                      <a:endParaRPr lang="zh-TW" altLang="en-US" sz="1200" dirty="0" smtClean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No 2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B+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B+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43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 smtClean="0"/>
                        <a:t>Class B</a:t>
                      </a:r>
                      <a:endParaRPr lang="zh-TW" altLang="en-US" sz="1200" dirty="0" smtClean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No 3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A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A-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grpSp>
        <p:nvGrpSpPr>
          <p:cNvPr id="3" name="群組 29"/>
          <p:cNvGrpSpPr/>
          <p:nvPr/>
        </p:nvGrpSpPr>
        <p:grpSpPr>
          <a:xfrm>
            <a:off x="1190341" y="1722260"/>
            <a:ext cx="5018142" cy="1560311"/>
            <a:chOff x="1763688" y="4797152"/>
            <a:chExt cx="5976664" cy="1818208"/>
          </a:xfrm>
        </p:grpSpPr>
        <p:sp>
          <p:nvSpPr>
            <p:cNvPr id="17" name="圓角矩形 16"/>
            <p:cNvSpPr/>
            <p:nvPr/>
          </p:nvSpPr>
          <p:spPr>
            <a:xfrm>
              <a:off x="1763688" y="4797152"/>
              <a:ext cx="5976664" cy="720080"/>
            </a:xfrm>
            <a:prstGeom prst="roundRect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圓角矩形 17"/>
            <p:cNvSpPr/>
            <p:nvPr/>
          </p:nvSpPr>
          <p:spPr>
            <a:xfrm>
              <a:off x="1763688" y="5607248"/>
              <a:ext cx="5976664" cy="1008112"/>
            </a:xfrm>
            <a:prstGeom prst="roundRect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6" name="矩形 15"/>
          <p:cNvSpPr/>
          <p:nvPr/>
        </p:nvSpPr>
        <p:spPr>
          <a:xfrm>
            <a:off x="1331640" y="3717032"/>
            <a:ext cx="7704856" cy="10801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Queue</a:t>
            </a:r>
            <a:endParaRPr lang="zh-TW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 l="3544" t="45069" r="46456" b="30216"/>
          <a:stretch>
            <a:fillRect/>
          </a:stretch>
        </p:blipFill>
        <p:spPr bwMode="auto">
          <a:xfrm>
            <a:off x="0" y="3573016"/>
            <a:ext cx="9144000" cy="244827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</p:pic>
      <p:cxnSp>
        <p:nvCxnSpPr>
          <p:cNvPr id="6" name="直線單箭頭接點 5"/>
          <p:cNvCxnSpPr/>
          <p:nvPr/>
        </p:nvCxnSpPr>
        <p:spPr>
          <a:xfrm>
            <a:off x="611560" y="3861048"/>
            <a:ext cx="72008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3203848" y="1916832"/>
            <a:ext cx="3024336" cy="72008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Queue</a:t>
            </a:r>
            <a:endParaRPr lang="zh-TW" alt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圓角矩形 8"/>
          <p:cNvSpPr/>
          <p:nvPr/>
        </p:nvSpPr>
        <p:spPr>
          <a:xfrm>
            <a:off x="1043608" y="1340768"/>
            <a:ext cx="1080120" cy="504056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Web </a:t>
            </a:r>
            <a:endParaRPr lang="zh-TW" altLang="en-US" dirty="0"/>
          </a:p>
        </p:txBody>
      </p:sp>
      <p:sp>
        <p:nvSpPr>
          <p:cNvPr id="10" name="圓角矩形 9"/>
          <p:cNvSpPr/>
          <p:nvPr/>
        </p:nvSpPr>
        <p:spPr>
          <a:xfrm>
            <a:off x="1043608" y="1916832"/>
            <a:ext cx="1080120" cy="504056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Web </a:t>
            </a:r>
            <a:endParaRPr lang="zh-TW" altLang="en-US" dirty="0"/>
          </a:p>
        </p:txBody>
      </p:sp>
      <p:sp>
        <p:nvSpPr>
          <p:cNvPr id="11" name="圓角矩形 10"/>
          <p:cNvSpPr/>
          <p:nvPr/>
        </p:nvSpPr>
        <p:spPr>
          <a:xfrm>
            <a:off x="1043608" y="2492896"/>
            <a:ext cx="1080120" cy="504056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Web </a:t>
            </a:r>
            <a:endParaRPr lang="zh-TW" altLang="en-US" dirty="0"/>
          </a:p>
        </p:txBody>
      </p:sp>
      <p:sp>
        <p:nvSpPr>
          <p:cNvPr id="12" name="圓角矩形 11"/>
          <p:cNvSpPr/>
          <p:nvPr/>
        </p:nvSpPr>
        <p:spPr>
          <a:xfrm>
            <a:off x="6732240" y="1484784"/>
            <a:ext cx="1080120" cy="504056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Worker </a:t>
            </a:r>
            <a:endParaRPr lang="zh-TW" altLang="en-US" dirty="0"/>
          </a:p>
        </p:txBody>
      </p:sp>
      <p:sp>
        <p:nvSpPr>
          <p:cNvPr id="13" name="圓角矩形 12"/>
          <p:cNvSpPr/>
          <p:nvPr/>
        </p:nvSpPr>
        <p:spPr>
          <a:xfrm>
            <a:off x="6732240" y="2060848"/>
            <a:ext cx="1080120" cy="504056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Worker </a:t>
            </a:r>
            <a:endParaRPr lang="zh-TW" altLang="en-US" dirty="0"/>
          </a:p>
        </p:txBody>
      </p:sp>
      <p:sp>
        <p:nvSpPr>
          <p:cNvPr id="14" name="圓角矩形 13"/>
          <p:cNvSpPr/>
          <p:nvPr/>
        </p:nvSpPr>
        <p:spPr>
          <a:xfrm>
            <a:off x="6732240" y="2636912"/>
            <a:ext cx="1080120" cy="504056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Worker </a:t>
            </a:r>
            <a:endParaRPr lang="zh-TW" altLang="en-US" dirty="0"/>
          </a:p>
        </p:txBody>
      </p:sp>
      <p:cxnSp>
        <p:nvCxnSpPr>
          <p:cNvPr id="16" name="直線單箭頭接點 15"/>
          <p:cNvCxnSpPr>
            <a:stCxn id="9" idx="3"/>
          </p:cNvCxnSpPr>
          <p:nvPr/>
        </p:nvCxnSpPr>
        <p:spPr>
          <a:xfrm>
            <a:off x="2123728" y="1592796"/>
            <a:ext cx="936104" cy="46805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>
            <a:off x="2123728" y="2204864"/>
            <a:ext cx="936104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 flipV="1">
            <a:off x="2123728" y="2492896"/>
            <a:ext cx="936104" cy="2880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>
            <a:stCxn id="7" idx="3"/>
          </p:cNvCxnSpPr>
          <p:nvPr/>
        </p:nvCxnSpPr>
        <p:spPr>
          <a:xfrm flipV="1">
            <a:off x="6228184" y="1772816"/>
            <a:ext cx="432048" cy="50405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>
            <a:stCxn id="7" idx="3"/>
          </p:cNvCxnSpPr>
          <p:nvPr/>
        </p:nvCxnSpPr>
        <p:spPr>
          <a:xfrm>
            <a:off x="6228184" y="2276872"/>
            <a:ext cx="432048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>
            <a:stCxn id="7" idx="3"/>
          </p:cNvCxnSpPr>
          <p:nvPr/>
        </p:nvCxnSpPr>
        <p:spPr>
          <a:xfrm>
            <a:off x="6228184" y="2276872"/>
            <a:ext cx="432048" cy="57606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1331640" y="3573016"/>
            <a:ext cx="7704856" cy="1152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 l="787" t="9173" r="43695" b="50120"/>
          <a:stretch>
            <a:fillRect/>
          </a:stretch>
        </p:blipFill>
        <p:spPr bwMode="auto">
          <a:xfrm>
            <a:off x="0" y="2924944"/>
            <a:ext cx="9144000" cy="3631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lab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Storage Space</a:t>
            </a:r>
          </a:p>
          <a:p>
            <a:r>
              <a:rPr lang="en-US" altLang="zh-TW" dirty="0" smtClean="0"/>
              <a:t>Computation Role</a:t>
            </a:r>
          </a:p>
          <a:p>
            <a:r>
              <a:rPr lang="en-US" altLang="zh-TW" dirty="0" err="1" smtClean="0">
                <a:solidFill>
                  <a:schemeClr val="bg1">
                    <a:lumMod val="50000"/>
                  </a:schemeClr>
                </a:solidFill>
              </a:rPr>
              <a:t>AppFabric</a:t>
            </a:r>
            <a:endParaRPr lang="en-US" altLang="zh-TW" dirty="0" smtClean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Computation </a:t>
            </a:r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196752"/>
            <a:ext cx="4551382" cy="356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24128" y="1484784"/>
            <a:ext cx="1562144" cy="1124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940152" y="2420888"/>
            <a:ext cx="2857500" cy="285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347864" y="4720580"/>
            <a:ext cx="3206130" cy="21374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Computation 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4525963"/>
          </a:xfrm>
        </p:spPr>
        <p:txBody>
          <a:bodyPr>
            <a:normAutofit fontScale="92500"/>
          </a:bodyPr>
          <a:lstStyle/>
          <a:p>
            <a:r>
              <a:rPr lang="en-US" altLang="zh-TW" dirty="0" smtClean="0"/>
              <a:t>Azure </a:t>
            </a:r>
            <a:r>
              <a:rPr lang="en-US" altLang="zh-TW" dirty="0"/>
              <a:t>provides </a:t>
            </a:r>
            <a:r>
              <a:rPr lang="en-US" altLang="zh-TW" dirty="0" smtClean="0"/>
              <a:t>the computation platform for variety </a:t>
            </a:r>
            <a:r>
              <a:rPr lang="en-US" altLang="zh-TW" dirty="0"/>
              <a:t>of </a:t>
            </a:r>
            <a:r>
              <a:rPr lang="en-US" altLang="zh-TW" dirty="0" smtClean="0"/>
              <a:t>services and a </a:t>
            </a:r>
            <a:r>
              <a:rPr lang="en-US" altLang="zh-TW" dirty="0"/>
              <a:t>running environment of IIS 7 and .</a:t>
            </a:r>
            <a:r>
              <a:rPr lang="en-US" altLang="zh-TW" dirty="0" smtClean="0"/>
              <a:t>NET.</a:t>
            </a:r>
            <a:endParaRPr lang="en-US" altLang="zh-TW" dirty="0"/>
          </a:p>
          <a:p>
            <a:endParaRPr lang="en-US" altLang="zh-TW" dirty="0" smtClean="0"/>
          </a:p>
          <a:p>
            <a:r>
              <a:rPr lang="en-US" altLang="zh-TW" dirty="0" smtClean="0"/>
              <a:t>Web role</a:t>
            </a:r>
          </a:p>
          <a:p>
            <a:pPr lvl="1"/>
            <a:r>
              <a:rPr lang="en-US" altLang="zh-TW" dirty="0" smtClean="0"/>
              <a:t>Provide a web application service or social-interaction.</a:t>
            </a:r>
          </a:p>
          <a:p>
            <a:pPr lvl="1"/>
            <a:r>
              <a:rPr lang="en-US" altLang="zh-TW" dirty="0" smtClean="0"/>
              <a:t>Process the user’s request.</a:t>
            </a:r>
          </a:p>
          <a:p>
            <a:pPr lvl="1">
              <a:buNone/>
            </a:pPr>
            <a:endParaRPr lang="en-US" altLang="zh-TW" dirty="0" smtClean="0"/>
          </a:p>
          <a:p>
            <a:r>
              <a:rPr lang="en-US" altLang="zh-TW" dirty="0" smtClean="0"/>
              <a:t>Worker role</a:t>
            </a:r>
          </a:p>
          <a:p>
            <a:pPr lvl="1"/>
            <a:r>
              <a:rPr lang="en-US" altLang="zh-TW" dirty="0" smtClean="0"/>
              <a:t>Handle the complexity or distributed computation.</a:t>
            </a:r>
          </a:p>
          <a:p>
            <a:pPr lvl="1"/>
            <a:r>
              <a:rPr lang="en-US" altLang="zh-TW" dirty="0" smtClean="0"/>
              <a:t>Return the result to web role.</a:t>
            </a:r>
          </a:p>
          <a:p>
            <a:pPr lvl="1"/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 l="1181" t="9000" r="63177" b="24401"/>
          <a:stretch>
            <a:fillRect/>
          </a:stretch>
        </p:blipFill>
        <p:spPr bwMode="auto">
          <a:xfrm>
            <a:off x="323528" y="908720"/>
            <a:ext cx="4752528" cy="4810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Web Role</a:t>
            </a:r>
            <a:endParaRPr lang="zh-TW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 r="13258" b="6705"/>
          <a:stretch>
            <a:fillRect/>
          </a:stretch>
        </p:blipFill>
        <p:spPr bwMode="auto">
          <a:xfrm>
            <a:off x="4211960" y="980728"/>
            <a:ext cx="4536504" cy="32448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/>
          <a:srcRect l="1181" t="8723" r="75389" b="54204"/>
          <a:stretch>
            <a:fillRect/>
          </a:stretch>
        </p:blipFill>
        <p:spPr bwMode="auto">
          <a:xfrm>
            <a:off x="3707904" y="4077072"/>
            <a:ext cx="3108714" cy="2664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Worker Role</a:t>
            </a:r>
            <a:endParaRPr lang="zh-TW" altLang="en-US" dirty="0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 cstate="print"/>
          <a:srcRect l="1181" t="9450" r="57869" b="50570"/>
          <a:stretch>
            <a:fillRect/>
          </a:stretch>
        </p:blipFill>
        <p:spPr bwMode="auto">
          <a:xfrm>
            <a:off x="251520" y="1988840"/>
            <a:ext cx="5904656" cy="3122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 l="788" t="9450" r="77756" b="62928"/>
          <a:stretch>
            <a:fillRect/>
          </a:stretch>
        </p:blipFill>
        <p:spPr bwMode="auto">
          <a:xfrm>
            <a:off x="3635896" y="1412776"/>
            <a:ext cx="3304360" cy="2304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16436" y="3933056"/>
            <a:ext cx="3927564" cy="24056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635896" y="3645024"/>
            <a:ext cx="2724414" cy="29439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lab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Storage Space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Computation Role</a:t>
            </a:r>
          </a:p>
          <a:p>
            <a:r>
              <a:rPr lang="en-US" altLang="zh-TW" dirty="0" err="1" smtClean="0"/>
              <a:t>AppFabric</a:t>
            </a:r>
            <a:endParaRPr lang="en-US" altLang="zh-TW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AppFabric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Service Bus</a:t>
            </a:r>
          </a:p>
          <a:p>
            <a:pPr lvl="1"/>
            <a:r>
              <a:rPr lang="en-US" altLang="zh-TW" dirty="0" smtClean="0"/>
              <a:t>Makes connection simpler by letting an application expose endpoints that can be accessed by other applications</a:t>
            </a:r>
          </a:p>
          <a:p>
            <a:pPr lvl="1"/>
            <a:endParaRPr lang="en-US" altLang="zh-TW" dirty="0" smtClean="0"/>
          </a:p>
          <a:p>
            <a:r>
              <a:rPr lang="en-US" altLang="zh-TW" dirty="0" smtClean="0"/>
              <a:t>Access Control </a:t>
            </a:r>
          </a:p>
          <a:p>
            <a:pPr lvl="1"/>
            <a:r>
              <a:rPr lang="en-US" altLang="zh-TW" dirty="0" smtClean="0"/>
              <a:t>Provides the ability for applications with authentication and authorization</a:t>
            </a:r>
          </a:p>
          <a:p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Client vs. Service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1907704" y="2636912"/>
            <a:ext cx="1224136" cy="936104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/>
              <a:t>Client </a:t>
            </a:r>
            <a:endParaRPr lang="zh-TW" altLang="en-US" sz="2400" dirty="0"/>
          </a:p>
        </p:txBody>
      </p:sp>
      <p:sp>
        <p:nvSpPr>
          <p:cNvPr id="5" name="矩形 4"/>
          <p:cNvSpPr/>
          <p:nvPr/>
        </p:nvSpPr>
        <p:spPr>
          <a:xfrm>
            <a:off x="6300192" y="2636912"/>
            <a:ext cx="1224136" cy="936104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/>
              <a:t>Service </a:t>
            </a:r>
            <a:endParaRPr lang="zh-TW" altLang="en-US" sz="2400" dirty="0"/>
          </a:p>
        </p:txBody>
      </p:sp>
      <p:sp>
        <p:nvSpPr>
          <p:cNvPr id="6" name="橢圓 5"/>
          <p:cNvSpPr/>
          <p:nvPr/>
        </p:nvSpPr>
        <p:spPr>
          <a:xfrm>
            <a:off x="3851920" y="2564904"/>
            <a:ext cx="1728192" cy="1006334"/>
          </a:xfrm>
          <a:prstGeom prst="ellipse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>
                <a:solidFill>
                  <a:schemeClr val="accent1"/>
                </a:solidFill>
              </a:rPr>
              <a:t>Web Service </a:t>
            </a:r>
            <a:endParaRPr lang="zh-TW" altLang="en-US" sz="2400" dirty="0">
              <a:solidFill>
                <a:schemeClr val="accent1"/>
              </a:solidFill>
            </a:endParaRPr>
          </a:p>
        </p:txBody>
      </p:sp>
      <p:cxnSp>
        <p:nvCxnSpPr>
          <p:cNvPr id="7" name="直線單箭頭接點 6"/>
          <p:cNvCxnSpPr>
            <a:stCxn id="4" idx="3"/>
            <a:endCxn id="5" idx="1"/>
          </p:cNvCxnSpPr>
          <p:nvPr/>
        </p:nvCxnSpPr>
        <p:spPr>
          <a:xfrm>
            <a:off x="3131840" y="3104964"/>
            <a:ext cx="3168352" cy="0"/>
          </a:xfrm>
          <a:prstGeom prst="straightConnector1">
            <a:avLst/>
          </a:prstGeom>
          <a:ln>
            <a:prstDash val="dash"/>
            <a:headEnd type="arrow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圓角矩形 7"/>
          <p:cNvSpPr/>
          <p:nvPr/>
        </p:nvSpPr>
        <p:spPr>
          <a:xfrm>
            <a:off x="1835696" y="4653136"/>
            <a:ext cx="1440160" cy="79208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/>
              <a:t>Function </a:t>
            </a:r>
            <a:endParaRPr lang="zh-TW" altLang="en-US" sz="2400" dirty="0"/>
          </a:p>
        </p:txBody>
      </p:sp>
      <p:sp>
        <p:nvSpPr>
          <p:cNvPr id="9" name="圓角矩形 8"/>
          <p:cNvSpPr/>
          <p:nvPr/>
        </p:nvSpPr>
        <p:spPr>
          <a:xfrm>
            <a:off x="6084168" y="4653136"/>
            <a:ext cx="1440160" cy="792088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smtClean="0"/>
              <a:t>Function </a:t>
            </a:r>
            <a:endParaRPr lang="zh-TW" altLang="en-US" sz="2400"/>
          </a:p>
        </p:txBody>
      </p:sp>
      <p:cxnSp>
        <p:nvCxnSpPr>
          <p:cNvPr id="10" name="直線單箭頭接點 9"/>
          <p:cNvCxnSpPr/>
          <p:nvPr/>
        </p:nvCxnSpPr>
        <p:spPr>
          <a:xfrm rot="5400000">
            <a:off x="2123728" y="4077072"/>
            <a:ext cx="720080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 rot="5400000">
            <a:off x="6517010" y="4076278"/>
            <a:ext cx="720080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文字方塊 2"/>
          <p:cNvSpPr txBox="1"/>
          <p:nvPr/>
        </p:nvSpPr>
        <p:spPr>
          <a:xfrm>
            <a:off x="1584804" y="2164214"/>
            <a:ext cx="1869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Service Consumer</a:t>
            </a:r>
            <a:endParaRPr lang="zh-TW" altLang="en-US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5986658" y="2195572"/>
            <a:ext cx="1701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Service Provider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AppFabric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 l="1181" t="8723" r="59838" b="29489"/>
          <a:stretch>
            <a:fillRect/>
          </a:stretch>
        </p:blipFill>
        <p:spPr bwMode="auto">
          <a:xfrm>
            <a:off x="0" y="1052736"/>
            <a:ext cx="5436096" cy="46673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 t="9450" r="60232" b="61474"/>
          <a:stretch>
            <a:fillRect/>
          </a:stretch>
        </p:blipFill>
        <p:spPr bwMode="auto">
          <a:xfrm>
            <a:off x="3635896" y="1412776"/>
            <a:ext cx="5272786" cy="2088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 t="4803"/>
          <a:stretch>
            <a:fillRect/>
          </a:stretch>
        </p:blipFill>
        <p:spPr bwMode="auto">
          <a:xfrm>
            <a:off x="4018381" y="3284984"/>
            <a:ext cx="3433939" cy="3332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Installation 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Getting started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Sample</a:t>
            </a:r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System Requirements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Supported Operating </a:t>
            </a:r>
            <a:r>
              <a:rPr lang="en-US" altLang="zh-TW" dirty="0" smtClean="0"/>
              <a:t>Systems</a:t>
            </a:r>
          </a:p>
          <a:p>
            <a:pPr lvl="1"/>
            <a:r>
              <a:rPr lang="en-US" altLang="zh-TW" dirty="0" smtClean="0"/>
              <a:t>Windows 7, Windows </a:t>
            </a:r>
            <a:r>
              <a:rPr lang="en-US" altLang="zh-TW" dirty="0"/>
              <a:t>Server </a:t>
            </a:r>
            <a:r>
              <a:rPr lang="en-US" altLang="zh-TW" dirty="0" smtClean="0"/>
              <a:t>2008, Windows </a:t>
            </a:r>
            <a:r>
              <a:rPr lang="en-US" altLang="zh-TW" dirty="0"/>
              <a:t>Server 2008 </a:t>
            </a:r>
            <a:r>
              <a:rPr lang="en-US" altLang="zh-TW" dirty="0" smtClean="0"/>
              <a:t>R2, or Windows Vista</a:t>
            </a:r>
          </a:p>
          <a:p>
            <a:r>
              <a:rPr lang="en-US" altLang="zh-TW" dirty="0" smtClean="0"/>
              <a:t>Development environment</a:t>
            </a:r>
          </a:p>
          <a:p>
            <a:pPr lvl="1"/>
            <a:r>
              <a:rPr lang="en-US" altLang="zh-TW" dirty="0"/>
              <a:t>Microsoft Visual Studio </a:t>
            </a:r>
            <a:r>
              <a:rPr lang="en-US" altLang="zh-TW" dirty="0" smtClean="0"/>
              <a:t>2010, Upgrade </a:t>
            </a:r>
            <a:r>
              <a:rPr lang="en-US" altLang="zh-TW" dirty="0"/>
              <a:t>Microsoft Visual Studio 2008 to Service Pack </a:t>
            </a:r>
            <a:r>
              <a:rPr lang="en-US" altLang="zh-TW" dirty="0" smtClean="0"/>
              <a:t>1, or Install </a:t>
            </a:r>
            <a:r>
              <a:rPr lang="en-US" altLang="zh-TW" dirty="0"/>
              <a:t>Microsoft Visual Web Developer 2010 </a:t>
            </a:r>
            <a:r>
              <a:rPr lang="en-US" altLang="zh-TW" dirty="0" smtClean="0"/>
              <a:t>Express</a:t>
            </a:r>
          </a:p>
          <a:p>
            <a:pPr lvl="1"/>
            <a:r>
              <a:rPr lang="en-US" altLang="zh-TW" dirty="0"/>
              <a:t>.NET </a:t>
            </a:r>
            <a:r>
              <a:rPr lang="en-US" altLang="zh-TW" dirty="0" smtClean="0"/>
              <a:t>framework 3.5+</a:t>
            </a:r>
            <a:endParaRPr lang="en-US" altLang="zh-TW" dirty="0"/>
          </a:p>
          <a:p>
            <a:pPr lvl="1"/>
            <a:r>
              <a:rPr lang="en-US" altLang="zh-TW" dirty="0" smtClean="0"/>
              <a:t>IIS </a:t>
            </a:r>
            <a:r>
              <a:rPr lang="en-US" altLang="zh-TW" dirty="0"/>
              <a:t>7.0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Windows </a:t>
            </a:r>
            <a:r>
              <a:rPr lang="en-US" altLang="zh-TW" dirty="0"/>
              <a:t>Azure </a:t>
            </a:r>
            <a:r>
              <a:rPr lang="en-US" altLang="zh-TW" dirty="0" smtClean="0"/>
              <a:t>Tools </a:t>
            </a:r>
            <a:r>
              <a:rPr lang="en-US" altLang="zh-TW" dirty="0"/>
              <a:t>1.2 (June 2010) </a:t>
            </a:r>
            <a:endParaRPr lang="en-US" altLang="zh-TW" dirty="0" smtClean="0"/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2044585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Install Steps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4997152"/>
          </a:xfrm>
        </p:spPr>
        <p:txBody>
          <a:bodyPr>
            <a:normAutofit/>
          </a:bodyPr>
          <a:lstStyle/>
          <a:p>
            <a:r>
              <a:rPr lang="en-US" altLang="zh-TW" dirty="0"/>
              <a:t>Install </a:t>
            </a:r>
            <a:r>
              <a:rPr lang="en-US" altLang="zh-TW" dirty="0" smtClean="0"/>
              <a:t>Visual </a:t>
            </a:r>
            <a:r>
              <a:rPr lang="en-US" altLang="zh-TW" dirty="0"/>
              <a:t>Studio </a:t>
            </a:r>
            <a:r>
              <a:rPr lang="en-US" altLang="zh-TW" dirty="0" smtClean="0"/>
              <a:t>2010 Express or </a:t>
            </a:r>
            <a:r>
              <a:rPr lang="en-US" altLang="zh-TW" dirty="0"/>
              <a:t>Visual Web Developer 2010 Express</a:t>
            </a:r>
          </a:p>
          <a:p>
            <a:pPr lvl="1"/>
            <a:r>
              <a:rPr lang="en-US" altLang="zh-TW" dirty="0" smtClean="0"/>
              <a:t>SQL Server 2008 Express &amp; .NET framework 4.0 were installed as part of Visual Studio</a:t>
            </a:r>
          </a:p>
          <a:p>
            <a:r>
              <a:rPr lang="en-US" altLang="zh-TW" dirty="0" smtClean="0"/>
              <a:t>Enable </a:t>
            </a:r>
            <a:r>
              <a:rPr lang="en-US" altLang="zh-TW" dirty="0"/>
              <a:t>IIS7 with ASP.NET and WCF HTTP </a:t>
            </a:r>
            <a:r>
              <a:rPr lang="en-US" altLang="zh-TW" dirty="0" smtClean="0"/>
              <a:t>Activation</a:t>
            </a:r>
          </a:p>
          <a:p>
            <a:pPr lvl="1"/>
            <a:r>
              <a:rPr lang="en-US" altLang="zh-TW" dirty="0" smtClean="0"/>
              <a:t>According to your OS version</a:t>
            </a:r>
            <a:endParaRPr lang="en-US" altLang="zh-TW" dirty="0"/>
          </a:p>
          <a:p>
            <a:r>
              <a:rPr lang="en-US" altLang="zh-TW" dirty="0"/>
              <a:t>Install the Windows Azure Tools </a:t>
            </a:r>
            <a:r>
              <a:rPr lang="en-US" altLang="zh-TW" dirty="0" smtClean="0"/>
              <a:t>1.2</a:t>
            </a:r>
          </a:p>
          <a:p>
            <a:pPr lvl="1"/>
            <a:r>
              <a:rPr lang="en-US" altLang="zh-TW" dirty="0" smtClean="0"/>
              <a:t>VSCloudService.exe</a:t>
            </a:r>
            <a:endParaRPr lang="en-US" altLang="zh-TW" dirty="0"/>
          </a:p>
          <a:p>
            <a:r>
              <a:rPr lang="en-US" altLang="zh-TW" dirty="0"/>
              <a:t>Azure Storage Explorer</a:t>
            </a:r>
          </a:p>
          <a:p>
            <a:pPr lvl="1"/>
            <a:r>
              <a:rPr lang="en-US" altLang="zh-TW" dirty="0" smtClean="0"/>
              <a:t>AzureStorageExplorerSetup.msi</a:t>
            </a:r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660753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Download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5141168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dirty="0" smtClean="0"/>
              <a:t>Major</a:t>
            </a:r>
          </a:p>
          <a:p>
            <a:pPr lvl="1"/>
            <a:r>
              <a:rPr lang="en-US" altLang="zh-TW" dirty="0" smtClean="0"/>
              <a:t>Visual Studio </a:t>
            </a:r>
            <a:r>
              <a:rPr lang="en-US" altLang="zh-TW" dirty="0"/>
              <a:t>2010 </a:t>
            </a:r>
            <a:r>
              <a:rPr lang="en-US" altLang="zh-TW" dirty="0" smtClean="0"/>
              <a:t>or Visual </a:t>
            </a:r>
            <a:r>
              <a:rPr lang="en-US" altLang="zh-TW" dirty="0"/>
              <a:t>Web Developer 2010 Express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Windows Azure SDK</a:t>
            </a:r>
          </a:p>
          <a:p>
            <a:pPr lvl="1"/>
            <a:r>
              <a:rPr lang="en-US" altLang="zh-TW" dirty="0" smtClean="0"/>
              <a:t>Azure Storage Explorer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Optional </a:t>
            </a:r>
          </a:p>
          <a:p>
            <a:pPr lvl="1"/>
            <a:r>
              <a:rPr lang="en-US" altLang="zh-TW" dirty="0" smtClean="0"/>
              <a:t>.</a:t>
            </a:r>
            <a:r>
              <a:rPr lang="en-US" altLang="zh-TW" dirty="0"/>
              <a:t>NET framework (3.5+)</a:t>
            </a:r>
          </a:p>
          <a:p>
            <a:pPr lvl="2"/>
            <a:r>
              <a:rPr lang="en-US" altLang="zh-TW" dirty="0">
                <a:hlinkClick r:id="rId2"/>
              </a:rPr>
              <a:t>http://www.microsoft.com/downloads/en/details.aspx?FamilyID=9cfb2d51-5ff4-4491-b0e5-b386f32c0992&amp;displaylang=en</a:t>
            </a:r>
            <a:endParaRPr lang="en-US" altLang="zh-TW" dirty="0"/>
          </a:p>
          <a:p>
            <a:pPr lvl="1"/>
            <a:r>
              <a:rPr lang="en-US" altLang="zh-TW" dirty="0" smtClean="0"/>
              <a:t>Microsoft </a:t>
            </a:r>
            <a:r>
              <a:rPr lang="en-US" altLang="zh-TW" dirty="0"/>
              <a:t>IIS 7</a:t>
            </a:r>
          </a:p>
          <a:p>
            <a:pPr lvl="2"/>
            <a:r>
              <a:rPr lang="en-US" altLang="zh-TW" dirty="0">
                <a:hlinkClick r:id="rId3"/>
              </a:rPr>
              <a:t>http://www.iis.net/download</a:t>
            </a:r>
            <a:r>
              <a:rPr lang="en-US" altLang="zh-TW" dirty="0"/>
              <a:t> </a:t>
            </a:r>
          </a:p>
          <a:p>
            <a:pPr lvl="1"/>
            <a:r>
              <a:rPr lang="en-US" altLang="zh-TW" dirty="0" smtClean="0"/>
              <a:t>ASP.NET</a:t>
            </a:r>
          </a:p>
          <a:p>
            <a:pPr lvl="2"/>
            <a:r>
              <a:rPr lang="en-US" altLang="zh-TW" dirty="0" smtClean="0">
                <a:hlinkClick r:id="rId4"/>
              </a:rPr>
              <a:t>http://www.asp.net/</a:t>
            </a:r>
            <a:r>
              <a:rPr lang="en-US" altLang="zh-TW" dirty="0" smtClean="0"/>
              <a:t> </a:t>
            </a:r>
          </a:p>
          <a:p>
            <a:pPr lvl="1"/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Visual Studio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Use browser(like IE or Firefox ) and link to</a:t>
            </a:r>
          </a:p>
          <a:p>
            <a:pPr lvl="1">
              <a:buNone/>
            </a:pPr>
            <a:r>
              <a:rPr lang="en-US" altLang="zh-TW" dirty="0" smtClean="0">
                <a:hlinkClick r:id="rId2"/>
              </a:rPr>
              <a:t>http://www.microsoft.com/express/Downloads/</a:t>
            </a:r>
            <a:endParaRPr lang="en-US" altLang="zh-TW" dirty="0" smtClean="0"/>
          </a:p>
          <a:p>
            <a:endParaRPr lang="en-US" altLang="zh-TW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 l="13781" t="19626" r="9045"/>
          <a:stretch>
            <a:fillRect/>
          </a:stretch>
        </p:blipFill>
        <p:spPr bwMode="auto">
          <a:xfrm>
            <a:off x="971600" y="2636912"/>
            <a:ext cx="6840760" cy="3859028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Azure SDK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Use browser(like IE or Firefox ) and link to</a:t>
            </a:r>
          </a:p>
          <a:p>
            <a:pPr marL="342900" lvl="1" indent="-342900"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 smtClean="0"/>
              <a:t>	</a:t>
            </a:r>
            <a:r>
              <a:rPr lang="en-US" altLang="zh-TW" sz="2000" dirty="0" smtClean="0">
                <a:hlinkClick r:id="rId2"/>
              </a:rPr>
              <a:t>http://msdn.microsoft.com/en-us/windowsazure/default.aspx</a:t>
            </a:r>
            <a:endParaRPr lang="en-US" altLang="zh-TW" sz="2000" dirty="0" smtClean="0"/>
          </a:p>
          <a:p>
            <a:r>
              <a:rPr lang="en-US" altLang="zh-TW" dirty="0" smtClean="0"/>
              <a:t>Choose </a:t>
            </a:r>
            <a:r>
              <a:rPr lang="en-US" altLang="zh-TW" b="1" dirty="0" smtClean="0"/>
              <a:t>Downloads</a:t>
            </a:r>
          </a:p>
          <a:p>
            <a:endParaRPr lang="en-US" altLang="zh-TW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 l="15356" t="14538" r="17707" b="44433"/>
          <a:stretch>
            <a:fillRect/>
          </a:stretch>
        </p:blipFill>
        <p:spPr bwMode="auto">
          <a:xfrm>
            <a:off x="251520" y="3905592"/>
            <a:ext cx="8892480" cy="2952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直線單箭頭接點 7"/>
          <p:cNvCxnSpPr/>
          <p:nvPr/>
        </p:nvCxnSpPr>
        <p:spPr>
          <a:xfrm rot="5400000">
            <a:off x="3239852" y="4257092"/>
            <a:ext cx="505644" cy="1588"/>
          </a:xfrm>
          <a:prstGeom prst="straightConnector1">
            <a:avLst/>
          </a:prstGeom>
          <a:ln w="57150">
            <a:prstDash val="dash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1043608" y="6021288"/>
            <a:ext cx="396044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>
            <a:off x="5076056" y="5661248"/>
            <a:ext cx="566181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FF0000"/>
                </a:solidFill>
              </a:rPr>
              <a:t>SDK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內容版面配置區 7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 smtClean="0"/>
              <a:t>Run the Azure SDK.</a:t>
            </a:r>
          </a:p>
          <a:p>
            <a:r>
              <a:rPr lang="en-US" altLang="zh-TW" dirty="0" smtClean="0"/>
              <a:t>Press Next as default.</a:t>
            </a:r>
          </a:p>
          <a:p>
            <a:r>
              <a:rPr lang="en-US" altLang="zh-TW" dirty="0" smtClean="0"/>
              <a:t>Download the Azure tools automatically.</a:t>
            </a:r>
          </a:p>
          <a:p>
            <a:r>
              <a:rPr lang="en-US" altLang="zh-TW" dirty="0" smtClean="0"/>
              <a:t>Ready to start.</a:t>
            </a:r>
            <a:endParaRPr lang="zh-TW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88024" y="1988840"/>
            <a:ext cx="3963893" cy="3662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88024" y="1988840"/>
            <a:ext cx="3923884" cy="36255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4" cstate="print"/>
          <a:stretch>
            <a:fillRect/>
          </a:stretch>
        </p:blipFill>
        <p:spPr bwMode="auto">
          <a:xfrm>
            <a:off x="4716016" y="1916832"/>
            <a:ext cx="4005366" cy="3700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3" name="直線單箭頭接點 12"/>
          <p:cNvCxnSpPr/>
          <p:nvPr/>
        </p:nvCxnSpPr>
        <p:spPr>
          <a:xfrm rot="5400000" flipH="1" flipV="1">
            <a:off x="7453114" y="5876478"/>
            <a:ext cx="432048" cy="1588"/>
          </a:xfrm>
          <a:prstGeom prst="straightConnector1">
            <a:avLst/>
          </a:prstGeom>
          <a:ln w="57150">
            <a:solidFill>
              <a:srgbClr val="C00000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altLang="zh-TW" dirty="0" smtClean="0"/>
              <a:t>Azure SDK </a:t>
            </a:r>
            <a:r>
              <a:rPr lang="en-US" altLang="zh-TW" i="0" dirty="0" smtClean="0"/>
              <a:t>(</a:t>
            </a:r>
            <a:r>
              <a:rPr lang="en-US" altLang="zh-TW" dirty="0" smtClean="0"/>
              <a:t>cont.</a:t>
            </a:r>
            <a:r>
              <a:rPr lang="en-US" altLang="zh-TW" i="0" dirty="0" smtClean="0"/>
              <a:t>)</a:t>
            </a:r>
            <a:endParaRPr lang="zh-TW" altLang="en-US" i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Azure SDK </a:t>
            </a:r>
            <a:r>
              <a:rPr lang="en-US" altLang="zh-TW" i="0" dirty="0" smtClean="0"/>
              <a:t>(</a:t>
            </a:r>
            <a:r>
              <a:rPr lang="en-US" altLang="zh-TW" dirty="0" smtClean="0"/>
              <a:t>cont.</a:t>
            </a:r>
            <a:r>
              <a:rPr lang="en-US" altLang="zh-TW" i="0" dirty="0" smtClean="0"/>
              <a:t>)</a:t>
            </a:r>
            <a:endParaRPr lang="zh-TW" altLang="en-US" i="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1484784"/>
            <a:ext cx="6696744" cy="50225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23928" y="3717032"/>
            <a:ext cx="4519439" cy="1439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Azure Storage Explorer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Use browser (like IE or Firefox ) and link to</a:t>
            </a:r>
          </a:p>
          <a:p>
            <a:pPr marL="342900" lvl="1" indent="-342900"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 smtClean="0"/>
              <a:t>	</a:t>
            </a:r>
            <a:r>
              <a:rPr lang="en-US" altLang="zh-TW" sz="2000" dirty="0" smtClean="0">
                <a:hlinkClick r:id="rId2"/>
              </a:rPr>
              <a:t>http://azurestorageexplorer.codeplex.com</a:t>
            </a:r>
            <a:endParaRPr lang="en-US" altLang="zh-TW" sz="2000" dirty="0" smtClean="0"/>
          </a:p>
          <a:p>
            <a:r>
              <a:rPr lang="en-US" altLang="zh-TW" dirty="0" smtClean="0"/>
              <a:t>Download Azure Storage Explorer.</a:t>
            </a:r>
            <a:endParaRPr lang="zh-TW" altLang="en-US" dirty="0"/>
          </a:p>
        </p:txBody>
      </p:sp>
      <p:pic>
        <p:nvPicPr>
          <p:cNvPr id="48131" name="Picture 3"/>
          <p:cNvPicPr>
            <a:picLocks noChangeAspect="1" noChangeArrowheads="1"/>
          </p:cNvPicPr>
          <p:nvPr/>
        </p:nvPicPr>
        <p:blipFill>
          <a:blip r:embed="rId3" cstate="print"/>
          <a:srcRect t="18292" r="-11" b="28643"/>
          <a:stretch>
            <a:fillRect/>
          </a:stretch>
        </p:blipFill>
        <p:spPr bwMode="auto">
          <a:xfrm>
            <a:off x="0" y="3501008"/>
            <a:ext cx="9144000" cy="26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直線單箭頭接點 7"/>
          <p:cNvCxnSpPr/>
          <p:nvPr/>
        </p:nvCxnSpPr>
        <p:spPr>
          <a:xfrm>
            <a:off x="7092280" y="4284184"/>
            <a:ext cx="648072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Azure Storage Explorer</a:t>
            </a:r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628800"/>
            <a:ext cx="7818459" cy="4581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矩形 4"/>
          <p:cNvSpPr/>
          <p:nvPr/>
        </p:nvSpPr>
        <p:spPr>
          <a:xfrm>
            <a:off x="827584" y="3212976"/>
            <a:ext cx="1656184" cy="180020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More and more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… and more</a:t>
            </a:r>
          </a:p>
          <a:p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7704" y="2636912"/>
            <a:ext cx="5394176" cy="2697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Installation 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Getting started</a:t>
            </a:r>
          </a:p>
          <a:p>
            <a:r>
              <a:rPr lang="en-US" altLang="zh-TW" dirty="0" smtClean="0"/>
              <a:t>Sample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2709867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Step by Step(1)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 smtClean="0"/>
              <a:t>Run Web Developer (by admin).</a:t>
            </a:r>
          </a:p>
          <a:p>
            <a:r>
              <a:rPr lang="en-US" altLang="zh-TW" dirty="0" smtClean="0"/>
              <a:t>Create a new project (Cloud service)</a:t>
            </a:r>
          </a:p>
          <a:p>
            <a:r>
              <a:rPr lang="en-US" altLang="zh-TW" dirty="0" smtClean="0"/>
              <a:t>Select ASP.NET </a:t>
            </a:r>
            <a:br>
              <a:rPr lang="en-US" altLang="zh-TW" dirty="0" smtClean="0"/>
            </a:br>
            <a:r>
              <a:rPr lang="en-US" altLang="zh-TW" dirty="0" smtClean="0"/>
              <a:t>Web Role</a:t>
            </a:r>
          </a:p>
          <a:p>
            <a:endParaRPr lang="en-US" altLang="zh-TW" dirty="0" smtClean="0"/>
          </a:p>
          <a:p>
            <a:endParaRPr lang="zh-TW" altLang="en-US" dirty="0"/>
          </a:p>
        </p:txBody>
      </p:sp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2160" y="1340768"/>
            <a:ext cx="2676136" cy="4871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70652" y="3282702"/>
            <a:ext cx="5173348" cy="35752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80131" y="3356992"/>
            <a:ext cx="5263869" cy="3501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3" name="直線接點 12"/>
          <p:cNvCxnSpPr/>
          <p:nvPr/>
        </p:nvCxnSpPr>
        <p:spPr>
          <a:xfrm>
            <a:off x="6876256" y="1916832"/>
            <a:ext cx="100811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>
            <a:off x="4283968" y="5301208"/>
            <a:ext cx="792088" cy="1588"/>
          </a:xfrm>
          <a:prstGeom prst="straightConnector1">
            <a:avLst/>
          </a:prstGeom>
          <a:ln w="57150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>
          <a:xfrm rot="5400000">
            <a:off x="6336196" y="4545124"/>
            <a:ext cx="36004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>
          <a:xfrm>
            <a:off x="6876256" y="6633212"/>
            <a:ext cx="576064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Step by Step(2)</a:t>
            </a:r>
            <a:endParaRPr lang="zh-TW" altLang="en-US" dirty="0"/>
          </a:p>
        </p:txBody>
      </p:sp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1196752"/>
            <a:ext cx="9144000" cy="5529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3347864" y="3606382"/>
            <a:ext cx="5749026" cy="3194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Step by Step(3)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Running</a:t>
            </a:r>
          </a:p>
          <a:p>
            <a:pPr lvl="1"/>
            <a:r>
              <a:rPr lang="en-US" altLang="zh-TW" dirty="0" smtClean="0"/>
              <a:t>Enter F5 for building project.</a:t>
            </a:r>
          </a:p>
          <a:p>
            <a:pPr lvl="1"/>
            <a:r>
              <a:rPr lang="en-US" altLang="zh-TW" dirty="0" smtClean="0"/>
              <a:t>After about 30 seconds.</a:t>
            </a:r>
          </a:p>
          <a:p>
            <a:pPr lvl="1"/>
            <a:r>
              <a:rPr lang="en-US" altLang="zh-TW" dirty="0" smtClean="0"/>
              <a:t>Get a web page.</a:t>
            </a:r>
          </a:p>
          <a:p>
            <a:pPr lvl="1"/>
            <a:endParaRPr lang="en-US" altLang="zh-TW" dirty="0" smtClean="0"/>
          </a:p>
          <a:p>
            <a:endParaRPr lang="zh-TW" altLang="en-US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1412776"/>
            <a:ext cx="6192688" cy="46445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More Information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Detail Instructions</a:t>
            </a:r>
          </a:p>
          <a:p>
            <a:pPr lvl="1"/>
            <a:r>
              <a:rPr lang="en-US" altLang="zh-TW" dirty="0">
                <a:hlinkClick r:id="rId2"/>
              </a:rPr>
              <a:t>http://</a:t>
            </a:r>
            <a:r>
              <a:rPr lang="en-US" altLang="zh-TW" dirty="0" smtClean="0">
                <a:hlinkClick r:id="rId2"/>
              </a:rPr>
              <a:t>www.microsoft.com/downloads/en/details.aspx?displaylang=en&amp;FamilyID=2274a0a8-5d37-4eac-b50a-e197dc340f6f</a:t>
            </a:r>
            <a:r>
              <a:rPr lang="en-US" altLang="zh-TW" dirty="0" smtClean="0"/>
              <a:t> </a:t>
            </a:r>
            <a:endParaRPr lang="en-US" altLang="zh-TW" dirty="0"/>
          </a:p>
          <a:p>
            <a:endParaRPr lang="en-US" altLang="zh-TW" dirty="0" smtClean="0"/>
          </a:p>
          <a:p>
            <a:r>
              <a:rPr lang="en-US" altLang="zh-TW" dirty="0" smtClean="0"/>
              <a:t>Windows Azure Platform Training Kit</a:t>
            </a:r>
          </a:p>
          <a:p>
            <a:pPr lvl="1"/>
            <a:r>
              <a:rPr lang="en-US" altLang="zh-TW" dirty="0" smtClean="0">
                <a:hlinkClick r:id="rId3"/>
              </a:rPr>
              <a:t>http://www.microsoft.com/downloads/en/details.aspx?FamilyID=413e88f8-5966-4a83-b309-53b7b77edf78&amp;displaylang=en</a:t>
            </a:r>
            <a:endParaRPr lang="en-US" altLang="zh-TW" sz="3600" dirty="0" smtClean="0"/>
          </a:p>
          <a:p>
            <a:endParaRPr lang="en-US" altLang="zh-TW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idx="4294967295"/>
          </p:nvPr>
        </p:nvSpPr>
        <p:spPr>
          <a:xfrm>
            <a:off x="685800" y="4406900"/>
            <a:ext cx="7772400" cy="1362075"/>
          </a:xfrm>
        </p:spPr>
        <p:txBody>
          <a:bodyPr/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Lab - 1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body" idx="4294967295"/>
          </p:nvPr>
        </p:nvSpPr>
        <p:spPr>
          <a:xfrm>
            <a:off x="685800" y="2906713"/>
            <a:ext cx="7772400" cy="1500187"/>
          </a:xfrm>
        </p:spPr>
        <p:txBody>
          <a:bodyPr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marL="0" indent="0" algn="r">
              <a:buNone/>
            </a:pPr>
            <a:r>
              <a:rPr lang="en-US" altLang="zh-TW" sz="3600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GuestBook</a:t>
            </a:r>
            <a:endParaRPr lang="zh-TW" altLang="en-US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Overview</a:t>
            </a:r>
            <a:endParaRPr lang="zh-TW" altLang="en-US" dirty="0"/>
          </a:p>
        </p:txBody>
      </p:sp>
      <p:pic>
        <p:nvPicPr>
          <p:cNvPr id="4" name="Picture 1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l="33862" t="16838" r="29913" b="62081"/>
          <a:stretch>
            <a:fillRect/>
          </a:stretch>
        </p:blipFill>
        <p:spPr bwMode="auto">
          <a:xfrm>
            <a:off x="0" y="2466620"/>
            <a:ext cx="9144000" cy="2882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Overview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This lab will show you how to create an Azure application.</a:t>
            </a:r>
          </a:p>
          <a:p>
            <a:pPr lvl="1"/>
            <a:r>
              <a:rPr lang="en-US" altLang="zh-TW" dirty="0" smtClean="0"/>
              <a:t>Web role and Worker role</a:t>
            </a:r>
          </a:p>
          <a:p>
            <a:pPr lvl="1"/>
            <a:r>
              <a:rPr lang="en-US" altLang="zh-TW" dirty="0" smtClean="0"/>
              <a:t>Blob, Table, and Queue</a:t>
            </a:r>
            <a:endParaRPr lang="zh-TW" altLang="en-US" dirty="0"/>
          </a:p>
        </p:txBody>
      </p:sp>
      <p:grpSp>
        <p:nvGrpSpPr>
          <p:cNvPr id="4" name="群組 24"/>
          <p:cNvGrpSpPr/>
          <p:nvPr/>
        </p:nvGrpSpPr>
        <p:grpSpPr>
          <a:xfrm>
            <a:off x="1979712" y="3491716"/>
            <a:ext cx="6120680" cy="2889612"/>
            <a:chOff x="1979712" y="3491716"/>
            <a:chExt cx="6120680" cy="2889612"/>
          </a:xfrm>
        </p:grpSpPr>
        <p:sp>
          <p:nvSpPr>
            <p:cNvPr id="23" name="矩形 22"/>
            <p:cNvSpPr/>
            <p:nvPr/>
          </p:nvSpPr>
          <p:spPr>
            <a:xfrm>
              <a:off x="1979712" y="3861048"/>
              <a:ext cx="6120680" cy="2520280"/>
            </a:xfrm>
            <a:prstGeom prst="rect">
              <a:avLst/>
            </a:prstGeom>
            <a:noFill/>
            <a:ln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文字方塊 23"/>
            <p:cNvSpPr txBox="1"/>
            <p:nvPr/>
          </p:nvSpPr>
          <p:spPr>
            <a:xfrm>
              <a:off x="7164288" y="3491716"/>
              <a:ext cx="9022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Project </a:t>
              </a:r>
              <a:endParaRPr lang="zh-TW" altLang="en-US" dirty="0"/>
            </a:p>
          </p:txBody>
        </p:sp>
      </p:grpSp>
      <p:sp>
        <p:nvSpPr>
          <p:cNvPr id="7" name="矩形 6"/>
          <p:cNvSpPr/>
          <p:nvPr/>
        </p:nvSpPr>
        <p:spPr>
          <a:xfrm>
            <a:off x="1763688" y="4077072"/>
            <a:ext cx="720080" cy="20882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Web</a:t>
            </a:r>
          </a:p>
          <a:p>
            <a:pPr algn="ctr"/>
            <a:r>
              <a:rPr lang="en-US" altLang="zh-TW" dirty="0" smtClean="0"/>
              <a:t>Role</a:t>
            </a:r>
            <a:endParaRPr lang="zh-TW" altLang="en-US" dirty="0"/>
          </a:p>
        </p:txBody>
      </p:sp>
      <p:sp>
        <p:nvSpPr>
          <p:cNvPr id="12" name="流程圖: 磁碟 11"/>
          <p:cNvSpPr/>
          <p:nvPr/>
        </p:nvSpPr>
        <p:spPr>
          <a:xfrm>
            <a:off x="4716016" y="5373216"/>
            <a:ext cx="2088232" cy="936104"/>
          </a:xfrm>
          <a:prstGeom prst="flowChartMagneticDisk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Storage </a:t>
            </a:r>
            <a:endParaRPr lang="zh-TW" altLang="en-US" dirty="0"/>
          </a:p>
        </p:txBody>
      </p:sp>
      <p:grpSp>
        <p:nvGrpSpPr>
          <p:cNvPr id="5" name="群組 16"/>
          <p:cNvGrpSpPr/>
          <p:nvPr/>
        </p:nvGrpSpPr>
        <p:grpSpPr>
          <a:xfrm>
            <a:off x="683568" y="4005064"/>
            <a:ext cx="1224136" cy="2025516"/>
            <a:chOff x="683568" y="4005064"/>
            <a:chExt cx="1224136" cy="2025516"/>
          </a:xfrm>
        </p:grpSpPr>
        <p:cxnSp>
          <p:nvCxnSpPr>
            <p:cNvPr id="9" name="直線單箭頭接點 8"/>
            <p:cNvCxnSpPr/>
            <p:nvPr/>
          </p:nvCxnSpPr>
          <p:spPr>
            <a:xfrm>
              <a:off x="1115616" y="4509120"/>
              <a:ext cx="792088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" name="直線單箭頭接點 10"/>
            <p:cNvCxnSpPr/>
            <p:nvPr/>
          </p:nvCxnSpPr>
          <p:spPr>
            <a:xfrm rot="10800000">
              <a:off x="1115616" y="5589240"/>
              <a:ext cx="72008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5" name="文字方塊 14"/>
            <p:cNvSpPr txBox="1"/>
            <p:nvPr/>
          </p:nvSpPr>
          <p:spPr>
            <a:xfrm>
              <a:off x="755576" y="4005064"/>
              <a:ext cx="9971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Request </a:t>
              </a:r>
              <a:endParaRPr lang="zh-TW" altLang="en-US" dirty="0"/>
            </a:p>
          </p:txBody>
        </p:sp>
        <p:sp>
          <p:nvSpPr>
            <p:cNvPr id="16" name="文字方塊 15"/>
            <p:cNvSpPr txBox="1"/>
            <p:nvPr/>
          </p:nvSpPr>
          <p:spPr>
            <a:xfrm>
              <a:off x="683568" y="5661248"/>
              <a:ext cx="11264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Web page</a:t>
              </a:r>
              <a:endParaRPr lang="zh-TW" altLang="en-US" dirty="0"/>
            </a:p>
          </p:txBody>
        </p:sp>
      </p:grpSp>
      <p:grpSp>
        <p:nvGrpSpPr>
          <p:cNvPr id="6" name="群組 18"/>
          <p:cNvGrpSpPr/>
          <p:nvPr/>
        </p:nvGrpSpPr>
        <p:grpSpPr>
          <a:xfrm>
            <a:off x="2267744" y="5805264"/>
            <a:ext cx="2537433" cy="864096"/>
            <a:chOff x="2267744" y="5805264"/>
            <a:chExt cx="2537433" cy="864096"/>
          </a:xfrm>
        </p:grpSpPr>
        <p:cxnSp>
          <p:nvCxnSpPr>
            <p:cNvPr id="14" name="直線單箭頭接點 13"/>
            <p:cNvCxnSpPr/>
            <p:nvPr/>
          </p:nvCxnSpPr>
          <p:spPr>
            <a:xfrm>
              <a:off x="2267744" y="5805264"/>
              <a:ext cx="2520280" cy="216024"/>
            </a:xfrm>
            <a:prstGeom prst="straightConnector1">
              <a:avLst/>
            </a:prstGeom>
            <a:ln>
              <a:prstDash val="dash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文字方塊 17"/>
            <p:cNvSpPr txBox="1"/>
            <p:nvPr/>
          </p:nvSpPr>
          <p:spPr>
            <a:xfrm>
              <a:off x="2771800" y="6023029"/>
              <a:ext cx="203337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rgbClr val="FF0000"/>
                  </a:solidFill>
                </a:rPr>
                <a:t>Input data</a:t>
              </a:r>
            </a:p>
            <a:p>
              <a:r>
                <a:rPr lang="en-US" altLang="zh-TW" dirty="0" smtClean="0"/>
                <a:t>Name, Image, …etc </a:t>
              </a:r>
              <a:endParaRPr lang="zh-TW" altLang="en-US" dirty="0"/>
            </a:p>
          </p:txBody>
        </p:sp>
      </p:grpSp>
      <p:sp>
        <p:nvSpPr>
          <p:cNvPr id="20" name="矩形 19"/>
          <p:cNvSpPr/>
          <p:nvPr/>
        </p:nvSpPr>
        <p:spPr>
          <a:xfrm>
            <a:off x="2987824" y="4077072"/>
            <a:ext cx="1872208" cy="36004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rgbClr val="FF0000"/>
                </a:solidFill>
              </a:rPr>
              <a:t>Queue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8" name="圓角矩形 27"/>
          <p:cNvSpPr/>
          <p:nvPr/>
        </p:nvSpPr>
        <p:spPr>
          <a:xfrm>
            <a:off x="5364088" y="4077072"/>
            <a:ext cx="1872208" cy="504056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Worker Role</a:t>
            </a:r>
            <a:endParaRPr lang="zh-TW" altLang="en-US" dirty="0"/>
          </a:p>
        </p:txBody>
      </p:sp>
      <p:grpSp>
        <p:nvGrpSpPr>
          <p:cNvPr id="8" name="群組 29"/>
          <p:cNvGrpSpPr/>
          <p:nvPr/>
        </p:nvGrpSpPr>
        <p:grpSpPr>
          <a:xfrm>
            <a:off x="2339752" y="4293096"/>
            <a:ext cx="2952328" cy="513348"/>
            <a:chOff x="2339752" y="4293096"/>
            <a:chExt cx="2952328" cy="513348"/>
          </a:xfrm>
        </p:grpSpPr>
        <p:cxnSp>
          <p:nvCxnSpPr>
            <p:cNvPr id="22" name="直線單箭頭接點 21"/>
            <p:cNvCxnSpPr/>
            <p:nvPr/>
          </p:nvCxnSpPr>
          <p:spPr>
            <a:xfrm>
              <a:off x="2339752" y="4293096"/>
              <a:ext cx="504056" cy="1588"/>
            </a:xfrm>
            <a:prstGeom prst="straightConnector1">
              <a:avLst/>
            </a:prstGeom>
            <a:ln>
              <a:prstDash val="sysDot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線單箭頭接點 25"/>
            <p:cNvCxnSpPr/>
            <p:nvPr/>
          </p:nvCxnSpPr>
          <p:spPr>
            <a:xfrm>
              <a:off x="4788024" y="4293096"/>
              <a:ext cx="504056" cy="1588"/>
            </a:xfrm>
            <a:prstGeom prst="straightConnector1">
              <a:avLst/>
            </a:prstGeom>
            <a:ln>
              <a:prstDash val="sysDot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文字方塊 28"/>
            <p:cNvSpPr txBox="1"/>
            <p:nvPr/>
          </p:nvSpPr>
          <p:spPr>
            <a:xfrm>
              <a:off x="3275856" y="4437112"/>
              <a:ext cx="10604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err="1" smtClean="0"/>
                <a:t>Messgae</a:t>
              </a:r>
              <a:r>
                <a:rPr lang="en-US" altLang="zh-TW" dirty="0" smtClean="0"/>
                <a:t> </a:t>
              </a:r>
              <a:endParaRPr lang="zh-TW" altLang="en-US" dirty="0"/>
            </a:p>
          </p:txBody>
        </p:sp>
      </p:grpSp>
      <p:grpSp>
        <p:nvGrpSpPr>
          <p:cNvPr id="10" name="群組 36"/>
          <p:cNvGrpSpPr/>
          <p:nvPr/>
        </p:nvGrpSpPr>
        <p:grpSpPr>
          <a:xfrm>
            <a:off x="3707904" y="4653136"/>
            <a:ext cx="1872208" cy="648072"/>
            <a:chOff x="3707904" y="4653136"/>
            <a:chExt cx="1872208" cy="648072"/>
          </a:xfrm>
        </p:grpSpPr>
        <p:cxnSp>
          <p:nvCxnSpPr>
            <p:cNvPr id="32" name="直線單箭頭接點 31"/>
            <p:cNvCxnSpPr/>
            <p:nvPr/>
          </p:nvCxnSpPr>
          <p:spPr>
            <a:xfrm rot="5400000" flipH="1" flipV="1">
              <a:off x="5040052" y="4761148"/>
              <a:ext cx="648072" cy="432048"/>
            </a:xfrm>
            <a:prstGeom prst="straightConnector1">
              <a:avLst/>
            </a:prstGeom>
            <a:ln>
              <a:prstDash val="sysDot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文字方塊 35"/>
            <p:cNvSpPr txBox="1"/>
            <p:nvPr/>
          </p:nvSpPr>
          <p:spPr>
            <a:xfrm>
              <a:off x="3707904" y="4869160"/>
              <a:ext cx="15100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original image</a:t>
              </a:r>
            </a:p>
          </p:txBody>
        </p:sp>
      </p:grpSp>
      <p:grpSp>
        <p:nvGrpSpPr>
          <p:cNvPr id="13" name="群組 38"/>
          <p:cNvGrpSpPr/>
          <p:nvPr/>
        </p:nvGrpSpPr>
        <p:grpSpPr>
          <a:xfrm>
            <a:off x="5652120" y="4725144"/>
            <a:ext cx="1149165" cy="648072"/>
            <a:chOff x="5652120" y="4725144"/>
            <a:chExt cx="1149165" cy="648072"/>
          </a:xfrm>
        </p:grpSpPr>
        <p:cxnSp>
          <p:nvCxnSpPr>
            <p:cNvPr id="35" name="直線單箭頭接點 34"/>
            <p:cNvCxnSpPr/>
            <p:nvPr/>
          </p:nvCxnSpPr>
          <p:spPr>
            <a:xfrm rot="5400000">
              <a:off x="5544108" y="4833156"/>
              <a:ext cx="648072" cy="432048"/>
            </a:xfrm>
            <a:prstGeom prst="straightConnector1">
              <a:avLst/>
            </a:prstGeom>
            <a:ln>
              <a:prstDash val="sysDot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8" name="文字方塊 37"/>
            <p:cNvSpPr txBox="1"/>
            <p:nvPr/>
          </p:nvSpPr>
          <p:spPr>
            <a:xfrm>
              <a:off x="5940152" y="4941168"/>
              <a:ext cx="8611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Upload</a:t>
              </a:r>
            </a:p>
          </p:txBody>
        </p:sp>
      </p:grpSp>
      <p:grpSp>
        <p:nvGrpSpPr>
          <p:cNvPr id="17" name="群組 40"/>
          <p:cNvGrpSpPr/>
          <p:nvPr/>
        </p:nvGrpSpPr>
        <p:grpSpPr>
          <a:xfrm>
            <a:off x="6876256" y="4149080"/>
            <a:ext cx="1149674" cy="801380"/>
            <a:chOff x="6876256" y="4149080"/>
            <a:chExt cx="1149674" cy="801380"/>
          </a:xfrm>
        </p:grpSpPr>
        <p:sp>
          <p:nvSpPr>
            <p:cNvPr id="33" name="弧形 32"/>
            <p:cNvSpPr/>
            <p:nvPr/>
          </p:nvSpPr>
          <p:spPr>
            <a:xfrm>
              <a:off x="6876256" y="4149080"/>
              <a:ext cx="1008112" cy="360040"/>
            </a:xfrm>
            <a:prstGeom prst="arc">
              <a:avLst>
                <a:gd name="adj1" fmla="val 14553229"/>
                <a:gd name="adj2" fmla="val 9868826"/>
              </a:avLst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文字方塊 39"/>
            <p:cNvSpPr txBox="1"/>
            <p:nvPr/>
          </p:nvSpPr>
          <p:spPr>
            <a:xfrm>
              <a:off x="6876256" y="4581128"/>
              <a:ext cx="1149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thumbnail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  <p:bldP spid="20" grpId="0" animBg="1"/>
      <p:bldP spid="2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Step 0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Test environment 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Test </a:t>
            </a:r>
            <a:r>
              <a:rPr lang="en-US" altLang="zh-TW" dirty="0" smtClean="0"/>
              <a:t>Environment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Windows 7  (32bit)</a:t>
            </a:r>
          </a:p>
          <a:p>
            <a:r>
              <a:rPr lang="en-US" altLang="zh-TW" dirty="0" smtClean="0"/>
              <a:t>Microsoft Visual Web Developer 2010 Express</a:t>
            </a:r>
          </a:p>
          <a:p>
            <a:r>
              <a:rPr lang="en-US" altLang="zh-TW" dirty="0" smtClean="0"/>
              <a:t>Windows Azure SDK</a:t>
            </a:r>
          </a:p>
          <a:p>
            <a:r>
              <a:rPr lang="en-US" altLang="zh-TW" dirty="0" smtClean="0"/>
              <a:t>Azure Storage Explorer</a:t>
            </a:r>
          </a:p>
          <a:p>
            <a:r>
              <a:rPr lang="en-US" altLang="zh-TW" dirty="0" smtClean="0"/>
              <a:t>… and more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Step 1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Test environment </a:t>
            </a:r>
            <a:endParaRPr lang="zh-TW" altLang="en-US" dirty="0" smtClean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TW" dirty="0" smtClean="0"/>
              <a:t>Create a project 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95936" y="3300176"/>
            <a:ext cx="5148064" cy="3557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Step by Step(1)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 smtClean="0"/>
              <a:t>Run Web Developer (by admin).</a:t>
            </a:r>
          </a:p>
          <a:p>
            <a:r>
              <a:rPr lang="en-US" altLang="zh-TW" dirty="0" smtClean="0"/>
              <a:t>Create a new project (Cloud service)</a:t>
            </a:r>
          </a:p>
          <a:p>
            <a:r>
              <a:rPr lang="en-US" altLang="zh-TW" dirty="0" smtClean="0"/>
              <a:t>Select Web Role</a:t>
            </a:r>
          </a:p>
          <a:p>
            <a:endParaRPr lang="en-US" altLang="zh-TW" dirty="0" smtClean="0"/>
          </a:p>
          <a:p>
            <a:endParaRPr lang="zh-TW" altLang="en-US" dirty="0"/>
          </a:p>
        </p:txBody>
      </p:sp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12160" y="1340768"/>
            <a:ext cx="2676136" cy="4871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3" name="直線接點 12"/>
          <p:cNvCxnSpPr/>
          <p:nvPr/>
        </p:nvCxnSpPr>
        <p:spPr>
          <a:xfrm>
            <a:off x="6876256" y="1916832"/>
            <a:ext cx="100811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>
            <a:off x="4283968" y="5301208"/>
            <a:ext cx="792088" cy="1588"/>
          </a:xfrm>
          <a:prstGeom prst="straightConnector1">
            <a:avLst/>
          </a:prstGeom>
          <a:ln w="57150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4716016" y="6165304"/>
            <a:ext cx="576064" cy="14401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88397" y="3429000"/>
            <a:ext cx="5155603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矩形 15"/>
          <p:cNvSpPr/>
          <p:nvPr/>
        </p:nvSpPr>
        <p:spPr>
          <a:xfrm>
            <a:off x="7092280" y="3933056"/>
            <a:ext cx="1296144" cy="14401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" name="直線單箭頭接點 18"/>
          <p:cNvCxnSpPr/>
          <p:nvPr/>
        </p:nvCxnSpPr>
        <p:spPr>
          <a:xfrm>
            <a:off x="6876256" y="6633212"/>
            <a:ext cx="576064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Step by Step(2)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err="1" smtClean="0"/>
              <a:t>GuestBook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holds the configuration for the web and worker roles that compose the cloud application.</a:t>
            </a:r>
          </a:p>
          <a:p>
            <a:r>
              <a:rPr lang="en-US" altLang="zh-TW" dirty="0" err="1" smtClean="0"/>
              <a:t>GuestBook_WebRole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a standard ASP.NET Web Application project template modified for the Windows Azure environment.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 l="86424" t="9276" r="582" b="40843"/>
          <a:stretch>
            <a:fillRect/>
          </a:stretch>
        </p:blipFill>
        <p:spPr bwMode="auto">
          <a:xfrm>
            <a:off x="6084168" y="1700808"/>
            <a:ext cx="2376264" cy="4941168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Result </a:t>
            </a:r>
            <a:endParaRPr lang="zh-TW" altLang="en-US" dirty="0"/>
          </a:p>
        </p:txBody>
      </p:sp>
      <p:grpSp>
        <p:nvGrpSpPr>
          <p:cNvPr id="2" name="群組 13"/>
          <p:cNvGrpSpPr/>
          <p:nvPr/>
        </p:nvGrpSpPr>
        <p:grpSpPr>
          <a:xfrm>
            <a:off x="1619672" y="2276872"/>
            <a:ext cx="6336704" cy="2889612"/>
            <a:chOff x="1763688" y="3491716"/>
            <a:chExt cx="6336704" cy="2889612"/>
          </a:xfrm>
        </p:grpSpPr>
        <p:grpSp>
          <p:nvGrpSpPr>
            <p:cNvPr id="3" name="群組 60"/>
            <p:cNvGrpSpPr/>
            <p:nvPr/>
          </p:nvGrpSpPr>
          <p:grpSpPr>
            <a:xfrm>
              <a:off x="1979712" y="3491716"/>
              <a:ext cx="6120680" cy="2889612"/>
              <a:chOff x="1979712" y="3491716"/>
              <a:chExt cx="6120680" cy="2889612"/>
            </a:xfrm>
          </p:grpSpPr>
          <p:sp>
            <p:nvSpPr>
              <p:cNvPr id="41" name="矩形 40"/>
              <p:cNvSpPr/>
              <p:nvPr/>
            </p:nvSpPr>
            <p:spPr>
              <a:xfrm>
                <a:off x="1979712" y="3861048"/>
                <a:ext cx="6120680" cy="2520280"/>
              </a:xfrm>
              <a:prstGeom prst="rect">
                <a:avLst/>
              </a:prstGeom>
              <a:noFill/>
              <a:ln>
                <a:prstDash val="lg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2" name="文字方塊 41"/>
              <p:cNvSpPr txBox="1"/>
              <p:nvPr/>
            </p:nvSpPr>
            <p:spPr>
              <a:xfrm>
                <a:off x="7164288" y="3491716"/>
                <a:ext cx="9022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 smtClean="0"/>
                  <a:t>Project </a:t>
                </a:r>
                <a:endParaRPr lang="zh-TW" altLang="en-US" dirty="0"/>
              </a:p>
            </p:txBody>
          </p:sp>
        </p:grpSp>
        <p:sp>
          <p:nvSpPr>
            <p:cNvPr id="16" name="矩形 15"/>
            <p:cNvSpPr/>
            <p:nvPr/>
          </p:nvSpPr>
          <p:spPr>
            <a:xfrm>
              <a:off x="1763688" y="4077072"/>
              <a:ext cx="720080" cy="2088232"/>
            </a:xfrm>
            <a:prstGeom prst="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Web</a:t>
              </a:r>
            </a:p>
            <a:p>
              <a:pPr algn="ctr"/>
              <a:r>
                <a:rPr lang="en-US" altLang="zh-TW" dirty="0" smtClean="0"/>
                <a:t>Role</a:t>
              </a:r>
              <a:endParaRPr lang="zh-TW" alt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Step 2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Test environment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Create a project </a:t>
            </a:r>
          </a:p>
          <a:p>
            <a:r>
              <a:rPr lang="en-US" altLang="zh-TW" dirty="0" smtClean="0"/>
              <a:t>Create data model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Introduction 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Blob</a:t>
            </a:r>
          </a:p>
          <a:p>
            <a:pPr lvl="1"/>
            <a:r>
              <a:rPr lang="en-US" altLang="zh-TW" dirty="0" smtClean="0"/>
              <a:t>Original image</a:t>
            </a:r>
          </a:p>
          <a:p>
            <a:pPr lvl="1"/>
            <a:r>
              <a:rPr lang="en-US" altLang="zh-TW" dirty="0" smtClean="0"/>
              <a:t>Thumbnail image</a:t>
            </a:r>
          </a:p>
          <a:p>
            <a:r>
              <a:rPr lang="en-US" altLang="zh-TW" dirty="0" smtClean="0"/>
              <a:t>Table</a:t>
            </a:r>
          </a:p>
          <a:p>
            <a:pPr lvl="1"/>
            <a:r>
              <a:rPr lang="en-US" altLang="zh-TW" dirty="0" err="1" smtClean="0"/>
              <a:t>Messgae</a:t>
            </a:r>
            <a:r>
              <a:rPr lang="en-US" altLang="zh-TW" dirty="0" smtClean="0"/>
              <a:t> </a:t>
            </a:r>
          </a:p>
          <a:p>
            <a:pPr lvl="1"/>
            <a:r>
              <a:rPr lang="en-US" altLang="zh-TW" dirty="0" err="1" smtClean="0"/>
              <a:t>GuestName</a:t>
            </a:r>
            <a:endParaRPr lang="en-US" altLang="zh-TW" dirty="0" smtClean="0"/>
          </a:p>
          <a:p>
            <a:pPr lvl="1"/>
            <a:r>
              <a:rPr lang="en-US" altLang="zh-TW" dirty="0" err="1" smtClean="0"/>
              <a:t>PhotoURL</a:t>
            </a:r>
            <a:endParaRPr lang="en-US" altLang="zh-TW" dirty="0" smtClean="0"/>
          </a:p>
          <a:p>
            <a:pPr lvl="1"/>
            <a:r>
              <a:rPr lang="en-US" altLang="zh-TW" dirty="0" err="1" smtClean="0"/>
              <a:t>ThumbnailUrl</a:t>
            </a:r>
            <a:endParaRPr lang="en-US" altLang="zh-TW" dirty="0" smtClean="0"/>
          </a:p>
          <a:p>
            <a:pPr lvl="1"/>
            <a:r>
              <a:rPr lang="en-US" altLang="zh-TW" dirty="0" err="1" smtClean="0"/>
              <a:t>TimeStamp</a:t>
            </a:r>
            <a:r>
              <a:rPr lang="en-US" altLang="zh-TW" dirty="0" smtClean="0"/>
              <a:t> (automatic)</a:t>
            </a:r>
          </a:p>
          <a:p>
            <a:pPr lvl="1"/>
            <a:endParaRPr lang="zh-TW" altLang="en-US" dirty="0"/>
          </a:p>
        </p:txBody>
      </p:sp>
      <p:sp>
        <p:nvSpPr>
          <p:cNvPr id="6" name="流程圖: 磁碟 5"/>
          <p:cNvSpPr/>
          <p:nvPr/>
        </p:nvSpPr>
        <p:spPr>
          <a:xfrm>
            <a:off x="3347864" y="3284984"/>
            <a:ext cx="2088232" cy="936104"/>
          </a:xfrm>
          <a:prstGeom prst="flowChartMagneticDisk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Storage </a:t>
            </a:r>
            <a:endParaRPr lang="zh-TW" altLang="en-US" dirty="0"/>
          </a:p>
        </p:txBody>
      </p:sp>
      <p:grpSp>
        <p:nvGrpSpPr>
          <p:cNvPr id="2" name="群組 31"/>
          <p:cNvGrpSpPr/>
          <p:nvPr/>
        </p:nvGrpSpPr>
        <p:grpSpPr>
          <a:xfrm>
            <a:off x="5652120" y="1484784"/>
            <a:ext cx="2963411" cy="1512168"/>
            <a:chOff x="5652120" y="1484784"/>
            <a:chExt cx="2963411" cy="1512168"/>
          </a:xfrm>
        </p:grpSpPr>
        <p:sp>
          <p:nvSpPr>
            <p:cNvPr id="7" name="矩形 6"/>
            <p:cNvSpPr/>
            <p:nvPr/>
          </p:nvSpPr>
          <p:spPr>
            <a:xfrm>
              <a:off x="5652120" y="1844824"/>
              <a:ext cx="2952328" cy="1152128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文字方塊 8"/>
            <p:cNvSpPr txBox="1"/>
            <p:nvPr/>
          </p:nvSpPr>
          <p:spPr>
            <a:xfrm>
              <a:off x="7956376" y="1484784"/>
              <a:ext cx="6591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Blob </a:t>
              </a:r>
              <a:endParaRPr lang="zh-TW" altLang="en-US" dirty="0"/>
            </a:p>
          </p:txBody>
        </p:sp>
        <p:sp>
          <p:nvSpPr>
            <p:cNvPr id="11" name="橢圓 10"/>
            <p:cNvSpPr/>
            <p:nvPr/>
          </p:nvSpPr>
          <p:spPr>
            <a:xfrm>
              <a:off x="5868144" y="1988840"/>
              <a:ext cx="720080" cy="360040"/>
            </a:xfrm>
            <a:prstGeom prst="ellips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p1</a:t>
              </a:r>
              <a:endParaRPr lang="zh-TW" altLang="en-US" dirty="0"/>
            </a:p>
          </p:txBody>
        </p:sp>
        <p:sp>
          <p:nvSpPr>
            <p:cNvPr id="12" name="橢圓 11"/>
            <p:cNvSpPr/>
            <p:nvPr/>
          </p:nvSpPr>
          <p:spPr>
            <a:xfrm>
              <a:off x="5868144" y="2492896"/>
              <a:ext cx="720080" cy="360040"/>
            </a:xfrm>
            <a:prstGeom prst="ellips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p2</a:t>
              </a:r>
              <a:endParaRPr lang="zh-TW" altLang="en-US" dirty="0"/>
            </a:p>
          </p:txBody>
        </p:sp>
      </p:grpSp>
      <p:grpSp>
        <p:nvGrpSpPr>
          <p:cNvPr id="3" name="群組 32"/>
          <p:cNvGrpSpPr/>
          <p:nvPr/>
        </p:nvGrpSpPr>
        <p:grpSpPr>
          <a:xfrm>
            <a:off x="5652120" y="3933056"/>
            <a:ext cx="2983866" cy="1512168"/>
            <a:chOff x="5652120" y="3933056"/>
            <a:chExt cx="2983866" cy="1512168"/>
          </a:xfrm>
        </p:grpSpPr>
        <p:sp>
          <p:nvSpPr>
            <p:cNvPr id="8" name="矩形 7"/>
            <p:cNvSpPr/>
            <p:nvPr/>
          </p:nvSpPr>
          <p:spPr>
            <a:xfrm>
              <a:off x="5652120" y="4293096"/>
              <a:ext cx="2952328" cy="1152128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文字方塊 9"/>
            <p:cNvSpPr txBox="1"/>
            <p:nvPr/>
          </p:nvSpPr>
          <p:spPr>
            <a:xfrm>
              <a:off x="7956376" y="3933056"/>
              <a:ext cx="679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Table</a:t>
              </a:r>
              <a:endParaRPr lang="zh-TW" altLang="en-US" dirty="0"/>
            </a:p>
          </p:txBody>
        </p:sp>
        <p:cxnSp>
          <p:nvCxnSpPr>
            <p:cNvPr id="20" name="直線接點 19"/>
            <p:cNvCxnSpPr/>
            <p:nvPr/>
          </p:nvCxnSpPr>
          <p:spPr>
            <a:xfrm>
              <a:off x="5652120" y="4653136"/>
              <a:ext cx="2952328" cy="0"/>
            </a:xfrm>
            <a:prstGeom prst="line">
              <a:avLst/>
            </a:prstGeom>
            <a:ln>
              <a:prstDash val="soli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直線接點 21"/>
            <p:cNvCxnSpPr/>
            <p:nvPr/>
          </p:nvCxnSpPr>
          <p:spPr>
            <a:xfrm>
              <a:off x="5652120" y="5085184"/>
              <a:ext cx="2952328" cy="0"/>
            </a:xfrm>
            <a:prstGeom prst="line">
              <a:avLst/>
            </a:prstGeom>
            <a:ln>
              <a:prstDash val="soli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線接點 23"/>
            <p:cNvCxnSpPr/>
            <p:nvPr/>
          </p:nvCxnSpPr>
          <p:spPr>
            <a:xfrm rot="5400000">
              <a:off x="5652120" y="4869160"/>
              <a:ext cx="1152128" cy="0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線接點 24"/>
            <p:cNvCxnSpPr/>
            <p:nvPr/>
          </p:nvCxnSpPr>
          <p:spPr>
            <a:xfrm rot="5400000">
              <a:off x="6228184" y="4869160"/>
              <a:ext cx="1152128" cy="0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線接點 25"/>
            <p:cNvCxnSpPr/>
            <p:nvPr/>
          </p:nvCxnSpPr>
          <p:spPr>
            <a:xfrm rot="5400000">
              <a:off x="6804247" y="4869160"/>
              <a:ext cx="1152128" cy="0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線接點 26"/>
            <p:cNvCxnSpPr/>
            <p:nvPr/>
          </p:nvCxnSpPr>
          <p:spPr>
            <a:xfrm rot="5400000">
              <a:off x="7380311" y="4869160"/>
              <a:ext cx="1152128" cy="0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" name="直線接點 28"/>
          <p:cNvCxnSpPr/>
          <p:nvPr/>
        </p:nvCxnSpPr>
        <p:spPr>
          <a:xfrm rot="10800000" flipV="1">
            <a:off x="4788024" y="2780928"/>
            <a:ext cx="792088" cy="504056"/>
          </a:xfrm>
          <a:prstGeom prst="line">
            <a:avLst/>
          </a:prstGeom>
          <a:ln>
            <a:prstDash val="lgDashDot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1" name="直線接點 30"/>
          <p:cNvCxnSpPr/>
          <p:nvPr/>
        </p:nvCxnSpPr>
        <p:spPr>
          <a:xfrm>
            <a:off x="4788024" y="4293096"/>
            <a:ext cx="720080" cy="576064"/>
          </a:xfrm>
          <a:prstGeom prst="line">
            <a:avLst/>
          </a:prstGeom>
          <a:ln>
            <a:prstDash val="lgDashDot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3" name="群組 35"/>
          <p:cNvGrpSpPr/>
          <p:nvPr/>
        </p:nvGrpSpPr>
        <p:grpSpPr>
          <a:xfrm>
            <a:off x="6156176" y="2564904"/>
            <a:ext cx="1490416" cy="945396"/>
            <a:chOff x="6156176" y="2564904"/>
            <a:chExt cx="1490416" cy="945396"/>
          </a:xfrm>
        </p:grpSpPr>
        <p:sp>
          <p:nvSpPr>
            <p:cNvPr id="34" name="弧形 33"/>
            <p:cNvSpPr/>
            <p:nvPr/>
          </p:nvSpPr>
          <p:spPr>
            <a:xfrm>
              <a:off x="6156176" y="2564904"/>
              <a:ext cx="864096" cy="720080"/>
            </a:xfrm>
            <a:prstGeom prst="arc">
              <a:avLst>
                <a:gd name="adj1" fmla="val 5246084"/>
                <a:gd name="adj2" fmla="val 10957438"/>
              </a:avLst>
            </a:prstGeom>
            <a:ln>
              <a:headEnd type="arrow"/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文字方塊 34"/>
            <p:cNvSpPr txBox="1"/>
            <p:nvPr/>
          </p:nvSpPr>
          <p:spPr>
            <a:xfrm>
              <a:off x="6660232" y="3140968"/>
              <a:ext cx="9863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Address </a:t>
              </a:r>
              <a:endParaRPr lang="zh-TW" altLang="en-US" dirty="0"/>
            </a:p>
          </p:txBody>
        </p:sp>
      </p:grpSp>
      <p:cxnSp>
        <p:nvCxnSpPr>
          <p:cNvPr id="30" name="直線單箭頭接點 29"/>
          <p:cNvCxnSpPr/>
          <p:nvPr/>
        </p:nvCxnSpPr>
        <p:spPr>
          <a:xfrm rot="5400000">
            <a:off x="6768244" y="3825044"/>
            <a:ext cx="648072" cy="1588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Step by Step(1)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 smtClean="0"/>
              <a:t>Add a </a:t>
            </a:r>
            <a:r>
              <a:rPr lang="en-US" altLang="zh-TW" b="1" dirty="0" smtClean="0"/>
              <a:t>new project </a:t>
            </a:r>
            <a:r>
              <a:rPr lang="en-US" altLang="zh-TW" dirty="0" smtClean="0"/>
              <a:t>in </a:t>
            </a:r>
            <a:r>
              <a:rPr lang="zh-TW" altLang="zh-TW" dirty="0" smtClean="0"/>
              <a:t> </a:t>
            </a:r>
            <a:r>
              <a:rPr lang="en-US" altLang="zh-TW" b="1" dirty="0" smtClean="0"/>
              <a:t>Solution Explorer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Select the </a:t>
            </a:r>
            <a:r>
              <a:rPr lang="en-US" altLang="zh-TW" b="1" dirty="0" smtClean="0"/>
              <a:t>Class Library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Enter the name</a:t>
            </a:r>
            <a:r>
              <a:rPr lang="zh-TW" altLang="en-US" dirty="0" smtClean="0"/>
              <a:t> </a:t>
            </a:r>
            <a:r>
              <a:rPr lang="en-US" altLang="zh-TW" b="1" dirty="0" err="1" smtClean="0"/>
              <a:t>GuestBook_Data</a:t>
            </a:r>
            <a:endParaRPr lang="en-US" altLang="zh-TW" b="1" dirty="0" smtClean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60032" y="2060848"/>
            <a:ext cx="4169839" cy="4516363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62265" y="3138686"/>
            <a:ext cx="5381735" cy="3719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3" name="直線單箭頭接點 12"/>
          <p:cNvCxnSpPr/>
          <p:nvPr/>
        </p:nvCxnSpPr>
        <p:spPr>
          <a:xfrm>
            <a:off x="4644008" y="3861048"/>
            <a:ext cx="36004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4499992" y="6309320"/>
            <a:ext cx="1296144" cy="14401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4" cstate="print"/>
          <a:srcRect l="85836" t="10177" r="777" b="44754"/>
          <a:stretch>
            <a:fillRect/>
          </a:stretch>
        </p:blipFill>
        <p:spPr bwMode="auto">
          <a:xfrm>
            <a:off x="5364088" y="1988840"/>
            <a:ext cx="2448272" cy="4464496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 cstate="print"/>
          <a:srcRect l="86230" t="10177" r="777" b="44754"/>
          <a:stretch>
            <a:fillRect/>
          </a:stretch>
        </p:blipFill>
        <p:spPr bwMode="auto">
          <a:xfrm>
            <a:off x="6372200" y="1844824"/>
            <a:ext cx="2376264" cy="4464496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 l="86230" t="9450" r="383" b="46209"/>
          <a:stretch>
            <a:fillRect/>
          </a:stretch>
        </p:blipFill>
        <p:spPr bwMode="auto">
          <a:xfrm>
            <a:off x="6372200" y="1772816"/>
            <a:ext cx="2448272" cy="4392488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Step by Step(2)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 smtClean="0"/>
              <a:t>Delete the default class </a:t>
            </a:r>
            <a:r>
              <a:rPr lang="en-US" altLang="zh-TW" b="1" dirty="0" smtClean="0"/>
              <a:t>Class1.cs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Add a reference to the .NET Client Library for ADO.NET Data Services.</a:t>
            </a:r>
          </a:p>
          <a:p>
            <a:pPr lvl="1"/>
            <a:r>
              <a:rPr lang="en-US" altLang="zh-TW" b="1" dirty="0" err="1" smtClean="0"/>
              <a:t>System.Data.Services.Client</a:t>
            </a:r>
            <a:endParaRPr lang="en-US" altLang="zh-TW" b="1" dirty="0" smtClean="0"/>
          </a:p>
          <a:p>
            <a:pPr lvl="1"/>
            <a:r>
              <a:rPr lang="en-US" altLang="zh-TW" b="1" dirty="0" err="1" smtClean="0"/>
              <a:t>Microsoft.WindowsAzure.StorageClient</a:t>
            </a:r>
            <a:endParaRPr lang="zh-TW" altLang="en-US" b="1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1" y="3490015"/>
            <a:ext cx="4572000" cy="3367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Step by Step(2)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 smtClean="0"/>
              <a:t>Add a new item and select </a:t>
            </a:r>
            <a:r>
              <a:rPr lang="en-US" altLang="zh-TW" b="1" dirty="0" smtClean="0"/>
              <a:t>Class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Set the name to </a:t>
            </a:r>
            <a:r>
              <a:rPr lang="en-US" altLang="zh-TW" b="1" dirty="0" err="1" smtClean="0"/>
              <a:t>GuestBookEntry.cs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Open </a:t>
            </a:r>
            <a:r>
              <a:rPr lang="en-US" altLang="zh-TW" dirty="0" err="1" smtClean="0"/>
              <a:t>GuestBookEntry.cs</a:t>
            </a:r>
            <a:endParaRPr lang="zh-TW" altLang="en-US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57250" y="2420888"/>
            <a:ext cx="5586749" cy="4437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73954" y="3284984"/>
            <a:ext cx="5170046" cy="3573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9" name="直線單箭頭接點 8"/>
          <p:cNvCxnSpPr/>
          <p:nvPr/>
        </p:nvCxnSpPr>
        <p:spPr>
          <a:xfrm>
            <a:off x="4572000" y="3787452"/>
            <a:ext cx="504056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4716016" y="6453336"/>
            <a:ext cx="720080" cy="1440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Step by Step(3)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 smtClean="0"/>
              <a:t>Insert the following codes.</a:t>
            </a:r>
            <a:endParaRPr lang="zh-TW" altLang="en-US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 cstate="print"/>
          <a:srcRect l="1575" t="12477" r="55114" b="42454"/>
          <a:stretch>
            <a:fillRect/>
          </a:stretch>
        </p:blipFill>
        <p:spPr bwMode="auto">
          <a:xfrm>
            <a:off x="1331640" y="2492896"/>
            <a:ext cx="7668344" cy="4322158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</p:pic>
      <p:cxnSp>
        <p:nvCxnSpPr>
          <p:cNvPr id="11" name="直線接點 10"/>
          <p:cNvCxnSpPr/>
          <p:nvPr/>
        </p:nvCxnSpPr>
        <p:spPr>
          <a:xfrm>
            <a:off x="1619672" y="2852936"/>
            <a:ext cx="280831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2123728" y="4365104"/>
            <a:ext cx="6696744" cy="115212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noFill/>
            </a:endParaRPr>
          </a:p>
        </p:txBody>
      </p:sp>
      <p:sp>
        <p:nvSpPr>
          <p:cNvPr id="8" name="矩形圖說文字 7"/>
          <p:cNvSpPr/>
          <p:nvPr/>
        </p:nvSpPr>
        <p:spPr>
          <a:xfrm>
            <a:off x="4716016" y="2204864"/>
            <a:ext cx="1440160" cy="648072"/>
          </a:xfrm>
          <a:prstGeom prst="wedgeRectCallout">
            <a:avLst>
              <a:gd name="adj1" fmla="val -66469"/>
              <a:gd name="adj2" fmla="val 58091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Library </a:t>
            </a:r>
            <a:endParaRPr lang="zh-TW" altLang="en-US" dirty="0"/>
          </a:p>
        </p:txBody>
      </p:sp>
      <p:sp>
        <p:nvSpPr>
          <p:cNvPr id="9" name="矩形圖說文字 8"/>
          <p:cNvSpPr/>
          <p:nvPr/>
        </p:nvSpPr>
        <p:spPr>
          <a:xfrm>
            <a:off x="0" y="3645024"/>
            <a:ext cx="1440160" cy="648072"/>
          </a:xfrm>
          <a:prstGeom prst="wedgeRectCallout">
            <a:avLst>
              <a:gd name="adj1" fmla="val 80358"/>
              <a:gd name="adj2" fmla="val 62500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Entry ID</a:t>
            </a:r>
            <a:endParaRPr lang="zh-TW" altLang="en-US" dirty="0"/>
          </a:p>
        </p:txBody>
      </p:sp>
      <p:sp>
        <p:nvSpPr>
          <p:cNvPr id="10" name="矩形圖說文字 9"/>
          <p:cNvSpPr/>
          <p:nvPr/>
        </p:nvSpPr>
        <p:spPr>
          <a:xfrm>
            <a:off x="0" y="5373216"/>
            <a:ext cx="1440160" cy="648072"/>
          </a:xfrm>
          <a:prstGeom prst="wedgeRectCallout">
            <a:avLst>
              <a:gd name="adj1" fmla="val 80358"/>
              <a:gd name="adj2" fmla="val 62500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Entry </a:t>
            </a:r>
            <a:endParaRPr lang="zh-TW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1763688" y="3861048"/>
            <a:ext cx="7128792" cy="2808312"/>
          </a:xfrm>
          <a:prstGeom prst="rect">
            <a:avLst/>
          </a:prstGeom>
          <a:noFill/>
          <a:ln w="28575">
            <a:prstDash val="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1835696" y="5733256"/>
            <a:ext cx="2736304" cy="72008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noFill/>
            </a:endParaRPr>
          </a:p>
        </p:txBody>
      </p:sp>
      <p:sp>
        <p:nvSpPr>
          <p:cNvPr id="13" name="矩形圖說文字 12"/>
          <p:cNvSpPr/>
          <p:nvPr/>
        </p:nvSpPr>
        <p:spPr>
          <a:xfrm>
            <a:off x="6228184" y="2996952"/>
            <a:ext cx="1440160" cy="648072"/>
          </a:xfrm>
          <a:prstGeom prst="wedgeRectCallout">
            <a:avLst>
              <a:gd name="adj1" fmla="val -35384"/>
              <a:gd name="adj2" fmla="val 81607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Table 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8" grpId="0" animBg="1"/>
      <p:bldP spid="9" grpId="0" animBg="1"/>
      <p:bldP spid="10" grpId="0" animBg="1"/>
      <p:bldP spid="12" grpId="0" animBg="1"/>
      <p:bldP spid="15" grpId="0" animBg="1"/>
      <p:bldP spid="13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5536" y="332656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Step by Step(4)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 smtClean="0"/>
              <a:t>Add a new item and select </a:t>
            </a:r>
            <a:r>
              <a:rPr lang="en-US" altLang="zh-TW" b="1" dirty="0" smtClean="0"/>
              <a:t>Class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Set the mane to </a:t>
            </a:r>
            <a:r>
              <a:rPr lang="en-US" altLang="zh-TW" b="1" dirty="0" err="1" smtClean="0"/>
              <a:t>GuestBookDataContext.cs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Open and insert the following codes.</a:t>
            </a:r>
            <a:endParaRPr lang="zh-TW" altLang="en-US" dirty="0" smtClean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/>
          <a:srcRect l="1575" t="12358" r="63382" b="46208"/>
          <a:stretch>
            <a:fillRect/>
          </a:stretch>
        </p:blipFill>
        <p:spPr bwMode="auto">
          <a:xfrm>
            <a:off x="3923928" y="3475116"/>
            <a:ext cx="5169611" cy="331087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5" name="矩形 4"/>
          <p:cNvSpPr/>
          <p:nvPr/>
        </p:nvSpPr>
        <p:spPr>
          <a:xfrm>
            <a:off x="4355976" y="4797152"/>
            <a:ext cx="4536504" cy="1728192"/>
          </a:xfrm>
          <a:prstGeom prst="rect">
            <a:avLst/>
          </a:prstGeom>
          <a:noFill/>
          <a:ln w="28575">
            <a:prstDash val="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圖說文字 6"/>
          <p:cNvSpPr/>
          <p:nvPr/>
        </p:nvSpPr>
        <p:spPr>
          <a:xfrm>
            <a:off x="2411760" y="5229200"/>
            <a:ext cx="1656184" cy="720080"/>
          </a:xfrm>
          <a:prstGeom prst="wedgeRectCallout">
            <a:avLst>
              <a:gd name="adj1" fmla="val 70879"/>
              <a:gd name="adj2" fmla="val 37367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Log Table and</a:t>
            </a:r>
          </a:p>
          <a:p>
            <a:pPr algn="ctr"/>
            <a:r>
              <a:rPr lang="en-US" altLang="zh-TW" dirty="0" smtClean="0"/>
              <a:t>creates a table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Step by Step(5)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 smtClean="0"/>
              <a:t>Add a new item and select </a:t>
            </a:r>
            <a:r>
              <a:rPr lang="en-US" altLang="zh-TW" b="1" dirty="0" smtClean="0"/>
              <a:t>Class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Set the mane to </a:t>
            </a:r>
            <a:r>
              <a:rPr lang="zh-TW" altLang="zh-TW" dirty="0" smtClean="0"/>
              <a:t> </a:t>
            </a:r>
            <a:r>
              <a:rPr lang="en-US" altLang="zh-TW" b="1" dirty="0" err="1" smtClean="0"/>
              <a:t>GuestBookEntryDataSource.cs</a:t>
            </a:r>
            <a:r>
              <a:rPr lang="en-US" altLang="zh-TW" b="1" dirty="0" smtClean="0"/>
              <a:t> 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Open and Insert the following codes.</a:t>
            </a:r>
            <a:endParaRPr lang="zh-TW" altLang="en-US" dirty="0" smtClean="0"/>
          </a:p>
        </p:txBody>
      </p:sp>
      <p:sp>
        <p:nvSpPr>
          <p:cNvPr id="8" name="內容版面配置區 7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zh-TW" dirty="0" smtClean="0"/>
              <a:t>Five functions</a:t>
            </a:r>
          </a:p>
          <a:p>
            <a:pPr lvl="1"/>
            <a:r>
              <a:rPr lang="en-US" altLang="zh-TW" dirty="0" smtClean="0"/>
              <a:t>Constructor </a:t>
            </a:r>
          </a:p>
          <a:p>
            <a:pPr lvl="1"/>
            <a:r>
              <a:rPr lang="en-US" altLang="zh-TW" dirty="0" smtClean="0"/>
              <a:t>Initialize</a:t>
            </a:r>
          </a:p>
          <a:p>
            <a:pPr lvl="1"/>
            <a:r>
              <a:rPr lang="en-US" altLang="zh-TW" dirty="0" smtClean="0"/>
              <a:t>method to return the contents.</a:t>
            </a:r>
          </a:p>
          <a:p>
            <a:pPr lvl="1"/>
            <a:r>
              <a:rPr lang="en-US" altLang="zh-TW" dirty="0" smtClean="0"/>
              <a:t>method to insert new entries.</a:t>
            </a:r>
          </a:p>
          <a:p>
            <a:pPr lvl="1"/>
            <a:r>
              <a:rPr lang="en-US" altLang="zh-TW" dirty="0" smtClean="0"/>
              <a:t>update the thumbnail URL property.</a:t>
            </a:r>
          </a:p>
          <a:p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Step by Step(5)(cont.)</a:t>
            </a:r>
            <a:endParaRPr lang="zh-TW" altLang="en-US" dirty="0"/>
          </a:p>
        </p:txBody>
      </p:sp>
      <p:pic>
        <p:nvPicPr>
          <p:cNvPr id="8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l="1575" t="11908" r="60626" b="50570"/>
          <a:stretch>
            <a:fillRect/>
          </a:stretch>
        </p:blipFill>
        <p:spPr bwMode="auto">
          <a:xfrm>
            <a:off x="1115659" y="2004717"/>
            <a:ext cx="6912681" cy="37169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矩形圖說文字 3"/>
          <p:cNvSpPr/>
          <p:nvPr/>
        </p:nvSpPr>
        <p:spPr>
          <a:xfrm>
            <a:off x="179512" y="3717032"/>
            <a:ext cx="1584176" cy="792088"/>
          </a:xfrm>
          <a:prstGeom prst="wedgeRectCallout">
            <a:avLst>
              <a:gd name="adj1" fmla="val 54926"/>
              <a:gd name="adj2" fmla="val 38450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Constructor </a:t>
            </a:r>
            <a:endParaRPr lang="zh-TW" altLang="en-US" dirty="0"/>
          </a:p>
        </p:txBody>
      </p:sp>
      <p:sp>
        <p:nvSpPr>
          <p:cNvPr id="6" name="矩形圖說文字 5"/>
          <p:cNvSpPr/>
          <p:nvPr/>
        </p:nvSpPr>
        <p:spPr>
          <a:xfrm>
            <a:off x="4572000" y="3429000"/>
            <a:ext cx="1584176" cy="792088"/>
          </a:xfrm>
          <a:prstGeom prst="wedgeRectCallout">
            <a:avLst>
              <a:gd name="adj1" fmla="val -56307"/>
              <a:gd name="adj2" fmla="val 92563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Initialize </a:t>
            </a:r>
            <a:endParaRPr lang="zh-TW" altLang="en-US" dirty="0"/>
          </a:p>
        </p:txBody>
      </p:sp>
      <p:sp>
        <p:nvSpPr>
          <p:cNvPr id="7" name="矩形圖說文字 6"/>
          <p:cNvSpPr/>
          <p:nvPr/>
        </p:nvSpPr>
        <p:spPr>
          <a:xfrm>
            <a:off x="179512" y="4725144"/>
            <a:ext cx="1584176" cy="792088"/>
          </a:xfrm>
          <a:prstGeom prst="wedgeRectCallout">
            <a:avLst>
              <a:gd name="adj1" fmla="val 60337"/>
              <a:gd name="adj2" fmla="val -39714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Return the entries</a:t>
            </a:r>
            <a:endParaRPr lang="zh-TW" altLang="en-US" dirty="0"/>
          </a:p>
        </p:txBody>
      </p:sp>
      <p:sp>
        <p:nvSpPr>
          <p:cNvPr id="9" name="矩形圖說文字 8"/>
          <p:cNvSpPr/>
          <p:nvPr/>
        </p:nvSpPr>
        <p:spPr>
          <a:xfrm>
            <a:off x="6012160" y="4149080"/>
            <a:ext cx="1584176" cy="792088"/>
          </a:xfrm>
          <a:prstGeom prst="wedgeRectCallout">
            <a:avLst>
              <a:gd name="adj1" fmla="val -63522"/>
              <a:gd name="adj2" fmla="val 49273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Add a new entry</a:t>
            </a:r>
            <a:endParaRPr lang="zh-TW" altLang="en-US" dirty="0"/>
          </a:p>
        </p:txBody>
      </p:sp>
      <p:sp>
        <p:nvSpPr>
          <p:cNvPr id="10" name="矩形圖說文字 9"/>
          <p:cNvSpPr/>
          <p:nvPr/>
        </p:nvSpPr>
        <p:spPr>
          <a:xfrm>
            <a:off x="3059832" y="5373216"/>
            <a:ext cx="2232248" cy="792088"/>
          </a:xfrm>
          <a:prstGeom prst="wedgeRectCallout">
            <a:avLst>
              <a:gd name="adj1" fmla="val 31478"/>
              <a:gd name="adj2" fmla="val -70979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Update the thumbnail address  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9" grpId="0" animBg="1"/>
      <p:bldP spid="10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Result </a:t>
            </a:r>
            <a:endParaRPr lang="zh-TW" altLang="en-US" dirty="0"/>
          </a:p>
        </p:txBody>
      </p:sp>
      <p:grpSp>
        <p:nvGrpSpPr>
          <p:cNvPr id="3" name="群組 88"/>
          <p:cNvGrpSpPr/>
          <p:nvPr/>
        </p:nvGrpSpPr>
        <p:grpSpPr>
          <a:xfrm>
            <a:off x="1475656" y="2276872"/>
            <a:ext cx="6336704" cy="3177644"/>
            <a:chOff x="1763688" y="3491716"/>
            <a:chExt cx="6336704" cy="3177644"/>
          </a:xfrm>
        </p:grpSpPr>
        <p:grpSp>
          <p:nvGrpSpPr>
            <p:cNvPr id="4" name="群組 60"/>
            <p:cNvGrpSpPr/>
            <p:nvPr/>
          </p:nvGrpSpPr>
          <p:grpSpPr>
            <a:xfrm>
              <a:off x="1979712" y="3491716"/>
              <a:ext cx="6120680" cy="2889612"/>
              <a:chOff x="1979712" y="3491716"/>
              <a:chExt cx="6120680" cy="2889612"/>
            </a:xfrm>
          </p:grpSpPr>
          <p:sp>
            <p:nvSpPr>
              <p:cNvPr id="62" name="矩形 61"/>
              <p:cNvSpPr/>
              <p:nvPr/>
            </p:nvSpPr>
            <p:spPr>
              <a:xfrm>
                <a:off x="1979712" y="3861048"/>
                <a:ext cx="6120680" cy="2520280"/>
              </a:xfrm>
              <a:prstGeom prst="rect">
                <a:avLst/>
              </a:prstGeom>
              <a:noFill/>
              <a:ln>
                <a:prstDash val="lg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3" name="文字方塊 62"/>
              <p:cNvSpPr txBox="1"/>
              <p:nvPr/>
            </p:nvSpPr>
            <p:spPr>
              <a:xfrm>
                <a:off x="7164288" y="3491716"/>
                <a:ext cx="9022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 smtClean="0"/>
                  <a:t>Project </a:t>
                </a:r>
                <a:endParaRPr lang="zh-TW" altLang="en-US" dirty="0"/>
              </a:p>
            </p:txBody>
          </p:sp>
        </p:grpSp>
        <p:sp>
          <p:nvSpPr>
            <p:cNvPr id="64" name="矩形 63"/>
            <p:cNvSpPr/>
            <p:nvPr/>
          </p:nvSpPr>
          <p:spPr>
            <a:xfrm>
              <a:off x="1763688" y="4077072"/>
              <a:ext cx="720080" cy="2088232"/>
            </a:xfrm>
            <a:prstGeom prst="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Web</a:t>
              </a:r>
            </a:p>
            <a:p>
              <a:pPr algn="ctr"/>
              <a:r>
                <a:rPr lang="en-US" altLang="zh-TW" dirty="0" smtClean="0"/>
                <a:t>Role</a:t>
              </a:r>
              <a:endParaRPr lang="zh-TW" altLang="en-US" dirty="0"/>
            </a:p>
          </p:txBody>
        </p:sp>
        <p:sp>
          <p:nvSpPr>
            <p:cNvPr id="65" name="流程圖: 磁碟 64"/>
            <p:cNvSpPr/>
            <p:nvPr/>
          </p:nvSpPr>
          <p:spPr>
            <a:xfrm>
              <a:off x="4716016" y="5373216"/>
              <a:ext cx="2088232" cy="936104"/>
            </a:xfrm>
            <a:prstGeom prst="flowChartMagneticDisk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Storage </a:t>
              </a:r>
              <a:endParaRPr lang="zh-TW" altLang="en-US" dirty="0"/>
            </a:p>
          </p:txBody>
        </p:sp>
        <p:grpSp>
          <p:nvGrpSpPr>
            <p:cNvPr id="5" name="群組 70"/>
            <p:cNvGrpSpPr/>
            <p:nvPr/>
          </p:nvGrpSpPr>
          <p:grpSpPr>
            <a:xfrm>
              <a:off x="2267744" y="5805264"/>
              <a:ext cx="2537433" cy="864096"/>
              <a:chOff x="2267744" y="5805264"/>
              <a:chExt cx="2537433" cy="864096"/>
            </a:xfrm>
          </p:grpSpPr>
          <p:cxnSp>
            <p:nvCxnSpPr>
              <p:cNvPr id="72" name="直線單箭頭接點 71"/>
              <p:cNvCxnSpPr/>
              <p:nvPr/>
            </p:nvCxnSpPr>
            <p:spPr>
              <a:xfrm>
                <a:off x="2267744" y="5805264"/>
                <a:ext cx="2520280" cy="216024"/>
              </a:xfrm>
              <a:prstGeom prst="straightConnector1">
                <a:avLst/>
              </a:prstGeom>
              <a:ln>
                <a:prstDash val="dash"/>
                <a:tailEnd type="arrow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3" name="文字方塊 72"/>
              <p:cNvSpPr txBox="1"/>
              <p:nvPr/>
            </p:nvSpPr>
            <p:spPr>
              <a:xfrm>
                <a:off x="2771800" y="6023029"/>
                <a:ext cx="203337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 smtClean="0">
                    <a:solidFill>
                      <a:srgbClr val="FF0000"/>
                    </a:solidFill>
                  </a:rPr>
                  <a:t>Input data</a:t>
                </a:r>
              </a:p>
              <a:p>
                <a:r>
                  <a:rPr lang="en-US" altLang="zh-TW" dirty="0" smtClean="0"/>
                  <a:t>Name, Image, …etc </a:t>
                </a:r>
                <a:endParaRPr lang="zh-TW" altLang="en-US" dirty="0"/>
              </a:p>
            </p:txBody>
          </p:sp>
        </p:grpSp>
        <p:cxnSp>
          <p:nvCxnSpPr>
            <p:cNvPr id="81" name="直線單箭頭接點 80"/>
            <p:cNvCxnSpPr/>
            <p:nvPr/>
          </p:nvCxnSpPr>
          <p:spPr>
            <a:xfrm rot="5400000" flipH="1" flipV="1">
              <a:off x="5040052" y="4761148"/>
              <a:ext cx="648072" cy="432048"/>
            </a:xfrm>
            <a:prstGeom prst="straightConnector1">
              <a:avLst/>
            </a:prstGeom>
            <a:ln>
              <a:prstDash val="sysDot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6" name="群組 82"/>
            <p:cNvGrpSpPr/>
            <p:nvPr/>
          </p:nvGrpSpPr>
          <p:grpSpPr>
            <a:xfrm>
              <a:off x="5652120" y="4725144"/>
              <a:ext cx="1149165" cy="648072"/>
              <a:chOff x="5652120" y="4725144"/>
              <a:chExt cx="1149165" cy="648072"/>
            </a:xfrm>
          </p:grpSpPr>
          <p:cxnSp>
            <p:nvCxnSpPr>
              <p:cNvPr id="84" name="直線單箭頭接點 83"/>
              <p:cNvCxnSpPr/>
              <p:nvPr/>
            </p:nvCxnSpPr>
            <p:spPr>
              <a:xfrm rot="5400000">
                <a:off x="5544108" y="4833156"/>
                <a:ext cx="648072" cy="432048"/>
              </a:xfrm>
              <a:prstGeom prst="straightConnector1">
                <a:avLst/>
              </a:prstGeom>
              <a:ln>
                <a:prstDash val="sysDot"/>
                <a:tailEnd type="arrow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5" name="文字方塊 84"/>
              <p:cNvSpPr txBox="1"/>
              <p:nvPr/>
            </p:nvSpPr>
            <p:spPr>
              <a:xfrm>
                <a:off x="5940152" y="4941168"/>
                <a:ext cx="8611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 smtClean="0"/>
                  <a:t>Upload</a:t>
                </a:r>
              </a:p>
            </p:txBody>
          </p:sp>
        </p:grpSp>
      </p:grpSp>
      <p:sp>
        <p:nvSpPr>
          <p:cNvPr id="33" name="文字方塊 32"/>
          <p:cNvSpPr txBox="1"/>
          <p:nvPr/>
        </p:nvSpPr>
        <p:spPr>
          <a:xfrm>
            <a:off x="3419872" y="3654316"/>
            <a:ext cx="1510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original image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Step 3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Test environment </a:t>
            </a:r>
            <a:endParaRPr lang="zh-TW" altLang="en-US" dirty="0" smtClean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Create a project 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Create data model</a:t>
            </a:r>
          </a:p>
          <a:p>
            <a:r>
              <a:rPr lang="en-US" altLang="zh-TW" dirty="0" smtClean="0"/>
              <a:t>Worker Role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Introduction 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 smtClean="0"/>
              <a:t>A worker role runs in the background</a:t>
            </a:r>
          </a:p>
          <a:p>
            <a:pPr lvl="1"/>
            <a:r>
              <a:rPr lang="en-US" altLang="zh-TW" dirty="0" smtClean="0"/>
              <a:t>Provide services </a:t>
            </a:r>
          </a:p>
          <a:p>
            <a:pPr lvl="1"/>
            <a:r>
              <a:rPr lang="en-US" altLang="zh-TW" dirty="0" smtClean="0"/>
              <a:t>Execute time related tasks</a:t>
            </a:r>
          </a:p>
          <a:p>
            <a:r>
              <a:rPr lang="en-US" altLang="zh-TW" dirty="0" smtClean="0"/>
              <a:t>Receive a message from web role, creates a thumbnail, and update the </a:t>
            </a:r>
            <a:r>
              <a:rPr lang="en-US" altLang="zh-TW" dirty="0" err="1" smtClean="0"/>
              <a:t>thumbnailURL</a:t>
            </a:r>
            <a:endParaRPr lang="zh-TW" altLang="en-US" dirty="0"/>
          </a:p>
        </p:txBody>
      </p:sp>
      <p:sp>
        <p:nvSpPr>
          <p:cNvPr id="22" name="圓角矩形 21"/>
          <p:cNvSpPr/>
          <p:nvPr/>
        </p:nvSpPr>
        <p:spPr>
          <a:xfrm>
            <a:off x="6228184" y="2996952"/>
            <a:ext cx="1872208" cy="504056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Worker Role</a:t>
            </a:r>
            <a:endParaRPr lang="zh-TW" altLang="en-US" dirty="0"/>
          </a:p>
        </p:txBody>
      </p:sp>
      <p:cxnSp>
        <p:nvCxnSpPr>
          <p:cNvPr id="25" name="直線單箭頭接點 24"/>
          <p:cNvCxnSpPr/>
          <p:nvPr/>
        </p:nvCxnSpPr>
        <p:spPr>
          <a:xfrm>
            <a:off x="5652120" y="3212976"/>
            <a:ext cx="504056" cy="1588"/>
          </a:xfrm>
          <a:prstGeom prst="straightConnector1">
            <a:avLst/>
          </a:prstGeom>
          <a:ln>
            <a:prstDash val="sysDot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" name="群組 26"/>
          <p:cNvGrpSpPr/>
          <p:nvPr/>
        </p:nvGrpSpPr>
        <p:grpSpPr>
          <a:xfrm>
            <a:off x="4572000" y="3573016"/>
            <a:ext cx="1872208" cy="648072"/>
            <a:chOff x="3707904" y="4653136"/>
            <a:chExt cx="1872208" cy="648072"/>
          </a:xfrm>
        </p:grpSpPr>
        <p:cxnSp>
          <p:nvCxnSpPr>
            <p:cNvPr id="28" name="直線單箭頭接點 27"/>
            <p:cNvCxnSpPr/>
            <p:nvPr/>
          </p:nvCxnSpPr>
          <p:spPr>
            <a:xfrm rot="5400000" flipH="1" flipV="1">
              <a:off x="5040052" y="4761148"/>
              <a:ext cx="648072" cy="432048"/>
            </a:xfrm>
            <a:prstGeom prst="straightConnector1">
              <a:avLst/>
            </a:prstGeom>
            <a:ln>
              <a:prstDash val="sysDot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文字方塊 28"/>
            <p:cNvSpPr txBox="1"/>
            <p:nvPr/>
          </p:nvSpPr>
          <p:spPr>
            <a:xfrm>
              <a:off x="3707904" y="4869160"/>
              <a:ext cx="15100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original image</a:t>
              </a:r>
            </a:p>
          </p:txBody>
        </p:sp>
      </p:grpSp>
      <p:grpSp>
        <p:nvGrpSpPr>
          <p:cNvPr id="3" name="群組 29"/>
          <p:cNvGrpSpPr/>
          <p:nvPr/>
        </p:nvGrpSpPr>
        <p:grpSpPr>
          <a:xfrm>
            <a:off x="6516216" y="3645024"/>
            <a:ext cx="1149165" cy="648072"/>
            <a:chOff x="5652120" y="4725144"/>
            <a:chExt cx="1149165" cy="648072"/>
          </a:xfrm>
        </p:grpSpPr>
        <p:cxnSp>
          <p:nvCxnSpPr>
            <p:cNvPr id="31" name="直線單箭頭接點 30"/>
            <p:cNvCxnSpPr/>
            <p:nvPr/>
          </p:nvCxnSpPr>
          <p:spPr>
            <a:xfrm rot="5400000">
              <a:off x="5544108" y="4833156"/>
              <a:ext cx="648072" cy="432048"/>
            </a:xfrm>
            <a:prstGeom prst="straightConnector1">
              <a:avLst/>
            </a:prstGeom>
            <a:ln>
              <a:prstDash val="sysDot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文字方塊 31"/>
            <p:cNvSpPr txBox="1"/>
            <p:nvPr/>
          </p:nvSpPr>
          <p:spPr>
            <a:xfrm>
              <a:off x="5940152" y="4941168"/>
              <a:ext cx="8611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Upload</a:t>
              </a:r>
            </a:p>
          </p:txBody>
        </p:sp>
      </p:grpSp>
      <p:grpSp>
        <p:nvGrpSpPr>
          <p:cNvPr id="6" name="群組 32"/>
          <p:cNvGrpSpPr/>
          <p:nvPr/>
        </p:nvGrpSpPr>
        <p:grpSpPr>
          <a:xfrm>
            <a:off x="7740352" y="3068960"/>
            <a:ext cx="1149674" cy="801380"/>
            <a:chOff x="6876256" y="4149080"/>
            <a:chExt cx="1149674" cy="801380"/>
          </a:xfrm>
        </p:grpSpPr>
        <p:sp>
          <p:nvSpPr>
            <p:cNvPr id="34" name="弧形 33"/>
            <p:cNvSpPr/>
            <p:nvPr/>
          </p:nvSpPr>
          <p:spPr>
            <a:xfrm>
              <a:off x="6876256" y="4149080"/>
              <a:ext cx="1008112" cy="360040"/>
            </a:xfrm>
            <a:prstGeom prst="arc">
              <a:avLst>
                <a:gd name="adj1" fmla="val 14553229"/>
                <a:gd name="adj2" fmla="val 9868826"/>
              </a:avLst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文字方塊 34"/>
            <p:cNvSpPr txBox="1"/>
            <p:nvPr/>
          </p:nvSpPr>
          <p:spPr>
            <a:xfrm>
              <a:off x="6876256" y="4581128"/>
              <a:ext cx="1149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thumbnail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Step by Step(1)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251520" y="1600200"/>
            <a:ext cx="4244280" cy="4525963"/>
          </a:xfrm>
        </p:spPr>
        <p:txBody>
          <a:bodyPr>
            <a:normAutofit fontScale="92500"/>
          </a:bodyPr>
          <a:lstStyle/>
          <a:p>
            <a:r>
              <a:rPr lang="en-US" altLang="zh-TW" dirty="0" smtClean="0"/>
              <a:t>Add a new  </a:t>
            </a:r>
            <a:r>
              <a:rPr lang="en-US" altLang="zh-TW" b="1" dirty="0" smtClean="0"/>
              <a:t>Worker Role.</a:t>
            </a:r>
          </a:p>
          <a:p>
            <a:r>
              <a:rPr lang="en-US" altLang="zh-TW" dirty="0" smtClean="0"/>
              <a:t>Set the name to </a:t>
            </a:r>
            <a:r>
              <a:rPr lang="en-US" altLang="zh-TW" b="1" dirty="0" err="1" smtClean="0"/>
              <a:t>GuestBook_WorkerRole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Add reference</a:t>
            </a:r>
          </a:p>
          <a:p>
            <a:pPr lvl="1"/>
            <a:r>
              <a:rPr lang="en-US" altLang="zh-TW" b="1" dirty="0" err="1" smtClean="0"/>
              <a:t>GuestBook_Data</a:t>
            </a:r>
            <a:r>
              <a:rPr lang="en-US" altLang="zh-TW" dirty="0" smtClean="0"/>
              <a:t> from project.</a:t>
            </a:r>
          </a:p>
          <a:p>
            <a:pPr lvl="1"/>
            <a:r>
              <a:rPr lang="en-US" altLang="zh-TW" dirty="0" smtClean="0"/>
              <a:t>Change to .NET</a:t>
            </a:r>
          </a:p>
          <a:p>
            <a:pPr lvl="2"/>
            <a:r>
              <a:rPr lang="en-US" altLang="zh-TW" b="1" dirty="0" err="1" smtClean="0"/>
              <a:t>System.Drawing</a:t>
            </a:r>
            <a:r>
              <a:rPr lang="en-US" altLang="zh-TW" b="1" dirty="0" smtClean="0"/>
              <a:t> </a:t>
            </a:r>
          </a:p>
          <a:p>
            <a:pPr lvl="2"/>
            <a:r>
              <a:rPr lang="en-US" altLang="zh-TW" b="1" dirty="0" err="1" smtClean="0"/>
              <a:t>Microsoft.WindowsAzure.StorageClient</a:t>
            </a:r>
            <a:endParaRPr lang="zh-TW" alt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27984" y="2550796"/>
            <a:ext cx="4695126" cy="4235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90727" y="3573016"/>
            <a:ext cx="4753273" cy="3284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355976" y="3330879"/>
            <a:ext cx="4788024" cy="35271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Step by Step(2)</a:t>
            </a:r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 l="1575" t="11181" r="60232" b="47662"/>
          <a:stretch>
            <a:fillRect/>
          </a:stretch>
        </p:blipFill>
        <p:spPr bwMode="auto">
          <a:xfrm>
            <a:off x="1475656" y="2348880"/>
            <a:ext cx="6367961" cy="371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群組 10"/>
          <p:cNvGrpSpPr/>
          <p:nvPr/>
        </p:nvGrpSpPr>
        <p:grpSpPr>
          <a:xfrm>
            <a:off x="2195736" y="3789040"/>
            <a:ext cx="3528392" cy="576064"/>
            <a:chOff x="2195736" y="3789040"/>
            <a:chExt cx="3528392" cy="576064"/>
          </a:xfrm>
        </p:grpSpPr>
        <p:sp>
          <p:nvSpPr>
            <p:cNvPr id="6" name="矩形 5"/>
            <p:cNvSpPr/>
            <p:nvPr/>
          </p:nvSpPr>
          <p:spPr>
            <a:xfrm>
              <a:off x="2195736" y="4077072"/>
              <a:ext cx="2376264" cy="288032"/>
            </a:xfrm>
            <a:prstGeom prst="rect">
              <a:avLst/>
            </a:prstGeom>
            <a:noFill/>
            <a:ln w="28575">
              <a:prstDash val="dash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矩形圖說文字 6"/>
            <p:cNvSpPr/>
            <p:nvPr/>
          </p:nvSpPr>
          <p:spPr>
            <a:xfrm>
              <a:off x="4788024" y="3789040"/>
              <a:ext cx="936104" cy="504056"/>
            </a:xfrm>
            <a:prstGeom prst="wedgeRectCallout">
              <a:avLst>
                <a:gd name="adj1" fmla="val -72726"/>
                <a:gd name="adj2" fmla="val 39824"/>
              </a:avLst>
            </a:prstGeom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Queue</a:t>
              </a:r>
              <a:endParaRPr lang="zh-TW" altLang="en-US" dirty="0"/>
            </a:p>
          </p:txBody>
        </p:sp>
      </p:grpSp>
      <p:sp>
        <p:nvSpPr>
          <p:cNvPr id="8" name="矩形圖說文字 7"/>
          <p:cNvSpPr/>
          <p:nvPr/>
        </p:nvSpPr>
        <p:spPr>
          <a:xfrm>
            <a:off x="467544" y="4005064"/>
            <a:ext cx="1368152" cy="648072"/>
          </a:xfrm>
          <a:prstGeom prst="wedgeRectCallout">
            <a:avLst>
              <a:gd name="adj1" fmla="val 67691"/>
              <a:gd name="adj2" fmla="val 39824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Major part</a:t>
            </a:r>
            <a:endParaRPr lang="zh-TW" altLang="en-US" dirty="0"/>
          </a:p>
        </p:txBody>
      </p:sp>
      <p:sp>
        <p:nvSpPr>
          <p:cNvPr id="9" name="矩形圖說文字 8"/>
          <p:cNvSpPr/>
          <p:nvPr/>
        </p:nvSpPr>
        <p:spPr>
          <a:xfrm>
            <a:off x="4572000" y="4509120"/>
            <a:ext cx="1152128" cy="504056"/>
          </a:xfrm>
          <a:prstGeom prst="wedgeRectCallout">
            <a:avLst>
              <a:gd name="adj1" fmla="val -74761"/>
              <a:gd name="adj2" fmla="val 30376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Initialize </a:t>
            </a:r>
            <a:endParaRPr lang="zh-TW" altLang="en-US" dirty="0"/>
          </a:p>
        </p:txBody>
      </p:sp>
      <p:sp>
        <p:nvSpPr>
          <p:cNvPr id="10" name="矩形圖說文字 9"/>
          <p:cNvSpPr/>
          <p:nvPr/>
        </p:nvSpPr>
        <p:spPr>
          <a:xfrm>
            <a:off x="3131840" y="5733256"/>
            <a:ext cx="1728192" cy="504056"/>
          </a:xfrm>
          <a:prstGeom prst="wedgeRectCallout">
            <a:avLst>
              <a:gd name="adj1" fmla="val -21024"/>
              <a:gd name="adj2" fmla="val -77336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Create the thumbnail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Run() of Worker Role</a:t>
            </a:r>
            <a:endParaRPr lang="zh-TW" altLang="en-US" dirty="0"/>
          </a:p>
        </p:txBody>
      </p:sp>
      <p:sp>
        <p:nvSpPr>
          <p:cNvPr id="17" name="內容版面配置區 16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 smtClean="0"/>
              <a:t>Receive message from queue.</a:t>
            </a:r>
          </a:p>
          <a:p>
            <a:r>
              <a:rPr lang="en-US" altLang="zh-TW" dirty="0" smtClean="0"/>
              <a:t>Parse message.</a:t>
            </a:r>
          </a:p>
          <a:p>
            <a:r>
              <a:rPr lang="en-US" altLang="zh-TW" dirty="0" smtClean="0"/>
              <a:t>Download the original image from blob.</a:t>
            </a:r>
          </a:p>
          <a:p>
            <a:r>
              <a:rPr lang="en-US" altLang="zh-TW" dirty="0" smtClean="0"/>
              <a:t>Create the thumbnail image and upload.</a:t>
            </a:r>
          </a:p>
          <a:p>
            <a:r>
              <a:rPr lang="en-US" altLang="zh-TW" dirty="0" smtClean="0"/>
              <a:t>Update the thumbnail URL.</a:t>
            </a:r>
          </a:p>
          <a:p>
            <a:r>
              <a:rPr lang="en-US" altLang="zh-TW" dirty="0" smtClean="0"/>
              <a:t>Delete message from queue.</a:t>
            </a:r>
            <a:endParaRPr lang="zh-TW" altLang="en-US" dirty="0"/>
          </a:p>
        </p:txBody>
      </p:sp>
      <p:sp>
        <p:nvSpPr>
          <p:cNvPr id="6" name="圓角矩形 5"/>
          <p:cNvSpPr/>
          <p:nvPr/>
        </p:nvSpPr>
        <p:spPr>
          <a:xfrm>
            <a:off x="5940152" y="3068960"/>
            <a:ext cx="1872208" cy="504056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Worker Role</a:t>
            </a:r>
            <a:endParaRPr lang="zh-TW" altLang="en-US" dirty="0"/>
          </a:p>
        </p:txBody>
      </p:sp>
      <p:grpSp>
        <p:nvGrpSpPr>
          <p:cNvPr id="3" name="群組 7"/>
          <p:cNvGrpSpPr/>
          <p:nvPr/>
        </p:nvGrpSpPr>
        <p:grpSpPr>
          <a:xfrm>
            <a:off x="4283968" y="3645024"/>
            <a:ext cx="1872208" cy="718339"/>
            <a:chOff x="3707904" y="4653136"/>
            <a:chExt cx="1872208" cy="718339"/>
          </a:xfrm>
        </p:grpSpPr>
        <p:cxnSp>
          <p:nvCxnSpPr>
            <p:cNvPr id="9" name="直線單箭頭接點 8"/>
            <p:cNvCxnSpPr/>
            <p:nvPr/>
          </p:nvCxnSpPr>
          <p:spPr>
            <a:xfrm rot="5400000" flipH="1" flipV="1">
              <a:off x="5040052" y="4761148"/>
              <a:ext cx="648072" cy="432048"/>
            </a:xfrm>
            <a:prstGeom prst="straightConnector1">
              <a:avLst/>
            </a:prstGeom>
            <a:ln>
              <a:prstDash val="sysDot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文字方塊 9"/>
            <p:cNvSpPr txBox="1"/>
            <p:nvPr/>
          </p:nvSpPr>
          <p:spPr>
            <a:xfrm>
              <a:off x="3707904" y="4725144"/>
              <a:ext cx="151002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Download </a:t>
              </a:r>
            </a:p>
            <a:p>
              <a:r>
                <a:rPr lang="en-US" altLang="zh-TW" dirty="0" smtClean="0"/>
                <a:t>original image</a:t>
              </a:r>
            </a:p>
          </p:txBody>
        </p:sp>
      </p:grpSp>
      <p:grpSp>
        <p:nvGrpSpPr>
          <p:cNvPr id="4" name="群組 10"/>
          <p:cNvGrpSpPr/>
          <p:nvPr/>
        </p:nvGrpSpPr>
        <p:grpSpPr>
          <a:xfrm>
            <a:off x="6228184" y="3862789"/>
            <a:ext cx="2550383" cy="862355"/>
            <a:chOff x="5652120" y="4725144"/>
            <a:chExt cx="2550383" cy="862355"/>
          </a:xfrm>
        </p:grpSpPr>
        <p:cxnSp>
          <p:nvCxnSpPr>
            <p:cNvPr id="12" name="直線單箭頭接點 11"/>
            <p:cNvCxnSpPr/>
            <p:nvPr/>
          </p:nvCxnSpPr>
          <p:spPr>
            <a:xfrm rot="5400000">
              <a:off x="5544108" y="4833156"/>
              <a:ext cx="648072" cy="432048"/>
            </a:xfrm>
            <a:prstGeom prst="straightConnector1">
              <a:avLst/>
            </a:prstGeom>
            <a:ln>
              <a:prstDash val="sysDot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文字方塊 12"/>
            <p:cNvSpPr txBox="1"/>
            <p:nvPr/>
          </p:nvSpPr>
          <p:spPr>
            <a:xfrm>
              <a:off x="5940152" y="4941168"/>
              <a:ext cx="226235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Upload image and</a:t>
              </a:r>
            </a:p>
            <a:p>
              <a:r>
                <a:rPr lang="en-US" altLang="zh-TW" dirty="0" smtClean="0"/>
                <a:t>Update </a:t>
              </a:r>
              <a:r>
                <a:rPr lang="en-US" altLang="zh-TW" dirty="0" err="1" smtClean="0"/>
                <a:t>thumbnailURL</a:t>
              </a:r>
              <a:endParaRPr lang="en-US" altLang="zh-TW" dirty="0" smtClean="0"/>
            </a:p>
          </p:txBody>
        </p:sp>
      </p:grpSp>
      <p:grpSp>
        <p:nvGrpSpPr>
          <p:cNvPr id="5" name="群組 13"/>
          <p:cNvGrpSpPr/>
          <p:nvPr/>
        </p:nvGrpSpPr>
        <p:grpSpPr>
          <a:xfrm>
            <a:off x="7164288" y="3140968"/>
            <a:ext cx="1816908" cy="801380"/>
            <a:chOff x="6588224" y="4149080"/>
            <a:chExt cx="1816908" cy="801380"/>
          </a:xfrm>
        </p:grpSpPr>
        <p:sp>
          <p:nvSpPr>
            <p:cNvPr id="15" name="弧形 14"/>
            <p:cNvSpPr/>
            <p:nvPr/>
          </p:nvSpPr>
          <p:spPr>
            <a:xfrm>
              <a:off x="6876256" y="4149080"/>
              <a:ext cx="1008112" cy="360040"/>
            </a:xfrm>
            <a:prstGeom prst="arc">
              <a:avLst>
                <a:gd name="adj1" fmla="val 14553229"/>
                <a:gd name="adj2" fmla="val 9868826"/>
              </a:avLst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文字方塊 15"/>
            <p:cNvSpPr txBox="1"/>
            <p:nvPr/>
          </p:nvSpPr>
          <p:spPr>
            <a:xfrm>
              <a:off x="6588224" y="4581128"/>
              <a:ext cx="18169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Create thumbnail</a:t>
              </a:r>
            </a:p>
          </p:txBody>
        </p:sp>
      </p:grpSp>
      <p:cxnSp>
        <p:nvCxnSpPr>
          <p:cNvPr id="7" name="直線單箭頭接點 6"/>
          <p:cNvCxnSpPr/>
          <p:nvPr/>
        </p:nvCxnSpPr>
        <p:spPr>
          <a:xfrm>
            <a:off x="5364088" y="3284984"/>
            <a:ext cx="504056" cy="1588"/>
          </a:xfrm>
          <a:prstGeom prst="straightConnector1">
            <a:avLst/>
          </a:prstGeom>
          <a:ln>
            <a:prstDash val="sysDot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文字方塊 18"/>
          <p:cNvSpPr txBox="1"/>
          <p:nvPr/>
        </p:nvSpPr>
        <p:spPr>
          <a:xfrm>
            <a:off x="4644008" y="2915652"/>
            <a:ext cx="10627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Message </a:t>
            </a:r>
            <a:endParaRPr lang="zh-TW" altLang="en-US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5940152" y="2636912"/>
            <a:ext cx="1555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Parse message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9" grpId="1"/>
      <p:bldP spid="2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Result </a:t>
            </a:r>
            <a:endParaRPr lang="zh-TW" altLang="en-US" dirty="0"/>
          </a:p>
        </p:txBody>
      </p:sp>
      <p:grpSp>
        <p:nvGrpSpPr>
          <p:cNvPr id="3" name="群組 5"/>
          <p:cNvGrpSpPr/>
          <p:nvPr/>
        </p:nvGrpSpPr>
        <p:grpSpPr>
          <a:xfrm>
            <a:off x="1979712" y="2204864"/>
            <a:ext cx="6120680" cy="2889612"/>
            <a:chOff x="1979712" y="3491716"/>
            <a:chExt cx="6120680" cy="2889612"/>
          </a:xfrm>
        </p:grpSpPr>
        <p:sp>
          <p:nvSpPr>
            <p:cNvPr id="7" name="矩形 6"/>
            <p:cNvSpPr/>
            <p:nvPr/>
          </p:nvSpPr>
          <p:spPr>
            <a:xfrm>
              <a:off x="1979712" y="3861048"/>
              <a:ext cx="6120680" cy="2520280"/>
            </a:xfrm>
            <a:prstGeom prst="rect">
              <a:avLst/>
            </a:prstGeom>
            <a:noFill/>
            <a:ln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文字方塊 7"/>
            <p:cNvSpPr txBox="1"/>
            <p:nvPr/>
          </p:nvSpPr>
          <p:spPr>
            <a:xfrm>
              <a:off x="7164288" y="3491716"/>
              <a:ext cx="9022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Project </a:t>
              </a:r>
              <a:endParaRPr lang="zh-TW" altLang="en-US" dirty="0"/>
            </a:p>
          </p:txBody>
        </p:sp>
      </p:grpSp>
      <p:sp>
        <p:nvSpPr>
          <p:cNvPr id="9" name="矩形 8"/>
          <p:cNvSpPr/>
          <p:nvPr/>
        </p:nvSpPr>
        <p:spPr>
          <a:xfrm>
            <a:off x="1763688" y="2790220"/>
            <a:ext cx="720080" cy="20882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Web</a:t>
            </a:r>
          </a:p>
          <a:p>
            <a:pPr algn="ctr"/>
            <a:r>
              <a:rPr lang="en-US" altLang="zh-TW" dirty="0" smtClean="0"/>
              <a:t>Role</a:t>
            </a:r>
            <a:endParaRPr lang="zh-TW" altLang="en-US" dirty="0"/>
          </a:p>
        </p:txBody>
      </p:sp>
      <p:sp>
        <p:nvSpPr>
          <p:cNvPr id="10" name="流程圖: 磁碟 9"/>
          <p:cNvSpPr/>
          <p:nvPr/>
        </p:nvSpPr>
        <p:spPr>
          <a:xfrm>
            <a:off x="4716016" y="4086364"/>
            <a:ext cx="2088232" cy="936104"/>
          </a:xfrm>
          <a:prstGeom prst="flowChartMagneticDisk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Storage </a:t>
            </a:r>
            <a:endParaRPr lang="zh-TW" altLang="en-US" dirty="0"/>
          </a:p>
        </p:txBody>
      </p:sp>
      <p:grpSp>
        <p:nvGrpSpPr>
          <p:cNvPr id="4" name="群組 15"/>
          <p:cNvGrpSpPr/>
          <p:nvPr/>
        </p:nvGrpSpPr>
        <p:grpSpPr>
          <a:xfrm>
            <a:off x="2267744" y="4518412"/>
            <a:ext cx="2537433" cy="864096"/>
            <a:chOff x="2267744" y="5805264"/>
            <a:chExt cx="2537433" cy="864096"/>
          </a:xfrm>
        </p:grpSpPr>
        <p:cxnSp>
          <p:nvCxnSpPr>
            <p:cNvPr id="17" name="直線單箭頭接點 16"/>
            <p:cNvCxnSpPr/>
            <p:nvPr/>
          </p:nvCxnSpPr>
          <p:spPr>
            <a:xfrm>
              <a:off x="2267744" y="5805264"/>
              <a:ext cx="2520280" cy="216024"/>
            </a:xfrm>
            <a:prstGeom prst="straightConnector1">
              <a:avLst/>
            </a:prstGeom>
            <a:ln>
              <a:prstDash val="dash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文字方塊 17"/>
            <p:cNvSpPr txBox="1"/>
            <p:nvPr/>
          </p:nvSpPr>
          <p:spPr>
            <a:xfrm>
              <a:off x="2771800" y="6023029"/>
              <a:ext cx="203337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rgbClr val="FF0000"/>
                  </a:solidFill>
                </a:rPr>
                <a:t>Input data</a:t>
              </a:r>
            </a:p>
            <a:p>
              <a:r>
                <a:rPr lang="en-US" altLang="zh-TW" dirty="0" smtClean="0"/>
                <a:t>Name, image, …etc </a:t>
              </a:r>
              <a:endParaRPr lang="zh-TW" altLang="en-US" dirty="0"/>
            </a:p>
          </p:txBody>
        </p:sp>
      </p:grpSp>
      <p:sp>
        <p:nvSpPr>
          <p:cNvPr id="19" name="矩形 18"/>
          <p:cNvSpPr/>
          <p:nvPr/>
        </p:nvSpPr>
        <p:spPr>
          <a:xfrm>
            <a:off x="2987824" y="2790220"/>
            <a:ext cx="1872208" cy="36004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rgbClr val="FF0000"/>
                </a:solidFill>
              </a:rPr>
              <a:t>Queue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0" name="圓角矩形 19"/>
          <p:cNvSpPr/>
          <p:nvPr/>
        </p:nvSpPr>
        <p:spPr>
          <a:xfrm>
            <a:off x="5364088" y="2790220"/>
            <a:ext cx="1872208" cy="504056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Worker Role</a:t>
            </a:r>
            <a:endParaRPr lang="zh-TW" altLang="en-US" dirty="0"/>
          </a:p>
        </p:txBody>
      </p:sp>
      <p:grpSp>
        <p:nvGrpSpPr>
          <p:cNvPr id="5" name="群組 20"/>
          <p:cNvGrpSpPr/>
          <p:nvPr/>
        </p:nvGrpSpPr>
        <p:grpSpPr>
          <a:xfrm>
            <a:off x="3275856" y="3006244"/>
            <a:ext cx="2016224" cy="513348"/>
            <a:chOff x="3275856" y="4293096"/>
            <a:chExt cx="2016224" cy="513348"/>
          </a:xfrm>
        </p:grpSpPr>
        <p:cxnSp>
          <p:nvCxnSpPr>
            <p:cNvPr id="23" name="直線單箭頭接點 22"/>
            <p:cNvCxnSpPr/>
            <p:nvPr/>
          </p:nvCxnSpPr>
          <p:spPr>
            <a:xfrm>
              <a:off x="4788024" y="4293096"/>
              <a:ext cx="504056" cy="1588"/>
            </a:xfrm>
            <a:prstGeom prst="straightConnector1">
              <a:avLst/>
            </a:prstGeom>
            <a:ln>
              <a:prstDash val="sysDot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文字方塊 23"/>
            <p:cNvSpPr txBox="1"/>
            <p:nvPr/>
          </p:nvSpPr>
          <p:spPr>
            <a:xfrm>
              <a:off x="3275856" y="4437112"/>
              <a:ext cx="10604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err="1" smtClean="0"/>
                <a:t>Messgae</a:t>
              </a:r>
              <a:r>
                <a:rPr lang="en-US" altLang="zh-TW" dirty="0" smtClean="0"/>
                <a:t> </a:t>
              </a:r>
              <a:endParaRPr lang="zh-TW" altLang="en-US" dirty="0"/>
            </a:p>
          </p:txBody>
        </p:sp>
      </p:grpSp>
      <p:grpSp>
        <p:nvGrpSpPr>
          <p:cNvPr id="6" name="群組 24"/>
          <p:cNvGrpSpPr/>
          <p:nvPr/>
        </p:nvGrpSpPr>
        <p:grpSpPr>
          <a:xfrm>
            <a:off x="3707904" y="3366284"/>
            <a:ext cx="1872208" cy="648072"/>
            <a:chOff x="3707904" y="4653136"/>
            <a:chExt cx="1872208" cy="648072"/>
          </a:xfrm>
        </p:grpSpPr>
        <p:cxnSp>
          <p:nvCxnSpPr>
            <p:cNvPr id="26" name="直線單箭頭接點 25"/>
            <p:cNvCxnSpPr/>
            <p:nvPr/>
          </p:nvCxnSpPr>
          <p:spPr>
            <a:xfrm rot="5400000" flipH="1" flipV="1">
              <a:off x="5040052" y="4761148"/>
              <a:ext cx="648072" cy="432048"/>
            </a:xfrm>
            <a:prstGeom prst="straightConnector1">
              <a:avLst/>
            </a:prstGeom>
            <a:ln>
              <a:prstDash val="sysDot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文字方塊 26"/>
            <p:cNvSpPr txBox="1"/>
            <p:nvPr/>
          </p:nvSpPr>
          <p:spPr>
            <a:xfrm>
              <a:off x="3707904" y="4869160"/>
              <a:ext cx="15100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original image</a:t>
              </a:r>
            </a:p>
          </p:txBody>
        </p:sp>
      </p:grpSp>
      <p:grpSp>
        <p:nvGrpSpPr>
          <p:cNvPr id="11" name="群組 27"/>
          <p:cNvGrpSpPr/>
          <p:nvPr/>
        </p:nvGrpSpPr>
        <p:grpSpPr>
          <a:xfrm>
            <a:off x="5652120" y="3438292"/>
            <a:ext cx="1149165" cy="648072"/>
            <a:chOff x="5652120" y="4725144"/>
            <a:chExt cx="1149165" cy="648072"/>
          </a:xfrm>
        </p:grpSpPr>
        <p:cxnSp>
          <p:nvCxnSpPr>
            <p:cNvPr id="29" name="直線單箭頭接點 28"/>
            <p:cNvCxnSpPr/>
            <p:nvPr/>
          </p:nvCxnSpPr>
          <p:spPr>
            <a:xfrm rot="5400000">
              <a:off x="5544108" y="4833156"/>
              <a:ext cx="648072" cy="432048"/>
            </a:xfrm>
            <a:prstGeom prst="straightConnector1">
              <a:avLst/>
            </a:prstGeom>
            <a:ln>
              <a:prstDash val="sysDot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文字方塊 29"/>
            <p:cNvSpPr txBox="1"/>
            <p:nvPr/>
          </p:nvSpPr>
          <p:spPr>
            <a:xfrm>
              <a:off x="5940152" y="4941168"/>
              <a:ext cx="8611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Upload</a:t>
              </a:r>
            </a:p>
          </p:txBody>
        </p:sp>
      </p:grpSp>
      <p:grpSp>
        <p:nvGrpSpPr>
          <p:cNvPr id="12" name="群組 30"/>
          <p:cNvGrpSpPr/>
          <p:nvPr/>
        </p:nvGrpSpPr>
        <p:grpSpPr>
          <a:xfrm>
            <a:off x="6876256" y="2862228"/>
            <a:ext cx="1149674" cy="801380"/>
            <a:chOff x="6876256" y="4149080"/>
            <a:chExt cx="1149674" cy="801380"/>
          </a:xfrm>
        </p:grpSpPr>
        <p:sp>
          <p:nvSpPr>
            <p:cNvPr id="32" name="弧形 31"/>
            <p:cNvSpPr/>
            <p:nvPr/>
          </p:nvSpPr>
          <p:spPr>
            <a:xfrm>
              <a:off x="6876256" y="4149080"/>
              <a:ext cx="1008112" cy="360040"/>
            </a:xfrm>
            <a:prstGeom prst="arc">
              <a:avLst>
                <a:gd name="adj1" fmla="val 14553229"/>
                <a:gd name="adj2" fmla="val 9868826"/>
              </a:avLst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3" name="文字方塊 32"/>
            <p:cNvSpPr txBox="1"/>
            <p:nvPr/>
          </p:nvSpPr>
          <p:spPr>
            <a:xfrm>
              <a:off x="6876256" y="4581128"/>
              <a:ext cx="1149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thumbnail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Step 4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>
          <a:xfrm>
            <a:off x="722313" y="2564904"/>
            <a:ext cx="7772400" cy="1841997"/>
          </a:xfrm>
        </p:spPr>
        <p:txBody>
          <a:bodyPr>
            <a:normAutofit lnSpcReduction="10000"/>
          </a:bodyPr>
          <a:lstStyle/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Runtime environment </a:t>
            </a:r>
            <a:endParaRPr lang="zh-TW" altLang="en-US" dirty="0" smtClean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Create a project 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Create data model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Worker Role</a:t>
            </a:r>
          </a:p>
          <a:p>
            <a:r>
              <a:rPr lang="en-US" altLang="zh-TW" dirty="0" smtClean="0"/>
              <a:t>Web Role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Introduction 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 smtClean="0"/>
              <a:t>A web role runs as interface</a:t>
            </a:r>
          </a:p>
          <a:p>
            <a:pPr lvl="1"/>
            <a:r>
              <a:rPr lang="en-US" altLang="zh-TW" dirty="0" smtClean="0"/>
              <a:t>Receive request from user.</a:t>
            </a:r>
          </a:p>
          <a:p>
            <a:pPr lvl="1"/>
            <a:r>
              <a:rPr lang="en-US" altLang="zh-TW" dirty="0" smtClean="0"/>
              <a:t>Upload message and image in storage space.</a:t>
            </a:r>
          </a:p>
          <a:p>
            <a:pPr lvl="1"/>
            <a:r>
              <a:rPr lang="en-US" altLang="zh-TW" dirty="0" smtClean="0"/>
              <a:t>Return the response by web page.</a:t>
            </a:r>
          </a:p>
        </p:txBody>
      </p:sp>
      <p:sp>
        <p:nvSpPr>
          <p:cNvPr id="15" name="矩形 14"/>
          <p:cNvSpPr/>
          <p:nvPr/>
        </p:nvSpPr>
        <p:spPr>
          <a:xfrm>
            <a:off x="5796136" y="2564904"/>
            <a:ext cx="720080" cy="20882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Web</a:t>
            </a:r>
          </a:p>
          <a:p>
            <a:pPr algn="ctr"/>
            <a:r>
              <a:rPr lang="en-US" altLang="zh-TW" dirty="0" smtClean="0"/>
              <a:t>Role</a:t>
            </a:r>
            <a:endParaRPr lang="zh-TW" altLang="en-US" dirty="0"/>
          </a:p>
        </p:txBody>
      </p:sp>
      <p:grpSp>
        <p:nvGrpSpPr>
          <p:cNvPr id="2" name="群組 15"/>
          <p:cNvGrpSpPr/>
          <p:nvPr/>
        </p:nvGrpSpPr>
        <p:grpSpPr>
          <a:xfrm>
            <a:off x="4716016" y="2492896"/>
            <a:ext cx="1224136" cy="2025516"/>
            <a:chOff x="683568" y="4005064"/>
            <a:chExt cx="1224136" cy="2025516"/>
          </a:xfrm>
        </p:grpSpPr>
        <p:cxnSp>
          <p:nvCxnSpPr>
            <p:cNvPr id="17" name="直線單箭頭接點 16"/>
            <p:cNvCxnSpPr/>
            <p:nvPr/>
          </p:nvCxnSpPr>
          <p:spPr>
            <a:xfrm>
              <a:off x="1115616" y="4509120"/>
              <a:ext cx="792088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" name="直線單箭頭接點 17"/>
            <p:cNvCxnSpPr/>
            <p:nvPr/>
          </p:nvCxnSpPr>
          <p:spPr>
            <a:xfrm rot="10800000">
              <a:off x="1115616" y="5589240"/>
              <a:ext cx="72008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9" name="文字方塊 18"/>
            <p:cNvSpPr txBox="1"/>
            <p:nvPr/>
          </p:nvSpPr>
          <p:spPr>
            <a:xfrm>
              <a:off x="755576" y="4005064"/>
              <a:ext cx="9971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Request </a:t>
              </a:r>
              <a:endParaRPr lang="zh-TW" altLang="en-US" dirty="0"/>
            </a:p>
          </p:txBody>
        </p:sp>
        <p:sp>
          <p:nvSpPr>
            <p:cNvPr id="20" name="文字方塊 19"/>
            <p:cNvSpPr txBox="1"/>
            <p:nvPr/>
          </p:nvSpPr>
          <p:spPr>
            <a:xfrm>
              <a:off x="683568" y="5661248"/>
              <a:ext cx="11264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Web page</a:t>
              </a:r>
              <a:endParaRPr lang="zh-TW" altLang="en-US" dirty="0"/>
            </a:p>
          </p:txBody>
        </p:sp>
      </p:grpSp>
      <p:grpSp>
        <p:nvGrpSpPr>
          <p:cNvPr id="3" name="群組 20"/>
          <p:cNvGrpSpPr/>
          <p:nvPr/>
        </p:nvGrpSpPr>
        <p:grpSpPr>
          <a:xfrm>
            <a:off x="6300192" y="4293096"/>
            <a:ext cx="2537433" cy="864096"/>
            <a:chOff x="2267744" y="5805264"/>
            <a:chExt cx="2537433" cy="864096"/>
          </a:xfrm>
        </p:grpSpPr>
        <p:cxnSp>
          <p:nvCxnSpPr>
            <p:cNvPr id="23" name="直線單箭頭接點 22"/>
            <p:cNvCxnSpPr/>
            <p:nvPr/>
          </p:nvCxnSpPr>
          <p:spPr>
            <a:xfrm>
              <a:off x="2267744" y="5805264"/>
              <a:ext cx="2520280" cy="216024"/>
            </a:xfrm>
            <a:prstGeom prst="straightConnector1">
              <a:avLst/>
            </a:prstGeom>
            <a:ln>
              <a:prstDash val="dash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文字方塊 23"/>
            <p:cNvSpPr txBox="1"/>
            <p:nvPr/>
          </p:nvSpPr>
          <p:spPr>
            <a:xfrm>
              <a:off x="2771800" y="6023029"/>
              <a:ext cx="203337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rgbClr val="FF0000"/>
                  </a:solidFill>
                </a:rPr>
                <a:t>Input data</a:t>
              </a:r>
            </a:p>
            <a:p>
              <a:r>
                <a:rPr lang="en-US" altLang="zh-TW" dirty="0" smtClean="0"/>
                <a:t>Name, Image, …etc </a:t>
              </a:r>
              <a:endParaRPr lang="zh-TW" alt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Step by Step(1)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 smtClean="0"/>
              <a:t>Add reference</a:t>
            </a:r>
          </a:p>
          <a:p>
            <a:pPr lvl="1"/>
            <a:r>
              <a:rPr lang="en-US" altLang="zh-TW" b="1" dirty="0" err="1" smtClean="0"/>
              <a:t>Microsoft.WindowsAzure.StorageClient</a:t>
            </a:r>
            <a:r>
              <a:rPr lang="en-US" altLang="zh-TW" b="1" dirty="0" smtClean="0"/>
              <a:t> </a:t>
            </a:r>
            <a:r>
              <a:rPr lang="en-US" altLang="zh-TW" dirty="0" smtClean="0"/>
              <a:t>from .NET</a:t>
            </a:r>
            <a:endParaRPr lang="en-US" altLang="zh-TW" b="1" dirty="0" smtClean="0"/>
          </a:p>
          <a:p>
            <a:pPr lvl="1"/>
            <a:r>
              <a:rPr lang="en-US" altLang="zh-TW" b="1" dirty="0" err="1" smtClean="0"/>
              <a:t>GuestBook_Data</a:t>
            </a:r>
            <a:r>
              <a:rPr lang="en-US" altLang="zh-TW" b="1" dirty="0" smtClean="0"/>
              <a:t> </a:t>
            </a:r>
            <a:r>
              <a:rPr lang="en-US" altLang="zh-TW" dirty="0" smtClean="0"/>
              <a:t>from project</a:t>
            </a:r>
          </a:p>
          <a:p>
            <a:r>
              <a:rPr lang="en-US" altLang="zh-TW" dirty="0" smtClean="0"/>
              <a:t>Delete </a:t>
            </a:r>
            <a:r>
              <a:rPr lang="en-US" altLang="zh-TW" b="1" dirty="0" smtClean="0"/>
              <a:t>Default.aspx.</a:t>
            </a:r>
          </a:p>
          <a:p>
            <a:r>
              <a:rPr lang="en-US" altLang="zh-TW" b="1" dirty="0" smtClean="0"/>
              <a:t>Add</a:t>
            </a:r>
            <a:r>
              <a:rPr lang="en-US" altLang="zh-TW" dirty="0" smtClean="0"/>
              <a:t> and select </a:t>
            </a:r>
            <a:r>
              <a:rPr lang="en-US" altLang="zh-TW" b="1" dirty="0" smtClean="0"/>
              <a:t>Existing Item</a:t>
            </a:r>
            <a:endParaRPr lang="en-US" altLang="zh-TW" dirty="0" smtClean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4008" y="1196752"/>
            <a:ext cx="4034642" cy="5373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77450" y="2204864"/>
            <a:ext cx="4766550" cy="35113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 cstate="print"/>
          <a:srcRect t="13644" r="26563" b="15653"/>
          <a:stretch>
            <a:fillRect/>
          </a:stretch>
        </p:blipFill>
        <p:spPr bwMode="auto">
          <a:xfrm>
            <a:off x="4499992" y="1700808"/>
            <a:ext cx="4644008" cy="3909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139952" y="1772816"/>
            <a:ext cx="4769991" cy="3916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Step by Step(1)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 smtClean="0"/>
              <a:t>Reduce the effort of developing web page.</a:t>
            </a:r>
          </a:p>
          <a:p>
            <a:pPr lvl="1"/>
            <a:r>
              <a:rPr lang="en-US" altLang="zh-TW" dirty="0" smtClean="0"/>
              <a:t>Composition of web page.</a:t>
            </a:r>
          </a:p>
          <a:p>
            <a:pPr lvl="1"/>
            <a:r>
              <a:rPr lang="en-US" altLang="zh-TW" dirty="0" smtClean="0"/>
              <a:t>Upload message and image.</a:t>
            </a:r>
          </a:p>
          <a:p>
            <a:pPr lvl="1"/>
            <a:r>
              <a:rPr lang="en-US" altLang="zh-TW" dirty="0" smtClean="0"/>
              <a:t>Response of web page.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5796136" y="2564904"/>
            <a:ext cx="720080" cy="20882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Web</a:t>
            </a:r>
          </a:p>
          <a:p>
            <a:pPr algn="ctr"/>
            <a:r>
              <a:rPr lang="en-US" altLang="zh-TW" dirty="0" smtClean="0"/>
              <a:t>Role</a:t>
            </a:r>
            <a:endParaRPr lang="zh-TW" altLang="en-US" dirty="0"/>
          </a:p>
        </p:txBody>
      </p:sp>
      <p:grpSp>
        <p:nvGrpSpPr>
          <p:cNvPr id="2" name="群組 7"/>
          <p:cNvGrpSpPr/>
          <p:nvPr/>
        </p:nvGrpSpPr>
        <p:grpSpPr>
          <a:xfrm>
            <a:off x="4716016" y="2492896"/>
            <a:ext cx="1224136" cy="2025516"/>
            <a:chOff x="683568" y="4005064"/>
            <a:chExt cx="1224136" cy="2025516"/>
          </a:xfrm>
        </p:grpSpPr>
        <p:cxnSp>
          <p:nvCxnSpPr>
            <p:cNvPr id="9" name="直線單箭頭接點 8"/>
            <p:cNvCxnSpPr/>
            <p:nvPr/>
          </p:nvCxnSpPr>
          <p:spPr>
            <a:xfrm>
              <a:off x="1115616" y="4509120"/>
              <a:ext cx="792088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" name="直線單箭頭接點 9"/>
            <p:cNvCxnSpPr/>
            <p:nvPr/>
          </p:nvCxnSpPr>
          <p:spPr>
            <a:xfrm rot="10800000">
              <a:off x="1115616" y="5589240"/>
              <a:ext cx="72008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1" name="文字方塊 10"/>
            <p:cNvSpPr txBox="1"/>
            <p:nvPr/>
          </p:nvSpPr>
          <p:spPr>
            <a:xfrm>
              <a:off x="755576" y="4005064"/>
              <a:ext cx="9971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Request </a:t>
              </a:r>
              <a:endParaRPr lang="zh-TW" altLang="en-US" dirty="0"/>
            </a:p>
          </p:txBody>
        </p:sp>
        <p:sp>
          <p:nvSpPr>
            <p:cNvPr id="12" name="文字方塊 11"/>
            <p:cNvSpPr txBox="1"/>
            <p:nvPr/>
          </p:nvSpPr>
          <p:spPr>
            <a:xfrm>
              <a:off x="683568" y="5661248"/>
              <a:ext cx="11264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Web page</a:t>
              </a:r>
              <a:endParaRPr lang="zh-TW" altLang="en-US" dirty="0"/>
            </a:p>
          </p:txBody>
        </p:sp>
      </p:grpSp>
      <p:grpSp>
        <p:nvGrpSpPr>
          <p:cNvPr id="3" name="群組 12"/>
          <p:cNvGrpSpPr/>
          <p:nvPr/>
        </p:nvGrpSpPr>
        <p:grpSpPr>
          <a:xfrm>
            <a:off x="6300192" y="4293096"/>
            <a:ext cx="2537433" cy="864096"/>
            <a:chOff x="2267744" y="5805264"/>
            <a:chExt cx="2537433" cy="864096"/>
          </a:xfrm>
        </p:grpSpPr>
        <p:cxnSp>
          <p:nvCxnSpPr>
            <p:cNvPr id="14" name="直線單箭頭接點 13"/>
            <p:cNvCxnSpPr/>
            <p:nvPr/>
          </p:nvCxnSpPr>
          <p:spPr>
            <a:xfrm>
              <a:off x="2267744" y="5805264"/>
              <a:ext cx="2520280" cy="216024"/>
            </a:xfrm>
            <a:prstGeom prst="straightConnector1">
              <a:avLst/>
            </a:prstGeom>
            <a:ln>
              <a:prstDash val="dash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文字方塊 14"/>
            <p:cNvSpPr txBox="1"/>
            <p:nvPr/>
          </p:nvSpPr>
          <p:spPr>
            <a:xfrm>
              <a:off x="2771800" y="6023029"/>
              <a:ext cx="203337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rgbClr val="FF0000"/>
                  </a:solidFill>
                </a:rPr>
                <a:t>Input data</a:t>
              </a:r>
            </a:p>
            <a:p>
              <a:r>
                <a:rPr lang="en-US" altLang="zh-TW" dirty="0" smtClean="0"/>
                <a:t>Name, Image, …etc </a:t>
              </a:r>
              <a:endParaRPr lang="zh-TW" alt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Step by Step(2)</a:t>
            </a:r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 l="593" t="9726" r="54720" b="34577"/>
          <a:stretch>
            <a:fillRect/>
          </a:stretch>
        </p:blipFill>
        <p:spPr bwMode="auto">
          <a:xfrm>
            <a:off x="971600" y="1340768"/>
            <a:ext cx="7452320" cy="5031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1403648" y="2780928"/>
            <a:ext cx="2736304" cy="792088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1835696" y="4365104"/>
            <a:ext cx="2952328" cy="720080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圖說文字 9"/>
          <p:cNvSpPr/>
          <p:nvPr/>
        </p:nvSpPr>
        <p:spPr>
          <a:xfrm>
            <a:off x="251520" y="4941168"/>
            <a:ext cx="1368152" cy="648072"/>
          </a:xfrm>
          <a:prstGeom prst="wedgeRectCallout">
            <a:avLst>
              <a:gd name="adj1" fmla="val 67691"/>
              <a:gd name="adj2" fmla="val 39824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Upload </a:t>
            </a:r>
            <a:endParaRPr lang="zh-TW" altLang="en-US" dirty="0"/>
          </a:p>
        </p:txBody>
      </p:sp>
      <p:sp>
        <p:nvSpPr>
          <p:cNvPr id="11" name="矩形圖說文字 10"/>
          <p:cNvSpPr/>
          <p:nvPr/>
        </p:nvSpPr>
        <p:spPr>
          <a:xfrm>
            <a:off x="5724128" y="5877272"/>
            <a:ext cx="2520280" cy="648072"/>
          </a:xfrm>
          <a:prstGeom prst="wedgeRectCallout">
            <a:avLst>
              <a:gd name="adj1" fmla="val -71548"/>
              <a:gd name="adj2" fmla="val -42483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periodically  refresh  web page</a:t>
            </a:r>
            <a:endParaRPr lang="zh-TW" altLang="en-US" dirty="0"/>
          </a:p>
        </p:txBody>
      </p:sp>
      <p:sp>
        <p:nvSpPr>
          <p:cNvPr id="12" name="矩形圖說文字 11"/>
          <p:cNvSpPr/>
          <p:nvPr/>
        </p:nvSpPr>
        <p:spPr>
          <a:xfrm>
            <a:off x="251520" y="5949280"/>
            <a:ext cx="1368152" cy="648072"/>
          </a:xfrm>
          <a:prstGeom prst="wedgeRectCallout">
            <a:avLst>
              <a:gd name="adj1" fmla="val 64210"/>
              <a:gd name="adj2" fmla="val -14557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Initialize 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Step by Step(3)</a:t>
            </a:r>
            <a:endParaRPr lang="zh-TW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 l="787" t="9450" r="61413" b="47662"/>
          <a:stretch>
            <a:fillRect/>
          </a:stretch>
        </p:blipFill>
        <p:spPr bwMode="auto">
          <a:xfrm>
            <a:off x="1043608" y="1988840"/>
            <a:ext cx="6912768" cy="424847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</p:pic>
      <p:cxnSp>
        <p:nvCxnSpPr>
          <p:cNvPr id="7" name="直線接點 6"/>
          <p:cNvCxnSpPr/>
          <p:nvPr/>
        </p:nvCxnSpPr>
        <p:spPr>
          <a:xfrm>
            <a:off x="2843808" y="3789040"/>
            <a:ext cx="151216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4572000" y="3789040"/>
            <a:ext cx="936104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 rot="5400000" flipH="1" flipV="1">
            <a:off x="1511660" y="3465004"/>
            <a:ext cx="504056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>
            <a:off x="1763688" y="2564904"/>
            <a:ext cx="432048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 l="593" t="9450" r="50781" b="58566"/>
          <a:stretch>
            <a:fillRect/>
          </a:stretch>
        </p:blipFill>
        <p:spPr bwMode="auto">
          <a:xfrm>
            <a:off x="251520" y="2348880"/>
            <a:ext cx="8892480" cy="3168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矩形圖說文字 4"/>
          <p:cNvSpPr/>
          <p:nvPr/>
        </p:nvSpPr>
        <p:spPr>
          <a:xfrm>
            <a:off x="3923928" y="4221088"/>
            <a:ext cx="2304256" cy="648072"/>
          </a:xfrm>
          <a:prstGeom prst="wedgeRectCallout">
            <a:avLst>
              <a:gd name="adj1" fmla="val -70156"/>
              <a:gd name="adj2" fmla="val 32475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set up the environment</a:t>
            </a:r>
            <a:endParaRPr lang="zh-TW" altLang="en-US" dirty="0"/>
          </a:p>
        </p:txBody>
      </p:sp>
      <p:sp>
        <p:nvSpPr>
          <p:cNvPr id="6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altLang="zh-TW" dirty="0" smtClean="0"/>
              <a:t>Step by Step(4)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Step 5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>
          <a:xfrm>
            <a:off x="722313" y="1844824"/>
            <a:ext cx="7772400" cy="2562077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Runtime environment </a:t>
            </a:r>
            <a:endParaRPr lang="zh-TW" altLang="en-US" dirty="0" smtClean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Create a project 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Create data model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Worker role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Web Role</a:t>
            </a:r>
          </a:p>
          <a:p>
            <a:r>
              <a:rPr lang="en-US" altLang="zh-TW" dirty="0" smtClean="0"/>
              <a:t>And more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67744" y="2708920"/>
            <a:ext cx="4762500" cy="2686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63688" y="-31379"/>
            <a:ext cx="5361384" cy="6889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Spec.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 more detailed description</a:t>
            </a:r>
          </a:p>
          <a:p>
            <a:pPr lvl="1">
              <a:buNone/>
            </a:pPr>
            <a:r>
              <a:rPr lang="en-US" altLang="zh-TW" sz="1600" dirty="0" smtClean="0"/>
              <a:t>\Lab\IntroductionToWindowsAzureVS2010\Lab.docx</a:t>
            </a:r>
            <a:endParaRPr lang="zh-TW" altLang="en-US" sz="16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 l="15315" t="16641" r="51134" b="1867"/>
          <a:stretch>
            <a:fillRect/>
          </a:stretch>
        </p:blipFill>
        <p:spPr bwMode="auto">
          <a:xfrm>
            <a:off x="2699792" y="2492896"/>
            <a:ext cx="3240360" cy="426303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Demo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Instruction 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Use Storage Explorer to observe the blob, table, and queue in storage space.</a:t>
            </a:r>
          </a:p>
          <a:p>
            <a:r>
              <a:rPr lang="en-US" altLang="zh-TW" dirty="0" smtClean="0"/>
              <a:t>Use Development Fabric to observe the status of web role and worker role.</a:t>
            </a:r>
          </a:p>
          <a:p>
            <a:r>
              <a:rPr lang="en-US" altLang="zh-TW" dirty="0" smtClean="0"/>
              <a:t>Some failure can occur as we expect.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Demo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Storage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Storage Explorer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Blob containers.</a:t>
            </a:r>
            <a:endParaRPr lang="zh-TW" altLang="en-US" dirty="0"/>
          </a:p>
        </p:txBody>
      </p:sp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4223" y="2492896"/>
            <a:ext cx="7449777" cy="4365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15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94222" y="2492896"/>
            <a:ext cx="7449778" cy="4365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15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94221" y="2492895"/>
            <a:ext cx="7449779" cy="4365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直線單箭頭接點 7"/>
          <p:cNvCxnSpPr/>
          <p:nvPr/>
        </p:nvCxnSpPr>
        <p:spPr>
          <a:xfrm>
            <a:off x="1547664" y="4266969"/>
            <a:ext cx="576064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直線單箭頭接點 8"/>
          <p:cNvCxnSpPr/>
          <p:nvPr/>
        </p:nvCxnSpPr>
        <p:spPr>
          <a:xfrm>
            <a:off x="3347864" y="3573016"/>
            <a:ext cx="576064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49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49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Storage Explorer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Tables</a:t>
            </a:r>
            <a:endParaRPr lang="zh-TW" altLang="en-US" dirty="0"/>
          </a:p>
        </p:txBody>
      </p:sp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86433" y="2488332"/>
            <a:ext cx="7457567" cy="43696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018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91681" y="2491407"/>
            <a:ext cx="7452319" cy="43665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0181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91681" y="2491407"/>
            <a:ext cx="7452319" cy="43665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0182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694222" y="2492896"/>
            <a:ext cx="7449778" cy="4365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9" name="直線單箭頭接點 8"/>
          <p:cNvCxnSpPr/>
          <p:nvPr/>
        </p:nvCxnSpPr>
        <p:spPr>
          <a:xfrm>
            <a:off x="1547664" y="5661248"/>
            <a:ext cx="576064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 rot="5400000">
            <a:off x="8460432" y="2996952"/>
            <a:ext cx="433636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3995936" y="4941168"/>
            <a:ext cx="504056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5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50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Related Information</a:t>
            </a:r>
            <a:endParaRPr lang="zh-TW" alt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/>
          <a:srcRect b="55460"/>
          <a:stretch>
            <a:fillRect/>
          </a:stretch>
        </p:blipFill>
        <p:spPr bwMode="auto">
          <a:xfrm>
            <a:off x="601216" y="1628800"/>
            <a:ext cx="7449779" cy="1944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3" cstate="print"/>
          <a:srcRect t="25200" r="1072" b="25661"/>
          <a:stretch>
            <a:fillRect/>
          </a:stretch>
        </p:blipFill>
        <p:spPr bwMode="auto">
          <a:xfrm>
            <a:off x="601216" y="3789040"/>
            <a:ext cx="7669775" cy="2232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直線接點 6"/>
          <p:cNvCxnSpPr/>
          <p:nvPr/>
        </p:nvCxnSpPr>
        <p:spPr>
          <a:xfrm>
            <a:off x="2833464" y="2636912"/>
            <a:ext cx="259228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3049488" y="5320962"/>
            <a:ext cx="468052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Demo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Storage</a:t>
            </a:r>
          </a:p>
          <a:p>
            <a:r>
              <a:rPr lang="en-US" altLang="zh-TW" dirty="0" smtClean="0"/>
              <a:t>Web Role and Worker Role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Development Fabric </a:t>
            </a:r>
            <a:endParaRPr lang="zh-TW" altLang="en-US" dirty="0"/>
          </a:p>
        </p:txBody>
      </p:sp>
      <p:pic>
        <p:nvPicPr>
          <p:cNvPr id="4813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27784" y="2564904"/>
            <a:ext cx="4591050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直線單箭頭接點 7"/>
          <p:cNvCxnSpPr/>
          <p:nvPr/>
        </p:nvCxnSpPr>
        <p:spPr>
          <a:xfrm>
            <a:off x="2123728" y="2852936"/>
            <a:ext cx="792088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35696" y="1700808"/>
            <a:ext cx="6300192" cy="4725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Web Role</a:t>
            </a:r>
            <a:endParaRPr lang="zh-TW" altLang="en-US" dirty="0"/>
          </a:p>
        </p:txBody>
      </p:sp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2" cstate="print"/>
          <a:srcRect r="776" b="63204"/>
          <a:stretch>
            <a:fillRect/>
          </a:stretch>
        </p:blipFill>
        <p:spPr bwMode="auto">
          <a:xfrm>
            <a:off x="0" y="3467600"/>
            <a:ext cx="9144000" cy="18367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l="14527" t="28882" r="35559" b="63553"/>
          <a:stretch>
            <a:fillRect/>
          </a:stretch>
        </p:blipFill>
        <p:spPr bwMode="auto">
          <a:xfrm>
            <a:off x="0" y="2780928"/>
            <a:ext cx="9144000" cy="750627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</p:pic>
      <p:sp>
        <p:nvSpPr>
          <p:cNvPr id="9" name="圓角矩形 8"/>
          <p:cNvSpPr/>
          <p:nvPr/>
        </p:nvSpPr>
        <p:spPr>
          <a:xfrm>
            <a:off x="1331640" y="4899708"/>
            <a:ext cx="5688632" cy="28803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Worker Role </a:t>
            </a:r>
            <a:endParaRPr lang="zh-TW" altLang="en-US" dirty="0"/>
          </a:p>
        </p:txBody>
      </p:sp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 cstate="print"/>
          <a:srcRect r="1564" b="54931"/>
          <a:stretch>
            <a:fillRect/>
          </a:stretch>
        </p:blipFill>
        <p:spPr bwMode="auto">
          <a:xfrm>
            <a:off x="-36934" y="3429000"/>
            <a:ext cx="9180934" cy="2276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l="14392" t="33530" r="26667" b="60144"/>
          <a:stretch>
            <a:fillRect/>
          </a:stretch>
        </p:blipFill>
        <p:spPr bwMode="auto">
          <a:xfrm>
            <a:off x="0" y="2852936"/>
            <a:ext cx="9144000" cy="531628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</p:pic>
      <p:sp>
        <p:nvSpPr>
          <p:cNvPr id="9" name="圓角矩形 8"/>
          <p:cNvSpPr/>
          <p:nvPr/>
        </p:nvSpPr>
        <p:spPr>
          <a:xfrm>
            <a:off x="1259632" y="5157192"/>
            <a:ext cx="5688632" cy="28803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Demo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Storage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Web Role and Worker Role</a:t>
            </a:r>
          </a:p>
          <a:p>
            <a:r>
              <a:rPr lang="en-US" altLang="zh-TW" dirty="0" smtClean="0"/>
              <a:t>Failure 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Error</a:t>
            </a:r>
            <a:endParaRPr lang="zh-TW" altLang="en-US" dirty="0"/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 cstate="print"/>
          <a:srcRect t="15992" r="49207" b="35305"/>
          <a:stretch>
            <a:fillRect/>
          </a:stretch>
        </p:blipFill>
        <p:spPr bwMode="auto">
          <a:xfrm>
            <a:off x="0" y="1628800"/>
            <a:ext cx="9144000" cy="4749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文字方塊 4"/>
          <p:cNvSpPr txBox="1"/>
          <p:nvPr/>
        </p:nvSpPr>
        <p:spPr>
          <a:xfrm>
            <a:off x="2839151" y="3064715"/>
            <a:ext cx="2895986" cy="144655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en-US" altLang="zh-TW" sz="88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Error!</a:t>
            </a:r>
            <a:endParaRPr lang="zh-TW" altLang="en-US" sz="88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2204864"/>
            <a:ext cx="4572000" cy="2880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單箭頭接點 7"/>
          <p:cNvCxnSpPr/>
          <p:nvPr/>
        </p:nvCxnSpPr>
        <p:spPr>
          <a:xfrm rot="10800000">
            <a:off x="4932040" y="2348880"/>
            <a:ext cx="792088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文字方塊 8"/>
          <p:cNvSpPr txBox="1"/>
          <p:nvPr/>
        </p:nvSpPr>
        <p:spPr>
          <a:xfrm>
            <a:off x="5796136" y="2132856"/>
            <a:ext cx="1645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/>
              <a:t>Storage Service</a:t>
            </a:r>
            <a:endParaRPr lang="zh-TW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9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Error</a:t>
            </a:r>
            <a:endParaRPr lang="zh-TW" altLang="en-US" dirty="0"/>
          </a:p>
        </p:txBody>
      </p:sp>
      <p:sp>
        <p:nvSpPr>
          <p:cNvPr id="9" name="內容版面配置區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Start the development storage service</a:t>
            </a:r>
            <a:endParaRPr lang="zh-TW" altLang="en-US" dirty="0"/>
          </a:p>
        </p:txBody>
      </p:sp>
      <p:pic>
        <p:nvPicPr>
          <p:cNvPr id="4301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23928" y="3501008"/>
            <a:ext cx="4991819" cy="3183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1" name="直線接點 10"/>
          <p:cNvCxnSpPr/>
          <p:nvPr/>
        </p:nvCxnSpPr>
        <p:spPr>
          <a:xfrm>
            <a:off x="4644008" y="4293096"/>
            <a:ext cx="18002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 rot="10800000">
            <a:off x="6660232" y="4697428"/>
            <a:ext cx="576064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Exercise 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Exercise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Grab some messages from queue.</a:t>
            </a:r>
          </a:p>
          <a:p>
            <a:pPr lvl="1"/>
            <a:r>
              <a:rPr lang="en-US" altLang="zh-TW" dirty="0" smtClean="0"/>
              <a:t>Web role sends message to worker role across queue.</a:t>
            </a:r>
          </a:p>
          <a:p>
            <a:pPr lvl="1"/>
            <a:r>
              <a:rPr lang="en-US" altLang="zh-TW" dirty="0" smtClean="0"/>
              <a:t>Grab message(s) from any point of web role or worker role.</a:t>
            </a:r>
          </a:p>
          <a:p>
            <a:pPr lvl="1"/>
            <a:r>
              <a:rPr lang="en-US" altLang="zh-TW" dirty="0" smtClean="0"/>
              <a:t>Use Storage Explorer or something to show the message.</a:t>
            </a:r>
          </a:p>
          <a:p>
            <a:r>
              <a:rPr lang="en-US" altLang="zh-TW" dirty="0" smtClean="0"/>
              <a:t>Extend the entry from Table.</a:t>
            </a:r>
          </a:p>
          <a:p>
            <a:pPr lvl="1"/>
            <a:r>
              <a:rPr lang="en-US" altLang="zh-TW" dirty="0" smtClean="0"/>
              <a:t>Add some column, like IP or a series number in Table.</a:t>
            </a:r>
          </a:p>
          <a:p>
            <a:pPr lvl="1"/>
            <a:r>
              <a:rPr lang="en-US" altLang="zh-TW" dirty="0" smtClean="0"/>
              <a:t>Show the result by Storage Explorer or Web Page. 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Hand-in Requirements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zh-TW" dirty="0" smtClean="0"/>
              <a:t>Report 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altLang="zh-TW" dirty="0" smtClean="0"/>
              <a:t>Methodology</a:t>
            </a:r>
          </a:p>
          <a:p>
            <a:pPr marL="1314450" lvl="2" indent="-514350">
              <a:buFont typeface="+mj-lt"/>
              <a:buAutoNum type="arabicPeriod"/>
            </a:pPr>
            <a:r>
              <a:rPr lang="en-US" altLang="zh-TW" dirty="0" smtClean="0"/>
              <a:t>How to</a:t>
            </a:r>
          </a:p>
          <a:p>
            <a:pPr marL="1314450" lvl="2" indent="-514350">
              <a:buFont typeface="+mj-lt"/>
              <a:buAutoNum type="arabicPeriod"/>
            </a:pPr>
            <a:r>
              <a:rPr lang="en-US" altLang="zh-TW" dirty="0" smtClean="0"/>
              <a:t>Screenshot 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altLang="zh-TW" dirty="0" smtClean="0"/>
              <a:t>Lesson learn and discussion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 smtClean="0"/>
              <a:t>Anything can improve your grade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altLang="zh-TW" dirty="0" smtClean="0"/>
              <a:t>E.g. more functionalities</a:t>
            </a:r>
          </a:p>
          <a:p>
            <a:pPr marL="514350" indent="-514350">
              <a:buFont typeface="+mj-lt"/>
              <a:buAutoNum type="arabicPeriod"/>
            </a:pPr>
            <a:endParaRPr lang="en-US" altLang="zh-TW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idx="4294967295"/>
          </p:nvPr>
        </p:nvSpPr>
        <p:spPr>
          <a:xfrm>
            <a:off x="685800" y="4406900"/>
            <a:ext cx="7772400" cy="1362075"/>
          </a:xfrm>
        </p:spPr>
        <p:txBody>
          <a:bodyPr/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Lab - 2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body" idx="4294967295"/>
          </p:nvPr>
        </p:nvSpPr>
        <p:spPr>
          <a:xfrm>
            <a:off x="685800" y="2906713"/>
            <a:ext cx="7772400" cy="1500187"/>
          </a:xfrm>
        </p:spPr>
        <p:txBody>
          <a:bodyPr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marL="0" indent="0" algn="r">
              <a:buNone/>
            </a:pPr>
            <a:r>
              <a:rPr lang="en-US" altLang="zh-TW" sz="3600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LotteryG</a:t>
            </a:r>
            <a:endParaRPr lang="zh-TW" altLang="en-US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7346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HTTP</a:t>
            </a:r>
          </a:p>
          <a:p>
            <a:pPr lvl="1"/>
            <a:r>
              <a:rPr lang="en-US" altLang="zh-TW" dirty="0" smtClean="0"/>
              <a:t>Basic knowledge</a:t>
            </a:r>
          </a:p>
          <a:p>
            <a:pPr lvl="1"/>
            <a:r>
              <a:rPr lang="en-US" altLang="zh-TW" dirty="0" smtClean="0"/>
              <a:t>Request methods of web service</a:t>
            </a:r>
          </a:p>
          <a:p>
            <a:pPr lvl="1"/>
            <a:endParaRPr lang="en-US" altLang="zh-TW" dirty="0" smtClean="0"/>
          </a:p>
          <a:p>
            <a:r>
              <a:rPr lang="en-US" altLang="zh-TW" dirty="0" err="1" smtClean="0"/>
              <a:t>AppFabric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Hand-on Lab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Lab – Lottery G</a:t>
            </a:r>
          </a:p>
          <a:p>
            <a:pPr lvl="1"/>
            <a:r>
              <a:rPr lang="en-US" altLang="zh-TW" dirty="0" smtClean="0"/>
              <a:t>A simple web service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HTTP 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HTTP</a:t>
            </a:r>
            <a:endParaRPr lang="zh-TW" altLang="en-US" dirty="0"/>
          </a:p>
        </p:txBody>
      </p:sp>
      <p:pic>
        <p:nvPicPr>
          <p:cNvPr id="3074" name="Picture 2" descr="D:\Slide\Graph\computer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72200" y="2852936"/>
            <a:ext cx="1698109" cy="1807344"/>
          </a:xfrm>
          <a:prstGeom prst="rect">
            <a:avLst/>
          </a:prstGeom>
          <a:noFill/>
        </p:spPr>
      </p:pic>
      <p:pic>
        <p:nvPicPr>
          <p:cNvPr id="3077" name="Picture 5" descr="D:\Slide\Graph\firefox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71600" y="3068960"/>
            <a:ext cx="1533212" cy="1492052"/>
          </a:xfrm>
          <a:prstGeom prst="rect">
            <a:avLst/>
          </a:prstGeom>
          <a:noFill/>
        </p:spPr>
      </p:pic>
      <p:grpSp>
        <p:nvGrpSpPr>
          <p:cNvPr id="2" name="群組 13"/>
          <p:cNvGrpSpPr/>
          <p:nvPr/>
        </p:nvGrpSpPr>
        <p:grpSpPr>
          <a:xfrm>
            <a:off x="3059832" y="2895327"/>
            <a:ext cx="2232248" cy="535261"/>
            <a:chOff x="3059832" y="2895327"/>
            <a:chExt cx="2232248" cy="535261"/>
          </a:xfrm>
        </p:grpSpPr>
        <p:cxnSp>
          <p:nvCxnSpPr>
            <p:cNvPr id="12" name="直線單箭頭接點 11"/>
            <p:cNvCxnSpPr/>
            <p:nvPr/>
          </p:nvCxnSpPr>
          <p:spPr>
            <a:xfrm>
              <a:off x="3059832" y="3429000"/>
              <a:ext cx="2232248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3" name="文字方塊 12"/>
            <p:cNvSpPr txBox="1"/>
            <p:nvPr/>
          </p:nvSpPr>
          <p:spPr>
            <a:xfrm>
              <a:off x="3491880" y="2895327"/>
              <a:ext cx="126585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dirty="0" smtClean="0"/>
                <a:t>Request </a:t>
              </a:r>
              <a:endParaRPr lang="zh-TW" altLang="en-US" sz="2400" dirty="0"/>
            </a:p>
          </p:txBody>
        </p:sp>
      </p:grpSp>
      <p:grpSp>
        <p:nvGrpSpPr>
          <p:cNvPr id="3" name="群組 18"/>
          <p:cNvGrpSpPr/>
          <p:nvPr/>
        </p:nvGrpSpPr>
        <p:grpSpPr>
          <a:xfrm>
            <a:off x="3059832" y="4005064"/>
            <a:ext cx="2304256" cy="461665"/>
            <a:chOff x="3059832" y="4005064"/>
            <a:chExt cx="2304256" cy="461665"/>
          </a:xfrm>
        </p:grpSpPr>
        <p:cxnSp>
          <p:nvCxnSpPr>
            <p:cNvPr id="16" name="直線單箭頭接點 15"/>
            <p:cNvCxnSpPr/>
            <p:nvPr/>
          </p:nvCxnSpPr>
          <p:spPr>
            <a:xfrm rot="10800000">
              <a:off x="3059832" y="4077072"/>
              <a:ext cx="230425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8" name="文字方塊 17"/>
            <p:cNvSpPr txBox="1"/>
            <p:nvPr/>
          </p:nvSpPr>
          <p:spPr>
            <a:xfrm>
              <a:off x="3491880" y="4005064"/>
              <a:ext cx="14488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dirty="0" smtClean="0"/>
                <a:t>Response </a:t>
              </a:r>
              <a:endParaRPr lang="zh-TW" altLang="en-US" sz="24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HTTP Method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Request methods</a:t>
            </a:r>
          </a:p>
          <a:p>
            <a:pPr lvl="1"/>
            <a:r>
              <a:rPr lang="en-US" altLang="zh-TW" dirty="0" smtClean="0"/>
              <a:t>HTTP defines twelve methods indicating the desired action to be performed on the identified resource.</a:t>
            </a:r>
          </a:p>
          <a:p>
            <a:r>
              <a:rPr lang="en-US" altLang="zh-TW" dirty="0" smtClean="0"/>
              <a:t>GET</a:t>
            </a:r>
          </a:p>
          <a:p>
            <a:pPr lvl="1"/>
            <a:r>
              <a:rPr lang="en-US" altLang="zh-TW" dirty="0" smtClean="0"/>
              <a:t>Requests a representation of the specified resource by some special URL address.</a:t>
            </a:r>
          </a:p>
          <a:p>
            <a:r>
              <a:rPr lang="en-US" altLang="zh-TW" dirty="0" smtClean="0"/>
              <a:t>POST</a:t>
            </a:r>
          </a:p>
          <a:p>
            <a:pPr lvl="1"/>
            <a:r>
              <a:rPr lang="en-US" altLang="zh-TW" dirty="0" smtClean="0"/>
              <a:t>Submits data to be processed to the identified resource.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HTTP Method</a:t>
            </a:r>
            <a:endParaRPr lang="zh-TW" altLang="en-US" dirty="0"/>
          </a:p>
        </p:txBody>
      </p:sp>
      <p:pic>
        <p:nvPicPr>
          <p:cNvPr id="3074" name="Picture 2" descr="D:\Slide\Graph\computer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72200" y="2852936"/>
            <a:ext cx="1698109" cy="1807344"/>
          </a:xfrm>
          <a:prstGeom prst="rect">
            <a:avLst/>
          </a:prstGeom>
          <a:noFill/>
        </p:spPr>
      </p:pic>
      <p:pic>
        <p:nvPicPr>
          <p:cNvPr id="3077" name="Picture 5" descr="D:\Slide\Graph\firefox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71600" y="3068960"/>
            <a:ext cx="1533212" cy="1492052"/>
          </a:xfrm>
          <a:prstGeom prst="rect">
            <a:avLst/>
          </a:prstGeom>
          <a:noFill/>
        </p:spPr>
      </p:pic>
      <p:grpSp>
        <p:nvGrpSpPr>
          <p:cNvPr id="2" name="群組 13"/>
          <p:cNvGrpSpPr/>
          <p:nvPr/>
        </p:nvGrpSpPr>
        <p:grpSpPr>
          <a:xfrm>
            <a:off x="3059832" y="2895327"/>
            <a:ext cx="2232248" cy="535261"/>
            <a:chOff x="3059832" y="2895327"/>
            <a:chExt cx="2232248" cy="535261"/>
          </a:xfrm>
        </p:grpSpPr>
        <p:cxnSp>
          <p:nvCxnSpPr>
            <p:cNvPr id="12" name="直線單箭頭接點 11"/>
            <p:cNvCxnSpPr/>
            <p:nvPr/>
          </p:nvCxnSpPr>
          <p:spPr>
            <a:xfrm>
              <a:off x="3059832" y="3429000"/>
              <a:ext cx="2232248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3" name="文字方塊 12"/>
            <p:cNvSpPr txBox="1"/>
            <p:nvPr/>
          </p:nvSpPr>
          <p:spPr>
            <a:xfrm>
              <a:off x="3491880" y="2895327"/>
              <a:ext cx="126585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dirty="0" smtClean="0"/>
                <a:t>Request </a:t>
              </a:r>
              <a:endParaRPr lang="zh-TW" altLang="en-US" sz="2400" dirty="0"/>
            </a:p>
          </p:txBody>
        </p:sp>
      </p:grpSp>
      <p:grpSp>
        <p:nvGrpSpPr>
          <p:cNvPr id="3" name="群組 18"/>
          <p:cNvGrpSpPr/>
          <p:nvPr/>
        </p:nvGrpSpPr>
        <p:grpSpPr>
          <a:xfrm>
            <a:off x="3059832" y="4005064"/>
            <a:ext cx="2304256" cy="461665"/>
            <a:chOff x="3059832" y="4005064"/>
            <a:chExt cx="2304256" cy="461665"/>
          </a:xfrm>
        </p:grpSpPr>
        <p:cxnSp>
          <p:nvCxnSpPr>
            <p:cNvPr id="16" name="直線單箭頭接點 15"/>
            <p:cNvCxnSpPr/>
            <p:nvPr/>
          </p:nvCxnSpPr>
          <p:spPr>
            <a:xfrm rot="10800000">
              <a:off x="3059832" y="4077072"/>
              <a:ext cx="230425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8" name="文字方塊 17"/>
            <p:cNvSpPr txBox="1"/>
            <p:nvPr/>
          </p:nvSpPr>
          <p:spPr>
            <a:xfrm>
              <a:off x="3491880" y="4005064"/>
              <a:ext cx="14488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dirty="0" smtClean="0"/>
                <a:t>Response </a:t>
              </a:r>
              <a:endParaRPr lang="zh-TW" altLang="en-US" sz="2400" dirty="0"/>
            </a:p>
          </p:txBody>
        </p:sp>
      </p:grpSp>
      <p:sp>
        <p:nvSpPr>
          <p:cNvPr id="14" name="文字方塊 13"/>
          <p:cNvSpPr txBox="1"/>
          <p:nvPr/>
        </p:nvSpPr>
        <p:spPr>
          <a:xfrm>
            <a:off x="251520" y="2204864"/>
            <a:ext cx="86018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http://www.google.com.tw/</a:t>
            </a:r>
          </a:p>
          <a:p>
            <a:r>
              <a:rPr lang="en-US" altLang="zh-TW" dirty="0" err="1" smtClean="0">
                <a:solidFill>
                  <a:srgbClr val="FF0000"/>
                </a:solidFill>
              </a:rPr>
              <a:t>search?hl</a:t>
            </a:r>
            <a:r>
              <a:rPr lang="en-US" altLang="zh-TW" dirty="0" smtClean="0">
                <a:solidFill>
                  <a:srgbClr val="FF0000"/>
                </a:solidFill>
              </a:rPr>
              <a:t>=&amp;q=</a:t>
            </a:r>
            <a:r>
              <a:rPr lang="en-US" altLang="zh-TW" dirty="0" err="1" smtClean="0">
                <a:solidFill>
                  <a:srgbClr val="FF0000"/>
                </a:solidFill>
              </a:rPr>
              <a:t>SSlab&amp;sourceid</a:t>
            </a:r>
            <a:r>
              <a:rPr lang="en-US" altLang="zh-TW" dirty="0" smtClean="0">
                <a:solidFill>
                  <a:srgbClr val="FF0000"/>
                </a:solidFill>
              </a:rPr>
              <a:t>=</a:t>
            </a:r>
            <a:r>
              <a:rPr lang="en-US" altLang="zh-TW" dirty="0" err="1" smtClean="0">
                <a:solidFill>
                  <a:srgbClr val="FF0000"/>
                </a:solidFill>
              </a:rPr>
              <a:t>navclient-ff&amp;rlz</a:t>
            </a:r>
            <a:r>
              <a:rPr lang="en-US" altLang="zh-TW" dirty="0" smtClean="0">
                <a:solidFill>
                  <a:srgbClr val="FF0000"/>
                </a:solidFill>
              </a:rPr>
              <a:t>=1B3GGLL_zh-TWTW387TW387&amp;ie=UTF-8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755576" y="5631631"/>
            <a:ext cx="17347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u="sng" dirty="0" smtClean="0"/>
              <a:t>GET method</a:t>
            </a:r>
            <a:endParaRPr lang="zh-TW" altLang="en-US" sz="2400" u="sng" dirty="0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48064" y="4429732"/>
            <a:ext cx="3454921" cy="1015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" name="文字方塊 16"/>
          <p:cNvSpPr txBox="1"/>
          <p:nvPr/>
        </p:nvSpPr>
        <p:spPr>
          <a:xfrm>
            <a:off x="251520" y="2195572"/>
            <a:ext cx="2834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http://www.google.com.tw/</a:t>
            </a:r>
            <a:endParaRPr lang="zh-TW" altLang="en-US" dirty="0"/>
          </a:p>
        </p:txBody>
      </p: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187624" y="2564904"/>
            <a:ext cx="953769" cy="742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0" name="文字方塊 19"/>
          <p:cNvSpPr txBox="1"/>
          <p:nvPr/>
        </p:nvSpPr>
        <p:spPr>
          <a:xfrm>
            <a:off x="755576" y="5631631"/>
            <a:ext cx="18912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u="sng" dirty="0" smtClean="0"/>
              <a:t>POST method</a:t>
            </a:r>
            <a:endParaRPr lang="zh-TW" altLang="en-US" sz="2400" u="sng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2.96296E-6 L -0.54323 2.96296E-6 " pathEditMode="relative" ptsTypes="AA">
                                      <p:cBhvr>
                                        <p:cTn id="15" dur="20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2.96296E-6 L 0.5434 -2.96296E-6 " pathEditMode="relative" ptsTypes="AA">
                                      <p:cBhvr>
                                        <p:cTn id="33" dur="20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  <p:bldP spid="15" grpId="0"/>
      <p:bldP spid="15" grpId="1"/>
      <p:bldP spid="17" grpId="0"/>
      <p:bldP spid="20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Get Method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467544" y="1628800"/>
            <a:ext cx="5640903" cy="206210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GET /</a:t>
            </a:r>
            <a:r>
              <a:rPr lang="en-US" altLang="zh-TW" sz="3200" dirty="0" err="1" smtClean="0"/>
              <a:t>webhp?hl</a:t>
            </a:r>
            <a:r>
              <a:rPr lang="en-US" altLang="zh-TW" sz="3200" dirty="0" smtClean="0"/>
              <a:t>=</a:t>
            </a:r>
            <a:r>
              <a:rPr lang="en-US" altLang="zh-TW" sz="3200" dirty="0" err="1" smtClean="0"/>
              <a:t>zh</a:t>
            </a:r>
            <a:r>
              <a:rPr lang="en-US" altLang="zh-TW" sz="3200" dirty="0" smtClean="0"/>
              <a:t>-TW HTTP/1.1</a:t>
            </a:r>
            <a:endParaRPr lang="zh-TW" altLang="en-US" sz="3200" dirty="0" smtClean="0"/>
          </a:p>
          <a:p>
            <a:r>
              <a:rPr lang="en-US" altLang="zh-TW" sz="3200" dirty="0" smtClean="0"/>
              <a:t>Host: www.google.com.tw</a:t>
            </a:r>
          </a:p>
          <a:p>
            <a:endParaRPr lang="en-US" altLang="zh-TW" sz="3200" dirty="0" smtClean="0"/>
          </a:p>
          <a:p>
            <a:endParaRPr lang="zh-TW" altLang="en-US" sz="3200" dirty="0"/>
          </a:p>
        </p:txBody>
      </p:sp>
      <p:cxnSp>
        <p:nvCxnSpPr>
          <p:cNvPr id="6" name="直線接點 5"/>
          <p:cNvCxnSpPr/>
          <p:nvPr/>
        </p:nvCxnSpPr>
        <p:spPr>
          <a:xfrm>
            <a:off x="587281" y="2060848"/>
            <a:ext cx="5352871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587281" y="2564904"/>
            <a:ext cx="434475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>
            <a:off x="467544" y="4335487"/>
            <a:ext cx="74597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Use GET method to request a web page: </a:t>
            </a:r>
            <a:r>
              <a:rPr lang="en-US" altLang="zh-TW" sz="2400" dirty="0" err="1" smtClean="0"/>
              <a:t>webhp?hl</a:t>
            </a:r>
            <a:r>
              <a:rPr lang="en-US" altLang="zh-TW" sz="2400" dirty="0" smtClean="0"/>
              <a:t>=</a:t>
            </a:r>
            <a:r>
              <a:rPr lang="en-US" altLang="zh-TW" sz="2400" dirty="0" err="1" smtClean="0"/>
              <a:t>zh</a:t>
            </a:r>
            <a:r>
              <a:rPr lang="en-US" altLang="zh-TW" sz="2400" dirty="0" smtClean="0"/>
              <a:t>-TW</a:t>
            </a:r>
            <a:endParaRPr lang="zh-TW" altLang="en-US" sz="24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458210" y="4335487"/>
            <a:ext cx="18095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Target server</a:t>
            </a:r>
            <a:endParaRPr lang="zh-TW" altLang="en-US" sz="2400" dirty="0"/>
          </a:p>
        </p:txBody>
      </p:sp>
      <p:cxnSp>
        <p:nvCxnSpPr>
          <p:cNvPr id="15" name="直線接點 14"/>
          <p:cNvCxnSpPr/>
          <p:nvPr/>
        </p:nvCxnSpPr>
        <p:spPr>
          <a:xfrm>
            <a:off x="611560" y="3501008"/>
            <a:ext cx="64807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" name="文字方塊 17"/>
          <p:cNvSpPr txBox="1"/>
          <p:nvPr/>
        </p:nvSpPr>
        <p:spPr>
          <a:xfrm>
            <a:off x="537324" y="4293096"/>
            <a:ext cx="52588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A blank line</a:t>
            </a:r>
          </a:p>
          <a:p>
            <a:r>
              <a:rPr lang="en-US" altLang="zh-TW" sz="2400" dirty="0" smtClean="0"/>
              <a:t>The request ends with a double newline.</a:t>
            </a:r>
            <a:endParaRPr lang="zh-TW" altLang="en-US" sz="2400" dirty="0"/>
          </a:p>
        </p:txBody>
      </p:sp>
      <p:cxnSp>
        <p:nvCxnSpPr>
          <p:cNvPr id="19" name="直線接點 18"/>
          <p:cNvCxnSpPr/>
          <p:nvPr/>
        </p:nvCxnSpPr>
        <p:spPr>
          <a:xfrm>
            <a:off x="611560" y="3068960"/>
            <a:ext cx="64807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12" grpId="0"/>
      <p:bldP spid="12" grpId="1"/>
      <p:bldP spid="18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Post</a:t>
            </a:r>
            <a:r>
              <a:rPr lang="zh-TW" altLang="en-US" dirty="0" smtClean="0"/>
              <a:t> </a:t>
            </a:r>
            <a:r>
              <a:rPr lang="en-US" altLang="zh-TW" dirty="0" smtClean="0"/>
              <a:t>Method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467544" y="1340768"/>
            <a:ext cx="5748305" cy="304698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POST /login.jsp </a:t>
            </a:r>
          </a:p>
          <a:p>
            <a:r>
              <a:rPr lang="en-US" altLang="zh-TW" sz="3200" dirty="0" smtClean="0"/>
              <a:t>HTTP/1.1 Host: www.mysite.com </a:t>
            </a:r>
          </a:p>
          <a:p>
            <a:endParaRPr lang="en-US" altLang="zh-TW" sz="3200" dirty="0" smtClean="0"/>
          </a:p>
          <a:p>
            <a:r>
              <a:rPr lang="en-US" altLang="zh-TW" sz="3200" dirty="0" err="1" smtClean="0"/>
              <a:t>userid</a:t>
            </a:r>
            <a:r>
              <a:rPr lang="en-US" altLang="zh-TW" sz="3200" dirty="0" smtClean="0"/>
              <a:t>=</a:t>
            </a:r>
            <a:r>
              <a:rPr lang="en-US" altLang="zh-TW" sz="3200" dirty="0" err="1" smtClean="0"/>
              <a:t>joe&amp;password</a:t>
            </a:r>
            <a:r>
              <a:rPr lang="en-US" altLang="zh-TW" sz="3200" dirty="0" smtClean="0"/>
              <a:t>=</a:t>
            </a:r>
            <a:r>
              <a:rPr lang="en-US" altLang="zh-TW" sz="3200" dirty="0" err="1" smtClean="0"/>
              <a:t>guessme</a:t>
            </a:r>
            <a:endParaRPr lang="en-US" altLang="zh-TW" sz="3200" dirty="0" smtClean="0"/>
          </a:p>
          <a:p>
            <a:endParaRPr lang="en-US" altLang="zh-TW" sz="3200" dirty="0" smtClean="0"/>
          </a:p>
          <a:p>
            <a:endParaRPr lang="zh-TW" altLang="en-US" sz="3200" dirty="0"/>
          </a:p>
        </p:txBody>
      </p:sp>
      <p:cxnSp>
        <p:nvCxnSpPr>
          <p:cNvPr id="7" name="直線接點 6"/>
          <p:cNvCxnSpPr/>
          <p:nvPr/>
        </p:nvCxnSpPr>
        <p:spPr>
          <a:xfrm>
            <a:off x="539552" y="1844824"/>
            <a:ext cx="244827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539552" y="2276872"/>
            <a:ext cx="54006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611560" y="3284984"/>
            <a:ext cx="54006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文字方塊 13"/>
          <p:cNvSpPr txBox="1"/>
          <p:nvPr/>
        </p:nvSpPr>
        <p:spPr>
          <a:xfrm>
            <a:off x="467544" y="4725144"/>
            <a:ext cx="53396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Use POST method to the target web page</a:t>
            </a:r>
            <a:endParaRPr lang="zh-TW" altLang="en-US" sz="2400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458210" y="4725144"/>
            <a:ext cx="18095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Target server</a:t>
            </a:r>
            <a:endParaRPr lang="zh-TW" altLang="en-US" sz="2400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467544" y="4725144"/>
            <a:ext cx="52588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A blank line</a:t>
            </a:r>
          </a:p>
          <a:p>
            <a:r>
              <a:rPr lang="en-US" altLang="zh-TW" sz="2400" dirty="0" smtClean="0"/>
              <a:t>The request ends with a double newline.</a:t>
            </a:r>
            <a:endParaRPr lang="zh-TW" altLang="en-US" sz="2400" dirty="0"/>
          </a:p>
        </p:txBody>
      </p:sp>
      <p:cxnSp>
        <p:nvCxnSpPr>
          <p:cNvPr id="17" name="直線接點 16"/>
          <p:cNvCxnSpPr/>
          <p:nvPr/>
        </p:nvCxnSpPr>
        <p:spPr>
          <a:xfrm>
            <a:off x="611560" y="4293096"/>
            <a:ext cx="64807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>
            <a:off x="611560" y="3861048"/>
            <a:ext cx="64807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文字方塊 19"/>
          <p:cNvSpPr txBox="1"/>
          <p:nvPr/>
        </p:nvSpPr>
        <p:spPr>
          <a:xfrm>
            <a:off x="467544" y="4695527"/>
            <a:ext cx="37710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Submit a processed message</a:t>
            </a:r>
            <a:endParaRPr lang="zh-TW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  <p:bldP spid="15" grpId="0"/>
      <p:bldP spid="15" grpId="1"/>
      <p:bldP spid="16" grpId="0"/>
      <p:bldP spid="20" grpId="0"/>
      <p:bldP spid="20" grpId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AppFabric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Overview</a:t>
            </a:r>
            <a:endParaRPr lang="zh-TW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2204864"/>
            <a:ext cx="5014619" cy="32739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19089" y="3140968"/>
            <a:ext cx="5124911" cy="33459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Overview</a:t>
            </a:r>
            <a:endParaRPr lang="zh-TW" altLang="en-US" dirty="0"/>
          </a:p>
        </p:txBody>
      </p:sp>
      <p:sp>
        <p:nvSpPr>
          <p:cNvPr id="4" name="圓角矩形 3"/>
          <p:cNvSpPr/>
          <p:nvPr/>
        </p:nvSpPr>
        <p:spPr>
          <a:xfrm>
            <a:off x="1619672" y="1988840"/>
            <a:ext cx="2304256" cy="144016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Server </a:t>
            </a:r>
            <a:endParaRPr lang="zh-TW" altLang="en-US" dirty="0"/>
          </a:p>
        </p:txBody>
      </p:sp>
      <p:sp>
        <p:nvSpPr>
          <p:cNvPr id="5" name="圓角矩形 4"/>
          <p:cNvSpPr/>
          <p:nvPr/>
        </p:nvSpPr>
        <p:spPr>
          <a:xfrm>
            <a:off x="5796136" y="1916832"/>
            <a:ext cx="2304256" cy="1440160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Client </a:t>
            </a:r>
            <a:endParaRPr lang="zh-TW" altLang="en-US" dirty="0"/>
          </a:p>
        </p:txBody>
      </p:sp>
      <p:grpSp>
        <p:nvGrpSpPr>
          <p:cNvPr id="3" name="群組 15"/>
          <p:cNvGrpSpPr/>
          <p:nvPr/>
        </p:nvGrpSpPr>
        <p:grpSpPr>
          <a:xfrm>
            <a:off x="4067944" y="1988840"/>
            <a:ext cx="1944216" cy="433636"/>
            <a:chOff x="3923928" y="3068960"/>
            <a:chExt cx="1944216" cy="433636"/>
          </a:xfrm>
        </p:grpSpPr>
        <p:cxnSp>
          <p:nvCxnSpPr>
            <p:cNvPr id="13" name="直線單箭頭接點 12"/>
            <p:cNvCxnSpPr/>
            <p:nvPr/>
          </p:nvCxnSpPr>
          <p:spPr>
            <a:xfrm rot="10800000">
              <a:off x="3923928" y="3501008"/>
              <a:ext cx="1944216" cy="1588"/>
            </a:xfrm>
            <a:prstGeom prst="straightConnector1">
              <a:avLst/>
            </a:prstGeom>
            <a:ln>
              <a:prstDash val="dash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8" name="文字方塊 7"/>
            <p:cNvSpPr txBox="1"/>
            <p:nvPr/>
          </p:nvSpPr>
          <p:spPr>
            <a:xfrm>
              <a:off x="4139952" y="3068960"/>
              <a:ext cx="9971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Request </a:t>
              </a:r>
              <a:endParaRPr lang="zh-TW" altLang="en-US" dirty="0"/>
            </a:p>
          </p:txBody>
        </p:sp>
      </p:grpSp>
      <p:sp>
        <p:nvSpPr>
          <p:cNvPr id="10" name="弧形 9"/>
          <p:cNvSpPr/>
          <p:nvPr/>
        </p:nvSpPr>
        <p:spPr>
          <a:xfrm>
            <a:off x="899592" y="2492896"/>
            <a:ext cx="972616" cy="432048"/>
          </a:xfrm>
          <a:prstGeom prst="arc">
            <a:avLst>
              <a:gd name="adj1" fmla="val 1377239"/>
              <a:gd name="adj2" fmla="val 17398561"/>
            </a:avLst>
          </a:prstGeom>
          <a:ln>
            <a:headEnd type="arrow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6" name="群組 14"/>
          <p:cNvGrpSpPr/>
          <p:nvPr/>
        </p:nvGrpSpPr>
        <p:grpSpPr>
          <a:xfrm>
            <a:off x="3707904" y="2852936"/>
            <a:ext cx="1944216" cy="513348"/>
            <a:chOff x="3203848" y="4005064"/>
            <a:chExt cx="1944216" cy="513348"/>
          </a:xfrm>
        </p:grpSpPr>
        <p:cxnSp>
          <p:nvCxnSpPr>
            <p:cNvPr id="9" name="直線單箭頭接點 8"/>
            <p:cNvCxnSpPr/>
            <p:nvPr/>
          </p:nvCxnSpPr>
          <p:spPr>
            <a:xfrm>
              <a:off x="3203848" y="4005064"/>
              <a:ext cx="1944216" cy="1588"/>
            </a:xfrm>
            <a:prstGeom prst="straightConnector1">
              <a:avLst/>
            </a:prstGeom>
            <a:ln>
              <a:prstDash val="dash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文字方塊 13"/>
            <p:cNvSpPr txBox="1"/>
            <p:nvPr/>
          </p:nvSpPr>
          <p:spPr>
            <a:xfrm>
              <a:off x="3635896" y="4149080"/>
              <a:ext cx="11344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Response </a:t>
              </a:r>
              <a:endParaRPr lang="zh-TW" altLang="en-US" dirty="0"/>
            </a:p>
          </p:txBody>
        </p:sp>
      </p:grpSp>
      <p:sp>
        <p:nvSpPr>
          <p:cNvPr id="17" name="文字方塊 16"/>
          <p:cNvSpPr txBox="1"/>
          <p:nvPr/>
        </p:nvSpPr>
        <p:spPr>
          <a:xfrm>
            <a:off x="755576" y="3573016"/>
            <a:ext cx="19992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TW" dirty="0" smtClean="0"/>
              <a:t>Called function </a:t>
            </a:r>
          </a:p>
          <a:p>
            <a:pPr marL="342900" indent="-342900">
              <a:buAutoNum type="arabicPeriod"/>
            </a:pPr>
            <a:r>
              <a:rPr lang="en-US" altLang="zh-TW" dirty="0" smtClean="0"/>
              <a:t>Parameter </a:t>
            </a:r>
            <a:endParaRPr lang="zh-TW" altLang="en-US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251520" y="4509120"/>
            <a:ext cx="4315092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2060"/>
                </a:solidFill>
              </a:rPr>
              <a:t>public string </a:t>
            </a:r>
            <a:r>
              <a:rPr lang="en-US" altLang="zh-TW" dirty="0" smtClean="0"/>
              <a:t>Get3DaysForecast (</a:t>
            </a:r>
            <a:r>
              <a:rPr lang="en-US" altLang="zh-TW" dirty="0" err="1" smtClean="0"/>
              <a:t>int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zipCode</a:t>
            </a:r>
            <a:r>
              <a:rPr lang="en-US" altLang="zh-TW" dirty="0" smtClean="0"/>
              <a:t>)</a:t>
            </a:r>
          </a:p>
          <a:p>
            <a:r>
              <a:rPr lang="en-US" altLang="zh-TW" dirty="0" smtClean="0"/>
              <a:t>{ … }</a:t>
            </a:r>
            <a:endParaRPr lang="zh-TW" altLang="en-US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11626" y="3861048"/>
            <a:ext cx="4352862" cy="2841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7" grpId="0"/>
      <p:bldP spid="18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3"/>
          <p:cNvPicPr>
            <a:picLocks noChangeAspect="1" noChangeArrowheads="1"/>
          </p:cNvPicPr>
          <p:nvPr/>
        </p:nvPicPr>
        <p:blipFill>
          <a:blip r:embed="rId2" cstate="print"/>
          <a:srcRect r="919" b="53812"/>
          <a:stretch>
            <a:fillRect/>
          </a:stretch>
        </p:blipFill>
        <p:spPr bwMode="auto">
          <a:xfrm>
            <a:off x="395535" y="980728"/>
            <a:ext cx="5441747" cy="1656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標題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Called Function 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 l="787" t="8723" r="72045" b="57839"/>
          <a:stretch>
            <a:fillRect/>
          </a:stretch>
        </p:blipFill>
        <p:spPr bwMode="auto">
          <a:xfrm>
            <a:off x="3707904" y="3212976"/>
            <a:ext cx="4968552" cy="3312368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11" name="文字方塊 10"/>
          <p:cNvSpPr txBox="1"/>
          <p:nvPr/>
        </p:nvSpPr>
        <p:spPr>
          <a:xfrm>
            <a:off x="3707904" y="2780928"/>
            <a:ext cx="2882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Service - </a:t>
            </a:r>
            <a:r>
              <a:rPr lang="en-US" altLang="zh-TW" dirty="0" err="1" smtClean="0"/>
              <a:t>WeatherForecast.cs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4355976" y="4581128"/>
            <a:ext cx="3528392" cy="1152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接點 7"/>
          <p:cNvCxnSpPr/>
          <p:nvPr/>
        </p:nvCxnSpPr>
        <p:spPr>
          <a:xfrm>
            <a:off x="4716016" y="5085184"/>
            <a:ext cx="3024336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4716016" y="5445224"/>
            <a:ext cx="3096344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>
            <a:off x="467544" y="3284984"/>
            <a:ext cx="2806153" cy="163121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Function  </a:t>
            </a:r>
            <a:r>
              <a:rPr lang="en-US" altLang="zh-TW" sz="2000" dirty="0" err="1" smtClean="0"/>
              <a:t>foo</a:t>
            </a:r>
            <a:r>
              <a:rPr lang="en-US" altLang="zh-TW" sz="2000" dirty="0" smtClean="0"/>
              <a:t>( </a:t>
            </a:r>
            <a:r>
              <a:rPr lang="en-US" altLang="zh-TW" sz="2000" dirty="0" err="1" smtClean="0"/>
              <a:t>param</a:t>
            </a:r>
            <a:r>
              <a:rPr lang="en-US" altLang="zh-TW" sz="2000" dirty="0" smtClean="0"/>
              <a:t> )</a:t>
            </a:r>
          </a:p>
          <a:p>
            <a:r>
              <a:rPr lang="en-US" altLang="zh-TW" sz="2000" dirty="0" smtClean="0"/>
              <a:t>{</a:t>
            </a:r>
          </a:p>
          <a:p>
            <a:r>
              <a:rPr lang="en-US" altLang="zh-TW" sz="2000" dirty="0" smtClean="0"/>
              <a:t>        /* What you want */</a:t>
            </a:r>
          </a:p>
          <a:p>
            <a:r>
              <a:rPr lang="en-US" altLang="zh-TW" sz="2000" dirty="0" smtClean="0"/>
              <a:t>        …</a:t>
            </a:r>
          </a:p>
          <a:p>
            <a:r>
              <a:rPr lang="en-US" altLang="zh-TW" sz="2000" dirty="0" smtClean="0"/>
              <a:t>}</a:t>
            </a:r>
            <a:endParaRPr lang="zh-TW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Web Interface </a:t>
            </a:r>
            <a:endParaRPr lang="zh-TW" alt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 l="787" t="8723" r="65744" b="50570"/>
          <a:stretch>
            <a:fillRect/>
          </a:stretch>
        </p:blipFill>
        <p:spPr bwMode="auto">
          <a:xfrm>
            <a:off x="3419872" y="3016436"/>
            <a:ext cx="5544616" cy="3652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文字方塊 6"/>
          <p:cNvSpPr txBox="1"/>
          <p:nvPr/>
        </p:nvSpPr>
        <p:spPr>
          <a:xfrm>
            <a:off x="3419872" y="2636912"/>
            <a:ext cx="2940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Service - </a:t>
            </a:r>
            <a:r>
              <a:rPr lang="en-US" altLang="zh-TW" dirty="0" err="1" smtClean="0"/>
              <a:t>IWeatherForecast.cs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4283968" y="4797152"/>
            <a:ext cx="3456384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4283968" y="5373216"/>
            <a:ext cx="3456384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 cstate="print"/>
          <a:srcRect r="919" b="53812"/>
          <a:stretch>
            <a:fillRect/>
          </a:stretch>
        </p:blipFill>
        <p:spPr bwMode="auto">
          <a:xfrm>
            <a:off x="395535" y="980728"/>
            <a:ext cx="5441747" cy="1656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文字方塊 9"/>
          <p:cNvSpPr txBox="1"/>
          <p:nvPr/>
        </p:nvSpPr>
        <p:spPr>
          <a:xfrm>
            <a:off x="107504" y="3212976"/>
            <a:ext cx="3217419" cy="101566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[</a:t>
            </a:r>
            <a:r>
              <a:rPr lang="en-US" altLang="zh-TW" sz="2000" dirty="0" err="1" smtClean="0"/>
              <a:t>OperationContract</a:t>
            </a:r>
            <a:r>
              <a:rPr lang="en-US" altLang="zh-TW" sz="2000" dirty="0" smtClean="0"/>
              <a:t>]</a:t>
            </a:r>
          </a:p>
          <a:p>
            <a:r>
              <a:rPr lang="en-US" altLang="zh-TW" sz="2000" dirty="0" smtClean="0"/>
              <a:t>[</a:t>
            </a:r>
            <a:r>
              <a:rPr lang="en-US" altLang="zh-TW" sz="2000" dirty="0" err="1" smtClean="0"/>
              <a:t>WebGet</a:t>
            </a:r>
            <a:r>
              <a:rPr lang="en-US" altLang="zh-TW" sz="2000" dirty="0" smtClean="0"/>
              <a:t>(</a:t>
            </a:r>
            <a:r>
              <a:rPr lang="en-US" altLang="zh-TW" sz="2000" dirty="0" err="1" smtClean="0"/>
              <a:t>UrlTemplate</a:t>
            </a:r>
            <a:r>
              <a:rPr lang="en-US" altLang="zh-TW" sz="2000" dirty="0" smtClean="0"/>
              <a:t> = </a:t>
            </a:r>
            <a:r>
              <a:rPr lang="en-US" altLang="zh-TW" sz="2000" dirty="0" err="1" smtClean="0"/>
              <a:t>url</a:t>
            </a:r>
            <a:r>
              <a:rPr lang="en-US" altLang="zh-TW" sz="2000" dirty="0" smtClean="0"/>
              <a:t> )]</a:t>
            </a:r>
          </a:p>
          <a:p>
            <a:r>
              <a:rPr lang="en-US" altLang="zh-TW" sz="2000" dirty="0" smtClean="0"/>
              <a:t>Function </a:t>
            </a:r>
            <a:r>
              <a:rPr lang="en-US" altLang="zh-TW" sz="2000" dirty="0" err="1" smtClean="0"/>
              <a:t>foo</a:t>
            </a:r>
            <a:r>
              <a:rPr lang="en-US" altLang="zh-TW" sz="2000" dirty="0" smtClean="0"/>
              <a:t>( </a:t>
            </a:r>
            <a:r>
              <a:rPr lang="en-US" altLang="zh-TW" sz="2000" dirty="0" err="1" smtClean="0"/>
              <a:t>param</a:t>
            </a:r>
            <a:r>
              <a:rPr lang="en-US" altLang="zh-TW" sz="2000" smtClean="0"/>
              <a:t> );</a:t>
            </a:r>
            <a:endParaRPr lang="zh-TW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907704" y="1988840"/>
            <a:ext cx="1224136" cy="936104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Client 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6300192" y="1988840"/>
            <a:ext cx="1224136" cy="936104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Service </a:t>
            </a:r>
            <a:endParaRPr lang="zh-TW" altLang="en-US" dirty="0"/>
          </a:p>
        </p:txBody>
      </p:sp>
      <p:sp>
        <p:nvSpPr>
          <p:cNvPr id="11" name="橢圓 10"/>
          <p:cNvSpPr/>
          <p:nvPr/>
        </p:nvSpPr>
        <p:spPr>
          <a:xfrm>
            <a:off x="5004048" y="2060848"/>
            <a:ext cx="1512168" cy="792088"/>
          </a:xfrm>
          <a:prstGeom prst="ellipse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Web </a:t>
            </a:r>
            <a:endParaRPr lang="zh-TW" altLang="en-US" dirty="0"/>
          </a:p>
        </p:txBody>
      </p:sp>
      <p:cxnSp>
        <p:nvCxnSpPr>
          <p:cNvPr id="13" name="直線單箭頭接點 12"/>
          <p:cNvCxnSpPr/>
          <p:nvPr/>
        </p:nvCxnSpPr>
        <p:spPr>
          <a:xfrm>
            <a:off x="2987824" y="2492896"/>
            <a:ext cx="2160240" cy="1588"/>
          </a:xfrm>
          <a:prstGeom prst="straightConnector1">
            <a:avLst/>
          </a:prstGeom>
          <a:ln>
            <a:prstDash val="dash"/>
            <a:headEnd type="arrow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圓角矩形 14"/>
          <p:cNvSpPr/>
          <p:nvPr/>
        </p:nvSpPr>
        <p:spPr>
          <a:xfrm>
            <a:off x="1835696" y="4005064"/>
            <a:ext cx="1440160" cy="79208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Function </a:t>
            </a:r>
            <a:endParaRPr lang="zh-TW" altLang="en-US" dirty="0"/>
          </a:p>
        </p:txBody>
      </p:sp>
      <p:sp>
        <p:nvSpPr>
          <p:cNvPr id="16" name="圓角矩形 15"/>
          <p:cNvSpPr/>
          <p:nvPr/>
        </p:nvSpPr>
        <p:spPr>
          <a:xfrm>
            <a:off x="6084168" y="4005064"/>
            <a:ext cx="1440160" cy="792088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mtClean="0"/>
              <a:t>Function </a:t>
            </a:r>
            <a:endParaRPr lang="zh-TW" altLang="en-US"/>
          </a:p>
        </p:txBody>
      </p:sp>
      <p:cxnSp>
        <p:nvCxnSpPr>
          <p:cNvPr id="18" name="直線單箭頭接點 17"/>
          <p:cNvCxnSpPr/>
          <p:nvPr/>
        </p:nvCxnSpPr>
        <p:spPr>
          <a:xfrm rot="5400000">
            <a:off x="2123728" y="3429000"/>
            <a:ext cx="720080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>
          <a:xfrm rot="5400000">
            <a:off x="6517010" y="3428206"/>
            <a:ext cx="720080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0" name="Picture 3"/>
          <p:cNvPicPr>
            <a:picLocks noChangeAspect="1" noChangeArrowheads="1"/>
          </p:cNvPicPr>
          <p:nvPr/>
        </p:nvPicPr>
        <p:blipFill>
          <a:blip r:embed="rId2" cstate="print"/>
          <a:srcRect l="4264" t="23752" r="72264" b="53780"/>
          <a:stretch>
            <a:fillRect/>
          </a:stretch>
        </p:blipFill>
        <p:spPr bwMode="auto">
          <a:xfrm>
            <a:off x="4427984" y="2996952"/>
            <a:ext cx="3888432" cy="2016224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3" cstate="print"/>
          <a:srcRect l="3149" t="21807" r="75589" b="63654"/>
          <a:stretch>
            <a:fillRect/>
          </a:stretch>
        </p:blipFill>
        <p:spPr bwMode="auto">
          <a:xfrm>
            <a:off x="323528" y="4869160"/>
            <a:ext cx="3888432" cy="144016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Step 0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Run Azure Lab 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 smtClean="0"/>
              <a:t>Azure Lab</a:t>
            </a:r>
          </a:p>
          <a:p>
            <a:pPr lvl="1">
              <a:buNone/>
            </a:pPr>
            <a:r>
              <a:rPr lang="en-US" altLang="zh-TW" sz="1800" dirty="0" smtClean="0"/>
              <a:t>\Lab\IntroAppFabricAccessControlVS2010</a:t>
            </a:r>
          </a:p>
          <a:p>
            <a:r>
              <a:rPr lang="en-US" altLang="zh-TW" dirty="0" smtClean="0"/>
              <a:t>Run SetupLab.cmd </a:t>
            </a:r>
          </a:p>
          <a:p>
            <a:r>
              <a:rPr lang="en-US" altLang="zh-TW" dirty="0" smtClean="0"/>
              <a:t>Run exercise 1-Task1 according to Hand-On Lab</a:t>
            </a:r>
          </a:p>
          <a:p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32040" y="2852936"/>
            <a:ext cx="4062357" cy="247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 l="15731" t="15992" r="50982" b="2594"/>
          <a:stretch>
            <a:fillRect/>
          </a:stretch>
        </p:blipFill>
        <p:spPr bwMode="auto">
          <a:xfrm>
            <a:off x="5076056" y="1700808"/>
            <a:ext cx="3131840" cy="4149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Exercise 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Exercise 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Lottery</a:t>
            </a:r>
          </a:p>
          <a:p>
            <a:pPr lvl="1"/>
            <a:r>
              <a:rPr lang="en-US" altLang="zh-TW" dirty="0" smtClean="0"/>
              <a:t>Service</a:t>
            </a:r>
          </a:p>
          <a:p>
            <a:pPr lvl="2"/>
            <a:r>
              <a:rPr lang="en-US" altLang="zh-TW" dirty="0" smtClean="0"/>
              <a:t>Return numbers, according to calling function or parameter.</a:t>
            </a:r>
          </a:p>
          <a:p>
            <a:pPr lvl="2"/>
            <a:r>
              <a:rPr lang="en-US" altLang="zh-TW" dirty="0" smtClean="0"/>
              <a:t>More than two kinds of lotteries</a:t>
            </a:r>
          </a:p>
          <a:p>
            <a:pPr lvl="3"/>
            <a:r>
              <a:rPr lang="en-US" altLang="zh-TW" dirty="0" smtClean="0"/>
              <a:t>539 or super-lottery</a:t>
            </a:r>
          </a:p>
          <a:p>
            <a:pPr lvl="1"/>
            <a:r>
              <a:rPr lang="en-US" altLang="zh-TW" dirty="0" smtClean="0"/>
              <a:t>Client</a:t>
            </a:r>
          </a:p>
          <a:p>
            <a:pPr lvl="2"/>
            <a:r>
              <a:rPr lang="en-US" altLang="zh-TW" dirty="0" smtClean="0"/>
              <a:t>Enter numbers</a:t>
            </a:r>
          </a:p>
          <a:p>
            <a:pPr lvl="2"/>
            <a:r>
              <a:rPr lang="en-US" altLang="zh-TW" dirty="0" smtClean="0"/>
              <a:t>Check the number and return winning the lottery prizes or not</a:t>
            </a:r>
          </a:p>
          <a:p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1907704" y="5085184"/>
            <a:ext cx="1224136" cy="936104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Client 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6300192" y="5085184"/>
            <a:ext cx="1224136" cy="936104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Service </a:t>
            </a:r>
            <a:endParaRPr lang="zh-TW" altLang="en-US" dirty="0"/>
          </a:p>
        </p:txBody>
      </p:sp>
      <p:cxnSp>
        <p:nvCxnSpPr>
          <p:cNvPr id="10" name="直線單箭頭接點 9"/>
          <p:cNvCxnSpPr/>
          <p:nvPr/>
        </p:nvCxnSpPr>
        <p:spPr>
          <a:xfrm>
            <a:off x="2915816" y="5373216"/>
            <a:ext cx="3240360" cy="1588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弧形 10"/>
          <p:cNvSpPr/>
          <p:nvPr/>
        </p:nvSpPr>
        <p:spPr>
          <a:xfrm>
            <a:off x="1331640" y="5373216"/>
            <a:ext cx="792088" cy="360040"/>
          </a:xfrm>
          <a:prstGeom prst="arc">
            <a:avLst>
              <a:gd name="adj1" fmla="val 913333"/>
              <a:gd name="adj2" fmla="val 18490115"/>
            </a:avLst>
          </a:prstGeom>
          <a:ln>
            <a:headEnd type="stealth"/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179512" y="5805264"/>
            <a:ext cx="18218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TW" dirty="0" smtClean="0"/>
              <a:t>Enter </a:t>
            </a:r>
            <a:r>
              <a:rPr lang="en-US" altLang="zh-TW" dirty="0" err="1" smtClean="0"/>
              <a:t>nums</a:t>
            </a:r>
            <a:endParaRPr lang="en-US" altLang="zh-TW" dirty="0" smtClean="0"/>
          </a:p>
          <a:p>
            <a:pPr marL="342900" indent="-342900">
              <a:buAutoNum type="arabicPeriod"/>
            </a:pPr>
            <a:r>
              <a:rPr lang="en-US" altLang="zh-TW" dirty="0" smtClean="0"/>
              <a:t>Enter date</a:t>
            </a:r>
          </a:p>
          <a:p>
            <a:pPr marL="342900" indent="-342900">
              <a:buAutoNum type="arabicPeriod"/>
            </a:pPr>
            <a:r>
              <a:rPr lang="en-US" altLang="zh-TW" dirty="0" smtClean="0"/>
              <a:t>Choice games</a:t>
            </a:r>
            <a:endParaRPr lang="zh-TW" altLang="en-US" dirty="0"/>
          </a:p>
        </p:txBody>
      </p:sp>
      <p:cxnSp>
        <p:nvCxnSpPr>
          <p:cNvPr id="14" name="直線單箭頭接點 13"/>
          <p:cNvCxnSpPr/>
          <p:nvPr/>
        </p:nvCxnSpPr>
        <p:spPr>
          <a:xfrm rot="10800000">
            <a:off x="3491880" y="5877272"/>
            <a:ext cx="2952328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文字方塊 14"/>
          <p:cNvSpPr txBox="1"/>
          <p:nvPr/>
        </p:nvSpPr>
        <p:spPr>
          <a:xfrm>
            <a:off x="3851920" y="4869160"/>
            <a:ext cx="1016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Connect </a:t>
            </a:r>
            <a:endParaRPr lang="zh-TW" altLang="en-US" dirty="0"/>
          </a:p>
        </p:txBody>
      </p:sp>
      <p:sp>
        <p:nvSpPr>
          <p:cNvPr id="17" name="弧形 16"/>
          <p:cNvSpPr/>
          <p:nvPr/>
        </p:nvSpPr>
        <p:spPr>
          <a:xfrm rot="10800000">
            <a:off x="7380312" y="5445224"/>
            <a:ext cx="792088" cy="360040"/>
          </a:xfrm>
          <a:prstGeom prst="arc">
            <a:avLst>
              <a:gd name="adj1" fmla="val 913333"/>
              <a:gd name="adj2" fmla="val 18490115"/>
            </a:avLst>
          </a:prstGeom>
          <a:ln>
            <a:headEnd type="stealth"/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7677060" y="5877272"/>
            <a:ext cx="1466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Computation </a:t>
            </a:r>
            <a:endParaRPr lang="zh-TW" altLang="en-US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3923928" y="6021288"/>
            <a:ext cx="7625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Result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5" grpId="0"/>
      <p:bldP spid="17" grpId="0" animBg="1"/>
      <p:bldP spid="18" grpId="0"/>
      <p:bldP spid="19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Hand-in Requirements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TW" dirty="0" smtClean="0"/>
              <a:t>Source code (only)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altLang="zh-TW" dirty="0" smtClean="0"/>
              <a:t>README</a:t>
            </a:r>
          </a:p>
          <a:p>
            <a:pPr marL="1314450" lvl="2" indent="-514350">
              <a:buFont typeface="+mj-lt"/>
              <a:buAutoNum type="arabicPeriod"/>
            </a:pPr>
            <a:r>
              <a:rPr lang="en-US" altLang="zh-TW" dirty="0" smtClean="0"/>
              <a:t>Test environment </a:t>
            </a:r>
          </a:p>
          <a:p>
            <a:pPr marL="1314450" lvl="2" indent="-514350">
              <a:buFont typeface="+mj-lt"/>
              <a:buAutoNum type="arabicPeriod"/>
            </a:pPr>
            <a:r>
              <a:rPr lang="en-US" altLang="zh-TW" dirty="0" smtClean="0"/>
              <a:t>Step by step guide</a:t>
            </a:r>
          </a:p>
          <a:p>
            <a:pPr marL="1314450" lvl="2" indent="-514350">
              <a:buNone/>
            </a:pPr>
            <a:r>
              <a:rPr lang="en-US" altLang="zh-TW" dirty="0" smtClean="0"/>
              <a:t>#	cannot compile will get 0 point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 smtClean="0"/>
              <a:t>Report 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altLang="zh-TW" dirty="0" smtClean="0"/>
              <a:t>Methodology</a:t>
            </a:r>
          </a:p>
          <a:p>
            <a:pPr marL="1314450" lvl="2" indent="-514350">
              <a:buFont typeface="+mj-lt"/>
              <a:buAutoNum type="arabicPeriod"/>
            </a:pPr>
            <a:r>
              <a:rPr lang="en-US" altLang="zh-TW" dirty="0" smtClean="0"/>
              <a:t>How to</a:t>
            </a:r>
          </a:p>
          <a:p>
            <a:pPr marL="1314450" lvl="2" indent="-514350">
              <a:buFont typeface="+mj-lt"/>
              <a:buAutoNum type="arabicPeriod"/>
            </a:pPr>
            <a:r>
              <a:rPr lang="en-US" altLang="zh-TW" dirty="0" smtClean="0"/>
              <a:t>Screenshot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altLang="zh-TW" dirty="0" smtClean="0"/>
              <a:t>Lesson learn &amp; Discussion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 smtClean="0"/>
              <a:t>Anything can improve your grade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altLang="zh-TW" dirty="0" smtClean="0"/>
              <a:t>GUI or more functionalities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More Information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1"/>
            <a:ext cx="8579296" cy="1756792"/>
          </a:xfrm>
        </p:spPr>
        <p:txBody>
          <a:bodyPr>
            <a:normAutofit/>
          </a:bodyPr>
          <a:lstStyle/>
          <a:p>
            <a:r>
              <a:rPr lang="en-US" altLang="zh-TW" sz="2600" dirty="0" smtClean="0"/>
              <a:t>Azure MSDN</a:t>
            </a:r>
            <a:endParaRPr lang="en-US" altLang="zh-TW" sz="2600" dirty="0" smtClean="0">
              <a:hlinkClick r:id="rId2"/>
            </a:endParaRPr>
          </a:p>
          <a:p>
            <a:pPr lvl="1"/>
            <a:r>
              <a:rPr lang="en-US" altLang="zh-TW" dirty="0" smtClean="0">
                <a:hlinkClick r:id="rId2"/>
              </a:rPr>
              <a:t>http://msdn.microsoft.com/zh-tw/windowsazure/dd439432%28en-us%29.aspx</a:t>
            </a:r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5" name="圓角矩形 4"/>
          <p:cNvSpPr/>
          <p:nvPr/>
        </p:nvSpPr>
        <p:spPr>
          <a:xfrm>
            <a:off x="1187624" y="5157192"/>
            <a:ext cx="2664296" cy="129614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Computation </a:t>
            </a:r>
          </a:p>
          <a:p>
            <a:pPr algn="ctr"/>
            <a:r>
              <a:rPr lang="en-US" altLang="zh-TW" dirty="0" smtClean="0"/>
              <a:t>(Runtime Environment)</a:t>
            </a:r>
            <a:endParaRPr lang="zh-TW" altLang="en-US" dirty="0"/>
          </a:p>
        </p:txBody>
      </p:sp>
      <p:sp>
        <p:nvSpPr>
          <p:cNvPr id="6" name="圓角矩形 5"/>
          <p:cNvSpPr/>
          <p:nvPr/>
        </p:nvSpPr>
        <p:spPr>
          <a:xfrm>
            <a:off x="5724128" y="3573016"/>
            <a:ext cx="2160240" cy="1296144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Storage </a:t>
            </a:r>
            <a:endParaRPr lang="zh-TW" altLang="en-US" dirty="0"/>
          </a:p>
        </p:txBody>
      </p:sp>
      <p:sp>
        <p:nvSpPr>
          <p:cNvPr id="7" name="橢圓 6"/>
          <p:cNvSpPr/>
          <p:nvPr/>
        </p:nvSpPr>
        <p:spPr>
          <a:xfrm>
            <a:off x="395536" y="3825564"/>
            <a:ext cx="2160240" cy="864096"/>
          </a:xfrm>
          <a:prstGeom prst="ellipse">
            <a:avLst/>
          </a:prstGeom>
          <a:noFill/>
          <a:ln w="28575">
            <a:prstDash val="dash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Management </a:t>
            </a:r>
            <a:endParaRPr lang="en-US" altLang="zh-TW" dirty="0"/>
          </a:p>
        </p:txBody>
      </p:sp>
      <p:sp>
        <p:nvSpPr>
          <p:cNvPr id="8" name="橢圓 7"/>
          <p:cNvSpPr/>
          <p:nvPr/>
        </p:nvSpPr>
        <p:spPr>
          <a:xfrm>
            <a:off x="3047351" y="3789040"/>
            <a:ext cx="1800200" cy="864096"/>
          </a:xfrm>
          <a:prstGeom prst="ellipse">
            <a:avLst/>
          </a:prstGeom>
          <a:noFill/>
          <a:ln w="28575">
            <a:prstDash val="dash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Native </a:t>
            </a:r>
            <a:endParaRPr lang="en-US" altLang="zh-TW" dirty="0"/>
          </a:p>
        </p:txBody>
      </p:sp>
      <p:cxnSp>
        <p:nvCxnSpPr>
          <p:cNvPr id="10" name="直線接點 9"/>
          <p:cNvCxnSpPr/>
          <p:nvPr/>
        </p:nvCxnSpPr>
        <p:spPr>
          <a:xfrm rot="16200000" flipV="1">
            <a:off x="1763688" y="4725144"/>
            <a:ext cx="504056" cy="36004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 rot="5400000" flipH="1" flipV="1">
            <a:off x="3311860" y="4689140"/>
            <a:ext cx="504056" cy="43204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橢圓 13"/>
          <p:cNvSpPr/>
          <p:nvPr/>
        </p:nvSpPr>
        <p:spPr>
          <a:xfrm>
            <a:off x="4355976" y="5301208"/>
            <a:ext cx="2160240" cy="864096"/>
          </a:xfrm>
          <a:prstGeom prst="ellipse">
            <a:avLst/>
          </a:prstGeom>
          <a:noFill/>
          <a:ln w="28575">
            <a:prstDash val="dash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Management </a:t>
            </a:r>
            <a:endParaRPr lang="en-US" altLang="zh-TW" dirty="0"/>
          </a:p>
        </p:txBody>
      </p:sp>
      <p:sp>
        <p:nvSpPr>
          <p:cNvPr id="15" name="橢圓 14"/>
          <p:cNvSpPr/>
          <p:nvPr/>
        </p:nvSpPr>
        <p:spPr>
          <a:xfrm>
            <a:off x="7007791" y="5301208"/>
            <a:ext cx="1800200" cy="864096"/>
          </a:xfrm>
          <a:prstGeom prst="ellipse">
            <a:avLst/>
          </a:prstGeom>
          <a:noFill/>
          <a:ln w="28575">
            <a:prstDash val="dash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REST API</a:t>
            </a:r>
            <a:endParaRPr lang="en-US" altLang="zh-TW" dirty="0"/>
          </a:p>
        </p:txBody>
      </p:sp>
      <p:cxnSp>
        <p:nvCxnSpPr>
          <p:cNvPr id="19" name="直線接點 18"/>
          <p:cNvCxnSpPr/>
          <p:nvPr/>
        </p:nvCxnSpPr>
        <p:spPr>
          <a:xfrm rot="5400000">
            <a:off x="5724128" y="4941168"/>
            <a:ext cx="432048" cy="2880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 rot="16200000" flipH="1">
            <a:off x="7344308" y="4905164"/>
            <a:ext cx="432048" cy="3600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urse Them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Course Themes</Template>
  <TotalTime>836</TotalTime>
  <Words>1812</Words>
  <Application>Microsoft Office PowerPoint</Application>
  <PresentationFormat>如螢幕大小 (4:3)</PresentationFormat>
  <Paragraphs>595</Paragraphs>
  <Slides>108</Slides>
  <Notes>3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108</vt:i4>
      </vt:variant>
    </vt:vector>
  </HeadingPairs>
  <TitlesOfParts>
    <vt:vector size="109" baseType="lpstr">
      <vt:lpstr>Course Themes</vt:lpstr>
      <vt:lpstr>雲端計算 Cloud Computing</vt:lpstr>
      <vt:lpstr>Agenda</vt:lpstr>
      <vt:lpstr>Introduction </vt:lpstr>
      <vt:lpstr>Azure</vt:lpstr>
      <vt:lpstr>Windows Azure</vt:lpstr>
      <vt:lpstr>Lab Goal </vt:lpstr>
      <vt:lpstr>Lab</vt:lpstr>
      <vt:lpstr>Storage Space</vt:lpstr>
      <vt:lpstr>Storage Space</vt:lpstr>
      <vt:lpstr>Blob </vt:lpstr>
      <vt:lpstr>Table</vt:lpstr>
      <vt:lpstr>Queue</vt:lpstr>
      <vt:lpstr>lab</vt:lpstr>
      <vt:lpstr>Computation </vt:lpstr>
      <vt:lpstr>Computation </vt:lpstr>
      <vt:lpstr>Web Role</vt:lpstr>
      <vt:lpstr>Worker Role</vt:lpstr>
      <vt:lpstr>lab</vt:lpstr>
      <vt:lpstr>AppFabric</vt:lpstr>
      <vt:lpstr>Client vs. Service</vt:lpstr>
      <vt:lpstr>AppFabric</vt:lpstr>
      <vt:lpstr>Installation </vt:lpstr>
      <vt:lpstr>System Requirements </vt:lpstr>
      <vt:lpstr>Install Steps </vt:lpstr>
      <vt:lpstr>Download </vt:lpstr>
      <vt:lpstr>Visual Studio</vt:lpstr>
      <vt:lpstr>Azure SDK</vt:lpstr>
      <vt:lpstr>Azure SDK (cont.)</vt:lpstr>
      <vt:lpstr>Azure SDK (cont.)</vt:lpstr>
      <vt:lpstr>Azure Storage Explorer</vt:lpstr>
      <vt:lpstr>Azure Storage Explorer</vt:lpstr>
      <vt:lpstr>More and more </vt:lpstr>
      <vt:lpstr>Installation </vt:lpstr>
      <vt:lpstr>Step by Step(1)</vt:lpstr>
      <vt:lpstr>Step by Step(2)</vt:lpstr>
      <vt:lpstr>Step by Step(3)</vt:lpstr>
      <vt:lpstr>More Information</vt:lpstr>
      <vt:lpstr>Lab - 1</vt:lpstr>
      <vt:lpstr>Overview</vt:lpstr>
      <vt:lpstr>Overview</vt:lpstr>
      <vt:lpstr>Step 0</vt:lpstr>
      <vt:lpstr>Test Environment</vt:lpstr>
      <vt:lpstr>Step 1</vt:lpstr>
      <vt:lpstr>Step by Step(1)</vt:lpstr>
      <vt:lpstr>Step by Step(2)</vt:lpstr>
      <vt:lpstr>Result </vt:lpstr>
      <vt:lpstr>Step 2</vt:lpstr>
      <vt:lpstr>Introduction </vt:lpstr>
      <vt:lpstr>Step by Step(1)</vt:lpstr>
      <vt:lpstr>Step by Step(2)</vt:lpstr>
      <vt:lpstr>Step by Step(2)</vt:lpstr>
      <vt:lpstr>Step by Step(3)</vt:lpstr>
      <vt:lpstr>Step by Step(4)</vt:lpstr>
      <vt:lpstr>Step by Step(5)</vt:lpstr>
      <vt:lpstr>Step by Step(5)(cont.)</vt:lpstr>
      <vt:lpstr>Result </vt:lpstr>
      <vt:lpstr>Step 3</vt:lpstr>
      <vt:lpstr>Introduction </vt:lpstr>
      <vt:lpstr>Step by Step(1)</vt:lpstr>
      <vt:lpstr>Step by Step(2)</vt:lpstr>
      <vt:lpstr>Run() of Worker Role</vt:lpstr>
      <vt:lpstr>Result </vt:lpstr>
      <vt:lpstr>Step 4</vt:lpstr>
      <vt:lpstr>Introduction </vt:lpstr>
      <vt:lpstr>Step by Step(1)</vt:lpstr>
      <vt:lpstr>Step by Step(1)</vt:lpstr>
      <vt:lpstr>Step by Step(2)</vt:lpstr>
      <vt:lpstr>Step by Step(3)</vt:lpstr>
      <vt:lpstr>Step by Step(4)</vt:lpstr>
      <vt:lpstr>Step 5</vt:lpstr>
      <vt:lpstr>投影片 71</vt:lpstr>
      <vt:lpstr>Spec.</vt:lpstr>
      <vt:lpstr>Demo</vt:lpstr>
      <vt:lpstr>Instruction </vt:lpstr>
      <vt:lpstr>Demo</vt:lpstr>
      <vt:lpstr>Storage Explorer</vt:lpstr>
      <vt:lpstr>Storage Explorer</vt:lpstr>
      <vt:lpstr>Related Information</vt:lpstr>
      <vt:lpstr>Demo</vt:lpstr>
      <vt:lpstr>Development Fabric </vt:lpstr>
      <vt:lpstr>Web Role</vt:lpstr>
      <vt:lpstr>Worker Role </vt:lpstr>
      <vt:lpstr>Demo</vt:lpstr>
      <vt:lpstr>Error</vt:lpstr>
      <vt:lpstr>Error</vt:lpstr>
      <vt:lpstr>Exercise </vt:lpstr>
      <vt:lpstr>Exercise </vt:lpstr>
      <vt:lpstr>Hand-in Requirements</vt:lpstr>
      <vt:lpstr>Lab - 2</vt:lpstr>
      <vt:lpstr>Outline </vt:lpstr>
      <vt:lpstr>HTTP </vt:lpstr>
      <vt:lpstr>HTTP</vt:lpstr>
      <vt:lpstr>HTTP Method</vt:lpstr>
      <vt:lpstr>HTTP Method</vt:lpstr>
      <vt:lpstr>Get Method</vt:lpstr>
      <vt:lpstr>Post Method</vt:lpstr>
      <vt:lpstr>AppFabric</vt:lpstr>
      <vt:lpstr>Overview</vt:lpstr>
      <vt:lpstr>Overview</vt:lpstr>
      <vt:lpstr>Called Function </vt:lpstr>
      <vt:lpstr>Web Interface </vt:lpstr>
      <vt:lpstr>投影片 102</vt:lpstr>
      <vt:lpstr>Step 0</vt:lpstr>
      <vt:lpstr>投影片 104</vt:lpstr>
      <vt:lpstr>Exercise </vt:lpstr>
      <vt:lpstr>Exercise </vt:lpstr>
      <vt:lpstr>Hand-in Requirements</vt:lpstr>
      <vt:lpstr>More Information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Windows Azure</dc:title>
  <dc:creator>cmj</dc:creator>
  <cp:lastModifiedBy>Yeh-Ching Chung</cp:lastModifiedBy>
  <cp:revision>99</cp:revision>
  <dcterms:created xsi:type="dcterms:W3CDTF">2010-10-12T12:51:15Z</dcterms:created>
  <dcterms:modified xsi:type="dcterms:W3CDTF">2010-12-14T00:12:18Z</dcterms:modified>
</cp:coreProperties>
</file>