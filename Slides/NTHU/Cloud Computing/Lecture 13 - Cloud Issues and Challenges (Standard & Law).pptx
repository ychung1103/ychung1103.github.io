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7"/>
  </p:notesMasterIdLst>
  <p:sldIdLst>
    <p:sldId id="377" r:id="rId2"/>
    <p:sldId id="376" r:id="rId3"/>
    <p:sldId id="3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91" r:id="rId12"/>
    <p:sldId id="357" r:id="rId13"/>
    <p:sldId id="292" r:id="rId14"/>
    <p:sldId id="293" r:id="rId15"/>
    <p:sldId id="294" r:id="rId16"/>
    <p:sldId id="358" r:id="rId17"/>
    <p:sldId id="295" r:id="rId18"/>
    <p:sldId id="296" r:id="rId19"/>
    <p:sldId id="290" r:id="rId20"/>
    <p:sldId id="359" r:id="rId21"/>
    <p:sldId id="264" r:id="rId22"/>
    <p:sldId id="307" r:id="rId23"/>
    <p:sldId id="297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13" r:id="rId33"/>
    <p:sldId id="314" r:id="rId34"/>
    <p:sldId id="317" r:id="rId35"/>
    <p:sldId id="316" r:id="rId36"/>
    <p:sldId id="318" r:id="rId37"/>
    <p:sldId id="315" r:id="rId38"/>
    <p:sldId id="319" r:id="rId39"/>
    <p:sldId id="320" r:id="rId40"/>
    <p:sldId id="321" r:id="rId41"/>
    <p:sldId id="265" r:id="rId42"/>
    <p:sldId id="268" r:id="rId43"/>
    <p:sldId id="365" r:id="rId44"/>
    <p:sldId id="269" r:id="rId45"/>
    <p:sldId id="331" r:id="rId46"/>
    <p:sldId id="332" r:id="rId47"/>
    <p:sldId id="346" r:id="rId48"/>
    <p:sldId id="335" r:id="rId49"/>
    <p:sldId id="347" r:id="rId50"/>
    <p:sldId id="348" r:id="rId51"/>
    <p:sldId id="337" r:id="rId52"/>
    <p:sldId id="349" r:id="rId53"/>
    <p:sldId id="350" r:id="rId54"/>
    <p:sldId id="339" r:id="rId55"/>
    <p:sldId id="351" r:id="rId56"/>
    <p:sldId id="353" r:id="rId57"/>
    <p:sldId id="352" r:id="rId58"/>
    <p:sldId id="341" r:id="rId59"/>
    <p:sldId id="354" r:id="rId60"/>
    <p:sldId id="343" r:id="rId61"/>
    <p:sldId id="356" r:id="rId62"/>
    <p:sldId id="367" r:id="rId63"/>
    <p:sldId id="274" r:id="rId64"/>
    <p:sldId id="275" r:id="rId65"/>
    <p:sldId id="276" r:id="rId66"/>
    <p:sldId id="277" r:id="rId67"/>
    <p:sldId id="278" r:id="rId68"/>
    <p:sldId id="372" r:id="rId69"/>
    <p:sldId id="373" r:id="rId70"/>
    <p:sldId id="266" r:id="rId71"/>
    <p:sldId id="272" r:id="rId72"/>
    <p:sldId id="279" r:id="rId73"/>
    <p:sldId id="280" r:id="rId74"/>
    <p:sldId id="281" r:id="rId75"/>
    <p:sldId id="282" r:id="rId76"/>
    <p:sldId id="273" r:id="rId77"/>
    <p:sldId id="288" r:id="rId78"/>
    <p:sldId id="287" r:id="rId79"/>
    <p:sldId id="283" r:id="rId80"/>
    <p:sldId id="284" r:id="rId81"/>
    <p:sldId id="289" r:id="rId82"/>
    <p:sldId id="285" r:id="rId83"/>
    <p:sldId id="366" r:id="rId84"/>
    <p:sldId id="374" r:id="rId85"/>
    <p:sldId id="368" r:id="rId8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>
      <p:cViewPr varScale="1">
        <p:scale>
          <a:sx n="81" d="100"/>
          <a:sy n="81" d="100"/>
        </p:scale>
        <p:origin x="-1507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190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mj\Desktop\&#26032;&#22686;%20Microsoft%20Office%20Excel%20&#24037;&#20316;&#3492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zh-TW"/>
  <c:chart>
    <c:plotArea>
      <c:layout/>
      <c:lineChart>
        <c:grouping val="standard"/>
        <c:ser>
          <c:idx val="0"/>
          <c:order val="0"/>
          <c:marker>
            <c:symbol val="none"/>
          </c:marker>
          <c:val>
            <c:numRef>
              <c:f>Sheet1!$A$1:$A$17</c:f>
              <c:numCache>
                <c:formatCode>General</c:formatCode>
                <c:ptCount val="17"/>
                <c:pt idx="0">
                  <c:v>60</c:v>
                </c:pt>
                <c:pt idx="1">
                  <c:v>53</c:v>
                </c:pt>
                <c:pt idx="2">
                  <c:v>67</c:v>
                </c:pt>
                <c:pt idx="3">
                  <c:v>60</c:v>
                </c:pt>
                <c:pt idx="4">
                  <c:v>88</c:v>
                </c:pt>
                <c:pt idx="5">
                  <c:v>82</c:v>
                </c:pt>
                <c:pt idx="6">
                  <c:v>85</c:v>
                </c:pt>
                <c:pt idx="7">
                  <c:v>20</c:v>
                </c:pt>
                <c:pt idx="8">
                  <c:v>35</c:v>
                </c:pt>
                <c:pt idx="9">
                  <c:v>31</c:v>
                </c:pt>
                <c:pt idx="10">
                  <c:v>42</c:v>
                </c:pt>
                <c:pt idx="11">
                  <c:v>28</c:v>
                </c:pt>
                <c:pt idx="12">
                  <c:v>33</c:v>
                </c:pt>
                <c:pt idx="13">
                  <c:v>35</c:v>
                </c:pt>
                <c:pt idx="14">
                  <c:v>41</c:v>
                </c:pt>
                <c:pt idx="15">
                  <c:v>47</c:v>
                </c:pt>
                <c:pt idx="16">
                  <c:v>45</c:v>
                </c:pt>
              </c:numCache>
            </c:numRef>
          </c:val>
        </c:ser>
        <c:marker val="1"/>
        <c:axId val="191504384"/>
        <c:axId val="191505920"/>
      </c:lineChart>
      <c:catAx>
        <c:axId val="191504384"/>
        <c:scaling>
          <c:orientation val="minMax"/>
        </c:scaling>
        <c:delete val="1"/>
        <c:axPos val="b"/>
        <c:tickLblPos val="none"/>
        <c:crossAx val="191505920"/>
        <c:crosses val="autoZero"/>
        <c:auto val="1"/>
        <c:lblAlgn val="ctr"/>
        <c:lblOffset val="100"/>
      </c:catAx>
      <c:valAx>
        <c:axId val="191505920"/>
        <c:scaling>
          <c:orientation val="minMax"/>
        </c:scaling>
        <c:delete val="1"/>
        <c:axPos val="l"/>
        <c:majorGridlines/>
        <c:numFmt formatCode="General" sourceLinked="1"/>
        <c:tickLblPos val="none"/>
        <c:crossAx val="191504384"/>
        <c:crosses val="autoZero"/>
        <c:crossBetween val="between"/>
      </c:valAx>
    </c:plotArea>
    <c:plotVisOnly val="1"/>
  </c:chart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1DEC0B-C789-4177-A43F-37883048AD4C}" type="doc">
      <dgm:prSet loTypeId="urn:microsoft.com/office/officeart/2005/8/layout/process5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C4D64A08-6C22-4F4A-AE75-B5D5CDC9A0D9}">
      <dgm:prSet phldrT="[文字]"/>
      <dgm:spPr/>
      <dgm:t>
        <a:bodyPr/>
        <a:lstStyle/>
        <a:p>
          <a:r>
            <a:rPr lang="en-US" altLang="zh-TW" dirty="0" smtClean="0"/>
            <a:t>Requirement </a:t>
          </a:r>
          <a:endParaRPr lang="zh-TW" altLang="en-US" dirty="0"/>
        </a:p>
      </dgm:t>
    </dgm:pt>
    <dgm:pt modelId="{84F71F19-FAD4-45F2-A237-D90DCCC8D2E5}" type="parTrans" cxnId="{C2CF1BE9-080C-432C-BB29-6F499B939AFF}">
      <dgm:prSet/>
      <dgm:spPr/>
      <dgm:t>
        <a:bodyPr/>
        <a:lstStyle/>
        <a:p>
          <a:endParaRPr lang="zh-TW" altLang="en-US"/>
        </a:p>
      </dgm:t>
    </dgm:pt>
    <dgm:pt modelId="{9ED840CC-7E1D-4C4A-8FC9-79702484CFA8}" type="sibTrans" cxnId="{C2CF1BE9-080C-432C-BB29-6F499B939AFF}">
      <dgm:prSet/>
      <dgm:spPr/>
      <dgm:t>
        <a:bodyPr/>
        <a:lstStyle/>
        <a:p>
          <a:endParaRPr lang="zh-TW" altLang="en-US"/>
        </a:p>
      </dgm:t>
    </dgm:pt>
    <dgm:pt modelId="{3038CBAD-BE4C-4512-BB61-23B1DE9B78DF}">
      <dgm:prSet phldrT="[文字]"/>
      <dgm:spPr/>
      <dgm:t>
        <a:bodyPr/>
        <a:lstStyle/>
        <a:p>
          <a:r>
            <a:rPr lang="en-US" altLang="zh-TW" dirty="0" smtClean="0"/>
            <a:t>Asset</a:t>
          </a:r>
          <a:endParaRPr lang="zh-TW" altLang="en-US" dirty="0"/>
        </a:p>
      </dgm:t>
    </dgm:pt>
    <dgm:pt modelId="{8CD52D8E-D94D-4EC0-A17E-A4B45C33F7EA}" type="parTrans" cxnId="{7996439D-F05F-46B9-A655-C75EC050B6FB}">
      <dgm:prSet/>
      <dgm:spPr/>
      <dgm:t>
        <a:bodyPr/>
        <a:lstStyle/>
        <a:p>
          <a:endParaRPr lang="zh-TW" altLang="en-US"/>
        </a:p>
      </dgm:t>
    </dgm:pt>
    <dgm:pt modelId="{BFC59AE8-321A-4D30-9CF6-83E015C5563C}" type="sibTrans" cxnId="{7996439D-F05F-46B9-A655-C75EC050B6FB}">
      <dgm:prSet/>
      <dgm:spPr/>
      <dgm:t>
        <a:bodyPr/>
        <a:lstStyle/>
        <a:p>
          <a:endParaRPr lang="zh-TW" altLang="en-US"/>
        </a:p>
      </dgm:t>
    </dgm:pt>
    <dgm:pt modelId="{9A70A113-BFE9-476A-A162-157453E4FA71}">
      <dgm:prSet phldrT="[文字]"/>
      <dgm:spPr/>
      <dgm:t>
        <a:bodyPr/>
        <a:lstStyle/>
        <a:p>
          <a:r>
            <a:rPr lang="en-US" altLang="zh-TW" dirty="0" smtClean="0"/>
            <a:t>Deploy Model</a:t>
          </a:r>
          <a:endParaRPr lang="zh-TW" altLang="en-US" dirty="0"/>
        </a:p>
      </dgm:t>
    </dgm:pt>
    <dgm:pt modelId="{6D09D6D2-4697-4F5B-8EE9-FD40D03E7049}" type="parTrans" cxnId="{C49BBE0C-6C0B-4B1E-A4B1-D8052F18DB9C}">
      <dgm:prSet/>
      <dgm:spPr/>
      <dgm:t>
        <a:bodyPr/>
        <a:lstStyle/>
        <a:p>
          <a:endParaRPr lang="zh-TW" altLang="en-US"/>
        </a:p>
      </dgm:t>
    </dgm:pt>
    <dgm:pt modelId="{3243E603-3782-470D-89DB-47511B0AF2EA}" type="sibTrans" cxnId="{C49BBE0C-6C0B-4B1E-A4B1-D8052F18DB9C}">
      <dgm:prSet/>
      <dgm:spPr/>
      <dgm:t>
        <a:bodyPr/>
        <a:lstStyle/>
        <a:p>
          <a:endParaRPr lang="zh-TW" altLang="en-US"/>
        </a:p>
      </dgm:t>
    </dgm:pt>
    <dgm:pt modelId="{BCBB855F-6D6E-4D22-B990-BABB28A3727F}">
      <dgm:prSet phldrT="[文字]"/>
      <dgm:spPr/>
      <dgm:t>
        <a:bodyPr/>
        <a:lstStyle/>
        <a:p>
          <a:r>
            <a:rPr lang="en-US" altLang="zh-TW" dirty="0" smtClean="0"/>
            <a:t>Service </a:t>
          </a:r>
        </a:p>
        <a:p>
          <a:r>
            <a:rPr lang="en-US" altLang="zh-TW" dirty="0" smtClean="0"/>
            <a:t>Model</a:t>
          </a:r>
          <a:endParaRPr lang="zh-TW" altLang="en-US" dirty="0"/>
        </a:p>
      </dgm:t>
    </dgm:pt>
    <dgm:pt modelId="{160A3A88-D106-400C-AA0A-BB511111030B}" type="parTrans" cxnId="{D6E5F78D-5516-48F9-89BA-9605FD733BD3}">
      <dgm:prSet/>
      <dgm:spPr/>
      <dgm:t>
        <a:bodyPr/>
        <a:lstStyle/>
        <a:p>
          <a:endParaRPr lang="zh-TW" altLang="en-US"/>
        </a:p>
      </dgm:t>
    </dgm:pt>
    <dgm:pt modelId="{DAC57844-656A-433E-AD1D-00B6E7A2C7A4}" type="sibTrans" cxnId="{D6E5F78D-5516-48F9-89BA-9605FD733BD3}">
      <dgm:prSet/>
      <dgm:spPr/>
      <dgm:t>
        <a:bodyPr/>
        <a:lstStyle/>
        <a:p>
          <a:endParaRPr lang="zh-TW" altLang="en-US"/>
        </a:p>
      </dgm:t>
    </dgm:pt>
    <dgm:pt modelId="{ADE5ECC2-2FEF-4688-AA80-81DED03BD95E}">
      <dgm:prSet phldrT="[文字]"/>
      <dgm:spPr/>
      <dgm:t>
        <a:bodyPr/>
        <a:lstStyle/>
        <a:p>
          <a:r>
            <a:rPr lang="en-US" altLang="zh-TW" dirty="0" smtClean="0"/>
            <a:t>Data Flow and Logic</a:t>
          </a:r>
          <a:endParaRPr lang="zh-TW" altLang="en-US" dirty="0"/>
        </a:p>
      </dgm:t>
    </dgm:pt>
    <dgm:pt modelId="{4A7C2823-6D11-4A16-8D03-62477D97935E}" type="parTrans" cxnId="{06FAB300-9B0E-47B3-B7B7-B07304ED9A06}">
      <dgm:prSet/>
      <dgm:spPr/>
      <dgm:t>
        <a:bodyPr/>
        <a:lstStyle/>
        <a:p>
          <a:endParaRPr lang="zh-TW" altLang="en-US"/>
        </a:p>
      </dgm:t>
    </dgm:pt>
    <dgm:pt modelId="{9C556F02-4D63-4B9C-AD14-441524A4914C}" type="sibTrans" cxnId="{06FAB300-9B0E-47B3-B7B7-B07304ED9A06}">
      <dgm:prSet/>
      <dgm:spPr/>
      <dgm:t>
        <a:bodyPr/>
        <a:lstStyle/>
        <a:p>
          <a:endParaRPr lang="zh-TW" altLang="en-US"/>
        </a:p>
      </dgm:t>
    </dgm:pt>
    <dgm:pt modelId="{9CF9A754-EE69-4AD8-9F19-57B44F081F7F}" type="pres">
      <dgm:prSet presAssocID="{601DEC0B-C789-4177-A43F-37883048AD4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4256CC69-6C2F-44A8-87B6-3D51AB21B14B}" type="pres">
      <dgm:prSet presAssocID="{C4D64A08-6C22-4F4A-AE75-B5D5CDC9A0D9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1BC32D30-051B-4E32-A359-666A81F136DB}" type="pres">
      <dgm:prSet presAssocID="{9ED840CC-7E1D-4C4A-8FC9-79702484CFA8}" presName="sibTrans" presStyleLbl="sibTrans2D1" presStyleIdx="0" presStyleCnt="4"/>
      <dgm:spPr/>
      <dgm:t>
        <a:bodyPr/>
        <a:lstStyle/>
        <a:p>
          <a:endParaRPr lang="zh-TW" altLang="en-US"/>
        </a:p>
      </dgm:t>
    </dgm:pt>
    <dgm:pt modelId="{F3F12771-84CD-440A-AA97-926D8BF9BBBB}" type="pres">
      <dgm:prSet presAssocID="{9ED840CC-7E1D-4C4A-8FC9-79702484CFA8}" presName="connectorText" presStyleLbl="sibTrans2D1" presStyleIdx="0" presStyleCnt="4"/>
      <dgm:spPr/>
      <dgm:t>
        <a:bodyPr/>
        <a:lstStyle/>
        <a:p>
          <a:endParaRPr lang="zh-TW" altLang="en-US"/>
        </a:p>
      </dgm:t>
    </dgm:pt>
    <dgm:pt modelId="{5411D7DD-A6D4-4669-B5B8-E8DBBCBF5748}" type="pres">
      <dgm:prSet presAssocID="{3038CBAD-BE4C-4512-BB61-23B1DE9B78D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1DC3D40-C1FF-42D2-94A7-D3497EF93FD1}" type="pres">
      <dgm:prSet presAssocID="{BFC59AE8-321A-4D30-9CF6-83E015C5563C}" presName="sibTrans" presStyleLbl="sibTrans2D1" presStyleIdx="1" presStyleCnt="4"/>
      <dgm:spPr/>
      <dgm:t>
        <a:bodyPr/>
        <a:lstStyle/>
        <a:p>
          <a:endParaRPr lang="zh-TW" altLang="en-US"/>
        </a:p>
      </dgm:t>
    </dgm:pt>
    <dgm:pt modelId="{DAA0625A-1A45-40EB-ADD4-29EF7DE5DF04}" type="pres">
      <dgm:prSet presAssocID="{BFC59AE8-321A-4D30-9CF6-83E015C5563C}" presName="connectorText" presStyleLbl="sibTrans2D1" presStyleIdx="1" presStyleCnt="4"/>
      <dgm:spPr/>
      <dgm:t>
        <a:bodyPr/>
        <a:lstStyle/>
        <a:p>
          <a:endParaRPr lang="zh-TW" altLang="en-US"/>
        </a:p>
      </dgm:t>
    </dgm:pt>
    <dgm:pt modelId="{19334622-36E3-49EA-95AD-24C58006CE9C}" type="pres">
      <dgm:prSet presAssocID="{9A70A113-BFE9-476A-A162-157453E4FA71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AB5D6C9-22EE-419E-81ED-38A179FC9818}" type="pres">
      <dgm:prSet presAssocID="{3243E603-3782-470D-89DB-47511B0AF2EA}" presName="sibTrans" presStyleLbl="sibTrans2D1" presStyleIdx="2" presStyleCnt="4"/>
      <dgm:spPr/>
      <dgm:t>
        <a:bodyPr/>
        <a:lstStyle/>
        <a:p>
          <a:endParaRPr lang="zh-TW" altLang="en-US"/>
        </a:p>
      </dgm:t>
    </dgm:pt>
    <dgm:pt modelId="{8F248FD4-F1EF-401A-BF8A-42270EB6469B}" type="pres">
      <dgm:prSet presAssocID="{3243E603-3782-470D-89DB-47511B0AF2EA}" presName="connectorText" presStyleLbl="sibTrans2D1" presStyleIdx="2" presStyleCnt="4"/>
      <dgm:spPr/>
      <dgm:t>
        <a:bodyPr/>
        <a:lstStyle/>
        <a:p>
          <a:endParaRPr lang="zh-TW" altLang="en-US"/>
        </a:p>
      </dgm:t>
    </dgm:pt>
    <dgm:pt modelId="{5D87DFFA-92EE-4B71-A998-5CD809CE8DEF}" type="pres">
      <dgm:prSet presAssocID="{BCBB855F-6D6E-4D22-B990-BABB28A3727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307A5B64-954E-4DAC-AF06-74E953631B31}" type="pres">
      <dgm:prSet presAssocID="{DAC57844-656A-433E-AD1D-00B6E7A2C7A4}" presName="sibTrans" presStyleLbl="sibTrans2D1" presStyleIdx="3" presStyleCnt="4"/>
      <dgm:spPr/>
      <dgm:t>
        <a:bodyPr/>
        <a:lstStyle/>
        <a:p>
          <a:endParaRPr lang="zh-TW" altLang="en-US"/>
        </a:p>
      </dgm:t>
    </dgm:pt>
    <dgm:pt modelId="{CED0ECFD-E125-451D-AACD-895D9623BA6E}" type="pres">
      <dgm:prSet presAssocID="{DAC57844-656A-433E-AD1D-00B6E7A2C7A4}" presName="connectorText" presStyleLbl="sibTrans2D1" presStyleIdx="3" presStyleCnt="4"/>
      <dgm:spPr/>
      <dgm:t>
        <a:bodyPr/>
        <a:lstStyle/>
        <a:p>
          <a:endParaRPr lang="zh-TW" altLang="en-US"/>
        </a:p>
      </dgm:t>
    </dgm:pt>
    <dgm:pt modelId="{D290A6EB-8BBE-4419-951A-C8B0AB81F6CC}" type="pres">
      <dgm:prSet presAssocID="{ADE5ECC2-2FEF-4688-AA80-81DED03BD95E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9AB5411B-0381-44F1-A1CC-DCDC38C2E2C3}" type="presOf" srcId="{9ED840CC-7E1D-4C4A-8FC9-79702484CFA8}" destId="{F3F12771-84CD-440A-AA97-926D8BF9BBBB}" srcOrd="1" destOrd="0" presId="urn:microsoft.com/office/officeart/2005/8/layout/process5"/>
    <dgm:cxn modelId="{B0C96CC8-170B-4DEB-8BB4-F8304ABF0B22}" type="presOf" srcId="{9ED840CC-7E1D-4C4A-8FC9-79702484CFA8}" destId="{1BC32D30-051B-4E32-A359-666A81F136DB}" srcOrd="0" destOrd="0" presId="urn:microsoft.com/office/officeart/2005/8/layout/process5"/>
    <dgm:cxn modelId="{65423403-CDD1-42C3-A96C-3BA116408103}" type="presOf" srcId="{BFC59AE8-321A-4D30-9CF6-83E015C5563C}" destId="{DAA0625A-1A45-40EB-ADD4-29EF7DE5DF04}" srcOrd="1" destOrd="0" presId="urn:microsoft.com/office/officeart/2005/8/layout/process5"/>
    <dgm:cxn modelId="{C49BBE0C-6C0B-4B1E-A4B1-D8052F18DB9C}" srcId="{601DEC0B-C789-4177-A43F-37883048AD4C}" destId="{9A70A113-BFE9-476A-A162-157453E4FA71}" srcOrd="2" destOrd="0" parTransId="{6D09D6D2-4697-4F5B-8EE9-FD40D03E7049}" sibTransId="{3243E603-3782-470D-89DB-47511B0AF2EA}"/>
    <dgm:cxn modelId="{7996439D-F05F-46B9-A655-C75EC050B6FB}" srcId="{601DEC0B-C789-4177-A43F-37883048AD4C}" destId="{3038CBAD-BE4C-4512-BB61-23B1DE9B78DF}" srcOrd="1" destOrd="0" parTransId="{8CD52D8E-D94D-4EC0-A17E-A4B45C33F7EA}" sibTransId="{BFC59AE8-321A-4D30-9CF6-83E015C5563C}"/>
    <dgm:cxn modelId="{C7F9C9AF-1428-4DA6-8B10-F2AB50FEE17F}" type="presOf" srcId="{601DEC0B-C789-4177-A43F-37883048AD4C}" destId="{9CF9A754-EE69-4AD8-9F19-57B44F081F7F}" srcOrd="0" destOrd="0" presId="urn:microsoft.com/office/officeart/2005/8/layout/process5"/>
    <dgm:cxn modelId="{A06D4B48-4772-486D-9461-13CCF9CFA9FA}" type="presOf" srcId="{DAC57844-656A-433E-AD1D-00B6E7A2C7A4}" destId="{CED0ECFD-E125-451D-AACD-895D9623BA6E}" srcOrd="1" destOrd="0" presId="urn:microsoft.com/office/officeart/2005/8/layout/process5"/>
    <dgm:cxn modelId="{9DBF0FE6-62BD-43DE-BFED-A18BA28D1C18}" type="presOf" srcId="{DAC57844-656A-433E-AD1D-00B6E7A2C7A4}" destId="{307A5B64-954E-4DAC-AF06-74E953631B31}" srcOrd="0" destOrd="0" presId="urn:microsoft.com/office/officeart/2005/8/layout/process5"/>
    <dgm:cxn modelId="{A30FF164-01C0-461C-924B-00DA818F88AF}" type="presOf" srcId="{9A70A113-BFE9-476A-A162-157453E4FA71}" destId="{19334622-36E3-49EA-95AD-24C58006CE9C}" srcOrd="0" destOrd="0" presId="urn:microsoft.com/office/officeart/2005/8/layout/process5"/>
    <dgm:cxn modelId="{2D701356-24B3-4DE8-B724-986C5AF3D84A}" type="presOf" srcId="{3243E603-3782-470D-89DB-47511B0AF2EA}" destId="{AAB5D6C9-22EE-419E-81ED-38A179FC9818}" srcOrd="0" destOrd="0" presId="urn:microsoft.com/office/officeart/2005/8/layout/process5"/>
    <dgm:cxn modelId="{5BB724A0-C3F4-4792-A9E9-4CC27C478030}" type="presOf" srcId="{C4D64A08-6C22-4F4A-AE75-B5D5CDC9A0D9}" destId="{4256CC69-6C2F-44A8-87B6-3D51AB21B14B}" srcOrd="0" destOrd="0" presId="urn:microsoft.com/office/officeart/2005/8/layout/process5"/>
    <dgm:cxn modelId="{A044279C-FD8D-4843-A5EF-F1037A1989A6}" type="presOf" srcId="{3038CBAD-BE4C-4512-BB61-23B1DE9B78DF}" destId="{5411D7DD-A6D4-4669-B5B8-E8DBBCBF5748}" srcOrd="0" destOrd="0" presId="urn:microsoft.com/office/officeart/2005/8/layout/process5"/>
    <dgm:cxn modelId="{0B153CBB-6CEB-43CD-B6EC-D354E0046C66}" type="presOf" srcId="{ADE5ECC2-2FEF-4688-AA80-81DED03BD95E}" destId="{D290A6EB-8BBE-4419-951A-C8B0AB81F6CC}" srcOrd="0" destOrd="0" presId="urn:microsoft.com/office/officeart/2005/8/layout/process5"/>
    <dgm:cxn modelId="{BBF3035F-1CBA-405A-AA2D-EC49D8B4ED9C}" type="presOf" srcId="{BCBB855F-6D6E-4D22-B990-BABB28A3727F}" destId="{5D87DFFA-92EE-4B71-A998-5CD809CE8DEF}" srcOrd="0" destOrd="0" presId="urn:microsoft.com/office/officeart/2005/8/layout/process5"/>
    <dgm:cxn modelId="{D6E5F78D-5516-48F9-89BA-9605FD733BD3}" srcId="{601DEC0B-C789-4177-A43F-37883048AD4C}" destId="{BCBB855F-6D6E-4D22-B990-BABB28A3727F}" srcOrd="3" destOrd="0" parTransId="{160A3A88-D106-400C-AA0A-BB511111030B}" sibTransId="{DAC57844-656A-433E-AD1D-00B6E7A2C7A4}"/>
    <dgm:cxn modelId="{06FAB300-9B0E-47B3-B7B7-B07304ED9A06}" srcId="{601DEC0B-C789-4177-A43F-37883048AD4C}" destId="{ADE5ECC2-2FEF-4688-AA80-81DED03BD95E}" srcOrd="4" destOrd="0" parTransId="{4A7C2823-6D11-4A16-8D03-62477D97935E}" sibTransId="{9C556F02-4D63-4B9C-AD14-441524A4914C}"/>
    <dgm:cxn modelId="{C2CF1BE9-080C-432C-BB29-6F499B939AFF}" srcId="{601DEC0B-C789-4177-A43F-37883048AD4C}" destId="{C4D64A08-6C22-4F4A-AE75-B5D5CDC9A0D9}" srcOrd="0" destOrd="0" parTransId="{84F71F19-FAD4-45F2-A237-D90DCCC8D2E5}" sibTransId="{9ED840CC-7E1D-4C4A-8FC9-79702484CFA8}"/>
    <dgm:cxn modelId="{4ECE102E-0D0C-4430-91BC-BBC0536858A8}" type="presOf" srcId="{3243E603-3782-470D-89DB-47511B0AF2EA}" destId="{8F248FD4-F1EF-401A-BF8A-42270EB6469B}" srcOrd="1" destOrd="0" presId="urn:microsoft.com/office/officeart/2005/8/layout/process5"/>
    <dgm:cxn modelId="{4F1598C6-AC05-457A-83D0-DC4924CEEA95}" type="presOf" srcId="{BFC59AE8-321A-4D30-9CF6-83E015C5563C}" destId="{51DC3D40-C1FF-42D2-94A7-D3497EF93FD1}" srcOrd="0" destOrd="0" presId="urn:microsoft.com/office/officeart/2005/8/layout/process5"/>
    <dgm:cxn modelId="{1FF34500-F91D-4C1A-AB30-8B8F5A2A0B66}" type="presParOf" srcId="{9CF9A754-EE69-4AD8-9F19-57B44F081F7F}" destId="{4256CC69-6C2F-44A8-87B6-3D51AB21B14B}" srcOrd="0" destOrd="0" presId="urn:microsoft.com/office/officeart/2005/8/layout/process5"/>
    <dgm:cxn modelId="{03344E28-650E-45F8-9A3A-4CB64A5B7A4D}" type="presParOf" srcId="{9CF9A754-EE69-4AD8-9F19-57B44F081F7F}" destId="{1BC32D30-051B-4E32-A359-666A81F136DB}" srcOrd="1" destOrd="0" presId="urn:microsoft.com/office/officeart/2005/8/layout/process5"/>
    <dgm:cxn modelId="{264E5217-CA78-476D-B3DF-4FB10E020686}" type="presParOf" srcId="{1BC32D30-051B-4E32-A359-666A81F136DB}" destId="{F3F12771-84CD-440A-AA97-926D8BF9BBBB}" srcOrd="0" destOrd="0" presId="urn:microsoft.com/office/officeart/2005/8/layout/process5"/>
    <dgm:cxn modelId="{B67FCCC8-78AF-42C3-A627-4E66363670AC}" type="presParOf" srcId="{9CF9A754-EE69-4AD8-9F19-57B44F081F7F}" destId="{5411D7DD-A6D4-4669-B5B8-E8DBBCBF5748}" srcOrd="2" destOrd="0" presId="urn:microsoft.com/office/officeart/2005/8/layout/process5"/>
    <dgm:cxn modelId="{7E81E4A7-5632-4DAC-903D-AACF5276D74A}" type="presParOf" srcId="{9CF9A754-EE69-4AD8-9F19-57B44F081F7F}" destId="{51DC3D40-C1FF-42D2-94A7-D3497EF93FD1}" srcOrd="3" destOrd="0" presId="urn:microsoft.com/office/officeart/2005/8/layout/process5"/>
    <dgm:cxn modelId="{BC584812-E90A-425C-B764-FD997F37BA48}" type="presParOf" srcId="{51DC3D40-C1FF-42D2-94A7-D3497EF93FD1}" destId="{DAA0625A-1A45-40EB-ADD4-29EF7DE5DF04}" srcOrd="0" destOrd="0" presId="urn:microsoft.com/office/officeart/2005/8/layout/process5"/>
    <dgm:cxn modelId="{1AE5A390-7826-49E6-9E54-0B69F4EFAB46}" type="presParOf" srcId="{9CF9A754-EE69-4AD8-9F19-57B44F081F7F}" destId="{19334622-36E3-49EA-95AD-24C58006CE9C}" srcOrd="4" destOrd="0" presId="urn:microsoft.com/office/officeart/2005/8/layout/process5"/>
    <dgm:cxn modelId="{1CB35F1B-FBD3-44F6-9EF9-3C12337856C2}" type="presParOf" srcId="{9CF9A754-EE69-4AD8-9F19-57B44F081F7F}" destId="{AAB5D6C9-22EE-419E-81ED-38A179FC9818}" srcOrd="5" destOrd="0" presId="urn:microsoft.com/office/officeart/2005/8/layout/process5"/>
    <dgm:cxn modelId="{089A8834-DB5A-41EA-81D9-869F08BBE3C0}" type="presParOf" srcId="{AAB5D6C9-22EE-419E-81ED-38A179FC9818}" destId="{8F248FD4-F1EF-401A-BF8A-42270EB6469B}" srcOrd="0" destOrd="0" presId="urn:microsoft.com/office/officeart/2005/8/layout/process5"/>
    <dgm:cxn modelId="{4087BE99-C5B2-4757-85E6-FCCD8EB083FF}" type="presParOf" srcId="{9CF9A754-EE69-4AD8-9F19-57B44F081F7F}" destId="{5D87DFFA-92EE-4B71-A998-5CD809CE8DEF}" srcOrd="6" destOrd="0" presId="urn:microsoft.com/office/officeart/2005/8/layout/process5"/>
    <dgm:cxn modelId="{4CE4CF1E-82F8-41D8-80A1-3B2A4203A130}" type="presParOf" srcId="{9CF9A754-EE69-4AD8-9F19-57B44F081F7F}" destId="{307A5B64-954E-4DAC-AF06-74E953631B31}" srcOrd="7" destOrd="0" presId="urn:microsoft.com/office/officeart/2005/8/layout/process5"/>
    <dgm:cxn modelId="{4E36784D-3852-4849-BA9F-EEB84815F671}" type="presParOf" srcId="{307A5B64-954E-4DAC-AF06-74E953631B31}" destId="{CED0ECFD-E125-451D-AACD-895D9623BA6E}" srcOrd="0" destOrd="0" presId="urn:microsoft.com/office/officeart/2005/8/layout/process5"/>
    <dgm:cxn modelId="{BE06D7FC-120B-4C6E-B3D2-E69A727C5EC8}" type="presParOf" srcId="{9CF9A754-EE69-4AD8-9F19-57B44F081F7F}" destId="{D290A6EB-8BBE-4419-951A-C8B0AB81F6CC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256CC69-6C2F-44A8-87B6-3D51AB21B14B}">
      <dsp:nvSpPr>
        <dsp:cNvPr id="0" name=""/>
        <dsp:cNvSpPr/>
      </dsp:nvSpPr>
      <dsp:spPr>
        <a:xfrm>
          <a:off x="5674" y="747230"/>
          <a:ext cx="1695971" cy="1017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Requirement </a:t>
          </a:r>
          <a:endParaRPr lang="zh-TW" altLang="en-US" sz="2100" kern="1200" dirty="0"/>
        </a:p>
      </dsp:txBody>
      <dsp:txXfrm>
        <a:off x="5674" y="747230"/>
        <a:ext cx="1695971" cy="1017582"/>
      </dsp:txXfrm>
    </dsp:sp>
    <dsp:sp modelId="{1BC32D30-051B-4E32-A359-666A81F136DB}">
      <dsp:nvSpPr>
        <dsp:cNvPr id="0" name=""/>
        <dsp:cNvSpPr/>
      </dsp:nvSpPr>
      <dsp:spPr>
        <a:xfrm>
          <a:off x="1850891" y="1045721"/>
          <a:ext cx="359545" cy="4206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700" kern="1200"/>
        </a:p>
      </dsp:txBody>
      <dsp:txXfrm>
        <a:off x="1850891" y="1045721"/>
        <a:ext cx="359545" cy="420600"/>
      </dsp:txXfrm>
    </dsp:sp>
    <dsp:sp modelId="{5411D7DD-A6D4-4669-B5B8-E8DBBCBF5748}">
      <dsp:nvSpPr>
        <dsp:cNvPr id="0" name=""/>
        <dsp:cNvSpPr/>
      </dsp:nvSpPr>
      <dsp:spPr>
        <a:xfrm>
          <a:off x="2380034" y="747230"/>
          <a:ext cx="1695971" cy="1017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Asset</a:t>
          </a:r>
          <a:endParaRPr lang="zh-TW" altLang="en-US" sz="2100" kern="1200" dirty="0"/>
        </a:p>
      </dsp:txBody>
      <dsp:txXfrm>
        <a:off x="2380034" y="747230"/>
        <a:ext cx="1695971" cy="1017582"/>
      </dsp:txXfrm>
    </dsp:sp>
    <dsp:sp modelId="{51DC3D40-C1FF-42D2-94A7-D3497EF93FD1}">
      <dsp:nvSpPr>
        <dsp:cNvPr id="0" name=""/>
        <dsp:cNvSpPr/>
      </dsp:nvSpPr>
      <dsp:spPr>
        <a:xfrm>
          <a:off x="4225251" y="1045721"/>
          <a:ext cx="359545" cy="4206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700" kern="1200"/>
        </a:p>
      </dsp:txBody>
      <dsp:txXfrm>
        <a:off x="4225251" y="1045721"/>
        <a:ext cx="359545" cy="420600"/>
      </dsp:txXfrm>
    </dsp:sp>
    <dsp:sp modelId="{19334622-36E3-49EA-95AD-24C58006CE9C}">
      <dsp:nvSpPr>
        <dsp:cNvPr id="0" name=""/>
        <dsp:cNvSpPr/>
      </dsp:nvSpPr>
      <dsp:spPr>
        <a:xfrm>
          <a:off x="4754394" y="747230"/>
          <a:ext cx="1695971" cy="1017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Deploy Model</a:t>
          </a:r>
          <a:endParaRPr lang="zh-TW" altLang="en-US" sz="2100" kern="1200" dirty="0"/>
        </a:p>
      </dsp:txBody>
      <dsp:txXfrm>
        <a:off x="4754394" y="747230"/>
        <a:ext cx="1695971" cy="1017582"/>
      </dsp:txXfrm>
    </dsp:sp>
    <dsp:sp modelId="{AAB5D6C9-22EE-419E-81ED-38A179FC9818}">
      <dsp:nvSpPr>
        <dsp:cNvPr id="0" name=""/>
        <dsp:cNvSpPr/>
      </dsp:nvSpPr>
      <dsp:spPr>
        <a:xfrm rot="5400000">
          <a:off x="5422607" y="1883531"/>
          <a:ext cx="359545" cy="4206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700" kern="1200"/>
        </a:p>
      </dsp:txBody>
      <dsp:txXfrm rot="5400000">
        <a:off x="5422607" y="1883531"/>
        <a:ext cx="359545" cy="420600"/>
      </dsp:txXfrm>
    </dsp:sp>
    <dsp:sp modelId="{5D87DFFA-92EE-4B71-A998-5CD809CE8DEF}">
      <dsp:nvSpPr>
        <dsp:cNvPr id="0" name=""/>
        <dsp:cNvSpPr/>
      </dsp:nvSpPr>
      <dsp:spPr>
        <a:xfrm>
          <a:off x="4754394" y="2443202"/>
          <a:ext cx="1695971" cy="1017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Service 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Model</a:t>
          </a:r>
          <a:endParaRPr lang="zh-TW" altLang="en-US" sz="2100" kern="1200" dirty="0"/>
        </a:p>
      </dsp:txBody>
      <dsp:txXfrm>
        <a:off x="4754394" y="2443202"/>
        <a:ext cx="1695971" cy="1017582"/>
      </dsp:txXfrm>
    </dsp:sp>
    <dsp:sp modelId="{307A5B64-954E-4DAC-AF06-74E953631B31}">
      <dsp:nvSpPr>
        <dsp:cNvPr id="0" name=""/>
        <dsp:cNvSpPr/>
      </dsp:nvSpPr>
      <dsp:spPr>
        <a:xfrm rot="10800000">
          <a:off x="4245602" y="2741693"/>
          <a:ext cx="359545" cy="420600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700" kern="1200"/>
        </a:p>
      </dsp:txBody>
      <dsp:txXfrm rot="10800000">
        <a:off x="4245602" y="2741693"/>
        <a:ext cx="359545" cy="420600"/>
      </dsp:txXfrm>
    </dsp:sp>
    <dsp:sp modelId="{D290A6EB-8BBE-4419-951A-C8B0AB81F6CC}">
      <dsp:nvSpPr>
        <dsp:cNvPr id="0" name=""/>
        <dsp:cNvSpPr/>
      </dsp:nvSpPr>
      <dsp:spPr>
        <a:xfrm>
          <a:off x="2380034" y="2443202"/>
          <a:ext cx="1695971" cy="10175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100" kern="1200" dirty="0" smtClean="0"/>
            <a:t>Data Flow and Logic</a:t>
          </a:r>
          <a:endParaRPr lang="zh-TW" altLang="en-US" sz="2100" kern="1200" dirty="0"/>
        </a:p>
      </dsp:txBody>
      <dsp:txXfrm>
        <a:off x="2380034" y="2443202"/>
        <a:ext cx="1695971" cy="1017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E55DD-8B25-4287-974E-78430715C982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DBBAF-DFC2-4683-8E8C-485F28939DD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2011/12/7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dnet.com.tw/news/software/0,2000085678,20126532,00.htm" TargetMode="External"/><Relationship Id="rId2" Type="http://schemas.openxmlformats.org/officeDocument/2006/relationships/hyperlink" Target="https://cloudsecurityallianc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law.moj.gov.tw/LawClass/LawAll.aspx?PCode=I0050021" TargetMode="External"/><Relationship Id="rId4" Type="http://schemas.openxmlformats.org/officeDocument/2006/relationships/hyperlink" Target="http://www.informationsecurity.com.tw/article/article_detail.aspx?tv=11&amp;aid=62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Cloud Issues and </a:t>
            </a:r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Challenges</a:t>
            </a:r>
            <a:b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</a:br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Standard </a:t>
            </a:r>
            <a:r>
              <a:rPr lang="en-US" altLang="zh-TW" sz="24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and Law</a:t>
            </a:r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/>
            </a:r>
            <a:b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</a:br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lvl="1"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Issues &amp; challenges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  <a:p>
            <a:endParaRPr lang="en-US" altLang="zh-TW" dirty="0" smtClean="0"/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Cloud Security</a:t>
            </a:r>
            <a:endParaRPr lang="en-US" altLang="zh-TW" dirty="0" smtClean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Security &amp; attack</a:t>
            </a:r>
          </a:p>
          <a:p>
            <a:r>
              <a:rPr lang="en-US" altLang="zh-TW" dirty="0" smtClean="0"/>
              <a:t>Cloud Standard and Law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Guideline </a:t>
            </a:r>
            <a:r>
              <a:rPr lang="en-US" altLang="zh-TW" dirty="0" smtClean="0"/>
              <a:t>for </a:t>
            </a:r>
            <a:r>
              <a:rPr lang="en-US" altLang="zh-TW" dirty="0" smtClean="0"/>
              <a:t>secure cloud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Law and privacy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/>
          <a:lstStyle/>
          <a:p>
            <a:r>
              <a:rPr lang="en-US" altLang="zh-TW" dirty="0" smtClean="0"/>
              <a:t>Cloud Standard and Law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Outline 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</a:p>
          <a:p>
            <a:pPr lvl="1"/>
            <a:r>
              <a:rPr lang="en-US" altLang="zh-TW" dirty="0" smtClean="0"/>
              <a:t>Why we need a security standard and obey the </a:t>
            </a:r>
            <a:r>
              <a:rPr lang="en-US" altLang="zh-TW" dirty="0" smtClean="0"/>
              <a:t>law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Business, risk and </a:t>
            </a:r>
            <a:r>
              <a:rPr lang="en-US" altLang="zh-TW" dirty="0" smtClean="0"/>
              <a:t>money</a:t>
            </a:r>
            <a:endParaRPr lang="en-US" altLang="zh-TW" dirty="0" smtClean="0"/>
          </a:p>
          <a:p>
            <a:r>
              <a:rPr lang="en-US" altLang="zh-TW" dirty="0" smtClean="0"/>
              <a:t>Cloud Security Alliance (CSA)</a:t>
            </a:r>
          </a:p>
          <a:p>
            <a:pPr lvl="1"/>
            <a:r>
              <a:rPr lang="en-US" altLang="zh-TW" dirty="0" smtClean="0"/>
              <a:t>Governance and operation</a:t>
            </a:r>
          </a:p>
          <a:p>
            <a:r>
              <a:rPr lang="en-US" altLang="zh-TW" dirty="0" smtClean="0"/>
              <a:t>Law and </a:t>
            </a:r>
            <a:r>
              <a:rPr lang="en-US" altLang="zh-TW" dirty="0" smtClean="0"/>
              <a:t>Privacy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Which one is </a:t>
            </a:r>
            <a:r>
              <a:rPr lang="en-US" altLang="zh-TW" dirty="0" smtClean="0"/>
              <a:t>important</a:t>
            </a:r>
            <a:endParaRPr lang="en-US" altLang="zh-TW" dirty="0" smtClean="0"/>
          </a:p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lot of cloud service are provided by many companies</a:t>
            </a:r>
          </a:p>
          <a:p>
            <a:pPr lvl="1"/>
            <a:r>
              <a:rPr lang="en-US" altLang="zh-TW" dirty="0" smtClean="0"/>
              <a:t>Storage, web hosting, business model …etc.</a:t>
            </a:r>
          </a:p>
          <a:p>
            <a:pPr lvl="1"/>
            <a:r>
              <a:rPr lang="en-US" altLang="zh-TW" dirty="0" err="1" smtClean="0"/>
              <a:t>Dropbox</a:t>
            </a:r>
            <a:r>
              <a:rPr lang="en-US" altLang="zh-TW" dirty="0" smtClean="0"/>
              <a:t>, Amazon EC2 and </a:t>
            </a:r>
            <a:r>
              <a:rPr lang="en-US" altLang="zh-TW" dirty="0" err="1" smtClean="0"/>
              <a:t>Salesforce</a:t>
            </a:r>
            <a:r>
              <a:rPr lang="en-US" altLang="zh-TW" dirty="0" smtClean="0"/>
              <a:t>. </a:t>
            </a:r>
          </a:p>
          <a:p>
            <a:pPr lvl="1"/>
            <a:r>
              <a:rPr lang="en-US" altLang="zh-TW" dirty="0" smtClean="0"/>
              <a:t>Cloud computing is full range of services.</a:t>
            </a:r>
          </a:p>
          <a:p>
            <a:r>
              <a:rPr lang="en-US" altLang="zh-TW" dirty="0" smtClean="0"/>
              <a:t>Also, these are many traditional and cloud security issues</a:t>
            </a:r>
          </a:p>
          <a:p>
            <a:pPr lvl="1"/>
            <a:r>
              <a:rPr lang="en-US" altLang="zh-TW" dirty="0" smtClean="0"/>
              <a:t>How can we go smoothly?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Issue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is the subset of computer services</a:t>
            </a:r>
          </a:p>
          <a:p>
            <a:pPr lvl="1"/>
            <a:r>
              <a:rPr lang="en-US" altLang="zh-TW" dirty="0" smtClean="0"/>
              <a:t>It also has the same problems of traditional security issue.</a:t>
            </a:r>
          </a:p>
          <a:p>
            <a:pPr lvl="2"/>
            <a:r>
              <a:rPr lang="en-US" altLang="zh-TW" dirty="0" smtClean="0"/>
              <a:t>Hardware, software and management attacks.</a:t>
            </a:r>
          </a:p>
          <a:p>
            <a:r>
              <a:rPr lang="en-US" altLang="zh-TW" dirty="0" smtClean="0"/>
              <a:t>Cloud computing has other particular problem</a:t>
            </a:r>
          </a:p>
          <a:p>
            <a:pPr lvl="1"/>
            <a:r>
              <a:rPr lang="en-US" altLang="zh-TW" dirty="0" smtClean="0"/>
              <a:t>Under the concept of on-demand service, users share all of the resources.</a:t>
            </a:r>
          </a:p>
          <a:p>
            <a:pPr lvl="2"/>
            <a:r>
              <a:rPr lang="en-US" altLang="zh-TW" dirty="0" smtClean="0"/>
              <a:t>Incomplete isolation technique would increase the security risk.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Risk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addition to the security issue, users also concern the security risk</a:t>
            </a:r>
          </a:p>
          <a:p>
            <a:pPr lvl="1"/>
            <a:r>
              <a:rPr lang="en-US" altLang="zh-TW" dirty="0" smtClean="0"/>
              <a:t>How about the security management?</a:t>
            </a:r>
          </a:p>
          <a:p>
            <a:pPr lvl="1"/>
            <a:r>
              <a:rPr lang="en-US" altLang="zh-TW" dirty="0" smtClean="0"/>
              <a:t>How about the incident response and remediation?</a:t>
            </a:r>
          </a:p>
          <a:p>
            <a:endParaRPr lang="en-US" altLang="zh-TW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221088"/>
            <a:ext cx="1353198" cy="135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717032"/>
            <a:ext cx="2109614" cy="1621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5013176"/>
            <a:ext cx="2113231" cy="170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2160" y="3573016"/>
            <a:ext cx="2604186" cy="1682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so Serious?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companies, each time of security problem means an economic loss</a:t>
            </a:r>
          </a:p>
          <a:p>
            <a:pPr lvl="1"/>
            <a:r>
              <a:rPr lang="en-US" altLang="zh-TW" dirty="0" smtClean="0"/>
              <a:t>Stopping service one hour not only stops making money but also loss the customers.</a:t>
            </a:r>
          </a:p>
          <a:p>
            <a:pPr lvl="1"/>
            <a:r>
              <a:rPr lang="en-US" altLang="zh-TW" dirty="0" smtClean="0"/>
              <a:t>Company’s reputation is the most important part.</a:t>
            </a:r>
          </a:p>
          <a:p>
            <a:r>
              <a:rPr lang="en-US" altLang="zh-TW" dirty="0" smtClean="0"/>
              <a:t>How can we find the best solution?</a:t>
            </a:r>
          </a:p>
          <a:p>
            <a:pPr lvl="1"/>
            <a:r>
              <a:rPr lang="en-US" altLang="zh-TW" dirty="0" smtClean="0"/>
              <a:t>Where is the security guideline?</a:t>
            </a:r>
            <a:endParaRPr lang="zh-TW" altLang="en-US" dirty="0"/>
          </a:p>
        </p:txBody>
      </p:sp>
      <p:graphicFrame>
        <p:nvGraphicFramePr>
          <p:cNvPr id="5" name="圖表 4"/>
          <p:cNvGraphicFramePr/>
          <p:nvPr/>
        </p:nvGraphicFramePr>
        <p:xfrm>
          <a:off x="5940152" y="3933056"/>
          <a:ext cx="3048000" cy="276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 to the Cloud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In recent years, cloud computing is popular and lots of companies want to join into this industry</a:t>
            </a:r>
          </a:p>
          <a:p>
            <a:pPr lvl="1"/>
            <a:r>
              <a:rPr lang="en-US" altLang="zh-TW" dirty="0" smtClean="0"/>
              <a:t>Every company want to be the leader.</a:t>
            </a:r>
          </a:p>
          <a:p>
            <a:pPr lvl="1"/>
            <a:r>
              <a:rPr lang="en-US" altLang="zh-TW" dirty="0" smtClean="0"/>
              <a:t>Every company  want to design the standard.</a:t>
            </a:r>
          </a:p>
          <a:p>
            <a:r>
              <a:rPr lang="en-US" altLang="zh-TW" dirty="0" smtClean="0"/>
              <a:t>View to the security , there are lots of the cyber security standard </a:t>
            </a:r>
          </a:p>
          <a:p>
            <a:pPr lvl="1"/>
            <a:r>
              <a:rPr lang="en-US" altLang="zh-TW" dirty="0" smtClean="0"/>
              <a:t>ISO 27002</a:t>
            </a:r>
          </a:p>
          <a:p>
            <a:pPr lvl="1"/>
            <a:r>
              <a:rPr lang="en-US" altLang="zh-TW" dirty="0" smtClean="0"/>
              <a:t>NIST</a:t>
            </a:r>
          </a:p>
          <a:p>
            <a:pPr lvl="1"/>
            <a:r>
              <a:rPr lang="en-US" altLang="zh-TW" dirty="0" smtClean="0"/>
              <a:t>RFC 2196</a:t>
            </a:r>
          </a:p>
          <a:p>
            <a:r>
              <a:rPr lang="en-US" altLang="zh-TW" dirty="0" smtClean="0"/>
              <a:t>There is the cloud security standards?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algn="ctr"/>
            <a:r>
              <a:rPr lang="en-US" altLang="zh-TW" dirty="0" smtClean="0"/>
              <a:t>Cloud Security Alliance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Standard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security alliance (CSA) is a not-for-profit organization</a:t>
            </a:r>
          </a:p>
          <a:p>
            <a:pPr lvl="1"/>
            <a:r>
              <a:rPr lang="en-US" altLang="zh-TW" dirty="0" smtClean="0"/>
              <a:t>Try to promote the use of best practices for providing security assurance within Cloud Computing.</a:t>
            </a:r>
          </a:p>
          <a:p>
            <a:pPr lvl="1"/>
            <a:r>
              <a:rPr lang="en-US" altLang="zh-TW" dirty="0" smtClean="0"/>
              <a:t>Provide education on the uses of Cloud Computing.</a:t>
            </a:r>
          </a:p>
          <a:p>
            <a:r>
              <a:rPr lang="en-US" altLang="zh-TW" dirty="0" smtClean="0"/>
              <a:t>CSA provides general views of cloud computing, security issue which may be encountered and some security suggestion</a:t>
            </a:r>
          </a:p>
          <a:p>
            <a:pPr lvl="1"/>
            <a:r>
              <a:rPr lang="en-US" altLang="zh-TW" dirty="0" smtClean="0"/>
              <a:t>User can use the cloud control matrix to build a secure cloud environment  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Matrix</a:t>
            </a:r>
            <a:endParaRPr lang="zh-TW" altLang="en-US" dirty="0"/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94" t="23261" r="27806" b="4047"/>
          <a:stretch>
            <a:fillRect/>
          </a:stretch>
        </p:blipFill>
        <p:spPr bwMode="auto">
          <a:xfrm>
            <a:off x="457200" y="1606641"/>
            <a:ext cx="8229600" cy="451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Control Field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CSA separates cloud computing into two fields which has total 12 subprojects:</a:t>
            </a:r>
          </a:p>
          <a:p>
            <a:pPr lvl="1"/>
            <a:r>
              <a:rPr lang="en-US" altLang="zh-TW" dirty="0" smtClean="0"/>
              <a:t>Governance </a:t>
            </a:r>
          </a:p>
          <a:p>
            <a:pPr lvl="1"/>
            <a:r>
              <a:rPr lang="en-US" altLang="zh-TW" dirty="0" smtClean="0"/>
              <a:t>Operation</a:t>
            </a:r>
          </a:p>
          <a:p>
            <a:r>
              <a:rPr lang="en-US" altLang="zh-TW" dirty="0" smtClean="0"/>
              <a:t>Cloud governance introduce how to build a secure cloud service</a:t>
            </a:r>
          </a:p>
          <a:p>
            <a:pPr lvl="1"/>
            <a:r>
              <a:rPr lang="en-US" altLang="zh-TW" dirty="0" smtClean="0"/>
              <a:t>Cloud company build a secure environment.</a:t>
            </a:r>
          </a:p>
          <a:p>
            <a:pPr lvl="1"/>
            <a:r>
              <a:rPr lang="en-US" altLang="zh-TW" dirty="0" smtClean="0"/>
              <a:t>How does the cloud customer choose a secure platform.</a:t>
            </a:r>
          </a:p>
          <a:p>
            <a:r>
              <a:rPr lang="en-US" altLang="zh-TW" dirty="0" smtClean="0"/>
              <a:t>Cloud operation introduce how to solve security problem and maintain a secure cloud environment.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Control Field (cont’d)</a:t>
            </a:r>
            <a:endParaRPr lang="zh-TW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395536" y="1268760"/>
            <a:ext cx="7776864" cy="5184576"/>
            <a:chOff x="395536" y="1268760"/>
            <a:chExt cx="7776864" cy="5184576"/>
          </a:xfrm>
        </p:grpSpPr>
        <p:sp>
          <p:nvSpPr>
            <p:cNvPr id="4" name="圓角矩形 3"/>
            <p:cNvSpPr/>
            <p:nvPr/>
          </p:nvSpPr>
          <p:spPr>
            <a:xfrm>
              <a:off x="395536" y="3465004"/>
              <a:ext cx="2520280" cy="79208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CSA Guidelines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339752" y="2240868"/>
              <a:ext cx="2304256" cy="864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Governance 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339752" y="4617132"/>
              <a:ext cx="2304256" cy="864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Operation 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直線接點 7"/>
            <p:cNvCxnSpPr/>
            <p:nvPr/>
          </p:nvCxnSpPr>
          <p:spPr>
            <a:xfrm flipV="1">
              <a:off x="2267744" y="3104964"/>
              <a:ext cx="648072" cy="3600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線接點 8"/>
            <p:cNvCxnSpPr/>
            <p:nvPr/>
          </p:nvCxnSpPr>
          <p:spPr>
            <a:xfrm>
              <a:off x="2339752" y="4257092"/>
              <a:ext cx="648072" cy="3600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圓角矩形 9"/>
            <p:cNvSpPr/>
            <p:nvPr/>
          </p:nvSpPr>
          <p:spPr>
            <a:xfrm>
              <a:off x="5220072" y="1268760"/>
              <a:ext cx="2880320" cy="244827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Risk Management 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Legal and electronic discovery 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Compliance and audit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ILM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Portability and interoperability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220072" y="4005064"/>
              <a:ext cx="2952328" cy="244827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Disaster recovery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Data center operation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Incident response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Application security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Encryption and key management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Access management</a:t>
              </a:r>
            </a:p>
            <a:p>
              <a:pPr marL="342900" indent="-342900">
                <a:buAutoNum type="arabicPeriod"/>
              </a:pPr>
              <a:r>
                <a:rPr lang="en-US" altLang="zh-TW" dirty="0" smtClean="0">
                  <a:solidFill>
                    <a:schemeClr val="tx1"/>
                  </a:solidFill>
                </a:rPr>
                <a:t>Virtualization </a:t>
              </a:r>
            </a:p>
          </p:txBody>
        </p:sp>
        <p:cxnSp>
          <p:nvCxnSpPr>
            <p:cNvPr id="13" name="直線接點 12"/>
            <p:cNvCxnSpPr>
              <a:stCxn id="5" idx="3"/>
            </p:cNvCxnSpPr>
            <p:nvPr/>
          </p:nvCxnSpPr>
          <p:spPr>
            <a:xfrm flipV="1">
              <a:off x="4644008" y="1556792"/>
              <a:ext cx="576064" cy="11161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/>
            <p:cNvCxnSpPr/>
            <p:nvPr/>
          </p:nvCxnSpPr>
          <p:spPr>
            <a:xfrm>
              <a:off x="4644008" y="2636912"/>
              <a:ext cx="576064" cy="7920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stCxn id="6" idx="3"/>
            </p:cNvCxnSpPr>
            <p:nvPr/>
          </p:nvCxnSpPr>
          <p:spPr>
            <a:xfrm flipV="1">
              <a:off x="4644008" y="4293096"/>
              <a:ext cx="576064" cy="75608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6" idx="3"/>
            </p:cNvCxnSpPr>
            <p:nvPr/>
          </p:nvCxnSpPr>
          <p:spPr>
            <a:xfrm>
              <a:off x="4644008" y="5049180"/>
              <a:ext cx="576064" cy="10441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Before Join 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CSA provides five steps </a:t>
            </a:r>
          </a:p>
          <a:p>
            <a:pPr lvl="1"/>
            <a:r>
              <a:rPr lang="en-US" altLang="zh-TW" dirty="0" smtClean="0"/>
              <a:t>How to choose a suitable cloud platform </a:t>
            </a:r>
          </a:p>
        </p:txBody>
      </p:sp>
      <p:graphicFrame>
        <p:nvGraphicFramePr>
          <p:cNvPr id="5" name="資料庫圖表 4"/>
          <p:cNvGraphicFramePr/>
          <p:nvPr/>
        </p:nvGraphicFramePr>
        <p:xfrm>
          <a:off x="1356320" y="2420888"/>
          <a:ext cx="6456040" cy="4208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Before Join in Cloud (cont’d)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Step 1: understand your requirement </a:t>
            </a:r>
          </a:p>
          <a:p>
            <a:pPr lvl="1"/>
            <a:r>
              <a:rPr lang="en-US" altLang="zh-TW" dirty="0" smtClean="0"/>
              <a:t>CSA classify the usage of cloud into two classes: data and application.</a:t>
            </a:r>
          </a:p>
          <a:p>
            <a:pPr lvl="1"/>
            <a:r>
              <a:rPr lang="en-US" altLang="zh-TW" dirty="0" smtClean="0"/>
              <a:t>Depended on your usage, understand which one is running on your cloud platform.</a:t>
            </a:r>
          </a:p>
          <a:p>
            <a:r>
              <a:rPr lang="en-US" altLang="zh-TW" dirty="0" smtClean="0"/>
              <a:t>Step 2: assess your assets</a:t>
            </a:r>
          </a:p>
          <a:p>
            <a:pPr lvl="1"/>
            <a:r>
              <a:rPr lang="en-US" altLang="zh-TW" dirty="0" smtClean="0"/>
              <a:t>Depended on the important of data and application, you should provide difference level of security protection.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Before Join in Cloud (cont’d)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Step 3: choose the deploy model</a:t>
            </a:r>
          </a:p>
          <a:p>
            <a:pPr lvl="1"/>
            <a:r>
              <a:rPr lang="en-US" altLang="zh-TW" dirty="0" smtClean="0"/>
              <a:t>Depended on your secure requirement, different deploy model has difference default protection properties.</a:t>
            </a:r>
          </a:p>
          <a:p>
            <a:pPr lvl="1"/>
            <a:r>
              <a:rPr lang="en-US" altLang="zh-TW" dirty="0" smtClean="0"/>
              <a:t>Private cloud in internal environment has highest default protection.</a:t>
            </a:r>
          </a:p>
          <a:p>
            <a:r>
              <a:rPr lang="en-US" altLang="zh-TW" dirty="0" smtClean="0"/>
              <a:t>Step 4: choose the cloud service model and vendor</a:t>
            </a:r>
          </a:p>
          <a:p>
            <a:pPr lvl="1"/>
            <a:r>
              <a:rPr lang="en-US" altLang="zh-TW" dirty="0" err="1" smtClean="0"/>
              <a:t>SaaS</a:t>
            </a:r>
            <a:r>
              <a:rPr lang="en-US" altLang="zh-TW" dirty="0" smtClean="0"/>
              <a:t> has the lower responsibility and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need to rebuild the security mechanism by yourself.</a:t>
            </a:r>
          </a:p>
          <a:p>
            <a:r>
              <a:rPr lang="en-US" altLang="zh-TW" dirty="0" smtClean="0"/>
              <a:t>Step 5: understand the data flow and program logic</a:t>
            </a:r>
          </a:p>
          <a:p>
            <a:pPr lvl="1"/>
            <a:r>
              <a:rPr lang="en-US" altLang="zh-TW" dirty="0" smtClean="0"/>
              <a:t>Designed a reasonable and effective secure cloud service requires company full understand the workflow of service and possible threats.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Prepared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After five steps, companies and customers can both select the cloud platform which meets the requirement</a:t>
            </a:r>
          </a:p>
          <a:p>
            <a:pPr lvl="1"/>
            <a:r>
              <a:rPr lang="en-US" altLang="zh-TW" dirty="0" smtClean="0"/>
              <a:t>But there are many security issue need to be concerned.</a:t>
            </a:r>
          </a:p>
          <a:p>
            <a:r>
              <a:rPr lang="en-US" altLang="zh-TW" dirty="0" smtClean="0"/>
              <a:t>Combined with the full understand of requirement and classify the assert, cloud users could design the suitable secure environment.</a:t>
            </a:r>
          </a:p>
          <a:p>
            <a:pPr lvl="1"/>
            <a:r>
              <a:rPr lang="en-US" altLang="zh-TW" dirty="0" smtClean="0"/>
              <a:t>Build the service environment or platform.</a:t>
            </a:r>
          </a:p>
          <a:p>
            <a:pPr lvl="1"/>
            <a:r>
              <a:rPr lang="en-US" altLang="zh-TW" dirty="0" smtClean="0"/>
              <a:t>Operate the service.</a:t>
            </a:r>
          </a:p>
          <a:p>
            <a:pPr lvl="1"/>
            <a:r>
              <a:rPr lang="en-US" altLang="zh-TW" dirty="0" smtClean="0"/>
              <a:t>Keep the service quality.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Security Alliance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Governance </a:t>
            </a:r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Operation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Governance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Governance and enterprise risk management</a:t>
            </a:r>
          </a:p>
          <a:p>
            <a:r>
              <a:rPr lang="en-US" altLang="zh-TW" dirty="0" smtClean="0"/>
              <a:t>Legal and electronic discovery</a:t>
            </a:r>
          </a:p>
          <a:p>
            <a:r>
              <a:rPr lang="en-US" altLang="zh-TW" dirty="0" smtClean="0"/>
              <a:t>Compliance and audit</a:t>
            </a:r>
          </a:p>
          <a:p>
            <a:r>
              <a:rPr lang="en-US" altLang="zh-TW" dirty="0" smtClean="0"/>
              <a:t>Information </a:t>
            </a:r>
            <a:r>
              <a:rPr lang="en-US" altLang="zh-TW" dirty="0" smtClean="0"/>
              <a:t>Lifecycle Management</a:t>
            </a:r>
            <a:endParaRPr lang="en-US" altLang="zh-TW" dirty="0" smtClean="0"/>
          </a:p>
          <a:p>
            <a:r>
              <a:rPr lang="en-US" altLang="zh-TW" dirty="0" smtClean="0"/>
              <a:t>Portability and interoperability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Governance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In cloud computing, companies provide many services to users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 customers use services what they need</a:t>
            </a:r>
          </a:p>
          <a:p>
            <a:pPr lvl="1"/>
            <a:r>
              <a:rPr lang="en-US" altLang="zh-TW" dirty="0" smtClean="0"/>
              <a:t>How to reduce the security risk when using cloud computing?</a:t>
            </a:r>
          </a:p>
          <a:p>
            <a:r>
              <a:rPr lang="en-US" altLang="zh-TW" dirty="0" smtClean="0"/>
              <a:t>The security risk in cloud computing include</a:t>
            </a:r>
          </a:p>
          <a:p>
            <a:pPr lvl="1"/>
            <a:r>
              <a:rPr lang="en-US" altLang="zh-TW" dirty="0" smtClean="0"/>
              <a:t>Any kind of emergency.</a:t>
            </a:r>
          </a:p>
          <a:p>
            <a:pPr lvl="1"/>
            <a:r>
              <a:rPr lang="en-US" altLang="zh-TW" dirty="0" smtClean="0"/>
              <a:t>Audit and law problem.</a:t>
            </a:r>
          </a:p>
          <a:p>
            <a:pPr lvl="1"/>
            <a:r>
              <a:rPr lang="en-US" altLang="zh-TW" dirty="0" smtClean="0"/>
              <a:t>Migration between two cloud vendor.</a:t>
            </a:r>
          </a:p>
          <a:p>
            <a:pPr lvl="1"/>
            <a:r>
              <a:rPr lang="en-US" altLang="zh-TW" dirty="0" smtClean="0"/>
              <a:t>…etc.</a:t>
            </a:r>
          </a:p>
          <a:p>
            <a:r>
              <a:rPr lang="en-US" altLang="zh-TW" dirty="0" smtClean="0"/>
              <a:t>Governance is a guideline when choosing a suitable cloud vendor and service model.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Governance  (cont’d)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governance field, CSA proposed five class which need to be concerned and CSA given some suggestions</a:t>
            </a:r>
          </a:p>
          <a:p>
            <a:pPr lvl="1"/>
            <a:r>
              <a:rPr lang="en-US" altLang="zh-TW" dirty="0" smtClean="0"/>
              <a:t>Governance and enterprise risk management</a:t>
            </a:r>
          </a:p>
          <a:p>
            <a:pPr lvl="1"/>
            <a:r>
              <a:rPr lang="en-US" altLang="zh-TW" dirty="0" smtClean="0"/>
              <a:t>Legal and electronic discovery</a:t>
            </a:r>
          </a:p>
          <a:p>
            <a:pPr lvl="1"/>
            <a:r>
              <a:rPr lang="en-US" altLang="zh-TW" dirty="0" smtClean="0"/>
              <a:t>Compliance and audit</a:t>
            </a:r>
          </a:p>
          <a:p>
            <a:pPr lvl="1"/>
            <a:r>
              <a:rPr lang="en-US" altLang="zh-TW" dirty="0" smtClean="0"/>
              <a:t>Information lifecycle management</a:t>
            </a:r>
          </a:p>
          <a:p>
            <a:pPr lvl="1"/>
            <a:r>
              <a:rPr lang="en-US" altLang="zh-TW" dirty="0" smtClean="0"/>
              <a:t>Portability and interoperability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75856" y="5193196"/>
            <a:ext cx="230425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Governance 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6156176" y="4221088"/>
            <a:ext cx="2880320" cy="24482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Risk Management </a:t>
            </a:r>
          </a:p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Legal and electronic discovery </a:t>
            </a:r>
          </a:p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Compliance and audit</a:t>
            </a:r>
          </a:p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ILM</a:t>
            </a:r>
          </a:p>
          <a:p>
            <a:pPr marL="342900" indent="-342900"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Portability and interoperability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線接點 5"/>
          <p:cNvCxnSpPr>
            <a:stCxn id="4" idx="3"/>
          </p:cNvCxnSpPr>
          <p:nvPr/>
        </p:nvCxnSpPr>
        <p:spPr>
          <a:xfrm flipV="1">
            <a:off x="5580112" y="4509120"/>
            <a:ext cx="576064" cy="11161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5580112" y="5589240"/>
            <a:ext cx="576064" cy="7920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Risk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cloud computing, a effective risk management follows a well-defined information security management processes</a:t>
            </a:r>
          </a:p>
          <a:p>
            <a:pPr lvl="1"/>
            <a:r>
              <a:rPr lang="en-US" altLang="zh-TW" dirty="0" smtClean="0"/>
              <a:t>Extendibility</a:t>
            </a:r>
          </a:p>
          <a:p>
            <a:pPr lvl="1"/>
            <a:r>
              <a:rPr lang="en-US" altLang="zh-TW" dirty="0" smtClean="0"/>
              <a:t>Reproducibility</a:t>
            </a:r>
          </a:p>
          <a:p>
            <a:r>
              <a:rPr lang="en-US" altLang="zh-TW" dirty="0" smtClean="0"/>
              <a:t>The management processes are elasticity when business growth and can be used in difference enterprises.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Risk Management </a:t>
            </a:r>
            <a:endParaRPr lang="zh-TW" altLang="en-US" dirty="0"/>
          </a:p>
        </p:txBody>
      </p:sp>
      <p:pic>
        <p:nvPicPr>
          <p:cNvPr id="69634" name="Picture 2" descr="http://i.i.com.com/cnwk.1d/i/ne/p/2008/sp1_550x413.jpg"/>
          <p:cNvPicPr>
            <a:picLocks noChangeAspect="1" noChangeArrowheads="1"/>
          </p:cNvPicPr>
          <p:nvPr/>
        </p:nvPicPr>
        <p:blipFill>
          <a:blip r:embed="rId2" cstate="print"/>
          <a:srcRect t="16474" r="47768" b="15798"/>
          <a:stretch>
            <a:fillRect/>
          </a:stretch>
        </p:blipFill>
        <p:spPr bwMode="auto">
          <a:xfrm>
            <a:off x="3059832" y="4869160"/>
            <a:ext cx="2016224" cy="19631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Enterprises should design the security metric and standard before design the security management</a:t>
            </a:r>
          </a:p>
          <a:p>
            <a:pPr lvl="1"/>
            <a:r>
              <a:rPr lang="en-US" altLang="zh-TW" dirty="0" smtClean="0"/>
              <a:t>Everyone needs to understand and record the security metric.</a:t>
            </a:r>
          </a:p>
          <a:p>
            <a:pPr lvl="1"/>
            <a:r>
              <a:rPr lang="en-US" altLang="zh-TW" dirty="0" smtClean="0"/>
              <a:t>Enterprises use parts of profits used in security controls.</a:t>
            </a:r>
          </a:p>
          <a:p>
            <a:pPr lvl="1"/>
            <a:r>
              <a:rPr lang="en-US" altLang="zh-TW" dirty="0" smtClean="0"/>
              <a:t>Enterprises assess of audit to keep the security requirement.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Risk Management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Enterprise Risk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Companies in cloud computing lose the control of system and security management</a:t>
            </a:r>
          </a:p>
          <a:p>
            <a:pPr lvl="1"/>
            <a:r>
              <a:rPr lang="en-US" altLang="zh-TW" dirty="0" smtClean="0"/>
              <a:t>Service level agreement (SLA) is only one to ensure the risk management.</a:t>
            </a:r>
          </a:p>
          <a:p>
            <a:pPr lvl="1"/>
            <a:r>
              <a:rPr lang="en-US" altLang="zh-TW" dirty="0" smtClean="0"/>
              <a:t>Enterprise should choose the cloud vendor which can provide the suitable SLA.</a:t>
            </a:r>
          </a:p>
          <a:p>
            <a:r>
              <a:rPr lang="en-US" altLang="zh-TW" dirty="0" smtClean="0"/>
              <a:t>Depended on SLA, companies usually cannot test the security management</a:t>
            </a:r>
          </a:p>
          <a:p>
            <a:pPr lvl="1"/>
            <a:r>
              <a:rPr lang="en-US" altLang="zh-TW" dirty="0" smtClean="0"/>
              <a:t>Avoid to affect the other user.</a:t>
            </a:r>
          </a:p>
          <a:p>
            <a:pPr lvl="1"/>
            <a:r>
              <a:rPr lang="en-US" altLang="zh-TW" dirty="0" smtClean="0"/>
              <a:t>Avoid to affect the </a:t>
            </a:r>
            <a:r>
              <a:rPr lang="en-US" altLang="zh-TW" dirty="0" err="1" smtClean="0"/>
              <a:t>QoS</a:t>
            </a:r>
            <a:r>
              <a:rPr lang="en-US" altLang="zh-TW" dirty="0" smtClean="0"/>
              <a:t> of cloud environment.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Risk Management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Information Risk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Information risk management is used for information C.I.A. properties</a:t>
            </a:r>
          </a:p>
          <a:p>
            <a:pPr lvl="1"/>
            <a:r>
              <a:rPr lang="en-US" altLang="zh-TW" dirty="0" smtClean="0"/>
              <a:t>Cloud users need to build the SLA requirement and collect necessary information to design the management policy.</a:t>
            </a:r>
          </a:p>
          <a:p>
            <a:pPr lvl="1"/>
            <a:r>
              <a:rPr lang="en-US" altLang="zh-TW" dirty="0" smtClean="0"/>
              <a:t>In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, the major security information are provided by cloud vendor.</a:t>
            </a:r>
          </a:p>
          <a:p>
            <a:pPr lvl="1"/>
            <a:r>
              <a:rPr lang="en-US" altLang="zh-TW" dirty="0" smtClean="0"/>
              <a:t>In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, users need to collect and control almost all of information.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Risk Management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Third-party Apps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users need to review the information transfer chain between cloud service and third-party service</a:t>
            </a:r>
          </a:p>
          <a:p>
            <a:pPr lvl="1"/>
            <a:r>
              <a:rPr lang="en-US" altLang="zh-TW" dirty="0" smtClean="0"/>
              <a:t>Service relation and dependence.</a:t>
            </a:r>
          </a:p>
          <a:p>
            <a:pPr lvl="1"/>
            <a:r>
              <a:rPr lang="en-US" altLang="zh-TW" dirty="0" smtClean="0"/>
              <a:t>Cloud vendor’s third-party application management</a:t>
            </a:r>
          </a:p>
          <a:p>
            <a:pPr lvl="1"/>
            <a:r>
              <a:rPr lang="en-US" altLang="zh-TW" dirty="0" smtClean="0"/>
              <a:t>Response mechanism for service interruption</a:t>
            </a:r>
          </a:p>
          <a:p>
            <a:pPr lvl="1"/>
            <a:r>
              <a:rPr lang="en-US" altLang="zh-TW" dirty="0" smtClean="0"/>
              <a:t>Third-party application’s extendibility.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Risk Management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Legal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In cloud computing, data is not controlled by customers</a:t>
            </a:r>
          </a:p>
          <a:p>
            <a:pPr lvl="1"/>
            <a:r>
              <a:rPr lang="en-US" altLang="zh-TW" dirty="0" smtClean="0"/>
              <a:t>Instead, cloud vendor hosts all data in cloud environment.</a:t>
            </a:r>
          </a:p>
          <a:p>
            <a:pPr lvl="1"/>
            <a:r>
              <a:rPr lang="en-US" altLang="zh-TW" dirty="0" smtClean="0"/>
              <a:t>How to identify the liability is the important things.</a:t>
            </a:r>
          </a:p>
          <a:p>
            <a:r>
              <a:rPr lang="en-US" altLang="zh-TW" dirty="0" smtClean="0"/>
              <a:t>A complete cloud law management has three parts</a:t>
            </a:r>
          </a:p>
          <a:p>
            <a:pPr lvl="1"/>
            <a:r>
              <a:rPr lang="en-US" altLang="zh-TW" dirty="0" smtClean="0"/>
              <a:t>Functionality </a:t>
            </a:r>
          </a:p>
          <a:p>
            <a:pPr lvl="2"/>
            <a:r>
              <a:rPr lang="en-US" altLang="zh-TW" dirty="0" smtClean="0"/>
              <a:t>Definition the cloud service and functionality.</a:t>
            </a:r>
          </a:p>
          <a:p>
            <a:pPr lvl="1"/>
            <a:r>
              <a:rPr lang="en-US" altLang="zh-TW" dirty="0" smtClean="0"/>
              <a:t>Judicature</a:t>
            </a:r>
          </a:p>
          <a:p>
            <a:pPr lvl="2"/>
            <a:r>
              <a:rPr lang="en-US" altLang="zh-TW" dirty="0" smtClean="0"/>
              <a:t>Legal norms of cloud service and data management.</a:t>
            </a:r>
          </a:p>
          <a:p>
            <a:pPr lvl="1"/>
            <a:r>
              <a:rPr lang="en-US" altLang="zh-TW" dirty="0" smtClean="0"/>
              <a:t>Contract</a:t>
            </a:r>
          </a:p>
          <a:p>
            <a:pPr lvl="2"/>
            <a:r>
              <a:rPr lang="en-US" altLang="zh-TW" dirty="0" smtClean="0"/>
              <a:t>The structure of contract, terms, conditions and the law enforcement agencies.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Legal and Electronic Discovery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Electronic Discovery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Compared with traditional service</a:t>
            </a:r>
          </a:p>
          <a:p>
            <a:pPr lvl="1"/>
            <a:r>
              <a:rPr lang="en-US" altLang="zh-TW" dirty="0" smtClean="0"/>
              <a:t>Cloud computing provides services anywhere and anytime.</a:t>
            </a:r>
          </a:p>
          <a:p>
            <a:pPr lvl="1"/>
            <a:r>
              <a:rPr lang="en-US" altLang="zh-TW" dirty="0" smtClean="0"/>
              <a:t>Cloud computing uses virtualization that users unknown the location of the service and data.</a:t>
            </a:r>
          </a:p>
          <a:p>
            <a:pPr lvl="1"/>
            <a:r>
              <a:rPr lang="en-US" altLang="zh-TW" dirty="0" smtClean="0"/>
              <a:t>The legal liability may be different in different countries.</a:t>
            </a:r>
          </a:p>
          <a:p>
            <a:r>
              <a:rPr lang="en-US" altLang="zh-TW" dirty="0" smtClean="0"/>
              <a:t>Difference countries has difference law norms</a:t>
            </a:r>
          </a:p>
          <a:p>
            <a:pPr lvl="1"/>
            <a:r>
              <a:rPr lang="en-US" altLang="zh-TW" dirty="0" smtClean="0"/>
              <a:t>Electronic evidence.</a:t>
            </a:r>
          </a:p>
          <a:p>
            <a:pPr lvl="1"/>
            <a:r>
              <a:rPr lang="en-US" altLang="zh-TW" dirty="0" smtClean="0"/>
              <a:t>Record system.</a:t>
            </a:r>
          </a:p>
          <a:p>
            <a:pPr lvl="1"/>
            <a:r>
              <a:rPr lang="en-US" altLang="zh-TW" dirty="0" smtClean="0"/>
              <a:t>Management policy.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Legal and Electronic Discovery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Both vendor and customer full understand the roles of law</a:t>
            </a:r>
          </a:p>
          <a:p>
            <a:pPr lvl="1"/>
            <a:r>
              <a:rPr lang="en-US" altLang="zh-TW" dirty="0" smtClean="0"/>
              <a:t>Electronic evidence, legal recourse and the expert testimony.</a:t>
            </a:r>
          </a:p>
          <a:p>
            <a:r>
              <a:rPr lang="en-US" altLang="zh-TW" dirty="0" smtClean="0"/>
              <a:t>Cloud vendor needs to keep the system secure</a:t>
            </a:r>
          </a:p>
          <a:p>
            <a:pPr lvl="1"/>
            <a:r>
              <a:rPr lang="en-US" altLang="zh-TW" dirty="0" smtClean="0"/>
              <a:t>Provides reliability evidences when customers required.</a:t>
            </a:r>
          </a:p>
          <a:p>
            <a:pPr lvl="1"/>
            <a:r>
              <a:rPr lang="en-US" altLang="zh-TW" dirty="0" smtClean="0"/>
              <a:t>Recover the data assets when customers terminate the contract.</a:t>
            </a:r>
          </a:p>
          <a:p>
            <a:r>
              <a:rPr lang="en-US" altLang="zh-TW" dirty="0" smtClean="0"/>
              <a:t>Cloud security agreement should be review and audit by third-party</a:t>
            </a:r>
          </a:p>
          <a:p>
            <a:pPr lvl="1"/>
            <a:r>
              <a:rPr lang="en-US" altLang="zh-TW" dirty="0" smtClean="0"/>
              <a:t>Test </a:t>
            </a:r>
            <a:r>
              <a:rPr lang="en-US" altLang="zh-TW" dirty="0" err="1" smtClean="0"/>
              <a:t>QoS</a:t>
            </a:r>
            <a:r>
              <a:rPr lang="en-US" altLang="zh-TW" dirty="0" smtClean="0"/>
              <a:t> and detect the system vulnerabilities.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Legal and Electronic Discovery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Compliance &amp; Audit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cloud computing, the system separated into several parts</a:t>
            </a:r>
          </a:p>
          <a:p>
            <a:pPr lvl="1"/>
            <a:r>
              <a:rPr lang="en-US" altLang="zh-TW" dirty="0" smtClean="0"/>
              <a:t>It is easy to extend, manage and operate.</a:t>
            </a:r>
          </a:p>
          <a:p>
            <a:pPr lvl="1"/>
            <a:r>
              <a:rPr lang="en-US" altLang="zh-TW" dirty="0" smtClean="0"/>
              <a:t>It is hard to supervise and audit.</a:t>
            </a:r>
          </a:p>
          <a:p>
            <a:r>
              <a:rPr lang="en-US" altLang="zh-TW" dirty="0" smtClean="0"/>
              <a:t>Cloud auditors need to gain rich experience such that </a:t>
            </a:r>
          </a:p>
          <a:p>
            <a:pPr lvl="1"/>
            <a:r>
              <a:rPr lang="en-US" altLang="zh-TW" dirty="0" smtClean="0"/>
              <a:t>Supervise the vendor easily and effectively.</a:t>
            </a:r>
          </a:p>
          <a:p>
            <a:pPr lvl="1"/>
            <a:r>
              <a:rPr lang="en-US" altLang="zh-TW" dirty="0" smtClean="0"/>
              <a:t>Distinction between liability.</a:t>
            </a:r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Compliance and audit</a:t>
            </a:r>
          </a:p>
        </p:txBody>
      </p:sp>
      <p:pic>
        <p:nvPicPr>
          <p:cNvPr id="59398" name="Picture 6" descr="http://3.bp.blogspot.com/_9SlYS77Pdxg/Sjkh3anyR1I/AAAAAAAACiY/lSL569rE1Wk/s400/aud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8264" y="4005064"/>
            <a:ext cx="2000654" cy="25922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Readiness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cloud computing, companies should prepare well for audit</a:t>
            </a:r>
          </a:p>
          <a:p>
            <a:pPr lvl="1"/>
            <a:r>
              <a:rPr lang="en-US" altLang="zh-TW" dirty="0" smtClean="0"/>
              <a:t>Legal department </a:t>
            </a:r>
          </a:p>
          <a:p>
            <a:pPr lvl="2"/>
            <a:r>
              <a:rPr lang="en-US" altLang="zh-TW" dirty="0" smtClean="0"/>
              <a:t>Help to review the cloud service contract, supervise the cloud vendor and resolver the legal disputes.</a:t>
            </a:r>
          </a:p>
          <a:p>
            <a:pPr lvl="1"/>
            <a:r>
              <a:rPr lang="en-US" altLang="zh-TW" dirty="0" smtClean="0"/>
              <a:t>Right of audit</a:t>
            </a:r>
          </a:p>
          <a:p>
            <a:pPr lvl="2"/>
            <a:r>
              <a:rPr lang="en-US" altLang="zh-TW" dirty="0" smtClean="0"/>
              <a:t>Cloud service contract should be changed to satisfy the customer’s requirement.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Compliance and audit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ILM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The goal of information lifecycle management (ILM) </a:t>
            </a:r>
          </a:p>
          <a:p>
            <a:pPr lvl="1"/>
            <a:r>
              <a:rPr lang="en-US" altLang="zh-TW" dirty="0" smtClean="0"/>
              <a:t>Improve the system performance.</a:t>
            </a:r>
          </a:p>
          <a:p>
            <a:pPr lvl="1"/>
            <a:r>
              <a:rPr lang="en-US" altLang="zh-TW" dirty="0" smtClean="0"/>
              <a:t>Increate the service functionality.</a:t>
            </a:r>
          </a:p>
          <a:p>
            <a:r>
              <a:rPr lang="en-US" altLang="zh-TW" dirty="0" smtClean="0"/>
              <a:t>In cloud computing, data security lifecycle is challenged</a:t>
            </a:r>
          </a:p>
          <a:p>
            <a:pPr lvl="1"/>
            <a:r>
              <a:rPr lang="en-US" altLang="zh-TW" dirty="0" smtClean="0"/>
              <a:t>More elasticity</a:t>
            </a:r>
          </a:p>
          <a:p>
            <a:pPr lvl="1"/>
            <a:r>
              <a:rPr lang="en-US" altLang="zh-TW" dirty="0" smtClean="0"/>
              <a:t>Multi-tenant </a:t>
            </a:r>
          </a:p>
          <a:p>
            <a:pPr lvl="1"/>
            <a:r>
              <a:rPr lang="en-US" altLang="zh-TW" dirty="0" smtClean="0"/>
              <a:t>The new design concept of logic</a:t>
            </a:r>
          </a:p>
          <a:p>
            <a:pPr lvl="1"/>
            <a:r>
              <a:rPr lang="en-US" altLang="zh-TW" dirty="0" smtClean="0"/>
              <a:t>Public environment </a:t>
            </a:r>
          </a:p>
          <a:p>
            <a:r>
              <a:rPr lang="en-US" altLang="zh-TW" dirty="0" smtClean="0"/>
              <a:t>Cloud users should care about the six phrase of data life</a:t>
            </a:r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Information lifecycle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ILM (cont’d)</a:t>
            </a:r>
            <a:endParaRPr lang="zh-TW" alt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1850" t="14538" r="20663" b="18586"/>
          <a:stretch>
            <a:fillRect/>
          </a:stretch>
        </p:blipFill>
        <p:spPr bwMode="auto">
          <a:xfrm>
            <a:off x="980728" y="1600200"/>
            <a:ext cx="718254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圓角矩形 10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Information lifecycle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Cloud customers should understand the full secure process of data</a:t>
            </a:r>
          </a:p>
          <a:p>
            <a:pPr lvl="1"/>
            <a:r>
              <a:rPr lang="en-US" altLang="zh-TW" dirty="0" smtClean="0"/>
              <a:t>include storage location, encryption method and management policy.</a:t>
            </a:r>
          </a:p>
          <a:p>
            <a:pPr lvl="1"/>
            <a:r>
              <a:rPr lang="en-US" altLang="zh-TW" dirty="0" smtClean="0"/>
              <a:t>should be written in the SLA.</a:t>
            </a:r>
          </a:p>
          <a:p>
            <a:r>
              <a:rPr lang="en-US" altLang="zh-TW" dirty="0" smtClean="0"/>
              <a:t>Understand the data could be confiscated</a:t>
            </a:r>
          </a:p>
          <a:p>
            <a:pPr lvl="1"/>
            <a:r>
              <a:rPr lang="en-US" altLang="zh-TW" dirty="0" smtClean="0"/>
              <a:t>Cloud vendor need to notify the users.</a:t>
            </a:r>
          </a:p>
          <a:p>
            <a:pPr lvl="1"/>
            <a:r>
              <a:rPr lang="en-US" altLang="zh-TW" dirty="0" smtClean="0"/>
              <a:t>Cloud vendor need to protect the data which cannot be modified or damaged.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Information lifecycle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Only the data owner has the right of access control </a:t>
            </a:r>
          </a:p>
          <a:p>
            <a:pPr lvl="1"/>
            <a:r>
              <a:rPr lang="en-US" altLang="zh-TW" dirty="0" smtClean="0"/>
              <a:t>Cloud vendor need to disable all access at the beginning.</a:t>
            </a:r>
          </a:p>
          <a:p>
            <a:pPr lvl="1"/>
            <a:r>
              <a:rPr lang="en-US" altLang="zh-TW" dirty="0" smtClean="0"/>
              <a:t>Even cloud vendor’s staff cannot access the data without the permission.</a:t>
            </a:r>
          </a:p>
          <a:p>
            <a:r>
              <a:rPr lang="en-US" altLang="zh-TW" dirty="0" smtClean="0"/>
              <a:t>Understand the security boundary</a:t>
            </a:r>
          </a:p>
          <a:p>
            <a:pPr lvl="1"/>
            <a:r>
              <a:rPr lang="en-US" altLang="zh-TW" dirty="0" smtClean="0"/>
              <a:t>The encryption system, key management and how to choose the security key.</a:t>
            </a:r>
          </a:p>
          <a:p>
            <a:pPr lvl="1"/>
            <a:r>
              <a:rPr lang="en-US" altLang="zh-TW" dirty="0" smtClean="0"/>
              <a:t>The data isolation technique, backup and recover system.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Information lifecycle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Portability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is the new service model for companies</a:t>
            </a:r>
          </a:p>
          <a:p>
            <a:pPr lvl="1"/>
            <a:r>
              <a:rPr lang="en-US" altLang="zh-TW" dirty="0" smtClean="0"/>
              <a:t>Company choose the cloud vendor by cost, service quality, properties and other factors.</a:t>
            </a:r>
          </a:p>
          <a:p>
            <a:r>
              <a:rPr lang="en-US" altLang="zh-TW" dirty="0" smtClean="0"/>
              <a:t>Company may migrate from one cloud vendor into another cause by</a:t>
            </a:r>
          </a:p>
          <a:p>
            <a:pPr lvl="1"/>
            <a:r>
              <a:rPr lang="en-US" altLang="zh-TW" dirty="0" smtClean="0"/>
              <a:t>New service contract would increate the operating costs.</a:t>
            </a:r>
          </a:p>
          <a:p>
            <a:pPr lvl="1"/>
            <a:r>
              <a:rPr lang="en-US" altLang="zh-TW" dirty="0" smtClean="0"/>
              <a:t>Cloud vendor ceases operation or stop providing some services.</a:t>
            </a:r>
          </a:p>
          <a:p>
            <a:pPr lvl="1"/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Portability and interoperability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Interoperability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Companies need to design the system and secure guideline for particular cloud vendor</a:t>
            </a:r>
          </a:p>
          <a:p>
            <a:pPr lvl="1"/>
            <a:r>
              <a:rPr lang="en-US" altLang="zh-TW" dirty="0" smtClean="0"/>
              <a:t>Migrate to another vendor would need to modify the  system or re-build the new system.</a:t>
            </a:r>
          </a:p>
          <a:p>
            <a:r>
              <a:rPr lang="en-US" altLang="zh-TW" dirty="0" smtClean="0"/>
              <a:t>The difficulty of porting service platform depends on the cloud model</a:t>
            </a:r>
          </a:p>
          <a:p>
            <a:pPr lvl="1"/>
            <a:r>
              <a:rPr lang="en-US" altLang="zh-TW" dirty="0" err="1" smtClean="0"/>
              <a:t>SaaS</a:t>
            </a:r>
            <a:r>
              <a:rPr lang="en-US" altLang="zh-TW" dirty="0" smtClean="0"/>
              <a:t> usually concerns the data and service platform.</a:t>
            </a:r>
          </a:p>
          <a:p>
            <a:pPr lvl="1"/>
            <a:r>
              <a:rPr lang="en-US" altLang="zh-TW" dirty="0" err="1" smtClean="0"/>
              <a:t>IaaS</a:t>
            </a:r>
            <a:r>
              <a:rPr lang="en-US" altLang="zh-TW" dirty="0" smtClean="0"/>
              <a:t> needs to consider the underlying system which may be incompatible.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Portability and interoperability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Understand the storage space and the bandwidth of network before migration</a:t>
            </a:r>
          </a:p>
          <a:p>
            <a:pPr lvl="1"/>
            <a:r>
              <a:rPr lang="en-US" altLang="zh-TW" dirty="0" smtClean="0"/>
              <a:t>Depending on the other user’s experience, migrate the physical machine usually more effective and less cost.</a:t>
            </a:r>
          </a:p>
          <a:p>
            <a:pPr lvl="1"/>
            <a:r>
              <a:rPr lang="en-US" altLang="zh-TW" dirty="0" smtClean="0"/>
              <a:t>Record all the detail when migration.</a:t>
            </a:r>
          </a:p>
          <a:p>
            <a:r>
              <a:rPr lang="en-US" altLang="zh-TW" dirty="0" smtClean="0"/>
              <a:t>For </a:t>
            </a:r>
            <a:r>
              <a:rPr lang="en-US" altLang="zh-TW" dirty="0" err="1" smtClean="0"/>
              <a:t>IaaS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Understand the image compatibility before migration.</a:t>
            </a:r>
          </a:p>
          <a:p>
            <a:pPr lvl="1"/>
            <a:r>
              <a:rPr lang="en-US" altLang="zh-TW" dirty="0" smtClean="0"/>
              <a:t>Understand the subsequent disposal when hardware are eliminated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Portability and interoperability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(cont’d)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 </a:t>
            </a:r>
            <a:r>
              <a:rPr lang="en-US" altLang="zh-TW" dirty="0" err="1" smtClean="0"/>
              <a:t>PaaS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Understand the migration tools what vendor provided.</a:t>
            </a:r>
          </a:p>
          <a:p>
            <a:pPr lvl="1"/>
            <a:r>
              <a:rPr lang="en-US" altLang="zh-TW" dirty="0" smtClean="0"/>
              <a:t>Understand the migration affect include performance and </a:t>
            </a:r>
            <a:r>
              <a:rPr lang="en-US" altLang="zh-TW" dirty="0" err="1" smtClean="0"/>
              <a:t>QoS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Understand how to test and examine the new environment.</a:t>
            </a:r>
          </a:p>
          <a:p>
            <a:r>
              <a:rPr lang="en-US" altLang="zh-TW" dirty="0" smtClean="0"/>
              <a:t>For </a:t>
            </a:r>
            <a:r>
              <a:rPr lang="en-US" altLang="zh-TW" dirty="0" err="1" smtClean="0"/>
              <a:t>SaaS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Data duplicate and backup periodically.</a:t>
            </a:r>
          </a:p>
          <a:p>
            <a:pPr lvl="1"/>
            <a:r>
              <a:rPr lang="en-US" altLang="zh-TW" dirty="0" smtClean="0"/>
              <a:t>The customized plug-ins should able to be re-build.</a:t>
            </a:r>
          </a:p>
          <a:p>
            <a:pPr lvl="1"/>
            <a:r>
              <a:rPr lang="en-US" altLang="zh-TW" dirty="0" smtClean="0"/>
              <a:t>Understand any migration laws and regulations.</a:t>
            </a:r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/>
              <a:t>Portability and interoperability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Security Alliance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Governance </a:t>
            </a:r>
          </a:p>
          <a:p>
            <a:r>
              <a:rPr lang="en-US" altLang="zh-TW" dirty="0" smtClean="0"/>
              <a:t>Operation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Operation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Users or customers could be encountered the security problem on cloud</a:t>
            </a:r>
          </a:p>
          <a:p>
            <a:pPr lvl="1"/>
            <a:r>
              <a:rPr lang="en-US" altLang="zh-TW" dirty="0" smtClean="0"/>
              <a:t>Difference between traditional data center and cloud.</a:t>
            </a:r>
          </a:p>
          <a:p>
            <a:pPr lvl="1"/>
            <a:r>
              <a:rPr lang="en-US" altLang="zh-TW" dirty="0" smtClean="0"/>
              <a:t>Security problem on large scale data center.</a:t>
            </a:r>
          </a:p>
          <a:p>
            <a:pPr lvl="1"/>
            <a:r>
              <a:rPr lang="en-US" altLang="zh-TW" dirty="0" smtClean="0"/>
              <a:t>Backup and recover policy.</a:t>
            </a:r>
          </a:p>
          <a:p>
            <a:r>
              <a:rPr lang="en-US" altLang="zh-TW" dirty="0" smtClean="0"/>
              <a:t>CSA provides many suggestion</a:t>
            </a:r>
            <a:endParaRPr lang="en-US" altLang="zh-TW" dirty="0"/>
          </a:p>
          <a:p>
            <a:pPr lvl="1"/>
            <a:r>
              <a:rPr lang="en-US" altLang="zh-TW" dirty="0" smtClean="0"/>
              <a:t>Any kind of secure events occurred when company run the service on the cloud computing environment.</a:t>
            </a:r>
          </a:p>
          <a:p>
            <a:pPr lvl="1"/>
            <a:r>
              <a:rPr lang="en-US" altLang="zh-TW" dirty="0" smtClean="0"/>
              <a:t>The secure factors need to be concerned.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Operation  (cont’d)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Similar with governance, CSA proposed five class which need to be concerned and CSA given some suggestions</a:t>
            </a:r>
          </a:p>
          <a:p>
            <a:pPr lvl="1"/>
            <a:r>
              <a:rPr lang="en-US" altLang="zh-TW" dirty="0" smtClean="0"/>
              <a:t>Traditional security, business continuity and disaster recovery.</a:t>
            </a:r>
          </a:p>
          <a:p>
            <a:pPr lvl="1"/>
            <a:r>
              <a:rPr lang="en-US" altLang="zh-TW" dirty="0" smtClean="0"/>
              <a:t>Data center operations</a:t>
            </a:r>
          </a:p>
          <a:p>
            <a:pPr lvl="1"/>
            <a:r>
              <a:rPr lang="en-US" altLang="zh-TW" dirty="0" smtClean="0"/>
              <a:t>Incident response, notification and remediation</a:t>
            </a:r>
          </a:p>
          <a:p>
            <a:pPr lvl="1"/>
            <a:r>
              <a:rPr lang="en-US" altLang="zh-TW" dirty="0" smtClean="0"/>
              <a:t>Application security</a:t>
            </a:r>
          </a:p>
          <a:p>
            <a:pPr lvl="1"/>
            <a:r>
              <a:rPr lang="en-US" altLang="zh-TW" dirty="0" smtClean="0"/>
              <a:t>Encryption and key management</a:t>
            </a:r>
          </a:p>
          <a:p>
            <a:pPr lvl="1"/>
            <a:r>
              <a:rPr lang="en-US" altLang="zh-TW" dirty="0" smtClean="0"/>
              <a:t>Identity and access management</a:t>
            </a:r>
          </a:p>
          <a:p>
            <a:pPr lvl="1"/>
            <a:r>
              <a:rPr lang="en-US" altLang="zh-TW" dirty="0" smtClean="0"/>
              <a:t>Virtualization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Disaster Recover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Similar with traditional data center, cloud computing needs to design the policy of business continuity planning (BCP) and disaster recover(DR)</a:t>
            </a:r>
          </a:p>
          <a:p>
            <a:pPr lvl="1"/>
            <a:r>
              <a:rPr lang="en-US" altLang="zh-TW" dirty="0" smtClean="0"/>
              <a:t>Every components in system could be failure.</a:t>
            </a:r>
          </a:p>
          <a:p>
            <a:pPr lvl="1"/>
            <a:r>
              <a:rPr lang="en-US" altLang="zh-TW" dirty="0" smtClean="0"/>
              <a:t>The large system is hard to keep the system stability.</a:t>
            </a:r>
          </a:p>
          <a:p>
            <a:pPr lvl="1"/>
            <a:r>
              <a:rPr lang="en-US" altLang="zh-TW" dirty="0" smtClean="0"/>
              <a:t>The disaster, like file disaster or earthquake, could damage the cloud infrastructure.</a:t>
            </a:r>
          </a:p>
          <a:p>
            <a:endParaRPr lang="en-US" altLang="zh-TW" dirty="0" smtClean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Disaster recovery &amp; </a:t>
            </a:r>
          </a:p>
          <a:p>
            <a:pPr marL="342900" indent="-342900"/>
            <a:r>
              <a:rPr lang="en-US" altLang="zh-TW" dirty="0" smtClean="0"/>
              <a:t>Data Center</a:t>
            </a:r>
          </a:p>
        </p:txBody>
      </p:sp>
      <p:pic>
        <p:nvPicPr>
          <p:cNvPr id="44034" name="Picture 2" descr="http://hongchung.blog.ithome.com.tw/gallery/2097/2097-26733.png"/>
          <p:cNvPicPr>
            <a:picLocks noChangeAspect="1" noChangeArrowheads="1"/>
          </p:cNvPicPr>
          <p:nvPr/>
        </p:nvPicPr>
        <p:blipFill>
          <a:blip r:embed="rId2" cstate="print"/>
          <a:srcRect l="33320" t="50999" r="33680" b="5557"/>
          <a:stretch>
            <a:fillRect/>
          </a:stretch>
        </p:blipFill>
        <p:spPr bwMode="auto">
          <a:xfrm>
            <a:off x="5796136" y="4437111"/>
            <a:ext cx="2664296" cy="235687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 Center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Service-level agreement (SLA) is part of service contract</a:t>
            </a:r>
          </a:p>
          <a:p>
            <a:pPr lvl="1"/>
            <a:r>
              <a:rPr lang="en-US" altLang="zh-TW" dirty="0" smtClean="0"/>
              <a:t>Classify the service and define the delivery time or performance.</a:t>
            </a:r>
          </a:p>
          <a:p>
            <a:r>
              <a:rPr lang="en-US" altLang="zh-TW" dirty="0" smtClean="0"/>
              <a:t>Traditional data center usually allocates the fix number of server or resource to customers</a:t>
            </a:r>
            <a:endParaRPr lang="en-US" altLang="zh-TW" dirty="0"/>
          </a:p>
          <a:p>
            <a:pPr lvl="1"/>
            <a:r>
              <a:rPr lang="en-US" altLang="zh-TW" dirty="0" smtClean="0"/>
              <a:t>It is easy to overestimate or underestimate.</a:t>
            </a:r>
          </a:p>
          <a:p>
            <a:r>
              <a:rPr lang="en-US" altLang="zh-TW" dirty="0" smtClean="0"/>
              <a:t>How to dynamic allocate all resource?</a:t>
            </a:r>
          </a:p>
          <a:p>
            <a:pPr lvl="1"/>
            <a:r>
              <a:rPr lang="en-US" altLang="zh-TW" dirty="0" smtClean="0"/>
              <a:t>Reach the SLA requirement.</a:t>
            </a:r>
          </a:p>
          <a:p>
            <a:pPr lvl="1"/>
            <a:r>
              <a:rPr lang="en-US" altLang="zh-TW" dirty="0" smtClean="0"/>
              <a:t>Reduce the probability of overestimate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Disaster recovery &amp; </a:t>
            </a:r>
          </a:p>
          <a:p>
            <a:pPr marL="342900" indent="-342900"/>
            <a:r>
              <a:rPr lang="en-US" altLang="zh-TW" smtClean="0"/>
              <a:t>Data Center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Keep in mind: centralized management means concentration risk.</a:t>
            </a:r>
          </a:p>
          <a:p>
            <a:r>
              <a:rPr lang="en-US" altLang="zh-TW" dirty="0" smtClean="0"/>
              <a:t>Cloud vendor needs to have a strict management mechanism</a:t>
            </a:r>
          </a:p>
          <a:p>
            <a:pPr lvl="1"/>
            <a:r>
              <a:rPr lang="en-US" altLang="zh-TW" dirty="0" smtClean="0"/>
              <a:t>Access control and manage policy.</a:t>
            </a:r>
          </a:p>
          <a:p>
            <a:pPr lvl="1"/>
            <a:r>
              <a:rPr lang="en-US" altLang="zh-TW" dirty="0" smtClean="0"/>
              <a:t>Background checks of employees.</a:t>
            </a:r>
          </a:p>
          <a:p>
            <a:pPr lvl="1"/>
            <a:r>
              <a:rPr lang="en-US" altLang="zh-TW" dirty="0" smtClean="0"/>
              <a:t>Internal/external security control file.</a:t>
            </a:r>
          </a:p>
          <a:p>
            <a:r>
              <a:rPr lang="en-US" altLang="zh-TW" dirty="0" smtClean="0"/>
              <a:t>Cloud customers should be possible to </a:t>
            </a:r>
          </a:p>
          <a:p>
            <a:pPr lvl="1"/>
            <a:r>
              <a:rPr lang="en-US" altLang="zh-TW" dirty="0" smtClean="0"/>
              <a:t>On-site investigate the cloud infrastructure.</a:t>
            </a:r>
          </a:p>
          <a:p>
            <a:pPr lvl="1"/>
            <a:r>
              <a:rPr lang="en-US" altLang="zh-TW" dirty="0" smtClean="0"/>
              <a:t>View and understand the BCP and DR.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Disaster recovery &amp; </a:t>
            </a:r>
          </a:p>
          <a:p>
            <a:pPr marL="342900" indent="-342900"/>
            <a:r>
              <a:rPr lang="en-US" altLang="zh-TW" smtClean="0"/>
              <a:t>Data Center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 (cont’d)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Companies need to understand the contract of</a:t>
            </a:r>
          </a:p>
          <a:p>
            <a:pPr lvl="1"/>
            <a:r>
              <a:rPr lang="en-US" altLang="zh-TW" dirty="0" smtClean="0"/>
              <a:t>Recovery time</a:t>
            </a:r>
          </a:p>
          <a:p>
            <a:pPr lvl="1"/>
            <a:r>
              <a:rPr lang="en-US" altLang="zh-TW" dirty="0" smtClean="0"/>
              <a:t>Recovery object </a:t>
            </a:r>
          </a:p>
          <a:p>
            <a:pPr lvl="1"/>
            <a:r>
              <a:rPr lang="en-US" altLang="zh-TW" dirty="0" smtClean="0"/>
              <a:t>Recovery policy</a:t>
            </a:r>
          </a:p>
          <a:p>
            <a:r>
              <a:rPr lang="en-US" altLang="zh-TW" dirty="0" smtClean="0"/>
              <a:t>Customers need to gain the right or permission</a:t>
            </a:r>
          </a:p>
          <a:p>
            <a:pPr lvl="1"/>
            <a:r>
              <a:rPr lang="en-US" altLang="zh-TW" dirty="0" smtClean="0"/>
              <a:t>Audit the SLA by third-party.</a:t>
            </a:r>
          </a:p>
          <a:p>
            <a:pPr lvl="1"/>
            <a:r>
              <a:rPr lang="en-US" altLang="zh-TW" dirty="0" smtClean="0"/>
              <a:t>Understand the process, policy and affect of system patch.</a:t>
            </a:r>
          </a:p>
          <a:p>
            <a:endParaRPr lang="en-US" altLang="zh-TW" dirty="0" smtClean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Disaster recovery &amp; </a:t>
            </a:r>
          </a:p>
          <a:p>
            <a:pPr marL="342900" indent="-342900"/>
            <a:r>
              <a:rPr lang="en-US" altLang="zh-TW" dirty="0" smtClean="0"/>
              <a:t>Data Center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Incident Response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The properties of cloud computing could be hard to manage and response the incident events</a:t>
            </a:r>
          </a:p>
          <a:p>
            <a:pPr lvl="1"/>
            <a:r>
              <a:rPr lang="en-US" altLang="zh-TW" dirty="0" smtClean="0"/>
              <a:t>Large scale, shared resource and automated management.</a:t>
            </a:r>
          </a:p>
          <a:p>
            <a:pPr lvl="1"/>
            <a:r>
              <a:rPr lang="en-US" altLang="zh-TW" dirty="0" smtClean="0"/>
              <a:t>Cloud vendor needs a standard operation process (SOP) for incident response.</a:t>
            </a:r>
          </a:p>
          <a:p>
            <a:r>
              <a:rPr lang="en-US" altLang="zh-TW" dirty="0" smtClean="0"/>
              <a:t>The cloud vendor provides the complexity and large-scale service</a:t>
            </a:r>
          </a:p>
          <a:p>
            <a:pPr lvl="1"/>
            <a:r>
              <a:rPr lang="en-US" altLang="zh-TW" dirty="0" smtClean="0"/>
              <a:t>It is hard to monitor the traces and response the incident immediately.</a:t>
            </a:r>
          </a:p>
          <a:p>
            <a:pPr lvl="1"/>
            <a:r>
              <a:rPr lang="en-US" altLang="zh-TW" dirty="0" smtClean="0"/>
              <a:t>Each services could cross-impact the management policy.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Incident 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Views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View for monitor</a:t>
            </a:r>
          </a:p>
          <a:p>
            <a:pPr lvl="1"/>
            <a:r>
              <a:rPr lang="en-US" altLang="zh-TW" dirty="0" smtClean="0"/>
              <a:t>We need the security operation center (SOC).</a:t>
            </a:r>
          </a:p>
          <a:p>
            <a:pPr lvl="1"/>
            <a:r>
              <a:rPr lang="en-US" altLang="zh-TW" dirty="0" smtClean="0"/>
              <a:t>Each new services and resources should be monitor by SOC.</a:t>
            </a:r>
          </a:p>
          <a:p>
            <a:pPr lvl="1"/>
            <a:r>
              <a:rPr lang="en-US" altLang="zh-TW" dirty="0" smtClean="0"/>
              <a:t>SOC provides the notification and guideline for emergency or security events.</a:t>
            </a:r>
          </a:p>
          <a:p>
            <a:r>
              <a:rPr lang="en-US" altLang="zh-TW" dirty="0" smtClean="0"/>
              <a:t>View for customer</a:t>
            </a:r>
          </a:p>
          <a:p>
            <a:pPr lvl="1"/>
            <a:r>
              <a:rPr lang="en-US" altLang="zh-TW" dirty="0" smtClean="0"/>
              <a:t>Customers need to evaluate the SLA which meets the requirement or not.</a:t>
            </a:r>
          </a:p>
          <a:p>
            <a:pPr lvl="1"/>
            <a:r>
              <a:rPr lang="en-US" altLang="zh-TW" dirty="0" smtClean="0"/>
              <a:t>Customers should understand the SOP for incident response.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Incident 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Before using cloud computing</a:t>
            </a:r>
          </a:p>
          <a:p>
            <a:pPr lvl="1"/>
            <a:r>
              <a:rPr lang="en-US" altLang="zh-TW" dirty="0" smtClean="0"/>
              <a:t>Define the normal events and unusual events.</a:t>
            </a:r>
          </a:p>
          <a:p>
            <a:pPr lvl="1"/>
            <a:r>
              <a:rPr lang="en-US" altLang="zh-TW" dirty="0" smtClean="0"/>
              <a:t>Test your system which is compatible with cloud environment or not.</a:t>
            </a:r>
          </a:p>
          <a:p>
            <a:r>
              <a:rPr lang="en-US" altLang="zh-TW" dirty="0" smtClean="0"/>
              <a:t>SOC is usually used in single or pure environment</a:t>
            </a:r>
          </a:p>
          <a:p>
            <a:pPr lvl="1"/>
            <a:r>
              <a:rPr lang="en-US" altLang="zh-TW" dirty="0" smtClean="0"/>
              <a:t>In multi-tenant environment, SOC needs to be modified to monitor data from any source.</a:t>
            </a:r>
          </a:p>
          <a:p>
            <a:pPr lvl="1"/>
            <a:r>
              <a:rPr lang="en-US" altLang="zh-TW" dirty="0" smtClean="0"/>
              <a:t>Application layer firewall and log file are helpful on multi-tenant for</a:t>
            </a:r>
            <a:r>
              <a:rPr lang="zh-TW" altLang="en-US" dirty="0" smtClean="0"/>
              <a:t> </a:t>
            </a:r>
            <a:r>
              <a:rPr lang="en-US" altLang="zh-TW" dirty="0" smtClean="0"/>
              <a:t>SOC.</a:t>
            </a:r>
          </a:p>
          <a:p>
            <a:r>
              <a:rPr lang="en-US" altLang="zh-TW" dirty="0" smtClean="0"/>
              <a:t>Each sensitive data should be encrypted to reduce the losses.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Incident Response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Application Security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cloud computing</a:t>
            </a:r>
          </a:p>
          <a:p>
            <a:pPr lvl="1"/>
            <a:r>
              <a:rPr lang="en-US" altLang="zh-TW" dirty="0" smtClean="0"/>
              <a:t>Cloud vendor provides the environment to users.</a:t>
            </a:r>
          </a:p>
          <a:p>
            <a:pPr lvl="1"/>
            <a:r>
              <a:rPr lang="en-US" altLang="zh-TW" dirty="0" smtClean="0"/>
              <a:t>Users run the applications which may be designed by users or third-party.</a:t>
            </a:r>
          </a:p>
          <a:p>
            <a:r>
              <a:rPr lang="en-US" altLang="zh-TW" dirty="0" smtClean="0"/>
              <a:t>Similar with normal applications, services in cloud also need to well-design and keep it secure</a:t>
            </a:r>
          </a:p>
          <a:p>
            <a:pPr lvl="1"/>
            <a:r>
              <a:rPr lang="en-US" altLang="zh-TW" dirty="0" smtClean="0"/>
              <a:t>Preliminary analysis and confidentiality</a:t>
            </a:r>
          </a:p>
          <a:p>
            <a:pPr lvl="1"/>
            <a:r>
              <a:rPr lang="en-US" altLang="zh-TW" dirty="0" smtClean="0"/>
              <a:t>Integrate and availability tests</a:t>
            </a:r>
          </a:p>
          <a:p>
            <a:pPr lvl="1"/>
            <a:r>
              <a:rPr lang="en-US" altLang="zh-TW" dirty="0" smtClean="0"/>
              <a:t>Demilitarized Zone</a:t>
            </a:r>
          </a:p>
          <a:p>
            <a:pPr lvl="1"/>
            <a:endParaRPr lang="en-US" altLang="zh-TW" dirty="0" smtClean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Application Security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Interoperation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Services and applications in cloud interactive frequently</a:t>
            </a:r>
          </a:p>
          <a:p>
            <a:pPr lvl="1"/>
            <a:r>
              <a:rPr lang="en-US" altLang="zh-TW" dirty="0" smtClean="0"/>
              <a:t>The dependencies between applications affect the system security.</a:t>
            </a:r>
          </a:p>
          <a:p>
            <a:pPr lvl="1"/>
            <a:r>
              <a:rPr lang="en-US" altLang="zh-TW" dirty="0" smtClean="0"/>
              <a:t>Third-party applications also can damage and change the system stability.</a:t>
            </a:r>
          </a:p>
          <a:p>
            <a:pPr lvl="1"/>
            <a:r>
              <a:rPr lang="en-US" altLang="zh-TW" dirty="0" smtClean="0"/>
              <a:t>The test tools cloud vendor provided can help system to enhance system security.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Application Security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application development lifecycle, we need to concern the three parts</a:t>
            </a:r>
          </a:p>
          <a:p>
            <a:pPr lvl="1"/>
            <a:r>
              <a:rPr lang="en-US" altLang="zh-TW" dirty="0" smtClean="0"/>
              <a:t>Security threats and trust model.</a:t>
            </a:r>
          </a:p>
          <a:p>
            <a:pPr lvl="1"/>
            <a:r>
              <a:rPr lang="en-US" altLang="zh-TW" dirty="0" smtClean="0"/>
              <a:t>Cloud platform program assessment tool.</a:t>
            </a:r>
          </a:p>
          <a:p>
            <a:pPr lvl="1"/>
            <a:r>
              <a:rPr lang="en-US" altLang="zh-TW" dirty="0" smtClean="0"/>
              <a:t>Application’s quality check point.</a:t>
            </a:r>
          </a:p>
          <a:p>
            <a:r>
              <a:rPr lang="en-US" altLang="zh-TW" dirty="0" smtClean="0"/>
              <a:t>Keep in mind</a:t>
            </a:r>
          </a:p>
          <a:p>
            <a:pPr lvl="1"/>
            <a:r>
              <a:rPr lang="en-US" altLang="zh-TW" dirty="0" smtClean="0"/>
              <a:t>Cannot suppose all communications are in security channel.</a:t>
            </a:r>
          </a:p>
          <a:p>
            <a:r>
              <a:rPr lang="en-US" altLang="zh-TW" dirty="0" smtClean="0"/>
              <a:t>The storage and management for application certificate are important.</a:t>
            </a:r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Application Security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Encryption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How to avoid the data be theft is the important security issue</a:t>
            </a:r>
          </a:p>
          <a:p>
            <a:pPr lvl="1"/>
            <a:r>
              <a:rPr lang="en-US" altLang="zh-TW" dirty="0" smtClean="0"/>
              <a:t>Cloud vendor cannot guarantee that sensitive data be in the secure protection.</a:t>
            </a:r>
          </a:p>
          <a:p>
            <a:pPr lvl="1"/>
            <a:r>
              <a:rPr lang="en-US" altLang="zh-TW" dirty="0" smtClean="0"/>
              <a:t>The encryption is the efficient way to protect the important data.</a:t>
            </a:r>
          </a:p>
          <a:p>
            <a:r>
              <a:rPr lang="en-US" altLang="zh-TW" dirty="0" smtClean="0"/>
              <a:t>In some country, data which is hosted or must be encryption</a:t>
            </a:r>
          </a:p>
          <a:p>
            <a:pPr lvl="1"/>
            <a:r>
              <a:rPr lang="en-US" altLang="zh-TW" dirty="0" smtClean="0"/>
              <a:t>Personal information.</a:t>
            </a:r>
          </a:p>
          <a:p>
            <a:pPr lvl="1"/>
            <a:r>
              <a:rPr lang="en-US" altLang="zh-TW" dirty="0" smtClean="0"/>
              <a:t>State secure file.</a:t>
            </a:r>
          </a:p>
          <a:p>
            <a:pPr lvl="1"/>
            <a:r>
              <a:rPr lang="en-US" altLang="zh-TW" dirty="0" smtClean="0"/>
              <a:t>…etc.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Encryption &amp; </a:t>
            </a:r>
          </a:p>
          <a:p>
            <a:pPr marL="342900" indent="-342900"/>
            <a:r>
              <a:rPr lang="en-US" altLang="zh-TW" dirty="0" smtClean="0"/>
              <a:t>Key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Key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encryption system can provide the information security for data</a:t>
            </a:r>
          </a:p>
          <a:p>
            <a:pPr lvl="1"/>
            <a:r>
              <a:rPr lang="en-US" altLang="zh-TW" dirty="0" smtClean="0"/>
              <a:t>Dependent by the encryption algorithm, e.g. Caesar shift or AES.</a:t>
            </a:r>
          </a:p>
          <a:p>
            <a:pPr lvl="1"/>
            <a:r>
              <a:rPr lang="en-US" altLang="zh-TW" dirty="0" smtClean="0"/>
              <a:t>Dependent by the key selection.</a:t>
            </a:r>
          </a:p>
          <a:p>
            <a:pPr lvl="1"/>
            <a:r>
              <a:rPr lang="en-US" altLang="zh-TW" dirty="0" smtClean="0"/>
              <a:t>Dependent by the key management.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Encryption &amp; </a:t>
            </a:r>
          </a:p>
          <a:p>
            <a:pPr marL="342900" indent="-342900"/>
            <a:r>
              <a:rPr lang="en-US" altLang="zh-TW" dirty="0" smtClean="0"/>
              <a:t>Key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Management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Encrypting and decrypting data costs many resource and time</a:t>
            </a:r>
          </a:p>
          <a:p>
            <a:pPr lvl="1"/>
            <a:r>
              <a:rPr lang="en-US" altLang="zh-TW" dirty="0" smtClean="0"/>
              <a:t>Classify the data by sensitive and importance.</a:t>
            </a:r>
          </a:p>
          <a:p>
            <a:pPr lvl="1"/>
            <a:r>
              <a:rPr lang="en-US" altLang="zh-TW" dirty="0" smtClean="0"/>
              <a:t>Choose the suitable the encryption algorithm.</a:t>
            </a:r>
          </a:p>
          <a:p>
            <a:r>
              <a:rPr lang="en-US" altLang="zh-TW" dirty="0" smtClean="0"/>
              <a:t>In cloud, encryption system is frequency used</a:t>
            </a:r>
          </a:p>
          <a:p>
            <a:pPr lvl="1"/>
            <a:r>
              <a:rPr lang="en-US" altLang="zh-TW" dirty="0" smtClean="0"/>
              <a:t>Simple or common password is useless.</a:t>
            </a:r>
          </a:p>
          <a:p>
            <a:pPr lvl="1"/>
            <a:r>
              <a:rPr lang="en-US" altLang="zh-TW" dirty="0" smtClean="0"/>
              <a:t>A non-secure key management would damage the encryption system.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Encryption &amp; </a:t>
            </a:r>
          </a:p>
          <a:p>
            <a:pPr marL="342900" indent="-342900"/>
            <a:r>
              <a:rPr lang="en-US" altLang="zh-TW" dirty="0" smtClean="0"/>
              <a:t>Key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customers need to understand the encryption system using in cloud</a:t>
            </a:r>
          </a:p>
          <a:p>
            <a:pPr lvl="1"/>
            <a:r>
              <a:rPr lang="en-US" altLang="zh-TW" dirty="0" smtClean="0"/>
              <a:t>Encryption algorithm and costs.</a:t>
            </a:r>
          </a:p>
          <a:p>
            <a:pPr lvl="1"/>
            <a:r>
              <a:rPr lang="en-US" altLang="zh-TW" dirty="0" smtClean="0"/>
              <a:t>Key management and Key generation policy.</a:t>
            </a:r>
          </a:p>
          <a:p>
            <a:r>
              <a:rPr lang="en-US" altLang="zh-TW" dirty="0" smtClean="0"/>
              <a:t>Customers need to specify the encryption service in SLA</a:t>
            </a:r>
          </a:p>
          <a:p>
            <a:pPr lvl="1"/>
            <a:r>
              <a:rPr lang="en-US" altLang="zh-TW" dirty="0" smtClean="0"/>
              <a:t>The encryption system should be audited by third-party.</a:t>
            </a:r>
          </a:p>
          <a:p>
            <a:pPr lvl="1"/>
            <a:r>
              <a:rPr lang="en-US" altLang="zh-TW" dirty="0" smtClean="0"/>
              <a:t>Limitation for length and strength of key is required.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Encryption &amp; </a:t>
            </a:r>
          </a:p>
          <a:p>
            <a:pPr marL="342900" indent="-342900"/>
            <a:r>
              <a:rPr lang="en-US" altLang="zh-TW" dirty="0" smtClean="0"/>
              <a:t>Key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 Control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After keeping data in security environment and encryption, we need to understand the access control policy</a:t>
            </a:r>
          </a:p>
          <a:p>
            <a:pPr lvl="1"/>
            <a:r>
              <a:rPr lang="en-US" altLang="zh-TW" dirty="0" smtClean="0"/>
              <a:t>Guest can accessed the sensitive data is dangerous.</a:t>
            </a:r>
          </a:p>
          <a:p>
            <a:r>
              <a:rPr lang="en-US" altLang="zh-TW" dirty="0" smtClean="0"/>
              <a:t>In cloud computing, number of users is larger beyond our imagination</a:t>
            </a:r>
          </a:p>
          <a:p>
            <a:pPr lvl="1"/>
            <a:r>
              <a:rPr lang="en-US" altLang="zh-TW" dirty="0" smtClean="0"/>
              <a:t>Complex of access control policy</a:t>
            </a:r>
          </a:p>
          <a:p>
            <a:pPr lvl="1"/>
            <a:r>
              <a:rPr lang="en-US" altLang="zh-TW" dirty="0" smtClean="0"/>
              <a:t>Add / delete user’s access right immediately.</a:t>
            </a:r>
          </a:p>
          <a:p>
            <a:pPr lvl="1"/>
            <a:r>
              <a:rPr lang="en-US" altLang="zh-TW" dirty="0" smtClean="0"/>
              <a:t>Identify and authorize the user.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Access </a:t>
            </a:r>
          </a:p>
          <a:p>
            <a:pPr marL="342900" indent="-342900"/>
            <a:r>
              <a:rPr lang="en-US" altLang="zh-TW" dirty="0" smtClean="0"/>
              <a:t>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 smtClean="0"/>
              <a:t>The identify and access management (IAM) system in cloud should be fair and rigorous assessed</a:t>
            </a:r>
          </a:p>
          <a:p>
            <a:pPr lvl="1"/>
            <a:r>
              <a:rPr lang="en-US" altLang="zh-TW" dirty="0" smtClean="0"/>
              <a:t>Identity provision</a:t>
            </a:r>
          </a:p>
          <a:p>
            <a:pPr lvl="1"/>
            <a:r>
              <a:rPr lang="en-US" altLang="zh-TW" dirty="0" smtClean="0"/>
              <a:t>Authentication</a:t>
            </a:r>
          </a:p>
          <a:p>
            <a:pPr lvl="1"/>
            <a:r>
              <a:rPr lang="en-US" altLang="zh-TW" dirty="0" smtClean="0"/>
              <a:t>Union management</a:t>
            </a:r>
          </a:p>
          <a:p>
            <a:pPr lvl="1"/>
            <a:r>
              <a:rPr lang="en-US" altLang="zh-TW" dirty="0" smtClean="0"/>
              <a:t>Authorization and user configuration</a:t>
            </a:r>
          </a:p>
          <a:p>
            <a:r>
              <a:rPr lang="en-US" altLang="zh-TW" smtClean="0"/>
              <a:t>Customers can use the third-party authorization</a:t>
            </a:r>
          </a:p>
          <a:p>
            <a:pPr lvl="1"/>
            <a:r>
              <a:rPr lang="en-US" altLang="zh-TW" smtClean="0"/>
              <a:t>OpenID, Google or Facebook</a:t>
            </a:r>
          </a:p>
          <a:p>
            <a:r>
              <a:rPr lang="en-US" altLang="zh-TW" smtClean="0"/>
              <a:t>Cloud vendor need to provide the (single sign-on) SSO </a:t>
            </a:r>
          </a:p>
          <a:p>
            <a:pPr lvl="1"/>
            <a:r>
              <a:rPr lang="en-US" altLang="zh-TW" smtClean="0"/>
              <a:t>Avoid the repeated login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Access </a:t>
            </a:r>
          </a:p>
          <a:p>
            <a:pPr marL="342900" indent="-342900"/>
            <a:r>
              <a:rPr lang="en-US" altLang="zh-TW" dirty="0" smtClean="0"/>
              <a:t>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Virtualization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In cloud, virtualization technique is widely used</a:t>
            </a:r>
          </a:p>
          <a:p>
            <a:pPr lvl="1"/>
            <a:r>
              <a:rPr lang="en-US" altLang="zh-TW" dirty="0" smtClean="0"/>
              <a:t>Abstract and integrate the resource.</a:t>
            </a:r>
          </a:p>
          <a:p>
            <a:pPr lvl="1"/>
            <a:r>
              <a:rPr lang="en-US" altLang="zh-TW" dirty="0" smtClean="0"/>
              <a:t>Easily to provide the on-demand resource to users.</a:t>
            </a:r>
          </a:p>
          <a:p>
            <a:r>
              <a:rPr lang="en-US" altLang="zh-TW" dirty="0" smtClean="0"/>
              <a:t>Virtualized resource means mix all resource</a:t>
            </a:r>
          </a:p>
          <a:p>
            <a:pPr lvl="1"/>
            <a:r>
              <a:rPr lang="en-US" altLang="zh-TW" dirty="0" smtClean="0"/>
              <a:t>Concentration of risk.</a:t>
            </a:r>
          </a:p>
          <a:p>
            <a:pPr lvl="1"/>
            <a:r>
              <a:rPr lang="en-US" altLang="zh-TW" dirty="0" smtClean="0"/>
              <a:t>Each user must meet the secure requirement.</a:t>
            </a:r>
          </a:p>
          <a:p>
            <a:r>
              <a:rPr lang="en-US" altLang="zh-TW" dirty="0" smtClean="0"/>
              <a:t>Hypervisor monitor and communicate with virtualization machine (VM)</a:t>
            </a:r>
          </a:p>
          <a:p>
            <a:pPr lvl="1"/>
            <a:r>
              <a:rPr lang="en-US" altLang="zh-TW" dirty="0" smtClean="0"/>
              <a:t>Break the hypervisor could break all system.</a:t>
            </a:r>
          </a:p>
          <a:p>
            <a:pPr lvl="1"/>
            <a:r>
              <a:rPr lang="en-US" altLang="zh-TW" dirty="0" smtClean="0"/>
              <a:t>Attacking to hypervisor is the new malicious methods.</a:t>
            </a:r>
          </a:p>
        </p:txBody>
      </p:sp>
      <p:sp>
        <p:nvSpPr>
          <p:cNvPr id="9" name="圓角矩形 8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Virtualization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Understand the virtualization technique used in cloud environment</a:t>
            </a:r>
          </a:p>
          <a:p>
            <a:pPr lvl="1"/>
            <a:r>
              <a:rPr lang="en-US" altLang="zh-TW" dirty="0" smtClean="0"/>
              <a:t>The security and isolation of hypervisor.</a:t>
            </a:r>
          </a:p>
          <a:p>
            <a:pPr lvl="1"/>
            <a:r>
              <a:rPr lang="en-US" altLang="zh-TW" dirty="0" smtClean="0"/>
              <a:t>The default configure and setting must be secure.</a:t>
            </a:r>
          </a:p>
          <a:p>
            <a:pPr lvl="1"/>
            <a:r>
              <a:rPr lang="en-US" altLang="zh-TW" dirty="0" smtClean="0"/>
              <a:t>The resource image of VM must be tested and verified.</a:t>
            </a:r>
          </a:p>
          <a:p>
            <a:r>
              <a:rPr lang="en-US" altLang="zh-TW" dirty="0" smtClean="0"/>
              <a:t>The hypervisor owns the high secure permission </a:t>
            </a:r>
          </a:p>
          <a:p>
            <a:pPr lvl="1"/>
            <a:r>
              <a:rPr lang="en-US" altLang="zh-TW" dirty="0" smtClean="0"/>
              <a:t>Only few staff and users has the right to access the hypervisor.</a:t>
            </a:r>
          </a:p>
          <a:p>
            <a:pPr lvl="1"/>
            <a:r>
              <a:rPr lang="en-US" altLang="zh-TW" dirty="0" smtClean="0"/>
              <a:t>Each access to hypervisor must be recorded. </a:t>
            </a:r>
          </a:p>
          <a:p>
            <a:pPr lvl="1"/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467544" y="260648"/>
            <a:ext cx="2160240" cy="93610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/>
            <a:r>
              <a:rPr lang="en-US" altLang="zh-TW" dirty="0" smtClean="0"/>
              <a:t>Virtualization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security alliance (CSA) provides the security guidance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 separate cloud security</a:t>
            </a:r>
          </a:p>
          <a:p>
            <a:pPr lvl="1"/>
            <a:r>
              <a:rPr lang="en-US" altLang="zh-TW" dirty="0" smtClean="0"/>
              <a:t>Two field: governance and operation.</a:t>
            </a:r>
          </a:p>
          <a:p>
            <a:pPr lvl="1"/>
            <a:r>
              <a:rPr lang="en-US" altLang="zh-TW" dirty="0" smtClean="0"/>
              <a:t>Twelve sub-categories.</a:t>
            </a:r>
          </a:p>
          <a:p>
            <a:r>
              <a:rPr lang="en-US" altLang="zh-TW" dirty="0" smtClean="0"/>
              <a:t>Each sub-categories introduce the problem could occurred and given some suggestions.</a:t>
            </a:r>
          </a:p>
          <a:p>
            <a:r>
              <a:rPr lang="en-US" altLang="zh-TW" dirty="0" smtClean="0"/>
              <a:t>In three service model, CSA provides the general views and give difference suggestions </a:t>
            </a:r>
            <a:r>
              <a:rPr lang="en-US" altLang="zh-TW" smtClean="0"/>
              <a:t>for difference model.</a:t>
            </a: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algn="ctr"/>
            <a:r>
              <a:rPr lang="en-US" altLang="zh-TW" dirty="0" smtClean="0"/>
              <a:t>Law and </a:t>
            </a:r>
            <a:r>
              <a:rPr lang="en-US" altLang="zh-TW" dirty="0" smtClean="0"/>
              <a:t>Privacy 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Real World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Like the real world, criminals are around of us and we can be the victim anytime and anywhere</a:t>
            </a:r>
          </a:p>
          <a:p>
            <a:pPr lvl="1"/>
            <a:r>
              <a:rPr lang="en-US" altLang="zh-TW" dirty="0" smtClean="0"/>
              <a:t>In the computer would, crackers hide in the network and try to attack anything interesting.</a:t>
            </a:r>
          </a:p>
          <a:p>
            <a:pPr lvl="1"/>
            <a:r>
              <a:rPr lang="en-US" altLang="zh-TW" dirty="0" smtClean="0"/>
              <a:t>Lawless employees also try to sale the sensitive and important data.</a:t>
            </a:r>
          </a:p>
          <a:p>
            <a:r>
              <a:rPr lang="en-US" altLang="zh-TW" dirty="0" smtClean="0"/>
              <a:t>Law is the last line of defense.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b="5765"/>
          <a:stretch>
            <a:fillRect/>
          </a:stretch>
        </p:blipFill>
        <p:spPr bwMode="auto">
          <a:xfrm>
            <a:off x="5436096" y="4221088"/>
            <a:ext cx="3429711" cy="2294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Enforcement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Users try to believe the performance and protection what company claim</a:t>
            </a:r>
          </a:p>
          <a:p>
            <a:pPr lvl="1"/>
            <a:r>
              <a:rPr lang="en-US" altLang="zh-TW" dirty="0" smtClean="0"/>
              <a:t>But lots of security incidents are frequency appeared in the news.</a:t>
            </a:r>
          </a:p>
          <a:p>
            <a:pPr lvl="2"/>
            <a:r>
              <a:rPr lang="en-US" altLang="zh-TW" dirty="0" smtClean="0"/>
              <a:t>In 2011, </a:t>
            </a:r>
            <a:r>
              <a:rPr lang="en-US" altLang="zh-TW" dirty="0" err="1" smtClean="0"/>
              <a:t>Dropbox</a:t>
            </a:r>
            <a:r>
              <a:rPr lang="en-US" altLang="zh-TW" dirty="0" smtClean="0"/>
              <a:t> claims all data in server are encrypted, but…</a:t>
            </a:r>
          </a:p>
          <a:p>
            <a:pPr lvl="1"/>
            <a:r>
              <a:rPr lang="en-US" altLang="zh-TW" dirty="0" smtClean="0"/>
              <a:t>User are beginning to doubt the company’s guarantee.</a:t>
            </a:r>
          </a:p>
          <a:p>
            <a:r>
              <a:rPr lang="en-US" altLang="zh-TW" dirty="0" smtClean="0"/>
              <a:t>Law can provide the basic protection</a:t>
            </a:r>
          </a:p>
          <a:p>
            <a:pPr lvl="1"/>
            <a:r>
              <a:rPr lang="en-US" altLang="zh-TW" dirty="0" smtClean="0"/>
              <a:t>Company needs to provide the basic security protection and basic quality of service.</a:t>
            </a:r>
          </a:p>
          <a:p>
            <a:pPr lvl="1"/>
            <a:r>
              <a:rPr lang="en-US" altLang="zh-TW" dirty="0" smtClean="0"/>
              <a:t>Also, law resolves the dispute between user and company.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Online Shopping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It is popular and convenient to purchase on the internet</a:t>
            </a:r>
          </a:p>
          <a:p>
            <a:pPr lvl="1"/>
            <a:r>
              <a:rPr lang="en-US" altLang="zh-TW" dirty="0" smtClean="0"/>
              <a:t>People can buy books, foods, and the car on the web.</a:t>
            </a:r>
          </a:p>
          <a:p>
            <a:pPr lvl="1"/>
            <a:r>
              <a:rPr lang="en-US" altLang="zh-TW" dirty="0" smtClean="0"/>
              <a:t>People could not see the product until receive the product.</a:t>
            </a:r>
          </a:p>
          <a:p>
            <a:r>
              <a:rPr lang="en-US" altLang="zh-TW" dirty="0" smtClean="0"/>
              <a:t>There are many problems on online shopping</a:t>
            </a:r>
          </a:p>
          <a:p>
            <a:pPr lvl="1"/>
            <a:r>
              <a:rPr lang="en-US" altLang="zh-TW" dirty="0" smtClean="0"/>
              <a:t>There are some difference between image and product.</a:t>
            </a:r>
          </a:p>
          <a:p>
            <a:pPr lvl="1"/>
            <a:r>
              <a:rPr lang="en-US" altLang="zh-TW" dirty="0" smtClean="0"/>
              <a:t>It may be some mistake on the price.</a:t>
            </a:r>
          </a:p>
          <a:p>
            <a:pPr lvl="1"/>
            <a:r>
              <a:rPr lang="en-US" altLang="zh-TW" dirty="0" smtClean="0"/>
              <a:t>The personal information could be hijacked or </a:t>
            </a:r>
            <a:r>
              <a:rPr lang="en-US" altLang="zh-TW" dirty="0" err="1" smtClean="0"/>
              <a:t>therft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Protection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 the customers view</a:t>
            </a:r>
          </a:p>
          <a:p>
            <a:pPr lvl="1"/>
            <a:r>
              <a:rPr lang="en-US" altLang="zh-TW" dirty="0" smtClean="0"/>
              <a:t>All personal data must be under the full protection.</a:t>
            </a:r>
          </a:p>
          <a:p>
            <a:pPr lvl="1"/>
            <a:r>
              <a:rPr lang="en-US" altLang="zh-TW" dirty="0" smtClean="0"/>
              <a:t>Everything must be meet the description of  the product.</a:t>
            </a:r>
          </a:p>
          <a:p>
            <a:r>
              <a:rPr lang="en-US" altLang="zh-TW" dirty="0" smtClean="0"/>
              <a:t>On the companies view </a:t>
            </a:r>
          </a:p>
          <a:p>
            <a:pPr lvl="1"/>
            <a:r>
              <a:rPr lang="en-US" altLang="zh-TW" dirty="0" smtClean="0"/>
              <a:t>Security protection is not just the responsibility of the company.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But world is not all liking wishful!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Privacy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 the other hand, the privacy is the basic personal right</a:t>
            </a:r>
          </a:p>
          <a:p>
            <a:pPr lvl="1"/>
            <a:r>
              <a:rPr lang="en-US" altLang="zh-TW" dirty="0" smtClean="0"/>
              <a:t>No one shall be subjected to arbitrary interference.</a:t>
            </a:r>
          </a:p>
          <a:p>
            <a:pPr lvl="1"/>
            <a:r>
              <a:rPr lang="en-US" altLang="zh-TW" dirty="0" smtClean="0"/>
              <a:t>Everyone has the right to the protection of the law against such interference or attacks.</a:t>
            </a:r>
          </a:p>
          <a:p>
            <a:r>
              <a:rPr lang="en-US" altLang="zh-TW" dirty="0" smtClean="0"/>
              <a:t>The privacy includes</a:t>
            </a:r>
          </a:p>
          <a:p>
            <a:pPr lvl="1"/>
            <a:r>
              <a:rPr lang="en-US" altLang="zh-TW" dirty="0" smtClean="0"/>
              <a:t>Personal information.</a:t>
            </a:r>
          </a:p>
          <a:p>
            <a:pPr lvl="1"/>
            <a:r>
              <a:rPr lang="en-US" altLang="zh-TW" dirty="0" smtClean="0"/>
              <a:t>Religion and sexual orientation.</a:t>
            </a:r>
          </a:p>
          <a:p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2050" name="Picture 2" descr="http://www.igloowindowfilms.co.uk/2009/Privac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32218" y="3429000"/>
            <a:ext cx="2240086" cy="33569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Net Generation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Now is the net generation</a:t>
            </a:r>
          </a:p>
          <a:p>
            <a:pPr lvl="1"/>
            <a:r>
              <a:rPr lang="en-US" altLang="zh-TW" dirty="0" smtClean="0"/>
              <a:t>Every teenager is living in internet.</a:t>
            </a:r>
          </a:p>
          <a:p>
            <a:pPr lvl="1"/>
            <a:r>
              <a:rPr lang="en-US" altLang="zh-TW" dirty="0" smtClean="0"/>
              <a:t>Everyone can find lots of interesting information in internet.</a:t>
            </a:r>
          </a:p>
          <a:p>
            <a:pPr lvl="2"/>
            <a:r>
              <a:rPr lang="en-US" altLang="zh-TW" dirty="0" smtClean="0"/>
              <a:t>Phone number, intimate photos or contents of email.</a:t>
            </a:r>
          </a:p>
          <a:p>
            <a:r>
              <a:rPr lang="en-US" altLang="zh-TW" dirty="0" smtClean="0"/>
              <a:t>Users need someone to protect the privacy</a:t>
            </a:r>
          </a:p>
          <a:p>
            <a:pPr lvl="1"/>
            <a:r>
              <a:rPr lang="en-US" altLang="zh-TW" dirty="0" smtClean="0"/>
              <a:t>The law and government can provides the basic and strong protection.</a:t>
            </a:r>
          </a:p>
          <a:p>
            <a:pPr lvl="1"/>
            <a:r>
              <a:rPr lang="en-US" altLang="zh-TW" dirty="0" smtClean="0"/>
              <a:t>But in sometime, the law is also broken the right of privacy.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Law and privacy 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Information Protection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USA PATRIOT 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Personal Information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Everyone in the internet would leave some traces</a:t>
            </a:r>
          </a:p>
          <a:p>
            <a:pPr lvl="1"/>
            <a:r>
              <a:rPr lang="en-US" altLang="zh-TW" dirty="0" smtClean="0"/>
              <a:t>User leaves the personal information to apply for Google and </a:t>
            </a:r>
            <a:r>
              <a:rPr lang="en-US" altLang="zh-TW" dirty="0" err="1" smtClean="0"/>
              <a:t>Facebook</a:t>
            </a:r>
            <a:r>
              <a:rPr lang="en-US" altLang="zh-TW" dirty="0" smtClean="0"/>
              <a:t> account.</a:t>
            </a:r>
          </a:p>
          <a:p>
            <a:pPr lvl="1"/>
            <a:r>
              <a:rPr lang="en-US" altLang="zh-TW" dirty="0" smtClean="0"/>
              <a:t>User leaves the name, phone number and address to buy something.</a:t>
            </a:r>
          </a:p>
          <a:p>
            <a:r>
              <a:rPr lang="en-US" altLang="zh-TW" dirty="0" smtClean="0"/>
              <a:t>This information can be used on some malicious behavior </a:t>
            </a:r>
          </a:p>
          <a:p>
            <a:pPr lvl="1"/>
            <a:r>
              <a:rPr lang="en-US" altLang="zh-TW" dirty="0" smtClean="0"/>
              <a:t>Fake identity.</a:t>
            </a:r>
          </a:p>
          <a:p>
            <a:pPr lvl="1"/>
            <a:r>
              <a:rPr lang="en-US" altLang="zh-TW" dirty="0" smtClean="0"/>
              <a:t>Internet fraud 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Law of Personal Information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2010, Taiwan government enact laws to protect the personal information</a:t>
            </a:r>
          </a:p>
          <a:p>
            <a:pPr lvl="1"/>
            <a:r>
              <a:rPr lang="en-US" altLang="zh-TW" dirty="0" smtClean="0"/>
              <a:t>It specifies the limitation of personal information collection, process and usage.</a:t>
            </a:r>
          </a:p>
          <a:p>
            <a:pPr lvl="1"/>
            <a:r>
              <a:rPr lang="en-US" altLang="zh-TW" dirty="0" smtClean="0"/>
              <a:t>Companies need to provide the evidence actively to exclude the liability.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Clause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There are many clauses to specify the usage of personal information and the penalty of breaking the law</a:t>
            </a:r>
          </a:p>
          <a:p>
            <a:pPr lvl="1"/>
            <a:r>
              <a:rPr lang="en-US" altLang="zh-TW" dirty="0" smtClean="0"/>
              <a:t>Everyone can apply for compensation top to twenty thousand when personal information has been violated.</a:t>
            </a:r>
          </a:p>
          <a:p>
            <a:pPr lvl="1"/>
            <a:r>
              <a:rPr lang="en-US" altLang="zh-TW" dirty="0" smtClean="0"/>
              <a:t>When a crime occurs, companies need to provide the evidence that they has been meet the requirement of the law.</a:t>
            </a:r>
            <a:endParaRPr lang="zh-TW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Company Risk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From the probability point of view</a:t>
            </a:r>
          </a:p>
          <a:p>
            <a:pPr lvl="1"/>
            <a:r>
              <a:rPr lang="en-US" altLang="zh-TW" dirty="0" smtClean="0"/>
              <a:t>Each company may lose the sensitive information.</a:t>
            </a:r>
          </a:p>
          <a:p>
            <a:pPr lvl="1"/>
            <a:r>
              <a:rPr lang="en-US" altLang="zh-TW" dirty="0" smtClean="0"/>
              <a:t>Cloud company  has lots personal information.</a:t>
            </a:r>
          </a:p>
          <a:p>
            <a:pPr lvl="1"/>
            <a:r>
              <a:rPr lang="en-US" altLang="zh-TW" dirty="0" smtClean="0"/>
              <a:t>If company lost 1/20 data (e.g.  Five thousand data)</a:t>
            </a:r>
          </a:p>
          <a:p>
            <a:pPr lvl="2"/>
            <a:r>
              <a:rPr lang="en-US" altLang="zh-TW" dirty="0" smtClean="0"/>
              <a:t>Fines would be up to one million NT dollars.</a:t>
            </a:r>
          </a:p>
          <a:p>
            <a:pPr lvl="1"/>
            <a:r>
              <a:rPr lang="en-US" altLang="zh-TW" dirty="0" smtClean="0"/>
              <a:t>Also, company lose his corporate image.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4365104"/>
            <a:ext cx="523875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Traces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Companies are invested in the preservation of evidence to avoid penalties of laws</a:t>
            </a:r>
          </a:p>
          <a:p>
            <a:pPr lvl="1"/>
            <a:r>
              <a:rPr lang="en-US" altLang="zh-TW" dirty="0" smtClean="0"/>
              <a:t>Companies try to keep traces and logs which records all operations.</a:t>
            </a:r>
          </a:p>
          <a:p>
            <a:r>
              <a:rPr lang="en-US" altLang="zh-TW" dirty="0" smtClean="0"/>
              <a:t>The record system must be stable and reliable</a:t>
            </a:r>
          </a:p>
          <a:p>
            <a:pPr lvl="1"/>
            <a:r>
              <a:rPr lang="en-US" altLang="zh-TW" dirty="0" smtClean="0"/>
              <a:t>But there are few guideline used for record system.</a:t>
            </a:r>
          </a:p>
          <a:p>
            <a:pPr lvl="1"/>
            <a:r>
              <a:rPr lang="en-US" altLang="zh-TW" dirty="0" smtClean="0"/>
              <a:t>Company also need to modify all system to interact with record system.</a:t>
            </a:r>
          </a:p>
          <a:p>
            <a:pPr lvl="2"/>
            <a:r>
              <a:rPr lang="en-US" altLang="zh-TW" dirty="0" smtClean="0"/>
              <a:t>It would be complex, massive and expansive.</a:t>
            </a:r>
            <a:endParaRPr lang="zh-TW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When Crime Occurred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traces is the first solution used to identify the attribution of responsibility</a:t>
            </a:r>
          </a:p>
          <a:p>
            <a:pPr lvl="1"/>
            <a:r>
              <a:rPr lang="en-US" altLang="zh-TW" dirty="0" smtClean="0"/>
              <a:t>Traces must be clean and cannot be modified.</a:t>
            </a:r>
          </a:p>
          <a:p>
            <a:pPr lvl="1"/>
            <a:r>
              <a:rPr lang="en-US" altLang="zh-TW" dirty="0" smtClean="0"/>
              <a:t>The method of keeping trace also need to be trusted.</a:t>
            </a:r>
          </a:p>
          <a:p>
            <a:r>
              <a:rPr lang="en-US" altLang="zh-TW" dirty="0" smtClean="0"/>
              <a:t>But unlike the fingerprint or DNA, electronic evidences are easier to modify or fake</a:t>
            </a:r>
          </a:p>
          <a:p>
            <a:pPr lvl="1"/>
            <a:r>
              <a:rPr lang="en-US" altLang="zh-TW" dirty="0" smtClean="0"/>
              <a:t>Keeping the isolation between traces and system is important.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4288" y="5157142"/>
            <a:ext cx="1355999" cy="17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 Cloud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cloud computing</a:t>
            </a:r>
          </a:p>
          <a:p>
            <a:pPr lvl="1"/>
            <a:r>
              <a:rPr lang="en-US" altLang="zh-TW" dirty="0" smtClean="0"/>
              <a:t>Traces would growth into a massive and large size such that finding the crime evidence is difficult.</a:t>
            </a:r>
          </a:p>
          <a:p>
            <a:pPr lvl="1"/>
            <a:r>
              <a:rPr lang="en-US" altLang="zh-TW" dirty="0" smtClean="0"/>
              <a:t>The large size of traces means the difficult of keep record stable and reliable.</a:t>
            </a:r>
          </a:p>
          <a:p>
            <a:r>
              <a:rPr lang="en-US" altLang="zh-TW" dirty="0" smtClean="0"/>
              <a:t>How to duplicate, isolate and manage the traces?</a:t>
            </a:r>
          </a:p>
          <a:p>
            <a:pPr lvl="1"/>
            <a:r>
              <a:rPr lang="en-US" altLang="zh-TW" dirty="0" smtClean="0"/>
              <a:t>Replica and off-site backup.</a:t>
            </a:r>
          </a:p>
          <a:p>
            <a:pPr lvl="1"/>
            <a:r>
              <a:rPr lang="en-US" altLang="zh-TW" dirty="0" smtClean="0"/>
              <a:t>Automation and systematization.</a:t>
            </a:r>
          </a:p>
          <a:p>
            <a:pPr lvl="1"/>
            <a:r>
              <a:rPr lang="en-US" altLang="zh-TW" dirty="0" smtClean="0"/>
              <a:t>Reduce human intervention.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0896" y="4437112"/>
            <a:ext cx="3227851" cy="242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Law and privacy 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Information Protection</a:t>
            </a:r>
          </a:p>
          <a:p>
            <a:r>
              <a:rPr lang="en-US" altLang="zh-TW" dirty="0" smtClean="0"/>
              <a:t>USA PATRIOT 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Outside the Law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a special case, law may be outside the country</a:t>
            </a:r>
          </a:p>
          <a:p>
            <a:pPr lvl="1"/>
            <a:r>
              <a:rPr lang="en-US" altLang="zh-TW" dirty="0" smtClean="0"/>
              <a:t>One user in A country would be under the law of B country.</a:t>
            </a:r>
          </a:p>
          <a:p>
            <a:r>
              <a:rPr lang="en-US" altLang="zh-TW" dirty="0" smtClean="0"/>
              <a:t>Cloud provides service to anywhere on the world</a:t>
            </a:r>
          </a:p>
          <a:p>
            <a:pPr lvl="1"/>
            <a:r>
              <a:rPr lang="en-US" altLang="zh-TW" dirty="0" smtClean="0"/>
              <a:t>Server and user are usually located at the difference country.</a:t>
            </a:r>
          </a:p>
          <a:p>
            <a:pPr lvl="1"/>
            <a:r>
              <a:rPr lang="en-US" altLang="zh-TW" dirty="0" smtClean="0"/>
              <a:t>Have Foreign country the right to access the user data?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b="44421"/>
          <a:stretch>
            <a:fillRect/>
          </a:stretch>
        </p:blipFill>
        <p:spPr bwMode="auto">
          <a:xfrm>
            <a:off x="467544" y="4648644"/>
            <a:ext cx="4723234" cy="2209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USA Patriot 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One of the most important news in cloud computing is USA patriot act</a:t>
            </a:r>
          </a:p>
          <a:p>
            <a:pPr lvl="1"/>
            <a:r>
              <a:rPr lang="en-US" altLang="zh-TW" dirty="0" smtClean="0"/>
              <a:t>U.S. government has the right to access all of data in the U.S. country.</a:t>
            </a:r>
          </a:p>
          <a:p>
            <a:pPr lvl="1"/>
            <a:r>
              <a:rPr lang="en-US" altLang="zh-TW" dirty="0" smtClean="0"/>
              <a:t>Also, U.S. government has the right to access the data which is hosted by U.S. companies no matter what the data at  USA or at foreign country.</a:t>
            </a:r>
          </a:p>
          <a:p>
            <a:r>
              <a:rPr lang="en-US" altLang="zh-TW" dirty="0" smtClean="0"/>
              <a:t>Microsoft and Google recognized  to provide the data to the U.S. intelligence</a:t>
            </a:r>
          </a:p>
          <a:p>
            <a:pPr lvl="1"/>
            <a:r>
              <a:rPr lang="en-US" altLang="zh-TW" dirty="0" smtClean="0"/>
              <a:t>The data are located on the server in Europe.</a:t>
            </a:r>
          </a:p>
          <a:p>
            <a:pPr lvl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USA Patriot Act (cont’d)</a:t>
            </a:r>
            <a:endParaRPr lang="zh-TW" alt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-468560" y="1196752"/>
            <a:ext cx="8352928" cy="4833828"/>
            <a:chOff x="-468560" y="1196752"/>
            <a:chExt cx="8352928" cy="4833828"/>
          </a:xfrm>
        </p:grpSpPr>
        <p:sp>
          <p:nvSpPr>
            <p:cNvPr id="4" name="矩形 3"/>
            <p:cNvSpPr/>
            <p:nvPr/>
          </p:nvSpPr>
          <p:spPr>
            <a:xfrm>
              <a:off x="3203848" y="3645024"/>
              <a:ext cx="1728192" cy="1440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U.S. Server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156176" y="3645024"/>
              <a:ext cx="1728192" cy="14401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Europe Server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/>
            <p:cNvSpPr/>
            <p:nvPr/>
          </p:nvSpPr>
          <p:spPr>
            <a:xfrm>
              <a:off x="899592" y="1196752"/>
              <a:ext cx="864096" cy="86409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solidFill>
                    <a:schemeClr val="tx1"/>
                  </a:solidFill>
                </a:rPr>
                <a:t>User</a:t>
              </a:r>
              <a:endParaRPr lang="zh-TW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75856" y="2132856"/>
              <a:ext cx="4384104" cy="8004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U.S. Company 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線單箭頭接點 9"/>
            <p:cNvCxnSpPr/>
            <p:nvPr/>
          </p:nvCxnSpPr>
          <p:spPr>
            <a:xfrm>
              <a:off x="1835696" y="1772816"/>
              <a:ext cx="1368152" cy="648072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圓角矩形 10"/>
            <p:cNvSpPr/>
            <p:nvPr/>
          </p:nvSpPr>
          <p:spPr>
            <a:xfrm>
              <a:off x="2195736" y="1556792"/>
              <a:ext cx="720080" cy="36004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Data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H="1">
              <a:off x="3851920" y="2996952"/>
              <a:ext cx="288032" cy="576064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/>
            <p:cNvCxnSpPr/>
            <p:nvPr/>
          </p:nvCxnSpPr>
          <p:spPr>
            <a:xfrm>
              <a:off x="6948264" y="2996952"/>
              <a:ext cx="360040" cy="576064"/>
            </a:xfrm>
            <a:prstGeom prst="straightConnector1">
              <a:avLst/>
            </a:prstGeom>
            <a:ln>
              <a:prstDash val="sysDash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4211960" y="3140968"/>
              <a:ext cx="2811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Replicate or Remote backup</a:t>
              </a:r>
              <a:endParaRPr lang="zh-TW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67544" y="4941168"/>
              <a:ext cx="1728192" cy="9361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U.S. intelligence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>
              <a:off x="1547664" y="4365104"/>
              <a:ext cx="2952328" cy="936104"/>
            </a:xfrm>
            <a:prstGeom prst="arc">
              <a:avLst>
                <a:gd name="adj1" fmla="val 11123196"/>
                <a:gd name="adj2" fmla="val 15599550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弧形 20"/>
            <p:cNvSpPr/>
            <p:nvPr/>
          </p:nvSpPr>
          <p:spPr>
            <a:xfrm>
              <a:off x="-468560" y="4725144"/>
              <a:ext cx="7416824" cy="936104"/>
            </a:xfrm>
            <a:prstGeom prst="arc">
              <a:avLst>
                <a:gd name="adj1" fmla="val 10029"/>
                <a:gd name="adj2" fmla="val 8717357"/>
              </a:avLst>
            </a:prstGeom>
            <a:ln>
              <a:headEnd type="triangle"/>
              <a:tailEnd type="non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2267744" y="5661248"/>
              <a:ext cx="18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Law enforcement 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Affect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Users mistrust the cloud service</a:t>
            </a:r>
          </a:p>
          <a:p>
            <a:pPr lvl="1"/>
            <a:r>
              <a:rPr lang="en-US" altLang="zh-TW" dirty="0" smtClean="0"/>
              <a:t>User data could be access without any permission.</a:t>
            </a:r>
          </a:p>
          <a:p>
            <a:pPr lvl="1"/>
            <a:r>
              <a:rPr lang="en-US" altLang="zh-TW" dirty="0" smtClean="0"/>
              <a:t>User cannot keep secret in the internet.</a:t>
            </a:r>
          </a:p>
          <a:p>
            <a:r>
              <a:rPr lang="en-US" altLang="zh-TW" dirty="0" smtClean="0"/>
              <a:t>Lots of important institution are limited to use the cloud service</a:t>
            </a:r>
          </a:p>
          <a:p>
            <a:pPr lvl="1"/>
            <a:r>
              <a:rPr lang="en-US" altLang="zh-TW" dirty="0" smtClean="0"/>
              <a:t>The sensitive data, important service and technique cannot be hosted on the cloud companies.</a:t>
            </a:r>
          </a:p>
          <a:p>
            <a:pPr lvl="1"/>
            <a:r>
              <a:rPr lang="en-US" altLang="zh-TW" dirty="0" smtClean="0"/>
              <a:t>If necessary, all data must be encrypted and independent stores the key.</a:t>
            </a:r>
          </a:p>
          <a:p>
            <a:pPr lvl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is the new industry</a:t>
            </a:r>
          </a:p>
          <a:p>
            <a:pPr lvl="1"/>
            <a:r>
              <a:rPr lang="en-US" altLang="zh-TW" dirty="0" smtClean="0"/>
              <a:t>The laws grow up slower than cloud computing service.</a:t>
            </a:r>
          </a:p>
          <a:p>
            <a:pPr lvl="1"/>
            <a:r>
              <a:rPr lang="en-US" altLang="zh-TW" dirty="0" smtClean="0"/>
              <a:t>The old provision cannot meet the companies’ or customers’ requirement.</a:t>
            </a:r>
          </a:p>
          <a:p>
            <a:pPr lvl="1"/>
            <a:r>
              <a:rPr lang="en-US" altLang="zh-TW" dirty="0" smtClean="0"/>
              <a:t>The new provision still not well-develop.</a:t>
            </a:r>
          </a:p>
          <a:p>
            <a:r>
              <a:rPr lang="en-US" altLang="zh-TW" dirty="0" smtClean="0"/>
              <a:t>Depending the properties of cloud</a:t>
            </a:r>
          </a:p>
          <a:p>
            <a:pPr lvl="1"/>
            <a:r>
              <a:rPr lang="en-US" altLang="zh-TW" dirty="0" smtClean="0"/>
              <a:t>Cloud computing service cannot avoid the need to provide cross-country service.</a:t>
            </a:r>
          </a:p>
          <a:p>
            <a:pPr lvl="1"/>
            <a:r>
              <a:rPr lang="en-US" altLang="zh-TW" dirty="0" smtClean="0"/>
              <a:t>There may have some conflict between local laws and foreign laws.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(cont’d)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privacy is the popular issue for cloud security issue</a:t>
            </a:r>
          </a:p>
          <a:p>
            <a:pPr lvl="1"/>
            <a:r>
              <a:rPr lang="en-US" altLang="zh-TW" dirty="0" smtClean="0"/>
              <a:t>Cloud services is growing rapidly and around of our life.</a:t>
            </a:r>
          </a:p>
          <a:p>
            <a:pPr lvl="1"/>
            <a:r>
              <a:rPr lang="en-US" altLang="zh-TW" dirty="0" smtClean="0"/>
              <a:t>Cloud vendors and companies own lots of customers private information and data.</a:t>
            </a:r>
          </a:p>
          <a:p>
            <a:r>
              <a:rPr lang="en-US" altLang="zh-TW" dirty="0" smtClean="0"/>
              <a:t>The law is used to protect our right</a:t>
            </a:r>
          </a:p>
          <a:p>
            <a:pPr lvl="1"/>
            <a:r>
              <a:rPr lang="en-US" altLang="zh-TW" dirty="0" smtClean="0"/>
              <a:t>When government needs to protect the most people, the privacy of small number of people will be violated.</a:t>
            </a:r>
          </a:p>
          <a:p>
            <a:pPr lvl="1"/>
            <a:r>
              <a:rPr lang="en-US" altLang="zh-TW" dirty="0" smtClean="0"/>
              <a:t>Who wants to be a small part of the victims?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Cloud Security Alliance (CSA)</a:t>
            </a:r>
            <a:r>
              <a:rPr lang="en-US" altLang="zh-TW" dirty="0" smtClean="0">
                <a:hlinkClick r:id="rId2"/>
              </a:rPr>
              <a:t> https://cloudsecurityalliance.org/</a:t>
            </a:r>
            <a:endParaRPr lang="zh-TW" altLang="en-US" dirty="0" smtClean="0"/>
          </a:p>
          <a:p>
            <a:r>
              <a:rPr lang="en-US" altLang="zh-TW" dirty="0" smtClean="0"/>
              <a:t>News </a:t>
            </a:r>
          </a:p>
          <a:p>
            <a:pPr lvl="1"/>
            <a:r>
              <a:rPr lang="en-US" altLang="zh-TW" dirty="0" smtClean="0">
                <a:hlinkClick r:id="rId3"/>
              </a:rPr>
              <a:t>http://www.zdnet.com.tw/news/software/0,2000085678,20126532,00.htm</a:t>
            </a:r>
            <a:r>
              <a:rPr lang="en-US" altLang="zh-TW" dirty="0" smtClean="0"/>
              <a:t> </a:t>
            </a:r>
            <a:endParaRPr lang="zh-TW" altLang="en-US" dirty="0" smtClean="0"/>
          </a:p>
          <a:p>
            <a:pPr lvl="1"/>
            <a:r>
              <a:rPr lang="en-US" altLang="zh-TW" dirty="0" smtClean="0">
                <a:hlinkClick r:id="rId4"/>
              </a:rPr>
              <a:t>http://www.informationsecurity.com.tw/article/article_detail.aspx?tv=11&amp;aid=6286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>
                <a:hlinkClick r:id="rId5"/>
              </a:rPr>
              <a:t>http://law.moj.gov.tw/LawClass/LawAll.aspx?PCode=I0050021</a:t>
            </a:r>
            <a:endParaRPr lang="zh-TW" altLang="en-US" dirty="0" smtClean="0"/>
          </a:p>
          <a:p>
            <a:r>
              <a:rPr lang="en-US" altLang="zh-TW" dirty="0" smtClean="0"/>
              <a:t>All resources of the materials and pictures were partially retrieved from the Internet</a:t>
            </a:r>
            <a:endParaRPr lang="zh-TW" altLang="en-US" dirty="0" smtClean="0"/>
          </a:p>
          <a:p>
            <a:endParaRPr lang="en-US" altLang="zh-TW" dirty="0" smtClean="0"/>
          </a:p>
          <a:p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24524</TotalTime>
  <Words>4040</Words>
  <Application>Microsoft Office PowerPoint</Application>
  <PresentationFormat>如螢幕大小 (4:3)</PresentationFormat>
  <Paragraphs>625</Paragraphs>
  <Slides>85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85</vt:i4>
      </vt:variant>
    </vt:vector>
  </HeadingPairs>
  <TitlesOfParts>
    <vt:vector size="86" baseType="lpstr">
      <vt:lpstr>Course Themes</vt:lpstr>
      <vt:lpstr>雲端計算 Cloud Computing</vt:lpstr>
      <vt:lpstr>Agenda </vt:lpstr>
      <vt:lpstr>Cloud Standard and Law</vt:lpstr>
      <vt:lpstr>Outline </vt:lpstr>
      <vt:lpstr>Security </vt:lpstr>
      <vt:lpstr>Security Issue</vt:lpstr>
      <vt:lpstr>Risk </vt:lpstr>
      <vt:lpstr>Why so Serious?</vt:lpstr>
      <vt:lpstr>Back to the Cloud </vt:lpstr>
      <vt:lpstr>Cloud Security Alliance </vt:lpstr>
      <vt:lpstr>Standard </vt:lpstr>
      <vt:lpstr>Security Matrix</vt:lpstr>
      <vt:lpstr>Cloud Control Field</vt:lpstr>
      <vt:lpstr>Cloud Control Field (cont’d)</vt:lpstr>
      <vt:lpstr>Before Join in Cloud</vt:lpstr>
      <vt:lpstr>Before Join in Cloud (cont’d)</vt:lpstr>
      <vt:lpstr>Before Join in Cloud (cont’d)</vt:lpstr>
      <vt:lpstr>Prepared </vt:lpstr>
      <vt:lpstr>Cloud Security Alliance </vt:lpstr>
      <vt:lpstr>Governance </vt:lpstr>
      <vt:lpstr>Governance </vt:lpstr>
      <vt:lpstr>Governance  (cont’d)</vt:lpstr>
      <vt:lpstr>Risk Management</vt:lpstr>
      <vt:lpstr>Management</vt:lpstr>
      <vt:lpstr>Enterprise Risk</vt:lpstr>
      <vt:lpstr>Information Risk</vt:lpstr>
      <vt:lpstr>Third-party Apps</vt:lpstr>
      <vt:lpstr>Legal </vt:lpstr>
      <vt:lpstr>Electronic Discovery</vt:lpstr>
      <vt:lpstr>Suggestions </vt:lpstr>
      <vt:lpstr>Compliance &amp; Audit</vt:lpstr>
      <vt:lpstr>Readiness</vt:lpstr>
      <vt:lpstr>ILM</vt:lpstr>
      <vt:lpstr>ILM (cont’d)</vt:lpstr>
      <vt:lpstr>Suggestion </vt:lpstr>
      <vt:lpstr>Suggestion </vt:lpstr>
      <vt:lpstr>Portability</vt:lpstr>
      <vt:lpstr>Interoperability </vt:lpstr>
      <vt:lpstr>Suggestion </vt:lpstr>
      <vt:lpstr>Suggestion (cont’d) </vt:lpstr>
      <vt:lpstr>Cloud Security Alliance </vt:lpstr>
      <vt:lpstr>Operation </vt:lpstr>
      <vt:lpstr>Operation  (cont’d)</vt:lpstr>
      <vt:lpstr>Disaster Recover</vt:lpstr>
      <vt:lpstr>Data Center</vt:lpstr>
      <vt:lpstr>Suggestion </vt:lpstr>
      <vt:lpstr>Suggestion  (cont’d)</vt:lpstr>
      <vt:lpstr>Incident Response</vt:lpstr>
      <vt:lpstr>Views </vt:lpstr>
      <vt:lpstr>Suggestion </vt:lpstr>
      <vt:lpstr>Application Security </vt:lpstr>
      <vt:lpstr>Interoperation </vt:lpstr>
      <vt:lpstr>Suggestion </vt:lpstr>
      <vt:lpstr>Encryption </vt:lpstr>
      <vt:lpstr>Key management</vt:lpstr>
      <vt:lpstr>Management </vt:lpstr>
      <vt:lpstr>Suggestion </vt:lpstr>
      <vt:lpstr>Access Control</vt:lpstr>
      <vt:lpstr>IAM</vt:lpstr>
      <vt:lpstr>Virtualization </vt:lpstr>
      <vt:lpstr>Suggestion </vt:lpstr>
      <vt:lpstr>Summary </vt:lpstr>
      <vt:lpstr>Law and Privacy </vt:lpstr>
      <vt:lpstr>The Real World</vt:lpstr>
      <vt:lpstr>Enforcement </vt:lpstr>
      <vt:lpstr>Online Shopping</vt:lpstr>
      <vt:lpstr>Security Protection </vt:lpstr>
      <vt:lpstr>Privacy </vt:lpstr>
      <vt:lpstr>Net Generation</vt:lpstr>
      <vt:lpstr>Law and privacy </vt:lpstr>
      <vt:lpstr>Personal Information </vt:lpstr>
      <vt:lpstr>Law of Personal Information </vt:lpstr>
      <vt:lpstr>Clause</vt:lpstr>
      <vt:lpstr>Company Risk </vt:lpstr>
      <vt:lpstr>Traces </vt:lpstr>
      <vt:lpstr>When Crime Occurred</vt:lpstr>
      <vt:lpstr>In Cloud</vt:lpstr>
      <vt:lpstr>Law and privacy </vt:lpstr>
      <vt:lpstr>Outside the Law</vt:lpstr>
      <vt:lpstr>USA Patriot Act</vt:lpstr>
      <vt:lpstr>USA Patriot Act (cont’d)</vt:lpstr>
      <vt:lpstr>Affect </vt:lpstr>
      <vt:lpstr>Summary </vt:lpstr>
      <vt:lpstr>Summary (cont’d)</vt:lpstr>
      <vt:lpstr>Reference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and Issue</dc:title>
  <dc:creator>cmj</dc:creator>
  <cp:lastModifiedBy>5g</cp:lastModifiedBy>
  <cp:revision>1216</cp:revision>
  <dcterms:created xsi:type="dcterms:W3CDTF">2011-07-04T06:08:02Z</dcterms:created>
  <dcterms:modified xsi:type="dcterms:W3CDTF">2011-12-07T05:55:57Z</dcterms:modified>
</cp:coreProperties>
</file>