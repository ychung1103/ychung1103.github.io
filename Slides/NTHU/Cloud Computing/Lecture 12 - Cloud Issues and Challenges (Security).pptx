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5" r:id="rId10"/>
    <p:sldId id="346" r:id="rId11"/>
    <p:sldId id="347" r:id="rId12"/>
    <p:sldId id="348" r:id="rId13"/>
    <p:sldId id="256" r:id="rId14"/>
    <p:sldId id="257" r:id="rId15"/>
    <p:sldId id="271" r:id="rId16"/>
    <p:sldId id="272" r:id="rId17"/>
    <p:sldId id="278" r:id="rId18"/>
    <p:sldId id="279" r:id="rId19"/>
    <p:sldId id="280" r:id="rId20"/>
    <p:sldId id="273" r:id="rId21"/>
    <p:sldId id="283" r:id="rId22"/>
    <p:sldId id="287" r:id="rId23"/>
    <p:sldId id="286" r:id="rId24"/>
    <p:sldId id="288" r:id="rId25"/>
    <p:sldId id="282" r:id="rId26"/>
    <p:sldId id="320" r:id="rId27"/>
    <p:sldId id="260" r:id="rId28"/>
    <p:sldId id="266" r:id="rId29"/>
    <p:sldId id="281" r:id="rId30"/>
    <p:sldId id="289" r:id="rId31"/>
    <p:sldId id="291" r:id="rId32"/>
    <p:sldId id="290" r:id="rId33"/>
    <p:sldId id="293" r:id="rId34"/>
    <p:sldId id="294" r:id="rId35"/>
    <p:sldId id="292" r:id="rId36"/>
    <p:sldId id="295" r:id="rId37"/>
    <p:sldId id="267" r:id="rId38"/>
    <p:sldId id="296" r:id="rId39"/>
    <p:sldId id="297" r:id="rId40"/>
    <p:sldId id="298" r:id="rId41"/>
    <p:sldId id="299" r:id="rId42"/>
    <p:sldId id="305" r:id="rId43"/>
    <p:sldId id="301" r:id="rId44"/>
    <p:sldId id="302" r:id="rId45"/>
    <p:sldId id="303" r:id="rId46"/>
    <p:sldId id="304" r:id="rId47"/>
    <p:sldId id="332" r:id="rId48"/>
    <p:sldId id="306" r:id="rId49"/>
    <p:sldId id="307" r:id="rId50"/>
    <p:sldId id="309" r:id="rId51"/>
    <p:sldId id="311" r:id="rId52"/>
    <p:sldId id="310" r:id="rId53"/>
    <p:sldId id="312" r:id="rId54"/>
    <p:sldId id="313" r:id="rId55"/>
    <p:sldId id="314" r:id="rId56"/>
    <p:sldId id="308" r:id="rId57"/>
    <p:sldId id="315" r:id="rId58"/>
    <p:sldId id="316" r:id="rId59"/>
    <p:sldId id="317" r:id="rId60"/>
    <p:sldId id="318" r:id="rId61"/>
    <p:sldId id="319" r:id="rId62"/>
    <p:sldId id="321" r:id="rId63"/>
    <p:sldId id="323" r:id="rId64"/>
    <p:sldId id="324" r:id="rId65"/>
    <p:sldId id="325" r:id="rId66"/>
    <p:sldId id="328" r:id="rId67"/>
    <p:sldId id="326" r:id="rId68"/>
    <p:sldId id="329" r:id="rId69"/>
    <p:sldId id="327" r:id="rId70"/>
    <p:sldId id="330" r:id="rId71"/>
    <p:sldId id="331" r:id="rId72"/>
    <p:sldId id="333" r:id="rId7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78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9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90BF7D-1955-472A-AB77-9E619E724152}" type="doc">
      <dgm:prSet loTypeId="urn:microsoft.com/office/officeart/2005/8/layout/venn1" loCatId="relationship" qsTypeId="urn:microsoft.com/office/officeart/2005/8/quickstyle/3d2" qsCatId="3D" csTypeId="urn:microsoft.com/office/officeart/2005/8/colors/colorful1" csCatId="colorful" phldr="1"/>
      <dgm:spPr/>
    </dgm:pt>
    <dgm:pt modelId="{3858B509-E5B8-48A9-B5B7-3FE6BFFD44DC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FF0000"/>
              </a:solidFill>
            </a:rPr>
            <a:t>C</a:t>
          </a:r>
          <a:r>
            <a:rPr lang="en-US" altLang="zh-TW" dirty="0" smtClean="0"/>
            <a:t>onfidentiality</a:t>
          </a:r>
          <a:endParaRPr lang="zh-TW" altLang="en-US" dirty="0"/>
        </a:p>
      </dgm:t>
    </dgm:pt>
    <dgm:pt modelId="{EA851864-4425-4D2A-83DC-B41FD12494BA}" type="parTrans" cxnId="{C7E68FF0-9419-45BD-8CB3-6C2AFD0541BA}">
      <dgm:prSet/>
      <dgm:spPr/>
      <dgm:t>
        <a:bodyPr/>
        <a:lstStyle/>
        <a:p>
          <a:endParaRPr lang="zh-TW" altLang="en-US"/>
        </a:p>
      </dgm:t>
    </dgm:pt>
    <dgm:pt modelId="{A9F898EF-A506-47FF-8A50-25D0706D4193}" type="sibTrans" cxnId="{C7E68FF0-9419-45BD-8CB3-6C2AFD0541BA}">
      <dgm:prSet/>
      <dgm:spPr/>
      <dgm:t>
        <a:bodyPr/>
        <a:lstStyle/>
        <a:p>
          <a:endParaRPr lang="zh-TW" altLang="en-US"/>
        </a:p>
      </dgm:t>
    </dgm:pt>
    <dgm:pt modelId="{8003E9A0-7EDE-426D-903D-D4AFC902DE75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FF0000"/>
              </a:solidFill>
            </a:rPr>
            <a:t>A</a:t>
          </a:r>
          <a:r>
            <a:rPr lang="en-US" altLang="zh-TW" dirty="0" smtClean="0"/>
            <a:t>vailability</a:t>
          </a:r>
          <a:endParaRPr lang="zh-TW" altLang="en-US" dirty="0"/>
        </a:p>
      </dgm:t>
    </dgm:pt>
    <dgm:pt modelId="{847A042A-6E8F-42E9-B479-5DFDAFC19EED}" type="parTrans" cxnId="{50055E22-281A-4F4F-B99A-69FEAD8C58E2}">
      <dgm:prSet/>
      <dgm:spPr/>
      <dgm:t>
        <a:bodyPr/>
        <a:lstStyle/>
        <a:p>
          <a:endParaRPr lang="zh-TW" altLang="en-US"/>
        </a:p>
      </dgm:t>
    </dgm:pt>
    <dgm:pt modelId="{87B94CAA-A9F8-4022-AD22-815075393CC5}" type="sibTrans" cxnId="{50055E22-281A-4F4F-B99A-69FEAD8C58E2}">
      <dgm:prSet/>
      <dgm:spPr/>
      <dgm:t>
        <a:bodyPr/>
        <a:lstStyle/>
        <a:p>
          <a:endParaRPr lang="zh-TW" altLang="en-US"/>
        </a:p>
      </dgm:t>
    </dgm:pt>
    <dgm:pt modelId="{8A3153F4-B5A5-4349-A8F2-5F416611AA94}">
      <dgm:prSet phldrT="[文字]"/>
      <dgm:spPr/>
      <dgm:t>
        <a:bodyPr/>
        <a:lstStyle/>
        <a:p>
          <a:r>
            <a:rPr lang="en-US" altLang="zh-TW" b="1" dirty="0" smtClean="0">
              <a:solidFill>
                <a:srgbClr val="FF0000"/>
              </a:solidFill>
            </a:rPr>
            <a:t>I</a:t>
          </a:r>
          <a:r>
            <a:rPr lang="en-US" altLang="zh-TW" dirty="0" smtClean="0"/>
            <a:t>ntegrity </a:t>
          </a:r>
          <a:endParaRPr lang="zh-TW" altLang="en-US" dirty="0"/>
        </a:p>
      </dgm:t>
    </dgm:pt>
    <dgm:pt modelId="{7982F3B0-5040-4CC1-AF9A-F8C14B8BAF67}" type="parTrans" cxnId="{CBC4FB18-41BF-4D15-9EE1-5766BE25F3EC}">
      <dgm:prSet/>
      <dgm:spPr/>
      <dgm:t>
        <a:bodyPr/>
        <a:lstStyle/>
        <a:p>
          <a:endParaRPr lang="zh-TW" altLang="en-US"/>
        </a:p>
      </dgm:t>
    </dgm:pt>
    <dgm:pt modelId="{F2208467-6AED-4E26-9566-1BD489FDAF49}" type="sibTrans" cxnId="{CBC4FB18-41BF-4D15-9EE1-5766BE25F3EC}">
      <dgm:prSet/>
      <dgm:spPr/>
      <dgm:t>
        <a:bodyPr/>
        <a:lstStyle/>
        <a:p>
          <a:endParaRPr lang="zh-TW" altLang="en-US"/>
        </a:p>
      </dgm:t>
    </dgm:pt>
    <dgm:pt modelId="{08CE7164-E496-4315-9F8B-8C361D7CEE87}" type="pres">
      <dgm:prSet presAssocID="{A290BF7D-1955-472A-AB77-9E619E724152}" presName="compositeShape" presStyleCnt="0">
        <dgm:presLayoutVars>
          <dgm:chMax val="7"/>
          <dgm:dir/>
          <dgm:resizeHandles val="exact"/>
        </dgm:presLayoutVars>
      </dgm:prSet>
      <dgm:spPr/>
    </dgm:pt>
    <dgm:pt modelId="{9280DECB-93B4-4928-9FAC-620D0BF47DFD}" type="pres">
      <dgm:prSet presAssocID="{3858B509-E5B8-48A9-B5B7-3FE6BFFD44DC}" presName="circ1" presStyleLbl="vennNode1" presStyleIdx="0" presStyleCnt="3"/>
      <dgm:spPr/>
      <dgm:t>
        <a:bodyPr/>
        <a:lstStyle/>
        <a:p>
          <a:endParaRPr lang="zh-TW" altLang="en-US"/>
        </a:p>
      </dgm:t>
    </dgm:pt>
    <dgm:pt modelId="{01F39350-AC76-4DF7-9540-F89AAD624DBC}" type="pres">
      <dgm:prSet presAssocID="{3858B509-E5B8-48A9-B5B7-3FE6BFFD44D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1722408-69F4-465A-8544-EE3A69B5BB88}" type="pres">
      <dgm:prSet presAssocID="{8003E9A0-7EDE-426D-903D-D4AFC902DE75}" presName="circ2" presStyleLbl="vennNode1" presStyleIdx="1" presStyleCnt="3"/>
      <dgm:spPr/>
      <dgm:t>
        <a:bodyPr/>
        <a:lstStyle/>
        <a:p>
          <a:endParaRPr lang="zh-TW" altLang="en-US"/>
        </a:p>
      </dgm:t>
    </dgm:pt>
    <dgm:pt modelId="{CA4B1DF1-802F-4BCB-83DB-AA6B30692271}" type="pres">
      <dgm:prSet presAssocID="{8003E9A0-7EDE-426D-903D-D4AFC902DE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3493206-1F30-4990-8518-998449A9380A}" type="pres">
      <dgm:prSet presAssocID="{8A3153F4-B5A5-4349-A8F2-5F416611AA94}" presName="circ3" presStyleLbl="vennNode1" presStyleIdx="2" presStyleCnt="3"/>
      <dgm:spPr/>
      <dgm:t>
        <a:bodyPr/>
        <a:lstStyle/>
        <a:p>
          <a:endParaRPr lang="zh-TW" altLang="en-US"/>
        </a:p>
      </dgm:t>
    </dgm:pt>
    <dgm:pt modelId="{5901572D-0B22-442D-80F8-AEFD0E6A769E}" type="pres">
      <dgm:prSet presAssocID="{8A3153F4-B5A5-4349-A8F2-5F416611AA9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133EAE15-D267-4DB1-A729-7D6FF3C22E2D}" type="presOf" srcId="{3858B509-E5B8-48A9-B5B7-3FE6BFFD44DC}" destId="{9280DECB-93B4-4928-9FAC-620D0BF47DFD}" srcOrd="0" destOrd="0" presId="urn:microsoft.com/office/officeart/2005/8/layout/venn1"/>
    <dgm:cxn modelId="{F757F6A5-31DA-4F57-8C25-55D45A3E1A41}" type="presOf" srcId="{8003E9A0-7EDE-426D-903D-D4AFC902DE75}" destId="{31722408-69F4-465A-8544-EE3A69B5BB88}" srcOrd="0" destOrd="0" presId="urn:microsoft.com/office/officeart/2005/8/layout/venn1"/>
    <dgm:cxn modelId="{A163FAD0-71EE-419E-9790-D4B1E5A73610}" type="presOf" srcId="{8A3153F4-B5A5-4349-A8F2-5F416611AA94}" destId="{5901572D-0B22-442D-80F8-AEFD0E6A769E}" srcOrd="1" destOrd="0" presId="urn:microsoft.com/office/officeart/2005/8/layout/venn1"/>
    <dgm:cxn modelId="{4A76ECDD-C82D-4BDD-8010-747B9D8459BB}" type="presOf" srcId="{8A3153F4-B5A5-4349-A8F2-5F416611AA94}" destId="{73493206-1F30-4990-8518-998449A9380A}" srcOrd="0" destOrd="0" presId="urn:microsoft.com/office/officeart/2005/8/layout/venn1"/>
    <dgm:cxn modelId="{A3101F15-499B-41FC-9ED8-3B0F2BB69547}" type="presOf" srcId="{3858B509-E5B8-48A9-B5B7-3FE6BFFD44DC}" destId="{01F39350-AC76-4DF7-9540-F89AAD624DBC}" srcOrd="1" destOrd="0" presId="urn:microsoft.com/office/officeart/2005/8/layout/venn1"/>
    <dgm:cxn modelId="{50055E22-281A-4F4F-B99A-69FEAD8C58E2}" srcId="{A290BF7D-1955-472A-AB77-9E619E724152}" destId="{8003E9A0-7EDE-426D-903D-D4AFC902DE75}" srcOrd="1" destOrd="0" parTransId="{847A042A-6E8F-42E9-B479-5DFDAFC19EED}" sibTransId="{87B94CAA-A9F8-4022-AD22-815075393CC5}"/>
    <dgm:cxn modelId="{58A6C2D0-70A3-4E15-A15C-4A18CE745B11}" type="presOf" srcId="{8003E9A0-7EDE-426D-903D-D4AFC902DE75}" destId="{CA4B1DF1-802F-4BCB-83DB-AA6B30692271}" srcOrd="1" destOrd="0" presId="urn:microsoft.com/office/officeart/2005/8/layout/venn1"/>
    <dgm:cxn modelId="{B88099C6-4DDF-4B71-A67D-765E0806C948}" type="presOf" srcId="{A290BF7D-1955-472A-AB77-9E619E724152}" destId="{08CE7164-E496-4315-9F8B-8C361D7CEE87}" srcOrd="0" destOrd="0" presId="urn:microsoft.com/office/officeart/2005/8/layout/venn1"/>
    <dgm:cxn modelId="{C7E68FF0-9419-45BD-8CB3-6C2AFD0541BA}" srcId="{A290BF7D-1955-472A-AB77-9E619E724152}" destId="{3858B509-E5B8-48A9-B5B7-3FE6BFFD44DC}" srcOrd="0" destOrd="0" parTransId="{EA851864-4425-4D2A-83DC-B41FD12494BA}" sibTransId="{A9F898EF-A506-47FF-8A50-25D0706D4193}"/>
    <dgm:cxn modelId="{CBC4FB18-41BF-4D15-9EE1-5766BE25F3EC}" srcId="{A290BF7D-1955-472A-AB77-9E619E724152}" destId="{8A3153F4-B5A5-4349-A8F2-5F416611AA94}" srcOrd="2" destOrd="0" parTransId="{7982F3B0-5040-4CC1-AF9A-F8C14B8BAF67}" sibTransId="{F2208467-6AED-4E26-9566-1BD489FDAF49}"/>
    <dgm:cxn modelId="{6E542638-BA2A-49C7-872F-158B842DCB6B}" type="presParOf" srcId="{08CE7164-E496-4315-9F8B-8C361D7CEE87}" destId="{9280DECB-93B4-4928-9FAC-620D0BF47DFD}" srcOrd="0" destOrd="0" presId="urn:microsoft.com/office/officeart/2005/8/layout/venn1"/>
    <dgm:cxn modelId="{08EF1A7B-2589-4059-8B13-E722920A99B6}" type="presParOf" srcId="{08CE7164-E496-4315-9F8B-8C361D7CEE87}" destId="{01F39350-AC76-4DF7-9540-F89AAD624DBC}" srcOrd="1" destOrd="0" presId="urn:microsoft.com/office/officeart/2005/8/layout/venn1"/>
    <dgm:cxn modelId="{F9D35A6D-3213-4A9C-9FC9-7C9488B36B2D}" type="presParOf" srcId="{08CE7164-E496-4315-9F8B-8C361D7CEE87}" destId="{31722408-69F4-465A-8544-EE3A69B5BB88}" srcOrd="2" destOrd="0" presId="urn:microsoft.com/office/officeart/2005/8/layout/venn1"/>
    <dgm:cxn modelId="{2E60C1FC-A15B-46B2-8CF6-16BC314389C9}" type="presParOf" srcId="{08CE7164-E496-4315-9F8B-8C361D7CEE87}" destId="{CA4B1DF1-802F-4BCB-83DB-AA6B30692271}" srcOrd="3" destOrd="0" presId="urn:microsoft.com/office/officeart/2005/8/layout/venn1"/>
    <dgm:cxn modelId="{BBC2872D-02A1-4A95-8E2D-A86A7E1BC527}" type="presParOf" srcId="{08CE7164-E496-4315-9F8B-8C361D7CEE87}" destId="{73493206-1F30-4990-8518-998449A9380A}" srcOrd="4" destOrd="0" presId="urn:microsoft.com/office/officeart/2005/8/layout/venn1"/>
    <dgm:cxn modelId="{4DEAFBAE-CAA2-48EA-9FCE-2B167D8EF12D}" type="presParOf" srcId="{08CE7164-E496-4315-9F8B-8C361D7CEE87}" destId="{5901572D-0B22-442D-80F8-AEFD0E6A769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280DECB-93B4-4928-9FAC-620D0BF47DFD}">
      <dsp:nvSpPr>
        <dsp:cNvPr id="0" name=""/>
        <dsp:cNvSpPr/>
      </dsp:nvSpPr>
      <dsp:spPr>
        <a:xfrm>
          <a:off x="1711525" y="42699"/>
          <a:ext cx="2049556" cy="204955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 smtClean="0">
              <a:solidFill>
                <a:srgbClr val="FF0000"/>
              </a:solidFill>
            </a:rPr>
            <a:t>C</a:t>
          </a:r>
          <a:r>
            <a:rPr lang="en-US" altLang="zh-TW" sz="1900" kern="1200" dirty="0" smtClean="0"/>
            <a:t>onfidentiality</a:t>
          </a:r>
          <a:endParaRPr lang="zh-TW" altLang="en-US" sz="1900" kern="1200" dirty="0"/>
        </a:p>
      </dsp:txBody>
      <dsp:txXfrm>
        <a:off x="1984799" y="401371"/>
        <a:ext cx="1503008" cy="922300"/>
      </dsp:txXfrm>
    </dsp:sp>
    <dsp:sp modelId="{31722408-69F4-465A-8544-EE3A69B5BB88}">
      <dsp:nvSpPr>
        <dsp:cNvPr id="0" name=""/>
        <dsp:cNvSpPr/>
      </dsp:nvSpPr>
      <dsp:spPr>
        <a:xfrm>
          <a:off x="2451074" y="1323672"/>
          <a:ext cx="2049556" cy="2049556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 smtClean="0">
              <a:solidFill>
                <a:srgbClr val="FF0000"/>
              </a:solidFill>
            </a:rPr>
            <a:t>A</a:t>
          </a:r>
          <a:r>
            <a:rPr lang="en-US" altLang="zh-TW" sz="1900" kern="1200" dirty="0" smtClean="0"/>
            <a:t>vailability</a:t>
          </a:r>
          <a:endParaRPr lang="zh-TW" altLang="en-US" sz="1900" kern="1200" dirty="0"/>
        </a:p>
      </dsp:txBody>
      <dsp:txXfrm>
        <a:off x="3077896" y="1853140"/>
        <a:ext cx="1229734" cy="1127256"/>
      </dsp:txXfrm>
    </dsp:sp>
    <dsp:sp modelId="{73493206-1F30-4990-8518-998449A9380A}">
      <dsp:nvSpPr>
        <dsp:cNvPr id="0" name=""/>
        <dsp:cNvSpPr/>
      </dsp:nvSpPr>
      <dsp:spPr>
        <a:xfrm>
          <a:off x="971977" y="1323672"/>
          <a:ext cx="2049556" cy="204955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 smtClean="0">
              <a:solidFill>
                <a:srgbClr val="FF0000"/>
              </a:solidFill>
            </a:rPr>
            <a:t>I</a:t>
          </a:r>
          <a:r>
            <a:rPr lang="en-US" altLang="zh-TW" sz="1900" kern="1200" dirty="0" smtClean="0"/>
            <a:t>ntegrity </a:t>
          </a:r>
          <a:endParaRPr lang="zh-TW" altLang="en-US" sz="1900" kern="1200" dirty="0"/>
        </a:p>
      </dsp:txBody>
      <dsp:txXfrm>
        <a:off x="1164977" y="1853140"/>
        <a:ext cx="1229734" cy="1127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E55DD-8B25-4287-974E-78430715C982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DBBAF-DFC2-4683-8E8C-485F28939D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DBBAF-DFC2-4683-8E8C-485F28939DD8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www.shorturl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one-h.org/" TargetMode="External"/><Relationship Id="rId7" Type="http://schemas.openxmlformats.org/officeDocument/2006/relationships/hyperlink" Target="http://lieberman.senate.gov/index.cfm/news-events/news/2010/12/amazon-severs-ties-with-wikileaks" TargetMode="External"/><Relationship Id="rId2" Type="http://schemas.openxmlformats.org/officeDocument/2006/relationships/hyperlink" Target="http://en.wikipedia.org/wiki/Wik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w.nextmedia.com/rnews/article/SecID/109/art_id/42470/IssueID/20110623" TargetMode="External"/><Relationship Id="rId5" Type="http://schemas.openxmlformats.org/officeDocument/2006/relationships/hyperlink" Target="http://udn.com/NEWS/WORLD/WOR3/6025617.shtml" TargetMode="External"/><Relationship Id="rId4" Type="http://schemas.openxmlformats.org/officeDocument/2006/relationships/hyperlink" Target="http://www.zdnet.com.tw/news/software/0,2000085678,20143834,00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Cloud Issues and </a:t>
            </a:r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Challenges</a:t>
            </a:r>
            <a:b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</a:br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Security</a:t>
            </a:r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</a:br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Issues &amp; challenges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Cloud Security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Security &amp; attack</a:t>
            </a:r>
          </a:p>
          <a:p>
            <a:r>
              <a:rPr lang="en-US" altLang="zh-TW" dirty="0" smtClean="0"/>
              <a:t>Cloud Standard and Law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Guideline </a:t>
            </a:r>
            <a:r>
              <a:rPr lang="en-US" altLang="zh-TW" dirty="0" smtClean="0"/>
              <a:t>for </a:t>
            </a:r>
            <a:r>
              <a:rPr lang="en-US" altLang="zh-TW" dirty="0" smtClean="0"/>
              <a:t>secure cloud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Law and privacy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collects all resource and all data in the same place</a:t>
            </a:r>
          </a:p>
          <a:p>
            <a:pPr lvl="1"/>
            <a:r>
              <a:rPr lang="en-US" altLang="zh-TW" dirty="0" smtClean="0"/>
              <a:t>Centralization increases the efficiency of management.</a:t>
            </a:r>
          </a:p>
          <a:p>
            <a:r>
              <a:rPr lang="en-US" altLang="zh-TW" dirty="0" smtClean="0"/>
              <a:t>Cloud computing provides many useful and interesting services</a:t>
            </a:r>
          </a:p>
          <a:p>
            <a:pPr lvl="1"/>
            <a:r>
              <a:rPr lang="en-US" altLang="zh-TW" dirty="0" smtClean="0"/>
              <a:t>Hundreds of thousands of users access services.</a:t>
            </a:r>
          </a:p>
          <a:p>
            <a:r>
              <a:rPr lang="en-US" altLang="zh-TW" dirty="0" smtClean="0"/>
              <a:t>But, cloud computing also attracts the attention of malicious users.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3843" y="5161037"/>
            <a:ext cx="1436315" cy="143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End users or companies want the benefits of  using cloud computing</a:t>
            </a:r>
          </a:p>
          <a:p>
            <a:pPr lvl="1"/>
            <a:r>
              <a:rPr lang="en-US" altLang="zh-TW" dirty="0" smtClean="0"/>
              <a:t>They also worry about the disadvantage of cloud computing.</a:t>
            </a:r>
          </a:p>
          <a:p>
            <a:pPr lvl="1"/>
            <a:r>
              <a:rPr lang="en-US" altLang="zh-TW" dirty="0" smtClean="0"/>
              <a:t>Vendors propose many benefits and advantages, but never mentioned any possible harm.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6615" y="4160600"/>
            <a:ext cx="4230770" cy="2580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Viewpoints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have large of data that cannot be disclosed to others</a:t>
            </a:r>
          </a:p>
          <a:p>
            <a:pPr lvl="1"/>
            <a:r>
              <a:rPr lang="en-US" altLang="zh-TW" dirty="0" smtClean="0"/>
              <a:t>Finances reports</a:t>
            </a:r>
          </a:p>
          <a:p>
            <a:pPr lvl="1"/>
            <a:r>
              <a:rPr lang="en-US" altLang="zh-TW" dirty="0" smtClean="0"/>
              <a:t>Consumers list</a:t>
            </a:r>
          </a:p>
          <a:p>
            <a:pPr lvl="1"/>
            <a:r>
              <a:rPr lang="en-US" altLang="zh-TW" dirty="0" smtClean="0"/>
              <a:t>New product and novel technical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r>
              <a:rPr lang="en-US" altLang="zh-TW" dirty="0" smtClean="0"/>
              <a:t>Data leakage could lead to economic loss or legal proceeding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Viewpoints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End users may not want to let other know too much</a:t>
            </a:r>
          </a:p>
          <a:p>
            <a:pPr lvl="1"/>
            <a:r>
              <a:rPr lang="en-US" altLang="zh-TW" dirty="0" smtClean="0"/>
              <a:t>Family members</a:t>
            </a:r>
          </a:p>
          <a:p>
            <a:pPr lvl="1"/>
            <a:r>
              <a:rPr lang="en-US" altLang="zh-TW" dirty="0" smtClean="0"/>
              <a:t>Phone numbers</a:t>
            </a:r>
          </a:p>
          <a:p>
            <a:pPr lvl="1"/>
            <a:r>
              <a:rPr lang="en-US" altLang="zh-TW" dirty="0" smtClean="0"/>
              <a:t>Salary </a:t>
            </a:r>
          </a:p>
          <a:p>
            <a:r>
              <a:rPr lang="en-US" altLang="zh-TW" dirty="0" smtClean="0"/>
              <a:t>And some important information should be kept secret</a:t>
            </a:r>
          </a:p>
          <a:p>
            <a:pPr lvl="1"/>
            <a:r>
              <a:rPr lang="en-US" altLang="zh-TW" dirty="0" smtClean="0"/>
              <a:t>ID number</a:t>
            </a:r>
          </a:p>
          <a:p>
            <a:pPr lvl="1"/>
            <a:r>
              <a:rPr lang="en-US" altLang="zh-TW" dirty="0" smtClean="0"/>
              <a:t>Credit card number</a:t>
            </a:r>
          </a:p>
          <a:p>
            <a:pPr lvl="1"/>
            <a:r>
              <a:rPr lang="en-US" altLang="zh-TW" dirty="0" smtClean="0"/>
              <a:t>Bank account</a:t>
            </a:r>
          </a:p>
          <a:p>
            <a:pPr lvl="1"/>
            <a:r>
              <a:rPr lang="en-US" altLang="zh-TW" dirty="0" smtClean="0"/>
              <a:t>…etc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Questions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Before jump into cloud computing, following questions consumer may ask</a:t>
            </a:r>
          </a:p>
          <a:p>
            <a:pPr lvl="1"/>
            <a:r>
              <a:rPr lang="en-US" altLang="zh-TW" dirty="0" smtClean="0"/>
              <a:t>What’s the security strategy?</a:t>
            </a:r>
          </a:p>
          <a:p>
            <a:pPr lvl="1"/>
            <a:r>
              <a:rPr lang="en-US" altLang="zh-TW" dirty="0" smtClean="0"/>
              <a:t>How to prove the reliability and security that vendor claimed?</a:t>
            </a:r>
          </a:p>
          <a:p>
            <a:pPr lvl="1"/>
            <a:r>
              <a:rPr lang="en-US" altLang="zh-TW" dirty="0" smtClean="0"/>
              <a:t>Can someone access my data without my permission?</a:t>
            </a:r>
          </a:p>
          <a:p>
            <a:pPr lvl="1"/>
            <a:r>
              <a:rPr lang="en-US" altLang="zh-TW" dirty="0" smtClean="0"/>
              <a:t>Who is responsible for policy distribution, management and control?</a:t>
            </a:r>
          </a:p>
          <a:p>
            <a:pPr lvl="1"/>
            <a:r>
              <a:rPr lang="en-US" altLang="zh-TW" dirty="0" smtClean="0"/>
              <a:t>What are the emergency response measures and compensation mechanisms?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Real World is 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System may crash caused by incorrect operation.</a:t>
            </a:r>
          </a:p>
          <a:p>
            <a:r>
              <a:rPr lang="en-US" altLang="zh-TW" dirty="0" smtClean="0"/>
              <a:t>Sensitive information data may be stolen caused by loose access management.</a:t>
            </a:r>
          </a:p>
          <a:p>
            <a:r>
              <a:rPr lang="en-US" altLang="zh-TW" dirty="0" smtClean="0"/>
              <a:t>Network may break caused by someone theft cable.</a:t>
            </a:r>
          </a:p>
          <a:p>
            <a:r>
              <a:rPr lang="en-US" altLang="zh-TW" dirty="0" smtClean="0"/>
              <a:t>… 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75" y="3717032"/>
            <a:ext cx="4286250" cy="292417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Compass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When we invested in the cloud computing</a:t>
            </a:r>
          </a:p>
          <a:p>
            <a:pPr lvl="1"/>
            <a:r>
              <a:rPr lang="en-US" altLang="zh-TW" dirty="0" smtClean="0"/>
              <a:t>How to build the secure cloud environment or platform?</a:t>
            </a:r>
          </a:p>
          <a:p>
            <a:pPr lvl="1"/>
            <a:r>
              <a:rPr lang="en-US" altLang="zh-TW" dirty="0" smtClean="0"/>
              <a:t>How to maintain the cloud service?</a:t>
            </a:r>
          </a:p>
          <a:p>
            <a:pPr lvl="1"/>
            <a:r>
              <a:rPr lang="en-US" altLang="zh-TW" dirty="0" smtClean="0"/>
              <a:t>How to migrate from one cloud vendor to another safely and painless?</a:t>
            </a:r>
          </a:p>
          <a:p>
            <a:r>
              <a:rPr lang="en-US" altLang="zh-TW" dirty="0" smtClean="0"/>
              <a:t>There are many key issues for cloud security</a:t>
            </a:r>
          </a:p>
          <a:p>
            <a:pPr lvl="1"/>
            <a:r>
              <a:rPr lang="en-US" altLang="zh-TW" dirty="0" smtClean="0"/>
              <a:t>Data protection, service quality guarantee, disaster recover …etc.</a:t>
            </a:r>
          </a:p>
          <a:p>
            <a:pPr lvl="1"/>
            <a:r>
              <a:rPr lang="en-US" altLang="zh-TW" dirty="0" smtClean="0"/>
              <a:t>Customers need a guideline to search a secure cloud vendor.</a:t>
            </a:r>
          </a:p>
          <a:p>
            <a:pPr lvl="1"/>
            <a:r>
              <a:rPr lang="en-US" altLang="zh-TW" dirty="0" smtClean="0"/>
              <a:t>Cloud vendor also need a guideline to build a secure cloud environment.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Loss of Direction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the cloud companies or customers loss of direction on cloud security</a:t>
            </a:r>
          </a:p>
          <a:p>
            <a:pPr lvl="1"/>
            <a:r>
              <a:rPr lang="en-US" altLang="zh-TW" dirty="0" smtClean="0"/>
              <a:t>They may pay lots of money and resource on the useless efforts.</a:t>
            </a:r>
          </a:p>
          <a:p>
            <a:pPr lvl="1"/>
            <a:r>
              <a:rPr lang="en-US" altLang="zh-TW" dirty="0" smtClean="0"/>
              <a:t>They may pay lots of money and loss the intangible assets on the unsecure cloud services.</a:t>
            </a:r>
          </a:p>
          <a:p>
            <a:pPr lvl="1"/>
            <a:endParaRPr lang="zh-TW" altLang="en-US" dirty="0"/>
          </a:p>
        </p:txBody>
      </p:sp>
      <p:pic>
        <p:nvPicPr>
          <p:cNvPr id="7" name="Picture 2" descr="http://www.hmps.tp.edu.tw/usecompu/%E5%B0%8F%E8%BF%B7%E5%AE%AE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4104456"/>
            <a:ext cx="3515882" cy="26369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Remaining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Introduce the cloud security and issue</a:t>
            </a:r>
          </a:p>
          <a:p>
            <a:pPr lvl="1"/>
            <a:r>
              <a:rPr lang="en-US" altLang="zh-TW" dirty="0" smtClean="0"/>
              <a:t>There are lots of attacks in </a:t>
            </a:r>
            <a:r>
              <a:rPr lang="en-US" altLang="zh-TW" dirty="0" smtClean="0"/>
              <a:t>Internet</a:t>
            </a:r>
            <a:r>
              <a:rPr lang="en-US" altLang="zh-TW" dirty="0" smtClean="0"/>
              <a:t>, and cloud computing still can not escape.</a:t>
            </a:r>
          </a:p>
          <a:p>
            <a:pPr lvl="1"/>
            <a:r>
              <a:rPr lang="en-US" altLang="zh-TW" dirty="0" smtClean="0"/>
              <a:t>Some properties of cloud would avoid some attacks, but some properties could increase the scope of damage.</a:t>
            </a:r>
          </a:p>
          <a:p>
            <a:r>
              <a:rPr lang="en-US" altLang="zh-TW" dirty="0" smtClean="0"/>
              <a:t>Introduce the cloud standard, law and privacy issue</a:t>
            </a:r>
          </a:p>
          <a:p>
            <a:pPr lvl="1"/>
            <a:r>
              <a:rPr lang="en-US" altLang="zh-TW" dirty="0" smtClean="0"/>
              <a:t>The cloud security standard classify the security issues and provides the security suggestions.</a:t>
            </a:r>
          </a:p>
          <a:p>
            <a:pPr lvl="1"/>
            <a:r>
              <a:rPr lang="en-US" altLang="zh-TW" dirty="0" smtClean="0"/>
              <a:t>Given two security examples between law and privacy.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lvl="1"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Issues &amp; challenges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 smtClean="0"/>
          </a:p>
          <a:p>
            <a:r>
              <a:rPr lang="en-US" altLang="zh-TW" dirty="0" smtClean="0"/>
              <a:t>Cloud security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Security &amp; attack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Cloud standard and law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Guideline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for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secure cloud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Law and privacy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/>
          <a:lstStyle/>
          <a:p>
            <a:r>
              <a:rPr lang="en-US" altLang="zh-TW" dirty="0" smtClean="0"/>
              <a:t>Cloud </a:t>
            </a:r>
            <a:r>
              <a:rPr lang="en-US" altLang="zh-TW" dirty="0" smtClean="0"/>
              <a:t>Security and Issues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Attack scenario</a:t>
            </a:r>
          </a:p>
          <a:p>
            <a:pPr lvl="1"/>
            <a:r>
              <a:rPr lang="en-US" altLang="zh-TW" dirty="0" smtClean="0"/>
              <a:t>Attack method and possible solutions</a:t>
            </a:r>
          </a:p>
          <a:p>
            <a:pPr lvl="1"/>
            <a:r>
              <a:rPr lang="en-US" altLang="zh-TW" dirty="0" smtClean="0"/>
              <a:t>Real case in the world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Summary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Security is the degree of protection against danger, damage, loss and crime.</a:t>
            </a:r>
          </a:p>
          <a:p>
            <a:pPr lvl="1"/>
            <a:r>
              <a:rPr lang="en-US" altLang="zh-TW" dirty="0" smtClean="0"/>
              <a:t>Security is focused on hardware mechanism, software vulnerability and information hiding.</a:t>
            </a:r>
          </a:p>
          <a:p>
            <a:pPr lvl="1"/>
            <a:r>
              <a:rPr lang="en-US" altLang="zh-TW" dirty="0" smtClean="0"/>
              <a:t>Malicious attackers wants to steal data or destroy system</a:t>
            </a:r>
          </a:p>
          <a:p>
            <a:r>
              <a:rPr lang="en-US" altLang="zh-TW" dirty="0" smtClean="0"/>
              <a:t>Security evolution can be divided into three parts</a:t>
            </a:r>
          </a:p>
          <a:p>
            <a:pPr lvl="1"/>
            <a:r>
              <a:rPr lang="en-US" altLang="zh-TW" dirty="0" smtClean="0"/>
              <a:t>Secure technique</a:t>
            </a:r>
          </a:p>
          <a:p>
            <a:pPr lvl="1"/>
            <a:r>
              <a:rPr lang="en-US" altLang="zh-TW" dirty="0" smtClean="0"/>
              <a:t>Secure management </a:t>
            </a:r>
          </a:p>
          <a:p>
            <a:pPr lvl="1"/>
            <a:r>
              <a:rPr lang="en-US" altLang="zh-TW" dirty="0" smtClean="0"/>
              <a:t>Cyber security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mtClean="0"/>
              <a:t>Secure Technique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Original security that provides the basic protection mechanism </a:t>
            </a:r>
          </a:p>
          <a:p>
            <a:pPr lvl="1"/>
            <a:r>
              <a:rPr lang="en-US" altLang="zh-TW" b="1" dirty="0" smtClean="0"/>
              <a:t>Authorization</a:t>
            </a:r>
            <a:r>
              <a:rPr lang="en-US" altLang="zh-TW" dirty="0" smtClean="0"/>
              <a:t> specifies the access right to resource and reject the request from the unknown user.</a:t>
            </a:r>
          </a:p>
          <a:p>
            <a:pPr lvl="1"/>
            <a:r>
              <a:rPr lang="en-US" altLang="zh-TW" b="1" dirty="0" smtClean="0"/>
              <a:t>Encryption</a:t>
            </a:r>
            <a:r>
              <a:rPr lang="en-US" altLang="zh-TW" dirty="0" smtClean="0"/>
              <a:t> makes information unreadable to anyone except those possessing special knowledge.</a:t>
            </a:r>
          </a:p>
          <a:p>
            <a:pPr lvl="1"/>
            <a:r>
              <a:rPr lang="en-US" altLang="zh-TW" b="1" dirty="0" smtClean="0"/>
              <a:t>Uninterrupted power supply (UPS) </a:t>
            </a:r>
            <a:r>
              <a:rPr lang="en-US" altLang="zh-TW" dirty="0" smtClean="0"/>
              <a:t>and </a:t>
            </a:r>
            <a:r>
              <a:rPr lang="en-US" altLang="zh-TW" b="1" dirty="0" smtClean="0"/>
              <a:t>remote backup server</a:t>
            </a:r>
            <a:r>
              <a:rPr lang="en-US" altLang="zh-TW" dirty="0" smtClean="0"/>
              <a:t> avoid the data lose or server interrupt cause by natural disasters.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Secure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Proposed and executed one or more feasible security policy</a:t>
            </a:r>
          </a:p>
          <a:p>
            <a:pPr lvl="1"/>
            <a:r>
              <a:rPr lang="en-US" altLang="zh-TW" b="1" dirty="0" smtClean="0"/>
              <a:t>Access-control-policy</a:t>
            </a:r>
            <a:r>
              <a:rPr lang="en-US" altLang="zh-TW" dirty="0" smtClean="0"/>
              <a:t> is high elasticity that authorizes a group of users to perform a set of actions on a set of resources.</a:t>
            </a:r>
          </a:p>
          <a:p>
            <a:pPr lvl="1"/>
            <a:r>
              <a:rPr lang="en-US" altLang="zh-TW" b="1" dirty="0" smtClean="0"/>
              <a:t>Some sort of industry guidelines </a:t>
            </a:r>
            <a:r>
              <a:rPr lang="en-US" altLang="zh-TW" dirty="0" smtClean="0"/>
              <a:t>train and teach employee the computer security concept.</a:t>
            </a:r>
          </a:p>
          <a:p>
            <a:pPr lvl="1"/>
            <a:r>
              <a:rPr lang="en-US" altLang="zh-TW" b="1" dirty="0" smtClean="0"/>
              <a:t>Incident response plans </a:t>
            </a:r>
            <a:r>
              <a:rPr lang="en-US" altLang="zh-TW" dirty="0" smtClean="0"/>
              <a:t>are the standard procedures for dealing with emergencies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Cyber Security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Internet now is a new battlefield that everyone in Internet everyday</a:t>
            </a:r>
          </a:p>
          <a:p>
            <a:pPr lvl="1"/>
            <a:r>
              <a:rPr lang="en-US" altLang="zh-TW" b="1" dirty="0" smtClean="0"/>
              <a:t>Intrusion prevention system (IPS) </a:t>
            </a:r>
            <a:r>
              <a:rPr lang="en-US" altLang="zh-TW" dirty="0" smtClean="0"/>
              <a:t>monitor, identify and log information network and/or system activities for malicious activity. </a:t>
            </a:r>
          </a:p>
          <a:p>
            <a:pPr lvl="2"/>
            <a:r>
              <a:rPr lang="en-US" altLang="zh-TW" dirty="0" smtClean="0"/>
              <a:t>Attempt to block/stop activity, and report immediately.</a:t>
            </a:r>
          </a:p>
          <a:p>
            <a:pPr lvl="1"/>
            <a:r>
              <a:rPr lang="en-US" altLang="zh-TW" b="1" dirty="0" smtClean="0"/>
              <a:t>Social engineer</a:t>
            </a:r>
            <a:r>
              <a:rPr lang="en-US" altLang="zh-TW" dirty="0" smtClean="0"/>
              <a:t> is manipulating people into performing actions or divulging confidential information, rather than by breaking in or using cracking technique.</a:t>
            </a:r>
          </a:p>
          <a:p>
            <a:pPr lvl="2"/>
            <a:endParaRPr lang="en-US" altLang="zh-TW" dirty="0" smtClean="0"/>
          </a:p>
          <a:p>
            <a:pPr lvl="1"/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Information Security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Information security means to avoid to access, record, disclosure, modify and destruct without authorizing.</a:t>
            </a:r>
          </a:p>
          <a:p>
            <a:r>
              <a:rPr lang="en-US" altLang="zh-TW" dirty="0" smtClean="0"/>
              <a:t>There are three core principles of information security</a:t>
            </a:r>
          </a:p>
          <a:p>
            <a:pPr lvl="1"/>
            <a:r>
              <a:rPr lang="en-US" altLang="zh-TW" dirty="0" smtClean="0"/>
              <a:t>Confidentiality </a:t>
            </a:r>
          </a:p>
          <a:p>
            <a:pPr lvl="1"/>
            <a:r>
              <a:rPr lang="en-US" altLang="zh-TW" dirty="0" smtClean="0"/>
              <a:t>Integrity </a:t>
            </a:r>
          </a:p>
          <a:p>
            <a:pPr lvl="1"/>
            <a:r>
              <a:rPr lang="en-US" altLang="zh-TW" dirty="0" smtClean="0"/>
              <a:t>Availability 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graphicFrame>
        <p:nvGraphicFramePr>
          <p:cNvPr id="4" name="資料庫圖表 3"/>
          <p:cNvGraphicFramePr/>
          <p:nvPr/>
        </p:nvGraphicFramePr>
        <p:xfrm>
          <a:off x="2915816" y="3429000"/>
          <a:ext cx="5472608" cy="3415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Confidentiality </a:t>
            </a:r>
          </a:p>
          <a:p>
            <a:pPr lvl="1"/>
            <a:r>
              <a:rPr lang="en-US" altLang="zh-TW" dirty="0" smtClean="0"/>
              <a:t>User access the sensitive data only when getting the permission.</a:t>
            </a:r>
          </a:p>
          <a:p>
            <a:pPr lvl="1"/>
            <a:r>
              <a:rPr lang="en-US" altLang="zh-TW" dirty="0" smtClean="0"/>
              <a:t>Data or information could be separated into several secure level</a:t>
            </a:r>
          </a:p>
          <a:p>
            <a:pPr lvl="2"/>
            <a:r>
              <a:rPr lang="en-US" altLang="zh-TW" dirty="0" smtClean="0"/>
              <a:t>Normal, security or top secret.</a:t>
            </a:r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581400"/>
            <a:ext cx="4114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Integrity</a:t>
            </a:r>
          </a:p>
          <a:p>
            <a:pPr lvl="1"/>
            <a:r>
              <a:rPr lang="en-US" altLang="zh-TW" dirty="0" smtClean="0"/>
              <a:t>Data cannot be modified undetectably.</a:t>
            </a:r>
          </a:p>
          <a:p>
            <a:pPr lvl="1"/>
            <a:r>
              <a:rPr lang="en-US" altLang="zh-TW" dirty="0" smtClean="0"/>
              <a:t>Information keeps accurate and complete during transmission.</a:t>
            </a:r>
          </a:p>
          <a:p>
            <a:r>
              <a:rPr lang="en-US" altLang="zh-TW" dirty="0" smtClean="0"/>
              <a:t>Availability</a:t>
            </a:r>
          </a:p>
          <a:p>
            <a:pPr lvl="1"/>
            <a:r>
              <a:rPr lang="en-US" altLang="zh-TW" dirty="0" smtClean="0"/>
              <a:t>User can get all data what they need anywhere and anytime.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Real Life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Users or companies would skip the confidentiality</a:t>
            </a:r>
          </a:p>
          <a:p>
            <a:pPr lvl="1"/>
            <a:r>
              <a:rPr lang="en-US" altLang="zh-TW" dirty="0" smtClean="0"/>
              <a:t>The convenience is more important than the secret.</a:t>
            </a:r>
          </a:p>
          <a:p>
            <a:pPr lvl="1"/>
            <a:r>
              <a:rPr lang="en-US" altLang="zh-TW" dirty="0" smtClean="0"/>
              <a:t>High confidentiality needs complexity passwords and change frequently.</a:t>
            </a:r>
          </a:p>
          <a:p>
            <a:pPr lvl="1"/>
            <a:r>
              <a:rPr lang="en-US" altLang="zh-TW" dirty="0" smtClean="0"/>
              <a:t>Confidentiality also keeps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principle of least privilege, that increase use of the convenient.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Unbalance…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convenience and confidentiality is not balanced anymore</a:t>
            </a:r>
          </a:p>
          <a:p>
            <a:pPr lvl="1"/>
            <a:r>
              <a:rPr lang="en-US" altLang="zh-TW" dirty="0" smtClean="0"/>
              <a:t>Everyone will leave since environment is </a:t>
            </a:r>
            <a:r>
              <a:rPr lang="en-US" altLang="zh-TW" i="1" dirty="0" smtClean="0">
                <a:solidFill>
                  <a:srgbClr val="FF0000"/>
                </a:solidFill>
              </a:rPr>
              <a:t>not friendly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Everyone will leave since user </a:t>
            </a:r>
            <a:r>
              <a:rPr lang="en-US" altLang="zh-TW" i="1" dirty="0" smtClean="0">
                <a:solidFill>
                  <a:srgbClr val="FF0000"/>
                </a:solidFill>
              </a:rPr>
              <a:t>no longer have secret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Service vendors try to give the optimal solution</a:t>
            </a:r>
          </a:p>
          <a:p>
            <a:pPr lvl="1"/>
            <a:r>
              <a:rPr lang="en-US" altLang="zh-TW" dirty="0" smtClean="0"/>
              <a:t>A novel authentication method</a:t>
            </a:r>
          </a:p>
          <a:p>
            <a:pPr lvl="1"/>
            <a:r>
              <a:rPr lang="en-US" altLang="zh-TW" dirty="0" smtClean="0"/>
              <a:t>A perfect access control mechanism</a:t>
            </a:r>
          </a:p>
          <a:p>
            <a:pPr lvl="1"/>
            <a:r>
              <a:rPr lang="en-US" altLang="zh-TW" dirty="0" smtClean="0"/>
              <a:t>An immediate emergency response program</a:t>
            </a:r>
          </a:p>
          <a:p>
            <a:pPr lvl="1"/>
            <a:r>
              <a:rPr lang="en-US" altLang="zh-TW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In Cloud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Properties of cloud computing reduce the part of security issue</a:t>
            </a:r>
          </a:p>
          <a:p>
            <a:pPr lvl="1"/>
            <a:r>
              <a:rPr lang="en-US" altLang="zh-TW" dirty="0" smtClean="0"/>
              <a:t>The property of availability provides the services anytime and reduce the probability of downtime.</a:t>
            </a:r>
          </a:p>
          <a:p>
            <a:pPr lvl="1"/>
            <a:r>
              <a:rPr lang="en-US" altLang="zh-TW" dirty="0" smtClean="0"/>
              <a:t>The property of scalability avoids the starvation of resource and can accommodate a large number of users.</a:t>
            </a:r>
          </a:p>
          <a:p>
            <a:r>
              <a:rPr lang="en-US" altLang="zh-TW" dirty="0" smtClean="0"/>
              <a:t>But cloud computing still need to maintain a high degree of attention on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 be a Sheep?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provides services to everyone</a:t>
            </a:r>
          </a:p>
          <a:p>
            <a:pPr lvl="1"/>
            <a:r>
              <a:rPr lang="en-US" altLang="zh-TW" dirty="0" smtClean="0"/>
              <a:t>There are a </a:t>
            </a:r>
            <a:r>
              <a:rPr lang="en-US" altLang="zh-TW" dirty="0" smtClean="0"/>
              <a:t>lot </a:t>
            </a:r>
            <a:r>
              <a:rPr lang="en-US" altLang="zh-TW" dirty="0" smtClean="0"/>
              <a:t>of sensitive information.</a:t>
            </a:r>
          </a:p>
          <a:p>
            <a:pPr lvl="1"/>
            <a:r>
              <a:rPr lang="en-US" altLang="zh-TW" dirty="0" smtClean="0"/>
              <a:t>User do not want any delay or stop service.</a:t>
            </a:r>
          </a:p>
          <a:p>
            <a:pPr lvl="1"/>
            <a:r>
              <a:rPr lang="en-US" altLang="zh-TW" dirty="0" smtClean="0"/>
              <a:t>Cloud vendor want to more and more users to use cloud service.</a:t>
            </a:r>
          </a:p>
          <a:p>
            <a:r>
              <a:rPr lang="en-US" altLang="zh-TW" dirty="0" smtClean="0"/>
              <a:t>But someone </a:t>
            </a:r>
            <a:r>
              <a:rPr lang="en-US" altLang="zh-TW" dirty="0" smtClean="0">
                <a:solidFill>
                  <a:srgbClr val="FF0000"/>
                </a:solidFill>
              </a:rPr>
              <a:t>also</a:t>
            </a:r>
            <a:r>
              <a:rPr lang="en-US" altLang="zh-TW" dirty="0" smtClean="0"/>
              <a:t> think this is a business.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343722"/>
            <a:ext cx="2469654" cy="24696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scenario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Malicious Attacker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Malicious attackers hide in Internet and try to</a:t>
            </a:r>
          </a:p>
          <a:p>
            <a:pPr lvl="1"/>
            <a:r>
              <a:rPr lang="en-US" altLang="zh-TW" dirty="0" smtClean="0"/>
              <a:t>Steal the important or sensitive information</a:t>
            </a:r>
          </a:p>
          <a:p>
            <a:pPr lvl="1"/>
            <a:r>
              <a:rPr lang="en-US" altLang="zh-TW" dirty="0" smtClean="0"/>
              <a:t>Collect user’ data and sell these</a:t>
            </a:r>
          </a:p>
          <a:p>
            <a:pPr lvl="1"/>
            <a:r>
              <a:rPr lang="en-US" altLang="zh-TW" dirty="0" smtClean="0"/>
              <a:t>Control or destroy the compromised system</a:t>
            </a:r>
          </a:p>
          <a:p>
            <a:pPr lvl="1"/>
            <a:r>
              <a:rPr lang="en-US" altLang="zh-TW" dirty="0" smtClean="0"/>
              <a:t>Raise awareness</a:t>
            </a:r>
          </a:p>
          <a:p>
            <a:r>
              <a:rPr lang="en-US" altLang="zh-TW" dirty="0" smtClean="0"/>
              <a:t>Focus on the attackers’ motivation.</a:t>
            </a:r>
          </a:p>
          <a:p>
            <a:pPr lvl="1"/>
            <a:r>
              <a:rPr lang="en-US" altLang="zh-TW" dirty="0" smtClean="0"/>
              <a:t>Money </a:t>
            </a:r>
          </a:p>
          <a:p>
            <a:pPr lvl="1"/>
            <a:r>
              <a:rPr lang="en-US" altLang="zh-TW" dirty="0" smtClean="0"/>
              <a:t>Philosophy</a:t>
            </a:r>
          </a:p>
          <a:p>
            <a:pPr lvl="1"/>
            <a:r>
              <a:rPr lang="en-US" altLang="zh-TW" dirty="0" smtClean="0"/>
              <a:t>Show off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992971"/>
            <a:ext cx="2826209" cy="282040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Hacker Economic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How much of your personal information</a:t>
            </a:r>
          </a:p>
          <a:p>
            <a:pPr lvl="1"/>
            <a:r>
              <a:rPr lang="en-US" altLang="zh-TW" dirty="0" smtClean="0"/>
              <a:t>Name, phone number and address</a:t>
            </a:r>
          </a:p>
          <a:p>
            <a:pPr lvl="1"/>
            <a:r>
              <a:rPr lang="en-US" altLang="zh-TW" dirty="0" smtClean="0"/>
              <a:t>ID number</a:t>
            </a:r>
          </a:p>
          <a:p>
            <a:pPr lvl="1"/>
            <a:r>
              <a:rPr lang="en-US" altLang="zh-TW" dirty="0" smtClean="0"/>
              <a:t>Credit card number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r>
              <a:rPr lang="en-US" altLang="zh-TW" dirty="0" smtClean="0"/>
              <a:t>But the price of data have been reduced day of day</a:t>
            </a:r>
          </a:p>
          <a:p>
            <a:pPr lvl="1"/>
            <a:r>
              <a:rPr lang="en-US" altLang="zh-TW" dirty="0" smtClean="0"/>
              <a:t>Hacker must work hard</a:t>
            </a:r>
          </a:p>
          <a:p>
            <a:pPr lvl="1"/>
            <a:r>
              <a:rPr lang="en-US" altLang="zh-TW" dirty="0" smtClean="0"/>
              <a:t>Automation</a:t>
            </a:r>
          </a:p>
          <a:p>
            <a:pPr lvl="1"/>
            <a:r>
              <a:rPr lang="en-US" altLang="zh-TW" dirty="0" smtClean="0"/>
              <a:t>Large deployment</a:t>
            </a:r>
            <a:endParaRPr lang="en-US" altLang="zh-TW" dirty="0"/>
          </a:p>
          <a:p>
            <a:pPr lvl="1"/>
            <a:r>
              <a:rPr lang="en-US" altLang="zh-TW" dirty="0" smtClean="0"/>
              <a:t>…etc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4167082"/>
            <a:ext cx="3384376" cy="25382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 or Show Off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Hackers </a:t>
            </a:r>
            <a:r>
              <a:rPr lang="en-US" altLang="zh-TW" dirty="0" smtClean="0"/>
              <a:t>may want to get some pleasures or show </a:t>
            </a:r>
            <a:r>
              <a:rPr lang="en-US" altLang="zh-TW" dirty="0" smtClean="0"/>
              <a:t>their </a:t>
            </a:r>
            <a:r>
              <a:rPr lang="en-US" altLang="zh-TW" dirty="0" smtClean="0"/>
              <a:t>special talent</a:t>
            </a:r>
          </a:p>
          <a:p>
            <a:pPr lvl="1"/>
            <a:r>
              <a:rPr lang="en-US" altLang="zh-TW" dirty="0" smtClean="0"/>
              <a:t>Hackers attack those websites what they don’t like.</a:t>
            </a:r>
          </a:p>
          <a:p>
            <a:pPr lvl="1"/>
            <a:r>
              <a:rPr lang="en-US" altLang="zh-TW" dirty="0" smtClean="0"/>
              <a:t>Patriotic hackers change the home page and show some message.</a:t>
            </a:r>
          </a:p>
          <a:p>
            <a:pPr lvl="1"/>
            <a:endParaRPr lang="en-US" altLang="zh-TW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 l="18112" t="19627" r="23614"/>
          <a:stretch>
            <a:fillRect/>
          </a:stretch>
        </p:blipFill>
        <p:spPr bwMode="auto">
          <a:xfrm>
            <a:off x="3851920" y="3381778"/>
            <a:ext cx="4689722" cy="3503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Attack?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does hacker attacks the system or steal some information?</a:t>
            </a:r>
          </a:p>
          <a:p>
            <a:r>
              <a:rPr lang="en-US" altLang="zh-TW" dirty="0" smtClean="0"/>
              <a:t>Hacker is not the God</a:t>
            </a:r>
          </a:p>
          <a:p>
            <a:pPr lvl="1"/>
            <a:r>
              <a:rPr lang="en-US" altLang="zh-TW" dirty="0" smtClean="0"/>
              <a:t>Still need some background and practices.</a:t>
            </a:r>
          </a:p>
          <a:p>
            <a:pPr lvl="1"/>
            <a:r>
              <a:rPr lang="en-US" altLang="zh-TW" dirty="0" smtClean="0"/>
              <a:t>Still need to prepare some preprocess work.</a:t>
            </a:r>
          </a:p>
          <a:p>
            <a:pPr lvl="1"/>
            <a:r>
              <a:rPr lang="en-US" altLang="zh-TW" dirty="0" smtClean="0"/>
              <a:t>Still need some tools.</a:t>
            </a:r>
          </a:p>
          <a:p>
            <a:r>
              <a:rPr lang="en-US" altLang="zh-TW" dirty="0" smtClean="0"/>
              <a:t>There are two parts of attack behavior</a:t>
            </a:r>
          </a:p>
          <a:p>
            <a:pPr lvl="1"/>
            <a:r>
              <a:rPr lang="en-US" altLang="zh-TW" dirty="0" smtClean="0"/>
              <a:t>Penetration</a:t>
            </a:r>
          </a:p>
          <a:p>
            <a:pPr lvl="1"/>
            <a:r>
              <a:rPr lang="en-US" altLang="zh-TW" dirty="0" smtClean="0"/>
              <a:t>Attack and destroy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Workflow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Penetration</a:t>
            </a:r>
          </a:p>
          <a:p>
            <a:pPr lvl="1"/>
            <a:r>
              <a:rPr lang="en-US" altLang="zh-TW" dirty="0" smtClean="0"/>
              <a:t>Collect all public information.</a:t>
            </a:r>
          </a:p>
          <a:p>
            <a:pPr lvl="1"/>
            <a:r>
              <a:rPr lang="en-US" altLang="zh-TW" dirty="0" smtClean="0"/>
              <a:t>Try to find the weakness or vulnerability.</a:t>
            </a:r>
          </a:p>
          <a:p>
            <a:pPr lvl="1"/>
            <a:r>
              <a:rPr lang="en-US" altLang="zh-TW" dirty="0" smtClean="0"/>
              <a:t>Try to get the access right or administrator privileges.</a:t>
            </a:r>
          </a:p>
          <a:p>
            <a:r>
              <a:rPr lang="en-US" altLang="zh-TW" dirty="0" smtClean="0"/>
              <a:t>Attack and destroy</a:t>
            </a:r>
          </a:p>
          <a:p>
            <a:pPr lvl="1"/>
            <a:r>
              <a:rPr lang="en-US" altLang="zh-TW" dirty="0" smtClean="0"/>
              <a:t>Steal or delete data</a:t>
            </a:r>
          </a:p>
          <a:p>
            <a:pPr lvl="1"/>
            <a:r>
              <a:rPr lang="en-US" altLang="zh-TW" dirty="0" smtClean="0"/>
              <a:t>Crash the system</a:t>
            </a:r>
          </a:p>
          <a:p>
            <a:pPr lvl="1"/>
            <a:r>
              <a:rPr lang="en-US" altLang="zh-TW" dirty="0" smtClean="0"/>
              <a:t>Monkey business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Penetration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Hacker finds the weak point to access the target server and leave without trace</a:t>
            </a:r>
          </a:p>
          <a:p>
            <a:pPr lvl="1"/>
            <a:r>
              <a:rPr lang="en-US" altLang="zh-TW" dirty="0" smtClean="0"/>
              <a:t>Weak password or SQL injection</a:t>
            </a:r>
          </a:p>
          <a:p>
            <a:pPr lvl="1"/>
            <a:r>
              <a:rPr lang="en-US" altLang="zh-TW" dirty="0" smtClean="0"/>
              <a:t>Program vulnerability</a:t>
            </a:r>
          </a:p>
          <a:p>
            <a:pPr lvl="1"/>
            <a:r>
              <a:rPr lang="en-US" altLang="zh-TW" dirty="0" smtClean="0"/>
              <a:t>Erase all log file</a:t>
            </a:r>
          </a:p>
          <a:p>
            <a:r>
              <a:rPr lang="en-US" altLang="zh-TW" dirty="0" smtClean="0"/>
              <a:t>Penetration test (also called </a:t>
            </a:r>
            <a:r>
              <a:rPr lang="en-US" altLang="zh-TW" dirty="0" err="1" smtClean="0"/>
              <a:t>pentest</a:t>
            </a:r>
            <a:r>
              <a:rPr lang="en-US" altLang="zh-TW" dirty="0" smtClean="0"/>
              <a:t>) is a method of evaluating the security</a:t>
            </a:r>
          </a:p>
          <a:p>
            <a:pPr lvl="1"/>
            <a:r>
              <a:rPr lang="en-US" altLang="zh-TW" dirty="0" smtClean="0"/>
              <a:t>Simulate an attack from a malicious source.</a:t>
            </a:r>
          </a:p>
          <a:p>
            <a:pPr lvl="1"/>
            <a:r>
              <a:rPr lang="en-US" altLang="zh-TW" dirty="0" smtClean="0"/>
              <a:t>Analysis the feasibility of an attack and guide improving the system security.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and Destroy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Hackers try to steal data, block service and  destroy system</a:t>
            </a:r>
          </a:p>
          <a:p>
            <a:pPr lvl="1"/>
            <a:r>
              <a:rPr lang="en-US" altLang="zh-TW" dirty="0" smtClean="0"/>
              <a:t>Compared with penetration, attacks do not need to be hidden.</a:t>
            </a:r>
          </a:p>
          <a:p>
            <a:pPr lvl="1"/>
            <a:r>
              <a:rPr lang="en-US" altLang="zh-TW" dirty="0" smtClean="0"/>
              <a:t>Paralysis of the operational capabilities of the host and the firewall.</a:t>
            </a:r>
          </a:p>
          <a:p>
            <a:pPr lvl="1"/>
            <a:r>
              <a:rPr lang="en-US" altLang="zh-TW" dirty="0" smtClean="0"/>
              <a:t>Install malicious code to destroy the system and data.</a:t>
            </a:r>
          </a:p>
          <a:p>
            <a:r>
              <a:rPr lang="en-US" altLang="zh-TW" dirty="0" smtClean="0"/>
              <a:t>Attack action may be accompanied by penetration.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Penetration is the already accustomed to things</a:t>
            </a:r>
          </a:p>
          <a:p>
            <a:pPr lvl="1"/>
            <a:r>
              <a:rPr lang="en-US" altLang="zh-TW" dirty="0" smtClean="0"/>
              <a:t>The server in Internet would suffer hundreds of attacks</a:t>
            </a:r>
          </a:p>
          <a:p>
            <a:pPr lvl="1"/>
            <a:r>
              <a:rPr lang="en-US" altLang="zh-TW" dirty="0" smtClean="0"/>
              <a:t>Ping and port scan</a:t>
            </a:r>
          </a:p>
          <a:p>
            <a:pPr lvl="1"/>
            <a:r>
              <a:rPr lang="en-US" altLang="zh-TW" dirty="0" smtClean="0"/>
              <a:t>Try to log in or get the correct password</a:t>
            </a:r>
          </a:p>
          <a:p>
            <a:r>
              <a:rPr lang="en-US" altLang="zh-TW" dirty="0" smtClean="0"/>
              <a:t>Cloud computing also collect ten to hundreds PB information per days</a:t>
            </a:r>
          </a:p>
          <a:p>
            <a:pPr lvl="1"/>
            <a:r>
              <a:rPr lang="en-US" altLang="zh-TW" dirty="0" smtClean="0"/>
              <a:t>Hacker may get millions of information with a successful attack.</a:t>
            </a:r>
          </a:p>
          <a:p>
            <a:pPr lvl="1"/>
            <a:r>
              <a:rPr lang="en-US" altLang="zh-TW" dirty="0" smtClean="0"/>
              <a:t>Malicious attack will not stop.</a:t>
            </a:r>
          </a:p>
          <a:p>
            <a:pPr lvl="1"/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4509120"/>
            <a:ext cx="1611263" cy="20506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environment is also a group of computers</a:t>
            </a:r>
          </a:p>
          <a:p>
            <a:pPr lvl="1"/>
            <a:r>
              <a:rPr lang="en-US" altLang="zh-TW" dirty="0" smtClean="0"/>
              <a:t>Old attack methods can still pose a threat in some case.</a:t>
            </a:r>
          </a:p>
          <a:p>
            <a:pPr lvl="1"/>
            <a:r>
              <a:rPr lang="en-US" altLang="zh-TW" dirty="0" smtClean="0"/>
              <a:t>But some methods cannot damage system anymore.</a:t>
            </a:r>
          </a:p>
          <a:p>
            <a:r>
              <a:rPr lang="en-US" altLang="zh-TW" dirty="0" smtClean="0"/>
              <a:t>Cloud properties can reduce the probability of the system under attack</a:t>
            </a:r>
          </a:p>
          <a:p>
            <a:pPr lvl="1"/>
            <a:r>
              <a:rPr lang="en-US" altLang="zh-TW" dirty="0" smtClean="0"/>
              <a:t>Scalability </a:t>
            </a:r>
          </a:p>
          <a:p>
            <a:pPr lvl="1"/>
            <a:r>
              <a:rPr lang="en-US" altLang="zh-TW" dirty="0" smtClean="0"/>
              <a:t>Accessibility </a:t>
            </a:r>
          </a:p>
          <a:p>
            <a:pPr lvl="1"/>
            <a:r>
              <a:rPr lang="en-US" altLang="zh-TW" dirty="0" smtClean="0"/>
              <a:t>Management </a:t>
            </a:r>
          </a:p>
          <a:p>
            <a:pPr lvl="1"/>
            <a:r>
              <a:rPr lang="en-US" altLang="zh-TW" dirty="0" smtClean="0"/>
              <a:t>…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scenario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Burst force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Phishing 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Sniffer </a:t>
            </a:r>
          </a:p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DDoS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Password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general, password is the basic method for authentication</a:t>
            </a:r>
          </a:p>
          <a:p>
            <a:pPr lvl="1"/>
            <a:r>
              <a:rPr lang="en-US" altLang="zh-TW" dirty="0" smtClean="0"/>
              <a:t>Length of password and characters determine the strength of security.</a:t>
            </a:r>
          </a:p>
          <a:p>
            <a:pPr lvl="1"/>
            <a:r>
              <a:rPr lang="en-US" altLang="zh-TW" dirty="0" smtClean="0"/>
              <a:t>Only lowercase with 4 characters has 45,000 possibilities.</a:t>
            </a:r>
          </a:p>
          <a:p>
            <a:pPr lvl="1"/>
            <a:r>
              <a:rPr lang="en-US" altLang="zh-TW" dirty="0" smtClean="0"/>
              <a:t>Common words can be crack in few minuets by dictionary attack.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 t="10793" b="10950"/>
          <a:stretch>
            <a:fillRect/>
          </a:stretch>
        </p:blipFill>
        <p:spPr bwMode="auto">
          <a:xfrm>
            <a:off x="7161121" y="4725144"/>
            <a:ext cx="1982879" cy="2132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Numbers of users is grown more than million to billion</a:t>
            </a:r>
          </a:p>
          <a:p>
            <a:pPr lvl="1"/>
            <a:r>
              <a:rPr lang="en-US" altLang="zh-TW" dirty="0" smtClean="0"/>
              <a:t>Hacker can use the few possibilities to try all of users.</a:t>
            </a:r>
          </a:p>
          <a:p>
            <a:pPr lvl="1"/>
            <a:r>
              <a:rPr lang="en-US" altLang="zh-TW" dirty="0" smtClean="0"/>
              <a:t>Based on birthday attack, hacker has a high chance to get the correct password.</a:t>
            </a:r>
          </a:p>
          <a:p>
            <a:pPr lvl="1"/>
            <a:r>
              <a:rPr lang="en-US" altLang="zh-TW" dirty="0" smtClean="0"/>
              <a:t>Always some people use unsafe passwords.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b="9848"/>
          <a:stretch>
            <a:fillRect/>
          </a:stretch>
        </p:blipFill>
        <p:spPr bwMode="auto">
          <a:xfrm>
            <a:off x="2771800" y="4293096"/>
            <a:ext cx="3727443" cy="2520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Solution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Basically, in the registration phase</a:t>
            </a:r>
          </a:p>
          <a:p>
            <a:pPr lvl="1"/>
            <a:r>
              <a:rPr lang="en-US" altLang="zh-TW" dirty="0" smtClean="0"/>
              <a:t>Force user to use </a:t>
            </a:r>
            <a:r>
              <a:rPr lang="en-US" altLang="zh-TW" dirty="0" smtClean="0"/>
              <a:t>alphanumeric </a:t>
            </a:r>
            <a:r>
              <a:rPr lang="en-US" altLang="zh-TW" dirty="0" smtClean="0"/>
              <a:t>passwords.</a:t>
            </a:r>
          </a:p>
          <a:p>
            <a:pPr lvl="1"/>
            <a:r>
              <a:rPr lang="en-US" altLang="zh-TW" dirty="0" smtClean="0"/>
              <a:t>Force user to use more than 8 char passwords.</a:t>
            </a:r>
          </a:p>
          <a:p>
            <a:pPr lvl="1"/>
            <a:r>
              <a:rPr lang="en-US" altLang="zh-TW" dirty="0" smtClean="0"/>
              <a:t>Limit user to use the command words in dictionary.</a:t>
            </a:r>
          </a:p>
          <a:p>
            <a:r>
              <a:rPr lang="en-US" altLang="zh-TW" dirty="0" smtClean="0"/>
              <a:t>Set security password policy</a:t>
            </a:r>
          </a:p>
          <a:p>
            <a:pPr lvl="1"/>
            <a:r>
              <a:rPr lang="en-US" altLang="zh-TW" dirty="0" smtClean="0"/>
              <a:t>Limit the numbers of incorrect </a:t>
            </a:r>
            <a:r>
              <a:rPr lang="en-US" altLang="zh-TW" dirty="0" smtClean="0"/>
              <a:t>attempts.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Ban the attacker’s IP with few </a:t>
            </a:r>
            <a:r>
              <a:rPr lang="en-US" altLang="zh-TW" dirty="0" smtClean="0"/>
              <a:t>minutes.</a:t>
            </a:r>
            <a:endParaRPr lang="en-US" altLang="zh-TW" dirty="0" smtClean="0"/>
          </a:p>
          <a:p>
            <a:r>
              <a:rPr lang="en-US" altLang="zh-TW" dirty="0" smtClean="0"/>
              <a:t>But in some case, burse force could block the user’s normal use</a:t>
            </a:r>
          </a:p>
          <a:p>
            <a:pPr lvl="1"/>
            <a:r>
              <a:rPr lang="en-US" altLang="zh-TW" dirty="0" smtClean="0"/>
              <a:t>A kind of deny of </a:t>
            </a:r>
            <a:r>
              <a:rPr lang="en-US" altLang="zh-TW" dirty="0" smtClean="0"/>
              <a:t>service.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Solution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 vendors can use other security technology to provide a high degree of security protection</a:t>
            </a:r>
          </a:p>
          <a:p>
            <a:pPr lvl="1"/>
            <a:r>
              <a:rPr lang="en-US" altLang="zh-TW" dirty="0" smtClean="0"/>
              <a:t>Communication lock – unlock the account by user dialing to a special phone number.</a:t>
            </a:r>
          </a:p>
          <a:p>
            <a:pPr lvl="1"/>
            <a:r>
              <a:rPr lang="en-US" altLang="zh-TW" dirty="0" smtClean="0"/>
              <a:t>Smart card - contain volatile memory and microprocessor components that provides strong security authentication.</a:t>
            </a:r>
          </a:p>
          <a:p>
            <a:pPr lvl="1"/>
            <a:r>
              <a:rPr lang="en-US" altLang="zh-TW" dirty="0" smtClean="0"/>
              <a:t>Fingerprint – each one has his own fingerprint that cannot easily be forged.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5077868"/>
            <a:ext cx="1330251" cy="1465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4993161"/>
            <a:ext cx="1368152" cy="174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scenario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Burst force</a:t>
            </a:r>
          </a:p>
          <a:p>
            <a:r>
              <a:rPr lang="en-US" altLang="zh-TW" dirty="0" smtClean="0"/>
              <a:t>Phishing 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Sniffer </a:t>
            </a:r>
          </a:p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DDoS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Phishing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Phishing is a way of attempting to acquire sensitive information by a fake web page</a:t>
            </a:r>
          </a:p>
          <a:p>
            <a:pPr lvl="1"/>
            <a:r>
              <a:rPr lang="en-US" altLang="zh-TW" dirty="0" smtClean="0"/>
              <a:t>Cloned the normal web pages.</a:t>
            </a:r>
          </a:p>
          <a:p>
            <a:pPr lvl="1"/>
            <a:r>
              <a:rPr lang="en-US" altLang="zh-TW" dirty="0" smtClean="0"/>
              <a:t>Steal password or credit card account</a:t>
            </a:r>
          </a:p>
          <a:p>
            <a:r>
              <a:rPr lang="en-US" altLang="zh-TW" dirty="0" smtClean="0"/>
              <a:t>There are three way of phishing</a:t>
            </a:r>
          </a:p>
          <a:p>
            <a:pPr lvl="1"/>
            <a:r>
              <a:rPr lang="en-US" altLang="zh-TW" dirty="0" smtClean="0"/>
              <a:t>URL Shortening</a:t>
            </a:r>
          </a:p>
          <a:p>
            <a:pPr lvl="1"/>
            <a:r>
              <a:rPr lang="en-US" altLang="zh-TW" dirty="0" smtClean="0"/>
              <a:t>A confusing link</a:t>
            </a:r>
          </a:p>
          <a:p>
            <a:pPr lvl="1"/>
            <a:r>
              <a:rPr lang="en-US" altLang="zh-TW" dirty="0" smtClean="0"/>
              <a:t>SEO (Search Engine Optimization)</a:t>
            </a:r>
            <a:r>
              <a:rPr lang="zh-TW" altLang="en-US" dirty="0" smtClean="0"/>
              <a:t> </a:t>
            </a:r>
            <a:r>
              <a:rPr lang="en-US" altLang="zh-TW" dirty="0" smtClean="0"/>
              <a:t> poisoning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Phishing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URL shortening is a technique on WWW in which URL may be made substantially shorter in length and still direct to the required page.</a:t>
            </a:r>
          </a:p>
          <a:p>
            <a:pPr lvl="1"/>
            <a:r>
              <a:rPr lang="en-US" altLang="zh-TW" dirty="0" smtClean="0"/>
              <a:t>Long URL cannot post in some forum, like Twitter or BBS.</a:t>
            </a:r>
          </a:p>
          <a:p>
            <a:pPr lvl="1"/>
            <a:r>
              <a:rPr lang="en-US" altLang="zh-TW" dirty="0" smtClean="0"/>
              <a:t>Trying to type long URL by hand will be time-consuming and result in errors.</a:t>
            </a:r>
          </a:p>
          <a:p>
            <a:pPr lvl="1"/>
            <a:r>
              <a:rPr lang="en-US" altLang="zh-TW" dirty="0" smtClean="0"/>
              <a:t>But short URL cannot determine the actual one or fake until link to.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491880" y="5157192"/>
            <a:ext cx="27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hlinkClick r:id="rId2"/>
              </a:rPr>
              <a:t>www.shorturl.com/ABCEFG</a:t>
            </a:r>
            <a:endParaRPr lang="zh-TW" altLang="en-US" dirty="0"/>
          </a:p>
        </p:txBody>
      </p:sp>
      <p:sp>
        <p:nvSpPr>
          <p:cNvPr id="8" name="右彎箭號 7"/>
          <p:cNvSpPr/>
          <p:nvPr/>
        </p:nvSpPr>
        <p:spPr>
          <a:xfrm rot="10800000">
            <a:off x="3419872" y="5517232"/>
            <a:ext cx="936104" cy="576064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875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右彎箭號 9"/>
          <p:cNvSpPr/>
          <p:nvPr/>
        </p:nvSpPr>
        <p:spPr>
          <a:xfrm rot="10800000" flipH="1">
            <a:off x="5436097" y="5517232"/>
            <a:ext cx="936104" cy="576064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875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5476385"/>
            <a:ext cx="1877194" cy="1381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6" y="5398006"/>
            <a:ext cx="2180620" cy="1459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5445224"/>
            <a:ext cx="360040" cy="465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Phishing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confusing link is a URL that replace the similar characters or use the same meaning words</a:t>
            </a:r>
          </a:p>
          <a:p>
            <a:pPr lvl="1"/>
            <a:r>
              <a:rPr lang="en-US" altLang="zh-TW" dirty="0" smtClean="0"/>
              <a:t>example.com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examp1e.com</a:t>
            </a:r>
          </a:p>
          <a:p>
            <a:pPr lvl="1"/>
            <a:r>
              <a:rPr lang="en-US" altLang="zh-TW" dirty="0" smtClean="0"/>
              <a:t>www.candy.com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www.candies.com</a:t>
            </a:r>
          </a:p>
          <a:p>
            <a:r>
              <a:rPr lang="en-US" altLang="zh-TW" dirty="0" smtClean="0"/>
              <a:t>SEO</a:t>
            </a:r>
            <a:r>
              <a:rPr lang="zh-TW" altLang="en-US" dirty="0" smtClean="0"/>
              <a:t> </a:t>
            </a:r>
            <a:r>
              <a:rPr lang="en-US" altLang="zh-TW" dirty="0" smtClean="0"/>
              <a:t>(Search Engine Optimization)</a:t>
            </a:r>
            <a:r>
              <a:rPr lang="zh-TW" altLang="en-US" dirty="0" smtClean="0"/>
              <a:t> </a:t>
            </a:r>
            <a:r>
              <a:rPr lang="en-US" altLang="zh-TW" dirty="0" smtClean="0"/>
              <a:t>is the process of improving the visibility of a website in search engines.</a:t>
            </a:r>
          </a:p>
          <a:p>
            <a:pPr lvl="1"/>
            <a:r>
              <a:rPr lang="en-US" altLang="zh-TW" dirty="0" smtClean="0"/>
              <a:t>User usually find a website by search engine</a:t>
            </a:r>
          </a:p>
          <a:p>
            <a:pPr lvl="1"/>
            <a:r>
              <a:rPr lang="en-US" altLang="zh-TW" dirty="0" smtClean="0"/>
              <a:t>Hacker may poison SEO to increase the rank of phishing </a:t>
            </a:r>
            <a:r>
              <a:rPr lang="en-US" altLang="zh-TW" dirty="0" smtClean="0"/>
              <a:t>pages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vendor provides many services and many service </a:t>
            </a:r>
            <a:r>
              <a:rPr lang="en-US" altLang="zh-TW" dirty="0" err="1" smtClean="0"/>
              <a:t>webpages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Users cannot remembers all of URLs</a:t>
            </a:r>
          </a:p>
          <a:p>
            <a:pPr lvl="1"/>
            <a:r>
              <a:rPr lang="en-US" altLang="zh-TW" dirty="0" smtClean="0"/>
              <a:t>Users may fall into phishing web pages</a:t>
            </a:r>
          </a:p>
          <a:p>
            <a:r>
              <a:rPr lang="en-US" altLang="zh-TW" dirty="0" smtClean="0"/>
              <a:t>User can log in once and gain access to all services by SSO</a:t>
            </a:r>
          </a:p>
          <a:p>
            <a:pPr lvl="1"/>
            <a:r>
              <a:rPr lang="en-US" altLang="zh-TW" dirty="0" smtClean="0"/>
              <a:t>Reduce phishing success, and users are not trained to enter password everywhere.</a:t>
            </a:r>
          </a:p>
          <a:p>
            <a:pPr lvl="1"/>
            <a:r>
              <a:rPr lang="en-US" altLang="zh-TW" dirty="0" smtClean="0"/>
              <a:t>Each service can redirect to other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User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 should be careful on account needing to be verified</a:t>
            </a:r>
            <a:r>
              <a:rPr lang="zh-TW" altLang="en-US" dirty="0" smtClean="0"/>
              <a:t> </a:t>
            </a:r>
            <a:r>
              <a:rPr lang="en-US" altLang="zh-TW" dirty="0" smtClean="0"/>
              <a:t>or any other topic used by </a:t>
            </a:r>
            <a:r>
              <a:rPr lang="en-US" altLang="zh-TW" dirty="0" smtClean="0"/>
              <a:t>phishing</a:t>
            </a:r>
            <a:endParaRPr lang="en-US" altLang="zh-TW" dirty="0" smtClean="0"/>
          </a:p>
          <a:p>
            <a:r>
              <a:rPr lang="en-US" altLang="zh-TW" dirty="0" smtClean="0"/>
              <a:t>User should improve concentration on detail of email</a:t>
            </a:r>
          </a:p>
          <a:p>
            <a:pPr lvl="1"/>
            <a:r>
              <a:rPr lang="en-US" altLang="zh-TW" dirty="0" smtClean="0"/>
              <a:t>All legitimate e-mail messages contain an item of information that is not readily available to </a:t>
            </a:r>
            <a:r>
              <a:rPr lang="en-US" altLang="zh-TW" dirty="0" err="1" smtClean="0"/>
              <a:t>phishers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User can use plug-in or software to help identify legitimate </a:t>
            </a:r>
            <a:r>
              <a:rPr lang="en-US" altLang="zh-TW" dirty="0" smtClean="0"/>
              <a:t>sites</a:t>
            </a:r>
            <a:endParaRPr lang="zh-TW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scenario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Burst force</a:t>
            </a:r>
          </a:p>
          <a:p>
            <a:r>
              <a:rPr lang="en-US" altLang="zh-TW" dirty="0" smtClean="0"/>
              <a:t>Phishing </a:t>
            </a:r>
          </a:p>
          <a:p>
            <a:r>
              <a:rPr lang="en-US" altLang="zh-TW" dirty="0" smtClean="0"/>
              <a:t>Sniffer </a:t>
            </a:r>
          </a:p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DDoS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packet is a formatted unit of data</a:t>
            </a:r>
          </a:p>
          <a:p>
            <a:pPr lvl="1"/>
            <a:r>
              <a:rPr lang="en-US" altLang="zh-TW" dirty="0" smtClean="0"/>
              <a:t>Computer communications links that simply transmit data as a series of bytes.</a:t>
            </a:r>
          </a:p>
          <a:p>
            <a:pPr lvl="1"/>
            <a:r>
              <a:rPr lang="en-US" altLang="zh-TW" dirty="0" smtClean="0"/>
              <a:t>A message would separate into several segment packets and each packet transmits to target computer.</a:t>
            </a:r>
          </a:p>
          <a:p>
            <a:pPr lvl="1"/>
            <a:r>
              <a:rPr lang="en-US" altLang="zh-TW" dirty="0" smtClean="0"/>
              <a:t>Receiver reconstruct message from these packets.</a:t>
            </a:r>
          </a:p>
          <a:p>
            <a:r>
              <a:rPr lang="en-US" altLang="zh-TW" dirty="0" smtClean="0"/>
              <a:t>Each packets would pass through several computers and switches.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Sniffer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Sniffer means someone intercept and log traffic pass over a digit network or part of a network.</a:t>
            </a:r>
          </a:p>
          <a:p>
            <a:r>
              <a:rPr lang="en-US" altLang="zh-TW" dirty="0" smtClean="0"/>
              <a:t>NIC(network interface card) drops any packet which receiver is not his MAC address</a:t>
            </a:r>
          </a:p>
          <a:p>
            <a:pPr lvl="1"/>
            <a:r>
              <a:rPr lang="en-US" altLang="zh-TW" dirty="0" smtClean="0"/>
              <a:t>NIC in promiscuous mode would not drop any packet.</a:t>
            </a:r>
          </a:p>
          <a:p>
            <a:pPr lvl="1"/>
            <a:r>
              <a:rPr lang="en-US" altLang="zh-TW" dirty="0" smtClean="0"/>
              <a:t>Hacker can get any packet pass through his NIC by setting promiscuous mode.</a:t>
            </a:r>
          </a:p>
          <a:p>
            <a:endParaRPr lang="en-US" altLang="zh-TW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4800787"/>
            <a:ext cx="3275856" cy="21566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Network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some network device, packets are redirect to other computer</a:t>
            </a:r>
          </a:p>
          <a:p>
            <a:pPr lvl="1"/>
            <a:r>
              <a:rPr lang="en-US" altLang="zh-TW" dirty="0" smtClean="0"/>
              <a:t>Hub connects multiple transmission cable together and make them act as a single network segment.</a:t>
            </a:r>
          </a:p>
          <a:p>
            <a:pPr lvl="1"/>
            <a:r>
              <a:rPr lang="en-US" altLang="zh-TW" dirty="0" smtClean="0"/>
              <a:t>Switch connects network segments and redirect packets into particular computer.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221088"/>
            <a:ext cx="2975974" cy="2230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4149080"/>
            <a:ext cx="2793416" cy="237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Network Device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Hub works at the physical layer of the OSI model.</a:t>
            </a:r>
          </a:p>
          <a:p>
            <a:r>
              <a:rPr lang="en-US" altLang="zh-TW" dirty="0" smtClean="0"/>
              <a:t>The device is a form of multiport repeater</a:t>
            </a:r>
          </a:p>
          <a:p>
            <a:pPr lvl="1"/>
            <a:r>
              <a:rPr lang="en-US" altLang="zh-TW" dirty="0" smtClean="0"/>
              <a:t>Receive a packet and broadcast out on all other ports.</a:t>
            </a:r>
          </a:p>
          <a:p>
            <a:pPr lvl="1"/>
            <a:r>
              <a:rPr lang="en-US" altLang="zh-TW" dirty="0" smtClean="0"/>
              <a:t>Hacker easy to get the packet in the same network.</a:t>
            </a:r>
          </a:p>
          <a:p>
            <a:r>
              <a:rPr lang="en-US" altLang="zh-TW" dirty="0" smtClean="0"/>
              <a:t>Switch works at the data link layer of the OSI model.</a:t>
            </a:r>
          </a:p>
          <a:p>
            <a:r>
              <a:rPr lang="en-US" altLang="zh-TW" dirty="0" smtClean="0"/>
              <a:t>Switch records MAC address by ARP protocol</a:t>
            </a:r>
          </a:p>
          <a:p>
            <a:pPr lvl="1"/>
            <a:r>
              <a:rPr lang="en-US" altLang="zh-TW" dirty="0" smtClean="0"/>
              <a:t>Redirect a packet to the particular computer by MAC route table.</a:t>
            </a:r>
          </a:p>
          <a:p>
            <a:pPr lvl="1"/>
            <a:r>
              <a:rPr lang="en-US" altLang="zh-TW" dirty="0" smtClean="0"/>
              <a:t>Hacker cannot get packet by using promiscuous mode.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ARP Spoofing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Switch uses ARP protocol to record the pair of  MAC address and IP address</a:t>
            </a:r>
          </a:p>
          <a:p>
            <a:pPr lvl="1"/>
            <a:r>
              <a:rPr lang="en-US" altLang="zh-TW" dirty="0" smtClean="0"/>
              <a:t>Hacker uses ARP spoofing to attack a LAN (local-area network)</a:t>
            </a:r>
          </a:p>
          <a:p>
            <a:pPr lvl="1"/>
            <a:r>
              <a:rPr lang="en-US" altLang="zh-TW" dirty="0" smtClean="0"/>
              <a:t>Hacker send the ARP request and register his MAC address before the legal user.</a:t>
            </a:r>
          </a:p>
          <a:p>
            <a:pPr lvl="1"/>
            <a:r>
              <a:rPr lang="en-US" altLang="zh-TW" dirty="0" smtClean="0"/>
              <a:t>Hacker also can send lots of useless ARP request for </a:t>
            </a:r>
            <a:r>
              <a:rPr lang="en-US" altLang="zh-TW" dirty="0" err="1" smtClean="0"/>
              <a:t>DoS</a:t>
            </a:r>
            <a:r>
              <a:rPr lang="en-US" altLang="zh-TW" dirty="0" smtClean="0"/>
              <a:t> (denial-of-service) attack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VLAN switch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Using VLAN switch, user only can access switch and cannot connect to other users</a:t>
            </a:r>
          </a:p>
          <a:p>
            <a:r>
              <a:rPr lang="en-US" altLang="zh-TW" dirty="0" smtClean="0"/>
              <a:t>In high-end device, switches can detect the ARP spoofing/attack and alert administrator the malicious behavior.</a:t>
            </a:r>
          </a:p>
          <a:p>
            <a:r>
              <a:rPr lang="en-US" altLang="zh-TW" dirty="0" smtClean="0"/>
              <a:t>Switches can also set the static route table</a:t>
            </a:r>
          </a:p>
          <a:p>
            <a:pPr lvl="1"/>
            <a:r>
              <a:rPr lang="en-US" altLang="zh-TW" dirty="0" smtClean="0"/>
              <a:t>But in many case, the IP address would be dynamic decided</a:t>
            </a:r>
            <a:endParaRPr lang="zh-TW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service venders limit the environment setting that can reduce the probability of sniffer.</a:t>
            </a:r>
          </a:p>
          <a:p>
            <a:r>
              <a:rPr lang="en-US" altLang="zh-TW" dirty="0" smtClean="0"/>
              <a:t>Using SSL/TSL cryptographic protocols that provide communication security over the internet</a:t>
            </a:r>
          </a:p>
          <a:p>
            <a:pPr lvl="1"/>
            <a:r>
              <a:rPr lang="en-US" altLang="zh-TW" dirty="0" smtClean="0"/>
              <a:t>Even hacker getting the packet also cannot get the sensitive message.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scenario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Burst force</a:t>
            </a:r>
          </a:p>
          <a:p>
            <a:r>
              <a:rPr lang="en-US" altLang="zh-TW" smtClean="0"/>
              <a:t>Phishing </a:t>
            </a:r>
            <a:endParaRPr lang="en-US" altLang="zh-TW" dirty="0" smtClean="0"/>
          </a:p>
          <a:p>
            <a:r>
              <a:rPr lang="en-US" altLang="zh-TW" dirty="0" smtClean="0"/>
              <a:t>Sniffer </a:t>
            </a:r>
          </a:p>
          <a:p>
            <a:r>
              <a:rPr lang="en-US" altLang="zh-TW" dirty="0" err="1" smtClean="0"/>
              <a:t>DDoS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DoS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Denial-of-Service (</a:t>
            </a:r>
            <a:r>
              <a:rPr lang="en-US" altLang="zh-TW" dirty="0" err="1" smtClean="0"/>
              <a:t>DoS</a:t>
            </a:r>
            <a:r>
              <a:rPr lang="en-US" altLang="zh-TW" dirty="0" smtClean="0"/>
              <a:t>) is an attempt to make a computer resource (like storage service) unavailable</a:t>
            </a:r>
          </a:p>
          <a:p>
            <a:pPr lvl="1"/>
            <a:r>
              <a:rPr lang="en-US" altLang="zh-TW" dirty="0" smtClean="0"/>
              <a:t>Hacker send lots of request to server such that server cannot response to legal  users.</a:t>
            </a:r>
          </a:p>
          <a:p>
            <a:r>
              <a:rPr lang="en-US" altLang="zh-TW" dirty="0" smtClean="0"/>
              <a:t>Server can only provide services to fixed users</a:t>
            </a:r>
          </a:p>
          <a:p>
            <a:pPr lvl="1"/>
            <a:r>
              <a:rPr lang="en-US" altLang="zh-TW" dirty="0" smtClean="0"/>
              <a:t>Hackers account for all the resource as much as possible.</a:t>
            </a:r>
          </a:p>
          <a:p>
            <a:pPr lvl="1"/>
            <a:r>
              <a:rPr lang="en-US" altLang="zh-TW" dirty="0" smtClean="0"/>
              <a:t>Other users wait until server is available.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5154392"/>
            <a:ext cx="4559449" cy="1703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Attack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general, a server can handle hundreds of requests at once</a:t>
            </a:r>
          </a:p>
          <a:p>
            <a:pPr lvl="1"/>
            <a:r>
              <a:rPr lang="en-US" altLang="zh-TW" dirty="0" smtClean="0"/>
              <a:t>A desktop can send hundreds of small request to attack a server.</a:t>
            </a:r>
          </a:p>
          <a:p>
            <a:pPr lvl="1"/>
            <a:r>
              <a:rPr lang="en-US" altLang="zh-TW" dirty="0" smtClean="0"/>
              <a:t>But in large-scale server, host can easily handle thousands to hundreds of thousands request.</a:t>
            </a:r>
          </a:p>
          <a:p>
            <a:pPr lvl="1"/>
            <a:r>
              <a:rPr lang="en-US" altLang="zh-TW" dirty="0" smtClean="0"/>
              <a:t>Hacker must need more resource.</a:t>
            </a:r>
          </a:p>
          <a:p>
            <a:r>
              <a:rPr lang="en-US" altLang="zh-TW" dirty="0" err="1" smtClean="0"/>
              <a:t>DDoS</a:t>
            </a:r>
            <a:r>
              <a:rPr lang="en-US" altLang="zh-TW" dirty="0" smtClean="0"/>
              <a:t> (distributed denial of service) occurs when multiple systems flood the bandwidth or resources of a target system.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Botnet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Hackers want more resource to attack</a:t>
            </a:r>
          </a:p>
          <a:p>
            <a:pPr lvl="1"/>
            <a:r>
              <a:rPr lang="en-US" altLang="zh-TW" dirty="0" smtClean="0"/>
              <a:t>Hackers using </a:t>
            </a:r>
            <a:r>
              <a:rPr lang="en-US" altLang="zh-TW" dirty="0" smtClean="0"/>
              <a:t>Trojans </a:t>
            </a:r>
            <a:r>
              <a:rPr lang="en-US" altLang="zh-TW" dirty="0" smtClean="0"/>
              <a:t>and worms control lots of computers.</a:t>
            </a:r>
          </a:p>
          <a:p>
            <a:r>
              <a:rPr lang="en-US" altLang="zh-TW" dirty="0" smtClean="0"/>
              <a:t>A </a:t>
            </a:r>
            <a:r>
              <a:rPr lang="en-US" altLang="zh-TW" dirty="0" err="1" smtClean="0"/>
              <a:t>botnet</a:t>
            </a:r>
            <a:r>
              <a:rPr lang="en-US" altLang="zh-TW" dirty="0" smtClean="0"/>
              <a:t> is a collection of compromised computers that are used for malicious purposes</a:t>
            </a:r>
          </a:p>
          <a:p>
            <a:pPr lvl="1"/>
            <a:r>
              <a:rPr lang="en-US" altLang="zh-TW" dirty="0" smtClean="0"/>
              <a:t>The average size of a </a:t>
            </a:r>
            <a:r>
              <a:rPr lang="en-US" altLang="zh-TW" dirty="0" err="1" smtClean="0"/>
              <a:t>botnet</a:t>
            </a:r>
            <a:r>
              <a:rPr lang="en-US" altLang="zh-TW" dirty="0" smtClean="0"/>
              <a:t> is estimated at 20,000 computers</a:t>
            </a:r>
          </a:p>
          <a:p>
            <a:pPr lvl="1"/>
            <a:r>
              <a:rPr lang="en-US" altLang="zh-TW" dirty="0" smtClean="0"/>
              <a:t>Hackers control compromised computers to send spam and </a:t>
            </a:r>
            <a:r>
              <a:rPr lang="en-US" altLang="zh-TW" dirty="0" err="1" smtClean="0"/>
              <a:t>DoS</a:t>
            </a:r>
            <a:r>
              <a:rPr lang="en-US" altLang="zh-TW" dirty="0" smtClean="0"/>
              <a:t> target.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provides service to many users</a:t>
            </a:r>
          </a:p>
          <a:p>
            <a:pPr lvl="1"/>
            <a:r>
              <a:rPr lang="en-US" altLang="zh-TW" dirty="0" smtClean="0"/>
              <a:t>One of the cloud properties is availability.</a:t>
            </a:r>
          </a:p>
          <a:p>
            <a:r>
              <a:rPr lang="en-US" altLang="zh-TW" dirty="0" smtClean="0"/>
              <a:t>User access cloud service anytime and anywhere</a:t>
            </a:r>
          </a:p>
          <a:p>
            <a:pPr lvl="1"/>
            <a:r>
              <a:rPr lang="en-US" altLang="zh-TW" dirty="0" smtClean="0"/>
              <a:t>This means cloud platform must can service thousands of users.</a:t>
            </a:r>
          </a:p>
          <a:p>
            <a:pPr lvl="1"/>
            <a:r>
              <a:rPr lang="en-US" altLang="zh-TW" dirty="0" smtClean="0"/>
              <a:t>Cloud platform can distribute workload across multiple computers and services.</a:t>
            </a:r>
          </a:p>
          <a:p>
            <a:r>
              <a:rPr lang="en-US" altLang="zh-TW" dirty="0" smtClean="0"/>
              <a:t>The general </a:t>
            </a:r>
            <a:r>
              <a:rPr lang="en-US" altLang="zh-TW" dirty="0" err="1" smtClean="0"/>
              <a:t>DDoS</a:t>
            </a:r>
            <a:r>
              <a:rPr lang="en-US" altLang="zh-TW" dirty="0" smtClean="0"/>
              <a:t> attack cannot affect the cloud environment.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vendors offer pay-per-usage or pay-as-you-go access to computers and services.</a:t>
            </a:r>
          </a:p>
          <a:p>
            <a:r>
              <a:rPr lang="en-US" altLang="zh-TW" dirty="0" smtClean="0"/>
              <a:t>Hacker may burn your quota</a:t>
            </a:r>
          </a:p>
          <a:p>
            <a:pPr lvl="1"/>
            <a:r>
              <a:rPr lang="en-US" altLang="zh-TW" dirty="0" err="1" smtClean="0"/>
              <a:t>DDoS</a:t>
            </a:r>
            <a:r>
              <a:rPr lang="en-US" altLang="zh-TW" dirty="0" smtClean="0"/>
              <a:t> may not affect the end user, but can increase the quota of usage of bandwidth.</a:t>
            </a:r>
          </a:p>
          <a:p>
            <a:pPr lvl="1"/>
            <a:r>
              <a:rPr lang="en-US" altLang="zh-TW" dirty="0" smtClean="0"/>
              <a:t>Hackers can send lots of query to increase spending of company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Real Case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the Real World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is providing services to users</a:t>
            </a:r>
          </a:p>
          <a:p>
            <a:pPr lvl="1"/>
            <a:r>
              <a:rPr lang="en-US" altLang="zh-TW" dirty="0" smtClean="0"/>
              <a:t>End users are using cloud benefits.</a:t>
            </a:r>
          </a:p>
          <a:p>
            <a:pPr lvl="1"/>
            <a:r>
              <a:rPr lang="en-US" altLang="zh-TW" dirty="0" smtClean="0"/>
              <a:t>Service providers are using cloud environment to provide service</a:t>
            </a:r>
          </a:p>
          <a:p>
            <a:r>
              <a:rPr lang="en-US" altLang="zh-TW" dirty="0" smtClean="0"/>
              <a:t>Hackers are already to attack the cloud.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3474" y="4005064"/>
            <a:ext cx="3997052" cy="26502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Zeus and Amazon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In 2009, the Zeus banking </a:t>
            </a:r>
            <a:r>
              <a:rPr lang="en-US" altLang="zh-TW" dirty="0" smtClean="0"/>
              <a:t>Trojan </a:t>
            </a:r>
            <a:r>
              <a:rPr lang="en-US" altLang="zh-TW" dirty="0" smtClean="0"/>
              <a:t>has been spotted using the Amazon service as a C&amp;C (command and control) server.</a:t>
            </a:r>
          </a:p>
          <a:p>
            <a:pPr lvl="1"/>
            <a:r>
              <a:rPr lang="en-US" altLang="zh-TW" dirty="0" smtClean="0"/>
              <a:t>Compromised computers report to EC2 for new instruction and updates.</a:t>
            </a:r>
          </a:p>
          <a:p>
            <a:pPr lvl="1"/>
            <a:r>
              <a:rPr lang="en-US" altLang="zh-TW" dirty="0" smtClean="0"/>
              <a:t>Amazon’s Relational Database Service is a backend alternative in case losing access to original domain.</a:t>
            </a:r>
          </a:p>
          <a:p>
            <a:r>
              <a:rPr lang="en-US" altLang="zh-TW" dirty="0" err="1" smtClean="0"/>
              <a:t>Crimeware</a:t>
            </a:r>
            <a:r>
              <a:rPr lang="en-US" altLang="zh-TW" dirty="0" smtClean="0"/>
              <a:t> will dive deep into the cloud.</a:t>
            </a:r>
          </a:p>
          <a:p>
            <a:pPr lvl="1"/>
            <a:r>
              <a:rPr lang="en-US" altLang="zh-TW" dirty="0" err="1" smtClean="0"/>
              <a:t>Facebook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Google App Engine</a:t>
            </a:r>
          </a:p>
          <a:p>
            <a:pPr lvl="1"/>
            <a:r>
              <a:rPr lang="en-US" altLang="zh-TW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Phishing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2011, Google announced that hundreds of Gmail account were compromised in phishing</a:t>
            </a:r>
          </a:p>
          <a:p>
            <a:pPr lvl="1"/>
            <a:r>
              <a:rPr lang="en-US" altLang="zh-TW" dirty="0" smtClean="0"/>
              <a:t>Attackers have enough information to create an e-mail that seems like someone you know.</a:t>
            </a:r>
          </a:p>
          <a:p>
            <a:pPr lvl="1"/>
            <a:r>
              <a:rPr lang="en-US" altLang="zh-TW" dirty="0" smtClean="0"/>
              <a:t>Attackers try to stolen your password and access your e-mail account.</a:t>
            </a:r>
          </a:p>
          <a:p>
            <a:pPr lvl="1"/>
            <a:r>
              <a:rPr lang="en-US" altLang="zh-TW" dirty="0" smtClean="0"/>
              <a:t>Attackers secretly reset settings to copy and forward all e-mails.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3105"/>
          <a:stretch>
            <a:fillRect/>
          </a:stretch>
        </p:blipFill>
        <p:spPr bwMode="auto">
          <a:xfrm>
            <a:off x="5621152" y="4679213"/>
            <a:ext cx="3522848" cy="2206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Phishing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TW" dirty="0" smtClean="0"/>
              <a:t>Hackers attack Gmail to stolen the login details</a:t>
            </a:r>
          </a:p>
          <a:p>
            <a:pPr lvl="1"/>
            <a:r>
              <a:rPr lang="en-US" altLang="zh-TW" dirty="0" smtClean="0"/>
              <a:t>Senior US and South Korean government officials</a:t>
            </a:r>
          </a:p>
          <a:p>
            <a:pPr lvl="1"/>
            <a:r>
              <a:rPr lang="en-US" altLang="zh-TW" dirty="0" smtClean="0"/>
              <a:t>Chinese political activists</a:t>
            </a:r>
          </a:p>
          <a:p>
            <a:r>
              <a:rPr lang="fr-FR" altLang="zh-TW" dirty="0" smtClean="0"/>
              <a:t>Chinese Gmail attack raises cyberwar tensions</a:t>
            </a:r>
          </a:p>
          <a:p>
            <a:pPr lvl="1"/>
            <a:r>
              <a:rPr lang="en-US" altLang="zh-TW" dirty="0" smtClean="0"/>
              <a:t>There is no direct evidence that the hackers were in the pay of the Chinese government.</a:t>
            </a:r>
          </a:p>
          <a:p>
            <a:pPr lvl="1"/>
            <a:r>
              <a:rPr lang="en-US" altLang="zh-TW" dirty="0" smtClean="0"/>
              <a:t>The US government classifies cyber-attacks as acts of war.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Wikileak</a:t>
            </a:r>
            <a:r>
              <a:rPr lang="en-US" altLang="zh-TW" dirty="0" smtClean="0"/>
              <a:t> and Anonymous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WikiLeaks</a:t>
            </a:r>
            <a:r>
              <a:rPr lang="en-US" altLang="zh-TW" dirty="0" smtClean="0"/>
              <a:t> is an international non-profit organization </a:t>
            </a:r>
          </a:p>
          <a:p>
            <a:pPr lvl="1"/>
            <a:r>
              <a:rPr lang="en-US" altLang="zh-TW" dirty="0" smtClean="0"/>
              <a:t>publishes submissions of private, secret, and classified media.</a:t>
            </a:r>
          </a:p>
          <a:p>
            <a:pPr lvl="1"/>
            <a:r>
              <a:rPr lang="en-US" altLang="zh-TW" dirty="0" smtClean="0"/>
              <a:t>under </a:t>
            </a:r>
            <a:r>
              <a:rPr lang="en-US" altLang="zh-TW" dirty="0" err="1" smtClean="0"/>
              <a:t>DDoS</a:t>
            </a:r>
            <a:r>
              <a:rPr lang="en-US" altLang="zh-TW" dirty="0" smtClean="0"/>
              <a:t> attack around the time of an expected release of classified State Department documents.</a:t>
            </a:r>
          </a:p>
          <a:p>
            <a:r>
              <a:rPr lang="en-US" altLang="zh-TW" dirty="0" err="1" smtClean="0"/>
              <a:t>WiliLeaks</a:t>
            </a:r>
            <a:r>
              <a:rPr lang="en-US" altLang="zh-TW" dirty="0" smtClean="0"/>
              <a:t> want to move into Amazon EC2</a:t>
            </a:r>
          </a:p>
          <a:p>
            <a:pPr lvl="1"/>
            <a:r>
              <a:rPr lang="en-US" altLang="zh-TW" dirty="0" smtClean="0"/>
              <a:t>EC2 were successfully defended against large-scale </a:t>
            </a:r>
            <a:r>
              <a:rPr lang="en-US" altLang="zh-TW" dirty="0" err="1" smtClean="0"/>
              <a:t>DDoS</a:t>
            </a:r>
            <a:r>
              <a:rPr lang="en-US" altLang="zh-TW" dirty="0" smtClean="0"/>
              <a:t> attack.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Wikileak</a:t>
            </a:r>
            <a:r>
              <a:rPr lang="en-US" altLang="zh-TW" dirty="0" smtClean="0"/>
              <a:t> and Anonymous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But in 2011 </a:t>
            </a:r>
            <a:r>
              <a:rPr lang="en-US" altLang="zh-TW" dirty="0" smtClean="0"/>
              <a:t>December, </a:t>
            </a:r>
            <a:r>
              <a:rPr lang="en-US" altLang="zh-TW" dirty="0" smtClean="0"/>
              <a:t>many cloud computing providers stop service for </a:t>
            </a:r>
            <a:r>
              <a:rPr lang="en-US" altLang="zh-TW" dirty="0" err="1" smtClean="0"/>
              <a:t>WikiLeaks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EveryDNS</a:t>
            </a:r>
            <a:r>
              <a:rPr lang="en-US" altLang="zh-TW" dirty="0" smtClean="0"/>
              <a:t> dropped its domain name service.</a:t>
            </a:r>
          </a:p>
          <a:p>
            <a:pPr lvl="1"/>
            <a:r>
              <a:rPr lang="en-US" altLang="zh-TW" dirty="0" smtClean="0"/>
              <a:t>Amazon took it off its computers.</a:t>
            </a:r>
          </a:p>
          <a:p>
            <a:pPr lvl="1"/>
            <a:r>
              <a:rPr lang="en-US" altLang="zh-TW" dirty="0" smtClean="0"/>
              <a:t>PayPal and MasterCard cancelled its account.</a:t>
            </a:r>
          </a:p>
          <a:p>
            <a:r>
              <a:rPr lang="en-US" altLang="zh-TW" dirty="0" smtClean="0"/>
              <a:t>Anonymous (hacker group) attacks on the opponents of </a:t>
            </a:r>
            <a:r>
              <a:rPr lang="en-US" altLang="zh-TW" dirty="0" err="1" smtClean="0"/>
              <a:t>WikiLeaks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PayPal and MasterCard are forced to stop online service.</a:t>
            </a:r>
          </a:p>
          <a:p>
            <a:pPr lvl="1"/>
            <a:r>
              <a:rPr lang="en-US" altLang="zh-TW" dirty="0" smtClean="0"/>
              <a:t>But hackers stop attack Amazon because realizing how little impact it was having.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Dropbox</a:t>
            </a:r>
            <a:r>
              <a:rPr lang="en-US" altLang="zh-TW" dirty="0" smtClean="0"/>
              <a:t> Security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2011, </a:t>
            </a:r>
            <a:r>
              <a:rPr lang="en-US" altLang="zh-TW" dirty="0" err="1" smtClean="0"/>
              <a:t>Dropbox</a:t>
            </a:r>
            <a:r>
              <a:rPr lang="en-US" altLang="zh-TW" dirty="0" smtClean="0"/>
              <a:t> security glitch meant any password works</a:t>
            </a:r>
          </a:p>
          <a:p>
            <a:pPr lvl="1"/>
            <a:r>
              <a:rPr lang="en-US" altLang="zh-TW" dirty="0" smtClean="0"/>
              <a:t>Everyone can access </a:t>
            </a:r>
            <a:r>
              <a:rPr lang="en-US" altLang="zh-TW" dirty="0" err="1" smtClean="0"/>
              <a:t>dropbox</a:t>
            </a:r>
            <a:r>
              <a:rPr lang="en-US" altLang="zh-TW" dirty="0" smtClean="0"/>
              <a:t> if he know the e-mail.</a:t>
            </a:r>
          </a:p>
          <a:p>
            <a:pPr lvl="1"/>
            <a:r>
              <a:rPr lang="en-US" altLang="zh-TW" dirty="0" err="1" smtClean="0"/>
              <a:t>Dropbox’s</a:t>
            </a:r>
            <a:r>
              <a:rPr lang="en-US" altLang="zh-TW" dirty="0" smtClean="0"/>
              <a:t> authentication is failed in one hour and stop service for up to three hours.</a:t>
            </a:r>
          </a:p>
          <a:p>
            <a:r>
              <a:rPr lang="en-US" altLang="zh-TW" dirty="0" err="1" smtClean="0"/>
              <a:t>Dropbox</a:t>
            </a:r>
            <a:r>
              <a:rPr lang="en-US" altLang="zh-TW" dirty="0" smtClean="0"/>
              <a:t> claims that they encrypt user data on client</a:t>
            </a:r>
          </a:p>
          <a:p>
            <a:pPr lvl="1"/>
            <a:r>
              <a:rPr lang="en-US" altLang="zh-TW" dirty="0" smtClean="0"/>
              <a:t>In fact, workflow of encryption is on server.</a:t>
            </a:r>
          </a:p>
          <a:p>
            <a:pPr lvl="1"/>
            <a:r>
              <a:rPr lang="en-US" altLang="zh-TW" dirty="0" smtClean="0"/>
              <a:t>Staff could access the sensitive data. 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provides a new service model</a:t>
            </a:r>
          </a:p>
          <a:p>
            <a:pPr lvl="1"/>
            <a:r>
              <a:rPr lang="en-US" altLang="zh-TW" dirty="0" smtClean="0"/>
              <a:t>A way to increase capacity or add capabilities</a:t>
            </a:r>
          </a:p>
          <a:p>
            <a:pPr lvl="1"/>
            <a:r>
              <a:rPr lang="en-US" altLang="zh-TW" dirty="0" smtClean="0"/>
              <a:t>Need not a new infrastructure, t raining new personnel, or licensing new software.</a:t>
            </a:r>
          </a:p>
          <a:p>
            <a:r>
              <a:rPr lang="en-US" altLang="zh-TW" dirty="0" smtClean="0"/>
              <a:t>Cloud computing also becomes a big target for malicious attackers.</a:t>
            </a:r>
          </a:p>
          <a:p>
            <a:r>
              <a:rPr lang="en-US" altLang="zh-TW" dirty="0" smtClean="0"/>
              <a:t>Hackers try to access computer, stolen data and destroy system</a:t>
            </a:r>
          </a:p>
          <a:p>
            <a:pPr lvl="1"/>
            <a:r>
              <a:rPr lang="en-US" altLang="zh-TW" dirty="0" smtClean="0"/>
              <a:t>Everyone would be the victim.</a:t>
            </a:r>
          </a:p>
          <a:p>
            <a:endParaRPr lang="en-US" altLang="zh-TW" dirty="0" smtClean="0"/>
          </a:p>
          <a:p>
            <a:pPr lvl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According to the principle of CIA, cloud computing vendor need to provide a safe, secure and reliable environment.</a:t>
            </a:r>
          </a:p>
          <a:p>
            <a:pPr lvl="1"/>
            <a:r>
              <a:rPr lang="en-US" altLang="zh-TW" dirty="0" smtClean="0"/>
              <a:t>Increase the accessibility and availability and reduce the inconvenient on usage.</a:t>
            </a:r>
          </a:p>
          <a:p>
            <a:pPr lvl="1"/>
            <a:r>
              <a:rPr lang="en-US" altLang="zh-TW" dirty="0" smtClean="0"/>
              <a:t>Protect data and avoid to be stolen.</a:t>
            </a:r>
          </a:p>
          <a:p>
            <a:pPr lvl="1"/>
            <a:r>
              <a:rPr lang="en-US" altLang="zh-TW" dirty="0" smtClean="0"/>
              <a:t>Analysis and trace the security event, improve system security at any time.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Wikipedia </a:t>
            </a:r>
            <a:r>
              <a:rPr lang="en-US" altLang="zh-TW" dirty="0" smtClean="0">
                <a:hlinkClick r:id="rId2"/>
              </a:rPr>
              <a:t>http://en.wikipedia.org/wiki/Wiki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News</a:t>
            </a:r>
          </a:p>
          <a:p>
            <a:pPr lvl="1"/>
            <a:r>
              <a:rPr lang="en-US" altLang="zh-TW" dirty="0" smtClean="0">
                <a:hlinkClick r:id="rId3"/>
              </a:rPr>
              <a:t>http://www.zone-h.org/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4"/>
              </a:rPr>
              <a:t>http</a:t>
            </a:r>
            <a:r>
              <a:rPr lang="en-US" altLang="zh-TW" dirty="0" smtClean="0">
                <a:hlinkClick r:id="rId4"/>
              </a:rPr>
              <a:t>://www.zdnet.com.tw/news/software/0,2000085678,20143834,00.htm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>
                <a:hlinkClick r:id="rId5"/>
              </a:rPr>
              <a:t>http</a:t>
            </a:r>
            <a:r>
              <a:rPr lang="en-US" altLang="zh-TW" dirty="0" smtClean="0">
                <a:hlinkClick r:id="rId5"/>
              </a:rPr>
              <a:t>://udn.com/NEWS/WORLD/WOR3/6025617.shtml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>
                <a:hlinkClick r:id="rId6"/>
              </a:rPr>
              <a:t>http</a:t>
            </a:r>
            <a:r>
              <a:rPr lang="en-US" altLang="zh-TW" dirty="0" smtClean="0">
                <a:hlinkClick r:id="rId6"/>
              </a:rPr>
              <a:t>://tw.nextmedia.com/rnews/article/SecID/109/art_id/42470/IssueID/20110623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7"/>
              </a:rPr>
              <a:t>http</a:t>
            </a:r>
            <a:r>
              <a:rPr lang="en-US" altLang="zh-TW" dirty="0" smtClean="0">
                <a:hlinkClick r:id="rId7"/>
              </a:rPr>
              <a:t>://lieberman.senate.gov/index.cfm/news-events/news/2010/12/amazon-severs-ties-with-wikileaks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All </a:t>
            </a:r>
            <a:r>
              <a:rPr lang="en-US" altLang="zh-TW" dirty="0" smtClean="0"/>
              <a:t>resources of the materials and pictures were partially retrieved from the Internet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20485</TotalTime>
  <Words>3229</Words>
  <Application>Microsoft Office PowerPoint</Application>
  <PresentationFormat>如螢幕大小 (4:3)</PresentationFormat>
  <Paragraphs>447</Paragraphs>
  <Slides>72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72</vt:i4>
      </vt:variant>
    </vt:vector>
  </HeadingPairs>
  <TitlesOfParts>
    <vt:vector size="73" baseType="lpstr">
      <vt:lpstr>Course Themes</vt:lpstr>
      <vt:lpstr>雲端計算 Cloud Computing</vt:lpstr>
      <vt:lpstr>Agenda </vt:lpstr>
      <vt:lpstr>Cloud Computing</vt:lpstr>
      <vt:lpstr>Cloud Computing (cont.)</vt:lpstr>
      <vt:lpstr>Viewpoints </vt:lpstr>
      <vt:lpstr>Viewpoints (cont.)</vt:lpstr>
      <vt:lpstr>Questions </vt:lpstr>
      <vt:lpstr>The Real World is ?</vt:lpstr>
      <vt:lpstr>Compass </vt:lpstr>
      <vt:lpstr>Loss of Direction</vt:lpstr>
      <vt:lpstr>Remaining </vt:lpstr>
      <vt:lpstr>Agenda </vt:lpstr>
      <vt:lpstr>Cloud Security and Issues</vt:lpstr>
      <vt:lpstr>Outline </vt:lpstr>
      <vt:lpstr>Introduction </vt:lpstr>
      <vt:lpstr>Security </vt:lpstr>
      <vt:lpstr>Secure Technique</vt:lpstr>
      <vt:lpstr>Secure Management</vt:lpstr>
      <vt:lpstr>Cyber Security</vt:lpstr>
      <vt:lpstr>Information Security </vt:lpstr>
      <vt:lpstr>CIA</vt:lpstr>
      <vt:lpstr>CIA (cont.)</vt:lpstr>
      <vt:lpstr>In Real Life</vt:lpstr>
      <vt:lpstr>Unbalance…</vt:lpstr>
      <vt:lpstr> In Cloud Computing</vt:lpstr>
      <vt:lpstr>To be a Sheep?</vt:lpstr>
      <vt:lpstr>Attack scenario</vt:lpstr>
      <vt:lpstr>Malicious Attacker</vt:lpstr>
      <vt:lpstr>Hacker Economic</vt:lpstr>
      <vt:lpstr>Fun or Show Off</vt:lpstr>
      <vt:lpstr>How to Attack?</vt:lpstr>
      <vt:lpstr>Workflow </vt:lpstr>
      <vt:lpstr>Penetration</vt:lpstr>
      <vt:lpstr>Attack and Destroy</vt:lpstr>
      <vt:lpstr>In Cloud</vt:lpstr>
      <vt:lpstr>Methods  </vt:lpstr>
      <vt:lpstr>Attack scenario</vt:lpstr>
      <vt:lpstr>Password </vt:lpstr>
      <vt:lpstr>In Cloud</vt:lpstr>
      <vt:lpstr>Solution </vt:lpstr>
      <vt:lpstr>Solution (cont.)</vt:lpstr>
      <vt:lpstr>Attack scenario</vt:lpstr>
      <vt:lpstr>Phishing </vt:lpstr>
      <vt:lpstr>Phishing (cont.)</vt:lpstr>
      <vt:lpstr>Phishing (cont.)</vt:lpstr>
      <vt:lpstr>In Cloud</vt:lpstr>
      <vt:lpstr>In User</vt:lpstr>
      <vt:lpstr>Attack scenario</vt:lpstr>
      <vt:lpstr>Communication </vt:lpstr>
      <vt:lpstr>Sniffer </vt:lpstr>
      <vt:lpstr>Network Device</vt:lpstr>
      <vt:lpstr>Network Device (cont.)</vt:lpstr>
      <vt:lpstr>ARP Spoofing</vt:lpstr>
      <vt:lpstr>VLAN switch</vt:lpstr>
      <vt:lpstr>In Cloud</vt:lpstr>
      <vt:lpstr>Attack scenario</vt:lpstr>
      <vt:lpstr>DoS</vt:lpstr>
      <vt:lpstr>Attack </vt:lpstr>
      <vt:lpstr>Botnet </vt:lpstr>
      <vt:lpstr>In Cloud</vt:lpstr>
      <vt:lpstr>In Cloud (cont.)</vt:lpstr>
      <vt:lpstr>Real Case</vt:lpstr>
      <vt:lpstr>In the Real World</vt:lpstr>
      <vt:lpstr>Zeus and Amazon</vt:lpstr>
      <vt:lpstr>Google Phishing</vt:lpstr>
      <vt:lpstr>Google Phishing (cont.)</vt:lpstr>
      <vt:lpstr>Wikileak and Anonymous</vt:lpstr>
      <vt:lpstr>Wikileak and Anonymous (cont.)</vt:lpstr>
      <vt:lpstr>Dropbox Security</vt:lpstr>
      <vt:lpstr>Summary </vt:lpstr>
      <vt:lpstr>Summary (cont.)</vt:lpstr>
      <vt:lpstr>Reference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and Issue</dc:title>
  <dc:creator>cmj</dc:creator>
  <cp:lastModifiedBy>5g</cp:lastModifiedBy>
  <cp:revision>814</cp:revision>
  <dcterms:created xsi:type="dcterms:W3CDTF">2011-07-04T06:08:02Z</dcterms:created>
  <dcterms:modified xsi:type="dcterms:W3CDTF">2011-12-07T05:57:20Z</dcterms:modified>
</cp:coreProperties>
</file>