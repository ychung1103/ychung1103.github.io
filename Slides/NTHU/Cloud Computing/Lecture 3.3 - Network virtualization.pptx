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319" r:id="rId3"/>
    <p:sldId id="259" r:id="rId4"/>
    <p:sldId id="295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94" r:id="rId17"/>
    <p:sldId id="260" r:id="rId18"/>
    <p:sldId id="286" r:id="rId19"/>
    <p:sldId id="261" r:id="rId20"/>
    <p:sldId id="287" r:id="rId21"/>
    <p:sldId id="293" r:id="rId22"/>
    <p:sldId id="296" r:id="rId23"/>
    <p:sldId id="263" r:id="rId24"/>
    <p:sldId id="264" r:id="rId25"/>
    <p:sldId id="265" r:id="rId26"/>
    <p:sldId id="267" r:id="rId27"/>
    <p:sldId id="268" r:id="rId28"/>
    <p:sldId id="269" r:id="rId29"/>
    <p:sldId id="270" r:id="rId30"/>
    <p:sldId id="271" r:id="rId31"/>
    <p:sldId id="272" r:id="rId32"/>
    <p:sldId id="288" r:id="rId33"/>
    <p:sldId id="297" r:id="rId34"/>
    <p:sldId id="299" r:id="rId35"/>
    <p:sldId id="289" r:id="rId36"/>
    <p:sldId id="301" r:id="rId37"/>
    <p:sldId id="302" r:id="rId38"/>
    <p:sldId id="303" r:id="rId39"/>
    <p:sldId id="300" r:id="rId40"/>
    <p:sldId id="304" r:id="rId41"/>
    <p:sldId id="306" r:id="rId42"/>
    <p:sldId id="305" r:id="rId43"/>
    <p:sldId id="307" r:id="rId44"/>
    <p:sldId id="308" r:id="rId45"/>
    <p:sldId id="309" r:id="rId46"/>
    <p:sldId id="310" r:id="rId47"/>
    <p:sldId id="317" r:id="rId48"/>
    <p:sldId id="292" r:id="rId49"/>
    <p:sldId id="311" r:id="rId50"/>
    <p:sldId id="312" r:id="rId51"/>
    <p:sldId id="313" r:id="rId52"/>
    <p:sldId id="314" r:id="rId53"/>
    <p:sldId id="315" r:id="rId54"/>
    <p:sldId id="316" r:id="rId55"/>
    <p:sldId id="318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6" autoAdjust="0"/>
    <p:restoredTop sz="94660"/>
  </p:normalViewPr>
  <p:slideViewPr>
    <p:cSldViewPr>
      <p:cViewPr>
        <p:scale>
          <a:sx n="70" d="100"/>
          <a:sy n="70" d="100"/>
        </p:scale>
        <p:origin x="-326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9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4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12/7/2010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4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5.png"/><Relationship Id="rId9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Network Virtualization</a:t>
            </a: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External network virtualization</a:t>
            </a:r>
          </a:p>
          <a:p>
            <a:pPr lvl="1"/>
            <a:r>
              <a:rPr lang="en-US" dirty="0" smtClean="0"/>
              <a:t>What to be virtualized ?</a:t>
            </a:r>
          </a:p>
          <a:p>
            <a:pPr lvl="2"/>
            <a:r>
              <a:rPr lang="en-US" dirty="0" smtClean="0"/>
              <a:t>Network device virtualization</a:t>
            </a:r>
          </a:p>
          <a:p>
            <a:pPr lvl="2"/>
            <a:r>
              <a:rPr lang="en-US" dirty="0" smtClean="0"/>
              <a:t>Network data path virtualization</a:t>
            </a:r>
          </a:p>
          <a:p>
            <a:pPr lvl="1"/>
            <a:r>
              <a:rPr lang="en-US" dirty="0" smtClean="0"/>
              <a:t>How to be virtualized ?</a:t>
            </a:r>
          </a:p>
          <a:p>
            <a:pPr lvl="2"/>
            <a:r>
              <a:rPr lang="en-US" dirty="0" smtClean="0"/>
              <a:t>Protocol approach</a:t>
            </a:r>
          </a:p>
          <a:p>
            <a:r>
              <a:rPr lang="en-US" dirty="0" smtClean="0"/>
              <a:t>Internal network virtualization</a:t>
            </a:r>
          </a:p>
          <a:p>
            <a:pPr lvl="1"/>
            <a:r>
              <a:rPr lang="en-US" dirty="0" smtClean="0"/>
              <a:t>Traditional approach</a:t>
            </a:r>
          </a:p>
          <a:p>
            <a:pPr lvl="1"/>
            <a:r>
              <a:rPr lang="en-US" dirty="0" smtClean="0"/>
              <a:t>New techniques</a:t>
            </a:r>
          </a:p>
          <a:p>
            <a:pPr lvl="1"/>
            <a:r>
              <a:rPr lang="en-US" dirty="0" smtClean="0"/>
              <a:t>Case study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Introduction</a:t>
            </a:r>
          </a:p>
          <a:p>
            <a:r>
              <a:rPr lang="en-US" dirty="0" smtClean="0"/>
              <a:t>External network virtualization</a:t>
            </a:r>
          </a:p>
          <a:p>
            <a:r>
              <a:rPr lang="en-US" dirty="0" smtClean="0"/>
              <a:t>Internal network virtualization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611563"/>
          </a:xfrm>
        </p:spPr>
        <p:txBody>
          <a:bodyPr>
            <a:noAutofit/>
          </a:bodyPr>
          <a:lstStyle/>
          <a:p>
            <a:r>
              <a:rPr lang="en-US" dirty="0" smtClean="0"/>
              <a:t>What is computer network ?</a:t>
            </a:r>
          </a:p>
          <a:p>
            <a:pPr lvl="1"/>
            <a:r>
              <a:rPr lang="en-US" dirty="0" smtClean="0"/>
              <a:t>A computer network, often simply referred to as a network, is a collection of computers and devices interconnected by communications channels that facilitate communications among users and allows users to share resources.</a:t>
            </a:r>
          </a:p>
          <a:p>
            <a:r>
              <a:rPr lang="en-US" dirty="0" smtClean="0"/>
              <a:t>Why should we study network ?</a:t>
            </a:r>
          </a:p>
          <a:p>
            <a:pPr lvl="1"/>
            <a:r>
              <a:rPr lang="en-US" dirty="0" smtClean="0"/>
              <a:t>Computer networks are used for communication and coordination, as well as commerce by large as well as small organizations.</a:t>
            </a:r>
          </a:p>
          <a:p>
            <a:pPr lvl="1"/>
            <a:r>
              <a:rPr lang="en-US" dirty="0" smtClean="0"/>
              <a:t>Computer networks and the Internet is a vital part of business infrastructure.</a:t>
            </a:r>
          </a:p>
        </p:txBody>
      </p:sp>
      <p:pic>
        <p:nvPicPr>
          <p:cNvPr id="4" name="Picture 2" descr="FIG01_03"/>
          <p:cNvPicPr>
            <a:picLocks noChangeAspect="1" noChangeArrowheads="1"/>
          </p:cNvPicPr>
          <p:nvPr/>
        </p:nvPicPr>
        <p:blipFill>
          <a:blip r:embed="rId2" cstate="print"/>
          <a:srcRect t="9048"/>
          <a:stretch>
            <a:fillRect/>
          </a:stretch>
        </p:blipFill>
        <p:spPr>
          <a:xfrm>
            <a:off x="2971799" y="4572000"/>
            <a:ext cx="5996189" cy="2133600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Protocol and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2590800"/>
          </a:xfrm>
        </p:spPr>
        <p:txBody>
          <a:bodyPr>
            <a:normAutofit/>
          </a:bodyPr>
          <a:lstStyle/>
          <a:p>
            <a:r>
              <a:rPr lang="en-US" dirty="0" smtClean="0"/>
              <a:t>Network protocol</a:t>
            </a:r>
          </a:p>
          <a:p>
            <a:pPr lvl="1"/>
            <a:r>
              <a:rPr lang="en-US" dirty="0" smtClean="0"/>
              <a:t>Rules and procedures governing transmission between computers</a:t>
            </a:r>
          </a:p>
          <a:p>
            <a:pPr lvl="1"/>
            <a:r>
              <a:rPr lang="en-US" dirty="0" smtClean="0"/>
              <a:t>Used to identify communicating devices, secure attention of intended recipient, check for errors and re-transmissions</a:t>
            </a:r>
          </a:p>
          <a:p>
            <a:pPr lvl="1"/>
            <a:r>
              <a:rPr lang="en-US" dirty="0" smtClean="0"/>
              <a:t>All computers using a protocol have to agree on how to code/decode the message, how to identify errors, and steps to take when there are errors or missed communications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90176" y="3733800"/>
            <a:ext cx="6787024" cy="2819022"/>
            <a:chOff x="123608" y="1847850"/>
            <a:chExt cx="8618241" cy="4248637"/>
          </a:xfrm>
        </p:grpSpPr>
        <p:pic>
          <p:nvPicPr>
            <p:cNvPr id="4" name="Picture 3" descr="Truck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2132014" y="1847850"/>
              <a:ext cx="5334003" cy="3848103"/>
            </a:xfrm>
            <a:prstGeom prst="rect">
              <a:avLst/>
            </a:prstGeom>
            <a:noFill/>
            <a:ln/>
          </p:spPr>
        </p:pic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989249" y="2114132"/>
              <a:ext cx="1752600" cy="692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400" b="1" dirty="0">
                  <a:solidFill>
                    <a:schemeClr val="accent2">
                      <a:lumMod val="50000"/>
                    </a:schemeClr>
                  </a:solidFill>
                </a:rPr>
                <a:t>Computer System Protocol</a:t>
              </a: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H="1">
              <a:off x="4292067" y="2605218"/>
              <a:ext cx="2550696" cy="90822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407827" y="5632626"/>
              <a:ext cx="2424599" cy="463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400" b="1" dirty="0">
                  <a:solidFill>
                    <a:schemeClr val="accent2">
                      <a:lumMod val="50000"/>
                    </a:schemeClr>
                  </a:solidFill>
                </a:rPr>
                <a:t>Packaging Protocol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H="1" flipV="1">
              <a:off x="3886202" y="3505204"/>
              <a:ext cx="457201" cy="220980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23608" y="4518632"/>
              <a:ext cx="2042879" cy="463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400" b="1" dirty="0">
                  <a:solidFill>
                    <a:schemeClr val="accent2">
                      <a:lumMod val="50000"/>
                    </a:schemeClr>
                  </a:solidFill>
                </a:rPr>
                <a:t>Delivery Protocol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1733350" y="3805880"/>
              <a:ext cx="773229" cy="716693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Network Protocol and Model</a:t>
            </a:r>
            <a:endParaRPr lang="en-US" dirty="0"/>
          </a:p>
        </p:txBody>
      </p:sp>
      <p:pic>
        <p:nvPicPr>
          <p:cNvPr id="4" name="Picture 4" descr="obr23119_042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371600"/>
            <a:ext cx="8032329" cy="5105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Topologies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4525963"/>
          </a:xfrm>
        </p:spPr>
        <p:txBody>
          <a:bodyPr/>
          <a:lstStyle/>
          <a:p>
            <a:r>
              <a:rPr lang="en-US" dirty="0" smtClean="0"/>
              <a:t>Topologies</a:t>
            </a:r>
          </a:p>
          <a:p>
            <a:pPr lvl="1"/>
            <a:r>
              <a:rPr lang="en-US" dirty="0" smtClean="0"/>
              <a:t>Topology refers to the physical or logical layout of the computers in a particular network.</a:t>
            </a:r>
          </a:p>
          <a:p>
            <a:pPr lvl="1"/>
            <a:r>
              <a:rPr lang="en-US" dirty="0" smtClean="0"/>
              <a:t>Commonly used topologies are star, bus and ring.</a:t>
            </a:r>
          </a:p>
        </p:txBody>
      </p:sp>
      <p:pic>
        <p:nvPicPr>
          <p:cNvPr id="4" name="Picture 3" descr="network topologies"/>
          <p:cNvPicPr>
            <a:picLocks noChangeAspect="1" noChangeArrowheads="1"/>
          </p:cNvPicPr>
          <p:nvPr/>
        </p:nvPicPr>
        <p:blipFill>
          <a:blip r:embed="rId2" cstate="print"/>
          <a:srcRect t="9171" b="10126"/>
          <a:stretch>
            <a:fillRect/>
          </a:stretch>
        </p:blipFill>
        <p:spPr>
          <a:xfrm>
            <a:off x="665019" y="2895600"/>
            <a:ext cx="7813963" cy="3657600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LANs and WANs</a:t>
            </a:r>
          </a:p>
          <a:p>
            <a:pPr lvl="1"/>
            <a:r>
              <a:rPr lang="en-US" dirty="0" smtClean="0"/>
              <a:t>Local area network</a:t>
            </a:r>
          </a:p>
          <a:p>
            <a:pPr lvl="2"/>
            <a:r>
              <a:rPr lang="en-US" dirty="0" smtClean="0"/>
              <a:t>Network of computers and other devices within a limited distance</a:t>
            </a:r>
          </a:p>
          <a:p>
            <a:pPr lvl="2"/>
            <a:r>
              <a:rPr lang="en-US" dirty="0" smtClean="0"/>
              <a:t>Uses star, bus or ring topologies</a:t>
            </a:r>
          </a:p>
          <a:p>
            <a:pPr lvl="2"/>
            <a:r>
              <a:rPr lang="en-US" dirty="0" smtClean="0"/>
              <a:t>Network interface cards in each device specifies transmission rate, message structure, and topology</a:t>
            </a:r>
          </a:p>
          <a:p>
            <a:pPr lvl="2"/>
            <a:r>
              <a:rPr lang="en-US" dirty="0" smtClean="0"/>
              <a:t>Network operating system routes and manages communications and coordinates network resources</a:t>
            </a:r>
          </a:p>
          <a:p>
            <a:pPr lvl="1"/>
            <a:r>
              <a:rPr lang="en-US" dirty="0" smtClean="0"/>
              <a:t>Wide area network</a:t>
            </a:r>
          </a:p>
          <a:p>
            <a:pPr lvl="2"/>
            <a:r>
              <a:rPr lang="en-US" dirty="0" smtClean="0"/>
              <a:t>Network of computers spanning broad geographical distances</a:t>
            </a:r>
          </a:p>
          <a:p>
            <a:pPr lvl="2"/>
            <a:r>
              <a:rPr lang="en-US" dirty="0" smtClean="0"/>
              <a:t>Switched or dedicated lines</a:t>
            </a:r>
          </a:p>
          <a:p>
            <a:pPr lvl="2"/>
            <a:r>
              <a:rPr lang="en-US" dirty="0" smtClean="0"/>
              <a:t>Firms use commercial WANs for communication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24800" cy="4525963"/>
          </a:xfrm>
        </p:spPr>
        <p:txBody>
          <a:bodyPr/>
          <a:lstStyle/>
          <a:p>
            <a:r>
              <a:rPr lang="en-US" dirty="0" smtClean="0"/>
              <a:t>Packet switching</a:t>
            </a:r>
          </a:p>
          <a:p>
            <a:pPr lvl="1"/>
            <a:r>
              <a:rPr lang="en-US" dirty="0" smtClean="0"/>
              <a:t>Message/Data is divided into fixed or variable length packets</a:t>
            </a:r>
          </a:p>
          <a:p>
            <a:pPr lvl="1"/>
            <a:r>
              <a:rPr lang="en-US" dirty="0" smtClean="0"/>
              <a:t>Each packet is numbered and sent along different paths to the destination</a:t>
            </a:r>
          </a:p>
          <a:p>
            <a:pPr lvl="1"/>
            <a:r>
              <a:rPr lang="en-US" dirty="0" smtClean="0"/>
              <a:t>Packets are assembled</a:t>
            </a:r>
            <a:br>
              <a:rPr lang="en-US" dirty="0" smtClean="0"/>
            </a:br>
            <a:r>
              <a:rPr lang="en-US" dirty="0" smtClean="0"/>
              <a:t>at the destination</a:t>
            </a:r>
          </a:p>
          <a:p>
            <a:pPr lvl="1"/>
            <a:r>
              <a:rPr lang="en-US" dirty="0" smtClean="0"/>
              <a:t>Useful for continued</a:t>
            </a:r>
            <a:br>
              <a:rPr lang="en-US" dirty="0" smtClean="0"/>
            </a:br>
            <a:r>
              <a:rPr lang="en-US" dirty="0" smtClean="0"/>
              <a:t>message transmission</a:t>
            </a:r>
            <a:br>
              <a:rPr lang="en-US" dirty="0" smtClean="0"/>
            </a:br>
            <a:r>
              <a:rPr lang="en-US" dirty="0" smtClean="0"/>
              <a:t>even when part of the</a:t>
            </a:r>
            <a:br>
              <a:rPr lang="en-US" dirty="0" smtClean="0"/>
            </a:br>
            <a:r>
              <a:rPr lang="en-US" dirty="0" smtClean="0"/>
              <a:t>network path is</a:t>
            </a:r>
            <a:br>
              <a:rPr lang="en-US" dirty="0" smtClean="0"/>
            </a:br>
            <a:r>
              <a:rPr lang="en-US" dirty="0" smtClean="0"/>
              <a:t>broken</a:t>
            </a:r>
          </a:p>
        </p:txBody>
      </p:sp>
      <p:pic>
        <p:nvPicPr>
          <p:cNvPr id="4" name="Picture 3" descr="FIG08-09"/>
          <p:cNvPicPr>
            <a:picLocks noChangeAspect="1" noChangeArrowheads="1"/>
          </p:cNvPicPr>
          <p:nvPr/>
        </p:nvPicPr>
        <p:blipFill>
          <a:blip r:embed="rId2" cstate="print"/>
          <a:srcRect t="7035"/>
          <a:stretch>
            <a:fillRect/>
          </a:stretch>
        </p:blipFill>
        <p:spPr>
          <a:xfrm>
            <a:off x="3810000" y="3074987"/>
            <a:ext cx="5181600" cy="3021013"/>
          </a:xfrm>
          <a:prstGeom prst="rect">
            <a:avLst/>
          </a:prstGeo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Architecture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3038664" y="1748135"/>
            <a:ext cx="3066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two networks</a:t>
            </a:r>
            <a:endParaRPr lang="en-US" sz="2400" b="1" i="1" dirty="0">
              <a:solidFill>
                <a:schemeClr val="tx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794000"/>
            <a:ext cx="6737350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Architecture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2775611" y="1688068"/>
            <a:ext cx="359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multiple networks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5250" y="2416175"/>
            <a:ext cx="6413500" cy="406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Architecture</a:t>
            </a:r>
            <a:endParaRPr 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2775611" y="1688068"/>
            <a:ext cx="359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multiple networks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5250" y="2362200"/>
            <a:ext cx="641350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Architecture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101" y="1756640"/>
            <a:ext cx="7543799" cy="487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75611" y="1214735"/>
            <a:ext cx="359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Connect multiple networks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Architecture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4922" y="1744219"/>
            <a:ext cx="7194157" cy="5037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53490" y="1214735"/>
            <a:ext cx="3637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The simple view of Internet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_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1447800"/>
            <a:ext cx="4495800" cy="51343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Design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0" y="2027237"/>
            <a:ext cx="46482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Hierarchical approach</a:t>
            </a:r>
          </a:p>
          <a:p>
            <a:pPr lvl="1"/>
            <a:r>
              <a:rPr lang="en-US" dirty="0" smtClean="0"/>
              <a:t>Traffic is aggregated hierarchically from an access layer into a layer of distribution switches and finally onto the network core.</a:t>
            </a:r>
          </a:p>
          <a:p>
            <a:pPr lvl="1"/>
            <a:r>
              <a:rPr lang="en-US" dirty="0" smtClean="0"/>
              <a:t>A hierarchical approach to network design has proven to deliver the best results in terms of optimizing scalability, improving manageability, and maximizing network availability.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What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is network virtualization 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16386" name="Picture 2" descr="http://www.cisco.com/en/US/i/200001-300000/220001-230000/221001-222000/22103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514600"/>
            <a:ext cx="7977534" cy="3886200"/>
          </a:xfrm>
          <a:prstGeom prst="rect">
            <a:avLst/>
          </a:prstGeom>
          <a:noFill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network virtualization ?</a:t>
            </a:r>
          </a:p>
          <a:p>
            <a:pPr lvl="1"/>
            <a:r>
              <a:rPr lang="en-US" dirty="0" smtClean="0"/>
              <a:t>In computing, Network Virtualization is the process of combining hardware and software network resources and network functionality into a single, software-based administrative entity, a virtual network.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Two categories :</a:t>
            </a:r>
          </a:p>
          <a:p>
            <a:pPr lvl="1"/>
            <a:r>
              <a:rPr lang="en-US" dirty="0" smtClean="0"/>
              <a:t>External network virtualization</a:t>
            </a:r>
          </a:p>
          <a:p>
            <a:pPr lvl="2"/>
            <a:r>
              <a:rPr lang="en-US" dirty="0" smtClean="0"/>
              <a:t>Combining many networks, or parts of networks, into a virtual unit.</a:t>
            </a:r>
          </a:p>
          <a:p>
            <a:pPr lvl="1"/>
            <a:r>
              <a:rPr lang="en-US" dirty="0" smtClean="0"/>
              <a:t>Internal network virtualization</a:t>
            </a:r>
          </a:p>
          <a:p>
            <a:pPr lvl="2"/>
            <a:r>
              <a:rPr lang="en-US" dirty="0" smtClean="0"/>
              <a:t>Providing network-like functionality to the software containers on a single system.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Desirable properties of network virtualization :</a:t>
            </a:r>
          </a:p>
          <a:p>
            <a:pPr lvl="1"/>
            <a:r>
              <a:rPr lang="en-US" dirty="0" smtClean="0"/>
              <a:t>Scalability</a:t>
            </a:r>
          </a:p>
          <a:p>
            <a:pPr lvl="2"/>
            <a:r>
              <a:rPr lang="en-US" dirty="0" smtClean="0"/>
              <a:t>Easy to extend resources in need</a:t>
            </a:r>
          </a:p>
          <a:p>
            <a:pPr lvl="2"/>
            <a:r>
              <a:rPr lang="en-US" dirty="0" smtClean="0"/>
              <a:t>Administrator can dynamically create or delete virtual network connection</a:t>
            </a:r>
          </a:p>
          <a:p>
            <a:pPr lvl="1"/>
            <a:r>
              <a:rPr lang="en-US" dirty="0" smtClean="0"/>
              <a:t>Resilience</a:t>
            </a:r>
          </a:p>
          <a:p>
            <a:pPr lvl="2"/>
            <a:r>
              <a:rPr lang="en-US" dirty="0" smtClean="0"/>
              <a:t>Recover from the failures</a:t>
            </a:r>
          </a:p>
          <a:p>
            <a:pPr lvl="2"/>
            <a:r>
              <a:rPr lang="en-US" dirty="0" smtClean="0"/>
              <a:t>Virtual network will automatically redirect packets by redundant links</a:t>
            </a:r>
          </a:p>
          <a:p>
            <a:pPr lvl="1"/>
            <a:r>
              <a:rPr lang="en-US" dirty="0" smtClean="0"/>
              <a:t>Security</a:t>
            </a:r>
          </a:p>
          <a:p>
            <a:pPr lvl="2"/>
            <a:r>
              <a:rPr lang="en-US" dirty="0" smtClean="0"/>
              <a:t>Increased path isolation and user segmentation</a:t>
            </a:r>
          </a:p>
          <a:p>
            <a:pPr lvl="2"/>
            <a:r>
              <a:rPr lang="en-US" dirty="0" smtClean="0"/>
              <a:t>Virtual network should work with firewall software</a:t>
            </a:r>
          </a:p>
          <a:p>
            <a:pPr lvl="1"/>
            <a:r>
              <a:rPr lang="en-US" dirty="0" smtClean="0"/>
              <a:t>Availability</a:t>
            </a:r>
          </a:p>
          <a:p>
            <a:pPr lvl="2"/>
            <a:r>
              <a:rPr lang="en-US" dirty="0" smtClean="0"/>
              <a:t>Access network resource anytime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External network virtualization in different layers :</a:t>
            </a:r>
          </a:p>
          <a:p>
            <a:pPr lvl="1"/>
            <a:r>
              <a:rPr lang="en-US" dirty="0" smtClean="0"/>
              <a:t>Layer 1</a:t>
            </a:r>
          </a:p>
          <a:p>
            <a:pPr lvl="2"/>
            <a:r>
              <a:rPr lang="en-US" dirty="0" smtClean="0"/>
              <a:t>Seldom virtualization implement in this physical data transmission layer.</a:t>
            </a:r>
          </a:p>
          <a:p>
            <a:pPr lvl="1"/>
            <a:r>
              <a:rPr lang="en-US" dirty="0" smtClean="0"/>
              <a:t>Layer 2</a:t>
            </a:r>
          </a:p>
          <a:p>
            <a:pPr lvl="2"/>
            <a:r>
              <a:rPr lang="en-US" dirty="0" smtClean="0"/>
              <a:t>Use some tags in MAC address packet to provide virtualization.</a:t>
            </a:r>
          </a:p>
          <a:p>
            <a:pPr lvl="2"/>
            <a:r>
              <a:rPr lang="en-US" dirty="0" smtClean="0"/>
              <a:t>Example, VLAN.</a:t>
            </a:r>
          </a:p>
          <a:p>
            <a:pPr lvl="1"/>
            <a:r>
              <a:rPr lang="en-US" dirty="0" smtClean="0"/>
              <a:t>Layer 3</a:t>
            </a:r>
          </a:p>
          <a:p>
            <a:pPr lvl="2"/>
            <a:r>
              <a:rPr lang="en-US" dirty="0" smtClean="0"/>
              <a:t>Use some tunnel techniques to form a virtual network.</a:t>
            </a:r>
          </a:p>
          <a:p>
            <a:pPr lvl="2"/>
            <a:r>
              <a:rPr lang="en-US" dirty="0" smtClean="0"/>
              <a:t>Example, VPN.</a:t>
            </a:r>
          </a:p>
          <a:p>
            <a:pPr lvl="1"/>
            <a:r>
              <a:rPr lang="en-US" dirty="0" smtClean="0"/>
              <a:t>Layer 4 or higher</a:t>
            </a:r>
          </a:p>
          <a:p>
            <a:pPr lvl="2"/>
            <a:r>
              <a:rPr lang="en-US" dirty="0" smtClean="0"/>
              <a:t>Build up some overlay network for some application.</a:t>
            </a:r>
          </a:p>
          <a:p>
            <a:pPr lvl="2"/>
            <a:r>
              <a:rPr lang="en-US" dirty="0" smtClean="0"/>
              <a:t>Example, P2P.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Internal network virtualization in different layers :</a:t>
            </a:r>
          </a:p>
          <a:p>
            <a:pPr lvl="1"/>
            <a:r>
              <a:rPr lang="en-US" dirty="0" smtClean="0"/>
              <a:t>Layer 1</a:t>
            </a:r>
          </a:p>
          <a:p>
            <a:pPr lvl="2"/>
            <a:r>
              <a:rPr lang="en-US" dirty="0" smtClean="0"/>
              <a:t>Hypervisor usually do not need to emulate the physical layer.</a:t>
            </a:r>
          </a:p>
          <a:p>
            <a:pPr lvl="1"/>
            <a:r>
              <a:rPr lang="en-US" dirty="0" smtClean="0"/>
              <a:t>Layer 2</a:t>
            </a:r>
          </a:p>
          <a:p>
            <a:pPr lvl="2"/>
            <a:r>
              <a:rPr lang="en-US" dirty="0" smtClean="0"/>
              <a:t>Implement virtual L2 network devices, such as switch, in hypervisor.</a:t>
            </a:r>
          </a:p>
          <a:p>
            <a:pPr lvl="2"/>
            <a:r>
              <a:rPr lang="en-US" dirty="0" smtClean="0"/>
              <a:t>Example, Linux TAP driver + Linux bridge.</a:t>
            </a:r>
          </a:p>
          <a:p>
            <a:pPr lvl="1"/>
            <a:r>
              <a:rPr lang="en-US" dirty="0" smtClean="0"/>
              <a:t>Layer 3</a:t>
            </a:r>
          </a:p>
          <a:p>
            <a:pPr lvl="2"/>
            <a:r>
              <a:rPr lang="en-US" dirty="0" smtClean="0"/>
              <a:t>Implement virtual L3 network devices, such as router, in hypervisor.</a:t>
            </a:r>
          </a:p>
          <a:p>
            <a:pPr lvl="2"/>
            <a:r>
              <a:rPr lang="en-US" dirty="0" smtClean="0"/>
              <a:t>Example, Linux TUN driver + Linux bridge  + </a:t>
            </a:r>
            <a:r>
              <a:rPr lang="en-US" dirty="0" err="1" smtClean="0"/>
              <a:t>iptables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Layer 4 or higher</a:t>
            </a:r>
          </a:p>
          <a:p>
            <a:pPr lvl="2"/>
            <a:r>
              <a:rPr lang="en-US" dirty="0" smtClean="0"/>
              <a:t>Layer 4 or higher layers virtualization is usually implemented in guest OS.</a:t>
            </a:r>
          </a:p>
          <a:p>
            <a:pPr lvl="2"/>
            <a:r>
              <a:rPr lang="en-US" dirty="0" smtClean="0"/>
              <a:t>Applications should make their own choice.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External network virtualization</a:t>
            </a:r>
          </a:p>
          <a:p>
            <a:r>
              <a:rPr lang="en-US" dirty="0" smtClean="0"/>
              <a:t>Internal network virtualization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4800600" cy="2620963"/>
          </a:xfrm>
        </p:spPr>
        <p:txBody>
          <a:bodyPr>
            <a:normAutofit/>
          </a:bodyPr>
          <a:lstStyle/>
          <a:p>
            <a:r>
              <a:rPr lang="en-US" dirty="0" smtClean="0"/>
              <a:t>Two virtualization components :</a:t>
            </a:r>
          </a:p>
          <a:p>
            <a:pPr lvl="1"/>
            <a:r>
              <a:rPr lang="en-US" dirty="0" smtClean="0"/>
              <a:t>Device virtualization</a:t>
            </a:r>
          </a:p>
          <a:p>
            <a:pPr lvl="2"/>
            <a:r>
              <a:rPr lang="en-US" dirty="0" err="1" smtClean="0"/>
              <a:t>Virtualize</a:t>
            </a:r>
            <a:r>
              <a:rPr lang="en-US" dirty="0" smtClean="0"/>
              <a:t> physical devices in the network</a:t>
            </a:r>
          </a:p>
          <a:p>
            <a:pPr lvl="1"/>
            <a:r>
              <a:rPr lang="en-US" dirty="0" smtClean="0"/>
              <a:t>Data path virtualization</a:t>
            </a:r>
          </a:p>
          <a:p>
            <a:pPr lvl="2"/>
            <a:r>
              <a:rPr lang="en-US" dirty="0" err="1" smtClean="0"/>
              <a:t>Virtualize</a:t>
            </a:r>
            <a:r>
              <a:rPr lang="en-US" dirty="0" smtClean="0"/>
              <a:t> communication path between network access points</a:t>
            </a:r>
          </a:p>
        </p:txBody>
      </p:sp>
      <p:pic>
        <p:nvPicPr>
          <p:cNvPr id="4" name="Picture 3" descr="Network_1.png"/>
          <p:cNvPicPr>
            <a:picLocks noChangeAspect="1"/>
          </p:cNvPicPr>
          <p:nvPr/>
        </p:nvPicPr>
        <p:blipFill>
          <a:blip r:embed="rId2" cstate="print"/>
          <a:srcRect r="17084"/>
          <a:stretch>
            <a:fillRect/>
          </a:stretch>
        </p:blipFill>
        <p:spPr>
          <a:xfrm>
            <a:off x="4913233" y="1472936"/>
            <a:ext cx="3621167" cy="5232664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21922" y="3897868"/>
            <a:ext cx="827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Router</a:t>
            </a:r>
            <a:endParaRPr lang="en-US" b="1" i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37112" y="6172200"/>
            <a:ext cx="81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Switch</a:t>
            </a:r>
            <a:endParaRPr lang="en-US" b="1" i="1" dirty="0">
              <a:solidFill>
                <a:srgbClr val="C00000"/>
              </a:solidFill>
            </a:endParaRPr>
          </a:p>
        </p:txBody>
      </p:sp>
      <p:cxnSp>
        <p:nvCxnSpPr>
          <p:cNvPr id="11" name="Straight Arrow Connector 10"/>
          <p:cNvCxnSpPr>
            <a:stCxn id="8" idx="1"/>
          </p:cNvCxnSpPr>
          <p:nvPr/>
        </p:nvCxnSpPr>
        <p:spPr>
          <a:xfrm rot="10800000">
            <a:off x="7239000" y="3821668"/>
            <a:ext cx="982922" cy="2608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1"/>
          </p:cNvCxnSpPr>
          <p:nvPr/>
        </p:nvCxnSpPr>
        <p:spPr>
          <a:xfrm rot="10800000" flipV="1">
            <a:off x="7239000" y="4082534"/>
            <a:ext cx="982922" cy="4894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3"/>
          </p:cNvCxnSpPr>
          <p:nvPr/>
        </p:nvCxnSpPr>
        <p:spPr>
          <a:xfrm flipV="1">
            <a:off x="4248745" y="6324600"/>
            <a:ext cx="856655" cy="3226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410200" y="2133600"/>
            <a:ext cx="762000" cy="30480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5829300" y="2781300"/>
            <a:ext cx="685800" cy="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6172200" y="3048000"/>
            <a:ext cx="990600" cy="38100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6362700" y="4152900"/>
            <a:ext cx="1447800" cy="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10800000" flipV="1">
            <a:off x="6114534" y="4839732"/>
            <a:ext cx="990600" cy="38100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5676900" y="5676900"/>
            <a:ext cx="990600" cy="0"/>
          </a:xfrm>
          <a:prstGeom prst="line">
            <a:avLst/>
          </a:prstGeom>
          <a:ln w="127000">
            <a:solidFill>
              <a:srgbClr val="FFC00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95224" y="3352800"/>
            <a:ext cx="1148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</a:rPr>
              <a:t>Data Path</a:t>
            </a:r>
            <a:endParaRPr lang="en-US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3" name="Straight Arrow Connector 42"/>
          <p:cNvCxnSpPr>
            <a:stCxn id="42" idx="1"/>
          </p:cNvCxnSpPr>
          <p:nvPr/>
        </p:nvCxnSpPr>
        <p:spPr>
          <a:xfrm rot="10800000" flipV="1">
            <a:off x="7086600" y="3537466"/>
            <a:ext cx="908624" cy="4393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/>
              <a:t>Device virtualization</a:t>
            </a:r>
          </a:p>
          <a:p>
            <a:pPr lvl="1"/>
            <a:r>
              <a:rPr lang="en-US" dirty="0" smtClean="0"/>
              <a:t>Layer 2 solution</a:t>
            </a:r>
          </a:p>
          <a:p>
            <a:pPr lvl="2"/>
            <a:r>
              <a:rPr lang="en-US" dirty="0" smtClean="0"/>
              <a:t>Divide physical switch into multiple logical switches.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114800" y="1600201"/>
            <a:ext cx="4724400" cy="228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  <a:latin typeface="Cambria" pitchFamily="18" charset="0"/>
              </a:rPr>
              <a:t>Layer 3 solution 3</a:t>
            </a:r>
          </a:p>
          <a:p>
            <a:pPr marL="1143000" lvl="2" indent="-228600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VRF technique</a:t>
            </a:r>
            <a:b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( Virtual Routing and Forwarding )</a:t>
            </a:r>
          </a:p>
          <a:p>
            <a:pPr marL="1143000" lvl="2" indent="-228600">
              <a:spcBef>
                <a:spcPct val="20000"/>
              </a:spcBef>
              <a:buClr>
                <a:schemeClr val="accent4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Emulate isolated routing tables within one physical router</a:t>
            </a:r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5" name="Picture 4" descr="vlan.png"/>
          <p:cNvPicPr>
            <a:picLocks noChangeAspect="1"/>
          </p:cNvPicPr>
          <p:nvPr/>
        </p:nvPicPr>
        <p:blipFill>
          <a:blip r:embed="rId2" cstate="print"/>
          <a:srcRect b="6486"/>
          <a:stretch>
            <a:fillRect/>
          </a:stretch>
        </p:blipFill>
        <p:spPr>
          <a:xfrm>
            <a:off x="971100" y="3352800"/>
            <a:ext cx="3219900" cy="329614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199" y="3962400"/>
            <a:ext cx="416820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1646237"/>
            <a:ext cx="4267200" cy="4525963"/>
          </a:xfrm>
        </p:spPr>
        <p:txBody>
          <a:bodyPr/>
          <a:lstStyle/>
          <a:p>
            <a:r>
              <a:rPr lang="en-US" dirty="0" smtClean="0"/>
              <a:t>Data path virtualization</a:t>
            </a:r>
          </a:p>
          <a:p>
            <a:pPr lvl="1"/>
            <a:r>
              <a:rPr lang="en-US" dirty="0" smtClean="0"/>
              <a:t>Hop-to-hop case</a:t>
            </a:r>
          </a:p>
          <a:p>
            <a:pPr lvl="2"/>
            <a:r>
              <a:rPr lang="en-US" dirty="0" smtClean="0"/>
              <a:t>Consider the virtualization applied on a single hop data-path.</a:t>
            </a:r>
            <a:br>
              <a:rPr lang="en-US" dirty="0" smtClean="0"/>
            </a:br>
            <a:endParaRPr lang="en-US" dirty="0" smtClean="0"/>
          </a:p>
          <a:p>
            <a:pPr lvl="1">
              <a:defRPr/>
            </a:pPr>
            <a:r>
              <a:rPr lang="en-US" dirty="0" smtClean="0"/>
              <a:t>Hop-to-cloud case</a:t>
            </a:r>
          </a:p>
          <a:p>
            <a:pPr lvl="2"/>
            <a:r>
              <a:rPr lang="en-US" dirty="0" smtClean="0"/>
              <a:t>Consider the virtualization tunnels allow multi-hop data-path.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3" name="群組 18"/>
          <p:cNvGrpSpPr/>
          <p:nvPr/>
        </p:nvGrpSpPr>
        <p:grpSpPr>
          <a:xfrm>
            <a:off x="4191000" y="2486025"/>
            <a:ext cx="4495800" cy="1095375"/>
            <a:chOff x="4191000" y="2514600"/>
            <a:chExt cx="4495800" cy="1095375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91000" y="2514600"/>
              <a:ext cx="1905000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81800" y="2514600"/>
              <a:ext cx="1905000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圓柱 12"/>
            <p:cNvSpPr/>
            <p:nvPr/>
          </p:nvSpPr>
          <p:spPr>
            <a:xfrm rot="5400000">
              <a:off x="6286500" y="2552700"/>
              <a:ext cx="228600" cy="1066800"/>
            </a:xfrm>
            <a:prstGeom prst="can">
              <a:avLst>
                <a:gd name="adj" fmla="val 937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2819400"/>
            <a:ext cx="1219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群組 27"/>
          <p:cNvGrpSpPr/>
          <p:nvPr/>
        </p:nvGrpSpPr>
        <p:grpSpPr>
          <a:xfrm>
            <a:off x="3810000" y="4676775"/>
            <a:ext cx="5334000" cy="1571625"/>
            <a:chOff x="3810000" y="4676775"/>
            <a:chExt cx="5334000" cy="1571625"/>
          </a:xfrm>
        </p:grpSpPr>
        <p:pic>
          <p:nvPicPr>
            <p:cNvPr id="3084" name="Picture 1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86400" y="4905375"/>
              <a:ext cx="2133600" cy="1200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477125" y="4800600"/>
              <a:ext cx="1666875" cy="140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810000" y="4676775"/>
              <a:ext cx="1581150" cy="1571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6" name="Picture 5" descr="http://www.cisco.com/en/US/i/200001-300000/220001-230000/221001-222000/221174.jpg"/>
          <p:cNvPicPr>
            <a:picLocks noChangeAspect="1" noChangeArrowheads="1"/>
          </p:cNvPicPr>
          <p:nvPr/>
        </p:nvPicPr>
        <p:blipFill>
          <a:blip r:embed="rId7" cstate="print"/>
          <a:srcRect t="40324" b="51862"/>
          <a:stretch>
            <a:fillRect/>
          </a:stretch>
        </p:blipFill>
        <p:spPr bwMode="auto">
          <a:xfrm>
            <a:off x="4267200" y="3529445"/>
            <a:ext cx="4752975" cy="280555"/>
          </a:xfrm>
          <a:prstGeom prst="rect">
            <a:avLst/>
          </a:prstGeom>
          <a:noFill/>
        </p:spPr>
      </p:pic>
      <p:pic>
        <p:nvPicPr>
          <p:cNvPr id="17" name="Picture 7" descr="http://www.cisco.com/en/US/i/200001-300000/220001-230000/221001-222000/221174.jpg"/>
          <p:cNvPicPr>
            <a:picLocks noChangeAspect="1" noChangeArrowheads="1"/>
          </p:cNvPicPr>
          <p:nvPr/>
        </p:nvPicPr>
        <p:blipFill>
          <a:blip r:embed="rId7" cstate="print"/>
          <a:srcRect t="94775" r="16568"/>
          <a:stretch>
            <a:fillRect/>
          </a:stretch>
        </p:blipFill>
        <p:spPr bwMode="auto">
          <a:xfrm>
            <a:off x="4648200" y="6172200"/>
            <a:ext cx="3671455" cy="173702"/>
          </a:xfrm>
          <a:prstGeom prst="rect">
            <a:avLst/>
          </a:prstGeom>
          <a:noFill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34000" y="4572000"/>
            <a:ext cx="21336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5963"/>
          </a:xfrm>
        </p:spPr>
        <p:txBody>
          <a:bodyPr/>
          <a:lstStyle/>
          <a:p>
            <a:r>
              <a:rPr lang="en-US" dirty="0" smtClean="0"/>
              <a:t>Protocol approach</a:t>
            </a:r>
          </a:p>
          <a:p>
            <a:pPr lvl="1"/>
            <a:r>
              <a:rPr lang="en-US" dirty="0" smtClean="0"/>
              <a:t>Protocols usually used to approach data-path virtualization.</a:t>
            </a:r>
          </a:p>
          <a:p>
            <a:pPr lvl="1"/>
            <a:r>
              <a:rPr lang="en-US" dirty="0" smtClean="0"/>
              <a:t>Three implementations</a:t>
            </a:r>
          </a:p>
          <a:p>
            <a:pPr lvl="2"/>
            <a:r>
              <a:rPr lang="en-US" b="1" dirty="0" smtClean="0"/>
              <a:t>802.1Q</a:t>
            </a:r>
            <a:r>
              <a:rPr lang="en-US" dirty="0" smtClean="0"/>
              <a:t> – implement hop to hop data-path virtualization</a:t>
            </a:r>
          </a:p>
          <a:p>
            <a:pPr lvl="2"/>
            <a:r>
              <a:rPr lang="en-US" b="1" dirty="0" smtClean="0"/>
              <a:t>MPLS ( Multiprotocol Label Switch ) </a:t>
            </a:r>
            <a:r>
              <a:rPr lang="en-US" dirty="0" smtClean="0"/>
              <a:t>– implement router and switch layer virtualization</a:t>
            </a:r>
          </a:p>
          <a:p>
            <a:pPr lvl="2"/>
            <a:r>
              <a:rPr lang="en-US" b="1" dirty="0" smtClean="0"/>
              <a:t>GRE (Generic Routing Encapsulation ) </a:t>
            </a:r>
            <a:r>
              <a:rPr lang="en-US" dirty="0" smtClean="0"/>
              <a:t>– implement virtualization among wide variety of networks with tunneling technique.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343400" cy="4525963"/>
          </a:xfrm>
        </p:spPr>
        <p:txBody>
          <a:bodyPr/>
          <a:lstStyle/>
          <a:p>
            <a:r>
              <a:rPr lang="en-US" dirty="0" smtClean="0"/>
              <a:t>802.1Q</a:t>
            </a:r>
          </a:p>
          <a:p>
            <a:pPr lvl="1"/>
            <a:r>
              <a:rPr lang="en-US" dirty="0" smtClean="0"/>
              <a:t>Standard by IEEE 802.1</a:t>
            </a:r>
          </a:p>
          <a:p>
            <a:pPr lvl="1"/>
            <a:r>
              <a:rPr lang="en-US" dirty="0" smtClean="0"/>
              <a:t>Not encapsulate the original frame</a:t>
            </a:r>
          </a:p>
          <a:p>
            <a:pPr lvl="1"/>
            <a:r>
              <a:rPr lang="en-US" dirty="0" smtClean="0"/>
              <a:t>Add a 32-bit field between </a:t>
            </a:r>
            <a:r>
              <a:rPr lang="en-US" i="1" dirty="0" smtClean="0"/>
              <a:t>MAC address </a:t>
            </a:r>
            <a:r>
              <a:rPr lang="en-US" dirty="0" smtClean="0"/>
              <a:t>and</a:t>
            </a:r>
            <a:br>
              <a:rPr lang="en-US" dirty="0" smtClean="0"/>
            </a:br>
            <a:r>
              <a:rPr lang="en-US" i="1" dirty="0" err="1" smtClean="0"/>
              <a:t>EtherTypes</a:t>
            </a:r>
            <a:r>
              <a:rPr lang="en-US" i="1" dirty="0" smtClean="0"/>
              <a:t> </a:t>
            </a:r>
            <a:r>
              <a:rPr lang="en-US" dirty="0" smtClean="0"/>
              <a:t>field</a:t>
            </a:r>
          </a:p>
          <a:p>
            <a:pPr lvl="2"/>
            <a:r>
              <a:rPr lang="en-US" altLang="zh-TW" dirty="0" smtClean="0"/>
              <a:t>ETYPE(2B): Protocol identifier</a:t>
            </a:r>
          </a:p>
          <a:p>
            <a:pPr lvl="2"/>
            <a:r>
              <a:rPr lang="en-US" altLang="zh-TW" dirty="0" smtClean="0"/>
              <a:t>Dot1Q Tag(2B): VLAN number, Priority code</a:t>
            </a:r>
          </a:p>
          <a:p>
            <a:pPr lvl="1"/>
            <a:endParaRPr lang="en-US" dirty="0" smtClean="0"/>
          </a:p>
          <a:p>
            <a:pPr lvl="2"/>
            <a:endParaRPr lang="en-US" dirty="0" smtClean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4282" y="2057400"/>
            <a:ext cx="897318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8682" y="2133600"/>
            <a:ext cx="22574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74882" y="5410200"/>
            <a:ext cx="22574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17682" y="2819400"/>
            <a:ext cx="32194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17682" y="4762500"/>
            <a:ext cx="32194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79482" y="3429000"/>
            <a:ext cx="41243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文字方塊 16"/>
          <p:cNvSpPr txBox="1"/>
          <p:nvPr/>
        </p:nvSpPr>
        <p:spPr>
          <a:xfrm>
            <a:off x="7010400" y="5877580"/>
            <a:ext cx="2058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400" dirty="0" smtClean="0"/>
              <a:t>CE: Customer Edge router</a:t>
            </a:r>
          </a:p>
          <a:p>
            <a:pPr algn="r"/>
            <a:r>
              <a:rPr lang="en-US" altLang="zh-TW" sz="1400" dirty="0" smtClean="0"/>
              <a:t>PE: Provider Edge router</a:t>
            </a:r>
            <a:endParaRPr lang="zh-TW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-3.33333E-6 0.111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1.66667E-6 0.08889 " pathEditMode="relative" ptsTypes="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4.16667E-6 0.11111 " pathEditMode="relative" ptsTypes="AA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.11111 L 8.33333E-7 0.2 " pathEditMode="relative" ptsTypes="AA"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22222E-6 L -0.00104 0.102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51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Network Virtualization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657600"/>
            <a:ext cx="7239000" cy="1356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字方塊 20"/>
          <p:cNvSpPr txBox="1"/>
          <p:nvPr/>
        </p:nvSpPr>
        <p:spPr>
          <a:xfrm>
            <a:off x="7391400" y="3962400"/>
            <a:ext cx="1787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Physical Network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838200" y="1905000"/>
            <a:ext cx="7464535" cy="1562100"/>
            <a:chOff x="790575" y="1905000"/>
            <a:chExt cx="7464535" cy="1562100"/>
          </a:xfrm>
        </p:grpSpPr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90575" y="1905000"/>
              <a:ext cx="6677025" cy="156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文字方塊 19"/>
            <p:cNvSpPr txBox="1"/>
            <p:nvPr/>
          </p:nvSpPr>
          <p:spPr>
            <a:xfrm>
              <a:off x="7620000" y="2133600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VN 1</a:t>
              </a:r>
              <a:endParaRPr lang="zh-TW" altLang="en-US" dirty="0"/>
            </a:p>
          </p:txBody>
        </p:sp>
      </p:grpSp>
      <p:grpSp>
        <p:nvGrpSpPr>
          <p:cNvPr id="5" name="群組 24"/>
          <p:cNvGrpSpPr/>
          <p:nvPr/>
        </p:nvGrpSpPr>
        <p:grpSpPr>
          <a:xfrm>
            <a:off x="812690" y="5105400"/>
            <a:ext cx="7340710" cy="1504950"/>
            <a:chOff x="914400" y="5105400"/>
            <a:chExt cx="7340710" cy="1504950"/>
          </a:xfrm>
        </p:grpSpPr>
        <p:pic>
          <p:nvPicPr>
            <p:cNvPr id="3082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14400" y="5105400"/>
              <a:ext cx="6867525" cy="1504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文字方塊 21"/>
            <p:cNvSpPr txBox="1"/>
            <p:nvPr/>
          </p:nvSpPr>
          <p:spPr>
            <a:xfrm>
              <a:off x="7620000" y="5257800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VN 2</a:t>
              </a:r>
              <a:endParaRPr lang="zh-TW" altLang="en-US" dirty="0"/>
            </a:p>
          </p:txBody>
        </p:sp>
      </p:grpSp>
      <p:sp>
        <p:nvSpPr>
          <p:cNvPr id="37" name="文字方塊 36"/>
          <p:cNvSpPr txBox="1"/>
          <p:nvPr/>
        </p:nvSpPr>
        <p:spPr>
          <a:xfrm>
            <a:off x="0" y="3352800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Source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3765713" y="3352800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destination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3810000" y="6488668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destination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3000" y="2209800"/>
            <a:ext cx="8572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200" y="5410200"/>
            <a:ext cx="8572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38400" y="1952625"/>
            <a:ext cx="9906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38400" y="1952625"/>
            <a:ext cx="9906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2209800"/>
            <a:ext cx="7048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5410200"/>
            <a:ext cx="7048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2514600"/>
            <a:ext cx="69749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文字方塊 27"/>
          <p:cNvSpPr txBox="1"/>
          <p:nvPr/>
        </p:nvSpPr>
        <p:spPr>
          <a:xfrm>
            <a:off x="0" y="6488668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Source</a:t>
            </a:r>
            <a:endParaRPr lang="zh-TW" altLang="en-US" dirty="0"/>
          </a:p>
        </p:txBody>
      </p:sp>
      <p:pic>
        <p:nvPicPr>
          <p:cNvPr id="29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5715000"/>
            <a:ext cx="69749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26708" y="3124200"/>
            <a:ext cx="69749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0" y="2590800"/>
            <a:ext cx="8572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14800" y="3200400"/>
            <a:ext cx="7048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62200" y="5181600"/>
            <a:ext cx="9906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62200" y="6096000"/>
            <a:ext cx="69749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62200" y="5181600"/>
            <a:ext cx="9906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53000" y="5715000"/>
            <a:ext cx="8572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38600" y="6400800"/>
            <a:ext cx="70485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9" cstate="print"/>
          <a:srcRect t="8238" r="2307" b="11920"/>
          <a:stretch>
            <a:fillRect/>
          </a:stretch>
        </p:blipFill>
        <p:spPr bwMode="auto">
          <a:xfrm>
            <a:off x="5177466" y="2598344"/>
            <a:ext cx="955696" cy="221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609600"/>
          </a:xfrm>
        </p:spPr>
        <p:txBody>
          <a:bodyPr>
            <a:normAutofit/>
          </a:bodyPr>
          <a:lstStyle/>
          <a:p>
            <a:r>
              <a:rPr lang="en-US" dirty="0" smtClean="0"/>
              <a:t>Example of 802.1Q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6232E-6 L 0.13334 2.26232E-6 " pathEditMode="relative" ptsTypes="AA">
                                      <p:cBhvr>
                                        <p:cTn id="6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-4.33727E-6 L 0.15834 -0.03331 " pathEditMode="relative" ptsTypes="AA">
                                      <p:cBhvr>
                                        <p:cTn id="1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6.41221E-6 L 0.26667 0.08882 " pathEditMode="relative" ptsTypes="AA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737E-7 L 0.15 -0.01111 " pathEditMode="relative" ptsTypes="AA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38 L -0.11459 0.08397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41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41499E-6 L -0.2 -2.41499E-6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14296E-6 L -0.15729 0.00972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6232E-6 L 0.13334 2.26232E-6 " pathEditMode="relative" ptsTypes="AA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2.26232E-6 L 0.125 -0.03331 " pathEditMode="relative" ptsTypes="AA">
                                      <p:cBhvr>
                                        <p:cTn id="81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-0.00139 L 0.25521 0.0687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" y="35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8737E-7 L 0.075 0.05551 " pathEditMode="relative" ptsTypes="AA">
                                      <p:cBhvr>
                                        <p:cTn id="9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38 L -0.11459 0.08397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" y="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14296E-6 L -0.15729 0.00972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" y="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MPLS ( Multiprotocol Label Switch )</a:t>
            </a:r>
          </a:p>
          <a:p>
            <a:pPr lvl="1"/>
            <a:r>
              <a:rPr lang="en-US" dirty="0" smtClean="0"/>
              <a:t>Also classified as layer 2.5 virtualization</a:t>
            </a:r>
          </a:p>
          <a:p>
            <a:pPr lvl="1"/>
            <a:r>
              <a:rPr lang="en-US" dirty="0" smtClean="0"/>
              <a:t>Add one or more labels into package</a:t>
            </a:r>
          </a:p>
          <a:p>
            <a:pPr lvl="1"/>
            <a:r>
              <a:rPr lang="en-US" dirty="0" smtClean="0"/>
              <a:t>Need Label Switch Router(LSR) to read MPLS header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495675"/>
            <a:ext cx="6134100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Network Virtualization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657600"/>
            <a:ext cx="7239000" cy="1356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字方塊 20"/>
          <p:cNvSpPr txBox="1"/>
          <p:nvPr/>
        </p:nvSpPr>
        <p:spPr>
          <a:xfrm>
            <a:off x="7391400" y="3962400"/>
            <a:ext cx="1787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Physical Network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838200" y="1905000"/>
            <a:ext cx="7464535" cy="1562100"/>
            <a:chOff x="790575" y="1905000"/>
            <a:chExt cx="7464535" cy="1562100"/>
          </a:xfrm>
        </p:grpSpPr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90575" y="1905000"/>
              <a:ext cx="6677025" cy="1562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文字方塊 19"/>
            <p:cNvSpPr txBox="1"/>
            <p:nvPr/>
          </p:nvSpPr>
          <p:spPr>
            <a:xfrm>
              <a:off x="7620000" y="2133600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VN 1</a:t>
              </a:r>
              <a:endParaRPr lang="zh-TW" altLang="en-US" dirty="0"/>
            </a:p>
          </p:txBody>
        </p:sp>
      </p:grpSp>
      <p:grpSp>
        <p:nvGrpSpPr>
          <p:cNvPr id="5" name="群組 24"/>
          <p:cNvGrpSpPr/>
          <p:nvPr/>
        </p:nvGrpSpPr>
        <p:grpSpPr>
          <a:xfrm>
            <a:off x="812690" y="5105400"/>
            <a:ext cx="7340710" cy="1504950"/>
            <a:chOff x="914400" y="5105400"/>
            <a:chExt cx="7340710" cy="1504950"/>
          </a:xfrm>
        </p:grpSpPr>
        <p:pic>
          <p:nvPicPr>
            <p:cNvPr id="3082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14400" y="5105400"/>
              <a:ext cx="6867525" cy="1504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文字方塊 21"/>
            <p:cNvSpPr txBox="1"/>
            <p:nvPr/>
          </p:nvSpPr>
          <p:spPr>
            <a:xfrm>
              <a:off x="7620000" y="5257800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VN 2</a:t>
              </a:r>
              <a:endParaRPr lang="zh-TW" altLang="en-US" dirty="0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47775" y="2209800"/>
            <a:ext cx="7334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文字方塊 16"/>
          <p:cNvSpPr txBox="1"/>
          <p:nvPr/>
        </p:nvSpPr>
        <p:spPr>
          <a:xfrm>
            <a:off x="3203514" y="2209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127314" y="541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4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572000" y="1981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3810000" y="2602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6513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8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5565714" y="2667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019800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62200" y="1905000"/>
            <a:ext cx="990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86200" y="1752600"/>
            <a:ext cx="9906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2600" y="1981200"/>
            <a:ext cx="7334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47775" y="5410200"/>
            <a:ext cx="7334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62200" y="5181600"/>
            <a:ext cx="9620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76800" y="5638800"/>
            <a:ext cx="9620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文字方塊 39"/>
          <p:cNvSpPr txBox="1"/>
          <p:nvPr/>
        </p:nvSpPr>
        <p:spPr>
          <a:xfrm>
            <a:off x="1408492" y="4355068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CE</a:t>
            </a:r>
            <a:endParaRPr lang="zh-TW" altLang="en-US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2667000" y="4114800"/>
            <a:ext cx="51969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LER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3366506" y="4419600"/>
            <a:ext cx="51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LSR</a:t>
            </a:r>
            <a:endParaRPr lang="zh-TW" altLang="en-US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5119106" y="4495800"/>
            <a:ext cx="51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LER</a:t>
            </a:r>
            <a:endParaRPr lang="zh-TW" altLang="en-US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5728706" y="4114800"/>
            <a:ext cx="51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LER</a:t>
            </a:r>
            <a:endParaRPr lang="zh-TW" altLang="en-US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4204706" y="4888468"/>
            <a:ext cx="51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CE</a:t>
            </a:r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6858000" y="4431268"/>
            <a:ext cx="51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CE</a:t>
            </a:r>
            <a:endParaRPr lang="zh-TW" altLang="en-US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4114800" y="3962400"/>
            <a:ext cx="51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LSR</a:t>
            </a:r>
            <a:endParaRPr lang="zh-TW" altLang="en-US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5486400" y="5955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9</a:t>
            </a:r>
            <a:endParaRPr lang="zh-TW" altLang="en-US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6019800" y="5410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4572000" y="5193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3810000" y="5791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7</a:t>
            </a:r>
            <a:endParaRPr lang="zh-TW" altLang="en-US" dirty="0"/>
          </a:p>
        </p:txBody>
      </p:sp>
      <p:sp>
        <p:nvSpPr>
          <p:cNvPr id="38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609600"/>
          </a:xfrm>
        </p:spPr>
        <p:txBody>
          <a:bodyPr>
            <a:normAutofit/>
          </a:bodyPr>
          <a:lstStyle/>
          <a:p>
            <a:r>
              <a:rPr lang="en-US" dirty="0" smtClean="0"/>
              <a:t>Example of MPLS</a:t>
            </a:r>
          </a:p>
        </p:txBody>
      </p:sp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38800" y="5257800"/>
            <a:ext cx="7334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737E-7 L 0.125 1.8737E-7 " pathEditMode="relative" ptsTypes="AA">
                                      <p:cBhvr>
                                        <p:cTn id="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5.8501E-6 L 0.16667 -0.02221 " pathEditMode="relative" ptsTypes="AA">
                                      <p:cBhvr>
                                        <p:cTn id="18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1.8737E-7 L 0.16666 0.03331 " pathEditMode="relative" ptsTypes="AA">
                                      <p:cBhvr>
                                        <p:cTn id="3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737E-7 L 0.125 0.04441 " pathEditMode="relative" ptsTypes="AA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737E-7 L 0.14167 1.8737E-7 " pathEditMode="relative" ptsTypes="AA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8737E-7 L 0.26666 0.06662 " pathEditMode="relative" ptsTypes="AA">
                                      <p:cBhvr>
                                        <p:cTn id="5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5.66273E-6 L 0.05 -0.04441 " pathEditMode="relative" ptsTypes="AA">
                                      <p:cBhvr>
                                        <p:cTn id="70" dur="10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737E-7 L 0.125 0.04441 " pathEditMode="relative" ptsTypes="AA">
                                      <p:cBhvr>
                                        <p:cTn id="8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GRE ( Generic Routing Encapsulation )</a:t>
            </a:r>
          </a:p>
          <a:p>
            <a:pPr lvl="1"/>
            <a:r>
              <a:rPr lang="en-US" dirty="0" smtClean="0"/>
              <a:t>GRE is a tunnel protocol developed by CISCO</a:t>
            </a:r>
          </a:p>
          <a:p>
            <a:pPr lvl="1"/>
            <a:r>
              <a:rPr lang="en-US" dirty="0" smtClean="0"/>
              <a:t>Encapsulate a wide variety of network layer protocol</a:t>
            </a:r>
          </a:p>
          <a:p>
            <a:pPr lvl="1"/>
            <a:r>
              <a:rPr lang="en-US" dirty="0" smtClean="0"/>
              <a:t>Stateless property</a:t>
            </a:r>
          </a:p>
          <a:p>
            <a:pPr lvl="2"/>
            <a:r>
              <a:rPr lang="en-US" dirty="0" smtClean="0"/>
              <a:t>This means end-point doesn't keep information about the state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7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5181600"/>
            <a:ext cx="686752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5410200"/>
            <a:ext cx="13049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5410200"/>
            <a:ext cx="809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09800" y="4800600"/>
            <a:ext cx="283586" cy="516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群組 22"/>
          <p:cNvGrpSpPr/>
          <p:nvPr/>
        </p:nvGrpSpPr>
        <p:grpSpPr>
          <a:xfrm>
            <a:off x="1295400" y="4800600"/>
            <a:ext cx="1304925" cy="1009650"/>
            <a:chOff x="1676400" y="4495800"/>
            <a:chExt cx="1304925" cy="1009650"/>
          </a:xfrm>
        </p:grpSpPr>
        <p:pic>
          <p:nvPicPr>
            <p:cNvPr id="2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6400" y="5105400"/>
              <a:ext cx="1304925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590800" y="4495800"/>
              <a:ext cx="283586" cy="516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4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5600" y="5486400"/>
            <a:ext cx="13239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20000" y="4800600"/>
            <a:ext cx="31432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迴轉箭號 27"/>
          <p:cNvSpPr/>
          <p:nvPr/>
        </p:nvSpPr>
        <p:spPr>
          <a:xfrm>
            <a:off x="1752600" y="4191000"/>
            <a:ext cx="5867400" cy="762000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 Built  Tunnel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53400" y="5562600"/>
            <a:ext cx="809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8.29979E-6 L 0.13333 -8.29979E-6 " pathEditMode="relative" ptsTypes="AA">
                                      <p:cBhvr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03493E-6 C 0.04774 -0.01619 0.09549 -0.03238 0.14636 -0.04395 C 0.19722 -0.05551 0.25 -0.06801 0.30521 -0.07009 C 0.36042 -0.07217 0.42934 -0.06986 0.47726 -0.05621 C 0.52518 -0.04256 0.57188 0.00625 0.59271 0.01249 " pathEditMode="relative" ptsTypes="aaaaA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96253E-6 L 0.15 -3.96253E-6 " pathEditMode="relative" ptsTypes="AA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External network virtualization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Internal network virtualization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Internal network virtualization</a:t>
            </a:r>
          </a:p>
          <a:p>
            <a:pPr lvl="1"/>
            <a:r>
              <a:rPr lang="en-US" dirty="0" smtClean="0"/>
              <a:t>A single system is configured with containers, such as the </a:t>
            </a:r>
            <a:r>
              <a:rPr lang="en-US" dirty="0" err="1" smtClean="0"/>
              <a:t>Xen</a:t>
            </a:r>
            <a:r>
              <a:rPr lang="en-US" dirty="0" smtClean="0"/>
              <a:t> domain, combined with hypervisor control programs or pseudo-interfaces such as the VNIC, to create a “network in a box”.</a:t>
            </a:r>
          </a:p>
          <a:p>
            <a:pPr lvl="1"/>
            <a:r>
              <a:rPr lang="en-US" dirty="0" smtClean="0"/>
              <a:t>This solution improves overall efficiency of a single system by isolating applications to separate containers and/or pseudo interfaces.</a:t>
            </a:r>
          </a:p>
          <a:p>
            <a:pPr lvl="1"/>
            <a:r>
              <a:rPr lang="en-US" dirty="0" smtClean="0"/>
              <a:t>Virtual machine and virtual switch :</a:t>
            </a:r>
          </a:p>
          <a:p>
            <a:pPr lvl="2"/>
            <a:r>
              <a:rPr lang="en-US" dirty="0" smtClean="0"/>
              <a:t>The VMs are connected logically to each other so that they can send data to and receive data from each other.</a:t>
            </a:r>
          </a:p>
          <a:p>
            <a:pPr lvl="2"/>
            <a:r>
              <a:rPr lang="en-US" dirty="0" smtClean="0"/>
              <a:t>Each virtual network is serviced by a single virtual switch.</a:t>
            </a:r>
          </a:p>
          <a:p>
            <a:pPr lvl="2"/>
            <a:r>
              <a:rPr lang="en-US" dirty="0" smtClean="0"/>
              <a:t>A virtual network can be connected to a physical network by associating one or more network adapters (uplink adapters) with the virtual switch.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038475"/>
            <a:ext cx="345757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Properties of virtual switch</a:t>
            </a:r>
          </a:p>
          <a:p>
            <a:pPr lvl="1"/>
            <a:r>
              <a:rPr lang="en-US" dirty="0" smtClean="0"/>
              <a:t>A virtual switch works much like a physical Ethernet switch.</a:t>
            </a:r>
          </a:p>
          <a:p>
            <a:pPr lvl="1"/>
            <a:r>
              <a:rPr lang="en-US" dirty="0" smtClean="0"/>
              <a:t>It detects which VMs are logically connected to each of its virtual ports and uses that information to forward traffic to the correct virtual machines.</a:t>
            </a:r>
          </a:p>
          <a:p>
            <a:r>
              <a:rPr lang="en-US" dirty="0" smtClean="0"/>
              <a:t>Typical virtual network configuration</a:t>
            </a:r>
          </a:p>
          <a:p>
            <a:pPr lvl="1"/>
            <a:r>
              <a:rPr lang="en-US" dirty="0" smtClean="0"/>
              <a:t>Communication network</a:t>
            </a:r>
          </a:p>
          <a:p>
            <a:pPr lvl="2"/>
            <a:r>
              <a:rPr lang="en-US" dirty="0" smtClean="0"/>
              <a:t>Connect VMs on different hosts</a:t>
            </a:r>
          </a:p>
          <a:p>
            <a:pPr lvl="1"/>
            <a:r>
              <a:rPr lang="en-US" dirty="0" smtClean="0"/>
              <a:t>Storage network</a:t>
            </a:r>
          </a:p>
          <a:p>
            <a:pPr lvl="2"/>
            <a:r>
              <a:rPr lang="en-US" dirty="0" smtClean="0"/>
              <a:t>Connect VMs to remote storage system</a:t>
            </a:r>
          </a:p>
          <a:p>
            <a:pPr lvl="1"/>
            <a:r>
              <a:rPr lang="en-US" dirty="0" smtClean="0"/>
              <a:t>Management network</a:t>
            </a:r>
          </a:p>
          <a:p>
            <a:pPr lvl="2"/>
            <a:r>
              <a:rPr lang="en-US" dirty="0" smtClean="0"/>
              <a:t>Individual links for system administration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Network Virtualization</a:t>
            </a:r>
            <a:endParaRPr 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057400"/>
            <a:ext cx="7010400" cy="462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524000" y="1447800"/>
            <a:ext cx="6053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Network virtualization example form VMware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KVM system</a:t>
            </a:r>
          </a:p>
          <a:p>
            <a:pPr lvl="1"/>
            <a:r>
              <a:rPr lang="en-US" dirty="0" smtClean="0"/>
              <a:t>KVM focus on CPU and memory virtualization, so IO virtualization framework is completed by QEMU project.</a:t>
            </a:r>
          </a:p>
          <a:p>
            <a:pPr lvl="1"/>
            <a:r>
              <a:rPr lang="en-US" dirty="0" smtClean="0"/>
              <a:t>In QEMU, network interface of virtual machines connect to host by TUN/TAP driver and Linux bridge.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Work with TUN/TAP and Linux Bridge :</a:t>
            </a:r>
          </a:p>
          <a:p>
            <a:pPr lvl="2"/>
            <a:r>
              <a:rPr lang="en-US" dirty="0" smtClean="0"/>
              <a:t>Virtual machines connect to host by a virtual network adapter, which is implemented by TUN/TAP driver.</a:t>
            </a:r>
          </a:p>
          <a:p>
            <a:pPr lvl="2"/>
            <a:r>
              <a:rPr lang="en-US" dirty="0" smtClean="0"/>
              <a:t>Virtual adapters will connect to Linux bridges, which play the role of virtual switch.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TUN/TAP driver</a:t>
            </a:r>
          </a:p>
          <a:p>
            <a:pPr lvl="1"/>
            <a:r>
              <a:rPr lang="en-US" dirty="0" smtClean="0"/>
              <a:t>TUN and TAP are virtual network kernel drivers :</a:t>
            </a:r>
          </a:p>
          <a:p>
            <a:pPr lvl="2"/>
            <a:r>
              <a:rPr lang="en-US" dirty="0" smtClean="0"/>
              <a:t>TAP (as in network tap) simulates an Ethernet device and it operates with layer 2 packets such as Ethernet frames.</a:t>
            </a:r>
          </a:p>
          <a:p>
            <a:pPr lvl="2"/>
            <a:r>
              <a:rPr lang="en-US" dirty="0" smtClean="0"/>
              <a:t>TUN (as in network </a:t>
            </a:r>
            <a:r>
              <a:rPr lang="en-US" dirty="0" err="1" smtClean="0"/>
              <a:t>TUNnel</a:t>
            </a:r>
            <a:r>
              <a:rPr lang="en-US" dirty="0" smtClean="0"/>
              <a:t>) simulates a network layer device and it operates with layer 3 packets such as IP.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Data flow of TUN/TAP driver</a:t>
            </a:r>
          </a:p>
          <a:p>
            <a:pPr lvl="2"/>
            <a:r>
              <a:rPr lang="en-US" dirty="0" smtClean="0"/>
              <a:t>Packets sent by an operating system via a TUN/TAP device are delivered to a user-space program that attaches itself to the device.</a:t>
            </a:r>
          </a:p>
          <a:p>
            <a:pPr lvl="2"/>
            <a:r>
              <a:rPr lang="en-US" dirty="0" smtClean="0"/>
              <a:t>A user-space program may pass packets into a TUN/TAP device</a:t>
            </a:r>
            <a:r>
              <a:rPr lang="en-US" dirty="0" smtClean="0"/>
              <a:t>.</a:t>
            </a:r>
            <a:r>
              <a:rPr lang="zh-TW" altLang="en-US" dirty="0" smtClean="0"/>
              <a:t>  </a:t>
            </a:r>
            <a:r>
              <a:rPr lang="en-US" dirty="0" smtClean="0"/>
              <a:t>TUN/TAP </a:t>
            </a:r>
            <a:r>
              <a:rPr lang="en-US" dirty="0" smtClean="0"/>
              <a:t>device </a:t>
            </a:r>
            <a:r>
              <a:rPr lang="en-US" dirty="0" smtClean="0"/>
              <a:t>delivers </a:t>
            </a:r>
            <a:r>
              <a:rPr lang="en-US" dirty="0" smtClean="0"/>
              <a:t>(or </a:t>
            </a:r>
            <a:r>
              <a:rPr lang="en-US" dirty="0" smtClean="0"/>
              <a:t>"injects") </a:t>
            </a:r>
            <a:r>
              <a:rPr lang="en-US" dirty="0" smtClean="0"/>
              <a:t>these packets to the operating system network stack thus emulating </a:t>
            </a:r>
            <a:r>
              <a:rPr lang="en-US" dirty="0" smtClean="0"/>
              <a:t>their </a:t>
            </a:r>
            <a:r>
              <a:rPr lang="en-US" dirty="0" smtClean="0"/>
              <a:t>reception from an external source.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Approach</a:t>
            </a:r>
            <a:endParaRPr lang="en-US" dirty="0"/>
          </a:p>
        </p:txBody>
      </p:sp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400277"/>
            <a:ext cx="7467600" cy="5229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1" name="Straight Connector 30"/>
          <p:cNvCxnSpPr/>
          <p:nvPr/>
        </p:nvCxnSpPr>
        <p:spPr>
          <a:xfrm rot="5400000">
            <a:off x="3314700" y="3162300"/>
            <a:ext cx="1905000" cy="0"/>
          </a:xfrm>
          <a:prstGeom prst="line">
            <a:avLst/>
          </a:prstGeom>
          <a:ln w="76200">
            <a:solidFill>
              <a:srgbClr val="FFFF00"/>
            </a:solidFill>
            <a:tail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-248944" y="3543300"/>
            <a:ext cx="3429000" cy="0"/>
          </a:xfrm>
          <a:prstGeom prst="line">
            <a:avLst/>
          </a:prstGeom>
          <a:ln w="76200">
            <a:solidFill>
              <a:srgbClr val="FFFF00"/>
            </a:solidFill>
            <a:head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4715522" y="4531312"/>
            <a:ext cx="3657600" cy="0"/>
          </a:xfrm>
          <a:prstGeom prst="line">
            <a:avLst/>
          </a:prstGeom>
          <a:ln w="76200">
            <a:solidFill>
              <a:srgbClr val="FFFF00"/>
            </a:solidFill>
            <a:tail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2628900" y="4686300"/>
            <a:ext cx="1143000" cy="0"/>
          </a:xfrm>
          <a:prstGeom prst="line">
            <a:avLst/>
          </a:prstGeom>
          <a:ln w="76200">
            <a:solidFill>
              <a:srgbClr val="FFFF00"/>
            </a:solidFill>
            <a:tailEnd type="stealth"/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>
            <a:off x="1981200" y="2286000"/>
            <a:ext cx="914400" cy="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4495800" y="650288"/>
            <a:ext cx="0" cy="411480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3750370" y="3566160"/>
            <a:ext cx="0" cy="109728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2353322" y="4389120"/>
            <a:ext cx="0" cy="173736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1948204" y="1325880"/>
            <a:ext cx="0" cy="1005840"/>
          </a:xfrm>
          <a:prstGeom prst="line">
            <a:avLst/>
          </a:prstGeom>
          <a:ln w="76200">
            <a:solidFill>
              <a:srgbClr val="FFFF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http://benjr.tw/files/images/xennetworking/bridge_mod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4038600"/>
            <a:ext cx="4095750" cy="26955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Linux bridge</a:t>
            </a:r>
          </a:p>
          <a:p>
            <a:pPr lvl="1"/>
            <a:r>
              <a:rPr lang="en-US" dirty="0" smtClean="0"/>
              <a:t>Bridging is a forwarding technique used in packet-switched computer networks.</a:t>
            </a:r>
          </a:p>
          <a:p>
            <a:pPr lvl="1"/>
            <a:r>
              <a:rPr lang="en-US" dirty="0" smtClean="0"/>
              <a:t>Unlike routing, bridging makes no assumptions about where in a network a particular address is located.</a:t>
            </a:r>
          </a:p>
          <a:p>
            <a:pPr lvl="1"/>
            <a:r>
              <a:rPr lang="en-US" dirty="0" smtClean="0"/>
              <a:t>Bridging depends on flooding and examination of source addresses in received packet headers to locate unknown devices.</a:t>
            </a:r>
          </a:p>
          <a:p>
            <a:pPr lvl="1"/>
            <a:r>
              <a:rPr lang="en-US" dirty="0" smtClean="0"/>
              <a:t>Bridging connects multiple network</a:t>
            </a:r>
            <a:br>
              <a:rPr lang="en-US" dirty="0" smtClean="0"/>
            </a:br>
            <a:r>
              <a:rPr lang="en-US" dirty="0" smtClean="0"/>
              <a:t>segments at the data link layer</a:t>
            </a:r>
            <a:br>
              <a:rPr lang="en-US" dirty="0" smtClean="0"/>
            </a:br>
            <a:r>
              <a:rPr lang="en-US" dirty="0" smtClean="0"/>
              <a:t>(Layer 2) of the OSI model.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Approach</a:t>
            </a:r>
            <a:endParaRPr lang="en-US" dirty="0"/>
          </a:p>
        </p:txBody>
      </p:sp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988" y="1789113"/>
            <a:ext cx="7566025" cy="4992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563053" y="1138535"/>
            <a:ext cx="4017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TAP/TUN driver + Linux Bridge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 descr="Diapositive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3606800"/>
            <a:ext cx="4701364" cy="30988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76600"/>
          </a:xfrm>
        </p:spPr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Xen</a:t>
            </a:r>
            <a:r>
              <a:rPr lang="en-US" dirty="0" smtClean="0"/>
              <a:t> system</a:t>
            </a:r>
          </a:p>
          <a:p>
            <a:pPr lvl="1"/>
            <a:r>
              <a:rPr lang="en-US" dirty="0" smtClean="0"/>
              <a:t>Since implemented with </a:t>
            </a:r>
            <a:r>
              <a:rPr lang="en-US" dirty="0" err="1" smtClean="0"/>
              <a:t>para</a:t>
            </a:r>
            <a:r>
              <a:rPr lang="en-US" dirty="0" smtClean="0"/>
              <a:t>-virtualization type, guest OS load modified network interface drivers.</a:t>
            </a:r>
          </a:p>
          <a:p>
            <a:pPr lvl="1"/>
            <a:r>
              <a:rPr lang="en-US" dirty="0" smtClean="0"/>
              <a:t>Modified network interface drivers communicate with virtual switches in Dom0, which act as TAP in traditional approach.</a:t>
            </a:r>
          </a:p>
          <a:p>
            <a:pPr lvl="1"/>
            <a:r>
              <a:rPr lang="en-US" dirty="0" smtClean="0"/>
              <a:t>Virtual switch in </a:t>
            </a:r>
            <a:r>
              <a:rPr lang="en-US" dirty="0" err="1" smtClean="0"/>
              <a:t>Xen</a:t>
            </a:r>
            <a:r>
              <a:rPr lang="en-US" dirty="0" smtClean="0"/>
              <a:t> can be</a:t>
            </a:r>
            <a:br>
              <a:rPr lang="en-US" dirty="0" smtClean="0"/>
            </a:br>
            <a:r>
              <a:rPr lang="en-US" dirty="0" smtClean="0"/>
              <a:t>implemented by Linux bridge</a:t>
            </a:r>
            <a:br>
              <a:rPr lang="en-US" dirty="0" smtClean="0"/>
            </a:br>
            <a:r>
              <a:rPr lang="en-US" dirty="0" smtClean="0"/>
              <a:t>or work with other</a:t>
            </a:r>
            <a:br>
              <a:rPr lang="en-US" dirty="0" smtClean="0"/>
            </a:br>
            <a:r>
              <a:rPr lang="en-US" dirty="0" smtClean="0"/>
              <a:t>optimization.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Techniques</a:t>
            </a:r>
            <a:endParaRPr lang="en-US" dirty="0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052274"/>
            <a:ext cx="7315200" cy="4805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188416" y="1519535"/>
            <a:ext cx="276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Detail in </a:t>
            </a:r>
            <a:r>
              <a:rPr lang="en-US" sz="2400" b="1" i="1" dirty="0" err="1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Xen</a:t>
            </a:r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4572000" cy="4876800"/>
          </a:xfrm>
        </p:spPr>
        <p:txBody>
          <a:bodyPr/>
          <a:lstStyle/>
          <a:p>
            <a:r>
              <a:rPr lang="en-US" dirty="0" smtClean="0"/>
              <a:t>Some performance issues :</a:t>
            </a:r>
          </a:p>
          <a:p>
            <a:pPr lvl="1"/>
            <a:r>
              <a:rPr lang="en-US" dirty="0" smtClean="0"/>
              <a:t>Page remapping</a:t>
            </a:r>
          </a:p>
          <a:p>
            <a:pPr lvl="2"/>
            <a:r>
              <a:rPr lang="en-US" dirty="0" smtClean="0"/>
              <a:t>Hypervisor remap memory page for MMIO.</a:t>
            </a:r>
          </a:p>
          <a:p>
            <a:pPr lvl="1"/>
            <a:r>
              <a:rPr lang="en-US" dirty="0" smtClean="0"/>
              <a:t>Context switching</a:t>
            </a:r>
          </a:p>
          <a:p>
            <a:pPr lvl="2"/>
            <a:r>
              <a:rPr lang="en-US" dirty="0" smtClean="0"/>
              <a:t>Whenever packets send, induce one context switch from guest to Domain 0 to drive real NIC.</a:t>
            </a:r>
          </a:p>
          <a:p>
            <a:pPr lvl="1"/>
            <a:r>
              <a:rPr lang="en-US" dirty="0" smtClean="0"/>
              <a:t>Software bridge management</a:t>
            </a:r>
          </a:p>
          <a:p>
            <a:pPr lvl="2"/>
            <a:r>
              <a:rPr lang="en-US" dirty="0" smtClean="0"/>
              <a:t>Linux bridge is a pure software implementation.</a:t>
            </a:r>
          </a:p>
          <a:p>
            <a:pPr lvl="1"/>
            <a:r>
              <a:rPr lang="en-US" dirty="0" smtClean="0"/>
              <a:t>Interrupt handling</a:t>
            </a:r>
          </a:p>
          <a:p>
            <a:pPr lvl="2"/>
            <a:r>
              <a:rPr lang="en-US" dirty="0" smtClean="0"/>
              <a:t>When interrupt occur, induce one context switch again.</a:t>
            </a:r>
            <a:endParaRPr lang="en-US" dirty="0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286000"/>
            <a:ext cx="435742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752600"/>
          </a:xfrm>
        </p:spPr>
        <p:txBody>
          <a:bodyPr/>
          <a:lstStyle/>
          <a:p>
            <a:r>
              <a:rPr lang="en-US" dirty="0" smtClean="0"/>
              <a:t>Improve </a:t>
            </a:r>
            <a:r>
              <a:rPr lang="en-US" dirty="0" err="1" smtClean="0"/>
              <a:t>Xen</a:t>
            </a:r>
            <a:r>
              <a:rPr lang="en-US" dirty="0" smtClean="0"/>
              <a:t> performance by software</a:t>
            </a:r>
          </a:p>
          <a:p>
            <a:pPr lvl="1"/>
            <a:r>
              <a:rPr lang="en-US" dirty="0" smtClean="0"/>
              <a:t>Large effective MTU</a:t>
            </a:r>
          </a:p>
          <a:p>
            <a:pPr lvl="1"/>
            <a:r>
              <a:rPr lang="en-US" dirty="0" smtClean="0"/>
              <a:t>Fewer packets</a:t>
            </a:r>
          </a:p>
          <a:p>
            <a:pPr lvl="1"/>
            <a:r>
              <a:rPr lang="en-US" dirty="0" smtClean="0"/>
              <a:t>Lower per-byte cost</a:t>
            </a:r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188" y="3340100"/>
            <a:ext cx="8682037" cy="33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1981200"/>
          </a:xfrm>
        </p:spPr>
        <p:txBody>
          <a:bodyPr>
            <a:normAutofit/>
          </a:bodyPr>
          <a:lstStyle/>
          <a:p>
            <a:r>
              <a:rPr lang="en-US" dirty="0" smtClean="0"/>
              <a:t>Improve </a:t>
            </a:r>
            <a:r>
              <a:rPr lang="en-US" dirty="0" err="1" smtClean="0"/>
              <a:t>Xen</a:t>
            </a:r>
            <a:r>
              <a:rPr lang="en-US" dirty="0" smtClean="0"/>
              <a:t> performance by hardware</a:t>
            </a:r>
          </a:p>
          <a:p>
            <a:pPr lvl="1"/>
            <a:r>
              <a:rPr lang="en-US" dirty="0" smtClean="0"/>
              <a:t>CDNA (Concurrent Direct Network Access) hardware adapter</a:t>
            </a:r>
          </a:p>
          <a:p>
            <a:pPr lvl="1"/>
            <a:r>
              <a:rPr lang="en-US" dirty="0" smtClean="0"/>
              <a:t>Remove driver domain from data and interrupts</a:t>
            </a:r>
          </a:p>
          <a:p>
            <a:pPr lvl="1"/>
            <a:r>
              <a:rPr lang="en-US" dirty="0" smtClean="0"/>
              <a:t>Hypervisor only responsible for virtual interrupts and assigning context to guest OS</a:t>
            </a:r>
          </a:p>
          <a:p>
            <a:pPr lvl="1"/>
            <a:endParaRPr 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 t="6589"/>
          <a:stretch>
            <a:fillRect/>
          </a:stretch>
        </p:blipFill>
        <p:spPr bwMode="auto">
          <a:xfrm>
            <a:off x="762000" y="3048000"/>
            <a:ext cx="770979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981200"/>
            <a:ext cx="3810000" cy="3276600"/>
          </a:xfrm>
        </p:spPr>
        <p:txBody>
          <a:bodyPr/>
          <a:lstStyle/>
          <a:p>
            <a:r>
              <a:rPr lang="en-US" dirty="0" smtClean="0"/>
              <a:t>VMware offer a hybrid solution of network virtualization in Cloud.</a:t>
            </a:r>
          </a:p>
          <a:p>
            <a:pPr lvl="1"/>
            <a:r>
              <a:rPr lang="en-US" dirty="0" smtClean="0"/>
              <a:t>Use redundant links to provide high availability.</a:t>
            </a:r>
          </a:p>
          <a:p>
            <a:pPr lvl="1"/>
            <a:r>
              <a:rPr lang="en-US" dirty="0" smtClean="0"/>
              <a:t>Virtual switch in host OS will automatically detect link failure and redirect packets to back-up links.</a:t>
            </a:r>
            <a:endParaRPr lang="en-US" dirty="0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449413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1" y="4371976"/>
            <a:ext cx="4476334" cy="2393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own Arrow 6"/>
          <p:cNvSpPr/>
          <p:nvPr/>
        </p:nvSpPr>
        <p:spPr>
          <a:xfrm>
            <a:off x="2292785" y="3886200"/>
            <a:ext cx="365760" cy="45720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Virtualization in layers</a:t>
            </a:r>
          </a:p>
          <a:p>
            <a:pPr lvl="1"/>
            <a:r>
              <a:rPr lang="en-US" dirty="0" smtClean="0"/>
              <a:t>Usually in Layer 2 and Layer 3</a:t>
            </a:r>
          </a:p>
          <a:p>
            <a:r>
              <a:rPr lang="en-US" dirty="0" smtClean="0"/>
              <a:t>External network virtualization</a:t>
            </a:r>
          </a:p>
          <a:p>
            <a:pPr lvl="1"/>
            <a:r>
              <a:rPr lang="en-US" dirty="0" smtClean="0"/>
              <a:t>Layer 2</a:t>
            </a:r>
          </a:p>
          <a:p>
            <a:pPr lvl="2"/>
            <a:r>
              <a:rPr lang="en-US" dirty="0" smtClean="0"/>
              <a:t>802.1q</a:t>
            </a:r>
          </a:p>
          <a:p>
            <a:pPr lvl="1"/>
            <a:r>
              <a:rPr lang="en-US" dirty="0" smtClean="0"/>
              <a:t>Layer 3</a:t>
            </a:r>
          </a:p>
          <a:p>
            <a:pPr lvl="2"/>
            <a:r>
              <a:rPr lang="en-US" dirty="0" smtClean="0"/>
              <a:t>MPLS, GRE</a:t>
            </a:r>
          </a:p>
          <a:p>
            <a:r>
              <a:rPr lang="en-US" dirty="0" smtClean="0"/>
              <a:t>Internal network virtualization</a:t>
            </a:r>
          </a:p>
          <a:p>
            <a:pPr lvl="1"/>
            <a:r>
              <a:rPr lang="en-US" dirty="0" smtClean="0"/>
              <a:t>Traditional approach</a:t>
            </a:r>
          </a:p>
          <a:p>
            <a:pPr lvl="2"/>
            <a:r>
              <a:rPr lang="en-US" dirty="0" smtClean="0"/>
              <a:t>TAP/TUN </a:t>
            </a:r>
            <a:r>
              <a:rPr lang="en-US" dirty="0" smtClean="0"/>
              <a:t>+ Linux bridge</a:t>
            </a:r>
          </a:p>
          <a:p>
            <a:pPr lvl="1"/>
            <a:r>
              <a:rPr lang="en-US" dirty="0" smtClean="0"/>
              <a:t>New technique</a:t>
            </a:r>
            <a:endParaRPr lang="en-US" dirty="0" smtClean="0"/>
          </a:p>
          <a:p>
            <a:pPr lvl="2"/>
            <a:r>
              <a:rPr lang="en-US" dirty="0" smtClean="0"/>
              <a:t>Virtual switch, CDNA</a:t>
            </a:r>
            <a:endParaRPr lang="en-US" dirty="0"/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199" y="2819400"/>
            <a:ext cx="3948423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open source project – Eucalyptus</a:t>
            </a:r>
          </a:p>
          <a:p>
            <a:pPr lvl="1"/>
            <a:r>
              <a:rPr lang="en-US" dirty="0" smtClean="0"/>
              <a:t>Elastic Utility Computing Architecture </a:t>
            </a:r>
            <a:br>
              <a:rPr lang="en-US" dirty="0" smtClean="0"/>
            </a:br>
            <a:r>
              <a:rPr lang="en-US" dirty="0" smtClean="0"/>
              <a:t>for Linking Your Programs to Useful Systems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2837705"/>
            <a:ext cx="83978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190500" marR="0" lvl="0" indent="-1905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E6E6E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3E7EA6">
                    <a:lumMod val="75000"/>
                  </a:srgb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IaaS Architecture of Eucalyptus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3E7EA6">
                  <a:lumMod val="75000"/>
                </a:srgb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31558"/>
          <a:stretch>
            <a:fillRect/>
          </a:stretch>
        </p:blipFill>
        <p:spPr bwMode="auto">
          <a:xfrm>
            <a:off x="990600" y="3423492"/>
            <a:ext cx="7467600" cy="3205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Case Study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91790"/>
            <a:ext cx="7278624" cy="4913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173412" y="1138535"/>
            <a:ext cx="2797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Server Virtualization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7000"/>
          </a:xfrm>
        </p:spPr>
        <p:txBody>
          <a:bodyPr/>
          <a:lstStyle/>
          <a:p>
            <a:r>
              <a:rPr lang="en-US" dirty="0" smtClean="0"/>
              <a:t>System Component :</a:t>
            </a:r>
          </a:p>
          <a:p>
            <a:pPr lvl="1"/>
            <a:r>
              <a:rPr lang="en-US" dirty="0" smtClean="0"/>
              <a:t>Cloud Controller (CLC)</a:t>
            </a:r>
          </a:p>
          <a:p>
            <a:pPr lvl="2"/>
            <a:r>
              <a:rPr lang="en-US" dirty="0" smtClean="0"/>
              <a:t>Dispatch user request to some clusters.</a:t>
            </a:r>
          </a:p>
          <a:p>
            <a:pPr lvl="1"/>
            <a:r>
              <a:rPr lang="en-US" dirty="0" smtClean="0"/>
              <a:t>Cluster Controller (CC)</a:t>
            </a:r>
          </a:p>
          <a:p>
            <a:pPr lvl="2"/>
            <a:r>
              <a:rPr lang="en-US" dirty="0" smtClean="0"/>
              <a:t>Determine enough resource for virtual machine deployment.</a:t>
            </a:r>
          </a:p>
          <a:p>
            <a:pPr lvl="1"/>
            <a:r>
              <a:rPr lang="en-US" dirty="0" smtClean="0"/>
              <a:t>Node Controller (NC)</a:t>
            </a:r>
          </a:p>
          <a:p>
            <a:pPr lvl="2"/>
            <a:r>
              <a:rPr lang="en-US" dirty="0" smtClean="0"/>
              <a:t>Run user’s virtual machines.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Case Study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144" y="1397880"/>
            <a:ext cx="7077456" cy="515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81849" y="1143000"/>
            <a:ext cx="2980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Storage Virtualization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72400" cy="4525963"/>
          </a:xfrm>
        </p:spPr>
        <p:txBody>
          <a:bodyPr/>
          <a:lstStyle/>
          <a:p>
            <a:r>
              <a:rPr lang="en-US" dirty="0" smtClean="0"/>
              <a:t>Two kinds of storage systems :</a:t>
            </a:r>
          </a:p>
          <a:p>
            <a:pPr lvl="1"/>
            <a:r>
              <a:rPr lang="en-US" dirty="0" smtClean="0"/>
              <a:t>Walrus ( S3 compatible )</a:t>
            </a:r>
          </a:p>
          <a:p>
            <a:pPr lvl="2"/>
            <a:r>
              <a:rPr lang="en-US" dirty="0" smtClean="0"/>
              <a:t>Mainly store the images, which provided by users or administrator, for VMs booting.</a:t>
            </a:r>
          </a:p>
          <a:p>
            <a:pPr lvl="1"/>
            <a:r>
              <a:rPr lang="en-US" dirty="0" smtClean="0"/>
              <a:t>Storage Controller</a:t>
            </a:r>
          </a:p>
          <a:p>
            <a:pPr lvl="2"/>
            <a:r>
              <a:rPr lang="en-US" dirty="0" smtClean="0"/>
              <a:t>Mainly store user created logical volumes which can be attached to specified VMs in run-time. </a:t>
            </a:r>
          </a:p>
          <a:p>
            <a:pPr lvl="2"/>
            <a:r>
              <a:rPr lang="en-US" dirty="0" smtClean="0"/>
              <a:t>Each storage controller in a cluster is controlled by the corresponding cluster controller, and  each VM can utilize these logical volumes through networks.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Case Study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5872" y="1610360"/>
            <a:ext cx="643225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25134" y="1138535"/>
            <a:ext cx="3093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Network Virtualization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IaaS</a:t>
            </a:r>
            <a:r>
              <a:rPr lang="en-US" dirty="0" smtClean="0"/>
              <a:t> 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Network architecture :</a:t>
            </a:r>
          </a:p>
          <a:p>
            <a:pPr lvl="1"/>
            <a:r>
              <a:rPr lang="en-US" dirty="0" smtClean="0"/>
              <a:t>Bridge ( Virtual Switch )</a:t>
            </a:r>
          </a:p>
          <a:p>
            <a:pPr lvl="2"/>
            <a:r>
              <a:rPr lang="en-US" dirty="0" smtClean="0"/>
              <a:t>Make virtual machines on one node share physical NICs.</a:t>
            </a:r>
          </a:p>
          <a:p>
            <a:pPr lvl="1"/>
            <a:r>
              <a:rPr lang="en-US" dirty="0" smtClean="0"/>
              <a:t>DHCP</a:t>
            </a:r>
          </a:p>
          <a:p>
            <a:pPr lvl="2"/>
            <a:r>
              <a:rPr lang="en-US" dirty="0" smtClean="0"/>
              <a:t>Map virtual MAC addresses of VMs to private IPs in the LAN.</a:t>
            </a:r>
          </a:p>
          <a:p>
            <a:pPr lvl="1"/>
            <a:r>
              <a:rPr lang="en-US" dirty="0" smtClean="0"/>
              <a:t>NAT</a:t>
            </a:r>
          </a:p>
          <a:p>
            <a:pPr lvl="2"/>
            <a:r>
              <a:rPr lang="en-US" dirty="0" smtClean="0"/>
              <a:t>Forward the packages to public network (WAN).</a:t>
            </a:r>
          </a:p>
          <a:p>
            <a:pPr lvl="1"/>
            <a:r>
              <a:rPr lang="en-US" dirty="0" smtClean="0"/>
              <a:t>IP/MAC mapping table</a:t>
            </a:r>
          </a:p>
          <a:p>
            <a:pPr lvl="2"/>
            <a:r>
              <a:rPr lang="en-US" dirty="0" smtClean="0"/>
              <a:t>IP addresses are assigned by Eucalyptus.</a:t>
            </a:r>
          </a:p>
          <a:p>
            <a:pPr lvl="2"/>
            <a:r>
              <a:rPr lang="en-US" dirty="0" smtClean="0"/>
              <a:t>MAC addresses are assigned by hypervisor.</a:t>
            </a:r>
          </a:p>
          <a:p>
            <a:pPr lvl="2"/>
            <a:r>
              <a:rPr lang="en-US" dirty="0" smtClean="0"/>
              <a:t>This mapping table is maintained by Eucalyptus system.</a:t>
            </a:r>
            <a:br>
              <a:rPr lang="en-US" dirty="0" smtClean="0"/>
            </a:br>
            <a:r>
              <a:rPr lang="en-US" dirty="0" smtClean="0"/>
              <a:t>     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Books :</a:t>
            </a:r>
          </a:p>
          <a:p>
            <a:pPr lvl="1"/>
            <a:r>
              <a:rPr lang="en-US" sz="1600" dirty="0" smtClean="0"/>
              <a:t>Kumar Reddy &amp; Victor Moreno, </a:t>
            </a:r>
            <a:r>
              <a:rPr lang="en-US" sz="1600" b="1" i="1" dirty="0" smtClean="0"/>
              <a:t>Network Virtualization</a:t>
            </a:r>
            <a:r>
              <a:rPr lang="en-US" sz="1600" dirty="0" smtClean="0"/>
              <a:t>, Cisco Press 2006</a:t>
            </a:r>
          </a:p>
          <a:p>
            <a:r>
              <a:rPr lang="en-US" dirty="0" smtClean="0"/>
              <a:t>Web resources :</a:t>
            </a:r>
          </a:p>
          <a:p>
            <a:pPr lvl="1"/>
            <a:r>
              <a:rPr lang="en-US" sz="1600" dirty="0" smtClean="0"/>
              <a:t>Linux Bridge </a:t>
            </a:r>
            <a:r>
              <a:rPr lang="en-US" sz="1600" i="1" dirty="0" smtClean="0"/>
              <a:t>http://www.ibm.com/developerworks/cn/linux/l-tuntap/index.html</a:t>
            </a:r>
          </a:p>
          <a:p>
            <a:pPr lvl="1"/>
            <a:r>
              <a:rPr lang="en-US" sz="1600" dirty="0" err="1" smtClean="0"/>
              <a:t>Xen</a:t>
            </a:r>
            <a:r>
              <a:rPr lang="en-US" sz="1600" dirty="0" smtClean="0"/>
              <a:t> networking </a:t>
            </a:r>
            <a:r>
              <a:rPr lang="en-US" sz="1600" i="1" dirty="0" smtClean="0"/>
              <a:t>http://wiki.xensource.com/xenwiki/XenNetworking</a:t>
            </a:r>
          </a:p>
          <a:p>
            <a:pPr lvl="1"/>
            <a:r>
              <a:rPr lang="en-US" sz="1600" dirty="0" smtClean="0"/>
              <a:t>VMware Virtual Networking Concepts </a:t>
            </a:r>
            <a:r>
              <a:rPr lang="en-US" sz="1600" i="1" dirty="0" smtClean="0"/>
              <a:t>http://www.vmware.com/files/pdf/virtual_networking_concepts.pdf</a:t>
            </a:r>
          </a:p>
          <a:p>
            <a:pPr lvl="1"/>
            <a:r>
              <a:rPr lang="en-US" sz="1600" dirty="0" smtClean="0"/>
              <a:t>TUN/TAP wiki </a:t>
            </a:r>
            <a:r>
              <a:rPr lang="en-US" sz="1600" i="1" dirty="0" smtClean="0"/>
              <a:t>http://en.wikipedia.org/wiki/TUN/TAP</a:t>
            </a:r>
          </a:p>
          <a:p>
            <a:pPr lvl="1"/>
            <a:r>
              <a:rPr lang="en-US" sz="1600" dirty="0" smtClean="0"/>
              <a:t>Network Virtualization wiki </a:t>
            </a:r>
            <a:r>
              <a:rPr lang="en-US" sz="1600" i="1" dirty="0" smtClean="0"/>
              <a:t>http://en.wikipedia.org/wiki/Network_virtualization</a:t>
            </a:r>
          </a:p>
          <a:p>
            <a:r>
              <a:rPr lang="en-US" dirty="0" smtClean="0"/>
              <a:t>Papers :</a:t>
            </a:r>
            <a:endParaRPr lang="en-US" sz="1600" dirty="0" smtClean="0"/>
          </a:p>
          <a:p>
            <a:pPr lvl="1"/>
            <a:r>
              <a:rPr lang="en-US" sz="1600" dirty="0" smtClean="0"/>
              <a:t>A. </a:t>
            </a:r>
            <a:r>
              <a:rPr lang="en-US" sz="1600" dirty="0" err="1" smtClean="0"/>
              <a:t>Menon</a:t>
            </a:r>
            <a:r>
              <a:rPr lang="en-US" sz="1600" dirty="0" smtClean="0"/>
              <a:t>, A. Cox, and W. </a:t>
            </a:r>
            <a:r>
              <a:rPr lang="en-US" sz="1600" dirty="0" err="1" smtClean="0"/>
              <a:t>Zwaenepoel</a:t>
            </a:r>
            <a:r>
              <a:rPr lang="en-US" sz="1600" dirty="0" smtClean="0"/>
              <a:t>. Optimizing Network Virtualization in </a:t>
            </a:r>
            <a:r>
              <a:rPr lang="en-US" sz="1600" dirty="0" err="1" smtClean="0"/>
              <a:t>Xen</a:t>
            </a:r>
            <a:r>
              <a:rPr lang="en-US" sz="1600" dirty="0" smtClean="0"/>
              <a:t>. Proc. USENIX Annual Technical </a:t>
            </a:r>
            <a:r>
              <a:rPr lang="fr-FR" sz="1600" dirty="0" err="1" smtClean="0"/>
              <a:t>Conference</a:t>
            </a:r>
            <a:r>
              <a:rPr lang="fr-FR" sz="1600" dirty="0" smtClean="0"/>
              <a:t> (USENIX 2006), pages 15–28, 2006.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k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k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Sky</Template>
  <TotalTime>7287</TotalTime>
  <Words>1868</Words>
  <Application>Microsoft Office PowerPoint</Application>
  <PresentationFormat>如螢幕大小 (4:3)</PresentationFormat>
  <Paragraphs>359</Paragraphs>
  <Slides>54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54</vt:i4>
      </vt:variant>
    </vt:vector>
  </HeadingPairs>
  <TitlesOfParts>
    <vt:vector size="56" baseType="lpstr">
      <vt:lpstr>Sky</vt:lpstr>
      <vt:lpstr>1_Sky</vt:lpstr>
      <vt:lpstr>雲端計算 Cloud Computing</vt:lpstr>
      <vt:lpstr>Agenda</vt:lpstr>
      <vt:lpstr>Network virtualization</vt:lpstr>
      <vt:lpstr>Introduction</vt:lpstr>
      <vt:lpstr>Network Protocol and Model</vt:lpstr>
      <vt:lpstr>Network Protocol and Model</vt:lpstr>
      <vt:lpstr>Network Topologies</vt:lpstr>
      <vt:lpstr>Network Types</vt:lpstr>
      <vt:lpstr>Network Architecture</vt:lpstr>
      <vt:lpstr>Network Architecture</vt:lpstr>
      <vt:lpstr>Network Architecture</vt:lpstr>
      <vt:lpstr>Network Architecture</vt:lpstr>
      <vt:lpstr>Network Architecture</vt:lpstr>
      <vt:lpstr>Network Architecture</vt:lpstr>
      <vt:lpstr>Network Design Rules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Network virtualization</vt:lpstr>
      <vt:lpstr>Internal Network Virtualization</vt:lpstr>
      <vt:lpstr>Internal Network Virtualization</vt:lpstr>
      <vt:lpstr>Internal Network Virtualization</vt:lpstr>
      <vt:lpstr>Traditional Approach</vt:lpstr>
      <vt:lpstr>Traditional Approach</vt:lpstr>
      <vt:lpstr>Traditional Approach</vt:lpstr>
      <vt:lpstr>Traditional Approach</vt:lpstr>
      <vt:lpstr>Traditional Approach</vt:lpstr>
      <vt:lpstr>New Techniques</vt:lpstr>
      <vt:lpstr>New Techniques</vt:lpstr>
      <vt:lpstr>New Techniques</vt:lpstr>
      <vt:lpstr>New Techniques</vt:lpstr>
      <vt:lpstr>New Techniques</vt:lpstr>
      <vt:lpstr>Case Study</vt:lpstr>
      <vt:lpstr>Network Virtualization Summary</vt:lpstr>
      <vt:lpstr>IaaS Case Study</vt:lpstr>
      <vt:lpstr>IaaS Case Study</vt:lpstr>
      <vt:lpstr>IaaS Case Study</vt:lpstr>
      <vt:lpstr>IaaS Case Study</vt:lpstr>
      <vt:lpstr>IaaS Case Study</vt:lpstr>
      <vt:lpstr>IaaS Case Study</vt:lpstr>
      <vt:lpstr>IaaS Case Study</vt:lpstr>
      <vt:lpstr>Reference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IaaS – Network Virtualization</dc:title>
  <dc:creator>cyhuang</dc:creator>
  <cp:lastModifiedBy>Yeh-Ching Chung</cp:lastModifiedBy>
  <cp:revision>736</cp:revision>
  <dcterms:created xsi:type="dcterms:W3CDTF">2006-08-16T00:00:00Z</dcterms:created>
  <dcterms:modified xsi:type="dcterms:W3CDTF">2010-12-07T01:08:12Z</dcterms:modified>
</cp:coreProperties>
</file>