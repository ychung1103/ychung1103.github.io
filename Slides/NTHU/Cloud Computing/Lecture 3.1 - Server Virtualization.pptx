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13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9"/>
  </p:notesMasterIdLst>
  <p:sldIdLst>
    <p:sldId id="421" r:id="rId2"/>
    <p:sldId id="257" r:id="rId3"/>
    <p:sldId id="260" r:id="rId4"/>
    <p:sldId id="277" r:id="rId5"/>
    <p:sldId id="280" r:id="rId6"/>
    <p:sldId id="281" r:id="rId7"/>
    <p:sldId id="282" r:id="rId8"/>
    <p:sldId id="323" r:id="rId9"/>
    <p:sldId id="283" r:id="rId10"/>
    <p:sldId id="284" r:id="rId11"/>
    <p:sldId id="285" r:id="rId12"/>
    <p:sldId id="286" r:id="rId13"/>
    <p:sldId id="287" r:id="rId14"/>
    <p:sldId id="424" r:id="rId15"/>
    <p:sldId id="288" r:id="rId16"/>
    <p:sldId id="291" r:id="rId17"/>
    <p:sldId id="290" r:id="rId18"/>
    <p:sldId id="289" r:id="rId19"/>
    <p:sldId id="292" r:id="rId20"/>
    <p:sldId id="294" r:id="rId21"/>
    <p:sldId id="293" r:id="rId22"/>
    <p:sldId id="295" r:id="rId23"/>
    <p:sldId id="296" r:id="rId24"/>
    <p:sldId id="297" r:id="rId25"/>
    <p:sldId id="278" r:id="rId26"/>
    <p:sldId id="298" r:id="rId27"/>
    <p:sldId id="308" r:id="rId28"/>
    <p:sldId id="299" r:id="rId29"/>
    <p:sldId id="300" r:id="rId30"/>
    <p:sldId id="302" r:id="rId31"/>
    <p:sldId id="301" r:id="rId32"/>
    <p:sldId id="303" r:id="rId33"/>
    <p:sldId id="304" r:id="rId34"/>
    <p:sldId id="305" r:id="rId35"/>
    <p:sldId id="306" r:id="rId36"/>
    <p:sldId id="311" r:id="rId37"/>
    <p:sldId id="310" r:id="rId38"/>
    <p:sldId id="307" r:id="rId39"/>
    <p:sldId id="309" r:id="rId40"/>
    <p:sldId id="315" r:id="rId41"/>
    <p:sldId id="312" r:id="rId42"/>
    <p:sldId id="313" r:id="rId43"/>
    <p:sldId id="314" r:id="rId44"/>
    <p:sldId id="316" r:id="rId45"/>
    <p:sldId id="279" r:id="rId46"/>
    <p:sldId id="318" r:id="rId47"/>
    <p:sldId id="320" r:id="rId48"/>
    <p:sldId id="317" r:id="rId49"/>
    <p:sldId id="321" r:id="rId50"/>
    <p:sldId id="322" r:id="rId51"/>
    <p:sldId id="324" r:id="rId52"/>
    <p:sldId id="325" r:id="rId53"/>
    <p:sldId id="326" r:id="rId54"/>
    <p:sldId id="261" r:id="rId55"/>
    <p:sldId id="327" r:id="rId56"/>
    <p:sldId id="329" r:id="rId57"/>
    <p:sldId id="330" r:id="rId58"/>
    <p:sldId id="332" r:id="rId59"/>
    <p:sldId id="333" r:id="rId60"/>
    <p:sldId id="331" r:id="rId61"/>
    <p:sldId id="344" r:id="rId62"/>
    <p:sldId id="334" r:id="rId63"/>
    <p:sldId id="335" r:id="rId64"/>
    <p:sldId id="346" r:id="rId65"/>
    <p:sldId id="336" r:id="rId66"/>
    <p:sldId id="328" r:id="rId67"/>
    <p:sldId id="337" r:id="rId68"/>
    <p:sldId id="338" r:id="rId69"/>
    <p:sldId id="347" r:id="rId70"/>
    <p:sldId id="348" r:id="rId71"/>
    <p:sldId id="262" r:id="rId72"/>
    <p:sldId id="353" r:id="rId73"/>
    <p:sldId id="354" r:id="rId74"/>
    <p:sldId id="355" r:id="rId75"/>
    <p:sldId id="356" r:id="rId76"/>
    <p:sldId id="341" r:id="rId77"/>
    <p:sldId id="357" r:id="rId78"/>
    <p:sldId id="358" r:id="rId79"/>
    <p:sldId id="359" r:id="rId80"/>
    <p:sldId id="360" r:id="rId81"/>
    <p:sldId id="361" r:id="rId82"/>
    <p:sldId id="362" r:id="rId83"/>
    <p:sldId id="363" r:id="rId84"/>
    <p:sldId id="364" r:id="rId85"/>
    <p:sldId id="365" r:id="rId86"/>
    <p:sldId id="366" r:id="rId87"/>
    <p:sldId id="367" r:id="rId88"/>
    <p:sldId id="368" r:id="rId89"/>
    <p:sldId id="370" r:id="rId90"/>
    <p:sldId id="369" r:id="rId91"/>
    <p:sldId id="372" r:id="rId92"/>
    <p:sldId id="373" r:id="rId93"/>
    <p:sldId id="375" r:id="rId94"/>
    <p:sldId id="339" r:id="rId95"/>
    <p:sldId id="374" r:id="rId96"/>
    <p:sldId id="376" r:id="rId97"/>
    <p:sldId id="377" r:id="rId98"/>
    <p:sldId id="378" r:id="rId99"/>
    <p:sldId id="379" r:id="rId100"/>
    <p:sldId id="381" r:id="rId101"/>
    <p:sldId id="382" r:id="rId102"/>
    <p:sldId id="383" r:id="rId103"/>
    <p:sldId id="392" r:id="rId104"/>
    <p:sldId id="391" r:id="rId105"/>
    <p:sldId id="386" r:id="rId106"/>
    <p:sldId id="387" r:id="rId107"/>
    <p:sldId id="390" r:id="rId108"/>
    <p:sldId id="388" r:id="rId109"/>
    <p:sldId id="389" r:id="rId110"/>
    <p:sldId id="393" r:id="rId111"/>
    <p:sldId id="394" r:id="rId112"/>
    <p:sldId id="395" r:id="rId113"/>
    <p:sldId id="396" r:id="rId114"/>
    <p:sldId id="397" r:id="rId115"/>
    <p:sldId id="398" r:id="rId116"/>
    <p:sldId id="400" r:id="rId117"/>
    <p:sldId id="399" r:id="rId118"/>
    <p:sldId id="401" r:id="rId119"/>
    <p:sldId id="402" r:id="rId120"/>
    <p:sldId id="264" r:id="rId121"/>
    <p:sldId id="404" r:id="rId122"/>
    <p:sldId id="405" r:id="rId123"/>
    <p:sldId id="406" r:id="rId124"/>
    <p:sldId id="407" r:id="rId125"/>
    <p:sldId id="408" r:id="rId126"/>
    <p:sldId id="409" r:id="rId127"/>
    <p:sldId id="410" r:id="rId128"/>
    <p:sldId id="411" r:id="rId129"/>
    <p:sldId id="412" r:id="rId130"/>
    <p:sldId id="413" r:id="rId131"/>
    <p:sldId id="414" r:id="rId132"/>
    <p:sldId id="415" r:id="rId133"/>
    <p:sldId id="416" r:id="rId134"/>
    <p:sldId id="417" r:id="rId135"/>
    <p:sldId id="418" r:id="rId136"/>
    <p:sldId id="422" r:id="rId137"/>
    <p:sldId id="420" r:id="rId1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70" autoAdjust="0"/>
    <p:restoredTop sz="94576" autoAdjust="0"/>
  </p:normalViewPr>
  <p:slideViewPr>
    <p:cSldViewPr>
      <p:cViewPr varScale="1">
        <p:scale>
          <a:sx n="84" d="100"/>
          <a:sy n="84" d="100"/>
        </p:scale>
        <p:origin x="-1157" y="-77"/>
      </p:cViewPr>
      <p:guideLst>
        <p:guide orient="horz" pos="2160"/>
        <p:guide pos="2880"/>
      </p:guideLst>
    </p:cSldViewPr>
  </p:slideViewPr>
  <p:notesTextViewPr>
    <p:cViewPr>
      <p:scale>
        <a:sx n="100" d="100"/>
        <a:sy n="100" d="100"/>
      </p:scale>
      <p:origin x="0" y="0"/>
    </p:cViewPr>
  </p:notesTextViewPr>
  <p:sorterViewPr>
    <p:cViewPr>
      <p:scale>
        <a:sx n="45" d="100"/>
        <a:sy n="45" d="100"/>
      </p:scale>
      <p:origin x="0" y="3917"/>
    </p:cViewPr>
  </p:sorterViewPr>
  <p:notesViewPr>
    <p:cSldViewPr>
      <p:cViewPr varScale="1">
        <p:scale>
          <a:sx n="71" d="100"/>
          <a:sy n="71" d="100"/>
        </p:scale>
        <p:origin x="-2310" y="-10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94F0E6-AAFD-4866-A038-76796769B5F3}" type="datetimeFigureOut">
              <a:rPr lang="en-US" smtClean="0"/>
              <a:pPr/>
              <a:t>11/23/2010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F4F284-C953-4959-8A2F-552AC784C31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logo"/>
          <p:cNvPicPr>
            <a:picLocks noChangeAspect="1" noChangeArrowheads="1"/>
          </p:cNvPicPr>
          <p:nvPr userDrawn="1"/>
        </p:nvPicPr>
        <p:blipFill>
          <a:blip r:embed="rId3" cstate="print"/>
          <a:srcRect/>
          <a:stretch>
            <a:fillRect/>
          </a:stretch>
        </p:blipFill>
        <p:spPr bwMode="auto">
          <a:xfrm>
            <a:off x="6374027" y="6030097"/>
            <a:ext cx="2743200" cy="76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400"/>
            </a:lvl1pPr>
            <a:lvl2pPr>
              <a:defRPr sz="2000"/>
            </a:lvl2pPr>
            <a:lvl3pPr>
              <a:defRPr sz="1800"/>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11/23/2010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8.gi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9.gi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4.gif"/><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5.gi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12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13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131.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13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13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13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5.png"/><Relationship Id="rId4" Type="http://schemas.openxmlformats.org/officeDocument/2006/relationships/image" Target="../media/image91.png"/></Relationships>
</file>

<file path=ppt/slides/_rels/slide135.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0.png"/><Relationship Id="rId7" Type="http://schemas.openxmlformats.org/officeDocument/2006/relationships/image" Target="../media/image97.png"/><Relationship Id="rId12" Type="http://schemas.openxmlformats.org/officeDocument/2006/relationships/image" Target="../media/image102.jpe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101.png"/><Relationship Id="rId5" Type="http://schemas.openxmlformats.org/officeDocument/2006/relationships/image" Target="../media/image96.png"/><Relationship Id="rId10" Type="http://schemas.openxmlformats.org/officeDocument/2006/relationships/image" Target="../media/image100.png"/><Relationship Id="rId4" Type="http://schemas.openxmlformats.org/officeDocument/2006/relationships/image" Target="../media/image91.png"/><Relationship Id="rId9" Type="http://schemas.openxmlformats.org/officeDocument/2006/relationships/image" Target="../media/image99.png"/></Relationships>
</file>

<file path=ppt/slides/_rels/slide13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371600"/>
            <a:ext cx="7772400" cy="1905000"/>
          </a:xfrm>
        </p:spPr>
        <p:txBody>
          <a:bodyPr>
            <a:normAutofit/>
          </a:bodyPr>
          <a:lstStyle/>
          <a:p>
            <a:r>
              <a:rPr lang="zh-TW" altLang="en-US" sz="4000" i="0" dirty="0" smtClean="0">
                <a:effectLst>
                  <a:outerShdw blurRad="38100" dist="38100" dir="2700000" algn="tl">
                    <a:srgbClr val="000000">
                      <a:alpha val="43137"/>
                    </a:srgbClr>
                  </a:outerShdw>
                </a:effectLst>
              </a:rPr>
              <a:t>雲端計算</a:t>
            </a:r>
            <a:r>
              <a:rPr lang="en-US" altLang="zh-TW" sz="4000" dirty="0" smtClean="0">
                <a:effectLst>
                  <a:outerShdw blurRad="38100" dist="38100" dir="2700000" algn="tl">
                    <a:srgbClr val="000000">
                      <a:alpha val="43137"/>
                    </a:srgbClr>
                  </a:outerShdw>
                </a:effectLst>
              </a:rPr>
              <a:t/>
            </a:r>
            <a:br>
              <a:rPr lang="en-US" altLang="zh-TW" sz="4000" dirty="0" smtClean="0">
                <a:effectLst>
                  <a:outerShdw blurRad="38100" dist="38100" dir="2700000" algn="tl">
                    <a:srgbClr val="000000">
                      <a:alpha val="43137"/>
                    </a:srgbClr>
                  </a:outerShdw>
                </a:effectLst>
              </a:rPr>
            </a:br>
            <a:r>
              <a:rPr lang="en-US" sz="4000" dirty="0" smtClean="0">
                <a:effectLst>
                  <a:outerShdw blurRad="38100" dist="38100" dir="2700000" algn="tl">
                    <a:srgbClr val="000000">
                      <a:alpha val="43137"/>
                    </a:srgbClr>
                  </a:outerShdw>
                </a:effectLst>
              </a:rPr>
              <a:t>Cloud Computing</a:t>
            </a:r>
            <a:endParaRPr lang="en-US" sz="4000" i="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257300" y="3200400"/>
            <a:ext cx="6629400" cy="2362200"/>
          </a:xfrm>
        </p:spPr>
        <p:txBody>
          <a:bodyPr>
            <a:normAutofit/>
          </a:bodyPr>
          <a:lstStyle/>
          <a:p>
            <a:pPr algn="ctr"/>
            <a:endParaRPr lang="en-US" altLang="zh-TW" sz="3200" i="0" dirty="0" smtClean="0">
              <a:effectLst>
                <a:outerShdw blurRad="38100" dist="38100" dir="2700000" algn="tl">
                  <a:srgbClr val="000000">
                    <a:alpha val="43137"/>
                  </a:srgbClr>
                </a:outerShdw>
              </a:effectLst>
              <a:latin typeface="標楷體" pitchFamily="65" charset="-120"/>
              <a:ea typeface="標楷體" pitchFamily="65" charset="-120"/>
            </a:endParaRPr>
          </a:p>
          <a:p>
            <a:pPr algn="ctr"/>
            <a:r>
              <a:rPr lang="en-US" altLang="zh-TW" sz="3200" i="0" dirty="0" smtClean="0">
                <a:effectLst>
                  <a:outerShdw blurRad="38100" dist="38100" dir="2700000" algn="tl">
                    <a:srgbClr val="000000">
                      <a:alpha val="43137"/>
                    </a:srgbClr>
                  </a:outerShdw>
                </a:effectLst>
                <a:latin typeface="標楷體" pitchFamily="65" charset="-120"/>
                <a:ea typeface="標楷體" pitchFamily="65" charset="-120"/>
              </a:rPr>
              <a:t>Server Virtualization</a:t>
            </a:r>
          </a:p>
          <a:p>
            <a:pPr algn="ctr"/>
            <a:endParaRPr lang="en-US" sz="3200" i="0" dirty="0" smtClean="0">
              <a:effectLst>
                <a:outerShdw blurRad="38100" dist="38100" dir="2700000" algn="tl">
                  <a:srgbClr val="000000">
                    <a:alpha val="43137"/>
                  </a:srgbClr>
                </a:outerShdw>
              </a:effectLst>
              <a:latin typeface="標楷體" pitchFamily="65" charset="-120"/>
              <a:ea typeface="標楷體" pitchFamily="65" charset="-120"/>
            </a:endParaRPr>
          </a:p>
          <a:p>
            <a:pPr algn="ctr"/>
            <a:endParaRPr lang="en-US" sz="2800" i="0"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a:xfrm>
            <a:off x="381000" y="1524000"/>
            <a:ext cx="4267200" cy="4572000"/>
          </a:xfrm>
        </p:spPr>
        <p:txBody>
          <a:bodyPr>
            <a:noAutofit/>
          </a:bodyPr>
          <a:lstStyle/>
          <a:p>
            <a:r>
              <a:rPr lang="en-US" dirty="0" smtClean="0"/>
              <a:t>Virtualization Technique</a:t>
            </a:r>
          </a:p>
          <a:p>
            <a:pPr lvl="1"/>
            <a:r>
              <a:rPr lang="en-US" dirty="0" smtClean="0"/>
              <a:t>CPU Virtualization</a:t>
            </a:r>
          </a:p>
          <a:p>
            <a:pPr lvl="2"/>
            <a:r>
              <a:rPr lang="en-US" dirty="0" smtClean="0"/>
              <a:t>Emulation techniques</a:t>
            </a:r>
          </a:p>
          <a:p>
            <a:pPr lvl="2"/>
            <a:r>
              <a:rPr lang="en-US" dirty="0" smtClean="0"/>
              <a:t>Trap and emulate model</a:t>
            </a:r>
          </a:p>
          <a:p>
            <a:pPr lvl="2"/>
            <a:r>
              <a:rPr lang="en-US" dirty="0" smtClean="0"/>
              <a:t>Hardware assistance</a:t>
            </a:r>
          </a:p>
          <a:p>
            <a:pPr lvl="1"/>
            <a:r>
              <a:rPr lang="en-US" dirty="0" smtClean="0"/>
              <a:t>Memory Virtualization</a:t>
            </a:r>
          </a:p>
          <a:p>
            <a:pPr lvl="2"/>
            <a:r>
              <a:rPr lang="en-US" dirty="0" smtClean="0"/>
              <a:t>Shadow page table</a:t>
            </a:r>
          </a:p>
          <a:p>
            <a:pPr lvl="2"/>
            <a:r>
              <a:rPr lang="en-US" dirty="0" smtClean="0"/>
              <a:t>Hardware assistance</a:t>
            </a:r>
          </a:p>
          <a:p>
            <a:pPr lvl="1"/>
            <a:r>
              <a:rPr lang="en-US" dirty="0" smtClean="0"/>
              <a:t>IO Virtualization</a:t>
            </a:r>
          </a:p>
          <a:p>
            <a:pPr lvl="2"/>
            <a:r>
              <a:rPr lang="en-US" dirty="0" smtClean="0"/>
              <a:t>Overview</a:t>
            </a:r>
          </a:p>
          <a:p>
            <a:pPr lvl="2"/>
            <a:r>
              <a:rPr lang="en-US" dirty="0" smtClean="0"/>
              <a:t>Device model</a:t>
            </a:r>
          </a:p>
          <a:p>
            <a:pPr lvl="2"/>
            <a:r>
              <a:rPr lang="en-US" dirty="0" smtClean="0"/>
              <a:t>Hardware assistance</a:t>
            </a:r>
          </a:p>
        </p:txBody>
      </p:sp>
      <p:sp>
        <p:nvSpPr>
          <p:cNvPr id="4" name="Content Placeholder 2"/>
          <p:cNvSpPr txBox="1">
            <a:spLocks/>
          </p:cNvSpPr>
          <p:nvPr/>
        </p:nvSpPr>
        <p:spPr>
          <a:xfrm>
            <a:off x="4648200" y="1524000"/>
            <a:ext cx="4267200" cy="4572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Ecosystem</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VMware</a:t>
            </a:r>
          </a:p>
          <a:p>
            <a:pPr marL="742950" lvl="1" indent="-285750">
              <a:spcBef>
                <a:spcPct val="20000"/>
              </a:spcBef>
              <a:buClr>
                <a:schemeClr val="accent3">
                  <a:lumMod val="50000"/>
                </a:schemeClr>
              </a:buClr>
              <a:buFont typeface="Wingdings" pitchFamily="2" charset="2"/>
              <a:buChar char="§"/>
              <a:defRPr/>
            </a:pPr>
            <a:r>
              <a:rPr lang="en-US" sz="2000" dirty="0" err="1" smtClean="0">
                <a:solidFill>
                  <a:schemeClr val="accent3">
                    <a:lumMod val="50000"/>
                  </a:schemeClr>
                </a:solidFill>
                <a:latin typeface="Cambria" pitchFamily="18" charset="0"/>
              </a:rPr>
              <a:t>Xen</a:t>
            </a:r>
            <a:endPar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endParaRP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lang="en-US" sz="2000" dirty="0" smtClean="0">
                <a:solidFill>
                  <a:schemeClr val="accent3">
                    <a:lumMod val="50000"/>
                  </a:schemeClr>
                </a:solidFill>
                <a:latin typeface="Cambria" pitchFamily="18" charset="0"/>
              </a:rPr>
              <a:t>KVM</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a:r>
            <a:b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br>
            <a:endPar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Other Issues</a:t>
            </a:r>
          </a:p>
          <a:p>
            <a:pPr marL="742950" lvl="1" indent="-285750">
              <a:spcBef>
                <a:spcPct val="20000"/>
              </a:spcBef>
              <a:buClr>
                <a:schemeClr val="accent3">
                  <a:lumMod val="50000"/>
                </a:schemeClr>
              </a:buClr>
              <a:buFont typeface="Wingdings" pitchFamily="2" charset="2"/>
              <a:buChar char="§"/>
              <a:defRPr/>
            </a:pPr>
            <a:r>
              <a:rPr lang="en-US" sz="2000" dirty="0" smtClean="0">
                <a:solidFill>
                  <a:schemeClr val="accent3">
                    <a:lumMod val="50000"/>
                  </a:schemeClr>
                </a:solidFill>
                <a:latin typeface="Cambria" pitchFamily="18" charset="0"/>
              </a:rPr>
              <a:t>Live migration</a:t>
            </a:r>
          </a:p>
          <a:p>
            <a:pPr marL="742950" lvl="1" indent="-285750">
              <a:spcBef>
                <a:spcPct val="20000"/>
              </a:spcBef>
              <a:buClr>
                <a:schemeClr val="accent3">
                  <a:lumMod val="50000"/>
                </a:schemeClr>
              </a:buClr>
              <a:buFont typeface="Wingdings" pitchFamily="2" charset="2"/>
              <a:buChar char="§"/>
              <a:defRPr/>
            </a:pPr>
            <a:r>
              <a:rPr lang="en-US" sz="2000" dirty="0" smtClean="0">
                <a:solidFill>
                  <a:schemeClr val="accent3">
                    <a:lumMod val="50000"/>
                  </a:schemeClr>
                </a:solidFill>
                <a:latin typeface="Cambria" pitchFamily="18" charset="0"/>
              </a:rPr>
              <a:t>Cloud properties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 Virtualization</a:t>
            </a:r>
            <a:endParaRPr lang="en-US" dirty="0"/>
          </a:p>
        </p:txBody>
      </p:sp>
      <p:sp>
        <p:nvSpPr>
          <p:cNvPr id="3" name="Text Placeholder 2"/>
          <p:cNvSpPr>
            <a:spLocks noGrp="1"/>
          </p:cNvSpPr>
          <p:nvPr>
            <p:ph type="body" idx="1"/>
          </p:nvPr>
        </p:nvSpPr>
        <p:spPr/>
        <p:txBody>
          <a:bodyPr/>
          <a:lstStyle/>
          <a:p>
            <a:r>
              <a:rPr lang="en-US" dirty="0" smtClean="0">
                <a:solidFill>
                  <a:srgbClr val="C00000"/>
                </a:solidFill>
              </a:rPr>
              <a:t>Emulation techniques</a:t>
            </a:r>
          </a:p>
          <a:p>
            <a:r>
              <a:rPr lang="en-US" dirty="0" smtClean="0"/>
              <a:t>Trap and emulate paradigm</a:t>
            </a:r>
          </a:p>
          <a:p>
            <a:r>
              <a:rPr lang="en-US" dirty="0" smtClean="0"/>
              <a:t>Hardware assistance</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Emulation Technique</a:t>
            </a:r>
            <a:endParaRPr lang="en-US" dirty="0"/>
          </a:p>
        </p:txBody>
      </p:sp>
      <p:sp>
        <p:nvSpPr>
          <p:cNvPr id="3" name="Content Placeholder 2"/>
          <p:cNvSpPr>
            <a:spLocks noGrp="1"/>
          </p:cNvSpPr>
          <p:nvPr>
            <p:ph idx="1"/>
          </p:nvPr>
        </p:nvSpPr>
        <p:spPr/>
        <p:txBody>
          <a:bodyPr/>
          <a:lstStyle/>
          <a:p>
            <a:r>
              <a:rPr lang="en-US" dirty="0" smtClean="0"/>
              <a:t>Why do we talk about emulation ?</a:t>
            </a:r>
          </a:p>
          <a:p>
            <a:pPr lvl="1"/>
            <a:r>
              <a:rPr lang="en-US" dirty="0" smtClean="0"/>
              <a:t>In fact, virtualization technique can be treated as a special case of emulation technique.</a:t>
            </a:r>
          </a:p>
          <a:p>
            <a:pPr lvl="1"/>
            <a:r>
              <a:rPr lang="en-US" dirty="0" smtClean="0"/>
              <a:t>Many virtualization techniques were developed in or inherited from emulation technique.</a:t>
            </a:r>
            <a:br>
              <a:rPr lang="en-US" dirty="0" smtClean="0"/>
            </a:br>
            <a:endParaRPr lang="en-US" dirty="0" smtClean="0"/>
          </a:p>
          <a:p>
            <a:r>
              <a:rPr lang="en-US" dirty="0" smtClean="0"/>
              <a:t>Goal of emulation :</a:t>
            </a:r>
          </a:p>
          <a:p>
            <a:pPr lvl="1"/>
            <a:r>
              <a:rPr lang="en-US" dirty="0" smtClean="0"/>
              <a:t>Provide a method for enabling</a:t>
            </a:r>
            <a:br>
              <a:rPr lang="en-US" dirty="0" smtClean="0"/>
            </a:br>
            <a:r>
              <a:rPr lang="en-US" dirty="0" smtClean="0"/>
              <a:t>a (sub)system to present the</a:t>
            </a:r>
            <a:br>
              <a:rPr lang="en-US" dirty="0" smtClean="0"/>
            </a:br>
            <a:r>
              <a:rPr lang="en-US" dirty="0" smtClean="0"/>
              <a:t>same interface and characteristics</a:t>
            </a:r>
            <a:br>
              <a:rPr lang="en-US" dirty="0" smtClean="0"/>
            </a:br>
            <a:r>
              <a:rPr lang="en-US" dirty="0" smtClean="0"/>
              <a:t>as another.</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5181600" y="3962400"/>
            <a:ext cx="3756025" cy="16589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Emulation Technique</a:t>
            </a:r>
            <a:endParaRPr lang="en-US" dirty="0"/>
          </a:p>
        </p:txBody>
      </p:sp>
      <p:sp>
        <p:nvSpPr>
          <p:cNvPr id="3" name="Content Placeholder 2"/>
          <p:cNvSpPr>
            <a:spLocks noGrp="1"/>
          </p:cNvSpPr>
          <p:nvPr>
            <p:ph idx="1"/>
          </p:nvPr>
        </p:nvSpPr>
        <p:spPr/>
        <p:txBody>
          <a:bodyPr/>
          <a:lstStyle/>
          <a:p>
            <a:r>
              <a:rPr lang="en-US" dirty="0" smtClean="0"/>
              <a:t>Three emulation implementations :</a:t>
            </a:r>
          </a:p>
          <a:p>
            <a:pPr lvl="1"/>
            <a:r>
              <a:rPr lang="en-US" dirty="0" smtClean="0"/>
              <a:t>Interpretation</a:t>
            </a:r>
          </a:p>
          <a:p>
            <a:pPr lvl="2"/>
            <a:r>
              <a:rPr lang="en-US" dirty="0" smtClean="0"/>
              <a:t>Emulator interprets only one instruction at a time.</a:t>
            </a:r>
          </a:p>
          <a:p>
            <a:pPr lvl="1"/>
            <a:r>
              <a:rPr lang="en-US" dirty="0" smtClean="0"/>
              <a:t>Static Binary Translation</a:t>
            </a:r>
          </a:p>
          <a:p>
            <a:pPr lvl="2"/>
            <a:r>
              <a:rPr lang="en-US" dirty="0" smtClean="0"/>
              <a:t>Emulator translates a block of guest binary at a time and further optimizes for repeated instruction executions.</a:t>
            </a:r>
          </a:p>
          <a:p>
            <a:pPr lvl="1"/>
            <a:r>
              <a:rPr lang="en-US" dirty="0" smtClean="0"/>
              <a:t>Dynamic Binary Translation</a:t>
            </a:r>
          </a:p>
          <a:p>
            <a:pPr lvl="2"/>
            <a:r>
              <a:rPr lang="en-US" dirty="0" smtClean="0"/>
              <a:t>This is a hybrid approach of emulator, which mix two approaches above.</a:t>
            </a:r>
            <a:br>
              <a:rPr lang="en-US" dirty="0" smtClean="0"/>
            </a:br>
            <a:endParaRPr lang="en-US" dirty="0" smtClean="0"/>
          </a:p>
          <a:p>
            <a:r>
              <a:rPr lang="en-US" dirty="0" smtClean="0"/>
              <a:t>Design challenges and issues :</a:t>
            </a:r>
          </a:p>
          <a:p>
            <a:pPr lvl="1"/>
            <a:r>
              <a:rPr lang="en-US" dirty="0" smtClean="0"/>
              <a:t>Register mapping problem</a:t>
            </a:r>
          </a:p>
          <a:p>
            <a:pPr lvl="1"/>
            <a:r>
              <a:rPr lang="en-US" dirty="0" smtClean="0"/>
              <a:t>Performance improvement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Interpretation</a:t>
            </a:r>
            <a:endParaRPr lang="en-US" dirty="0"/>
          </a:p>
        </p:txBody>
      </p:sp>
      <p:sp>
        <p:nvSpPr>
          <p:cNvPr id="3" name="Content Placeholder 2"/>
          <p:cNvSpPr>
            <a:spLocks noGrp="1"/>
          </p:cNvSpPr>
          <p:nvPr>
            <p:ph idx="1"/>
          </p:nvPr>
        </p:nvSpPr>
        <p:spPr>
          <a:xfrm>
            <a:off x="457200" y="1600200"/>
            <a:ext cx="8229600" cy="5029200"/>
          </a:xfrm>
        </p:spPr>
        <p:txBody>
          <a:bodyPr/>
          <a:lstStyle/>
          <a:p>
            <a:r>
              <a:rPr lang="en-US" dirty="0" smtClean="0"/>
              <a:t>Interpreter execution flow :</a:t>
            </a:r>
          </a:p>
          <a:p>
            <a:pPr marL="914400" lvl="1" indent="-365760">
              <a:buFont typeface="+mj-lt"/>
              <a:buAutoNum type="arabicPeriod"/>
            </a:pPr>
            <a:r>
              <a:rPr lang="en-US" dirty="0" smtClean="0"/>
              <a:t>Fetch one guest instruction from guest memory image.</a:t>
            </a:r>
          </a:p>
          <a:p>
            <a:pPr marL="914400" lvl="1" indent="-365760">
              <a:buFont typeface="+mj-lt"/>
              <a:buAutoNum type="arabicPeriod"/>
            </a:pPr>
            <a:r>
              <a:rPr lang="en-US" dirty="0" smtClean="0"/>
              <a:t>Decode and dispatch to corresponding emulation unit.</a:t>
            </a:r>
          </a:p>
          <a:p>
            <a:pPr marL="914400" lvl="1" indent="-365760">
              <a:buFont typeface="+mj-lt"/>
              <a:buAutoNum type="arabicPeriod"/>
            </a:pPr>
            <a:r>
              <a:rPr lang="en-US" dirty="0" smtClean="0"/>
              <a:t>Execute the functionality of that instruction and modify some related system states, such as simulated register values.</a:t>
            </a:r>
          </a:p>
          <a:p>
            <a:pPr marL="914400" lvl="1" indent="-365760">
              <a:buFont typeface="+mj-lt"/>
              <a:buAutoNum type="arabicPeriod"/>
            </a:pPr>
            <a:r>
              <a:rPr lang="en-US" dirty="0" smtClean="0"/>
              <a:t>Increase the guest PC (Program Counter register) and then repeat this process again.</a:t>
            </a:r>
            <a:br>
              <a:rPr lang="en-US" dirty="0" smtClean="0"/>
            </a:br>
            <a:endParaRPr lang="en-US" dirty="0" smtClean="0"/>
          </a:p>
          <a:p>
            <a:r>
              <a:rPr lang="en-US" dirty="0" smtClean="0"/>
              <a:t>Pros &amp; Cons</a:t>
            </a:r>
          </a:p>
          <a:p>
            <a:pPr lvl="1"/>
            <a:r>
              <a:rPr lang="en-US" dirty="0" smtClean="0"/>
              <a:t>Pros</a:t>
            </a:r>
          </a:p>
          <a:p>
            <a:pPr lvl="2"/>
            <a:r>
              <a:rPr lang="en-US" dirty="0" smtClean="0"/>
              <a:t>Easy to implement</a:t>
            </a:r>
          </a:p>
          <a:p>
            <a:pPr lvl="1"/>
            <a:r>
              <a:rPr lang="en-US" dirty="0" smtClean="0"/>
              <a:t>Cons</a:t>
            </a:r>
          </a:p>
          <a:p>
            <a:pPr lvl="2"/>
            <a:r>
              <a:rPr lang="en-US" dirty="0" smtClean="0"/>
              <a:t>Poor performance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Interpretation</a:t>
            </a:r>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1143000" y="1524000"/>
            <a:ext cx="6858000" cy="4938784"/>
          </a:xfrm>
          <a:prstGeom prst="rect">
            <a:avLst/>
          </a:prstGeom>
          <a:noFill/>
          <a:ln w="9525">
            <a:noFill/>
            <a:miter lim="800000"/>
            <a:headEnd/>
            <a:tailEnd/>
          </a:ln>
          <a:effectLst/>
        </p:spPr>
      </p:pic>
      <p:sp>
        <p:nvSpPr>
          <p:cNvPr id="5" name="Rounded Rectangle 4"/>
          <p:cNvSpPr/>
          <p:nvPr/>
        </p:nvSpPr>
        <p:spPr>
          <a:xfrm>
            <a:off x="990600" y="2362200"/>
            <a:ext cx="7162800" cy="4191000"/>
          </a:xfrm>
          <a:prstGeom prst="roundRect">
            <a:avLst>
              <a:gd name="adj" fmla="val 4592"/>
            </a:avLst>
          </a:prstGeom>
          <a:gradFill>
            <a:gsLst>
              <a:gs pos="0">
                <a:schemeClr val="accent6">
                  <a:tint val="50000"/>
                  <a:satMod val="300000"/>
                  <a:alpha val="60000"/>
                </a:schemeClr>
              </a:gs>
              <a:gs pos="35000">
                <a:schemeClr val="accent6">
                  <a:tint val="37000"/>
                  <a:satMod val="300000"/>
                  <a:alpha val="60000"/>
                </a:schemeClr>
              </a:gs>
              <a:gs pos="100000">
                <a:schemeClr val="accent6">
                  <a:tint val="15000"/>
                  <a:satMod val="350000"/>
                  <a:alpha val="60000"/>
                </a:schemeClr>
              </a:gs>
            </a:gsLst>
          </a:gradFill>
          <a:ln w="38100"/>
        </p:spPr>
        <p:style>
          <a:lnRef idx="1">
            <a:schemeClr val="accent6"/>
          </a:lnRef>
          <a:fillRef idx="2">
            <a:schemeClr val="accent6"/>
          </a:fillRef>
          <a:effectRef idx="1">
            <a:schemeClr val="accent6"/>
          </a:effectRef>
          <a:fontRef idx="minor">
            <a:schemeClr val="dk1"/>
          </a:fontRef>
        </p:style>
        <p:txBody>
          <a:bodyPr rtlCol="0" anchor="t"/>
          <a:lstStyle/>
          <a:p>
            <a:pPr algn="r"/>
            <a:r>
              <a:rPr lang="en-US" sz="2400" b="1" i="1" dirty="0" smtClean="0">
                <a:solidFill>
                  <a:schemeClr val="accent6">
                    <a:lumMod val="50000"/>
                  </a:schemeClr>
                </a:solidFill>
              </a:rPr>
              <a:t>Interpreter</a:t>
            </a:r>
            <a:endParaRPr lang="en-US" sz="2400" b="1" i="1" dirty="0">
              <a:solidFill>
                <a:schemeClr val="accent6">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b="7346"/>
          <a:stretch>
            <a:fillRect/>
          </a:stretch>
        </p:blipFill>
        <p:spPr bwMode="auto">
          <a:xfrm>
            <a:off x="2455864" y="4144366"/>
            <a:ext cx="6230937" cy="2643187"/>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Static Binary Translation</a:t>
            </a:r>
            <a:endParaRPr lang="en-US" dirty="0"/>
          </a:p>
        </p:txBody>
      </p:sp>
      <p:sp>
        <p:nvSpPr>
          <p:cNvPr id="3" name="Content Placeholder 2"/>
          <p:cNvSpPr>
            <a:spLocks noGrp="1"/>
          </p:cNvSpPr>
          <p:nvPr>
            <p:ph idx="1"/>
          </p:nvPr>
        </p:nvSpPr>
        <p:spPr>
          <a:xfrm>
            <a:off x="457200" y="1219201"/>
            <a:ext cx="8229600" cy="3581400"/>
          </a:xfrm>
        </p:spPr>
        <p:txBody>
          <a:bodyPr/>
          <a:lstStyle/>
          <a:p>
            <a:r>
              <a:rPr lang="en-US" dirty="0" smtClean="0"/>
              <a:t>Using the concept of basic block which comes from compiler optimization technique.</a:t>
            </a:r>
          </a:p>
          <a:p>
            <a:pPr lvl="1"/>
            <a:r>
              <a:rPr lang="en-US" dirty="0" smtClean="0"/>
              <a:t>A basic block is a portion of the code within a program with certain desirable properties that make it highly amenable to analysis.</a:t>
            </a:r>
          </a:p>
          <a:p>
            <a:pPr lvl="1"/>
            <a:r>
              <a:rPr lang="en-US" dirty="0" smtClean="0"/>
              <a:t>A basic block has only one entry point, meaning no code within it is the destination of a jump instruction anywhere in the program.</a:t>
            </a:r>
          </a:p>
          <a:p>
            <a:pPr lvl="1"/>
            <a:r>
              <a:rPr lang="en-US" dirty="0" smtClean="0"/>
              <a:t>A basic block has only one exit point, meaning only the last instruction can cause the program to begin executing code in a different basic block.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Static Binary Translation</a:t>
            </a:r>
            <a:endParaRPr lang="en-US" dirty="0"/>
          </a:p>
        </p:txBody>
      </p:sp>
      <p:sp>
        <p:nvSpPr>
          <p:cNvPr id="3" name="Content Placeholder 2"/>
          <p:cNvSpPr>
            <a:spLocks noGrp="1"/>
          </p:cNvSpPr>
          <p:nvPr>
            <p:ph idx="1"/>
          </p:nvPr>
        </p:nvSpPr>
        <p:spPr>
          <a:xfrm>
            <a:off x="457200" y="1447800"/>
            <a:ext cx="8229600" cy="5181600"/>
          </a:xfrm>
        </p:spPr>
        <p:txBody>
          <a:bodyPr>
            <a:noAutofit/>
          </a:bodyPr>
          <a:lstStyle/>
          <a:p>
            <a:r>
              <a:rPr lang="en-US" dirty="0" smtClean="0"/>
              <a:t>Static binary translation flow :</a:t>
            </a:r>
          </a:p>
          <a:p>
            <a:pPr marL="914400" lvl="1" indent="-365760">
              <a:buFont typeface="+mj-lt"/>
              <a:buAutoNum type="arabicPeriod"/>
            </a:pPr>
            <a:r>
              <a:rPr lang="en-US" dirty="0" smtClean="0"/>
              <a:t>Fetch one block of guest instructions from guest memory image.</a:t>
            </a:r>
          </a:p>
          <a:p>
            <a:pPr marL="914400" lvl="1" indent="-365760">
              <a:buFont typeface="+mj-lt"/>
              <a:buAutoNum type="arabicPeriod"/>
            </a:pPr>
            <a:r>
              <a:rPr lang="en-US" dirty="0" smtClean="0"/>
              <a:t>Decode and dispatch each instruction to the corresponding translation unit.</a:t>
            </a:r>
          </a:p>
          <a:p>
            <a:pPr marL="914400" lvl="1" indent="-365760">
              <a:buFont typeface="+mj-lt"/>
              <a:buAutoNum type="arabicPeriod"/>
            </a:pPr>
            <a:r>
              <a:rPr lang="en-US" dirty="0" smtClean="0"/>
              <a:t>Translate guest instruction to host instructions.</a:t>
            </a:r>
          </a:p>
          <a:p>
            <a:pPr marL="914400" lvl="1" indent="-365760">
              <a:buFont typeface="+mj-lt"/>
              <a:buAutoNum type="arabicPeriod"/>
            </a:pPr>
            <a:r>
              <a:rPr lang="en-US" dirty="0" smtClean="0"/>
              <a:t>Write the translated host instructions to code cache.</a:t>
            </a:r>
          </a:p>
          <a:p>
            <a:pPr marL="914400" lvl="1" indent="-365760">
              <a:buFont typeface="+mj-lt"/>
              <a:buAutoNum type="arabicPeriod"/>
            </a:pPr>
            <a:r>
              <a:rPr lang="en-US" dirty="0" smtClean="0"/>
              <a:t>Execute the translated host instruction block in code cache.</a:t>
            </a:r>
            <a:br>
              <a:rPr lang="en-US" dirty="0" smtClean="0"/>
            </a:br>
            <a:endParaRPr lang="en-US" dirty="0" smtClean="0"/>
          </a:p>
          <a:p>
            <a:r>
              <a:rPr lang="en-US" dirty="0" smtClean="0"/>
              <a:t>Pros &amp; Cons</a:t>
            </a:r>
          </a:p>
          <a:p>
            <a:pPr lvl="1"/>
            <a:r>
              <a:rPr lang="en-US" dirty="0" smtClean="0"/>
              <a:t>Pros</a:t>
            </a:r>
          </a:p>
          <a:p>
            <a:pPr lvl="2"/>
            <a:r>
              <a:rPr lang="en-US" dirty="0" smtClean="0"/>
              <a:t>Emulator can reuse the translated host code.</a:t>
            </a:r>
          </a:p>
          <a:p>
            <a:pPr lvl="2"/>
            <a:r>
              <a:rPr lang="en-US" dirty="0" smtClean="0"/>
              <a:t>Emulator can apply more optimization when translating guest blocks.</a:t>
            </a:r>
          </a:p>
          <a:p>
            <a:pPr lvl="1"/>
            <a:r>
              <a:rPr lang="en-US" dirty="0" smtClean="0"/>
              <a:t>Cons</a:t>
            </a:r>
          </a:p>
          <a:p>
            <a:pPr lvl="2"/>
            <a:r>
              <a:rPr lang="en-US" dirty="0" smtClean="0"/>
              <a:t>Implementation complexity will increase.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Translation</a:t>
            </a:r>
            <a:endParaRPr 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1143000" y="1066800"/>
            <a:ext cx="6858000" cy="5607781"/>
          </a:xfrm>
          <a:prstGeom prst="rect">
            <a:avLst/>
          </a:prstGeom>
          <a:noFill/>
          <a:ln w="9525">
            <a:noFill/>
            <a:miter lim="800000"/>
            <a:headEnd/>
            <a:tailEnd/>
          </a:ln>
          <a:effectLst/>
        </p:spPr>
      </p:pic>
      <p:sp>
        <p:nvSpPr>
          <p:cNvPr id="5" name="Rounded Rectangle 4"/>
          <p:cNvSpPr/>
          <p:nvPr/>
        </p:nvSpPr>
        <p:spPr>
          <a:xfrm>
            <a:off x="990600" y="1752600"/>
            <a:ext cx="7162800" cy="4191000"/>
          </a:xfrm>
          <a:prstGeom prst="roundRect">
            <a:avLst>
              <a:gd name="adj" fmla="val 4592"/>
            </a:avLst>
          </a:prstGeom>
          <a:gradFill>
            <a:gsLst>
              <a:gs pos="0">
                <a:schemeClr val="accent6">
                  <a:tint val="50000"/>
                  <a:satMod val="300000"/>
                  <a:alpha val="60000"/>
                </a:schemeClr>
              </a:gs>
              <a:gs pos="35000">
                <a:schemeClr val="accent6">
                  <a:tint val="37000"/>
                  <a:satMod val="300000"/>
                  <a:alpha val="60000"/>
                </a:schemeClr>
              </a:gs>
              <a:gs pos="100000">
                <a:schemeClr val="accent6">
                  <a:tint val="15000"/>
                  <a:satMod val="350000"/>
                  <a:alpha val="60000"/>
                </a:schemeClr>
              </a:gs>
            </a:gsLst>
          </a:gradFill>
          <a:ln w="38100"/>
        </p:spPr>
        <p:style>
          <a:lnRef idx="1">
            <a:schemeClr val="accent6"/>
          </a:lnRef>
          <a:fillRef idx="2">
            <a:schemeClr val="accent6"/>
          </a:fillRef>
          <a:effectRef idx="1">
            <a:schemeClr val="accent6"/>
          </a:effectRef>
          <a:fontRef idx="minor">
            <a:schemeClr val="dk1"/>
          </a:fontRef>
        </p:style>
        <p:txBody>
          <a:bodyPr rtlCol="0" anchor="t"/>
          <a:lstStyle/>
          <a:p>
            <a:pPr algn="r"/>
            <a:r>
              <a:rPr lang="en-US" sz="2400" b="1" i="1" dirty="0" smtClean="0">
                <a:solidFill>
                  <a:schemeClr val="accent6">
                    <a:lumMod val="50000"/>
                  </a:schemeClr>
                </a:solidFill>
              </a:rPr>
              <a:t>Binary Translator</a:t>
            </a:r>
            <a:endParaRPr lang="en-US" sz="2400" b="1" i="1" dirty="0">
              <a:solidFill>
                <a:schemeClr val="accent6">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 y="274638"/>
            <a:ext cx="8686800" cy="868362"/>
          </a:xfrm>
        </p:spPr>
        <p:txBody>
          <a:bodyPr>
            <a:noAutofit/>
          </a:bodyPr>
          <a:lstStyle/>
          <a:p>
            <a:r>
              <a:rPr lang="en-US" dirty="0" smtClean="0"/>
              <a:t>Comparison</a:t>
            </a:r>
            <a:endParaRPr lang="en-US" dirty="0"/>
          </a:p>
        </p:txBody>
      </p:sp>
      <p:sp>
        <p:nvSpPr>
          <p:cNvPr id="3" name="Content Placeholder 2"/>
          <p:cNvSpPr>
            <a:spLocks noGrp="1"/>
          </p:cNvSpPr>
          <p:nvPr>
            <p:ph idx="1"/>
          </p:nvPr>
        </p:nvSpPr>
        <p:spPr/>
        <p:txBody>
          <a:bodyPr/>
          <a:lstStyle/>
          <a:p>
            <a:r>
              <a:rPr lang="en-US" dirty="0" smtClean="0"/>
              <a:t>Interpretation implementation</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endParaRPr lang="en-US" dirty="0" smtClean="0"/>
          </a:p>
          <a:p>
            <a:r>
              <a:rPr lang="en-US" dirty="0" smtClean="0"/>
              <a:t>Static binary translation implementation</a:t>
            </a:r>
          </a:p>
        </p:txBody>
      </p:sp>
      <p:pic>
        <p:nvPicPr>
          <p:cNvPr id="4098" name="Picture 2"/>
          <p:cNvPicPr>
            <a:picLocks noChangeAspect="1" noChangeArrowheads="1"/>
          </p:cNvPicPr>
          <p:nvPr/>
        </p:nvPicPr>
        <p:blipFill>
          <a:blip r:embed="rId2" cstate="print"/>
          <a:srcRect/>
          <a:stretch>
            <a:fillRect/>
          </a:stretch>
        </p:blipFill>
        <p:spPr bwMode="auto">
          <a:xfrm>
            <a:off x="990600" y="2227263"/>
            <a:ext cx="4754563" cy="1811337"/>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cstate="print"/>
          <a:srcRect/>
          <a:stretch>
            <a:fillRect/>
          </a:stretch>
        </p:blipFill>
        <p:spPr bwMode="auto">
          <a:xfrm>
            <a:off x="990600" y="4818063"/>
            <a:ext cx="7602537" cy="18113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Binary Translation</a:t>
            </a:r>
            <a:endParaRPr lang="en-US" dirty="0"/>
          </a:p>
        </p:txBody>
      </p:sp>
      <p:sp>
        <p:nvSpPr>
          <p:cNvPr id="3" name="Content Placeholder 2"/>
          <p:cNvSpPr>
            <a:spLocks noGrp="1"/>
          </p:cNvSpPr>
          <p:nvPr>
            <p:ph idx="1"/>
          </p:nvPr>
        </p:nvSpPr>
        <p:spPr>
          <a:xfrm>
            <a:off x="457200" y="1600200"/>
            <a:ext cx="8229600" cy="5105400"/>
          </a:xfrm>
        </p:spPr>
        <p:txBody>
          <a:bodyPr>
            <a:noAutofit/>
          </a:bodyPr>
          <a:lstStyle/>
          <a:p>
            <a:r>
              <a:rPr lang="en-US" dirty="0" smtClean="0"/>
              <a:t>A hybrid implementation</a:t>
            </a:r>
          </a:p>
          <a:p>
            <a:pPr lvl="1"/>
            <a:r>
              <a:rPr lang="en-US" dirty="0" smtClean="0"/>
              <a:t>For the first discovered codes, directly interpret by interpreter and record these codes as discovered.</a:t>
            </a:r>
          </a:p>
          <a:p>
            <a:pPr lvl="1"/>
            <a:r>
              <a:rPr lang="en-US" dirty="0" smtClean="0"/>
              <a:t>As the guest codes discovered, trigger the binary translation module to translate the guest code blocks to host code blocks, and place them into code cache.</a:t>
            </a:r>
          </a:p>
          <a:p>
            <a:pPr lvl="1"/>
            <a:r>
              <a:rPr lang="en-US" dirty="0" smtClean="0"/>
              <a:t>When execute the translated block of guest code next time, jump to the code cache and execute the translated host binary code.</a:t>
            </a:r>
            <a:br>
              <a:rPr lang="en-US" dirty="0" smtClean="0"/>
            </a:br>
            <a:endParaRPr lang="en-US" dirty="0" smtClean="0"/>
          </a:p>
          <a:p>
            <a:r>
              <a:rPr lang="en-US" dirty="0" smtClean="0"/>
              <a:t>Pros &amp; Cons</a:t>
            </a:r>
          </a:p>
          <a:p>
            <a:pPr lvl="1"/>
            <a:r>
              <a:rPr lang="en-US" dirty="0" smtClean="0"/>
              <a:t>Pros</a:t>
            </a:r>
          </a:p>
          <a:p>
            <a:pPr lvl="2"/>
            <a:r>
              <a:rPr lang="en-US" dirty="0" smtClean="0"/>
              <a:t>Transparently implement binary translation.</a:t>
            </a:r>
          </a:p>
          <a:p>
            <a:pPr lvl="1"/>
            <a:r>
              <a:rPr lang="en-US" dirty="0" smtClean="0"/>
              <a:t>Cons</a:t>
            </a:r>
          </a:p>
          <a:p>
            <a:pPr lvl="2"/>
            <a:r>
              <a:rPr lang="en-US" dirty="0" smtClean="0"/>
              <a:t>Hard to implement.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Binary Translation</a:t>
            </a:r>
            <a:endParaRPr lang="en-US" dirty="0"/>
          </a:p>
        </p:txBody>
      </p:sp>
      <p:sp>
        <p:nvSpPr>
          <p:cNvPr id="4" name="Round Diagonal Corner Rectangle 3"/>
          <p:cNvSpPr/>
          <p:nvPr/>
        </p:nvSpPr>
        <p:spPr>
          <a:xfrm>
            <a:off x="1143000" y="4191000"/>
            <a:ext cx="1828800" cy="1676400"/>
          </a:xfrm>
          <a:prstGeom prst="round2DiagRect">
            <a:avLst>
              <a:gd name="adj1" fmla="val 11533"/>
              <a:gd name="adj2" fmla="val 0"/>
            </a:avLst>
          </a:prstGeom>
          <a:gradFill>
            <a:gsLst>
              <a:gs pos="0">
                <a:schemeClr val="bg1">
                  <a:lumMod val="65000"/>
                </a:schemeClr>
              </a:gs>
              <a:gs pos="70000">
                <a:schemeClr val="bg1">
                  <a:lumMod val="85000"/>
                </a:schemeClr>
              </a:gs>
              <a:gs pos="100000">
                <a:schemeClr val="bg1">
                  <a:lumMod val="95000"/>
                </a:schemeClr>
              </a:gs>
            </a:gsLst>
            <a:lin ang="5400000" scaled="1"/>
          </a:gradFill>
        </p:spPr>
        <p:style>
          <a:lnRef idx="3">
            <a:schemeClr val="lt1"/>
          </a:lnRef>
          <a:fillRef idx="1">
            <a:schemeClr val="dk1"/>
          </a:fillRef>
          <a:effectRef idx="1">
            <a:schemeClr val="dk1"/>
          </a:effectRef>
          <a:fontRef idx="minor">
            <a:schemeClr val="lt1"/>
          </a:fontRef>
        </p:style>
        <p:txBody>
          <a:bodyPr rtlCol="0" anchor="t"/>
          <a:lstStyle/>
          <a:p>
            <a:pPr algn="ctr"/>
            <a:r>
              <a:rPr lang="en-US" b="1" i="1" dirty="0" smtClean="0">
                <a:solidFill>
                  <a:schemeClr val="tx1">
                    <a:lumMod val="75000"/>
                    <a:lumOff val="25000"/>
                  </a:schemeClr>
                </a:solidFill>
              </a:rPr>
              <a:t>Guest Binary</a:t>
            </a:r>
            <a:endParaRPr lang="en-US" b="1" i="1" dirty="0">
              <a:solidFill>
                <a:schemeClr val="tx1">
                  <a:lumMod val="75000"/>
                  <a:lumOff val="25000"/>
                </a:schemeClr>
              </a:solidFill>
            </a:endParaRPr>
          </a:p>
        </p:txBody>
      </p:sp>
      <p:sp>
        <p:nvSpPr>
          <p:cNvPr id="5" name="Rounded Rectangle 4"/>
          <p:cNvSpPr/>
          <p:nvPr/>
        </p:nvSpPr>
        <p:spPr>
          <a:xfrm>
            <a:off x="3794760" y="4709160"/>
            <a:ext cx="1463040" cy="640080"/>
          </a:xfrm>
          <a:prstGeom prst="roundRect">
            <a:avLst/>
          </a:prstGeom>
          <a:gradFill flip="none" rotWithShape="1">
            <a:gsLst>
              <a:gs pos="0">
                <a:schemeClr val="accent2">
                  <a:lumMod val="60000"/>
                  <a:lumOff val="40000"/>
                </a:schemeClr>
              </a:gs>
              <a:gs pos="50000">
                <a:schemeClr val="accent2">
                  <a:lumMod val="40000"/>
                  <a:lumOff val="60000"/>
                </a:schemeClr>
              </a:gs>
              <a:gs pos="100000">
                <a:schemeClr val="accent2">
                  <a:lumMod val="20000"/>
                  <a:lumOff val="80000"/>
                </a:schemeClr>
              </a:gs>
            </a:gsLst>
            <a:lin ang="5400000" scaled="1"/>
            <a:tileRect/>
          </a:gradFill>
        </p:spPr>
        <p:style>
          <a:lnRef idx="3">
            <a:schemeClr val="lt1"/>
          </a:lnRef>
          <a:fillRef idx="1">
            <a:schemeClr val="accent2"/>
          </a:fillRef>
          <a:effectRef idx="1">
            <a:schemeClr val="accent2"/>
          </a:effectRef>
          <a:fontRef idx="minor">
            <a:schemeClr val="lt1"/>
          </a:fontRef>
        </p:style>
        <p:txBody>
          <a:bodyPr rtlCol="0" anchor="ctr"/>
          <a:lstStyle/>
          <a:p>
            <a:pPr algn="ctr"/>
            <a:r>
              <a:rPr lang="en-US" b="1" i="1" dirty="0" smtClean="0">
                <a:solidFill>
                  <a:schemeClr val="accent2">
                    <a:lumMod val="50000"/>
                  </a:schemeClr>
                </a:solidFill>
              </a:rPr>
              <a:t>Emulation Manager</a:t>
            </a:r>
            <a:endParaRPr lang="en-US" b="1" i="1" dirty="0">
              <a:solidFill>
                <a:schemeClr val="accent2">
                  <a:lumMod val="50000"/>
                </a:schemeClr>
              </a:solidFill>
            </a:endParaRPr>
          </a:p>
        </p:txBody>
      </p:sp>
      <p:sp>
        <p:nvSpPr>
          <p:cNvPr id="6" name="Left-Right Arrow 5"/>
          <p:cNvSpPr/>
          <p:nvPr/>
        </p:nvSpPr>
        <p:spPr>
          <a:xfrm>
            <a:off x="3124200" y="4876800"/>
            <a:ext cx="533400" cy="304800"/>
          </a:xfrm>
          <a:prstGeom prst="leftRightArrow">
            <a:avLst>
              <a:gd name="adj1" fmla="val 50000"/>
              <a:gd name="adj2" fmla="val 57059"/>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7" name="Oval 6"/>
          <p:cNvSpPr/>
          <p:nvPr/>
        </p:nvSpPr>
        <p:spPr>
          <a:xfrm>
            <a:off x="3657600" y="3505200"/>
            <a:ext cx="1737360" cy="64008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i="1" dirty="0" smtClean="0">
                <a:solidFill>
                  <a:schemeClr val="accent6">
                    <a:lumMod val="50000"/>
                  </a:schemeClr>
                </a:solidFill>
              </a:rPr>
              <a:t>Binary Translator</a:t>
            </a:r>
            <a:endParaRPr lang="en-US" b="1" i="1" dirty="0">
              <a:solidFill>
                <a:schemeClr val="accent6">
                  <a:lumMod val="50000"/>
                </a:schemeClr>
              </a:solidFill>
            </a:endParaRPr>
          </a:p>
        </p:txBody>
      </p:sp>
      <p:sp>
        <p:nvSpPr>
          <p:cNvPr id="8" name="Oval 7"/>
          <p:cNvSpPr/>
          <p:nvPr/>
        </p:nvSpPr>
        <p:spPr>
          <a:xfrm>
            <a:off x="3657600" y="5943600"/>
            <a:ext cx="1737360" cy="64008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i="1" dirty="0" smtClean="0">
                <a:solidFill>
                  <a:schemeClr val="accent6">
                    <a:lumMod val="50000"/>
                  </a:schemeClr>
                </a:solidFill>
              </a:rPr>
              <a:t>Interpreter</a:t>
            </a:r>
            <a:endParaRPr lang="en-US" b="1" i="1" dirty="0">
              <a:solidFill>
                <a:schemeClr val="accent6">
                  <a:lumMod val="50000"/>
                </a:schemeClr>
              </a:solidFill>
            </a:endParaRPr>
          </a:p>
        </p:txBody>
      </p:sp>
      <p:sp>
        <p:nvSpPr>
          <p:cNvPr id="9" name="Round Diagonal Corner Rectangle 8"/>
          <p:cNvSpPr/>
          <p:nvPr/>
        </p:nvSpPr>
        <p:spPr>
          <a:xfrm>
            <a:off x="5977662" y="4191000"/>
            <a:ext cx="1828800" cy="1676400"/>
          </a:xfrm>
          <a:prstGeom prst="round2DiagRect">
            <a:avLst>
              <a:gd name="adj1" fmla="val 11533"/>
              <a:gd name="adj2" fmla="val 0"/>
            </a:avLst>
          </a:prstGeom>
          <a:gradFill>
            <a:gsLst>
              <a:gs pos="0">
                <a:schemeClr val="accent1">
                  <a:lumMod val="60000"/>
                  <a:lumOff val="40000"/>
                </a:schemeClr>
              </a:gs>
              <a:gs pos="70000">
                <a:schemeClr val="accent1">
                  <a:lumMod val="40000"/>
                  <a:lumOff val="60000"/>
                </a:schemeClr>
              </a:gs>
              <a:gs pos="100000">
                <a:schemeClr val="accent1">
                  <a:lumMod val="20000"/>
                  <a:lumOff val="80000"/>
                </a:schemeClr>
              </a:gs>
            </a:gsLst>
            <a:lin ang="5400000" scaled="1"/>
          </a:gradFill>
        </p:spPr>
        <p:style>
          <a:lnRef idx="3">
            <a:schemeClr val="lt1"/>
          </a:lnRef>
          <a:fillRef idx="1">
            <a:schemeClr val="dk1"/>
          </a:fillRef>
          <a:effectRef idx="1">
            <a:schemeClr val="dk1"/>
          </a:effectRef>
          <a:fontRef idx="minor">
            <a:schemeClr val="lt1"/>
          </a:fontRef>
        </p:style>
        <p:txBody>
          <a:bodyPr rtlCol="0" anchor="t"/>
          <a:lstStyle/>
          <a:p>
            <a:pPr algn="ctr"/>
            <a:r>
              <a:rPr lang="en-US" b="1" i="1" dirty="0" smtClean="0">
                <a:solidFill>
                  <a:schemeClr val="accent1">
                    <a:lumMod val="50000"/>
                  </a:schemeClr>
                </a:solidFill>
              </a:rPr>
              <a:t>Host Binary Code Cache</a:t>
            </a:r>
            <a:endParaRPr lang="en-US" b="1" i="1" dirty="0">
              <a:solidFill>
                <a:schemeClr val="accent1">
                  <a:lumMod val="50000"/>
                </a:schemeClr>
              </a:solidFill>
            </a:endParaRPr>
          </a:p>
        </p:txBody>
      </p:sp>
      <p:sp>
        <p:nvSpPr>
          <p:cNvPr id="10" name="Rectangle 9"/>
          <p:cNvSpPr/>
          <p:nvPr/>
        </p:nvSpPr>
        <p:spPr>
          <a:xfrm>
            <a:off x="6130062" y="4953000"/>
            <a:ext cx="685800" cy="3048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400" b="1" dirty="0">
              <a:latin typeface="Consolas" pitchFamily="49" charset="0"/>
              <a:cs typeface="Consolas" pitchFamily="49" charset="0"/>
            </a:endParaRPr>
          </a:p>
        </p:txBody>
      </p:sp>
      <p:sp>
        <p:nvSpPr>
          <p:cNvPr id="11" name="Rectangle 10"/>
          <p:cNvSpPr/>
          <p:nvPr/>
        </p:nvSpPr>
        <p:spPr>
          <a:xfrm>
            <a:off x="6130062" y="5410200"/>
            <a:ext cx="685800" cy="3048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400" b="1" dirty="0">
              <a:latin typeface="Consolas" pitchFamily="49" charset="0"/>
              <a:cs typeface="Consolas" pitchFamily="49" charset="0"/>
            </a:endParaRPr>
          </a:p>
        </p:txBody>
      </p:sp>
      <p:sp>
        <p:nvSpPr>
          <p:cNvPr id="12" name="Rectangle 11"/>
          <p:cNvSpPr/>
          <p:nvPr/>
        </p:nvSpPr>
        <p:spPr>
          <a:xfrm>
            <a:off x="6968262" y="4953000"/>
            <a:ext cx="685800" cy="3048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400" b="1" dirty="0">
              <a:latin typeface="Consolas" pitchFamily="49" charset="0"/>
              <a:cs typeface="Consolas" pitchFamily="49" charset="0"/>
            </a:endParaRPr>
          </a:p>
        </p:txBody>
      </p:sp>
      <p:sp>
        <p:nvSpPr>
          <p:cNvPr id="13" name="Rectangle 12"/>
          <p:cNvSpPr/>
          <p:nvPr/>
        </p:nvSpPr>
        <p:spPr>
          <a:xfrm>
            <a:off x="6968262" y="5410200"/>
            <a:ext cx="685800" cy="3048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400" b="1" dirty="0">
              <a:latin typeface="Consolas" pitchFamily="49" charset="0"/>
              <a:cs typeface="Consolas" pitchFamily="49" charset="0"/>
            </a:endParaRPr>
          </a:p>
        </p:txBody>
      </p:sp>
      <p:sp>
        <p:nvSpPr>
          <p:cNvPr id="14" name="Rectangle 13"/>
          <p:cNvSpPr/>
          <p:nvPr/>
        </p:nvSpPr>
        <p:spPr>
          <a:xfrm>
            <a:off x="1295400" y="4724400"/>
            <a:ext cx="1524000" cy="374725"/>
          </a:xfrm>
          <a:prstGeom prst="rect">
            <a:avLst/>
          </a:prstGeom>
        </p:spPr>
        <p:style>
          <a:lnRef idx="0">
            <a:schemeClr val="dk1"/>
          </a:lnRef>
          <a:fillRef idx="3">
            <a:schemeClr val="dk1"/>
          </a:fillRef>
          <a:effectRef idx="3">
            <a:schemeClr val="dk1"/>
          </a:effectRef>
          <a:fontRef idx="minor">
            <a:schemeClr val="lt1"/>
          </a:fontRef>
        </p:style>
        <p:txBody>
          <a:bodyPr rtlCol="0" anchor="ctr"/>
          <a:lstStyle/>
          <a:p>
            <a:endParaRPr lang="en-US" sz="1000" b="1" dirty="0" smtClean="0">
              <a:latin typeface="Consolas" pitchFamily="49" charset="0"/>
              <a:cs typeface="Consolas" pitchFamily="49" charset="0"/>
            </a:endParaRPr>
          </a:p>
        </p:txBody>
      </p:sp>
      <p:sp>
        <p:nvSpPr>
          <p:cNvPr id="15" name="Rectangle 14"/>
          <p:cNvSpPr/>
          <p:nvPr/>
        </p:nvSpPr>
        <p:spPr>
          <a:xfrm>
            <a:off x="1295400" y="5251525"/>
            <a:ext cx="1524000" cy="374725"/>
          </a:xfrm>
          <a:prstGeom prst="rect">
            <a:avLst/>
          </a:prstGeom>
        </p:spPr>
        <p:style>
          <a:lnRef idx="0">
            <a:schemeClr val="dk1"/>
          </a:lnRef>
          <a:fillRef idx="3">
            <a:schemeClr val="dk1"/>
          </a:fillRef>
          <a:effectRef idx="3">
            <a:schemeClr val="dk1"/>
          </a:effectRef>
          <a:fontRef idx="minor">
            <a:schemeClr val="lt1"/>
          </a:fontRef>
        </p:style>
        <p:txBody>
          <a:bodyPr rtlCol="0" anchor="ctr"/>
          <a:lstStyle/>
          <a:p>
            <a:endParaRPr lang="en-US" sz="1400" b="1" dirty="0">
              <a:latin typeface="Consolas" pitchFamily="49" charset="0"/>
              <a:cs typeface="Consolas" pitchFamily="49" charset="0"/>
            </a:endParaRPr>
          </a:p>
        </p:txBody>
      </p:sp>
      <p:sp>
        <p:nvSpPr>
          <p:cNvPr id="16" name="Right Arrow 15"/>
          <p:cNvSpPr/>
          <p:nvPr/>
        </p:nvSpPr>
        <p:spPr>
          <a:xfrm rot="20365690">
            <a:off x="3086986" y="3909435"/>
            <a:ext cx="439978" cy="301752"/>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 name="Right Arrow 16"/>
          <p:cNvSpPr/>
          <p:nvPr/>
        </p:nvSpPr>
        <p:spPr>
          <a:xfrm rot="1234310" flipV="1">
            <a:off x="5503871" y="3909435"/>
            <a:ext cx="439978" cy="301752"/>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8" name="Straight Arrow Connector 17"/>
          <p:cNvCxnSpPr/>
          <p:nvPr/>
        </p:nvCxnSpPr>
        <p:spPr>
          <a:xfrm rot="5400000">
            <a:off x="4420394" y="5653246"/>
            <a:ext cx="457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p:nvPr/>
        </p:nvCxnSpPr>
        <p:spPr>
          <a:xfrm rot="16200000" flipV="1">
            <a:off x="4115594" y="5653246"/>
            <a:ext cx="457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Arrow Connector 19"/>
          <p:cNvCxnSpPr/>
          <p:nvPr/>
        </p:nvCxnSpPr>
        <p:spPr>
          <a:xfrm rot="16200000" flipV="1">
            <a:off x="4297680" y="4429565"/>
            <a:ext cx="457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1" name="Straight Arrow Connector 20"/>
          <p:cNvCxnSpPr/>
          <p:nvPr/>
        </p:nvCxnSpPr>
        <p:spPr>
          <a:xfrm>
            <a:off x="5334000" y="4930590"/>
            <a:ext cx="54864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p:nvPr/>
        </p:nvCxnSpPr>
        <p:spPr>
          <a:xfrm flipH="1">
            <a:off x="5334000" y="5159190"/>
            <a:ext cx="54864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5439543" y="4686161"/>
            <a:ext cx="359394" cy="276999"/>
          </a:xfrm>
          <a:prstGeom prst="rect">
            <a:avLst/>
          </a:prstGeom>
          <a:noFill/>
        </p:spPr>
        <p:txBody>
          <a:bodyPr wrap="none" rtlCol="0">
            <a:spAutoFit/>
          </a:bodyPr>
          <a:lstStyle/>
          <a:p>
            <a:r>
              <a:rPr lang="en-US" sz="1200" b="1" dirty="0" smtClean="0"/>
              <a:t>hit</a:t>
            </a:r>
            <a:endParaRPr lang="en-US" sz="1200" b="1" dirty="0"/>
          </a:p>
        </p:txBody>
      </p:sp>
      <p:sp>
        <p:nvSpPr>
          <p:cNvPr id="24" name="TextBox 23"/>
          <p:cNvSpPr txBox="1"/>
          <p:nvPr/>
        </p:nvSpPr>
        <p:spPr>
          <a:xfrm>
            <a:off x="5408702" y="5153521"/>
            <a:ext cx="421077" cy="276999"/>
          </a:xfrm>
          <a:prstGeom prst="rect">
            <a:avLst/>
          </a:prstGeom>
          <a:noFill/>
        </p:spPr>
        <p:txBody>
          <a:bodyPr wrap="none" rtlCol="0">
            <a:spAutoFit/>
          </a:bodyPr>
          <a:lstStyle/>
          <a:p>
            <a:r>
              <a:rPr lang="en-US" sz="1200" b="1" dirty="0" smtClean="0"/>
              <a:t>exit</a:t>
            </a:r>
            <a:endParaRPr lang="en-US" sz="1200" b="1" dirty="0"/>
          </a:p>
        </p:txBody>
      </p:sp>
      <p:sp>
        <p:nvSpPr>
          <p:cNvPr id="25" name="TextBox 24"/>
          <p:cNvSpPr txBox="1"/>
          <p:nvPr/>
        </p:nvSpPr>
        <p:spPr>
          <a:xfrm>
            <a:off x="4651782" y="5504041"/>
            <a:ext cx="470000" cy="276999"/>
          </a:xfrm>
          <a:prstGeom prst="rect">
            <a:avLst/>
          </a:prstGeom>
          <a:noFill/>
        </p:spPr>
        <p:txBody>
          <a:bodyPr wrap="none" rtlCol="0">
            <a:spAutoFit/>
          </a:bodyPr>
          <a:lstStyle/>
          <a:p>
            <a:r>
              <a:rPr lang="en-US" sz="1200" b="1" dirty="0" smtClean="0"/>
              <a:t>miss</a:t>
            </a:r>
            <a:endParaRPr lang="en-US" sz="1200" b="1" dirty="0"/>
          </a:p>
        </p:txBody>
      </p:sp>
      <p:sp>
        <p:nvSpPr>
          <p:cNvPr id="26" name="TextBox 25"/>
          <p:cNvSpPr txBox="1"/>
          <p:nvPr/>
        </p:nvSpPr>
        <p:spPr>
          <a:xfrm>
            <a:off x="3767862" y="5504041"/>
            <a:ext cx="587469" cy="276999"/>
          </a:xfrm>
          <a:prstGeom prst="rect">
            <a:avLst/>
          </a:prstGeom>
          <a:noFill/>
        </p:spPr>
        <p:txBody>
          <a:bodyPr wrap="none" rtlCol="0">
            <a:spAutoFit/>
          </a:bodyPr>
          <a:lstStyle/>
          <a:p>
            <a:r>
              <a:rPr lang="en-US" sz="1200" b="1" dirty="0" smtClean="0"/>
              <a:t>return</a:t>
            </a:r>
            <a:endParaRPr lang="en-US" sz="1200" b="1" dirty="0"/>
          </a:p>
        </p:txBody>
      </p:sp>
      <p:sp>
        <p:nvSpPr>
          <p:cNvPr id="27" name="TextBox 26"/>
          <p:cNvSpPr txBox="1"/>
          <p:nvPr/>
        </p:nvSpPr>
        <p:spPr>
          <a:xfrm>
            <a:off x="4524782" y="4318000"/>
            <a:ext cx="609077" cy="276999"/>
          </a:xfrm>
          <a:prstGeom prst="rect">
            <a:avLst/>
          </a:prstGeom>
          <a:noFill/>
        </p:spPr>
        <p:txBody>
          <a:bodyPr wrap="none" rtlCol="0">
            <a:spAutoFit/>
          </a:bodyPr>
          <a:lstStyle/>
          <a:p>
            <a:r>
              <a:rPr lang="en-US" sz="1200" b="1" dirty="0" smtClean="0"/>
              <a:t>trigger</a:t>
            </a:r>
            <a:endParaRPr lang="en-US" sz="1200" b="1" dirty="0"/>
          </a:p>
        </p:txBody>
      </p:sp>
      <p:sp>
        <p:nvSpPr>
          <p:cNvPr id="28" name="TextBox 27"/>
          <p:cNvSpPr txBox="1"/>
          <p:nvPr/>
        </p:nvSpPr>
        <p:spPr>
          <a:xfrm>
            <a:off x="609600" y="1600200"/>
            <a:ext cx="8060668" cy="1631216"/>
          </a:xfrm>
          <a:prstGeom prst="rect">
            <a:avLst/>
          </a:prstGeom>
          <a:noFill/>
        </p:spPr>
        <p:txBody>
          <a:bodyPr wrap="none" rtlCol="0">
            <a:spAutoFit/>
          </a:bodyPr>
          <a:lstStyle/>
          <a:p>
            <a:pPr indent="274320">
              <a:buFont typeface="+mj-lt"/>
              <a:buAutoNum type="arabicPeriod"/>
            </a:pPr>
            <a:r>
              <a:rPr lang="en-US" sz="2000" dirty="0" smtClean="0">
                <a:solidFill>
                  <a:schemeClr val="accent1">
                    <a:lumMod val="50000"/>
                  </a:schemeClr>
                </a:solidFill>
              </a:rPr>
              <a:t>First time execution, no translated code in code cache.</a:t>
            </a:r>
          </a:p>
          <a:p>
            <a:pPr indent="274320">
              <a:buFont typeface="+mj-lt"/>
              <a:buAutoNum type="arabicPeriod"/>
            </a:pPr>
            <a:r>
              <a:rPr lang="en-US" sz="2000" dirty="0" smtClean="0">
                <a:solidFill>
                  <a:schemeClr val="accent1">
                    <a:lumMod val="50000"/>
                  </a:schemeClr>
                </a:solidFill>
              </a:rPr>
              <a:t>Miss code cache matching, then directly interpret the guest instruction.</a:t>
            </a:r>
          </a:p>
          <a:p>
            <a:pPr indent="274320">
              <a:buFont typeface="+mj-lt"/>
              <a:buAutoNum type="arabicPeriod"/>
            </a:pPr>
            <a:r>
              <a:rPr lang="en-US" sz="2000" dirty="0" smtClean="0">
                <a:solidFill>
                  <a:schemeClr val="accent1">
                    <a:lumMod val="50000"/>
                  </a:schemeClr>
                </a:solidFill>
              </a:rPr>
              <a:t>As a code block discovered, trigger the binary translation module.</a:t>
            </a:r>
          </a:p>
          <a:p>
            <a:pPr indent="274320">
              <a:buFont typeface="+mj-lt"/>
              <a:buAutoNum type="arabicPeriod"/>
            </a:pPr>
            <a:r>
              <a:rPr lang="en-US" sz="2000" dirty="0" smtClean="0">
                <a:solidFill>
                  <a:schemeClr val="accent1">
                    <a:lumMod val="50000"/>
                  </a:schemeClr>
                </a:solidFill>
              </a:rPr>
              <a:t>Translate guest code block to host binary, and place it in the code cache.</a:t>
            </a:r>
          </a:p>
          <a:p>
            <a:pPr indent="274320">
              <a:buFont typeface="+mj-lt"/>
              <a:buAutoNum type="arabicPeriod"/>
            </a:pPr>
            <a:r>
              <a:rPr lang="en-US" sz="2000" dirty="0" smtClean="0">
                <a:solidFill>
                  <a:schemeClr val="accent1">
                    <a:lumMod val="50000"/>
                  </a:schemeClr>
                </a:solidFill>
              </a:rPr>
              <a:t>Next time execution, run the translated code clock in the code cache.</a:t>
            </a:r>
            <a:endParaRPr lang="en-US" sz="2000"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28">
                                            <p:txEl>
                                              <p:pRg st="1" end="1"/>
                                            </p:txEl>
                                          </p:spTgt>
                                        </p:tgtEl>
                                        <p:attrNameLst>
                                          <p:attrName>style.visibility</p:attrName>
                                        </p:attrNameLst>
                                      </p:cBhvr>
                                      <p:to>
                                        <p:strVal val="visible"/>
                                      </p:to>
                                    </p:set>
                                    <p:animEffect transition="in" filter="fade">
                                      <p:cBhvr>
                                        <p:cTn id="30" dur="500"/>
                                        <p:tgtEl>
                                          <p:spTgt spid="28">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xEl>
                                              <p:pRg st="2" end="2"/>
                                            </p:txEl>
                                          </p:spTgt>
                                        </p:tgtEl>
                                        <p:attrNameLst>
                                          <p:attrName>style.visibility</p:attrName>
                                        </p:attrNameLst>
                                      </p:cBhvr>
                                      <p:to>
                                        <p:strVal val="visible"/>
                                      </p:to>
                                    </p:set>
                                    <p:animEffect transition="in" filter="fade">
                                      <p:cBhvr>
                                        <p:cTn id="50" dur="500"/>
                                        <p:tgtEl>
                                          <p:spTgt spid="28">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par>
                                <p:cTn id="59" presetID="10" presetClass="entr" presetSubtype="0" fill="hold" nodeType="withEffect">
                                  <p:stCondLst>
                                    <p:cond delay="0"/>
                                  </p:stCondLst>
                                  <p:childTnLst>
                                    <p:set>
                                      <p:cBhvr>
                                        <p:cTn id="60" dur="1" fill="hold">
                                          <p:stCondLst>
                                            <p:cond delay="0"/>
                                          </p:stCondLst>
                                        </p:cTn>
                                        <p:tgtEl>
                                          <p:spTgt spid="28">
                                            <p:txEl>
                                              <p:pRg st="3" end="3"/>
                                            </p:txEl>
                                          </p:spTgt>
                                        </p:tgtEl>
                                        <p:attrNameLst>
                                          <p:attrName>style.visibility</p:attrName>
                                        </p:attrNameLst>
                                      </p:cBhvr>
                                      <p:to>
                                        <p:strVal val="visible"/>
                                      </p:to>
                                    </p:set>
                                    <p:animEffect transition="in" filter="fade">
                                      <p:cBhvr>
                                        <p:cTn id="61" dur="500"/>
                                        <p:tgtEl>
                                          <p:spTgt spid="28">
                                            <p:txEl>
                                              <p:pRg st="3" end="3"/>
                                            </p:txEl>
                                          </p:spTgt>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dissolve">
                                      <p:cBhvr>
                                        <p:cTn id="65" dur="500"/>
                                        <p:tgtEl>
                                          <p:spTgt spid="10"/>
                                        </p:tgtEl>
                                      </p:cBhvr>
                                    </p:animEffect>
                                  </p:childTnLst>
                                </p:cTn>
                              </p:par>
                            </p:childTnLst>
                          </p:cTn>
                        </p:par>
                        <p:par>
                          <p:cTn id="66" fill="hold">
                            <p:stCondLst>
                              <p:cond delay="1000"/>
                            </p:stCondLst>
                            <p:childTnLst>
                              <p:par>
                                <p:cTn id="67" presetID="9" presetClass="entr" presetSubtype="0" fill="hold" grpId="0" nodeType="after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dissolve">
                                      <p:cBhvr>
                                        <p:cTn id="69" dur="500"/>
                                        <p:tgtEl>
                                          <p:spTgt spid="12"/>
                                        </p:tgtEl>
                                      </p:cBhvr>
                                    </p:animEffect>
                                  </p:childTnLst>
                                </p:cTn>
                              </p:par>
                            </p:childTnLst>
                          </p:cTn>
                        </p:par>
                        <p:par>
                          <p:cTn id="70" fill="hold">
                            <p:stCondLst>
                              <p:cond delay="1500"/>
                            </p:stCondLst>
                            <p:childTnLst>
                              <p:par>
                                <p:cTn id="71" presetID="9" presetClass="entr" presetSubtype="0" fill="hold" grpId="0" nodeType="after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dissolve">
                                      <p:cBhvr>
                                        <p:cTn id="73" dur="500"/>
                                        <p:tgtEl>
                                          <p:spTgt spid="11"/>
                                        </p:tgtEl>
                                      </p:cBhvr>
                                    </p:animEffect>
                                  </p:childTnLst>
                                </p:cTn>
                              </p:par>
                            </p:childTnLst>
                          </p:cTn>
                        </p:par>
                        <p:par>
                          <p:cTn id="74" fill="hold">
                            <p:stCondLst>
                              <p:cond delay="2000"/>
                            </p:stCondLst>
                            <p:childTnLst>
                              <p:par>
                                <p:cTn id="75" presetID="9" presetClass="entr" presetSubtype="0" fill="hold" grpId="0" nodeType="after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dissolve">
                                      <p:cBhvr>
                                        <p:cTn id="77" dur="500"/>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par>
                                <p:cTn id="83" presetID="10" presetClass="entr" presetSubtype="0" fill="hold" nodeType="with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500"/>
                                        <p:tgtEl>
                                          <p:spTgt spid="2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00"/>
                                        <p:tgtEl>
                                          <p:spTgt spid="2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500"/>
                                        <p:tgtEl>
                                          <p:spTgt spid="2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5"/>
                                        </p:tgtEl>
                                        <p:attrNameLst>
                                          <p:attrName>style.visibility</p:attrName>
                                        </p:attrNameLst>
                                      </p:cBhvr>
                                      <p:to>
                                        <p:strVal val="visible"/>
                                      </p:to>
                                    </p:set>
                                    <p:animEffect transition="in" filter="fade">
                                      <p:cBhvr>
                                        <p:cTn id="94" dur="500"/>
                                        <p:tgtEl>
                                          <p:spTgt spid="15"/>
                                        </p:tgtEl>
                                      </p:cBhvr>
                                    </p:animEffect>
                                  </p:childTnLst>
                                </p:cTn>
                              </p:par>
                              <p:par>
                                <p:cTn id="95" presetID="10" presetClass="entr" presetSubtype="0" fill="hold" nodeType="withEffect">
                                  <p:stCondLst>
                                    <p:cond delay="0"/>
                                  </p:stCondLst>
                                  <p:childTnLst>
                                    <p:set>
                                      <p:cBhvr>
                                        <p:cTn id="96" dur="1" fill="hold">
                                          <p:stCondLst>
                                            <p:cond delay="0"/>
                                          </p:stCondLst>
                                        </p:cTn>
                                        <p:tgtEl>
                                          <p:spTgt spid="28">
                                            <p:txEl>
                                              <p:pRg st="4" end="4"/>
                                            </p:txEl>
                                          </p:spTgt>
                                        </p:tgtEl>
                                        <p:attrNameLst>
                                          <p:attrName>style.visibility</p:attrName>
                                        </p:attrNameLst>
                                      </p:cBhvr>
                                      <p:to>
                                        <p:strVal val="visible"/>
                                      </p:to>
                                    </p:set>
                                    <p:animEffect transition="in" filter="fade">
                                      <p:cBhvr>
                                        <p:cTn id="97" dur="500"/>
                                        <p:tgtEl>
                                          <p:spTgt spid="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23" grpId="0"/>
      <p:bldP spid="24" grpId="0"/>
      <p:bldP spid="25" grpId="0"/>
      <p:bldP spid="26" grpId="0"/>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idx="4294967295"/>
          </p:nvPr>
        </p:nvSpPr>
        <p:spPr>
          <a:xfrm>
            <a:off x="1371600" y="4406900"/>
            <a:ext cx="7772400" cy="1362075"/>
          </a:xfrm>
        </p:spPr>
        <p:txBody>
          <a:bodyPr/>
          <a:lstStyle/>
          <a:p>
            <a:r>
              <a:rPr lang="en-US" altLang="zh-TW" dirty="0" smtClean="0"/>
              <a:t>Design challenges and issues</a:t>
            </a:r>
            <a:endParaRPr lang="zh-TW" altLang="en-US" dirty="0"/>
          </a:p>
        </p:txBody>
      </p:sp>
      <p:sp>
        <p:nvSpPr>
          <p:cNvPr id="3" name="內容版面配置區 2"/>
          <p:cNvSpPr>
            <a:spLocks noGrp="1"/>
          </p:cNvSpPr>
          <p:nvPr>
            <p:ph type="body" idx="4294967295"/>
          </p:nvPr>
        </p:nvSpPr>
        <p:spPr>
          <a:xfrm>
            <a:off x="1371600" y="2906713"/>
            <a:ext cx="7772400" cy="1500187"/>
          </a:xfrm>
        </p:spPr>
        <p:txBody>
          <a:bodyPr/>
          <a:lstStyle/>
          <a:p>
            <a:pPr>
              <a:buNone/>
            </a:pPr>
            <a:r>
              <a:rPr lang="en-US" altLang="zh-TW" dirty="0" smtClean="0"/>
              <a:t>Register mapping problem</a:t>
            </a:r>
          </a:p>
          <a:p>
            <a:pPr>
              <a:buNone/>
            </a:pPr>
            <a:r>
              <a:rPr lang="en-US" altLang="zh-TW" dirty="0" smtClean="0"/>
              <a:t>Performance improvement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 Mapping Problem</a:t>
            </a:r>
            <a:endParaRPr lang="en-US" dirty="0"/>
          </a:p>
        </p:txBody>
      </p:sp>
      <p:sp>
        <p:nvSpPr>
          <p:cNvPr id="3" name="Content Placeholder 2"/>
          <p:cNvSpPr>
            <a:spLocks noGrp="1"/>
          </p:cNvSpPr>
          <p:nvPr>
            <p:ph idx="1"/>
          </p:nvPr>
        </p:nvSpPr>
        <p:spPr>
          <a:xfrm>
            <a:off x="457200" y="1371600"/>
            <a:ext cx="8229600" cy="1828800"/>
          </a:xfrm>
        </p:spPr>
        <p:txBody>
          <a:bodyPr/>
          <a:lstStyle/>
          <a:p>
            <a:r>
              <a:rPr lang="en-US" dirty="0" smtClean="0"/>
              <a:t>Why should we map registers ?</a:t>
            </a:r>
          </a:p>
          <a:p>
            <a:pPr lvl="1"/>
            <a:r>
              <a:rPr lang="en-US" dirty="0" smtClean="0"/>
              <a:t>Different ISA will define different number of registers.</a:t>
            </a:r>
          </a:p>
          <a:p>
            <a:pPr lvl="1"/>
            <a:r>
              <a:rPr lang="en-US" dirty="0" smtClean="0"/>
              <a:t>Sometimes guest ISA even require some special purpose register which host ISA does not defined.</a:t>
            </a:r>
          </a:p>
        </p:txBody>
      </p:sp>
      <p:pic>
        <p:nvPicPr>
          <p:cNvPr id="5122" name="Picture 2"/>
          <p:cNvPicPr>
            <a:picLocks noChangeAspect="1" noChangeArrowheads="1"/>
          </p:cNvPicPr>
          <p:nvPr/>
        </p:nvPicPr>
        <p:blipFill>
          <a:blip r:embed="rId2" cstate="print"/>
          <a:srcRect/>
          <a:stretch>
            <a:fillRect/>
          </a:stretch>
        </p:blipFill>
        <p:spPr bwMode="auto">
          <a:xfrm>
            <a:off x="1143000" y="2911813"/>
            <a:ext cx="6858000" cy="37937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 Mapping Problem</a:t>
            </a:r>
            <a:endParaRPr lang="en-US" dirty="0"/>
          </a:p>
        </p:txBody>
      </p:sp>
      <p:sp>
        <p:nvSpPr>
          <p:cNvPr id="3" name="Content Placeholder 2"/>
          <p:cNvSpPr>
            <a:spLocks noGrp="1"/>
          </p:cNvSpPr>
          <p:nvPr>
            <p:ph idx="1"/>
          </p:nvPr>
        </p:nvSpPr>
        <p:spPr/>
        <p:txBody>
          <a:bodyPr/>
          <a:lstStyle/>
          <a:p>
            <a:r>
              <a:rPr lang="en-US" dirty="0" smtClean="0"/>
              <a:t>Mapping different purpose of registers :</a:t>
            </a:r>
          </a:p>
          <a:p>
            <a:pPr lvl="1"/>
            <a:r>
              <a:rPr lang="en-US" dirty="0" smtClean="0"/>
              <a:t>Map special purpose registers</a:t>
            </a:r>
          </a:p>
          <a:p>
            <a:pPr lvl="2"/>
            <a:r>
              <a:rPr lang="en-US" dirty="0" smtClean="0"/>
              <a:t>Program Counter Register</a:t>
            </a:r>
          </a:p>
          <a:p>
            <a:pPr lvl="2"/>
            <a:r>
              <a:rPr lang="en-US" dirty="0" smtClean="0"/>
              <a:t>Stack Pointer Register</a:t>
            </a:r>
          </a:p>
          <a:p>
            <a:pPr lvl="2"/>
            <a:r>
              <a:rPr lang="en-US" dirty="0" smtClean="0"/>
              <a:t>Page Table Register</a:t>
            </a:r>
          </a:p>
          <a:p>
            <a:pPr lvl="2"/>
            <a:r>
              <a:rPr lang="en-US" dirty="0" smtClean="0"/>
              <a:t>System Statues Register</a:t>
            </a:r>
          </a:p>
          <a:p>
            <a:pPr lvl="2"/>
            <a:r>
              <a:rPr lang="en-US" dirty="0" smtClean="0"/>
              <a:t>Special Flags Register</a:t>
            </a:r>
          </a:p>
          <a:p>
            <a:pPr lvl="1"/>
            <a:r>
              <a:rPr lang="en-US" dirty="0" smtClean="0"/>
              <a:t>Hold guest context and memory image</a:t>
            </a:r>
          </a:p>
          <a:p>
            <a:pPr lvl="1"/>
            <a:r>
              <a:rPr lang="en-US" dirty="0" smtClean="0"/>
              <a:t>Map general purpose registers</a:t>
            </a:r>
          </a:p>
          <a:p>
            <a:pPr lvl="1"/>
            <a:r>
              <a:rPr lang="en-US" dirty="0" smtClean="0"/>
              <a:t>Map intermediate values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 Mapping Problem</a:t>
            </a:r>
            <a:endParaRPr lang="en-US" dirty="0"/>
          </a:p>
        </p:txBody>
      </p:sp>
      <p:sp>
        <p:nvSpPr>
          <p:cNvPr id="3" name="Content Placeholder 2"/>
          <p:cNvSpPr>
            <a:spLocks noGrp="1"/>
          </p:cNvSpPr>
          <p:nvPr>
            <p:ph idx="1"/>
          </p:nvPr>
        </p:nvSpPr>
        <p:spPr>
          <a:xfrm>
            <a:off x="457200" y="1600200"/>
            <a:ext cx="8229600" cy="4953000"/>
          </a:xfrm>
        </p:spPr>
        <p:txBody>
          <a:bodyPr/>
          <a:lstStyle/>
          <a:p>
            <a:r>
              <a:rPr lang="en-US" dirty="0" smtClean="0"/>
              <a:t>If number of host registers is larger the guest</a:t>
            </a:r>
          </a:p>
          <a:p>
            <a:pPr lvl="1"/>
            <a:r>
              <a:rPr lang="en-US" dirty="0" smtClean="0"/>
              <a:t>That will be an easier case for implementation.</a:t>
            </a:r>
          </a:p>
          <a:p>
            <a:pPr lvl="1"/>
            <a:r>
              <a:rPr lang="en-US" dirty="0" smtClean="0"/>
              <a:t>Directly map one register of guest to one of host, and make use of the rest registers for optimization.</a:t>
            </a:r>
          </a:p>
          <a:p>
            <a:pPr lvl="1"/>
            <a:r>
              <a:rPr lang="en-US" dirty="0" smtClean="0"/>
              <a:t>Example :</a:t>
            </a:r>
          </a:p>
          <a:p>
            <a:pPr lvl="2"/>
            <a:r>
              <a:rPr lang="en-US" dirty="0" smtClean="0"/>
              <a:t>Translating x86 binary to RISC</a:t>
            </a:r>
            <a:br>
              <a:rPr lang="en-US" dirty="0" smtClean="0"/>
            </a:br>
            <a:endParaRPr lang="en-US" dirty="0" smtClean="0"/>
          </a:p>
          <a:p>
            <a:r>
              <a:rPr lang="en-US" dirty="0" smtClean="0"/>
              <a:t>If number of host registers is not enough</a:t>
            </a:r>
          </a:p>
          <a:p>
            <a:pPr lvl="1"/>
            <a:r>
              <a:rPr lang="en-US" dirty="0" smtClean="0"/>
              <a:t>That should involve more effort.</a:t>
            </a:r>
          </a:p>
          <a:p>
            <a:pPr lvl="1"/>
            <a:r>
              <a:rPr lang="en-US" dirty="0" smtClean="0"/>
              <a:t>Emulator may only map some frequently used guest registers to host, and left the unmapped registers in memory.</a:t>
            </a:r>
          </a:p>
          <a:p>
            <a:pPr lvl="1"/>
            <a:r>
              <a:rPr lang="en-US" dirty="0" smtClean="0"/>
              <a:t>Mapping decision will be critical in this case.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Improvement</a:t>
            </a:r>
            <a:endParaRPr lang="en-US" dirty="0"/>
          </a:p>
        </p:txBody>
      </p:sp>
      <p:sp>
        <p:nvSpPr>
          <p:cNvPr id="3" name="Content Placeholder 2"/>
          <p:cNvSpPr>
            <a:spLocks noGrp="1"/>
          </p:cNvSpPr>
          <p:nvPr>
            <p:ph idx="1"/>
          </p:nvPr>
        </p:nvSpPr>
        <p:spPr/>
        <p:txBody>
          <a:bodyPr/>
          <a:lstStyle/>
          <a:p>
            <a:r>
              <a:rPr lang="en-US" dirty="0" smtClean="0"/>
              <a:t>What introduces the performance hit ?</a:t>
            </a:r>
          </a:p>
          <a:p>
            <a:pPr lvl="1"/>
            <a:r>
              <a:rPr lang="en-US" dirty="0" smtClean="0"/>
              <a:t>Control flow problem</a:t>
            </a:r>
          </a:p>
          <a:p>
            <a:pPr lvl="2"/>
            <a:r>
              <a:rPr lang="en-US" dirty="0" smtClean="0"/>
              <a:t>Highly frequent context switches between code caches and emulation manager will degrade performance.</a:t>
            </a:r>
          </a:p>
          <a:p>
            <a:pPr lvl="1"/>
            <a:r>
              <a:rPr lang="en-US" dirty="0" smtClean="0"/>
              <a:t>Target code optimization</a:t>
            </a:r>
          </a:p>
          <a:p>
            <a:pPr lvl="2"/>
            <a:r>
              <a:rPr lang="en-US" dirty="0" smtClean="0"/>
              <a:t>Translate guest code block in instruction-wise (translate one instruction at a time) will miss many optimization opportunities.</a:t>
            </a:r>
            <a:br>
              <a:rPr lang="en-US" dirty="0" smtClean="0"/>
            </a:br>
            <a:endParaRPr lang="en-US" dirty="0" smtClean="0"/>
          </a:p>
          <a:p>
            <a:r>
              <a:rPr lang="en-US" dirty="0" smtClean="0"/>
              <a:t>Solutions :</a:t>
            </a:r>
          </a:p>
          <a:p>
            <a:pPr lvl="1"/>
            <a:r>
              <a:rPr lang="en-US" dirty="0" smtClean="0"/>
              <a:t>Translation Chaining</a:t>
            </a:r>
          </a:p>
          <a:p>
            <a:pPr lvl="1"/>
            <a:r>
              <a:rPr lang="en-US" dirty="0" smtClean="0"/>
              <a:t>Dynamic Optimization</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Translation Chaining</a:t>
            </a:r>
            <a:endParaRPr lang="en-US"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2590800" y="1427712"/>
            <a:ext cx="6400800" cy="5354088"/>
          </a:xfrm>
          <a:prstGeom prst="rect">
            <a:avLst/>
          </a:prstGeom>
          <a:noFill/>
          <a:ln w="9525">
            <a:noFill/>
            <a:miter lim="800000"/>
            <a:headEnd/>
            <a:tailEnd/>
          </a:ln>
          <a:effectLst/>
        </p:spPr>
      </p:pic>
      <p:sp>
        <p:nvSpPr>
          <p:cNvPr id="5" name="Content Placeholder 2"/>
          <p:cNvSpPr txBox="1">
            <a:spLocks/>
          </p:cNvSpPr>
          <p:nvPr/>
        </p:nvSpPr>
        <p:spPr>
          <a:xfrm>
            <a:off x="381000" y="1295400"/>
            <a:ext cx="4953000" cy="1371599"/>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Non-optimized control flow</a:t>
            </a:r>
            <a:br>
              <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br>
            <a:r>
              <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between</a:t>
            </a:r>
            <a:r>
              <a:rPr kumimoji="0" lang="en-US" sz="2400" b="0" i="0" u="none" strike="noStrike" kern="1200" cap="none" spc="0" normalizeH="0" noProof="0" dirty="0" smtClean="0">
                <a:ln>
                  <a:noFill/>
                </a:ln>
                <a:solidFill>
                  <a:schemeClr val="tx2">
                    <a:lumMod val="75000"/>
                  </a:schemeClr>
                </a:solidFill>
                <a:effectLst/>
                <a:uLnTx/>
                <a:uFillTx/>
                <a:latin typeface="Cambria" pitchFamily="18" charset="0"/>
                <a:ea typeface="+mn-ea"/>
                <a:cs typeface="+mn-cs"/>
              </a:rPr>
              <a:t> translated blocks and</a:t>
            </a:r>
            <a:br>
              <a:rPr kumimoji="0" lang="en-US" sz="2400" b="0" i="0" u="none" strike="noStrike" kern="1200" cap="none" spc="0" normalizeH="0" noProof="0" dirty="0" smtClean="0">
                <a:ln>
                  <a:noFill/>
                </a:ln>
                <a:solidFill>
                  <a:schemeClr val="tx2">
                    <a:lumMod val="75000"/>
                  </a:schemeClr>
                </a:solidFill>
                <a:effectLst/>
                <a:uLnTx/>
                <a:uFillTx/>
                <a:latin typeface="Cambria" pitchFamily="18" charset="0"/>
                <a:ea typeface="+mn-ea"/>
                <a:cs typeface="+mn-cs"/>
              </a:rPr>
            </a:br>
            <a:r>
              <a:rPr kumimoji="0" lang="en-US" sz="2400" b="0" i="0" u="none" strike="noStrike" kern="1200" cap="none" spc="0" normalizeH="0" noProof="0" dirty="0" smtClean="0">
                <a:ln>
                  <a:noFill/>
                </a:ln>
                <a:solidFill>
                  <a:schemeClr val="tx2">
                    <a:lumMod val="75000"/>
                  </a:schemeClr>
                </a:solidFill>
                <a:effectLst/>
                <a:uLnTx/>
                <a:uFillTx/>
                <a:latin typeface="Cambria" pitchFamily="18" charset="0"/>
                <a:ea typeface="+mn-ea"/>
                <a:cs typeface="+mn-cs"/>
              </a:rPr>
              <a:t>emulation manager.</a:t>
            </a:r>
            <a:endParaRPr kumimoji="0" lang="en-US" sz="2400" b="0" i="0" u="none" strike="noStrike" kern="1200" cap="none" spc="0" normalizeH="0" baseline="0" noProof="0" dirty="0">
              <a:ln>
                <a:noFill/>
              </a:ln>
              <a:solidFill>
                <a:schemeClr val="tx2">
                  <a:lumMod val="75000"/>
                </a:schemeClr>
              </a:solidFill>
              <a:effectLst/>
              <a:uLnTx/>
              <a:uFillTx/>
              <a:latin typeface="Cambria" pitchFamily="18" charset="0"/>
              <a:ea typeface="+mn-ea"/>
              <a:cs typeface="+mn-cs"/>
            </a:endParaRPr>
          </a:p>
        </p:txBody>
      </p:sp>
      <p:sp>
        <p:nvSpPr>
          <p:cNvPr id="6" name="Oval 5"/>
          <p:cNvSpPr/>
          <p:nvPr/>
        </p:nvSpPr>
        <p:spPr>
          <a:xfrm>
            <a:off x="4419600" y="2286000"/>
            <a:ext cx="1066800" cy="3886200"/>
          </a:xfrm>
          <a:prstGeom prst="ellipse">
            <a:avLst/>
          </a:prstGeom>
          <a:noFill/>
          <a:ln w="57150"/>
          <a:effectLst>
            <a:glow rad="63500">
              <a:schemeClr val="accent6">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p:cNvSpPr/>
          <p:nvPr/>
        </p:nvSpPr>
        <p:spPr>
          <a:xfrm>
            <a:off x="2133600" y="5334000"/>
            <a:ext cx="2370392" cy="461665"/>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2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Contex</a:t>
            </a:r>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 Switches</a:t>
            </a:r>
            <a:endParaRPr lang="en-US" sz="2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Translation Chaining</a:t>
            </a:r>
            <a:endParaRPr lang="en-US" dirty="0"/>
          </a:p>
        </p:txBody>
      </p:sp>
      <p:sp>
        <p:nvSpPr>
          <p:cNvPr id="3" name="Content Placeholder 2"/>
          <p:cNvSpPr>
            <a:spLocks noGrp="1"/>
          </p:cNvSpPr>
          <p:nvPr>
            <p:ph idx="1"/>
          </p:nvPr>
        </p:nvSpPr>
        <p:spPr>
          <a:xfrm>
            <a:off x="457200" y="1600201"/>
            <a:ext cx="4191000" cy="1676400"/>
          </a:xfrm>
        </p:spPr>
        <p:txBody>
          <a:bodyPr/>
          <a:lstStyle/>
          <a:p>
            <a:r>
              <a:rPr lang="en-US" dirty="0" smtClean="0"/>
              <a:t>Jump from one translation directly to next, which avoid switching back to emulation manager.</a:t>
            </a:r>
          </a:p>
        </p:txBody>
      </p:sp>
      <p:pic>
        <p:nvPicPr>
          <p:cNvPr id="7170" name="Picture 2"/>
          <p:cNvPicPr>
            <a:picLocks noChangeAspect="1" noChangeArrowheads="1"/>
          </p:cNvPicPr>
          <p:nvPr/>
        </p:nvPicPr>
        <p:blipFill>
          <a:blip r:embed="rId2" cstate="print"/>
          <a:srcRect/>
          <a:stretch>
            <a:fillRect/>
          </a:stretch>
        </p:blipFill>
        <p:spPr bwMode="auto">
          <a:xfrm>
            <a:off x="2590800" y="1428254"/>
            <a:ext cx="6400800" cy="53535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Optimization</a:t>
            </a:r>
            <a:endParaRPr lang="en-US" dirty="0"/>
          </a:p>
        </p:txBody>
      </p:sp>
      <p:sp>
        <p:nvSpPr>
          <p:cNvPr id="3" name="Content Placeholder 2"/>
          <p:cNvSpPr>
            <a:spLocks noGrp="1"/>
          </p:cNvSpPr>
          <p:nvPr>
            <p:ph idx="1"/>
          </p:nvPr>
        </p:nvSpPr>
        <p:spPr>
          <a:xfrm>
            <a:off x="457200" y="1600200"/>
            <a:ext cx="8229600" cy="5029200"/>
          </a:xfrm>
        </p:spPr>
        <p:txBody>
          <a:bodyPr>
            <a:noAutofit/>
          </a:bodyPr>
          <a:lstStyle/>
          <a:p>
            <a:r>
              <a:rPr lang="en-US" dirty="0" smtClean="0"/>
              <a:t>How to optimize binary codes ?</a:t>
            </a:r>
          </a:p>
          <a:p>
            <a:pPr lvl="1"/>
            <a:r>
              <a:rPr lang="en-US" dirty="0" smtClean="0"/>
              <a:t>Static optimization (compiling time optimization)</a:t>
            </a:r>
          </a:p>
          <a:p>
            <a:pPr lvl="2"/>
            <a:r>
              <a:rPr lang="en-US" dirty="0" smtClean="0"/>
              <a:t>Optimization techniques apply to generate binary code base on the </a:t>
            </a:r>
            <a:r>
              <a:rPr lang="en-US" altLang="zh-TW" dirty="0" smtClean="0">
                <a:ea typeface="新細明體" charset="-120"/>
              </a:rPr>
              <a:t>semantic </a:t>
            </a:r>
            <a:r>
              <a:rPr lang="en-US" dirty="0" smtClean="0"/>
              <a:t>information in source code.</a:t>
            </a:r>
          </a:p>
          <a:p>
            <a:pPr lvl="1"/>
            <a:r>
              <a:rPr lang="en-US" dirty="0" smtClean="0"/>
              <a:t>Dynamic optimization (run time optimization)</a:t>
            </a:r>
          </a:p>
          <a:p>
            <a:pPr lvl="2"/>
            <a:r>
              <a:rPr lang="en-US" dirty="0" smtClean="0"/>
              <a:t>Optimization techniques apply to generated binary code base on the</a:t>
            </a:r>
            <a:br>
              <a:rPr lang="en-US" dirty="0" smtClean="0"/>
            </a:br>
            <a:r>
              <a:rPr lang="en-US" dirty="0" smtClean="0"/>
              <a:t>run time information which relate to program input data.</a:t>
            </a:r>
            <a:br>
              <a:rPr lang="en-US" dirty="0" smtClean="0"/>
            </a:br>
            <a:endParaRPr lang="en-US" dirty="0" smtClean="0"/>
          </a:p>
          <a:p>
            <a:r>
              <a:rPr lang="en-US" dirty="0" smtClean="0"/>
              <a:t>Why we use dynamic optimization technique ?</a:t>
            </a:r>
          </a:p>
          <a:p>
            <a:pPr lvl="1"/>
            <a:r>
              <a:rPr lang="en-US" dirty="0" smtClean="0"/>
              <a:t>Advantages :</a:t>
            </a:r>
          </a:p>
          <a:p>
            <a:pPr lvl="2"/>
            <a:r>
              <a:rPr lang="en-US" dirty="0" smtClean="0"/>
              <a:t>It  can benefit from dynamic profiling.</a:t>
            </a:r>
          </a:p>
          <a:p>
            <a:pPr lvl="2"/>
            <a:r>
              <a:rPr lang="en-US" dirty="0" smtClean="0"/>
              <a:t>It is not constrained by a compilation unit.</a:t>
            </a:r>
          </a:p>
          <a:p>
            <a:pPr lvl="2"/>
            <a:r>
              <a:rPr lang="en-US" dirty="0" smtClean="0"/>
              <a:t>It  knows the exact execution environment.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Optimization</a:t>
            </a:r>
            <a:endParaRPr lang="en-US" dirty="0"/>
          </a:p>
        </p:txBody>
      </p:sp>
      <p:sp>
        <p:nvSpPr>
          <p:cNvPr id="3" name="Content Placeholder 2"/>
          <p:cNvSpPr>
            <a:spLocks noGrp="1"/>
          </p:cNvSpPr>
          <p:nvPr>
            <p:ph idx="1"/>
          </p:nvPr>
        </p:nvSpPr>
        <p:spPr/>
        <p:txBody>
          <a:bodyPr/>
          <a:lstStyle/>
          <a:p>
            <a:r>
              <a:rPr lang="en-US" dirty="0" smtClean="0"/>
              <a:t>How to implement dynamic optimization ?</a:t>
            </a:r>
          </a:p>
          <a:p>
            <a:pPr lvl="1"/>
            <a:r>
              <a:rPr lang="en-US" dirty="0" smtClean="0"/>
              <a:t>Analysis program behavior in run time.</a:t>
            </a:r>
          </a:p>
          <a:p>
            <a:pPr lvl="1"/>
            <a:r>
              <a:rPr lang="en-US" dirty="0" smtClean="0"/>
              <a:t>Collect run time profiling information based on the input data and host hardware characteristics.</a:t>
            </a:r>
          </a:p>
          <a:p>
            <a:pPr lvl="1"/>
            <a:r>
              <a:rPr lang="en-US" dirty="0" smtClean="0"/>
              <a:t>Dynamically translate or modify the binary code by reordering instructions or other techniques.</a:t>
            </a:r>
          </a:p>
          <a:p>
            <a:pPr lvl="1"/>
            <a:r>
              <a:rPr lang="en-US" dirty="0" smtClean="0"/>
              <a:t>Write back the optimized binary into code cache for next execution.</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Optimization</a:t>
            </a:r>
            <a:endParaRPr lang="en-US" dirty="0"/>
          </a:p>
        </p:txBody>
      </p:sp>
      <p:sp>
        <p:nvSpPr>
          <p:cNvPr id="3" name="Content Placeholder 2"/>
          <p:cNvSpPr>
            <a:spLocks noGrp="1"/>
          </p:cNvSpPr>
          <p:nvPr>
            <p:ph idx="1"/>
          </p:nvPr>
        </p:nvSpPr>
        <p:spPr/>
        <p:txBody>
          <a:bodyPr/>
          <a:lstStyle/>
          <a:p>
            <a:r>
              <a:rPr lang="en-US" dirty="0" smtClean="0"/>
              <a:t>How to analyze program behavior and profile ?</a:t>
            </a:r>
          </a:p>
          <a:p>
            <a:pPr lvl="1"/>
            <a:r>
              <a:rPr lang="en-US" dirty="0" smtClean="0"/>
              <a:t>Collect statistics about a program as it runs</a:t>
            </a:r>
          </a:p>
          <a:p>
            <a:pPr lvl="2"/>
            <a:r>
              <a:rPr lang="en-US" dirty="0" smtClean="0"/>
              <a:t>Branches (taken, not taken)</a:t>
            </a:r>
          </a:p>
          <a:p>
            <a:pPr lvl="2"/>
            <a:r>
              <a:rPr lang="en-US" dirty="0" smtClean="0"/>
              <a:t>Jump targets</a:t>
            </a:r>
          </a:p>
          <a:p>
            <a:pPr lvl="2"/>
            <a:r>
              <a:rPr lang="en-US" dirty="0" smtClean="0"/>
              <a:t>Data values</a:t>
            </a:r>
          </a:p>
          <a:p>
            <a:pPr lvl="2"/>
            <a:r>
              <a:rPr lang="en-US" dirty="0" smtClean="0"/>
              <a:t>Cache misses</a:t>
            </a:r>
          </a:p>
          <a:p>
            <a:pPr lvl="1"/>
            <a:r>
              <a:rPr lang="en-US" dirty="0" smtClean="0"/>
              <a:t>Predictability allows these statistics to be used for optimizations to be used in the future</a:t>
            </a:r>
            <a:br>
              <a:rPr lang="en-US" dirty="0" smtClean="0"/>
            </a:br>
            <a:endParaRPr lang="en-US" dirty="0" smtClean="0"/>
          </a:p>
          <a:p>
            <a:r>
              <a:rPr lang="en-US" dirty="0" smtClean="0"/>
              <a:t>Profiling in a VM differs from traditional profiling used for compiler feedback.</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Optimization</a:t>
            </a:r>
            <a:endParaRPr lang="en-US" dirty="0"/>
          </a:p>
        </p:txBody>
      </p:sp>
      <p:pic>
        <p:nvPicPr>
          <p:cNvPr id="8194" name="Picture 2"/>
          <p:cNvPicPr>
            <a:picLocks noGrp="1" noChangeAspect="1" noChangeArrowheads="1"/>
          </p:cNvPicPr>
          <p:nvPr>
            <p:ph idx="1"/>
          </p:nvPr>
        </p:nvPicPr>
        <p:blipFill>
          <a:blip r:embed="rId2" cstate="print"/>
          <a:srcRect/>
          <a:stretch>
            <a:fillRect/>
          </a:stretch>
        </p:blipFill>
        <p:spPr bwMode="auto">
          <a:xfrm>
            <a:off x="1143000" y="2348531"/>
            <a:ext cx="6858000" cy="4280869"/>
          </a:xfrm>
          <a:prstGeom prst="rect">
            <a:avLst/>
          </a:prstGeom>
          <a:noFill/>
          <a:ln w="9525">
            <a:noFill/>
            <a:miter lim="800000"/>
            <a:headEnd/>
            <a:tailEnd/>
          </a:ln>
          <a:effectLst/>
        </p:spPr>
      </p:pic>
      <p:sp>
        <p:nvSpPr>
          <p:cNvPr id="5" name="Content Placeholder 2"/>
          <p:cNvSpPr txBox="1">
            <a:spLocks/>
          </p:cNvSpPr>
          <p:nvPr/>
        </p:nvSpPr>
        <p:spPr>
          <a:xfrm>
            <a:off x="457200" y="1600201"/>
            <a:ext cx="8229600" cy="6096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lang="en-US" sz="2400" dirty="0" smtClean="0">
                <a:solidFill>
                  <a:schemeClr val="tx2">
                    <a:lumMod val="75000"/>
                  </a:schemeClr>
                </a:solidFill>
                <a:latin typeface="Cambria" pitchFamily="18" charset="0"/>
              </a:rPr>
              <a:t>Dynamic binary translation and optimization :</a:t>
            </a:r>
            <a:endPar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endParaRPr>
          </a:p>
        </p:txBody>
      </p:sp>
      <p:pic>
        <p:nvPicPr>
          <p:cNvPr id="1026" name="Picture 2"/>
          <p:cNvPicPr>
            <a:picLocks noChangeAspect="1" noChangeArrowheads="1"/>
          </p:cNvPicPr>
          <p:nvPr/>
        </p:nvPicPr>
        <p:blipFill>
          <a:blip r:embed="rId3" cstate="print"/>
          <a:srcRect/>
          <a:stretch>
            <a:fillRect/>
          </a:stretch>
        </p:blipFill>
        <p:spPr bwMode="auto">
          <a:xfrm>
            <a:off x="1143000" y="3394192"/>
            <a:ext cx="6858000" cy="323520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 Virtualization</a:t>
            </a:r>
            <a:endParaRPr lang="en-US" dirty="0"/>
          </a:p>
        </p:txBody>
      </p:sp>
      <p:sp>
        <p:nvSpPr>
          <p:cNvPr id="3" name="Text Placeholder 2"/>
          <p:cNvSpPr>
            <a:spLocks noGrp="1"/>
          </p:cNvSpPr>
          <p:nvPr>
            <p:ph type="body" idx="1"/>
          </p:nvPr>
        </p:nvSpPr>
        <p:spPr/>
        <p:txBody>
          <a:bodyPr/>
          <a:lstStyle/>
          <a:p>
            <a:r>
              <a:rPr lang="en-US" dirty="0" smtClean="0"/>
              <a:t>Emulation techniques</a:t>
            </a:r>
          </a:p>
          <a:p>
            <a:r>
              <a:rPr lang="en-US" dirty="0" smtClean="0">
                <a:solidFill>
                  <a:srgbClr val="C00000"/>
                </a:solidFill>
              </a:rPr>
              <a:t>Trap and emulate model</a:t>
            </a:r>
          </a:p>
          <a:p>
            <a:r>
              <a:rPr lang="en-US" dirty="0" smtClean="0"/>
              <a:t>Hardware assistance</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Virtualization Technique</a:t>
            </a:r>
            <a:endParaRPr lang="en-US" dirty="0"/>
          </a:p>
        </p:txBody>
      </p:sp>
      <p:sp>
        <p:nvSpPr>
          <p:cNvPr id="3" name="Content Placeholder 2"/>
          <p:cNvSpPr>
            <a:spLocks noGrp="1"/>
          </p:cNvSpPr>
          <p:nvPr>
            <p:ph idx="1"/>
          </p:nvPr>
        </p:nvSpPr>
        <p:spPr>
          <a:xfrm>
            <a:off x="457200" y="1600200"/>
            <a:ext cx="8229600" cy="4724400"/>
          </a:xfrm>
        </p:spPr>
        <p:txBody>
          <a:bodyPr>
            <a:noAutofit/>
          </a:bodyPr>
          <a:lstStyle/>
          <a:p>
            <a:r>
              <a:rPr lang="en-US" dirty="0" smtClean="0"/>
              <a:t>From emulation to virtualization :</a:t>
            </a:r>
          </a:p>
          <a:p>
            <a:pPr lvl="1"/>
            <a:r>
              <a:rPr lang="en-US" dirty="0" smtClean="0"/>
              <a:t>While emulation techniques emulate guest on host, whose ISA differ from guest, in virtualization techniques, guest and host have the same ISA.</a:t>
            </a:r>
          </a:p>
          <a:p>
            <a:pPr lvl="1"/>
            <a:r>
              <a:rPr lang="en-US" dirty="0" smtClean="0"/>
              <a:t>Some problems in emulation will not exist in virtualization :</a:t>
            </a:r>
          </a:p>
          <a:p>
            <a:pPr lvl="2"/>
            <a:r>
              <a:rPr lang="en-US" dirty="0" smtClean="0"/>
              <a:t>No need to translate each binary instruction to host ISA.</a:t>
            </a:r>
          </a:p>
          <a:p>
            <a:pPr lvl="2"/>
            <a:r>
              <a:rPr lang="en-US" dirty="0" smtClean="0"/>
              <a:t>No need to worry about unmatched special register mapping.</a:t>
            </a:r>
          </a:p>
          <a:p>
            <a:pPr lvl="1"/>
            <a:r>
              <a:rPr lang="en-US" dirty="0" smtClean="0"/>
              <a:t>Some new problems didn’t exist in emulation exist now :</a:t>
            </a:r>
          </a:p>
          <a:p>
            <a:pPr lvl="2"/>
            <a:r>
              <a:rPr lang="en-US" dirty="0" smtClean="0"/>
              <a:t>Instruction privileges should be well-controlled.</a:t>
            </a:r>
            <a:br>
              <a:rPr lang="en-US" dirty="0" smtClean="0"/>
            </a:br>
            <a:endParaRPr lang="en-US" dirty="0" smtClean="0"/>
          </a:p>
          <a:p>
            <a:r>
              <a:rPr lang="en-US" dirty="0" smtClean="0"/>
              <a:t>Goal of virtualization :</a:t>
            </a:r>
          </a:p>
          <a:p>
            <a:pPr lvl="1"/>
            <a:r>
              <a:rPr lang="en-US" dirty="0" smtClean="0"/>
              <a:t>Run or simulate all instructions</a:t>
            </a:r>
            <a:br>
              <a:rPr lang="en-US" dirty="0" smtClean="0"/>
            </a:br>
            <a:r>
              <a:rPr lang="en-US" dirty="0" smtClean="0"/>
              <a:t>of guest OS.</a:t>
            </a:r>
          </a:p>
        </p:txBody>
      </p:sp>
      <p:pic>
        <p:nvPicPr>
          <p:cNvPr id="1026" name="Picture 2"/>
          <p:cNvPicPr>
            <a:picLocks noChangeAspect="1" noChangeArrowheads="1"/>
          </p:cNvPicPr>
          <p:nvPr/>
        </p:nvPicPr>
        <p:blipFill>
          <a:blip r:embed="rId2" cstate="print"/>
          <a:srcRect/>
          <a:stretch>
            <a:fillRect/>
          </a:stretch>
        </p:blipFill>
        <p:spPr bwMode="auto">
          <a:xfrm>
            <a:off x="4876800" y="4800600"/>
            <a:ext cx="3756025" cy="16589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Virtualization Technique</a:t>
            </a:r>
            <a:endParaRPr lang="en-US" dirty="0"/>
          </a:p>
        </p:txBody>
      </p:sp>
      <p:sp>
        <p:nvSpPr>
          <p:cNvPr id="3" name="Content Placeholder 2"/>
          <p:cNvSpPr>
            <a:spLocks noGrp="1"/>
          </p:cNvSpPr>
          <p:nvPr>
            <p:ph idx="1"/>
          </p:nvPr>
        </p:nvSpPr>
        <p:spPr/>
        <p:txBody>
          <a:bodyPr/>
          <a:lstStyle/>
          <a:p>
            <a:r>
              <a:rPr lang="en-US" altLang="zh-TW" dirty="0" smtClean="0">
                <a:ea typeface="新細明體" charset="-120"/>
              </a:rPr>
              <a:t>Virtualization requirements from </a:t>
            </a:r>
            <a:r>
              <a:rPr lang="en-US" altLang="zh-TW" dirty="0" err="1" smtClean="0">
                <a:ea typeface="新細明體" charset="-120"/>
              </a:rPr>
              <a:t>Popek</a:t>
            </a:r>
            <a:r>
              <a:rPr lang="en-US" altLang="zh-TW" dirty="0" smtClean="0">
                <a:ea typeface="新細明體" charset="-120"/>
              </a:rPr>
              <a:t> and Goldberg :</a:t>
            </a:r>
          </a:p>
          <a:p>
            <a:pPr lvl="1"/>
            <a:r>
              <a:rPr lang="en-US" dirty="0" err="1" smtClean="0"/>
              <a:t>Popek</a:t>
            </a:r>
            <a:r>
              <a:rPr lang="en-US" dirty="0" smtClean="0"/>
              <a:t> and Goldberg provide a set of sufficient conditions for a computer architecture to efficiently support system virtualization.</a:t>
            </a:r>
          </a:p>
          <a:p>
            <a:pPr lvl="1"/>
            <a:r>
              <a:rPr lang="en-US" dirty="0" err="1" smtClean="0"/>
              <a:t>Popek</a:t>
            </a:r>
            <a:r>
              <a:rPr lang="en-US" dirty="0" smtClean="0"/>
              <a:t> and Goldberg provide guidelines for the design of virtualized computer architectures.</a:t>
            </a:r>
            <a:br>
              <a:rPr lang="en-US" dirty="0" smtClean="0"/>
            </a:br>
            <a:endParaRPr lang="en-US" dirty="0" smtClean="0"/>
          </a:p>
          <a:p>
            <a:r>
              <a:rPr lang="en-US" dirty="0" smtClean="0"/>
              <a:t>In </a:t>
            </a:r>
            <a:r>
              <a:rPr lang="en-US" dirty="0" err="1" smtClean="0"/>
              <a:t>Popek</a:t>
            </a:r>
            <a:r>
              <a:rPr lang="en-US" dirty="0" smtClean="0"/>
              <a:t> and Goldberg terminology, a VMM must present all three properties :</a:t>
            </a:r>
          </a:p>
          <a:p>
            <a:pPr lvl="1"/>
            <a:r>
              <a:rPr lang="en-US" dirty="0" smtClean="0"/>
              <a:t>Equivalence (Same as real machine)</a:t>
            </a:r>
          </a:p>
          <a:p>
            <a:pPr lvl="1"/>
            <a:r>
              <a:rPr lang="en-US" dirty="0" smtClean="0"/>
              <a:t>Resource control (Totally control)</a:t>
            </a:r>
          </a:p>
          <a:p>
            <a:pPr lvl="1"/>
            <a:r>
              <a:rPr lang="en-US" dirty="0" smtClean="0"/>
              <a:t>Efficiency (Native execution)</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 Architecture</a:t>
            </a:r>
            <a:endParaRPr lang="en-US" dirty="0"/>
          </a:p>
        </p:txBody>
      </p:sp>
      <p:sp>
        <p:nvSpPr>
          <p:cNvPr id="3" name="Content Placeholder 2"/>
          <p:cNvSpPr>
            <a:spLocks noGrp="1"/>
          </p:cNvSpPr>
          <p:nvPr>
            <p:ph idx="1"/>
          </p:nvPr>
        </p:nvSpPr>
        <p:spPr/>
        <p:txBody>
          <a:bodyPr/>
          <a:lstStyle/>
          <a:p>
            <a:r>
              <a:rPr lang="en-US" dirty="0" smtClean="0"/>
              <a:t>Modern CPU status is usually classified as several modes.</a:t>
            </a:r>
          </a:p>
          <a:p>
            <a:r>
              <a:rPr lang="en-US" dirty="0" smtClean="0"/>
              <a:t>In general, we conceptually divide them into two modes :</a:t>
            </a:r>
          </a:p>
          <a:p>
            <a:pPr lvl="1"/>
            <a:r>
              <a:rPr lang="en-US" dirty="0" smtClean="0"/>
              <a:t>Kernel mode (Ring 0)</a:t>
            </a:r>
          </a:p>
          <a:p>
            <a:pPr lvl="2"/>
            <a:r>
              <a:rPr lang="en-US" dirty="0" smtClean="0"/>
              <a:t>CPU may perform any operation allowed by its architecture, including any instruction execution, IO operation, area of memory access, and so on.</a:t>
            </a:r>
          </a:p>
          <a:p>
            <a:pPr lvl="2"/>
            <a:r>
              <a:rPr lang="en-US" dirty="0" smtClean="0"/>
              <a:t>Traditional OS kernel runs in Ring 1 mode.</a:t>
            </a:r>
          </a:p>
          <a:p>
            <a:pPr lvl="1"/>
            <a:r>
              <a:rPr lang="en-US" dirty="0" smtClean="0"/>
              <a:t>User mode (Ring 1 ~ 3)</a:t>
            </a:r>
          </a:p>
          <a:p>
            <a:pPr lvl="2"/>
            <a:r>
              <a:rPr lang="en-US" dirty="0" smtClean="0"/>
              <a:t>CPU can typically only execute a subset of those available instructions in kernel mode.</a:t>
            </a:r>
          </a:p>
          <a:p>
            <a:pPr lvl="2"/>
            <a:r>
              <a:rPr lang="en-US" dirty="0" smtClean="0"/>
              <a:t>Traditional application runs in Ring 3 mode.</a:t>
            </a:r>
          </a:p>
        </p:txBody>
      </p:sp>
      <p:pic>
        <p:nvPicPr>
          <p:cNvPr id="2050" name="Picture 2" descr="http://t0.gstatic.com/images?q=tbn:y0yQt160_6L77M:http://www.codinghorror.com/blog/images/cpu-ring-model-2.png&amp;t=1"/>
          <p:cNvPicPr>
            <a:picLocks noChangeAspect="1" noChangeArrowheads="1"/>
          </p:cNvPicPr>
          <p:nvPr/>
        </p:nvPicPr>
        <p:blipFill>
          <a:blip r:embed="rId2" cstate="print"/>
          <a:srcRect/>
          <a:stretch>
            <a:fillRect/>
          </a:stretch>
        </p:blipFill>
        <p:spPr bwMode="auto">
          <a:xfrm>
            <a:off x="6019800" y="4572000"/>
            <a:ext cx="2895600" cy="2141191"/>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 Architecture</a:t>
            </a:r>
            <a:endParaRPr lang="en-US" dirty="0"/>
          </a:p>
        </p:txBody>
      </p:sp>
      <p:sp>
        <p:nvSpPr>
          <p:cNvPr id="3" name="Content Placeholder 2"/>
          <p:cNvSpPr>
            <a:spLocks noGrp="1"/>
          </p:cNvSpPr>
          <p:nvPr>
            <p:ph idx="1"/>
          </p:nvPr>
        </p:nvSpPr>
        <p:spPr/>
        <p:txBody>
          <a:bodyPr/>
          <a:lstStyle/>
          <a:p>
            <a:r>
              <a:rPr lang="en-US" dirty="0" smtClean="0"/>
              <a:t>By the classification of CPU modes, we divide instructions into following types :</a:t>
            </a:r>
          </a:p>
          <a:p>
            <a:pPr lvl="1"/>
            <a:r>
              <a:rPr lang="en-US" dirty="0" smtClean="0"/>
              <a:t>Privileged instruction</a:t>
            </a:r>
          </a:p>
          <a:p>
            <a:pPr lvl="2"/>
            <a:r>
              <a:rPr lang="en-US" dirty="0" smtClean="0"/>
              <a:t>Those instructions that trap if the machine is in user mode and do not trap if the machine is in kernel mode. </a:t>
            </a:r>
          </a:p>
          <a:p>
            <a:pPr lvl="1"/>
            <a:r>
              <a:rPr lang="en-US" dirty="0" smtClean="0"/>
              <a:t>Sensitive instructions</a:t>
            </a:r>
          </a:p>
          <a:p>
            <a:pPr lvl="2"/>
            <a:r>
              <a:rPr lang="en-US" dirty="0" smtClean="0"/>
              <a:t>Those instructions that interact with hardware, which include control-sensitive and behavior-sensitive instructions.</a:t>
            </a:r>
          </a:p>
          <a:p>
            <a:pPr lvl="1"/>
            <a:r>
              <a:rPr lang="en-US" dirty="0" smtClean="0"/>
              <a:t>Innocuous instruction</a:t>
            </a:r>
          </a:p>
          <a:p>
            <a:pPr lvl="2"/>
            <a:r>
              <a:rPr lang="en-US" dirty="0" smtClean="0"/>
              <a:t>All other instructions.</a:t>
            </a:r>
          </a:p>
          <a:p>
            <a:pPr lvl="1"/>
            <a:r>
              <a:rPr lang="en-US" dirty="0" smtClean="0"/>
              <a:t>Critical instruction</a:t>
            </a:r>
          </a:p>
          <a:p>
            <a:pPr lvl="2"/>
            <a:r>
              <a:rPr lang="en-US" dirty="0" smtClean="0"/>
              <a:t>Those sensitive but not privileged instructions.</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 Architecture</a:t>
            </a:r>
            <a:endParaRPr lang="en-US" dirty="0"/>
          </a:p>
        </p:txBody>
      </p:sp>
      <p:pic>
        <p:nvPicPr>
          <p:cNvPr id="64513" name="Picture 1"/>
          <p:cNvPicPr>
            <a:picLocks noGrp="1" noChangeAspect="1" noChangeArrowheads="1"/>
          </p:cNvPicPr>
          <p:nvPr>
            <p:ph idx="1"/>
          </p:nvPr>
        </p:nvPicPr>
        <p:blipFill>
          <a:blip r:embed="rId2" cstate="print"/>
          <a:srcRect/>
          <a:stretch>
            <a:fillRect/>
          </a:stretch>
        </p:blipFill>
        <p:spPr bwMode="auto">
          <a:xfrm>
            <a:off x="374806" y="1828800"/>
            <a:ext cx="8394389" cy="4876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 Architecture</a:t>
            </a:r>
            <a:endParaRPr lang="en-US" dirty="0"/>
          </a:p>
        </p:txBody>
      </p:sp>
      <p:sp>
        <p:nvSpPr>
          <p:cNvPr id="3" name="Content Placeholder 2"/>
          <p:cNvSpPr>
            <a:spLocks noGrp="1"/>
          </p:cNvSpPr>
          <p:nvPr>
            <p:ph idx="1"/>
          </p:nvPr>
        </p:nvSpPr>
        <p:spPr>
          <a:xfrm>
            <a:off x="457200" y="1219200"/>
            <a:ext cx="8229600" cy="5410200"/>
          </a:xfrm>
        </p:spPr>
        <p:txBody>
          <a:bodyPr/>
          <a:lstStyle/>
          <a:p>
            <a:r>
              <a:rPr lang="en-US" dirty="0" smtClean="0"/>
              <a:t>What is trap ?</a:t>
            </a:r>
          </a:p>
          <a:p>
            <a:pPr lvl="1"/>
            <a:r>
              <a:rPr lang="en-US" dirty="0" smtClean="0"/>
              <a:t>When CPU is running in user mode, some internal or external events, which need to be handled in kernel mode, take place.</a:t>
            </a:r>
          </a:p>
          <a:p>
            <a:pPr lvl="1"/>
            <a:r>
              <a:rPr lang="en-US" dirty="0" smtClean="0"/>
              <a:t>Then CPU will jump to hardware exception handler vector, and execute system operations in kernel mode.</a:t>
            </a:r>
          </a:p>
          <a:p>
            <a:r>
              <a:rPr lang="en-US" dirty="0" smtClean="0"/>
              <a:t>Trap types :</a:t>
            </a:r>
          </a:p>
          <a:p>
            <a:pPr lvl="1"/>
            <a:r>
              <a:rPr lang="en-US" dirty="0" smtClean="0"/>
              <a:t>System Call</a:t>
            </a:r>
          </a:p>
          <a:p>
            <a:pPr lvl="2"/>
            <a:r>
              <a:rPr lang="en-US" dirty="0" smtClean="0"/>
              <a:t>Invoked by application in user mode.</a:t>
            </a:r>
          </a:p>
          <a:p>
            <a:pPr lvl="2"/>
            <a:r>
              <a:rPr lang="en-US" dirty="0" smtClean="0"/>
              <a:t>For example, application ask OS for system IO.</a:t>
            </a:r>
          </a:p>
          <a:p>
            <a:pPr lvl="1"/>
            <a:r>
              <a:rPr lang="en-US" dirty="0" smtClean="0"/>
              <a:t>Hardware Interrupts</a:t>
            </a:r>
          </a:p>
          <a:p>
            <a:pPr lvl="2"/>
            <a:r>
              <a:rPr lang="en-US" dirty="0" smtClean="0"/>
              <a:t>Invoked by some hardware events in any mode.</a:t>
            </a:r>
          </a:p>
          <a:p>
            <a:pPr lvl="2"/>
            <a:r>
              <a:rPr lang="en-US" dirty="0" smtClean="0"/>
              <a:t>For example, hardware clock timer trigger event.</a:t>
            </a:r>
          </a:p>
          <a:p>
            <a:pPr lvl="1"/>
            <a:r>
              <a:rPr lang="en-US" dirty="0" smtClean="0"/>
              <a:t>Exception</a:t>
            </a:r>
          </a:p>
          <a:p>
            <a:pPr lvl="2"/>
            <a:r>
              <a:rPr lang="en-US" dirty="0" smtClean="0"/>
              <a:t>Invoked when unexpected error or system malfunction occur.</a:t>
            </a:r>
          </a:p>
          <a:p>
            <a:pPr lvl="2"/>
            <a:r>
              <a:rPr lang="en-US" dirty="0" smtClean="0"/>
              <a:t>For example, execute privilege instructions in user mode.</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Trap and Emulate Model</a:t>
            </a:r>
            <a:endParaRPr lang="en-US" dirty="0"/>
          </a:p>
        </p:txBody>
      </p:sp>
      <p:sp>
        <p:nvSpPr>
          <p:cNvPr id="3" name="Content Placeholder 2"/>
          <p:cNvSpPr>
            <a:spLocks noGrp="1"/>
          </p:cNvSpPr>
          <p:nvPr>
            <p:ph idx="1"/>
          </p:nvPr>
        </p:nvSpPr>
        <p:spPr>
          <a:xfrm>
            <a:off x="457200" y="1600200"/>
            <a:ext cx="8305800" cy="4876800"/>
          </a:xfrm>
        </p:spPr>
        <p:txBody>
          <a:bodyPr>
            <a:noAutofit/>
          </a:bodyPr>
          <a:lstStyle/>
          <a:p>
            <a:r>
              <a:rPr lang="en-US" dirty="0" smtClean="0"/>
              <a:t>If we want CPU virtualization to be efficient, how should we implement the VMM ?</a:t>
            </a:r>
          </a:p>
          <a:p>
            <a:pPr lvl="1"/>
            <a:r>
              <a:rPr lang="en-US" dirty="0" smtClean="0"/>
              <a:t>We should make guest binaries run on CPU as fast as possible.</a:t>
            </a:r>
          </a:p>
          <a:p>
            <a:pPr lvl="1"/>
            <a:r>
              <a:rPr lang="en-US" dirty="0" smtClean="0"/>
              <a:t>Theoretically speaking, if we can run all guest binaries natively, there will NO overhead at all.</a:t>
            </a:r>
          </a:p>
          <a:p>
            <a:pPr lvl="1"/>
            <a:r>
              <a:rPr lang="en-US" dirty="0" smtClean="0"/>
              <a:t>But we cannot let guest OS handle everything, VMM should be able to control all hardware resources.</a:t>
            </a:r>
            <a:br>
              <a:rPr lang="en-US" dirty="0" smtClean="0"/>
            </a:br>
            <a:endParaRPr lang="en-US" dirty="0" smtClean="0"/>
          </a:p>
          <a:p>
            <a:r>
              <a:rPr lang="en-US" dirty="0" smtClean="0"/>
              <a:t>Solution :</a:t>
            </a:r>
          </a:p>
          <a:p>
            <a:pPr lvl="1"/>
            <a:r>
              <a:rPr lang="en-US" dirty="0" smtClean="0"/>
              <a:t>Ring Compression</a:t>
            </a:r>
          </a:p>
          <a:p>
            <a:pPr lvl="2"/>
            <a:r>
              <a:rPr lang="en-US" dirty="0" smtClean="0"/>
              <a:t>Shift traditional OS from kernel mode(Ring 0) to user mode(Ring 1), and run VMM in kernel mode.</a:t>
            </a:r>
          </a:p>
          <a:p>
            <a:pPr lvl="2"/>
            <a:r>
              <a:rPr lang="en-US" dirty="0" smtClean="0"/>
              <a:t>Then VMM will be able to intercept all trapping event. </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Trap and Emulate Model</a:t>
            </a:r>
            <a:endParaRPr lang="en-US" dirty="0"/>
          </a:p>
        </p:txBody>
      </p:sp>
      <p:sp>
        <p:nvSpPr>
          <p:cNvPr id="3" name="Content Placeholder 2"/>
          <p:cNvSpPr>
            <a:spLocks noGrp="1"/>
          </p:cNvSpPr>
          <p:nvPr>
            <p:ph idx="1"/>
          </p:nvPr>
        </p:nvSpPr>
        <p:spPr/>
        <p:txBody>
          <a:bodyPr/>
          <a:lstStyle/>
          <a:p>
            <a:r>
              <a:rPr lang="en-US" dirty="0" smtClean="0"/>
              <a:t>VMM virtualization paradigm </a:t>
            </a:r>
            <a:r>
              <a:rPr lang="en-US" i="1" dirty="0" smtClean="0"/>
              <a:t>(trap and emulate)</a:t>
            </a:r>
            <a:r>
              <a:rPr lang="en-US" dirty="0" smtClean="0"/>
              <a:t> :</a:t>
            </a:r>
          </a:p>
          <a:p>
            <a:pPr marL="914400" lvl="1" indent="-457200">
              <a:buFont typeface="+mj-lt"/>
              <a:buAutoNum type="arabicPeriod"/>
            </a:pPr>
            <a:r>
              <a:rPr lang="en-US" dirty="0" smtClean="0"/>
              <a:t>Let normal instructions of guest OS run directly on processor in user mode.</a:t>
            </a:r>
          </a:p>
          <a:p>
            <a:pPr marL="914400" lvl="1" indent="-457200">
              <a:buFont typeface="+mj-lt"/>
              <a:buAutoNum type="arabicPeriod"/>
            </a:pPr>
            <a:r>
              <a:rPr lang="en-US" dirty="0" smtClean="0"/>
              <a:t>When executing privileged instructions, hardware will make processor trap into the VMM.</a:t>
            </a:r>
          </a:p>
          <a:p>
            <a:pPr marL="914400" lvl="1" indent="-457200">
              <a:buFont typeface="+mj-lt"/>
              <a:buAutoNum type="arabicPeriod"/>
            </a:pPr>
            <a:r>
              <a:rPr lang="en-US" dirty="0" smtClean="0"/>
              <a:t>The VMM emulates the effect of the privileged instructions for the guest OS and return to guest.</a:t>
            </a:r>
          </a:p>
        </p:txBody>
      </p:sp>
      <p:pic>
        <p:nvPicPr>
          <p:cNvPr id="4" name="Picture 2" descr="http://benjr.tw/files/images/virtualization/2ring.png"/>
          <p:cNvPicPr>
            <a:picLocks noChangeAspect="1" noChangeArrowheads="1"/>
          </p:cNvPicPr>
          <p:nvPr/>
        </p:nvPicPr>
        <p:blipFill>
          <a:blip r:embed="rId2" cstate="print"/>
          <a:srcRect/>
          <a:stretch>
            <a:fillRect/>
          </a:stretch>
        </p:blipFill>
        <p:spPr bwMode="auto">
          <a:xfrm>
            <a:off x="2415503" y="4343400"/>
            <a:ext cx="4312995" cy="2286000"/>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Trap and Emulate Model</a:t>
            </a:r>
            <a:endParaRPr lang="en-US" dirty="0"/>
          </a:p>
        </p:txBody>
      </p:sp>
      <p:sp>
        <p:nvSpPr>
          <p:cNvPr id="3" name="Content Placeholder 2"/>
          <p:cNvSpPr>
            <a:spLocks noGrp="1"/>
          </p:cNvSpPr>
          <p:nvPr>
            <p:ph idx="1"/>
          </p:nvPr>
        </p:nvSpPr>
        <p:spPr>
          <a:xfrm>
            <a:off x="457200" y="1600200"/>
            <a:ext cx="3962400" cy="4525963"/>
          </a:xfrm>
        </p:spPr>
        <p:txBody>
          <a:bodyPr/>
          <a:lstStyle/>
          <a:p>
            <a:r>
              <a:rPr lang="en-US" dirty="0" smtClean="0"/>
              <a:t>Traditional OS :</a:t>
            </a:r>
          </a:p>
          <a:p>
            <a:pPr lvl="1"/>
            <a:r>
              <a:rPr lang="en-US" dirty="0" smtClean="0"/>
              <a:t>When application invoke a system call :</a:t>
            </a:r>
          </a:p>
          <a:p>
            <a:pPr lvl="2"/>
            <a:r>
              <a:rPr lang="en-US" dirty="0" smtClean="0"/>
              <a:t>CPU will trap to interrupt handler vector in OS.</a:t>
            </a:r>
          </a:p>
          <a:p>
            <a:pPr lvl="2"/>
            <a:r>
              <a:rPr lang="en-US" dirty="0" smtClean="0"/>
              <a:t>CPU will switch to kernel mode (Ring 0) and execute OS instructions.</a:t>
            </a:r>
          </a:p>
          <a:p>
            <a:pPr lvl="1"/>
            <a:r>
              <a:rPr lang="en-US" dirty="0" smtClean="0"/>
              <a:t>When hardware event :</a:t>
            </a:r>
          </a:p>
          <a:p>
            <a:pPr lvl="2"/>
            <a:r>
              <a:rPr lang="en-US" dirty="0" smtClean="0"/>
              <a:t>Hardware will interrupt CPU execution, and jump to interrupt handler in OS.</a:t>
            </a:r>
            <a:endParaRPr lang="en-US" dirty="0"/>
          </a:p>
        </p:txBody>
      </p:sp>
      <p:pic>
        <p:nvPicPr>
          <p:cNvPr id="57348" name="Picture 4"/>
          <p:cNvPicPr>
            <a:picLocks noChangeAspect="1" noChangeArrowheads="1"/>
          </p:cNvPicPr>
          <p:nvPr/>
        </p:nvPicPr>
        <p:blipFill>
          <a:blip r:embed="rId2" cstate="print"/>
          <a:srcRect/>
          <a:stretch>
            <a:fillRect/>
          </a:stretch>
        </p:blipFill>
        <p:spPr bwMode="auto">
          <a:xfrm>
            <a:off x="4283112" y="1802840"/>
            <a:ext cx="4114800" cy="4732470"/>
          </a:xfrm>
          <a:prstGeom prst="rect">
            <a:avLst/>
          </a:prstGeom>
          <a:noFill/>
          <a:ln w="9525">
            <a:noFill/>
            <a:miter lim="800000"/>
            <a:headEnd/>
            <a:tailEnd/>
          </a:ln>
          <a:effectLst/>
        </p:spPr>
      </p:pic>
      <p:pic>
        <p:nvPicPr>
          <p:cNvPr id="57349" name="Picture 5"/>
          <p:cNvPicPr>
            <a:picLocks noChangeAspect="1" noChangeArrowheads="1"/>
          </p:cNvPicPr>
          <p:nvPr/>
        </p:nvPicPr>
        <p:blipFill>
          <a:blip r:embed="rId3" cstate="print"/>
          <a:srcRect/>
          <a:stretch>
            <a:fillRect/>
          </a:stretch>
        </p:blipFill>
        <p:spPr bwMode="auto">
          <a:xfrm>
            <a:off x="8001000" y="2382297"/>
            <a:ext cx="1066800" cy="3332704"/>
          </a:xfrm>
          <a:prstGeom prst="rect">
            <a:avLst/>
          </a:prstGeom>
          <a:noFill/>
          <a:ln w="9525">
            <a:noFill/>
            <a:miter lim="800000"/>
            <a:headEnd/>
            <a:tailEnd/>
          </a:ln>
          <a:effectLst/>
        </p:spPr>
      </p:pic>
      <p:pic>
        <p:nvPicPr>
          <p:cNvPr id="57351" name="Picture 7"/>
          <p:cNvPicPr>
            <a:picLocks noChangeAspect="1" noChangeArrowheads="1"/>
          </p:cNvPicPr>
          <p:nvPr/>
        </p:nvPicPr>
        <p:blipFill>
          <a:blip r:embed="rId4" cstate="print"/>
          <a:srcRect/>
          <a:stretch>
            <a:fillRect/>
          </a:stretch>
        </p:blipFill>
        <p:spPr bwMode="auto">
          <a:xfrm>
            <a:off x="5761056" y="5303856"/>
            <a:ext cx="950913" cy="96678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349"/>
                                        </p:tgtEl>
                                        <p:attrNameLst>
                                          <p:attrName>style.visibility</p:attrName>
                                        </p:attrNameLst>
                                      </p:cBhvr>
                                      <p:to>
                                        <p:strVal val="visible"/>
                                      </p:to>
                                    </p:set>
                                    <p:animEffect transition="in" filter="wipe(up)">
                                      <p:cBhvr>
                                        <p:cTn id="7" dur="500"/>
                                        <p:tgtEl>
                                          <p:spTgt spid="57349"/>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57349"/>
                                        </p:tgtEl>
                                      </p:cBhvr>
                                    </p:animEffect>
                                    <p:set>
                                      <p:cBhvr>
                                        <p:cTn id="21" dur="1" fill="hold">
                                          <p:stCondLst>
                                            <p:cond delay="499"/>
                                          </p:stCondLst>
                                        </p:cTn>
                                        <p:tgtEl>
                                          <p:spTgt spid="57349"/>
                                        </p:tgtEl>
                                        <p:attrNameLst>
                                          <p:attrName>style.visibility</p:attrName>
                                        </p:attrNameLst>
                                      </p:cBhvr>
                                      <p:to>
                                        <p:strVal val="hidden"/>
                                      </p:to>
                                    </p:se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par>
                          <p:cTn id="28" fill="hold">
                            <p:stCondLst>
                              <p:cond delay="500"/>
                            </p:stCondLst>
                            <p:childTnLst>
                              <p:par>
                                <p:cTn id="29" presetID="22" presetClass="entr" presetSubtype="4" fill="hold" nodeType="afterEffect">
                                  <p:stCondLst>
                                    <p:cond delay="0"/>
                                  </p:stCondLst>
                                  <p:childTnLst>
                                    <p:set>
                                      <p:cBhvr>
                                        <p:cTn id="30" dur="1" fill="hold">
                                          <p:stCondLst>
                                            <p:cond delay="0"/>
                                          </p:stCondLst>
                                        </p:cTn>
                                        <p:tgtEl>
                                          <p:spTgt spid="57351"/>
                                        </p:tgtEl>
                                        <p:attrNameLst>
                                          <p:attrName>style.visibility</p:attrName>
                                        </p:attrNameLst>
                                      </p:cBhvr>
                                      <p:to>
                                        <p:strVal val="visible"/>
                                      </p:to>
                                    </p:set>
                                    <p:animEffect transition="in" filter="wipe(down)">
                                      <p:cBhvr>
                                        <p:cTn id="31" dur="500"/>
                                        <p:tgtEl>
                                          <p:spTgt spid="57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Trap and Emulate Model</a:t>
            </a:r>
            <a:endParaRPr lang="en-US" dirty="0"/>
          </a:p>
        </p:txBody>
      </p:sp>
      <p:sp>
        <p:nvSpPr>
          <p:cNvPr id="3" name="Content Placeholder 2"/>
          <p:cNvSpPr>
            <a:spLocks noGrp="1"/>
          </p:cNvSpPr>
          <p:nvPr>
            <p:ph idx="1"/>
          </p:nvPr>
        </p:nvSpPr>
        <p:spPr>
          <a:xfrm>
            <a:off x="76200" y="1371600"/>
            <a:ext cx="4343400" cy="5334000"/>
          </a:xfrm>
        </p:spPr>
        <p:txBody>
          <a:bodyPr/>
          <a:lstStyle/>
          <a:p>
            <a:r>
              <a:rPr lang="en-US" dirty="0" smtClean="0"/>
              <a:t>VMM and Guest OS :</a:t>
            </a:r>
          </a:p>
          <a:p>
            <a:pPr lvl="1"/>
            <a:r>
              <a:rPr lang="en-US" dirty="0" smtClean="0"/>
              <a:t>System Call</a:t>
            </a:r>
          </a:p>
          <a:p>
            <a:pPr lvl="2"/>
            <a:r>
              <a:rPr lang="en-US" dirty="0" smtClean="0"/>
              <a:t>CPU will trap to interrupt handler vector of VMM.</a:t>
            </a:r>
          </a:p>
          <a:p>
            <a:pPr lvl="2"/>
            <a:r>
              <a:rPr lang="en-US" dirty="0" smtClean="0"/>
              <a:t>VMM jump back into guest OS.</a:t>
            </a:r>
          </a:p>
          <a:p>
            <a:pPr lvl="1"/>
            <a:r>
              <a:rPr lang="en-US" dirty="0" smtClean="0"/>
              <a:t>Hardware Interrupt</a:t>
            </a:r>
          </a:p>
          <a:p>
            <a:pPr lvl="2"/>
            <a:r>
              <a:rPr lang="en-US" dirty="0" smtClean="0"/>
              <a:t>Hardware make CPU trap to interrupt handler of VMM.</a:t>
            </a:r>
          </a:p>
          <a:p>
            <a:pPr lvl="2"/>
            <a:r>
              <a:rPr lang="en-US" dirty="0" smtClean="0"/>
              <a:t>VMM jump to corresponding interrupt handler of guest OS.</a:t>
            </a:r>
          </a:p>
          <a:p>
            <a:pPr lvl="1"/>
            <a:r>
              <a:rPr lang="en-US" dirty="0" smtClean="0"/>
              <a:t>Privilege Instruction</a:t>
            </a:r>
          </a:p>
          <a:p>
            <a:pPr lvl="2"/>
            <a:r>
              <a:rPr lang="en-US" dirty="0" smtClean="0"/>
              <a:t>Running privilege instructions</a:t>
            </a:r>
            <a:br>
              <a:rPr lang="en-US" dirty="0" smtClean="0"/>
            </a:br>
            <a:r>
              <a:rPr lang="en-US" dirty="0" smtClean="0"/>
              <a:t>in guest OS will be trapped to VMM  for instruction emulation.</a:t>
            </a:r>
          </a:p>
          <a:p>
            <a:pPr lvl="2"/>
            <a:r>
              <a:rPr lang="en-US" dirty="0" smtClean="0"/>
              <a:t>After emulation, VMM jump back to guest OS.</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283112" y="1802840"/>
            <a:ext cx="4114800" cy="473247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8021096" y="2378110"/>
            <a:ext cx="1080337" cy="3260690"/>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cstate="print"/>
          <a:srcRect/>
          <a:stretch>
            <a:fillRect/>
          </a:stretch>
        </p:blipFill>
        <p:spPr bwMode="auto">
          <a:xfrm>
            <a:off x="8031144" y="4247104"/>
            <a:ext cx="835025" cy="1271587"/>
          </a:xfrm>
          <a:prstGeom prst="rect">
            <a:avLst/>
          </a:prstGeom>
          <a:noFill/>
          <a:ln w="9525">
            <a:noFill/>
            <a:miter lim="800000"/>
            <a:headEnd/>
            <a:tailEnd/>
          </a:ln>
          <a:effectLst/>
        </p:spPr>
      </p:pic>
      <p:pic>
        <p:nvPicPr>
          <p:cNvPr id="1030" name="Picture 6"/>
          <p:cNvPicPr>
            <a:picLocks noChangeAspect="1" noChangeArrowheads="1"/>
          </p:cNvPicPr>
          <p:nvPr/>
        </p:nvPicPr>
        <p:blipFill>
          <a:blip r:embed="rId5" cstate="print"/>
          <a:srcRect/>
          <a:stretch>
            <a:fillRect/>
          </a:stretch>
        </p:blipFill>
        <p:spPr bwMode="auto">
          <a:xfrm>
            <a:off x="5913456" y="5257800"/>
            <a:ext cx="798513" cy="1017046"/>
          </a:xfrm>
          <a:prstGeom prst="rect">
            <a:avLst/>
          </a:prstGeom>
          <a:noFill/>
          <a:ln w="9525">
            <a:noFill/>
            <a:miter lim="800000"/>
            <a:headEnd/>
            <a:tailEnd/>
          </a:ln>
          <a:effectLst/>
        </p:spPr>
      </p:pic>
      <p:pic>
        <p:nvPicPr>
          <p:cNvPr id="1031" name="Picture 7"/>
          <p:cNvPicPr>
            <a:picLocks noChangeAspect="1" noChangeArrowheads="1"/>
          </p:cNvPicPr>
          <p:nvPr/>
        </p:nvPicPr>
        <p:blipFill>
          <a:blip r:embed="rId6" cstate="print"/>
          <a:srcRect/>
          <a:stretch>
            <a:fillRect/>
          </a:stretch>
        </p:blipFill>
        <p:spPr bwMode="auto">
          <a:xfrm>
            <a:off x="5887496" y="4247104"/>
            <a:ext cx="811213" cy="1285875"/>
          </a:xfrm>
          <a:prstGeom prst="rect">
            <a:avLst/>
          </a:prstGeom>
          <a:noFill/>
          <a:ln w="9525">
            <a:noFill/>
            <a:miter lim="800000"/>
            <a:headEnd/>
            <a:tailEnd/>
          </a:ln>
          <a:effectLst/>
        </p:spPr>
      </p:pic>
      <p:pic>
        <p:nvPicPr>
          <p:cNvPr id="1033" name="Picture 9"/>
          <p:cNvPicPr>
            <a:picLocks noChangeAspect="1" noChangeArrowheads="1"/>
          </p:cNvPicPr>
          <p:nvPr/>
        </p:nvPicPr>
        <p:blipFill>
          <a:blip r:embed="rId7" cstate="print"/>
          <a:srcRect/>
          <a:stretch>
            <a:fillRect/>
          </a:stretch>
        </p:blipFill>
        <p:spPr bwMode="auto">
          <a:xfrm>
            <a:off x="6192296" y="3932256"/>
            <a:ext cx="847725" cy="1279525"/>
          </a:xfrm>
          <a:prstGeom prst="rect">
            <a:avLst/>
          </a:prstGeom>
          <a:noFill/>
          <a:ln w="9525">
            <a:noFill/>
            <a:miter lim="800000"/>
            <a:headEnd/>
            <a:tailEnd/>
          </a:ln>
          <a:effectLst/>
        </p:spPr>
      </p:pic>
      <p:pic>
        <p:nvPicPr>
          <p:cNvPr id="1034" name="Picture 10"/>
          <p:cNvPicPr>
            <a:picLocks noChangeAspect="1" noChangeArrowheads="1"/>
          </p:cNvPicPr>
          <p:nvPr/>
        </p:nvPicPr>
        <p:blipFill>
          <a:blip r:embed="rId8" cstate="print"/>
          <a:srcRect/>
          <a:stretch>
            <a:fillRect/>
          </a:stretch>
        </p:blipFill>
        <p:spPr bwMode="auto">
          <a:xfrm>
            <a:off x="8032530" y="4059620"/>
            <a:ext cx="870692" cy="128016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wipe(up)">
                                      <p:cBhvr>
                                        <p:cTn id="7" dur="500"/>
                                        <p:tgtEl>
                                          <p:spTgt spid="1028"/>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par>
                          <p:cTn id="17" fill="hold">
                            <p:stCondLst>
                              <p:cond delay="500"/>
                            </p:stCondLst>
                            <p:childTnLst>
                              <p:par>
                                <p:cTn id="18" presetID="22" presetClass="entr" presetSubtype="4" fill="hold" nodeType="afterEffect">
                                  <p:stCondLst>
                                    <p:cond delay="500"/>
                                  </p:stCondLst>
                                  <p:childTnLst>
                                    <p:set>
                                      <p:cBhvr>
                                        <p:cTn id="19" dur="1" fill="hold">
                                          <p:stCondLst>
                                            <p:cond delay="0"/>
                                          </p:stCondLst>
                                        </p:cTn>
                                        <p:tgtEl>
                                          <p:spTgt spid="1029"/>
                                        </p:tgtEl>
                                        <p:attrNameLst>
                                          <p:attrName>style.visibility</p:attrName>
                                        </p:attrNameLst>
                                      </p:cBhvr>
                                      <p:to>
                                        <p:strVal val="visible"/>
                                      </p:to>
                                    </p:set>
                                    <p:animEffect transition="in" filter="wipe(down)">
                                      <p:cBhvr>
                                        <p:cTn id="20" dur="500"/>
                                        <p:tgtEl>
                                          <p:spTgt spid="102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500"/>
                                        <p:tgtEl>
                                          <p:spTgt spid="1028"/>
                                        </p:tgtEl>
                                      </p:cBhvr>
                                    </p:animEffect>
                                    <p:set>
                                      <p:cBhvr>
                                        <p:cTn id="25" dur="1" fill="hold">
                                          <p:stCondLst>
                                            <p:cond delay="499"/>
                                          </p:stCondLst>
                                        </p:cTn>
                                        <p:tgtEl>
                                          <p:spTgt spid="1028"/>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1029"/>
                                        </p:tgtEl>
                                      </p:cBhvr>
                                    </p:animEffect>
                                    <p:set>
                                      <p:cBhvr>
                                        <p:cTn id="28" dur="1" fill="hold">
                                          <p:stCondLst>
                                            <p:cond delay="499"/>
                                          </p:stCondLst>
                                        </p:cTn>
                                        <p:tgtEl>
                                          <p:spTgt spid="1029"/>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par>
                          <p:cTn id="38" fill="hold">
                            <p:stCondLst>
                              <p:cond delay="500"/>
                            </p:stCondLst>
                            <p:childTnLst>
                              <p:par>
                                <p:cTn id="39" presetID="22" presetClass="entr" presetSubtype="4" fill="hold" nodeType="afterEffect">
                                  <p:stCondLst>
                                    <p:cond delay="500"/>
                                  </p:stCondLst>
                                  <p:childTnLst>
                                    <p:set>
                                      <p:cBhvr>
                                        <p:cTn id="40" dur="1" fill="hold">
                                          <p:stCondLst>
                                            <p:cond delay="0"/>
                                          </p:stCondLst>
                                        </p:cTn>
                                        <p:tgtEl>
                                          <p:spTgt spid="1030"/>
                                        </p:tgtEl>
                                        <p:attrNameLst>
                                          <p:attrName>style.visibility</p:attrName>
                                        </p:attrNameLst>
                                      </p:cBhvr>
                                      <p:to>
                                        <p:strVal val="visible"/>
                                      </p:to>
                                    </p:set>
                                    <p:animEffect transition="in" filter="wipe(down)">
                                      <p:cBhvr>
                                        <p:cTn id="41" dur="500"/>
                                        <p:tgtEl>
                                          <p:spTgt spid="1030"/>
                                        </p:tgtEl>
                                      </p:cBhvr>
                                    </p:animEffect>
                                  </p:childTnLst>
                                </p:cTn>
                              </p:par>
                            </p:childTnLst>
                          </p:cTn>
                        </p:par>
                        <p:par>
                          <p:cTn id="42" fill="hold">
                            <p:stCondLst>
                              <p:cond delay="1500"/>
                            </p:stCondLst>
                            <p:childTnLst>
                              <p:par>
                                <p:cTn id="43" presetID="22" presetClass="entr" presetSubtype="4" fill="hold" nodeType="afterEffect">
                                  <p:stCondLst>
                                    <p:cond delay="500"/>
                                  </p:stCondLst>
                                  <p:childTnLst>
                                    <p:set>
                                      <p:cBhvr>
                                        <p:cTn id="44" dur="1" fill="hold">
                                          <p:stCondLst>
                                            <p:cond delay="0"/>
                                          </p:stCondLst>
                                        </p:cTn>
                                        <p:tgtEl>
                                          <p:spTgt spid="1031"/>
                                        </p:tgtEl>
                                        <p:attrNameLst>
                                          <p:attrName>style.visibility</p:attrName>
                                        </p:attrNameLst>
                                      </p:cBhvr>
                                      <p:to>
                                        <p:strVal val="visible"/>
                                      </p:to>
                                    </p:set>
                                    <p:animEffect transition="in" filter="wipe(down)">
                                      <p:cBhvr>
                                        <p:cTn id="45" dur="500"/>
                                        <p:tgtEl>
                                          <p:spTgt spid="103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500"/>
                                        <p:tgtEl>
                                          <p:spTgt spid="1031"/>
                                        </p:tgtEl>
                                      </p:cBhvr>
                                    </p:animEffect>
                                    <p:set>
                                      <p:cBhvr>
                                        <p:cTn id="50" dur="1" fill="hold">
                                          <p:stCondLst>
                                            <p:cond delay="499"/>
                                          </p:stCondLst>
                                        </p:cTn>
                                        <p:tgtEl>
                                          <p:spTgt spid="1031"/>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500"/>
                                        <p:tgtEl>
                                          <p:spTgt spid="1030"/>
                                        </p:tgtEl>
                                      </p:cBhvr>
                                    </p:animEffect>
                                    <p:set>
                                      <p:cBhvr>
                                        <p:cTn id="53" dur="1" fill="hold">
                                          <p:stCondLst>
                                            <p:cond delay="499"/>
                                          </p:stCondLst>
                                        </p:cTn>
                                        <p:tgtEl>
                                          <p:spTgt spid="1030"/>
                                        </p:tgtEl>
                                        <p:attrNameLst>
                                          <p:attrName>style.visibility</p:attrName>
                                        </p:attrNameLst>
                                      </p:cBhvr>
                                      <p:to>
                                        <p:strVal val="hidden"/>
                                      </p:to>
                                    </p:set>
                                  </p:childTnLst>
                                </p:cTn>
                              </p:par>
                              <p:par>
                                <p:cTn id="54" presetID="10" presetClass="entr" presetSubtype="0" fill="hold" nodeType="with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500"/>
                                        <p:tgtEl>
                                          <p:spTgt spid="3">
                                            <p:txEl>
                                              <p:pRg st="7" end="7"/>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fade">
                                      <p:cBhvr>
                                        <p:cTn id="59" dur="500"/>
                                        <p:tgtEl>
                                          <p:spTgt spid="3">
                                            <p:txEl>
                                              <p:pRg st="8" end="8"/>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9" end="9"/>
                                            </p:txEl>
                                          </p:spTgt>
                                        </p:tgtEl>
                                        <p:attrNameLst>
                                          <p:attrName>style.visibility</p:attrName>
                                        </p:attrNameLst>
                                      </p:cBhvr>
                                      <p:to>
                                        <p:strVal val="visible"/>
                                      </p:to>
                                    </p:set>
                                    <p:animEffect transition="in" filter="fade">
                                      <p:cBhvr>
                                        <p:cTn id="62" dur="500"/>
                                        <p:tgtEl>
                                          <p:spTgt spid="3">
                                            <p:txEl>
                                              <p:pRg st="9" end="9"/>
                                            </p:txEl>
                                          </p:spTgt>
                                        </p:tgtEl>
                                      </p:cBhvr>
                                    </p:animEffect>
                                  </p:childTnLst>
                                </p:cTn>
                              </p:par>
                            </p:childTnLst>
                          </p:cTn>
                        </p:par>
                        <p:par>
                          <p:cTn id="63" fill="hold">
                            <p:stCondLst>
                              <p:cond delay="500"/>
                            </p:stCondLst>
                            <p:childTnLst>
                              <p:par>
                                <p:cTn id="64" presetID="22" presetClass="entr" presetSubtype="1" fill="hold" nodeType="afterEffect">
                                  <p:stCondLst>
                                    <p:cond delay="0"/>
                                  </p:stCondLst>
                                  <p:childTnLst>
                                    <p:set>
                                      <p:cBhvr>
                                        <p:cTn id="65" dur="1" fill="hold">
                                          <p:stCondLst>
                                            <p:cond delay="0"/>
                                          </p:stCondLst>
                                        </p:cTn>
                                        <p:tgtEl>
                                          <p:spTgt spid="1034"/>
                                        </p:tgtEl>
                                        <p:attrNameLst>
                                          <p:attrName>style.visibility</p:attrName>
                                        </p:attrNameLst>
                                      </p:cBhvr>
                                      <p:to>
                                        <p:strVal val="visible"/>
                                      </p:to>
                                    </p:set>
                                    <p:animEffect transition="in" filter="wipe(up)">
                                      <p:cBhvr>
                                        <p:cTn id="66" dur="500"/>
                                        <p:tgtEl>
                                          <p:spTgt spid="1034"/>
                                        </p:tgtEl>
                                      </p:cBhvr>
                                    </p:animEffect>
                                  </p:childTnLst>
                                </p:cTn>
                              </p:par>
                            </p:childTnLst>
                          </p:cTn>
                        </p:par>
                        <p:par>
                          <p:cTn id="67" fill="hold">
                            <p:stCondLst>
                              <p:cond delay="1000"/>
                            </p:stCondLst>
                            <p:childTnLst>
                              <p:par>
                                <p:cTn id="68" presetID="22" presetClass="entr" presetSubtype="4" fill="hold" nodeType="afterEffect">
                                  <p:stCondLst>
                                    <p:cond delay="500"/>
                                  </p:stCondLst>
                                  <p:childTnLst>
                                    <p:set>
                                      <p:cBhvr>
                                        <p:cTn id="69" dur="1" fill="hold">
                                          <p:stCondLst>
                                            <p:cond delay="0"/>
                                          </p:stCondLst>
                                        </p:cTn>
                                        <p:tgtEl>
                                          <p:spTgt spid="1033"/>
                                        </p:tgtEl>
                                        <p:attrNameLst>
                                          <p:attrName>style.visibility</p:attrName>
                                        </p:attrNameLst>
                                      </p:cBhvr>
                                      <p:to>
                                        <p:strVal val="visible"/>
                                      </p:to>
                                    </p:set>
                                    <p:animEffect transition="in" filter="wipe(down)">
                                      <p:cBhvr>
                                        <p:cTn id="70" dur="500"/>
                                        <p:tgtEl>
                                          <p:spTgt spid="1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 Switch</a:t>
            </a:r>
            <a:endParaRPr lang="en-US" dirty="0"/>
          </a:p>
        </p:txBody>
      </p:sp>
      <p:sp>
        <p:nvSpPr>
          <p:cNvPr id="3" name="Content Placeholder 2"/>
          <p:cNvSpPr>
            <a:spLocks noGrp="1"/>
          </p:cNvSpPr>
          <p:nvPr>
            <p:ph idx="1"/>
          </p:nvPr>
        </p:nvSpPr>
        <p:spPr>
          <a:xfrm>
            <a:off x="457200" y="1066800"/>
            <a:ext cx="8229600" cy="3429000"/>
          </a:xfrm>
        </p:spPr>
        <p:txBody>
          <a:bodyPr/>
          <a:lstStyle/>
          <a:p>
            <a:r>
              <a:rPr lang="en-US" dirty="0" smtClean="0"/>
              <a:t>Steps of VMM switch different virtual machines :</a:t>
            </a:r>
          </a:p>
          <a:p>
            <a:pPr marL="914400" lvl="1" indent="-457200">
              <a:buFont typeface="+mj-lt"/>
              <a:buAutoNum type="arabicPeriod"/>
            </a:pPr>
            <a:r>
              <a:rPr lang="en-US" dirty="0" smtClean="0"/>
              <a:t>Timer Interrupt in running VM.</a:t>
            </a:r>
          </a:p>
          <a:p>
            <a:pPr marL="914400" lvl="1" indent="-457200">
              <a:buFont typeface="+mj-lt"/>
              <a:buAutoNum type="arabicPeriod"/>
            </a:pPr>
            <a:r>
              <a:rPr lang="en-US" dirty="0" smtClean="0"/>
              <a:t>Context switch to VMM.</a:t>
            </a:r>
          </a:p>
          <a:p>
            <a:pPr marL="914400" lvl="1" indent="-457200">
              <a:buFont typeface="+mj-lt"/>
              <a:buAutoNum type="arabicPeriod"/>
            </a:pPr>
            <a:r>
              <a:rPr lang="en-US" dirty="0" smtClean="0"/>
              <a:t>VMM saves state of running VM.</a:t>
            </a:r>
          </a:p>
          <a:p>
            <a:pPr marL="914400" lvl="1" indent="-457200">
              <a:buFont typeface="+mj-lt"/>
              <a:buAutoNum type="arabicPeriod"/>
            </a:pPr>
            <a:r>
              <a:rPr lang="en-US" dirty="0" smtClean="0"/>
              <a:t>VMM determines next VM to execute.</a:t>
            </a:r>
          </a:p>
          <a:p>
            <a:pPr marL="914400" lvl="1" indent="-457200">
              <a:buFont typeface="+mj-lt"/>
              <a:buAutoNum type="arabicPeriod"/>
            </a:pPr>
            <a:r>
              <a:rPr lang="en-US" dirty="0" smtClean="0"/>
              <a:t>VMM sets timer interrupt.</a:t>
            </a:r>
          </a:p>
          <a:p>
            <a:pPr marL="914400" lvl="1" indent="-457200">
              <a:buFont typeface="+mj-lt"/>
              <a:buAutoNum type="arabicPeriod"/>
            </a:pPr>
            <a:r>
              <a:rPr lang="en-US" dirty="0" smtClean="0"/>
              <a:t>VMM restores state of next VM.</a:t>
            </a:r>
          </a:p>
          <a:p>
            <a:pPr marL="914400" lvl="1" indent="-457200">
              <a:buFont typeface="+mj-lt"/>
              <a:buAutoNum type="arabicPeriod"/>
            </a:pPr>
            <a:r>
              <a:rPr lang="en-US" dirty="0" smtClean="0"/>
              <a:t>VMM sets PC to timer interrupt handler of next VM.</a:t>
            </a:r>
          </a:p>
          <a:p>
            <a:pPr marL="914400" lvl="1" indent="-457200">
              <a:buFont typeface="+mj-lt"/>
              <a:buAutoNum type="arabicPeriod"/>
            </a:pPr>
            <a:r>
              <a:rPr lang="en-US" dirty="0" smtClean="0"/>
              <a:t>Next VM active.</a:t>
            </a:r>
          </a:p>
        </p:txBody>
      </p:sp>
      <p:pic>
        <p:nvPicPr>
          <p:cNvPr id="3074" name="Picture 2"/>
          <p:cNvPicPr>
            <a:picLocks noChangeAspect="1" noChangeArrowheads="1"/>
          </p:cNvPicPr>
          <p:nvPr/>
        </p:nvPicPr>
        <p:blipFill>
          <a:blip r:embed="rId2" cstate="print"/>
          <a:srcRect/>
          <a:stretch>
            <a:fillRect/>
          </a:stretch>
        </p:blipFill>
        <p:spPr bwMode="auto">
          <a:xfrm>
            <a:off x="96838" y="4114800"/>
            <a:ext cx="8950325" cy="2365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1676400" y="1308550"/>
            <a:ext cx="6858000" cy="539705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System State Management</a:t>
            </a:r>
            <a:endParaRPr lang="en-US" dirty="0"/>
          </a:p>
        </p:txBody>
      </p:sp>
      <p:sp>
        <p:nvSpPr>
          <p:cNvPr id="3" name="Content Placeholder 2"/>
          <p:cNvSpPr>
            <a:spLocks noGrp="1"/>
          </p:cNvSpPr>
          <p:nvPr>
            <p:ph idx="1"/>
          </p:nvPr>
        </p:nvSpPr>
        <p:spPr>
          <a:xfrm>
            <a:off x="304800" y="1600201"/>
            <a:ext cx="5181600" cy="2895600"/>
          </a:xfrm>
        </p:spPr>
        <p:txBody>
          <a:bodyPr/>
          <a:lstStyle/>
          <a:p>
            <a:r>
              <a:rPr lang="en-US" dirty="0" err="1" smtClean="0"/>
              <a:t>Virtualizing</a:t>
            </a:r>
            <a:r>
              <a:rPr lang="en-US" dirty="0" smtClean="0"/>
              <a:t> system state :</a:t>
            </a:r>
          </a:p>
          <a:p>
            <a:pPr lvl="1"/>
            <a:r>
              <a:rPr lang="en-US" dirty="0" smtClean="0"/>
              <a:t>VMM will hold the system states</a:t>
            </a:r>
            <a:br>
              <a:rPr lang="en-US" dirty="0" smtClean="0"/>
            </a:br>
            <a:r>
              <a:rPr lang="en-US" dirty="0" smtClean="0"/>
              <a:t>of all virtual machines in memory.</a:t>
            </a:r>
          </a:p>
          <a:p>
            <a:pPr lvl="1"/>
            <a:r>
              <a:rPr lang="en-US" dirty="0" smtClean="0"/>
              <a:t>When VMM context switch from</a:t>
            </a:r>
            <a:br>
              <a:rPr lang="en-US" dirty="0" smtClean="0"/>
            </a:br>
            <a:r>
              <a:rPr lang="en-US" dirty="0" smtClean="0"/>
              <a:t>one virtual machine to another</a:t>
            </a:r>
          </a:p>
          <a:p>
            <a:pPr lvl="2"/>
            <a:r>
              <a:rPr lang="en-US" dirty="0" smtClean="0"/>
              <a:t>Write the register values back to memory</a:t>
            </a:r>
          </a:p>
          <a:p>
            <a:pPr lvl="2"/>
            <a:r>
              <a:rPr lang="en-US" dirty="0" smtClean="0"/>
              <a:t>Copy the register values of next guest OS to CPU registers.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Virtualization Theorem</a:t>
            </a:r>
            <a:endParaRPr lang="en-US" dirty="0"/>
          </a:p>
        </p:txBody>
      </p:sp>
      <p:sp>
        <p:nvSpPr>
          <p:cNvPr id="3" name="Content Placeholder 2"/>
          <p:cNvSpPr>
            <a:spLocks noGrp="1"/>
          </p:cNvSpPr>
          <p:nvPr>
            <p:ph idx="1"/>
          </p:nvPr>
        </p:nvSpPr>
        <p:spPr>
          <a:xfrm>
            <a:off x="457200" y="1600200"/>
            <a:ext cx="8001000" cy="4876800"/>
          </a:xfrm>
        </p:spPr>
        <p:txBody>
          <a:bodyPr>
            <a:normAutofit/>
          </a:bodyPr>
          <a:lstStyle/>
          <a:p>
            <a:r>
              <a:rPr lang="en-US" dirty="0" smtClean="0"/>
              <a:t>Subset theorem :</a:t>
            </a:r>
          </a:p>
          <a:p>
            <a:pPr lvl="1"/>
            <a:r>
              <a:rPr lang="en-US" dirty="0" smtClean="0"/>
              <a:t>For any conventional third-generation computer, a VMM may be constructed if the set of sensitive instructions for that computer is a subset of the set of privileged instructions.</a:t>
            </a:r>
            <a:br>
              <a:rPr lang="en-US" dirty="0" smtClean="0"/>
            </a:br>
            <a:endParaRPr lang="en-US" dirty="0" smtClean="0"/>
          </a:p>
          <a:p>
            <a:r>
              <a:rPr lang="en-US" dirty="0" smtClean="0"/>
              <a:t>Recursive Emulation :</a:t>
            </a:r>
          </a:p>
          <a:p>
            <a:pPr lvl="1"/>
            <a:r>
              <a:rPr lang="en-US" dirty="0" smtClean="0"/>
              <a:t>A conventional third-generation computer is recursively </a:t>
            </a:r>
            <a:r>
              <a:rPr lang="en-US" dirty="0" err="1" smtClean="0"/>
              <a:t>virtualizable</a:t>
            </a:r>
            <a:r>
              <a:rPr lang="en-US" dirty="0" smtClean="0"/>
              <a:t> if</a:t>
            </a:r>
          </a:p>
          <a:p>
            <a:pPr lvl="2"/>
            <a:r>
              <a:rPr lang="en-US" dirty="0" smtClean="0"/>
              <a:t>It is </a:t>
            </a:r>
            <a:r>
              <a:rPr lang="en-US" dirty="0" err="1" smtClean="0"/>
              <a:t>virtualizable</a:t>
            </a:r>
            <a:endParaRPr lang="en-US" dirty="0" smtClean="0"/>
          </a:p>
          <a:p>
            <a:pPr lvl="2"/>
            <a:r>
              <a:rPr lang="en-US" dirty="0" smtClean="0"/>
              <a:t>VMM without any timing dependencies can be constructed for it.</a:t>
            </a:r>
          </a:p>
          <a:p>
            <a:pPr lvl="1"/>
            <a:endParaRPr lang="en-US" dirty="0" smtClean="0"/>
          </a:p>
          <a:p>
            <a:r>
              <a:rPr lang="en-US" dirty="0" smtClean="0"/>
              <a:t>Under this theorem, x86 architecture cannot be virtualized directly. Other techniques are needed.</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Virtualization Techniques</a:t>
            </a:r>
            <a:endParaRPr lang="en-US" dirty="0"/>
          </a:p>
        </p:txBody>
      </p:sp>
      <p:sp>
        <p:nvSpPr>
          <p:cNvPr id="3" name="Content Placeholder 2"/>
          <p:cNvSpPr>
            <a:spLocks noGrp="1"/>
          </p:cNvSpPr>
          <p:nvPr>
            <p:ph idx="1"/>
          </p:nvPr>
        </p:nvSpPr>
        <p:spPr/>
        <p:txBody>
          <a:bodyPr/>
          <a:lstStyle/>
          <a:p>
            <a:r>
              <a:rPr lang="en-US" dirty="0" smtClean="0"/>
              <a:t>How to </a:t>
            </a:r>
            <a:r>
              <a:rPr lang="en-US" dirty="0" err="1" smtClean="0"/>
              <a:t>virtualize</a:t>
            </a:r>
            <a:r>
              <a:rPr lang="en-US" dirty="0" smtClean="0"/>
              <a:t> </a:t>
            </a:r>
            <a:r>
              <a:rPr lang="en-US" dirty="0" err="1" smtClean="0"/>
              <a:t>unvirtualizable</a:t>
            </a:r>
            <a:r>
              <a:rPr lang="en-US" dirty="0" smtClean="0"/>
              <a:t> hardware :</a:t>
            </a:r>
          </a:p>
          <a:p>
            <a:pPr lvl="1"/>
            <a:r>
              <a:rPr lang="en-US" dirty="0" smtClean="0"/>
              <a:t>Para-virtualization</a:t>
            </a:r>
          </a:p>
          <a:p>
            <a:pPr lvl="2"/>
            <a:r>
              <a:rPr lang="en-US" dirty="0" smtClean="0"/>
              <a:t>Modify guest OS to skip the critical instructions.</a:t>
            </a:r>
          </a:p>
          <a:p>
            <a:pPr lvl="2"/>
            <a:r>
              <a:rPr lang="en-US" dirty="0" smtClean="0"/>
              <a:t>Implement some hyper-calls to trap guest OS to VMM.</a:t>
            </a:r>
            <a:br>
              <a:rPr lang="en-US" dirty="0" smtClean="0"/>
            </a:br>
            <a:endParaRPr lang="en-US" dirty="0" smtClean="0"/>
          </a:p>
          <a:p>
            <a:pPr lvl="1"/>
            <a:r>
              <a:rPr lang="en-US" dirty="0" smtClean="0"/>
              <a:t>Binary translation</a:t>
            </a:r>
          </a:p>
          <a:p>
            <a:pPr lvl="2"/>
            <a:r>
              <a:rPr lang="en-US" dirty="0" smtClean="0"/>
              <a:t>Use emulation technique to make hardware </a:t>
            </a:r>
            <a:r>
              <a:rPr lang="en-US" dirty="0" err="1" smtClean="0"/>
              <a:t>virtualizable</a:t>
            </a:r>
            <a:r>
              <a:rPr lang="en-US" dirty="0" smtClean="0"/>
              <a:t>.</a:t>
            </a:r>
          </a:p>
          <a:p>
            <a:pPr lvl="2"/>
            <a:r>
              <a:rPr lang="en-US" dirty="0" smtClean="0"/>
              <a:t>Skip the critical instructions by means of these translations.</a:t>
            </a:r>
            <a:br>
              <a:rPr lang="en-US" dirty="0" smtClean="0"/>
            </a:br>
            <a:endParaRPr lang="en-US" dirty="0" smtClean="0"/>
          </a:p>
          <a:p>
            <a:pPr lvl="1"/>
            <a:r>
              <a:rPr lang="en-US" dirty="0" smtClean="0"/>
              <a:t>Hardware assistance</a:t>
            </a:r>
          </a:p>
          <a:p>
            <a:pPr lvl="2"/>
            <a:r>
              <a:rPr lang="en-US" dirty="0" smtClean="0"/>
              <a:t>Modify or enhance ISA of hardware to provide </a:t>
            </a:r>
            <a:r>
              <a:rPr lang="en-US" dirty="0" err="1" smtClean="0"/>
              <a:t>virtualizable</a:t>
            </a:r>
            <a:r>
              <a:rPr lang="en-US" dirty="0" smtClean="0"/>
              <a:t> architecture.</a:t>
            </a:r>
          </a:p>
          <a:p>
            <a:pPr lvl="2"/>
            <a:r>
              <a:rPr lang="en-US" dirty="0" smtClean="0"/>
              <a:t>Reduce the complexity of VMM implementation.</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Para-Virtualization</a:t>
            </a:r>
            <a:endParaRPr lang="en-US" dirty="0"/>
          </a:p>
        </p:txBody>
      </p:sp>
      <p:sp>
        <p:nvSpPr>
          <p:cNvPr id="3" name="Content Placeholder 2"/>
          <p:cNvSpPr>
            <a:spLocks noGrp="1"/>
          </p:cNvSpPr>
          <p:nvPr>
            <p:ph idx="1"/>
          </p:nvPr>
        </p:nvSpPr>
        <p:spPr>
          <a:xfrm>
            <a:off x="457200" y="1600201"/>
            <a:ext cx="8382000" cy="2667000"/>
          </a:xfrm>
        </p:spPr>
        <p:txBody>
          <a:bodyPr>
            <a:normAutofit/>
          </a:bodyPr>
          <a:lstStyle/>
          <a:p>
            <a:r>
              <a:rPr lang="en-US" dirty="0" smtClean="0"/>
              <a:t>Para-Virtualization implementation :</a:t>
            </a:r>
          </a:p>
          <a:p>
            <a:pPr lvl="1"/>
            <a:r>
              <a:rPr lang="en-US" dirty="0" smtClean="0"/>
              <a:t>In </a:t>
            </a:r>
            <a:r>
              <a:rPr lang="en-US" dirty="0" err="1" smtClean="0"/>
              <a:t>para</a:t>
            </a:r>
            <a:r>
              <a:rPr lang="en-US" dirty="0" smtClean="0"/>
              <a:t>-virtualization technique, guest OS should be modified to prevent invoking critical instructions.</a:t>
            </a:r>
          </a:p>
          <a:p>
            <a:pPr lvl="1"/>
            <a:r>
              <a:rPr lang="en-US" dirty="0" smtClean="0"/>
              <a:t>Instead of knowing nothing about hypervisor, guest OS will be aware of the existence of VMM, and collaborate with VMM smoothly.</a:t>
            </a:r>
          </a:p>
          <a:p>
            <a:pPr lvl="1"/>
            <a:r>
              <a:rPr lang="en-US" dirty="0" smtClean="0"/>
              <a:t>VMM will provide the hyper-call interfaces, which will be the communication channel between guest and host.</a:t>
            </a:r>
          </a:p>
        </p:txBody>
      </p:sp>
      <p:pic>
        <p:nvPicPr>
          <p:cNvPr id="5122" name="Picture 2"/>
          <p:cNvPicPr>
            <a:picLocks noChangeAspect="1" noChangeArrowheads="1"/>
          </p:cNvPicPr>
          <p:nvPr/>
        </p:nvPicPr>
        <p:blipFill>
          <a:blip r:embed="rId2" cstate="print"/>
          <a:srcRect/>
          <a:stretch>
            <a:fillRect/>
          </a:stretch>
        </p:blipFill>
        <p:spPr bwMode="auto">
          <a:xfrm>
            <a:off x="1371600" y="4495800"/>
            <a:ext cx="6400800" cy="18589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Binary Translation</a:t>
            </a:r>
            <a:endParaRPr lang="en-US" dirty="0"/>
          </a:p>
        </p:txBody>
      </p:sp>
      <p:sp>
        <p:nvSpPr>
          <p:cNvPr id="3" name="Content Placeholder 2"/>
          <p:cNvSpPr>
            <a:spLocks noGrp="1"/>
          </p:cNvSpPr>
          <p:nvPr>
            <p:ph idx="1"/>
          </p:nvPr>
        </p:nvSpPr>
        <p:spPr>
          <a:xfrm>
            <a:off x="457200" y="1600200"/>
            <a:ext cx="7772400" cy="4525963"/>
          </a:xfrm>
        </p:spPr>
        <p:txBody>
          <a:bodyPr/>
          <a:lstStyle/>
          <a:p>
            <a:r>
              <a:rPr lang="en-US" dirty="0" smtClean="0"/>
              <a:t>In emulation techniques :</a:t>
            </a:r>
          </a:p>
          <a:p>
            <a:pPr lvl="1"/>
            <a:r>
              <a:rPr lang="en-US" dirty="0" smtClean="0"/>
              <a:t>Binary translation module is used to optimize binary code blocks, and translate binaries from guest ISA to host ISA.</a:t>
            </a:r>
            <a:br>
              <a:rPr lang="en-US" dirty="0" smtClean="0"/>
            </a:br>
            <a:endParaRPr lang="en-US" dirty="0" smtClean="0"/>
          </a:p>
          <a:p>
            <a:r>
              <a:rPr lang="en-US" dirty="0" smtClean="0"/>
              <a:t>In virtualization techniques :</a:t>
            </a:r>
          </a:p>
          <a:p>
            <a:pPr lvl="1"/>
            <a:r>
              <a:rPr lang="en-US" dirty="0" smtClean="0"/>
              <a:t>Binary translation module is used to skip or modify the guest OS binary code blocks which include critical instructions.</a:t>
            </a:r>
          </a:p>
          <a:p>
            <a:pPr lvl="1"/>
            <a:r>
              <a:rPr lang="en-US" dirty="0" smtClean="0"/>
              <a:t>Translate those critical instructions into some privilege instructions which will trap to VMM for further emulation.</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Translation</a:t>
            </a:r>
            <a:endParaRPr lang="en-US" dirty="0"/>
          </a:p>
        </p:txBody>
      </p:sp>
      <p:sp>
        <p:nvSpPr>
          <p:cNvPr id="3" name="Content Placeholder 2"/>
          <p:cNvSpPr>
            <a:spLocks noGrp="1"/>
          </p:cNvSpPr>
          <p:nvPr>
            <p:ph idx="1"/>
          </p:nvPr>
        </p:nvSpPr>
        <p:spPr/>
        <p:txBody>
          <a:bodyPr/>
          <a:lstStyle/>
          <a:p>
            <a:r>
              <a:rPr lang="en-US" dirty="0" smtClean="0"/>
              <a:t>Static approach vs. Dynamic approach :</a:t>
            </a:r>
          </a:p>
          <a:p>
            <a:pPr lvl="1"/>
            <a:r>
              <a:rPr lang="en-US" dirty="0" smtClean="0"/>
              <a:t>Static binary translation</a:t>
            </a:r>
          </a:p>
          <a:p>
            <a:pPr lvl="2"/>
            <a:r>
              <a:rPr lang="en-US" dirty="0" smtClean="0"/>
              <a:t>The entire executable file is translated into an executable of the target architecture.</a:t>
            </a:r>
          </a:p>
          <a:p>
            <a:pPr lvl="2"/>
            <a:r>
              <a:rPr lang="en-US" dirty="0" smtClean="0"/>
              <a:t>This is very difficult to do correctly, since not all the code can be discovered by the translator.</a:t>
            </a:r>
          </a:p>
          <a:p>
            <a:pPr lvl="1"/>
            <a:r>
              <a:rPr lang="en-US" dirty="0" smtClean="0"/>
              <a:t>Dynamic binary translation</a:t>
            </a:r>
          </a:p>
          <a:p>
            <a:pPr lvl="2"/>
            <a:r>
              <a:rPr lang="en-US" dirty="0" smtClean="0"/>
              <a:t>Looks at a short sequence of code, typically on the order of a single basic block, translates it and caches the resulting sequence.</a:t>
            </a:r>
          </a:p>
          <a:p>
            <a:pPr lvl="2"/>
            <a:r>
              <a:rPr lang="en-US" dirty="0" smtClean="0"/>
              <a:t>Code is only translated as it is discovered and when possible, branch instructions are made to point to already translated and saved code.</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Translation</a:t>
            </a:r>
            <a:endParaRPr lang="en-US" dirty="0"/>
          </a:p>
        </p:txBody>
      </p:sp>
      <p:sp>
        <p:nvSpPr>
          <p:cNvPr id="3" name="Content Placeholder 2"/>
          <p:cNvSpPr>
            <a:spLocks noGrp="1"/>
          </p:cNvSpPr>
          <p:nvPr>
            <p:ph idx="1"/>
          </p:nvPr>
        </p:nvSpPr>
        <p:spPr>
          <a:xfrm>
            <a:off x="457200" y="1600201"/>
            <a:ext cx="8229600" cy="1219200"/>
          </a:xfrm>
        </p:spPr>
        <p:txBody>
          <a:bodyPr/>
          <a:lstStyle/>
          <a:p>
            <a:r>
              <a:rPr lang="en-US" dirty="0" smtClean="0"/>
              <a:t>Dynamic binary translation and optimization</a:t>
            </a:r>
          </a:p>
          <a:p>
            <a:pPr lvl="1"/>
            <a:r>
              <a:rPr lang="en-US" dirty="0" smtClean="0"/>
              <a:t>VMM can dynamically translate binary code and collect profiling data for further optimization.</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428625" y="2667000"/>
            <a:ext cx="8285163" cy="40179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Difficulties</a:t>
            </a:r>
            <a:endParaRPr lang="en-US" dirty="0"/>
          </a:p>
        </p:txBody>
      </p:sp>
      <p:sp>
        <p:nvSpPr>
          <p:cNvPr id="3" name="Content Placeholder 2"/>
          <p:cNvSpPr>
            <a:spLocks noGrp="1"/>
          </p:cNvSpPr>
          <p:nvPr>
            <p:ph idx="1"/>
          </p:nvPr>
        </p:nvSpPr>
        <p:spPr>
          <a:xfrm>
            <a:off x="457200" y="1371600"/>
            <a:ext cx="8305800" cy="5105400"/>
          </a:xfrm>
        </p:spPr>
        <p:txBody>
          <a:bodyPr/>
          <a:lstStyle/>
          <a:p>
            <a:r>
              <a:rPr lang="en-US" dirty="0" smtClean="0"/>
              <a:t>Difficulties of binary translation :</a:t>
            </a:r>
          </a:p>
          <a:p>
            <a:pPr lvl="1"/>
            <a:r>
              <a:rPr lang="en-US" dirty="0" smtClean="0"/>
              <a:t>Self-modifying code</a:t>
            </a:r>
          </a:p>
          <a:p>
            <a:pPr lvl="2"/>
            <a:r>
              <a:rPr lang="en-US" dirty="0" smtClean="0"/>
              <a:t>If guest OS will modify its own binary code in runtime, binary translation need to flush the responding code cache and retranslate the code block.</a:t>
            </a:r>
          </a:p>
          <a:p>
            <a:pPr lvl="1"/>
            <a:r>
              <a:rPr lang="en-US" dirty="0" smtClean="0"/>
              <a:t>Self-reference code</a:t>
            </a:r>
          </a:p>
          <a:p>
            <a:pPr lvl="2"/>
            <a:r>
              <a:rPr lang="en-US" dirty="0" smtClean="0"/>
              <a:t>If guest code need to reference(read) its own binary code in runtime, VMM need to make it referring back to original guest binaries location.</a:t>
            </a:r>
          </a:p>
          <a:p>
            <a:pPr lvl="1"/>
            <a:r>
              <a:rPr lang="en-US" dirty="0" smtClean="0"/>
              <a:t>Real-time system</a:t>
            </a:r>
          </a:p>
          <a:p>
            <a:pPr lvl="2"/>
            <a:r>
              <a:rPr lang="en-US" dirty="0" smtClean="0"/>
              <a:t>For some timing critical guest OS, emulation environment will lose precise timing, and this problem cannot be perfectly solved yet.</a:t>
            </a:r>
          </a:p>
          <a:p>
            <a:r>
              <a:rPr lang="en-US" dirty="0" smtClean="0"/>
              <a:t>Difficulty of </a:t>
            </a:r>
            <a:r>
              <a:rPr lang="en-US" dirty="0" err="1" smtClean="0"/>
              <a:t>para</a:t>
            </a:r>
            <a:r>
              <a:rPr lang="en-US" dirty="0" smtClean="0"/>
              <a:t>-virtualization :</a:t>
            </a:r>
          </a:p>
          <a:p>
            <a:pPr lvl="1"/>
            <a:r>
              <a:rPr lang="en-US" dirty="0" smtClean="0"/>
              <a:t>Guest OS modification</a:t>
            </a:r>
          </a:p>
          <a:p>
            <a:pPr lvl="2"/>
            <a:r>
              <a:rPr lang="en-US" dirty="0" smtClean="0"/>
              <a:t>User should at least has the source code of guest OS and modify its kernel; otherwise, </a:t>
            </a:r>
            <a:r>
              <a:rPr lang="en-US" dirty="0" err="1" smtClean="0"/>
              <a:t>para</a:t>
            </a:r>
            <a:r>
              <a:rPr lang="en-US" dirty="0" smtClean="0"/>
              <a:t>-virtualization cannot be used.</a:t>
            </a:r>
          </a:p>
          <a:p>
            <a:pPr lvl="1"/>
            <a:endParaRPr lang="en-US" dirty="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 Virtualization</a:t>
            </a:r>
            <a:endParaRPr lang="en-US" dirty="0"/>
          </a:p>
        </p:txBody>
      </p:sp>
      <p:sp>
        <p:nvSpPr>
          <p:cNvPr id="3" name="Text Placeholder 2"/>
          <p:cNvSpPr>
            <a:spLocks noGrp="1"/>
          </p:cNvSpPr>
          <p:nvPr>
            <p:ph type="body" idx="1"/>
          </p:nvPr>
        </p:nvSpPr>
        <p:spPr/>
        <p:txBody>
          <a:bodyPr/>
          <a:lstStyle/>
          <a:p>
            <a:r>
              <a:rPr lang="en-US" dirty="0" smtClean="0"/>
              <a:t>Emulation techniques</a:t>
            </a:r>
          </a:p>
          <a:p>
            <a:r>
              <a:rPr lang="en-US" dirty="0" smtClean="0"/>
              <a:t>Trap and emulate model</a:t>
            </a:r>
          </a:p>
          <a:p>
            <a:r>
              <a:rPr lang="en-US" dirty="0" smtClean="0">
                <a:solidFill>
                  <a:srgbClr val="C00000"/>
                </a:solidFill>
              </a:rPr>
              <a:t>Hardware assistance</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Solution</a:t>
            </a:r>
            <a:endParaRPr lang="en-US" dirty="0"/>
          </a:p>
        </p:txBody>
      </p:sp>
      <p:sp>
        <p:nvSpPr>
          <p:cNvPr id="3" name="Content Placeholder 2"/>
          <p:cNvSpPr>
            <a:spLocks noGrp="1"/>
          </p:cNvSpPr>
          <p:nvPr>
            <p:ph idx="1"/>
          </p:nvPr>
        </p:nvSpPr>
        <p:spPr/>
        <p:txBody>
          <a:bodyPr/>
          <a:lstStyle/>
          <a:p>
            <a:r>
              <a:rPr lang="en-US" dirty="0" smtClean="0"/>
              <a:t>Why are there so many problems and difficulties ?</a:t>
            </a:r>
          </a:p>
          <a:p>
            <a:pPr lvl="1"/>
            <a:r>
              <a:rPr lang="en-US" dirty="0" smtClean="0"/>
              <a:t>Critical instructions do not trap in user mode.</a:t>
            </a:r>
          </a:p>
          <a:p>
            <a:pPr lvl="1"/>
            <a:r>
              <a:rPr lang="en-US" dirty="0" smtClean="0"/>
              <a:t>Even if we make those critical instructions trap, their semantic may </a:t>
            </a:r>
            <a:r>
              <a:rPr lang="en-US" altLang="zh-TW" dirty="0" smtClean="0"/>
              <a:t>also be </a:t>
            </a:r>
            <a:r>
              <a:rPr lang="en-US" dirty="0" smtClean="0"/>
              <a:t>changed; which is not acceptable.</a:t>
            </a:r>
            <a:br>
              <a:rPr lang="en-US" dirty="0" smtClean="0"/>
            </a:br>
            <a:endParaRPr lang="en-US" dirty="0" smtClean="0"/>
          </a:p>
          <a:p>
            <a:r>
              <a:rPr lang="en-US" dirty="0" smtClean="0"/>
              <a:t>In short, legacy processors did not design for virtualization purpose at the beginning.</a:t>
            </a:r>
          </a:p>
          <a:p>
            <a:pPr lvl="1"/>
            <a:r>
              <a:rPr lang="en-US" dirty="0" smtClean="0"/>
              <a:t>If processor can be aware of the different behaviors between guest and host, the VMM design will be more efficient and simple.</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Solution</a:t>
            </a:r>
            <a:endParaRPr lang="en-US" dirty="0"/>
          </a:p>
        </p:txBody>
      </p:sp>
      <p:sp>
        <p:nvSpPr>
          <p:cNvPr id="3" name="Content Placeholder 2"/>
          <p:cNvSpPr>
            <a:spLocks noGrp="1"/>
          </p:cNvSpPr>
          <p:nvPr>
            <p:ph idx="1"/>
          </p:nvPr>
        </p:nvSpPr>
        <p:spPr/>
        <p:txBody>
          <a:bodyPr/>
          <a:lstStyle/>
          <a:p>
            <a:r>
              <a:rPr lang="en-US" dirty="0" smtClean="0"/>
              <a:t>Let’s go back to trap model :</a:t>
            </a:r>
          </a:p>
          <a:p>
            <a:pPr lvl="1"/>
            <a:r>
              <a:rPr lang="en-US" dirty="0" smtClean="0"/>
              <a:t>Some trap types do not need the VMM involvement.</a:t>
            </a:r>
          </a:p>
          <a:p>
            <a:pPr lvl="2"/>
            <a:r>
              <a:rPr lang="en-US" dirty="0" smtClean="0"/>
              <a:t>For example, all system calls invoked by application in guest OS should be caught by gust OS only. There is no need to trap to VMM and then forward it back to guest OS, which will introduce context switch overhead.</a:t>
            </a:r>
          </a:p>
          <a:p>
            <a:pPr lvl="1"/>
            <a:r>
              <a:rPr lang="en-US" dirty="0" smtClean="0"/>
              <a:t>Some critical instructions should not be executed by guest OS.</a:t>
            </a:r>
          </a:p>
          <a:p>
            <a:pPr lvl="2"/>
            <a:r>
              <a:rPr lang="en-US" dirty="0" smtClean="0"/>
              <a:t>Although we make those critical instructions trap to VMM, VMM cannot identify whether this trapping action is caused by the emulation purpose or the real OS execution exception.</a:t>
            </a:r>
            <a:br>
              <a:rPr lang="en-US" dirty="0" smtClean="0"/>
            </a:br>
            <a:endParaRPr lang="en-US" dirty="0" smtClean="0"/>
          </a:p>
          <a:p>
            <a:r>
              <a:rPr lang="en-US" dirty="0" smtClean="0"/>
              <a:t>Solution :</a:t>
            </a:r>
          </a:p>
          <a:p>
            <a:pPr lvl="1"/>
            <a:r>
              <a:rPr lang="en-US" dirty="0" smtClean="0"/>
              <a:t>We need to redefine the semantic of some instructions.</a:t>
            </a:r>
          </a:p>
          <a:p>
            <a:pPr lvl="1"/>
            <a:r>
              <a:rPr lang="en-US" dirty="0" smtClean="0"/>
              <a:t>We need to introduce new CPU control paradigm.</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 VT-x</a:t>
            </a:r>
            <a:endParaRPr lang="en-US" dirty="0"/>
          </a:p>
        </p:txBody>
      </p:sp>
      <p:sp>
        <p:nvSpPr>
          <p:cNvPr id="3" name="Content Placeholder 2"/>
          <p:cNvSpPr>
            <a:spLocks noGrp="1"/>
          </p:cNvSpPr>
          <p:nvPr>
            <p:ph idx="1"/>
          </p:nvPr>
        </p:nvSpPr>
        <p:spPr/>
        <p:txBody>
          <a:bodyPr/>
          <a:lstStyle/>
          <a:p>
            <a:r>
              <a:rPr lang="en-US" dirty="0" smtClean="0"/>
              <a:t>In order to straighten those problems out, Intel introduces one more operation mode of x86 architecture.</a:t>
            </a:r>
          </a:p>
          <a:p>
            <a:pPr lvl="1"/>
            <a:r>
              <a:rPr lang="en-US" dirty="0" smtClean="0"/>
              <a:t>VMX Root Operation (Root Mode)</a:t>
            </a:r>
          </a:p>
          <a:p>
            <a:pPr lvl="2"/>
            <a:r>
              <a:rPr lang="en-US" dirty="0" smtClean="0"/>
              <a:t>All instruction behaviors in this mode are no different to traditional ones.</a:t>
            </a:r>
          </a:p>
          <a:p>
            <a:pPr lvl="2"/>
            <a:r>
              <a:rPr lang="en-US" dirty="0" smtClean="0"/>
              <a:t>All legacy software can run in this mode correctly.</a:t>
            </a:r>
          </a:p>
          <a:p>
            <a:pPr lvl="2"/>
            <a:r>
              <a:rPr lang="en-US" dirty="0" smtClean="0"/>
              <a:t>VMM should run in this mode and control all system resources.</a:t>
            </a:r>
          </a:p>
          <a:p>
            <a:pPr lvl="1"/>
            <a:r>
              <a:rPr lang="en-US" dirty="0" smtClean="0"/>
              <a:t>VMX Non-Root Operation (Non-Root Mode)</a:t>
            </a:r>
          </a:p>
          <a:p>
            <a:pPr lvl="2"/>
            <a:r>
              <a:rPr lang="en-US" dirty="0" smtClean="0"/>
              <a:t>All sensitive instruction behaviors in this mode are redefined.</a:t>
            </a:r>
          </a:p>
          <a:p>
            <a:pPr lvl="2"/>
            <a:r>
              <a:rPr lang="en-US" dirty="0" smtClean="0"/>
              <a:t>The sensitive instructions will trap to Root Mode.</a:t>
            </a:r>
          </a:p>
          <a:p>
            <a:pPr lvl="2"/>
            <a:r>
              <a:rPr lang="en-US" dirty="0" smtClean="0"/>
              <a:t>Guest OS should run in this mode and be fully virtualized through typical “</a:t>
            </a:r>
            <a:r>
              <a:rPr lang="en-US" i="1" dirty="0" smtClean="0"/>
              <a:t>trap and emulation model</a:t>
            </a:r>
            <a:r>
              <a:rPr lang="en-US" dirty="0" smtClean="0"/>
              <a:t>”.</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 VT-x</a:t>
            </a:r>
            <a:endParaRPr lang="en-US" dirty="0"/>
          </a:p>
        </p:txBody>
      </p:sp>
      <p:sp>
        <p:nvSpPr>
          <p:cNvPr id="3" name="Content Placeholder 2"/>
          <p:cNvSpPr>
            <a:spLocks noGrp="1"/>
          </p:cNvSpPr>
          <p:nvPr>
            <p:ph idx="1"/>
          </p:nvPr>
        </p:nvSpPr>
        <p:spPr>
          <a:xfrm>
            <a:off x="152400" y="1295400"/>
            <a:ext cx="3810000" cy="4953000"/>
          </a:xfrm>
        </p:spPr>
        <p:txBody>
          <a:bodyPr>
            <a:normAutofit/>
          </a:bodyPr>
          <a:lstStyle/>
          <a:p>
            <a:r>
              <a:rPr lang="en-US" dirty="0" smtClean="0"/>
              <a:t>VMM with VT-x :</a:t>
            </a:r>
          </a:p>
          <a:p>
            <a:pPr lvl="1"/>
            <a:r>
              <a:rPr lang="en-US" dirty="0" smtClean="0"/>
              <a:t>System Call</a:t>
            </a:r>
          </a:p>
          <a:p>
            <a:pPr lvl="2"/>
            <a:r>
              <a:rPr lang="en-US" dirty="0" smtClean="0"/>
              <a:t>CPU will directly trap to interrupt handler vector of guest OS.</a:t>
            </a:r>
          </a:p>
          <a:p>
            <a:pPr lvl="1"/>
            <a:r>
              <a:rPr lang="en-US" dirty="0" smtClean="0"/>
              <a:t>Hardware Interrupt</a:t>
            </a:r>
          </a:p>
          <a:p>
            <a:pPr lvl="2"/>
            <a:r>
              <a:rPr lang="en-US" dirty="0" smtClean="0"/>
              <a:t>Still, hardware events need to be handled by VMM first.</a:t>
            </a:r>
          </a:p>
          <a:p>
            <a:pPr lvl="1"/>
            <a:r>
              <a:rPr lang="en-US" dirty="0" smtClean="0"/>
              <a:t>Sensitive Instruction</a:t>
            </a:r>
          </a:p>
          <a:p>
            <a:pPr lvl="2"/>
            <a:r>
              <a:rPr lang="en-US" dirty="0" smtClean="0"/>
              <a:t>Instead of trap all privilege instructions, running guest OS in Non-root mode will trap sensitive instruction only.</a:t>
            </a:r>
          </a:p>
        </p:txBody>
      </p:sp>
      <p:pic>
        <p:nvPicPr>
          <p:cNvPr id="6147" name="Picture 3"/>
          <p:cNvPicPr>
            <a:picLocks noChangeAspect="1" noChangeArrowheads="1"/>
          </p:cNvPicPr>
          <p:nvPr/>
        </p:nvPicPr>
        <p:blipFill>
          <a:blip r:embed="rId2" cstate="print"/>
          <a:srcRect/>
          <a:stretch>
            <a:fillRect/>
          </a:stretch>
        </p:blipFill>
        <p:spPr bwMode="auto">
          <a:xfrm>
            <a:off x="3888381" y="1367334"/>
            <a:ext cx="4587911" cy="5167976"/>
          </a:xfrm>
          <a:prstGeom prst="rect">
            <a:avLst/>
          </a:prstGeom>
          <a:noFill/>
          <a:ln w="9525">
            <a:noFill/>
            <a:miter lim="800000"/>
            <a:headEnd/>
            <a:tailEnd/>
          </a:ln>
          <a:effectLst/>
        </p:spPr>
      </p:pic>
      <p:pic>
        <p:nvPicPr>
          <p:cNvPr id="6148" name="Picture 4"/>
          <p:cNvPicPr>
            <a:picLocks noChangeAspect="1" noChangeArrowheads="1"/>
          </p:cNvPicPr>
          <p:nvPr/>
        </p:nvPicPr>
        <p:blipFill>
          <a:blip r:embed="rId3" cstate="print"/>
          <a:srcRect/>
          <a:stretch>
            <a:fillRect/>
          </a:stretch>
        </p:blipFill>
        <p:spPr bwMode="auto">
          <a:xfrm>
            <a:off x="8096799" y="1887581"/>
            <a:ext cx="993775" cy="3074127"/>
          </a:xfrm>
          <a:prstGeom prst="rect">
            <a:avLst/>
          </a:prstGeom>
          <a:noFill/>
          <a:ln w="9525">
            <a:noFill/>
            <a:miter lim="800000"/>
            <a:headEnd/>
            <a:tailEnd/>
          </a:ln>
          <a:effectLst/>
        </p:spPr>
      </p:pic>
      <p:pic>
        <p:nvPicPr>
          <p:cNvPr id="6149" name="Picture 5"/>
          <p:cNvPicPr>
            <a:picLocks noChangeAspect="1" noChangeArrowheads="1"/>
          </p:cNvPicPr>
          <p:nvPr/>
        </p:nvPicPr>
        <p:blipFill>
          <a:blip r:embed="rId4" cstate="print"/>
          <a:srcRect/>
          <a:stretch>
            <a:fillRect/>
          </a:stretch>
        </p:blipFill>
        <p:spPr bwMode="auto">
          <a:xfrm>
            <a:off x="6161681" y="4589418"/>
            <a:ext cx="774700" cy="1169127"/>
          </a:xfrm>
          <a:prstGeom prst="rect">
            <a:avLst/>
          </a:prstGeom>
          <a:noFill/>
          <a:ln w="9525">
            <a:noFill/>
            <a:miter lim="800000"/>
            <a:headEnd/>
            <a:tailEnd/>
          </a:ln>
          <a:effectLst/>
        </p:spPr>
      </p:pic>
      <p:pic>
        <p:nvPicPr>
          <p:cNvPr id="6150" name="Picture 6"/>
          <p:cNvPicPr>
            <a:picLocks noChangeAspect="1" noChangeArrowheads="1"/>
          </p:cNvPicPr>
          <p:nvPr/>
        </p:nvPicPr>
        <p:blipFill>
          <a:blip r:embed="rId5" cstate="print"/>
          <a:srcRect/>
          <a:stretch>
            <a:fillRect/>
          </a:stretch>
        </p:blipFill>
        <p:spPr bwMode="auto">
          <a:xfrm>
            <a:off x="6174381" y="5521237"/>
            <a:ext cx="762000" cy="762000"/>
          </a:xfrm>
          <a:prstGeom prst="rect">
            <a:avLst/>
          </a:prstGeom>
          <a:noFill/>
          <a:ln w="9525">
            <a:noFill/>
            <a:miter lim="800000"/>
            <a:headEnd/>
            <a:tailEnd/>
          </a:ln>
          <a:effectLst/>
        </p:spPr>
      </p:pic>
      <p:pic>
        <p:nvPicPr>
          <p:cNvPr id="6151" name="Picture 7"/>
          <p:cNvPicPr>
            <a:picLocks noChangeAspect="1" noChangeArrowheads="1"/>
          </p:cNvPicPr>
          <p:nvPr/>
        </p:nvPicPr>
        <p:blipFill>
          <a:blip r:embed="rId6" cstate="print"/>
          <a:srcRect/>
          <a:stretch>
            <a:fillRect/>
          </a:stretch>
        </p:blipFill>
        <p:spPr bwMode="auto">
          <a:xfrm>
            <a:off x="8105508" y="4410891"/>
            <a:ext cx="841375" cy="1160418"/>
          </a:xfrm>
          <a:prstGeom prst="rect">
            <a:avLst/>
          </a:prstGeom>
          <a:noFill/>
          <a:ln w="9525">
            <a:noFill/>
            <a:miter lim="800000"/>
            <a:headEnd/>
            <a:tailEnd/>
          </a:ln>
          <a:effectLst/>
        </p:spPr>
      </p:pic>
      <p:pic>
        <p:nvPicPr>
          <p:cNvPr id="6152" name="Picture 8"/>
          <p:cNvPicPr>
            <a:picLocks noChangeAspect="1" noChangeArrowheads="1"/>
          </p:cNvPicPr>
          <p:nvPr/>
        </p:nvPicPr>
        <p:blipFill>
          <a:blip r:embed="rId7" cstate="print"/>
          <a:srcRect/>
          <a:stretch>
            <a:fillRect/>
          </a:stretch>
        </p:blipFill>
        <p:spPr bwMode="auto">
          <a:xfrm>
            <a:off x="6350727" y="4267199"/>
            <a:ext cx="890587" cy="1191441"/>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wipe(up)">
                                      <p:cBhvr>
                                        <p:cTn id="7" dur="500"/>
                                        <p:tgtEl>
                                          <p:spTgt spid="6148"/>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6148"/>
                                        </p:tgtEl>
                                      </p:cBhvr>
                                    </p:animEffect>
                                    <p:set>
                                      <p:cBhvr>
                                        <p:cTn id="18" dur="1" fill="hold">
                                          <p:stCondLst>
                                            <p:cond delay="499"/>
                                          </p:stCondLst>
                                        </p:cTn>
                                        <p:tgtEl>
                                          <p:spTgt spid="6148"/>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par>
                          <p:cTn id="25" fill="hold">
                            <p:stCondLst>
                              <p:cond delay="500"/>
                            </p:stCondLst>
                            <p:childTnLst>
                              <p:par>
                                <p:cTn id="26" presetID="22" presetClass="entr" presetSubtype="4" fill="hold" nodeType="afterEffect">
                                  <p:stCondLst>
                                    <p:cond delay="500"/>
                                  </p:stCondLst>
                                  <p:childTnLst>
                                    <p:set>
                                      <p:cBhvr>
                                        <p:cTn id="27" dur="1" fill="hold">
                                          <p:stCondLst>
                                            <p:cond delay="0"/>
                                          </p:stCondLst>
                                        </p:cTn>
                                        <p:tgtEl>
                                          <p:spTgt spid="6150"/>
                                        </p:tgtEl>
                                        <p:attrNameLst>
                                          <p:attrName>style.visibility</p:attrName>
                                        </p:attrNameLst>
                                      </p:cBhvr>
                                      <p:to>
                                        <p:strVal val="visible"/>
                                      </p:to>
                                    </p:set>
                                    <p:animEffect transition="in" filter="wipe(down)">
                                      <p:cBhvr>
                                        <p:cTn id="28" dur="500"/>
                                        <p:tgtEl>
                                          <p:spTgt spid="6150"/>
                                        </p:tgtEl>
                                      </p:cBhvr>
                                    </p:animEffect>
                                  </p:childTnLst>
                                </p:cTn>
                              </p:par>
                            </p:childTnLst>
                          </p:cTn>
                        </p:par>
                        <p:par>
                          <p:cTn id="29" fill="hold">
                            <p:stCondLst>
                              <p:cond delay="1500"/>
                            </p:stCondLst>
                            <p:childTnLst>
                              <p:par>
                                <p:cTn id="30" presetID="22" presetClass="entr" presetSubtype="4" fill="hold" nodeType="afterEffect">
                                  <p:stCondLst>
                                    <p:cond delay="500"/>
                                  </p:stCondLst>
                                  <p:childTnLst>
                                    <p:set>
                                      <p:cBhvr>
                                        <p:cTn id="31" dur="1" fill="hold">
                                          <p:stCondLst>
                                            <p:cond delay="0"/>
                                          </p:stCondLst>
                                        </p:cTn>
                                        <p:tgtEl>
                                          <p:spTgt spid="6149"/>
                                        </p:tgtEl>
                                        <p:attrNameLst>
                                          <p:attrName>style.visibility</p:attrName>
                                        </p:attrNameLst>
                                      </p:cBhvr>
                                      <p:to>
                                        <p:strVal val="visible"/>
                                      </p:to>
                                    </p:set>
                                    <p:animEffect transition="in" filter="wipe(down)">
                                      <p:cBhvr>
                                        <p:cTn id="32" dur="500"/>
                                        <p:tgtEl>
                                          <p:spTgt spid="614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6149"/>
                                        </p:tgtEl>
                                      </p:cBhvr>
                                    </p:animEffect>
                                    <p:set>
                                      <p:cBhvr>
                                        <p:cTn id="37" dur="1" fill="hold">
                                          <p:stCondLst>
                                            <p:cond delay="499"/>
                                          </p:stCondLst>
                                        </p:cTn>
                                        <p:tgtEl>
                                          <p:spTgt spid="6149"/>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6150"/>
                                        </p:tgtEl>
                                      </p:cBhvr>
                                    </p:animEffect>
                                    <p:set>
                                      <p:cBhvr>
                                        <p:cTn id="40" dur="1" fill="hold">
                                          <p:stCondLst>
                                            <p:cond delay="499"/>
                                          </p:stCondLst>
                                        </p:cTn>
                                        <p:tgtEl>
                                          <p:spTgt spid="6150"/>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Effect transition="in" filter="fade">
                                      <p:cBhvr>
                                        <p:cTn id="43" dur="500"/>
                                        <p:tgtEl>
                                          <p:spTgt spid="3">
                                            <p:txEl>
                                              <p:pRg st="5" end="5"/>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fade">
                                      <p:cBhvr>
                                        <p:cTn id="46" dur="500"/>
                                        <p:tgtEl>
                                          <p:spTgt spid="3">
                                            <p:txEl>
                                              <p:pRg st="6" end="6"/>
                                            </p:txEl>
                                          </p:spTgt>
                                        </p:tgtEl>
                                      </p:cBhvr>
                                    </p:animEffect>
                                  </p:childTnLst>
                                </p:cTn>
                              </p:par>
                            </p:childTnLst>
                          </p:cTn>
                        </p:par>
                        <p:par>
                          <p:cTn id="47" fill="hold">
                            <p:stCondLst>
                              <p:cond delay="500"/>
                            </p:stCondLst>
                            <p:childTnLst>
                              <p:par>
                                <p:cTn id="48" presetID="22" presetClass="entr" presetSubtype="1" fill="hold" nodeType="afterEffect">
                                  <p:stCondLst>
                                    <p:cond delay="500"/>
                                  </p:stCondLst>
                                  <p:childTnLst>
                                    <p:set>
                                      <p:cBhvr>
                                        <p:cTn id="49" dur="1" fill="hold">
                                          <p:stCondLst>
                                            <p:cond delay="0"/>
                                          </p:stCondLst>
                                        </p:cTn>
                                        <p:tgtEl>
                                          <p:spTgt spid="6151"/>
                                        </p:tgtEl>
                                        <p:attrNameLst>
                                          <p:attrName>style.visibility</p:attrName>
                                        </p:attrNameLst>
                                      </p:cBhvr>
                                      <p:to>
                                        <p:strVal val="visible"/>
                                      </p:to>
                                    </p:set>
                                    <p:animEffect transition="in" filter="wipe(up)">
                                      <p:cBhvr>
                                        <p:cTn id="50" dur="500"/>
                                        <p:tgtEl>
                                          <p:spTgt spid="6151"/>
                                        </p:tgtEl>
                                      </p:cBhvr>
                                    </p:animEffect>
                                  </p:childTnLst>
                                </p:cTn>
                              </p:par>
                            </p:childTnLst>
                          </p:cTn>
                        </p:par>
                        <p:par>
                          <p:cTn id="51" fill="hold">
                            <p:stCondLst>
                              <p:cond delay="1500"/>
                            </p:stCondLst>
                            <p:childTnLst>
                              <p:par>
                                <p:cTn id="52" presetID="22" presetClass="entr" presetSubtype="4" fill="hold" nodeType="afterEffect">
                                  <p:stCondLst>
                                    <p:cond delay="500"/>
                                  </p:stCondLst>
                                  <p:childTnLst>
                                    <p:set>
                                      <p:cBhvr>
                                        <p:cTn id="53" dur="1" fill="hold">
                                          <p:stCondLst>
                                            <p:cond delay="0"/>
                                          </p:stCondLst>
                                        </p:cTn>
                                        <p:tgtEl>
                                          <p:spTgt spid="6152"/>
                                        </p:tgtEl>
                                        <p:attrNameLst>
                                          <p:attrName>style.visibility</p:attrName>
                                        </p:attrNameLst>
                                      </p:cBhvr>
                                      <p:to>
                                        <p:strVal val="visible"/>
                                      </p:to>
                                    </p:set>
                                    <p:animEffect transition="in" filter="wipe(down)">
                                      <p:cBhvr>
                                        <p:cTn id="54"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 Switch</a:t>
            </a:r>
            <a:endParaRPr lang="en-US" dirty="0"/>
          </a:p>
        </p:txBody>
      </p:sp>
      <p:sp>
        <p:nvSpPr>
          <p:cNvPr id="3" name="Content Placeholder 2"/>
          <p:cNvSpPr>
            <a:spLocks noGrp="1"/>
          </p:cNvSpPr>
          <p:nvPr>
            <p:ph idx="1"/>
          </p:nvPr>
        </p:nvSpPr>
        <p:spPr>
          <a:xfrm>
            <a:off x="457200" y="1600201"/>
            <a:ext cx="8305800" cy="3429000"/>
          </a:xfrm>
        </p:spPr>
        <p:txBody>
          <a:bodyPr/>
          <a:lstStyle/>
          <a:p>
            <a:r>
              <a:rPr lang="en-US" dirty="0" smtClean="0"/>
              <a:t>VMM switch different virtual machines with Intel VT-x :</a:t>
            </a:r>
          </a:p>
          <a:p>
            <a:pPr lvl="1"/>
            <a:r>
              <a:rPr lang="en-US" sz="1600" b="1" dirty="0" smtClean="0">
                <a:latin typeface="Consolas" pitchFamily="49" charset="0"/>
                <a:cs typeface="Consolas" pitchFamily="49" charset="0"/>
              </a:rPr>
              <a:t>VMXON/VMXOFF</a:t>
            </a:r>
          </a:p>
          <a:p>
            <a:pPr lvl="2"/>
            <a:r>
              <a:rPr lang="en-US" dirty="0" smtClean="0"/>
              <a:t>These two instructions are used to turn on/off CPU Root Mode.</a:t>
            </a:r>
          </a:p>
          <a:p>
            <a:pPr lvl="1"/>
            <a:r>
              <a:rPr lang="en-US" dirty="0" smtClean="0"/>
              <a:t>VM Entry</a:t>
            </a:r>
          </a:p>
          <a:p>
            <a:pPr lvl="2"/>
            <a:r>
              <a:rPr lang="en-US" dirty="0" smtClean="0"/>
              <a:t>This is usually caused by the execution of </a:t>
            </a:r>
            <a:r>
              <a:rPr lang="en-US" sz="1600" b="1" dirty="0" smtClean="0">
                <a:latin typeface="Consolas" pitchFamily="49" charset="0"/>
                <a:cs typeface="Consolas" pitchFamily="49" charset="0"/>
              </a:rPr>
              <a:t>VMLAUNCH/VMRESUME</a:t>
            </a:r>
            <a:r>
              <a:rPr lang="en-US" dirty="0" smtClean="0"/>
              <a:t> instructions, which will switch CPU mode from Root Mode to Non-Root Mode.</a:t>
            </a:r>
          </a:p>
          <a:p>
            <a:pPr lvl="1"/>
            <a:r>
              <a:rPr lang="en-US" dirty="0" smtClean="0"/>
              <a:t>VM Exit</a:t>
            </a:r>
          </a:p>
          <a:p>
            <a:pPr lvl="2"/>
            <a:r>
              <a:rPr lang="en-US" dirty="0" smtClean="0"/>
              <a:t>This may be caused by many reasons, such as hardware interrupts or sensitive instruction executions.</a:t>
            </a:r>
          </a:p>
          <a:p>
            <a:pPr lvl="2"/>
            <a:r>
              <a:rPr lang="en-US" dirty="0" smtClean="0"/>
              <a:t>Switch CPU mode from Non-Root Mode to Root Mode.</a:t>
            </a:r>
          </a:p>
          <a:p>
            <a:pPr lvl="1"/>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111250" y="4966783"/>
            <a:ext cx="6919913" cy="17748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868362"/>
          </a:xfrm>
        </p:spPr>
        <p:txBody>
          <a:bodyPr>
            <a:noAutofit/>
          </a:bodyPr>
          <a:lstStyle/>
          <a:p>
            <a:r>
              <a:rPr lang="en-US" dirty="0" smtClean="0"/>
              <a:t>System State Management</a:t>
            </a:r>
            <a:endParaRPr lang="en-US" dirty="0"/>
          </a:p>
        </p:txBody>
      </p:sp>
      <p:sp>
        <p:nvSpPr>
          <p:cNvPr id="3" name="Content Placeholder 2"/>
          <p:cNvSpPr>
            <a:spLocks noGrp="1"/>
          </p:cNvSpPr>
          <p:nvPr>
            <p:ph idx="1"/>
          </p:nvPr>
        </p:nvSpPr>
        <p:spPr>
          <a:xfrm>
            <a:off x="457200" y="1447800"/>
            <a:ext cx="8458200" cy="4876800"/>
          </a:xfrm>
        </p:spPr>
        <p:txBody>
          <a:bodyPr>
            <a:normAutofit/>
          </a:bodyPr>
          <a:lstStyle/>
          <a:p>
            <a:r>
              <a:rPr lang="en-US" dirty="0" smtClean="0"/>
              <a:t>Intel introduces a more efficient hardware approach for register switching, </a:t>
            </a:r>
            <a:r>
              <a:rPr lang="en-US" b="1" dirty="0" smtClean="0"/>
              <a:t>VMCS</a:t>
            </a:r>
            <a:r>
              <a:rPr lang="en-US" dirty="0" smtClean="0"/>
              <a:t> </a:t>
            </a:r>
            <a:r>
              <a:rPr lang="en-US" sz="2000" dirty="0" smtClean="0"/>
              <a:t>(</a:t>
            </a:r>
            <a:r>
              <a:rPr lang="en-US" sz="2000" i="1" dirty="0" smtClean="0"/>
              <a:t>Virtual Machine Control Structure</a:t>
            </a:r>
            <a:r>
              <a:rPr lang="en-US" sz="2000" dirty="0" smtClean="0"/>
              <a:t>) :</a:t>
            </a:r>
          </a:p>
          <a:p>
            <a:pPr lvl="1"/>
            <a:r>
              <a:rPr lang="en-US" dirty="0" smtClean="0"/>
              <a:t>State Area</a:t>
            </a:r>
          </a:p>
          <a:p>
            <a:pPr lvl="2"/>
            <a:r>
              <a:rPr lang="en-US" dirty="0" smtClean="0"/>
              <a:t>Store host OS system state when VM-Entry.</a:t>
            </a:r>
          </a:p>
          <a:p>
            <a:pPr lvl="2"/>
            <a:r>
              <a:rPr lang="en-US" dirty="0" smtClean="0"/>
              <a:t>Store guest OS system state when VM-Exit.</a:t>
            </a:r>
          </a:p>
          <a:p>
            <a:pPr lvl="1"/>
            <a:r>
              <a:rPr lang="en-US" dirty="0" smtClean="0"/>
              <a:t>Control Area</a:t>
            </a:r>
          </a:p>
          <a:p>
            <a:pPr lvl="2"/>
            <a:r>
              <a:rPr lang="en-US" dirty="0" smtClean="0"/>
              <a:t>Control instruction behaviors in Non-Root Mode.</a:t>
            </a:r>
          </a:p>
          <a:p>
            <a:pPr lvl="2"/>
            <a:r>
              <a:rPr lang="en-US" dirty="0" smtClean="0"/>
              <a:t>Control VM-Entry and VM-Exit process.</a:t>
            </a:r>
          </a:p>
          <a:p>
            <a:pPr lvl="1"/>
            <a:r>
              <a:rPr lang="en-US" dirty="0" smtClean="0"/>
              <a:t>Exit Information</a:t>
            </a:r>
          </a:p>
          <a:p>
            <a:pPr lvl="2"/>
            <a:r>
              <a:rPr lang="en-US" dirty="0" smtClean="0"/>
              <a:t>Provide the VM-Exit reason and some hardware information.</a:t>
            </a:r>
            <a:br>
              <a:rPr lang="en-US" dirty="0" smtClean="0"/>
            </a:br>
            <a:endParaRPr lang="en-US" dirty="0" smtClean="0"/>
          </a:p>
          <a:p>
            <a:r>
              <a:rPr lang="en-US" dirty="0" smtClean="0"/>
              <a:t>Whenever VM Entry or VM Exit occur, CPU will automatically read or write corresponding information into VMCS.</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State Management</a:t>
            </a:r>
            <a:endParaRPr lang="en-US" dirty="0"/>
          </a:p>
        </p:txBody>
      </p:sp>
      <p:sp>
        <p:nvSpPr>
          <p:cNvPr id="3" name="Content Placeholder 2"/>
          <p:cNvSpPr>
            <a:spLocks noGrp="1"/>
          </p:cNvSpPr>
          <p:nvPr>
            <p:ph idx="1"/>
          </p:nvPr>
        </p:nvSpPr>
        <p:spPr>
          <a:xfrm>
            <a:off x="457200" y="1219201"/>
            <a:ext cx="8153400" cy="2286000"/>
          </a:xfrm>
        </p:spPr>
        <p:txBody>
          <a:bodyPr>
            <a:normAutofit/>
          </a:bodyPr>
          <a:lstStyle/>
          <a:p>
            <a:r>
              <a:rPr lang="en-US" dirty="0" smtClean="0"/>
              <a:t>Binding virtual machine to virtual CPU</a:t>
            </a:r>
          </a:p>
          <a:p>
            <a:pPr lvl="1"/>
            <a:r>
              <a:rPr lang="en-US" dirty="0" smtClean="0"/>
              <a:t>VCPU (Virtual CPU) contains two parts</a:t>
            </a:r>
          </a:p>
          <a:p>
            <a:pPr lvl="2"/>
            <a:r>
              <a:rPr lang="en-US" dirty="0" smtClean="0"/>
              <a:t>VMCS maintains virtual system states, which is approached by hardware.</a:t>
            </a:r>
          </a:p>
          <a:p>
            <a:pPr lvl="2"/>
            <a:r>
              <a:rPr lang="en-US" dirty="0" smtClean="0"/>
              <a:t>Non-VMCS maintains other non-essential system information, which is approach by software.</a:t>
            </a:r>
          </a:p>
          <a:p>
            <a:pPr lvl="1"/>
            <a:r>
              <a:rPr lang="en-US" dirty="0" smtClean="0"/>
              <a:t>VMM needs to handle Non-VMCS part.</a:t>
            </a:r>
          </a:p>
        </p:txBody>
      </p:sp>
      <p:pic>
        <p:nvPicPr>
          <p:cNvPr id="4098" name="Picture 2"/>
          <p:cNvPicPr>
            <a:picLocks noChangeAspect="1" noChangeArrowheads="1"/>
          </p:cNvPicPr>
          <p:nvPr/>
        </p:nvPicPr>
        <p:blipFill>
          <a:blip r:embed="rId2" cstate="print"/>
          <a:srcRect/>
          <a:stretch>
            <a:fillRect/>
          </a:stretch>
        </p:blipFill>
        <p:spPr bwMode="auto">
          <a:xfrm>
            <a:off x="1487488" y="3429000"/>
            <a:ext cx="6169025" cy="31829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 Virtualization Summary</a:t>
            </a:r>
            <a:endParaRPr lang="en-US" dirty="0"/>
          </a:p>
        </p:txBody>
      </p:sp>
      <p:sp>
        <p:nvSpPr>
          <p:cNvPr id="3" name="Content Placeholder 2"/>
          <p:cNvSpPr>
            <a:spLocks noGrp="1"/>
          </p:cNvSpPr>
          <p:nvPr>
            <p:ph idx="1"/>
          </p:nvPr>
        </p:nvSpPr>
        <p:spPr>
          <a:xfrm>
            <a:off x="457200" y="1600200"/>
            <a:ext cx="8229600" cy="4724400"/>
          </a:xfrm>
        </p:spPr>
        <p:txBody>
          <a:bodyPr/>
          <a:lstStyle/>
          <a:p>
            <a:r>
              <a:rPr lang="en-US" dirty="0" smtClean="0"/>
              <a:t>Emulation technique</a:t>
            </a:r>
          </a:p>
          <a:p>
            <a:pPr lvl="1"/>
            <a:r>
              <a:rPr lang="en-US" dirty="0" smtClean="0"/>
              <a:t>Interpretation and binary translation approaches</a:t>
            </a:r>
          </a:p>
          <a:p>
            <a:pPr lvl="1"/>
            <a:r>
              <a:rPr lang="en-US" dirty="0" smtClean="0"/>
              <a:t>System state mapping and performance issue</a:t>
            </a:r>
          </a:p>
          <a:p>
            <a:pPr lvl="2"/>
            <a:r>
              <a:rPr lang="en-US" dirty="0" smtClean="0"/>
              <a:t>Translation chaining, Dynamic binary optimization</a:t>
            </a:r>
          </a:p>
          <a:p>
            <a:r>
              <a:rPr lang="en-US" dirty="0" smtClean="0"/>
              <a:t>Virtualization technique</a:t>
            </a:r>
          </a:p>
          <a:p>
            <a:pPr lvl="1"/>
            <a:r>
              <a:rPr lang="en-US" dirty="0" smtClean="0"/>
              <a:t>Modern CPU architecture</a:t>
            </a:r>
          </a:p>
          <a:p>
            <a:pPr lvl="1"/>
            <a:r>
              <a:rPr lang="en-US" dirty="0" smtClean="0"/>
              <a:t>Trap and emulation model</a:t>
            </a:r>
          </a:p>
          <a:p>
            <a:pPr lvl="1"/>
            <a:r>
              <a:rPr lang="en-US" dirty="0" smtClean="0"/>
              <a:t>Critical instruction issue</a:t>
            </a:r>
          </a:p>
          <a:p>
            <a:pPr lvl="2"/>
            <a:r>
              <a:rPr lang="en-US" dirty="0" smtClean="0"/>
              <a:t>Para-virtualization, Dynamic binary translation</a:t>
            </a:r>
          </a:p>
          <a:p>
            <a:r>
              <a:rPr lang="en-US" dirty="0" smtClean="0"/>
              <a:t>Hardware assistance</a:t>
            </a:r>
          </a:p>
          <a:p>
            <a:pPr lvl="1"/>
            <a:r>
              <a:rPr lang="en-US" dirty="0" smtClean="0"/>
              <a:t>Intel VT-x approach</a:t>
            </a:r>
          </a:p>
          <a:p>
            <a:pPr lvl="2"/>
            <a:r>
              <a:rPr lang="en-US" dirty="0" smtClean="0"/>
              <a:t>Root Mode &amp; Non-Root Mode</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Virtualization</a:t>
            </a:r>
            <a:endParaRPr lang="en-US" dirty="0"/>
          </a:p>
        </p:txBody>
      </p:sp>
      <p:sp>
        <p:nvSpPr>
          <p:cNvPr id="3" name="Text Placeholder 2"/>
          <p:cNvSpPr>
            <a:spLocks noGrp="1"/>
          </p:cNvSpPr>
          <p:nvPr>
            <p:ph type="body" idx="1"/>
          </p:nvPr>
        </p:nvSpPr>
        <p:spPr/>
        <p:txBody>
          <a:bodyPr/>
          <a:lstStyle/>
          <a:p>
            <a:r>
              <a:rPr lang="en-US" dirty="0" smtClean="0">
                <a:solidFill>
                  <a:srgbClr val="C00000"/>
                </a:solidFill>
              </a:rPr>
              <a:t>Shadow page table</a:t>
            </a:r>
          </a:p>
          <a:p>
            <a:r>
              <a:rPr lang="en-US" dirty="0" smtClean="0"/>
              <a:t>Hardware assistance</a:t>
            </a: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Virtualization</a:t>
            </a:r>
            <a:endParaRPr lang="en-US" dirty="0"/>
          </a:p>
        </p:txBody>
      </p:sp>
      <p:sp>
        <p:nvSpPr>
          <p:cNvPr id="3" name="Content Placeholder 2"/>
          <p:cNvSpPr>
            <a:spLocks noGrp="1"/>
          </p:cNvSpPr>
          <p:nvPr>
            <p:ph idx="1"/>
          </p:nvPr>
        </p:nvSpPr>
        <p:spPr>
          <a:xfrm>
            <a:off x="457200" y="1600200"/>
            <a:ext cx="8229600" cy="5029200"/>
          </a:xfrm>
        </p:spPr>
        <p:txBody>
          <a:bodyPr>
            <a:noAutofit/>
          </a:bodyPr>
          <a:lstStyle/>
          <a:p>
            <a:r>
              <a:rPr lang="en-US" dirty="0" smtClean="0"/>
              <a:t>Memory management in OS</a:t>
            </a:r>
          </a:p>
          <a:p>
            <a:pPr lvl="1"/>
            <a:r>
              <a:rPr lang="en-US" dirty="0" smtClean="0"/>
              <a:t>Traditionally, OS fully controls all physical memory space and provide a continuous addressing space to each process.</a:t>
            </a:r>
          </a:p>
          <a:p>
            <a:pPr lvl="1"/>
            <a:r>
              <a:rPr lang="en-US" dirty="0" smtClean="0"/>
              <a:t>In server virtualization, VMM should make all virtual machines share the physical memory space without knowing the fact.</a:t>
            </a:r>
          </a:p>
          <a:p>
            <a:r>
              <a:rPr lang="en-US" dirty="0" smtClean="0"/>
              <a:t>Goals of memory virtualization :</a:t>
            </a:r>
          </a:p>
          <a:p>
            <a:pPr lvl="1"/>
            <a:r>
              <a:rPr lang="en-US" dirty="0" smtClean="0"/>
              <a:t>Address Translation</a:t>
            </a:r>
          </a:p>
          <a:p>
            <a:pPr lvl="2"/>
            <a:r>
              <a:rPr lang="en-US" dirty="0" smtClean="0"/>
              <a:t>Control table-walking hardware that accesses translation tables in main memory.</a:t>
            </a:r>
          </a:p>
          <a:p>
            <a:pPr lvl="1"/>
            <a:r>
              <a:rPr lang="en-US" dirty="0" smtClean="0"/>
              <a:t>Memory Protection</a:t>
            </a:r>
          </a:p>
          <a:p>
            <a:pPr lvl="2"/>
            <a:r>
              <a:rPr lang="en-US" dirty="0" smtClean="0"/>
              <a:t>Define access permission which uses the Access Control Hardware.</a:t>
            </a:r>
          </a:p>
          <a:p>
            <a:pPr lvl="1"/>
            <a:r>
              <a:rPr lang="en-US" dirty="0" smtClean="0"/>
              <a:t>Access Attribute</a:t>
            </a:r>
          </a:p>
          <a:p>
            <a:pPr lvl="2"/>
            <a:r>
              <a:rPr lang="en-US" dirty="0" smtClean="0"/>
              <a:t>Define attribute and type of memory region to direct how memory operation to be handled.</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p:cNvPicPr>
            <a:picLocks noChangeAspect="1" noChangeArrowheads="1"/>
          </p:cNvPicPr>
          <p:nvPr/>
        </p:nvPicPr>
        <p:blipFill>
          <a:blip r:embed="rId2" cstate="print"/>
          <a:srcRect/>
          <a:stretch>
            <a:fillRect/>
          </a:stretch>
        </p:blipFill>
        <p:spPr bwMode="auto">
          <a:xfrm>
            <a:off x="1284412" y="4114800"/>
            <a:ext cx="6575177" cy="259080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Memory Architecture</a:t>
            </a:r>
            <a:endParaRPr lang="en-US" dirty="0"/>
          </a:p>
        </p:txBody>
      </p:sp>
      <p:sp>
        <p:nvSpPr>
          <p:cNvPr id="3" name="Content Placeholder 2"/>
          <p:cNvSpPr>
            <a:spLocks noGrp="1"/>
          </p:cNvSpPr>
          <p:nvPr>
            <p:ph idx="1"/>
          </p:nvPr>
        </p:nvSpPr>
        <p:spPr>
          <a:xfrm>
            <a:off x="457200" y="990601"/>
            <a:ext cx="8229600" cy="3048000"/>
          </a:xfrm>
        </p:spPr>
        <p:txBody>
          <a:bodyPr/>
          <a:lstStyle/>
          <a:p>
            <a:r>
              <a:rPr lang="en-US" dirty="0" smtClean="0"/>
              <a:t>Memory Management Unit (MMU)</a:t>
            </a:r>
          </a:p>
          <a:p>
            <a:pPr lvl="1"/>
            <a:r>
              <a:rPr lang="en-US" dirty="0" smtClean="0"/>
              <a:t>What is MMU ?</a:t>
            </a:r>
          </a:p>
          <a:p>
            <a:pPr lvl="2"/>
            <a:r>
              <a:rPr lang="en-US" dirty="0" smtClean="0"/>
              <a:t>A computer hardware component responsible for handling accesses to memory requested by the CPU.</a:t>
            </a:r>
          </a:p>
          <a:p>
            <a:pPr lvl="2"/>
            <a:r>
              <a:rPr lang="en-US" dirty="0" smtClean="0"/>
              <a:t>Its functions include translation of virtual addresses to physical addresses, memory protection, cache control, bus arbitration and etc.</a:t>
            </a:r>
          </a:p>
          <a:p>
            <a:pPr lvl="1"/>
            <a:r>
              <a:rPr lang="en-US" dirty="0" smtClean="0"/>
              <a:t>What is PTBR ?</a:t>
            </a:r>
          </a:p>
          <a:p>
            <a:pPr lvl="2"/>
            <a:r>
              <a:rPr lang="en-US" dirty="0" smtClean="0"/>
              <a:t>Page Table Base Register (PTBR) is a register point to the base of page table for MMU.</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Architecture</a:t>
            </a:r>
            <a:endParaRPr lang="en-US" dirty="0"/>
          </a:p>
        </p:txBody>
      </p:sp>
      <p:sp>
        <p:nvSpPr>
          <p:cNvPr id="3" name="Content Placeholder 2"/>
          <p:cNvSpPr>
            <a:spLocks noGrp="1"/>
          </p:cNvSpPr>
          <p:nvPr>
            <p:ph idx="1"/>
          </p:nvPr>
        </p:nvSpPr>
        <p:spPr/>
        <p:txBody>
          <a:bodyPr/>
          <a:lstStyle/>
          <a:p>
            <a:r>
              <a:rPr lang="en-US" dirty="0" smtClean="0"/>
              <a:t>Translation </a:t>
            </a:r>
            <a:r>
              <a:rPr lang="en-US" dirty="0" err="1" smtClean="0"/>
              <a:t>Lookaside</a:t>
            </a:r>
            <a:r>
              <a:rPr lang="en-US" dirty="0" smtClean="0"/>
              <a:t> Buffer (TLB)</a:t>
            </a:r>
          </a:p>
          <a:p>
            <a:pPr lvl="1"/>
            <a:r>
              <a:rPr lang="en-US" dirty="0" smtClean="0"/>
              <a:t>What is TLB ?</a:t>
            </a:r>
          </a:p>
          <a:p>
            <a:pPr lvl="2"/>
            <a:r>
              <a:rPr lang="en-US" dirty="0" smtClean="0"/>
              <a:t>A CPU cache that memory management hardware uses to improve virtual address translation speed.</a:t>
            </a:r>
          </a:p>
        </p:txBody>
      </p:sp>
      <p:pic>
        <p:nvPicPr>
          <p:cNvPr id="19458" name="Picture 2" descr="http://images.cnblogs.com/cnblogs_com/cornflower/MMU1.PNG"/>
          <p:cNvPicPr>
            <a:picLocks noChangeAspect="1" noChangeArrowheads="1"/>
          </p:cNvPicPr>
          <p:nvPr/>
        </p:nvPicPr>
        <p:blipFill>
          <a:blip r:embed="rId2" cstate="print"/>
          <a:srcRect/>
          <a:stretch>
            <a:fillRect/>
          </a:stretch>
        </p:blipFill>
        <p:spPr bwMode="auto">
          <a:xfrm>
            <a:off x="1752600" y="3276600"/>
            <a:ext cx="5781742" cy="3429000"/>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455738" y="2147887"/>
            <a:ext cx="6230937" cy="4633913"/>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Memory Virtualization</a:t>
            </a:r>
            <a:endParaRPr lang="en-US" dirty="0"/>
          </a:p>
        </p:txBody>
      </p:sp>
      <p:sp>
        <p:nvSpPr>
          <p:cNvPr id="5" name="Content Placeholder 2"/>
          <p:cNvSpPr txBox="1">
            <a:spLocks/>
          </p:cNvSpPr>
          <p:nvPr/>
        </p:nvSpPr>
        <p:spPr>
          <a:xfrm>
            <a:off x="457200" y="1600201"/>
            <a:ext cx="8229600" cy="6096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8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Memory virtualization architecture</a:t>
            </a:r>
          </a:p>
        </p:txBody>
      </p:sp>
      <p:sp>
        <p:nvSpPr>
          <p:cNvPr id="6" name="投影片編號版面配置區 5"/>
          <p:cNvSpPr>
            <a:spLocks noGrp="1"/>
          </p:cNvSpPr>
          <p:nvPr>
            <p:ph type="sldNum" sz="quarter" idx="12"/>
          </p:nvPr>
        </p:nvSpPr>
        <p:spPr/>
        <p:txBody>
          <a:bodyPr/>
          <a:lstStyle/>
          <a:p>
            <a:fld id="{B6F15528-21DE-4FAA-801E-634DDDAF4B2B}" type="slidenum">
              <a:rPr lang="en-US" smtClean="0"/>
              <a:pPr/>
              <a:t>58</a:t>
            </a:fld>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Virtualization</a:t>
            </a:r>
            <a:endParaRPr lang="en-US" dirty="0"/>
          </a:p>
        </p:txBody>
      </p:sp>
      <p:sp>
        <p:nvSpPr>
          <p:cNvPr id="3" name="Content Placeholder 2"/>
          <p:cNvSpPr>
            <a:spLocks noGrp="1"/>
          </p:cNvSpPr>
          <p:nvPr>
            <p:ph idx="1"/>
          </p:nvPr>
        </p:nvSpPr>
        <p:spPr>
          <a:xfrm>
            <a:off x="457200" y="1600201"/>
            <a:ext cx="8229600" cy="2362200"/>
          </a:xfrm>
        </p:spPr>
        <p:txBody>
          <a:bodyPr/>
          <a:lstStyle/>
          <a:p>
            <a:r>
              <a:rPr lang="en-US" dirty="0" smtClean="0"/>
              <a:t>The performance drop of memory access is usually unbearable. VMM needs further optimization.</a:t>
            </a:r>
            <a:br>
              <a:rPr lang="en-US" dirty="0" smtClean="0"/>
            </a:br>
            <a:endParaRPr lang="en-US" sz="1600" dirty="0" smtClean="0"/>
          </a:p>
          <a:p>
            <a:r>
              <a:rPr lang="en-US" dirty="0" smtClean="0"/>
              <a:t> VMM maintains shadow page tables :</a:t>
            </a:r>
          </a:p>
          <a:p>
            <a:pPr lvl="1">
              <a:spcAft>
                <a:spcPts val="0"/>
              </a:spcAft>
            </a:pPr>
            <a:r>
              <a:rPr lang="en-US" dirty="0" smtClean="0"/>
              <a:t>Direct virtual-to-physical address mapping</a:t>
            </a:r>
          </a:p>
          <a:p>
            <a:pPr lvl="1"/>
            <a:r>
              <a:rPr lang="en-US" dirty="0" smtClean="0"/>
              <a:t>Use hardware TLB for address translation</a:t>
            </a:r>
          </a:p>
        </p:txBody>
      </p:sp>
      <p:pic>
        <p:nvPicPr>
          <p:cNvPr id="4099" name="Picture 3"/>
          <p:cNvPicPr>
            <a:picLocks noChangeAspect="1" noChangeArrowheads="1"/>
          </p:cNvPicPr>
          <p:nvPr/>
        </p:nvPicPr>
        <p:blipFill>
          <a:blip r:embed="rId2" cstate="print"/>
          <a:srcRect/>
          <a:stretch>
            <a:fillRect/>
          </a:stretch>
        </p:blipFill>
        <p:spPr bwMode="auto">
          <a:xfrm>
            <a:off x="1283214" y="3997583"/>
            <a:ext cx="6577572" cy="2555617"/>
          </a:xfrm>
          <a:prstGeom prst="rect">
            <a:avLst/>
          </a:prstGeom>
          <a:noFill/>
          <a:ln w="9525">
            <a:noFill/>
            <a:miter lim="800000"/>
            <a:headEnd/>
            <a:tailEnd/>
          </a:ln>
          <a:effectLst/>
        </p:spPr>
      </p:pic>
      <p:sp>
        <p:nvSpPr>
          <p:cNvPr id="5" name="投影片編號版面配置區 4"/>
          <p:cNvSpPr>
            <a:spLocks noGrp="1"/>
          </p:cNvSpPr>
          <p:nvPr>
            <p:ph type="sldNum" sz="quarter" idx="12"/>
          </p:nvPr>
        </p:nvSpPr>
        <p:spPr/>
        <p:txBody>
          <a:bodyPr/>
          <a:lstStyle/>
          <a:p>
            <a:fld id="{B6F15528-21DE-4FAA-801E-634DDDAF4B2B}" type="slidenum">
              <a:rPr lang="en-US" smtClean="0"/>
              <a:pPr/>
              <a:t>59</a:t>
            </a:fld>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Shadow Page Table</a:t>
            </a:r>
            <a:endParaRPr lang="en-US" dirty="0"/>
          </a:p>
        </p:txBody>
      </p:sp>
      <p:sp>
        <p:nvSpPr>
          <p:cNvPr id="3" name="Content Placeholder 2"/>
          <p:cNvSpPr>
            <a:spLocks noGrp="1"/>
          </p:cNvSpPr>
          <p:nvPr>
            <p:ph idx="1"/>
          </p:nvPr>
        </p:nvSpPr>
        <p:spPr>
          <a:xfrm>
            <a:off x="457200" y="1600200"/>
            <a:ext cx="7239000" cy="4525963"/>
          </a:xfrm>
        </p:spPr>
        <p:txBody>
          <a:bodyPr/>
          <a:lstStyle/>
          <a:p>
            <a:r>
              <a:rPr lang="en-US" dirty="0" smtClean="0"/>
              <a:t>Map guest virtual address to host physical address</a:t>
            </a:r>
          </a:p>
          <a:p>
            <a:pPr lvl="1"/>
            <a:r>
              <a:rPr lang="en-US" dirty="0" smtClean="0"/>
              <a:t>Shadow page table</a:t>
            </a:r>
          </a:p>
          <a:p>
            <a:pPr lvl="2"/>
            <a:r>
              <a:rPr lang="en-US" dirty="0" smtClean="0"/>
              <a:t>Guest OS will maintain its own virtual memory page table in the guest physical memory frames.</a:t>
            </a:r>
          </a:p>
          <a:p>
            <a:pPr lvl="2"/>
            <a:r>
              <a:rPr lang="en-US" dirty="0" smtClean="0"/>
              <a:t>For each guest physical memory frame, VMM should map it to host physical memory frame.</a:t>
            </a:r>
          </a:p>
          <a:p>
            <a:pPr lvl="2"/>
            <a:r>
              <a:rPr lang="en-US" dirty="0" smtClean="0"/>
              <a:t>Shadow page table maintains the mapping from guest virtual address to host physical address.</a:t>
            </a:r>
          </a:p>
          <a:p>
            <a:pPr lvl="1"/>
            <a:r>
              <a:rPr lang="en-US" dirty="0" smtClean="0"/>
              <a:t>Page table protection</a:t>
            </a:r>
          </a:p>
          <a:p>
            <a:pPr lvl="2"/>
            <a:r>
              <a:rPr lang="en-US" dirty="0" smtClean="0"/>
              <a:t>VMM will apply write protection to all the physical frames of guest page tables, which lead the guest page table write exception and trap to VMM.</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Shadow Page Table</a:t>
            </a:r>
            <a:endParaRPr lang="en-US" dirty="0"/>
          </a:p>
        </p:txBody>
      </p:sp>
      <p:sp>
        <p:nvSpPr>
          <p:cNvPr id="3" name="Content Placeholder 2"/>
          <p:cNvSpPr>
            <a:spLocks noGrp="1"/>
          </p:cNvSpPr>
          <p:nvPr>
            <p:ph idx="1"/>
          </p:nvPr>
        </p:nvSpPr>
        <p:spPr>
          <a:xfrm>
            <a:off x="457200" y="1600201"/>
            <a:ext cx="8229600" cy="2133600"/>
          </a:xfrm>
        </p:spPr>
        <p:txBody>
          <a:bodyPr/>
          <a:lstStyle/>
          <a:p>
            <a:r>
              <a:rPr lang="en-US" dirty="0" smtClean="0"/>
              <a:t>How does this technique work ?</a:t>
            </a:r>
          </a:p>
          <a:p>
            <a:pPr lvl="1"/>
            <a:r>
              <a:rPr lang="en-US" dirty="0" smtClean="0"/>
              <a:t>VMM should make MMU virtualized</a:t>
            </a:r>
          </a:p>
          <a:p>
            <a:pPr lvl="2"/>
            <a:r>
              <a:rPr lang="en-US" dirty="0" smtClean="0"/>
              <a:t>VMM manages the real PTBR and a virtual PTBR for each VM</a:t>
            </a:r>
          </a:p>
          <a:p>
            <a:pPr lvl="2"/>
            <a:r>
              <a:rPr lang="en-US" dirty="0" smtClean="0"/>
              <a:t>When guest OS is activated, the real PTBR points to a shadow page table</a:t>
            </a:r>
          </a:p>
          <a:p>
            <a:pPr lvl="2"/>
            <a:r>
              <a:rPr lang="en-US" dirty="0" smtClean="0"/>
              <a:t>When guest OS attempts to modify the PTBR, it will be intercepted by VMM for further emulation</a:t>
            </a:r>
          </a:p>
        </p:txBody>
      </p:sp>
      <p:pic>
        <p:nvPicPr>
          <p:cNvPr id="102402" name="Picture 2"/>
          <p:cNvPicPr>
            <a:picLocks noChangeAspect="1" noChangeArrowheads="1"/>
          </p:cNvPicPr>
          <p:nvPr/>
        </p:nvPicPr>
        <p:blipFill>
          <a:blip r:embed="rId2" cstate="print"/>
          <a:srcRect/>
          <a:stretch>
            <a:fillRect/>
          </a:stretch>
        </p:blipFill>
        <p:spPr bwMode="auto">
          <a:xfrm>
            <a:off x="975960" y="3505200"/>
            <a:ext cx="7192080" cy="304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cstate="print"/>
          <a:srcRect/>
          <a:stretch>
            <a:fillRect/>
          </a:stretch>
        </p:blipFill>
        <p:spPr bwMode="auto">
          <a:xfrm>
            <a:off x="457200" y="3543080"/>
            <a:ext cx="8229600" cy="308632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Shadow Page Table</a:t>
            </a:r>
            <a:endParaRPr lang="en-US" dirty="0"/>
          </a:p>
        </p:txBody>
      </p:sp>
      <p:sp>
        <p:nvSpPr>
          <p:cNvPr id="3" name="Content Placeholder 2"/>
          <p:cNvSpPr>
            <a:spLocks noGrp="1"/>
          </p:cNvSpPr>
          <p:nvPr>
            <p:ph idx="1"/>
          </p:nvPr>
        </p:nvSpPr>
        <p:spPr>
          <a:xfrm>
            <a:off x="457200" y="1295400"/>
            <a:ext cx="8229600" cy="2133600"/>
          </a:xfrm>
        </p:spPr>
        <p:txBody>
          <a:bodyPr/>
          <a:lstStyle/>
          <a:p>
            <a:r>
              <a:rPr lang="en-US" dirty="0" smtClean="0"/>
              <a:t>Construct shadow page table</a:t>
            </a:r>
          </a:p>
          <a:p>
            <a:pPr lvl="1"/>
            <a:r>
              <a:rPr lang="en-US" dirty="0" smtClean="0"/>
              <a:t>Guest OS will maintain its own page table for each process.</a:t>
            </a:r>
          </a:p>
          <a:p>
            <a:pPr lvl="1"/>
            <a:r>
              <a:rPr lang="en-US" dirty="0" smtClean="0"/>
              <a:t>VMM maps each guest physical page to host physical page.</a:t>
            </a:r>
          </a:p>
          <a:p>
            <a:pPr lvl="1"/>
            <a:r>
              <a:rPr lang="en-US" dirty="0" smtClean="0"/>
              <a:t>Create shadow page tables for each guest page table.</a:t>
            </a:r>
          </a:p>
          <a:p>
            <a:pPr lvl="1"/>
            <a:r>
              <a:rPr lang="en-US" dirty="0" smtClean="0"/>
              <a:t>VMM should protect host frame which contains guest page table.</a:t>
            </a:r>
            <a:endParaRPr lang="en-US" dirty="0"/>
          </a:p>
        </p:txBody>
      </p:sp>
      <p:pic>
        <p:nvPicPr>
          <p:cNvPr id="15363" name="Picture 3"/>
          <p:cNvPicPr>
            <a:picLocks noChangeAspect="1" noChangeArrowheads="1"/>
          </p:cNvPicPr>
          <p:nvPr/>
        </p:nvPicPr>
        <p:blipFill>
          <a:blip r:embed="rId3" cstate="print"/>
          <a:srcRect/>
          <a:stretch>
            <a:fillRect/>
          </a:stretch>
        </p:blipFill>
        <p:spPr bwMode="auto">
          <a:xfrm>
            <a:off x="704895" y="4343400"/>
            <a:ext cx="4482748" cy="844550"/>
          </a:xfrm>
          <a:prstGeom prst="rect">
            <a:avLst/>
          </a:prstGeom>
          <a:noFill/>
          <a:ln w="9525">
            <a:noFill/>
            <a:miter lim="800000"/>
            <a:headEnd/>
            <a:tailEnd/>
          </a:ln>
          <a:effectLst/>
        </p:spPr>
      </p:pic>
      <p:pic>
        <p:nvPicPr>
          <p:cNvPr id="15365" name="Picture 5"/>
          <p:cNvPicPr>
            <a:picLocks noChangeAspect="1" noChangeArrowheads="1"/>
          </p:cNvPicPr>
          <p:nvPr/>
        </p:nvPicPr>
        <p:blipFill>
          <a:blip r:embed="rId4" cstate="print"/>
          <a:srcRect/>
          <a:stretch>
            <a:fillRect/>
          </a:stretch>
        </p:blipFill>
        <p:spPr bwMode="auto">
          <a:xfrm>
            <a:off x="709747" y="5070564"/>
            <a:ext cx="5899550" cy="873036"/>
          </a:xfrm>
          <a:prstGeom prst="rect">
            <a:avLst/>
          </a:prstGeom>
          <a:noFill/>
          <a:ln w="9525">
            <a:noFill/>
            <a:miter lim="800000"/>
            <a:headEnd/>
            <a:tailEnd/>
          </a:ln>
          <a:effectLst/>
        </p:spPr>
      </p:pic>
      <p:pic>
        <p:nvPicPr>
          <p:cNvPr id="15366" name="Picture 6"/>
          <p:cNvPicPr>
            <a:picLocks noChangeAspect="1" noChangeArrowheads="1"/>
          </p:cNvPicPr>
          <p:nvPr/>
        </p:nvPicPr>
        <p:blipFill>
          <a:blip r:embed="rId5" cstate="print"/>
          <a:srcRect/>
          <a:stretch>
            <a:fillRect/>
          </a:stretch>
        </p:blipFill>
        <p:spPr bwMode="auto">
          <a:xfrm>
            <a:off x="694509" y="5453745"/>
            <a:ext cx="5470930" cy="1099455"/>
          </a:xfrm>
          <a:prstGeom prst="rect">
            <a:avLst/>
          </a:prstGeom>
          <a:noFill/>
          <a:ln w="9525">
            <a:noFill/>
            <a:miter lim="800000"/>
            <a:headEnd/>
            <a:tailEnd/>
          </a:ln>
          <a:effectLst/>
        </p:spPr>
      </p:pic>
      <p:sp>
        <p:nvSpPr>
          <p:cNvPr id="10" name="Oval 9"/>
          <p:cNvSpPr/>
          <p:nvPr/>
        </p:nvSpPr>
        <p:spPr>
          <a:xfrm>
            <a:off x="2259873" y="5468982"/>
            <a:ext cx="457200" cy="457200"/>
          </a:xfrm>
          <a:prstGeom prst="ellipse">
            <a:avLst/>
          </a:prstGeom>
          <a:noFill/>
          <a:ln w="38100">
            <a:solidFill>
              <a:srgbClr val="FF0000"/>
            </a:solidFill>
          </a:ln>
          <a:effectLst>
            <a:glow rad="63500">
              <a:srgbClr val="FFFF00">
                <a:alpha val="40000"/>
              </a:srgb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Oval 14"/>
          <p:cNvSpPr/>
          <p:nvPr/>
        </p:nvSpPr>
        <p:spPr>
          <a:xfrm>
            <a:off x="3394164" y="5468982"/>
            <a:ext cx="457200" cy="457200"/>
          </a:xfrm>
          <a:prstGeom prst="ellipse">
            <a:avLst/>
          </a:prstGeom>
          <a:noFill/>
          <a:ln w="38100">
            <a:solidFill>
              <a:srgbClr val="FF0000"/>
            </a:solidFill>
          </a:ln>
          <a:effectLst>
            <a:glow rad="63500">
              <a:srgbClr val="FFFF00">
                <a:alpha val="40000"/>
              </a:srgb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Rectangle 15"/>
          <p:cNvSpPr/>
          <p:nvPr/>
        </p:nvSpPr>
        <p:spPr>
          <a:xfrm>
            <a:off x="2286000" y="5909846"/>
            <a:ext cx="1596591" cy="338554"/>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1600" b="1" cap="none" spc="0" dirty="0" smtClean="0">
                <a:ln w="11430"/>
                <a:solidFill>
                  <a:srgbClr val="FF0000"/>
                </a:solidFill>
                <a:effectLst>
                  <a:glow rad="101600">
                    <a:srgbClr val="FFFF00">
                      <a:alpha val="40000"/>
                    </a:srgbClr>
                  </a:glow>
                  <a:outerShdw blurRad="50800" dist="39000" dir="5460000" algn="tl">
                    <a:srgbClr val="000000">
                      <a:alpha val="38000"/>
                    </a:srgbClr>
                  </a:outerShdw>
                </a:effectLst>
              </a:rPr>
              <a:t>Write protection</a:t>
            </a:r>
            <a:endParaRPr lang="en-US" sz="1600" b="1" cap="none" spc="0" dirty="0">
              <a:ln w="11430"/>
              <a:solidFill>
                <a:srgbClr val="FF0000"/>
              </a:solidFill>
              <a:effectLst>
                <a:glow rad="101600">
                  <a:srgbClr val="FFFF00">
                    <a:alpha val="40000"/>
                  </a:srgbClr>
                </a:glow>
                <a:outerShdw blurRad="50800" dist="39000" dir="5460000" algn="tl">
                  <a:srgbClr val="000000">
                    <a:alpha val="38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fade">
                                      <p:cBhvr>
                                        <p:cTn id="7" dur="500"/>
                                        <p:tgtEl>
                                          <p:spTgt spid="15363"/>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365"/>
                                        </p:tgtEl>
                                        <p:attrNameLst>
                                          <p:attrName>style.visibility</p:attrName>
                                        </p:attrNameLst>
                                      </p:cBhvr>
                                      <p:to>
                                        <p:strVal val="visible"/>
                                      </p:to>
                                    </p:set>
                                    <p:animEffect transition="in" filter="fade">
                                      <p:cBhvr>
                                        <p:cTn id="15" dur="500"/>
                                        <p:tgtEl>
                                          <p:spTgt spid="15365"/>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15366"/>
                                        </p:tgtEl>
                                        <p:attrNameLst>
                                          <p:attrName>style.visibility</p:attrName>
                                        </p:attrNameLst>
                                      </p:cBhvr>
                                      <p:to>
                                        <p:strVal val="visible"/>
                                      </p:to>
                                    </p:set>
                                    <p:animEffect transition="in" filter="fade">
                                      <p:cBhvr>
                                        <p:cTn id="33" dur="500"/>
                                        <p:tgtEl>
                                          <p:spTgt spid="1536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Shadow Page Table</a:t>
            </a:r>
            <a:endParaRPr lang="en-US" dirty="0"/>
          </a:p>
        </p:txBody>
      </p:sp>
      <p:sp>
        <p:nvSpPr>
          <p:cNvPr id="3" name="Content Placeholder 2"/>
          <p:cNvSpPr>
            <a:spLocks noGrp="1"/>
          </p:cNvSpPr>
          <p:nvPr>
            <p:ph idx="1"/>
          </p:nvPr>
        </p:nvSpPr>
        <p:spPr>
          <a:xfrm>
            <a:off x="457200" y="1143000"/>
            <a:ext cx="8229600" cy="1295400"/>
          </a:xfrm>
        </p:spPr>
        <p:txBody>
          <a:bodyPr/>
          <a:lstStyle/>
          <a:p>
            <a:r>
              <a:rPr lang="en-US" dirty="0" smtClean="0"/>
              <a:t>Implement with PTBR :</a:t>
            </a:r>
          </a:p>
          <a:p>
            <a:pPr lvl="1"/>
            <a:r>
              <a:rPr lang="en-US" dirty="0" smtClean="0"/>
              <a:t>For example, process 2 in guest OS want to access its memory whose page number is 1.</a:t>
            </a:r>
            <a:endParaRPr lang="en-US" dirty="0"/>
          </a:p>
        </p:txBody>
      </p:sp>
      <p:pic>
        <p:nvPicPr>
          <p:cNvPr id="14337" name="Picture 1"/>
          <p:cNvPicPr>
            <a:picLocks noChangeAspect="1" noChangeArrowheads="1"/>
          </p:cNvPicPr>
          <p:nvPr/>
        </p:nvPicPr>
        <p:blipFill>
          <a:blip r:embed="rId2" cstate="print"/>
          <a:srcRect/>
          <a:stretch>
            <a:fillRect/>
          </a:stretch>
        </p:blipFill>
        <p:spPr bwMode="auto">
          <a:xfrm>
            <a:off x="3513909" y="4648200"/>
            <a:ext cx="5486400" cy="2057546"/>
          </a:xfrm>
          <a:prstGeom prst="rect">
            <a:avLst/>
          </a:prstGeom>
          <a:noFill/>
          <a:ln w="9525">
            <a:noFill/>
            <a:miter lim="800000"/>
            <a:headEnd/>
            <a:tailEnd/>
          </a:ln>
          <a:effectLst/>
        </p:spPr>
      </p:pic>
      <p:pic>
        <p:nvPicPr>
          <p:cNvPr id="14338" name="Picture 2"/>
          <p:cNvPicPr>
            <a:picLocks noChangeAspect="1" noChangeArrowheads="1"/>
          </p:cNvPicPr>
          <p:nvPr/>
        </p:nvPicPr>
        <p:blipFill>
          <a:blip r:embed="rId3" cstate="print"/>
          <a:srcRect/>
          <a:stretch>
            <a:fillRect/>
          </a:stretch>
        </p:blipFill>
        <p:spPr bwMode="auto">
          <a:xfrm>
            <a:off x="348946" y="2011680"/>
            <a:ext cx="6327361" cy="1645920"/>
          </a:xfrm>
          <a:prstGeom prst="rect">
            <a:avLst/>
          </a:prstGeom>
          <a:noFill/>
          <a:ln w="9525">
            <a:noFill/>
            <a:miter lim="800000"/>
            <a:headEnd/>
            <a:tailEnd/>
          </a:ln>
          <a:effectLst/>
        </p:spPr>
      </p:pic>
      <p:pic>
        <p:nvPicPr>
          <p:cNvPr id="14339" name="Picture 3"/>
          <p:cNvPicPr>
            <a:picLocks noChangeAspect="1" noChangeArrowheads="1"/>
          </p:cNvPicPr>
          <p:nvPr/>
        </p:nvPicPr>
        <p:blipFill>
          <a:blip r:embed="rId4" cstate="print"/>
          <a:srcRect/>
          <a:stretch>
            <a:fillRect/>
          </a:stretch>
        </p:blipFill>
        <p:spPr bwMode="auto">
          <a:xfrm>
            <a:off x="348946" y="3154680"/>
            <a:ext cx="6356654" cy="16459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Shadow Page Table</a:t>
            </a:r>
            <a:endParaRPr lang="en-US" dirty="0"/>
          </a:p>
        </p:txBody>
      </p:sp>
      <p:sp>
        <p:nvSpPr>
          <p:cNvPr id="3" name="Content Placeholder 2"/>
          <p:cNvSpPr>
            <a:spLocks noGrp="1"/>
          </p:cNvSpPr>
          <p:nvPr>
            <p:ph idx="1"/>
          </p:nvPr>
        </p:nvSpPr>
        <p:spPr>
          <a:xfrm>
            <a:off x="457200" y="990600"/>
            <a:ext cx="8229600" cy="533400"/>
          </a:xfrm>
        </p:spPr>
        <p:txBody>
          <a:bodyPr/>
          <a:lstStyle/>
          <a:p>
            <a:r>
              <a:rPr lang="en-US" dirty="0" smtClean="0"/>
              <a:t>Shadow page table operations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64</a:t>
            </a:fld>
            <a:endParaRPr lang="en-US"/>
          </a:p>
        </p:txBody>
      </p:sp>
      <p:grpSp>
        <p:nvGrpSpPr>
          <p:cNvPr id="5" name="群組 20"/>
          <p:cNvGrpSpPr/>
          <p:nvPr/>
        </p:nvGrpSpPr>
        <p:grpSpPr>
          <a:xfrm>
            <a:off x="152400" y="3341132"/>
            <a:ext cx="1066800" cy="381910"/>
            <a:chOff x="304800" y="2438400"/>
            <a:chExt cx="1371600" cy="533400"/>
          </a:xfrm>
        </p:grpSpPr>
        <p:sp>
          <p:nvSpPr>
            <p:cNvPr id="89" name="矩形 88"/>
            <p:cNvSpPr/>
            <p:nvPr/>
          </p:nvSpPr>
          <p:spPr>
            <a:xfrm>
              <a:off x="304800" y="2438400"/>
              <a:ext cx="13716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90" name="橢圓 89"/>
            <p:cNvSpPr/>
            <p:nvPr/>
          </p:nvSpPr>
          <p:spPr>
            <a:xfrm>
              <a:off x="838200" y="2590800"/>
              <a:ext cx="228600" cy="228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pSp>
      <p:grpSp>
        <p:nvGrpSpPr>
          <p:cNvPr id="6" name="群組 19"/>
          <p:cNvGrpSpPr/>
          <p:nvPr/>
        </p:nvGrpSpPr>
        <p:grpSpPr>
          <a:xfrm>
            <a:off x="152400" y="4407022"/>
            <a:ext cx="1066800" cy="381910"/>
            <a:chOff x="304800" y="3962400"/>
            <a:chExt cx="1371600" cy="533400"/>
          </a:xfrm>
        </p:grpSpPr>
        <p:sp>
          <p:nvSpPr>
            <p:cNvPr id="92" name="矩形 91"/>
            <p:cNvSpPr/>
            <p:nvPr/>
          </p:nvSpPr>
          <p:spPr>
            <a:xfrm>
              <a:off x="304800" y="3962400"/>
              <a:ext cx="13716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93" name="橢圓 92"/>
            <p:cNvSpPr/>
            <p:nvPr/>
          </p:nvSpPr>
          <p:spPr>
            <a:xfrm>
              <a:off x="838200" y="4114800"/>
              <a:ext cx="228600" cy="228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pSp>
      <p:sp>
        <p:nvSpPr>
          <p:cNvPr id="94" name="矩形 93"/>
          <p:cNvSpPr/>
          <p:nvPr/>
        </p:nvSpPr>
        <p:spPr>
          <a:xfrm>
            <a:off x="1905000" y="3342042"/>
            <a:ext cx="1143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b="1" dirty="0" smtClean="0"/>
              <a:t>Process</a:t>
            </a:r>
          </a:p>
          <a:p>
            <a:pPr algn="ctr"/>
            <a:r>
              <a:rPr lang="en-US" altLang="zh-TW" sz="1400" i="1" dirty="0" smtClean="0"/>
              <a:t>Page Table</a:t>
            </a:r>
            <a:endParaRPr lang="zh-TW" altLang="en-US" sz="1400" i="1" dirty="0"/>
          </a:p>
        </p:txBody>
      </p:sp>
      <p:sp>
        <p:nvSpPr>
          <p:cNvPr id="95" name="矩形 94"/>
          <p:cNvSpPr/>
          <p:nvPr/>
        </p:nvSpPr>
        <p:spPr>
          <a:xfrm>
            <a:off x="1905000" y="31125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96" name="矩形 95"/>
          <p:cNvSpPr/>
          <p:nvPr/>
        </p:nvSpPr>
        <p:spPr>
          <a:xfrm>
            <a:off x="1905000" y="26553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97" name="矩形 96"/>
          <p:cNvSpPr/>
          <p:nvPr/>
        </p:nvSpPr>
        <p:spPr>
          <a:xfrm>
            <a:off x="1905000" y="2198132"/>
            <a:ext cx="1143000" cy="217714"/>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p:cNvSpPr/>
          <p:nvPr/>
        </p:nvSpPr>
        <p:spPr>
          <a:xfrm>
            <a:off x="1905000" y="19695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99" name="矩形 98"/>
          <p:cNvSpPr/>
          <p:nvPr/>
        </p:nvSpPr>
        <p:spPr>
          <a:xfrm>
            <a:off x="1905000" y="5779532"/>
            <a:ext cx="1143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b="1" dirty="0" smtClean="0"/>
              <a:t>Shadow</a:t>
            </a:r>
          </a:p>
          <a:p>
            <a:pPr algn="ctr"/>
            <a:r>
              <a:rPr lang="en-US" altLang="zh-TW" sz="1400" i="1" dirty="0" smtClean="0"/>
              <a:t>Page Table</a:t>
            </a:r>
            <a:endParaRPr lang="zh-TW" altLang="en-US" sz="1400" i="1" dirty="0"/>
          </a:p>
        </p:txBody>
      </p:sp>
      <p:sp>
        <p:nvSpPr>
          <p:cNvPr id="100" name="矩形 99"/>
          <p:cNvSpPr/>
          <p:nvPr/>
        </p:nvSpPr>
        <p:spPr>
          <a:xfrm>
            <a:off x="1905000" y="55509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1" name="矩形 100"/>
          <p:cNvSpPr/>
          <p:nvPr/>
        </p:nvSpPr>
        <p:spPr>
          <a:xfrm>
            <a:off x="1905000" y="53223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2" name="矩形 101"/>
          <p:cNvSpPr/>
          <p:nvPr/>
        </p:nvSpPr>
        <p:spPr>
          <a:xfrm>
            <a:off x="1905000" y="50937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3" name="矩形 102"/>
          <p:cNvSpPr/>
          <p:nvPr/>
        </p:nvSpPr>
        <p:spPr>
          <a:xfrm>
            <a:off x="1905000" y="4865132"/>
            <a:ext cx="1143000" cy="217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 name="矩形 103"/>
          <p:cNvSpPr/>
          <p:nvPr/>
        </p:nvSpPr>
        <p:spPr>
          <a:xfrm>
            <a:off x="1905000" y="44079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5" name="矩形 104"/>
          <p:cNvSpPr/>
          <p:nvPr/>
        </p:nvSpPr>
        <p:spPr>
          <a:xfrm>
            <a:off x="3810000" y="3342042"/>
            <a:ext cx="1143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b="1" dirty="0" smtClean="0"/>
              <a:t>Process</a:t>
            </a:r>
          </a:p>
          <a:p>
            <a:pPr algn="ctr"/>
            <a:r>
              <a:rPr lang="en-US" altLang="zh-TW" sz="1400" i="1" dirty="0" smtClean="0"/>
              <a:t>Page Table</a:t>
            </a:r>
            <a:endParaRPr lang="zh-TW" altLang="en-US" sz="1400" i="1" dirty="0"/>
          </a:p>
        </p:txBody>
      </p:sp>
      <p:sp>
        <p:nvSpPr>
          <p:cNvPr id="106" name="矩形 105"/>
          <p:cNvSpPr/>
          <p:nvPr/>
        </p:nvSpPr>
        <p:spPr>
          <a:xfrm>
            <a:off x="3810000" y="31125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7" name="矩形 106"/>
          <p:cNvSpPr/>
          <p:nvPr/>
        </p:nvSpPr>
        <p:spPr>
          <a:xfrm>
            <a:off x="3810000" y="2655332"/>
            <a:ext cx="1143000" cy="217714"/>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矩形 107"/>
          <p:cNvSpPr/>
          <p:nvPr/>
        </p:nvSpPr>
        <p:spPr>
          <a:xfrm>
            <a:off x="3810000" y="24267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9" name="矩形 108"/>
          <p:cNvSpPr/>
          <p:nvPr/>
        </p:nvSpPr>
        <p:spPr>
          <a:xfrm>
            <a:off x="3810000" y="1969532"/>
            <a:ext cx="1143000" cy="217714"/>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矩形 109"/>
          <p:cNvSpPr/>
          <p:nvPr/>
        </p:nvSpPr>
        <p:spPr>
          <a:xfrm>
            <a:off x="3810000" y="5779532"/>
            <a:ext cx="1143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b="1" dirty="0" smtClean="0"/>
              <a:t>Shadow</a:t>
            </a:r>
          </a:p>
          <a:p>
            <a:pPr algn="ctr"/>
            <a:r>
              <a:rPr lang="en-US" altLang="zh-TW" sz="1400" i="1" dirty="0" smtClean="0"/>
              <a:t>Page Table</a:t>
            </a:r>
            <a:endParaRPr lang="zh-TW" altLang="en-US" sz="1400" i="1" dirty="0"/>
          </a:p>
        </p:txBody>
      </p:sp>
      <p:sp>
        <p:nvSpPr>
          <p:cNvPr id="111" name="矩形 110"/>
          <p:cNvSpPr/>
          <p:nvPr/>
        </p:nvSpPr>
        <p:spPr>
          <a:xfrm>
            <a:off x="3810000" y="55509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2" name="矩形 111"/>
          <p:cNvSpPr/>
          <p:nvPr/>
        </p:nvSpPr>
        <p:spPr>
          <a:xfrm>
            <a:off x="3810000" y="5093732"/>
            <a:ext cx="1143000" cy="217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 name="矩形 112"/>
          <p:cNvSpPr/>
          <p:nvPr/>
        </p:nvSpPr>
        <p:spPr>
          <a:xfrm>
            <a:off x="3810000" y="48651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4" name="矩形 113"/>
          <p:cNvSpPr/>
          <p:nvPr/>
        </p:nvSpPr>
        <p:spPr>
          <a:xfrm>
            <a:off x="3810000" y="46365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5" name="矩形 114"/>
          <p:cNvSpPr/>
          <p:nvPr/>
        </p:nvSpPr>
        <p:spPr>
          <a:xfrm>
            <a:off x="3810000" y="4407932"/>
            <a:ext cx="1143000" cy="217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6" name="直線接點 115"/>
          <p:cNvCxnSpPr>
            <a:stCxn id="94" idx="2"/>
            <a:endCxn id="104" idx="0"/>
          </p:cNvCxnSpPr>
          <p:nvPr/>
        </p:nvCxnSpPr>
        <p:spPr>
          <a:xfrm rot="5400000">
            <a:off x="2134055" y="4065487"/>
            <a:ext cx="684890"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117" name="直線接點 116"/>
          <p:cNvCxnSpPr>
            <a:stCxn id="105" idx="2"/>
            <a:endCxn id="115" idx="0"/>
          </p:cNvCxnSpPr>
          <p:nvPr/>
        </p:nvCxnSpPr>
        <p:spPr>
          <a:xfrm rot="5400000">
            <a:off x="4039055" y="4065487"/>
            <a:ext cx="684890"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
        <p:nvSpPr>
          <p:cNvPr id="118" name="TextBox 61"/>
          <p:cNvSpPr txBox="1"/>
          <p:nvPr/>
        </p:nvSpPr>
        <p:spPr>
          <a:xfrm>
            <a:off x="0" y="3657600"/>
            <a:ext cx="1374992" cy="369332"/>
          </a:xfrm>
          <a:prstGeom prst="rect">
            <a:avLst/>
          </a:prstGeom>
          <a:noFill/>
        </p:spPr>
        <p:txBody>
          <a:bodyPr wrap="none" rtlCol="0">
            <a:spAutoFit/>
          </a:bodyPr>
          <a:lstStyle/>
          <a:p>
            <a:pPr algn="ctr"/>
            <a:r>
              <a:rPr lang="en-US" b="1" i="1" dirty="0" smtClean="0">
                <a:solidFill>
                  <a:schemeClr val="tx2">
                    <a:lumMod val="75000"/>
                  </a:schemeClr>
                </a:solidFill>
              </a:rPr>
              <a:t>Virtual PTPR</a:t>
            </a:r>
            <a:endParaRPr lang="en-US" b="1" i="1" dirty="0">
              <a:solidFill>
                <a:schemeClr val="tx2">
                  <a:lumMod val="75000"/>
                </a:schemeClr>
              </a:solidFill>
            </a:endParaRPr>
          </a:p>
        </p:txBody>
      </p:sp>
      <p:sp>
        <p:nvSpPr>
          <p:cNvPr id="119" name="TextBox 62"/>
          <p:cNvSpPr txBox="1"/>
          <p:nvPr/>
        </p:nvSpPr>
        <p:spPr>
          <a:xfrm>
            <a:off x="149252" y="4103132"/>
            <a:ext cx="1146148" cy="369332"/>
          </a:xfrm>
          <a:prstGeom prst="rect">
            <a:avLst/>
          </a:prstGeom>
          <a:noFill/>
        </p:spPr>
        <p:txBody>
          <a:bodyPr wrap="none" rtlCol="0">
            <a:spAutoFit/>
          </a:bodyPr>
          <a:lstStyle/>
          <a:p>
            <a:pPr algn="ctr"/>
            <a:r>
              <a:rPr lang="en-US" b="1" i="1" dirty="0" smtClean="0">
                <a:solidFill>
                  <a:schemeClr val="tx2">
                    <a:lumMod val="75000"/>
                  </a:schemeClr>
                </a:solidFill>
              </a:rPr>
              <a:t>Real PTPR</a:t>
            </a:r>
            <a:endParaRPr lang="en-US" b="1" i="1" dirty="0">
              <a:solidFill>
                <a:schemeClr val="tx2">
                  <a:lumMod val="75000"/>
                </a:schemeClr>
              </a:solidFill>
            </a:endParaRPr>
          </a:p>
        </p:txBody>
      </p:sp>
      <p:cxnSp>
        <p:nvCxnSpPr>
          <p:cNvPr id="120" name="肘形接點 76"/>
          <p:cNvCxnSpPr>
            <a:endCxn id="99" idx="2"/>
          </p:cNvCxnSpPr>
          <p:nvPr/>
        </p:nvCxnSpPr>
        <p:spPr>
          <a:xfrm rot="16200000" flipH="1">
            <a:off x="825975" y="4510006"/>
            <a:ext cx="1480717" cy="1820333"/>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直線接點 120"/>
          <p:cNvCxnSpPr/>
          <p:nvPr/>
        </p:nvCxnSpPr>
        <p:spPr>
          <a:xfrm>
            <a:off x="0" y="4115710"/>
            <a:ext cx="9144000" cy="0"/>
          </a:xfrm>
          <a:prstGeom prst="line">
            <a:avLst/>
          </a:prstGeom>
          <a:ln w="57150">
            <a:solidFill>
              <a:schemeClr val="bg1">
                <a:lumMod val="65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122" name="文字方塊 121"/>
          <p:cNvSpPr txBox="1"/>
          <p:nvPr/>
        </p:nvSpPr>
        <p:spPr>
          <a:xfrm>
            <a:off x="7816649" y="3658510"/>
            <a:ext cx="1327351" cy="461665"/>
          </a:xfrm>
          <a:prstGeom prst="rect">
            <a:avLst/>
          </a:prstGeom>
          <a:noFill/>
        </p:spPr>
        <p:txBody>
          <a:bodyPr wrap="none" rtlCol="0">
            <a:spAutoFit/>
          </a:bodyPr>
          <a:lstStyle/>
          <a:p>
            <a:r>
              <a:rPr lang="en-US" altLang="zh-TW" sz="2400" dirty="0" smtClean="0"/>
              <a:t>Guest OS</a:t>
            </a:r>
            <a:endParaRPr lang="zh-TW" altLang="en-US" sz="2400" dirty="0"/>
          </a:p>
        </p:txBody>
      </p:sp>
      <p:sp>
        <p:nvSpPr>
          <p:cNvPr id="123" name="文字方塊 122"/>
          <p:cNvSpPr txBox="1"/>
          <p:nvPr/>
        </p:nvSpPr>
        <p:spPr>
          <a:xfrm>
            <a:off x="8077200" y="4022467"/>
            <a:ext cx="885179" cy="461665"/>
          </a:xfrm>
          <a:prstGeom prst="rect">
            <a:avLst/>
          </a:prstGeom>
          <a:noFill/>
        </p:spPr>
        <p:txBody>
          <a:bodyPr wrap="none" rtlCol="0">
            <a:spAutoFit/>
          </a:bodyPr>
          <a:lstStyle/>
          <a:p>
            <a:r>
              <a:rPr lang="en-US" altLang="zh-TW" sz="2400" dirty="0" smtClean="0"/>
              <a:t>VMM</a:t>
            </a:r>
            <a:endParaRPr lang="zh-TW" altLang="en-US" sz="2400" dirty="0"/>
          </a:p>
        </p:txBody>
      </p:sp>
      <p:cxnSp>
        <p:nvCxnSpPr>
          <p:cNvPr id="124" name="肘形接點 123"/>
          <p:cNvCxnSpPr>
            <a:endCxn id="98" idx="0"/>
          </p:cNvCxnSpPr>
          <p:nvPr/>
        </p:nvCxnSpPr>
        <p:spPr>
          <a:xfrm rot="5400000" flipH="1" flipV="1">
            <a:off x="825975" y="1799725"/>
            <a:ext cx="1480717" cy="1820333"/>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5" name="矩形 124"/>
          <p:cNvSpPr/>
          <p:nvPr/>
        </p:nvSpPr>
        <p:spPr>
          <a:xfrm>
            <a:off x="1905000" y="28839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26" name="矩形 125"/>
          <p:cNvSpPr/>
          <p:nvPr/>
        </p:nvSpPr>
        <p:spPr>
          <a:xfrm>
            <a:off x="3810000" y="21981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27" name="矩形 126"/>
          <p:cNvSpPr/>
          <p:nvPr/>
        </p:nvSpPr>
        <p:spPr>
          <a:xfrm>
            <a:off x="1905000" y="24267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28" name="矩形 127"/>
          <p:cNvSpPr/>
          <p:nvPr/>
        </p:nvSpPr>
        <p:spPr>
          <a:xfrm>
            <a:off x="1905000" y="46365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29" name="矩形 128"/>
          <p:cNvSpPr/>
          <p:nvPr/>
        </p:nvSpPr>
        <p:spPr>
          <a:xfrm>
            <a:off x="3810000" y="28839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30" name="矩形 129"/>
          <p:cNvSpPr/>
          <p:nvPr/>
        </p:nvSpPr>
        <p:spPr>
          <a:xfrm>
            <a:off x="3810000" y="53223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31" name="文字方塊 130"/>
          <p:cNvSpPr txBox="1"/>
          <p:nvPr/>
        </p:nvSpPr>
        <p:spPr>
          <a:xfrm>
            <a:off x="2438400" y="6324600"/>
            <a:ext cx="2966453" cy="369332"/>
          </a:xfrm>
          <a:prstGeom prst="rect">
            <a:avLst/>
          </a:prstGeom>
          <a:noFill/>
        </p:spPr>
        <p:txBody>
          <a:bodyPr wrap="none" rtlCol="0">
            <a:spAutoFit/>
          </a:bodyPr>
          <a:lstStyle/>
          <a:p>
            <a:r>
              <a:rPr lang="en-US" altLang="zh-TW" dirty="0" smtClean="0">
                <a:solidFill>
                  <a:srgbClr val="C00000"/>
                </a:solidFill>
              </a:rPr>
              <a:t>Corresponding mapping table</a:t>
            </a:r>
            <a:endParaRPr lang="zh-TW" altLang="en-US" dirty="0">
              <a:solidFill>
                <a:srgbClr val="C00000"/>
              </a:solidFill>
            </a:endParaRPr>
          </a:p>
        </p:txBody>
      </p:sp>
      <p:cxnSp>
        <p:nvCxnSpPr>
          <p:cNvPr id="132" name="肘形接點 131"/>
          <p:cNvCxnSpPr>
            <a:endCxn id="109" idx="0"/>
          </p:cNvCxnSpPr>
          <p:nvPr/>
        </p:nvCxnSpPr>
        <p:spPr>
          <a:xfrm rot="5400000" flipH="1" flipV="1">
            <a:off x="1778475" y="847225"/>
            <a:ext cx="1480717" cy="3725333"/>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3" name="直線單箭頭接點 132"/>
          <p:cNvCxnSpPr/>
          <p:nvPr/>
        </p:nvCxnSpPr>
        <p:spPr>
          <a:xfrm>
            <a:off x="2743200" y="1600200"/>
            <a:ext cx="1524000" cy="1588"/>
          </a:xfrm>
          <a:prstGeom prst="straightConnector1">
            <a:avLst/>
          </a:prstGeom>
          <a:ln w="57150">
            <a:solidFill>
              <a:srgbClr val="C000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 name="文字方塊 133"/>
          <p:cNvSpPr txBox="1"/>
          <p:nvPr/>
        </p:nvSpPr>
        <p:spPr>
          <a:xfrm>
            <a:off x="4267200" y="1383268"/>
            <a:ext cx="1566326" cy="369332"/>
          </a:xfrm>
          <a:prstGeom prst="rect">
            <a:avLst/>
          </a:prstGeom>
          <a:noFill/>
        </p:spPr>
        <p:txBody>
          <a:bodyPr wrap="none" rtlCol="0">
            <a:spAutoFit/>
          </a:bodyPr>
          <a:lstStyle/>
          <a:p>
            <a:r>
              <a:rPr lang="en-US" altLang="zh-TW" dirty="0" smtClean="0">
                <a:solidFill>
                  <a:srgbClr val="C00000"/>
                </a:solidFill>
              </a:rPr>
              <a:t>Context switch</a:t>
            </a:r>
            <a:endParaRPr lang="zh-TW" altLang="en-US" dirty="0">
              <a:solidFill>
                <a:srgbClr val="C00000"/>
              </a:solidFill>
            </a:endParaRPr>
          </a:p>
        </p:txBody>
      </p:sp>
      <p:cxnSp>
        <p:nvCxnSpPr>
          <p:cNvPr id="135" name="肘形接點 76"/>
          <p:cNvCxnSpPr>
            <a:endCxn id="110" idx="2"/>
          </p:cNvCxnSpPr>
          <p:nvPr/>
        </p:nvCxnSpPr>
        <p:spPr>
          <a:xfrm rot="16200000" flipH="1">
            <a:off x="1778475" y="3557506"/>
            <a:ext cx="1480717" cy="3725333"/>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6" name="文字方塊 135"/>
          <p:cNvSpPr txBox="1"/>
          <p:nvPr/>
        </p:nvSpPr>
        <p:spPr>
          <a:xfrm>
            <a:off x="4419600" y="6248400"/>
            <a:ext cx="3415550" cy="369332"/>
          </a:xfrm>
          <a:prstGeom prst="rect">
            <a:avLst/>
          </a:prstGeom>
          <a:noFill/>
        </p:spPr>
        <p:txBody>
          <a:bodyPr wrap="none" rtlCol="0">
            <a:spAutoFit/>
          </a:bodyPr>
          <a:lstStyle/>
          <a:p>
            <a:r>
              <a:rPr lang="en-US" altLang="zh-TW" dirty="0" smtClean="0">
                <a:solidFill>
                  <a:srgbClr val="C00000"/>
                </a:solidFill>
              </a:rPr>
              <a:t>Switch the pointer to new location</a:t>
            </a:r>
            <a:endParaRPr lang="zh-TW" altLang="en-US" dirty="0">
              <a:solidFill>
                <a:srgbClr val="C00000"/>
              </a:solidFill>
            </a:endParaRPr>
          </a:p>
        </p:txBody>
      </p:sp>
      <p:sp>
        <p:nvSpPr>
          <p:cNvPr id="137" name="矩形 136"/>
          <p:cNvSpPr/>
          <p:nvPr/>
        </p:nvSpPr>
        <p:spPr>
          <a:xfrm>
            <a:off x="5715000" y="3342042"/>
            <a:ext cx="1143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b="1" dirty="0" smtClean="0"/>
              <a:t>Process</a:t>
            </a:r>
          </a:p>
          <a:p>
            <a:pPr algn="ctr"/>
            <a:r>
              <a:rPr lang="en-US" altLang="zh-TW" sz="1400" i="1" dirty="0" smtClean="0"/>
              <a:t>Page Table</a:t>
            </a:r>
            <a:endParaRPr lang="zh-TW" altLang="en-US" sz="1400" i="1" dirty="0"/>
          </a:p>
        </p:txBody>
      </p:sp>
      <p:sp>
        <p:nvSpPr>
          <p:cNvPr id="138" name="矩形 137"/>
          <p:cNvSpPr/>
          <p:nvPr/>
        </p:nvSpPr>
        <p:spPr>
          <a:xfrm>
            <a:off x="5715000" y="2883932"/>
            <a:ext cx="1143000" cy="217714"/>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 name="矩形 138"/>
          <p:cNvSpPr/>
          <p:nvPr/>
        </p:nvSpPr>
        <p:spPr>
          <a:xfrm>
            <a:off x="5715000" y="26553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40" name="矩形 139"/>
          <p:cNvSpPr/>
          <p:nvPr/>
        </p:nvSpPr>
        <p:spPr>
          <a:xfrm>
            <a:off x="5715000" y="21981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41" name="矩形 140"/>
          <p:cNvSpPr/>
          <p:nvPr/>
        </p:nvSpPr>
        <p:spPr>
          <a:xfrm>
            <a:off x="5715000" y="2426732"/>
            <a:ext cx="1143000" cy="217714"/>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 name="矩形 141"/>
          <p:cNvSpPr/>
          <p:nvPr/>
        </p:nvSpPr>
        <p:spPr>
          <a:xfrm>
            <a:off x="5715000" y="19695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43" name="矩形 142"/>
          <p:cNvSpPr/>
          <p:nvPr/>
        </p:nvSpPr>
        <p:spPr>
          <a:xfrm>
            <a:off x="5715000" y="5779532"/>
            <a:ext cx="1143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b="1" dirty="0" smtClean="0"/>
              <a:t>Shadow</a:t>
            </a:r>
          </a:p>
          <a:p>
            <a:pPr algn="ctr"/>
            <a:r>
              <a:rPr lang="en-US" altLang="zh-TW" sz="1400" i="1" dirty="0" smtClean="0"/>
              <a:t>Page Table</a:t>
            </a:r>
            <a:endParaRPr lang="zh-TW" altLang="en-US" sz="1400" i="1" dirty="0"/>
          </a:p>
        </p:txBody>
      </p:sp>
      <p:sp>
        <p:nvSpPr>
          <p:cNvPr id="144" name="矩形 143"/>
          <p:cNvSpPr/>
          <p:nvPr/>
        </p:nvSpPr>
        <p:spPr>
          <a:xfrm>
            <a:off x="5715000" y="53223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45" name="矩形 144"/>
          <p:cNvSpPr/>
          <p:nvPr/>
        </p:nvSpPr>
        <p:spPr>
          <a:xfrm>
            <a:off x="5715000" y="50937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46" name="矩形 145"/>
          <p:cNvSpPr/>
          <p:nvPr/>
        </p:nvSpPr>
        <p:spPr>
          <a:xfrm>
            <a:off x="5715000" y="48651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47" name="矩形 146"/>
          <p:cNvSpPr/>
          <p:nvPr/>
        </p:nvSpPr>
        <p:spPr>
          <a:xfrm>
            <a:off x="5715000" y="44079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cxnSp>
        <p:nvCxnSpPr>
          <p:cNvPr id="148" name="直線接點 147"/>
          <p:cNvCxnSpPr>
            <a:stCxn id="137" idx="2"/>
            <a:endCxn id="147" idx="0"/>
          </p:cNvCxnSpPr>
          <p:nvPr/>
        </p:nvCxnSpPr>
        <p:spPr>
          <a:xfrm rot="5400000">
            <a:off x="5944055" y="4065487"/>
            <a:ext cx="684890"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149" name="直線單箭頭接點 148"/>
          <p:cNvCxnSpPr/>
          <p:nvPr/>
        </p:nvCxnSpPr>
        <p:spPr>
          <a:xfrm>
            <a:off x="4800600" y="1512332"/>
            <a:ext cx="1524000" cy="1588"/>
          </a:xfrm>
          <a:prstGeom prst="straightConnector1">
            <a:avLst/>
          </a:prstGeom>
          <a:ln w="57150">
            <a:solidFill>
              <a:srgbClr val="C000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0" name="文字方塊 149"/>
          <p:cNvSpPr txBox="1"/>
          <p:nvPr/>
        </p:nvSpPr>
        <p:spPr>
          <a:xfrm>
            <a:off x="6324600" y="1295400"/>
            <a:ext cx="1378839" cy="369332"/>
          </a:xfrm>
          <a:prstGeom prst="rect">
            <a:avLst/>
          </a:prstGeom>
          <a:noFill/>
        </p:spPr>
        <p:txBody>
          <a:bodyPr wrap="none" rtlCol="0">
            <a:spAutoFit/>
          </a:bodyPr>
          <a:lstStyle/>
          <a:p>
            <a:r>
              <a:rPr lang="en-US" altLang="zh-TW" dirty="0" smtClean="0">
                <a:solidFill>
                  <a:srgbClr val="C00000"/>
                </a:solidFill>
              </a:rPr>
              <a:t>New process</a:t>
            </a:r>
            <a:endParaRPr lang="zh-TW" altLang="en-US" dirty="0">
              <a:solidFill>
                <a:srgbClr val="C00000"/>
              </a:solidFill>
            </a:endParaRPr>
          </a:p>
        </p:txBody>
      </p:sp>
      <p:cxnSp>
        <p:nvCxnSpPr>
          <p:cNvPr id="151" name="肘形接點 150"/>
          <p:cNvCxnSpPr>
            <a:endCxn id="142" idx="0"/>
          </p:cNvCxnSpPr>
          <p:nvPr/>
        </p:nvCxnSpPr>
        <p:spPr>
          <a:xfrm rot="5400000" flipH="1" flipV="1">
            <a:off x="2730975" y="-105275"/>
            <a:ext cx="1480717" cy="5630333"/>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2" name="矩形 151"/>
          <p:cNvSpPr/>
          <p:nvPr/>
        </p:nvSpPr>
        <p:spPr>
          <a:xfrm>
            <a:off x="5715000" y="55509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53" name="矩形 152"/>
          <p:cNvSpPr/>
          <p:nvPr/>
        </p:nvSpPr>
        <p:spPr>
          <a:xfrm>
            <a:off x="5715000" y="46365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cxnSp>
        <p:nvCxnSpPr>
          <p:cNvPr id="154" name="肘形接點 76"/>
          <p:cNvCxnSpPr>
            <a:endCxn id="143" idx="2"/>
          </p:cNvCxnSpPr>
          <p:nvPr/>
        </p:nvCxnSpPr>
        <p:spPr>
          <a:xfrm rot="16200000" flipH="1">
            <a:off x="2730975" y="2605006"/>
            <a:ext cx="1480717" cy="5630333"/>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5" name="文字方塊 154"/>
          <p:cNvSpPr txBox="1"/>
          <p:nvPr/>
        </p:nvSpPr>
        <p:spPr>
          <a:xfrm>
            <a:off x="3727837" y="6400800"/>
            <a:ext cx="5416163" cy="369332"/>
          </a:xfrm>
          <a:prstGeom prst="rect">
            <a:avLst/>
          </a:prstGeom>
          <a:noFill/>
        </p:spPr>
        <p:txBody>
          <a:bodyPr wrap="none" rtlCol="0">
            <a:spAutoFit/>
          </a:bodyPr>
          <a:lstStyle/>
          <a:p>
            <a:r>
              <a:rPr lang="en-US" altLang="zh-TW" dirty="0" smtClean="0">
                <a:solidFill>
                  <a:srgbClr val="C00000"/>
                </a:solidFill>
              </a:rPr>
              <a:t>Create new shadow page table mapping to new process</a:t>
            </a:r>
            <a:endParaRPr lang="zh-TW" altLang="en-US" dirty="0">
              <a:solidFill>
                <a:srgbClr val="C00000"/>
              </a:solidFill>
            </a:endParaRPr>
          </a:p>
        </p:txBody>
      </p:sp>
      <p:sp>
        <p:nvSpPr>
          <p:cNvPr id="156" name="文字方塊 155"/>
          <p:cNvSpPr txBox="1"/>
          <p:nvPr/>
        </p:nvSpPr>
        <p:spPr>
          <a:xfrm>
            <a:off x="6887965" y="1752600"/>
            <a:ext cx="808235" cy="369332"/>
          </a:xfrm>
          <a:prstGeom prst="rect">
            <a:avLst/>
          </a:prstGeom>
          <a:noFill/>
        </p:spPr>
        <p:txBody>
          <a:bodyPr wrap="none" rtlCol="0">
            <a:spAutoFit/>
          </a:bodyPr>
          <a:lstStyle/>
          <a:p>
            <a:r>
              <a:rPr lang="en-US" altLang="zh-TW" dirty="0" smtClean="0">
                <a:solidFill>
                  <a:srgbClr val="C00000"/>
                </a:solidFill>
              </a:rPr>
              <a:t>Access</a:t>
            </a:r>
            <a:endParaRPr lang="zh-TW" altLang="en-US" dirty="0">
              <a:solidFill>
                <a:srgbClr val="C00000"/>
              </a:solidFill>
            </a:endParaRPr>
          </a:p>
        </p:txBody>
      </p:sp>
      <p:cxnSp>
        <p:nvCxnSpPr>
          <p:cNvPr id="157" name="弧形接點 156"/>
          <p:cNvCxnSpPr>
            <a:stCxn id="141" idx="3"/>
            <a:endCxn id="161" idx="3"/>
          </p:cNvCxnSpPr>
          <p:nvPr/>
        </p:nvCxnSpPr>
        <p:spPr>
          <a:xfrm>
            <a:off x="6858000" y="2535589"/>
            <a:ext cx="1588" cy="2209800"/>
          </a:xfrm>
          <a:prstGeom prst="curvedConnector3">
            <a:avLst>
              <a:gd name="adj1" fmla="val 14395466"/>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8" name="弧形接點 100"/>
          <p:cNvCxnSpPr>
            <a:stCxn id="156" idx="2"/>
            <a:endCxn id="141" idx="3"/>
          </p:cNvCxnSpPr>
          <p:nvPr/>
        </p:nvCxnSpPr>
        <p:spPr>
          <a:xfrm rot="5400000">
            <a:off x="6868214" y="2111719"/>
            <a:ext cx="413657" cy="434083"/>
          </a:xfrm>
          <a:prstGeom prst="curvedConnector2">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9" name="弧形接點 100"/>
          <p:cNvCxnSpPr>
            <a:stCxn id="156" idx="2"/>
            <a:endCxn id="138" idx="3"/>
          </p:cNvCxnSpPr>
          <p:nvPr/>
        </p:nvCxnSpPr>
        <p:spPr>
          <a:xfrm rot="5400000">
            <a:off x="6639614" y="2340319"/>
            <a:ext cx="870857" cy="434083"/>
          </a:xfrm>
          <a:prstGeom prst="curvedConnector2">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0" name="弧形接點 159"/>
          <p:cNvCxnSpPr>
            <a:stCxn id="138" idx="3"/>
            <a:endCxn id="162" idx="3"/>
          </p:cNvCxnSpPr>
          <p:nvPr/>
        </p:nvCxnSpPr>
        <p:spPr>
          <a:xfrm>
            <a:off x="6858000" y="2992789"/>
            <a:ext cx="1588" cy="2438400"/>
          </a:xfrm>
          <a:prstGeom prst="curvedConnector3">
            <a:avLst>
              <a:gd name="adj1" fmla="val 2214692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5715000" y="4636532"/>
            <a:ext cx="1143000" cy="217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2" name="矩形 161"/>
          <p:cNvSpPr/>
          <p:nvPr/>
        </p:nvSpPr>
        <p:spPr>
          <a:xfrm>
            <a:off x="5715000" y="5322332"/>
            <a:ext cx="1143000" cy="217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 name="群組 132"/>
          <p:cNvGrpSpPr/>
          <p:nvPr/>
        </p:nvGrpSpPr>
        <p:grpSpPr>
          <a:xfrm>
            <a:off x="7086600" y="4484132"/>
            <a:ext cx="1447800" cy="685800"/>
            <a:chOff x="6858000" y="5638800"/>
            <a:chExt cx="1447800" cy="685800"/>
          </a:xfrm>
        </p:grpSpPr>
        <p:sp>
          <p:nvSpPr>
            <p:cNvPr id="164" name="爆炸 1 163"/>
            <p:cNvSpPr/>
            <p:nvPr/>
          </p:nvSpPr>
          <p:spPr>
            <a:xfrm>
              <a:off x="6858000" y="5638800"/>
              <a:ext cx="1447800" cy="685800"/>
            </a:xfrm>
            <a:prstGeom prst="irregularSeal1">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dirty="0"/>
            </a:p>
          </p:txBody>
        </p:sp>
        <p:sp>
          <p:nvSpPr>
            <p:cNvPr id="165" name="文字方塊 164"/>
            <p:cNvSpPr txBox="1"/>
            <p:nvPr/>
          </p:nvSpPr>
          <p:spPr>
            <a:xfrm>
              <a:off x="7086600" y="5802868"/>
              <a:ext cx="1006173" cy="307777"/>
            </a:xfrm>
            <a:prstGeom prst="rect">
              <a:avLst/>
            </a:prstGeom>
            <a:noFill/>
          </p:spPr>
          <p:txBody>
            <a:bodyPr wrap="none" rtlCol="0">
              <a:spAutoFit/>
            </a:bodyPr>
            <a:lstStyle/>
            <a:p>
              <a:r>
                <a:rPr lang="en-US" altLang="zh-TW" sz="1400" dirty="0" smtClean="0">
                  <a:solidFill>
                    <a:srgbClr val="C00000"/>
                  </a:solidFill>
                </a:rPr>
                <a:t>Page fault !</a:t>
              </a:r>
              <a:endParaRPr lang="zh-TW" altLang="en-US" sz="1400" dirty="0">
                <a:solidFill>
                  <a:srgbClr val="C00000"/>
                </a:solidFill>
              </a:endParaRPr>
            </a:p>
          </p:txBody>
        </p:sp>
      </p:grpSp>
      <p:sp>
        <p:nvSpPr>
          <p:cNvPr id="166" name="文字方塊 165"/>
          <p:cNvSpPr txBox="1"/>
          <p:nvPr/>
        </p:nvSpPr>
        <p:spPr>
          <a:xfrm>
            <a:off x="7239000" y="5931932"/>
            <a:ext cx="764953" cy="369332"/>
          </a:xfrm>
          <a:prstGeom prst="rect">
            <a:avLst/>
          </a:prstGeom>
          <a:noFill/>
        </p:spPr>
        <p:txBody>
          <a:bodyPr wrap="none" rtlCol="0">
            <a:spAutoFit/>
          </a:bodyPr>
          <a:lstStyle/>
          <a:p>
            <a:r>
              <a:rPr lang="en-US" altLang="zh-TW" dirty="0" smtClean="0">
                <a:solidFill>
                  <a:srgbClr val="C00000"/>
                </a:solidFill>
              </a:rPr>
              <a:t>Load !</a:t>
            </a:r>
            <a:endParaRPr lang="zh-TW" altLang="en-US" dirty="0">
              <a:solidFill>
                <a:srgbClr val="C00000"/>
              </a:solidFill>
            </a:endParaRPr>
          </a:p>
        </p:txBody>
      </p:sp>
      <p:cxnSp>
        <p:nvCxnSpPr>
          <p:cNvPr id="167" name="弧形接點 100"/>
          <p:cNvCxnSpPr/>
          <p:nvPr/>
        </p:nvCxnSpPr>
        <p:spPr>
          <a:xfrm rot="16200000" flipV="1">
            <a:off x="6989368" y="5376022"/>
            <a:ext cx="500743" cy="763477"/>
          </a:xfrm>
          <a:prstGeom prst="curvedConnector2">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8" name="弧形接點 100"/>
          <p:cNvCxnSpPr/>
          <p:nvPr/>
        </p:nvCxnSpPr>
        <p:spPr>
          <a:xfrm rot="16200000" flipV="1">
            <a:off x="6646468" y="5033122"/>
            <a:ext cx="1186543" cy="763477"/>
          </a:xfrm>
          <a:prstGeom prst="curvedConnector2">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9" name="矩形 168"/>
          <p:cNvSpPr/>
          <p:nvPr/>
        </p:nvSpPr>
        <p:spPr>
          <a:xfrm>
            <a:off x="5715000" y="3112532"/>
            <a:ext cx="1143000" cy="2177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after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strips(upRight)">
                                      <p:cBhvr>
                                        <p:cTn id="7" dur="500"/>
                                        <p:tgtEl>
                                          <p:spTgt spid="124"/>
                                        </p:tgtEl>
                                      </p:cBhvr>
                                    </p:animEffect>
                                  </p:childTnLst>
                                </p:cTn>
                              </p:par>
                              <p:par>
                                <p:cTn id="8" presetID="18" presetClass="entr" presetSubtype="6" fill="hold"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strips(downRight)">
                                      <p:cBhvr>
                                        <p:cTn id="10" dur="500"/>
                                        <p:tgtEl>
                                          <p:spTgt spid="12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31"/>
                                        </p:tgtEl>
                                        <p:attrNameLst>
                                          <p:attrName>style.visibility</p:attrName>
                                        </p:attrNameLst>
                                      </p:cBhvr>
                                      <p:to>
                                        <p:strVal val="visible"/>
                                      </p:to>
                                    </p:set>
                                    <p:animEffect transition="in" filter="blinds(horizontal)">
                                      <p:cBhvr>
                                        <p:cTn id="13" dur="500"/>
                                        <p:tgtEl>
                                          <p:spTgt spid="13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131"/>
                                        </p:tgtEl>
                                        <p:attrNameLst>
                                          <p:attrName>style.visibility</p:attrName>
                                        </p:attrNameLst>
                                      </p:cBhvr>
                                      <p:to>
                                        <p:strVal val="hidden"/>
                                      </p:to>
                                    </p:set>
                                  </p:childTnLst>
                                </p:cTn>
                              </p:par>
                              <p:par>
                                <p:cTn id="18" presetID="18" presetClass="entr" presetSubtype="3" fill="hold" nodeType="withEffect">
                                  <p:stCondLst>
                                    <p:cond delay="0"/>
                                  </p:stCondLst>
                                  <p:childTnLst>
                                    <p:set>
                                      <p:cBhvr>
                                        <p:cTn id="19" dur="1" fill="hold">
                                          <p:stCondLst>
                                            <p:cond delay="0"/>
                                          </p:stCondLst>
                                        </p:cTn>
                                        <p:tgtEl>
                                          <p:spTgt spid="132"/>
                                        </p:tgtEl>
                                        <p:attrNameLst>
                                          <p:attrName>style.visibility</p:attrName>
                                        </p:attrNameLst>
                                      </p:cBhvr>
                                      <p:to>
                                        <p:strVal val="visible"/>
                                      </p:to>
                                    </p:set>
                                    <p:animEffect transition="in" filter="strips(upRight)">
                                      <p:cBhvr>
                                        <p:cTn id="20" dur="500"/>
                                        <p:tgtEl>
                                          <p:spTgt spid="132"/>
                                        </p:tgtEl>
                                      </p:cBhvr>
                                    </p:animEffect>
                                  </p:childTnLst>
                                </p:cTn>
                              </p:par>
                            </p:childTnLst>
                          </p:cTn>
                        </p:par>
                        <p:par>
                          <p:cTn id="21" fill="hold">
                            <p:stCondLst>
                              <p:cond delay="500"/>
                            </p:stCondLst>
                            <p:childTnLst>
                              <p:par>
                                <p:cTn id="22" presetID="18" presetClass="entr" presetSubtype="3" fill="hold" nodeType="afterEffect">
                                  <p:stCondLst>
                                    <p:cond delay="0"/>
                                  </p:stCondLst>
                                  <p:childTnLst>
                                    <p:set>
                                      <p:cBhvr>
                                        <p:cTn id="23" dur="1" fill="hold">
                                          <p:stCondLst>
                                            <p:cond delay="0"/>
                                          </p:stCondLst>
                                        </p:cTn>
                                        <p:tgtEl>
                                          <p:spTgt spid="133"/>
                                        </p:tgtEl>
                                        <p:attrNameLst>
                                          <p:attrName>style.visibility</p:attrName>
                                        </p:attrNameLst>
                                      </p:cBhvr>
                                      <p:to>
                                        <p:strVal val="visible"/>
                                      </p:to>
                                    </p:set>
                                    <p:animEffect transition="in" filter="strips(upRight)">
                                      <p:cBhvr>
                                        <p:cTn id="24" dur="500"/>
                                        <p:tgtEl>
                                          <p:spTgt spid="133"/>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34"/>
                                        </p:tgtEl>
                                        <p:attrNameLst>
                                          <p:attrName>style.visibility</p:attrName>
                                        </p:attrNameLst>
                                      </p:cBhvr>
                                      <p:to>
                                        <p:strVal val="visible"/>
                                      </p:to>
                                    </p:set>
                                    <p:animEffect transition="in" filter="blinds(horizontal)">
                                      <p:cBhvr>
                                        <p:cTn id="27" dur="500"/>
                                        <p:tgtEl>
                                          <p:spTgt spid="13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120"/>
                                        </p:tgtEl>
                                        <p:attrNameLst>
                                          <p:attrName>style.visibility</p:attrName>
                                        </p:attrNameLst>
                                      </p:cBhvr>
                                      <p:to>
                                        <p:strVal val="hidden"/>
                                      </p:to>
                                    </p:set>
                                  </p:childTnLst>
                                </p:cTn>
                              </p:par>
                              <p:par>
                                <p:cTn id="32" presetID="1" presetClass="exit" presetSubtype="0" fill="hold" nodeType="withEffect">
                                  <p:stCondLst>
                                    <p:cond delay="0"/>
                                  </p:stCondLst>
                                  <p:childTnLst>
                                    <p:set>
                                      <p:cBhvr>
                                        <p:cTn id="33" dur="1" fill="hold">
                                          <p:stCondLst>
                                            <p:cond delay="0"/>
                                          </p:stCondLst>
                                        </p:cTn>
                                        <p:tgtEl>
                                          <p:spTgt spid="124"/>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133"/>
                                        </p:tgtEl>
                                        <p:attrNameLst>
                                          <p:attrName>style.visibility</p:attrName>
                                        </p:attrNameLst>
                                      </p:cBhvr>
                                      <p:to>
                                        <p:strVal val="hidden"/>
                                      </p:to>
                                    </p:set>
                                  </p:childTnLst>
                                </p:cTn>
                              </p:par>
                              <p:par>
                                <p:cTn id="36" presetID="1" presetClass="exit" presetSubtype="0" fill="hold" grpId="1" nodeType="withEffect">
                                  <p:stCondLst>
                                    <p:cond delay="0"/>
                                  </p:stCondLst>
                                  <p:childTnLst>
                                    <p:set>
                                      <p:cBhvr>
                                        <p:cTn id="37" dur="1" fill="hold">
                                          <p:stCondLst>
                                            <p:cond delay="0"/>
                                          </p:stCondLst>
                                        </p:cTn>
                                        <p:tgtEl>
                                          <p:spTgt spid="134"/>
                                        </p:tgtEl>
                                        <p:attrNameLst>
                                          <p:attrName>style.visibility</p:attrName>
                                        </p:attrNameLst>
                                      </p:cBhvr>
                                      <p:to>
                                        <p:strVal val="hidden"/>
                                      </p:to>
                                    </p:set>
                                  </p:childTnLst>
                                </p:cTn>
                              </p:par>
                              <p:par>
                                <p:cTn id="38" presetID="18" presetClass="entr" presetSubtype="6" fill="hold" nodeType="withEffect">
                                  <p:stCondLst>
                                    <p:cond delay="0"/>
                                  </p:stCondLst>
                                  <p:childTnLst>
                                    <p:set>
                                      <p:cBhvr>
                                        <p:cTn id="39" dur="1" fill="hold">
                                          <p:stCondLst>
                                            <p:cond delay="0"/>
                                          </p:stCondLst>
                                        </p:cTn>
                                        <p:tgtEl>
                                          <p:spTgt spid="135"/>
                                        </p:tgtEl>
                                        <p:attrNameLst>
                                          <p:attrName>style.visibility</p:attrName>
                                        </p:attrNameLst>
                                      </p:cBhvr>
                                      <p:to>
                                        <p:strVal val="visible"/>
                                      </p:to>
                                    </p:set>
                                    <p:animEffect transition="in" filter="strips(downRight)">
                                      <p:cBhvr>
                                        <p:cTn id="40" dur="500"/>
                                        <p:tgtEl>
                                          <p:spTgt spid="135"/>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36"/>
                                        </p:tgtEl>
                                        <p:attrNameLst>
                                          <p:attrName>style.visibility</p:attrName>
                                        </p:attrNameLst>
                                      </p:cBhvr>
                                      <p:to>
                                        <p:strVal val="visible"/>
                                      </p:to>
                                    </p:set>
                                    <p:animEffect transition="in" filter="blinds(horizontal)">
                                      <p:cBhvr>
                                        <p:cTn id="43" dur="500"/>
                                        <p:tgtEl>
                                          <p:spTgt spid="136"/>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36"/>
                                        </p:tgtEl>
                                        <p:attrNameLst>
                                          <p:attrName>style.visibility</p:attrName>
                                        </p:attrNameLst>
                                      </p:cBhvr>
                                      <p:to>
                                        <p:strVal val="hidden"/>
                                      </p:to>
                                    </p:set>
                                  </p:childTnLst>
                                </p:cTn>
                              </p:par>
                              <p:par>
                                <p:cTn id="48" presetID="18" presetClass="entr" presetSubtype="3" fill="hold" nodeType="withEffect">
                                  <p:stCondLst>
                                    <p:cond delay="0"/>
                                  </p:stCondLst>
                                  <p:childTnLst>
                                    <p:set>
                                      <p:cBhvr>
                                        <p:cTn id="49" dur="1" fill="hold">
                                          <p:stCondLst>
                                            <p:cond delay="0"/>
                                          </p:stCondLst>
                                        </p:cTn>
                                        <p:tgtEl>
                                          <p:spTgt spid="151"/>
                                        </p:tgtEl>
                                        <p:attrNameLst>
                                          <p:attrName>style.visibility</p:attrName>
                                        </p:attrNameLst>
                                      </p:cBhvr>
                                      <p:to>
                                        <p:strVal val="visible"/>
                                      </p:to>
                                    </p:set>
                                    <p:animEffect transition="in" filter="strips(upRight)">
                                      <p:cBhvr>
                                        <p:cTn id="50" dur="500"/>
                                        <p:tgtEl>
                                          <p:spTgt spid="151"/>
                                        </p:tgtEl>
                                      </p:cBhvr>
                                    </p:animEffect>
                                  </p:childTnLst>
                                </p:cTn>
                              </p:par>
                            </p:childTnLst>
                          </p:cTn>
                        </p:par>
                        <p:par>
                          <p:cTn id="51" fill="hold">
                            <p:stCondLst>
                              <p:cond delay="500"/>
                            </p:stCondLst>
                            <p:childTnLst>
                              <p:par>
                                <p:cTn id="52" presetID="3" presetClass="entr" presetSubtype="10" fill="hold" grpId="0" nodeType="afterEffect">
                                  <p:stCondLst>
                                    <p:cond delay="0"/>
                                  </p:stCondLst>
                                  <p:childTnLst>
                                    <p:set>
                                      <p:cBhvr>
                                        <p:cTn id="53" dur="1" fill="hold">
                                          <p:stCondLst>
                                            <p:cond delay="0"/>
                                          </p:stCondLst>
                                        </p:cTn>
                                        <p:tgtEl>
                                          <p:spTgt spid="150"/>
                                        </p:tgtEl>
                                        <p:attrNameLst>
                                          <p:attrName>style.visibility</p:attrName>
                                        </p:attrNameLst>
                                      </p:cBhvr>
                                      <p:to>
                                        <p:strVal val="visible"/>
                                      </p:to>
                                    </p:set>
                                    <p:animEffect transition="in" filter="blinds(horizontal)">
                                      <p:cBhvr>
                                        <p:cTn id="54" dur="500"/>
                                        <p:tgtEl>
                                          <p:spTgt spid="150"/>
                                        </p:tgtEl>
                                      </p:cBhvr>
                                    </p:animEffect>
                                  </p:childTnLst>
                                </p:cTn>
                              </p:par>
                              <p:par>
                                <p:cTn id="55" presetID="18" presetClass="entr" presetSubtype="3" fill="hold" nodeType="withEffect">
                                  <p:stCondLst>
                                    <p:cond delay="0"/>
                                  </p:stCondLst>
                                  <p:childTnLst>
                                    <p:set>
                                      <p:cBhvr>
                                        <p:cTn id="56" dur="1" fill="hold">
                                          <p:stCondLst>
                                            <p:cond delay="0"/>
                                          </p:stCondLst>
                                        </p:cTn>
                                        <p:tgtEl>
                                          <p:spTgt spid="149"/>
                                        </p:tgtEl>
                                        <p:attrNameLst>
                                          <p:attrName>style.visibility</p:attrName>
                                        </p:attrNameLst>
                                      </p:cBhvr>
                                      <p:to>
                                        <p:strVal val="visible"/>
                                      </p:to>
                                    </p:set>
                                    <p:animEffect transition="in" filter="strips(upRight)">
                                      <p:cBhvr>
                                        <p:cTn id="57" dur="500"/>
                                        <p:tgtEl>
                                          <p:spTgt spid="149"/>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37"/>
                                        </p:tgtEl>
                                        <p:attrNameLst>
                                          <p:attrName>style.visibility</p:attrName>
                                        </p:attrNameLst>
                                      </p:cBhvr>
                                      <p:to>
                                        <p:strVal val="visible"/>
                                      </p:to>
                                    </p:set>
                                    <p:animEffect transition="in" filter="blinds(horizontal)">
                                      <p:cBhvr>
                                        <p:cTn id="60" dur="500"/>
                                        <p:tgtEl>
                                          <p:spTgt spid="137"/>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138"/>
                                        </p:tgtEl>
                                        <p:attrNameLst>
                                          <p:attrName>style.visibility</p:attrName>
                                        </p:attrNameLst>
                                      </p:cBhvr>
                                      <p:to>
                                        <p:strVal val="visible"/>
                                      </p:to>
                                    </p:set>
                                    <p:animEffect transition="in" filter="blinds(horizontal)">
                                      <p:cBhvr>
                                        <p:cTn id="63" dur="500"/>
                                        <p:tgtEl>
                                          <p:spTgt spid="138"/>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139"/>
                                        </p:tgtEl>
                                        <p:attrNameLst>
                                          <p:attrName>style.visibility</p:attrName>
                                        </p:attrNameLst>
                                      </p:cBhvr>
                                      <p:to>
                                        <p:strVal val="visible"/>
                                      </p:to>
                                    </p:set>
                                    <p:animEffect transition="in" filter="blinds(horizontal)">
                                      <p:cBhvr>
                                        <p:cTn id="66" dur="500"/>
                                        <p:tgtEl>
                                          <p:spTgt spid="139"/>
                                        </p:tgtEl>
                                      </p:cBhvr>
                                    </p:animEffect>
                                  </p:childTnLst>
                                </p:cTn>
                              </p:par>
                              <p:par>
                                <p:cTn id="67" presetID="3" presetClass="entr" presetSubtype="10" fill="hold" nodeType="withEffect">
                                  <p:stCondLst>
                                    <p:cond delay="0"/>
                                  </p:stCondLst>
                                  <p:childTnLst>
                                    <p:set>
                                      <p:cBhvr>
                                        <p:cTn id="68" dur="1" fill="hold">
                                          <p:stCondLst>
                                            <p:cond delay="0"/>
                                          </p:stCondLst>
                                        </p:cTn>
                                        <p:tgtEl>
                                          <p:spTgt spid="169"/>
                                        </p:tgtEl>
                                        <p:attrNameLst>
                                          <p:attrName>style.visibility</p:attrName>
                                        </p:attrNameLst>
                                      </p:cBhvr>
                                      <p:to>
                                        <p:strVal val="visible"/>
                                      </p:to>
                                    </p:set>
                                    <p:animEffect transition="in" filter="blinds(horizontal)">
                                      <p:cBhvr>
                                        <p:cTn id="69" dur="500"/>
                                        <p:tgtEl>
                                          <p:spTgt spid="169"/>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40"/>
                                        </p:tgtEl>
                                        <p:attrNameLst>
                                          <p:attrName>style.visibility</p:attrName>
                                        </p:attrNameLst>
                                      </p:cBhvr>
                                      <p:to>
                                        <p:strVal val="visible"/>
                                      </p:to>
                                    </p:set>
                                    <p:animEffect transition="in" filter="blinds(horizontal)">
                                      <p:cBhvr>
                                        <p:cTn id="72" dur="500"/>
                                        <p:tgtEl>
                                          <p:spTgt spid="140"/>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41"/>
                                        </p:tgtEl>
                                        <p:attrNameLst>
                                          <p:attrName>style.visibility</p:attrName>
                                        </p:attrNameLst>
                                      </p:cBhvr>
                                      <p:to>
                                        <p:strVal val="visible"/>
                                      </p:to>
                                    </p:set>
                                    <p:animEffect transition="in" filter="blinds(horizontal)">
                                      <p:cBhvr>
                                        <p:cTn id="75" dur="500"/>
                                        <p:tgtEl>
                                          <p:spTgt spid="141"/>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142"/>
                                        </p:tgtEl>
                                        <p:attrNameLst>
                                          <p:attrName>style.visibility</p:attrName>
                                        </p:attrNameLst>
                                      </p:cBhvr>
                                      <p:to>
                                        <p:strVal val="visible"/>
                                      </p:to>
                                    </p:set>
                                    <p:animEffect transition="in" filter="blinds(horizontal)">
                                      <p:cBhvr>
                                        <p:cTn id="78" dur="500"/>
                                        <p:tgtEl>
                                          <p:spTgt spid="142"/>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132"/>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149"/>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150"/>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135"/>
                                        </p:tgtEl>
                                        <p:attrNameLst>
                                          <p:attrName>style.visibility</p:attrName>
                                        </p:attrNameLst>
                                      </p:cBhvr>
                                      <p:to>
                                        <p:strVal val="hidden"/>
                                      </p:to>
                                    </p:set>
                                  </p:childTnLst>
                                </p:cTn>
                              </p:par>
                              <p:par>
                                <p:cTn id="89" presetID="18" presetClass="entr" presetSubtype="6" fill="hold" nodeType="withEffect">
                                  <p:stCondLst>
                                    <p:cond delay="0"/>
                                  </p:stCondLst>
                                  <p:childTnLst>
                                    <p:set>
                                      <p:cBhvr>
                                        <p:cTn id="90" dur="1" fill="hold">
                                          <p:stCondLst>
                                            <p:cond delay="0"/>
                                          </p:stCondLst>
                                        </p:cTn>
                                        <p:tgtEl>
                                          <p:spTgt spid="154"/>
                                        </p:tgtEl>
                                        <p:attrNameLst>
                                          <p:attrName>style.visibility</p:attrName>
                                        </p:attrNameLst>
                                      </p:cBhvr>
                                      <p:to>
                                        <p:strVal val="visible"/>
                                      </p:to>
                                    </p:set>
                                    <p:animEffect transition="in" filter="strips(downRight)">
                                      <p:cBhvr>
                                        <p:cTn id="91" dur="500"/>
                                        <p:tgtEl>
                                          <p:spTgt spid="154"/>
                                        </p:tgtEl>
                                      </p:cBhvr>
                                    </p:animEffect>
                                  </p:childTnLst>
                                </p:cTn>
                              </p:par>
                              <p:par>
                                <p:cTn id="92" presetID="3" presetClass="entr" presetSubtype="10" fill="hold" nodeType="withEffect">
                                  <p:stCondLst>
                                    <p:cond delay="0"/>
                                  </p:stCondLst>
                                  <p:childTnLst>
                                    <p:set>
                                      <p:cBhvr>
                                        <p:cTn id="93" dur="1" fill="hold">
                                          <p:stCondLst>
                                            <p:cond delay="0"/>
                                          </p:stCondLst>
                                        </p:cTn>
                                        <p:tgtEl>
                                          <p:spTgt spid="155"/>
                                        </p:tgtEl>
                                        <p:attrNameLst>
                                          <p:attrName>style.visibility</p:attrName>
                                        </p:attrNameLst>
                                      </p:cBhvr>
                                      <p:to>
                                        <p:strVal val="visible"/>
                                      </p:to>
                                    </p:set>
                                    <p:animEffect transition="in" filter="blinds(horizontal)">
                                      <p:cBhvr>
                                        <p:cTn id="94" dur="500"/>
                                        <p:tgtEl>
                                          <p:spTgt spid="155"/>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143"/>
                                        </p:tgtEl>
                                        <p:attrNameLst>
                                          <p:attrName>style.visibility</p:attrName>
                                        </p:attrNameLst>
                                      </p:cBhvr>
                                      <p:to>
                                        <p:strVal val="visible"/>
                                      </p:to>
                                    </p:set>
                                    <p:animEffect transition="in" filter="blinds(horizontal)">
                                      <p:cBhvr>
                                        <p:cTn id="97" dur="500"/>
                                        <p:tgtEl>
                                          <p:spTgt spid="143"/>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144"/>
                                        </p:tgtEl>
                                        <p:attrNameLst>
                                          <p:attrName>style.visibility</p:attrName>
                                        </p:attrNameLst>
                                      </p:cBhvr>
                                      <p:to>
                                        <p:strVal val="visible"/>
                                      </p:to>
                                    </p:set>
                                    <p:animEffect transition="in" filter="blinds(horizontal)">
                                      <p:cBhvr>
                                        <p:cTn id="100" dur="500"/>
                                        <p:tgtEl>
                                          <p:spTgt spid="144"/>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145"/>
                                        </p:tgtEl>
                                        <p:attrNameLst>
                                          <p:attrName>style.visibility</p:attrName>
                                        </p:attrNameLst>
                                      </p:cBhvr>
                                      <p:to>
                                        <p:strVal val="visible"/>
                                      </p:to>
                                    </p:set>
                                    <p:animEffect transition="in" filter="blinds(horizontal)">
                                      <p:cBhvr>
                                        <p:cTn id="103" dur="500"/>
                                        <p:tgtEl>
                                          <p:spTgt spid="145"/>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146"/>
                                        </p:tgtEl>
                                        <p:attrNameLst>
                                          <p:attrName>style.visibility</p:attrName>
                                        </p:attrNameLst>
                                      </p:cBhvr>
                                      <p:to>
                                        <p:strVal val="visible"/>
                                      </p:to>
                                    </p:set>
                                    <p:animEffect transition="in" filter="blinds(horizontal)">
                                      <p:cBhvr>
                                        <p:cTn id="106" dur="500"/>
                                        <p:tgtEl>
                                          <p:spTgt spid="146"/>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147"/>
                                        </p:tgtEl>
                                        <p:attrNameLst>
                                          <p:attrName>style.visibility</p:attrName>
                                        </p:attrNameLst>
                                      </p:cBhvr>
                                      <p:to>
                                        <p:strVal val="visible"/>
                                      </p:to>
                                    </p:set>
                                    <p:animEffect transition="in" filter="blinds(horizontal)">
                                      <p:cBhvr>
                                        <p:cTn id="109" dur="500"/>
                                        <p:tgtEl>
                                          <p:spTgt spid="147"/>
                                        </p:tgtEl>
                                      </p:cBhvr>
                                    </p:animEffect>
                                  </p:childTnLst>
                                </p:cTn>
                              </p:par>
                              <p:par>
                                <p:cTn id="110" presetID="3" presetClass="entr" presetSubtype="10" fill="hold" nodeType="withEffect">
                                  <p:stCondLst>
                                    <p:cond delay="0"/>
                                  </p:stCondLst>
                                  <p:childTnLst>
                                    <p:set>
                                      <p:cBhvr>
                                        <p:cTn id="111" dur="1" fill="hold">
                                          <p:stCondLst>
                                            <p:cond delay="0"/>
                                          </p:stCondLst>
                                        </p:cTn>
                                        <p:tgtEl>
                                          <p:spTgt spid="148"/>
                                        </p:tgtEl>
                                        <p:attrNameLst>
                                          <p:attrName>style.visibility</p:attrName>
                                        </p:attrNameLst>
                                      </p:cBhvr>
                                      <p:to>
                                        <p:strVal val="visible"/>
                                      </p:to>
                                    </p:set>
                                    <p:animEffect transition="in" filter="blinds(horizontal)">
                                      <p:cBhvr>
                                        <p:cTn id="112" dur="500"/>
                                        <p:tgtEl>
                                          <p:spTgt spid="148"/>
                                        </p:tgtEl>
                                      </p:cBhvr>
                                    </p:animEffect>
                                  </p:childTnLst>
                                </p:cTn>
                              </p:par>
                              <p:par>
                                <p:cTn id="113" presetID="3" presetClass="entr" presetSubtype="10" fill="hold" nodeType="withEffect">
                                  <p:stCondLst>
                                    <p:cond delay="0"/>
                                  </p:stCondLst>
                                  <p:childTnLst>
                                    <p:set>
                                      <p:cBhvr>
                                        <p:cTn id="114" dur="1" fill="hold">
                                          <p:stCondLst>
                                            <p:cond delay="0"/>
                                          </p:stCondLst>
                                        </p:cTn>
                                        <p:tgtEl>
                                          <p:spTgt spid="152"/>
                                        </p:tgtEl>
                                        <p:attrNameLst>
                                          <p:attrName>style.visibility</p:attrName>
                                        </p:attrNameLst>
                                      </p:cBhvr>
                                      <p:to>
                                        <p:strVal val="visible"/>
                                      </p:to>
                                    </p:set>
                                    <p:animEffect transition="in" filter="blinds(horizontal)">
                                      <p:cBhvr>
                                        <p:cTn id="115" dur="500"/>
                                        <p:tgtEl>
                                          <p:spTgt spid="152"/>
                                        </p:tgtEl>
                                      </p:cBhvr>
                                    </p:animEffect>
                                  </p:childTnLst>
                                </p:cTn>
                              </p:par>
                              <p:par>
                                <p:cTn id="116" presetID="3" presetClass="entr" presetSubtype="10" fill="hold" nodeType="withEffect">
                                  <p:stCondLst>
                                    <p:cond delay="0"/>
                                  </p:stCondLst>
                                  <p:childTnLst>
                                    <p:set>
                                      <p:cBhvr>
                                        <p:cTn id="117" dur="1" fill="hold">
                                          <p:stCondLst>
                                            <p:cond delay="0"/>
                                          </p:stCondLst>
                                        </p:cTn>
                                        <p:tgtEl>
                                          <p:spTgt spid="153"/>
                                        </p:tgtEl>
                                        <p:attrNameLst>
                                          <p:attrName>style.visibility</p:attrName>
                                        </p:attrNameLst>
                                      </p:cBhvr>
                                      <p:to>
                                        <p:strVal val="visible"/>
                                      </p:to>
                                    </p:set>
                                    <p:animEffect transition="in" filter="blinds(horizontal)">
                                      <p:cBhvr>
                                        <p:cTn id="118" dur="500"/>
                                        <p:tgtEl>
                                          <p:spTgt spid="153"/>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grpId="0" nodeType="clickEffect">
                                  <p:stCondLst>
                                    <p:cond delay="0"/>
                                  </p:stCondLst>
                                  <p:childTnLst>
                                    <p:set>
                                      <p:cBhvr>
                                        <p:cTn id="122" dur="1" fill="hold">
                                          <p:stCondLst>
                                            <p:cond delay="0"/>
                                          </p:stCondLst>
                                        </p:cTn>
                                        <p:tgtEl>
                                          <p:spTgt spid="155"/>
                                        </p:tgtEl>
                                        <p:attrNameLst>
                                          <p:attrName>style.visibility</p:attrName>
                                        </p:attrNameLst>
                                      </p:cBhvr>
                                      <p:to>
                                        <p:strVal val="hidden"/>
                                      </p:to>
                                    </p:set>
                                  </p:childTnLst>
                                </p:cTn>
                              </p:par>
                              <p:par>
                                <p:cTn id="123" presetID="3" presetClass="entr" presetSubtype="10" fill="hold" grpId="0" nodeType="withEffect">
                                  <p:stCondLst>
                                    <p:cond delay="0"/>
                                  </p:stCondLst>
                                  <p:childTnLst>
                                    <p:set>
                                      <p:cBhvr>
                                        <p:cTn id="124" dur="1" fill="hold">
                                          <p:stCondLst>
                                            <p:cond delay="0"/>
                                          </p:stCondLst>
                                        </p:cTn>
                                        <p:tgtEl>
                                          <p:spTgt spid="156"/>
                                        </p:tgtEl>
                                        <p:attrNameLst>
                                          <p:attrName>style.visibility</p:attrName>
                                        </p:attrNameLst>
                                      </p:cBhvr>
                                      <p:to>
                                        <p:strVal val="visible"/>
                                      </p:to>
                                    </p:set>
                                    <p:animEffect transition="in" filter="blinds(horizontal)">
                                      <p:cBhvr>
                                        <p:cTn id="125" dur="500"/>
                                        <p:tgtEl>
                                          <p:spTgt spid="156"/>
                                        </p:tgtEl>
                                      </p:cBhvr>
                                    </p:animEffect>
                                  </p:childTnLst>
                                </p:cTn>
                              </p:par>
                              <p:par>
                                <p:cTn id="126" presetID="18" presetClass="entr" presetSubtype="12" fill="hold" nodeType="withEffect">
                                  <p:stCondLst>
                                    <p:cond delay="0"/>
                                  </p:stCondLst>
                                  <p:childTnLst>
                                    <p:set>
                                      <p:cBhvr>
                                        <p:cTn id="127" dur="1" fill="hold">
                                          <p:stCondLst>
                                            <p:cond delay="0"/>
                                          </p:stCondLst>
                                        </p:cTn>
                                        <p:tgtEl>
                                          <p:spTgt spid="158"/>
                                        </p:tgtEl>
                                        <p:attrNameLst>
                                          <p:attrName>style.visibility</p:attrName>
                                        </p:attrNameLst>
                                      </p:cBhvr>
                                      <p:to>
                                        <p:strVal val="visible"/>
                                      </p:to>
                                    </p:set>
                                    <p:animEffect transition="in" filter="strips(downLeft)">
                                      <p:cBhvr>
                                        <p:cTn id="128" dur="500"/>
                                        <p:tgtEl>
                                          <p:spTgt spid="158"/>
                                        </p:tgtEl>
                                      </p:cBhvr>
                                    </p:animEffect>
                                  </p:childTnLst>
                                </p:cTn>
                              </p:par>
                              <p:par>
                                <p:cTn id="129" presetID="18" presetClass="entr" presetSubtype="12" fill="hold" nodeType="withEffect">
                                  <p:stCondLst>
                                    <p:cond delay="0"/>
                                  </p:stCondLst>
                                  <p:childTnLst>
                                    <p:set>
                                      <p:cBhvr>
                                        <p:cTn id="130" dur="1" fill="hold">
                                          <p:stCondLst>
                                            <p:cond delay="0"/>
                                          </p:stCondLst>
                                        </p:cTn>
                                        <p:tgtEl>
                                          <p:spTgt spid="159"/>
                                        </p:tgtEl>
                                        <p:attrNameLst>
                                          <p:attrName>style.visibility</p:attrName>
                                        </p:attrNameLst>
                                      </p:cBhvr>
                                      <p:to>
                                        <p:strVal val="visible"/>
                                      </p:to>
                                    </p:set>
                                    <p:animEffect transition="in" filter="strips(downLeft)">
                                      <p:cBhvr>
                                        <p:cTn id="131" dur="500"/>
                                        <p:tgtEl>
                                          <p:spTgt spid="159"/>
                                        </p:tgtEl>
                                      </p:cBhvr>
                                    </p:animEffect>
                                  </p:childTnLst>
                                </p:cTn>
                              </p:par>
                            </p:childTnLst>
                          </p:cTn>
                        </p:par>
                        <p:par>
                          <p:cTn id="132" fill="hold">
                            <p:stCondLst>
                              <p:cond delay="500"/>
                            </p:stCondLst>
                            <p:childTnLst>
                              <p:par>
                                <p:cTn id="133" presetID="18" presetClass="entr" presetSubtype="6" fill="hold" nodeType="afterEffect">
                                  <p:stCondLst>
                                    <p:cond delay="0"/>
                                  </p:stCondLst>
                                  <p:childTnLst>
                                    <p:set>
                                      <p:cBhvr>
                                        <p:cTn id="134" dur="1" fill="hold">
                                          <p:stCondLst>
                                            <p:cond delay="0"/>
                                          </p:stCondLst>
                                        </p:cTn>
                                        <p:tgtEl>
                                          <p:spTgt spid="157"/>
                                        </p:tgtEl>
                                        <p:attrNameLst>
                                          <p:attrName>style.visibility</p:attrName>
                                        </p:attrNameLst>
                                      </p:cBhvr>
                                      <p:to>
                                        <p:strVal val="visible"/>
                                      </p:to>
                                    </p:set>
                                    <p:animEffect transition="in" filter="strips(downRight)">
                                      <p:cBhvr>
                                        <p:cTn id="135" dur="500"/>
                                        <p:tgtEl>
                                          <p:spTgt spid="157"/>
                                        </p:tgtEl>
                                      </p:cBhvr>
                                    </p:animEffect>
                                  </p:childTnLst>
                                </p:cTn>
                              </p:par>
                              <p:par>
                                <p:cTn id="136" presetID="18" presetClass="entr" presetSubtype="6" fill="hold" nodeType="withEffect">
                                  <p:stCondLst>
                                    <p:cond delay="0"/>
                                  </p:stCondLst>
                                  <p:childTnLst>
                                    <p:set>
                                      <p:cBhvr>
                                        <p:cTn id="137" dur="1" fill="hold">
                                          <p:stCondLst>
                                            <p:cond delay="0"/>
                                          </p:stCondLst>
                                        </p:cTn>
                                        <p:tgtEl>
                                          <p:spTgt spid="160"/>
                                        </p:tgtEl>
                                        <p:attrNameLst>
                                          <p:attrName>style.visibility</p:attrName>
                                        </p:attrNameLst>
                                      </p:cBhvr>
                                      <p:to>
                                        <p:strVal val="visible"/>
                                      </p:to>
                                    </p:set>
                                    <p:animEffect transition="in" filter="strips(downRight)">
                                      <p:cBhvr>
                                        <p:cTn id="138" dur="500"/>
                                        <p:tgtEl>
                                          <p:spTgt spid="160"/>
                                        </p:tgtEl>
                                      </p:cBhvr>
                                    </p:animEffect>
                                  </p:childTnLst>
                                </p:cTn>
                              </p:par>
                            </p:childTnLst>
                          </p:cTn>
                        </p:par>
                        <p:par>
                          <p:cTn id="139" fill="hold">
                            <p:stCondLst>
                              <p:cond delay="1000"/>
                            </p:stCondLst>
                            <p:childTnLst>
                              <p:par>
                                <p:cTn id="140" presetID="3" presetClass="entr" presetSubtype="10" fill="hold" nodeType="afterEffect">
                                  <p:stCondLst>
                                    <p:cond delay="0"/>
                                  </p:stCondLst>
                                  <p:childTnLst>
                                    <p:set>
                                      <p:cBhvr>
                                        <p:cTn id="141" dur="1" fill="hold">
                                          <p:stCondLst>
                                            <p:cond delay="0"/>
                                          </p:stCondLst>
                                        </p:cTn>
                                        <p:tgtEl>
                                          <p:spTgt spid="7"/>
                                        </p:tgtEl>
                                        <p:attrNameLst>
                                          <p:attrName>style.visibility</p:attrName>
                                        </p:attrNameLst>
                                      </p:cBhvr>
                                      <p:to>
                                        <p:strVal val="visible"/>
                                      </p:to>
                                    </p:set>
                                    <p:animEffect transition="in" filter="blinds(horizontal)">
                                      <p:cBhvr>
                                        <p:cTn id="142" dur="500"/>
                                        <p:tgtEl>
                                          <p:spTgt spid="7"/>
                                        </p:tgtEl>
                                      </p:cBhvr>
                                    </p:animEffect>
                                  </p:childTnLst>
                                </p:cTn>
                              </p:par>
                            </p:childTnLst>
                          </p:cTn>
                        </p:par>
                        <p:par>
                          <p:cTn id="143" fill="hold">
                            <p:stCondLst>
                              <p:cond delay="1500"/>
                            </p:stCondLst>
                            <p:childTnLst>
                              <p:par>
                                <p:cTn id="144" presetID="3" presetClass="entr" presetSubtype="10" fill="hold" grpId="0" nodeType="afterEffect">
                                  <p:stCondLst>
                                    <p:cond delay="0"/>
                                  </p:stCondLst>
                                  <p:childTnLst>
                                    <p:set>
                                      <p:cBhvr>
                                        <p:cTn id="145" dur="1" fill="hold">
                                          <p:stCondLst>
                                            <p:cond delay="0"/>
                                          </p:stCondLst>
                                        </p:cTn>
                                        <p:tgtEl>
                                          <p:spTgt spid="166"/>
                                        </p:tgtEl>
                                        <p:attrNameLst>
                                          <p:attrName>style.visibility</p:attrName>
                                        </p:attrNameLst>
                                      </p:cBhvr>
                                      <p:to>
                                        <p:strVal val="visible"/>
                                      </p:to>
                                    </p:set>
                                    <p:animEffect transition="in" filter="blinds(horizontal)">
                                      <p:cBhvr>
                                        <p:cTn id="146" dur="500"/>
                                        <p:tgtEl>
                                          <p:spTgt spid="166"/>
                                        </p:tgtEl>
                                      </p:cBhvr>
                                    </p:animEffect>
                                  </p:childTnLst>
                                </p:cTn>
                              </p:par>
                              <p:par>
                                <p:cTn id="147" presetID="18" presetClass="entr" presetSubtype="9" fill="hold" nodeType="withEffect">
                                  <p:stCondLst>
                                    <p:cond delay="0"/>
                                  </p:stCondLst>
                                  <p:childTnLst>
                                    <p:set>
                                      <p:cBhvr>
                                        <p:cTn id="148" dur="1" fill="hold">
                                          <p:stCondLst>
                                            <p:cond delay="0"/>
                                          </p:stCondLst>
                                        </p:cTn>
                                        <p:tgtEl>
                                          <p:spTgt spid="167"/>
                                        </p:tgtEl>
                                        <p:attrNameLst>
                                          <p:attrName>style.visibility</p:attrName>
                                        </p:attrNameLst>
                                      </p:cBhvr>
                                      <p:to>
                                        <p:strVal val="visible"/>
                                      </p:to>
                                    </p:set>
                                    <p:animEffect transition="in" filter="strips(upLeft)">
                                      <p:cBhvr>
                                        <p:cTn id="149" dur="500"/>
                                        <p:tgtEl>
                                          <p:spTgt spid="167"/>
                                        </p:tgtEl>
                                      </p:cBhvr>
                                    </p:animEffect>
                                  </p:childTnLst>
                                </p:cTn>
                              </p:par>
                              <p:par>
                                <p:cTn id="150" presetID="18" presetClass="entr" presetSubtype="9" fill="hold" nodeType="withEffect">
                                  <p:stCondLst>
                                    <p:cond delay="0"/>
                                  </p:stCondLst>
                                  <p:childTnLst>
                                    <p:set>
                                      <p:cBhvr>
                                        <p:cTn id="151" dur="1" fill="hold">
                                          <p:stCondLst>
                                            <p:cond delay="0"/>
                                          </p:stCondLst>
                                        </p:cTn>
                                        <p:tgtEl>
                                          <p:spTgt spid="168"/>
                                        </p:tgtEl>
                                        <p:attrNameLst>
                                          <p:attrName>style.visibility</p:attrName>
                                        </p:attrNameLst>
                                      </p:cBhvr>
                                      <p:to>
                                        <p:strVal val="visible"/>
                                      </p:to>
                                    </p:set>
                                    <p:animEffect transition="in" filter="strips(upLeft)">
                                      <p:cBhvr>
                                        <p:cTn id="152" dur="500"/>
                                        <p:tgtEl>
                                          <p:spTgt spid="168"/>
                                        </p:tgtEl>
                                      </p:cBhvr>
                                    </p:animEffect>
                                  </p:childTnLst>
                                </p:cTn>
                              </p:par>
                            </p:childTnLst>
                          </p:cTn>
                        </p:par>
                        <p:par>
                          <p:cTn id="153" fill="hold">
                            <p:stCondLst>
                              <p:cond delay="2000"/>
                            </p:stCondLst>
                            <p:childTnLst>
                              <p:par>
                                <p:cTn id="154" presetID="3" presetClass="entr" presetSubtype="10" fill="hold" grpId="0" nodeType="afterEffect">
                                  <p:stCondLst>
                                    <p:cond delay="0"/>
                                  </p:stCondLst>
                                  <p:childTnLst>
                                    <p:set>
                                      <p:cBhvr>
                                        <p:cTn id="155" dur="1" fill="hold">
                                          <p:stCondLst>
                                            <p:cond delay="0"/>
                                          </p:stCondLst>
                                        </p:cTn>
                                        <p:tgtEl>
                                          <p:spTgt spid="161"/>
                                        </p:tgtEl>
                                        <p:attrNameLst>
                                          <p:attrName>style.visibility</p:attrName>
                                        </p:attrNameLst>
                                      </p:cBhvr>
                                      <p:to>
                                        <p:strVal val="visible"/>
                                      </p:to>
                                    </p:set>
                                    <p:animEffect transition="in" filter="blinds(horizontal)">
                                      <p:cBhvr>
                                        <p:cTn id="156" dur="500"/>
                                        <p:tgtEl>
                                          <p:spTgt spid="161"/>
                                        </p:tgtEl>
                                      </p:cBhvr>
                                    </p:animEffect>
                                  </p:childTnLst>
                                </p:cTn>
                              </p:par>
                              <p:par>
                                <p:cTn id="157" presetID="3" presetClass="entr" presetSubtype="10" fill="hold" nodeType="withEffect">
                                  <p:stCondLst>
                                    <p:cond delay="0"/>
                                  </p:stCondLst>
                                  <p:childTnLst>
                                    <p:set>
                                      <p:cBhvr>
                                        <p:cTn id="158" dur="1" fill="hold">
                                          <p:stCondLst>
                                            <p:cond delay="0"/>
                                          </p:stCondLst>
                                        </p:cTn>
                                        <p:tgtEl>
                                          <p:spTgt spid="162"/>
                                        </p:tgtEl>
                                        <p:attrNameLst>
                                          <p:attrName>style.visibility</p:attrName>
                                        </p:attrNameLst>
                                      </p:cBhvr>
                                      <p:to>
                                        <p:strVal val="visible"/>
                                      </p:to>
                                    </p:set>
                                    <p:animEffect transition="in" filter="blinds(horizontal)">
                                      <p:cBhvr>
                                        <p:cTn id="159"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P spid="131" grpId="1"/>
      <p:bldP spid="134" grpId="0"/>
      <p:bldP spid="134" grpId="1"/>
      <p:bldP spid="136" grpId="0"/>
      <p:bldP spid="136" grpId="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50" grpId="0"/>
      <p:bldP spid="155" grpId="0"/>
      <p:bldP spid="156" grpId="0"/>
      <p:bldP spid="161" grpId="0" animBg="1"/>
      <p:bldP spid="16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Issues</a:t>
            </a:r>
            <a:endParaRPr lang="en-US" dirty="0"/>
          </a:p>
        </p:txBody>
      </p:sp>
      <p:sp>
        <p:nvSpPr>
          <p:cNvPr id="3" name="Content Placeholder 2"/>
          <p:cNvSpPr>
            <a:spLocks noGrp="1"/>
          </p:cNvSpPr>
          <p:nvPr>
            <p:ph idx="1"/>
          </p:nvPr>
        </p:nvSpPr>
        <p:spPr/>
        <p:txBody>
          <a:bodyPr/>
          <a:lstStyle/>
          <a:p>
            <a:r>
              <a:rPr lang="en-US" dirty="0" smtClean="0"/>
              <a:t>Page fault and page protection issue</a:t>
            </a:r>
          </a:p>
          <a:p>
            <a:pPr lvl="1"/>
            <a:r>
              <a:rPr lang="en-US" dirty="0" smtClean="0"/>
              <a:t>When a physical page fault occurs, VMM need to decide whether this exception should be injected to guest OS or not.</a:t>
            </a:r>
          </a:p>
          <a:p>
            <a:pPr lvl="2"/>
            <a:r>
              <a:rPr lang="en-US" dirty="0" smtClean="0"/>
              <a:t>If the page entry in the page table of guest OS is still valid, VMM should prepare the corresponding page and not inject any exception to guest OS.</a:t>
            </a:r>
          </a:p>
          <a:p>
            <a:pPr lvl="2"/>
            <a:r>
              <a:rPr lang="en-US" dirty="0" smtClean="0"/>
              <a:t>If the page entry in the page table of guest Os is invalid either, then VMM should directly inject the virtual page fault to guest OS.</a:t>
            </a:r>
          </a:p>
          <a:p>
            <a:pPr lvl="1"/>
            <a:r>
              <a:rPr lang="en-US" dirty="0" smtClean="0"/>
              <a:t>When guest OS want to modify its page tables, VMM need to intercept this operation.</a:t>
            </a:r>
          </a:p>
          <a:p>
            <a:pPr lvl="2"/>
            <a:r>
              <a:rPr lang="en-US" dirty="0" smtClean="0"/>
              <a:t>When guest OS reload PTBR, CPU will trap to VMM due to the Ring Compression nature.</a:t>
            </a:r>
          </a:p>
          <a:p>
            <a:pPr lvl="2"/>
            <a:r>
              <a:rPr lang="en-US" dirty="0" smtClean="0"/>
              <a:t>VMM will walk the page table of guest OS and modify the related shadow page table to make MMU get host physical address.</a:t>
            </a:r>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Virtualization</a:t>
            </a:r>
            <a:endParaRPr lang="en-US" dirty="0"/>
          </a:p>
        </p:txBody>
      </p:sp>
      <p:sp>
        <p:nvSpPr>
          <p:cNvPr id="3" name="Text Placeholder 2"/>
          <p:cNvSpPr>
            <a:spLocks noGrp="1"/>
          </p:cNvSpPr>
          <p:nvPr>
            <p:ph type="body" idx="1"/>
          </p:nvPr>
        </p:nvSpPr>
        <p:spPr/>
        <p:txBody>
          <a:bodyPr/>
          <a:lstStyle/>
          <a:p>
            <a:r>
              <a:rPr lang="en-US" dirty="0" smtClean="0"/>
              <a:t>Shadow page table</a:t>
            </a:r>
          </a:p>
          <a:p>
            <a:r>
              <a:rPr lang="en-US" dirty="0" smtClean="0">
                <a:solidFill>
                  <a:srgbClr val="C00000"/>
                </a:solidFill>
              </a:rPr>
              <a:t>Hardware assistance</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Solution</a:t>
            </a:r>
            <a:endParaRPr lang="en-US" dirty="0"/>
          </a:p>
        </p:txBody>
      </p:sp>
      <p:sp>
        <p:nvSpPr>
          <p:cNvPr id="3" name="Content Placeholder 2"/>
          <p:cNvSpPr>
            <a:spLocks noGrp="1"/>
          </p:cNvSpPr>
          <p:nvPr>
            <p:ph idx="1"/>
          </p:nvPr>
        </p:nvSpPr>
        <p:spPr/>
        <p:txBody>
          <a:bodyPr/>
          <a:lstStyle/>
          <a:p>
            <a:r>
              <a:rPr lang="en-US" dirty="0" smtClean="0"/>
              <a:t>Difficulties of shadow page table technique :</a:t>
            </a:r>
          </a:p>
          <a:p>
            <a:pPr lvl="1"/>
            <a:r>
              <a:rPr lang="en-US" dirty="0" smtClean="0"/>
              <a:t>Shadow page table implementation is extremely complex.</a:t>
            </a:r>
          </a:p>
          <a:p>
            <a:pPr lvl="1"/>
            <a:r>
              <a:rPr lang="en-US" dirty="0" smtClean="0"/>
              <a:t>Page fault mechanism and synchronization issues are critical.</a:t>
            </a:r>
          </a:p>
          <a:p>
            <a:pPr lvl="1"/>
            <a:r>
              <a:rPr lang="en-US" dirty="0" smtClean="0"/>
              <a:t>Host memory space overhead is considerable.</a:t>
            </a:r>
            <a:br>
              <a:rPr lang="en-US" dirty="0" smtClean="0"/>
            </a:br>
            <a:endParaRPr lang="en-US" dirty="0" smtClean="0"/>
          </a:p>
          <a:p>
            <a:r>
              <a:rPr lang="en-US" dirty="0" smtClean="0"/>
              <a:t>But why we need this technique to </a:t>
            </a:r>
            <a:r>
              <a:rPr lang="en-US" dirty="0" err="1" smtClean="0"/>
              <a:t>virtualize</a:t>
            </a:r>
            <a:r>
              <a:rPr lang="en-US" dirty="0" smtClean="0"/>
              <a:t> MMU ?</a:t>
            </a:r>
          </a:p>
          <a:p>
            <a:pPr lvl="1"/>
            <a:r>
              <a:rPr lang="en-US" dirty="0" smtClean="0"/>
              <a:t>MMU do not first implemented for virtualization.</a:t>
            </a:r>
          </a:p>
          <a:p>
            <a:pPr lvl="1"/>
            <a:r>
              <a:rPr lang="en-US" dirty="0" smtClean="0"/>
              <a:t>MMU is knowing nothing about two level page address translation.</a:t>
            </a:r>
            <a:br>
              <a:rPr lang="en-US" dirty="0" smtClean="0"/>
            </a:br>
            <a:endParaRPr lang="en-US" dirty="0" smtClean="0"/>
          </a:p>
          <a:p>
            <a:r>
              <a:rPr lang="en-US" dirty="0" smtClean="0"/>
              <a:t>Now, let us consider hardware solution.</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Extended Page Table</a:t>
            </a:r>
            <a:endParaRPr lang="en-US" dirty="0"/>
          </a:p>
        </p:txBody>
      </p:sp>
      <p:sp>
        <p:nvSpPr>
          <p:cNvPr id="3" name="Content Placeholder 2"/>
          <p:cNvSpPr>
            <a:spLocks noGrp="1"/>
          </p:cNvSpPr>
          <p:nvPr>
            <p:ph idx="1"/>
          </p:nvPr>
        </p:nvSpPr>
        <p:spPr>
          <a:xfrm>
            <a:off x="457200" y="1600200"/>
            <a:ext cx="8229600" cy="4495800"/>
          </a:xfrm>
        </p:spPr>
        <p:txBody>
          <a:bodyPr/>
          <a:lstStyle/>
          <a:p>
            <a:r>
              <a:rPr lang="en-US" dirty="0" smtClean="0"/>
              <a:t>Concept of Extended Page Table (EPT) :</a:t>
            </a:r>
          </a:p>
          <a:p>
            <a:pPr lvl="1"/>
            <a:r>
              <a:rPr lang="en-US" dirty="0" smtClean="0"/>
              <a:t>Instead of walking along with only one page table hierarchy, EPT technique implement one more page table hierarchy.</a:t>
            </a:r>
          </a:p>
          <a:p>
            <a:pPr lvl="2"/>
            <a:r>
              <a:rPr lang="en-US" dirty="0" smtClean="0"/>
              <a:t>One page table is maintained by guest OS, which is used to generate guest physical address.</a:t>
            </a:r>
          </a:p>
          <a:p>
            <a:pPr lvl="2"/>
            <a:r>
              <a:rPr lang="en-US" dirty="0" smtClean="0"/>
              <a:t>The other page table is maintained by VMM, which is used to map guest physical address to host physical address.</a:t>
            </a:r>
            <a:br>
              <a:rPr lang="en-US" dirty="0" smtClean="0"/>
            </a:br>
            <a:endParaRPr lang="en-US" dirty="0" smtClean="0"/>
          </a:p>
          <a:p>
            <a:pPr lvl="1"/>
            <a:r>
              <a:rPr lang="en-US" dirty="0" smtClean="0"/>
              <a:t>For each memory access operation, EPT MMU will directly get guest physical address from guest page table, and then get host physical address by the VMM mapping table automatically.</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Extended Page Table</a:t>
            </a:r>
            <a:endParaRPr lang="en-US" dirty="0"/>
          </a:p>
        </p:txBody>
      </p:sp>
      <p:sp>
        <p:nvSpPr>
          <p:cNvPr id="3" name="Content Placeholder 2"/>
          <p:cNvSpPr>
            <a:spLocks noGrp="1"/>
          </p:cNvSpPr>
          <p:nvPr>
            <p:ph idx="1"/>
          </p:nvPr>
        </p:nvSpPr>
        <p:spPr/>
        <p:txBody>
          <a:bodyPr/>
          <a:lstStyle/>
          <a:p>
            <a:r>
              <a:rPr lang="en-US" dirty="0" smtClean="0"/>
              <a:t>Memory operation :</a:t>
            </a:r>
            <a:endParaRPr lang="en-US" dirty="0"/>
          </a:p>
        </p:txBody>
      </p:sp>
      <p:pic>
        <p:nvPicPr>
          <p:cNvPr id="103426" name="Picture 2"/>
          <p:cNvPicPr>
            <a:picLocks noChangeAspect="1" noChangeArrowheads="1"/>
          </p:cNvPicPr>
          <p:nvPr/>
        </p:nvPicPr>
        <p:blipFill>
          <a:blip r:embed="rId2" cstate="print"/>
          <a:srcRect/>
          <a:stretch>
            <a:fillRect/>
          </a:stretch>
        </p:blipFill>
        <p:spPr bwMode="auto">
          <a:xfrm>
            <a:off x="2416175" y="2414780"/>
            <a:ext cx="6499225" cy="3535363"/>
          </a:xfrm>
          <a:prstGeom prst="rect">
            <a:avLst/>
          </a:prstGeom>
          <a:noFill/>
          <a:ln w="9525">
            <a:noFill/>
            <a:miter lim="800000"/>
            <a:headEnd/>
            <a:tailEnd/>
          </a:ln>
          <a:effectLst/>
        </p:spPr>
      </p:pic>
      <p:sp>
        <p:nvSpPr>
          <p:cNvPr id="6" name="TextBox 5"/>
          <p:cNvSpPr txBox="1"/>
          <p:nvPr/>
        </p:nvSpPr>
        <p:spPr>
          <a:xfrm>
            <a:off x="4026423" y="2753245"/>
            <a:ext cx="263214" cy="276999"/>
          </a:xfrm>
          <a:prstGeom prst="rect">
            <a:avLst/>
          </a:prstGeom>
          <a:noFill/>
        </p:spPr>
        <p:txBody>
          <a:bodyPr wrap="none" rtlCol="0">
            <a:spAutoFit/>
          </a:bodyPr>
          <a:lstStyle/>
          <a:p>
            <a:r>
              <a:rPr lang="en-US" sz="1200" b="1" i="1" dirty="0" smtClean="0"/>
              <a:t>8</a:t>
            </a:r>
            <a:endParaRPr lang="en-US" sz="1200" b="1" i="1" dirty="0"/>
          </a:p>
        </p:txBody>
      </p:sp>
      <p:sp>
        <p:nvSpPr>
          <p:cNvPr id="7" name="TextBox 6"/>
          <p:cNvSpPr txBox="1"/>
          <p:nvPr/>
        </p:nvSpPr>
        <p:spPr>
          <a:xfrm>
            <a:off x="5423759" y="2523478"/>
            <a:ext cx="263214" cy="276999"/>
          </a:xfrm>
          <a:prstGeom prst="rect">
            <a:avLst/>
          </a:prstGeom>
          <a:noFill/>
        </p:spPr>
        <p:txBody>
          <a:bodyPr wrap="none" rtlCol="0">
            <a:spAutoFit/>
          </a:bodyPr>
          <a:lstStyle/>
          <a:p>
            <a:r>
              <a:rPr lang="en-US" sz="1200" b="1" i="1" dirty="0" smtClean="0"/>
              <a:t>9</a:t>
            </a:r>
            <a:endParaRPr lang="en-US" sz="1200" b="1" i="1" dirty="0"/>
          </a:p>
        </p:txBody>
      </p:sp>
      <p:sp>
        <p:nvSpPr>
          <p:cNvPr id="8" name="TextBox 7"/>
          <p:cNvSpPr txBox="1"/>
          <p:nvPr/>
        </p:nvSpPr>
        <p:spPr>
          <a:xfrm>
            <a:off x="6809413" y="2286000"/>
            <a:ext cx="263214" cy="276999"/>
          </a:xfrm>
          <a:prstGeom prst="rect">
            <a:avLst/>
          </a:prstGeom>
          <a:noFill/>
        </p:spPr>
        <p:txBody>
          <a:bodyPr wrap="none" rtlCol="0">
            <a:spAutoFit/>
          </a:bodyPr>
          <a:lstStyle/>
          <a:p>
            <a:r>
              <a:rPr lang="en-US" sz="1200" b="1" i="1" dirty="0" smtClean="0"/>
              <a:t>6</a:t>
            </a:r>
            <a:endParaRPr lang="en-US" sz="1200" b="1" i="1" dirty="0"/>
          </a:p>
        </p:txBody>
      </p:sp>
      <p:sp>
        <p:nvSpPr>
          <p:cNvPr id="9" name="TextBox 8"/>
          <p:cNvSpPr txBox="1"/>
          <p:nvPr/>
        </p:nvSpPr>
        <p:spPr>
          <a:xfrm>
            <a:off x="5010949" y="2753245"/>
            <a:ext cx="263214" cy="276999"/>
          </a:xfrm>
          <a:prstGeom prst="rect">
            <a:avLst/>
          </a:prstGeom>
          <a:noFill/>
        </p:spPr>
        <p:txBody>
          <a:bodyPr wrap="none" rtlCol="0">
            <a:spAutoFit/>
          </a:bodyPr>
          <a:lstStyle/>
          <a:p>
            <a:r>
              <a:rPr lang="en-US" sz="1200" b="1" i="1" dirty="0" smtClean="0">
                <a:solidFill>
                  <a:schemeClr val="accent3">
                    <a:lumMod val="75000"/>
                  </a:schemeClr>
                </a:solidFill>
              </a:rPr>
              <a:t>4</a:t>
            </a:r>
            <a:endParaRPr lang="en-US" sz="1200" b="1" i="1" dirty="0">
              <a:solidFill>
                <a:schemeClr val="accent3">
                  <a:lumMod val="75000"/>
                </a:schemeClr>
              </a:solidFill>
            </a:endParaRPr>
          </a:p>
        </p:txBody>
      </p:sp>
      <p:sp>
        <p:nvSpPr>
          <p:cNvPr id="10" name="TextBox 9"/>
          <p:cNvSpPr txBox="1"/>
          <p:nvPr/>
        </p:nvSpPr>
        <p:spPr>
          <a:xfrm>
            <a:off x="6370867" y="2523478"/>
            <a:ext cx="263214" cy="276999"/>
          </a:xfrm>
          <a:prstGeom prst="rect">
            <a:avLst/>
          </a:prstGeom>
          <a:noFill/>
        </p:spPr>
        <p:txBody>
          <a:bodyPr wrap="none" rtlCol="0">
            <a:spAutoFit/>
          </a:bodyPr>
          <a:lstStyle/>
          <a:p>
            <a:r>
              <a:rPr lang="en-US" sz="1200" b="1" i="1" dirty="0" smtClean="0">
                <a:solidFill>
                  <a:schemeClr val="accent3">
                    <a:lumMod val="75000"/>
                  </a:schemeClr>
                </a:solidFill>
              </a:rPr>
              <a:t>7</a:t>
            </a:r>
            <a:endParaRPr lang="en-US" sz="1200" b="1" i="1" dirty="0">
              <a:solidFill>
                <a:schemeClr val="accent3">
                  <a:lumMod val="75000"/>
                </a:schemeClr>
              </a:solidFill>
            </a:endParaRPr>
          </a:p>
        </p:txBody>
      </p:sp>
      <p:sp>
        <p:nvSpPr>
          <p:cNvPr id="11" name="TextBox 10"/>
          <p:cNvSpPr txBox="1"/>
          <p:nvPr/>
        </p:nvSpPr>
        <p:spPr>
          <a:xfrm>
            <a:off x="7741569" y="2286000"/>
            <a:ext cx="263214" cy="276999"/>
          </a:xfrm>
          <a:prstGeom prst="rect">
            <a:avLst/>
          </a:prstGeom>
          <a:noFill/>
        </p:spPr>
        <p:txBody>
          <a:bodyPr wrap="none" rtlCol="0">
            <a:spAutoFit/>
          </a:bodyPr>
          <a:lstStyle/>
          <a:p>
            <a:r>
              <a:rPr lang="en-US" sz="1200" b="1" i="1" dirty="0" smtClean="0">
                <a:solidFill>
                  <a:schemeClr val="accent3">
                    <a:lumMod val="75000"/>
                  </a:schemeClr>
                </a:solidFill>
              </a:rPr>
              <a:t>8</a:t>
            </a:r>
            <a:endParaRPr lang="en-US" sz="1200" b="1" i="1" dirty="0">
              <a:solidFill>
                <a:schemeClr val="accent3">
                  <a:lumMod val="75000"/>
                </a:schemeClr>
              </a:solidFill>
            </a:endParaRPr>
          </a:p>
        </p:txBody>
      </p:sp>
      <p:cxnSp>
        <p:nvCxnSpPr>
          <p:cNvPr id="13" name="Straight Arrow Connector 12"/>
          <p:cNvCxnSpPr>
            <a:stCxn id="6" idx="2"/>
            <a:endCxn id="44" idx="0"/>
          </p:cNvCxnSpPr>
          <p:nvPr/>
        </p:nvCxnSpPr>
        <p:spPr>
          <a:xfrm rot="5400000">
            <a:off x="3050735" y="3080765"/>
            <a:ext cx="1157816" cy="1056774"/>
          </a:xfrm>
          <a:prstGeom prst="straightConnector1">
            <a:avLst/>
          </a:prstGeom>
          <a:ln>
            <a:headEnd type="arrow"/>
            <a:tailEnd type="arrow"/>
          </a:ln>
        </p:spPr>
        <p:style>
          <a:lnRef idx="3">
            <a:schemeClr val="accent1"/>
          </a:lnRef>
          <a:fillRef idx="0">
            <a:schemeClr val="accent1"/>
          </a:fillRef>
          <a:effectRef idx="2">
            <a:schemeClr val="accent1"/>
          </a:effectRef>
          <a:fontRef idx="minor">
            <a:schemeClr val="tx1"/>
          </a:fontRef>
        </p:style>
      </p:cxnSp>
      <p:cxnSp>
        <p:nvCxnSpPr>
          <p:cNvPr id="17" name="Straight Arrow Connector 16"/>
          <p:cNvCxnSpPr>
            <a:stCxn id="6" idx="2"/>
            <a:endCxn id="50" idx="0"/>
          </p:cNvCxnSpPr>
          <p:nvPr/>
        </p:nvCxnSpPr>
        <p:spPr>
          <a:xfrm rot="16200000" flipH="1">
            <a:off x="3832145" y="3356129"/>
            <a:ext cx="1142001" cy="49023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9" name="Straight Arrow Connector 18"/>
          <p:cNvCxnSpPr>
            <a:stCxn id="54" idx="0"/>
            <a:endCxn id="9" idx="2"/>
          </p:cNvCxnSpPr>
          <p:nvPr/>
        </p:nvCxnSpPr>
        <p:spPr>
          <a:xfrm rot="5400000" flipH="1" flipV="1">
            <a:off x="4554445" y="3584135"/>
            <a:ext cx="1142001" cy="3422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2" name="Straight Arrow Connector 21"/>
          <p:cNvCxnSpPr>
            <a:stCxn id="7" idx="2"/>
            <a:endCxn id="44" idx="0"/>
          </p:cNvCxnSpPr>
          <p:nvPr/>
        </p:nvCxnSpPr>
        <p:spPr>
          <a:xfrm rot="5400000">
            <a:off x="3634520" y="2267213"/>
            <a:ext cx="1387583" cy="2454110"/>
          </a:xfrm>
          <a:prstGeom prst="straightConnector1">
            <a:avLst/>
          </a:prstGeom>
          <a:ln>
            <a:headEnd type="arrow"/>
            <a:tailEnd type="arrow"/>
          </a:ln>
        </p:spPr>
        <p:style>
          <a:lnRef idx="3">
            <a:schemeClr val="accent1"/>
          </a:lnRef>
          <a:fillRef idx="0">
            <a:schemeClr val="accent1"/>
          </a:fillRef>
          <a:effectRef idx="2">
            <a:schemeClr val="accent1"/>
          </a:effectRef>
          <a:fontRef idx="minor">
            <a:schemeClr val="tx1"/>
          </a:fontRef>
        </p:style>
      </p:cxnSp>
      <p:cxnSp>
        <p:nvCxnSpPr>
          <p:cNvPr id="23" name="Straight Arrow Connector 22"/>
          <p:cNvCxnSpPr>
            <a:stCxn id="7" idx="2"/>
            <a:endCxn id="50" idx="0"/>
          </p:cNvCxnSpPr>
          <p:nvPr/>
        </p:nvCxnSpPr>
        <p:spPr>
          <a:xfrm rot="5400000">
            <a:off x="4415929" y="3032808"/>
            <a:ext cx="1371768" cy="90710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8" name="Straight Arrow Connector 27"/>
          <p:cNvCxnSpPr>
            <a:stCxn id="54" idx="0"/>
            <a:endCxn id="10" idx="2"/>
          </p:cNvCxnSpPr>
          <p:nvPr/>
        </p:nvCxnSpPr>
        <p:spPr>
          <a:xfrm rot="5400000" flipH="1" flipV="1">
            <a:off x="5119520" y="2789292"/>
            <a:ext cx="1371768" cy="1394139"/>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1" name="Straight Arrow Connector 30"/>
          <p:cNvCxnSpPr>
            <a:stCxn id="8" idx="2"/>
            <a:endCxn id="44" idx="0"/>
          </p:cNvCxnSpPr>
          <p:nvPr/>
        </p:nvCxnSpPr>
        <p:spPr>
          <a:xfrm rot="5400000">
            <a:off x="4208608" y="1455647"/>
            <a:ext cx="1625061" cy="3839764"/>
          </a:xfrm>
          <a:prstGeom prst="straightConnector1">
            <a:avLst/>
          </a:prstGeom>
          <a:ln>
            <a:headEnd type="arrow"/>
            <a:tailEnd type="arrow"/>
          </a:ln>
        </p:spPr>
        <p:style>
          <a:lnRef idx="3">
            <a:schemeClr val="accent1"/>
          </a:lnRef>
          <a:fillRef idx="0">
            <a:schemeClr val="accent1"/>
          </a:fillRef>
          <a:effectRef idx="2">
            <a:schemeClr val="accent1"/>
          </a:effectRef>
          <a:fontRef idx="minor">
            <a:schemeClr val="tx1"/>
          </a:fontRef>
        </p:style>
      </p:cxnSp>
      <p:cxnSp>
        <p:nvCxnSpPr>
          <p:cNvPr id="32" name="Straight Arrow Connector 31"/>
          <p:cNvCxnSpPr>
            <a:stCxn id="8" idx="2"/>
            <a:endCxn id="50" idx="0"/>
          </p:cNvCxnSpPr>
          <p:nvPr/>
        </p:nvCxnSpPr>
        <p:spPr>
          <a:xfrm rot="5400000">
            <a:off x="4990017" y="2221242"/>
            <a:ext cx="1609246" cy="229276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40" name="Straight Arrow Connector 39"/>
          <p:cNvCxnSpPr>
            <a:stCxn id="54" idx="0"/>
            <a:endCxn id="11" idx="2"/>
          </p:cNvCxnSpPr>
          <p:nvPr/>
        </p:nvCxnSpPr>
        <p:spPr>
          <a:xfrm rot="5400000" flipH="1" flipV="1">
            <a:off x="5686132" y="1985202"/>
            <a:ext cx="1609246" cy="276484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44" name="Rectangle 43"/>
          <p:cNvSpPr/>
          <p:nvPr/>
        </p:nvSpPr>
        <p:spPr>
          <a:xfrm>
            <a:off x="2910756" y="4188060"/>
            <a:ext cx="3810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4457760" y="4172245"/>
            <a:ext cx="3810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4917835" y="4172245"/>
            <a:ext cx="3810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p:cNvCxnSpPr>
            <a:endCxn id="60" idx="1"/>
          </p:cNvCxnSpPr>
          <p:nvPr/>
        </p:nvCxnSpPr>
        <p:spPr>
          <a:xfrm flipV="1">
            <a:off x="7998871" y="2823253"/>
            <a:ext cx="284704"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8283575" y="2684753"/>
            <a:ext cx="497059" cy="276999"/>
          </a:xfrm>
          <a:prstGeom prst="rect">
            <a:avLst/>
          </a:prstGeom>
          <a:noFill/>
        </p:spPr>
        <p:txBody>
          <a:bodyPr wrap="none" rtlCol="0">
            <a:spAutoFit/>
          </a:bodyPr>
          <a:lstStyle/>
          <a:p>
            <a:r>
              <a:rPr lang="en-US" sz="1200" b="1" i="1" dirty="0" smtClean="0"/>
              <a:t>Data</a:t>
            </a:r>
            <a:endParaRPr lang="en-US" sz="1200" b="1" i="1" dirty="0"/>
          </a:p>
        </p:txBody>
      </p:sp>
      <p:pic>
        <p:nvPicPr>
          <p:cNvPr id="62" name="Picture 4"/>
          <p:cNvPicPr>
            <a:picLocks noChangeAspect="1" noChangeArrowheads="1"/>
          </p:cNvPicPr>
          <p:nvPr/>
        </p:nvPicPr>
        <p:blipFill>
          <a:blip r:embed="rId3" cstate="print"/>
          <a:srcRect/>
          <a:stretch>
            <a:fillRect/>
          </a:stretch>
        </p:blipFill>
        <p:spPr bwMode="auto">
          <a:xfrm>
            <a:off x="101485" y="5029054"/>
            <a:ext cx="3860915" cy="1447946"/>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up)">
                                      <p:cBhvr>
                                        <p:cTn id="10" dur="500"/>
                                        <p:tgtEl>
                                          <p:spTgt spid="17"/>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ipe(down)">
                                      <p:cBhvr>
                                        <p:cTn id="14" dur="500"/>
                                        <p:tgtEl>
                                          <p:spTgt spid="19"/>
                                        </p:tgtEl>
                                      </p:cBhvr>
                                    </p:animEffect>
                                  </p:childTnLst>
                                </p:cTn>
                              </p:par>
                            </p:childTnLst>
                          </p:cTn>
                        </p:par>
                        <p:par>
                          <p:cTn id="15" fill="hold">
                            <p:stCondLst>
                              <p:cond delay="1000"/>
                            </p:stCondLst>
                            <p:childTnLst>
                              <p:par>
                                <p:cTn id="16" presetID="12" presetClass="entr" presetSubtype="4"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slide(fromBottom)">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xit" presetSubtype="0" fill="hold" nodeType="withEffect">
                                  <p:stCondLst>
                                    <p:cond delay="0"/>
                                  </p:stCondLst>
                                  <p:childTnLst>
                                    <p:animEffect transition="out" filter="fade">
                                      <p:cBhvr>
                                        <p:cTn id="25" dur="500"/>
                                        <p:tgtEl>
                                          <p:spTgt spid="13"/>
                                        </p:tgtEl>
                                      </p:cBhvr>
                                    </p:animEffect>
                                    <p:set>
                                      <p:cBhvr>
                                        <p:cTn id="26" dur="1" fill="hold">
                                          <p:stCondLst>
                                            <p:cond delay="499"/>
                                          </p:stCondLst>
                                        </p:cTn>
                                        <p:tgtEl>
                                          <p:spTgt spid="13"/>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17"/>
                                        </p:tgtEl>
                                      </p:cBhvr>
                                    </p:animEffect>
                                    <p:set>
                                      <p:cBhvr>
                                        <p:cTn id="29" dur="1" fill="hold">
                                          <p:stCondLst>
                                            <p:cond delay="499"/>
                                          </p:stCondLst>
                                        </p:cTn>
                                        <p:tgtEl>
                                          <p:spTgt spid="17"/>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19"/>
                                        </p:tgtEl>
                                      </p:cBhvr>
                                    </p:animEffect>
                                    <p:set>
                                      <p:cBhvr>
                                        <p:cTn id="32" dur="1" fill="hold">
                                          <p:stCondLst>
                                            <p:cond delay="499"/>
                                          </p:stCondLst>
                                        </p:cTn>
                                        <p:tgtEl>
                                          <p:spTgt spid="1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up)">
                                      <p:cBhvr>
                                        <p:cTn id="37" dur="500"/>
                                        <p:tgtEl>
                                          <p:spTgt spid="22"/>
                                        </p:tgtEl>
                                      </p:cBhvr>
                                    </p:animEffect>
                                  </p:childTnLst>
                                </p:cTn>
                              </p:par>
                              <p:par>
                                <p:cTn id="38" presetID="22" presetClass="entr" presetSubtype="1"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up)">
                                      <p:cBhvr>
                                        <p:cTn id="40" dur="500"/>
                                        <p:tgtEl>
                                          <p:spTgt spid="23"/>
                                        </p:tgtEl>
                                      </p:cBhvr>
                                    </p:animEffect>
                                  </p:childTnLst>
                                </p:cTn>
                              </p:par>
                            </p:childTnLst>
                          </p:cTn>
                        </p:par>
                        <p:par>
                          <p:cTn id="41" fill="hold">
                            <p:stCondLst>
                              <p:cond delay="500"/>
                            </p:stCondLst>
                            <p:childTnLst>
                              <p:par>
                                <p:cTn id="42" presetID="22" presetClass="entr" presetSubtype="4" fill="hold" nodeType="after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wipe(down)">
                                      <p:cBhvr>
                                        <p:cTn id="44" dur="500"/>
                                        <p:tgtEl>
                                          <p:spTgt spid="28"/>
                                        </p:tgtEl>
                                      </p:cBhvr>
                                    </p:animEffect>
                                  </p:childTnLst>
                                </p:cTn>
                              </p:par>
                            </p:childTnLst>
                          </p:cTn>
                        </p:par>
                        <p:par>
                          <p:cTn id="45" fill="hold">
                            <p:stCondLst>
                              <p:cond delay="1000"/>
                            </p:stCondLst>
                            <p:childTnLst>
                              <p:par>
                                <p:cTn id="46" presetID="12" presetClass="entr" presetSubtype="4"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slide(fromBottom)">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500"/>
                                        <p:tgtEl>
                                          <p:spTgt spid="8"/>
                                        </p:tgtEl>
                                      </p:cBhvr>
                                    </p:animEffect>
                                  </p:childTnLst>
                                </p:cTn>
                              </p:par>
                              <p:par>
                                <p:cTn id="54" presetID="10" presetClass="exit" presetSubtype="0" fill="hold" nodeType="withEffect">
                                  <p:stCondLst>
                                    <p:cond delay="0"/>
                                  </p:stCondLst>
                                  <p:childTnLst>
                                    <p:animEffect transition="out" filter="fade">
                                      <p:cBhvr>
                                        <p:cTn id="55" dur="500"/>
                                        <p:tgtEl>
                                          <p:spTgt spid="22"/>
                                        </p:tgtEl>
                                      </p:cBhvr>
                                    </p:animEffect>
                                    <p:set>
                                      <p:cBhvr>
                                        <p:cTn id="56" dur="1" fill="hold">
                                          <p:stCondLst>
                                            <p:cond delay="499"/>
                                          </p:stCondLst>
                                        </p:cTn>
                                        <p:tgtEl>
                                          <p:spTgt spid="22"/>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500"/>
                                        <p:tgtEl>
                                          <p:spTgt spid="23"/>
                                        </p:tgtEl>
                                      </p:cBhvr>
                                    </p:animEffect>
                                    <p:set>
                                      <p:cBhvr>
                                        <p:cTn id="59" dur="1" fill="hold">
                                          <p:stCondLst>
                                            <p:cond delay="499"/>
                                          </p:stCondLst>
                                        </p:cTn>
                                        <p:tgtEl>
                                          <p:spTgt spid="23"/>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500"/>
                                        <p:tgtEl>
                                          <p:spTgt spid="28"/>
                                        </p:tgtEl>
                                      </p:cBhvr>
                                    </p:animEffect>
                                    <p:set>
                                      <p:cBhvr>
                                        <p:cTn id="62" dur="1" fill="hold">
                                          <p:stCondLst>
                                            <p:cond delay="499"/>
                                          </p:stCondLst>
                                        </p:cTn>
                                        <p:tgtEl>
                                          <p:spTgt spid="2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up)">
                                      <p:cBhvr>
                                        <p:cTn id="67" dur="500"/>
                                        <p:tgtEl>
                                          <p:spTgt spid="31"/>
                                        </p:tgtEl>
                                      </p:cBhvr>
                                    </p:animEffect>
                                  </p:childTnLst>
                                </p:cTn>
                              </p:par>
                              <p:par>
                                <p:cTn id="68" presetID="22" presetClass="entr" presetSubtype="1" fill="hold"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wipe(up)">
                                      <p:cBhvr>
                                        <p:cTn id="70" dur="500"/>
                                        <p:tgtEl>
                                          <p:spTgt spid="32"/>
                                        </p:tgtEl>
                                      </p:cBhvr>
                                    </p:animEffect>
                                  </p:childTnLst>
                                </p:cTn>
                              </p:par>
                            </p:childTnLst>
                          </p:cTn>
                        </p:par>
                        <p:par>
                          <p:cTn id="71" fill="hold">
                            <p:stCondLst>
                              <p:cond delay="500"/>
                            </p:stCondLst>
                            <p:childTnLst>
                              <p:par>
                                <p:cTn id="72" presetID="22" presetClass="entr" presetSubtype="4" fill="hold" nodeType="after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wipe(down)">
                                      <p:cBhvr>
                                        <p:cTn id="74" dur="500"/>
                                        <p:tgtEl>
                                          <p:spTgt spid="40"/>
                                        </p:tgtEl>
                                      </p:cBhvr>
                                    </p:animEffect>
                                  </p:childTnLst>
                                </p:cTn>
                              </p:par>
                            </p:childTnLst>
                          </p:cTn>
                        </p:par>
                        <p:par>
                          <p:cTn id="75" fill="hold">
                            <p:stCondLst>
                              <p:cond delay="1000"/>
                            </p:stCondLst>
                            <p:childTnLst>
                              <p:par>
                                <p:cTn id="76" presetID="12" presetClass="entr" presetSubtype="4" fill="hold" nodeType="after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slide(fromBottom)">
                                      <p:cBhvr>
                                        <p:cTn id="78" dur="500"/>
                                        <p:tgtEl>
                                          <p:spTgt spid="11"/>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60"/>
                                        </p:tgtEl>
                                        <p:attrNameLst>
                                          <p:attrName>style.visibility</p:attrName>
                                        </p:attrNameLst>
                                      </p:cBhvr>
                                      <p:to>
                                        <p:strVal val="visible"/>
                                      </p:to>
                                    </p:set>
                                    <p:animEffect transition="in" filter="fade">
                                      <p:cBhvr>
                                        <p:cTn id="83" dur="500"/>
                                        <p:tgtEl>
                                          <p:spTgt spid="60"/>
                                        </p:tgtEl>
                                      </p:cBhvr>
                                    </p:animEffect>
                                  </p:childTnLst>
                                </p:cTn>
                              </p:par>
                              <p:par>
                                <p:cTn id="84" presetID="10" presetClass="entr" presetSubtype="0" fill="hold" nodeType="withEffect">
                                  <p:stCondLst>
                                    <p:cond delay="0"/>
                                  </p:stCondLst>
                                  <p:childTnLst>
                                    <p:set>
                                      <p:cBhvr>
                                        <p:cTn id="85" dur="1" fill="hold">
                                          <p:stCondLst>
                                            <p:cond delay="0"/>
                                          </p:stCondLst>
                                        </p:cTn>
                                        <p:tgtEl>
                                          <p:spTgt spid="59"/>
                                        </p:tgtEl>
                                        <p:attrNameLst>
                                          <p:attrName>style.visibility</p:attrName>
                                        </p:attrNameLst>
                                      </p:cBhvr>
                                      <p:to>
                                        <p:strVal val="visible"/>
                                      </p:to>
                                    </p:set>
                                    <p:animEffect transition="in" filter="fade">
                                      <p:cBhvr>
                                        <p:cTn id="86" dur="500"/>
                                        <p:tgtEl>
                                          <p:spTgt spid="59"/>
                                        </p:tgtEl>
                                      </p:cBhvr>
                                    </p:animEffect>
                                  </p:childTnLst>
                                </p:cTn>
                              </p:par>
                              <p:par>
                                <p:cTn id="87" presetID="10" presetClass="exit" presetSubtype="0" fill="hold" nodeType="withEffect">
                                  <p:stCondLst>
                                    <p:cond delay="0"/>
                                  </p:stCondLst>
                                  <p:childTnLst>
                                    <p:animEffect transition="out" filter="fade">
                                      <p:cBhvr>
                                        <p:cTn id="88" dur="500"/>
                                        <p:tgtEl>
                                          <p:spTgt spid="40"/>
                                        </p:tgtEl>
                                      </p:cBhvr>
                                    </p:animEffect>
                                    <p:set>
                                      <p:cBhvr>
                                        <p:cTn id="89" dur="1" fill="hold">
                                          <p:stCondLst>
                                            <p:cond delay="499"/>
                                          </p:stCondLst>
                                        </p:cTn>
                                        <p:tgtEl>
                                          <p:spTgt spid="40"/>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500"/>
                                        <p:tgtEl>
                                          <p:spTgt spid="31"/>
                                        </p:tgtEl>
                                      </p:cBhvr>
                                    </p:animEffect>
                                    <p:set>
                                      <p:cBhvr>
                                        <p:cTn id="92" dur="1" fill="hold">
                                          <p:stCondLst>
                                            <p:cond delay="499"/>
                                          </p:stCondLst>
                                        </p:cTn>
                                        <p:tgtEl>
                                          <p:spTgt spid="31"/>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500"/>
                                        <p:tgtEl>
                                          <p:spTgt spid="32"/>
                                        </p:tgtEl>
                                      </p:cBhvr>
                                    </p:animEffect>
                                    <p:set>
                                      <p:cBhvr>
                                        <p:cTn id="95"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6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Virtualization Summary</a:t>
            </a:r>
            <a:endParaRPr lang="en-US" dirty="0"/>
          </a:p>
        </p:txBody>
      </p:sp>
      <p:sp>
        <p:nvSpPr>
          <p:cNvPr id="3" name="Content Placeholder 2"/>
          <p:cNvSpPr>
            <a:spLocks noGrp="1"/>
          </p:cNvSpPr>
          <p:nvPr>
            <p:ph idx="1"/>
          </p:nvPr>
        </p:nvSpPr>
        <p:spPr/>
        <p:txBody>
          <a:bodyPr/>
          <a:lstStyle/>
          <a:p>
            <a:r>
              <a:rPr lang="en-US" dirty="0" smtClean="0"/>
              <a:t>Software implementation</a:t>
            </a:r>
          </a:p>
          <a:p>
            <a:pPr lvl="1"/>
            <a:r>
              <a:rPr lang="en-US" dirty="0" smtClean="0"/>
              <a:t>Memory architecture</a:t>
            </a:r>
          </a:p>
          <a:p>
            <a:pPr lvl="2"/>
            <a:r>
              <a:rPr lang="en-US" dirty="0" smtClean="0"/>
              <a:t>MMU (memory management unit)</a:t>
            </a:r>
          </a:p>
          <a:p>
            <a:pPr lvl="2"/>
            <a:r>
              <a:rPr lang="en-US" dirty="0" smtClean="0"/>
              <a:t>TLB (translation </a:t>
            </a:r>
            <a:r>
              <a:rPr lang="en-US" dirty="0" err="1" smtClean="0"/>
              <a:t>lookaside</a:t>
            </a:r>
            <a:r>
              <a:rPr lang="en-US" dirty="0" smtClean="0"/>
              <a:t> buffer)</a:t>
            </a:r>
          </a:p>
          <a:p>
            <a:pPr lvl="1"/>
            <a:r>
              <a:rPr lang="en-US" dirty="0" smtClean="0"/>
              <a:t>Shadow page table</a:t>
            </a:r>
          </a:p>
          <a:p>
            <a:pPr lvl="2"/>
            <a:r>
              <a:rPr lang="en-US" dirty="0" smtClean="0"/>
              <a:t>MMU virtualization by virtual PTBR</a:t>
            </a:r>
          </a:p>
          <a:p>
            <a:pPr lvl="2"/>
            <a:r>
              <a:rPr lang="en-US" dirty="0" smtClean="0"/>
              <a:t>Shadow page table construction</a:t>
            </a:r>
          </a:p>
          <a:p>
            <a:pPr lvl="2"/>
            <a:r>
              <a:rPr lang="en-US" dirty="0" smtClean="0"/>
              <a:t>Page fault and page table protection</a:t>
            </a:r>
            <a:br>
              <a:rPr lang="en-US" dirty="0" smtClean="0"/>
            </a:br>
            <a:endParaRPr lang="en-US" dirty="0" smtClean="0"/>
          </a:p>
          <a:p>
            <a:r>
              <a:rPr lang="en-US" dirty="0" smtClean="0"/>
              <a:t>Hardware assistance</a:t>
            </a:r>
          </a:p>
          <a:p>
            <a:pPr lvl="1"/>
            <a:r>
              <a:rPr lang="en-US" dirty="0" smtClean="0"/>
              <a:t>Extended page table</a:t>
            </a:r>
          </a:p>
          <a:p>
            <a:pPr lvl="2"/>
            <a:r>
              <a:rPr lang="en-US" dirty="0" smtClean="0"/>
              <a:t>Hardware walk guest and host page table simultaneously</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Virtualization</a:t>
            </a:r>
            <a:endParaRPr lang="en-US" dirty="0"/>
          </a:p>
        </p:txBody>
      </p:sp>
      <p:sp>
        <p:nvSpPr>
          <p:cNvPr id="3" name="Text Placeholder 2"/>
          <p:cNvSpPr>
            <a:spLocks noGrp="1"/>
          </p:cNvSpPr>
          <p:nvPr>
            <p:ph type="body" idx="1"/>
          </p:nvPr>
        </p:nvSpPr>
        <p:spPr/>
        <p:txBody>
          <a:bodyPr/>
          <a:lstStyle/>
          <a:p>
            <a:r>
              <a:rPr lang="en-US" dirty="0" smtClean="0">
                <a:solidFill>
                  <a:srgbClr val="C00000"/>
                </a:solidFill>
              </a:rPr>
              <a:t>Overview</a:t>
            </a:r>
          </a:p>
          <a:p>
            <a:r>
              <a:rPr lang="en-US" dirty="0" smtClean="0"/>
              <a:t>Device Model</a:t>
            </a:r>
          </a:p>
          <a:p>
            <a:r>
              <a:rPr lang="en-US" dirty="0" smtClean="0"/>
              <a:t>Hardware Assistance</a:t>
            </a:r>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Virtualization</a:t>
            </a:r>
            <a:endParaRPr lang="en-US" dirty="0"/>
          </a:p>
        </p:txBody>
      </p:sp>
      <p:sp>
        <p:nvSpPr>
          <p:cNvPr id="3" name="Content Placeholder 2"/>
          <p:cNvSpPr>
            <a:spLocks noGrp="1"/>
          </p:cNvSpPr>
          <p:nvPr>
            <p:ph idx="1"/>
          </p:nvPr>
        </p:nvSpPr>
        <p:spPr>
          <a:xfrm>
            <a:off x="457200" y="1371600"/>
            <a:ext cx="8229600" cy="5334000"/>
          </a:xfrm>
        </p:spPr>
        <p:txBody>
          <a:bodyPr>
            <a:noAutofit/>
          </a:bodyPr>
          <a:lstStyle/>
          <a:p>
            <a:r>
              <a:rPr lang="en-US" dirty="0" smtClean="0"/>
              <a:t>Goal :</a:t>
            </a:r>
          </a:p>
          <a:p>
            <a:pPr lvl="1"/>
            <a:r>
              <a:rPr lang="en-US" dirty="0" smtClean="0"/>
              <a:t>Share or create IO devices for virtual machines.</a:t>
            </a:r>
            <a:br>
              <a:rPr lang="en-US" dirty="0" smtClean="0"/>
            </a:br>
            <a:endParaRPr lang="en-US" dirty="0" smtClean="0"/>
          </a:p>
          <a:p>
            <a:r>
              <a:rPr lang="en-US" dirty="0" smtClean="0"/>
              <a:t>Two types of IO subsystem architecture :</a:t>
            </a:r>
          </a:p>
          <a:p>
            <a:pPr lvl="1"/>
            <a:r>
              <a:rPr lang="en-US" dirty="0" smtClean="0"/>
              <a:t>Port Mapped IO</a:t>
            </a:r>
          </a:p>
          <a:p>
            <a:pPr lvl="2"/>
            <a:r>
              <a:rPr lang="en-US" dirty="0" smtClean="0"/>
              <a:t>Port-mapped IO uses a special class of CPU instructions specifically for performing IO.</a:t>
            </a:r>
          </a:p>
          <a:p>
            <a:pPr lvl="1"/>
            <a:r>
              <a:rPr lang="en-US" dirty="0" smtClean="0"/>
              <a:t>Memory Mapped IO (MMIO)</a:t>
            </a:r>
          </a:p>
          <a:p>
            <a:pPr lvl="2"/>
            <a:r>
              <a:rPr lang="en-US" dirty="0" smtClean="0"/>
              <a:t>Memory Mapped IO uses the same address bus to address both memory and IO devices, and the CPU instructions used to access the memory are also used for accessing devices.</a:t>
            </a:r>
            <a:br>
              <a:rPr lang="en-US" dirty="0" smtClean="0"/>
            </a:br>
            <a:endParaRPr lang="en-US" dirty="0" smtClean="0"/>
          </a:p>
          <a:p>
            <a:r>
              <a:rPr lang="en-US" dirty="0" smtClean="0"/>
              <a:t>Traditional IO techniques :</a:t>
            </a:r>
          </a:p>
          <a:p>
            <a:pPr lvl="1"/>
            <a:r>
              <a:rPr lang="en-US" dirty="0" smtClean="0"/>
              <a:t>Direct memory Access (DMA)</a:t>
            </a:r>
          </a:p>
          <a:p>
            <a:pPr lvl="1"/>
            <a:r>
              <a:rPr lang="en-US" dirty="0" smtClean="0"/>
              <a:t>PCI / PCI Express</a:t>
            </a:r>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 Mapped IO</a:t>
            </a:r>
            <a:endParaRPr lang="en-US" dirty="0"/>
          </a:p>
        </p:txBody>
      </p:sp>
      <p:sp>
        <p:nvSpPr>
          <p:cNvPr id="3" name="Content Placeholder 2"/>
          <p:cNvSpPr>
            <a:spLocks noGrp="1"/>
          </p:cNvSpPr>
          <p:nvPr>
            <p:ph idx="1"/>
          </p:nvPr>
        </p:nvSpPr>
        <p:spPr>
          <a:xfrm>
            <a:off x="457200" y="1371600"/>
            <a:ext cx="8229600" cy="5257800"/>
          </a:xfrm>
        </p:spPr>
        <p:txBody>
          <a:bodyPr/>
          <a:lstStyle/>
          <a:p>
            <a:r>
              <a:rPr lang="en-US" dirty="0" smtClean="0"/>
              <a:t>IO devices are mapped into a separate address space</a:t>
            </a:r>
          </a:p>
          <a:p>
            <a:pPr lvl="1"/>
            <a:r>
              <a:rPr lang="en-US" dirty="0" smtClean="0"/>
              <a:t>IO devices have a separate address space from general memory, either accomplished by an extra “IO" pin on the CPU's physical interface, or an entire bus dedicated to IO.</a:t>
            </a:r>
          </a:p>
          <a:p>
            <a:pPr lvl="1"/>
            <a:r>
              <a:rPr lang="en-US" dirty="0" smtClean="0"/>
              <a:t>Generally found on Intel microprocessors, specifically the </a:t>
            </a:r>
            <a:r>
              <a:rPr lang="en-US" sz="1800" b="1" dirty="0" smtClean="0">
                <a:latin typeface="Consolas" pitchFamily="49" charset="0"/>
                <a:cs typeface="Consolas" pitchFamily="49" charset="0"/>
              </a:rPr>
              <a:t>IN</a:t>
            </a:r>
            <a:r>
              <a:rPr lang="en-US" dirty="0" smtClean="0"/>
              <a:t> and </a:t>
            </a:r>
            <a:r>
              <a:rPr lang="en-US" sz="1800" b="1" dirty="0" smtClean="0">
                <a:latin typeface="Consolas" pitchFamily="49" charset="0"/>
                <a:cs typeface="Consolas" pitchFamily="49" charset="0"/>
              </a:rPr>
              <a:t>OUT</a:t>
            </a:r>
            <a:r>
              <a:rPr lang="en-US" dirty="0" smtClean="0"/>
              <a:t> instructions which can read and write one to four bytes (</a:t>
            </a:r>
            <a:r>
              <a:rPr lang="en-US" sz="1800" b="1" dirty="0" err="1" smtClean="0">
                <a:latin typeface="Consolas" pitchFamily="49" charset="0"/>
                <a:cs typeface="Consolas" pitchFamily="49" charset="0"/>
              </a:rPr>
              <a:t>outb</a:t>
            </a:r>
            <a:r>
              <a:rPr lang="en-US" dirty="0" smtClean="0"/>
              <a:t>, </a:t>
            </a:r>
            <a:r>
              <a:rPr lang="en-US" sz="1800" b="1" dirty="0" err="1" smtClean="0">
                <a:latin typeface="Consolas" pitchFamily="49" charset="0"/>
                <a:cs typeface="Consolas" pitchFamily="49" charset="0"/>
              </a:rPr>
              <a:t>outw</a:t>
            </a:r>
            <a:r>
              <a:rPr lang="en-US" dirty="0" smtClean="0"/>
              <a:t>, </a:t>
            </a:r>
            <a:r>
              <a:rPr lang="en-US" sz="1800" b="1" dirty="0" err="1" smtClean="0">
                <a:latin typeface="Consolas" pitchFamily="49" charset="0"/>
                <a:cs typeface="Consolas" pitchFamily="49" charset="0"/>
              </a:rPr>
              <a:t>outl</a:t>
            </a:r>
            <a:r>
              <a:rPr lang="en-US" dirty="0" smtClean="0"/>
              <a:t>) to an IO device.</a:t>
            </a:r>
          </a:p>
          <a:p>
            <a:r>
              <a:rPr lang="en-US" dirty="0" smtClean="0"/>
              <a:t>Pros &amp; Cons</a:t>
            </a:r>
          </a:p>
          <a:p>
            <a:pPr lvl="1"/>
            <a:r>
              <a:rPr lang="en-US" dirty="0" smtClean="0"/>
              <a:t>Pros</a:t>
            </a:r>
          </a:p>
          <a:p>
            <a:pPr lvl="2"/>
            <a:r>
              <a:rPr lang="en-US" dirty="0" smtClean="0"/>
              <a:t>Less logic is needed to decode a discrete address.</a:t>
            </a:r>
          </a:p>
          <a:p>
            <a:pPr lvl="2"/>
            <a:r>
              <a:rPr lang="en-US" dirty="0" smtClean="0"/>
              <a:t>Benefits for CPUs with limited addressing capability.</a:t>
            </a:r>
          </a:p>
          <a:p>
            <a:pPr lvl="1"/>
            <a:r>
              <a:rPr lang="en-US" dirty="0" smtClean="0"/>
              <a:t>Cons</a:t>
            </a:r>
          </a:p>
          <a:p>
            <a:pPr lvl="2"/>
            <a:r>
              <a:rPr lang="en-US" dirty="0" smtClean="0"/>
              <a:t>More instructions are required to accomplish the same task.</a:t>
            </a:r>
          </a:p>
          <a:p>
            <a:pPr lvl="2"/>
            <a:r>
              <a:rPr lang="en-US" dirty="0" smtClean="0"/>
              <a:t>IO addressing space size is not flexible.</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Mapped IO</a:t>
            </a:r>
            <a:endParaRPr lang="en-US" dirty="0"/>
          </a:p>
        </p:txBody>
      </p:sp>
      <p:sp>
        <p:nvSpPr>
          <p:cNvPr id="3" name="Content Placeholder 2"/>
          <p:cNvSpPr>
            <a:spLocks noGrp="1"/>
          </p:cNvSpPr>
          <p:nvPr>
            <p:ph idx="1"/>
          </p:nvPr>
        </p:nvSpPr>
        <p:spPr>
          <a:xfrm>
            <a:off x="457200" y="1600200"/>
            <a:ext cx="8382000" cy="4525963"/>
          </a:xfrm>
        </p:spPr>
        <p:txBody>
          <a:bodyPr/>
          <a:lstStyle/>
          <a:p>
            <a:r>
              <a:rPr lang="en-US" dirty="0" smtClean="0"/>
              <a:t>IO devices are mapped into the system memory map along with RAM and ROM.</a:t>
            </a:r>
          </a:p>
          <a:p>
            <a:pPr lvl="1"/>
            <a:r>
              <a:rPr lang="en-US" dirty="0" smtClean="0"/>
              <a:t>To access a hardware device, simply read or write to those 'special' addresses using the normal memory access instructions.</a:t>
            </a:r>
            <a:br>
              <a:rPr lang="en-US" dirty="0" smtClean="0"/>
            </a:br>
            <a:endParaRPr lang="en-US" dirty="0" smtClean="0"/>
          </a:p>
          <a:p>
            <a:r>
              <a:rPr lang="en-US" dirty="0" smtClean="0"/>
              <a:t>Pros &amp; Cons</a:t>
            </a:r>
          </a:p>
          <a:p>
            <a:pPr lvl="1"/>
            <a:r>
              <a:rPr lang="en-US" dirty="0" smtClean="0"/>
              <a:t>Pros</a:t>
            </a:r>
          </a:p>
          <a:p>
            <a:pPr lvl="2"/>
            <a:r>
              <a:rPr lang="en-US" dirty="0" smtClean="0"/>
              <a:t>Instructions which can access memory can be used to operate an IO device.</a:t>
            </a:r>
          </a:p>
          <a:p>
            <a:pPr lvl="2"/>
            <a:r>
              <a:rPr lang="en-US" dirty="0" smtClean="0"/>
              <a:t>Operate on the data with fewer instructions.</a:t>
            </a:r>
          </a:p>
          <a:p>
            <a:pPr lvl="1"/>
            <a:r>
              <a:rPr lang="en-US" dirty="0" smtClean="0"/>
              <a:t>Cons</a:t>
            </a:r>
          </a:p>
          <a:p>
            <a:pPr lvl="2"/>
            <a:r>
              <a:rPr lang="en-US" dirty="0" smtClean="0"/>
              <a:t>Physical memory addressing space must be shared with IO devices.</a:t>
            </a:r>
          </a:p>
          <a:p>
            <a:pPr lvl="2"/>
            <a:r>
              <a:rPr lang="en-US" dirty="0" smtClean="0"/>
              <a:t>The entire address bus must be fully decoded for every device.</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 Memory Access</a:t>
            </a:r>
            <a:endParaRPr lang="en-US" dirty="0"/>
          </a:p>
        </p:txBody>
      </p:sp>
      <p:sp>
        <p:nvSpPr>
          <p:cNvPr id="3" name="Content Placeholder 2"/>
          <p:cNvSpPr>
            <a:spLocks noGrp="1"/>
          </p:cNvSpPr>
          <p:nvPr>
            <p:ph idx="1"/>
          </p:nvPr>
        </p:nvSpPr>
        <p:spPr/>
        <p:txBody>
          <a:bodyPr/>
          <a:lstStyle/>
          <a:p>
            <a:r>
              <a:rPr lang="en-US" dirty="0" smtClean="0"/>
              <a:t>What is DMA ?</a:t>
            </a:r>
          </a:p>
          <a:p>
            <a:pPr lvl="1"/>
            <a:r>
              <a:rPr lang="en-US" dirty="0" smtClean="0"/>
              <a:t>Allow certain hardware subsystems within the computer to access system memory for reading and/or writing independently of the central processing unit.</a:t>
            </a:r>
            <a:br>
              <a:rPr lang="en-US" dirty="0" smtClean="0"/>
            </a:br>
            <a:endParaRPr lang="en-US" dirty="0" smtClean="0"/>
          </a:p>
          <a:p>
            <a:r>
              <a:rPr lang="en-US" dirty="0" smtClean="0"/>
              <a:t>Two types of DMA :</a:t>
            </a:r>
          </a:p>
          <a:p>
            <a:pPr lvl="1"/>
            <a:r>
              <a:rPr lang="en-US" dirty="0" smtClean="0"/>
              <a:t>Synchronous DMA</a:t>
            </a:r>
          </a:p>
          <a:p>
            <a:pPr lvl="2"/>
            <a:r>
              <a:rPr lang="en-US" dirty="0" smtClean="0"/>
              <a:t>The DMA operation is caused by software.</a:t>
            </a:r>
          </a:p>
          <a:p>
            <a:pPr lvl="2"/>
            <a:r>
              <a:rPr lang="en-US" dirty="0" smtClean="0"/>
              <a:t>For example, sound card driver may trigger DMA operation to play music.</a:t>
            </a:r>
          </a:p>
          <a:p>
            <a:pPr lvl="1"/>
            <a:r>
              <a:rPr lang="en-US" dirty="0" smtClean="0"/>
              <a:t>Asynchronous DMA</a:t>
            </a:r>
          </a:p>
          <a:p>
            <a:pPr lvl="2"/>
            <a:r>
              <a:rPr lang="en-US" dirty="0" smtClean="0"/>
              <a:t>The DMA operation is caused by devices (hardware).</a:t>
            </a:r>
          </a:p>
          <a:p>
            <a:pPr lvl="2"/>
            <a:r>
              <a:rPr lang="en-US" dirty="0" smtClean="0"/>
              <a:t>For example, network card use DMA operation to load data into memory and interrupt CPU for further manipulation.</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PCI &amp; PCI Express</a:t>
            </a:r>
            <a:endParaRPr lang="en-US" dirty="0"/>
          </a:p>
        </p:txBody>
      </p:sp>
      <p:sp>
        <p:nvSpPr>
          <p:cNvPr id="3" name="Content Placeholder 2"/>
          <p:cNvSpPr>
            <a:spLocks noGrp="1"/>
          </p:cNvSpPr>
          <p:nvPr>
            <p:ph idx="1"/>
          </p:nvPr>
        </p:nvSpPr>
        <p:spPr/>
        <p:txBody>
          <a:bodyPr/>
          <a:lstStyle/>
          <a:p>
            <a:r>
              <a:rPr lang="en-US" dirty="0" smtClean="0"/>
              <a:t>What is PCI ?</a:t>
            </a:r>
          </a:p>
          <a:p>
            <a:pPr lvl="1"/>
            <a:r>
              <a:rPr lang="en-US" dirty="0" smtClean="0"/>
              <a:t>PCI (Peripheral Component Interconnect) is a computer bus for attaching hardware devices.</a:t>
            </a:r>
          </a:p>
          <a:p>
            <a:pPr lvl="1"/>
            <a:r>
              <a:rPr lang="en-US" dirty="0" smtClean="0"/>
              <a:t>Typical PCI cards used include :</a:t>
            </a:r>
          </a:p>
          <a:p>
            <a:pPr lvl="2"/>
            <a:r>
              <a:rPr lang="en-US" dirty="0" smtClean="0"/>
              <a:t>Network cards, sound cards, modems</a:t>
            </a:r>
          </a:p>
          <a:p>
            <a:pPr lvl="2"/>
            <a:r>
              <a:rPr lang="en-US" dirty="0" smtClean="0"/>
              <a:t>Extra ports such as USB or serial, TV tuner cards and disk controllers.</a:t>
            </a:r>
            <a:br>
              <a:rPr lang="en-US" dirty="0" smtClean="0"/>
            </a:br>
            <a:endParaRPr lang="en-US" dirty="0" smtClean="0"/>
          </a:p>
          <a:p>
            <a:r>
              <a:rPr lang="en-US" dirty="0" smtClean="0"/>
              <a:t>What is PCI Express ?</a:t>
            </a:r>
          </a:p>
          <a:p>
            <a:pPr lvl="1"/>
            <a:r>
              <a:rPr lang="en-US" dirty="0" err="1" smtClean="0"/>
              <a:t>PCIe</a:t>
            </a:r>
            <a:r>
              <a:rPr lang="en-US" dirty="0" smtClean="0"/>
              <a:t> is a computer expansion card standard designed to replace the older PCI, PCI-X, and AGP standards.</a:t>
            </a:r>
          </a:p>
          <a:p>
            <a:pPr lvl="1"/>
            <a:r>
              <a:rPr lang="en-US" dirty="0" smtClean="0"/>
              <a:t>Its topology is based on point-to-point serial links, rather than a shared parallel bus architecture.</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2" name="Picture 4" descr="http://clicker.sourceforge.net/docs/teacup/pcidoc/Image1.gif"/>
          <p:cNvPicPr>
            <a:picLocks noChangeAspect="1" noChangeArrowheads="1"/>
          </p:cNvPicPr>
          <p:nvPr/>
        </p:nvPicPr>
        <p:blipFill>
          <a:blip r:embed="rId2" cstate="print"/>
          <a:srcRect r="3292"/>
          <a:stretch>
            <a:fillRect/>
          </a:stretch>
        </p:blipFill>
        <p:spPr bwMode="auto">
          <a:xfrm>
            <a:off x="4667250" y="3045606"/>
            <a:ext cx="4476750" cy="3659994"/>
          </a:xfrm>
          <a:prstGeom prst="rect">
            <a:avLst/>
          </a:prstGeom>
          <a:noFill/>
        </p:spPr>
      </p:pic>
      <p:sp>
        <p:nvSpPr>
          <p:cNvPr id="2" name="Title 1"/>
          <p:cNvSpPr>
            <a:spLocks noGrp="1"/>
          </p:cNvSpPr>
          <p:nvPr>
            <p:ph type="title"/>
          </p:nvPr>
        </p:nvSpPr>
        <p:spPr/>
        <p:txBody>
          <a:bodyPr/>
          <a:lstStyle/>
          <a:p>
            <a:r>
              <a:rPr lang="en-US" dirty="0" smtClean="0"/>
              <a:t>PCI &amp; PCI Express</a:t>
            </a:r>
            <a:endParaRPr lang="en-US" dirty="0"/>
          </a:p>
        </p:txBody>
      </p:sp>
      <p:sp>
        <p:nvSpPr>
          <p:cNvPr id="3" name="Content Placeholder 2"/>
          <p:cNvSpPr>
            <a:spLocks noGrp="1"/>
          </p:cNvSpPr>
          <p:nvPr>
            <p:ph idx="1"/>
          </p:nvPr>
        </p:nvSpPr>
        <p:spPr>
          <a:xfrm>
            <a:off x="457200" y="1600201"/>
            <a:ext cx="8229600" cy="3048000"/>
          </a:xfrm>
        </p:spPr>
        <p:txBody>
          <a:bodyPr/>
          <a:lstStyle/>
          <a:p>
            <a:r>
              <a:rPr lang="en-US" dirty="0" smtClean="0"/>
              <a:t>PCI based system build in a tree topology</a:t>
            </a:r>
          </a:p>
          <a:p>
            <a:pPr lvl="1"/>
            <a:r>
              <a:rPr lang="en-US" dirty="0" smtClean="0"/>
              <a:t>PCI bus</a:t>
            </a:r>
          </a:p>
          <a:p>
            <a:pPr lvl="2"/>
            <a:r>
              <a:rPr lang="en-US" dirty="0" smtClean="0"/>
              <a:t>Parallel connect devices and bridges</a:t>
            </a:r>
          </a:p>
          <a:p>
            <a:pPr lvl="1"/>
            <a:r>
              <a:rPr lang="en-US" dirty="0" smtClean="0"/>
              <a:t>PCI-PCI Bridge</a:t>
            </a:r>
          </a:p>
          <a:p>
            <a:pPr lvl="2"/>
            <a:r>
              <a:rPr lang="en-US" dirty="0" smtClean="0"/>
              <a:t>Connect two PCI buses</a:t>
            </a:r>
          </a:p>
          <a:p>
            <a:pPr lvl="2"/>
            <a:r>
              <a:rPr lang="en-US" dirty="0" smtClean="0"/>
              <a:t>Become the root of lower bus</a:t>
            </a:r>
          </a:p>
          <a:p>
            <a:pPr lvl="1"/>
            <a:r>
              <a:rPr lang="en-US" dirty="0" smtClean="0"/>
              <a:t>PCI-ISA Bridge</a:t>
            </a:r>
          </a:p>
          <a:p>
            <a:pPr lvl="2"/>
            <a:r>
              <a:rPr lang="en-US" dirty="0" smtClean="0"/>
              <a:t>Connect to conventional ISA device</a:t>
            </a:r>
            <a:endParaRPr 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PCI &amp; PCI Express</a:t>
            </a:r>
            <a:endParaRPr lang="en-US" dirty="0"/>
          </a:p>
        </p:txBody>
      </p:sp>
      <p:sp>
        <p:nvSpPr>
          <p:cNvPr id="3" name="Content Placeholder 2"/>
          <p:cNvSpPr>
            <a:spLocks noGrp="1"/>
          </p:cNvSpPr>
          <p:nvPr>
            <p:ph idx="1"/>
          </p:nvPr>
        </p:nvSpPr>
        <p:spPr/>
        <p:txBody>
          <a:bodyPr/>
          <a:lstStyle/>
          <a:p>
            <a:r>
              <a:rPr lang="en-US" dirty="0" err="1" smtClean="0"/>
              <a:t>PCIe</a:t>
            </a:r>
            <a:r>
              <a:rPr lang="en-US" dirty="0" smtClean="0"/>
              <a:t> based system build in a point to point architecture</a:t>
            </a:r>
          </a:p>
          <a:p>
            <a:pPr lvl="1"/>
            <a:r>
              <a:rPr lang="en-US" dirty="0" smtClean="0"/>
              <a:t>Root Complex</a:t>
            </a:r>
          </a:p>
          <a:p>
            <a:pPr lvl="2"/>
            <a:r>
              <a:rPr lang="en-US" dirty="0" smtClean="0"/>
              <a:t>Similar to a host bridge in a PCI system, the root complex generates transaction requests on behalf of the processor, which is interconnected through a local bus.</a:t>
            </a:r>
          </a:p>
          <a:p>
            <a:pPr lvl="1"/>
            <a:r>
              <a:rPr lang="en-US" dirty="0" smtClean="0"/>
              <a:t>Switch</a:t>
            </a:r>
          </a:p>
          <a:p>
            <a:pPr lvl="2"/>
            <a:r>
              <a:rPr lang="en-US" dirty="0" smtClean="0"/>
              <a:t>Connect endpoint devices or other switches</a:t>
            </a:r>
          </a:p>
          <a:p>
            <a:pPr lvl="1"/>
            <a:r>
              <a:rPr lang="en-US" dirty="0" smtClean="0"/>
              <a:t>Endpoint Device</a:t>
            </a:r>
          </a:p>
          <a:p>
            <a:pPr lvl="2"/>
            <a:r>
              <a:rPr lang="en-US" dirty="0" smtClean="0"/>
              <a:t>Physical </a:t>
            </a:r>
            <a:r>
              <a:rPr lang="en-US" dirty="0" err="1" smtClean="0"/>
              <a:t>PCIe</a:t>
            </a:r>
            <a:r>
              <a:rPr lang="en-US" dirty="0" smtClean="0"/>
              <a:t> devices</a:t>
            </a:r>
          </a:p>
          <a:p>
            <a:pPr lvl="2"/>
            <a:r>
              <a:rPr lang="en-US" dirty="0" smtClean="0"/>
              <a:t>Legacy PCI devices</a:t>
            </a:r>
          </a:p>
          <a:p>
            <a:pPr lvl="1"/>
            <a:r>
              <a:rPr lang="en-US" dirty="0" smtClean="0"/>
              <a:t>PCI Express Bridge</a:t>
            </a:r>
          </a:p>
          <a:p>
            <a:pPr lvl="2"/>
            <a:r>
              <a:rPr lang="en-US" dirty="0" smtClean="0"/>
              <a:t>Connect to other legacy</a:t>
            </a:r>
            <a:br>
              <a:rPr lang="en-US" dirty="0" smtClean="0"/>
            </a:br>
            <a:r>
              <a:rPr lang="en-US" dirty="0" smtClean="0"/>
              <a:t>subsystems</a:t>
            </a:r>
          </a:p>
        </p:txBody>
      </p:sp>
      <p:pic>
        <p:nvPicPr>
          <p:cNvPr id="114690" name="Picture 2" descr="http://www.latticesemi.com/images/img23125.gif"/>
          <p:cNvPicPr>
            <a:picLocks noChangeAspect="1" noChangeArrowheads="1"/>
          </p:cNvPicPr>
          <p:nvPr/>
        </p:nvPicPr>
        <p:blipFill>
          <a:blip r:embed="rId2" cstate="print"/>
          <a:srcRect/>
          <a:stretch>
            <a:fillRect/>
          </a:stretch>
        </p:blipFill>
        <p:spPr bwMode="auto">
          <a:xfrm>
            <a:off x="4171272" y="3733800"/>
            <a:ext cx="4820328" cy="2752725"/>
          </a:xfrm>
          <a:prstGeom prst="rect">
            <a:avLst/>
          </a:prstGeom>
          <a:noFill/>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5486400" y="1371600"/>
            <a:ext cx="3414713" cy="5011737"/>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IO Virtualization</a:t>
            </a:r>
            <a:endParaRPr lang="en-US" dirty="0"/>
          </a:p>
        </p:txBody>
      </p:sp>
      <p:sp>
        <p:nvSpPr>
          <p:cNvPr id="3" name="Content Placeholder 2"/>
          <p:cNvSpPr>
            <a:spLocks noGrp="1"/>
          </p:cNvSpPr>
          <p:nvPr>
            <p:ph idx="1"/>
          </p:nvPr>
        </p:nvSpPr>
        <p:spPr>
          <a:xfrm>
            <a:off x="457200" y="1600200"/>
            <a:ext cx="4800600" cy="4525963"/>
          </a:xfrm>
        </p:spPr>
        <p:txBody>
          <a:bodyPr/>
          <a:lstStyle/>
          <a:p>
            <a:r>
              <a:rPr lang="en-US" dirty="0" smtClean="0"/>
              <a:t>Implementation Layers :</a:t>
            </a:r>
          </a:p>
          <a:p>
            <a:pPr lvl="1"/>
            <a:r>
              <a:rPr lang="en-US" dirty="0" smtClean="0"/>
              <a:t>System call</a:t>
            </a:r>
          </a:p>
          <a:p>
            <a:pPr lvl="2"/>
            <a:r>
              <a:rPr lang="en-US" dirty="0" smtClean="0"/>
              <a:t>The interface between applications and guest OS.</a:t>
            </a:r>
          </a:p>
          <a:p>
            <a:pPr lvl="1"/>
            <a:r>
              <a:rPr lang="en-US" dirty="0" smtClean="0"/>
              <a:t>Driver call</a:t>
            </a:r>
          </a:p>
          <a:p>
            <a:pPr lvl="2"/>
            <a:r>
              <a:rPr lang="en-US" dirty="0" smtClean="0"/>
              <a:t>The interface between guest OS and IO device drivers.</a:t>
            </a:r>
          </a:p>
          <a:p>
            <a:pPr lvl="1"/>
            <a:r>
              <a:rPr lang="en-US" dirty="0" smtClean="0"/>
              <a:t>IO operation</a:t>
            </a:r>
          </a:p>
          <a:p>
            <a:pPr lvl="2"/>
            <a:r>
              <a:rPr lang="en-US" dirty="0" smtClean="0"/>
              <a:t>The interface between IO device driver of guest OS and virtualized hardware ( in VMM ).</a:t>
            </a:r>
            <a:endParaRPr lang="en-US" dirty="0"/>
          </a:p>
        </p:txBody>
      </p:sp>
      <p:sp>
        <p:nvSpPr>
          <p:cNvPr id="5" name="投影片編號版面配置區 4"/>
          <p:cNvSpPr>
            <a:spLocks noGrp="1"/>
          </p:cNvSpPr>
          <p:nvPr>
            <p:ph type="sldNum" sz="quarter" idx="12"/>
          </p:nvPr>
        </p:nvSpPr>
        <p:spPr/>
        <p:txBody>
          <a:bodyPr/>
          <a:lstStyle/>
          <a:p>
            <a:fld id="{B6F15528-21DE-4FAA-801E-634DDDAF4B2B}" type="slidenum">
              <a:rPr lang="en-US" smtClean="0"/>
              <a:pPr/>
              <a:t>79</a:t>
            </a:fld>
            <a:endParaRPr lang="en-US"/>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5029200" y="1371600"/>
            <a:ext cx="3425825" cy="502285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IO Virtualization</a:t>
            </a:r>
            <a:endParaRPr lang="en-US" dirty="0"/>
          </a:p>
        </p:txBody>
      </p:sp>
      <p:sp>
        <p:nvSpPr>
          <p:cNvPr id="3" name="Content Placeholder 2"/>
          <p:cNvSpPr>
            <a:spLocks noGrp="1"/>
          </p:cNvSpPr>
          <p:nvPr>
            <p:ph idx="1"/>
          </p:nvPr>
        </p:nvSpPr>
        <p:spPr>
          <a:xfrm>
            <a:off x="228600" y="1447800"/>
            <a:ext cx="4267200" cy="4876800"/>
          </a:xfrm>
        </p:spPr>
        <p:txBody>
          <a:bodyPr>
            <a:normAutofit/>
          </a:bodyPr>
          <a:lstStyle/>
          <a:p>
            <a:r>
              <a:rPr lang="en-US" dirty="0" smtClean="0"/>
              <a:t>In </a:t>
            </a:r>
            <a:r>
              <a:rPr lang="en-US" b="1" dirty="0" smtClean="0"/>
              <a:t>system call </a:t>
            </a:r>
            <a:r>
              <a:rPr lang="en-US" dirty="0" smtClean="0"/>
              <a:t>level :</a:t>
            </a:r>
          </a:p>
          <a:p>
            <a:pPr lvl="1"/>
            <a:r>
              <a:rPr lang="en-US" dirty="0" smtClean="0"/>
              <a:t>When </a:t>
            </a:r>
            <a:r>
              <a:rPr lang="en-US" dirty="0" smtClean="0"/>
              <a:t>an application invokes </a:t>
            </a:r>
            <a:r>
              <a:rPr lang="en-US" dirty="0" smtClean="0"/>
              <a:t>a system call, </a:t>
            </a:r>
            <a:r>
              <a:rPr lang="en-US" dirty="0" smtClean="0"/>
              <a:t>the system call will be trapped </a:t>
            </a:r>
            <a:r>
              <a:rPr lang="en-US" dirty="0" smtClean="0"/>
              <a:t>to VMM first.</a:t>
            </a:r>
          </a:p>
          <a:p>
            <a:pPr lvl="1"/>
            <a:r>
              <a:rPr lang="en-US" dirty="0" smtClean="0"/>
              <a:t>VMM intercepts system calls, and maintains shadowed IO system call routines to simulate functionalities.</a:t>
            </a:r>
          </a:p>
          <a:p>
            <a:pPr lvl="1"/>
            <a:r>
              <a:rPr lang="en-US" dirty="0" smtClean="0"/>
              <a:t>After simulation, </a:t>
            </a:r>
            <a:r>
              <a:rPr lang="en-US" dirty="0" smtClean="0"/>
              <a:t>the contro</a:t>
            </a:r>
            <a:r>
              <a:rPr lang="en-US" dirty="0" smtClean="0"/>
              <a:t>l</a:t>
            </a:r>
            <a:r>
              <a:rPr lang="en-US" dirty="0" smtClean="0"/>
              <a:t> goes back to the application </a:t>
            </a:r>
            <a:r>
              <a:rPr lang="en-US" dirty="0" smtClean="0"/>
              <a:t>in gust OS.</a:t>
            </a:r>
          </a:p>
        </p:txBody>
      </p:sp>
      <p:sp>
        <p:nvSpPr>
          <p:cNvPr id="4" name="投影片編號版面配置區 3"/>
          <p:cNvSpPr>
            <a:spLocks noGrp="1"/>
          </p:cNvSpPr>
          <p:nvPr>
            <p:ph type="sldNum" sz="quarter" idx="12"/>
          </p:nvPr>
        </p:nvSpPr>
        <p:spPr/>
        <p:txBody>
          <a:bodyPr/>
          <a:lstStyle/>
          <a:p>
            <a:fld id="{B6F15528-21DE-4FAA-801E-634DDDAF4B2B}" type="slidenum">
              <a:rPr lang="en-US" smtClean="0"/>
              <a:pPr/>
              <a:t>80</a:t>
            </a:fld>
            <a:endParaRPr lang="en-US"/>
          </a:p>
        </p:txBody>
      </p:sp>
      <p:pic>
        <p:nvPicPr>
          <p:cNvPr id="1028" name="Picture 4"/>
          <p:cNvPicPr>
            <a:picLocks noChangeAspect="1" noChangeArrowheads="1"/>
          </p:cNvPicPr>
          <p:nvPr/>
        </p:nvPicPr>
        <p:blipFill>
          <a:blip r:embed="rId3" cstate="print"/>
          <a:srcRect/>
          <a:stretch>
            <a:fillRect/>
          </a:stretch>
        </p:blipFill>
        <p:spPr bwMode="auto">
          <a:xfrm>
            <a:off x="4460240" y="1550670"/>
            <a:ext cx="4657725" cy="47434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5178425" y="1371600"/>
            <a:ext cx="3432175" cy="502285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IO Virtualization</a:t>
            </a:r>
            <a:endParaRPr lang="en-US" dirty="0"/>
          </a:p>
        </p:txBody>
      </p:sp>
      <p:sp>
        <p:nvSpPr>
          <p:cNvPr id="3" name="Content Placeholder 2"/>
          <p:cNvSpPr>
            <a:spLocks noGrp="1"/>
          </p:cNvSpPr>
          <p:nvPr>
            <p:ph idx="1"/>
          </p:nvPr>
        </p:nvSpPr>
        <p:spPr>
          <a:xfrm>
            <a:off x="152400" y="1600200"/>
            <a:ext cx="4953000" cy="4525963"/>
          </a:xfrm>
        </p:spPr>
        <p:txBody>
          <a:bodyPr>
            <a:normAutofit/>
          </a:bodyPr>
          <a:lstStyle/>
          <a:p>
            <a:r>
              <a:rPr lang="en-US" dirty="0" smtClean="0"/>
              <a:t>In </a:t>
            </a:r>
            <a:r>
              <a:rPr lang="en-US" b="1" dirty="0" smtClean="0"/>
              <a:t>device driver call </a:t>
            </a:r>
            <a:r>
              <a:rPr lang="en-US" dirty="0" smtClean="0"/>
              <a:t>level :</a:t>
            </a:r>
          </a:p>
          <a:p>
            <a:pPr lvl="1"/>
            <a:r>
              <a:rPr lang="en-US" dirty="0" smtClean="0"/>
              <a:t>Adopt the </a:t>
            </a:r>
            <a:r>
              <a:rPr lang="en-US" dirty="0" err="1" smtClean="0"/>
              <a:t>para</a:t>
            </a:r>
            <a:r>
              <a:rPr lang="en-US" dirty="0" smtClean="0"/>
              <a:t>-virtualization technique, which means the IO device driver in guest OS should be modified.</a:t>
            </a:r>
          </a:p>
          <a:p>
            <a:pPr lvl="1"/>
            <a:r>
              <a:rPr lang="en-US" dirty="0" smtClean="0"/>
              <a:t>The IO operation is invoked by means of hyper-call between the modified device driver and VMM IO component.</a:t>
            </a:r>
            <a:br>
              <a:rPr lang="en-US" dirty="0" smtClean="0"/>
            </a:br>
            <a:endParaRPr lang="en-US" dirty="0" smtClean="0"/>
          </a:p>
        </p:txBody>
      </p:sp>
      <p:sp>
        <p:nvSpPr>
          <p:cNvPr id="4" name="投影片編號版面配置區 3"/>
          <p:cNvSpPr>
            <a:spLocks noGrp="1"/>
          </p:cNvSpPr>
          <p:nvPr>
            <p:ph type="sldNum" sz="quarter" idx="12"/>
          </p:nvPr>
        </p:nvSpPr>
        <p:spPr/>
        <p:txBody>
          <a:bodyPr/>
          <a:lstStyle/>
          <a:p>
            <a:fld id="{B6F15528-21DE-4FAA-801E-634DDDAF4B2B}" type="slidenum">
              <a:rPr lang="en-US" smtClean="0"/>
              <a:pPr/>
              <a:t>81</a:t>
            </a:fld>
            <a:endParaRPr lang="en-US"/>
          </a:p>
        </p:txBody>
      </p:sp>
      <p:pic>
        <p:nvPicPr>
          <p:cNvPr id="2052" name="Picture 4"/>
          <p:cNvPicPr>
            <a:picLocks noChangeAspect="1" noChangeArrowheads="1"/>
          </p:cNvPicPr>
          <p:nvPr/>
        </p:nvPicPr>
        <p:blipFill>
          <a:blip r:embed="rId3" cstate="print"/>
          <a:srcRect/>
          <a:stretch>
            <a:fillRect/>
          </a:stretch>
        </p:blipFill>
        <p:spPr bwMode="auto">
          <a:xfrm>
            <a:off x="5059680" y="3647440"/>
            <a:ext cx="3627437" cy="2652713"/>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5181600" y="1371600"/>
            <a:ext cx="3425825" cy="502285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IO Virtualization</a:t>
            </a:r>
            <a:endParaRPr lang="en-US" dirty="0"/>
          </a:p>
        </p:txBody>
      </p:sp>
      <p:sp>
        <p:nvSpPr>
          <p:cNvPr id="3" name="Content Placeholder 2"/>
          <p:cNvSpPr>
            <a:spLocks noGrp="1"/>
          </p:cNvSpPr>
          <p:nvPr>
            <p:ph idx="1"/>
          </p:nvPr>
        </p:nvSpPr>
        <p:spPr>
          <a:xfrm>
            <a:off x="152400" y="1600200"/>
            <a:ext cx="4724400" cy="4800600"/>
          </a:xfrm>
        </p:spPr>
        <p:txBody>
          <a:bodyPr>
            <a:normAutofit fontScale="92500" lnSpcReduction="10000"/>
          </a:bodyPr>
          <a:lstStyle/>
          <a:p>
            <a:r>
              <a:rPr lang="en-US" dirty="0" smtClean="0"/>
              <a:t>In </a:t>
            </a:r>
            <a:r>
              <a:rPr lang="en-US" b="1" dirty="0" smtClean="0"/>
              <a:t>IO operation </a:t>
            </a:r>
            <a:r>
              <a:rPr lang="en-US" dirty="0" smtClean="0"/>
              <a:t>level, </a:t>
            </a:r>
            <a:br>
              <a:rPr lang="en-US" dirty="0" smtClean="0"/>
            </a:br>
            <a:r>
              <a:rPr lang="en-US" dirty="0" smtClean="0"/>
              <a:t>two approaches :</a:t>
            </a:r>
          </a:p>
          <a:p>
            <a:pPr lvl="1"/>
            <a:r>
              <a:rPr lang="en-US" dirty="0" smtClean="0"/>
              <a:t>Memory mapped IO </a:t>
            </a:r>
          </a:p>
          <a:p>
            <a:pPr lvl="2"/>
            <a:r>
              <a:rPr lang="en-US" dirty="0" smtClean="0"/>
              <a:t>Loads/stores to specific region of real memory are interpreted as command to devices.</a:t>
            </a:r>
          </a:p>
          <a:p>
            <a:pPr lvl="2"/>
            <a:r>
              <a:rPr lang="en-US" dirty="0" smtClean="0"/>
              <a:t>The memory mapped IO region is protected.</a:t>
            </a:r>
          </a:p>
          <a:p>
            <a:pPr lvl="1"/>
            <a:r>
              <a:rPr lang="en-US" dirty="0" smtClean="0"/>
              <a:t>Port mapped IO</a:t>
            </a:r>
          </a:p>
          <a:p>
            <a:pPr lvl="2"/>
            <a:r>
              <a:rPr lang="en-US" dirty="0" smtClean="0"/>
              <a:t>Special input/output instructions with special addresses.</a:t>
            </a:r>
          </a:p>
          <a:p>
            <a:pPr lvl="2"/>
            <a:r>
              <a:rPr lang="en-US" dirty="0" smtClean="0"/>
              <a:t>The IO instructions are privileged .</a:t>
            </a:r>
            <a:br>
              <a:rPr lang="en-US" dirty="0" smtClean="0"/>
            </a:br>
            <a:endParaRPr lang="en-US" dirty="0" smtClean="0"/>
          </a:p>
          <a:p>
            <a:r>
              <a:rPr lang="en-US" dirty="0" smtClean="0"/>
              <a:t>Due to the privileged nature, these IO operations will be trapped to the VMM.</a:t>
            </a:r>
          </a:p>
        </p:txBody>
      </p:sp>
      <p:sp>
        <p:nvSpPr>
          <p:cNvPr id="4" name="投影片編號版面配置區 3"/>
          <p:cNvSpPr>
            <a:spLocks noGrp="1"/>
          </p:cNvSpPr>
          <p:nvPr>
            <p:ph type="sldNum" sz="quarter" idx="12"/>
          </p:nvPr>
        </p:nvSpPr>
        <p:spPr/>
        <p:txBody>
          <a:bodyPr/>
          <a:lstStyle/>
          <a:p>
            <a:fld id="{B6F15528-21DE-4FAA-801E-634DDDAF4B2B}" type="slidenum">
              <a:rPr lang="en-US" smtClean="0"/>
              <a:pPr/>
              <a:t>82</a:t>
            </a:fld>
            <a:endParaRPr lang="en-US"/>
          </a:p>
        </p:txBody>
      </p:sp>
      <p:pic>
        <p:nvPicPr>
          <p:cNvPr id="3075" name="Picture 3"/>
          <p:cNvPicPr>
            <a:picLocks noChangeAspect="1" noChangeArrowheads="1"/>
          </p:cNvPicPr>
          <p:nvPr/>
        </p:nvPicPr>
        <p:blipFill>
          <a:blip r:embed="rId3" cstate="print"/>
          <a:srcRect/>
          <a:stretch>
            <a:fillRect/>
          </a:stretch>
        </p:blipFill>
        <p:spPr bwMode="auto">
          <a:xfrm>
            <a:off x="4628515" y="3779520"/>
            <a:ext cx="4505325" cy="25050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fade">
                                      <p:cBhvr>
                                        <p:cTn id="7"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Virtualization</a:t>
            </a:r>
            <a:endParaRPr lang="en-US" dirty="0"/>
          </a:p>
        </p:txBody>
      </p:sp>
      <p:sp>
        <p:nvSpPr>
          <p:cNvPr id="3" name="Text Placeholder 2"/>
          <p:cNvSpPr>
            <a:spLocks noGrp="1"/>
          </p:cNvSpPr>
          <p:nvPr>
            <p:ph type="body" idx="1"/>
          </p:nvPr>
        </p:nvSpPr>
        <p:spPr/>
        <p:txBody>
          <a:bodyPr/>
          <a:lstStyle/>
          <a:p>
            <a:r>
              <a:rPr lang="en-US" dirty="0" smtClean="0"/>
              <a:t>Overview</a:t>
            </a:r>
          </a:p>
          <a:p>
            <a:r>
              <a:rPr lang="en-US" dirty="0" smtClean="0">
                <a:solidFill>
                  <a:srgbClr val="C00000"/>
                </a:solidFill>
              </a:rPr>
              <a:t>Device Model</a:t>
            </a:r>
          </a:p>
          <a:p>
            <a:r>
              <a:rPr lang="en-US" dirty="0" smtClean="0"/>
              <a:t>Hardware Assistance</a:t>
            </a:r>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Device Model</a:t>
            </a:r>
            <a:endParaRPr lang="en-US" dirty="0"/>
          </a:p>
        </p:txBody>
      </p:sp>
      <p:sp>
        <p:nvSpPr>
          <p:cNvPr id="3" name="Content Placeholder 2"/>
          <p:cNvSpPr>
            <a:spLocks noGrp="1"/>
          </p:cNvSpPr>
          <p:nvPr>
            <p:ph idx="1"/>
          </p:nvPr>
        </p:nvSpPr>
        <p:spPr>
          <a:xfrm>
            <a:off x="457200" y="1600200"/>
            <a:ext cx="8229600" cy="4876799"/>
          </a:xfrm>
        </p:spPr>
        <p:txBody>
          <a:bodyPr/>
          <a:lstStyle/>
          <a:p>
            <a:r>
              <a:rPr lang="en-US" dirty="0" smtClean="0"/>
              <a:t>Focus on IO operation level implementation.</a:t>
            </a:r>
          </a:p>
          <a:p>
            <a:pPr lvl="1"/>
            <a:r>
              <a:rPr lang="en-US" dirty="0" smtClean="0"/>
              <a:t>This is an approach of full virtualization.</a:t>
            </a:r>
          </a:p>
          <a:p>
            <a:r>
              <a:rPr lang="en-US" dirty="0" smtClean="0"/>
              <a:t>Logic relation between guest OS and VMM :</a:t>
            </a:r>
          </a:p>
          <a:p>
            <a:pPr lvl="1"/>
            <a:r>
              <a:rPr lang="en-US" dirty="0" smtClean="0"/>
              <a:t>VMM intercepts IO operations from guest OS.</a:t>
            </a:r>
          </a:p>
          <a:p>
            <a:pPr lvl="1"/>
            <a:r>
              <a:rPr lang="en-US" dirty="0" smtClean="0"/>
              <a:t>Pass these operations to device model on a running platform.</a:t>
            </a:r>
          </a:p>
          <a:p>
            <a:pPr lvl="1"/>
            <a:r>
              <a:rPr lang="en-US" dirty="0" smtClean="0"/>
              <a:t>Device model needs to emulate</a:t>
            </a:r>
            <a:br>
              <a:rPr lang="en-US" dirty="0" smtClean="0"/>
            </a:br>
            <a:r>
              <a:rPr lang="en-US" dirty="0" smtClean="0"/>
              <a:t>the IO operation interfaces.</a:t>
            </a:r>
          </a:p>
          <a:p>
            <a:pPr lvl="2"/>
            <a:r>
              <a:rPr lang="en-US" dirty="0" smtClean="0"/>
              <a:t>Port mapped IO</a:t>
            </a:r>
          </a:p>
          <a:p>
            <a:pPr lvl="2"/>
            <a:r>
              <a:rPr lang="en-US" dirty="0" smtClean="0"/>
              <a:t>Memory mapped IO</a:t>
            </a:r>
          </a:p>
          <a:p>
            <a:pPr lvl="2"/>
            <a:r>
              <a:rPr lang="en-US" dirty="0" smtClean="0"/>
              <a:t>DMA</a:t>
            </a:r>
          </a:p>
          <a:p>
            <a:pPr lvl="2"/>
            <a:r>
              <a:rPr lang="en-US" dirty="0" smtClean="0"/>
              <a:t>... etc.</a:t>
            </a:r>
          </a:p>
          <a:p>
            <a:pPr lvl="1"/>
            <a:endParaRPr lang="en-US" dirty="0"/>
          </a:p>
        </p:txBody>
      </p:sp>
      <p:pic>
        <p:nvPicPr>
          <p:cNvPr id="115714" name="Picture 2"/>
          <p:cNvPicPr>
            <a:picLocks noChangeAspect="1" noChangeArrowheads="1"/>
          </p:cNvPicPr>
          <p:nvPr/>
        </p:nvPicPr>
        <p:blipFill>
          <a:blip r:embed="rId2" cstate="print"/>
          <a:srcRect/>
          <a:stretch>
            <a:fillRect/>
          </a:stretch>
        </p:blipFill>
        <p:spPr bwMode="auto">
          <a:xfrm>
            <a:off x="5038725" y="3810000"/>
            <a:ext cx="3571875" cy="2755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2" cstate="print"/>
          <a:srcRect/>
          <a:stretch>
            <a:fillRect/>
          </a:stretch>
        </p:blipFill>
        <p:spPr bwMode="auto">
          <a:xfrm>
            <a:off x="4724400" y="3200400"/>
            <a:ext cx="4058634" cy="3017520"/>
          </a:xfrm>
          <a:prstGeom prst="rect">
            <a:avLst/>
          </a:prstGeom>
          <a:noFill/>
          <a:ln w="9525">
            <a:noFill/>
            <a:miter lim="800000"/>
            <a:headEnd/>
            <a:tailEnd/>
          </a:ln>
          <a:effectLst/>
        </p:spPr>
      </p:pic>
      <p:pic>
        <p:nvPicPr>
          <p:cNvPr id="116739" name="Picture 3"/>
          <p:cNvPicPr>
            <a:picLocks noChangeAspect="1" noChangeArrowheads="1"/>
          </p:cNvPicPr>
          <p:nvPr/>
        </p:nvPicPr>
        <p:blipFill>
          <a:blip r:embed="rId3" cstate="print"/>
          <a:srcRect/>
          <a:stretch>
            <a:fillRect/>
          </a:stretch>
        </p:blipFill>
        <p:spPr bwMode="auto">
          <a:xfrm>
            <a:off x="386366" y="3200400"/>
            <a:ext cx="4058634" cy="301752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Device Model</a:t>
            </a:r>
            <a:endParaRPr lang="en-US" dirty="0"/>
          </a:p>
        </p:txBody>
      </p:sp>
      <p:sp>
        <p:nvSpPr>
          <p:cNvPr id="3" name="Content Placeholder 2"/>
          <p:cNvSpPr>
            <a:spLocks noGrp="1"/>
          </p:cNvSpPr>
          <p:nvPr>
            <p:ph idx="1"/>
          </p:nvPr>
        </p:nvSpPr>
        <p:spPr/>
        <p:txBody>
          <a:bodyPr/>
          <a:lstStyle/>
          <a:p>
            <a:r>
              <a:rPr lang="en-US" dirty="0" smtClean="0"/>
              <a:t>Two different implementations of </a:t>
            </a:r>
            <a:r>
              <a:rPr lang="en-US" altLang="zh-TW" dirty="0" smtClean="0"/>
              <a:t>device model </a:t>
            </a:r>
            <a:r>
              <a:rPr lang="en-US" dirty="0" smtClean="0"/>
              <a:t> :</a:t>
            </a:r>
          </a:p>
          <a:p>
            <a:pPr marL="822960" lvl="1" indent="-365760">
              <a:buFont typeface="+mj-lt"/>
              <a:buAutoNum type="arabicPeriod"/>
            </a:pPr>
            <a:r>
              <a:rPr lang="en-US" dirty="0" smtClean="0"/>
              <a:t>Device model is implemented as part of VMM.</a:t>
            </a:r>
          </a:p>
          <a:p>
            <a:pPr marL="822960" lvl="1" indent="-365760">
              <a:buFont typeface="+mj-lt"/>
              <a:buAutoNum type="arabicPeriod"/>
            </a:pPr>
            <a:r>
              <a:rPr lang="en-US" dirty="0" smtClean="0"/>
              <a:t>Device model is running in user space as a stand alone service.</a:t>
            </a:r>
          </a:p>
        </p:txBody>
      </p:sp>
      <p:sp>
        <p:nvSpPr>
          <p:cNvPr id="7" name="TextBox 6"/>
          <p:cNvSpPr txBox="1"/>
          <p:nvPr/>
        </p:nvSpPr>
        <p:spPr>
          <a:xfrm>
            <a:off x="1335932" y="6183868"/>
            <a:ext cx="2159502" cy="369332"/>
          </a:xfrm>
          <a:prstGeom prst="rect">
            <a:avLst/>
          </a:prstGeom>
          <a:noFill/>
        </p:spPr>
        <p:txBody>
          <a:bodyPr wrap="none" rtlCol="0">
            <a:spAutoFit/>
          </a:bodyPr>
          <a:lstStyle/>
          <a:p>
            <a:r>
              <a:rPr lang="en-US" b="1" i="1" dirty="0" smtClean="0">
                <a:effectLst>
                  <a:outerShdw blurRad="50800" dist="38100" dir="2700000" algn="tl" rotWithShape="0">
                    <a:prstClr val="black">
                      <a:alpha val="40000"/>
                    </a:prstClr>
                  </a:outerShdw>
                </a:effectLst>
              </a:rPr>
              <a:t>Type 1 Virtualization</a:t>
            </a:r>
            <a:endParaRPr lang="en-US" b="1" i="1" dirty="0">
              <a:effectLst>
                <a:outerShdw blurRad="50800" dist="38100" dir="2700000" algn="tl" rotWithShape="0">
                  <a:prstClr val="black">
                    <a:alpha val="40000"/>
                  </a:prstClr>
                </a:outerShdw>
              </a:effectLst>
            </a:endParaRPr>
          </a:p>
        </p:txBody>
      </p:sp>
      <p:sp>
        <p:nvSpPr>
          <p:cNvPr id="8" name="TextBox 7"/>
          <p:cNvSpPr txBox="1"/>
          <p:nvPr/>
        </p:nvSpPr>
        <p:spPr>
          <a:xfrm>
            <a:off x="5673966" y="6183868"/>
            <a:ext cx="2159502" cy="369332"/>
          </a:xfrm>
          <a:prstGeom prst="rect">
            <a:avLst/>
          </a:prstGeom>
          <a:noFill/>
        </p:spPr>
        <p:txBody>
          <a:bodyPr wrap="none" rtlCol="0">
            <a:spAutoFit/>
          </a:bodyPr>
          <a:lstStyle/>
          <a:p>
            <a:r>
              <a:rPr lang="en-US" b="1" i="1" dirty="0" smtClean="0">
                <a:effectLst>
                  <a:outerShdw blurRad="50800" dist="38100" dir="2700000" algn="tl" rotWithShape="0">
                    <a:prstClr val="black">
                      <a:alpha val="40000"/>
                    </a:prstClr>
                  </a:outerShdw>
                </a:effectLst>
              </a:rPr>
              <a:t>Type 2 Virtualization</a:t>
            </a:r>
            <a:endParaRPr lang="en-US" b="1" i="1" dirty="0">
              <a:effectLst>
                <a:outerShdw blurRad="50800" dist="38100" dir="2700000" algn="tl" rotWithShape="0">
                  <a:prstClr val="black">
                    <a:alpha val="40000"/>
                  </a:prstClr>
                </a:outerShdw>
              </a:effectLst>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Device Model</a:t>
            </a:r>
            <a:endParaRPr lang="en-US" dirty="0"/>
          </a:p>
        </p:txBody>
      </p:sp>
      <p:sp>
        <p:nvSpPr>
          <p:cNvPr id="3" name="Content Placeholder 2"/>
          <p:cNvSpPr>
            <a:spLocks noGrp="1"/>
          </p:cNvSpPr>
          <p:nvPr>
            <p:ph idx="1"/>
          </p:nvPr>
        </p:nvSpPr>
        <p:spPr/>
        <p:txBody>
          <a:bodyPr/>
          <a:lstStyle/>
          <a:p>
            <a:r>
              <a:rPr lang="en-US" dirty="0" smtClean="0"/>
              <a:t>IO virtualization </a:t>
            </a:r>
            <a:r>
              <a:rPr lang="en-US" dirty="0" smtClean="0"/>
              <a:t>flow</a:t>
            </a:r>
            <a:endParaRPr lang="en-US" dirty="0" smtClean="0"/>
          </a:p>
          <a:p>
            <a:pPr lvl="1"/>
            <a:r>
              <a:rPr lang="en-US" dirty="0" smtClean="0"/>
              <a:t>Initialization – device discovery</a:t>
            </a:r>
          </a:p>
          <a:p>
            <a:pPr lvl="2"/>
            <a:r>
              <a:rPr lang="en-US" dirty="0" smtClean="0"/>
              <a:t>VMM will make guest OS discover the virtualized IO devices.</a:t>
            </a:r>
          </a:p>
          <a:p>
            <a:pPr lvl="2"/>
            <a:r>
              <a:rPr lang="en-US" dirty="0" smtClean="0"/>
              <a:t>Then guest OS will load the corresponding device driver.</a:t>
            </a:r>
          </a:p>
          <a:p>
            <a:pPr lvl="1"/>
            <a:r>
              <a:rPr lang="en-US" dirty="0" smtClean="0"/>
              <a:t>Operation – access interception</a:t>
            </a:r>
          </a:p>
          <a:p>
            <a:pPr lvl="2"/>
            <a:r>
              <a:rPr lang="en-US" dirty="0" smtClean="0"/>
              <a:t>When guest OS executes IO operations, VMM will intercept those accesses.</a:t>
            </a:r>
          </a:p>
          <a:p>
            <a:pPr lvl="2"/>
            <a:r>
              <a:rPr lang="en-US" dirty="0" smtClean="0"/>
              <a:t>After virtual device operations, VMM returns the control to guest OS.</a:t>
            </a:r>
          </a:p>
          <a:p>
            <a:pPr lvl="1"/>
            <a:r>
              <a:rPr lang="en-US" dirty="0" smtClean="0"/>
              <a:t>Virtualization – device virtualization</a:t>
            </a:r>
          </a:p>
          <a:p>
            <a:pPr lvl="2"/>
            <a:r>
              <a:rPr lang="en-US" dirty="0" smtClean="0"/>
              <a:t>Device model should emulate the real electronic logic to satisfy all device interface definition and its effects.</a:t>
            </a:r>
          </a:p>
          <a:p>
            <a:pPr lvl="2"/>
            <a:r>
              <a:rPr lang="en-US" dirty="0" smtClean="0"/>
              <a:t>VMM may share physical devices to all virtual machines.</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Device Discovery</a:t>
            </a:r>
            <a:endParaRPr lang="en-US" dirty="0"/>
          </a:p>
        </p:txBody>
      </p:sp>
      <p:sp>
        <p:nvSpPr>
          <p:cNvPr id="3" name="Content Placeholder 2"/>
          <p:cNvSpPr>
            <a:spLocks noGrp="1"/>
          </p:cNvSpPr>
          <p:nvPr>
            <p:ph idx="1"/>
          </p:nvPr>
        </p:nvSpPr>
        <p:spPr>
          <a:xfrm>
            <a:off x="457200" y="1600200"/>
            <a:ext cx="8229600" cy="4953000"/>
          </a:xfrm>
        </p:spPr>
        <p:txBody>
          <a:bodyPr>
            <a:noAutofit/>
          </a:bodyPr>
          <a:lstStyle/>
          <a:p>
            <a:r>
              <a:rPr lang="en-US" dirty="0" err="1" smtClean="0"/>
              <a:t>Virtualize</a:t>
            </a:r>
            <a:r>
              <a:rPr lang="en-US" dirty="0" smtClean="0"/>
              <a:t> physical bus devices</a:t>
            </a:r>
          </a:p>
          <a:p>
            <a:pPr lvl="1"/>
            <a:r>
              <a:rPr lang="en-US" dirty="0" smtClean="0"/>
              <a:t>Non-enumerable physical device</a:t>
            </a:r>
          </a:p>
          <a:p>
            <a:pPr lvl="2"/>
            <a:r>
              <a:rPr lang="en-US" dirty="0" smtClean="0"/>
              <a:t>These devices have their own hard-coded numbers.</a:t>
            </a:r>
          </a:p>
          <a:p>
            <a:pPr lvl="2"/>
            <a:r>
              <a:rPr lang="en-US" dirty="0" smtClean="0"/>
              <a:t>VMM should setup some status information on the virtual device ports.</a:t>
            </a:r>
          </a:p>
          <a:p>
            <a:pPr lvl="2"/>
            <a:r>
              <a:rPr lang="en-US" dirty="0" smtClean="0"/>
              <a:t>For example, PS/2 keyboard and mouse.</a:t>
            </a:r>
          </a:p>
          <a:p>
            <a:pPr lvl="1"/>
            <a:r>
              <a:rPr lang="en-US" dirty="0" smtClean="0"/>
              <a:t>Enumerable physical device</a:t>
            </a:r>
          </a:p>
          <a:p>
            <a:pPr lvl="2"/>
            <a:r>
              <a:rPr lang="en-US" dirty="0" smtClean="0"/>
              <a:t>These devices defined a complete device discover method.</a:t>
            </a:r>
          </a:p>
          <a:p>
            <a:pPr lvl="2"/>
            <a:r>
              <a:rPr lang="en-US" dirty="0" smtClean="0"/>
              <a:t>VMM have to emulate not only the device itself, but the bus behavior.</a:t>
            </a:r>
          </a:p>
          <a:p>
            <a:pPr lvl="2"/>
            <a:r>
              <a:rPr lang="en-US" dirty="0" smtClean="0"/>
              <a:t>For example, PCI or PCI express devices.</a:t>
            </a:r>
            <a:br>
              <a:rPr lang="en-US" dirty="0" smtClean="0"/>
            </a:br>
            <a:endParaRPr lang="en-US" dirty="0" smtClean="0"/>
          </a:p>
          <a:p>
            <a:r>
              <a:rPr lang="en-US" dirty="0" err="1" smtClean="0"/>
              <a:t>Virtualize</a:t>
            </a:r>
            <a:r>
              <a:rPr lang="en-US" dirty="0" smtClean="0"/>
              <a:t> non-exist devices</a:t>
            </a:r>
          </a:p>
          <a:p>
            <a:pPr lvl="1"/>
            <a:r>
              <a:rPr lang="en-US" dirty="0" smtClean="0"/>
              <a:t>VMM must define and emulate all functions of these devices</a:t>
            </a:r>
          </a:p>
          <a:p>
            <a:pPr lvl="2"/>
            <a:r>
              <a:rPr lang="en-US" dirty="0" smtClean="0"/>
              <a:t>VMM may define them as either non-enumerable or enumerable devices.</a:t>
            </a:r>
          </a:p>
          <a:p>
            <a:pPr lvl="2"/>
            <a:r>
              <a:rPr lang="en-US" dirty="0" smtClean="0"/>
              <a:t>Guest OS needs to load some new drivers of these virtual devices.</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Interception</a:t>
            </a:r>
            <a:endParaRPr lang="en-US" dirty="0"/>
          </a:p>
        </p:txBody>
      </p:sp>
      <p:sp>
        <p:nvSpPr>
          <p:cNvPr id="3" name="Content Placeholder 2"/>
          <p:cNvSpPr>
            <a:spLocks noGrp="1"/>
          </p:cNvSpPr>
          <p:nvPr>
            <p:ph idx="1"/>
          </p:nvPr>
        </p:nvSpPr>
        <p:spPr/>
        <p:txBody>
          <a:bodyPr>
            <a:noAutofit/>
          </a:bodyPr>
          <a:lstStyle/>
          <a:p>
            <a:r>
              <a:rPr lang="en-US" dirty="0" smtClean="0"/>
              <a:t>After virtual device discovered by guest OS, VMM has to intercept and control all the IO operations from guest OS.</a:t>
            </a:r>
            <a:br>
              <a:rPr lang="en-US" dirty="0" smtClean="0"/>
            </a:br>
            <a:endParaRPr lang="en-US" sz="1600" dirty="0" smtClean="0"/>
          </a:p>
          <a:p>
            <a:r>
              <a:rPr lang="en-US" dirty="0" smtClean="0"/>
              <a:t>Port mapped IO operation</a:t>
            </a:r>
          </a:p>
          <a:p>
            <a:pPr lvl="1"/>
            <a:r>
              <a:rPr lang="en-US" dirty="0" smtClean="0"/>
              <a:t>Direct device assignment</a:t>
            </a:r>
          </a:p>
          <a:p>
            <a:pPr lvl="2"/>
            <a:r>
              <a:rPr lang="en-US" dirty="0" smtClean="0"/>
              <a:t>VMM should turn </a:t>
            </a:r>
            <a:r>
              <a:rPr lang="en-US" b="1" i="1" dirty="0" smtClean="0"/>
              <a:t>ON</a:t>
            </a:r>
            <a:r>
              <a:rPr lang="en-US" dirty="0" smtClean="0"/>
              <a:t> the physical IO bitmap.</a:t>
            </a:r>
          </a:p>
          <a:p>
            <a:pPr lvl="2"/>
            <a:r>
              <a:rPr lang="en-US" dirty="0" smtClean="0"/>
              <a:t>All the IO instructions (</a:t>
            </a:r>
            <a:r>
              <a:rPr lang="en-US" sz="1600" b="1" dirty="0" smtClean="0">
                <a:latin typeface="Consolas" pitchFamily="49" charset="0"/>
                <a:cs typeface="Consolas" pitchFamily="49" charset="0"/>
              </a:rPr>
              <a:t>IN</a:t>
            </a:r>
            <a:r>
              <a:rPr lang="en-US" dirty="0" smtClean="0"/>
              <a:t>/</a:t>
            </a:r>
            <a:r>
              <a:rPr lang="en-US" sz="1600" b="1" dirty="0" smtClean="0">
                <a:latin typeface="Consolas" pitchFamily="49" charset="0"/>
                <a:cs typeface="Consolas" pitchFamily="49" charset="0"/>
              </a:rPr>
              <a:t>OUT</a:t>
            </a:r>
            <a:r>
              <a:rPr lang="en-US" dirty="0" smtClean="0"/>
              <a:t>) from guest OS will be directly performed onto hardware without VMM intervention.</a:t>
            </a:r>
          </a:p>
          <a:p>
            <a:pPr lvl="1"/>
            <a:r>
              <a:rPr lang="en-US" dirty="0" smtClean="0"/>
              <a:t>Indirect device assignment</a:t>
            </a:r>
          </a:p>
          <a:p>
            <a:pPr lvl="2"/>
            <a:r>
              <a:rPr lang="en-US" dirty="0" smtClean="0"/>
              <a:t>VMM should turn </a:t>
            </a:r>
            <a:r>
              <a:rPr lang="en-US" b="1" i="1" dirty="0" smtClean="0"/>
              <a:t>OFF</a:t>
            </a:r>
            <a:r>
              <a:rPr lang="en-US" dirty="0" smtClean="0"/>
              <a:t> the physical IO bitmap.</a:t>
            </a:r>
          </a:p>
          <a:p>
            <a:pPr lvl="2"/>
            <a:r>
              <a:rPr lang="en-US" dirty="0" smtClean="0"/>
              <a:t>All the IO instructions from guest OS will be intercepted by VMM and forward to physical hardware.</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Interception</a:t>
            </a:r>
            <a:endParaRPr lang="en-US" dirty="0"/>
          </a:p>
        </p:txBody>
      </p:sp>
      <p:sp>
        <p:nvSpPr>
          <p:cNvPr id="3" name="Content Placeholder 2"/>
          <p:cNvSpPr>
            <a:spLocks noGrp="1"/>
          </p:cNvSpPr>
          <p:nvPr>
            <p:ph idx="1"/>
          </p:nvPr>
        </p:nvSpPr>
        <p:spPr>
          <a:xfrm>
            <a:off x="457200" y="1447800"/>
            <a:ext cx="8229600" cy="5029200"/>
          </a:xfrm>
        </p:spPr>
        <p:txBody>
          <a:bodyPr/>
          <a:lstStyle/>
          <a:p>
            <a:r>
              <a:rPr lang="en-US" dirty="0" smtClean="0"/>
              <a:t>Memory mapped IO operation</a:t>
            </a:r>
          </a:p>
          <a:p>
            <a:pPr lvl="1"/>
            <a:r>
              <a:rPr lang="en-US" dirty="0" smtClean="0"/>
              <a:t>Direct device assignment</a:t>
            </a:r>
          </a:p>
          <a:p>
            <a:pPr lvl="2"/>
            <a:r>
              <a:rPr lang="en-US" dirty="0" smtClean="0"/>
              <a:t>VMM should use the shadow page table to map IO device addressing space of guest OS to the space of host.</a:t>
            </a:r>
          </a:p>
          <a:p>
            <a:pPr lvl="2"/>
            <a:r>
              <a:rPr lang="en-US" dirty="0" smtClean="0"/>
              <a:t>Then all the IO operations from guest OS will not be intercepted.</a:t>
            </a:r>
          </a:p>
          <a:p>
            <a:pPr lvl="1"/>
            <a:r>
              <a:rPr lang="en-US" dirty="0" smtClean="0"/>
              <a:t>Indirect device assignment</a:t>
            </a:r>
          </a:p>
          <a:p>
            <a:pPr lvl="2"/>
            <a:r>
              <a:rPr lang="en-US" dirty="0" smtClean="0"/>
              <a:t>VMM should make the all entries of the IO device addressing space in the shadow page table to be invalid.</a:t>
            </a:r>
          </a:p>
          <a:p>
            <a:pPr lvl="2"/>
            <a:r>
              <a:rPr lang="en-US" dirty="0" smtClean="0"/>
              <a:t>When guest OS access those addressing space, it will introduce the page fault which trap CPU to VMM for device emulation.</a:t>
            </a:r>
          </a:p>
          <a:p>
            <a:r>
              <a:rPr lang="en-US" dirty="0" smtClean="0"/>
              <a:t>DMA mechanism</a:t>
            </a:r>
          </a:p>
          <a:p>
            <a:pPr lvl="1"/>
            <a:r>
              <a:rPr lang="en-US" dirty="0" smtClean="0"/>
              <a:t>Address remapping</a:t>
            </a:r>
          </a:p>
          <a:p>
            <a:pPr lvl="2"/>
            <a:r>
              <a:rPr lang="en-US" dirty="0" smtClean="0"/>
              <a:t>Because the device driver in the guest OS </a:t>
            </a:r>
            <a:r>
              <a:rPr lang="en-US" dirty="0" smtClean="0"/>
              <a:t>does not know the </a:t>
            </a:r>
            <a:r>
              <a:rPr lang="en-US" dirty="0" smtClean="0"/>
              <a:t>host physical address, VMM </a:t>
            </a:r>
            <a:r>
              <a:rPr lang="en-US" dirty="0" smtClean="0"/>
              <a:t>needs </a:t>
            </a:r>
            <a:r>
              <a:rPr lang="en-US" dirty="0" smtClean="0"/>
              <a:t>to </a:t>
            </a:r>
            <a:r>
              <a:rPr lang="en-US" dirty="0" smtClean="0"/>
              <a:t>remap </a:t>
            </a:r>
            <a:r>
              <a:rPr lang="en-US" dirty="0" smtClean="0"/>
              <a:t>the DMA </a:t>
            </a:r>
            <a:r>
              <a:rPr lang="en-US" dirty="0" smtClean="0"/>
              <a:t>target </a:t>
            </a:r>
            <a:r>
              <a:rPr lang="en-US" altLang="zh-TW" dirty="0" smtClean="0"/>
              <a:t>automatically</a:t>
            </a:r>
            <a:r>
              <a:rPr lang="en-US" dirty="0" smtClean="0"/>
              <a:t> </a:t>
            </a:r>
            <a:r>
              <a:rPr lang="en-US" dirty="0" smtClean="0"/>
              <a:t>when intercepting guest OS.</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Device Virtualization</a:t>
            </a:r>
            <a:endParaRPr lang="en-US" dirty="0"/>
          </a:p>
        </p:txBody>
      </p:sp>
      <p:sp>
        <p:nvSpPr>
          <p:cNvPr id="3" name="Content Placeholder 2"/>
          <p:cNvSpPr>
            <a:spLocks noGrp="1"/>
          </p:cNvSpPr>
          <p:nvPr>
            <p:ph idx="1"/>
          </p:nvPr>
        </p:nvSpPr>
        <p:spPr/>
        <p:txBody>
          <a:bodyPr/>
          <a:lstStyle/>
          <a:p>
            <a:r>
              <a:rPr lang="en-US" dirty="0" smtClean="0"/>
              <a:t>IO device types :</a:t>
            </a:r>
          </a:p>
          <a:p>
            <a:pPr lvl="1"/>
            <a:r>
              <a:rPr lang="en-US" dirty="0" smtClean="0"/>
              <a:t>Dedicated device</a:t>
            </a:r>
          </a:p>
          <a:p>
            <a:pPr lvl="2"/>
            <a:r>
              <a:rPr lang="en-US" dirty="0" smtClean="0"/>
              <a:t>Ex : displayer, mouse, keyboard …etc.</a:t>
            </a:r>
          </a:p>
          <a:p>
            <a:pPr lvl="1"/>
            <a:r>
              <a:rPr lang="en-US" dirty="0" smtClean="0"/>
              <a:t>Partitioned device</a:t>
            </a:r>
          </a:p>
          <a:p>
            <a:pPr lvl="2"/>
            <a:r>
              <a:rPr lang="en-US" dirty="0" smtClean="0"/>
              <a:t>Ex : disk, tape …etc</a:t>
            </a:r>
          </a:p>
          <a:p>
            <a:pPr lvl="1"/>
            <a:r>
              <a:rPr lang="en-US" dirty="0" smtClean="0"/>
              <a:t>Shared device</a:t>
            </a:r>
          </a:p>
          <a:p>
            <a:pPr lvl="2"/>
            <a:r>
              <a:rPr lang="en-US" dirty="0" smtClean="0"/>
              <a:t>Ex : network card, graphic card …etc.</a:t>
            </a:r>
          </a:p>
          <a:p>
            <a:pPr lvl="1"/>
            <a:r>
              <a:rPr lang="en-US" dirty="0" smtClean="0"/>
              <a:t>Nonexistent physical device</a:t>
            </a:r>
          </a:p>
          <a:p>
            <a:pPr lvl="2"/>
            <a:r>
              <a:rPr lang="en-US" dirty="0" smtClean="0"/>
              <a:t>Ex : virtual device …etc.</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Device Virtualization</a:t>
            </a:r>
            <a:endParaRPr lang="en-US" dirty="0"/>
          </a:p>
        </p:txBody>
      </p:sp>
      <p:sp>
        <p:nvSpPr>
          <p:cNvPr id="3" name="Content Placeholder 2"/>
          <p:cNvSpPr>
            <a:spLocks noGrp="1"/>
          </p:cNvSpPr>
          <p:nvPr>
            <p:ph idx="1"/>
          </p:nvPr>
        </p:nvSpPr>
        <p:spPr/>
        <p:txBody>
          <a:bodyPr/>
          <a:lstStyle/>
          <a:p>
            <a:r>
              <a:rPr lang="en-US" dirty="0" smtClean="0"/>
              <a:t>Dedicated device</a:t>
            </a:r>
          </a:p>
          <a:p>
            <a:pPr lvl="1"/>
            <a:r>
              <a:rPr lang="en-US" dirty="0" smtClean="0"/>
              <a:t>Do not necessarily have to be virtualized.</a:t>
            </a:r>
          </a:p>
          <a:p>
            <a:pPr lvl="1"/>
            <a:r>
              <a:rPr lang="en-US" dirty="0" smtClean="0"/>
              <a:t>In theory, requests of such device could bypass the VMM.</a:t>
            </a:r>
          </a:p>
          <a:p>
            <a:pPr lvl="1"/>
            <a:r>
              <a:rPr lang="en-US" dirty="0" smtClean="0"/>
              <a:t>However, they are handled by the VMM first since OS is running in user mode.</a:t>
            </a:r>
            <a:br>
              <a:rPr lang="en-US" dirty="0" smtClean="0"/>
            </a:br>
            <a:endParaRPr lang="en-US" dirty="0" smtClean="0"/>
          </a:p>
          <a:p>
            <a:r>
              <a:rPr lang="en-US" dirty="0" smtClean="0"/>
              <a:t>Partitioned device</a:t>
            </a:r>
          </a:p>
          <a:p>
            <a:pPr lvl="1"/>
            <a:r>
              <a:rPr lang="en-US" dirty="0" smtClean="0"/>
              <a:t>Be partitioned into several smaller virtual devices as dedicated to VM.</a:t>
            </a:r>
          </a:p>
          <a:p>
            <a:pPr lvl="1"/>
            <a:r>
              <a:rPr lang="en-US" dirty="0" smtClean="0"/>
              <a:t>VMM translates address spaces to those of the physical devices.</a:t>
            </a:r>
          </a:p>
        </p:txBody>
      </p:sp>
      <p:sp>
        <p:nvSpPr>
          <p:cNvPr id="4" name="投影片編號版面配置區 3"/>
          <p:cNvSpPr>
            <a:spLocks noGrp="1"/>
          </p:cNvSpPr>
          <p:nvPr>
            <p:ph type="sldNum" sz="quarter" idx="12"/>
          </p:nvPr>
        </p:nvSpPr>
        <p:spPr/>
        <p:txBody>
          <a:bodyPr/>
          <a:lstStyle/>
          <a:p>
            <a:fld id="{B6F15528-21DE-4FAA-801E-634DDDAF4B2B}" type="slidenum">
              <a:rPr lang="en-US" smtClean="0"/>
              <a:pPr/>
              <a:t>91</a:t>
            </a:fld>
            <a:endParaRPr lang="en-US"/>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Device Virtualization</a:t>
            </a:r>
            <a:endParaRPr lang="en-US" dirty="0"/>
          </a:p>
        </p:txBody>
      </p:sp>
      <p:sp>
        <p:nvSpPr>
          <p:cNvPr id="3" name="Content Placeholder 2"/>
          <p:cNvSpPr>
            <a:spLocks noGrp="1"/>
          </p:cNvSpPr>
          <p:nvPr>
            <p:ph idx="1"/>
          </p:nvPr>
        </p:nvSpPr>
        <p:spPr>
          <a:xfrm>
            <a:off x="457200" y="1600200"/>
            <a:ext cx="8229600" cy="4876800"/>
          </a:xfrm>
        </p:spPr>
        <p:txBody>
          <a:bodyPr>
            <a:normAutofit/>
          </a:bodyPr>
          <a:lstStyle/>
          <a:p>
            <a:r>
              <a:rPr lang="en-US" dirty="0" smtClean="0"/>
              <a:t>Shared device</a:t>
            </a:r>
          </a:p>
          <a:p>
            <a:pPr lvl="1"/>
            <a:r>
              <a:rPr lang="en-US" dirty="0" smtClean="0"/>
              <a:t>Should be shared among VMs.</a:t>
            </a:r>
          </a:p>
          <a:p>
            <a:pPr lvl="1"/>
            <a:r>
              <a:rPr lang="en-US" dirty="0" smtClean="0"/>
              <a:t>Each VM has its own virtual device state.</a:t>
            </a:r>
          </a:p>
          <a:p>
            <a:pPr lvl="1"/>
            <a:r>
              <a:rPr lang="en-US" dirty="0" smtClean="0"/>
              <a:t>VMM translates requests from a VM to physical device .</a:t>
            </a:r>
            <a:r>
              <a:rPr lang="en-US" dirty="0" smtClean="0">
                <a:solidFill>
                  <a:srgbClr val="FF0000"/>
                </a:solidFill>
              </a:rPr>
              <a:t/>
            </a:r>
            <a:br>
              <a:rPr lang="en-US" dirty="0" smtClean="0">
                <a:solidFill>
                  <a:srgbClr val="FF0000"/>
                </a:solidFill>
              </a:rPr>
            </a:br>
            <a:endParaRPr lang="en-US" dirty="0" smtClean="0">
              <a:solidFill>
                <a:srgbClr val="FF0000"/>
              </a:solidFill>
            </a:endParaRPr>
          </a:p>
          <a:p>
            <a:r>
              <a:rPr lang="en-US" dirty="0" smtClean="0"/>
              <a:t>Nonexistent physical device</a:t>
            </a:r>
          </a:p>
          <a:p>
            <a:pPr lvl="1"/>
            <a:r>
              <a:rPr lang="en-US" dirty="0" smtClean="0"/>
              <a:t>Virtual device “attached” to a VM for which there is no corresponding physical device.</a:t>
            </a:r>
          </a:p>
          <a:p>
            <a:pPr lvl="1"/>
            <a:r>
              <a:rPr lang="en-US" dirty="0" smtClean="0"/>
              <a:t>VMM intercepts requests from a VM, buffers it and interrupts other VMs.</a:t>
            </a:r>
          </a:p>
        </p:txBody>
      </p:sp>
      <p:sp>
        <p:nvSpPr>
          <p:cNvPr id="4" name="投影片編號版面配置區 3"/>
          <p:cNvSpPr>
            <a:spLocks noGrp="1"/>
          </p:cNvSpPr>
          <p:nvPr>
            <p:ph type="sldNum" sz="quarter" idx="12"/>
          </p:nvPr>
        </p:nvSpPr>
        <p:spPr/>
        <p:txBody>
          <a:bodyPr/>
          <a:lstStyle/>
          <a:p>
            <a:fld id="{B6F15528-21DE-4FAA-801E-634DDDAF4B2B}" type="slidenum">
              <a:rPr lang="en-US" smtClean="0"/>
              <a:pPr/>
              <a:t>92</a:t>
            </a:fld>
            <a:endParaRPr lang="en-US"/>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Issues</a:t>
            </a:r>
            <a:endParaRPr lang="en-US" dirty="0"/>
          </a:p>
        </p:txBody>
      </p:sp>
      <p:sp>
        <p:nvSpPr>
          <p:cNvPr id="3" name="Content Placeholder 2"/>
          <p:cNvSpPr>
            <a:spLocks noGrp="1"/>
          </p:cNvSpPr>
          <p:nvPr>
            <p:ph idx="1"/>
          </p:nvPr>
        </p:nvSpPr>
        <p:spPr/>
        <p:txBody>
          <a:bodyPr/>
          <a:lstStyle/>
          <a:p>
            <a:r>
              <a:rPr lang="en-US" dirty="0" smtClean="0"/>
              <a:t>When considering performance, two major problems :</a:t>
            </a:r>
          </a:p>
          <a:p>
            <a:pPr lvl="1"/>
            <a:r>
              <a:rPr lang="en-US" dirty="0" smtClean="0"/>
              <a:t>How to make guest OS directly access IO addresses ?</a:t>
            </a:r>
          </a:p>
          <a:p>
            <a:pPr lvl="2"/>
            <a:r>
              <a:rPr lang="en-US" dirty="0" smtClean="0"/>
              <a:t>Other than software approaches discussed above, we can make use of the hardware assistance (Intel EPT technique in memory virtualization) to map IO addresses from host to guest directly without software overhead.</a:t>
            </a:r>
            <a:br>
              <a:rPr lang="en-US" dirty="0" smtClean="0"/>
            </a:br>
            <a:endParaRPr lang="en-US" dirty="0" smtClean="0"/>
          </a:p>
          <a:p>
            <a:pPr lvl="1"/>
            <a:r>
              <a:rPr lang="en-US" dirty="0" smtClean="0"/>
              <a:t>How to make DMA directly access memory space in guest OS ?</a:t>
            </a:r>
          </a:p>
          <a:p>
            <a:pPr lvl="2"/>
            <a:r>
              <a:rPr lang="en-US" dirty="0" smtClean="0"/>
              <a:t>For the synchronous DMA operation, guest OS will be able to assign the correct host physical memory address by EPT technique.</a:t>
            </a:r>
          </a:p>
          <a:p>
            <a:pPr lvl="2"/>
            <a:r>
              <a:rPr lang="en-US" dirty="0" smtClean="0"/>
              <a:t>For the asynchronous DMA operation, hardware must access memory from host OS which will introduce the VMM intervention.</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Virtualization</a:t>
            </a:r>
            <a:endParaRPr lang="en-US" dirty="0"/>
          </a:p>
        </p:txBody>
      </p:sp>
      <p:sp>
        <p:nvSpPr>
          <p:cNvPr id="3" name="Text Placeholder 2"/>
          <p:cNvSpPr>
            <a:spLocks noGrp="1"/>
          </p:cNvSpPr>
          <p:nvPr>
            <p:ph type="body" idx="1"/>
          </p:nvPr>
        </p:nvSpPr>
        <p:spPr/>
        <p:txBody>
          <a:bodyPr/>
          <a:lstStyle/>
          <a:p>
            <a:endParaRPr lang="en-US" dirty="0" smtClean="0"/>
          </a:p>
          <a:p>
            <a:r>
              <a:rPr lang="en-US" dirty="0" smtClean="0"/>
              <a:t>Overview</a:t>
            </a:r>
          </a:p>
          <a:p>
            <a:r>
              <a:rPr lang="en-US" dirty="0" smtClean="0"/>
              <a:t>Device Model</a:t>
            </a:r>
          </a:p>
          <a:p>
            <a:r>
              <a:rPr lang="en-US" dirty="0" smtClean="0">
                <a:solidFill>
                  <a:srgbClr val="C00000"/>
                </a:solidFill>
              </a:rPr>
              <a:t>Hardware Assistance</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Solution</a:t>
            </a:r>
            <a:endParaRPr lang="en-US" dirty="0"/>
          </a:p>
        </p:txBody>
      </p:sp>
      <p:sp>
        <p:nvSpPr>
          <p:cNvPr id="3" name="Content Placeholder 2"/>
          <p:cNvSpPr>
            <a:spLocks noGrp="1"/>
          </p:cNvSpPr>
          <p:nvPr>
            <p:ph idx="1"/>
          </p:nvPr>
        </p:nvSpPr>
        <p:spPr/>
        <p:txBody>
          <a:bodyPr/>
          <a:lstStyle/>
          <a:p>
            <a:r>
              <a:rPr lang="en-US" dirty="0" smtClean="0"/>
              <a:t>Difficulty :</a:t>
            </a:r>
          </a:p>
          <a:p>
            <a:pPr lvl="1"/>
            <a:r>
              <a:rPr lang="en-US" dirty="0" smtClean="0"/>
              <a:t>Software cannot make data access directly from devices.</a:t>
            </a:r>
            <a:br>
              <a:rPr lang="en-US" dirty="0" smtClean="0"/>
            </a:br>
            <a:endParaRPr lang="en-US" dirty="0" smtClean="0"/>
          </a:p>
          <a:p>
            <a:r>
              <a:rPr lang="en-US" dirty="0" smtClean="0"/>
              <a:t>Tow hardware solutions :</a:t>
            </a:r>
          </a:p>
          <a:p>
            <a:pPr lvl="1"/>
            <a:r>
              <a:rPr lang="en-US" dirty="0" smtClean="0"/>
              <a:t>Implement DMA remapping in hardware</a:t>
            </a:r>
          </a:p>
          <a:p>
            <a:pPr lvl="2"/>
            <a:r>
              <a:rPr lang="en-US" dirty="0" smtClean="0"/>
              <a:t>Remap DMA operations automatically by hardware.</a:t>
            </a:r>
          </a:p>
          <a:p>
            <a:pPr lvl="2"/>
            <a:r>
              <a:rPr lang="en-US" dirty="0" smtClean="0"/>
              <a:t>For example, </a:t>
            </a:r>
            <a:r>
              <a:rPr lang="en-US" b="1" i="1" dirty="0" smtClean="0"/>
              <a:t>Intel VT-d</a:t>
            </a:r>
            <a:r>
              <a:rPr lang="en-US" dirty="0" smtClean="0"/>
              <a:t> .</a:t>
            </a:r>
          </a:p>
          <a:p>
            <a:pPr lvl="1"/>
            <a:r>
              <a:rPr lang="en-US" dirty="0" smtClean="0"/>
              <a:t>Specify IO virtualization standards of PCI Express devices</a:t>
            </a:r>
          </a:p>
          <a:p>
            <a:pPr lvl="2"/>
            <a:r>
              <a:rPr lang="en-US" dirty="0" smtClean="0"/>
              <a:t>Implement </a:t>
            </a:r>
            <a:r>
              <a:rPr lang="en-US" dirty="0" err="1" smtClean="0"/>
              <a:t>virtualizable</a:t>
            </a:r>
            <a:r>
              <a:rPr lang="en-US" dirty="0" smtClean="0"/>
              <a:t> device with PCI Express interface.</a:t>
            </a:r>
          </a:p>
          <a:p>
            <a:pPr lvl="2"/>
            <a:r>
              <a:rPr lang="en-US" dirty="0" smtClean="0"/>
              <a:t>For example, </a:t>
            </a:r>
            <a:r>
              <a:rPr lang="en-US" b="1" i="1" dirty="0" smtClean="0"/>
              <a:t>SR-IOV</a:t>
            </a:r>
            <a:r>
              <a:rPr lang="en-US" dirty="0" smtClean="0"/>
              <a:t> or </a:t>
            </a:r>
            <a:r>
              <a:rPr lang="en-US" b="1" i="1" dirty="0" smtClean="0"/>
              <a:t>MR-IOV</a:t>
            </a:r>
            <a:r>
              <a:rPr lang="en-US" dirty="0" smtClean="0"/>
              <a:t>.</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 VT-d</a:t>
            </a:r>
            <a:endParaRPr lang="en-US" dirty="0"/>
          </a:p>
        </p:txBody>
      </p:sp>
      <p:sp>
        <p:nvSpPr>
          <p:cNvPr id="3" name="Content Placeholder 2"/>
          <p:cNvSpPr>
            <a:spLocks noGrp="1"/>
          </p:cNvSpPr>
          <p:nvPr>
            <p:ph idx="1"/>
          </p:nvPr>
        </p:nvSpPr>
        <p:spPr>
          <a:xfrm>
            <a:off x="457200" y="1600201"/>
            <a:ext cx="8229600" cy="609599"/>
          </a:xfrm>
        </p:spPr>
        <p:txBody>
          <a:bodyPr/>
          <a:lstStyle/>
          <a:p>
            <a:r>
              <a:rPr lang="en-US" dirty="0" smtClean="0"/>
              <a:t>Add DMA remapping hardware component.</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685800" y="2362200"/>
            <a:ext cx="3335337" cy="343852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5046663" y="2362200"/>
            <a:ext cx="3335337" cy="3438525"/>
          </a:xfrm>
          <a:prstGeom prst="rect">
            <a:avLst/>
          </a:prstGeom>
          <a:noFill/>
          <a:ln w="9525">
            <a:noFill/>
            <a:miter lim="800000"/>
            <a:headEnd/>
            <a:tailEnd/>
          </a:ln>
          <a:effectLst/>
        </p:spPr>
      </p:pic>
      <p:sp>
        <p:nvSpPr>
          <p:cNvPr id="7" name="TextBox 6"/>
          <p:cNvSpPr txBox="1"/>
          <p:nvPr/>
        </p:nvSpPr>
        <p:spPr>
          <a:xfrm>
            <a:off x="1986606" y="5802868"/>
            <a:ext cx="2034531" cy="369332"/>
          </a:xfrm>
          <a:prstGeom prst="rect">
            <a:avLst/>
          </a:prstGeom>
          <a:noFill/>
        </p:spPr>
        <p:txBody>
          <a:bodyPr wrap="none" rtlCol="0">
            <a:spAutoFit/>
          </a:bodyPr>
          <a:lstStyle/>
          <a:p>
            <a:r>
              <a:rPr lang="en-US" b="1" i="1" dirty="0" smtClean="0">
                <a:effectLst>
                  <a:outerShdw blurRad="50800" dist="38100" dir="2700000" algn="tl" rotWithShape="0">
                    <a:prstClr val="black">
                      <a:alpha val="40000"/>
                    </a:prstClr>
                  </a:outerShdw>
                </a:effectLst>
              </a:rPr>
              <a:t>Software Approach</a:t>
            </a:r>
            <a:endParaRPr lang="en-US" b="1" i="1" dirty="0">
              <a:effectLst>
                <a:outerShdw blurRad="50800" dist="38100" dir="2700000" algn="tl" rotWithShape="0">
                  <a:prstClr val="black">
                    <a:alpha val="40000"/>
                  </a:prstClr>
                </a:outerShdw>
              </a:effectLst>
            </a:endParaRPr>
          </a:p>
        </p:txBody>
      </p:sp>
      <p:sp>
        <p:nvSpPr>
          <p:cNvPr id="8" name="TextBox 7"/>
          <p:cNvSpPr txBox="1"/>
          <p:nvPr/>
        </p:nvSpPr>
        <p:spPr>
          <a:xfrm>
            <a:off x="6259303" y="5802868"/>
            <a:ext cx="2122697" cy="369332"/>
          </a:xfrm>
          <a:prstGeom prst="rect">
            <a:avLst/>
          </a:prstGeom>
          <a:noFill/>
        </p:spPr>
        <p:txBody>
          <a:bodyPr wrap="none" rtlCol="0">
            <a:spAutoFit/>
          </a:bodyPr>
          <a:lstStyle/>
          <a:p>
            <a:r>
              <a:rPr lang="en-US" b="1" i="1" dirty="0" smtClean="0">
                <a:effectLst>
                  <a:outerShdw blurRad="50800" dist="38100" dir="2700000" algn="tl" rotWithShape="0">
                    <a:prstClr val="black">
                      <a:alpha val="40000"/>
                    </a:prstClr>
                  </a:outerShdw>
                </a:effectLst>
              </a:rPr>
              <a:t>Hardware Approach</a:t>
            </a:r>
            <a:endParaRPr lang="en-US" b="1" i="1" dirty="0">
              <a:effectLst>
                <a:outerShdw blurRad="50800" dist="38100" dir="2700000" algn="tl" rotWithShape="0">
                  <a:prstClr val="black">
                    <a:alpha val="40000"/>
                  </a:prstClr>
                </a:outerShdw>
              </a:effectLst>
            </a:endParaRPr>
          </a:p>
        </p:txBody>
      </p:sp>
      <p:sp>
        <p:nvSpPr>
          <p:cNvPr id="9" name="Right Arrow 8"/>
          <p:cNvSpPr/>
          <p:nvPr/>
        </p:nvSpPr>
        <p:spPr>
          <a:xfrm>
            <a:off x="4221480" y="4011168"/>
            <a:ext cx="640080" cy="484632"/>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Virtualization </a:t>
            </a:r>
            <a:r>
              <a:rPr lang="en-US" dirty="0" smtClean="0"/>
              <a:t>Progress</a:t>
            </a:r>
            <a:endParaRPr lang="en-US" dirty="0"/>
          </a:p>
        </p:txBody>
      </p:sp>
      <p:sp>
        <p:nvSpPr>
          <p:cNvPr id="3" name="Content Placeholder 2"/>
          <p:cNvSpPr>
            <a:spLocks noGrp="1"/>
          </p:cNvSpPr>
          <p:nvPr>
            <p:ph idx="1"/>
          </p:nvPr>
        </p:nvSpPr>
        <p:spPr>
          <a:xfrm>
            <a:off x="457200" y="1981200"/>
            <a:ext cx="8229600" cy="3886200"/>
          </a:xfrm>
        </p:spPr>
        <p:txBody>
          <a:bodyPr>
            <a:normAutofit/>
          </a:bodyPr>
          <a:lstStyle/>
          <a:p>
            <a:r>
              <a:rPr lang="en-US" dirty="0" smtClean="0"/>
              <a:t>Software </a:t>
            </a:r>
            <a:r>
              <a:rPr lang="en-US" dirty="0" smtClean="0"/>
              <a:t>based sharing</a:t>
            </a:r>
          </a:p>
          <a:p>
            <a:pPr lvl="1"/>
            <a:r>
              <a:rPr lang="en-US" dirty="0" smtClean="0"/>
              <a:t>Implement virtualization</a:t>
            </a:r>
            <a:br>
              <a:rPr lang="en-US" dirty="0" smtClean="0"/>
            </a:br>
            <a:r>
              <a:rPr lang="en-US" dirty="0" smtClean="0"/>
              <a:t>by VMM software stack.</a:t>
            </a:r>
            <a:endParaRPr lang="en-US" dirty="0"/>
          </a:p>
          <a:p>
            <a:pPr lvl="1"/>
            <a:r>
              <a:rPr lang="en-US" dirty="0" smtClean="0"/>
              <a:t>Advantage</a:t>
            </a:r>
          </a:p>
          <a:p>
            <a:pPr lvl="2"/>
            <a:r>
              <a:rPr lang="en-US" dirty="0" smtClean="0"/>
              <a:t>Full virtualization without</a:t>
            </a:r>
            <a:br>
              <a:rPr lang="en-US" dirty="0" smtClean="0"/>
            </a:br>
            <a:r>
              <a:rPr lang="en-US" dirty="0" smtClean="0"/>
              <a:t>special hardware support.</a:t>
            </a:r>
          </a:p>
          <a:p>
            <a:pPr lvl="1"/>
            <a:r>
              <a:rPr lang="en-US" dirty="0" smtClean="0"/>
              <a:t>Disadvantage</a:t>
            </a:r>
          </a:p>
          <a:p>
            <a:pPr lvl="2"/>
            <a:r>
              <a:rPr lang="en-US" dirty="0" smtClean="0"/>
              <a:t>Significant CPU overhead</a:t>
            </a:r>
            <a:br>
              <a:rPr lang="en-US" dirty="0" smtClean="0"/>
            </a:br>
            <a:r>
              <a:rPr lang="en-US" dirty="0" smtClean="0"/>
              <a:t>may be required by the</a:t>
            </a:r>
            <a:br>
              <a:rPr lang="en-US" dirty="0" smtClean="0"/>
            </a:br>
            <a:r>
              <a:rPr lang="en-US" dirty="0" smtClean="0"/>
              <a:t>VMM.</a:t>
            </a:r>
          </a:p>
        </p:txBody>
      </p:sp>
      <p:pic>
        <p:nvPicPr>
          <p:cNvPr id="2050" name="Picture 2"/>
          <p:cNvPicPr>
            <a:picLocks noChangeAspect="1" noChangeArrowheads="1"/>
          </p:cNvPicPr>
          <p:nvPr/>
        </p:nvPicPr>
        <p:blipFill>
          <a:blip r:embed="rId2" cstate="print"/>
          <a:srcRect/>
          <a:stretch>
            <a:fillRect/>
          </a:stretch>
        </p:blipFill>
        <p:spPr bwMode="auto">
          <a:xfrm>
            <a:off x="4343400" y="2057400"/>
            <a:ext cx="4572000" cy="340262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t>IO Virtualization Progress</a:t>
            </a:r>
            <a:endParaRPr lang="en-US" dirty="0"/>
          </a:p>
        </p:txBody>
      </p:sp>
      <p:sp>
        <p:nvSpPr>
          <p:cNvPr id="3" name="Content Placeholder 2"/>
          <p:cNvSpPr>
            <a:spLocks noGrp="1"/>
          </p:cNvSpPr>
          <p:nvPr>
            <p:ph idx="1"/>
          </p:nvPr>
        </p:nvSpPr>
        <p:spPr/>
        <p:txBody>
          <a:bodyPr/>
          <a:lstStyle/>
          <a:p>
            <a:r>
              <a:rPr lang="en-US" dirty="0" smtClean="0"/>
              <a:t>Hardware direct assignment</a:t>
            </a:r>
          </a:p>
          <a:p>
            <a:pPr lvl="1"/>
            <a:r>
              <a:rPr lang="en-US" dirty="0" smtClean="0"/>
              <a:t>Implement virtualization</a:t>
            </a:r>
            <a:br>
              <a:rPr lang="en-US" dirty="0" smtClean="0"/>
            </a:br>
            <a:r>
              <a:rPr lang="en-US" dirty="0" smtClean="0"/>
              <a:t>with Intel VT-x and VT-d</a:t>
            </a:r>
            <a:br>
              <a:rPr lang="en-US" dirty="0" smtClean="0"/>
            </a:br>
            <a:r>
              <a:rPr lang="en-US" dirty="0" smtClean="0"/>
              <a:t>supports.</a:t>
            </a:r>
          </a:p>
          <a:p>
            <a:pPr lvl="1"/>
            <a:r>
              <a:rPr lang="en-US" dirty="0" smtClean="0"/>
              <a:t>Advantage</a:t>
            </a:r>
          </a:p>
          <a:p>
            <a:pPr lvl="2"/>
            <a:r>
              <a:rPr lang="en-US" dirty="0" smtClean="0"/>
              <a:t>Data access bypass VMM.</a:t>
            </a:r>
          </a:p>
          <a:p>
            <a:pPr lvl="2"/>
            <a:r>
              <a:rPr lang="en-US" dirty="0" smtClean="0"/>
              <a:t>Improve IO performance.</a:t>
            </a:r>
          </a:p>
          <a:p>
            <a:pPr lvl="1"/>
            <a:r>
              <a:rPr lang="en-US" dirty="0" smtClean="0"/>
              <a:t>Disadvantage</a:t>
            </a:r>
          </a:p>
          <a:p>
            <a:pPr lvl="2"/>
            <a:r>
              <a:rPr lang="en-US" dirty="0" smtClean="0"/>
              <a:t>Dedicate physical device</a:t>
            </a:r>
            <a:br>
              <a:rPr lang="en-US" dirty="0" smtClean="0"/>
            </a:br>
            <a:r>
              <a:rPr lang="en-US" dirty="0" smtClean="0"/>
              <a:t>assignment limit the system</a:t>
            </a:r>
            <a:br>
              <a:rPr lang="en-US" dirty="0" smtClean="0"/>
            </a:br>
            <a:r>
              <a:rPr lang="en-US" dirty="0" smtClean="0"/>
              <a:t>scalability.</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4343400" y="2362200"/>
            <a:ext cx="4572000" cy="37633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smtClean="0"/>
              <a:t>IO Virtualization Progress</a:t>
            </a:r>
            <a:endParaRPr lang="en-US" dirty="0"/>
          </a:p>
        </p:txBody>
      </p:sp>
      <p:sp>
        <p:nvSpPr>
          <p:cNvPr id="3" name="Content Placeholder 2"/>
          <p:cNvSpPr>
            <a:spLocks noGrp="1"/>
          </p:cNvSpPr>
          <p:nvPr>
            <p:ph idx="1"/>
          </p:nvPr>
        </p:nvSpPr>
        <p:spPr/>
        <p:txBody>
          <a:bodyPr/>
          <a:lstStyle/>
          <a:p>
            <a:r>
              <a:rPr lang="en-US" dirty="0" smtClean="0"/>
              <a:t>New industrial standard</a:t>
            </a:r>
          </a:p>
          <a:p>
            <a:pPr lvl="1"/>
            <a:r>
              <a:rPr lang="en-US" dirty="0" smtClean="0"/>
              <a:t>Instead of implementing virtualization in CPU or memory only, industry com up with new IO virtualization standard in PCI Express devices.</a:t>
            </a:r>
          </a:p>
          <a:p>
            <a:pPr lvl="1"/>
            <a:r>
              <a:rPr lang="en-US" dirty="0" smtClean="0"/>
              <a:t>Advantages</a:t>
            </a:r>
          </a:p>
          <a:p>
            <a:pPr lvl="2"/>
            <a:r>
              <a:rPr lang="en-US" dirty="0" smtClean="0"/>
              <a:t>Fully collaboration with</a:t>
            </a:r>
            <a:br>
              <a:rPr lang="en-US" dirty="0" smtClean="0"/>
            </a:br>
            <a:r>
              <a:rPr lang="en-US" dirty="0" smtClean="0"/>
              <a:t>physical hardware devices.</a:t>
            </a:r>
          </a:p>
          <a:p>
            <a:pPr lvl="2"/>
            <a:r>
              <a:rPr lang="en-US" dirty="0" smtClean="0"/>
              <a:t>Improve system scalability.</a:t>
            </a:r>
          </a:p>
          <a:p>
            <a:pPr lvl="2"/>
            <a:r>
              <a:rPr lang="en-US" dirty="0" smtClean="0"/>
              <a:t>Improve system agility.</a:t>
            </a:r>
          </a:p>
          <a:p>
            <a:pPr lvl="1"/>
            <a:r>
              <a:rPr lang="en-US" dirty="0" smtClean="0"/>
              <a:t>Disadvantages</a:t>
            </a:r>
          </a:p>
          <a:p>
            <a:pPr lvl="2"/>
            <a:r>
              <a:rPr lang="en-US" dirty="0" smtClean="0"/>
              <a:t>IO devices must implement</a:t>
            </a:r>
            <a:br>
              <a:rPr lang="en-US" dirty="0" smtClean="0"/>
            </a:br>
            <a:r>
              <a:rPr lang="en-US" dirty="0" smtClean="0"/>
              <a:t>with new specification.</a:t>
            </a:r>
            <a:br>
              <a:rPr lang="en-US" dirty="0" smtClean="0"/>
            </a:br>
            <a:endParaRPr lang="en-US" dirty="0"/>
          </a:p>
        </p:txBody>
      </p:sp>
      <p:pic>
        <p:nvPicPr>
          <p:cNvPr id="4099" name="Picture 3"/>
          <p:cNvPicPr>
            <a:picLocks noChangeAspect="1" noChangeArrowheads="1"/>
          </p:cNvPicPr>
          <p:nvPr/>
        </p:nvPicPr>
        <p:blipFill>
          <a:blip r:embed="rId2" cstate="print"/>
          <a:srcRect/>
          <a:stretch>
            <a:fillRect/>
          </a:stretch>
        </p:blipFill>
        <p:spPr bwMode="auto">
          <a:xfrm>
            <a:off x="4343400" y="2971800"/>
            <a:ext cx="4572000" cy="34799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 Root – IO Virtualization</a:t>
            </a:r>
            <a:endParaRPr lang="en-US" dirty="0"/>
          </a:p>
        </p:txBody>
      </p:sp>
      <p:sp>
        <p:nvSpPr>
          <p:cNvPr id="3" name="Content Placeholder 2"/>
          <p:cNvSpPr>
            <a:spLocks noGrp="1"/>
          </p:cNvSpPr>
          <p:nvPr>
            <p:ph idx="1"/>
          </p:nvPr>
        </p:nvSpPr>
        <p:spPr/>
        <p:txBody>
          <a:bodyPr>
            <a:normAutofit/>
          </a:bodyPr>
          <a:lstStyle/>
          <a:p>
            <a:r>
              <a:rPr lang="en-US" dirty="0" smtClean="0"/>
              <a:t>What is SR-IOV ?</a:t>
            </a:r>
          </a:p>
          <a:p>
            <a:pPr lvl="1"/>
            <a:r>
              <a:rPr lang="en-US" dirty="0" smtClean="0"/>
              <a:t>The PCI-SIG Single Root I/O Virtualization and Sharing (SR-IOV) specification defines a standardized mechanism to create natively shared devices.</a:t>
            </a:r>
            <a:br>
              <a:rPr lang="en-US" dirty="0" smtClean="0"/>
            </a:br>
            <a:endParaRPr lang="en-US" dirty="0" smtClean="0"/>
          </a:p>
          <a:p>
            <a:r>
              <a:rPr lang="en-US" dirty="0" smtClean="0"/>
              <a:t>Basic components :</a:t>
            </a:r>
          </a:p>
          <a:p>
            <a:pPr lvl="1"/>
            <a:r>
              <a:rPr lang="en-US" dirty="0" smtClean="0"/>
              <a:t>Physical Functions (PFs):</a:t>
            </a:r>
          </a:p>
          <a:p>
            <a:pPr lvl="2"/>
            <a:r>
              <a:rPr lang="en-US" dirty="0" smtClean="0"/>
              <a:t>These are full </a:t>
            </a:r>
            <a:r>
              <a:rPr lang="en-US" dirty="0" err="1" smtClean="0"/>
              <a:t>PCIe</a:t>
            </a:r>
            <a:r>
              <a:rPr lang="en-US" dirty="0" smtClean="0"/>
              <a:t> functions that include the SR-IOV Extended Capability.</a:t>
            </a:r>
          </a:p>
          <a:p>
            <a:pPr lvl="2"/>
            <a:r>
              <a:rPr lang="en-US" dirty="0" smtClean="0"/>
              <a:t>The capability is used to configure and manage the SR-IOV functionality. </a:t>
            </a:r>
          </a:p>
          <a:p>
            <a:pPr lvl="1"/>
            <a:r>
              <a:rPr lang="en-US" dirty="0" smtClean="0"/>
              <a:t>Virtual Functions (VFs):</a:t>
            </a:r>
          </a:p>
          <a:p>
            <a:pPr lvl="2"/>
            <a:r>
              <a:rPr lang="en-US" dirty="0" smtClean="0"/>
              <a:t>These are “lightweight” </a:t>
            </a:r>
            <a:r>
              <a:rPr lang="en-US" dirty="0" err="1" smtClean="0"/>
              <a:t>PCIe</a:t>
            </a:r>
            <a:r>
              <a:rPr lang="en-US" dirty="0" smtClean="0"/>
              <a:t> functions that contain the resources necessary for data movement but have a carefully minimized set of configuration resources. </a:t>
            </a:r>
          </a:p>
          <a:p>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 Root – IO Virtualization</a:t>
            </a:r>
            <a:endParaRPr lang="en-US" dirty="0"/>
          </a:p>
        </p:txBody>
      </p:sp>
      <p:sp>
        <p:nvSpPr>
          <p:cNvPr id="3" name="Content Placeholder 2"/>
          <p:cNvSpPr>
            <a:spLocks noGrp="1"/>
          </p:cNvSpPr>
          <p:nvPr>
            <p:ph idx="1"/>
          </p:nvPr>
        </p:nvSpPr>
        <p:spPr>
          <a:xfrm>
            <a:off x="457200" y="1600200"/>
            <a:ext cx="4267200" cy="4525963"/>
          </a:xfrm>
        </p:spPr>
        <p:txBody>
          <a:bodyPr/>
          <a:lstStyle/>
          <a:p>
            <a:r>
              <a:rPr lang="en-US" dirty="0" smtClean="0"/>
              <a:t>SR-IOV works with VMM :</a:t>
            </a:r>
          </a:p>
          <a:p>
            <a:pPr lvl="1"/>
            <a:r>
              <a:rPr lang="en-US" dirty="0" smtClean="0"/>
              <a:t>VMM</a:t>
            </a:r>
          </a:p>
          <a:p>
            <a:pPr lvl="2"/>
            <a:r>
              <a:rPr lang="en-US" dirty="0" smtClean="0"/>
              <a:t>An SR-IOV-capable device</a:t>
            </a:r>
            <a:br>
              <a:rPr lang="en-US" dirty="0" smtClean="0"/>
            </a:br>
            <a:r>
              <a:rPr lang="en-US" dirty="0" smtClean="0"/>
              <a:t>can be configured to appear</a:t>
            </a:r>
            <a:br>
              <a:rPr lang="en-US" dirty="0" smtClean="0"/>
            </a:br>
            <a:r>
              <a:rPr lang="en-US" dirty="0" smtClean="0"/>
              <a:t>in the PCI configuration</a:t>
            </a:r>
            <a:br>
              <a:rPr lang="en-US" dirty="0" smtClean="0"/>
            </a:br>
            <a:r>
              <a:rPr lang="en-US" dirty="0" smtClean="0"/>
              <a:t>space as multiple functions.</a:t>
            </a:r>
          </a:p>
          <a:p>
            <a:pPr lvl="1"/>
            <a:r>
              <a:rPr lang="en-US" dirty="0" smtClean="0"/>
              <a:t>VM</a:t>
            </a:r>
          </a:p>
          <a:p>
            <a:pPr lvl="2"/>
            <a:r>
              <a:rPr lang="en-US" dirty="0" smtClean="0"/>
              <a:t>The VMM assigns one or</a:t>
            </a:r>
            <a:br>
              <a:rPr lang="en-US" dirty="0" smtClean="0"/>
            </a:br>
            <a:r>
              <a:rPr lang="en-US" dirty="0" smtClean="0"/>
              <a:t>more VFs to a VM by</a:t>
            </a:r>
            <a:br>
              <a:rPr lang="en-US" dirty="0" smtClean="0"/>
            </a:br>
            <a:r>
              <a:rPr lang="en-US" dirty="0" smtClean="0"/>
              <a:t>mapping the actual</a:t>
            </a:r>
            <a:br>
              <a:rPr lang="en-US" dirty="0" smtClean="0"/>
            </a:br>
            <a:r>
              <a:rPr lang="en-US" dirty="0" smtClean="0"/>
              <a:t>configuration space the VFs</a:t>
            </a:r>
            <a:br>
              <a:rPr lang="en-US" dirty="0" smtClean="0"/>
            </a:br>
            <a:r>
              <a:rPr lang="en-US" dirty="0" smtClean="0"/>
              <a:t>to the configuration space</a:t>
            </a:r>
            <a:br>
              <a:rPr lang="en-US" dirty="0" smtClean="0"/>
            </a:br>
            <a:r>
              <a:rPr lang="en-US" dirty="0" smtClean="0"/>
              <a:t>presented to the virtual</a:t>
            </a:r>
            <a:br>
              <a:rPr lang="en-US" dirty="0" smtClean="0"/>
            </a:br>
            <a:r>
              <a:rPr lang="en-US" dirty="0" smtClean="0"/>
              <a:t>machine by the VMM. </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4343400" y="2209800"/>
            <a:ext cx="4572000" cy="383120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Virtualization Summary</a:t>
            </a:r>
            <a:endParaRPr lang="en-US" dirty="0"/>
          </a:p>
        </p:txBody>
      </p:sp>
      <p:sp>
        <p:nvSpPr>
          <p:cNvPr id="3" name="Content Placeholder 2"/>
          <p:cNvSpPr>
            <a:spLocks noGrp="1"/>
          </p:cNvSpPr>
          <p:nvPr>
            <p:ph idx="1"/>
          </p:nvPr>
        </p:nvSpPr>
        <p:spPr>
          <a:xfrm>
            <a:off x="457200" y="1600200"/>
            <a:ext cx="8229600" cy="4724400"/>
          </a:xfrm>
        </p:spPr>
        <p:txBody>
          <a:bodyPr/>
          <a:lstStyle/>
          <a:p>
            <a:r>
              <a:rPr lang="en-US" dirty="0" smtClean="0"/>
              <a:t>IO subsystem architecture</a:t>
            </a:r>
          </a:p>
          <a:p>
            <a:pPr lvl="1"/>
            <a:r>
              <a:rPr lang="en-US" dirty="0" smtClean="0"/>
              <a:t>Port Mapped IO vs. Memory Mapped IO</a:t>
            </a:r>
          </a:p>
          <a:p>
            <a:pPr lvl="1"/>
            <a:r>
              <a:rPr lang="en-US" dirty="0" smtClean="0"/>
              <a:t>Direct Memory Access (DMA)</a:t>
            </a:r>
          </a:p>
          <a:p>
            <a:pPr lvl="1"/>
            <a:r>
              <a:rPr lang="en-US" dirty="0" smtClean="0"/>
              <a:t>PCI / PCI Express</a:t>
            </a:r>
            <a:br>
              <a:rPr lang="en-US" dirty="0" smtClean="0"/>
            </a:br>
            <a:endParaRPr lang="en-US" dirty="0" smtClean="0"/>
          </a:p>
          <a:p>
            <a:r>
              <a:rPr lang="en-US" dirty="0" smtClean="0"/>
              <a:t>IO virtualization</a:t>
            </a:r>
          </a:p>
          <a:p>
            <a:pPr lvl="1"/>
            <a:r>
              <a:rPr lang="en-US" dirty="0" smtClean="0"/>
              <a:t>Three implementation layers</a:t>
            </a:r>
          </a:p>
          <a:p>
            <a:pPr lvl="1"/>
            <a:r>
              <a:rPr lang="en-US" dirty="0" smtClean="0"/>
              <a:t>IO virtualization paradigm with device model</a:t>
            </a:r>
            <a:br>
              <a:rPr lang="en-US" dirty="0" smtClean="0"/>
            </a:br>
            <a:endParaRPr lang="en-US" dirty="0" smtClean="0"/>
          </a:p>
          <a:p>
            <a:r>
              <a:rPr lang="en-US" dirty="0" smtClean="0"/>
              <a:t>Hardware assistance</a:t>
            </a:r>
          </a:p>
          <a:p>
            <a:pPr lvl="1"/>
            <a:r>
              <a:rPr lang="en-US" dirty="0" smtClean="0"/>
              <a:t>DMA remapping hardware</a:t>
            </a:r>
          </a:p>
          <a:p>
            <a:pPr lvl="1"/>
            <a:r>
              <a:rPr lang="en-US" dirty="0" smtClean="0"/>
              <a:t>Single Root – IO Virtualization specification</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Ecosystem</a:t>
            </a:r>
            <a:endParaRPr lang="en-US" dirty="0"/>
          </a:p>
        </p:txBody>
      </p:sp>
      <p:sp>
        <p:nvSpPr>
          <p:cNvPr id="3" name="Text Placeholder 2"/>
          <p:cNvSpPr>
            <a:spLocks noGrp="1"/>
          </p:cNvSpPr>
          <p:nvPr>
            <p:ph type="body" idx="1"/>
          </p:nvPr>
        </p:nvSpPr>
        <p:spPr/>
        <p:txBody>
          <a:bodyPr/>
          <a:lstStyle/>
          <a:p>
            <a:r>
              <a:rPr lang="en-US" dirty="0" smtClean="0">
                <a:solidFill>
                  <a:srgbClr val="C00000"/>
                </a:solidFill>
              </a:rPr>
              <a:t>VMware , </a:t>
            </a:r>
            <a:r>
              <a:rPr lang="en-US" dirty="0" err="1" smtClean="0">
                <a:solidFill>
                  <a:srgbClr val="C00000"/>
                </a:solidFill>
              </a:rPr>
              <a:t>Xen</a:t>
            </a:r>
            <a:r>
              <a:rPr lang="en-US" dirty="0" smtClean="0">
                <a:solidFill>
                  <a:srgbClr val="C00000"/>
                </a:solidFill>
              </a:rPr>
              <a:t> , KVM</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Venders and Projects</a:t>
            </a:r>
            <a:endParaRPr lang="en-US" dirty="0"/>
          </a:p>
        </p:txBody>
      </p:sp>
      <p:sp>
        <p:nvSpPr>
          <p:cNvPr id="3" name="Content Placeholder 2"/>
          <p:cNvSpPr>
            <a:spLocks noGrp="1"/>
          </p:cNvSpPr>
          <p:nvPr>
            <p:ph idx="1"/>
          </p:nvPr>
        </p:nvSpPr>
        <p:spPr>
          <a:xfrm>
            <a:off x="457200" y="1371600"/>
            <a:ext cx="8229600" cy="5257800"/>
          </a:xfrm>
        </p:spPr>
        <p:txBody>
          <a:bodyPr>
            <a:noAutofit/>
          </a:bodyPr>
          <a:lstStyle/>
          <a:p>
            <a:r>
              <a:rPr lang="en-US" dirty="0" smtClean="0"/>
              <a:t>Virtual machine venders :</a:t>
            </a:r>
          </a:p>
          <a:p>
            <a:pPr lvl="1"/>
            <a:r>
              <a:rPr lang="en-US" dirty="0" smtClean="0"/>
              <a:t>VMware</a:t>
            </a:r>
          </a:p>
          <a:p>
            <a:pPr lvl="2"/>
            <a:r>
              <a:rPr lang="en-US" dirty="0" smtClean="0"/>
              <a:t>The company was founded in 1998 and is based in Palo Alto, California. The company is majority owned by EMC Corporation.</a:t>
            </a:r>
          </a:p>
          <a:p>
            <a:pPr lvl="2"/>
            <a:r>
              <a:rPr lang="en-US" dirty="0" smtClean="0"/>
              <a:t>Implement both type-1 and type-2 VM.</a:t>
            </a:r>
          </a:p>
          <a:p>
            <a:pPr lvl="1"/>
            <a:r>
              <a:rPr lang="en-US" dirty="0" err="1" smtClean="0"/>
              <a:t>Xen</a:t>
            </a:r>
            <a:endParaRPr lang="en-US" dirty="0" smtClean="0"/>
          </a:p>
          <a:p>
            <a:pPr lvl="2"/>
            <a:r>
              <a:rPr lang="en-US" dirty="0" smtClean="0"/>
              <a:t>First developed in University of Cambridge Computer Laboratory.</a:t>
            </a:r>
          </a:p>
          <a:p>
            <a:pPr lvl="2"/>
            <a:r>
              <a:rPr lang="en-US" dirty="0" smtClean="0"/>
              <a:t>As of 2010 the </a:t>
            </a:r>
            <a:r>
              <a:rPr lang="en-US" dirty="0" err="1" smtClean="0"/>
              <a:t>Xen</a:t>
            </a:r>
            <a:r>
              <a:rPr lang="en-US" dirty="0" smtClean="0"/>
              <a:t> community develops and maintains </a:t>
            </a:r>
            <a:r>
              <a:rPr lang="en-US" dirty="0" err="1" smtClean="0"/>
              <a:t>Xen</a:t>
            </a:r>
            <a:r>
              <a:rPr lang="en-US" dirty="0" smtClean="0"/>
              <a:t> as free software, licensed under the GNU General Public License (GPLv2).</a:t>
            </a:r>
          </a:p>
          <a:p>
            <a:pPr lvl="2"/>
            <a:r>
              <a:rPr lang="en-US" dirty="0" smtClean="0"/>
              <a:t>Implement </a:t>
            </a:r>
            <a:r>
              <a:rPr lang="en-US" dirty="0" err="1" smtClean="0"/>
              <a:t>para</a:t>
            </a:r>
            <a:r>
              <a:rPr lang="en-US" dirty="0" smtClean="0"/>
              <a:t>-virtualization.</a:t>
            </a:r>
            <a:br>
              <a:rPr lang="en-US" dirty="0" smtClean="0"/>
            </a:br>
            <a:endParaRPr lang="en-US" dirty="0" smtClean="0"/>
          </a:p>
          <a:p>
            <a:r>
              <a:rPr lang="en-US" dirty="0" smtClean="0"/>
              <a:t>Virtual machine project :</a:t>
            </a:r>
          </a:p>
          <a:p>
            <a:pPr lvl="1"/>
            <a:r>
              <a:rPr lang="en-US" dirty="0" smtClean="0"/>
              <a:t>KVM ( Kernel-based Virtual Machine )</a:t>
            </a:r>
          </a:p>
          <a:p>
            <a:pPr lvl="2"/>
            <a:r>
              <a:rPr lang="en-US" dirty="0" smtClean="0"/>
              <a:t>A Linux kernel virtualization infrastructure.</a:t>
            </a:r>
          </a:p>
          <a:p>
            <a:pPr lvl="2"/>
            <a:r>
              <a:rPr lang="en-US" dirty="0" smtClean="0"/>
              <a:t>As of 2010, KVM supports native virtualization using Intel VT-x or AMD-V. </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VMware</a:t>
            </a:r>
            <a:endParaRPr lang="en-US" dirty="0"/>
          </a:p>
        </p:txBody>
      </p:sp>
      <p:sp>
        <p:nvSpPr>
          <p:cNvPr id="3" name="Content Placeholder 2"/>
          <p:cNvSpPr>
            <a:spLocks noGrp="1"/>
          </p:cNvSpPr>
          <p:nvPr>
            <p:ph idx="1"/>
          </p:nvPr>
        </p:nvSpPr>
        <p:spPr>
          <a:xfrm>
            <a:off x="457200" y="1600200"/>
            <a:ext cx="4343400" cy="4525963"/>
          </a:xfrm>
        </p:spPr>
        <p:txBody>
          <a:bodyPr>
            <a:normAutofit/>
          </a:bodyPr>
          <a:lstStyle/>
          <a:p>
            <a:r>
              <a:rPr lang="en-US" dirty="0" smtClean="0"/>
              <a:t>Basic properties :</a:t>
            </a:r>
          </a:p>
          <a:p>
            <a:pPr lvl="1"/>
            <a:r>
              <a:rPr lang="en-US" dirty="0" smtClean="0"/>
              <a:t>Separate OS and hardware – </a:t>
            </a:r>
            <a:br>
              <a:rPr lang="en-US" dirty="0" smtClean="0"/>
            </a:br>
            <a:r>
              <a:rPr lang="en-US" dirty="0" smtClean="0"/>
              <a:t>break hardware dependencies</a:t>
            </a:r>
          </a:p>
          <a:p>
            <a:pPr lvl="1"/>
            <a:r>
              <a:rPr lang="en-US" dirty="0" smtClean="0"/>
              <a:t>OS and Application as single unit by encapsulation</a:t>
            </a:r>
          </a:p>
          <a:p>
            <a:pPr lvl="1"/>
            <a:r>
              <a:rPr lang="en-US" dirty="0" smtClean="0"/>
              <a:t>Strong fault and security isolation</a:t>
            </a:r>
          </a:p>
          <a:p>
            <a:pPr lvl="1"/>
            <a:r>
              <a:rPr lang="en-US" dirty="0" smtClean="0"/>
              <a:t>Standard, HW independent environments can be provisioned anywhere</a:t>
            </a:r>
          </a:p>
          <a:p>
            <a:pPr lvl="1"/>
            <a:r>
              <a:rPr lang="en-US" dirty="0" smtClean="0"/>
              <a:t>Flexibility to chose the right OS for the right application</a:t>
            </a:r>
          </a:p>
        </p:txBody>
      </p:sp>
      <p:pic>
        <p:nvPicPr>
          <p:cNvPr id="4" name="Picture 3" descr="3_app"/>
          <p:cNvPicPr>
            <a:picLocks noChangeAspect="1" noChangeArrowheads="1"/>
          </p:cNvPicPr>
          <p:nvPr/>
        </p:nvPicPr>
        <p:blipFill>
          <a:blip r:embed="rId2" cstate="print"/>
          <a:srcRect/>
          <a:stretch>
            <a:fillRect/>
          </a:stretch>
        </p:blipFill>
        <p:spPr bwMode="auto">
          <a:xfrm>
            <a:off x="4800600" y="1905000"/>
            <a:ext cx="4191000" cy="40925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VMware Virtualization Stack</a:t>
            </a:r>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261938" y="1819275"/>
            <a:ext cx="8620125" cy="46577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VMware Major Products</a:t>
            </a:r>
            <a:endParaRPr lang="en-US" dirty="0"/>
          </a:p>
        </p:txBody>
      </p:sp>
      <p:sp>
        <p:nvSpPr>
          <p:cNvPr id="3" name="Content Placeholder 2"/>
          <p:cNvSpPr>
            <a:spLocks noGrp="1"/>
          </p:cNvSpPr>
          <p:nvPr>
            <p:ph idx="1"/>
          </p:nvPr>
        </p:nvSpPr>
        <p:spPr/>
        <p:txBody>
          <a:bodyPr/>
          <a:lstStyle/>
          <a:p>
            <a:r>
              <a:rPr lang="en-US" dirty="0" smtClean="0"/>
              <a:t>VMware GSX Server</a:t>
            </a:r>
          </a:p>
          <a:p>
            <a:pPr lvl="1"/>
            <a:r>
              <a:rPr lang="en-US" dirty="0" smtClean="0"/>
              <a:t>Run multiple servers on your server</a:t>
            </a:r>
          </a:p>
          <a:p>
            <a:pPr lvl="1"/>
            <a:r>
              <a:rPr lang="en-US" dirty="0" smtClean="0"/>
              <a:t>Hosted Architecture</a:t>
            </a:r>
          </a:p>
          <a:p>
            <a:pPr lvl="1"/>
            <a:r>
              <a:rPr lang="en-US" dirty="0" smtClean="0"/>
              <a:t>Available for Linux hosts and Windows hosts</a:t>
            </a:r>
            <a:br>
              <a:rPr lang="en-US" dirty="0" smtClean="0"/>
            </a:br>
            <a:endParaRPr lang="en-US" dirty="0" smtClean="0"/>
          </a:p>
          <a:p>
            <a:r>
              <a:rPr lang="en-US" dirty="0" smtClean="0"/>
              <a:t>VMware ESX Server</a:t>
            </a:r>
          </a:p>
          <a:p>
            <a:pPr lvl="1"/>
            <a:r>
              <a:rPr lang="en-US" dirty="0" smtClean="0"/>
              <a:t>Quality of Service</a:t>
            </a:r>
          </a:p>
          <a:p>
            <a:pPr lvl="1"/>
            <a:r>
              <a:rPr lang="en-US" dirty="0" smtClean="0"/>
              <a:t>High-performance I/O</a:t>
            </a:r>
          </a:p>
          <a:p>
            <a:pPr lvl="1"/>
            <a:r>
              <a:rPr lang="en-US" dirty="0" smtClean="0"/>
              <a:t>Host-less Architecture ( bare-metal )</a:t>
            </a:r>
          </a:p>
          <a:p>
            <a:endParaRPr 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VMware GSX Server Architecture</a:t>
            </a:r>
            <a:endParaRPr lang="en-US" dirty="0"/>
          </a:p>
        </p:txBody>
      </p:sp>
      <p:pic>
        <p:nvPicPr>
          <p:cNvPr id="7171" name="Picture 3"/>
          <p:cNvPicPr>
            <a:picLocks noGrp="1" noChangeAspect="1" noChangeArrowheads="1"/>
          </p:cNvPicPr>
          <p:nvPr>
            <p:ph idx="1"/>
          </p:nvPr>
        </p:nvPicPr>
        <p:blipFill>
          <a:blip r:embed="rId2" cstate="print"/>
          <a:srcRect/>
          <a:stretch>
            <a:fillRect/>
          </a:stretch>
        </p:blipFill>
        <p:spPr bwMode="auto">
          <a:xfrm>
            <a:off x="612775" y="1700925"/>
            <a:ext cx="7918450" cy="43950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VMware ESX Server Architecture</a:t>
            </a:r>
            <a:endParaRPr lang="en-US" dirty="0"/>
          </a:p>
        </p:txBody>
      </p:sp>
      <p:pic>
        <p:nvPicPr>
          <p:cNvPr id="8194" name="Picture 2"/>
          <p:cNvPicPr>
            <a:picLocks noChangeAspect="1" noChangeArrowheads="1"/>
          </p:cNvPicPr>
          <p:nvPr/>
        </p:nvPicPr>
        <p:blipFill>
          <a:blip r:embed="rId2" cstate="print"/>
          <a:srcRect/>
          <a:stretch>
            <a:fillRect/>
          </a:stretch>
        </p:blipFill>
        <p:spPr bwMode="auto">
          <a:xfrm>
            <a:off x="315913" y="2057400"/>
            <a:ext cx="8510587" cy="39084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Xen</a:t>
            </a:r>
            <a:endParaRPr lang="en-US" dirty="0"/>
          </a:p>
        </p:txBody>
      </p:sp>
      <p:sp>
        <p:nvSpPr>
          <p:cNvPr id="3" name="Content Placeholder 2"/>
          <p:cNvSpPr>
            <a:spLocks noGrp="1"/>
          </p:cNvSpPr>
          <p:nvPr>
            <p:ph idx="1"/>
          </p:nvPr>
        </p:nvSpPr>
        <p:spPr>
          <a:xfrm>
            <a:off x="457200" y="1219200"/>
            <a:ext cx="8229600" cy="5257800"/>
          </a:xfrm>
        </p:spPr>
        <p:txBody>
          <a:bodyPr>
            <a:noAutofit/>
          </a:bodyPr>
          <a:lstStyle/>
          <a:p>
            <a:r>
              <a:rPr lang="en-US" dirty="0" smtClean="0"/>
              <a:t>Basic properties :</a:t>
            </a:r>
          </a:p>
          <a:p>
            <a:pPr lvl="1"/>
            <a:r>
              <a:rPr lang="en-US" dirty="0" smtClean="0"/>
              <a:t>Para-virtualization</a:t>
            </a:r>
          </a:p>
          <a:p>
            <a:pPr lvl="2"/>
            <a:r>
              <a:rPr lang="en-US" dirty="0" smtClean="0"/>
              <a:t>Achieve high performance even on its host architecture (x86) which has a reputation for non-cooperation with traditional virtualization techniques.</a:t>
            </a:r>
          </a:p>
          <a:p>
            <a:pPr lvl="1"/>
            <a:r>
              <a:rPr lang="en-US" dirty="0" smtClean="0"/>
              <a:t>Hardware assisted virtualization</a:t>
            </a:r>
          </a:p>
          <a:p>
            <a:pPr lvl="2"/>
            <a:r>
              <a:rPr lang="en-US" dirty="0" smtClean="0"/>
              <a:t>Both Intel and AMD have contributed modifications to </a:t>
            </a:r>
            <a:r>
              <a:rPr lang="en-US" dirty="0" err="1" smtClean="0"/>
              <a:t>Xen</a:t>
            </a:r>
            <a:r>
              <a:rPr lang="en-US" dirty="0" smtClean="0"/>
              <a:t> to support their respective Intel VT-x and AMD-V architecture extensions.</a:t>
            </a:r>
          </a:p>
          <a:p>
            <a:pPr lvl="1"/>
            <a:r>
              <a:rPr lang="en-US" dirty="0" smtClean="0"/>
              <a:t>Live migration</a:t>
            </a:r>
          </a:p>
          <a:p>
            <a:pPr lvl="2"/>
            <a:r>
              <a:rPr lang="en-US" dirty="0" smtClean="0"/>
              <a:t>The LAN iteratively copies the memory of the virtual machine to the destination without stopping its execution.</a:t>
            </a:r>
            <a:br>
              <a:rPr lang="en-US" dirty="0" smtClean="0"/>
            </a:br>
            <a:endParaRPr lang="en-US" dirty="0" smtClean="0"/>
          </a:p>
          <a:p>
            <a:r>
              <a:rPr lang="en-US" dirty="0" smtClean="0"/>
              <a:t>Implement system:</a:t>
            </a:r>
          </a:p>
          <a:p>
            <a:pPr lvl="1"/>
            <a:r>
              <a:rPr lang="en-US" dirty="0" smtClean="0"/>
              <a:t>Novell's SUSE Linux Enterprise 10</a:t>
            </a:r>
          </a:p>
          <a:p>
            <a:pPr lvl="1"/>
            <a:r>
              <a:rPr lang="en-US" dirty="0" smtClean="0"/>
              <a:t>Red Hat's RHEL 5</a:t>
            </a:r>
          </a:p>
          <a:p>
            <a:pPr lvl="1"/>
            <a:r>
              <a:rPr lang="en-US" dirty="0" smtClean="0"/>
              <a:t>Sun Microsystems' Solaris</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Para-virtualization in </a:t>
            </a:r>
            <a:r>
              <a:rPr lang="en-US" dirty="0" err="1" smtClean="0"/>
              <a:t>Xen</a:t>
            </a:r>
            <a:r>
              <a:rPr lang="en-US" dirty="0" smtClean="0"/>
              <a:t> </a:t>
            </a:r>
            <a:endParaRPr lang="en-US" dirty="0"/>
          </a:p>
        </p:txBody>
      </p:sp>
      <p:sp>
        <p:nvSpPr>
          <p:cNvPr id="3" name="Content Placeholder 2"/>
          <p:cNvSpPr>
            <a:spLocks noGrp="1"/>
          </p:cNvSpPr>
          <p:nvPr>
            <p:ph idx="1"/>
          </p:nvPr>
        </p:nvSpPr>
        <p:spPr/>
        <p:txBody>
          <a:bodyPr/>
          <a:lstStyle/>
          <a:p>
            <a:pPr>
              <a:lnSpc>
                <a:spcPct val="90000"/>
              </a:lnSpc>
            </a:pPr>
            <a:r>
              <a:rPr lang="en-GB" dirty="0" err="1" smtClean="0"/>
              <a:t>Xen</a:t>
            </a:r>
            <a:r>
              <a:rPr lang="en-GB" dirty="0" smtClean="0"/>
              <a:t> extensions to x86 arch </a:t>
            </a:r>
          </a:p>
          <a:p>
            <a:pPr lvl="1">
              <a:lnSpc>
                <a:spcPct val="90000"/>
              </a:lnSpc>
            </a:pPr>
            <a:r>
              <a:rPr lang="en-GB" dirty="0" smtClean="0"/>
              <a:t>Like x86, but </a:t>
            </a:r>
            <a:r>
              <a:rPr lang="en-GB" dirty="0" err="1" smtClean="0"/>
              <a:t>Xen</a:t>
            </a:r>
            <a:r>
              <a:rPr lang="en-GB" dirty="0" smtClean="0"/>
              <a:t> invoked for privileged instructions</a:t>
            </a:r>
          </a:p>
          <a:p>
            <a:pPr lvl="1">
              <a:lnSpc>
                <a:spcPct val="90000"/>
              </a:lnSpc>
            </a:pPr>
            <a:r>
              <a:rPr lang="en-GB" dirty="0" smtClean="0"/>
              <a:t>Avoids binary rewriting</a:t>
            </a:r>
          </a:p>
          <a:p>
            <a:pPr lvl="1">
              <a:lnSpc>
                <a:spcPct val="90000"/>
              </a:lnSpc>
            </a:pPr>
            <a:r>
              <a:rPr lang="en-GB" dirty="0" smtClean="0"/>
              <a:t>Minimize number of privilege transitions into </a:t>
            </a:r>
            <a:r>
              <a:rPr lang="en-GB" dirty="0" err="1" smtClean="0"/>
              <a:t>Xen</a:t>
            </a:r>
            <a:endParaRPr lang="en-GB" dirty="0" smtClean="0"/>
          </a:p>
          <a:p>
            <a:pPr lvl="1">
              <a:lnSpc>
                <a:spcPct val="90000"/>
              </a:lnSpc>
            </a:pPr>
            <a:r>
              <a:rPr lang="en-GB" dirty="0" smtClean="0"/>
              <a:t>Modifications relatively simple and self-contained</a:t>
            </a:r>
            <a:br>
              <a:rPr lang="en-GB" dirty="0" smtClean="0"/>
            </a:br>
            <a:endParaRPr lang="en-GB" dirty="0" smtClean="0"/>
          </a:p>
          <a:p>
            <a:pPr>
              <a:lnSpc>
                <a:spcPct val="90000"/>
              </a:lnSpc>
            </a:pPr>
            <a:r>
              <a:rPr lang="en-GB" dirty="0" smtClean="0"/>
              <a:t>Modify kernel to understand virtualized environment</a:t>
            </a:r>
          </a:p>
          <a:p>
            <a:pPr lvl="1">
              <a:lnSpc>
                <a:spcPct val="90000"/>
              </a:lnSpc>
            </a:pPr>
            <a:r>
              <a:rPr lang="en-GB" dirty="0" smtClean="0"/>
              <a:t>Wall-clock time vs. virtual processor time</a:t>
            </a:r>
          </a:p>
          <a:p>
            <a:pPr lvl="2">
              <a:lnSpc>
                <a:spcPct val="90000"/>
              </a:lnSpc>
            </a:pPr>
            <a:r>
              <a:rPr lang="en-GB" dirty="0" smtClean="0"/>
              <a:t>Desire both types of alarm timer</a:t>
            </a:r>
          </a:p>
          <a:p>
            <a:pPr lvl="1">
              <a:lnSpc>
                <a:spcPct val="90000"/>
              </a:lnSpc>
            </a:pPr>
            <a:r>
              <a:rPr lang="en-GB" dirty="0" smtClean="0"/>
              <a:t>Expose real resource availability</a:t>
            </a:r>
          </a:p>
          <a:p>
            <a:pPr lvl="2">
              <a:lnSpc>
                <a:spcPct val="90000"/>
              </a:lnSpc>
            </a:pPr>
            <a:r>
              <a:rPr lang="en-GB" dirty="0" smtClean="0"/>
              <a:t>Enables OS to optimize its own behaviour</a:t>
            </a:r>
            <a:endParaRPr lang="en-US"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Original </a:t>
            </a:r>
            <a:r>
              <a:rPr lang="en-US" dirty="0" err="1" smtClean="0"/>
              <a:t>Xen</a:t>
            </a:r>
            <a:r>
              <a:rPr lang="en-US" dirty="0" smtClean="0"/>
              <a:t> Architecture</a:t>
            </a:r>
            <a:endParaRPr lang="en-US" dirty="0"/>
          </a:p>
        </p:txBody>
      </p:sp>
      <p:pic>
        <p:nvPicPr>
          <p:cNvPr id="9218" name="Picture 2"/>
          <p:cNvPicPr>
            <a:picLocks noGrp="1" noChangeAspect="1" noChangeArrowheads="1"/>
          </p:cNvPicPr>
          <p:nvPr>
            <p:ph idx="1"/>
          </p:nvPr>
        </p:nvPicPr>
        <p:blipFill>
          <a:blip r:embed="rId2" cstate="print"/>
          <a:srcRect/>
          <a:stretch>
            <a:fillRect/>
          </a:stretch>
        </p:blipFill>
        <p:spPr bwMode="auto">
          <a:xfrm>
            <a:off x="1371600" y="1600200"/>
            <a:ext cx="6400800" cy="482169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Assistance in </a:t>
            </a:r>
            <a:r>
              <a:rPr lang="en-US" dirty="0" err="1" smtClean="0"/>
              <a:t>Xen</a:t>
            </a:r>
            <a:endParaRPr lang="en-US" dirty="0"/>
          </a:p>
        </p:txBody>
      </p:sp>
      <p:sp>
        <p:nvSpPr>
          <p:cNvPr id="3" name="Content Placeholder 2"/>
          <p:cNvSpPr>
            <a:spLocks noGrp="1"/>
          </p:cNvSpPr>
          <p:nvPr>
            <p:ph idx="1"/>
          </p:nvPr>
        </p:nvSpPr>
        <p:spPr>
          <a:xfrm>
            <a:off x="457200" y="1600200"/>
            <a:ext cx="8458200" cy="4724400"/>
          </a:xfrm>
        </p:spPr>
        <p:txBody>
          <a:bodyPr>
            <a:normAutofit/>
          </a:bodyPr>
          <a:lstStyle/>
          <a:p>
            <a:pPr>
              <a:lnSpc>
                <a:spcPct val="90000"/>
              </a:lnSpc>
            </a:pPr>
            <a:r>
              <a:rPr lang="en-GB" sz="2800" dirty="0" smtClean="0"/>
              <a:t>Hardware assistance :</a:t>
            </a:r>
          </a:p>
          <a:p>
            <a:pPr lvl="1">
              <a:lnSpc>
                <a:spcPct val="90000"/>
              </a:lnSpc>
            </a:pPr>
            <a:r>
              <a:rPr lang="en-US" dirty="0" smtClean="0"/>
              <a:t>CPU provides </a:t>
            </a:r>
            <a:r>
              <a:rPr lang="en-US" sz="1800" b="1" dirty="0" err="1" smtClean="0">
                <a:latin typeface="Consolas" pitchFamily="49" charset="0"/>
                <a:cs typeface="Consolas" pitchFamily="49" charset="0"/>
              </a:rPr>
              <a:t>VMExit</a:t>
            </a:r>
            <a:r>
              <a:rPr lang="en-US" dirty="0" smtClean="0"/>
              <a:t> for certain privileged instructions</a:t>
            </a:r>
          </a:p>
          <a:p>
            <a:pPr lvl="1">
              <a:lnSpc>
                <a:spcPct val="90000"/>
              </a:lnSpc>
            </a:pPr>
            <a:r>
              <a:rPr lang="en-US" dirty="0" smtClean="0"/>
              <a:t>Extend page tables used to </a:t>
            </a:r>
            <a:r>
              <a:rPr lang="en-US" dirty="0" err="1" smtClean="0"/>
              <a:t>virtualize</a:t>
            </a:r>
            <a:r>
              <a:rPr lang="en-US" dirty="0" smtClean="0"/>
              <a:t> memory</a:t>
            </a:r>
            <a:r>
              <a:rPr lang="en-GB" dirty="0" smtClean="0"/>
              <a:t/>
            </a:r>
            <a:br>
              <a:rPr lang="en-GB" dirty="0" smtClean="0"/>
            </a:br>
            <a:endParaRPr lang="en-GB" dirty="0" smtClean="0"/>
          </a:p>
          <a:p>
            <a:pPr>
              <a:lnSpc>
                <a:spcPct val="90000"/>
              </a:lnSpc>
            </a:pPr>
            <a:r>
              <a:rPr lang="en-GB" sz="2800" dirty="0" err="1" smtClean="0"/>
              <a:t>Xen</a:t>
            </a:r>
            <a:r>
              <a:rPr lang="en-GB" sz="2800" dirty="0" smtClean="0"/>
              <a:t> features :</a:t>
            </a:r>
          </a:p>
          <a:p>
            <a:pPr lvl="1">
              <a:lnSpc>
                <a:spcPct val="90000"/>
              </a:lnSpc>
            </a:pPr>
            <a:r>
              <a:rPr lang="en-GB" dirty="0" smtClean="0"/>
              <a:t>Enable Guest OS to be run without modification</a:t>
            </a:r>
          </a:p>
          <a:p>
            <a:pPr lvl="2">
              <a:lnSpc>
                <a:spcPct val="90000"/>
              </a:lnSpc>
            </a:pPr>
            <a:r>
              <a:rPr lang="en-GB" dirty="0" smtClean="0"/>
              <a:t>For example, legacy Linux and Windows</a:t>
            </a:r>
          </a:p>
          <a:p>
            <a:pPr lvl="1">
              <a:lnSpc>
                <a:spcPct val="90000"/>
              </a:lnSpc>
            </a:pPr>
            <a:r>
              <a:rPr lang="en-GB" dirty="0" smtClean="0"/>
              <a:t>Provide simple platform emulation</a:t>
            </a:r>
          </a:p>
          <a:p>
            <a:pPr lvl="2">
              <a:lnSpc>
                <a:spcPct val="90000"/>
              </a:lnSpc>
            </a:pPr>
            <a:r>
              <a:rPr lang="en-GB" dirty="0" smtClean="0"/>
              <a:t>BIOS, </a:t>
            </a:r>
            <a:r>
              <a:rPr lang="en-GB" dirty="0" err="1" smtClean="0"/>
              <a:t>apic</a:t>
            </a:r>
            <a:r>
              <a:rPr lang="en-GB" dirty="0" smtClean="0"/>
              <a:t>, </a:t>
            </a:r>
            <a:r>
              <a:rPr lang="en-GB" dirty="0" err="1" smtClean="0"/>
              <a:t>iopaic</a:t>
            </a:r>
            <a:r>
              <a:rPr lang="en-GB" dirty="0" smtClean="0"/>
              <a:t>, </a:t>
            </a:r>
            <a:r>
              <a:rPr lang="en-GB" dirty="0" err="1" smtClean="0"/>
              <a:t>rtc</a:t>
            </a:r>
            <a:r>
              <a:rPr lang="en-GB" dirty="0" smtClean="0"/>
              <a:t>, Net (pcnet32), IDE emulation</a:t>
            </a:r>
          </a:p>
          <a:p>
            <a:pPr lvl="1">
              <a:lnSpc>
                <a:spcPct val="90000"/>
              </a:lnSpc>
            </a:pPr>
            <a:r>
              <a:rPr lang="en-GB" dirty="0" smtClean="0"/>
              <a:t>Install </a:t>
            </a:r>
            <a:r>
              <a:rPr lang="en-GB" dirty="0" err="1" smtClean="0"/>
              <a:t>para</a:t>
            </a:r>
            <a:r>
              <a:rPr lang="en-GB" dirty="0" smtClean="0"/>
              <a:t>-virtualized drivers after booting for high-performance IO</a:t>
            </a:r>
          </a:p>
          <a:p>
            <a:pPr lvl="1">
              <a:lnSpc>
                <a:spcPct val="90000"/>
              </a:lnSpc>
            </a:pPr>
            <a:r>
              <a:rPr lang="en-GB" dirty="0" smtClean="0"/>
              <a:t>Possibility for CPU and memory </a:t>
            </a:r>
            <a:r>
              <a:rPr lang="en-GB" dirty="0" err="1" smtClean="0"/>
              <a:t>para</a:t>
            </a:r>
            <a:r>
              <a:rPr lang="en-GB" dirty="0" smtClean="0"/>
              <a:t>-virtualization</a:t>
            </a:r>
          </a:p>
          <a:p>
            <a:pPr lvl="2">
              <a:lnSpc>
                <a:spcPct val="90000"/>
              </a:lnSpc>
            </a:pPr>
            <a:r>
              <a:rPr lang="en-GB" dirty="0" smtClean="0"/>
              <a:t>Non-invasive hypervisor hints from OS</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a:t>
            </a:r>
            <a:r>
              <a:rPr lang="en-US" dirty="0" err="1" smtClean="0"/>
              <a:t>Xen</a:t>
            </a:r>
            <a:r>
              <a:rPr lang="en-US" dirty="0" smtClean="0"/>
              <a:t> Architecture</a:t>
            </a:r>
            <a:endParaRPr lang="en-US" dirty="0"/>
          </a:p>
        </p:txBody>
      </p:sp>
      <p:pic>
        <p:nvPicPr>
          <p:cNvPr id="10242" name="Picture 2"/>
          <p:cNvPicPr>
            <a:picLocks noChangeAspect="1" noChangeArrowheads="1"/>
          </p:cNvPicPr>
          <p:nvPr/>
        </p:nvPicPr>
        <p:blipFill>
          <a:blip r:embed="rId2" cstate="print"/>
          <a:srcRect/>
          <a:stretch>
            <a:fillRect/>
          </a:stretch>
        </p:blipFill>
        <p:spPr bwMode="auto">
          <a:xfrm>
            <a:off x="457200" y="1143000"/>
            <a:ext cx="8229600" cy="557888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KVM</a:t>
            </a:r>
            <a:endParaRPr lang="en-US" dirty="0"/>
          </a:p>
        </p:txBody>
      </p:sp>
      <p:sp>
        <p:nvSpPr>
          <p:cNvPr id="3" name="Content Placeholder 2"/>
          <p:cNvSpPr>
            <a:spLocks noGrp="1"/>
          </p:cNvSpPr>
          <p:nvPr>
            <p:ph idx="1"/>
          </p:nvPr>
        </p:nvSpPr>
        <p:spPr/>
        <p:txBody>
          <a:bodyPr/>
          <a:lstStyle/>
          <a:p>
            <a:r>
              <a:rPr lang="en-US" dirty="0" smtClean="0"/>
              <a:t>KVM ( Kernel-based Virtual Machine)</a:t>
            </a:r>
          </a:p>
          <a:p>
            <a:pPr lvl="1"/>
            <a:r>
              <a:rPr lang="en-US" dirty="0" smtClean="0"/>
              <a:t>Linux host OS</a:t>
            </a:r>
          </a:p>
          <a:p>
            <a:pPr lvl="2"/>
            <a:r>
              <a:rPr lang="en-US" dirty="0" smtClean="0"/>
              <a:t>The kernel component of KVM is included in mainline Linux, as of 2.6.20.</a:t>
            </a:r>
          </a:p>
          <a:p>
            <a:pPr lvl="1"/>
            <a:r>
              <a:rPr lang="en-US" dirty="0" smtClean="0"/>
              <a:t>Full-virtualization</a:t>
            </a:r>
          </a:p>
          <a:p>
            <a:pPr lvl="2"/>
            <a:r>
              <a:rPr lang="en-US" dirty="0" smtClean="0"/>
              <a:t>KVM is a full virtualization solution for Linux on x86 hardware containing virtualization extensions (Intel VT or AMD-V). </a:t>
            </a:r>
          </a:p>
          <a:p>
            <a:pPr lvl="2"/>
            <a:r>
              <a:rPr lang="en-US" dirty="0" smtClean="0"/>
              <a:t>Using KVM, one can run multiple virtual machines running unmodified Linux or Windows images.</a:t>
            </a:r>
          </a:p>
          <a:p>
            <a:pPr lvl="1"/>
            <a:r>
              <a:rPr lang="en-US" dirty="0" smtClean="0"/>
              <a:t>IO device model in KVM :</a:t>
            </a:r>
          </a:p>
          <a:p>
            <a:pPr lvl="2"/>
            <a:r>
              <a:rPr lang="en-US" dirty="0" smtClean="0"/>
              <a:t>KVM requires a modified QEMU for IO virtualization framework.</a:t>
            </a:r>
          </a:p>
          <a:p>
            <a:pPr lvl="2"/>
            <a:r>
              <a:rPr lang="en-US" dirty="0" smtClean="0"/>
              <a:t>Improve IO performance by </a:t>
            </a:r>
            <a:r>
              <a:rPr lang="en-US" sz="1600" b="1" dirty="0" err="1" smtClean="0">
                <a:latin typeface="Consolas" pitchFamily="49" charset="0"/>
                <a:cs typeface="Consolas" pitchFamily="49" charset="0"/>
              </a:rPr>
              <a:t>virtio</a:t>
            </a:r>
            <a:r>
              <a:rPr lang="en-US" dirty="0" smtClean="0"/>
              <a:t> </a:t>
            </a:r>
            <a:r>
              <a:rPr lang="en-US" dirty="0" err="1" smtClean="0"/>
              <a:t>para</a:t>
            </a:r>
            <a:r>
              <a:rPr lang="en-US" dirty="0" smtClean="0"/>
              <a:t>-virtualization framework.</a:t>
            </a: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KVM Full Virtualization</a:t>
            </a:r>
            <a:endParaRPr lang="en-US" dirty="0"/>
          </a:p>
        </p:txBody>
      </p:sp>
      <p:sp>
        <p:nvSpPr>
          <p:cNvPr id="3" name="Content Placeholder 2"/>
          <p:cNvSpPr>
            <a:spLocks noGrp="1"/>
          </p:cNvSpPr>
          <p:nvPr>
            <p:ph idx="1"/>
          </p:nvPr>
        </p:nvSpPr>
        <p:spPr>
          <a:xfrm>
            <a:off x="457200" y="1219201"/>
            <a:ext cx="8229600" cy="1905000"/>
          </a:xfrm>
        </p:spPr>
        <p:txBody>
          <a:bodyPr/>
          <a:lstStyle/>
          <a:p>
            <a:r>
              <a:rPr lang="en-US" dirty="0" smtClean="0"/>
              <a:t>It consists of a loadable kernel module</a:t>
            </a:r>
          </a:p>
          <a:p>
            <a:pPr lvl="1"/>
            <a:r>
              <a:rPr lang="en-US" sz="1800" b="1" dirty="0" err="1" smtClean="0">
                <a:latin typeface="Consolas" pitchFamily="49" charset="0"/>
                <a:cs typeface="Consolas" pitchFamily="49" charset="0"/>
              </a:rPr>
              <a:t>kvm.ko</a:t>
            </a:r>
            <a:endParaRPr lang="en-US" b="1" dirty="0" smtClean="0">
              <a:latin typeface="Consolas" pitchFamily="49" charset="0"/>
              <a:cs typeface="Consolas" pitchFamily="49" charset="0"/>
            </a:endParaRPr>
          </a:p>
          <a:p>
            <a:pPr lvl="2"/>
            <a:r>
              <a:rPr lang="en-US" dirty="0" smtClean="0"/>
              <a:t>provides the core virtualization infrastructure</a:t>
            </a:r>
          </a:p>
          <a:p>
            <a:pPr lvl="1"/>
            <a:r>
              <a:rPr lang="en-US" sz="1800" b="1" dirty="0" err="1" smtClean="0">
                <a:latin typeface="Consolas" pitchFamily="49" charset="0"/>
                <a:cs typeface="Consolas" pitchFamily="49" charset="0"/>
              </a:rPr>
              <a:t>kvm-intel.ko</a:t>
            </a:r>
            <a:r>
              <a:rPr lang="en-US" dirty="0" smtClean="0"/>
              <a:t> / </a:t>
            </a:r>
            <a:r>
              <a:rPr lang="en-US" sz="1800" b="1" dirty="0" err="1" smtClean="0">
                <a:latin typeface="Consolas" pitchFamily="49" charset="0"/>
                <a:cs typeface="Consolas" pitchFamily="49" charset="0"/>
              </a:rPr>
              <a:t>kvm-amd.ko</a:t>
            </a:r>
            <a:endParaRPr lang="en-US" sz="1800" b="1" dirty="0" smtClean="0">
              <a:latin typeface="Consolas" pitchFamily="49" charset="0"/>
              <a:cs typeface="Consolas" pitchFamily="49" charset="0"/>
            </a:endParaRPr>
          </a:p>
          <a:p>
            <a:pPr lvl="2"/>
            <a:r>
              <a:rPr lang="en-US" dirty="0" smtClean="0"/>
              <a:t>processor specific modules</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1828800" y="3071810"/>
            <a:ext cx="5486400" cy="36337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Device Model in KVM</a:t>
            </a:r>
            <a:endParaRPr lang="en-US" dirty="0"/>
          </a:p>
        </p:txBody>
      </p:sp>
      <p:sp>
        <p:nvSpPr>
          <p:cNvPr id="3" name="Content Placeholder 2"/>
          <p:cNvSpPr>
            <a:spLocks noGrp="1"/>
          </p:cNvSpPr>
          <p:nvPr>
            <p:ph idx="1"/>
          </p:nvPr>
        </p:nvSpPr>
        <p:spPr/>
        <p:txBody>
          <a:bodyPr/>
          <a:lstStyle/>
          <a:p>
            <a:r>
              <a:rPr lang="en-US" dirty="0" smtClean="0"/>
              <a:t>Original approach with full-virtualization</a:t>
            </a:r>
          </a:p>
          <a:p>
            <a:pPr lvl="1"/>
            <a:r>
              <a:rPr lang="en-US" dirty="0" smtClean="0"/>
              <a:t>Guest hardware accesses are </a:t>
            </a:r>
            <a:br>
              <a:rPr lang="en-US" dirty="0" smtClean="0"/>
            </a:br>
            <a:r>
              <a:rPr lang="en-US" dirty="0" smtClean="0"/>
              <a:t>intercepted by KVM</a:t>
            </a:r>
          </a:p>
          <a:p>
            <a:pPr lvl="1"/>
            <a:r>
              <a:rPr lang="en-US" dirty="0" smtClean="0"/>
              <a:t>QEMU emulates hardware behavior</a:t>
            </a:r>
            <a:br>
              <a:rPr lang="en-US" dirty="0" smtClean="0"/>
            </a:br>
            <a:r>
              <a:rPr lang="en-US" dirty="0" smtClean="0"/>
              <a:t>of common devices</a:t>
            </a:r>
          </a:p>
          <a:p>
            <a:pPr lvl="2"/>
            <a:r>
              <a:rPr lang="en-US" dirty="0" smtClean="0"/>
              <a:t>RTL 8139</a:t>
            </a:r>
          </a:p>
          <a:p>
            <a:pPr lvl="2"/>
            <a:r>
              <a:rPr lang="fr-FR" dirty="0" smtClean="0"/>
              <a:t>PIIX4 IDE</a:t>
            </a:r>
          </a:p>
          <a:p>
            <a:pPr lvl="2"/>
            <a:r>
              <a:rPr lang="fr-FR" dirty="0" smtClean="0"/>
              <a:t>Cirrus </a:t>
            </a:r>
            <a:r>
              <a:rPr lang="fr-FR" dirty="0" err="1" smtClean="0"/>
              <a:t>Logic</a:t>
            </a:r>
            <a:r>
              <a:rPr lang="fr-FR" dirty="0" smtClean="0"/>
              <a:t> VGA</a:t>
            </a:r>
            <a:endParaRPr lang="en-US" dirty="0" smtClean="0"/>
          </a:p>
        </p:txBody>
      </p:sp>
      <p:pic>
        <p:nvPicPr>
          <p:cNvPr id="4" name="Picture 4"/>
          <p:cNvPicPr>
            <a:picLocks noChangeAspect="1"/>
          </p:cNvPicPr>
          <p:nvPr/>
        </p:nvPicPr>
        <p:blipFill>
          <a:blip r:embed="rId2" cstate="print"/>
          <a:srcRect/>
          <a:stretch>
            <a:fillRect/>
          </a:stretch>
        </p:blipFill>
        <p:spPr bwMode="auto">
          <a:xfrm>
            <a:off x="5486400" y="2133600"/>
            <a:ext cx="3200400" cy="44159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Device Model in KVM</a:t>
            </a:r>
            <a:endParaRPr lang="en-US" dirty="0"/>
          </a:p>
        </p:txBody>
      </p:sp>
      <p:sp>
        <p:nvSpPr>
          <p:cNvPr id="3" name="Content Placeholder 2"/>
          <p:cNvSpPr>
            <a:spLocks noGrp="1"/>
          </p:cNvSpPr>
          <p:nvPr>
            <p:ph idx="1"/>
          </p:nvPr>
        </p:nvSpPr>
        <p:spPr/>
        <p:txBody>
          <a:bodyPr/>
          <a:lstStyle/>
          <a:p>
            <a:r>
              <a:rPr lang="en-US" dirty="0" smtClean="0"/>
              <a:t>New approach with </a:t>
            </a:r>
            <a:r>
              <a:rPr lang="en-US" dirty="0" err="1" smtClean="0"/>
              <a:t>para</a:t>
            </a:r>
            <a:r>
              <a:rPr lang="en-US" dirty="0" smtClean="0"/>
              <a:t>-virtualization</a:t>
            </a:r>
            <a:endParaRPr lang="en-US" dirty="0"/>
          </a:p>
        </p:txBody>
      </p:sp>
      <p:pic>
        <p:nvPicPr>
          <p:cNvPr id="1026" name="Picture 2" descr="Driver abstractions with virtio"/>
          <p:cNvPicPr>
            <a:picLocks noChangeAspect="1" noChangeArrowheads="1"/>
          </p:cNvPicPr>
          <p:nvPr/>
        </p:nvPicPr>
        <p:blipFill>
          <a:blip r:embed="rId2" cstate="print"/>
          <a:srcRect/>
          <a:stretch>
            <a:fillRect/>
          </a:stretch>
        </p:blipFill>
        <p:spPr bwMode="auto">
          <a:xfrm>
            <a:off x="1371600" y="2951017"/>
            <a:ext cx="6400800" cy="2763983"/>
          </a:xfrm>
          <a:prstGeom prst="rect">
            <a:avLst/>
          </a:prstGeom>
          <a:noFill/>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Device Model in KVM</a:t>
            </a:r>
            <a:endParaRPr lang="en-US" dirty="0"/>
          </a:p>
        </p:txBody>
      </p:sp>
      <p:sp>
        <p:nvSpPr>
          <p:cNvPr id="3" name="Content Placeholder 2"/>
          <p:cNvSpPr>
            <a:spLocks noGrp="1"/>
          </p:cNvSpPr>
          <p:nvPr>
            <p:ph idx="1"/>
          </p:nvPr>
        </p:nvSpPr>
        <p:spPr>
          <a:xfrm>
            <a:off x="457200" y="1600201"/>
            <a:ext cx="8229600" cy="533400"/>
          </a:xfrm>
        </p:spPr>
        <p:txBody>
          <a:bodyPr/>
          <a:lstStyle/>
          <a:p>
            <a:r>
              <a:rPr lang="en-US" sz="2000" b="1" dirty="0" err="1" smtClean="0">
                <a:latin typeface="Consolas" pitchFamily="49" charset="0"/>
                <a:cs typeface="Consolas" pitchFamily="49" charset="0"/>
              </a:rPr>
              <a:t>virtio</a:t>
            </a:r>
            <a:r>
              <a:rPr lang="en-US" dirty="0" smtClean="0"/>
              <a:t> architecture</a:t>
            </a:r>
            <a:endParaRPr lang="en-US" dirty="0"/>
          </a:p>
        </p:txBody>
      </p:sp>
      <p:pic>
        <p:nvPicPr>
          <p:cNvPr id="147458" name="Picture 2" descr="High-level architecture"/>
          <p:cNvPicPr>
            <a:picLocks noChangeAspect="1" noChangeArrowheads="1"/>
          </p:cNvPicPr>
          <p:nvPr/>
        </p:nvPicPr>
        <p:blipFill>
          <a:blip r:embed="rId2" cstate="print"/>
          <a:srcRect/>
          <a:stretch>
            <a:fillRect/>
          </a:stretch>
        </p:blipFill>
        <p:spPr bwMode="auto">
          <a:xfrm>
            <a:off x="914400" y="2438400"/>
            <a:ext cx="7315200" cy="3714455"/>
          </a:xfrm>
          <a:prstGeom prst="rect">
            <a:avLst/>
          </a:prstGeom>
          <a:noFill/>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Issues</a:t>
            </a:r>
            <a:endParaRPr lang="en-US" dirty="0"/>
          </a:p>
        </p:txBody>
      </p:sp>
      <p:sp>
        <p:nvSpPr>
          <p:cNvPr id="3" name="Text Placeholder 2"/>
          <p:cNvSpPr>
            <a:spLocks noGrp="1"/>
          </p:cNvSpPr>
          <p:nvPr>
            <p:ph type="body" idx="1"/>
          </p:nvPr>
        </p:nvSpPr>
        <p:spPr/>
        <p:txBody>
          <a:bodyPr/>
          <a:lstStyle/>
          <a:p>
            <a:r>
              <a:rPr lang="en-US" altLang="zh-TW" dirty="0" smtClean="0">
                <a:solidFill>
                  <a:srgbClr val="C00000"/>
                </a:solidFill>
              </a:rPr>
              <a:t>Live migration </a:t>
            </a:r>
          </a:p>
          <a:p>
            <a:r>
              <a:rPr lang="en-US" dirty="0" smtClean="0">
                <a:solidFill>
                  <a:srgbClr val="C00000"/>
                </a:solidFill>
              </a:rPr>
              <a:t>Cloud properties</a:t>
            </a: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Issues</a:t>
            </a:r>
            <a:endParaRPr lang="en-US" dirty="0"/>
          </a:p>
        </p:txBody>
      </p:sp>
      <p:sp>
        <p:nvSpPr>
          <p:cNvPr id="3" name="Content Placeholder 2"/>
          <p:cNvSpPr>
            <a:spLocks noGrp="1"/>
          </p:cNvSpPr>
          <p:nvPr>
            <p:ph idx="1"/>
          </p:nvPr>
        </p:nvSpPr>
        <p:spPr>
          <a:xfrm>
            <a:off x="457200" y="1371600"/>
            <a:ext cx="8229600" cy="5105400"/>
          </a:xfrm>
        </p:spPr>
        <p:txBody>
          <a:bodyPr>
            <a:noAutofit/>
          </a:bodyPr>
          <a:lstStyle/>
          <a:p>
            <a:r>
              <a:rPr lang="en-US" dirty="0" smtClean="0"/>
              <a:t>Essential technique of cloud properties implementation</a:t>
            </a:r>
          </a:p>
          <a:p>
            <a:pPr lvl="1"/>
            <a:r>
              <a:rPr lang="en-US" dirty="0" smtClean="0"/>
              <a:t>Live migration of virtual machines</a:t>
            </a:r>
          </a:p>
          <a:p>
            <a:pPr lvl="2"/>
            <a:r>
              <a:rPr lang="en-US" dirty="0" smtClean="0"/>
              <a:t>Migrate a virtual machine from one physical machine to another in the run time with a small amount of performance down grade.</a:t>
            </a:r>
            <a:br>
              <a:rPr lang="en-US" dirty="0" smtClean="0"/>
            </a:br>
            <a:endParaRPr lang="en-US" dirty="0" smtClean="0"/>
          </a:p>
          <a:p>
            <a:r>
              <a:rPr lang="en-US" dirty="0" smtClean="0"/>
              <a:t>Virtualization enabled cloud properties :</a:t>
            </a:r>
          </a:p>
          <a:p>
            <a:pPr lvl="1"/>
            <a:r>
              <a:rPr lang="en-US" dirty="0" smtClean="0"/>
              <a:t>Scalability</a:t>
            </a:r>
          </a:p>
          <a:p>
            <a:pPr lvl="2"/>
            <a:r>
              <a:rPr lang="en-US" dirty="0" smtClean="0"/>
              <a:t>Virtual machine system automatic scale up</a:t>
            </a:r>
          </a:p>
          <a:p>
            <a:pPr lvl="1"/>
            <a:r>
              <a:rPr lang="en-US" dirty="0" smtClean="0"/>
              <a:t>Availability</a:t>
            </a:r>
          </a:p>
          <a:p>
            <a:pPr lvl="2"/>
            <a:r>
              <a:rPr lang="en-US" dirty="0" smtClean="0"/>
              <a:t>Fault tolerant of hardware and software</a:t>
            </a:r>
          </a:p>
          <a:p>
            <a:pPr lvl="1"/>
            <a:r>
              <a:rPr lang="en-US" dirty="0" smtClean="0"/>
              <a:t>Manageability</a:t>
            </a:r>
          </a:p>
          <a:p>
            <a:pPr lvl="2"/>
            <a:r>
              <a:rPr lang="en-US" dirty="0" smtClean="0"/>
              <a:t>Automatic physical to virtual system transformation</a:t>
            </a:r>
          </a:p>
          <a:p>
            <a:pPr lvl="1"/>
            <a:r>
              <a:rPr lang="en-US" dirty="0" smtClean="0"/>
              <a:t>Performance</a:t>
            </a:r>
          </a:p>
          <a:p>
            <a:pPr lvl="2"/>
            <a:r>
              <a:rPr lang="en-US" dirty="0" smtClean="0"/>
              <a:t>Dynamically virtual machine level load balancing</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Live Migration Technique</a:t>
            </a:r>
            <a:endParaRPr lang="en-US" dirty="0"/>
          </a:p>
        </p:txBody>
      </p:sp>
      <p:sp>
        <p:nvSpPr>
          <p:cNvPr id="3" name="Content Placeholder 2"/>
          <p:cNvSpPr>
            <a:spLocks noGrp="1"/>
          </p:cNvSpPr>
          <p:nvPr>
            <p:ph idx="1"/>
          </p:nvPr>
        </p:nvSpPr>
        <p:spPr/>
        <p:txBody>
          <a:bodyPr/>
          <a:lstStyle/>
          <a:p>
            <a:r>
              <a:rPr lang="en-US" dirty="0" smtClean="0"/>
              <a:t>Pre-assumption :</a:t>
            </a:r>
          </a:p>
          <a:p>
            <a:pPr lvl="1"/>
            <a:r>
              <a:rPr lang="en-US" dirty="0" smtClean="0"/>
              <a:t>We assume that all storage resources are</a:t>
            </a:r>
            <a:br>
              <a:rPr lang="en-US" dirty="0" smtClean="0"/>
            </a:br>
            <a:r>
              <a:rPr lang="en-US" dirty="0" smtClean="0"/>
              <a:t>separated from computing resources.</a:t>
            </a:r>
          </a:p>
          <a:p>
            <a:pPr lvl="1"/>
            <a:r>
              <a:rPr lang="en-US" dirty="0" smtClean="0"/>
              <a:t>Storage devices of VMs are attached from</a:t>
            </a:r>
            <a:br>
              <a:rPr lang="en-US" dirty="0" smtClean="0"/>
            </a:br>
            <a:r>
              <a:rPr lang="en-US" dirty="0" smtClean="0"/>
              <a:t>network :</a:t>
            </a:r>
          </a:p>
          <a:p>
            <a:pPr lvl="2"/>
            <a:r>
              <a:rPr lang="en-US" b="1" i="1" dirty="0" smtClean="0"/>
              <a:t>NAS</a:t>
            </a:r>
            <a:r>
              <a:rPr lang="en-US" dirty="0" smtClean="0"/>
              <a:t>: NFS, CIFS</a:t>
            </a:r>
          </a:p>
          <a:p>
            <a:pPr lvl="2"/>
            <a:r>
              <a:rPr lang="en-US" b="1" i="1" dirty="0" smtClean="0"/>
              <a:t>SAN</a:t>
            </a:r>
            <a:r>
              <a:rPr lang="en-US" dirty="0" smtClean="0"/>
              <a:t>: </a:t>
            </a:r>
            <a:r>
              <a:rPr lang="en-US" dirty="0" err="1" smtClean="0"/>
              <a:t>Fibre</a:t>
            </a:r>
            <a:r>
              <a:rPr lang="en-US" dirty="0" smtClean="0"/>
              <a:t> Channel</a:t>
            </a:r>
          </a:p>
          <a:p>
            <a:pPr lvl="2"/>
            <a:r>
              <a:rPr lang="en-US" b="1" i="1" dirty="0" err="1" smtClean="0"/>
              <a:t>iSCSI</a:t>
            </a:r>
            <a:r>
              <a:rPr lang="en-US" dirty="0" smtClean="0"/>
              <a:t>, network block device</a:t>
            </a:r>
          </a:p>
          <a:p>
            <a:pPr lvl="2"/>
            <a:r>
              <a:rPr lang="en-US" b="1" i="1" dirty="0" err="1" smtClean="0"/>
              <a:t>drdb</a:t>
            </a:r>
            <a:r>
              <a:rPr lang="en-US" dirty="0" smtClean="0"/>
              <a:t> network RAID</a:t>
            </a:r>
          </a:p>
          <a:p>
            <a:pPr lvl="1"/>
            <a:r>
              <a:rPr lang="en-US" dirty="0" smtClean="0"/>
              <a:t>Require high quality network  connection</a:t>
            </a:r>
          </a:p>
          <a:p>
            <a:pPr lvl="2"/>
            <a:r>
              <a:rPr lang="en-US" dirty="0" smtClean="0"/>
              <a:t>Common L2 network (LAN)</a:t>
            </a:r>
          </a:p>
          <a:p>
            <a:pPr lvl="2"/>
            <a:r>
              <a:rPr lang="en-US" dirty="0" smtClean="0"/>
              <a:t>L3 re-routing </a:t>
            </a:r>
          </a:p>
        </p:txBody>
      </p:sp>
      <p:pic>
        <p:nvPicPr>
          <p:cNvPr id="148482" name="Picture 2"/>
          <p:cNvPicPr>
            <a:picLocks noChangeAspect="1" noChangeArrowheads="1"/>
          </p:cNvPicPr>
          <p:nvPr/>
        </p:nvPicPr>
        <p:blipFill>
          <a:blip r:embed="rId2" cstate="print"/>
          <a:srcRect/>
          <a:stretch>
            <a:fillRect/>
          </a:stretch>
        </p:blipFill>
        <p:spPr bwMode="auto">
          <a:xfrm>
            <a:off x="5943600" y="2362200"/>
            <a:ext cx="2743200" cy="3901377"/>
          </a:xfrm>
          <a:prstGeom prst="rect">
            <a:avLst/>
          </a:prstGeom>
          <a:noFill/>
          <a:ln w="9525">
            <a:noFill/>
            <a:miter lim="800000"/>
            <a:headEnd/>
            <a:tailEnd/>
          </a:ln>
          <a:effectLst/>
        </p:spPr>
      </p:pic>
      <p:sp>
        <p:nvSpPr>
          <p:cNvPr id="5" name="Rectangle 4"/>
          <p:cNvSpPr/>
          <p:nvPr/>
        </p:nvSpPr>
        <p:spPr>
          <a:xfrm>
            <a:off x="6096000" y="2743200"/>
            <a:ext cx="457200" cy="2743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lstStyle/>
          <a:p>
            <a:pPr algn="ctr"/>
            <a:r>
              <a:rPr lang="en-US" sz="1200" b="1" i="1" dirty="0" smtClean="0"/>
              <a:t>VM 1</a:t>
            </a:r>
            <a:endParaRPr lang="en-US" sz="1200" b="1" i="1" dirty="0"/>
          </a:p>
        </p:txBody>
      </p:sp>
      <p:sp>
        <p:nvSpPr>
          <p:cNvPr id="27" name="Rectangle 26"/>
          <p:cNvSpPr/>
          <p:nvPr/>
        </p:nvSpPr>
        <p:spPr>
          <a:xfrm>
            <a:off x="7051496" y="2743200"/>
            <a:ext cx="457200" cy="2743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lstStyle/>
          <a:p>
            <a:pPr algn="ctr"/>
            <a:r>
              <a:rPr lang="en-US" sz="1200" b="1" i="1" dirty="0" smtClean="0"/>
              <a:t>VM 2</a:t>
            </a:r>
            <a:endParaRPr lang="en-US" sz="1200" b="1" i="1" dirty="0"/>
          </a:p>
        </p:txBody>
      </p:sp>
      <p:sp>
        <p:nvSpPr>
          <p:cNvPr id="29" name="Round Diagonal Corner Rectangle 28"/>
          <p:cNvSpPr/>
          <p:nvPr/>
        </p:nvSpPr>
        <p:spPr>
          <a:xfrm>
            <a:off x="7980452" y="5613970"/>
            <a:ext cx="548640" cy="457200"/>
          </a:xfrm>
          <a:prstGeom prst="round2DiagRect">
            <a:avLst/>
          </a:prstGeom>
        </p:spPr>
        <p:style>
          <a:lnRef idx="0">
            <a:schemeClr val="accent6"/>
          </a:lnRef>
          <a:fillRef idx="3">
            <a:schemeClr val="accent6"/>
          </a:fillRef>
          <a:effectRef idx="3">
            <a:schemeClr val="accent6"/>
          </a:effectRef>
          <a:fontRef idx="minor">
            <a:schemeClr val="lt1"/>
          </a:fontRef>
        </p:style>
        <p:txBody>
          <a:bodyPr wrap="none" rtlCol="0" anchor="ctr"/>
          <a:lstStyle/>
          <a:p>
            <a:pPr algn="ctr"/>
            <a:r>
              <a:rPr lang="en-US" sz="1200" b="1" i="1" dirty="0" smtClean="0"/>
              <a:t>VM 1</a:t>
            </a:r>
          </a:p>
          <a:p>
            <a:pPr algn="ctr"/>
            <a:r>
              <a:rPr lang="en-US" sz="1200" b="1" i="1" dirty="0" smtClean="0"/>
              <a:t>Disk</a:t>
            </a:r>
            <a:endParaRPr lang="en-US" sz="1200" b="1" i="1" dirty="0"/>
          </a:p>
        </p:txBody>
      </p:sp>
      <p:sp>
        <p:nvSpPr>
          <p:cNvPr id="30" name="Round Diagonal Corner Rectangle 29"/>
          <p:cNvSpPr/>
          <p:nvPr/>
        </p:nvSpPr>
        <p:spPr>
          <a:xfrm>
            <a:off x="7055778" y="5613970"/>
            <a:ext cx="548640" cy="457200"/>
          </a:xfrm>
          <a:prstGeom prst="round2DiagRect">
            <a:avLst/>
          </a:prstGeom>
        </p:spPr>
        <p:style>
          <a:lnRef idx="0">
            <a:schemeClr val="accent1"/>
          </a:lnRef>
          <a:fillRef idx="3">
            <a:schemeClr val="accent1"/>
          </a:fillRef>
          <a:effectRef idx="3">
            <a:schemeClr val="accent1"/>
          </a:effectRef>
          <a:fontRef idx="minor">
            <a:schemeClr val="lt1"/>
          </a:fontRef>
        </p:style>
        <p:txBody>
          <a:bodyPr wrap="none" rtlCol="0" anchor="ctr"/>
          <a:lstStyle/>
          <a:p>
            <a:pPr algn="ctr"/>
            <a:r>
              <a:rPr lang="en-US" sz="1200" b="1" i="1" dirty="0" smtClean="0"/>
              <a:t>VM 2</a:t>
            </a:r>
          </a:p>
          <a:p>
            <a:pPr algn="ctr"/>
            <a:r>
              <a:rPr lang="en-US" sz="1200" b="1" i="1" dirty="0" smtClean="0"/>
              <a:t>Disk</a:t>
            </a:r>
            <a:endParaRPr lang="en-US" sz="1200" b="1" i="1"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Live Migration Technique</a:t>
            </a:r>
            <a:endParaRPr lang="en-US" dirty="0"/>
          </a:p>
        </p:txBody>
      </p:sp>
      <p:sp>
        <p:nvSpPr>
          <p:cNvPr id="3" name="Content Placeholder 2"/>
          <p:cNvSpPr>
            <a:spLocks noGrp="1"/>
          </p:cNvSpPr>
          <p:nvPr>
            <p:ph idx="1"/>
          </p:nvPr>
        </p:nvSpPr>
        <p:spPr>
          <a:xfrm>
            <a:off x="457200" y="1600200"/>
            <a:ext cx="4724400" cy="4953000"/>
          </a:xfrm>
        </p:spPr>
        <p:txBody>
          <a:bodyPr>
            <a:noAutofit/>
          </a:bodyPr>
          <a:lstStyle/>
          <a:p>
            <a:r>
              <a:rPr lang="en-US" dirty="0" smtClean="0"/>
              <a:t>Challenges of live migration :</a:t>
            </a:r>
          </a:p>
          <a:p>
            <a:pPr lvl="1"/>
            <a:r>
              <a:rPr lang="en-GB" dirty="0" smtClean="0"/>
              <a:t>VMs have lots of state in memory</a:t>
            </a:r>
          </a:p>
          <a:p>
            <a:pPr lvl="1"/>
            <a:r>
              <a:rPr lang="en-GB" dirty="0" smtClean="0"/>
              <a:t>Some VMs have soft real-time</a:t>
            </a:r>
            <a:br>
              <a:rPr lang="en-GB" dirty="0" smtClean="0"/>
            </a:br>
            <a:r>
              <a:rPr lang="en-GB" dirty="0" smtClean="0"/>
              <a:t>requirements :</a:t>
            </a:r>
          </a:p>
          <a:p>
            <a:pPr lvl="2"/>
            <a:r>
              <a:rPr lang="en-GB" dirty="0" smtClean="0"/>
              <a:t>For examples, web servers, </a:t>
            </a:r>
            <a:br>
              <a:rPr lang="en-GB" dirty="0" smtClean="0"/>
            </a:br>
            <a:r>
              <a:rPr lang="en-GB" dirty="0" smtClean="0"/>
              <a:t>databases and game servers, ...etc.</a:t>
            </a:r>
          </a:p>
          <a:p>
            <a:pPr lvl="2"/>
            <a:r>
              <a:rPr lang="en-GB" dirty="0" smtClean="0"/>
              <a:t>Need to minimize down-time</a:t>
            </a:r>
            <a:endParaRPr lang="en-US" dirty="0" smtClean="0"/>
          </a:p>
          <a:p>
            <a:r>
              <a:rPr lang="en-GB" dirty="0" smtClean="0"/>
              <a:t>Relocation strategy :</a:t>
            </a:r>
          </a:p>
          <a:p>
            <a:pPr marL="822960" lvl="1" indent="-365760">
              <a:buFont typeface="+mj-lt"/>
              <a:buAutoNum type="arabicPeriod"/>
            </a:pPr>
            <a:r>
              <a:rPr lang="en-GB" dirty="0" smtClean="0"/>
              <a:t>Pre-migration process</a:t>
            </a:r>
          </a:p>
          <a:p>
            <a:pPr marL="822960" lvl="1" indent="-365760">
              <a:buFont typeface="+mj-lt"/>
              <a:buAutoNum type="arabicPeriod"/>
            </a:pPr>
            <a:r>
              <a:rPr lang="en-GB" dirty="0" smtClean="0"/>
              <a:t>Reservation process</a:t>
            </a:r>
          </a:p>
          <a:p>
            <a:pPr marL="822960" lvl="1" indent="-365760">
              <a:buFont typeface="+mj-lt"/>
              <a:buAutoNum type="arabicPeriod"/>
            </a:pPr>
            <a:r>
              <a:rPr lang="en-GB" dirty="0" smtClean="0"/>
              <a:t>Iterative pre-copy</a:t>
            </a:r>
          </a:p>
          <a:p>
            <a:pPr marL="822960" lvl="1" indent="-365760">
              <a:buFont typeface="+mj-lt"/>
              <a:buAutoNum type="arabicPeriod"/>
            </a:pPr>
            <a:r>
              <a:rPr lang="en-GB" dirty="0" smtClean="0"/>
              <a:t>Stop and copy</a:t>
            </a:r>
          </a:p>
          <a:p>
            <a:pPr marL="822960" lvl="1" indent="-365760">
              <a:buFont typeface="+mj-lt"/>
              <a:buAutoNum type="arabicPeriod"/>
            </a:pPr>
            <a:r>
              <a:rPr lang="en-GB" dirty="0" smtClean="0"/>
              <a:t>Commitment</a:t>
            </a:r>
          </a:p>
        </p:txBody>
      </p:sp>
      <p:pic>
        <p:nvPicPr>
          <p:cNvPr id="149506" name="Picture 2"/>
          <p:cNvPicPr>
            <a:picLocks noChangeAspect="1" noChangeArrowheads="1"/>
          </p:cNvPicPr>
          <p:nvPr/>
        </p:nvPicPr>
        <p:blipFill>
          <a:blip r:embed="rId2" cstate="print"/>
          <a:srcRect/>
          <a:stretch>
            <a:fillRect/>
          </a:stretch>
        </p:blipFill>
        <p:spPr bwMode="auto">
          <a:xfrm>
            <a:off x="5387418" y="1752600"/>
            <a:ext cx="3223182" cy="47548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Live Migration Technique</a:t>
            </a:r>
            <a:endParaRPr lang="en-US" dirty="0"/>
          </a:p>
        </p:txBody>
      </p:sp>
      <p:sp>
        <p:nvSpPr>
          <p:cNvPr id="5" name="Rounded Rectangle 4"/>
          <p:cNvSpPr/>
          <p:nvPr/>
        </p:nvSpPr>
        <p:spPr>
          <a:xfrm>
            <a:off x="1066800" y="1722120"/>
            <a:ext cx="3017520" cy="640080"/>
          </a:xfrm>
          <a:prstGeom prst="roundRect">
            <a:avLst/>
          </a:prstGeom>
          <a:gradFill flip="none" rotWithShape="1">
            <a:gsLst>
              <a:gs pos="0">
                <a:schemeClr val="accent3">
                  <a:lumMod val="40000"/>
                  <a:lumOff val="60000"/>
                </a:schemeClr>
              </a:gs>
              <a:gs pos="50000">
                <a:schemeClr val="accent3">
                  <a:lumMod val="75000"/>
                </a:schemeClr>
              </a:gs>
              <a:gs pos="100000">
                <a:schemeClr val="accent3">
                  <a:lumMod val="50000"/>
                </a:schemeClr>
              </a:gs>
            </a:gsLst>
            <a:lin ang="16200000" scaled="1"/>
            <a:tileRect/>
          </a:gradFill>
          <a:ln w="57150"/>
        </p:spPr>
        <p:style>
          <a:lnRef idx="3">
            <a:schemeClr val="lt1"/>
          </a:lnRef>
          <a:fillRef idx="1">
            <a:schemeClr val="accent3"/>
          </a:fillRef>
          <a:effectRef idx="1">
            <a:schemeClr val="accent3"/>
          </a:effectRef>
          <a:fontRef idx="minor">
            <a:schemeClr val="lt1"/>
          </a:fontRef>
        </p:style>
        <p:txBody>
          <a:bodyPr rtlCol="0" anchor="ctr"/>
          <a:lstStyle/>
          <a:p>
            <a:pPr algn="ctr"/>
            <a:r>
              <a:rPr lang="en-US" sz="2000" b="1" dirty="0" smtClean="0"/>
              <a:t>Pre-migration process</a:t>
            </a:r>
            <a:endParaRPr lang="en-US" sz="2000" b="1" dirty="0"/>
          </a:p>
        </p:txBody>
      </p:sp>
      <p:sp>
        <p:nvSpPr>
          <p:cNvPr id="6" name="Rounded Rectangle 5"/>
          <p:cNvSpPr/>
          <p:nvPr/>
        </p:nvSpPr>
        <p:spPr>
          <a:xfrm>
            <a:off x="1066800" y="2693670"/>
            <a:ext cx="3017520" cy="640080"/>
          </a:xfrm>
          <a:prstGeom prst="roundRect">
            <a:avLst/>
          </a:prstGeom>
          <a:gradFill flip="none" rotWithShape="1">
            <a:gsLst>
              <a:gs pos="0">
                <a:schemeClr val="accent3">
                  <a:lumMod val="40000"/>
                  <a:lumOff val="60000"/>
                </a:schemeClr>
              </a:gs>
              <a:gs pos="50000">
                <a:schemeClr val="accent3">
                  <a:lumMod val="75000"/>
                </a:schemeClr>
              </a:gs>
              <a:gs pos="100000">
                <a:schemeClr val="accent3">
                  <a:lumMod val="50000"/>
                </a:schemeClr>
              </a:gs>
            </a:gsLst>
            <a:lin ang="16200000" scaled="1"/>
            <a:tileRect/>
          </a:gradFill>
          <a:ln w="57150"/>
        </p:spPr>
        <p:style>
          <a:lnRef idx="3">
            <a:schemeClr val="lt1"/>
          </a:lnRef>
          <a:fillRef idx="1">
            <a:schemeClr val="accent3"/>
          </a:fillRef>
          <a:effectRef idx="1">
            <a:schemeClr val="accent3"/>
          </a:effectRef>
          <a:fontRef idx="minor">
            <a:schemeClr val="lt1"/>
          </a:fontRef>
        </p:style>
        <p:txBody>
          <a:bodyPr rtlCol="0" anchor="ctr"/>
          <a:lstStyle/>
          <a:p>
            <a:pPr algn="ctr"/>
            <a:r>
              <a:rPr lang="en-US" sz="2000" b="1" dirty="0" smtClean="0"/>
              <a:t>Reservation process</a:t>
            </a:r>
            <a:endParaRPr lang="en-US" sz="2000" b="1" dirty="0"/>
          </a:p>
        </p:txBody>
      </p:sp>
      <p:sp>
        <p:nvSpPr>
          <p:cNvPr id="7" name="Rounded Rectangle 6"/>
          <p:cNvSpPr/>
          <p:nvPr/>
        </p:nvSpPr>
        <p:spPr>
          <a:xfrm>
            <a:off x="1066800" y="3665220"/>
            <a:ext cx="3017520" cy="640080"/>
          </a:xfrm>
          <a:prstGeom prst="roundRect">
            <a:avLst/>
          </a:prstGeom>
          <a:gradFill flip="none" rotWithShape="1">
            <a:gsLst>
              <a:gs pos="0">
                <a:schemeClr val="accent3">
                  <a:lumMod val="40000"/>
                  <a:lumOff val="60000"/>
                </a:schemeClr>
              </a:gs>
              <a:gs pos="50000">
                <a:schemeClr val="accent3">
                  <a:lumMod val="75000"/>
                </a:schemeClr>
              </a:gs>
              <a:gs pos="100000">
                <a:schemeClr val="accent3">
                  <a:lumMod val="50000"/>
                </a:schemeClr>
              </a:gs>
            </a:gsLst>
            <a:lin ang="16200000" scaled="1"/>
            <a:tileRect/>
          </a:gradFill>
          <a:ln w="57150"/>
        </p:spPr>
        <p:style>
          <a:lnRef idx="3">
            <a:schemeClr val="lt1"/>
          </a:lnRef>
          <a:fillRef idx="1">
            <a:schemeClr val="accent3"/>
          </a:fillRef>
          <a:effectRef idx="1">
            <a:schemeClr val="accent3"/>
          </a:effectRef>
          <a:fontRef idx="minor">
            <a:schemeClr val="lt1"/>
          </a:fontRef>
        </p:style>
        <p:txBody>
          <a:bodyPr rtlCol="0" anchor="ctr"/>
          <a:lstStyle/>
          <a:p>
            <a:pPr algn="ctr"/>
            <a:r>
              <a:rPr lang="en-US" sz="2000" b="1" dirty="0" smtClean="0"/>
              <a:t>Iterative pre-copy</a:t>
            </a:r>
            <a:endParaRPr lang="en-US" sz="2000" b="1" dirty="0"/>
          </a:p>
        </p:txBody>
      </p:sp>
      <p:sp>
        <p:nvSpPr>
          <p:cNvPr id="8" name="Rounded Rectangle 7"/>
          <p:cNvSpPr/>
          <p:nvPr/>
        </p:nvSpPr>
        <p:spPr>
          <a:xfrm>
            <a:off x="1066800" y="4636770"/>
            <a:ext cx="3017520" cy="640080"/>
          </a:xfrm>
          <a:prstGeom prst="roundRect">
            <a:avLst/>
          </a:prstGeom>
          <a:gradFill flip="none" rotWithShape="1">
            <a:gsLst>
              <a:gs pos="0">
                <a:schemeClr val="accent3">
                  <a:lumMod val="40000"/>
                  <a:lumOff val="60000"/>
                </a:schemeClr>
              </a:gs>
              <a:gs pos="50000">
                <a:schemeClr val="accent3">
                  <a:lumMod val="75000"/>
                </a:schemeClr>
              </a:gs>
              <a:gs pos="100000">
                <a:schemeClr val="accent3">
                  <a:lumMod val="50000"/>
                </a:schemeClr>
              </a:gs>
            </a:gsLst>
            <a:lin ang="16200000" scaled="1"/>
            <a:tileRect/>
          </a:gradFill>
          <a:ln w="57150"/>
        </p:spPr>
        <p:style>
          <a:lnRef idx="3">
            <a:schemeClr val="lt1"/>
          </a:lnRef>
          <a:fillRef idx="1">
            <a:schemeClr val="accent3"/>
          </a:fillRef>
          <a:effectRef idx="1">
            <a:schemeClr val="accent3"/>
          </a:effectRef>
          <a:fontRef idx="minor">
            <a:schemeClr val="lt1"/>
          </a:fontRef>
        </p:style>
        <p:txBody>
          <a:bodyPr rtlCol="0" anchor="ctr"/>
          <a:lstStyle/>
          <a:p>
            <a:pPr algn="ctr"/>
            <a:r>
              <a:rPr lang="en-US" sz="2000" b="1" dirty="0" smtClean="0"/>
              <a:t>Stop and copy</a:t>
            </a:r>
            <a:endParaRPr lang="en-US" sz="2000" b="1" dirty="0"/>
          </a:p>
        </p:txBody>
      </p:sp>
      <p:sp>
        <p:nvSpPr>
          <p:cNvPr id="9" name="Rounded Rectangle 8"/>
          <p:cNvSpPr/>
          <p:nvPr/>
        </p:nvSpPr>
        <p:spPr>
          <a:xfrm>
            <a:off x="1066800" y="5608320"/>
            <a:ext cx="3017520" cy="640080"/>
          </a:xfrm>
          <a:prstGeom prst="roundRect">
            <a:avLst/>
          </a:prstGeom>
          <a:gradFill flip="none" rotWithShape="1">
            <a:gsLst>
              <a:gs pos="0">
                <a:schemeClr val="accent3">
                  <a:lumMod val="40000"/>
                  <a:lumOff val="60000"/>
                </a:schemeClr>
              </a:gs>
              <a:gs pos="50000">
                <a:schemeClr val="accent3">
                  <a:lumMod val="75000"/>
                </a:schemeClr>
              </a:gs>
              <a:gs pos="100000">
                <a:schemeClr val="accent3">
                  <a:lumMod val="50000"/>
                </a:schemeClr>
              </a:gs>
            </a:gsLst>
            <a:lin ang="16200000" scaled="1"/>
            <a:tileRect/>
          </a:gradFill>
          <a:ln w="57150"/>
        </p:spPr>
        <p:style>
          <a:lnRef idx="3">
            <a:schemeClr val="lt1"/>
          </a:lnRef>
          <a:fillRef idx="1">
            <a:schemeClr val="accent3"/>
          </a:fillRef>
          <a:effectRef idx="1">
            <a:schemeClr val="accent3"/>
          </a:effectRef>
          <a:fontRef idx="minor">
            <a:schemeClr val="lt1"/>
          </a:fontRef>
        </p:style>
        <p:txBody>
          <a:bodyPr rtlCol="0" anchor="ctr"/>
          <a:lstStyle/>
          <a:p>
            <a:pPr algn="ctr"/>
            <a:r>
              <a:rPr lang="en-US" sz="2000" b="1" dirty="0" smtClean="0"/>
              <a:t>Commitment</a:t>
            </a:r>
            <a:endParaRPr lang="en-US" sz="2000" b="1" dirty="0"/>
          </a:p>
        </p:txBody>
      </p:sp>
      <p:sp>
        <p:nvSpPr>
          <p:cNvPr id="10" name="Down Arrow 9"/>
          <p:cNvSpPr/>
          <p:nvPr/>
        </p:nvSpPr>
        <p:spPr>
          <a:xfrm>
            <a:off x="2392680" y="2418194"/>
            <a:ext cx="365760" cy="274320"/>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11" name="Down Arrow 10"/>
          <p:cNvSpPr/>
          <p:nvPr/>
        </p:nvSpPr>
        <p:spPr>
          <a:xfrm>
            <a:off x="2392680" y="3393554"/>
            <a:ext cx="365760" cy="274320"/>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12" name="Down Arrow 11"/>
          <p:cNvSpPr/>
          <p:nvPr/>
        </p:nvSpPr>
        <p:spPr>
          <a:xfrm>
            <a:off x="2392680" y="4368914"/>
            <a:ext cx="365760" cy="274320"/>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13" name="Down Arrow 12"/>
          <p:cNvSpPr/>
          <p:nvPr/>
        </p:nvSpPr>
        <p:spPr>
          <a:xfrm>
            <a:off x="2392680" y="5344274"/>
            <a:ext cx="365760" cy="274320"/>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16" name="Rounded Rectangular Callout 15"/>
          <p:cNvSpPr/>
          <p:nvPr/>
        </p:nvSpPr>
        <p:spPr>
          <a:xfrm>
            <a:off x="4815156" y="3515474"/>
            <a:ext cx="3657600" cy="914400"/>
          </a:xfrm>
          <a:prstGeom prst="wedgeRoundRectCallout">
            <a:avLst>
              <a:gd name="adj1" fmla="val -68586"/>
              <a:gd name="adj2" fmla="val -209091"/>
              <a:gd name="adj3" fmla="val 16667"/>
            </a:avLst>
          </a:prstGeom>
          <a:ln w="28575"/>
        </p:spPr>
        <p:style>
          <a:lnRef idx="1">
            <a:schemeClr val="accent2"/>
          </a:lnRef>
          <a:fillRef idx="2">
            <a:schemeClr val="accent2"/>
          </a:fillRef>
          <a:effectRef idx="1">
            <a:schemeClr val="accent2"/>
          </a:effectRef>
          <a:fontRef idx="minor">
            <a:schemeClr val="dk1"/>
          </a:fontRef>
        </p:style>
        <p:txBody>
          <a:bodyPr rtlCol="0" anchor="ctr"/>
          <a:lstStyle/>
          <a:p>
            <a:pPr marL="182880" indent="-182880">
              <a:buFont typeface="Arial" pitchFamily="34" charset="0"/>
              <a:buChar char="•"/>
            </a:pPr>
            <a:r>
              <a:rPr lang="en-GB" b="1" dirty="0" smtClean="0">
                <a:solidFill>
                  <a:schemeClr val="accent2">
                    <a:lumMod val="50000"/>
                  </a:schemeClr>
                </a:solidFill>
              </a:rPr>
              <a:t>VM active on host A</a:t>
            </a:r>
          </a:p>
          <a:p>
            <a:pPr marL="182880" indent="-182880">
              <a:buFont typeface="Arial" pitchFamily="34" charset="0"/>
              <a:buChar char="•"/>
            </a:pPr>
            <a:r>
              <a:rPr lang="en-GB" b="1" dirty="0" smtClean="0">
                <a:solidFill>
                  <a:schemeClr val="accent2">
                    <a:lumMod val="50000"/>
                  </a:schemeClr>
                </a:solidFill>
              </a:rPr>
              <a:t>Destination host selected</a:t>
            </a:r>
            <a:br>
              <a:rPr lang="en-GB" b="1" dirty="0" smtClean="0">
                <a:solidFill>
                  <a:schemeClr val="accent2">
                    <a:lumMod val="50000"/>
                  </a:schemeClr>
                </a:solidFill>
              </a:rPr>
            </a:br>
            <a:r>
              <a:rPr lang="en-GB" b="1" dirty="0" smtClean="0">
                <a:solidFill>
                  <a:schemeClr val="accent2">
                    <a:lumMod val="50000"/>
                  </a:schemeClr>
                </a:solidFill>
              </a:rPr>
              <a:t>(Block devices mirrored)</a:t>
            </a:r>
            <a:endParaRPr lang="en-GB" b="1" dirty="0">
              <a:solidFill>
                <a:schemeClr val="accent2">
                  <a:lumMod val="50000"/>
                </a:schemeClr>
              </a:solidFill>
            </a:endParaRPr>
          </a:p>
        </p:txBody>
      </p:sp>
      <p:sp>
        <p:nvSpPr>
          <p:cNvPr id="17" name="Rounded Rectangular Callout 16"/>
          <p:cNvSpPr/>
          <p:nvPr/>
        </p:nvSpPr>
        <p:spPr>
          <a:xfrm>
            <a:off x="4815156" y="3515474"/>
            <a:ext cx="3657600" cy="914400"/>
          </a:xfrm>
          <a:prstGeom prst="wedgeRoundRectCallout">
            <a:avLst>
              <a:gd name="adj1" fmla="val -67462"/>
              <a:gd name="adj2" fmla="val -109091"/>
              <a:gd name="adj3" fmla="val 16667"/>
            </a:avLst>
          </a:prstGeom>
          <a:ln w="28575"/>
        </p:spPr>
        <p:style>
          <a:lnRef idx="1">
            <a:schemeClr val="accent2"/>
          </a:lnRef>
          <a:fillRef idx="2">
            <a:schemeClr val="accent2"/>
          </a:fillRef>
          <a:effectRef idx="1">
            <a:schemeClr val="accent2"/>
          </a:effectRef>
          <a:fontRef idx="minor">
            <a:schemeClr val="dk1"/>
          </a:fontRef>
        </p:style>
        <p:txBody>
          <a:bodyPr rtlCol="0" anchor="ctr"/>
          <a:lstStyle/>
          <a:p>
            <a:pPr marL="182880" indent="-182880">
              <a:buFont typeface="Arial" pitchFamily="34" charset="0"/>
              <a:buChar char="•"/>
            </a:pPr>
            <a:r>
              <a:rPr lang="en-US" b="1" dirty="0" smtClean="0">
                <a:solidFill>
                  <a:schemeClr val="accent2">
                    <a:lumMod val="50000"/>
                  </a:schemeClr>
                </a:solidFill>
              </a:rPr>
              <a:t>Initialize container on target host</a:t>
            </a:r>
          </a:p>
        </p:txBody>
      </p:sp>
      <p:sp>
        <p:nvSpPr>
          <p:cNvPr id="18" name="Rounded Rectangular Callout 17"/>
          <p:cNvSpPr/>
          <p:nvPr/>
        </p:nvSpPr>
        <p:spPr>
          <a:xfrm>
            <a:off x="4815156" y="3515474"/>
            <a:ext cx="3657600" cy="914400"/>
          </a:xfrm>
          <a:prstGeom prst="wedgeRoundRectCallout">
            <a:avLst>
              <a:gd name="adj1" fmla="val -67182"/>
              <a:gd name="adj2" fmla="val 1022"/>
              <a:gd name="adj3" fmla="val 16667"/>
            </a:avLst>
          </a:prstGeom>
          <a:ln w="28575"/>
        </p:spPr>
        <p:style>
          <a:lnRef idx="1">
            <a:schemeClr val="accent2"/>
          </a:lnRef>
          <a:fillRef idx="2">
            <a:schemeClr val="accent2"/>
          </a:fillRef>
          <a:effectRef idx="1">
            <a:schemeClr val="accent2"/>
          </a:effectRef>
          <a:fontRef idx="minor">
            <a:schemeClr val="dk1"/>
          </a:fontRef>
        </p:style>
        <p:txBody>
          <a:bodyPr rtlCol="0" anchor="ctr"/>
          <a:lstStyle/>
          <a:p>
            <a:pPr marL="182880" indent="-182880">
              <a:buFont typeface="Arial" pitchFamily="34" charset="0"/>
              <a:buChar char="•"/>
            </a:pPr>
            <a:r>
              <a:rPr lang="en-US" b="1" dirty="0" smtClean="0">
                <a:solidFill>
                  <a:schemeClr val="accent2">
                    <a:lumMod val="50000"/>
                  </a:schemeClr>
                </a:solidFill>
              </a:rPr>
              <a:t>Copy dirty pages in successive rounds</a:t>
            </a:r>
          </a:p>
        </p:txBody>
      </p:sp>
      <p:sp>
        <p:nvSpPr>
          <p:cNvPr id="19" name="Rounded Rectangular Callout 18"/>
          <p:cNvSpPr/>
          <p:nvPr/>
        </p:nvSpPr>
        <p:spPr>
          <a:xfrm>
            <a:off x="4815156" y="3515474"/>
            <a:ext cx="3657600" cy="914400"/>
          </a:xfrm>
          <a:prstGeom prst="wedgeRoundRectCallout">
            <a:avLst>
              <a:gd name="adj1" fmla="val -67182"/>
              <a:gd name="adj2" fmla="val 104393"/>
              <a:gd name="adj3" fmla="val 16667"/>
            </a:avLst>
          </a:prstGeom>
          <a:ln w="28575"/>
        </p:spPr>
        <p:style>
          <a:lnRef idx="1">
            <a:schemeClr val="accent2"/>
          </a:lnRef>
          <a:fillRef idx="2">
            <a:schemeClr val="accent2"/>
          </a:fillRef>
          <a:effectRef idx="1">
            <a:schemeClr val="accent2"/>
          </a:effectRef>
          <a:fontRef idx="minor">
            <a:schemeClr val="dk1"/>
          </a:fontRef>
        </p:style>
        <p:txBody>
          <a:bodyPr rtlCol="0" anchor="ctr"/>
          <a:lstStyle/>
          <a:p>
            <a:pPr marL="182880" indent="-182880">
              <a:buFont typeface="Arial" pitchFamily="34" charset="0"/>
              <a:buChar char="•"/>
            </a:pPr>
            <a:r>
              <a:rPr lang="en-US" b="1" dirty="0" smtClean="0">
                <a:solidFill>
                  <a:schemeClr val="accent2">
                    <a:lumMod val="50000"/>
                  </a:schemeClr>
                </a:solidFill>
              </a:rPr>
              <a:t>Suspend VM on host A</a:t>
            </a:r>
          </a:p>
          <a:p>
            <a:pPr marL="182880" indent="-182880">
              <a:buFont typeface="Arial" pitchFamily="34" charset="0"/>
              <a:buChar char="•"/>
            </a:pPr>
            <a:r>
              <a:rPr lang="en-US" b="1" dirty="0" smtClean="0">
                <a:solidFill>
                  <a:schemeClr val="accent2">
                    <a:lumMod val="50000"/>
                  </a:schemeClr>
                </a:solidFill>
              </a:rPr>
              <a:t>Redirect network traffic</a:t>
            </a:r>
          </a:p>
          <a:p>
            <a:pPr marL="182880" indent="-182880">
              <a:buFont typeface="Arial" pitchFamily="34" charset="0"/>
              <a:buChar char="•"/>
            </a:pPr>
            <a:r>
              <a:rPr lang="en-US" b="1" dirty="0" smtClean="0">
                <a:solidFill>
                  <a:schemeClr val="accent2">
                    <a:lumMod val="50000"/>
                  </a:schemeClr>
                </a:solidFill>
              </a:rPr>
              <a:t>Synch remaining state</a:t>
            </a:r>
          </a:p>
        </p:txBody>
      </p:sp>
      <p:sp>
        <p:nvSpPr>
          <p:cNvPr id="20" name="Rounded Rectangular Callout 19"/>
          <p:cNvSpPr/>
          <p:nvPr/>
        </p:nvSpPr>
        <p:spPr>
          <a:xfrm>
            <a:off x="4815156" y="3515474"/>
            <a:ext cx="3657600" cy="914400"/>
          </a:xfrm>
          <a:prstGeom prst="wedgeRoundRectCallout">
            <a:avLst>
              <a:gd name="adj1" fmla="val -68025"/>
              <a:gd name="adj2" fmla="val 214505"/>
              <a:gd name="adj3" fmla="val 16667"/>
            </a:avLst>
          </a:prstGeom>
          <a:ln w="28575"/>
        </p:spPr>
        <p:style>
          <a:lnRef idx="1">
            <a:schemeClr val="accent2"/>
          </a:lnRef>
          <a:fillRef idx="2">
            <a:schemeClr val="accent2"/>
          </a:fillRef>
          <a:effectRef idx="1">
            <a:schemeClr val="accent2"/>
          </a:effectRef>
          <a:fontRef idx="minor">
            <a:schemeClr val="dk1"/>
          </a:fontRef>
        </p:style>
        <p:txBody>
          <a:bodyPr rtlCol="0" anchor="ctr"/>
          <a:lstStyle/>
          <a:p>
            <a:pPr marL="182880" indent="-182880">
              <a:buFont typeface="Arial" pitchFamily="34" charset="0"/>
              <a:buChar char="•"/>
            </a:pPr>
            <a:r>
              <a:rPr lang="en-US" b="1" dirty="0" smtClean="0">
                <a:solidFill>
                  <a:schemeClr val="accent2">
                    <a:lumMod val="50000"/>
                  </a:schemeClr>
                </a:solidFill>
              </a:rPr>
              <a:t>Activate on host B</a:t>
            </a:r>
          </a:p>
          <a:p>
            <a:pPr marL="182880" indent="-182880">
              <a:buFont typeface="Arial" pitchFamily="34" charset="0"/>
              <a:buChar char="•"/>
            </a:pPr>
            <a:r>
              <a:rPr lang="en-US" b="1" dirty="0" smtClean="0">
                <a:solidFill>
                  <a:schemeClr val="accent2">
                    <a:lumMod val="50000"/>
                  </a:schemeClr>
                </a:solidFill>
              </a:rPr>
              <a:t>VM state on host A released</a:t>
            </a:r>
          </a:p>
        </p:txBody>
      </p:sp>
      <p:pic>
        <p:nvPicPr>
          <p:cNvPr id="150531" name="Picture 3"/>
          <p:cNvPicPr>
            <a:picLocks noChangeAspect="1" noChangeArrowheads="1"/>
          </p:cNvPicPr>
          <p:nvPr/>
        </p:nvPicPr>
        <p:blipFill>
          <a:blip r:embed="rId2" cstate="print"/>
          <a:srcRect/>
          <a:stretch>
            <a:fillRect/>
          </a:stretch>
        </p:blipFill>
        <p:spPr bwMode="auto">
          <a:xfrm>
            <a:off x="609600" y="3352800"/>
            <a:ext cx="804863" cy="1420813"/>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17"/>
                                        </p:tgtEl>
                                      </p:cBhvr>
                                    </p:animEffect>
                                    <p:set>
                                      <p:cBhvr>
                                        <p:cTn id="23" dur="1" fill="hold">
                                          <p:stCondLst>
                                            <p:cond delay="499"/>
                                          </p:stCondLst>
                                        </p:cTn>
                                        <p:tgtEl>
                                          <p:spTgt spid="17"/>
                                        </p:tgtEl>
                                        <p:attrNameLst>
                                          <p:attrName>style.visibility</p:attrName>
                                        </p:attrNameLst>
                                      </p:cBhvr>
                                      <p:to>
                                        <p:strVal val="hidden"/>
                                      </p:to>
                                    </p:set>
                                  </p:childTnLst>
                                </p:cTn>
                              </p:par>
                            </p:childTnLst>
                          </p:cTn>
                        </p:par>
                        <p:par>
                          <p:cTn id="24" fill="hold">
                            <p:stCondLst>
                              <p:cond delay="500"/>
                            </p:stCondLst>
                            <p:childTnLst>
                              <p:par>
                                <p:cTn id="25" presetID="22" presetClass="entr" presetSubtype="1"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500"/>
                                        <p:tgtEl>
                                          <p:spTgt spid="11"/>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nodeType="withEffect">
                                  <p:stCondLst>
                                    <p:cond delay="0"/>
                                  </p:stCondLst>
                                  <p:childTnLst>
                                    <p:set>
                                      <p:cBhvr>
                                        <p:cTn id="36" dur="1" fill="hold">
                                          <p:stCondLst>
                                            <p:cond delay="0"/>
                                          </p:stCondLst>
                                        </p:cTn>
                                        <p:tgtEl>
                                          <p:spTgt spid="150531"/>
                                        </p:tgtEl>
                                        <p:attrNameLst>
                                          <p:attrName>style.visibility</p:attrName>
                                        </p:attrNameLst>
                                      </p:cBhvr>
                                      <p:to>
                                        <p:strVal val="visible"/>
                                      </p:to>
                                    </p:set>
                                    <p:animEffect transition="in" filter="fade">
                                      <p:cBhvr>
                                        <p:cTn id="37" dur="500"/>
                                        <p:tgtEl>
                                          <p:spTgt spid="1505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18"/>
                                        </p:tgtEl>
                                      </p:cBhvr>
                                    </p:animEffect>
                                    <p:set>
                                      <p:cBhvr>
                                        <p:cTn id="42" dur="1" fill="hold">
                                          <p:stCondLst>
                                            <p:cond delay="499"/>
                                          </p:stCondLst>
                                        </p:cTn>
                                        <p:tgtEl>
                                          <p:spTgt spid="18"/>
                                        </p:tgtEl>
                                        <p:attrNameLst>
                                          <p:attrName>style.visibility</p:attrName>
                                        </p:attrNameLst>
                                      </p:cBhvr>
                                      <p:to>
                                        <p:strVal val="hidden"/>
                                      </p:to>
                                    </p:set>
                                  </p:childTnLst>
                                </p:cTn>
                              </p:par>
                            </p:childTnLst>
                          </p:cTn>
                        </p:par>
                        <p:par>
                          <p:cTn id="43" fill="hold">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up)">
                                      <p:cBhvr>
                                        <p:cTn id="46" dur="500"/>
                                        <p:tgtEl>
                                          <p:spTgt spid="12"/>
                                        </p:tgtEl>
                                      </p:cBhvr>
                                    </p:animEffect>
                                  </p:childTnLst>
                                </p:cTn>
                              </p:par>
                              <p:par>
                                <p:cTn id="47" presetID="22" presetClass="entr" presetSubtype="1" fill="hold"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up)">
                                      <p:cBhvr>
                                        <p:cTn id="49" dur="500"/>
                                        <p:tgtEl>
                                          <p:spTgt spid="8"/>
                                        </p:tgtEl>
                                      </p:cBhvr>
                                    </p:animEffect>
                                  </p:childTnLst>
                                </p:cTn>
                              </p:par>
                            </p:childTnLst>
                          </p:cTn>
                        </p:par>
                        <p:par>
                          <p:cTn id="50" fill="hold">
                            <p:stCondLst>
                              <p:cond delay="1000"/>
                            </p:stCondLst>
                            <p:childTnLst>
                              <p:par>
                                <p:cTn id="51" presetID="10" presetClass="entr" presetSubtype="0"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grpId="1" nodeType="clickEffect">
                                  <p:stCondLst>
                                    <p:cond delay="0"/>
                                  </p:stCondLst>
                                  <p:childTnLst>
                                    <p:animEffect transition="out" filter="fade">
                                      <p:cBhvr>
                                        <p:cTn id="57" dur="500"/>
                                        <p:tgtEl>
                                          <p:spTgt spid="19"/>
                                        </p:tgtEl>
                                      </p:cBhvr>
                                    </p:animEffect>
                                    <p:set>
                                      <p:cBhvr>
                                        <p:cTn id="58" dur="1" fill="hold">
                                          <p:stCondLst>
                                            <p:cond delay="499"/>
                                          </p:stCondLst>
                                        </p:cTn>
                                        <p:tgtEl>
                                          <p:spTgt spid="19"/>
                                        </p:tgtEl>
                                        <p:attrNameLst>
                                          <p:attrName>style.visibility</p:attrName>
                                        </p:attrNameLst>
                                      </p:cBhvr>
                                      <p:to>
                                        <p:strVal val="hidden"/>
                                      </p:to>
                                    </p:set>
                                  </p:childTnLst>
                                </p:cTn>
                              </p:par>
                            </p:childTnLst>
                          </p:cTn>
                        </p:par>
                        <p:par>
                          <p:cTn id="59" fill="hold">
                            <p:stCondLst>
                              <p:cond delay="500"/>
                            </p:stCondLst>
                            <p:childTnLst>
                              <p:par>
                                <p:cTn id="60" presetID="22" presetClass="entr" presetSubtype="1" fill="hold" grpId="0" nodeType="after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up)">
                                      <p:cBhvr>
                                        <p:cTn id="62" dur="500"/>
                                        <p:tgtEl>
                                          <p:spTgt spid="13"/>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wipe(up)">
                                      <p:cBhvr>
                                        <p:cTn id="65" dur="500"/>
                                        <p:tgtEl>
                                          <p:spTgt spid="9"/>
                                        </p:tgtEl>
                                      </p:cBhvr>
                                    </p:animEffect>
                                  </p:childTnLst>
                                </p:cTn>
                              </p:par>
                            </p:childTnLst>
                          </p:cTn>
                        </p:par>
                        <p:par>
                          <p:cTn id="66" fill="hold">
                            <p:stCondLst>
                              <p:cond delay="1000"/>
                            </p:stCondLst>
                            <p:childTnLst>
                              <p:par>
                                <p:cTn id="67" presetID="10" presetClass="entr" presetSubtype="0" fill="hold" grpId="0" nodeType="after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6" grpId="0" animBg="1"/>
      <p:bldP spid="17" grpId="0" animBg="1"/>
      <p:bldP spid="17" grpId="1" animBg="1"/>
      <p:bldP spid="18" grpId="0" animBg="1"/>
      <p:bldP spid="18" grpId="1" animBg="1"/>
      <p:bldP spid="19" grpId="0" animBg="1"/>
      <p:bldP spid="19" grpId="1" animBg="1"/>
      <p:bldP spid="20"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Rectangle 13"/>
          <p:cNvSpPr>
            <a:spLocks noChangeArrowheads="1"/>
          </p:cNvSpPr>
          <p:nvPr/>
        </p:nvSpPr>
        <p:spPr bwMode="auto">
          <a:xfrm>
            <a:off x="611188" y="2667000"/>
            <a:ext cx="3600450" cy="36004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nvGrpSpPr>
          <p:cNvPr id="225" name="Group 9"/>
          <p:cNvGrpSpPr>
            <a:grpSpLocks/>
          </p:cNvGrpSpPr>
          <p:nvPr/>
        </p:nvGrpSpPr>
        <p:grpSpPr bwMode="auto">
          <a:xfrm>
            <a:off x="611188" y="2667000"/>
            <a:ext cx="3600450" cy="2881313"/>
            <a:chOff x="385" y="1366"/>
            <a:chExt cx="2268" cy="1815"/>
          </a:xfrm>
        </p:grpSpPr>
        <p:sp>
          <p:nvSpPr>
            <p:cNvPr id="226" name="Rectangle 10"/>
            <p:cNvSpPr>
              <a:spLocks noChangeArrowheads="1"/>
            </p:cNvSpPr>
            <p:nvPr/>
          </p:nvSpPr>
          <p:spPr bwMode="auto">
            <a:xfrm>
              <a:off x="385" y="1366"/>
              <a:ext cx="2268" cy="1588"/>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27" name="Line 11"/>
            <p:cNvSpPr>
              <a:spLocks noChangeShapeType="1"/>
            </p:cNvSpPr>
            <p:nvPr/>
          </p:nvSpPr>
          <p:spPr bwMode="auto">
            <a:xfrm>
              <a:off x="1519" y="2954"/>
              <a:ext cx="1" cy="227"/>
            </a:xfrm>
            <a:prstGeom prst="line">
              <a:avLst/>
            </a:prstGeom>
            <a:noFill/>
            <a:ln w="38100">
              <a:solidFill>
                <a:srgbClr val="000000"/>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grpSp>
        <p:nvGrpSpPr>
          <p:cNvPr id="213" name="Group 6"/>
          <p:cNvGrpSpPr>
            <a:grpSpLocks/>
          </p:cNvGrpSpPr>
          <p:nvPr/>
        </p:nvGrpSpPr>
        <p:grpSpPr bwMode="auto">
          <a:xfrm>
            <a:off x="611188" y="2667000"/>
            <a:ext cx="3600450" cy="2339975"/>
            <a:chOff x="385" y="1366"/>
            <a:chExt cx="2268" cy="1474"/>
          </a:xfrm>
        </p:grpSpPr>
        <p:sp>
          <p:nvSpPr>
            <p:cNvPr id="214" name="Rectangle 7"/>
            <p:cNvSpPr>
              <a:spLocks noChangeArrowheads="1"/>
            </p:cNvSpPr>
            <p:nvPr/>
          </p:nvSpPr>
          <p:spPr bwMode="auto">
            <a:xfrm>
              <a:off x="385" y="1366"/>
              <a:ext cx="2268" cy="1134"/>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15" name="Line 8"/>
            <p:cNvSpPr>
              <a:spLocks noChangeShapeType="1"/>
            </p:cNvSpPr>
            <p:nvPr/>
          </p:nvSpPr>
          <p:spPr bwMode="auto">
            <a:xfrm>
              <a:off x="1519" y="2500"/>
              <a:ext cx="0" cy="340"/>
            </a:xfrm>
            <a:prstGeom prst="line">
              <a:avLst/>
            </a:prstGeom>
            <a:noFill/>
            <a:ln w="38100">
              <a:solidFill>
                <a:srgbClr val="000000"/>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sp>
        <p:nvSpPr>
          <p:cNvPr id="2" name="Title 1"/>
          <p:cNvSpPr>
            <a:spLocks noGrp="1"/>
          </p:cNvSpPr>
          <p:nvPr>
            <p:ph type="title"/>
          </p:nvPr>
        </p:nvSpPr>
        <p:spPr/>
        <p:txBody>
          <a:bodyPr/>
          <a:lstStyle/>
          <a:p>
            <a:r>
              <a:rPr lang="en-US" dirty="0" smtClean="0"/>
              <a:t>Live Migration Technique</a:t>
            </a:r>
            <a:endParaRPr lang="en-US" dirty="0"/>
          </a:p>
        </p:txBody>
      </p:sp>
      <p:sp>
        <p:nvSpPr>
          <p:cNvPr id="3" name="Content Placeholder 2"/>
          <p:cNvSpPr>
            <a:spLocks noGrp="1"/>
          </p:cNvSpPr>
          <p:nvPr>
            <p:ph idx="1"/>
          </p:nvPr>
        </p:nvSpPr>
        <p:spPr>
          <a:xfrm>
            <a:off x="457200" y="1371600"/>
            <a:ext cx="8229600" cy="533400"/>
          </a:xfrm>
        </p:spPr>
        <p:txBody>
          <a:bodyPr/>
          <a:lstStyle/>
          <a:p>
            <a:r>
              <a:rPr lang="en-US" dirty="0" smtClean="0"/>
              <a:t>Live migration process :</a:t>
            </a:r>
            <a:endParaRPr lang="en-US" dirty="0"/>
          </a:p>
        </p:txBody>
      </p:sp>
      <p:sp>
        <p:nvSpPr>
          <p:cNvPr id="62" name="Rectangle 61"/>
          <p:cNvSpPr/>
          <p:nvPr/>
        </p:nvSpPr>
        <p:spPr>
          <a:xfrm>
            <a:off x="2010241" y="1905000"/>
            <a:ext cx="5123518" cy="584775"/>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Pre-copy migration : Round 1</a:t>
            </a:r>
            <a:endParaRPr lang="en-US" sz="32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45" name="Rectangle 16"/>
          <p:cNvSpPr>
            <a:spLocks noChangeArrowheads="1"/>
          </p:cNvSpPr>
          <p:nvPr/>
        </p:nvSpPr>
        <p:spPr bwMode="auto">
          <a:xfrm>
            <a:off x="969963" y="3746500"/>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47" name="Rectangle 18"/>
          <p:cNvSpPr>
            <a:spLocks noChangeArrowheads="1"/>
          </p:cNvSpPr>
          <p:nvPr/>
        </p:nvSpPr>
        <p:spPr bwMode="auto">
          <a:xfrm>
            <a:off x="969963" y="5184775"/>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48" name="Rectangle 19"/>
          <p:cNvSpPr>
            <a:spLocks noChangeArrowheads="1"/>
          </p:cNvSpPr>
          <p:nvPr/>
        </p:nvSpPr>
        <p:spPr bwMode="auto">
          <a:xfrm>
            <a:off x="2049463" y="4465638"/>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49" name="Rectangle 20"/>
          <p:cNvSpPr>
            <a:spLocks noChangeArrowheads="1"/>
          </p:cNvSpPr>
          <p:nvPr/>
        </p:nvSpPr>
        <p:spPr bwMode="auto">
          <a:xfrm>
            <a:off x="2770188" y="4105275"/>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50" name="Rectangle 21"/>
          <p:cNvSpPr>
            <a:spLocks noChangeArrowheads="1"/>
          </p:cNvSpPr>
          <p:nvPr/>
        </p:nvSpPr>
        <p:spPr bwMode="auto">
          <a:xfrm>
            <a:off x="3490913" y="4467225"/>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51" name="Rectangle 22"/>
          <p:cNvSpPr>
            <a:spLocks noChangeArrowheads="1"/>
          </p:cNvSpPr>
          <p:nvPr/>
        </p:nvSpPr>
        <p:spPr bwMode="auto">
          <a:xfrm>
            <a:off x="3490913" y="5184775"/>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52" name="Rectangle 23"/>
          <p:cNvSpPr>
            <a:spLocks noChangeArrowheads="1"/>
          </p:cNvSpPr>
          <p:nvPr/>
        </p:nvSpPr>
        <p:spPr bwMode="auto">
          <a:xfrm>
            <a:off x="3130550" y="3384550"/>
            <a:ext cx="360363"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53" name="Rectangle 24"/>
          <p:cNvSpPr>
            <a:spLocks noChangeArrowheads="1"/>
          </p:cNvSpPr>
          <p:nvPr/>
        </p:nvSpPr>
        <p:spPr bwMode="auto">
          <a:xfrm>
            <a:off x="2409825" y="5545138"/>
            <a:ext cx="360363"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54" name="Rectangle 25"/>
          <p:cNvSpPr>
            <a:spLocks noChangeArrowheads="1"/>
          </p:cNvSpPr>
          <p:nvPr/>
        </p:nvSpPr>
        <p:spPr bwMode="auto">
          <a:xfrm>
            <a:off x="2409825" y="4824413"/>
            <a:ext cx="360363"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82" name="Rectangle 2"/>
          <p:cNvSpPr>
            <a:spLocks noChangeArrowheads="1"/>
          </p:cNvSpPr>
          <p:nvPr/>
        </p:nvSpPr>
        <p:spPr bwMode="auto">
          <a:xfrm>
            <a:off x="4932363" y="2667000"/>
            <a:ext cx="3600450" cy="3600450"/>
          </a:xfrm>
          <a:prstGeom prst="rect">
            <a:avLst/>
          </a:prstGeom>
          <a:solidFill>
            <a:srgbClr val="5E574E"/>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nvGrpSpPr>
          <p:cNvPr id="228" name="Group 31"/>
          <p:cNvGrpSpPr>
            <a:grpSpLocks/>
          </p:cNvGrpSpPr>
          <p:nvPr/>
        </p:nvGrpSpPr>
        <p:grpSpPr bwMode="auto">
          <a:xfrm>
            <a:off x="4932363" y="2667000"/>
            <a:ext cx="3600450" cy="2881313"/>
            <a:chOff x="385" y="1366"/>
            <a:chExt cx="2268" cy="1815"/>
          </a:xfrm>
        </p:grpSpPr>
        <p:sp>
          <p:nvSpPr>
            <p:cNvPr id="229" name="Rectangle 32"/>
            <p:cNvSpPr>
              <a:spLocks noChangeArrowheads="1"/>
            </p:cNvSpPr>
            <p:nvPr/>
          </p:nvSpPr>
          <p:spPr bwMode="auto">
            <a:xfrm>
              <a:off x="385" y="1366"/>
              <a:ext cx="2268" cy="1588"/>
            </a:xfrm>
            <a:prstGeom prst="rect">
              <a:avLst/>
            </a:prstGeom>
            <a:solidFill>
              <a:srgbClr val="5E574E"/>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30" name="Line 33"/>
            <p:cNvSpPr>
              <a:spLocks noChangeShapeType="1"/>
            </p:cNvSpPr>
            <p:nvPr/>
          </p:nvSpPr>
          <p:spPr bwMode="auto">
            <a:xfrm>
              <a:off x="1519" y="2954"/>
              <a:ext cx="1" cy="227"/>
            </a:xfrm>
            <a:prstGeom prst="line">
              <a:avLst/>
            </a:prstGeom>
            <a:noFill/>
            <a:ln w="38100">
              <a:solidFill>
                <a:srgbClr val="000000"/>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grpSp>
        <p:nvGrpSpPr>
          <p:cNvPr id="216" name="Group 22"/>
          <p:cNvGrpSpPr>
            <a:grpSpLocks/>
          </p:cNvGrpSpPr>
          <p:nvPr/>
        </p:nvGrpSpPr>
        <p:grpSpPr bwMode="auto">
          <a:xfrm>
            <a:off x="4932363" y="2667000"/>
            <a:ext cx="3600450" cy="2339975"/>
            <a:chOff x="385" y="1366"/>
            <a:chExt cx="2268" cy="1474"/>
          </a:xfrm>
        </p:grpSpPr>
        <p:sp>
          <p:nvSpPr>
            <p:cNvPr id="217" name="Rectangle 23"/>
            <p:cNvSpPr>
              <a:spLocks noChangeArrowheads="1"/>
            </p:cNvSpPr>
            <p:nvPr/>
          </p:nvSpPr>
          <p:spPr bwMode="auto">
            <a:xfrm>
              <a:off x="385" y="1366"/>
              <a:ext cx="2268" cy="1134"/>
            </a:xfrm>
            <a:prstGeom prst="rect">
              <a:avLst/>
            </a:prstGeom>
            <a:solidFill>
              <a:srgbClr val="5E574E"/>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18" name="Line 24"/>
            <p:cNvSpPr>
              <a:spLocks noChangeShapeType="1"/>
            </p:cNvSpPr>
            <p:nvPr/>
          </p:nvSpPr>
          <p:spPr bwMode="auto">
            <a:xfrm>
              <a:off x="1519" y="2500"/>
              <a:ext cx="0" cy="340"/>
            </a:xfrm>
            <a:prstGeom prst="line">
              <a:avLst/>
            </a:prstGeom>
            <a:noFill/>
            <a:ln w="38100">
              <a:solidFill>
                <a:srgbClr val="000000"/>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sp>
        <p:nvSpPr>
          <p:cNvPr id="184" name="Rectangle 27"/>
          <p:cNvSpPr>
            <a:spLocks noChangeArrowheads="1"/>
          </p:cNvSpPr>
          <p:nvPr/>
        </p:nvSpPr>
        <p:spPr bwMode="auto">
          <a:xfrm>
            <a:off x="5291138" y="3746500"/>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86" name="Rectangle 29"/>
          <p:cNvSpPr>
            <a:spLocks noChangeArrowheads="1"/>
          </p:cNvSpPr>
          <p:nvPr/>
        </p:nvSpPr>
        <p:spPr bwMode="auto">
          <a:xfrm>
            <a:off x="5291138" y="5184775"/>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87" name="Rectangle 30"/>
          <p:cNvSpPr>
            <a:spLocks noChangeArrowheads="1"/>
          </p:cNvSpPr>
          <p:nvPr/>
        </p:nvSpPr>
        <p:spPr bwMode="auto">
          <a:xfrm>
            <a:off x="6370638" y="4465638"/>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88" name="Rectangle 31"/>
          <p:cNvSpPr>
            <a:spLocks noChangeArrowheads="1"/>
          </p:cNvSpPr>
          <p:nvPr/>
        </p:nvSpPr>
        <p:spPr bwMode="auto">
          <a:xfrm>
            <a:off x="7091363" y="4105275"/>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89" name="Rectangle 32"/>
          <p:cNvSpPr>
            <a:spLocks noChangeArrowheads="1"/>
          </p:cNvSpPr>
          <p:nvPr/>
        </p:nvSpPr>
        <p:spPr bwMode="auto">
          <a:xfrm>
            <a:off x="7812088" y="4467225"/>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90" name="Rectangle 33"/>
          <p:cNvSpPr>
            <a:spLocks noChangeArrowheads="1"/>
          </p:cNvSpPr>
          <p:nvPr/>
        </p:nvSpPr>
        <p:spPr bwMode="auto">
          <a:xfrm>
            <a:off x="7812088" y="5184775"/>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92" name="Rectangle 35"/>
          <p:cNvSpPr>
            <a:spLocks noChangeArrowheads="1"/>
          </p:cNvSpPr>
          <p:nvPr/>
        </p:nvSpPr>
        <p:spPr bwMode="auto">
          <a:xfrm>
            <a:off x="6731000" y="5545138"/>
            <a:ext cx="360363"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93" name="Rectangle 36"/>
          <p:cNvSpPr>
            <a:spLocks noChangeArrowheads="1"/>
          </p:cNvSpPr>
          <p:nvPr/>
        </p:nvSpPr>
        <p:spPr bwMode="auto">
          <a:xfrm>
            <a:off x="6731000" y="4824413"/>
            <a:ext cx="360363"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94" name="Rectangle 4"/>
          <p:cNvSpPr>
            <a:spLocks noChangeArrowheads="1"/>
          </p:cNvSpPr>
          <p:nvPr/>
        </p:nvSpPr>
        <p:spPr bwMode="auto">
          <a:xfrm>
            <a:off x="4932363" y="2667000"/>
            <a:ext cx="3600450" cy="3600450"/>
          </a:xfrm>
          <a:prstGeom prst="rect">
            <a:avLst/>
          </a:prstGeom>
          <a:noFill/>
          <a:ln w="38100" algn="ctr">
            <a:solidFill>
              <a:schemeClr val="tx1"/>
            </a:solidFill>
            <a:miter lim="800000"/>
            <a:headEnd/>
            <a:tailEnd/>
          </a:ln>
        </p:spPr>
        <p:txBody>
          <a:bodyPr wrap="none" anchor="ctr"/>
          <a:lstStyle/>
          <a:p>
            <a:endParaRPr lang="en-US"/>
          </a:p>
        </p:txBody>
      </p:sp>
      <p:grpSp>
        <p:nvGrpSpPr>
          <p:cNvPr id="204" name="Group 14"/>
          <p:cNvGrpSpPr>
            <a:grpSpLocks/>
          </p:cNvGrpSpPr>
          <p:nvPr/>
        </p:nvGrpSpPr>
        <p:grpSpPr bwMode="auto">
          <a:xfrm>
            <a:off x="4932363" y="2667000"/>
            <a:ext cx="3600450" cy="1260475"/>
            <a:chOff x="385" y="1366"/>
            <a:chExt cx="2268" cy="794"/>
          </a:xfrm>
        </p:grpSpPr>
        <p:sp>
          <p:nvSpPr>
            <p:cNvPr id="205" name="Rectangle 15"/>
            <p:cNvSpPr>
              <a:spLocks noChangeArrowheads="1"/>
            </p:cNvSpPr>
            <p:nvPr/>
          </p:nvSpPr>
          <p:spPr bwMode="auto">
            <a:xfrm>
              <a:off x="385" y="1366"/>
              <a:ext cx="2268" cy="454"/>
            </a:xfrm>
            <a:prstGeom prst="rect">
              <a:avLst/>
            </a:prstGeom>
            <a:solidFill>
              <a:srgbClr val="5E574E"/>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06" name="Line 16"/>
            <p:cNvSpPr>
              <a:spLocks noChangeShapeType="1"/>
            </p:cNvSpPr>
            <p:nvPr/>
          </p:nvSpPr>
          <p:spPr bwMode="auto">
            <a:xfrm>
              <a:off x="1519" y="1820"/>
              <a:ext cx="0" cy="340"/>
            </a:xfrm>
            <a:prstGeom prst="line">
              <a:avLst/>
            </a:prstGeom>
            <a:noFill/>
            <a:ln w="38100">
              <a:solidFill>
                <a:srgbClr val="000000"/>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sp>
        <p:nvSpPr>
          <p:cNvPr id="183" name="Rectangle 26"/>
          <p:cNvSpPr>
            <a:spLocks noChangeArrowheads="1"/>
          </p:cNvSpPr>
          <p:nvPr/>
        </p:nvSpPr>
        <p:spPr bwMode="auto">
          <a:xfrm>
            <a:off x="7091363" y="3024188"/>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85" name="Rectangle 28"/>
          <p:cNvSpPr>
            <a:spLocks noChangeArrowheads="1"/>
          </p:cNvSpPr>
          <p:nvPr/>
        </p:nvSpPr>
        <p:spPr bwMode="auto">
          <a:xfrm>
            <a:off x="5651500" y="3024188"/>
            <a:ext cx="360363"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91" name="Rectangle 34"/>
          <p:cNvSpPr>
            <a:spLocks noChangeArrowheads="1"/>
          </p:cNvSpPr>
          <p:nvPr/>
        </p:nvSpPr>
        <p:spPr bwMode="auto">
          <a:xfrm>
            <a:off x="7451725" y="3384550"/>
            <a:ext cx="360363"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nvGrpSpPr>
          <p:cNvPr id="201" name="Group 3"/>
          <p:cNvGrpSpPr>
            <a:grpSpLocks/>
          </p:cNvGrpSpPr>
          <p:nvPr/>
        </p:nvGrpSpPr>
        <p:grpSpPr bwMode="auto">
          <a:xfrm>
            <a:off x="611188" y="2667000"/>
            <a:ext cx="3600450" cy="1260475"/>
            <a:chOff x="385" y="1366"/>
            <a:chExt cx="2268" cy="794"/>
          </a:xfrm>
        </p:grpSpPr>
        <p:sp>
          <p:nvSpPr>
            <p:cNvPr id="202" name="Rectangle 4"/>
            <p:cNvSpPr>
              <a:spLocks noChangeArrowheads="1"/>
            </p:cNvSpPr>
            <p:nvPr/>
          </p:nvSpPr>
          <p:spPr bwMode="auto">
            <a:xfrm>
              <a:off x="385" y="1366"/>
              <a:ext cx="2268" cy="454"/>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03" name="Line 5"/>
            <p:cNvSpPr>
              <a:spLocks noChangeShapeType="1"/>
            </p:cNvSpPr>
            <p:nvPr/>
          </p:nvSpPr>
          <p:spPr bwMode="auto">
            <a:xfrm>
              <a:off x="1519" y="1820"/>
              <a:ext cx="0" cy="340"/>
            </a:xfrm>
            <a:prstGeom prst="line">
              <a:avLst/>
            </a:prstGeom>
            <a:noFill/>
            <a:ln w="38100">
              <a:solidFill>
                <a:srgbClr val="000000"/>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sp>
        <p:nvSpPr>
          <p:cNvPr id="144" name="Rectangle 15"/>
          <p:cNvSpPr>
            <a:spLocks noChangeArrowheads="1"/>
          </p:cNvSpPr>
          <p:nvPr/>
        </p:nvSpPr>
        <p:spPr bwMode="auto">
          <a:xfrm>
            <a:off x="2770188" y="3024188"/>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46" name="Rectangle 17"/>
          <p:cNvSpPr>
            <a:spLocks noChangeArrowheads="1"/>
          </p:cNvSpPr>
          <p:nvPr/>
        </p:nvSpPr>
        <p:spPr bwMode="auto">
          <a:xfrm>
            <a:off x="1330325" y="3024188"/>
            <a:ext cx="360363"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31" name="TextBox 230"/>
          <p:cNvSpPr txBox="1"/>
          <p:nvPr/>
        </p:nvSpPr>
        <p:spPr>
          <a:xfrm>
            <a:off x="1971132" y="6324600"/>
            <a:ext cx="880562" cy="400110"/>
          </a:xfrm>
          <a:prstGeom prst="rect">
            <a:avLst/>
          </a:prstGeom>
          <a:noFill/>
          <a:effectLst>
            <a:outerShdw blurRad="50800" dist="38100" dir="2700000" algn="tl" rotWithShape="0">
              <a:prstClr val="black">
                <a:alpha val="40000"/>
              </a:prstClr>
            </a:outerShdw>
          </a:effectLst>
        </p:spPr>
        <p:txBody>
          <a:bodyPr wrap="none" rtlCol="0">
            <a:spAutoFit/>
          </a:bodyPr>
          <a:lstStyle/>
          <a:p>
            <a:r>
              <a:rPr lang="en-US" sz="2000" b="1" i="1" dirty="0" smtClean="0"/>
              <a:t>Host A</a:t>
            </a:r>
            <a:endParaRPr lang="en-US" sz="2000" b="1" i="1" dirty="0"/>
          </a:p>
        </p:txBody>
      </p:sp>
      <p:sp>
        <p:nvSpPr>
          <p:cNvPr id="232" name="TextBox 231"/>
          <p:cNvSpPr txBox="1"/>
          <p:nvPr/>
        </p:nvSpPr>
        <p:spPr>
          <a:xfrm>
            <a:off x="6297918" y="6324600"/>
            <a:ext cx="869341" cy="400110"/>
          </a:xfrm>
          <a:prstGeom prst="rect">
            <a:avLst/>
          </a:prstGeom>
          <a:noFill/>
          <a:effectLst>
            <a:outerShdw blurRad="50800" dist="38100" dir="2700000" algn="tl" rotWithShape="0">
              <a:prstClr val="black">
                <a:alpha val="40000"/>
              </a:prstClr>
            </a:outerShdw>
          </a:effectLst>
        </p:spPr>
        <p:txBody>
          <a:bodyPr wrap="none" rtlCol="0">
            <a:spAutoFit/>
          </a:bodyPr>
          <a:lstStyle/>
          <a:p>
            <a:r>
              <a:rPr lang="en-US" sz="2000" b="1" i="1" dirty="0" smtClean="0"/>
              <a:t>Host B</a:t>
            </a:r>
            <a:endParaRPr lang="en-US" sz="20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wipe(up)">
                                      <p:cBhvr>
                                        <p:cTn id="7" dur="500"/>
                                        <p:tgtEl>
                                          <p:spTgt spid="201"/>
                                        </p:tgtEl>
                                      </p:cBhvr>
                                    </p:animEffect>
                                  </p:childTnLst>
                                </p:cTn>
                              </p:par>
                              <p:par>
                                <p:cTn id="8" presetID="22" presetClass="entr" presetSubtype="1" fill="hold" nodeType="withEffect">
                                  <p:stCondLst>
                                    <p:cond delay="0"/>
                                  </p:stCondLst>
                                  <p:childTnLst>
                                    <p:set>
                                      <p:cBhvr>
                                        <p:cTn id="9" dur="1" fill="hold">
                                          <p:stCondLst>
                                            <p:cond delay="0"/>
                                          </p:stCondLst>
                                        </p:cTn>
                                        <p:tgtEl>
                                          <p:spTgt spid="204"/>
                                        </p:tgtEl>
                                        <p:attrNameLst>
                                          <p:attrName>style.visibility</p:attrName>
                                        </p:attrNameLst>
                                      </p:cBhvr>
                                      <p:to>
                                        <p:strVal val="visible"/>
                                      </p:to>
                                    </p:set>
                                    <p:animEffect transition="in" filter="wipe(up)">
                                      <p:cBhvr>
                                        <p:cTn id="10" dur="500"/>
                                        <p:tgtEl>
                                          <p:spTgt spid="20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7"/>
                                        </p:tgtEl>
                                        <p:attrNameLst>
                                          <p:attrName>style.visibility</p:attrName>
                                        </p:attrNameLst>
                                      </p:cBhvr>
                                      <p:to>
                                        <p:strVal val="visible"/>
                                      </p:to>
                                    </p:set>
                                    <p:animEffect transition="in" filter="fade">
                                      <p:cBhvr>
                                        <p:cTn id="13" dur="500"/>
                                        <p:tgtEl>
                                          <p:spTgt spid="1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3"/>
                                        </p:tgtEl>
                                        <p:attrNameLst>
                                          <p:attrName>style.visibility</p:attrName>
                                        </p:attrNameLst>
                                      </p:cBhvr>
                                      <p:to>
                                        <p:strVal val="visible"/>
                                      </p:to>
                                    </p:set>
                                    <p:animEffect transition="in" filter="fade">
                                      <p:cBhvr>
                                        <p:cTn id="16" dur="500"/>
                                        <p:tgtEl>
                                          <p:spTgt spid="15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8"/>
                                        </p:tgtEl>
                                        <p:attrNameLst>
                                          <p:attrName>style.visibility</p:attrName>
                                        </p:attrNameLst>
                                      </p:cBhvr>
                                      <p:to>
                                        <p:strVal val="visible"/>
                                      </p:to>
                                    </p:set>
                                    <p:animEffect transition="in" filter="fade">
                                      <p:cBhvr>
                                        <p:cTn id="19" dur="500"/>
                                        <p:tgtEl>
                                          <p:spTgt spid="14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0"/>
                                        </p:tgtEl>
                                        <p:attrNameLst>
                                          <p:attrName>style.visibility</p:attrName>
                                        </p:attrNameLst>
                                      </p:cBhvr>
                                      <p:to>
                                        <p:strVal val="visible"/>
                                      </p:to>
                                    </p:set>
                                    <p:animEffect transition="in" filter="fade">
                                      <p:cBhvr>
                                        <p:cTn id="22" dur="500"/>
                                        <p:tgtEl>
                                          <p:spTgt spid="1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1" fill="hold" nodeType="clickEffect">
                                  <p:stCondLst>
                                    <p:cond delay="0"/>
                                  </p:stCondLst>
                                  <p:childTnLst>
                                    <p:animEffect transition="out" filter="wipe(up)">
                                      <p:cBhvr>
                                        <p:cTn id="26" dur="500"/>
                                        <p:tgtEl>
                                          <p:spTgt spid="201"/>
                                        </p:tgtEl>
                                      </p:cBhvr>
                                    </p:animEffect>
                                    <p:set>
                                      <p:cBhvr>
                                        <p:cTn id="27" dur="1" fill="hold">
                                          <p:stCondLst>
                                            <p:cond delay="499"/>
                                          </p:stCondLst>
                                        </p:cTn>
                                        <p:tgtEl>
                                          <p:spTgt spid="201"/>
                                        </p:tgtEl>
                                        <p:attrNameLst>
                                          <p:attrName>style.visibility</p:attrName>
                                        </p:attrNameLst>
                                      </p:cBhvr>
                                      <p:to>
                                        <p:strVal val="hidden"/>
                                      </p:to>
                                    </p:set>
                                  </p:childTnLst>
                                </p:cTn>
                              </p:par>
                              <p:par>
                                <p:cTn id="28" presetID="22" presetClass="exit" presetSubtype="1" fill="hold" nodeType="withEffect">
                                  <p:stCondLst>
                                    <p:cond delay="0"/>
                                  </p:stCondLst>
                                  <p:childTnLst>
                                    <p:animEffect transition="out" filter="wipe(up)">
                                      <p:cBhvr>
                                        <p:cTn id="29" dur="500"/>
                                        <p:tgtEl>
                                          <p:spTgt spid="204"/>
                                        </p:tgtEl>
                                      </p:cBhvr>
                                    </p:animEffect>
                                    <p:set>
                                      <p:cBhvr>
                                        <p:cTn id="30" dur="1" fill="hold">
                                          <p:stCondLst>
                                            <p:cond delay="499"/>
                                          </p:stCondLst>
                                        </p:cTn>
                                        <p:tgtEl>
                                          <p:spTgt spid="204"/>
                                        </p:tgtEl>
                                        <p:attrNameLst>
                                          <p:attrName>style.visibility</p:attrName>
                                        </p:attrNameLst>
                                      </p:cBhvr>
                                      <p:to>
                                        <p:strVal val="hidden"/>
                                      </p:to>
                                    </p:set>
                                  </p:childTnLst>
                                </p:cTn>
                              </p:par>
                              <p:par>
                                <p:cTn id="31" presetID="22" presetClass="entr" presetSubtype="1" fill="hold" nodeType="withEffect">
                                  <p:stCondLst>
                                    <p:cond delay="0"/>
                                  </p:stCondLst>
                                  <p:childTnLst>
                                    <p:set>
                                      <p:cBhvr>
                                        <p:cTn id="32" dur="1" fill="hold">
                                          <p:stCondLst>
                                            <p:cond delay="0"/>
                                          </p:stCondLst>
                                        </p:cTn>
                                        <p:tgtEl>
                                          <p:spTgt spid="213"/>
                                        </p:tgtEl>
                                        <p:attrNameLst>
                                          <p:attrName>style.visibility</p:attrName>
                                        </p:attrNameLst>
                                      </p:cBhvr>
                                      <p:to>
                                        <p:strVal val="visible"/>
                                      </p:to>
                                    </p:set>
                                    <p:animEffect transition="in" filter="wipe(up)">
                                      <p:cBhvr>
                                        <p:cTn id="33" dur="500"/>
                                        <p:tgtEl>
                                          <p:spTgt spid="213"/>
                                        </p:tgtEl>
                                      </p:cBhvr>
                                    </p:animEffect>
                                  </p:childTnLst>
                                </p:cTn>
                              </p:par>
                              <p:par>
                                <p:cTn id="34" presetID="22" presetClass="entr" presetSubtype="1" fill="hold" nodeType="withEffect">
                                  <p:stCondLst>
                                    <p:cond delay="0"/>
                                  </p:stCondLst>
                                  <p:childTnLst>
                                    <p:set>
                                      <p:cBhvr>
                                        <p:cTn id="35" dur="1" fill="hold">
                                          <p:stCondLst>
                                            <p:cond delay="0"/>
                                          </p:stCondLst>
                                        </p:cTn>
                                        <p:tgtEl>
                                          <p:spTgt spid="216"/>
                                        </p:tgtEl>
                                        <p:attrNameLst>
                                          <p:attrName>style.visibility</p:attrName>
                                        </p:attrNameLst>
                                      </p:cBhvr>
                                      <p:to>
                                        <p:strVal val="visible"/>
                                      </p:to>
                                    </p:set>
                                    <p:animEffect transition="in" filter="wipe(up)">
                                      <p:cBhvr>
                                        <p:cTn id="36" dur="500"/>
                                        <p:tgtEl>
                                          <p:spTgt spid="2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4"/>
                                        </p:tgtEl>
                                        <p:attrNameLst>
                                          <p:attrName>style.visibility</p:attrName>
                                        </p:attrNameLst>
                                      </p:cBhvr>
                                      <p:to>
                                        <p:strVal val="visible"/>
                                      </p:to>
                                    </p:set>
                                    <p:animEffect transition="in" filter="fade">
                                      <p:cBhvr>
                                        <p:cTn id="39" dur="500"/>
                                        <p:tgtEl>
                                          <p:spTgt spid="14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5"/>
                                        </p:tgtEl>
                                        <p:attrNameLst>
                                          <p:attrName>style.visibility</p:attrName>
                                        </p:attrNameLst>
                                      </p:cBhvr>
                                      <p:to>
                                        <p:strVal val="visible"/>
                                      </p:to>
                                    </p:set>
                                    <p:animEffect transition="in" filter="fade">
                                      <p:cBhvr>
                                        <p:cTn id="42" dur="500"/>
                                        <p:tgtEl>
                                          <p:spTgt spid="14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4"/>
                                        </p:tgtEl>
                                        <p:attrNameLst>
                                          <p:attrName>style.visibility</p:attrName>
                                        </p:attrNameLst>
                                      </p:cBhvr>
                                      <p:to>
                                        <p:strVal val="visible"/>
                                      </p:to>
                                    </p:set>
                                    <p:animEffect transition="in" filter="fade">
                                      <p:cBhvr>
                                        <p:cTn id="45" dur="500"/>
                                        <p:tgtEl>
                                          <p:spTgt spid="18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3"/>
                                        </p:tgtEl>
                                        <p:attrNameLst>
                                          <p:attrName>style.visibility</p:attrName>
                                        </p:attrNameLst>
                                      </p:cBhvr>
                                      <p:to>
                                        <p:strVal val="visible"/>
                                      </p:to>
                                    </p:set>
                                    <p:animEffect transition="in" filter="fade">
                                      <p:cBhvr>
                                        <p:cTn id="48" dur="500"/>
                                        <p:tgtEl>
                                          <p:spTgt spid="18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51"/>
                                        </p:tgtEl>
                                        <p:attrNameLst>
                                          <p:attrName>style.visibility</p:attrName>
                                        </p:attrNameLst>
                                      </p:cBhvr>
                                      <p:to>
                                        <p:strVal val="visible"/>
                                      </p:to>
                                    </p:set>
                                    <p:animEffect transition="in" filter="fade">
                                      <p:cBhvr>
                                        <p:cTn id="51" dur="500"/>
                                        <p:tgtEl>
                                          <p:spTgt spid="15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1" fill="hold" nodeType="clickEffect">
                                  <p:stCondLst>
                                    <p:cond delay="0"/>
                                  </p:stCondLst>
                                  <p:childTnLst>
                                    <p:animEffect transition="out" filter="wipe(up)">
                                      <p:cBhvr>
                                        <p:cTn id="55" dur="500"/>
                                        <p:tgtEl>
                                          <p:spTgt spid="213"/>
                                        </p:tgtEl>
                                      </p:cBhvr>
                                    </p:animEffect>
                                    <p:set>
                                      <p:cBhvr>
                                        <p:cTn id="56" dur="1" fill="hold">
                                          <p:stCondLst>
                                            <p:cond delay="499"/>
                                          </p:stCondLst>
                                        </p:cTn>
                                        <p:tgtEl>
                                          <p:spTgt spid="213"/>
                                        </p:tgtEl>
                                        <p:attrNameLst>
                                          <p:attrName>style.visibility</p:attrName>
                                        </p:attrNameLst>
                                      </p:cBhvr>
                                      <p:to>
                                        <p:strVal val="hidden"/>
                                      </p:to>
                                    </p:set>
                                  </p:childTnLst>
                                </p:cTn>
                              </p:par>
                              <p:par>
                                <p:cTn id="57" presetID="22" presetClass="exit" presetSubtype="1" fill="hold" nodeType="withEffect">
                                  <p:stCondLst>
                                    <p:cond delay="0"/>
                                  </p:stCondLst>
                                  <p:childTnLst>
                                    <p:animEffect transition="out" filter="wipe(up)">
                                      <p:cBhvr>
                                        <p:cTn id="58" dur="500"/>
                                        <p:tgtEl>
                                          <p:spTgt spid="216"/>
                                        </p:tgtEl>
                                      </p:cBhvr>
                                    </p:animEffect>
                                    <p:set>
                                      <p:cBhvr>
                                        <p:cTn id="59" dur="1" fill="hold">
                                          <p:stCondLst>
                                            <p:cond delay="499"/>
                                          </p:stCondLst>
                                        </p:cTn>
                                        <p:tgtEl>
                                          <p:spTgt spid="216"/>
                                        </p:tgtEl>
                                        <p:attrNameLst>
                                          <p:attrName>style.visibility</p:attrName>
                                        </p:attrNameLst>
                                      </p:cBhvr>
                                      <p:to>
                                        <p:strVal val="hidden"/>
                                      </p:to>
                                    </p:set>
                                  </p:childTnLst>
                                </p:cTn>
                              </p:par>
                              <p:par>
                                <p:cTn id="60" presetID="22" presetClass="entr" presetSubtype="1" fill="hold" nodeType="withEffect">
                                  <p:stCondLst>
                                    <p:cond delay="0"/>
                                  </p:stCondLst>
                                  <p:childTnLst>
                                    <p:set>
                                      <p:cBhvr>
                                        <p:cTn id="61" dur="1" fill="hold">
                                          <p:stCondLst>
                                            <p:cond delay="0"/>
                                          </p:stCondLst>
                                        </p:cTn>
                                        <p:tgtEl>
                                          <p:spTgt spid="225"/>
                                        </p:tgtEl>
                                        <p:attrNameLst>
                                          <p:attrName>style.visibility</p:attrName>
                                        </p:attrNameLst>
                                      </p:cBhvr>
                                      <p:to>
                                        <p:strVal val="visible"/>
                                      </p:to>
                                    </p:set>
                                    <p:animEffect transition="in" filter="wipe(up)">
                                      <p:cBhvr>
                                        <p:cTn id="62" dur="500"/>
                                        <p:tgtEl>
                                          <p:spTgt spid="225"/>
                                        </p:tgtEl>
                                      </p:cBhvr>
                                    </p:animEffect>
                                  </p:childTnLst>
                                </p:cTn>
                              </p:par>
                              <p:par>
                                <p:cTn id="63" presetID="22" presetClass="entr" presetSubtype="1" fill="hold" nodeType="withEffect">
                                  <p:stCondLst>
                                    <p:cond delay="0"/>
                                  </p:stCondLst>
                                  <p:childTnLst>
                                    <p:set>
                                      <p:cBhvr>
                                        <p:cTn id="64" dur="1" fill="hold">
                                          <p:stCondLst>
                                            <p:cond delay="0"/>
                                          </p:stCondLst>
                                        </p:cTn>
                                        <p:tgtEl>
                                          <p:spTgt spid="228"/>
                                        </p:tgtEl>
                                        <p:attrNameLst>
                                          <p:attrName>style.visibility</p:attrName>
                                        </p:attrNameLst>
                                      </p:cBhvr>
                                      <p:to>
                                        <p:strVal val="visible"/>
                                      </p:to>
                                    </p:set>
                                    <p:animEffect transition="in" filter="wipe(up)">
                                      <p:cBhvr>
                                        <p:cTn id="65" dur="500"/>
                                        <p:tgtEl>
                                          <p:spTgt spid="2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46"/>
                                        </p:tgtEl>
                                        <p:attrNameLst>
                                          <p:attrName>style.visibility</p:attrName>
                                        </p:attrNameLst>
                                      </p:cBhvr>
                                      <p:to>
                                        <p:strVal val="visible"/>
                                      </p:to>
                                    </p:set>
                                    <p:animEffect transition="in" filter="fade">
                                      <p:cBhvr>
                                        <p:cTn id="68" dur="500"/>
                                        <p:tgtEl>
                                          <p:spTgt spid="1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49"/>
                                        </p:tgtEl>
                                        <p:attrNameLst>
                                          <p:attrName>style.visibility</p:attrName>
                                        </p:attrNameLst>
                                      </p:cBhvr>
                                      <p:to>
                                        <p:strVal val="visible"/>
                                      </p:to>
                                    </p:set>
                                    <p:animEffect transition="in" filter="fade">
                                      <p:cBhvr>
                                        <p:cTn id="71" dur="500"/>
                                        <p:tgtEl>
                                          <p:spTgt spid="14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85"/>
                                        </p:tgtEl>
                                        <p:attrNameLst>
                                          <p:attrName>style.visibility</p:attrName>
                                        </p:attrNameLst>
                                      </p:cBhvr>
                                      <p:to>
                                        <p:strVal val="visible"/>
                                      </p:to>
                                    </p:set>
                                    <p:animEffect transition="in" filter="fade">
                                      <p:cBhvr>
                                        <p:cTn id="74" dur="500"/>
                                        <p:tgtEl>
                                          <p:spTgt spid="18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88"/>
                                        </p:tgtEl>
                                        <p:attrNameLst>
                                          <p:attrName>style.visibility</p:attrName>
                                        </p:attrNameLst>
                                      </p:cBhvr>
                                      <p:to>
                                        <p:strVal val="visible"/>
                                      </p:to>
                                    </p:set>
                                    <p:animEffect transition="in" filter="fade">
                                      <p:cBhvr>
                                        <p:cTn id="77" dur="500"/>
                                        <p:tgtEl>
                                          <p:spTgt spid="18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87"/>
                                        </p:tgtEl>
                                        <p:attrNameLst>
                                          <p:attrName>style.visibility</p:attrName>
                                        </p:attrNameLst>
                                      </p:cBhvr>
                                      <p:to>
                                        <p:strVal val="visible"/>
                                      </p:to>
                                    </p:set>
                                    <p:animEffect transition="in" filter="fade">
                                      <p:cBhvr>
                                        <p:cTn id="80" dur="500"/>
                                        <p:tgtEl>
                                          <p:spTgt spid="18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89"/>
                                        </p:tgtEl>
                                        <p:attrNameLst>
                                          <p:attrName>style.visibility</p:attrName>
                                        </p:attrNameLst>
                                      </p:cBhvr>
                                      <p:to>
                                        <p:strVal val="visible"/>
                                      </p:to>
                                    </p:set>
                                    <p:animEffect transition="in" filter="fade">
                                      <p:cBhvr>
                                        <p:cTn id="83" dur="500"/>
                                        <p:tgtEl>
                                          <p:spTgt spid="18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xit" presetSubtype="1" fill="hold" nodeType="clickEffect">
                                  <p:stCondLst>
                                    <p:cond delay="0"/>
                                  </p:stCondLst>
                                  <p:childTnLst>
                                    <p:animEffect transition="out" filter="wipe(up)">
                                      <p:cBhvr>
                                        <p:cTn id="87" dur="500"/>
                                        <p:tgtEl>
                                          <p:spTgt spid="225"/>
                                        </p:tgtEl>
                                      </p:cBhvr>
                                    </p:animEffect>
                                    <p:set>
                                      <p:cBhvr>
                                        <p:cTn id="88" dur="1" fill="hold">
                                          <p:stCondLst>
                                            <p:cond delay="499"/>
                                          </p:stCondLst>
                                        </p:cTn>
                                        <p:tgtEl>
                                          <p:spTgt spid="225"/>
                                        </p:tgtEl>
                                        <p:attrNameLst>
                                          <p:attrName>style.visibility</p:attrName>
                                        </p:attrNameLst>
                                      </p:cBhvr>
                                      <p:to>
                                        <p:strVal val="hidden"/>
                                      </p:to>
                                    </p:set>
                                  </p:childTnLst>
                                </p:cTn>
                              </p:par>
                              <p:par>
                                <p:cTn id="89" presetID="22" presetClass="exit" presetSubtype="1" fill="hold" nodeType="withEffect">
                                  <p:stCondLst>
                                    <p:cond delay="0"/>
                                  </p:stCondLst>
                                  <p:childTnLst>
                                    <p:animEffect transition="out" filter="wipe(up)">
                                      <p:cBhvr>
                                        <p:cTn id="90" dur="500"/>
                                        <p:tgtEl>
                                          <p:spTgt spid="228"/>
                                        </p:tgtEl>
                                      </p:cBhvr>
                                    </p:animEffect>
                                    <p:set>
                                      <p:cBhvr>
                                        <p:cTn id="91" dur="1" fill="hold">
                                          <p:stCondLst>
                                            <p:cond delay="499"/>
                                          </p:stCondLst>
                                        </p:cTn>
                                        <p:tgtEl>
                                          <p:spTgt spid="228"/>
                                        </p:tgtEl>
                                        <p:attrNameLst>
                                          <p:attrName>style.visibility</p:attrName>
                                        </p:attrNameLst>
                                      </p:cBhvr>
                                      <p:to>
                                        <p:strVal val="hidden"/>
                                      </p:to>
                                    </p:set>
                                  </p:childTnLst>
                                </p:cTn>
                              </p:par>
                              <p:par>
                                <p:cTn id="92" presetID="22" presetClass="entr" presetSubtype="1" fill="hold" grpId="0" nodeType="withEffect">
                                  <p:stCondLst>
                                    <p:cond delay="0"/>
                                  </p:stCondLst>
                                  <p:childTnLst>
                                    <p:set>
                                      <p:cBhvr>
                                        <p:cTn id="93" dur="1" fill="hold">
                                          <p:stCondLst>
                                            <p:cond delay="0"/>
                                          </p:stCondLst>
                                        </p:cTn>
                                        <p:tgtEl>
                                          <p:spTgt spid="182"/>
                                        </p:tgtEl>
                                        <p:attrNameLst>
                                          <p:attrName>style.visibility</p:attrName>
                                        </p:attrNameLst>
                                      </p:cBhvr>
                                      <p:to>
                                        <p:strVal val="visible"/>
                                      </p:to>
                                    </p:set>
                                    <p:animEffect transition="in" filter="wipe(up)">
                                      <p:cBhvr>
                                        <p:cTn id="94" dur="500"/>
                                        <p:tgtEl>
                                          <p:spTgt spid="18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52"/>
                                        </p:tgtEl>
                                        <p:attrNameLst>
                                          <p:attrName>style.visibility</p:attrName>
                                        </p:attrNameLst>
                                      </p:cBhvr>
                                      <p:to>
                                        <p:strVal val="visible"/>
                                      </p:to>
                                    </p:set>
                                    <p:animEffect transition="in" filter="fade">
                                      <p:cBhvr>
                                        <p:cTn id="97" dur="500"/>
                                        <p:tgtEl>
                                          <p:spTgt spid="15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54"/>
                                        </p:tgtEl>
                                        <p:attrNameLst>
                                          <p:attrName>style.visibility</p:attrName>
                                        </p:attrNameLst>
                                      </p:cBhvr>
                                      <p:to>
                                        <p:strVal val="visible"/>
                                      </p:to>
                                    </p:set>
                                    <p:animEffect transition="in" filter="fade">
                                      <p:cBhvr>
                                        <p:cTn id="100" dur="500"/>
                                        <p:tgtEl>
                                          <p:spTgt spid="15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91"/>
                                        </p:tgtEl>
                                        <p:attrNameLst>
                                          <p:attrName>style.visibility</p:attrName>
                                        </p:attrNameLst>
                                      </p:cBhvr>
                                      <p:to>
                                        <p:strVal val="visible"/>
                                      </p:to>
                                    </p:set>
                                    <p:animEffect transition="in" filter="fade">
                                      <p:cBhvr>
                                        <p:cTn id="103" dur="500"/>
                                        <p:tgtEl>
                                          <p:spTgt spid="191"/>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93"/>
                                        </p:tgtEl>
                                        <p:attrNameLst>
                                          <p:attrName>style.visibility</p:attrName>
                                        </p:attrNameLst>
                                      </p:cBhvr>
                                      <p:to>
                                        <p:strVal val="visible"/>
                                      </p:to>
                                    </p:set>
                                    <p:animEffect transition="in" filter="fade">
                                      <p:cBhvr>
                                        <p:cTn id="106" dur="500"/>
                                        <p:tgtEl>
                                          <p:spTgt spid="19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86"/>
                                        </p:tgtEl>
                                        <p:attrNameLst>
                                          <p:attrName>style.visibility</p:attrName>
                                        </p:attrNameLst>
                                      </p:cBhvr>
                                      <p:to>
                                        <p:strVal val="visible"/>
                                      </p:to>
                                    </p:set>
                                    <p:animEffect transition="in" filter="fade">
                                      <p:cBhvr>
                                        <p:cTn id="109" dur="500"/>
                                        <p:tgtEl>
                                          <p:spTgt spid="18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92"/>
                                        </p:tgtEl>
                                        <p:attrNameLst>
                                          <p:attrName>style.visibility</p:attrName>
                                        </p:attrNameLst>
                                      </p:cBhvr>
                                      <p:to>
                                        <p:strVal val="visible"/>
                                      </p:to>
                                    </p:set>
                                    <p:animEffect transition="in" filter="fade">
                                      <p:cBhvr>
                                        <p:cTn id="112" dur="500"/>
                                        <p:tgtEl>
                                          <p:spTgt spid="192"/>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90"/>
                                        </p:tgtEl>
                                        <p:attrNameLst>
                                          <p:attrName>style.visibility</p:attrName>
                                        </p:attrNameLst>
                                      </p:cBhvr>
                                      <p:to>
                                        <p:strVal val="visible"/>
                                      </p:to>
                                    </p:set>
                                    <p:animEffect transition="in" filter="fade">
                                      <p:cBhvr>
                                        <p:cTn id="115" dur="50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animBg="1"/>
      <p:bldP spid="147" grpId="0" animBg="1"/>
      <p:bldP spid="148" grpId="0" animBg="1"/>
      <p:bldP spid="149" grpId="0" animBg="1"/>
      <p:bldP spid="150" grpId="0" animBg="1"/>
      <p:bldP spid="151" grpId="0" animBg="1"/>
      <p:bldP spid="152" grpId="0" animBg="1"/>
      <p:bldP spid="153" grpId="0" animBg="1"/>
      <p:bldP spid="154" grpId="0" animBg="1"/>
      <p:bldP spid="182" grpId="0" animBg="1"/>
      <p:bldP spid="184" grpId="0" animBg="1"/>
      <p:bldP spid="186" grpId="0" animBg="1"/>
      <p:bldP spid="187" grpId="0" animBg="1"/>
      <p:bldP spid="188" grpId="0" animBg="1"/>
      <p:bldP spid="189" grpId="0" animBg="1"/>
      <p:bldP spid="190" grpId="0" animBg="1"/>
      <p:bldP spid="192" grpId="0" animBg="1"/>
      <p:bldP spid="193" grpId="0" animBg="1"/>
      <p:bldP spid="183" grpId="0" animBg="1"/>
      <p:bldP spid="185" grpId="0" animBg="1"/>
      <p:bldP spid="191" grpId="0" animBg="1"/>
      <p:bldP spid="144" grpId="0" animBg="1"/>
      <p:bldP spid="146"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Live Migration Technique</a:t>
            </a:r>
            <a:endParaRPr lang="en-US" dirty="0"/>
          </a:p>
        </p:txBody>
      </p:sp>
      <p:sp>
        <p:nvSpPr>
          <p:cNvPr id="3" name="Content Placeholder 2"/>
          <p:cNvSpPr>
            <a:spLocks noGrp="1"/>
          </p:cNvSpPr>
          <p:nvPr>
            <p:ph idx="1"/>
          </p:nvPr>
        </p:nvSpPr>
        <p:spPr>
          <a:xfrm>
            <a:off x="457200" y="1371600"/>
            <a:ext cx="8229600" cy="533399"/>
          </a:xfrm>
        </p:spPr>
        <p:txBody>
          <a:bodyPr/>
          <a:lstStyle/>
          <a:p>
            <a:r>
              <a:rPr lang="en-US" dirty="0" smtClean="0"/>
              <a:t>Live migration process :</a:t>
            </a:r>
          </a:p>
        </p:txBody>
      </p:sp>
      <p:sp>
        <p:nvSpPr>
          <p:cNvPr id="4" name="Rectangle 3"/>
          <p:cNvSpPr/>
          <p:nvPr/>
        </p:nvSpPr>
        <p:spPr>
          <a:xfrm>
            <a:off x="2010245" y="1905000"/>
            <a:ext cx="5123518" cy="584775"/>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Pre-copy migration : Round 2</a:t>
            </a:r>
            <a:endParaRPr lang="en-US" sz="32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0" name="Rectangle 2"/>
          <p:cNvSpPr>
            <a:spLocks noChangeArrowheads="1"/>
          </p:cNvSpPr>
          <p:nvPr/>
        </p:nvSpPr>
        <p:spPr bwMode="auto">
          <a:xfrm>
            <a:off x="609600" y="2667000"/>
            <a:ext cx="3600450" cy="3600450"/>
          </a:xfrm>
          <a:prstGeom prst="rect">
            <a:avLst/>
          </a:prstGeom>
          <a:no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1" name="Rectangle 4"/>
          <p:cNvSpPr>
            <a:spLocks noChangeArrowheads="1"/>
          </p:cNvSpPr>
          <p:nvPr/>
        </p:nvSpPr>
        <p:spPr bwMode="auto">
          <a:xfrm>
            <a:off x="2768600" y="3024188"/>
            <a:ext cx="360362"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2" name="Rectangle 5"/>
          <p:cNvSpPr>
            <a:spLocks noChangeArrowheads="1"/>
          </p:cNvSpPr>
          <p:nvPr/>
        </p:nvSpPr>
        <p:spPr bwMode="auto">
          <a:xfrm>
            <a:off x="968375" y="3746500"/>
            <a:ext cx="360362"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3" name="Rectangle 6"/>
          <p:cNvSpPr>
            <a:spLocks noChangeArrowheads="1"/>
          </p:cNvSpPr>
          <p:nvPr/>
        </p:nvSpPr>
        <p:spPr bwMode="auto">
          <a:xfrm>
            <a:off x="1328737" y="3024188"/>
            <a:ext cx="360363"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4" name="Rectangle 7"/>
          <p:cNvSpPr>
            <a:spLocks noChangeArrowheads="1"/>
          </p:cNvSpPr>
          <p:nvPr/>
        </p:nvSpPr>
        <p:spPr bwMode="auto">
          <a:xfrm>
            <a:off x="968375" y="5184775"/>
            <a:ext cx="360362"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5" name="Rectangle 8"/>
          <p:cNvSpPr>
            <a:spLocks noChangeArrowheads="1"/>
          </p:cNvSpPr>
          <p:nvPr/>
        </p:nvSpPr>
        <p:spPr bwMode="auto">
          <a:xfrm>
            <a:off x="2047875" y="4465638"/>
            <a:ext cx="360362"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6" name="Rectangle 9"/>
          <p:cNvSpPr>
            <a:spLocks noChangeArrowheads="1"/>
          </p:cNvSpPr>
          <p:nvPr/>
        </p:nvSpPr>
        <p:spPr bwMode="auto">
          <a:xfrm>
            <a:off x="2768600" y="4105275"/>
            <a:ext cx="360362"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7" name="Rectangle 10"/>
          <p:cNvSpPr>
            <a:spLocks noChangeArrowheads="1"/>
          </p:cNvSpPr>
          <p:nvPr/>
        </p:nvSpPr>
        <p:spPr bwMode="auto">
          <a:xfrm>
            <a:off x="3489325" y="4467225"/>
            <a:ext cx="360362"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8" name="Rectangle 11"/>
          <p:cNvSpPr>
            <a:spLocks noChangeArrowheads="1"/>
          </p:cNvSpPr>
          <p:nvPr/>
        </p:nvSpPr>
        <p:spPr bwMode="auto">
          <a:xfrm>
            <a:off x="3489325" y="5184775"/>
            <a:ext cx="360362"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39" name="Rectangle 12"/>
          <p:cNvSpPr>
            <a:spLocks noChangeArrowheads="1"/>
          </p:cNvSpPr>
          <p:nvPr/>
        </p:nvSpPr>
        <p:spPr bwMode="auto">
          <a:xfrm>
            <a:off x="3128962" y="3394824"/>
            <a:ext cx="360363"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0" name="Rectangle 13"/>
          <p:cNvSpPr>
            <a:spLocks noChangeArrowheads="1"/>
          </p:cNvSpPr>
          <p:nvPr/>
        </p:nvSpPr>
        <p:spPr bwMode="auto">
          <a:xfrm>
            <a:off x="2408237" y="5545138"/>
            <a:ext cx="360363"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1" name="Rectangle 14"/>
          <p:cNvSpPr>
            <a:spLocks noChangeArrowheads="1"/>
          </p:cNvSpPr>
          <p:nvPr/>
        </p:nvSpPr>
        <p:spPr bwMode="auto">
          <a:xfrm>
            <a:off x="2408237" y="4824413"/>
            <a:ext cx="360363" cy="361950"/>
          </a:xfrm>
          <a:prstGeom prst="rect">
            <a:avLst/>
          </a:prstGeom>
          <a:solidFill>
            <a:srgbClr val="C0C0C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2" name="Rectangle 15"/>
          <p:cNvSpPr>
            <a:spLocks noChangeArrowheads="1"/>
          </p:cNvSpPr>
          <p:nvPr/>
        </p:nvSpPr>
        <p:spPr bwMode="auto">
          <a:xfrm>
            <a:off x="4932363" y="2667000"/>
            <a:ext cx="3600450" cy="3600450"/>
          </a:xfrm>
          <a:prstGeom prst="rect">
            <a:avLst/>
          </a:prstGeom>
          <a:solidFill>
            <a:srgbClr val="5E574E"/>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3" name="Rectangle 16"/>
          <p:cNvSpPr>
            <a:spLocks noChangeArrowheads="1"/>
          </p:cNvSpPr>
          <p:nvPr/>
        </p:nvSpPr>
        <p:spPr bwMode="auto">
          <a:xfrm>
            <a:off x="7091363" y="3024188"/>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4" name="Rectangle 17"/>
          <p:cNvSpPr>
            <a:spLocks noChangeArrowheads="1"/>
          </p:cNvSpPr>
          <p:nvPr/>
        </p:nvSpPr>
        <p:spPr bwMode="auto">
          <a:xfrm>
            <a:off x="5291138" y="3746500"/>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5" name="Rectangle 18"/>
          <p:cNvSpPr>
            <a:spLocks noChangeArrowheads="1"/>
          </p:cNvSpPr>
          <p:nvPr/>
        </p:nvSpPr>
        <p:spPr bwMode="auto">
          <a:xfrm>
            <a:off x="5651500" y="3024188"/>
            <a:ext cx="360363"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6" name="Rectangle 19"/>
          <p:cNvSpPr>
            <a:spLocks noChangeArrowheads="1"/>
          </p:cNvSpPr>
          <p:nvPr/>
        </p:nvSpPr>
        <p:spPr bwMode="auto">
          <a:xfrm>
            <a:off x="5291138" y="5184775"/>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7" name="Rectangle 20"/>
          <p:cNvSpPr>
            <a:spLocks noChangeArrowheads="1"/>
          </p:cNvSpPr>
          <p:nvPr/>
        </p:nvSpPr>
        <p:spPr bwMode="auto">
          <a:xfrm>
            <a:off x="6370638" y="4465638"/>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8" name="Rectangle 21"/>
          <p:cNvSpPr>
            <a:spLocks noChangeArrowheads="1"/>
          </p:cNvSpPr>
          <p:nvPr/>
        </p:nvSpPr>
        <p:spPr bwMode="auto">
          <a:xfrm>
            <a:off x="7091363" y="4105275"/>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9" name="Rectangle 22"/>
          <p:cNvSpPr>
            <a:spLocks noChangeArrowheads="1"/>
          </p:cNvSpPr>
          <p:nvPr/>
        </p:nvSpPr>
        <p:spPr bwMode="auto">
          <a:xfrm>
            <a:off x="7812088" y="4467225"/>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50" name="Rectangle 23"/>
          <p:cNvSpPr>
            <a:spLocks noChangeArrowheads="1"/>
          </p:cNvSpPr>
          <p:nvPr/>
        </p:nvSpPr>
        <p:spPr bwMode="auto">
          <a:xfrm>
            <a:off x="7812088" y="5184775"/>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51" name="Rectangle 24"/>
          <p:cNvSpPr>
            <a:spLocks noChangeArrowheads="1"/>
          </p:cNvSpPr>
          <p:nvPr/>
        </p:nvSpPr>
        <p:spPr bwMode="auto">
          <a:xfrm>
            <a:off x="7451725" y="3394824"/>
            <a:ext cx="360363"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52" name="Rectangle 25"/>
          <p:cNvSpPr>
            <a:spLocks noChangeArrowheads="1"/>
          </p:cNvSpPr>
          <p:nvPr/>
        </p:nvSpPr>
        <p:spPr bwMode="auto">
          <a:xfrm>
            <a:off x="6731000" y="5545138"/>
            <a:ext cx="360363"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53" name="Rectangle 26"/>
          <p:cNvSpPr>
            <a:spLocks noChangeArrowheads="1"/>
          </p:cNvSpPr>
          <p:nvPr/>
        </p:nvSpPr>
        <p:spPr bwMode="auto">
          <a:xfrm>
            <a:off x="6731000" y="4824413"/>
            <a:ext cx="360363"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nvGrpSpPr>
          <p:cNvPr id="59" name="Group 58"/>
          <p:cNvGrpSpPr/>
          <p:nvPr/>
        </p:nvGrpSpPr>
        <p:grpSpPr>
          <a:xfrm>
            <a:off x="611188" y="2667000"/>
            <a:ext cx="3600450" cy="1260475"/>
            <a:chOff x="611188" y="2168525"/>
            <a:chExt cx="3600450" cy="1260475"/>
          </a:xfrm>
        </p:grpSpPr>
        <p:sp>
          <p:nvSpPr>
            <p:cNvPr id="60" name="Rectangle 23"/>
            <p:cNvSpPr>
              <a:spLocks noChangeArrowheads="1"/>
            </p:cNvSpPr>
            <p:nvPr/>
          </p:nvSpPr>
          <p:spPr bwMode="auto">
            <a:xfrm>
              <a:off x="611188" y="2168525"/>
              <a:ext cx="3600450" cy="720725"/>
            </a:xfrm>
            <a:prstGeom prst="rect">
              <a:avLst/>
            </a:prstGeom>
            <a:noFill/>
            <a:ln w="38100" algn="ctr">
              <a:solidFill>
                <a:schemeClr val="tx1"/>
              </a:solidFill>
              <a:miter lim="800000"/>
              <a:headEnd/>
              <a:tailEnd/>
            </a:ln>
          </p:spPr>
          <p:txBody>
            <a:bodyPr wrap="none" anchor="ctr"/>
            <a:lstStyle/>
            <a:p>
              <a:endParaRPr lang="en-US"/>
            </a:p>
          </p:txBody>
        </p:sp>
        <p:sp>
          <p:nvSpPr>
            <p:cNvPr id="61" name="Line 24"/>
            <p:cNvSpPr>
              <a:spLocks noChangeShapeType="1"/>
            </p:cNvSpPr>
            <p:nvPr/>
          </p:nvSpPr>
          <p:spPr bwMode="auto">
            <a:xfrm>
              <a:off x="2411413" y="2889250"/>
              <a:ext cx="1587" cy="539750"/>
            </a:xfrm>
            <a:prstGeom prst="line">
              <a:avLst/>
            </a:prstGeom>
            <a:noFill/>
            <a:ln w="38100">
              <a:solidFill>
                <a:schemeClr val="tx1"/>
              </a:solidFill>
              <a:round/>
              <a:headEnd/>
              <a:tailEnd type="triangle" w="med" len="med"/>
            </a:ln>
          </p:spPr>
          <p:txBody>
            <a:bodyPr/>
            <a:lstStyle/>
            <a:p>
              <a:endParaRPr lang="en-US"/>
            </a:p>
          </p:txBody>
        </p:sp>
      </p:grpSp>
      <p:grpSp>
        <p:nvGrpSpPr>
          <p:cNvPr id="63" name="Group 19"/>
          <p:cNvGrpSpPr>
            <a:grpSpLocks/>
          </p:cNvGrpSpPr>
          <p:nvPr/>
        </p:nvGrpSpPr>
        <p:grpSpPr bwMode="auto">
          <a:xfrm>
            <a:off x="611188" y="2667000"/>
            <a:ext cx="3600450" cy="2339975"/>
            <a:chOff x="385" y="1366"/>
            <a:chExt cx="2268" cy="1474"/>
          </a:xfrm>
        </p:grpSpPr>
        <p:sp>
          <p:nvSpPr>
            <p:cNvPr id="64" name="Rectangle 20"/>
            <p:cNvSpPr>
              <a:spLocks noChangeArrowheads="1"/>
            </p:cNvSpPr>
            <p:nvPr/>
          </p:nvSpPr>
          <p:spPr bwMode="auto">
            <a:xfrm>
              <a:off x="385" y="1366"/>
              <a:ext cx="2268" cy="1134"/>
            </a:xfrm>
            <a:prstGeom prst="rect">
              <a:avLst/>
            </a:prstGeom>
            <a:noFill/>
            <a:ln w="38100" algn="ctr">
              <a:solidFill>
                <a:schemeClr val="tx1"/>
              </a:solidFill>
              <a:miter lim="800000"/>
              <a:headEnd/>
              <a:tailEnd/>
            </a:ln>
          </p:spPr>
          <p:txBody>
            <a:bodyPr wrap="none" anchor="ctr"/>
            <a:lstStyle/>
            <a:p>
              <a:endParaRPr lang="en-US"/>
            </a:p>
          </p:txBody>
        </p:sp>
        <p:sp>
          <p:nvSpPr>
            <p:cNvPr id="65" name="Line 21"/>
            <p:cNvSpPr>
              <a:spLocks noChangeShapeType="1"/>
            </p:cNvSpPr>
            <p:nvPr/>
          </p:nvSpPr>
          <p:spPr bwMode="auto">
            <a:xfrm>
              <a:off x="1519" y="2500"/>
              <a:ext cx="0" cy="340"/>
            </a:xfrm>
            <a:prstGeom prst="line">
              <a:avLst/>
            </a:prstGeom>
            <a:noFill/>
            <a:ln w="38100">
              <a:solidFill>
                <a:schemeClr val="tx1"/>
              </a:solidFill>
              <a:round/>
              <a:headEnd/>
              <a:tailEnd type="triangle" w="med" len="med"/>
            </a:ln>
          </p:spPr>
          <p:txBody>
            <a:bodyPr/>
            <a:lstStyle/>
            <a:p>
              <a:endParaRPr lang="en-US"/>
            </a:p>
          </p:txBody>
        </p:sp>
      </p:grpSp>
      <p:grpSp>
        <p:nvGrpSpPr>
          <p:cNvPr id="66" name="Group 17"/>
          <p:cNvGrpSpPr>
            <a:grpSpLocks/>
          </p:cNvGrpSpPr>
          <p:nvPr/>
        </p:nvGrpSpPr>
        <p:grpSpPr bwMode="auto">
          <a:xfrm>
            <a:off x="611188" y="2667000"/>
            <a:ext cx="3600450" cy="2881313"/>
            <a:chOff x="385" y="1366"/>
            <a:chExt cx="2268" cy="1815"/>
          </a:xfrm>
        </p:grpSpPr>
        <p:sp>
          <p:nvSpPr>
            <p:cNvPr id="67" name="Rectangle 18"/>
            <p:cNvSpPr>
              <a:spLocks noChangeArrowheads="1"/>
            </p:cNvSpPr>
            <p:nvPr/>
          </p:nvSpPr>
          <p:spPr bwMode="auto">
            <a:xfrm>
              <a:off x="385" y="1366"/>
              <a:ext cx="2268" cy="1588"/>
            </a:xfrm>
            <a:prstGeom prst="rect">
              <a:avLst/>
            </a:prstGeom>
            <a:noFill/>
            <a:ln w="38100" algn="ctr">
              <a:solidFill>
                <a:schemeClr val="tx1"/>
              </a:solidFill>
              <a:miter lim="800000"/>
              <a:headEnd/>
              <a:tailEnd/>
            </a:ln>
          </p:spPr>
          <p:txBody>
            <a:bodyPr wrap="none" anchor="ctr"/>
            <a:lstStyle/>
            <a:p>
              <a:endParaRPr lang="en-US"/>
            </a:p>
          </p:txBody>
        </p:sp>
        <p:sp>
          <p:nvSpPr>
            <p:cNvPr id="68" name="Line 19"/>
            <p:cNvSpPr>
              <a:spLocks noChangeShapeType="1"/>
            </p:cNvSpPr>
            <p:nvPr/>
          </p:nvSpPr>
          <p:spPr bwMode="auto">
            <a:xfrm>
              <a:off x="1519" y="2954"/>
              <a:ext cx="1" cy="227"/>
            </a:xfrm>
            <a:prstGeom prst="line">
              <a:avLst/>
            </a:prstGeom>
            <a:noFill/>
            <a:ln w="38100">
              <a:solidFill>
                <a:schemeClr val="tx1"/>
              </a:solidFill>
              <a:round/>
              <a:headEnd/>
              <a:tailEnd type="triangle" w="med" len="med"/>
            </a:ln>
          </p:spPr>
          <p:txBody>
            <a:bodyPr/>
            <a:lstStyle/>
            <a:p>
              <a:endParaRPr lang="en-US"/>
            </a:p>
          </p:txBody>
        </p:sp>
      </p:grpSp>
      <p:sp>
        <p:nvSpPr>
          <p:cNvPr id="71" name="Rectangle 9"/>
          <p:cNvSpPr>
            <a:spLocks noChangeArrowheads="1"/>
          </p:cNvSpPr>
          <p:nvPr/>
        </p:nvSpPr>
        <p:spPr bwMode="auto">
          <a:xfrm>
            <a:off x="3130550" y="3394824"/>
            <a:ext cx="360363"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72" name="Rectangle 11"/>
          <p:cNvSpPr>
            <a:spLocks noChangeArrowheads="1"/>
          </p:cNvSpPr>
          <p:nvPr/>
        </p:nvSpPr>
        <p:spPr bwMode="auto">
          <a:xfrm>
            <a:off x="2409825" y="4824413"/>
            <a:ext cx="360363"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74" name="Rectangle 6"/>
          <p:cNvSpPr>
            <a:spLocks noChangeArrowheads="1"/>
          </p:cNvSpPr>
          <p:nvPr/>
        </p:nvSpPr>
        <p:spPr bwMode="auto">
          <a:xfrm>
            <a:off x="3490913" y="4467225"/>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76" name="Rectangle 4"/>
          <p:cNvSpPr>
            <a:spLocks noChangeArrowheads="1"/>
          </p:cNvSpPr>
          <p:nvPr/>
        </p:nvSpPr>
        <p:spPr bwMode="auto">
          <a:xfrm>
            <a:off x="969963" y="5184775"/>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77" name="TextBox 76"/>
          <p:cNvSpPr txBox="1"/>
          <p:nvPr/>
        </p:nvSpPr>
        <p:spPr>
          <a:xfrm>
            <a:off x="1971132" y="6324600"/>
            <a:ext cx="880562" cy="400110"/>
          </a:xfrm>
          <a:prstGeom prst="rect">
            <a:avLst/>
          </a:prstGeom>
          <a:noFill/>
          <a:effectLst>
            <a:outerShdw blurRad="50800" dist="38100" dir="2700000" algn="tl" rotWithShape="0">
              <a:prstClr val="black">
                <a:alpha val="40000"/>
              </a:prstClr>
            </a:outerShdw>
          </a:effectLst>
        </p:spPr>
        <p:txBody>
          <a:bodyPr wrap="none" rtlCol="0">
            <a:spAutoFit/>
          </a:bodyPr>
          <a:lstStyle/>
          <a:p>
            <a:r>
              <a:rPr lang="en-US" sz="2000" b="1" i="1" dirty="0" smtClean="0"/>
              <a:t>Host A</a:t>
            </a:r>
            <a:endParaRPr lang="en-US" sz="2000" b="1" i="1" dirty="0"/>
          </a:p>
        </p:txBody>
      </p:sp>
      <p:sp>
        <p:nvSpPr>
          <p:cNvPr id="78" name="TextBox 77"/>
          <p:cNvSpPr txBox="1"/>
          <p:nvPr/>
        </p:nvSpPr>
        <p:spPr>
          <a:xfrm>
            <a:off x="6297918" y="6324600"/>
            <a:ext cx="869341" cy="400110"/>
          </a:xfrm>
          <a:prstGeom prst="rect">
            <a:avLst/>
          </a:prstGeom>
          <a:noFill/>
          <a:effectLst>
            <a:outerShdw blurRad="50800" dist="38100" dir="2700000" algn="tl" rotWithShape="0">
              <a:prstClr val="black">
                <a:alpha val="40000"/>
              </a:prstClr>
            </a:outerShdw>
          </a:effectLst>
        </p:spPr>
        <p:txBody>
          <a:bodyPr wrap="none" rtlCol="0">
            <a:spAutoFit/>
          </a:bodyPr>
          <a:lstStyle/>
          <a:p>
            <a:r>
              <a:rPr lang="en-US" sz="2000" b="1" i="1" dirty="0" smtClean="0"/>
              <a:t>Host B</a:t>
            </a:r>
            <a:endParaRPr lang="en-US" sz="20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3"/>
                                        </p:tgtEl>
                                      </p:cBhvr>
                                    </p:animEffect>
                                    <p:set>
                                      <p:cBhvr>
                                        <p:cTn id="7" dur="1" fill="hold">
                                          <p:stCondLst>
                                            <p:cond delay="499"/>
                                          </p:stCondLst>
                                        </p:cTn>
                                        <p:tgtEl>
                                          <p:spTgt spid="33"/>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1"/>
                                        </p:tgtEl>
                                      </p:cBhvr>
                                    </p:animEffect>
                                    <p:set>
                                      <p:cBhvr>
                                        <p:cTn id="10" dur="1" fill="hold">
                                          <p:stCondLst>
                                            <p:cond delay="499"/>
                                          </p:stCondLst>
                                        </p:cTn>
                                        <p:tgtEl>
                                          <p:spTgt spid="31"/>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45"/>
                                        </p:tgtEl>
                                      </p:cBhvr>
                                    </p:animEffect>
                                    <p:set>
                                      <p:cBhvr>
                                        <p:cTn id="13" dur="1" fill="hold">
                                          <p:stCondLst>
                                            <p:cond delay="499"/>
                                          </p:stCondLst>
                                        </p:cTn>
                                        <p:tgtEl>
                                          <p:spTgt spid="45"/>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43"/>
                                        </p:tgtEl>
                                      </p:cBhvr>
                                    </p:animEffect>
                                    <p:set>
                                      <p:cBhvr>
                                        <p:cTn id="16" dur="1" fill="hold">
                                          <p:stCondLst>
                                            <p:cond delay="499"/>
                                          </p:stCondLst>
                                        </p:cTn>
                                        <p:tgtEl>
                                          <p:spTgt spid="43"/>
                                        </p:tgtEl>
                                        <p:attrNameLst>
                                          <p:attrName>style.visibility</p:attrName>
                                        </p:attrNameLst>
                                      </p:cBhvr>
                                      <p:to>
                                        <p:strVal val="hidden"/>
                                      </p:to>
                                    </p:set>
                                  </p:childTnLst>
                                </p:cTn>
                              </p:par>
                              <p:par>
                                <p:cTn id="17" presetID="22" presetClass="entr" presetSubtype="1" fill="hold" nodeType="with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wipe(up)">
                                      <p:cBhvr>
                                        <p:cTn id="19" dur="500"/>
                                        <p:tgtEl>
                                          <p:spTgt spid="5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xit" presetSubtype="1" fill="hold" nodeType="clickEffect">
                                  <p:stCondLst>
                                    <p:cond delay="0"/>
                                  </p:stCondLst>
                                  <p:childTnLst>
                                    <p:animEffect transition="out" filter="wipe(up)">
                                      <p:cBhvr>
                                        <p:cTn id="23" dur="500"/>
                                        <p:tgtEl>
                                          <p:spTgt spid="59"/>
                                        </p:tgtEl>
                                      </p:cBhvr>
                                    </p:animEffect>
                                    <p:set>
                                      <p:cBhvr>
                                        <p:cTn id="24" dur="1" fill="hold">
                                          <p:stCondLst>
                                            <p:cond delay="499"/>
                                          </p:stCondLst>
                                        </p:cTn>
                                        <p:tgtEl>
                                          <p:spTgt spid="59"/>
                                        </p:tgtEl>
                                        <p:attrNameLst>
                                          <p:attrName>style.visibility</p:attrName>
                                        </p:attrNameLst>
                                      </p:cBhvr>
                                      <p:to>
                                        <p:strVal val="hidden"/>
                                      </p:to>
                                    </p:set>
                                  </p:childTnLst>
                                </p:cTn>
                              </p:par>
                              <p:par>
                                <p:cTn id="25" presetID="10" presetClass="exit" presetSubtype="0" fill="hold" grpId="0" nodeType="withEffect">
                                  <p:stCondLst>
                                    <p:cond delay="0"/>
                                  </p:stCondLst>
                                  <p:childTnLst>
                                    <p:animEffect transition="out" filter="fade">
                                      <p:cBhvr>
                                        <p:cTn id="26" dur="500"/>
                                        <p:tgtEl>
                                          <p:spTgt spid="32"/>
                                        </p:tgtEl>
                                      </p:cBhvr>
                                    </p:animEffect>
                                    <p:set>
                                      <p:cBhvr>
                                        <p:cTn id="27" dur="1" fill="hold">
                                          <p:stCondLst>
                                            <p:cond delay="499"/>
                                          </p:stCondLst>
                                        </p:cTn>
                                        <p:tgtEl>
                                          <p:spTgt spid="32"/>
                                        </p:tgtEl>
                                        <p:attrNameLst>
                                          <p:attrName>style.visibility</p:attrName>
                                        </p:attrNameLst>
                                      </p:cBhvr>
                                      <p:to>
                                        <p:strVal val="hidden"/>
                                      </p:to>
                                    </p:set>
                                  </p:childTnLst>
                                </p:cTn>
                              </p:par>
                              <p:par>
                                <p:cTn id="28" presetID="10" presetClass="exit" presetSubtype="0" fill="hold" grpId="0" nodeType="withEffect">
                                  <p:stCondLst>
                                    <p:cond delay="0"/>
                                  </p:stCondLst>
                                  <p:childTnLst>
                                    <p:animEffect transition="out" filter="fade">
                                      <p:cBhvr>
                                        <p:cTn id="29" dur="500"/>
                                        <p:tgtEl>
                                          <p:spTgt spid="36"/>
                                        </p:tgtEl>
                                      </p:cBhvr>
                                    </p:animEffect>
                                    <p:set>
                                      <p:cBhvr>
                                        <p:cTn id="30" dur="1" fill="hold">
                                          <p:stCondLst>
                                            <p:cond delay="499"/>
                                          </p:stCondLst>
                                        </p:cTn>
                                        <p:tgtEl>
                                          <p:spTgt spid="36"/>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500"/>
                                        <p:tgtEl>
                                          <p:spTgt spid="39"/>
                                        </p:tgtEl>
                                      </p:cBhvr>
                                    </p:animEffect>
                                    <p:set>
                                      <p:cBhvr>
                                        <p:cTn id="33" dur="1" fill="hold">
                                          <p:stCondLst>
                                            <p:cond delay="499"/>
                                          </p:stCondLst>
                                        </p:cTn>
                                        <p:tgtEl>
                                          <p:spTgt spid="39"/>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5" dur="500"/>
                                        <p:tgtEl>
                                          <p:spTgt spid="44"/>
                                        </p:tgtEl>
                                      </p:cBhvr>
                                    </p:animEffect>
                                    <p:set>
                                      <p:cBhvr>
                                        <p:cTn id="36" dur="1" fill="hold">
                                          <p:stCondLst>
                                            <p:cond delay="499"/>
                                          </p:stCondLst>
                                        </p:cTn>
                                        <p:tgtEl>
                                          <p:spTgt spid="44"/>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500"/>
                                        <p:tgtEl>
                                          <p:spTgt spid="48"/>
                                        </p:tgtEl>
                                      </p:cBhvr>
                                    </p:animEffect>
                                    <p:set>
                                      <p:cBhvr>
                                        <p:cTn id="39" dur="1" fill="hold">
                                          <p:stCondLst>
                                            <p:cond delay="499"/>
                                          </p:stCondLst>
                                        </p:cTn>
                                        <p:tgtEl>
                                          <p:spTgt spid="48"/>
                                        </p:tgtEl>
                                        <p:attrNameLst>
                                          <p:attrName>style.visibility</p:attrName>
                                        </p:attrNameLst>
                                      </p:cBhvr>
                                      <p:to>
                                        <p:strVal val="hidden"/>
                                      </p:to>
                                    </p:set>
                                  </p:childTnLst>
                                </p:cTn>
                              </p:par>
                              <p:par>
                                <p:cTn id="40" presetID="22" presetClass="entr" presetSubtype="1" fill="hold" nodeType="withEffect">
                                  <p:stCondLst>
                                    <p:cond delay="0"/>
                                  </p:stCondLst>
                                  <p:childTnLst>
                                    <p:set>
                                      <p:cBhvr>
                                        <p:cTn id="41" dur="1" fill="hold">
                                          <p:stCondLst>
                                            <p:cond delay="0"/>
                                          </p:stCondLst>
                                        </p:cTn>
                                        <p:tgtEl>
                                          <p:spTgt spid="63"/>
                                        </p:tgtEl>
                                        <p:attrNameLst>
                                          <p:attrName>style.visibility</p:attrName>
                                        </p:attrNameLst>
                                      </p:cBhvr>
                                      <p:to>
                                        <p:strVal val="visible"/>
                                      </p:to>
                                    </p:set>
                                    <p:animEffect transition="in" filter="wipe(up)">
                                      <p:cBhvr>
                                        <p:cTn id="42" dur="500"/>
                                        <p:tgtEl>
                                          <p:spTgt spid="6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1"/>
                                        </p:tgtEl>
                                        <p:attrNameLst>
                                          <p:attrName>style.visibility</p:attrName>
                                        </p:attrNameLst>
                                      </p:cBhvr>
                                      <p:to>
                                        <p:strVal val="visible"/>
                                      </p:to>
                                    </p:set>
                                    <p:animEffect transition="in" filter="fade">
                                      <p:cBhvr>
                                        <p:cTn id="45" dur="500"/>
                                        <p:tgtEl>
                                          <p:spTgt spid="7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72"/>
                                        </p:tgtEl>
                                        <p:attrNameLst>
                                          <p:attrName>style.visibility</p:attrName>
                                        </p:attrNameLst>
                                      </p:cBhvr>
                                      <p:to>
                                        <p:strVal val="visible"/>
                                      </p:to>
                                    </p:set>
                                    <p:animEffect transition="in" filter="fade">
                                      <p:cBhvr>
                                        <p:cTn id="48" dur="500"/>
                                        <p:tgtEl>
                                          <p:spTgt spid="7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xit" presetSubtype="1" fill="hold" nodeType="clickEffect">
                                  <p:stCondLst>
                                    <p:cond delay="0"/>
                                  </p:stCondLst>
                                  <p:childTnLst>
                                    <p:animEffect transition="out" filter="wipe(up)">
                                      <p:cBhvr>
                                        <p:cTn id="52" dur="500"/>
                                        <p:tgtEl>
                                          <p:spTgt spid="63"/>
                                        </p:tgtEl>
                                      </p:cBhvr>
                                    </p:animEffect>
                                    <p:set>
                                      <p:cBhvr>
                                        <p:cTn id="53" dur="1" fill="hold">
                                          <p:stCondLst>
                                            <p:cond delay="499"/>
                                          </p:stCondLst>
                                        </p:cTn>
                                        <p:tgtEl>
                                          <p:spTgt spid="63"/>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500"/>
                                        <p:tgtEl>
                                          <p:spTgt spid="35"/>
                                        </p:tgtEl>
                                      </p:cBhvr>
                                    </p:animEffect>
                                    <p:set>
                                      <p:cBhvr>
                                        <p:cTn id="56" dur="1" fill="hold">
                                          <p:stCondLst>
                                            <p:cond delay="499"/>
                                          </p:stCondLst>
                                        </p:cTn>
                                        <p:tgtEl>
                                          <p:spTgt spid="35"/>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500"/>
                                        <p:tgtEl>
                                          <p:spTgt spid="37"/>
                                        </p:tgtEl>
                                      </p:cBhvr>
                                    </p:animEffect>
                                    <p:set>
                                      <p:cBhvr>
                                        <p:cTn id="59" dur="1" fill="hold">
                                          <p:stCondLst>
                                            <p:cond delay="499"/>
                                          </p:stCondLst>
                                        </p:cTn>
                                        <p:tgtEl>
                                          <p:spTgt spid="37"/>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500"/>
                                        <p:tgtEl>
                                          <p:spTgt spid="47"/>
                                        </p:tgtEl>
                                      </p:cBhvr>
                                    </p:animEffect>
                                    <p:set>
                                      <p:cBhvr>
                                        <p:cTn id="62" dur="1" fill="hold">
                                          <p:stCondLst>
                                            <p:cond delay="499"/>
                                          </p:stCondLst>
                                        </p:cTn>
                                        <p:tgtEl>
                                          <p:spTgt spid="47"/>
                                        </p:tgtEl>
                                        <p:attrNameLst>
                                          <p:attrName>style.visibility</p:attrName>
                                        </p:attrNameLst>
                                      </p:cBhvr>
                                      <p:to>
                                        <p:strVal val="hidden"/>
                                      </p:to>
                                    </p:set>
                                  </p:childTnLst>
                                </p:cTn>
                              </p:par>
                              <p:par>
                                <p:cTn id="63" presetID="22" presetClass="entr" presetSubtype="1" fill="hold" nodeType="with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wipe(up)">
                                      <p:cBhvr>
                                        <p:cTn id="65" dur="500"/>
                                        <p:tgtEl>
                                          <p:spTgt spid="6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4"/>
                                        </p:tgtEl>
                                        <p:attrNameLst>
                                          <p:attrName>style.visibility</p:attrName>
                                        </p:attrNameLst>
                                      </p:cBhvr>
                                      <p:to>
                                        <p:strVal val="visible"/>
                                      </p:to>
                                    </p:set>
                                    <p:animEffect transition="in" filter="fade">
                                      <p:cBhvr>
                                        <p:cTn id="68" dur="500"/>
                                        <p:tgtEl>
                                          <p:spTgt spid="7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xit" presetSubtype="4" fill="hold" nodeType="clickEffect">
                                  <p:stCondLst>
                                    <p:cond delay="0"/>
                                  </p:stCondLst>
                                  <p:childTnLst>
                                    <p:animEffect transition="out" filter="wipe(down)">
                                      <p:cBhvr>
                                        <p:cTn id="72" dur="500"/>
                                        <p:tgtEl>
                                          <p:spTgt spid="66"/>
                                        </p:tgtEl>
                                      </p:cBhvr>
                                    </p:animEffect>
                                    <p:set>
                                      <p:cBhvr>
                                        <p:cTn id="73" dur="1" fill="hold">
                                          <p:stCondLst>
                                            <p:cond delay="499"/>
                                          </p:stCondLst>
                                        </p:cTn>
                                        <p:tgtEl>
                                          <p:spTgt spid="66"/>
                                        </p:tgtEl>
                                        <p:attrNameLst>
                                          <p:attrName>style.visibility</p:attrName>
                                        </p:attrNameLst>
                                      </p:cBhvr>
                                      <p:to>
                                        <p:strVal val="hidden"/>
                                      </p:to>
                                    </p:set>
                                  </p:childTnLst>
                                </p:cTn>
                              </p:par>
                              <p:par>
                                <p:cTn id="74" presetID="10" presetClass="exit" presetSubtype="0" fill="hold" grpId="0" nodeType="withEffect">
                                  <p:stCondLst>
                                    <p:cond delay="0"/>
                                  </p:stCondLst>
                                  <p:childTnLst>
                                    <p:animEffect transition="out" filter="fade">
                                      <p:cBhvr>
                                        <p:cTn id="75" dur="500"/>
                                        <p:tgtEl>
                                          <p:spTgt spid="40"/>
                                        </p:tgtEl>
                                      </p:cBhvr>
                                    </p:animEffect>
                                    <p:set>
                                      <p:cBhvr>
                                        <p:cTn id="76" dur="1" fill="hold">
                                          <p:stCondLst>
                                            <p:cond delay="499"/>
                                          </p:stCondLst>
                                        </p:cTn>
                                        <p:tgtEl>
                                          <p:spTgt spid="40"/>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8" dur="500"/>
                                        <p:tgtEl>
                                          <p:spTgt spid="34"/>
                                        </p:tgtEl>
                                      </p:cBhvr>
                                    </p:animEffect>
                                    <p:set>
                                      <p:cBhvr>
                                        <p:cTn id="79" dur="1" fill="hold">
                                          <p:stCondLst>
                                            <p:cond delay="499"/>
                                          </p:stCondLst>
                                        </p:cTn>
                                        <p:tgtEl>
                                          <p:spTgt spid="34"/>
                                        </p:tgtEl>
                                        <p:attrNameLst>
                                          <p:attrName>style.visibility</p:attrName>
                                        </p:attrNameLst>
                                      </p:cBhvr>
                                      <p:to>
                                        <p:strVal val="hidden"/>
                                      </p:to>
                                    </p:set>
                                  </p:childTnLst>
                                </p:cTn>
                              </p:par>
                              <p:par>
                                <p:cTn id="80" presetID="10" presetClass="exit" presetSubtype="0" fill="hold" grpId="0" nodeType="withEffect">
                                  <p:stCondLst>
                                    <p:cond delay="0"/>
                                  </p:stCondLst>
                                  <p:childTnLst>
                                    <p:animEffect transition="out" filter="fade">
                                      <p:cBhvr>
                                        <p:cTn id="81" dur="500"/>
                                        <p:tgtEl>
                                          <p:spTgt spid="38"/>
                                        </p:tgtEl>
                                      </p:cBhvr>
                                    </p:animEffect>
                                    <p:set>
                                      <p:cBhvr>
                                        <p:cTn id="82" dur="1" fill="hold">
                                          <p:stCondLst>
                                            <p:cond delay="499"/>
                                          </p:stCondLst>
                                        </p:cTn>
                                        <p:tgtEl>
                                          <p:spTgt spid="38"/>
                                        </p:tgtEl>
                                        <p:attrNameLst>
                                          <p:attrName>style.visibility</p:attrName>
                                        </p:attrNameLst>
                                      </p:cBhvr>
                                      <p:to>
                                        <p:strVal val="hidden"/>
                                      </p:to>
                                    </p:set>
                                  </p:childTnLst>
                                </p:cTn>
                              </p:par>
                              <p:par>
                                <p:cTn id="83" presetID="10" presetClass="exit" presetSubtype="0" fill="hold" grpId="0" nodeType="withEffect">
                                  <p:stCondLst>
                                    <p:cond delay="0"/>
                                  </p:stCondLst>
                                  <p:childTnLst>
                                    <p:animEffect transition="out" filter="fade">
                                      <p:cBhvr>
                                        <p:cTn id="84" dur="500"/>
                                        <p:tgtEl>
                                          <p:spTgt spid="52"/>
                                        </p:tgtEl>
                                      </p:cBhvr>
                                    </p:animEffect>
                                    <p:set>
                                      <p:cBhvr>
                                        <p:cTn id="85" dur="1" fill="hold">
                                          <p:stCondLst>
                                            <p:cond delay="499"/>
                                          </p:stCondLst>
                                        </p:cTn>
                                        <p:tgtEl>
                                          <p:spTgt spid="52"/>
                                        </p:tgtEl>
                                        <p:attrNameLst>
                                          <p:attrName>style.visibility</p:attrName>
                                        </p:attrNameLst>
                                      </p:cBhvr>
                                      <p:to>
                                        <p:strVal val="hidden"/>
                                      </p:to>
                                    </p:set>
                                  </p:childTnLst>
                                </p:cTn>
                              </p:par>
                              <p:par>
                                <p:cTn id="86" presetID="10" presetClass="exit" presetSubtype="0" fill="hold" grpId="0" nodeType="withEffect">
                                  <p:stCondLst>
                                    <p:cond delay="0"/>
                                  </p:stCondLst>
                                  <p:childTnLst>
                                    <p:animEffect transition="out" filter="fade">
                                      <p:cBhvr>
                                        <p:cTn id="87" dur="500"/>
                                        <p:tgtEl>
                                          <p:spTgt spid="50"/>
                                        </p:tgtEl>
                                      </p:cBhvr>
                                    </p:animEffect>
                                    <p:set>
                                      <p:cBhvr>
                                        <p:cTn id="88" dur="1" fill="hold">
                                          <p:stCondLst>
                                            <p:cond delay="499"/>
                                          </p:stCondLst>
                                        </p:cTn>
                                        <p:tgtEl>
                                          <p:spTgt spid="50"/>
                                        </p:tgtEl>
                                        <p:attrNameLst>
                                          <p:attrName>style.visibility</p:attrName>
                                        </p:attrNameLst>
                                      </p:cBhvr>
                                      <p:to>
                                        <p:strVal val="hidden"/>
                                      </p:to>
                                    </p:set>
                                  </p:childTnLst>
                                </p:cTn>
                              </p:par>
                              <p:par>
                                <p:cTn id="89" presetID="10" presetClass="entr" presetSubtype="0" fill="hold" grpId="0" nodeType="withEffect">
                                  <p:stCondLst>
                                    <p:cond delay="0"/>
                                  </p:stCondLst>
                                  <p:childTnLst>
                                    <p:set>
                                      <p:cBhvr>
                                        <p:cTn id="90" dur="1" fill="hold">
                                          <p:stCondLst>
                                            <p:cond delay="0"/>
                                          </p:stCondLst>
                                        </p:cTn>
                                        <p:tgtEl>
                                          <p:spTgt spid="76"/>
                                        </p:tgtEl>
                                        <p:attrNameLst>
                                          <p:attrName>style.visibility</p:attrName>
                                        </p:attrNameLst>
                                      </p:cBhvr>
                                      <p:to>
                                        <p:strVal val="visible"/>
                                      </p:to>
                                    </p:set>
                                    <p:animEffect transition="in" filter="fade">
                                      <p:cBhvr>
                                        <p:cTn id="91"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3" grpId="0" animBg="1"/>
      <p:bldP spid="44" grpId="0" animBg="1"/>
      <p:bldP spid="45" grpId="0" animBg="1"/>
      <p:bldP spid="47" grpId="0" animBg="1"/>
      <p:bldP spid="48" grpId="0" animBg="1"/>
      <p:bldP spid="50" grpId="0" animBg="1"/>
      <p:bldP spid="52" grpId="0" animBg="1"/>
      <p:bldP spid="71" grpId="0" animBg="1"/>
      <p:bldP spid="72" grpId="0" animBg="1"/>
      <p:bldP spid="74" grpId="0" animBg="1"/>
      <p:bldP spid="76"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Live Migration Technique</a:t>
            </a:r>
            <a:endParaRPr lang="en-US" dirty="0"/>
          </a:p>
        </p:txBody>
      </p:sp>
      <p:sp>
        <p:nvSpPr>
          <p:cNvPr id="4" name="Content Placeholder 2"/>
          <p:cNvSpPr>
            <a:spLocks noGrp="1"/>
          </p:cNvSpPr>
          <p:nvPr>
            <p:ph idx="1"/>
          </p:nvPr>
        </p:nvSpPr>
        <p:spPr>
          <a:xfrm>
            <a:off x="457200" y="1371600"/>
            <a:ext cx="8229600" cy="533399"/>
          </a:xfrm>
        </p:spPr>
        <p:txBody>
          <a:bodyPr/>
          <a:lstStyle/>
          <a:p>
            <a:r>
              <a:rPr lang="en-US" dirty="0" smtClean="0"/>
              <a:t>Live migration process :</a:t>
            </a:r>
          </a:p>
        </p:txBody>
      </p:sp>
      <p:sp>
        <p:nvSpPr>
          <p:cNvPr id="5" name="Rectangle 4"/>
          <p:cNvSpPr/>
          <p:nvPr/>
        </p:nvSpPr>
        <p:spPr>
          <a:xfrm>
            <a:off x="2123772" y="1905000"/>
            <a:ext cx="4896470" cy="584775"/>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Stop and copy : Final Round</a:t>
            </a:r>
            <a:endParaRPr lang="en-US" sz="32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6" name="Rectangle 2"/>
          <p:cNvSpPr>
            <a:spLocks noChangeArrowheads="1"/>
          </p:cNvSpPr>
          <p:nvPr/>
        </p:nvSpPr>
        <p:spPr bwMode="auto">
          <a:xfrm>
            <a:off x="609600" y="2667000"/>
            <a:ext cx="3600450" cy="3600450"/>
          </a:xfrm>
          <a:prstGeom prst="rect">
            <a:avLst/>
          </a:prstGeom>
          <a:no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7" name="Rectangle 15"/>
          <p:cNvSpPr>
            <a:spLocks noChangeArrowheads="1"/>
          </p:cNvSpPr>
          <p:nvPr/>
        </p:nvSpPr>
        <p:spPr bwMode="auto">
          <a:xfrm>
            <a:off x="4932363" y="2667000"/>
            <a:ext cx="3600450" cy="3600450"/>
          </a:xfrm>
          <a:prstGeom prst="rect">
            <a:avLst/>
          </a:prstGeom>
          <a:solidFill>
            <a:srgbClr val="5E574E"/>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nvGrpSpPr>
          <p:cNvPr id="17" name="Group 16"/>
          <p:cNvGrpSpPr/>
          <p:nvPr/>
        </p:nvGrpSpPr>
        <p:grpSpPr>
          <a:xfrm>
            <a:off x="5291138" y="3394824"/>
            <a:ext cx="2881312" cy="2151901"/>
            <a:chOff x="5291138" y="3623424"/>
            <a:chExt cx="2881312" cy="2151901"/>
          </a:xfrm>
        </p:grpSpPr>
        <p:sp>
          <p:nvSpPr>
            <p:cNvPr id="8" name="Rectangle 19"/>
            <p:cNvSpPr>
              <a:spLocks noChangeArrowheads="1"/>
            </p:cNvSpPr>
            <p:nvPr/>
          </p:nvSpPr>
          <p:spPr bwMode="auto">
            <a:xfrm>
              <a:off x="5291138" y="5413375"/>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9" name="Rectangle 22"/>
            <p:cNvSpPr>
              <a:spLocks noChangeArrowheads="1"/>
            </p:cNvSpPr>
            <p:nvPr/>
          </p:nvSpPr>
          <p:spPr bwMode="auto">
            <a:xfrm>
              <a:off x="7812088" y="4695825"/>
              <a:ext cx="360362"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0" name="Rectangle 24"/>
            <p:cNvSpPr>
              <a:spLocks noChangeArrowheads="1"/>
            </p:cNvSpPr>
            <p:nvPr/>
          </p:nvSpPr>
          <p:spPr bwMode="auto">
            <a:xfrm>
              <a:off x="7451725" y="3623424"/>
              <a:ext cx="360363"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1" name="Rectangle 26"/>
            <p:cNvSpPr>
              <a:spLocks noChangeArrowheads="1"/>
            </p:cNvSpPr>
            <p:nvPr/>
          </p:nvSpPr>
          <p:spPr bwMode="auto">
            <a:xfrm>
              <a:off x="6731000" y="5053013"/>
              <a:ext cx="360363" cy="361950"/>
            </a:xfrm>
            <a:prstGeom prst="rect">
              <a:avLst/>
            </a:prstGeom>
            <a:solidFill>
              <a:srgbClr val="FFFFFF"/>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grpSp>
        <p:nvGrpSpPr>
          <p:cNvPr id="16" name="Group 15"/>
          <p:cNvGrpSpPr/>
          <p:nvPr/>
        </p:nvGrpSpPr>
        <p:grpSpPr>
          <a:xfrm>
            <a:off x="969963" y="3394824"/>
            <a:ext cx="2881312" cy="2151901"/>
            <a:chOff x="969963" y="3623424"/>
            <a:chExt cx="2881312" cy="2151901"/>
          </a:xfrm>
        </p:grpSpPr>
        <p:sp>
          <p:nvSpPr>
            <p:cNvPr id="12" name="Rectangle 9"/>
            <p:cNvSpPr>
              <a:spLocks noChangeArrowheads="1"/>
            </p:cNvSpPr>
            <p:nvPr/>
          </p:nvSpPr>
          <p:spPr bwMode="auto">
            <a:xfrm>
              <a:off x="3130550" y="3623424"/>
              <a:ext cx="360363"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3" name="Rectangle 11"/>
            <p:cNvSpPr>
              <a:spLocks noChangeArrowheads="1"/>
            </p:cNvSpPr>
            <p:nvPr/>
          </p:nvSpPr>
          <p:spPr bwMode="auto">
            <a:xfrm>
              <a:off x="2409825" y="5053013"/>
              <a:ext cx="360363"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4" name="Rectangle 6"/>
            <p:cNvSpPr>
              <a:spLocks noChangeArrowheads="1"/>
            </p:cNvSpPr>
            <p:nvPr/>
          </p:nvSpPr>
          <p:spPr bwMode="auto">
            <a:xfrm>
              <a:off x="3490913" y="4695825"/>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5" name="Rectangle 4"/>
            <p:cNvSpPr>
              <a:spLocks noChangeArrowheads="1"/>
            </p:cNvSpPr>
            <p:nvPr/>
          </p:nvSpPr>
          <p:spPr bwMode="auto">
            <a:xfrm>
              <a:off x="969963" y="5413375"/>
              <a:ext cx="360362" cy="361950"/>
            </a:xfrm>
            <a:prstGeom prst="rect">
              <a:avLst/>
            </a:prstGeom>
            <a:solidFill>
              <a:srgbClr val="FF6600"/>
            </a:solidFill>
            <a:ln w="38100" algn="ctr">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grpSp>
      <p:sp>
        <p:nvSpPr>
          <p:cNvPr id="18" name="Rectangle 17"/>
          <p:cNvSpPr>
            <a:spLocks noChangeArrowheads="1"/>
          </p:cNvSpPr>
          <p:nvPr/>
        </p:nvSpPr>
        <p:spPr bwMode="auto">
          <a:xfrm>
            <a:off x="4932363" y="2667000"/>
            <a:ext cx="3600450" cy="3600450"/>
          </a:xfrm>
          <a:prstGeom prst="rect">
            <a:avLst/>
          </a:prstGeom>
          <a:solidFill>
            <a:srgbClr val="C0C0C0"/>
          </a:solidFill>
          <a:ln w="38100" algn="ctr">
            <a:solidFill>
              <a:schemeClr val="tx1"/>
            </a:solidFill>
            <a:miter lim="800000"/>
            <a:headEnd/>
            <a:tailEnd/>
          </a:ln>
        </p:spPr>
        <p:txBody>
          <a:bodyPr wrap="none" anchor="ctr"/>
          <a:lstStyle/>
          <a:p>
            <a:endParaRPr lang="en-US"/>
          </a:p>
        </p:txBody>
      </p:sp>
      <p:sp>
        <p:nvSpPr>
          <p:cNvPr id="19" name="TextBox 18"/>
          <p:cNvSpPr txBox="1"/>
          <p:nvPr/>
        </p:nvSpPr>
        <p:spPr>
          <a:xfrm>
            <a:off x="1971132" y="6324600"/>
            <a:ext cx="880562" cy="400110"/>
          </a:xfrm>
          <a:prstGeom prst="rect">
            <a:avLst/>
          </a:prstGeom>
          <a:noFill/>
          <a:effectLst>
            <a:outerShdw blurRad="50800" dist="38100" dir="2700000" algn="tl" rotWithShape="0">
              <a:prstClr val="black">
                <a:alpha val="40000"/>
              </a:prstClr>
            </a:outerShdw>
          </a:effectLst>
        </p:spPr>
        <p:txBody>
          <a:bodyPr wrap="none" rtlCol="0">
            <a:spAutoFit/>
          </a:bodyPr>
          <a:lstStyle/>
          <a:p>
            <a:r>
              <a:rPr lang="en-US" sz="2000" b="1" i="1" dirty="0" smtClean="0"/>
              <a:t>Host A</a:t>
            </a:r>
            <a:endParaRPr lang="en-US" sz="2000" b="1" i="1" dirty="0"/>
          </a:p>
        </p:txBody>
      </p:sp>
      <p:sp>
        <p:nvSpPr>
          <p:cNvPr id="20" name="TextBox 19"/>
          <p:cNvSpPr txBox="1"/>
          <p:nvPr/>
        </p:nvSpPr>
        <p:spPr>
          <a:xfrm>
            <a:off x="6297918" y="6324600"/>
            <a:ext cx="869341" cy="400110"/>
          </a:xfrm>
          <a:prstGeom prst="rect">
            <a:avLst/>
          </a:prstGeom>
          <a:noFill/>
          <a:effectLst>
            <a:outerShdw blurRad="50800" dist="38100" dir="2700000" algn="tl" rotWithShape="0">
              <a:prstClr val="black">
                <a:alpha val="40000"/>
              </a:prstClr>
            </a:outerShdw>
          </a:effectLst>
        </p:spPr>
        <p:txBody>
          <a:bodyPr wrap="none" rtlCol="0">
            <a:spAutoFit/>
          </a:bodyPr>
          <a:lstStyle/>
          <a:p>
            <a:r>
              <a:rPr lang="en-US" sz="2000" b="1" i="1" dirty="0" smtClean="0"/>
              <a:t>Host B</a:t>
            </a:r>
            <a:endParaRPr lang="en-US" sz="20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1.66667E-6 4.81481E-6 L 0.47327 0.00208 " pathEditMode="relative" rAng="0" ptsTypes="AA">
                                      <p:cBhvr>
                                        <p:cTn id="6" dur="2000" fill="hold"/>
                                        <p:tgtEl>
                                          <p:spTgt spid="16"/>
                                        </p:tgtEl>
                                        <p:attrNameLst>
                                          <p:attrName>ppt_x</p:attrName>
                                          <p:attrName>ppt_y</p:attrName>
                                        </p:attrNameLst>
                                      </p:cBhvr>
                                      <p:rCtr x="237" y="1"/>
                                    </p:animMotion>
                                  </p:childTnLst>
                                </p:cTn>
                              </p:par>
                            </p:childTnLst>
                          </p:cTn>
                        </p:par>
                        <p:par>
                          <p:cTn id="7" fill="hold">
                            <p:stCondLst>
                              <p:cond delay="2000"/>
                            </p:stCondLst>
                            <p:childTnLst>
                              <p:par>
                                <p:cTn id="8" presetID="10" presetClass="exit" presetSubtype="0" fill="hold" nodeType="afterEffect">
                                  <p:stCondLst>
                                    <p:cond delay="0"/>
                                  </p:stCondLst>
                                  <p:childTnLst>
                                    <p:animEffect transition="out" filter="fade">
                                      <p:cBhvr>
                                        <p:cTn id="9" dur="500"/>
                                        <p:tgtEl>
                                          <p:spTgt spid="17"/>
                                        </p:tgtEl>
                                      </p:cBhvr>
                                    </p:animEffect>
                                    <p:set>
                                      <p:cBhvr>
                                        <p:cTn id="10" dur="1" fill="hold">
                                          <p:stCondLst>
                                            <p:cond delay="499"/>
                                          </p:stCondLst>
                                        </p:cTn>
                                        <p:tgtEl>
                                          <p:spTgt spid="17"/>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1"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1"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Scalability in Virtualization</a:t>
            </a:r>
            <a:endParaRPr lang="en-US" dirty="0"/>
          </a:p>
        </p:txBody>
      </p:sp>
      <p:sp>
        <p:nvSpPr>
          <p:cNvPr id="3" name="Content Placeholder 2"/>
          <p:cNvSpPr>
            <a:spLocks noGrp="1"/>
          </p:cNvSpPr>
          <p:nvPr>
            <p:ph idx="1"/>
          </p:nvPr>
        </p:nvSpPr>
        <p:spPr>
          <a:xfrm>
            <a:off x="457200" y="1600200"/>
            <a:ext cx="4343400" cy="4525963"/>
          </a:xfrm>
        </p:spPr>
        <p:txBody>
          <a:bodyPr/>
          <a:lstStyle/>
          <a:p>
            <a:r>
              <a:rPr lang="en-US" dirty="0" smtClean="0"/>
              <a:t>Scalability implement by VMware:</a:t>
            </a:r>
          </a:p>
          <a:p>
            <a:pPr lvl="1"/>
            <a:r>
              <a:rPr lang="en-US" dirty="0" smtClean="0"/>
              <a:t>VMware </a:t>
            </a:r>
            <a:r>
              <a:rPr lang="en-US" dirty="0" err="1" smtClean="0"/>
              <a:t>VMotion</a:t>
            </a:r>
            <a:r>
              <a:rPr lang="en-US" dirty="0" smtClean="0"/>
              <a:t>, makes it possible to move Virtual Machines, without interrupting the applications running inside.</a:t>
            </a:r>
          </a:p>
          <a:p>
            <a:pPr lvl="1"/>
            <a:r>
              <a:rPr lang="en-US" dirty="0" smtClean="0"/>
              <a:t>Dynamically scale up virtual machine system among physical servers.</a:t>
            </a:r>
          </a:p>
        </p:txBody>
      </p:sp>
      <p:grpSp>
        <p:nvGrpSpPr>
          <p:cNvPr id="4" name="Group 35"/>
          <p:cNvGrpSpPr>
            <a:grpSpLocks/>
          </p:cNvGrpSpPr>
          <p:nvPr/>
        </p:nvGrpSpPr>
        <p:grpSpPr bwMode="auto">
          <a:xfrm>
            <a:off x="5181600" y="2814637"/>
            <a:ext cx="1676400" cy="2608263"/>
            <a:chOff x="1676400" y="2052601"/>
            <a:chExt cx="1676400" cy="2608299"/>
          </a:xfrm>
        </p:grpSpPr>
        <p:pic>
          <p:nvPicPr>
            <p:cNvPr id="5" name="Picture 9" descr="small_server"/>
            <p:cNvPicPr>
              <a:picLocks noChangeAspect="1" noChangeArrowheads="1"/>
            </p:cNvPicPr>
            <p:nvPr/>
          </p:nvPicPr>
          <p:blipFill>
            <a:blip r:embed="rId2" cstate="print"/>
            <a:srcRect/>
            <a:stretch>
              <a:fillRect/>
            </a:stretch>
          </p:blipFill>
          <p:spPr bwMode="auto">
            <a:xfrm>
              <a:off x="1676400" y="2356148"/>
              <a:ext cx="1676400" cy="2304752"/>
            </a:xfrm>
            <a:prstGeom prst="rect">
              <a:avLst/>
            </a:prstGeom>
            <a:noFill/>
            <a:ln w="9525">
              <a:noFill/>
              <a:miter lim="800000"/>
              <a:headEnd/>
              <a:tailEnd/>
            </a:ln>
          </p:spPr>
        </p:pic>
        <p:pic>
          <p:nvPicPr>
            <p:cNvPr id="6" name="Picture 9" descr="arch3"/>
            <p:cNvPicPr>
              <a:picLocks noChangeAspect="1" noChangeArrowheads="1"/>
            </p:cNvPicPr>
            <p:nvPr/>
          </p:nvPicPr>
          <p:blipFill>
            <a:blip r:embed="rId3" cstate="print"/>
            <a:srcRect/>
            <a:stretch>
              <a:fillRect/>
            </a:stretch>
          </p:blipFill>
          <p:spPr bwMode="auto">
            <a:xfrm>
              <a:off x="1714500" y="2052601"/>
              <a:ext cx="1300170" cy="1057028"/>
            </a:xfrm>
            <a:prstGeom prst="rect">
              <a:avLst/>
            </a:prstGeom>
            <a:noFill/>
            <a:ln w="9525">
              <a:noFill/>
              <a:miter lim="800000"/>
              <a:headEnd/>
              <a:tailEnd/>
            </a:ln>
          </p:spPr>
        </p:pic>
      </p:grpSp>
      <p:grpSp>
        <p:nvGrpSpPr>
          <p:cNvPr id="7" name="Group 33"/>
          <p:cNvGrpSpPr>
            <a:grpSpLocks/>
          </p:cNvGrpSpPr>
          <p:nvPr/>
        </p:nvGrpSpPr>
        <p:grpSpPr bwMode="auto">
          <a:xfrm>
            <a:off x="5943600" y="3287712"/>
            <a:ext cx="1676400" cy="2608263"/>
            <a:chOff x="3695700" y="2057400"/>
            <a:chExt cx="1676400" cy="2608299"/>
          </a:xfrm>
        </p:grpSpPr>
        <p:pic>
          <p:nvPicPr>
            <p:cNvPr id="8" name="Picture 9" descr="small_server"/>
            <p:cNvPicPr>
              <a:picLocks noChangeAspect="1" noChangeArrowheads="1"/>
            </p:cNvPicPr>
            <p:nvPr/>
          </p:nvPicPr>
          <p:blipFill>
            <a:blip r:embed="rId2" cstate="print"/>
            <a:srcRect/>
            <a:stretch>
              <a:fillRect/>
            </a:stretch>
          </p:blipFill>
          <p:spPr bwMode="auto">
            <a:xfrm>
              <a:off x="3695700" y="2360947"/>
              <a:ext cx="1676400" cy="2304752"/>
            </a:xfrm>
            <a:prstGeom prst="rect">
              <a:avLst/>
            </a:prstGeom>
            <a:noFill/>
            <a:ln w="9525">
              <a:noFill/>
              <a:miter lim="800000"/>
              <a:headEnd/>
              <a:tailEnd/>
            </a:ln>
          </p:spPr>
        </p:pic>
        <p:pic>
          <p:nvPicPr>
            <p:cNvPr id="9" name="Picture 9" descr="arch3"/>
            <p:cNvPicPr>
              <a:picLocks noChangeAspect="1" noChangeArrowheads="1"/>
            </p:cNvPicPr>
            <p:nvPr/>
          </p:nvPicPr>
          <p:blipFill>
            <a:blip r:embed="rId3" cstate="print"/>
            <a:srcRect/>
            <a:stretch>
              <a:fillRect/>
            </a:stretch>
          </p:blipFill>
          <p:spPr bwMode="auto">
            <a:xfrm>
              <a:off x="3733800" y="2057400"/>
              <a:ext cx="1300170" cy="1057028"/>
            </a:xfrm>
            <a:prstGeom prst="rect">
              <a:avLst/>
            </a:prstGeom>
            <a:noFill/>
            <a:ln w="9525">
              <a:noFill/>
              <a:miter lim="800000"/>
              <a:headEnd/>
              <a:tailEnd/>
            </a:ln>
          </p:spPr>
        </p:pic>
      </p:grpSp>
      <p:grpSp>
        <p:nvGrpSpPr>
          <p:cNvPr id="10" name="Group 32"/>
          <p:cNvGrpSpPr>
            <a:grpSpLocks/>
          </p:cNvGrpSpPr>
          <p:nvPr/>
        </p:nvGrpSpPr>
        <p:grpSpPr bwMode="auto">
          <a:xfrm>
            <a:off x="6786082" y="3726611"/>
            <a:ext cx="1676400" cy="2608263"/>
            <a:chOff x="5715000" y="2057400"/>
            <a:chExt cx="1676400" cy="2608299"/>
          </a:xfrm>
        </p:grpSpPr>
        <p:pic>
          <p:nvPicPr>
            <p:cNvPr id="11" name="Picture 9" descr="small_server"/>
            <p:cNvPicPr>
              <a:picLocks noChangeAspect="1" noChangeArrowheads="1"/>
            </p:cNvPicPr>
            <p:nvPr/>
          </p:nvPicPr>
          <p:blipFill>
            <a:blip r:embed="rId2" cstate="print"/>
            <a:srcRect/>
            <a:stretch>
              <a:fillRect/>
            </a:stretch>
          </p:blipFill>
          <p:spPr bwMode="auto">
            <a:xfrm>
              <a:off x="5715000" y="2360947"/>
              <a:ext cx="1676400" cy="2304752"/>
            </a:xfrm>
            <a:prstGeom prst="rect">
              <a:avLst/>
            </a:prstGeom>
            <a:noFill/>
            <a:ln w="9525">
              <a:noFill/>
              <a:miter lim="800000"/>
              <a:headEnd/>
              <a:tailEnd/>
            </a:ln>
          </p:spPr>
        </p:pic>
        <p:pic>
          <p:nvPicPr>
            <p:cNvPr id="12" name="Picture 9" descr="arch3"/>
            <p:cNvPicPr>
              <a:picLocks noChangeAspect="1" noChangeArrowheads="1"/>
            </p:cNvPicPr>
            <p:nvPr/>
          </p:nvPicPr>
          <p:blipFill>
            <a:blip r:embed="rId3" cstate="print"/>
            <a:srcRect/>
            <a:stretch>
              <a:fillRect/>
            </a:stretch>
          </p:blipFill>
          <p:spPr bwMode="auto">
            <a:xfrm>
              <a:off x="5753100" y="2057400"/>
              <a:ext cx="1300170" cy="1057028"/>
            </a:xfrm>
            <a:prstGeom prst="rect">
              <a:avLst/>
            </a:prstGeom>
            <a:noFill/>
            <a:ln w="9525">
              <a:noFill/>
              <a:miter lim="800000"/>
              <a:headEnd/>
              <a:tailEnd/>
            </a:ln>
          </p:spPr>
        </p:pic>
      </p:grpSp>
      <p:pic>
        <p:nvPicPr>
          <p:cNvPr id="13" name="Picture 27" descr="VMware-Infra"/>
          <p:cNvPicPr>
            <a:picLocks noChangeAspect="1" noChangeArrowheads="1"/>
          </p:cNvPicPr>
          <p:nvPr/>
        </p:nvPicPr>
        <p:blipFill>
          <a:blip r:embed="rId4" cstate="print"/>
          <a:srcRect/>
          <a:stretch>
            <a:fillRect/>
          </a:stretch>
        </p:blipFill>
        <p:spPr bwMode="auto">
          <a:xfrm>
            <a:off x="5151438" y="2497137"/>
            <a:ext cx="3001962" cy="2036763"/>
          </a:xfrm>
          <a:prstGeom prst="rect">
            <a:avLst/>
          </a:prstGeom>
          <a:noFill/>
          <a:ln w="9525">
            <a:noFill/>
            <a:miter lim="800000"/>
            <a:headEnd/>
            <a:tailEnd/>
          </a:ln>
        </p:spPr>
      </p:pic>
      <p:pic>
        <p:nvPicPr>
          <p:cNvPr id="17" name="Picture 15" descr="OS_revised"/>
          <p:cNvPicPr>
            <a:picLocks noChangeAspect="1" noChangeArrowheads="1"/>
          </p:cNvPicPr>
          <p:nvPr/>
        </p:nvPicPr>
        <p:blipFill>
          <a:blip r:embed="rId5" cstate="print"/>
          <a:srcRect/>
          <a:stretch>
            <a:fillRect/>
          </a:stretch>
        </p:blipFill>
        <p:spPr bwMode="auto">
          <a:xfrm>
            <a:off x="5870396" y="1617841"/>
            <a:ext cx="530225" cy="1296988"/>
          </a:xfrm>
          <a:prstGeom prst="rect">
            <a:avLst/>
          </a:prstGeom>
          <a:noFill/>
          <a:ln w="9525">
            <a:noFill/>
            <a:miter lim="800000"/>
            <a:headEnd/>
            <a:tailEnd/>
          </a:ln>
        </p:spPr>
      </p:pic>
      <p:pic>
        <p:nvPicPr>
          <p:cNvPr id="18" name="Picture 14" descr="OS_revised"/>
          <p:cNvPicPr>
            <a:picLocks noChangeAspect="1" noChangeArrowheads="1"/>
          </p:cNvPicPr>
          <p:nvPr/>
        </p:nvPicPr>
        <p:blipFill>
          <a:blip r:embed="rId5" cstate="print"/>
          <a:srcRect/>
          <a:stretch>
            <a:fillRect/>
          </a:stretch>
        </p:blipFill>
        <p:spPr bwMode="auto">
          <a:xfrm>
            <a:off x="5641796" y="1755685"/>
            <a:ext cx="530225" cy="1296988"/>
          </a:xfrm>
          <a:prstGeom prst="rect">
            <a:avLst/>
          </a:prstGeom>
          <a:noFill/>
          <a:ln w="9525">
            <a:noFill/>
            <a:miter lim="800000"/>
            <a:headEnd/>
            <a:tailEnd/>
          </a:ln>
        </p:spPr>
      </p:pic>
      <p:pic>
        <p:nvPicPr>
          <p:cNvPr id="25" name="Picture 14" descr="OS_revised"/>
          <p:cNvPicPr>
            <a:picLocks noChangeAspect="1" noChangeArrowheads="1"/>
          </p:cNvPicPr>
          <p:nvPr/>
        </p:nvPicPr>
        <p:blipFill>
          <a:blip r:embed="rId5" cstate="print"/>
          <a:srcRect/>
          <a:stretch>
            <a:fillRect/>
          </a:stretch>
        </p:blipFill>
        <p:spPr bwMode="auto">
          <a:xfrm>
            <a:off x="5375096" y="1940104"/>
            <a:ext cx="530225" cy="1296988"/>
          </a:xfrm>
          <a:prstGeom prst="rect">
            <a:avLst/>
          </a:prstGeom>
          <a:noFill/>
          <a:ln w="9525">
            <a:noFill/>
            <a:miter lim="800000"/>
            <a:headEnd/>
            <a:tailEnd/>
          </a:ln>
        </p:spPr>
      </p:pic>
      <p:pic>
        <p:nvPicPr>
          <p:cNvPr id="26" name="Picture 15" descr="OS_revised"/>
          <p:cNvPicPr>
            <a:picLocks noChangeAspect="1" noChangeArrowheads="1"/>
          </p:cNvPicPr>
          <p:nvPr/>
        </p:nvPicPr>
        <p:blipFill>
          <a:blip r:embed="rId5" cstate="print"/>
          <a:srcRect/>
          <a:stretch>
            <a:fillRect/>
          </a:stretch>
        </p:blipFill>
        <p:spPr bwMode="auto">
          <a:xfrm>
            <a:off x="6619126" y="2041134"/>
            <a:ext cx="530225" cy="1296988"/>
          </a:xfrm>
          <a:prstGeom prst="rect">
            <a:avLst/>
          </a:prstGeom>
          <a:noFill/>
          <a:ln w="9525">
            <a:noFill/>
            <a:miter lim="800000"/>
            <a:headEnd/>
            <a:tailEnd/>
          </a:ln>
        </p:spPr>
      </p:pic>
      <p:pic>
        <p:nvPicPr>
          <p:cNvPr id="27" name="Picture 14" descr="OS_revised"/>
          <p:cNvPicPr>
            <a:picLocks noChangeAspect="1" noChangeArrowheads="1"/>
          </p:cNvPicPr>
          <p:nvPr/>
        </p:nvPicPr>
        <p:blipFill>
          <a:blip r:embed="rId5" cstate="print"/>
          <a:srcRect/>
          <a:stretch>
            <a:fillRect/>
          </a:stretch>
        </p:blipFill>
        <p:spPr bwMode="auto">
          <a:xfrm>
            <a:off x="6390526" y="2178978"/>
            <a:ext cx="530225" cy="1296988"/>
          </a:xfrm>
          <a:prstGeom prst="rect">
            <a:avLst/>
          </a:prstGeom>
          <a:noFill/>
          <a:ln w="9525">
            <a:noFill/>
            <a:miter lim="800000"/>
            <a:headEnd/>
            <a:tailEnd/>
          </a:ln>
        </p:spPr>
      </p:pic>
      <p:pic>
        <p:nvPicPr>
          <p:cNvPr id="28" name="Picture 14" descr="OS_revised"/>
          <p:cNvPicPr>
            <a:picLocks noChangeAspect="1" noChangeArrowheads="1"/>
          </p:cNvPicPr>
          <p:nvPr/>
        </p:nvPicPr>
        <p:blipFill>
          <a:blip r:embed="rId5" cstate="print"/>
          <a:srcRect/>
          <a:stretch>
            <a:fillRect/>
          </a:stretch>
        </p:blipFill>
        <p:spPr bwMode="auto">
          <a:xfrm>
            <a:off x="6123826" y="2363397"/>
            <a:ext cx="530225" cy="1296988"/>
          </a:xfrm>
          <a:prstGeom prst="rect">
            <a:avLst/>
          </a:prstGeom>
          <a:noFill/>
          <a:ln w="9525">
            <a:noFill/>
            <a:miter lim="800000"/>
            <a:headEnd/>
            <a:tailEnd/>
          </a:ln>
        </p:spPr>
      </p:pic>
      <p:pic>
        <p:nvPicPr>
          <p:cNvPr id="29" name="Picture 15" descr="OS_revised"/>
          <p:cNvPicPr>
            <a:picLocks noChangeAspect="1" noChangeArrowheads="1"/>
          </p:cNvPicPr>
          <p:nvPr/>
        </p:nvPicPr>
        <p:blipFill>
          <a:blip r:embed="rId5" cstate="print"/>
          <a:srcRect/>
          <a:stretch>
            <a:fillRect/>
          </a:stretch>
        </p:blipFill>
        <p:spPr bwMode="auto">
          <a:xfrm>
            <a:off x="7366570" y="2457238"/>
            <a:ext cx="530225" cy="1296988"/>
          </a:xfrm>
          <a:prstGeom prst="rect">
            <a:avLst/>
          </a:prstGeom>
          <a:noFill/>
          <a:ln w="9525">
            <a:noFill/>
            <a:miter lim="800000"/>
            <a:headEnd/>
            <a:tailEnd/>
          </a:ln>
        </p:spPr>
      </p:pic>
      <p:pic>
        <p:nvPicPr>
          <p:cNvPr id="30" name="Picture 14" descr="OS_revised"/>
          <p:cNvPicPr>
            <a:picLocks noChangeAspect="1" noChangeArrowheads="1"/>
          </p:cNvPicPr>
          <p:nvPr/>
        </p:nvPicPr>
        <p:blipFill>
          <a:blip r:embed="rId5" cstate="print"/>
          <a:srcRect/>
          <a:stretch>
            <a:fillRect/>
          </a:stretch>
        </p:blipFill>
        <p:spPr bwMode="auto">
          <a:xfrm>
            <a:off x="7137970" y="2595082"/>
            <a:ext cx="530225" cy="1296988"/>
          </a:xfrm>
          <a:prstGeom prst="rect">
            <a:avLst/>
          </a:prstGeom>
          <a:noFill/>
          <a:ln w="9525">
            <a:noFill/>
            <a:miter lim="800000"/>
            <a:headEnd/>
            <a:tailEnd/>
          </a:ln>
        </p:spPr>
      </p:pic>
      <p:pic>
        <p:nvPicPr>
          <p:cNvPr id="31" name="Picture 14" descr="OS_revised"/>
          <p:cNvPicPr>
            <a:picLocks noChangeAspect="1" noChangeArrowheads="1"/>
          </p:cNvPicPr>
          <p:nvPr/>
        </p:nvPicPr>
        <p:blipFill>
          <a:blip r:embed="rId5" cstate="print"/>
          <a:srcRect/>
          <a:stretch>
            <a:fillRect/>
          </a:stretch>
        </p:blipFill>
        <p:spPr bwMode="auto">
          <a:xfrm>
            <a:off x="6871270" y="2779501"/>
            <a:ext cx="530225" cy="12969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dissolve">
                                      <p:cBhvr>
                                        <p:cTn id="11" dur="500"/>
                                        <p:tgtEl>
                                          <p:spTgt spid="31"/>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dissolve">
                                      <p:cBhvr>
                                        <p:cTn id="15" dur="500"/>
                                        <p:tgtEl>
                                          <p:spTgt spid="25"/>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dissolve">
                                      <p:cBhvr>
                                        <p:cTn id="19" dur="500"/>
                                        <p:tgtEl>
                                          <p:spTgt spid="30"/>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dissolve">
                                      <p:cBhvr>
                                        <p:cTn id="23" dur="500"/>
                                        <p:tgtEl>
                                          <p:spTgt spid="18"/>
                                        </p:tgtEl>
                                      </p:cBhvr>
                                    </p:animEffect>
                                  </p:childTnLst>
                                </p:cTn>
                              </p:par>
                            </p:childTnLst>
                          </p:cTn>
                        </p:par>
                        <p:par>
                          <p:cTn id="24" fill="hold">
                            <p:stCondLst>
                              <p:cond delay="2500"/>
                            </p:stCondLst>
                            <p:childTnLst>
                              <p:par>
                                <p:cTn id="25" presetID="9" presetClass="entr" presetSubtype="0" fill="hold"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dissolve">
                                      <p:cBhvr>
                                        <p:cTn id="27" dur="500"/>
                                        <p:tgtEl>
                                          <p:spTgt spid="28"/>
                                        </p:tgtEl>
                                      </p:cBhvr>
                                    </p:animEffect>
                                  </p:childTnLst>
                                </p:cTn>
                              </p:par>
                            </p:childTnLst>
                          </p:cTn>
                        </p:par>
                        <p:par>
                          <p:cTn id="28" fill="hold">
                            <p:stCondLst>
                              <p:cond delay="3000"/>
                            </p:stCondLst>
                            <p:childTnLst>
                              <p:par>
                                <p:cTn id="29" presetID="9" presetClass="entr" presetSubtype="0"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dissolve">
                                      <p:cBhvr>
                                        <p:cTn id="31" dur="500"/>
                                        <p:tgtEl>
                                          <p:spTgt spid="29"/>
                                        </p:tgtEl>
                                      </p:cBhvr>
                                    </p:animEffect>
                                  </p:childTnLst>
                                </p:cTn>
                              </p:par>
                            </p:childTnLst>
                          </p:cTn>
                        </p:par>
                        <p:par>
                          <p:cTn id="32" fill="hold">
                            <p:stCondLst>
                              <p:cond delay="3500"/>
                            </p:stCondLst>
                            <p:childTnLst>
                              <p:par>
                                <p:cTn id="33" presetID="9" presetClass="entr" presetSubtype="0" fill="hold"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dissolve">
                                      <p:cBhvr>
                                        <p:cTn id="3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Availability in Virtualization</a:t>
            </a:r>
            <a:endParaRPr lang="en-US" dirty="0"/>
          </a:p>
        </p:txBody>
      </p:sp>
      <p:sp>
        <p:nvSpPr>
          <p:cNvPr id="3" name="Content Placeholder 2"/>
          <p:cNvSpPr>
            <a:spLocks noGrp="1"/>
          </p:cNvSpPr>
          <p:nvPr>
            <p:ph idx="1"/>
          </p:nvPr>
        </p:nvSpPr>
        <p:spPr>
          <a:xfrm>
            <a:off x="457200" y="1600200"/>
            <a:ext cx="4114800" cy="4525963"/>
          </a:xfrm>
        </p:spPr>
        <p:txBody>
          <a:bodyPr/>
          <a:lstStyle/>
          <a:p>
            <a:r>
              <a:rPr lang="en-US" dirty="0" smtClean="0"/>
              <a:t>Fault tolerance system :</a:t>
            </a:r>
          </a:p>
          <a:p>
            <a:pPr lvl="1"/>
            <a:r>
              <a:rPr lang="en-US" dirty="0" smtClean="0"/>
              <a:t>VMware makes all Servers and Applications protected against component and complete system failure.</a:t>
            </a:r>
          </a:p>
          <a:p>
            <a:pPr lvl="1"/>
            <a:r>
              <a:rPr lang="en-US" dirty="0" smtClean="0"/>
              <a:t>When system failure occurs, virtual machines will be automatic restarted on other physical servers.</a:t>
            </a:r>
          </a:p>
        </p:txBody>
      </p:sp>
      <p:grpSp>
        <p:nvGrpSpPr>
          <p:cNvPr id="4" name="Group 35"/>
          <p:cNvGrpSpPr>
            <a:grpSpLocks/>
          </p:cNvGrpSpPr>
          <p:nvPr/>
        </p:nvGrpSpPr>
        <p:grpSpPr bwMode="auto">
          <a:xfrm>
            <a:off x="5105400" y="2756078"/>
            <a:ext cx="1676400" cy="2608263"/>
            <a:chOff x="1676400" y="2052601"/>
            <a:chExt cx="1676400" cy="2608299"/>
          </a:xfrm>
        </p:grpSpPr>
        <p:pic>
          <p:nvPicPr>
            <p:cNvPr id="5" name="Picture 9" descr="small_server"/>
            <p:cNvPicPr>
              <a:picLocks noChangeAspect="1" noChangeArrowheads="1"/>
            </p:cNvPicPr>
            <p:nvPr/>
          </p:nvPicPr>
          <p:blipFill>
            <a:blip r:embed="rId2" cstate="print"/>
            <a:srcRect/>
            <a:stretch>
              <a:fillRect/>
            </a:stretch>
          </p:blipFill>
          <p:spPr bwMode="auto">
            <a:xfrm>
              <a:off x="1676400" y="2356148"/>
              <a:ext cx="1676400" cy="2304752"/>
            </a:xfrm>
            <a:prstGeom prst="rect">
              <a:avLst/>
            </a:prstGeom>
            <a:noFill/>
            <a:ln w="9525">
              <a:noFill/>
              <a:miter lim="800000"/>
              <a:headEnd/>
              <a:tailEnd/>
            </a:ln>
          </p:spPr>
        </p:pic>
        <p:pic>
          <p:nvPicPr>
            <p:cNvPr id="6" name="Picture 9" descr="arch3"/>
            <p:cNvPicPr>
              <a:picLocks noChangeAspect="1" noChangeArrowheads="1"/>
            </p:cNvPicPr>
            <p:nvPr/>
          </p:nvPicPr>
          <p:blipFill>
            <a:blip r:embed="rId3" cstate="print"/>
            <a:srcRect/>
            <a:stretch>
              <a:fillRect/>
            </a:stretch>
          </p:blipFill>
          <p:spPr bwMode="auto">
            <a:xfrm>
              <a:off x="1714500" y="2052601"/>
              <a:ext cx="1300170" cy="1057028"/>
            </a:xfrm>
            <a:prstGeom prst="rect">
              <a:avLst/>
            </a:prstGeom>
            <a:noFill/>
            <a:ln w="9525">
              <a:noFill/>
              <a:miter lim="800000"/>
              <a:headEnd/>
              <a:tailEnd/>
            </a:ln>
          </p:spPr>
        </p:pic>
      </p:grpSp>
      <p:grpSp>
        <p:nvGrpSpPr>
          <p:cNvPr id="7" name="Group 33"/>
          <p:cNvGrpSpPr>
            <a:grpSpLocks/>
          </p:cNvGrpSpPr>
          <p:nvPr/>
        </p:nvGrpSpPr>
        <p:grpSpPr bwMode="auto">
          <a:xfrm>
            <a:off x="5943600" y="3229153"/>
            <a:ext cx="1676400" cy="2608263"/>
            <a:chOff x="3695700" y="2057400"/>
            <a:chExt cx="1676400" cy="2608299"/>
          </a:xfrm>
        </p:grpSpPr>
        <p:pic>
          <p:nvPicPr>
            <p:cNvPr id="8" name="Picture 9" descr="small_server"/>
            <p:cNvPicPr>
              <a:picLocks noChangeAspect="1" noChangeArrowheads="1"/>
            </p:cNvPicPr>
            <p:nvPr/>
          </p:nvPicPr>
          <p:blipFill>
            <a:blip r:embed="rId2" cstate="print"/>
            <a:srcRect/>
            <a:stretch>
              <a:fillRect/>
            </a:stretch>
          </p:blipFill>
          <p:spPr bwMode="auto">
            <a:xfrm>
              <a:off x="3695700" y="2360947"/>
              <a:ext cx="1676400" cy="2304752"/>
            </a:xfrm>
            <a:prstGeom prst="rect">
              <a:avLst/>
            </a:prstGeom>
            <a:noFill/>
            <a:ln w="9525">
              <a:noFill/>
              <a:miter lim="800000"/>
              <a:headEnd/>
              <a:tailEnd/>
            </a:ln>
          </p:spPr>
        </p:pic>
        <p:pic>
          <p:nvPicPr>
            <p:cNvPr id="9" name="Picture 9" descr="arch3"/>
            <p:cNvPicPr>
              <a:picLocks noChangeAspect="1" noChangeArrowheads="1"/>
            </p:cNvPicPr>
            <p:nvPr/>
          </p:nvPicPr>
          <p:blipFill>
            <a:blip r:embed="rId3" cstate="print"/>
            <a:srcRect/>
            <a:stretch>
              <a:fillRect/>
            </a:stretch>
          </p:blipFill>
          <p:spPr bwMode="auto">
            <a:xfrm>
              <a:off x="3733800" y="2057400"/>
              <a:ext cx="1300170" cy="1057028"/>
            </a:xfrm>
            <a:prstGeom prst="rect">
              <a:avLst/>
            </a:prstGeom>
            <a:noFill/>
            <a:ln w="9525">
              <a:noFill/>
              <a:miter lim="800000"/>
              <a:headEnd/>
              <a:tailEnd/>
            </a:ln>
          </p:spPr>
        </p:pic>
      </p:grpSp>
      <p:grpSp>
        <p:nvGrpSpPr>
          <p:cNvPr id="10" name="Group 32"/>
          <p:cNvGrpSpPr>
            <a:grpSpLocks/>
          </p:cNvGrpSpPr>
          <p:nvPr/>
        </p:nvGrpSpPr>
        <p:grpSpPr bwMode="auto">
          <a:xfrm>
            <a:off x="6781800" y="3716337"/>
            <a:ext cx="1676400" cy="2608263"/>
            <a:chOff x="5715000" y="2057400"/>
            <a:chExt cx="1676400" cy="2608299"/>
          </a:xfrm>
        </p:grpSpPr>
        <p:pic>
          <p:nvPicPr>
            <p:cNvPr id="11" name="Picture 9" descr="small_server"/>
            <p:cNvPicPr>
              <a:picLocks noChangeAspect="1" noChangeArrowheads="1"/>
            </p:cNvPicPr>
            <p:nvPr/>
          </p:nvPicPr>
          <p:blipFill>
            <a:blip r:embed="rId2" cstate="print"/>
            <a:srcRect/>
            <a:stretch>
              <a:fillRect/>
            </a:stretch>
          </p:blipFill>
          <p:spPr bwMode="auto">
            <a:xfrm>
              <a:off x="5715000" y="2360947"/>
              <a:ext cx="1676400" cy="2304752"/>
            </a:xfrm>
            <a:prstGeom prst="rect">
              <a:avLst/>
            </a:prstGeom>
            <a:noFill/>
            <a:ln w="9525">
              <a:noFill/>
              <a:miter lim="800000"/>
              <a:headEnd/>
              <a:tailEnd/>
            </a:ln>
          </p:spPr>
        </p:pic>
        <p:pic>
          <p:nvPicPr>
            <p:cNvPr id="12" name="Picture 9" descr="arch3"/>
            <p:cNvPicPr>
              <a:picLocks noChangeAspect="1" noChangeArrowheads="1"/>
            </p:cNvPicPr>
            <p:nvPr/>
          </p:nvPicPr>
          <p:blipFill>
            <a:blip r:embed="rId3" cstate="print"/>
            <a:srcRect/>
            <a:stretch>
              <a:fillRect/>
            </a:stretch>
          </p:blipFill>
          <p:spPr bwMode="auto">
            <a:xfrm>
              <a:off x="5753100" y="2057400"/>
              <a:ext cx="1300170" cy="1057028"/>
            </a:xfrm>
            <a:prstGeom prst="rect">
              <a:avLst/>
            </a:prstGeom>
            <a:noFill/>
            <a:ln w="9525">
              <a:noFill/>
              <a:miter lim="800000"/>
              <a:headEnd/>
              <a:tailEnd/>
            </a:ln>
          </p:spPr>
        </p:pic>
      </p:grpSp>
      <p:pic>
        <p:nvPicPr>
          <p:cNvPr id="13" name="Picture 27" descr="VMware-Infra"/>
          <p:cNvPicPr>
            <a:picLocks noChangeAspect="1" noChangeArrowheads="1"/>
          </p:cNvPicPr>
          <p:nvPr/>
        </p:nvPicPr>
        <p:blipFill>
          <a:blip r:embed="rId4" cstate="print"/>
          <a:srcRect/>
          <a:stretch>
            <a:fillRect/>
          </a:stretch>
        </p:blipFill>
        <p:spPr bwMode="auto">
          <a:xfrm>
            <a:off x="5151438" y="2438578"/>
            <a:ext cx="3001962" cy="2036763"/>
          </a:xfrm>
          <a:prstGeom prst="rect">
            <a:avLst/>
          </a:prstGeom>
          <a:noFill/>
          <a:ln w="9525">
            <a:noFill/>
            <a:miter lim="800000"/>
            <a:headEnd/>
            <a:tailEnd/>
          </a:ln>
        </p:spPr>
      </p:pic>
      <p:pic>
        <p:nvPicPr>
          <p:cNvPr id="14" name="Picture 15" descr="OS_revised"/>
          <p:cNvPicPr>
            <a:picLocks noChangeAspect="1" noChangeArrowheads="1"/>
          </p:cNvPicPr>
          <p:nvPr/>
        </p:nvPicPr>
        <p:blipFill>
          <a:blip r:embed="rId5" cstate="print"/>
          <a:srcRect/>
          <a:stretch>
            <a:fillRect/>
          </a:stretch>
        </p:blipFill>
        <p:spPr bwMode="auto">
          <a:xfrm>
            <a:off x="5829300" y="1631200"/>
            <a:ext cx="530225" cy="1296988"/>
          </a:xfrm>
          <a:prstGeom prst="rect">
            <a:avLst/>
          </a:prstGeom>
          <a:noFill/>
          <a:ln w="9525">
            <a:noFill/>
            <a:miter lim="800000"/>
            <a:headEnd/>
            <a:tailEnd/>
          </a:ln>
        </p:spPr>
      </p:pic>
      <p:pic>
        <p:nvPicPr>
          <p:cNvPr id="15" name="Picture 14" descr="OS_revised"/>
          <p:cNvPicPr>
            <a:picLocks noChangeAspect="1" noChangeArrowheads="1"/>
          </p:cNvPicPr>
          <p:nvPr/>
        </p:nvPicPr>
        <p:blipFill>
          <a:blip r:embed="rId5" cstate="print"/>
          <a:srcRect/>
          <a:stretch>
            <a:fillRect/>
          </a:stretch>
        </p:blipFill>
        <p:spPr bwMode="auto">
          <a:xfrm>
            <a:off x="5600700" y="1707400"/>
            <a:ext cx="530225" cy="1296988"/>
          </a:xfrm>
          <a:prstGeom prst="rect">
            <a:avLst/>
          </a:prstGeom>
          <a:noFill/>
          <a:ln w="9525">
            <a:noFill/>
            <a:miter lim="800000"/>
            <a:headEnd/>
            <a:tailEnd/>
          </a:ln>
        </p:spPr>
      </p:pic>
      <p:pic>
        <p:nvPicPr>
          <p:cNvPr id="16" name="Picture 15" descr="OS_revised"/>
          <p:cNvPicPr>
            <a:picLocks noChangeAspect="1" noChangeArrowheads="1"/>
          </p:cNvPicPr>
          <p:nvPr/>
        </p:nvPicPr>
        <p:blipFill>
          <a:blip r:embed="rId5" cstate="print"/>
          <a:srcRect/>
          <a:stretch>
            <a:fillRect/>
          </a:stretch>
        </p:blipFill>
        <p:spPr bwMode="auto">
          <a:xfrm>
            <a:off x="6601574" y="2042631"/>
            <a:ext cx="530225" cy="1296988"/>
          </a:xfrm>
          <a:prstGeom prst="rect">
            <a:avLst/>
          </a:prstGeom>
          <a:noFill/>
          <a:ln w="9525">
            <a:noFill/>
            <a:miter lim="800000"/>
            <a:headEnd/>
            <a:tailEnd/>
          </a:ln>
        </p:spPr>
      </p:pic>
      <p:pic>
        <p:nvPicPr>
          <p:cNvPr id="17" name="Picture 14" descr="OS_revised"/>
          <p:cNvPicPr>
            <a:picLocks noChangeAspect="1" noChangeArrowheads="1"/>
          </p:cNvPicPr>
          <p:nvPr/>
        </p:nvPicPr>
        <p:blipFill>
          <a:blip r:embed="rId5" cstate="print"/>
          <a:srcRect/>
          <a:stretch>
            <a:fillRect/>
          </a:stretch>
        </p:blipFill>
        <p:spPr bwMode="auto">
          <a:xfrm>
            <a:off x="6372974" y="2118831"/>
            <a:ext cx="530225" cy="1296988"/>
          </a:xfrm>
          <a:prstGeom prst="rect">
            <a:avLst/>
          </a:prstGeom>
          <a:noFill/>
          <a:ln w="9525">
            <a:noFill/>
            <a:miter lim="800000"/>
            <a:headEnd/>
            <a:tailEnd/>
          </a:ln>
        </p:spPr>
      </p:pic>
      <p:pic>
        <p:nvPicPr>
          <p:cNvPr id="18" name="Picture 13" descr="OS_revised"/>
          <p:cNvPicPr>
            <a:picLocks noChangeAspect="1" noChangeArrowheads="1"/>
          </p:cNvPicPr>
          <p:nvPr/>
        </p:nvPicPr>
        <p:blipFill>
          <a:blip r:embed="rId5" cstate="print"/>
          <a:srcRect/>
          <a:stretch>
            <a:fillRect/>
          </a:stretch>
        </p:blipFill>
        <p:spPr bwMode="auto">
          <a:xfrm>
            <a:off x="6144374" y="2271231"/>
            <a:ext cx="530225" cy="1296988"/>
          </a:xfrm>
          <a:prstGeom prst="rect">
            <a:avLst/>
          </a:prstGeom>
          <a:noFill/>
          <a:ln w="9525">
            <a:noFill/>
            <a:miter lim="800000"/>
            <a:headEnd/>
            <a:tailEnd/>
          </a:ln>
        </p:spPr>
      </p:pic>
      <p:pic>
        <p:nvPicPr>
          <p:cNvPr id="19" name="Picture 15" descr="OS_revised"/>
          <p:cNvPicPr>
            <a:picLocks noChangeAspect="1" noChangeArrowheads="1"/>
          </p:cNvPicPr>
          <p:nvPr/>
        </p:nvPicPr>
        <p:blipFill>
          <a:blip r:embed="rId5" cstate="print"/>
          <a:srcRect/>
          <a:stretch>
            <a:fillRect/>
          </a:stretch>
        </p:blipFill>
        <p:spPr bwMode="auto">
          <a:xfrm>
            <a:off x="7464604" y="2522626"/>
            <a:ext cx="530225" cy="1296988"/>
          </a:xfrm>
          <a:prstGeom prst="rect">
            <a:avLst/>
          </a:prstGeom>
          <a:noFill/>
          <a:ln w="9525">
            <a:noFill/>
            <a:miter lim="800000"/>
            <a:headEnd/>
            <a:tailEnd/>
          </a:ln>
        </p:spPr>
      </p:pic>
      <p:pic>
        <p:nvPicPr>
          <p:cNvPr id="20" name="Picture 14" descr="OS_revised"/>
          <p:cNvPicPr>
            <a:picLocks noChangeAspect="1" noChangeArrowheads="1"/>
          </p:cNvPicPr>
          <p:nvPr/>
        </p:nvPicPr>
        <p:blipFill>
          <a:blip r:embed="rId5" cstate="print"/>
          <a:srcRect/>
          <a:stretch>
            <a:fillRect/>
          </a:stretch>
        </p:blipFill>
        <p:spPr bwMode="auto">
          <a:xfrm>
            <a:off x="7236004" y="2598826"/>
            <a:ext cx="530225" cy="1296988"/>
          </a:xfrm>
          <a:prstGeom prst="rect">
            <a:avLst/>
          </a:prstGeom>
          <a:noFill/>
          <a:ln w="9525">
            <a:noFill/>
            <a:miter lim="800000"/>
            <a:headEnd/>
            <a:tailEnd/>
          </a:ln>
        </p:spPr>
      </p:pic>
      <p:pic>
        <p:nvPicPr>
          <p:cNvPr id="21" name="Picture 13" descr="OS_revised"/>
          <p:cNvPicPr>
            <a:picLocks noChangeAspect="1" noChangeArrowheads="1"/>
          </p:cNvPicPr>
          <p:nvPr/>
        </p:nvPicPr>
        <p:blipFill>
          <a:blip r:embed="rId5" cstate="print"/>
          <a:srcRect/>
          <a:stretch>
            <a:fillRect/>
          </a:stretch>
        </p:blipFill>
        <p:spPr bwMode="auto">
          <a:xfrm>
            <a:off x="7007404" y="2751226"/>
            <a:ext cx="530225" cy="1296988"/>
          </a:xfrm>
          <a:prstGeom prst="rect">
            <a:avLst/>
          </a:prstGeom>
          <a:noFill/>
          <a:ln w="9525">
            <a:noFill/>
            <a:miter lim="800000"/>
            <a:headEnd/>
            <a:tailEnd/>
          </a:ln>
        </p:spPr>
      </p:pic>
      <p:sp>
        <p:nvSpPr>
          <p:cNvPr id="22" name="Rectangle 21"/>
          <p:cNvSpPr/>
          <p:nvPr/>
        </p:nvSpPr>
        <p:spPr>
          <a:xfrm>
            <a:off x="4724400" y="3716337"/>
            <a:ext cx="1249363" cy="1108075"/>
          </a:xfrm>
          <a:prstGeom prst="rect">
            <a:avLst/>
          </a:prstGeom>
        </p:spPr>
        <p:txBody>
          <a:bodyPr>
            <a:spAutoFit/>
          </a:bodyPr>
          <a:lstStyle/>
          <a:p>
            <a:pPr algn="ctr">
              <a:lnSpc>
                <a:spcPct val="90000"/>
              </a:lnSpc>
            </a:pPr>
            <a:r>
              <a:rPr lang="en-US" sz="6600" b="1">
                <a:solidFill>
                  <a:srgbClr val="EB2629"/>
                </a:solidFill>
                <a:latin typeface="Arial Black" pitchFamily="34" charset="0"/>
                <a:ea typeface="Arial Unicode MS" pitchFamily="34" charset="-128"/>
                <a:cs typeface="Arial Unicode MS" pitchFamily="34" charset="-128"/>
              </a:rPr>
              <a:t>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9" presetClass="emph" presetSubtype="0" nodeType="withEffect">
                                  <p:stCondLst>
                                    <p:cond delay="0"/>
                                  </p:stCondLst>
                                  <p:childTnLst>
                                    <p:set>
                                      <p:cBhvr rctx="PPT">
                                        <p:cTn id="9" dur="indefinite"/>
                                        <p:tgtEl>
                                          <p:spTgt spid="4"/>
                                        </p:tgtEl>
                                        <p:attrNameLst>
                                          <p:attrName>style.opacity</p:attrName>
                                        </p:attrNameLst>
                                      </p:cBhvr>
                                      <p:to>
                                        <p:strVal val="0.25"/>
                                      </p:to>
                                    </p:set>
                                    <p:animEffect filter="image" prLst="opacity: 0.25">
                                      <p:cBhvr rctx="IE">
                                        <p:cTn id="10" dur="indefinite"/>
                                        <p:tgtEl>
                                          <p:spTgt spid="4"/>
                                        </p:tgtEl>
                                      </p:cBhvr>
                                    </p:animEffect>
                                  </p:childTnLst>
                                </p:cTn>
                              </p:par>
                            </p:childTnLst>
                          </p:cTn>
                        </p:par>
                        <p:par>
                          <p:cTn id="11" fill="hold">
                            <p:stCondLst>
                              <p:cond delay="500"/>
                            </p:stCondLst>
                            <p:childTnLst>
                              <p:par>
                                <p:cTn id="12" presetID="9" presetClass="exit" presetSubtype="0" fill="hold" nodeType="afterEffect">
                                  <p:stCondLst>
                                    <p:cond delay="0"/>
                                  </p:stCondLst>
                                  <p:childTnLst>
                                    <p:animEffect transition="out" filter="dissolve">
                                      <p:cBhvr>
                                        <p:cTn id="13" dur="500"/>
                                        <p:tgtEl>
                                          <p:spTgt spid="15"/>
                                        </p:tgtEl>
                                      </p:cBhvr>
                                    </p:animEffect>
                                    <p:set>
                                      <p:cBhvr>
                                        <p:cTn id="14" dur="1" fill="hold">
                                          <p:stCondLst>
                                            <p:cond delay="499"/>
                                          </p:stCondLst>
                                        </p:cTn>
                                        <p:tgtEl>
                                          <p:spTgt spid="15"/>
                                        </p:tgtEl>
                                        <p:attrNameLst>
                                          <p:attrName>style.visibility</p:attrName>
                                        </p:attrNameLst>
                                      </p:cBhvr>
                                      <p:to>
                                        <p:strVal val="hidden"/>
                                      </p:to>
                                    </p:set>
                                  </p:childTnLst>
                                </p:cTn>
                              </p:par>
                            </p:childTnLst>
                          </p:cTn>
                        </p:par>
                        <p:par>
                          <p:cTn id="15" fill="hold">
                            <p:stCondLst>
                              <p:cond delay="1000"/>
                            </p:stCondLst>
                            <p:childTnLst>
                              <p:par>
                                <p:cTn id="16" presetID="9" presetClass="exit" presetSubtype="0" fill="hold" nodeType="afterEffect">
                                  <p:stCondLst>
                                    <p:cond delay="0"/>
                                  </p:stCondLst>
                                  <p:childTnLst>
                                    <p:animEffect transition="out" filter="dissolve">
                                      <p:cBhvr>
                                        <p:cTn id="17" dur="500"/>
                                        <p:tgtEl>
                                          <p:spTgt spid="14"/>
                                        </p:tgtEl>
                                      </p:cBhvr>
                                    </p:animEffect>
                                    <p:set>
                                      <p:cBhvr>
                                        <p:cTn id="18" dur="1" fill="hold">
                                          <p:stCondLst>
                                            <p:cond delay="499"/>
                                          </p:stCondLst>
                                        </p:cTn>
                                        <p:tgtEl>
                                          <p:spTgt spid="14"/>
                                        </p:tgtEl>
                                        <p:attrNameLst>
                                          <p:attrName>style.visibility</p:attrName>
                                        </p:attrNameLst>
                                      </p:cBhvr>
                                      <p:to>
                                        <p:strVal val="hidden"/>
                                      </p:to>
                                    </p:se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Availability in Virtualization</a:t>
            </a:r>
            <a:endParaRPr lang="en-US" dirty="0"/>
          </a:p>
        </p:txBody>
      </p:sp>
      <p:sp>
        <p:nvSpPr>
          <p:cNvPr id="3" name="Content Placeholder 2"/>
          <p:cNvSpPr>
            <a:spLocks noGrp="1"/>
          </p:cNvSpPr>
          <p:nvPr>
            <p:ph idx="1"/>
          </p:nvPr>
        </p:nvSpPr>
        <p:spPr>
          <a:xfrm>
            <a:off x="457200" y="1600200"/>
            <a:ext cx="4495800" cy="4525963"/>
          </a:xfrm>
        </p:spPr>
        <p:txBody>
          <a:bodyPr/>
          <a:lstStyle/>
          <a:p>
            <a:r>
              <a:rPr lang="en-US" dirty="0" smtClean="0"/>
              <a:t>Disaster recovery :</a:t>
            </a:r>
          </a:p>
          <a:p>
            <a:pPr lvl="1"/>
            <a:r>
              <a:rPr lang="en-US" dirty="0" smtClean="0"/>
              <a:t>VMware Site Recovery Manager enables an easy transition from a production site to a Disaster Recovery site. </a:t>
            </a:r>
          </a:p>
          <a:p>
            <a:pPr lvl="1"/>
            <a:r>
              <a:rPr lang="en-US" dirty="0" smtClean="0"/>
              <a:t>Easy Execution for real Disaster</a:t>
            </a:r>
          </a:p>
          <a:p>
            <a:pPr lvl="1"/>
            <a:r>
              <a:rPr lang="en-US" dirty="0" smtClean="0"/>
              <a:t>Easy Testing for good night sleep</a:t>
            </a:r>
          </a:p>
          <a:p>
            <a:pPr lvl="1"/>
            <a:endParaRPr lang="en-US" dirty="0"/>
          </a:p>
        </p:txBody>
      </p:sp>
      <p:grpSp>
        <p:nvGrpSpPr>
          <p:cNvPr id="4" name="Group 43"/>
          <p:cNvGrpSpPr>
            <a:grpSpLocks/>
          </p:cNvGrpSpPr>
          <p:nvPr/>
        </p:nvGrpSpPr>
        <p:grpSpPr bwMode="auto">
          <a:xfrm>
            <a:off x="5387974" y="2002407"/>
            <a:ext cx="3041170" cy="4294188"/>
            <a:chOff x="6867525" y="1046415"/>
            <a:chExt cx="4405900" cy="4665663"/>
          </a:xfrm>
        </p:grpSpPr>
        <p:grpSp>
          <p:nvGrpSpPr>
            <p:cNvPr id="5" name="Group 35"/>
            <p:cNvGrpSpPr>
              <a:grpSpLocks/>
            </p:cNvGrpSpPr>
            <p:nvPr/>
          </p:nvGrpSpPr>
          <p:grpSpPr bwMode="auto">
            <a:xfrm>
              <a:off x="6907213" y="2146300"/>
              <a:ext cx="2235200" cy="2608263"/>
              <a:chOff x="1676400" y="2052601"/>
              <a:chExt cx="1676400" cy="2608299"/>
            </a:xfrm>
          </p:grpSpPr>
          <p:pic>
            <p:nvPicPr>
              <p:cNvPr id="19" name="Picture 9" descr="small_server"/>
              <p:cNvPicPr>
                <a:picLocks noChangeAspect="1" noChangeArrowheads="1"/>
              </p:cNvPicPr>
              <p:nvPr/>
            </p:nvPicPr>
            <p:blipFill>
              <a:blip r:embed="rId2" cstate="print"/>
              <a:srcRect/>
              <a:stretch>
                <a:fillRect/>
              </a:stretch>
            </p:blipFill>
            <p:spPr bwMode="auto">
              <a:xfrm>
                <a:off x="1676400" y="2356148"/>
                <a:ext cx="1676400" cy="2304752"/>
              </a:xfrm>
              <a:prstGeom prst="rect">
                <a:avLst/>
              </a:prstGeom>
              <a:noFill/>
              <a:ln w="9525">
                <a:noFill/>
                <a:miter lim="800000"/>
                <a:headEnd/>
                <a:tailEnd/>
              </a:ln>
            </p:spPr>
          </p:pic>
          <p:pic>
            <p:nvPicPr>
              <p:cNvPr id="20" name="Picture 9" descr="arch3"/>
              <p:cNvPicPr>
                <a:picLocks noChangeAspect="1" noChangeArrowheads="1"/>
              </p:cNvPicPr>
              <p:nvPr/>
            </p:nvPicPr>
            <p:blipFill>
              <a:blip r:embed="rId3" cstate="print"/>
              <a:srcRect/>
              <a:stretch>
                <a:fillRect/>
              </a:stretch>
            </p:blipFill>
            <p:spPr bwMode="auto">
              <a:xfrm>
                <a:off x="1714500" y="2052601"/>
                <a:ext cx="1300170" cy="1057028"/>
              </a:xfrm>
              <a:prstGeom prst="rect">
                <a:avLst/>
              </a:prstGeom>
              <a:noFill/>
              <a:ln w="9525">
                <a:noFill/>
                <a:miter lim="800000"/>
                <a:headEnd/>
                <a:tailEnd/>
              </a:ln>
            </p:spPr>
          </p:pic>
        </p:grpSp>
        <p:grpSp>
          <p:nvGrpSpPr>
            <p:cNvPr id="6" name="Group 33"/>
            <p:cNvGrpSpPr>
              <a:grpSpLocks/>
            </p:cNvGrpSpPr>
            <p:nvPr/>
          </p:nvGrpSpPr>
          <p:grpSpPr bwMode="auto">
            <a:xfrm>
              <a:off x="7923213" y="2619375"/>
              <a:ext cx="2235200" cy="2608263"/>
              <a:chOff x="3695700" y="2057400"/>
              <a:chExt cx="1676400" cy="2608299"/>
            </a:xfrm>
          </p:grpSpPr>
          <p:pic>
            <p:nvPicPr>
              <p:cNvPr id="17" name="Picture 9" descr="small_server"/>
              <p:cNvPicPr>
                <a:picLocks noChangeAspect="1" noChangeArrowheads="1"/>
              </p:cNvPicPr>
              <p:nvPr/>
            </p:nvPicPr>
            <p:blipFill>
              <a:blip r:embed="rId2" cstate="print"/>
              <a:srcRect/>
              <a:stretch>
                <a:fillRect/>
              </a:stretch>
            </p:blipFill>
            <p:spPr bwMode="auto">
              <a:xfrm>
                <a:off x="3695700" y="2360947"/>
                <a:ext cx="1676400" cy="2304752"/>
              </a:xfrm>
              <a:prstGeom prst="rect">
                <a:avLst/>
              </a:prstGeom>
              <a:noFill/>
              <a:ln w="9525">
                <a:noFill/>
                <a:miter lim="800000"/>
                <a:headEnd/>
                <a:tailEnd/>
              </a:ln>
            </p:spPr>
          </p:pic>
          <p:pic>
            <p:nvPicPr>
              <p:cNvPr id="18" name="Picture 9" descr="arch3"/>
              <p:cNvPicPr>
                <a:picLocks noChangeAspect="1" noChangeArrowheads="1"/>
              </p:cNvPicPr>
              <p:nvPr/>
            </p:nvPicPr>
            <p:blipFill>
              <a:blip r:embed="rId3" cstate="print"/>
              <a:srcRect/>
              <a:stretch>
                <a:fillRect/>
              </a:stretch>
            </p:blipFill>
            <p:spPr bwMode="auto">
              <a:xfrm>
                <a:off x="3733800" y="2057400"/>
                <a:ext cx="1300170" cy="1057028"/>
              </a:xfrm>
              <a:prstGeom prst="rect">
                <a:avLst/>
              </a:prstGeom>
              <a:noFill/>
              <a:ln w="9525">
                <a:noFill/>
                <a:miter lim="800000"/>
                <a:headEnd/>
                <a:tailEnd/>
              </a:ln>
            </p:spPr>
          </p:pic>
        </p:grpSp>
        <p:grpSp>
          <p:nvGrpSpPr>
            <p:cNvPr id="7" name="Group 32"/>
            <p:cNvGrpSpPr>
              <a:grpSpLocks/>
            </p:cNvGrpSpPr>
            <p:nvPr/>
          </p:nvGrpSpPr>
          <p:grpSpPr bwMode="auto">
            <a:xfrm>
              <a:off x="9038225" y="3103815"/>
              <a:ext cx="2235200" cy="2608263"/>
              <a:chOff x="5636860" y="2113215"/>
              <a:chExt cx="1676400" cy="2608299"/>
            </a:xfrm>
          </p:grpSpPr>
          <p:pic>
            <p:nvPicPr>
              <p:cNvPr id="15" name="Picture 9" descr="small_server"/>
              <p:cNvPicPr>
                <a:picLocks noChangeAspect="1" noChangeArrowheads="1"/>
              </p:cNvPicPr>
              <p:nvPr/>
            </p:nvPicPr>
            <p:blipFill>
              <a:blip r:embed="rId2" cstate="print"/>
              <a:srcRect/>
              <a:stretch>
                <a:fillRect/>
              </a:stretch>
            </p:blipFill>
            <p:spPr bwMode="auto">
              <a:xfrm>
                <a:off x="5636860" y="2416762"/>
                <a:ext cx="1676400" cy="2304752"/>
              </a:xfrm>
              <a:prstGeom prst="rect">
                <a:avLst/>
              </a:prstGeom>
              <a:noFill/>
              <a:ln w="9525">
                <a:noFill/>
                <a:miter lim="800000"/>
                <a:headEnd/>
                <a:tailEnd/>
              </a:ln>
            </p:spPr>
          </p:pic>
          <p:pic>
            <p:nvPicPr>
              <p:cNvPr id="16" name="Picture 9" descr="arch3"/>
              <p:cNvPicPr>
                <a:picLocks noChangeAspect="1" noChangeArrowheads="1"/>
              </p:cNvPicPr>
              <p:nvPr/>
            </p:nvPicPr>
            <p:blipFill>
              <a:blip r:embed="rId3" cstate="print"/>
              <a:srcRect/>
              <a:stretch>
                <a:fillRect/>
              </a:stretch>
            </p:blipFill>
            <p:spPr bwMode="auto">
              <a:xfrm>
                <a:off x="5674960" y="2113215"/>
                <a:ext cx="1300170" cy="1057028"/>
              </a:xfrm>
              <a:prstGeom prst="rect">
                <a:avLst/>
              </a:prstGeom>
              <a:noFill/>
              <a:ln w="9525">
                <a:noFill/>
                <a:miter lim="800000"/>
                <a:headEnd/>
                <a:tailEnd/>
              </a:ln>
            </p:spPr>
          </p:pic>
        </p:grpSp>
        <p:pic>
          <p:nvPicPr>
            <p:cNvPr id="8" name="Picture 27" descr="VMware-Infra"/>
            <p:cNvPicPr>
              <a:picLocks noChangeAspect="1" noChangeArrowheads="1"/>
            </p:cNvPicPr>
            <p:nvPr/>
          </p:nvPicPr>
          <p:blipFill>
            <a:blip r:embed="rId4" cstate="print"/>
            <a:srcRect/>
            <a:stretch>
              <a:fillRect/>
            </a:stretch>
          </p:blipFill>
          <p:spPr bwMode="auto">
            <a:xfrm>
              <a:off x="6867525" y="1828800"/>
              <a:ext cx="4002088" cy="2036763"/>
            </a:xfrm>
            <a:prstGeom prst="rect">
              <a:avLst/>
            </a:prstGeom>
            <a:noFill/>
            <a:ln w="9525">
              <a:noFill/>
              <a:miter lim="800000"/>
              <a:headEnd/>
              <a:tailEnd/>
            </a:ln>
          </p:spPr>
        </p:pic>
        <p:pic>
          <p:nvPicPr>
            <p:cNvPr id="9" name="Picture 15" descr="OS_revised"/>
            <p:cNvPicPr>
              <a:picLocks noChangeAspect="1" noChangeArrowheads="1"/>
            </p:cNvPicPr>
            <p:nvPr/>
          </p:nvPicPr>
          <p:blipFill>
            <a:blip r:embed="rId5" cstate="print"/>
            <a:srcRect/>
            <a:stretch>
              <a:fillRect/>
            </a:stretch>
          </p:blipFill>
          <p:spPr bwMode="auto">
            <a:xfrm>
              <a:off x="7800582" y="1046415"/>
              <a:ext cx="708025" cy="1296987"/>
            </a:xfrm>
            <a:prstGeom prst="rect">
              <a:avLst/>
            </a:prstGeom>
            <a:noFill/>
            <a:ln w="9525">
              <a:noFill/>
              <a:miter lim="800000"/>
              <a:headEnd/>
              <a:tailEnd/>
            </a:ln>
          </p:spPr>
        </p:pic>
        <p:pic>
          <p:nvPicPr>
            <p:cNvPr id="10" name="Picture 14" descr="OS_revised"/>
            <p:cNvPicPr>
              <a:picLocks noChangeAspect="1" noChangeArrowheads="1"/>
            </p:cNvPicPr>
            <p:nvPr/>
          </p:nvPicPr>
          <p:blipFill>
            <a:blip r:embed="rId5" cstate="print"/>
            <a:srcRect/>
            <a:stretch>
              <a:fillRect/>
            </a:stretch>
          </p:blipFill>
          <p:spPr bwMode="auto">
            <a:xfrm>
              <a:off x="7495782" y="1122615"/>
              <a:ext cx="708025" cy="1296987"/>
            </a:xfrm>
            <a:prstGeom prst="rect">
              <a:avLst/>
            </a:prstGeom>
            <a:noFill/>
            <a:ln w="9525">
              <a:noFill/>
              <a:miter lim="800000"/>
              <a:headEnd/>
              <a:tailEnd/>
            </a:ln>
          </p:spPr>
        </p:pic>
        <p:pic>
          <p:nvPicPr>
            <p:cNvPr id="11" name="Picture 15" descr="OS_revised"/>
            <p:cNvPicPr>
              <a:picLocks noChangeAspect="1" noChangeArrowheads="1"/>
            </p:cNvPicPr>
            <p:nvPr/>
          </p:nvPicPr>
          <p:blipFill>
            <a:blip r:embed="rId5" cstate="print"/>
            <a:srcRect/>
            <a:stretch>
              <a:fillRect/>
            </a:stretch>
          </p:blipFill>
          <p:spPr bwMode="auto">
            <a:xfrm>
              <a:off x="8857060" y="1463676"/>
              <a:ext cx="708025" cy="1296987"/>
            </a:xfrm>
            <a:prstGeom prst="rect">
              <a:avLst/>
            </a:prstGeom>
            <a:noFill/>
            <a:ln w="9525">
              <a:noFill/>
              <a:miter lim="800000"/>
              <a:headEnd/>
              <a:tailEnd/>
            </a:ln>
          </p:spPr>
        </p:pic>
        <p:pic>
          <p:nvPicPr>
            <p:cNvPr id="12" name="Picture 14" descr="OS_revised"/>
            <p:cNvPicPr>
              <a:picLocks noChangeAspect="1" noChangeArrowheads="1"/>
            </p:cNvPicPr>
            <p:nvPr/>
          </p:nvPicPr>
          <p:blipFill>
            <a:blip r:embed="rId5" cstate="print"/>
            <a:srcRect/>
            <a:stretch>
              <a:fillRect/>
            </a:stretch>
          </p:blipFill>
          <p:spPr bwMode="auto">
            <a:xfrm>
              <a:off x="8552260" y="1539876"/>
              <a:ext cx="708025" cy="1296987"/>
            </a:xfrm>
            <a:prstGeom prst="rect">
              <a:avLst/>
            </a:prstGeom>
            <a:noFill/>
            <a:ln w="9525">
              <a:noFill/>
              <a:miter lim="800000"/>
              <a:headEnd/>
              <a:tailEnd/>
            </a:ln>
          </p:spPr>
        </p:pic>
        <p:pic>
          <p:nvPicPr>
            <p:cNvPr id="13" name="Picture 15" descr="OS_revised"/>
            <p:cNvPicPr>
              <a:picLocks noChangeAspect="1" noChangeArrowheads="1"/>
            </p:cNvPicPr>
            <p:nvPr/>
          </p:nvPicPr>
          <p:blipFill>
            <a:blip r:embed="rId5" cstate="print"/>
            <a:srcRect/>
            <a:stretch>
              <a:fillRect/>
            </a:stretch>
          </p:blipFill>
          <p:spPr bwMode="auto">
            <a:xfrm>
              <a:off x="9931590" y="1881139"/>
              <a:ext cx="706437" cy="1296987"/>
            </a:xfrm>
            <a:prstGeom prst="rect">
              <a:avLst/>
            </a:prstGeom>
            <a:noFill/>
            <a:ln w="9525">
              <a:noFill/>
              <a:miter lim="800000"/>
              <a:headEnd/>
              <a:tailEnd/>
            </a:ln>
          </p:spPr>
        </p:pic>
        <p:pic>
          <p:nvPicPr>
            <p:cNvPr id="14" name="Picture 14" descr="OS_revised"/>
            <p:cNvPicPr>
              <a:picLocks noChangeAspect="1" noChangeArrowheads="1"/>
            </p:cNvPicPr>
            <p:nvPr/>
          </p:nvPicPr>
          <p:blipFill>
            <a:blip r:embed="rId5" cstate="print"/>
            <a:srcRect/>
            <a:stretch>
              <a:fillRect/>
            </a:stretch>
          </p:blipFill>
          <p:spPr bwMode="auto">
            <a:xfrm>
              <a:off x="9626790" y="1957339"/>
              <a:ext cx="706437" cy="1296987"/>
            </a:xfrm>
            <a:prstGeom prst="rect">
              <a:avLst/>
            </a:prstGeom>
            <a:noFill/>
            <a:ln w="9525">
              <a:noFill/>
              <a:miter lim="800000"/>
              <a:headEnd/>
              <a:tailEnd/>
            </a:ln>
          </p:spPr>
        </p:pic>
      </p:grpSp>
      <p:sp>
        <p:nvSpPr>
          <p:cNvPr id="21" name="Rectangle 20"/>
          <p:cNvSpPr/>
          <p:nvPr/>
        </p:nvSpPr>
        <p:spPr>
          <a:xfrm>
            <a:off x="5792787" y="2133600"/>
            <a:ext cx="1835150" cy="3402012"/>
          </a:xfrm>
          <a:prstGeom prst="rect">
            <a:avLst/>
          </a:prstGeom>
        </p:spPr>
        <p:txBody>
          <a:bodyPr>
            <a:spAutoFit/>
          </a:bodyPr>
          <a:lstStyle/>
          <a:p>
            <a:pPr algn="ctr">
              <a:lnSpc>
                <a:spcPct val="90000"/>
              </a:lnSpc>
            </a:pPr>
            <a:r>
              <a:rPr lang="en-US" sz="23900" b="1" dirty="0">
                <a:solidFill>
                  <a:schemeClr val="tx1">
                    <a:lumMod val="85000"/>
                    <a:lumOff val="15000"/>
                  </a:schemeClr>
                </a:solidFill>
                <a:latin typeface="Arial Black" pitchFamily="34" charset="0"/>
                <a:ea typeface="Arial Unicode MS" pitchFamily="34" charset="-128"/>
                <a:cs typeface="Arial Unicode MS" pitchFamily="34" charset="-128"/>
              </a:rPr>
              <a:t>X</a:t>
            </a:r>
          </a:p>
        </p:txBody>
      </p:sp>
      <p:grpSp>
        <p:nvGrpSpPr>
          <p:cNvPr id="57" name="Group 44"/>
          <p:cNvGrpSpPr>
            <a:grpSpLocks/>
          </p:cNvGrpSpPr>
          <p:nvPr/>
        </p:nvGrpSpPr>
        <p:grpSpPr bwMode="auto">
          <a:xfrm>
            <a:off x="5329718" y="2491145"/>
            <a:ext cx="3284733" cy="3899381"/>
            <a:chOff x="2168006" y="6273282"/>
            <a:chExt cx="4379132" cy="3899381"/>
          </a:xfrm>
        </p:grpSpPr>
        <p:grpSp>
          <p:nvGrpSpPr>
            <p:cNvPr id="58" name="Group 35"/>
            <p:cNvGrpSpPr>
              <a:grpSpLocks/>
            </p:cNvGrpSpPr>
            <p:nvPr/>
          </p:nvGrpSpPr>
          <p:grpSpPr bwMode="auto">
            <a:xfrm>
              <a:off x="2207694" y="6590782"/>
              <a:ext cx="2235200" cy="2608263"/>
              <a:chOff x="1676400" y="2052601"/>
              <a:chExt cx="1676400" cy="2608299"/>
            </a:xfrm>
          </p:grpSpPr>
          <p:pic>
            <p:nvPicPr>
              <p:cNvPr id="66" name="Picture 9" descr="small_server"/>
              <p:cNvPicPr>
                <a:picLocks noChangeAspect="1" noChangeArrowheads="1"/>
              </p:cNvPicPr>
              <p:nvPr/>
            </p:nvPicPr>
            <p:blipFill>
              <a:blip r:embed="rId2" cstate="print"/>
              <a:srcRect/>
              <a:stretch>
                <a:fillRect/>
              </a:stretch>
            </p:blipFill>
            <p:spPr bwMode="auto">
              <a:xfrm>
                <a:off x="1676400" y="2356148"/>
                <a:ext cx="1676400" cy="2304752"/>
              </a:xfrm>
              <a:prstGeom prst="rect">
                <a:avLst/>
              </a:prstGeom>
              <a:noFill/>
              <a:ln w="9525">
                <a:noFill/>
                <a:miter lim="800000"/>
                <a:headEnd/>
                <a:tailEnd/>
              </a:ln>
            </p:spPr>
          </p:pic>
          <p:pic>
            <p:nvPicPr>
              <p:cNvPr id="67" name="Picture 9" descr="arch3"/>
              <p:cNvPicPr>
                <a:picLocks noChangeAspect="1" noChangeArrowheads="1"/>
              </p:cNvPicPr>
              <p:nvPr/>
            </p:nvPicPr>
            <p:blipFill>
              <a:blip r:embed="rId3" cstate="print"/>
              <a:srcRect/>
              <a:stretch>
                <a:fillRect/>
              </a:stretch>
            </p:blipFill>
            <p:spPr bwMode="auto">
              <a:xfrm>
                <a:off x="1714500" y="2052601"/>
                <a:ext cx="1300170" cy="1057028"/>
              </a:xfrm>
              <a:prstGeom prst="rect">
                <a:avLst/>
              </a:prstGeom>
              <a:noFill/>
              <a:ln w="9525">
                <a:noFill/>
                <a:miter lim="800000"/>
                <a:headEnd/>
                <a:tailEnd/>
              </a:ln>
            </p:spPr>
          </p:pic>
        </p:grpSp>
        <p:grpSp>
          <p:nvGrpSpPr>
            <p:cNvPr id="59" name="Group 33"/>
            <p:cNvGrpSpPr>
              <a:grpSpLocks/>
            </p:cNvGrpSpPr>
            <p:nvPr/>
          </p:nvGrpSpPr>
          <p:grpSpPr bwMode="auto">
            <a:xfrm>
              <a:off x="3223694" y="7063857"/>
              <a:ext cx="2235200" cy="2608263"/>
              <a:chOff x="3695700" y="2057400"/>
              <a:chExt cx="1676400" cy="2608299"/>
            </a:xfrm>
          </p:grpSpPr>
          <p:pic>
            <p:nvPicPr>
              <p:cNvPr id="64" name="Picture 9" descr="small_server"/>
              <p:cNvPicPr>
                <a:picLocks noChangeAspect="1" noChangeArrowheads="1"/>
              </p:cNvPicPr>
              <p:nvPr/>
            </p:nvPicPr>
            <p:blipFill>
              <a:blip r:embed="rId2" cstate="print"/>
              <a:srcRect/>
              <a:stretch>
                <a:fillRect/>
              </a:stretch>
            </p:blipFill>
            <p:spPr bwMode="auto">
              <a:xfrm>
                <a:off x="3695700" y="2360947"/>
                <a:ext cx="1676400" cy="2304752"/>
              </a:xfrm>
              <a:prstGeom prst="rect">
                <a:avLst/>
              </a:prstGeom>
              <a:noFill/>
              <a:ln w="9525">
                <a:noFill/>
                <a:miter lim="800000"/>
                <a:headEnd/>
                <a:tailEnd/>
              </a:ln>
            </p:spPr>
          </p:pic>
          <p:pic>
            <p:nvPicPr>
              <p:cNvPr id="65" name="Picture 9" descr="arch3"/>
              <p:cNvPicPr>
                <a:picLocks noChangeAspect="1" noChangeArrowheads="1"/>
              </p:cNvPicPr>
              <p:nvPr/>
            </p:nvPicPr>
            <p:blipFill>
              <a:blip r:embed="rId3" cstate="print"/>
              <a:srcRect/>
              <a:stretch>
                <a:fillRect/>
              </a:stretch>
            </p:blipFill>
            <p:spPr bwMode="auto">
              <a:xfrm>
                <a:off x="3733800" y="2057400"/>
                <a:ext cx="1300170" cy="1057028"/>
              </a:xfrm>
              <a:prstGeom prst="rect">
                <a:avLst/>
              </a:prstGeom>
              <a:noFill/>
              <a:ln w="9525">
                <a:noFill/>
                <a:miter lim="800000"/>
                <a:headEnd/>
                <a:tailEnd/>
              </a:ln>
            </p:spPr>
          </p:pic>
        </p:grpSp>
        <p:grpSp>
          <p:nvGrpSpPr>
            <p:cNvPr id="60" name="Group 32"/>
            <p:cNvGrpSpPr>
              <a:grpSpLocks/>
            </p:cNvGrpSpPr>
            <p:nvPr/>
          </p:nvGrpSpPr>
          <p:grpSpPr bwMode="auto">
            <a:xfrm>
              <a:off x="4311938" y="7564400"/>
              <a:ext cx="2235200" cy="2608263"/>
              <a:chOff x="5616783" y="2129318"/>
              <a:chExt cx="1676400" cy="2608299"/>
            </a:xfrm>
          </p:grpSpPr>
          <p:pic>
            <p:nvPicPr>
              <p:cNvPr id="62" name="Picture 9" descr="small_server"/>
              <p:cNvPicPr>
                <a:picLocks noChangeAspect="1" noChangeArrowheads="1"/>
              </p:cNvPicPr>
              <p:nvPr/>
            </p:nvPicPr>
            <p:blipFill>
              <a:blip r:embed="rId2" cstate="print"/>
              <a:srcRect/>
              <a:stretch>
                <a:fillRect/>
              </a:stretch>
            </p:blipFill>
            <p:spPr bwMode="auto">
              <a:xfrm>
                <a:off x="5616783" y="2432865"/>
                <a:ext cx="1676400" cy="2304752"/>
              </a:xfrm>
              <a:prstGeom prst="rect">
                <a:avLst/>
              </a:prstGeom>
              <a:noFill/>
              <a:ln w="9525">
                <a:noFill/>
                <a:miter lim="800000"/>
                <a:headEnd/>
                <a:tailEnd/>
              </a:ln>
            </p:spPr>
          </p:pic>
          <p:pic>
            <p:nvPicPr>
              <p:cNvPr id="63" name="Picture 9" descr="arch3"/>
              <p:cNvPicPr>
                <a:picLocks noChangeAspect="1" noChangeArrowheads="1"/>
              </p:cNvPicPr>
              <p:nvPr/>
            </p:nvPicPr>
            <p:blipFill>
              <a:blip r:embed="rId3" cstate="print"/>
              <a:srcRect/>
              <a:stretch>
                <a:fillRect/>
              </a:stretch>
            </p:blipFill>
            <p:spPr bwMode="auto">
              <a:xfrm>
                <a:off x="5654883" y="2129318"/>
                <a:ext cx="1300170" cy="1057028"/>
              </a:xfrm>
              <a:prstGeom prst="rect">
                <a:avLst/>
              </a:prstGeom>
              <a:noFill/>
              <a:ln w="9525">
                <a:noFill/>
                <a:miter lim="800000"/>
                <a:headEnd/>
                <a:tailEnd/>
              </a:ln>
            </p:spPr>
          </p:pic>
        </p:grpSp>
        <p:pic>
          <p:nvPicPr>
            <p:cNvPr id="61" name="Picture 27" descr="VMware-Infra"/>
            <p:cNvPicPr>
              <a:picLocks noChangeAspect="1" noChangeArrowheads="1"/>
            </p:cNvPicPr>
            <p:nvPr/>
          </p:nvPicPr>
          <p:blipFill>
            <a:blip r:embed="rId4" cstate="print"/>
            <a:srcRect/>
            <a:stretch>
              <a:fillRect/>
            </a:stretch>
          </p:blipFill>
          <p:spPr bwMode="auto">
            <a:xfrm>
              <a:off x="2168006" y="6273282"/>
              <a:ext cx="4002088" cy="2036763"/>
            </a:xfrm>
            <a:prstGeom prst="rect">
              <a:avLst/>
            </a:prstGeom>
            <a:noFill/>
            <a:ln w="9525">
              <a:noFill/>
              <a:miter lim="800000"/>
              <a:headEnd/>
              <a:tailEnd/>
            </a:ln>
          </p:spPr>
        </p:pic>
      </p:grpSp>
      <p:pic>
        <p:nvPicPr>
          <p:cNvPr id="68" name="Picture 15" descr="OS_revised"/>
          <p:cNvPicPr>
            <a:picLocks noChangeAspect="1" noChangeArrowheads="1"/>
          </p:cNvPicPr>
          <p:nvPr/>
        </p:nvPicPr>
        <p:blipFill>
          <a:blip r:embed="rId5" cstate="print"/>
          <a:srcRect/>
          <a:stretch>
            <a:fillRect/>
          </a:stretch>
        </p:blipFill>
        <p:spPr bwMode="auto">
          <a:xfrm>
            <a:off x="5929703" y="1708508"/>
            <a:ext cx="531813" cy="1296987"/>
          </a:xfrm>
          <a:prstGeom prst="rect">
            <a:avLst/>
          </a:prstGeom>
          <a:noFill/>
          <a:ln w="9525">
            <a:noFill/>
            <a:miter lim="800000"/>
            <a:headEnd/>
            <a:tailEnd/>
          </a:ln>
        </p:spPr>
      </p:pic>
      <p:pic>
        <p:nvPicPr>
          <p:cNvPr id="69" name="Picture 14" descr="OS_revised"/>
          <p:cNvPicPr>
            <a:picLocks noChangeAspect="1" noChangeArrowheads="1"/>
          </p:cNvPicPr>
          <p:nvPr/>
        </p:nvPicPr>
        <p:blipFill>
          <a:blip r:embed="rId5" cstate="print"/>
          <a:srcRect/>
          <a:stretch>
            <a:fillRect/>
          </a:stretch>
        </p:blipFill>
        <p:spPr bwMode="auto">
          <a:xfrm>
            <a:off x="5701103" y="1784708"/>
            <a:ext cx="531813" cy="1296987"/>
          </a:xfrm>
          <a:prstGeom prst="rect">
            <a:avLst/>
          </a:prstGeom>
          <a:noFill/>
          <a:ln w="9525">
            <a:noFill/>
            <a:miter lim="800000"/>
            <a:headEnd/>
            <a:tailEnd/>
          </a:ln>
        </p:spPr>
      </p:pic>
      <p:pic>
        <p:nvPicPr>
          <p:cNvPr id="70" name="Picture 15" descr="OS_revised"/>
          <p:cNvPicPr>
            <a:picLocks noChangeAspect="1" noChangeArrowheads="1"/>
          </p:cNvPicPr>
          <p:nvPr/>
        </p:nvPicPr>
        <p:blipFill>
          <a:blip r:embed="rId5" cstate="print"/>
          <a:srcRect/>
          <a:stretch>
            <a:fillRect/>
          </a:stretch>
        </p:blipFill>
        <p:spPr bwMode="auto">
          <a:xfrm>
            <a:off x="6724113" y="2130213"/>
            <a:ext cx="530225" cy="1296987"/>
          </a:xfrm>
          <a:prstGeom prst="rect">
            <a:avLst/>
          </a:prstGeom>
          <a:noFill/>
          <a:ln w="9525">
            <a:noFill/>
            <a:miter lim="800000"/>
            <a:headEnd/>
            <a:tailEnd/>
          </a:ln>
        </p:spPr>
      </p:pic>
      <p:pic>
        <p:nvPicPr>
          <p:cNvPr id="71" name="Picture 14" descr="OS_revised"/>
          <p:cNvPicPr>
            <a:picLocks noChangeAspect="1" noChangeArrowheads="1"/>
          </p:cNvPicPr>
          <p:nvPr/>
        </p:nvPicPr>
        <p:blipFill>
          <a:blip r:embed="rId5" cstate="print"/>
          <a:srcRect/>
          <a:stretch>
            <a:fillRect/>
          </a:stretch>
        </p:blipFill>
        <p:spPr bwMode="auto">
          <a:xfrm>
            <a:off x="6495513" y="2206413"/>
            <a:ext cx="530225" cy="1296987"/>
          </a:xfrm>
          <a:prstGeom prst="rect">
            <a:avLst/>
          </a:prstGeom>
          <a:noFill/>
          <a:ln w="9525">
            <a:noFill/>
            <a:miter lim="800000"/>
            <a:headEnd/>
            <a:tailEnd/>
          </a:ln>
        </p:spPr>
      </p:pic>
      <p:pic>
        <p:nvPicPr>
          <p:cNvPr id="72" name="Picture 15" descr="OS_revised"/>
          <p:cNvPicPr>
            <a:picLocks noChangeAspect="1" noChangeArrowheads="1"/>
          </p:cNvPicPr>
          <p:nvPr/>
        </p:nvPicPr>
        <p:blipFill>
          <a:blip r:embed="rId5" cstate="print"/>
          <a:srcRect/>
          <a:stretch>
            <a:fillRect/>
          </a:stretch>
        </p:blipFill>
        <p:spPr bwMode="auto">
          <a:xfrm>
            <a:off x="7576869" y="2599934"/>
            <a:ext cx="528637" cy="1296987"/>
          </a:xfrm>
          <a:prstGeom prst="rect">
            <a:avLst/>
          </a:prstGeom>
          <a:noFill/>
          <a:ln w="9525">
            <a:noFill/>
            <a:miter lim="800000"/>
            <a:headEnd/>
            <a:tailEnd/>
          </a:ln>
        </p:spPr>
      </p:pic>
      <p:pic>
        <p:nvPicPr>
          <p:cNvPr id="73" name="Picture 14" descr="OS_revised"/>
          <p:cNvPicPr>
            <a:picLocks noChangeAspect="1" noChangeArrowheads="1"/>
          </p:cNvPicPr>
          <p:nvPr/>
        </p:nvPicPr>
        <p:blipFill>
          <a:blip r:embed="rId5" cstate="print"/>
          <a:srcRect/>
          <a:stretch>
            <a:fillRect/>
          </a:stretch>
        </p:blipFill>
        <p:spPr bwMode="auto">
          <a:xfrm>
            <a:off x="7348269" y="2676134"/>
            <a:ext cx="528637" cy="12969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childTnLst>
                                </p:cTn>
                              </p:par>
                              <p:par>
                                <p:cTn id="8" presetID="10" presetClass="exit" presetSubtype="0" fill="hold" grpId="0" nodeType="withEffect">
                                  <p:stCondLst>
                                    <p:cond delay="0"/>
                                  </p:stCondLst>
                                  <p:childTnLst>
                                    <p:animEffect transition="out" filter="fade">
                                      <p:cBhvr>
                                        <p:cTn id="9" dur="500"/>
                                        <p:tgtEl>
                                          <p:spTgt spid="3">
                                            <p:txEl>
                                              <p:pRg st="0" end="0"/>
                                            </p:txEl>
                                          </p:spTgt>
                                        </p:tgtEl>
                                      </p:cBhvr>
                                    </p:animEffect>
                                    <p:set>
                                      <p:cBhvr>
                                        <p:cTn id="10" dur="1" fill="hold">
                                          <p:stCondLst>
                                            <p:cond delay="499"/>
                                          </p:stCondLst>
                                        </p:cTn>
                                        <p:tgtEl>
                                          <p:spTgt spid="3">
                                            <p:txEl>
                                              <p:pRg st="0" end="0"/>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1" end="1"/>
                                            </p:txEl>
                                          </p:spTgt>
                                        </p:tgtEl>
                                      </p:cBhvr>
                                    </p:animEffect>
                                    <p:set>
                                      <p:cBhvr>
                                        <p:cTn id="13" dur="1" fill="hold">
                                          <p:stCondLst>
                                            <p:cond delay="499"/>
                                          </p:stCondLst>
                                        </p:cTn>
                                        <p:tgtEl>
                                          <p:spTgt spid="3">
                                            <p:txEl>
                                              <p:pRg st="1" end="1"/>
                                            </p:txEl>
                                          </p:spTgt>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3">
                                            <p:txEl>
                                              <p:pRg st="2" end="2"/>
                                            </p:txEl>
                                          </p:spTgt>
                                        </p:tgtEl>
                                      </p:cBhvr>
                                    </p:animEffect>
                                    <p:set>
                                      <p:cBhvr>
                                        <p:cTn id="16" dur="1" fill="hold">
                                          <p:stCondLst>
                                            <p:cond delay="499"/>
                                          </p:stCondLst>
                                        </p:cTn>
                                        <p:tgtEl>
                                          <p:spTgt spid="3">
                                            <p:txEl>
                                              <p:pRg st="2" end="2"/>
                                            </p:txEl>
                                          </p:spTgt>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3">
                                            <p:txEl>
                                              <p:pRg st="3" end="3"/>
                                            </p:txEl>
                                          </p:spTgt>
                                        </p:tgtEl>
                                      </p:cBhvr>
                                    </p:animEffect>
                                    <p:set>
                                      <p:cBhvr>
                                        <p:cTn id="19" dur="1" fill="hold">
                                          <p:stCondLst>
                                            <p:cond delay="499"/>
                                          </p:stCondLst>
                                        </p:cTn>
                                        <p:tgtEl>
                                          <p:spTgt spid="3">
                                            <p:txEl>
                                              <p:pRg st="3" end="3"/>
                                            </p:txEl>
                                          </p:spTgt>
                                        </p:tgtEl>
                                        <p:attrNameLst>
                                          <p:attrName>style.visibility</p:attrName>
                                        </p:attrNameLst>
                                      </p:cBhvr>
                                      <p:to>
                                        <p:strVal val="hidden"/>
                                      </p:to>
                                    </p:set>
                                  </p:childTnLst>
                                </p:cTn>
                              </p:par>
                              <p:par>
                                <p:cTn id="20" presetID="9" presetClass="emph" presetSubtype="0" nodeType="withEffect">
                                  <p:stCondLst>
                                    <p:cond delay="0"/>
                                  </p:stCondLst>
                                  <p:childTnLst>
                                    <p:set>
                                      <p:cBhvr rctx="PPT">
                                        <p:cTn id="21" dur="indefinite"/>
                                        <p:tgtEl>
                                          <p:spTgt spid="4"/>
                                        </p:tgtEl>
                                        <p:attrNameLst>
                                          <p:attrName>style.opacity</p:attrName>
                                        </p:attrNameLst>
                                      </p:cBhvr>
                                      <p:to>
                                        <p:strVal val="0.25"/>
                                      </p:to>
                                    </p:set>
                                    <p:animEffect filter="image" prLst="opacity: 0.25">
                                      <p:cBhvr rctx="IE">
                                        <p:cTn id="22" dur="indefinite"/>
                                        <p:tgtEl>
                                          <p:spTgt spid="4"/>
                                        </p:tgtEl>
                                      </p:cBhvr>
                                    </p:animEffect>
                                  </p:childTnLst>
                                </p:cTn>
                              </p:par>
                            </p:childTnLst>
                          </p:cTn>
                        </p:par>
                        <p:par>
                          <p:cTn id="23" fill="hold">
                            <p:stCondLst>
                              <p:cond delay="1000"/>
                            </p:stCondLst>
                            <p:childTnLst>
                              <p:par>
                                <p:cTn id="24" presetID="0" presetClass="path" presetSubtype="0" accel="50000" decel="50000" fill="hold" nodeType="afterEffect">
                                  <p:stCondLst>
                                    <p:cond delay="0"/>
                                  </p:stCondLst>
                                  <p:childTnLst>
                                    <p:animMotion origin="layout" path="M 0 0 L -0.51146 0 " pathEditMode="relative" ptsTypes="AA">
                                      <p:cBhvr>
                                        <p:cTn id="25" dur="2000" fill="hold"/>
                                        <p:tgtEl>
                                          <p:spTgt spid="4"/>
                                        </p:tgtEl>
                                        <p:attrNameLst>
                                          <p:attrName>ppt_x</p:attrName>
                                          <p:attrName>ppt_y</p:attrName>
                                        </p:attrNameLst>
                                      </p:cBhvr>
                                    </p:animMotion>
                                  </p:childTnLst>
                                </p:cTn>
                              </p:par>
                              <p:par>
                                <p:cTn id="26" presetID="0" presetClass="path" presetSubtype="0" accel="50000" decel="50000" fill="hold" grpId="0" nodeType="withEffect">
                                  <p:stCondLst>
                                    <p:cond delay="0"/>
                                  </p:stCondLst>
                                  <p:childTnLst>
                                    <p:animMotion origin="layout" path="M 0 0 L -0.51146 0 " pathEditMode="relative" ptsTypes="AA">
                                      <p:cBhvr>
                                        <p:cTn id="27" dur="2000" fill="hold"/>
                                        <p:tgtEl>
                                          <p:spTgt spid="21"/>
                                        </p:tgtEl>
                                        <p:attrNameLst>
                                          <p:attrName>ppt_x</p:attrName>
                                          <p:attrName>ppt_y</p:attrName>
                                        </p:attrNameLst>
                                      </p:cBhvr>
                                    </p:animMotion>
                                  </p:childTnLst>
                                </p:cTn>
                              </p:par>
                            </p:childTnLst>
                          </p:cTn>
                        </p:par>
                        <p:par>
                          <p:cTn id="28" fill="hold">
                            <p:stCondLst>
                              <p:cond delay="3000"/>
                            </p:stCondLst>
                            <p:childTnLst>
                              <p:par>
                                <p:cTn id="29" presetID="2" presetClass="entr" presetSubtype="2" fill="hold" nodeType="afterEffect">
                                  <p:stCondLst>
                                    <p:cond delay="0"/>
                                  </p:stCondLst>
                                  <p:childTnLst>
                                    <p:set>
                                      <p:cBhvr>
                                        <p:cTn id="30" dur="1" fill="hold">
                                          <p:stCondLst>
                                            <p:cond delay="0"/>
                                          </p:stCondLst>
                                        </p:cTn>
                                        <p:tgtEl>
                                          <p:spTgt spid="57"/>
                                        </p:tgtEl>
                                        <p:attrNameLst>
                                          <p:attrName>style.visibility</p:attrName>
                                        </p:attrNameLst>
                                      </p:cBhvr>
                                      <p:to>
                                        <p:strVal val="visible"/>
                                      </p:to>
                                    </p:set>
                                    <p:anim calcmode="lin" valueType="num">
                                      <p:cBhvr additive="base">
                                        <p:cTn id="31" dur="500" fill="hold"/>
                                        <p:tgtEl>
                                          <p:spTgt spid="57"/>
                                        </p:tgtEl>
                                        <p:attrNameLst>
                                          <p:attrName>ppt_x</p:attrName>
                                        </p:attrNameLst>
                                      </p:cBhvr>
                                      <p:tavLst>
                                        <p:tav tm="0">
                                          <p:val>
                                            <p:strVal val="1+#ppt_w/2"/>
                                          </p:val>
                                        </p:tav>
                                        <p:tav tm="100000">
                                          <p:val>
                                            <p:strVal val="#ppt_x"/>
                                          </p:val>
                                        </p:tav>
                                      </p:tavLst>
                                    </p:anim>
                                    <p:anim calcmode="lin" valueType="num">
                                      <p:cBhvr additive="base">
                                        <p:cTn id="32" dur="500" fill="hold"/>
                                        <p:tgtEl>
                                          <p:spTgt spid="57"/>
                                        </p:tgtEl>
                                        <p:attrNameLst>
                                          <p:attrName>ppt_y</p:attrName>
                                        </p:attrNameLst>
                                      </p:cBhvr>
                                      <p:tavLst>
                                        <p:tav tm="0">
                                          <p:val>
                                            <p:strVal val="#ppt_y"/>
                                          </p:val>
                                        </p:tav>
                                        <p:tav tm="100000">
                                          <p:val>
                                            <p:strVal val="#ppt_y"/>
                                          </p:val>
                                        </p:tav>
                                      </p:tavLst>
                                    </p:anim>
                                  </p:childTnLst>
                                </p:cTn>
                              </p:par>
                            </p:childTnLst>
                          </p:cTn>
                        </p:par>
                        <p:par>
                          <p:cTn id="33" fill="hold">
                            <p:stCondLst>
                              <p:cond delay="3500"/>
                            </p:stCondLst>
                            <p:childTnLst>
                              <p:par>
                                <p:cTn id="34" presetID="9" presetClass="entr" presetSubtype="0" fill="hold" nodeType="afterEffect">
                                  <p:stCondLst>
                                    <p:cond delay="0"/>
                                  </p:stCondLst>
                                  <p:childTnLst>
                                    <p:set>
                                      <p:cBhvr>
                                        <p:cTn id="35" dur="1" fill="hold">
                                          <p:stCondLst>
                                            <p:cond delay="0"/>
                                          </p:stCondLst>
                                        </p:cTn>
                                        <p:tgtEl>
                                          <p:spTgt spid="68"/>
                                        </p:tgtEl>
                                        <p:attrNameLst>
                                          <p:attrName>style.visibility</p:attrName>
                                        </p:attrNameLst>
                                      </p:cBhvr>
                                      <p:to>
                                        <p:strVal val="visible"/>
                                      </p:to>
                                    </p:set>
                                    <p:animEffect transition="in" filter="dissolve">
                                      <p:cBhvr>
                                        <p:cTn id="36" dur="500"/>
                                        <p:tgtEl>
                                          <p:spTgt spid="68"/>
                                        </p:tgtEl>
                                      </p:cBhvr>
                                    </p:animEffect>
                                  </p:childTnLst>
                                </p:cTn>
                              </p:par>
                            </p:childTnLst>
                          </p:cTn>
                        </p:par>
                        <p:par>
                          <p:cTn id="37" fill="hold">
                            <p:stCondLst>
                              <p:cond delay="4000"/>
                            </p:stCondLst>
                            <p:childTnLst>
                              <p:par>
                                <p:cTn id="38" presetID="9" presetClass="entr" presetSubtype="0" fill="hold" nodeType="afterEffect">
                                  <p:stCondLst>
                                    <p:cond delay="0"/>
                                  </p:stCondLst>
                                  <p:childTnLst>
                                    <p:set>
                                      <p:cBhvr>
                                        <p:cTn id="39" dur="1" fill="hold">
                                          <p:stCondLst>
                                            <p:cond delay="0"/>
                                          </p:stCondLst>
                                        </p:cTn>
                                        <p:tgtEl>
                                          <p:spTgt spid="69"/>
                                        </p:tgtEl>
                                        <p:attrNameLst>
                                          <p:attrName>style.visibility</p:attrName>
                                        </p:attrNameLst>
                                      </p:cBhvr>
                                      <p:to>
                                        <p:strVal val="visible"/>
                                      </p:to>
                                    </p:set>
                                    <p:animEffect transition="in" filter="dissolve">
                                      <p:cBhvr>
                                        <p:cTn id="40" dur="500"/>
                                        <p:tgtEl>
                                          <p:spTgt spid="69"/>
                                        </p:tgtEl>
                                      </p:cBhvr>
                                    </p:animEffect>
                                  </p:childTnLst>
                                </p:cTn>
                              </p:par>
                            </p:childTnLst>
                          </p:cTn>
                        </p:par>
                        <p:par>
                          <p:cTn id="41" fill="hold">
                            <p:stCondLst>
                              <p:cond delay="4500"/>
                            </p:stCondLst>
                            <p:childTnLst>
                              <p:par>
                                <p:cTn id="42" presetID="9" presetClass="entr" presetSubtype="0" fill="hold" nodeType="afterEffect">
                                  <p:stCondLst>
                                    <p:cond delay="0"/>
                                  </p:stCondLst>
                                  <p:childTnLst>
                                    <p:set>
                                      <p:cBhvr>
                                        <p:cTn id="43" dur="1" fill="hold">
                                          <p:stCondLst>
                                            <p:cond delay="0"/>
                                          </p:stCondLst>
                                        </p:cTn>
                                        <p:tgtEl>
                                          <p:spTgt spid="71"/>
                                        </p:tgtEl>
                                        <p:attrNameLst>
                                          <p:attrName>style.visibility</p:attrName>
                                        </p:attrNameLst>
                                      </p:cBhvr>
                                      <p:to>
                                        <p:strVal val="visible"/>
                                      </p:to>
                                    </p:set>
                                    <p:animEffect transition="in" filter="dissolve">
                                      <p:cBhvr>
                                        <p:cTn id="44" dur="500"/>
                                        <p:tgtEl>
                                          <p:spTgt spid="71"/>
                                        </p:tgtEl>
                                      </p:cBhvr>
                                    </p:animEffect>
                                  </p:childTnLst>
                                </p:cTn>
                              </p:par>
                            </p:childTnLst>
                          </p:cTn>
                        </p:par>
                        <p:par>
                          <p:cTn id="45" fill="hold">
                            <p:stCondLst>
                              <p:cond delay="5000"/>
                            </p:stCondLst>
                            <p:childTnLst>
                              <p:par>
                                <p:cTn id="46" presetID="9" presetClass="entr" presetSubtype="0" fill="hold" nodeType="after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dissolve">
                                      <p:cBhvr>
                                        <p:cTn id="48" dur="500"/>
                                        <p:tgtEl>
                                          <p:spTgt spid="70"/>
                                        </p:tgtEl>
                                      </p:cBhvr>
                                    </p:animEffect>
                                  </p:childTnLst>
                                </p:cTn>
                              </p:par>
                            </p:childTnLst>
                          </p:cTn>
                        </p:par>
                        <p:par>
                          <p:cTn id="49" fill="hold">
                            <p:stCondLst>
                              <p:cond delay="5500"/>
                            </p:stCondLst>
                            <p:childTnLst>
                              <p:par>
                                <p:cTn id="50" presetID="9" presetClass="entr" presetSubtype="0" fill="hold" nodeType="afterEffect">
                                  <p:stCondLst>
                                    <p:cond delay="0"/>
                                  </p:stCondLst>
                                  <p:childTnLst>
                                    <p:set>
                                      <p:cBhvr>
                                        <p:cTn id="51" dur="1" fill="hold">
                                          <p:stCondLst>
                                            <p:cond delay="0"/>
                                          </p:stCondLst>
                                        </p:cTn>
                                        <p:tgtEl>
                                          <p:spTgt spid="73"/>
                                        </p:tgtEl>
                                        <p:attrNameLst>
                                          <p:attrName>style.visibility</p:attrName>
                                        </p:attrNameLst>
                                      </p:cBhvr>
                                      <p:to>
                                        <p:strVal val="visible"/>
                                      </p:to>
                                    </p:set>
                                    <p:animEffect transition="in" filter="dissolve">
                                      <p:cBhvr>
                                        <p:cTn id="52" dur="500"/>
                                        <p:tgtEl>
                                          <p:spTgt spid="73"/>
                                        </p:tgtEl>
                                      </p:cBhvr>
                                    </p:animEffect>
                                  </p:childTnLst>
                                </p:cTn>
                              </p:par>
                            </p:childTnLst>
                          </p:cTn>
                        </p:par>
                        <p:par>
                          <p:cTn id="53" fill="hold">
                            <p:stCondLst>
                              <p:cond delay="6000"/>
                            </p:stCondLst>
                            <p:childTnLst>
                              <p:par>
                                <p:cTn id="54" presetID="9" presetClass="entr" presetSubtype="0" fill="hold" nodeType="afterEffect">
                                  <p:stCondLst>
                                    <p:cond delay="0"/>
                                  </p:stCondLst>
                                  <p:childTnLst>
                                    <p:set>
                                      <p:cBhvr>
                                        <p:cTn id="55" dur="1" fill="hold">
                                          <p:stCondLst>
                                            <p:cond delay="0"/>
                                          </p:stCondLst>
                                        </p:cTn>
                                        <p:tgtEl>
                                          <p:spTgt spid="72"/>
                                        </p:tgtEl>
                                        <p:attrNameLst>
                                          <p:attrName>style.visibility</p:attrName>
                                        </p:attrNameLst>
                                      </p:cBhvr>
                                      <p:to>
                                        <p:strVal val="visible"/>
                                      </p:to>
                                    </p:set>
                                    <p:animEffect transition="in" filter="dissolve">
                                      <p:cBhvr>
                                        <p:cTn id="56" dur="500"/>
                                        <p:tgtEl>
                                          <p:spTgt spid="72"/>
                                        </p:tgtEl>
                                      </p:cBhvr>
                                    </p:animEffect>
                                  </p:childTnLst>
                                </p:cTn>
                              </p:par>
                            </p:childTnLst>
                          </p:cTn>
                        </p:par>
                        <p:par>
                          <p:cTn id="57" fill="hold">
                            <p:stCondLst>
                              <p:cond delay="6500"/>
                            </p:stCondLst>
                            <p:childTnLst>
                              <p:par>
                                <p:cTn id="58" presetID="10" presetClass="exit" presetSubtype="0" fill="hold" nodeType="afterEffect">
                                  <p:stCondLst>
                                    <p:cond delay="0"/>
                                  </p:stCondLst>
                                  <p:childTnLst>
                                    <p:animEffect transition="out" filter="fade">
                                      <p:cBhvr>
                                        <p:cTn id="59" dur="2000"/>
                                        <p:tgtEl>
                                          <p:spTgt spid="4"/>
                                        </p:tgtEl>
                                      </p:cBhvr>
                                    </p:animEffect>
                                    <p:set>
                                      <p:cBhvr>
                                        <p:cTn id="60" dur="1" fill="hold">
                                          <p:stCondLst>
                                            <p:cond delay="1999"/>
                                          </p:stCondLst>
                                        </p:cTn>
                                        <p:tgtEl>
                                          <p:spTgt spid="4"/>
                                        </p:tgtEl>
                                        <p:attrNameLst>
                                          <p:attrName>style.visibility</p:attrName>
                                        </p:attrNameLst>
                                      </p:cBhvr>
                                      <p:to>
                                        <p:strVal val="hidden"/>
                                      </p:to>
                                    </p:set>
                                  </p:childTnLst>
                                </p:cTn>
                              </p:par>
                              <p:par>
                                <p:cTn id="61" presetID="10" presetClass="exit" presetSubtype="0" fill="hold" grpId="2" nodeType="withEffect">
                                  <p:stCondLst>
                                    <p:cond delay="0"/>
                                  </p:stCondLst>
                                  <p:childTnLst>
                                    <p:animEffect transition="out" filter="fade">
                                      <p:cBhvr>
                                        <p:cTn id="62" dur="2000"/>
                                        <p:tgtEl>
                                          <p:spTgt spid="21"/>
                                        </p:tgtEl>
                                      </p:cBhvr>
                                    </p:animEffect>
                                    <p:set>
                                      <p:cBhvr>
                                        <p:cTn id="63" dur="1" fill="hold">
                                          <p:stCondLst>
                                            <p:cond delay="19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1" grpId="1"/>
      <p:bldP spid="21" grpId="2"/>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5"/>
          <p:cNvGrpSpPr>
            <a:grpSpLocks/>
          </p:cNvGrpSpPr>
          <p:nvPr/>
        </p:nvGrpSpPr>
        <p:grpSpPr bwMode="auto">
          <a:xfrm>
            <a:off x="5181600" y="2698750"/>
            <a:ext cx="1676400" cy="2608263"/>
            <a:chOff x="1676400" y="2052601"/>
            <a:chExt cx="1676400" cy="2608299"/>
          </a:xfrm>
        </p:grpSpPr>
        <p:pic>
          <p:nvPicPr>
            <p:cNvPr id="5" name="Picture 9" descr="small_server"/>
            <p:cNvPicPr>
              <a:picLocks noChangeAspect="1" noChangeArrowheads="1"/>
            </p:cNvPicPr>
            <p:nvPr/>
          </p:nvPicPr>
          <p:blipFill>
            <a:blip r:embed="rId2" cstate="print"/>
            <a:srcRect/>
            <a:stretch>
              <a:fillRect/>
            </a:stretch>
          </p:blipFill>
          <p:spPr bwMode="auto">
            <a:xfrm>
              <a:off x="1676400" y="2356148"/>
              <a:ext cx="1676400" cy="2304752"/>
            </a:xfrm>
            <a:prstGeom prst="rect">
              <a:avLst/>
            </a:prstGeom>
            <a:noFill/>
            <a:ln w="9525">
              <a:noFill/>
              <a:miter lim="800000"/>
              <a:headEnd/>
              <a:tailEnd/>
            </a:ln>
          </p:spPr>
        </p:pic>
        <p:pic>
          <p:nvPicPr>
            <p:cNvPr id="6" name="Picture 9" descr="arch3"/>
            <p:cNvPicPr>
              <a:picLocks noChangeAspect="1" noChangeArrowheads="1"/>
            </p:cNvPicPr>
            <p:nvPr/>
          </p:nvPicPr>
          <p:blipFill>
            <a:blip r:embed="rId3" cstate="print"/>
            <a:srcRect/>
            <a:stretch>
              <a:fillRect/>
            </a:stretch>
          </p:blipFill>
          <p:spPr bwMode="auto">
            <a:xfrm>
              <a:off x="1714500" y="2052601"/>
              <a:ext cx="1300170" cy="1057028"/>
            </a:xfrm>
            <a:prstGeom prst="rect">
              <a:avLst/>
            </a:prstGeom>
            <a:noFill/>
            <a:ln w="9525">
              <a:noFill/>
              <a:miter lim="800000"/>
              <a:headEnd/>
              <a:tailEnd/>
            </a:ln>
          </p:spPr>
        </p:pic>
      </p:grpSp>
      <p:grpSp>
        <p:nvGrpSpPr>
          <p:cNvPr id="7" name="Group 33"/>
          <p:cNvGrpSpPr>
            <a:grpSpLocks/>
          </p:cNvGrpSpPr>
          <p:nvPr/>
        </p:nvGrpSpPr>
        <p:grpSpPr bwMode="auto">
          <a:xfrm>
            <a:off x="5943600" y="3171825"/>
            <a:ext cx="1676400" cy="2608263"/>
            <a:chOff x="3695700" y="2057400"/>
            <a:chExt cx="1676400" cy="2608299"/>
          </a:xfrm>
        </p:grpSpPr>
        <p:pic>
          <p:nvPicPr>
            <p:cNvPr id="8" name="Picture 9" descr="small_server"/>
            <p:cNvPicPr>
              <a:picLocks noChangeAspect="1" noChangeArrowheads="1"/>
            </p:cNvPicPr>
            <p:nvPr/>
          </p:nvPicPr>
          <p:blipFill>
            <a:blip r:embed="rId2" cstate="print"/>
            <a:srcRect/>
            <a:stretch>
              <a:fillRect/>
            </a:stretch>
          </p:blipFill>
          <p:spPr bwMode="auto">
            <a:xfrm>
              <a:off x="3695700" y="2360947"/>
              <a:ext cx="1676400" cy="2304752"/>
            </a:xfrm>
            <a:prstGeom prst="rect">
              <a:avLst/>
            </a:prstGeom>
            <a:noFill/>
            <a:ln w="9525">
              <a:noFill/>
              <a:miter lim="800000"/>
              <a:headEnd/>
              <a:tailEnd/>
            </a:ln>
          </p:spPr>
        </p:pic>
        <p:pic>
          <p:nvPicPr>
            <p:cNvPr id="9" name="Picture 9" descr="arch3"/>
            <p:cNvPicPr>
              <a:picLocks noChangeAspect="1" noChangeArrowheads="1"/>
            </p:cNvPicPr>
            <p:nvPr/>
          </p:nvPicPr>
          <p:blipFill>
            <a:blip r:embed="rId3" cstate="print"/>
            <a:srcRect/>
            <a:stretch>
              <a:fillRect/>
            </a:stretch>
          </p:blipFill>
          <p:spPr bwMode="auto">
            <a:xfrm>
              <a:off x="3733800" y="2057400"/>
              <a:ext cx="1300170" cy="1057028"/>
            </a:xfrm>
            <a:prstGeom prst="rect">
              <a:avLst/>
            </a:prstGeom>
            <a:noFill/>
            <a:ln w="9525">
              <a:noFill/>
              <a:miter lim="800000"/>
              <a:headEnd/>
              <a:tailEnd/>
            </a:ln>
          </p:spPr>
        </p:pic>
      </p:grpSp>
      <p:grpSp>
        <p:nvGrpSpPr>
          <p:cNvPr id="21" name="Group 32"/>
          <p:cNvGrpSpPr>
            <a:grpSpLocks/>
          </p:cNvGrpSpPr>
          <p:nvPr/>
        </p:nvGrpSpPr>
        <p:grpSpPr bwMode="auto">
          <a:xfrm>
            <a:off x="6787792" y="3692704"/>
            <a:ext cx="1676400" cy="2608263"/>
            <a:chOff x="5715000" y="2057400"/>
            <a:chExt cx="1676400" cy="2608299"/>
          </a:xfrm>
        </p:grpSpPr>
        <p:pic>
          <p:nvPicPr>
            <p:cNvPr id="22" name="Picture 9" descr="small_server"/>
            <p:cNvPicPr>
              <a:picLocks noChangeAspect="1" noChangeArrowheads="1"/>
            </p:cNvPicPr>
            <p:nvPr/>
          </p:nvPicPr>
          <p:blipFill>
            <a:blip r:embed="rId2" cstate="print"/>
            <a:srcRect/>
            <a:stretch>
              <a:fillRect/>
            </a:stretch>
          </p:blipFill>
          <p:spPr bwMode="auto">
            <a:xfrm>
              <a:off x="5715000" y="2360947"/>
              <a:ext cx="1676400" cy="2304752"/>
            </a:xfrm>
            <a:prstGeom prst="rect">
              <a:avLst/>
            </a:prstGeom>
            <a:noFill/>
            <a:ln w="9525">
              <a:noFill/>
              <a:miter lim="800000"/>
              <a:headEnd/>
              <a:tailEnd/>
            </a:ln>
          </p:spPr>
        </p:pic>
        <p:pic>
          <p:nvPicPr>
            <p:cNvPr id="23" name="Picture 9" descr="arch3"/>
            <p:cNvPicPr>
              <a:picLocks noChangeAspect="1" noChangeArrowheads="1"/>
            </p:cNvPicPr>
            <p:nvPr/>
          </p:nvPicPr>
          <p:blipFill>
            <a:blip r:embed="rId3" cstate="print"/>
            <a:srcRect/>
            <a:stretch>
              <a:fillRect/>
            </a:stretch>
          </p:blipFill>
          <p:spPr bwMode="auto">
            <a:xfrm>
              <a:off x="5753100" y="2057400"/>
              <a:ext cx="1300170" cy="1057028"/>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dirty="0" smtClean="0"/>
              <a:t>Availability in Virtualization</a:t>
            </a:r>
            <a:endParaRPr lang="en-US" dirty="0"/>
          </a:p>
        </p:txBody>
      </p:sp>
      <p:pic>
        <p:nvPicPr>
          <p:cNvPr id="10" name="Picture 27" descr="VMware-Infra"/>
          <p:cNvPicPr>
            <a:picLocks noChangeAspect="1" noChangeArrowheads="1"/>
          </p:cNvPicPr>
          <p:nvPr/>
        </p:nvPicPr>
        <p:blipFill>
          <a:blip r:embed="rId4" cstate="print"/>
          <a:srcRect/>
          <a:stretch>
            <a:fillRect/>
          </a:stretch>
        </p:blipFill>
        <p:spPr bwMode="auto">
          <a:xfrm>
            <a:off x="5151438" y="2401888"/>
            <a:ext cx="3001962" cy="2036762"/>
          </a:xfrm>
          <a:prstGeom prst="rect">
            <a:avLst/>
          </a:prstGeom>
          <a:noFill/>
          <a:ln w="9525">
            <a:noFill/>
            <a:miter lim="800000"/>
            <a:headEnd/>
            <a:tailEnd/>
          </a:ln>
        </p:spPr>
      </p:pic>
      <p:pic>
        <p:nvPicPr>
          <p:cNvPr id="11" name="Picture 14" descr="OS_revised"/>
          <p:cNvPicPr>
            <a:picLocks noChangeAspect="1" noChangeArrowheads="1"/>
          </p:cNvPicPr>
          <p:nvPr/>
        </p:nvPicPr>
        <p:blipFill>
          <a:blip r:embed="rId5" cstate="print"/>
          <a:srcRect/>
          <a:stretch>
            <a:fillRect/>
          </a:stretch>
        </p:blipFill>
        <p:spPr bwMode="auto">
          <a:xfrm>
            <a:off x="5631522" y="1660346"/>
            <a:ext cx="530225" cy="1296988"/>
          </a:xfrm>
          <a:prstGeom prst="rect">
            <a:avLst/>
          </a:prstGeom>
          <a:noFill/>
          <a:ln w="9525">
            <a:noFill/>
            <a:miter lim="800000"/>
            <a:headEnd/>
            <a:tailEnd/>
          </a:ln>
        </p:spPr>
      </p:pic>
      <p:pic>
        <p:nvPicPr>
          <p:cNvPr id="12" name="Picture 14" descr="OS_revised"/>
          <p:cNvPicPr>
            <a:picLocks noChangeAspect="1" noChangeArrowheads="1"/>
          </p:cNvPicPr>
          <p:nvPr/>
        </p:nvPicPr>
        <p:blipFill>
          <a:blip r:embed="rId5" cstate="print"/>
          <a:srcRect/>
          <a:stretch>
            <a:fillRect/>
          </a:stretch>
        </p:blipFill>
        <p:spPr bwMode="auto">
          <a:xfrm>
            <a:off x="6403796" y="2102599"/>
            <a:ext cx="530225" cy="1296988"/>
          </a:xfrm>
          <a:prstGeom prst="rect">
            <a:avLst/>
          </a:prstGeom>
          <a:noFill/>
          <a:ln w="9525">
            <a:noFill/>
            <a:miter lim="800000"/>
            <a:headEnd/>
            <a:tailEnd/>
          </a:ln>
          <a:effectLst>
            <a:outerShdw blurRad="50800" dist="50800" dir="5400000" algn="ctr" rotWithShape="0">
              <a:srgbClr val="000000">
                <a:alpha val="25000"/>
              </a:srgbClr>
            </a:outerShdw>
          </a:effectLst>
        </p:spPr>
      </p:pic>
      <p:pic>
        <p:nvPicPr>
          <p:cNvPr id="13" name="Picture 144" descr="GEAR1"/>
          <p:cNvPicPr>
            <a:picLocks noChangeAspect="1" noChangeArrowheads="1"/>
          </p:cNvPicPr>
          <p:nvPr/>
        </p:nvPicPr>
        <p:blipFill>
          <a:blip r:embed="rId6" cstate="print"/>
          <a:srcRect/>
          <a:stretch>
            <a:fillRect/>
          </a:stretch>
        </p:blipFill>
        <p:spPr bwMode="auto">
          <a:xfrm>
            <a:off x="6060896" y="2315324"/>
            <a:ext cx="425450" cy="425450"/>
          </a:xfrm>
          <a:prstGeom prst="rect">
            <a:avLst/>
          </a:prstGeom>
          <a:noFill/>
          <a:ln w="9525">
            <a:noFill/>
            <a:miter lim="800000"/>
            <a:headEnd/>
            <a:tailEnd/>
          </a:ln>
        </p:spPr>
      </p:pic>
      <p:sp>
        <p:nvSpPr>
          <p:cNvPr id="14" name="Rectangle 13"/>
          <p:cNvSpPr/>
          <p:nvPr/>
        </p:nvSpPr>
        <p:spPr>
          <a:xfrm>
            <a:off x="4800600" y="3676650"/>
            <a:ext cx="1249363" cy="1108075"/>
          </a:xfrm>
          <a:prstGeom prst="rect">
            <a:avLst/>
          </a:prstGeom>
        </p:spPr>
        <p:txBody>
          <a:bodyPr>
            <a:spAutoFit/>
          </a:bodyPr>
          <a:lstStyle/>
          <a:p>
            <a:pPr algn="ctr">
              <a:lnSpc>
                <a:spcPct val="90000"/>
              </a:lnSpc>
            </a:pPr>
            <a:r>
              <a:rPr lang="en-US" sz="6600" b="1">
                <a:solidFill>
                  <a:srgbClr val="EB2629"/>
                </a:solidFill>
                <a:latin typeface="Arial Black" pitchFamily="34" charset="0"/>
                <a:ea typeface="Arial Unicode MS" pitchFamily="34" charset="-128"/>
                <a:cs typeface="Arial Unicode MS" pitchFamily="34" charset="-128"/>
              </a:rPr>
              <a:t>X</a:t>
            </a:r>
          </a:p>
        </p:txBody>
      </p:sp>
      <p:pic>
        <p:nvPicPr>
          <p:cNvPr id="15" name="Picture 27" descr="ICON_Laptop_NoShadow_Q207"/>
          <p:cNvPicPr>
            <a:picLocks noChangeAspect="1" noChangeArrowheads="1"/>
          </p:cNvPicPr>
          <p:nvPr/>
        </p:nvPicPr>
        <p:blipFill>
          <a:blip r:embed="rId7" cstate="print"/>
          <a:srcRect/>
          <a:stretch>
            <a:fillRect/>
          </a:stretch>
        </p:blipFill>
        <p:spPr bwMode="auto">
          <a:xfrm>
            <a:off x="2743200" y="2762250"/>
            <a:ext cx="1285875" cy="1619250"/>
          </a:xfrm>
          <a:prstGeom prst="rect">
            <a:avLst/>
          </a:prstGeom>
          <a:noFill/>
          <a:ln w="9525">
            <a:noFill/>
            <a:miter lim="800000"/>
            <a:headEnd/>
            <a:tailEnd/>
          </a:ln>
        </p:spPr>
      </p:pic>
      <p:cxnSp>
        <p:nvCxnSpPr>
          <p:cNvPr id="16" name="Straight Arrow Connector 15"/>
          <p:cNvCxnSpPr>
            <a:cxnSpLocks noChangeShapeType="1"/>
          </p:cNvCxnSpPr>
          <p:nvPr/>
        </p:nvCxnSpPr>
        <p:spPr bwMode="auto">
          <a:xfrm flipV="1">
            <a:off x="3810000" y="2381250"/>
            <a:ext cx="1905000" cy="533400"/>
          </a:xfrm>
          <a:prstGeom prst="straightConnector1">
            <a:avLst/>
          </a:prstGeom>
          <a:noFill/>
          <a:ln w="31750" algn="ctr">
            <a:solidFill>
              <a:schemeClr val="tx1"/>
            </a:solidFill>
            <a:prstDash val="sysDash"/>
            <a:round/>
            <a:headEnd type="arrow" w="med" len="med"/>
            <a:tailEnd type="arrow" w="med" len="med"/>
          </a:ln>
        </p:spPr>
      </p:cxnSp>
      <p:cxnSp>
        <p:nvCxnSpPr>
          <p:cNvPr id="17" name="Straight Arrow Connector 16"/>
          <p:cNvCxnSpPr>
            <a:cxnSpLocks noChangeShapeType="1"/>
          </p:cNvCxnSpPr>
          <p:nvPr/>
        </p:nvCxnSpPr>
        <p:spPr bwMode="auto">
          <a:xfrm flipV="1">
            <a:off x="3810000" y="2838450"/>
            <a:ext cx="2667000" cy="76200"/>
          </a:xfrm>
          <a:prstGeom prst="straightConnector1">
            <a:avLst/>
          </a:prstGeom>
          <a:noFill/>
          <a:ln w="31750" algn="ctr">
            <a:solidFill>
              <a:schemeClr val="tx1"/>
            </a:solidFill>
            <a:prstDash val="sysDash"/>
            <a:round/>
            <a:headEnd type="arrow" w="med" len="med"/>
            <a:tailEnd type="arrow" w="med" len="med"/>
          </a:ln>
        </p:spPr>
      </p:cxnSp>
      <p:pic>
        <p:nvPicPr>
          <p:cNvPr id="18" name="Picture 14" descr="OS_revised"/>
          <p:cNvPicPr>
            <a:picLocks noChangeAspect="1" noChangeArrowheads="1"/>
          </p:cNvPicPr>
          <p:nvPr/>
        </p:nvPicPr>
        <p:blipFill>
          <a:blip r:embed="rId5" cstate="print"/>
          <a:srcRect/>
          <a:stretch>
            <a:fillRect/>
          </a:stretch>
        </p:blipFill>
        <p:spPr bwMode="auto">
          <a:xfrm>
            <a:off x="7246278" y="2592868"/>
            <a:ext cx="530225" cy="1296988"/>
          </a:xfrm>
          <a:prstGeom prst="rect">
            <a:avLst/>
          </a:prstGeom>
          <a:noFill/>
          <a:ln w="9525">
            <a:noFill/>
            <a:miter lim="800000"/>
            <a:headEnd/>
            <a:tailEnd/>
          </a:ln>
        </p:spPr>
      </p:pic>
      <p:pic>
        <p:nvPicPr>
          <p:cNvPr id="19" name="Picture 144" descr="GEAR1"/>
          <p:cNvPicPr>
            <a:picLocks noChangeAspect="1" noChangeArrowheads="1"/>
          </p:cNvPicPr>
          <p:nvPr/>
        </p:nvPicPr>
        <p:blipFill>
          <a:blip r:embed="rId6" cstate="print"/>
          <a:srcRect/>
          <a:stretch>
            <a:fillRect/>
          </a:stretch>
        </p:blipFill>
        <p:spPr bwMode="auto">
          <a:xfrm>
            <a:off x="6858000" y="2762250"/>
            <a:ext cx="425450" cy="425450"/>
          </a:xfrm>
          <a:prstGeom prst="rect">
            <a:avLst/>
          </a:prstGeom>
          <a:noFill/>
          <a:ln w="9525">
            <a:noFill/>
            <a:miter lim="800000"/>
            <a:headEnd/>
            <a:tailEnd/>
          </a:ln>
        </p:spPr>
      </p:pic>
      <p:sp>
        <p:nvSpPr>
          <p:cNvPr id="20" name="TextBox 19"/>
          <p:cNvSpPr txBox="1"/>
          <p:nvPr/>
        </p:nvSpPr>
        <p:spPr>
          <a:xfrm>
            <a:off x="304800" y="4419600"/>
            <a:ext cx="4800600" cy="840230"/>
          </a:xfrm>
          <a:prstGeom prst="rect">
            <a:avLst/>
          </a:prstGeom>
          <a:noFill/>
        </p:spPr>
        <p:txBody>
          <a:bodyPr wrap="square">
            <a:spAutoFit/>
          </a:bodyPr>
          <a:lstStyle/>
          <a:p>
            <a:pPr algn="ctr">
              <a:lnSpc>
                <a:spcPct val="90000"/>
              </a:lnSpc>
              <a:defRPr/>
            </a:pPr>
            <a:r>
              <a:rPr lang="en-US" dirty="0">
                <a:solidFill>
                  <a:schemeClr val="accent3">
                    <a:lumMod val="50000"/>
                  </a:schemeClr>
                </a:solidFill>
                <a:latin typeface="Cambria" pitchFamily="18" charset="0"/>
              </a:rPr>
              <a:t>Application protection against hardware failures, with NO down time that is Application and Operating System Independent</a:t>
            </a:r>
            <a:r>
              <a:rPr lang="en-US" sz="1400" b="1" dirty="0">
                <a:solidFill>
                  <a:schemeClr val="tx1">
                    <a:lumMod val="65000"/>
                    <a:lumOff val="35000"/>
                  </a:schemeClr>
                </a:solidFill>
                <a:ea typeface="Arial Unicode MS" pitchFamily="34" charset="-128"/>
              </a:rPr>
              <a:t>.</a:t>
            </a:r>
          </a:p>
        </p:txBody>
      </p:sp>
      <p:sp>
        <p:nvSpPr>
          <p:cNvPr id="24" name="Content Placeholder 2"/>
          <p:cNvSpPr>
            <a:spLocks noGrp="1"/>
          </p:cNvSpPr>
          <p:nvPr>
            <p:ph idx="1"/>
          </p:nvPr>
        </p:nvSpPr>
        <p:spPr>
          <a:xfrm>
            <a:off x="457200" y="1828800"/>
            <a:ext cx="4114800" cy="533400"/>
          </a:xfrm>
        </p:spPr>
        <p:txBody>
          <a:bodyPr/>
          <a:lstStyle/>
          <a:p>
            <a:r>
              <a:rPr lang="en-US" dirty="0" smtClean="0"/>
              <a:t>Fail over technique</a:t>
            </a:r>
          </a:p>
        </p:txBody>
      </p:sp>
      <p:sp>
        <p:nvSpPr>
          <p:cNvPr id="25" name="TextBox 24"/>
          <p:cNvSpPr txBox="1"/>
          <p:nvPr/>
        </p:nvSpPr>
        <p:spPr>
          <a:xfrm>
            <a:off x="6096000" y="1795046"/>
            <a:ext cx="1154355" cy="338554"/>
          </a:xfrm>
          <a:prstGeom prst="rect">
            <a:avLst/>
          </a:prstGeom>
          <a:noFill/>
        </p:spPr>
        <p:txBody>
          <a:bodyPr wrap="none" rtlCol="0">
            <a:spAutoFit/>
          </a:bodyPr>
          <a:lstStyle/>
          <a:p>
            <a:r>
              <a:rPr lang="en-US" sz="1600" b="1" i="1" dirty="0" smtClean="0">
                <a:effectLst>
                  <a:outerShdw blurRad="50800" dist="38100" dir="2700000" algn="tl" rotWithShape="0">
                    <a:prstClr val="black">
                      <a:alpha val="40000"/>
                    </a:prstClr>
                  </a:outerShdw>
                </a:effectLst>
              </a:rPr>
              <a:t>Backup VM</a:t>
            </a:r>
            <a:endParaRPr lang="en-US" sz="1600" b="1" i="1" dirty="0">
              <a:effectLst>
                <a:outerShdw blurRad="50800" dist="38100" dir="2700000" algn="tl" rotWithShape="0">
                  <a:prstClr val="black">
                    <a:alpha val="40000"/>
                  </a:prstClr>
                </a:outerShdw>
              </a:effectLst>
            </a:endParaRPr>
          </a:p>
        </p:txBody>
      </p:sp>
      <p:sp>
        <p:nvSpPr>
          <p:cNvPr id="26" name="TextBox 25"/>
          <p:cNvSpPr txBox="1"/>
          <p:nvPr/>
        </p:nvSpPr>
        <p:spPr>
          <a:xfrm>
            <a:off x="6934200" y="2306548"/>
            <a:ext cx="1154355" cy="338554"/>
          </a:xfrm>
          <a:prstGeom prst="rect">
            <a:avLst/>
          </a:prstGeom>
          <a:noFill/>
        </p:spPr>
        <p:txBody>
          <a:bodyPr wrap="none" rtlCol="0">
            <a:spAutoFit/>
          </a:bodyPr>
          <a:lstStyle/>
          <a:p>
            <a:r>
              <a:rPr lang="en-US" sz="1600" b="1" i="1" dirty="0" smtClean="0">
                <a:effectLst>
                  <a:outerShdw blurRad="50800" dist="38100" dir="2700000" algn="tl" rotWithShape="0">
                    <a:prstClr val="black">
                      <a:alpha val="40000"/>
                    </a:prstClr>
                  </a:outerShdw>
                </a:effectLst>
              </a:rPr>
              <a:t>Backup VM</a:t>
            </a:r>
            <a:endParaRPr lang="en-US" sz="1600" b="1" i="1" dirty="0">
              <a:effectLst>
                <a:outerShdw blurRad="50800" dist="38100" dir="2700000" algn="tl" rotWithShape="0">
                  <a:prstClr val="black">
                    <a:alpha val="40000"/>
                  </a:prst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9" presetClass="emph" presetSubtype="0" nodeType="withEffect">
                                  <p:stCondLst>
                                    <p:cond delay="0"/>
                                  </p:stCondLst>
                                  <p:childTnLst>
                                    <p:set>
                                      <p:cBhvr rctx="PPT">
                                        <p:cTn id="9" dur="indefinite"/>
                                        <p:tgtEl>
                                          <p:spTgt spid="12"/>
                                        </p:tgtEl>
                                        <p:attrNameLst>
                                          <p:attrName>style.opacity</p:attrName>
                                        </p:attrNameLst>
                                      </p:cBhvr>
                                      <p:to>
                                        <p:strVal val="0.5"/>
                                      </p:to>
                                    </p:set>
                                    <p:animEffect filter="image" prLst="opacity: 0.5">
                                      <p:cBhvr rctx="IE">
                                        <p:cTn id="10" dur="indefinite"/>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childTnLst>
                                </p:cTn>
                              </p:par>
                            </p:childTnLst>
                          </p:cTn>
                        </p:par>
                        <p:par>
                          <p:cTn id="18" fill="hold">
                            <p:stCondLst>
                              <p:cond delay="1500"/>
                            </p:stCondLst>
                            <p:childTnLst>
                              <p:par>
                                <p:cTn id="19" presetID="8" presetClass="emph" presetSubtype="0" repeatCount="indefinite" fill="hold" nodeType="afterEffect">
                                  <p:stCondLst>
                                    <p:cond delay="0"/>
                                  </p:stCondLst>
                                  <p:childTnLst>
                                    <p:animRot by="21600000">
                                      <p:cBhvr>
                                        <p:cTn id="20" dur="2000" fill="hold"/>
                                        <p:tgtEl>
                                          <p:spTgt spid="13"/>
                                        </p:tgtEl>
                                        <p:attrNameLst>
                                          <p:attrName>r</p:attrName>
                                        </p:attrNameLst>
                                      </p:cBhvr>
                                    </p:animRo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000"/>
                                        <p:tgtEl>
                                          <p:spTgt spid="14"/>
                                        </p:tgtEl>
                                      </p:cBhvr>
                                    </p:animEffect>
                                  </p:childTnLst>
                                </p:cTn>
                              </p:par>
                              <p:par>
                                <p:cTn id="26" presetID="9" presetClass="emph" presetSubtype="0" nodeType="withEffect">
                                  <p:stCondLst>
                                    <p:cond delay="0"/>
                                  </p:stCondLst>
                                  <p:childTnLst>
                                    <p:set>
                                      <p:cBhvr rctx="PPT">
                                        <p:cTn id="27" dur="indefinite"/>
                                        <p:tgtEl>
                                          <p:spTgt spid="4"/>
                                        </p:tgtEl>
                                        <p:attrNameLst>
                                          <p:attrName>style.opacity</p:attrName>
                                        </p:attrNameLst>
                                      </p:cBhvr>
                                      <p:to>
                                        <p:strVal val="0.25"/>
                                      </p:to>
                                    </p:set>
                                    <p:animEffect filter="image" prLst="opacity: 0.25">
                                      <p:cBhvr rctx="IE">
                                        <p:cTn id="28" dur="indefinite"/>
                                        <p:tgtEl>
                                          <p:spTgt spid="4"/>
                                        </p:tgtEl>
                                      </p:cBhvr>
                                    </p:animEffect>
                                  </p:childTnLst>
                                </p:cTn>
                              </p:par>
                              <p:par>
                                <p:cTn id="29" presetID="9" presetClass="emph" presetSubtype="0" nodeType="withEffect">
                                  <p:stCondLst>
                                    <p:cond delay="0"/>
                                  </p:stCondLst>
                                  <p:childTnLst>
                                    <p:set>
                                      <p:cBhvr rctx="PPT">
                                        <p:cTn id="30" dur="indefinite"/>
                                        <p:tgtEl>
                                          <p:spTgt spid="12"/>
                                        </p:tgtEl>
                                        <p:attrNameLst>
                                          <p:attrName>style.opacity</p:attrName>
                                        </p:attrNameLst>
                                      </p:cBhvr>
                                      <p:to>
                                        <p:strVal val="1"/>
                                      </p:to>
                                    </p:set>
                                    <p:animEffect filter="image" prLst="opacity: 1">
                                      <p:cBhvr rctx="IE">
                                        <p:cTn id="31" dur="indefinite"/>
                                        <p:tgtEl>
                                          <p:spTgt spid="12"/>
                                        </p:tgtEl>
                                      </p:cBhvr>
                                    </p:animEffect>
                                  </p:childTnLst>
                                </p:cTn>
                              </p:par>
                              <p:par>
                                <p:cTn id="32" presetID="1" presetClass="exit" presetSubtype="0" fill="hold" nodeType="withEffect">
                                  <p:stCondLst>
                                    <p:cond delay="0"/>
                                  </p:stCondLst>
                                  <p:childTnLst>
                                    <p:set>
                                      <p:cBhvr>
                                        <p:cTn id="33" dur="1" fill="hold">
                                          <p:stCondLst>
                                            <p:cond delay="0"/>
                                          </p:stCondLst>
                                        </p:cTn>
                                        <p:tgtEl>
                                          <p:spTgt spid="13"/>
                                        </p:tgtEl>
                                        <p:attrNameLst>
                                          <p:attrName>style.visibility</p:attrName>
                                        </p:attrNameLst>
                                      </p:cBhvr>
                                      <p:to>
                                        <p:strVal val="hidden"/>
                                      </p:to>
                                    </p:set>
                                  </p:childTnLst>
                                </p:cTn>
                              </p:par>
                              <p:par>
                                <p:cTn id="34" presetID="10" presetClass="exit" presetSubtype="0" fill="hold" grpId="1" nodeType="withEffect">
                                  <p:stCondLst>
                                    <p:cond delay="0"/>
                                  </p:stCondLst>
                                  <p:childTnLst>
                                    <p:animEffect transition="out" filter="fade">
                                      <p:cBhvr>
                                        <p:cTn id="35" dur="1000"/>
                                        <p:tgtEl>
                                          <p:spTgt spid="25"/>
                                        </p:tgtEl>
                                      </p:cBhvr>
                                    </p:animEffect>
                                    <p:set>
                                      <p:cBhvr>
                                        <p:cTn id="36" dur="1" fill="hold">
                                          <p:stCondLst>
                                            <p:cond delay="999"/>
                                          </p:stCondLst>
                                        </p:cTn>
                                        <p:tgtEl>
                                          <p:spTgt spid="25"/>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1000"/>
                                        <p:tgtEl>
                                          <p:spTgt spid="11"/>
                                        </p:tgtEl>
                                      </p:cBhvr>
                                    </p:animEffect>
                                    <p:set>
                                      <p:cBhvr>
                                        <p:cTn id="39" dur="1" fill="hold">
                                          <p:stCondLst>
                                            <p:cond delay="999"/>
                                          </p:stCondLst>
                                        </p:cTn>
                                        <p:tgtEl>
                                          <p:spTgt spid="11"/>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childTnLst>
                                </p:cTn>
                              </p:par>
                              <p:par>
                                <p:cTn id="43" presetID="10" presetClass="exit" presetSubtype="0" fill="hold" nodeType="withEffect">
                                  <p:stCondLst>
                                    <p:cond delay="0"/>
                                  </p:stCondLst>
                                  <p:childTnLst>
                                    <p:animEffect transition="out" filter="fade">
                                      <p:cBhvr>
                                        <p:cTn id="44" dur="1000"/>
                                        <p:tgtEl>
                                          <p:spTgt spid="16"/>
                                        </p:tgtEl>
                                      </p:cBhvr>
                                    </p:animEffect>
                                    <p:set>
                                      <p:cBhvr>
                                        <p:cTn id="45" dur="1" fill="hold">
                                          <p:stCondLst>
                                            <p:cond delay="999"/>
                                          </p:stCondLst>
                                        </p:cTn>
                                        <p:tgtEl>
                                          <p:spTgt spid="16"/>
                                        </p:tgtEl>
                                        <p:attrNameLst>
                                          <p:attrName>style.visibility</p:attrName>
                                        </p:attrNameLst>
                                      </p:cBhvr>
                                      <p:to>
                                        <p:strVal val="hidden"/>
                                      </p:to>
                                    </p:se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1000"/>
                                        <p:tgtEl>
                                          <p:spTgt spid="19"/>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1000"/>
                                        <p:tgtEl>
                                          <p:spTgt spid="18"/>
                                        </p:tgtEl>
                                      </p:cBhvr>
                                    </p:animEffect>
                                  </p:childTnLst>
                                </p:cTn>
                              </p:par>
                              <p:par>
                                <p:cTn id="53" presetID="9" presetClass="emph" presetSubtype="0" nodeType="withEffect">
                                  <p:stCondLst>
                                    <p:cond delay="0"/>
                                  </p:stCondLst>
                                  <p:childTnLst>
                                    <p:set>
                                      <p:cBhvr rctx="PPT">
                                        <p:cTn id="54" dur="indefinite"/>
                                        <p:tgtEl>
                                          <p:spTgt spid="18"/>
                                        </p:tgtEl>
                                        <p:attrNameLst>
                                          <p:attrName>style.opacity</p:attrName>
                                        </p:attrNameLst>
                                      </p:cBhvr>
                                      <p:to>
                                        <p:strVal val="0.5"/>
                                      </p:to>
                                    </p:set>
                                    <p:animEffect filter="image" prLst="opacity: 0.5">
                                      <p:cBhvr rctx="IE">
                                        <p:cTn id="55" dur="indefinite"/>
                                        <p:tgtEl>
                                          <p:spTgt spid="18"/>
                                        </p:tgtEl>
                                      </p:cBhvr>
                                    </p:animEffect>
                                  </p:childTnLst>
                                </p:cTn>
                              </p:par>
                            </p:childTnLst>
                          </p:cTn>
                        </p:par>
                        <p:par>
                          <p:cTn id="56" fill="hold">
                            <p:stCondLst>
                              <p:cond delay="2000"/>
                            </p:stCondLst>
                            <p:childTnLst>
                              <p:par>
                                <p:cTn id="57" presetID="10" presetClass="entr" presetSubtype="0"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1000"/>
                                        <p:tgtEl>
                                          <p:spTgt spid="26"/>
                                        </p:tgtEl>
                                      </p:cBhvr>
                                    </p:animEffect>
                                  </p:childTnLst>
                                </p:cTn>
                              </p:par>
                            </p:childTnLst>
                          </p:cTn>
                        </p:par>
                        <p:par>
                          <p:cTn id="60" fill="hold">
                            <p:stCondLst>
                              <p:cond delay="3000"/>
                            </p:stCondLst>
                            <p:childTnLst>
                              <p:par>
                                <p:cTn id="61" presetID="8" presetClass="emph" presetSubtype="0" repeatCount="indefinite" fill="hold" nodeType="afterEffect">
                                  <p:stCondLst>
                                    <p:cond delay="0"/>
                                  </p:stCondLst>
                                  <p:childTnLst>
                                    <p:animRot by="21600000">
                                      <p:cBhvr>
                                        <p:cTn id="62" dur="2000" fill="hold"/>
                                        <p:tgtEl>
                                          <p:spTgt spid="1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5" grpId="0"/>
      <p:bldP spid="25" grpId="1"/>
      <p:bldP spid="26"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Manageability in Virtualization</a:t>
            </a:r>
            <a:endParaRPr lang="en-US" dirty="0"/>
          </a:p>
        </p:txBody>
      </p:sp>
      <p:sp>
        <p:nvSpPr>
          <p:cNvPr id="3" name="Content Placeholder 2"/>
          <p:cNvSpPr>
            <a:spLocks noGrp="1"/>
          </p:cNvSpPr>
          <p:nvPr>
            <p:ph idx="1"/>
          </p:nvPr>
        </p:nvSpPr>
        <p:spPr>
          <a:xfrm>
            <a:off x="457200" y="1600200"/>
            <a:ext cx="4419600" cy="4525963"/>
          </a:xfrm>
        </p:spPr>
        <p:txBody>
          <a:bodyPr/>
          <a:lstStyle/>
          <a:p>
            <a:r>
              <a:rPr lang="en-US" dirty="0" smtClean="0"/>
              <a:t>Provide physical to virtual translation :</a:t>
            </a:r>
          </a:p>
          <a:p>
            <a:pPr lvl="1"/>
            <a:r>
              <a:rPr lang="en-US" dirty="0" smtClean="0"/>
              <a:t>Consolidation Management with the VMware Infrastructure software will automate the migration from physical to virtual machines.</a:t>
            </a:r>
            <a:endParaRPr lang="en-US" dirty="0"/>
          </a:p>
        </p:txBody>
      </p:sp>
      <p:grpSp>
        <p:nvGrpSpPr>
          <p:cNvPr id="4" name="Group 35"/>
          <p:cNvGrpSpPr>
            <a:grpSpLocks/>
          </p:cNvGrpSpPr>
          <p:nvPr/>
        </p:nvGrpSpPr>
        <p:grpSpPr bwMode="auto">
          <a:xfrm>
            <a:off x="5181600" y="2814637"/>
            <a:ext cx="1676400" cy="2608263"/>
            <a:chOff x="1676400" y="2052601"/>
            <a:chExt cx="1676400" cy="2608299"/>
          </a:xfrm>
        </p:grpSpPr>
        <p:pic>
          <p:nvPicPr>
            <p:cNvPr id="5" name="Picture 9" descr="small_server"/>
            <p:cNvPicPr>
              <a:picLocks noChangeAspect="1" noChangeArrowheads="1"/>
            </p:cNvPicPr>
            <p:nvPr/>
          </p:nvPicPr>
          <p:blipFill>
            <a:blip r:embed="rId2" cstate="print"/>
            <a:srcRect/>
            <a:stretch>
              <a:fillRect/>
            </a:stretch>
          </p:blipFill>
          <p:spPr bwMode="auto">
            <a:xfrm>
              <a:off x="1676400" y="2356148"/>
              <a:ext cx="1676400" cy="2304752"/>
            </a:xfrm>
            <a:prstGeom prst="rect">
              <a:avLst/>
            </a:prstGeom>
            <a:noFill/>
            <a:ln w="9525">
              <a:noFill/>
              <a:miter lim="800000"/>
              <a:headEnd/>
              <a:tailEnd/>
            </a:ln>
          </p:spPr>
        </p:pic>
        <p:pic>
          <p:nvPicPr>
            <p:cNvPr id="6" name="Picture 9" descr="arch3"/>
            <p:cNvPicPr>
              <a:picLocks noChangeAspect="1" noChangeArrowheads="1"/>
            </p:cNvPicPr>
            <p:nvPr/>
          </p:nvPicPr>
          <p:blipFill>
            <a:blip r:embed="rId3" cstate="print"/>
            <a:srcRect/>
            <a:stretch>
              <a:fillRect/>
            </a:stretch>
          </p:blipFill>
          <p:spPr bwMode="auto">
            <a:xfrm>
              <a:off x="1714500" y="2052601"/>
              <a:ext cx="1300170" cy="1057028"/>
            </a:xfrm>
            <a:prstGeom prst="rect">
              <a:avLst/>
            </a:prstGeom>
            <a:noFill/>
            <a:ln w="9525">
              <a:noFill/>
              <a:miter lim="800000"/>
              <a:headEnd/>
              <a:tailEnd/>
            </a:ln>
          </p:spPr>
        </p:pic>
      </p:grpSp>
      <p:grpSp>
        <p:nvGrpSpPr>
          <p:cNvPr id="7" name="Group 33"/>
          <p:cNvGrpSpPr>
            <a:grpSpLocks/>
          </p:cNvGrpSpPr>
          <p:nvPr/>
        </p:nvGrpSpPr>
        <p:grpSpPr bwMode="auto">
          <a:xfrm>
            <a:off x="5943600" y="3287712"/>
            <a:ext cx="1676400" cy="2608263"/>
            <a:chOff x="3695700" y="2057400"/>
            <a:chExt cx="1676400" cy="2608299"/>
          </a:xfrm>
        </p:grpSpPr>
        <p:pic>
          <p:nvPicPr>
            <p:cNvPr id="8" name="Picture 9" descr="small_server"/>
            <p:cNvPicPr>
              <a:picLocks noChangeAspect="1" noChangeArrowheads="1"/>
            </p:cNvPicPr>
            <p:nvPr/>
          </p:nvPicPr>
          <p:blipFill>
            <a:blip r:embed="rId2" cstate="print"/>
            <a:srcRect/>
            <a:stretch>
              <a:fillRect/>
            </a:stretch>
          </p:blipFill>
          <p:spPr bwMode="auto">
            <a:xfrm>
              <a:off x="3695700" y="2360947"/>
              <a:ext cx="1676400" cy="2304752"/>
            </a:xfrm>
            <a:prstGeom prst="rect">
              <a:avLst/>
            </a:prstGeom>
            <a:noFill/>
            <a:ln w="9525">
              <a:noFill/>
              <a:miter lim="800000"/>
              <a:headEnd/>
              <a:tailEnd/>
            </a:ln>
          </p:spPr>
        </p:pic>
        <p:pic>
          <p:nvPicPr>
            <p:cNvPr id="9" name="Picture 9" descr="arch3"/>
            <p:cNvPicPr>
              <a:picLocks noChangeAspect="1" noChangeArrowheads="1"/>
            </p:cNvPicPr>
            <p:nvPr/>
          </p:nvPicPr>
          <p:blipFill>
            <a:blip r:embed="rId3" cstate="print"/>
            <a:srcRect/>
            <a:stretch>
              <a:fillRect/>
            </a:stretch>
          </p:blipFill>
          <p:spPr bwMode="auto">
            <a:xfrm>
              <a:off x="3733800" y="2057400"/>
              <a:ext cx="1300170" cy="1057028"/>
            </a:xfrm>
            <a:prstGeom prst="rect">
              <a:avLst/>
            </a:prstGeom>
            <a:noFill/>
            <a:ln w="9525">
              <a:noFill/>
              <a:miter lim="800000"/>
              <a:headEnd/>
              <a:tailEnd/>
            </a:ln>
          </p:spPr>
        </p:pic>
      </p:grpSp>
      <p:grpSp>
        <p:nvGrpSpPr>
          <p:cNvPr id="10" name="Group 32"/>
          <p:cNvGrpSpPr>
            <a:grpSpLocks/>
          </p:cNvGrpSpPr>
          <p:nvPr/>
        </p:nvGrpSpPr>
        <p:grpSpPr bwMode="auto">
          <a:xfrm>
            <a:off x="6790509" y="3786009"/>
            <a:ext cx="1676400" cy="2608263"/>
            <a:chOff x="5715000" y="2057400"/>
            <a:chExt cx="1676400" cy="2608299"/>
          </a:xfrm>
        </p:grpSpPr>
        <p:pic>
          <p:nvPicPr>
            <p:cNvPr id="11" name="Picture 9" descr="small_server"/>
            <p:cNvPicPr>
              <a:picLocks noChangeAspect="1" noChangeArrowheads="1"/>
            </p:cNvPicPr>
            <p:nvPr/>
          </p:nvPicPr>
          <p:blipFill>
            <a:blip r:embed="rId2" cstate="print"/>
            <a:srcRect/>
            <a:stretch>
              <a:fillRect/>
            </a:stretch>
          </p:blipFill>
          <p:spPr bwMode="auto">
            <a:xfrm>
              <a:off x="5715000" y="2360947"/>
              <a:ext cx="1676400" cy="2304752"/>
            </a:xfrm>
            <a:prstGeom prst="rect">
              <a:avLst/>
            </a:prstGeom>
            <a:noFill/>
            <a:ln w="9525">
              <a:noFill/>
              <a:miter lim="800000"/>
              <a:headEnd/>
              <a:tailEnd/>
            </a:ln>
          </p:spPr>
        </p:pic>
        <p:pic>
          <p:nvPicPr>
            <p:cNvPr id="12" name="Picture 9" descr="arch3"/>
            <p:cNvPicPr>
              <a:picLocks noChangeAspect="1" noChangeArrowheads="1"/>
            </p:cNvPicPr>
            <p:nvPr/>
          </p:nvPicPr>
          <p:blipFill>
            <a:blip r:embed="rId3" cstate="print"/>
            <a:srcRect/>
            <a:stretch>
              <a:fillRect/>
            </a:stretch>
          </p:blipFill>
          <p:spPr bwMode="auto">
            <a:xfrm>
              <a:off x="5753100" y="2057400"/>
              <a:ext cx="1300170" cy="1057028"/>
            </a:xfrm>
            <a:prstGeom prst="rect">
              <a:avLst/>
            </a:prstGeom>
            <a:noFill/>
            <a:ln w="9525">
              <a:noFill/>
              <a:miter lim="800000"/>
              <a:headEnd/>
              <a:tailEnd/>
            </a:ln>
          </p:spPr>
        </p:pic>
      </p:grpSp>
      <p:pic>
        <p:nvPicPr>
          <p:cNvPr id="13" name="Picture 27" descr="VMware-Infra"/>
          <p:cNvPicPr>
            <a:picLocks noChangeAspect="1" noChangeArrowheads="1"/>
          </p:cNvPicPr>
          <p:nvPr/>
        </p:nvPicPr>
        <p:blipFill>
          <a:blip r:embed="rId4" cstate="print"/>
          <a:srcRect/>
          <a:stretch>
            <a:fillRect/>
          </a:stretch>
        </p:blipFill>
        <p:spPr bwMode="auto">
          <a:xfrm>
            <a:off x="5151438" y="2497137"/>
            <a:ext cx="3001962" cy="2036763"/>
          </a:xfrm>
          <a:prstGeom prst="rect">
            <a:avLst/>
          </a:prstGeom>
          <a:noFill/>
          <a:ln w="9525">
            <a:noFill/>
            <a:miter lim="800000"/>
            <a:headEnd/>
            <a:tailEnd/>
          </a:ln>
        </p:spPr>
      </p:pic>
      <p:pic>
        <p:nvPicPr>
          <p:cNvPr id="14" name="Picture 15" descr="OS_revised"/>
          <p:cNvPicPr>
            <a:picLocks noChangeAspect="1" noChangeArrowheads="1"/>
          </p:cNvPicPr>
          <p:nvPr/>
        </p:nvPicPr>
        <p:blipFill>
          <a:blip r:embed="rId5" cstate="print"/>
          <a:srcRect/>
          <a:stretch>
            <a:fillRect/>
          </a:stretch>
        </p:blipFill>
        <p:spPr bwMode="auto">
          <a:xfrm>
            <a:off x="5829300" y="1737318"/>
            <a:ext cx="530225" cy="1296988"/>
          </a:xfrm>
          <a:prstGeom prst="rect">
            <a:avLst/>
          </a:prstGeom>
          <a:noFill/>
          <a:ln w="9525">
            <a:noFill/>
            <a:miter lim="800000"/>
            <a:headEnd/>
            <a:tailEnd/>
          </a:ln>
        </p:spPr>
      </p:pic>
      <p:pic>
        <p:nvPicPr>
          <p:cNvPr id="15" name="Picture 13" descr="OS_revised"/>
          <p:cNvPicPr>
            <a:picLocks noChangeAspect="1" noChangeArrowheads="1"/>
          </p:cNvPicPr>
          <p:nvPr/>
        </p:nvPicPr>
        <p:blipFill>
          <a:blip r:embed="rId5" cstate="print"/>
          <a:srcRect/>
          <a:stretch>
            <a:fillRect/>
          </a:stretch>
        </p:blipFill>
        <p:spPr bwMode="auto">
          <a:xfrm>
            <a:off x="1979613" y="3729037"/>
            <a:ext cx="531812" cy="1296988"/>
          </a:xfrm>
          <a:prstGeom prst="rect">
            <a:avLst/>
          </a:prstGeom>
          <a:noFill/>
          <a:ln w="9525">
            <a:noFill/>
            <a:miter lim="800000"/>
            <a:headEnd/>
            <a:tailEnd/>
          </a:ln>
        </p:spPr>
      </p:pic>
      <p:pic>
        <p:nvPicPr>
          <p:cNvPr id="16" name="Picture 15" descr="OS_revised"/>
          <p:cNvPicPr>
            <a:picLocks noChangeAspect="1" noChangeArrowheads="1"/>
          </p:cNvPicPr>
          <p:nvPr/>
        </p:nvPicPr>
        <p:blipFill>
          <a:blip r:embed="rId5" cstate="print"/>
          <a:srcRect/>
          <a:stretch>
            <a:fillRect/>
          </a:stretch>
        </p:blipFill>
        <p:spPr bwMode="auto">
          <a:xfrm>
            <a:off x="6591300" y="2132012"/>
            <a:ext cx="530225" cy="1296988"/>
          </a:xfrm>
          <a:prstGeom prst="rect">
            <a:avLst/>
          </a:prstGeom>
          <a:noFill/>
          <a:ln w="9525">
            <a:noFill/>
            <a:miter lim="800000"/>
            <a:headEnd/>
            <a:tailEnd/>
          </a:ln>
        </p:spPr>
      </p:pic>
      <p:pic>
        <p:nvPicPr>
          <p:cNvPr id="17" name="Picture 14" descr="OS_revised"/>
          <p:cNvPicPr>
            <a:picLocks noChangeAspect="1" noChangeArrowheads="1"/>
          </p:cNvPicPr>
          <p:nvPr/>
        </p:nvPicPr>
        <p:blipFill>
          <a:blip r:embed="rId5" cstate="print"/>
          <a:srcRect/>
          <a:stretch>
            <a:fillRect/>
          </a:stretch>
        </p:blipFill>
        <p:spPr bwMode="auto">
          <a:xfrm>
            <a:off x="6362700" y="2208212"/>
            <a:ext cx="530225" cy="1296988"/>
          </a:xfrm>
          <a:prstGeom prst="rect">
            <a:avLst/>
          </a:prstGeom>
          <a:noFill/>
          <a:ln w="9525">
            <a:noFill/>
            <a:miter lim="800000"/>
            <a:headEnd/>
            <a:tailEnd/>
          </a:ln>
        </p:spPr>
      </p:pic>
      <p:pic>
        <p:nvPicPr>
          <p:cNvPr id="18" name="Picture 15" descr="OS_revised"/>
          <p:cNvPicPr>
            <a:picLocks noChangeAspect="1" noChangeArrowheads="1"/>
          </p:cNvPicPr>
          <p:nvPr/>
        </p:nvPicPr>
        <p:blipFill>
          <a:blip r:embed="rId5" cstate="print"/>
          <a:srcRect/>
          <a:stretch>
            <a:fillRect/>
          </a:stretch>
        </p:blipFill>
        <p:spPr bwMode="auto">
          <a:xfrm>
            <a:off x="7373982" y="2563085"/>
            <a:ext cx="530225" cy="1296988"/>
          </a:xfrm>
          <a:prstGeom prst="rect">
            <a:avLst/>
          </a:prstGeom>
          <a:noFill/>
          <a:ln w="9525">
            <a:noFill/>
            <a:miter lim="800000"/>
            <a:headEnd/>
            <a:tailEnd/>
          </a:ln>
        </p:spPr>
      </p:pic>
      <p:pic>
        <p:nvPicPr>
          <p:cNvPr id="19" name="Picture 14" descr="OS_revised"/>
          <p:cNvPicPr>
            <a:picLocks noChangeAspect="1" noChangeArrowheads="1"/>
          </p:cNvPicPr>
          <p:nvPr/>
        </p:nvPicPr>
        <p:blipFill>
          <a:blip r:embed="rId5" cstate="print"/>
          <a:srcRect/>
          <a:stretch>
            <a:fillRect/>
          </a:stretch>
        </p:blipFill>
        <p:spPr bwMode="auto">
          <a:xfrm>
            <a:off x="7145382" y="2639285"/>
            <a:ext cx="530225" cy="1296988"/>
          </a:xfrm>
          <a:prstGeom prst="rect">
            <a:avLst/>
          </a:prstGeom>
          <a:noFill/>
          <a:ln w="9525">
            <a:noFill/>
            <a:miter lim="800000"/>
            <a:headEnd/>
            <a:tailEnd/>
          </a:ln>
        </p:spPr>
      </p:pic>
      <p:pic>
        <p:nvPicPr>
          <p:cNvPr id="20" name="Picture 9" descr="small_server"/>
          <p:cNvPicPr>
            <a:picLocks noChangeAspect="1" noChangeArrowheads="1"/>
          </p:cNvPicPr>
          <p:nvPr/>
        </p:nvPicPr>
        <p:blipFill>
          <a:blip r:embed="rId2" cstate="print"/>
          <a:srcRect/>
          <a:stretch>
            <a:fillRect/>
          </a:stretch>
        </p:blipFill>
        <p:spPr bwMode="auto">
          <a:xfrm>
            <a:off x="1436688" y="3371850"/>
            <a:ext cx="1677987" cy="23050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par>
                                <p:cTn id="8" presetID="56" presetClass="path" presetSubtype="0" accel="50000" decel="50000" fill="hold" nodeType="withEffect">
                                  <p:stCondLst>
                                    <p:cond delay="0"/>
                                  </p:stCondLst>
                                  <p:childTnLst>
                                    <p:animMotion origin="layout" path="M 3.88889E-6 -4.44444E-6 L 0.39288 -0.27731 " pathEditMode="relative" rAng="0" ptsTypes="AA">
                                      <p:cBhvr>
                                        <p:cTn id="9" dur="2000" fill="hold"/>
                                        <p:tgtEl>
                                          <p:spTgt spid="15"/>
                                        </p:tgtEl>
                                        <p:attrNameLst>
                                          <p:attrName>ppt_x</p:attrName>
                                          <p:attrName>ppt_y</p:attrName>
                                        </p:attrNameLst>
                                      </p:cBhvr>
                                      <p:rCtr x="196" y="-139"/>
                                    </p:animMotion>
                                  </p:childTnLst>
                                </p:cTn>
                              </p:par>
                            </p:childTnLst>
                          </p:cTn>
                        </p:par>
                        <p:par>
                          <p:cTn id="10" fill="hold">
                            <p:stCondLst>
                              <p:cond delay="2000"/>
                            </p:stCondLst>
                            <p:childTnLst>
                              <p:par>
                                <p:cTn id="11" presetID="10" presetClass="entr" presetSubtype="0" fill="hold" grpId="0"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in Virtualization</a:t>
            </a:r>
            <a:endParaRPr lang="en-US" dirty="0"/>
          </a:p>
        </p:txBody>
      </p:sp>
      <p:sp>
        <p:nvSpPr>
          <p:cNvPr id="3" name="Content Placeholder 2"/>
          <p:cNvSpPr>
            <a:spLocks noGrp="1"/>
          </p:cNvSpPr>
          <p:nvPr>
            <p:ph idx="1"/>
          </p:nvPr>
        </p:nvSpPr>
        <p:spPr>
          <a:xfrm>
            <a:off x="457200" y="1600201"/>
            <a:ext cx="4495800" cy="3048000"/>
          </a:xfrm>
        </p:spPr>
        <p:txBody>
          <a:bodyPr/>
          <a:lstStyle/>
          <a:p>
            <a:r>
              <a:rPr lang="en-US" dirty="0" smtClean="0"/>
              <a:t>Dynamic load balancing :</a:t>
            </a:r>
          </a:p>
          <a:p>
            <a:pPr lvl="1"/>
            <a:r>
              <a:rPr lang="en-US" dirty="0" smtClean="0"/>
              <a:t>VMware Distributed Resource Scheduler automatically balances the Workloads according to set limits and guarantees. </a:t>
            </a:r>
          </a:p>
          <a:p>
            <a:pPr lvl="1"/>
            <a:r>
              <a:rPr lang="en-US" dirty="0" smtClean="0"/>
              <a:t>Removing the need to predict resource assignment.</a:t>
            </a:r>
          </a:p>
          <a:p>
            <a:pPr lvl="1"/>
            <a:endParaRPr lang="en-US" dirty="0"/>
          </a:p>
        </p:txBody>
      </p:sp>
      <p:grpSp>
        <p:nvGrpSpPr>
          <p:cNvPr id="4" name="Group 35"/>
          <p:cNvGrpSpPr>
            <a:grpSpLocks/>
          </p:cNvGrpSpPr>
          <p:nvPr/>
        </p:nvGrpSpPr>
        <p:grpSpPr bwMode="auto">
          <a:xfrm>
            <a:off x="5364162" y="2890837"/>
            <a:ext cx="1676400" cy="2608263"/>
            <a:chOff x="1676400" y="2052601"/>
            <a:chExt cx="1676400" cy="2608299"/>
          </a:xfrm>
        </p:grpSpPr>
        <p:pic>
          <p:nvPicPr>
            <p:cNvPr id="5" name="Picture 9" descr="small_server"/>
            <p:cNvPicPr>
              <a:picLocks noChangeAspect="1" noChangeArrowheads="1"/>
            </p:cNvPicPr>
            <p:nvPr/>
          </p:nvPicPr>
          <p:blipFill>
            <a:blip r:embed="rId2" cstate="print"/>
            <a:srcRect/>
            <a:stretch>
              <a:fillRect/>
            </a:stretch>
          </p:blipFill>
          <p:spPr bwMode="auto">
            <a:xfrm>
              <a:off x="1676400" y="2356148"/>
              <a:ext cx="1676400" cy="2304752"/>
            </a:xfrm>
            <a:prstGeom prst="rect">
              <a:avLst/>
            </a:prstGeom>
            <a:noFill/>
            <a:ln w="9525">
              <a:noFill/>
              <a:miter lim="800000"/>
              <a:headEnd/>
              <a:tailEnd/>
            </a:ln>
          </p:spPr>
        </p:pic>
        <p:pic>
          <p:nvPicPr>
            <p:cNvPr id="6" name="Picture 9" descr="arch3"/>
            <p:cNvPicPr>
              <a:picLocks noChangeAspect="1" noChangeArrowheads="1"/>
            </p:cNvPicPr>
            <p:nvPr/>
          </p:nvPicPr>
          <p:blipFill>
            <a:blip r:embed="rId3" cstate="print"/>
            <a:srcRect/>
            <a:stretch>
              <a:fillRect/>
            </a:stretch>
          </p:blipFill>
          <p:spPr bwMode="auto">
            <a:xfrm>
              <a:off x="1714500" y="2052601"/>
              <a:ext cx="1300170" cy="1057028"/>
            </a:xfrm>
            <a:prstGeom prst="rect">
              <a:avLst/>
            </a:prstGeom>
            <a:noFill/>
            <a:ln w="9525">
              <a:noFill/>
              <a:miter lim="800000"/>
              <a:headEnd/>
              <a:tailEnd/>
            </a:ln>
          </p:spPr>
        </p:pic>
      </p:grpSp>
      <p:grpSp>
        <p:nvGrpSpPr>
          <p:cNvPr id="7" name="Group 33"/>
          <p:cNvGrpSpPr>
            <a:grpSpLocks/>
          </p:cNvGrpSpPr>
          <p:nvPr/>
        </p:nvGrpSpPr>
        <p:grpSpPr bwMode="auto">
          <a:xfrm>
            <a:off x="6126162" y="3363912"/>
            <a:ext cx="1676400" cy="2608263"/>
            <a:chOff x="3695700" y="2057400"/>
            <a:chExt cx="1676400" cy="2608299"/>
          </a:xfrm>
        </p:grpSpPr>
        <p:pic>
          <p:nvPicPr>
            <p:cNvPr id="8" name="Picture 9" descr="small_server"/>
            <p:cNvPicPr>
              <a:picLocks noChangeAspect="1" noChangeArrowheads="1"/>
            </p:cNvPicPr>
            <p:nvPr/>
          </p:nvPicPr>
          <p:blipFill>
            <a:blip r:embed="rId2" cstate="print"/>
            <a:srcRect/>
            <a:stretch>
              <a:fillRect/>
            </a:stretch>
          </p:blipFill>
          <p:spPr bwMode="auto">
            <a:xfrm>
              <a:off x="3695700" y="2360947"/>
              <a:ext cx="1676400" cy="2304752"/>
            </a:xfrm>
            <a:prstGeom prst="rect">
              <a:avLst/>
            </a:prstGeom>
            <a:noFill/>
            <a:ln w="9525">
              <a:noFill/>
              <a:miter lim="800000"/>
              <a:headEnd/>
              <a:tailEnd/>
            </a:ln>
          </p:spPr>
        </p:pic>
        <p:pic>
          <p:nvPicPr>
            <p:cNvPr id="9" name="Picture 9" descr="arch3"/>
            <p:cNvPicPr>
              <a:picLocks noChangeAspect="1" noChangeArrowheads="1"/>
            </p:cNvPicPr>
            <p:nvPr/>
          </p:nvPicPr>
          <p:blipFill>
            <a:blip r:embed="rId3" cstate="print"/>
            <a:srcRect/>
            <a:stretch>
              <a:fillRect/>
            </a:stretch>
          </p:blipFill>
          <p:spPr bwMode="auto">
            <a:xfrm>
              <a:off x="3733800" y="2057400"/>
              <a:ext cx="1300170" cy="1057028"/>
            </a:xfrm>
            <a:prstGeom prst="rect">
              <a:avLst/>
            </a:prstGeom>
            <a:noFill/>
            <a:ln w="9525">
              <a:noFill/>
              <a:miter lim="800000"/>
              <a:headEnd/>
              <a:tailEnd/>
            </a:ln>
          </p:spPr>
        </p:pic>
      </p:grpSp>
      <p:grpSp>
        <p:nvGrpSpPr>
          <p:cNvPr id="10" name="Group 32"/>
          <p:cNvGrpSpPr>
            <a:grpSpLocks/>
          </p:cNvGrpSpPr>
          <p:nvPr/>
        </p:nvGrpSpPr>
        <p:grpSpPr bwMode="auto">
          <a:xfrm>
            <a:off x="7040562" y="3792537"/>
            <a:ext cx="1676400" cy="2608263"/>
            <a:chOff x="5715000" y="2057400"/>
            <a:chExt cx="1676400" cy="2608299"/>
          </a:xfrm>
        </p:grpSpPr>
        <p:pic>
          <p:nvPicPr>
            <p:cNvPr id="11" name="Picture 9" descr="small_server"/>
            <p:cNvPicPr>
              <a:picLocks noChangeAspect="1" noChangeArrowheads="1"/>
            </p:cNvPicPr>
            <p:nvPr/>
          </p:nvPicPr>
          <p:blipFill>
            <a:blip r:embed="rId2" cstate="print"/>
            <a:srcRect/>
            <a:stretch>
              <a:fillRect/>
            </a:stretch>
          </p:blipFill>
          <p:spPr bwMode="auto">
            <a:xfrm>
              <a:off x="5715000" y="2360947"/>
              <a:ext cx="1676400" cy="2304752"/>
            </a:xfrm>
            <a:prstGeom prst="rect">
              <a:avLst/>
            </a:prstGeom>
            <a:noFill/>
            <a:ln w="9525">
              <a:noFill/>
              <a:miter lim="800000"/>
              <a:headEnd/>
              <a:tailEnd/>
            </a:ln>
          </p:spPr>
        </p:pic>
        <p:pic>
          <p:nvPicPr>
            <p:cNvPr id="12" name="Picture 9" descr="arch3"/>
            <p:cNvPicPr>
              <a:picLocks noChangeAspect="1" noChangeArrowheads="1"/>
            </p:cNvPicPr>
            <p:nvPr/>
          </p:nvPicPr>
          <p:blipFill>
            <a:blip r:embed="rId3" cstate="print"/>
            <a:srcRect/>
            <a:stretch>
              <a:fillRect/>
            </a:stretch>
          </p:blipFill>
          <p:spPr bwMode="auto">
            <a:xfrm>
              <a:off x="5753100" y="2057400"/>
              <a:ext cx="1300170" cy="1057028"/>
            </a:xfrm>
            <a:prstGeom prst="rect">
              <a:avLst/>
            </a:prstGeom>
            <a:noFill/>
            <a:ln w="9525">
              <a:noFill/>
              <a:miter lim="800000"/>
              <a:headEnd/>
              <a:tailEnd/>
            </a:ln>
          </p:spPr>
        </p:pic>
      </p:grpSp>
      <p:pic>
        <p:nvPicPr>
          <p:cNvPr id="13" name="Picture 27" descr="VMware-Infra"/>
          <p:cNvPicPr>
            <a:picLocks noChangeAspect="1" noChangeArrowheads="1"/>
          </p:cNvPicPr>
          <p:nvPr/>
        </p:nvPicPr>
        <p:blipFill>
          <a:blip r:embed="rId4" cstate="print"/>
          <a:srcRect/>
          <a:stretch>
            <a:fillRect/>
          </a:stretch>
        </p:blipFill>
        <p:spPr bwMode="auto">
          <a:xfrm>
            <a:off x="5334000" y="2573337"/>
            <a:ext cx="3001962" cy="2036763"/>
          </a:xfrm>
          <a:prstGeom prst="rect">
            <a:avLst/>
          </a:prstGeom>
          <a:noFill/>
          <a:ln w="9525">
            <a:noFill/>
            <a:miter lim="800000"/>
            <a:headEnd/>
            <a:tailEnd/>
          </a:ln>
        </p:spPr>
      </p:pic>
      <p:pic>
        <p:nvPicPr>
          <p:cNvPr id="14" name="Picture 15" descr="OS_revised"/>
          <p:cNvPicPr>
            <a:picLocks noChangeAspect="1" noChangeArrowheads="1"/>
          </p:cNvPicPr>
          <p:nvPr/>
        </p:nvPicPr>
        <p:blipFill>
          <a:blip r:embed="rId5" cstate="print"/>
          <a:srcRect/>
          <a:stretch>
            <a:fillRect/>
          </a:stretch>
        </p:blipFill>
        <p:spPr bwMode="auto">
          <a:xfrm>
            <a:off x="6855507" y="2182085"/>
            <a:ext cx="530225" cy="1296988"/>
          </a:xfrm>
          <a:prstGeom prst="rect">
            <a:avLst/>
          </a:prstGeom>
          <a:noFill/>
          <a:ln w="9525">
            <a:noFill/>
            <a:miter lim="800000"/>
            <a:headEnd/>
            <a:tailEnd/>
          </a:ln>
        </p:spPr>
      </p:pic>
      <p:pic>
        <p:nvPicPr>
          <p:cNvPr id="15" name="Picture 15" descr="OS_revised"/>
          <p:cNvPicPr>
            <a:picLocks noChangeAspect="1" noChangeArrowheads="1"/>
          </p:cNvPicPr>
          <p:nvPr/>
        </p:nvPicPr>
        <p:blipFill>
          <a:blip r:embed="rId5" cstate="print"/>
          <a:srcRect/>
          <a:stretch>
            <a:fillRect/>
          </a:stretch>
        </p:blipFill>
        <p:spPr bwMode="auto">
          <a:xfrm>
            <a:off x="7688262" y="2636837"/>
            <a:ext cx="530225" cy="1296988"/>
          </a:xfrm>
          <a:prstGeom prst="rect">
            <a:avLst/>
          </a:prstGeom>
          <a:noFill/>
          <a:ln w="9525">
            <a:noFill/>
            <a:miter lim="800000"/>
            <a:headEnd/>
            <a:tailEnd/>
          </a:ln>
        </p:spPr>
      </p:pic>
      <p:pic>
        <p:nvPicPr>
          <p:cNvPr id="16" name="Picture 14" descr="OS_revised"/>
          <p:cNvPicPr>
            <a:picLocks noChangeAspect="1" noChangeArrowheads="1"/>
          </p:cNvPicPr>
          <p:nvPr/>
        </p:nvPicPr>
        <p:blipFill>
          <a:blip r:embed="rId5" cstate="print"/>
          <a:srcRect/>
          <a:stretch>
            <a:fillRect/>
          </a:stretch>
        </p:blipFill>
        <p:spPr bwMode="auto">
          <a:xfrm>
            <a:off x="7459662" y="2713037"/>
            <a:ext cx="530225" cy="1296988"/>
          </a:xfrm>
          <a:prstGeom prst="rect">
            <a:avLst/>
          </a:prstGeom>
          <a:noFill/>
          <a:ln w="9525">
            <a:noFill/>
            <a:miter lim="800000"/>
            <a:headEnd/>
            <a:tailEnd/>
          </a:ln>
        </p:spPr>
      </p:pic>
      <p:pic>
        <p:nvPicPr>
          <p:cNvPr id="17" name="Picture 15" descr="OS_revised"/>
          <p:cNvPicPr>
            <a:picLocks noChangeAspect="1" noChangeArrowheads="1"/>
          </p:cNvPicPr>
          <p:nvPr/>
        </p:nvPicPr>
        <p:blipFill>
          <a:blip r:embed="rId5" cstate="print"/>
          <a:srcRect/>
          <a:stretch>
            <a:fillRect/>
          </a:stretch>
        </p:blipFill>
        <p:spPr bwMode="auto">
          <a:xfrm>
            <a:off x="6029280" y="1796100"/>
            <a:ext cx="530225" cy="1296988"/>
          </a:xfrm>
          <a:prstGeom prst="rect">
            <a:avLst/>
          </a:prstGeom>
          <a:noFill/>
          <a:ln w="9525">
            <a:noFill/>
            <a:miter lim="800000"/>
            <a:headEnd/>
            <a:tailEnd/>
          </a:ln>
        </p:spPr>
      </p:pic>
      <p:pic>
        <p:nvPicPr>
          <p:cNvPr id="18" name="Picture 14" descr="OS_revised"/>
          <p:cNvPicPr>
            <a:picLocks noChangeAspect="1" noChangeArrowheads="1"/>
          </p:cNvPicPr>
          <p:nvPr/>
        </p:nvPicPr>
        <p:blipFill>
          <a:blip r:embed="rId5" cstate="print"/>
          <a:srcRect/>
          <a:stretch>
            <a:fillRect/>
          </a:stretch>
        </p:blipFill>
        <p:spPr bwMode="auto">
          <a:xfrm>
            <a:off x="6618198" y="2275703"/>
            <a:ext cx="530225" cy="1296988"/>
          </a:xfrm>
          <a:prstGeom prst="rect">
            <a:avLst/>
          </a:prstGeom>
          <a:noFill/>
          <a:ln w="9525">
            <a:noFill/>
            <a:miter lim="800000"/>
            <a:headEnd/>
            <a:tailEnd/>
          </a:ln>
        </p:spPr>
      </p:pic>
      <p:pic>
        <p:nvPicPr>
          <p:cNvPr id="19" name="Picture 14" descr="OS_revised"/>
          <p:cNvPicPr>
            <a:picLocks noChangeAspect="1" noChangeArrowheads="1"/>
          </p:cNvPicPr>
          <p:nvPr/>
        </p:nvPicPr>
        <p:blipFill>
          <a:blip r:embed="rId5" cstate="print"/>
          <a:srcRect/>
          <a:stretch>
            <a:fillRect/>
          </a:stretch>
        </p:blipFill>
        <p:spPr bwMode="auto">
          <a:xfrm>
            <a:off x="5818914" y="1903412"/>
            <a:ext cx="530225" cy="12969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17"/>
                                        </p:tgtEl>
                                      </p:cBhvr>
                                      <p:by x="120000" y="120000"/>
                                    </p:animScale>
                                  </p:childTnLst>
                                </p:cTn>
                              </p:par>
                            </p:childTnLst>
                          </p:cTn>
                        </p:par>
                        <p:par>
                          <p:cTn id="7" fill="hold">
                            <p:stCondLst>
                              <p:cond delay="1000"/>
                            </p:stCondLst>
                            <p:childTnLst>
                              <p:par>
                                <p:cTn id="8" presetID="0" presetClass="path" presetSubtype="0" accel="50000" decel="50000" fill="hold" nodeType="afterEffect">
                                  <p:stCondLst>
                                    <p:cond delay="0"/>
                                  </p:stCondLst>
                                  <p:childTnLst>
                                    <p:animMotion origin="layout" path="M 2.08333E-6 4.07407E-6 C 0.02643 0.05601 0.05351 0.11226 0.07851 0.13564 C 0.10377 0.15926 0.13776 0.13194 0.15 0.13796 " pathEditMode="relative" rAng="0" ptsTypes="aaA">
                                      <p:cBhvr>
                                        <p:cTn id="9" dur="1000" fill="hold"/>
                                        <p:tgtEl>
                                          <p:spTgt spid="19"/>
                                        </p:tgtEl>
                                        <p:attrNameLst>
                                          <p:attrName>ppt_x</p:attrName>
                                          <p:attrName>ppt_y</p:attrName>
                                        </p:attrNameLst>
                                      </p:cBhvr>
                                      <p:rCtr x="75" y="80"/>
                                    </p:animMotion>
                                  </p:childTnLst>
                                </p:cTn>
                              </p:par>
                            </p:childTnLst>
                          </p:cTn>
                        </p:par>
                        <p:par>
                          <p:cTn id="10" fill="hold">
                            <p:stCondLst>
                              <p:cond delay="2000"/>
                            </p:stCondLst>
                            <p:childTnLst>
                              <p:par>
                                <p:cTn id="11" presetID="6" presetClass="emph" presetSubtype="0" fill="hold" nodeType="afterEffect">
                                  <p:stCondLst>
                                    <p:cond delay="0"/>
                                  </p:stCondLst>
                                  <p:childTnLst>
                                    <p:animScale>
                                      <p:cBhvr>
                                        <p:cTn id="12" dur="1000" fill="hold"/>
                                        <p:tgtEl>
                                          <p:spTgt spid="17"/>
                                        </p:tgtEl>
                                      </p:cBhvr>
                                      <p:by x="85000" y="85000"/>
                                    </p:animScale>
                                  </p:childTnLst>
                                </p:cTn>
                              </p:par>
                            </p:childTnLst>
                          </p:cTn>
                        </p:par>
                        <p:par>
                          <p:cTn id="13" fill="hold">
                            <p:stCondLst>
                              <p:cond delay="3000"/>
                            </p:stCondLst>
                            <p:childTnLst>
                              <p:par>
                                <p:cTn id="14" presetID="6" presetClass="emph" presetSubtype="0" fill="hold" nodeType="afterEffect">
                                  <p:stCondLst>
                                    <p:cond delay="0"/>
                                  </p:stCondLst>
                                  <p:childTnLst>
                                    <p:animScale>
                                      <p:cBhvr>
                                        <p:cTn id="15" dur="1000" fill="hold"/>
                                        <p:tgtEl>
                                          <p:spTgt spid="14"/>
                                        </p:tgtEl>
                                      </p:cBhvr>
                                      <p:by x="120000" y="120000"/>
                                    </p:animScale>
                                  </p:childTnLst>
                                </p:cTn>
                              </p:par>
                            </p:childTnLst>
                          </p:cTn>
                        </p:par>
                        <p:par>
                          <p:cTn id="16" fill="hold">
                            <p:stCondLst>
                              <p:cond delay="4000"/>
                            </p:stCondLst>
                            <p:childTnLst>
                              <p:par>
                                <p:cTn id="17" presetID="0" presetClass="path" presetSubtype="0" accel="50000" decel="50000" fill="hold" nodeType="afterEffect">
                                  <p:stCondLst>
                                    <p:cond delay="0"/>
                                  </p:stCondLst>
                                  <p:childTnLst>
                                    <p:animMotion origin="layout" path="M -0.00195 -0.01181 C -0.02721 0.00185 -0.05247 0.01597 -0.06575 0.00856 C -0.07916 0.00138 -0.08515 -0.04676 -0.08229 -0.05556 " pathEditMode="relative" rAng="0" ptsTypes="aaA">
                                      <p:cBhvr>
                                        <p:cTn id="18" dur="1000" fill="hold"/>
                                        <p:tgtEl>
                                          <p:spTgt spid="18"/>
                                        </p:tgtEl>
                                        <p:attrNameLst>
                                          <p:attrName>ppt_x</p:attrName>
                                          <p:attrName>ppt_y</p:attrName>
                                        </p:attrNameLst>
                                      </p:cBhvr>
                                      <p:rCtr x="-42" y="-8"/>
                                    </p:animMotion>
                                  </p:childTnLst>
                                </p:cTn>
                              </p:par>
                            </p:childTnLst>
                          </p:cTn>
                        </p:par>
                        <p:par>
                          <p:cTn id="19" fill="hold">
                            <p:stCondLst>
                              <p:cond delay="5000"/>
                            </p:stCondLst>
                            <p:childTnLst>
                              <p:par>
                                <p:cTn id="20" presetID="6" presetClass="emph" presetSubtype="0" fill="hold" nodeType="afterEffect">
                                  <p:stCondLst>
                                    <p:cond delay="0"/>
                                  </p:stCondLst>
                                  <p:childTnLst>
                                    <p:animScale>
                                      <p:cBhvr>
                                        <p:cTn id="21" dur="1000" fill="hold"/>
                                        <p:tgtEl>
                                          <p:spTgt spid="14"/>
                                        </p:tgtEl>
                                      </p:cBhvr>
                                      <p:by x="85000" y="85000"/>
                                    </p:animScale>
                                  </p:childTnLst>
                                </p:cTn>
                              </p:par>
                            </p:childTnLst>
                          </p:cTn>
                        </p:par>
                        <p:par>
                          <p:cTn id="22" fill="hold">
                            <p:stCondLst>
                              <p:cond delay="6000"/>
                            </p:stCondLst>
                            <p:childTnLst>
                              <p:par>
                                <p:cTn id="23" presetID="0" presetClass="path" presetSubtype="0" accel="50000" decel="50000" fill="hold" nodeType="afterEffect">
                                  <p:stCondLst>
                                    <p:cond delay="0"/>
                                  </p:stCondLst>
                                  <p:childTnLst>
                                    <p:animMotion origin="layout" path="M 0.15 0.13796 C 0.12278 0.15046 0.09557 0.16342 0.08476 0.15 C 0.07396 0.13657 0.07799 0.07106 0.08476 0.05787 " pathEditMode="relative" rAng="0" ptsTypes="aaA">
                                      <p:cBhvr>
                                        <p:cTn id="24" dur="2000" fill="hold"/>
                                        <p:tgtEl>
                                          <p:spTgt spid="19"/>
                                        </p:tgtEl>
                                        <p:attrNameLst>
                                          <p:attrName>ppt_x</p:attrName>
                                          <p:attrName>ppt_y</p:attrName>
                                        </p:attrNameLst>
                                      </p:cBhvr>
                                      <p:rCtr x="-38" y="-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in Virtualization</a:t>
            </a:r>
            <a:endParaRPr lang="en-US" dirty="0"/>
          </a:p>
        </p:txBody>
      </p:sp>
      <p:sp>
        <p:nvSpPr>
          <p:cNvPr id="3" name="Content Placeholder 2"/>
          <p:cNvSpPr>
            <a:spLocks noGrp="1"/>
          </p:cNvSpPr>
          <p:nvPr>
            <p:ph idx="1"/>
          </p:nvPr>
        </p:nvSpPr>
        <p:spPr>
          <a:xfrm>
            <a:off x="457200" y="1600200"/>
            <a:ext cx="4038600" cy="4525963"/>
          </a:xfrm>
        </p:spPr>
        <p:txBody>
          <a:bodyPr/>
          <a:lstStyle/>
          <a:p>
            <a:r>
              <a:rPr lang="en-US" dirty="0" smtClean="0"/>
              <a:t>Optimize network access :</a:t>
            </a:r>
          </a:p>
          <a:p>
            <a:pPr lvl="1"/>
            <a:r>
              <a:rPr lang="en-US" dirty="0" smtClean="0"/>
              <a:t>VMware and Cisco are collaborating to enhance workload mobility and simpler management with virtualization-aware networks.</a:t>
            </a:r>
          </a:p>
        </p:txBody>
      </p:sp>
      <p:grpSp>
        <p:nvGrpSpPr>
          <p:cNvPr id="4" name="Group 35"/>
          <p:cNvGrpSpPr>
            <a:grpSpLocks/>
          </p:cNvGrpSpPr>
          <p:nvPr/>
        </p:nvGrpSpPr>
        <p:grpSpPr bwMode="auto">
          <a:xfrm>
            <a:off x="5155473" y="3086782"/>
            <a:ext cx="1676400" cy="2608263"/>
            <a:chOff x="1676400" y="2052601"/>
            <a:chExt cx="1676400" cy="2608299"/>
          </a:xfrm>
        </p:grpSpPr>
        <p:pic>
          <p:nvPicPr>
            <p:cNvPr id="5" name="Picture 9" descr="small_server"/>
            <p:cNvPicPr>
              <a:picLocks noChangeAspect="1" noChangeArrowheads="1"/>
            </p:cNvPicPr>
            <p:nvPr/>
          </p:nvPicPr>
          <p:blipFill>
            <a:blip r:embed="rId2" cstate="print"/>
            <a:srcRect/>
            <a:stretch>
              <a:fillRect/>
            </a:stretch>
          </p:blipFill>
          <p:spPr bwMode="auto">
            <a:xfrm>
              <a:off x="1676400" y="2356148"/>
              <a:ext cx="1676400" cy="2304752"/>
            </a:xfrm>
            <a:prstGeom prst="rect">
              <a:avLst/>
            </a:prstGeom>
            <a:noFill/>
            <a:ln w="9525">
              <a:noFill/>
              <a:miter lim="800000"/>
              <a:headEnd/>
              <a:tailEnd/>
            </a:ln>
          </p:spPr>
        </p:pic>
        <p:pic>
          <p:nvPicPr>
            <p:cNvPr id="6" name="Picture 9" descr="arch3"/>
            <p:cNvPicPr>
              <a:picLocks noChangeAspect="1" noChangeArrowheads="1"/>
            </p:cNvPicPr>
            <p:nvPr/>
          </p:nvPicPr>
          <p:blipFill>
            <a:blip r:embed="rId3" cstate="print"/>
            <a:srcRect/>
            <a:stretch>
              <a:fillRect/>
            </a:stretch>
          </p:blipFill>
          <p:spPr bwMode="auto">
            <a:xfrm>
              <a:off x="1714500" y="2052601"/>
              <a:ext cx="1300170" cy="1057028"/>
            </a:xfrm>
            <a:prstGeom prst="rect">
              <a:avLst/>
            </a:prstGeom>
            <a:noFill/>
            <a:ln w="9525">
              <a:noFill/>
              <a:miter lim="800000"/>
              <a:headEnd/>
              <a:tailEnd/>
            </a:ln>
          </p:spPr>
        </p:pic>
      </p:grpSp>
      <p:grpSp>
        <p:nvGrpSpPr>
          <p:cNvPr id="7" name="Group 33"/>
          <p:cNvGrpSpPr>
            <a:grpSpLocks/>
          </p:cNvGrpSpPr>
          <p:nvPr/>
        </p:nvGrpSpPr>
        <p:grpSpPr bwMode="auto">
          <a:xfrm>
            <a:off x="5943600" y="3516312"/>
            <a:ext cx="1676400" cy="2608263"/>
            <a:chOff x="3695700" y="2057400"/>
            <a:chExt cx="1676400" cy="2608299"/>
          </a:xfrm>
        </p:grpSpPr>
        <p:pic>
          <p:nvPicPr>
            <p:cNvPr id="8" name="Picture 9" descr="small_server"/>
            <p:cNvPicPr>
              <a:picLocks noChangeAspect="1" noChangeArrowheads="1"/>
            </p:cNvPicPr>
            <p:nvPr/>
          </p:nvPicPr>
          <p:blipFill>
            <a:blip r:embed="rId2" cstate="print"/>
            <a:srcRect/>
            <a:stretch>
              <a:fillRect/>
            </a:stretch>
          </p:blipFill>
          <p:spPr bwMode="auto">
            <a:xfrm>
              <a:off x="3695700" y="2360947"/>
              <a:ext cx="1676400" cy="2304752"/>
            </a:xfrm>
            <a:prstGeom prst="rect">
              <a:avLst/>
            </a:prstGeom>
            <a:noFill/>
            <a:ln w="9525">
              <a:noFill/>
              <a:miter lim="800000"/>
              <a:headEnd/>
              <a:tailEnd/>
            </a:ln>
          </p:spPr>
        </p:pic>
        <p:pic>
          <p:nvPicPr>
            <p:cNvPr id="9" name="Picture 9" descr="arch3"/>
            <p:cNvPicPr>
              <a:picLocks noChangeAspect="1" noChangeArrowheads="1"/>
            </p:cNvPicPr>
            <p:nvPr/>
          </p:nvPicPr>
          <p:blipFill>
            <a:blip r:embed="rId3" cstate="print"/>
            <a:srcRect/>
            <a:stretch>
              <a:fillRect/>
            </a:stretch>
          </p:blipFill>
          <p:spPr bwMode="auto">
            <a:xfrm>
              <a:off x="3733800" y="2057400"/>
              <a:ext cx="1300170" cy="1057028"/>
            </a:xfrm>
            <a:prstGeom prst="rect">
              <a:avLst/>
            </a:prstGeom>
            <a:noFill/>
            <a:ln w="9525">
              <a:noFill/>
              <a:miter lim="800000"/>
              <a:headEnd/>
              <a:tailEnd/>
            </a:ln>
          </p:spPr>
        </p:pic>
      </p:grpSp>
      <p:grpSp>
        <p:nvGrpSpPr>
          <p:cNvPr id="10" name="Group 32"/>
          <p:cNvGrpSpPr>
            <a:grpSpLocks/>
          </p:cNvGrpSpPr>
          <p:nvPr/>
        </p:nvGrpSpPr>
        <p:grpSpPr bwMode="auto">
          <a:xfrm>
            <a:off x="6788328" y="3988482"/>
            <a:ext cx="1676400" cy="2608263"/>
            <a:chOff x="5715000" y="2057400"/>
            <a:chExt cx="1676400" cy="2608299"/>
          </a:xfrm>
        </p:grpSpPr>
        <p:pic>
          <p:nvPicPr>
            <p:cNvPr id="11" name="Picture 9" descr="small_server"/>
            <p:cNvPicPr>
              <a:picLocks noChangeAspect="1" noChangeArrowheads="1"/>
            </p:cNvPicPr>
            <p:nvPr/>
          </p:nvPicPr>
          <p:blipFill>
            <a:blip r:embed="rId2" cstate="print"/>
            <a:srcRect/>
            <a:stretch>
              <a:fillRect/>
            </a:stretch>
          </p:blipFill>
          <p:spPr bwMode="auto">
            <a:xfrm>
              <a:off x="5715000" y="2360947"/>
              <a:ext cx="1676400" cy="2304752"/>
            </a:xfrm>
            <a:prstGeom prst="rect">
              <a:avLst/>
            </a:prstGeom>
            <a:noFill/>
            <a:ln w="9525">
              <a:noFill/>
              <a:miter lim="800000"/>
              <a:headEnd/>
              <a:tailEnd/>
            </a:ln>
          </p:spPr>
        </p:pic>
        <p:pic>
          <p:nvPicPr>
            <p:cNvPr id="12" name="Picture 9" descr="arch3"/>
            <p:cNvPicPr>
              <a:picLocks noChangeAspect="1" noChangeArrowheads="1"/>
            </p:cNvPicPr>
            <p:nvPr/>
          </p:nvPicPr>
          <p:blipFill>
            <a:blip r:embed="rId3" cstate="print"/>
            <a:srcRect/>
            <a:stretch>
              <a:fillRect/>
            </a:stretch>
          </p:blipFill>
          <p:spPr bwMode="auto">
            <a:xfrm>
              <a:off x="5753100" y="2057400"/>
              <a:ext cx="1300170" cy="1057028"/>
            </a:xfrm>
            <a:prstGeom prst="rect">
              <a:avLst/>
            </a:prstGeom>
            <a:noFill/>
            <a:ln w="9525">
              <a:noFill/>
              <a:miter lim="800000"/>
              <a:headEnd/>
              <a:tailEnd/>
            </a:ln>
          </p:spPr>
        </p:pic>
      </p:grpSp>
      <p:pic>
        <p:nvPicPr>
          <p:cNvPr id="13" name="Picture 27" descr="VMware-Infra"/>
          <p:cNvPicPr>
            <a:picLocks noChangeAspect="1" noChangeArrowheads="1"/>
          </p:cNvPicPr>
          <p:nvPr/>
        </p:nvPicPr>
        <p:blipFill>
          <a:blip r:embed="rId4" cstate="print"/>
          <a:srcRect/>
          <a:stretch>
            <a:fillRect/>
          </a:stretch>
        </p:blipFill>
        <p:spPr bwMode="auto">
          <a:xfrm>
            <a:off x="5151438" y="2725737"/>
            <a:ext cx="3001962" cy="2036763"/>
          </a:xfrm>
          <a:prstGeom prst="rect">
            <a:avLst/>
          </a:prstGeom>
          <a:noFill/>
          <a:ln w="9525">
            <a:noFill/>
            <a:miter lim="800000"/>
            <a:headEnd/>
            <a:tailEnd/>
          </a:ln>
        </p:spPr>
      </p:pic>
      <p:pic>
        <p:nvPicPr>
          <p:cNvPr id="14" name="Picture 27" descr="VMware-Infra"/>
          <p:cNvPicPr>
            <a:picLocks noChangeAspect="1" noChangeArrowheads="1"/>
          </p:cNvPicPr>
          <p:nvPr/>
        </p:nvPicPr>
        <p:blipFill>
          <a:blip r:embed="rId5" cstate="print"/>
          <a:srcRect/>
          <a:stretch>
            <a:fillRect/>
          </a:stretch>
        </p:blipFill>
        <p:spPr bwMode="auto">
          <a:xfrm>
            <a:off x="5143500" y="2344737"/>
            <a:ext cx="3036888" cy="2024063"/>
          </a:xfrm>
          <a:prstGeom prst="rect">
            <a:avLst/>
          </a:prstGeom>
          <a:noFill/>
          <a:ln w="9525">
            <a:noFill/>
            <a:miter lim="800000"/>
            <a:headEnd/>
            <a:tailEnd/>
          </a:ln>
        </p:spPr>
      </p:pic>
      <p:grpSp>
        <p:nvGrpSpPr>
          <p:cNvPr id="15" name="Group 32"/>
          <p:cNvGrpSpPr>
            <a:grpSpLocks/>
          </p:cNvGrpSpPr>
          <p:nvPr/>
        </p:nvGrpSpPr>
        <p:grpSpPr bwMode="auto">
          <a:xfrm>
            <a:off x="5372113" y="1887537"/>
            <a:ext cx="2550596" cy="2383743"/>
            <a:chOff x="5372100" y="1308381"/>
            <a:chExt cx="2550178" cy="2384080"/>
          </a:xfrm>
        </p:grpSpPr>
        <p:grpSp>
          <p:nvGrpSpPr>
            <p:cNvPr id="16" name="Group 36"/>
            <p:cNvGrpSpPr>
              <a:grpSpLocks/>
            </p:cNvGrpSpPr>
            <p:nvPr/>
          </p:nvGrpSpPr>
          <p:grpSpPr bwMode="auto">
            <a:xfrm>
              <a:off x="5372100" y="1308381"/>
              <a:ext cx="986994" cy="1526211"/>
              <a:chOff x="1866900" y="1214401"/>
              <a:chExt cx="986994" cy="1526211"/>
            </a:xfrm>
          </p:grpSpPr>
          <p:pic>
            <p:nvPicPr>
              <p:cNvPr id="25" name="Picture 15" descr="OS_revised"/>
              <p:cNvPicPr>
                <a:picLocks noChangeAspect="1" noChangeArrowheads="1"/>
              </p:cNvPicPr>
              <p:nvPr/>
            </p:nvPicPr>
            <p:blipFill>
              <a:blip r:embed="rId6" cstate="print"/>
              <a:srcRect/>
              <a:stretch>
                <a:fillRect/>
              </a:stretch>
            </p:blipFill>
            <p:spPr bwMode="auto">
              <a:xfrm>
                <a:off x="2324100" y="1214401"/>
                <a:ext cx="529794" cy="1297611"/>
              </a:xfrm>
              <a:prstGeom prst="rect">
                <a:avLst/>
              </a:prstGeom>
              <a:noFill/>
              <a:ln w="9525">
                <a:noFill/>
                <a:miter lim="800000"/>
                <a:headEnd/>
                <a:tailEnd/>
              </a:ln>
            </p:spPr>
          </p:pic>
          <p:pic>
            <p:nvPicPr>
              <p:cNvPr id="26" name="Picture 14" descr="OS_revised"/>
              <p:cNvPicPr>
                <a:picLocks noChangeAspect="1" noChangeArrowheads="1"/>
              </p:cNvPicPr>
              <p:nvPr/>
            </p:nvPicPr>
            <p:blipFill>
              <a:blip r:embed="rId6" cstate="print"/>
              <a:srcRect/>
              <a:stretch>
                <a:fillRect/>
              </a:stretch>
            </p:blipFill>
            <p:spPr bwMode="auto">
              <a:xfrm>
                <a:off x="2095500" y="1290601"/>
                <a:ext cx="529794" cy="1297611"/>
              </a:xfrm>
              <a:prstGeom prst="rect">
                <a:avLst/>
              </a:prstGeom>
              <a:noFill/>
              <a:ln w="9525">
                <a:noFill/>
                <a:miter lim="800000"/>
                <a:headEnd/>
                <a:tailEnd/>
              </a:ln>
            </p:spPr>
          </p:pic>
          <p:pic>
            <p:nvPicPr>
              <p:cNvPr id="27" name="Picture 13" descr="OS_revised"/>
              <p:cNvPicPr>
                <a:picLocks noChangeAspect="1" noChangeArrowheads="1"/>
              </p:cNvPicPr>
              <p:nvPr/>
            </p:nvPicPr>
            <p:blipFill>
              <a:blip r:embed="rId6" cstate="print"/>
              <a:srcRect/>
              <a:stretch>
                <a:fillRect/>
              </a:stretch>
            </p:blipFill>
            <p:spPr bwMode="auto">
              <a:xfrm>
                <a:off x="1866900" y="1443001"/>
                <a:ext cx="529794" cy="1297611"/>
              </a:xfrm>
              <a:prstGeom prst="rect">
                <a:avLst/>
              </a:prstGeom>
              <a:noFill/>
              <a:ln w="9525">
                <a:noFill/>
                <a:miter lim="800000"/>
                <a:headEnd/>
                <a:tailEnd/>
              </a:ln>
            </p:spPr>
          </p:pic>
        </p:grpSp>
        <p:grpSp>
          <p:nvGrpSpPr>
            <p:cNvPr id="17" name="Group 37"/>
            <p:cNvGrpSpPr>
              <a:grpSpLocks/>
            </p:cNvGrpSpPr>
            <p:nvPr/>
          </p:nvGrpSpPr>
          <p:grpSpPr bwMode="auto">
            <a:xfrm>
              <a:off x="6134100" y="1728559"/>
              <a:ext cx="986994" cy="1526211"/>
              <a:chOff x="3886200" y="1166938"/>
              <a:chExt cx="986994" cy="1526211"/>
            </a:xfrm>
          </p:grpSpPr>
          <p:pic>
            <p:nvPicPr>
              <p:cNvPr id="22" name="Picture 15" descr="OS_revised"/>
              <p:cNvPicPr>
                <a:picLocks noChangeAspect="1" noChangeArrowheads="1"/>
              </p:cNvPicPr>
              <p:nvPr/>
            </p:nvPicPr>
            <p:blipFill>
              <a:blip r:embed="rId6" cstate="print"/>
              <a:srcRect/>
              <a:stretch>
                <a:fillRect/>
              </a:stretch>
            </p:blipFill>
            <p:spPr bwMode="auto">
              <a:xfrm>
                <a:off x="4343400" y="1166938"/>
                <a:ext cx="529794" cy="1297611"/>
              </a:xfrm>
              <a:prstGeom prst="rect">
                <a:avLst/>
              </a:prstGeom>
              <a:noFill/>
              <a:ln w="9525">
                <a:noFill/>
                <a:miter lim="800000"/>
                <a:headEnd/>
                <a:tailEnd/>
              </a:ln>
            </p:spPr>
          </p:pic>
          <p:pic>
            <p:nvPicPr>
              <p:cNvPr id="23" name="Picture 14" descr="OS_revised"/>
              <p:cNvPicPr>
                <a:picLocks noChangeAspect="1" noChangeArrowheads="1"/>
              </p:cNvPicPr>
              <p:nvPr/>
            </p:nvPicPr>
            <p:blipFill>
              <a:blip r:embed="rId6" cstate="print"/>
              <a:srcRect/>
              <a:stretch>
                <a:fillRect/>
              </a:stretch>
            </p:blipFill>
            <p:spPr bwMode="auto">
              <a:xfrm>
                <a:off x="4114800" y="1243138"/>
                <a:ext cx="529794" cy="1297611"/>
              </a:xfrm>
              <a:prstGeom prst="rect">
                <a:avLst/>
              </a:prstGeom>
              <a:noFill/>
              <a:ln w="9525">
                <a:noFill/>
                <a:miter lim="800000"/>
                <a:headEnd/>
                <a:tailEnd/>
              </a:ln>
            </p:spPr>
          </p:pic>
          <p:pic>
            <p:nvPicPr>
              <p:cNvPr id="24" name="Picture 13" descr="OS_revised"/>
              <p:cNvPicPr>
                <a:picLocks noChangeAspect="1" noChangeArrowheads="1"/>
              </p:cNvPicPr>
              <p:nvPr/>
            </p:nvPicPr>
            <p:blipFill>
              <a:blip r:embed="rId6" cstate="print"/>
              <a:srcRect/>
              <a:stretch>
                <a:fillRect/>
              </a:stretch>
            </p:blipFill>
            <p:spPr bwMode="auto">
              <a:xfrm>
                <a:off x="3886200" y="1395538"/>
                <a:ext cx="529794" cy="1297611"/>
              </a:xfrm>
              <a:prstGeom prst="rect">
                <a:avLst/>
              </a:prstGeom>
              <a:noFill/>
              <a:ln w="9525">
                <a:noFill/>
                <a:miter lim="800000"/>
                <a:headEnd/>
                <a:tailEnd/>
              </a:ln>
            </p:spPr>
          </p:pic>
        </p:grpSp>
        <p:grpSp>
          <p:nvGrpSpPr>
            <p:cNvPr id="18" name="Group 38"/>
            <p:cNvGrpSpPr>
              <a:grpSpLocks/>
            </p:cNvGrpSpPr>
            <p:nvPr/>
          </p:nvGrpSpPr>
          <p:grpSpPr bwMode="auto">
            <a:xfrm>
              <a:off x="6935286" y="2166249"/>
              <a:ext cx="986992" cy="1526212"/>
              <a:chOff x="5792286" y="1175649"/>
              <a:chExt cx="986992" cy="1526212"/>
            </a:xfrm>
          </p:grpSpPr>
          <p:pic>
            <p:nvPicPr>
              <p:cNvPr id="19" name="Picture 15" descr="OS_revised"/>
              <p:cNvPicPr>
                <a:picLocks noChangeAspect="1" noChangeArrowheads="1"/>
              </p:cNvPicPr>
              <p:nvPr/>
            </p:nvPicPr>
            <p:blipFill>
              <a:blip r:embed="rId6" cstate="print"/>
              <a:srcRect/>
              <a:stretch>
                <a:fillRect/>
              </a:stretch>
            </p:blipFill>
            <p:spPr bwMode="auto">
              <a:xfrm>
                <a:off x="6249485" y="1175649"/>
                <a:ext cx="529793" cy="1297612"/>
              </a:xfrm>
              <a:prstGeom prst="rect">
                <a:avLst/>
              </a:prstGeom>
              <a:noFill/>
              <a:ln w="9525">
                <a:noFill/>
                <a:miter lim="800000"/>
                <a:headEnd/>
                <a:tailEnd/>
              </a:ln>
            </p:spPr>
          </p:pic>
          <p:pic>
            <p:nvPicPr>
              <p:cNvPr id="20" name="Picture 14" descr="OS_revised"/>
              <p:cNvPicPr>
                <a:picLocks noChangeAspect="1" noChangeArrowheads="1"/>
              </p:cNvPicPr>
              <p:nvPr/>
            </p:nvPicPr>
            <p:blipFill>
              <a:blip r:embed="rId6" cstate="print"/>
              <a:srcRect/>
              <a:stretch>
                <a:fillRect/>
              </a:stretch>
            </p:blipFill>
            <p:spPr bwMode="auto">
              <a:xfrm>
                <a:off x="6020886" y="1251849"/>
                <a:ext cx="529793" cy="1297612"/>
              </a:xfrm>
              <a:prstGeom prst="rect">
                <a:avLst/>
              </a:prstGeom>
              <a:noFill/>
              <a:ln w="9525">
                <a:noFill/>
                <a:miter lim="800000"/>
                <a:headEnd/>
                <a:tailEnd/>
              </a:ln>
            </p:spPr>
          </p:pic>
          <p:pic>
            <p:nvPicPr>
              <p:cNvPr id="21" name="Picture 13" descr="OS_revised"/>
              <p:cNvPicPr>
                <a:picLocks noChangeAspect="1" noChangeArrowheads="1"/>
              </p:cNvPicPr>
              <p:nvPr/>
            </p:nvPicPr>
            <p:blipFill>
              <a:blip r:embed="rId6" cstate="print"/>
              <a:srcRect/>
              <a:stretch>
                <a:fillRect/>
              </a:stretch>
            </p:blipFill>
            <p:spPr bwMode="auto">
              <a:xfrm>
                <a:off x="5792286" y="1404249"/>
                <a:ext cx="529793" cy="1297612"/>
              </a:xfrm>
              <a:prstGeom prst="rect">
                <a:avLst/>
              </a:prstGeom>
              <a:noFill/>
              <a:ln w="9525">
                <a:noFill/>
                <a:miter lim="800000"/>
                <a:headEnd/>
                <a:tailEnd/>
              </a:ln>
            </p:spPr>
          </p:pic>
        </p:grpSp>
      </p:grpSp>
      <p:sp>
        <p:nvSpPr>
          <p:cNvPr id="45" name="AutoShape 115"/>
          <p:cNvSpPr>
            <a:spLocks noChangeArrowheads="1"/>
          </p:cNvSpPr>
          <p:nvPr/>
        </p:nvSpPr>
        <p:spPr bwMode="auto">
          <a:xfrm flipH="1">
            <a:off x="1328737" y="5222875"/>
            <a:ext cx="3581400" cy="720725"/>
          </a:xfrm>
          <a:prstGeom prst="rect">
            <a:avLst/>
          </a:prstGeom>
          <a:noFill/>
          <a:ln w="12700">
            <a:noFill/>
            <a:miter lim="800000"/>
            <a:headEnd/>
            <a:tailEnd/>
          </a:ln>
        </p:spPr>
        <p:txBody>
          <a:bodyPr wrap="none" lIns="73025" tIns="36511" rIns="73025" bIns="36511" anchor="ctr"/>
          <a:lstStyle/>
          <a:p>
            <a:pPr marL="0" marR="0" lvl="0" indent="0" algn="r" defTabSz="814388" eaLnBrk="1" fontAlgn="auto" latinLnBrk="0" hangingPunct="1">
              <a:lnSpc>
                <a:spcPct val="90000"/>
              </a:lnSpc>
              <a:spcBef>
                <a:spcPts val="0"/>
              </a:spcBef>
              <a:spcAft>
                <a:spcPts val="0"/>
              </a:spcAft>
              <a:buClrTx/>
              <a:buSzTx/>
              <a:buFontTx/>
              <a:buNone/>
              <a:tabLst/>
              <a:defRPr/>
            </a:pPr>
            <a:r>
              <a:rPr kumimoji="0" lang="en-US" sz="2800" b="1" i="0" u="none" strike="noStrike" kern="0" cap="none" spc="0" normalizeH="0" baseline="0" noProof="0" dirty="0" smtClean="0">
                <a:ln>
                  <a:noFill/>
                </a:ln>
                <a:solidFill>
                  <a:srgbClr val="333333"/>
                </a:solidFill>
                <a:effectLst/>
                <a:uLnTx/>
                <a:uFillTx/>
                <a:ea typeface="Arial Unicode MS" pitchFamily="34" charset="-128"/>
                <a:cs typeface="Arial Unicode MS" pitchFamily="34" charset="-128"/>
              </a:rPr>
              <a:t>Nexus 1000V  </a:t>
            </a:r>
          </a:p>
        </p:txBody>
      </p:sp>
      <p:grpSp>
        <p:nvGrpSpPr>
          <p:cNvPr id="46" name="Group 213"/>
          <p:cNvGrpSpPr>
            <a:grpSpLocks/>
          </p:cNvGrpSpPr>
          <p:nvPr/>
        </p:nvGrpSpPr>
        <p:grpSpPr bwMode="auto">
          <a:xfrm>
            <a:off x="914400" y="5241925"/>
            <a:ext cx="1222375" cy="625475"/>
            <a:chOff x="3272" y="1316"/>
            <a:chExt cx="1889" cy="1002"/>
          </a:xfrm>
        </p:grpSpPr>
        <p:sp>
          <p:nvSpPr>
            <p:cNvPr id="47" name="AutoShape 214"/>
            <p:cNvSpPr>
              <a:spLocks noChangeAspect="1" noChangeArrowheads="1" noTextEdit="1"/>
            </p:cNvSpPr>
            <p:nvPr/>
          </p:nvSpPr>
          <p:spPr bwMode="auto">
            <a:xfrm>
              <a:off x="3272" y="1316"/>
              <a:ext cx="1889" cy="1002"/>
            </a:xfrm>
            <a:prstGeom prst="rect">
              <a:avLst/>
            </a:prstGeom>
            <a:noFill/>
            <a:ln w="9525">
              <a:no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8" name="Rectangle 215"/>
            <p:cNvSpPr>
              <a:spLocks noChangeArrowheads="1"/>
            </p:cNvSpPr>
            <p:nvPr/>
          </p:nvSpPr>
          <p:spPr bwMode="auto">
            <a:xfrm>
              <a:off x="3803" y="1980"/>
              <a:ext cx="86" cy="325"/>
            </a:xfrm>
            <a:prstGeom prst="rect">
              <a:avLst/>
            </a:prstGeom>
            <a:solidFill>
              <a:srgbClr val="B21A1A"/>
            </a:solidFill>
            <a:ln w="9525">
              <a:noFill/>
              <a:miter lim="800000"/>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49" name="Freeform 216"/>
            <p:cNvSpPr>
              <a:spLocks/>
            </p:cNvSpPr>
            <p:nvPr/>
          </p:nvSpPr>
          <p:spPr bwMode="auto">
            <a:xfrm>
              <a:off x="4304" y="1971"/>
              <a:ext cx="249" cy="343"/>
            </a:xfrm>
            <a:custGeom>
              <a:avLst/>
              <a:gdLst>
                <a:gd name="T0" fmla="*/ 2147483647 w 58"/>
                <a:gd name="T1" fmla="*/ 2147483647 h 80"/>
                <a:gd name="T2" fmla="*/ 2147483647 w 58"/>
                <a:gd name="T3" fmla="*/ 2147483647 h 80"/>
                <a:gd name="T4" fmla="*/ 2147483647 w 58"/>
                <a:gd name="T5" fmla="*/ 2147483647 h 80"/>
                <a:gd name="T6" fmla="*/ 2147483647 w 58"/>
                <a:gd name="T7" fmla="*/ 2147483647 h 80"/>
                <a:gd name="T8" fmla="*/ 2147483647 w 58"/>
                <a:gd name="T9" fmla="*/ 2147483647 h 80"/>
                <a:gd name="T10" fmla="*/ 2147483647 w 58"/>
                <a:gd name="T11" fmla="*/ 2147483647 h 80"/>
                <a:gd name="T12" fmla="*/ 2147483647 w 58"/>
                <a:gd name="T13" fmla="*/ 2147483647 h 80"/>
                <a:gd name="T14" fmla="*/ 0 w 58"/>
                <a:gd name="T15" fmla="*/ 2147483647 h 80"/>
                <a:gd name="T16" fmla="*/ 2147483647 w 58"/>
                <a:gd name="T17" fmla="*/ 0 h 80"/>
                <a:gd name="T18" fmla="*/ 2147483647 w 58"/>
                <a:gd name="T19" fmla="*/ 2147483647 h 80"/>
                <a:gd name="T20" fmla="*/ 2147483647 w 58"/>
                <a:gd name="T21" fmla="*/ 2147483647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80"/>
                <a:gd name="T35" fmla="*/ 58 w 58"/>
                <a:gd name="T36" fmla="*/ 80 h 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B21A1A"/>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50" name="Freeform 217"/>
            <p:cNvSpPr>
              <a:spLocks/>
            </p:cNvSpPr>
            <p:nvPr/>
          </p:nvSpPr>
          <p:spPr bwMode="auto">
            <a:xfrm>
              <a:off x="3443" y="1971"/>
              <a:ext cx="249" cy="343"/>
            </a:xfrm>
            <a:custGeom>
              <a:avLst/>
              <a:gdLst>
                <a:gd name="T0" fmla="*/ 2147483647 w 58"/>
                <a:gd name="T1" fmla="*/ 2147483647 h 80"/>
                <a:gd name="T2" fmla="*/ 2147483647 w 58"/>
                <a:gd name="T3" fmla="*/ 2147483647 h 80"/>
                <a:gd name="T4" fmla="*/ 2147483647 w 58"/>
                <a:gd name="T5" fmla="*/ 2147483647 h 80"/>
                <a:gd name="T6" fmla="*/ 2147483647 w 58"/>
                <a:gd name="T7" fmla="*/ 2147483647 h 80"/>
                <a:gd name="T8" fmla="*/ 2147483647 w 58"/>
                <a:gd name="T9" fmla="*/ 2147483647 h 80"/>
                <a:gd name="T10" fmla="*/ 2147483647 w 58"/>
                <a:gd name="T11" fmla="*/ 2147483647 h 80"/>
                <a:gd name="T12" fmla="*/ 2147483647 w 58"/>
                <a:gd name="T13" fmla="*/ 2147483647 h 80"/>
                <a:gd name="T14" fmla="*/ 0 w 58"/>
                <a:gd name="T15" fmla="*/ 2147483647 h 80"/>
                <a:gd name="T16" fmla="*/ 2147483647 w 58"/>
                <a:gd name="T17" fmla="*/ 0 h 80"/>
                <a:gd name="T18" fmla="*/ 2147483647 w 58"/>
                <a:gd name="T19" fmla="*/ 2147483647 h 80"/>
                <a:gd name="T20" fmla="*/ 2147483647 w 58"/>
                <a:gd name="T21" fmla="*/ 2147483647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80"/>
                <a:gd name="T35" fmla="*/ 58 w 58"/>
                <a:gd name="T36" fmla="*/ 80 h 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B21A1A"/>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51" name="Freeform 218"/>
            <p:cNvSpPr>
              <a:spLocks noEditPoints="1"/>
            </p:cNvSpPr>
            <p:nvPr/>
          </p:nvSpPr>
          <p:spPr bwMode="auto">
            <a:xfrm>
              <a:off x="4643" y="1971"/>
              <a:ext cx="342" cy="343"/>
            </a:xfrm>
            <a:custGeom>
              <a:avLst/>
              <a:gdLst>
                <a:gd name="T0" fmla="*/ 2147483647 w 80"/>
                <a:gd name="T1" fmla="*/ 2147483647 h 80"/>
                <a:gd name="T2" fmla="*/ 2147483647 w 80"/>
                <a:gd name="T3" fmla="*/ 2147483647 h 80"/>
                <a:gd name="T4" fmla="*/ 0 w 80"/>
                <a:gd name="T5" fmla="*/ 2147483647 h 80"/>
                <a:gd name="T6" fmla="*/ 2147483647 w 80"/>
                <a:gd name="T7" fmla="*/ 0 h 80"/>
                <a:gd name="T8" fmla="*/ 2147483647 w 80"/>
                <a:gd name="T9" fmla="*/ 2147483647 h 80"/>
                <a:gd name="T10" fmla="*/ 2147483647 w 80"/>
                <a:gd name="T11" fmla="*/ 2147483647 h 80"/>
                <a:gd name="T12" fmla="*/ 2147483647 w 80"/>
                <a:gd name="T13" fmla="*/ 2147483647 h 80"/>
                <a:gd name="T14" fmla="*/ 2147483647 w 80"/>
                <a:gd name="T15" fmla="*/ 2147483647 h 80"/>
                <a:gd name="T16" fmla="*/ 2147483647 w 80"/>
                <a:gd name="T17" fmla="*/ 2147483647 h 80"/>
                <a:gd name="T18" fmla="*/ 2147483647 w 80"/>
                <a:gd name="T19" fmla="*/ 2147483647 h 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0"/>
                <a:gd name="T31" fmla="*/ 0 h 80"/>
                <a:gd name="T32" fmla="*/ 80 w 80"/>
                <a:gd name="T33" fmla="*/ 80 h 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B21A1A"/>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52" name="Freeform 219"/>
            <p:cNvSpPr>
              <a:spLocks/>
            </p:cNvSpPr>
            <p:nvPr/>
          </p:nvSpPr>
          <p:spPr bwMode="auto">
            <a:xfrm>
              <a:off x="4000" y="1971"/>
              <a:ext cx="223" cy="343"/>
            </a:xfrm>
            <a:custGeom>
              <a:avLst/>
              <a:gdLst>
                <a:gd name="T0" fmla="*/ 2147483647 w 52"/>
                <a:gd name="T1" fmla="*/ 2147483647 h 80"/>
                <a:gd name="T2" fmla="*/ 2147483647 w 52"/>
                <a:gd name="T3" fmla="*/ 2147483647 h 80"/>
                <a:gd name="T4" fmla="*/ 2147483647 w 52"/>
                <a:gd name="T5" fmla="*/ 2147483647 h 80"/>
                <a:gd name="T6" fmla="*/ 2147483647 w 52"/>
                <a:gd name="T7" fmla="*/ 2147483647 h 80"/>
                <a:gd name="T8" fmla="*/ 2147483647 w 52"/>
                <a:gd name="T9" fmla="*/ 2147483647 h 80"/>
                <a:gd name="T10" fmla="*/ 2147483647 w 52"/>
                <a:gd name="T11" fmla="*/ 2147483647 h 80"/>
                <a:gd name="T12" fmla="*/ 2147483647 w 52"/>
                <a:gd name="T13" fmla="*/ 2147483647 h 80"/>
                <a:gd name="T14" fmla="*/ 0 w 52"/>
                <a:gd name="T15" fmla="*/ 2147483647 h 80"/>
                <a:gd name="T16" fmla="*/ 0 w 52"/>
                <a:gd name="T17" fmla="*/ 2147483647 h 80"/>
                <a:gd name="T18" fmla="*/ 2147483647 w 52"/>
                <a:gd name="T19" fmla="*/ 2147483647 h 80"/>
                <a:gd name="T20" fmla="*/ 2147483647 w 52"/>
                <a:gd name="T21" fmla="*/ 2147483647 h 80"/>
                <a:gd name="T22" fmla="*/ 2147483647 w 52"/>
                <a:gd name="T23" fmla="*/ 2147483647 h 80"/>
                <a:gd name="T24" fmla="*/ 2147483647 w 52"/>
                <a:gd name="T25" fmla="*/ 2147483647 h 80"/>
                <a:gd name="T26" fmla="*/ 0 w 52"/>
                <a:gd name="T27" fmla="*/ 2147483647 h 80"/>
                <a:gd name="T28" fmla="*/ 2147483647 w 52"/>
                <a:gd name="T29" fmla="*/ 0 h 80"/>
                <a:gd name="T30" fmla="*/ 2147483647 w 52"/>
                <a:gd name="T31" fmla="*/ 2147483647 h 80"/>
                <a:gd name="T32" fmla="*/ 2147483647 w 52"/>
                <a:gd name="T33" fmla="*/ 2147483647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2"/>
                <a:gd name="T52" fmla="*/ 0 h 80"/>
                <a:gd name="T53" fmla="*/ 52 w 52"/>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B21A1A"/>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53" name="Freeform 220"/>
            <p:cNvSpPr>
              <a:spLocks/>
            </p:cNvSpPr>
            <p:nvPr/>
          </p:nvSpPr>
          <p:spPr bwMode="auto">
            <a:xfrm>
              <a:off x="3272" y="1586"/>
              <a:ext cx="81" cy="167"/>
            </a:xfrm>
            <a:custGeom>
              <a:avLst/>
              <a:gdLst>
                <a:gd name="T0" fmla="*/ 2147483647 w 19"/>
                <a:gd name="T1" fmla="*/ 2147483647 h 39"/>
                <a:gd name="T2" fmla="*/ 2147483647 w 19"/>
                <a:gd name="T3" fmla="*/ 0 h 39"/>
                <a:gd name="T4" fmla="*/ 0 w 19"/>
                <a:gd name="T5" fmla="*/ 2147483647 h 39"/>
                <a:gd name="T6" fmla="*/ 0 w 19"/>
                <a:gd name="T7" fmla="*/ 2147483647 h 39"/>
                <a:gd name="T8" fmla="*/ 2147483647 w 19"/>
                <a:gd name="T9" fmla="*/ 2147483647 h 39"/>
                <a:gd name="T10" fmla="*/ 2147483647 w 19"/>
                <a:gd name="T11" fmla="*/ 2147483647 h 39"/>
                <a:gd name="T12" fmla="*/ 2147483647 w 19"/>
                <a:gd name="T13" fmla="*/ 2147483647 h 39"/>
                <a:gd name="T14" fmla="*/ 0 60000 65536"/>
                <a:gd name="T15" fmla="*/ 0 60000 65536"/>
                <a:gd name="T16" fmla="*/ 0 60000 65536"/>
                <a:gd name="T17" fmla="*/ 0 60000 65536"/>
                <a:gd name="T18" fmla="*/ 0 60000 65536"/>
                <a:gd name="T19" fmla="*/ 0 60000 65536"/>
                <a:gd name="T20" fmla="*/ 0 60000 65536"/>
                <a:gd name="T21" fmla="*/ 0 w 19"/>
                <a:gd name="T22" fmla="*/ 0 h 39"/>
                <a:gd name="T23" fmla="*/ 19 w 19"/>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015F85"/>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54" name="Freeform 221"/>
            <p:cNvSpPr>
              <a:spLocks/>
            </p:cNvSpPr>
            <p:nvPr/>
          </p:nvSpPr>
          <p:spPr bwMode="auto">
            <a:xfrm>
              <a:off x="3499" y="1474"/>
              <a:ext cx="81" cy="279"/>
            </a:xfrm>
            <a:custGeom>
              <a:avLst/>
              <a:gdLst>
                <a:gd name="T0" fmla="*/ 2147483647 w 19"/>
                <a:gd name="T1" fmla="*/ 2147483647 h 65"/>
                <a:gd name="T2" fmla="*/ 2147483647 w 19"/>
                <a:gd name="T3" fmla="*/ 0 h 65"/>
                <a:gd name="T4" fmla="*/ 0 w 19"/>
                <a:gd name="T5" fmla="*/ 2147483647 h 65"/>
                <a:gd name="T6" fmla="*/ 0 w 19"/>
                <a:gd name="T7" fmla="*/ 2147483647 h 65"/>
                <a:gd name="T8" fmla="*/ 2147483647 w 19"/>
                <a:gd name="T9" fmla="*/ 2147483647 h 65"/>
                <a:gd name="T10" fmla="*/ 2147483647 w 19"/>
                <a:gd name="T11" fmla="*/ 2147483647 h 65"/>
                <a:gd name="T12" fmla="*/ 2147483647 w 19"/>
                <a:gd name="T13" fmla="*/ 2147483647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015F85"/>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55" name="Freeform 222"/>
            <p:cNvSpPr>
              <a:spLocks/>
            </p:cNvSpPr>
            <p:nvPr/>
          </p:nvSpPr>
          <p:spPr bwMode="auto">
            <a:xfrm>
              <a:off x="3722" y="1320"/>
              <a:ext cx="81" cy="514"/>
            </a:xfrm>
            <a:custGeom>
              <a:avLst/>
              <a:gdLst>
                <a:gd name="T0" fmla="*/ 2147483647 w 19"/>
                <a:gd name="T1" fmla="*/ 2147483647 h 120"/>
                <a:gd name="T2" fmla="*/ 2147483647 w 19"/>
                <a:gd name="T3" fmla="*/ 0 h 120"/>
                <a:gd name="T4" fmla="*/ 0 w 19"/>
                <a:gd name="T5" fmla="*/ 2147483647 h 120"/>
                <a:gd name="T6" fmla="*/ 0 w 19"/>
                <a:gd name="T7" fmla="*/ 2147483647 h 120"/>
                <a:gd name="T8" fmla="*/ 2147483647 w 19"/>
                <a:gd name="T9" fmla="*/ 2147483647 h 120"/>
                <a:gd name="T10" fmla="*/ 2147483647 w 19"/>
                <a:gd name="T11" fmla="*/ 2147483647 h 120"/>
                <a:gd name="T12" fmla="*/ 2147483647 w 19"/>
                <a:gd name="T13" fmla="*/ 2147483647 h 120"/>
                <a:gd name="T14" fmla="*/ 0 60000 65536"/>
                <a:gd name="T15" fmla="*/ 0 60000 65536"/>
                <a:gd name="T16" fmla="*/ 0 60000 65536"/>
                <a:gd name="T17" fmla="*/ 0 60000 65536"/>
                <a:gd name="T18" fmla="*/ 0 60000 65536"/>
                <a:gd name="T19" fmla="*/ 0 60000 65536"/>
                <a:gd name="T20" fmla="*/ 0 60000 65536"/>
                <a:gd name="T21" fmla="*/ 0 w 19"/>
                <a:gd name="T22" fmla="*/ 0 h 120"/>
                <a:gd name="T23" fmla="*/ 19 w 19"/>
                <a:gd name="T24" fmla="*/ 120 h 1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015F85"/>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56" name="Freeform 223"/>
            <p:cNvSpPr>
              <a:spLocks/>
            </p:cNvSpPr>
            <p:nvPr/>
          </p:nvSpPr>
          <p:spPr bwMode="auto">
            <a:xfrm>
              <a:off x="3949" y="1474"/>
              <a:ext cx="81" cy="279"/>
            </a:xfrm>
            <a:custGeom>
              <a:avLst/>
              <a:gdLst>
                <a:gd name="T0" fmla="*/ 2147483647 w 19"/>
                <a:gd name="T1" fmla="*/ 2147483647 h 65"/>
                <a:gd name="T2" fmla="*/ 2147483647 w 19"/>
                <a:gd name="T3" fmla="*/ 0 h 65"/>
                <a:gd name="T4" fmla="*/ 0 w 19"/>
                <a:gd name="T5" fmla="*/ 2147483647 h 65"/>
                <a:gd name="T6" fmla="*/ 0 w 19"/>
                <a:gd name="T7" fmla="*/ 2147483647 h 65"/>
                <a:gd name="T8" fmla="*/ 2147483647 w 19"/>
                <a:gd name="T9" fmla="*/ 2147483647 h 65"/>
                <a:gd name="T10" fmla="*/ 2147483647 w 19"/>
                <a:gd name="T11" fmla="*/ 2147483647 h 65"/>
                <a:gd name="T12" fmla="*/ 2147483647 w 19"/>
                <a:gd name="T13" fmla="*/ 2147483647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015F85"/>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57" name="Freeform 224"/>
            <p:cNvSpPr>
              <a:spLocks/>
            </p:cNvSpPr>
            <p:nvPr/>
          </p:nvSpPr>
          <p:spPr bwMode="auto">
            <a:xfrm>
              <a:off x="4171" y="1586"/>
              <a:ext cx="86" cy="167"/>
            </a:xfrm>
            <a:custGeom>
              <a:avLst/>
              <a:gdLst>
                <a:gd name="T0" fmla="*/ 2147483647 w 20"/>
                <a:gd name="T1" fmla="*/ 2147483647 h 39"/>
                <a:gd name="T2" fmla="*/ 2147483647 w 20"/>
                <a:gd name="T3" fmla="*/ 0 h 39"/>
                <a:gd name="T4" fmla="*/ 0 w 20"/>
                <a:gd name="T5" fmla="*/ 2147483647 h 39"/>
                <a:gd name="T6" fmla="*/ 0 w 20"/>
                <a:gd name="T7" fmla="*/ 2147483647 h 39"/>
                <a:gd name="T8" fmla="*/ 2147483647 w 20"/>
                <a:gd name="T9" fmla="*/ 2147483647 h 39"/>
                <a:gd name="T10" fmla="*/ 2147483647 w 20"/>
                <a:gd name="T11" fmla="*/ 2147483647 h 39"/>
                <a:gd name="T12" fmla="*/ 2147483647 w 20"/>
                <a:gd name="T13" fmla="*/ 2147483647 h 39"/>
                <a:gd name="T14" fmla="*/ 0 60000 65536"/>
                <a:gd name="T15" fmla="*/ 0 60000 65536"/>
                <a:gd name="T16" fmla="*/ 0 60000 65536"/>
                <a:gd name="T17" fmla="*/ 0 60000 65536"/>
                <a:gd name="T18" fmla="*/ 0 60000 65536"/>
                <a:gd name="T19" fmla="*/ 0 60000 65536"/>
                <a:gd name="T20" fmla="*/ 0 60000 65536"/>
                <a:gd name="T21" fmla="*/ 0 w 20"/>
                <a:gd name="T22" fmla="*/ 0 h 39"/>
                <a:gd name="T23" fmla="*/ 20 w 2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015F85"/>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58" name="Freeform 225"/>
            <p:cNvSpPr>
              <a:spLocks/>
            </p:cNvSpPr>
            <p:nvPr/>
          </p:nvSpPr>
          <p:spPr bwMode="auto">
            <a:xfrm>
              <a:off x="4398" y="1474"/>
              <a:ext cx="82" cy="279"/>
            </a:xfrm>
            <a:custGeom>
              <a:avLst/>
              <a:gdLst>
                <a:gd name="T0" fmla="*/ 2147483647 w 19"/>
                <a:gd name="T1" fmla="*/ 2147483647 h 65"/>
                <a:gd name="T2" fmla="*/ 2147483647 w 19"/>
                <a:gd name="T3" fmla="*/ 0 h 65"/>
                <a:gd name="T4" fmla="*/ 0 w 19"/>
                <a:gd name="T5" fmla="*/ 2147483647 h 65"/>
                <a:gd name="T6" fmla="*/ 0 w 19"/>
                <a:gd name="T7" fmla="*/ 2147483647 h 65"/>
                <a:gd name="T8" fmla="*/ 2147483647 w 19"/>
                <a:gd name="T9" fmla="*/ 2147483647 h 65"/>
                <a:gd name="T10" fmla="*/ 2147483647 w 19"/>
                <a:gd name="T11" fmla="*/ 2147483647 h 65"/>
                <a:gd name="T12" fmla="*/ 2147483647 w 19"/>
                <a:gd name="T13" fmla="*/ 2147483647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015F85"/>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59" name="Freeform 226"/>
            <p:cNvSpPr>
              <a:spLocks/>
            </p:cNvSpPr>
            <p:nvPr/>
          </p:nvSpPr>
          <p:spPr bwMode="auto">
            <a:xfrm>
              <a:off x="4625" y="1320"/>
              <a:ext cx="82" cy="514"/>
            </a:xfrm>
            <a:custGeom>
              <a:avLst/>
              <a:gdLst>
                <a:gd name="T0" fmla="*/ 2147483647 w 19"/>
                <a:gd name="T1" fmla="*/ 2147483647 h 120"/>
                <a:gd name="T2" fmla="*/ 2147483647 w 19"/>
                <a:gd name="T3" fmla="*/ 0 h 120"/>
                <a:gd name="T4" fmla="*/ 0 w 19"/>
                <a:gd name="T5" fmla="*/ 2147483647 h 120"/>
                <a:gd name="T6" fmla="*/ 0 w 19"/>
                <a:gd name="T7" fmla="*/ 2147483647 h 120"/>
                <a:gd name="T8" fmla="*/ 2147483647 w 19"/>
                <a:gd name="T9" fmla="*/ 2147483647 h 120"/>
                <a:gd name="T10" fmla="*/ 2147483647 w 19"/>
                <a:gd name="T11" fmla="*/ 2147483647 h 120"/>
                <a:gd name="T12" fmla="*/ 2147483647 w 19"/>
                <a:gd name="T13" fmla="*/ 2147483647 h 120"/>
                <a:gd name="T14" fmla="*/ 0 60000 65536"/>
                <a:gd name="T15" fmla="*/ 0 60000 65536"/>
                <a:gd name="T16" fmla="*/ 0 60000 65536"/>
                <a:gd name="T17" fmla="*/ 0 60000 65536"/>
                <a:gd name="T18" fmla="*/ 0 60000 65536"/>
                <a:gd name="T19" fmla="*/ 0 60000 65536"/>
                <a:gd name="T20" fmla="*/ 0 60000 65536"/>
                <a:gd name="T21" fmla="*/ 0 w 19"/>
                <a:gd name="T22" fmla="*/ 0 h 120"/>
                <a:gd name="T23" fmla="*/ 19 w 19"/>
                <a:gd name="T24" fmla="*/ 120 h 1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015F85"/>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60" name="Freeform 227"/>
            <p:cNvSpPr>
              <a:spLocks/>
            </p:cNvSpPr>
            <p:nvPr/>
          </p:nvSpPr>
          <p:spPr bwMode="auto">
            <a:xfrm>
              <a:off x="4848" y="1474"/>
              <a:ext cx="82" cy="279"/>
            </a:xfrm>
            <a:custGeom>
              <a:avLst/>
              <a:gdLst>
                <a:gd name="T0" fmla="*/ 2147483647 w 19"/>
                <a:gd name="T1" fmla="*/ 2147483647 h 65"/>
                <a:gd name="T2" fmla="*/ 2147483647 w 19"/>
                <a:gd name="T3" fmla="*/ 0 h 65"/>
                <a:gd name="T4" fmla="*/ 0 w 19"/>
                <a:gd name="T5" fmla="*/ 2147483647 h 65"/>
                <a:gd name="T6" fmla="*/ 0 w 19"/>
                <a:gd name="T7" fmla="*/ 2147483647 h 65"/>
                <a:gd name="T8" fmla="*/ 2147483647 w 19"/>
                <a:gd name="T9" fmla="*/ 2147483647 h 65"/>
                <a:gd name="T10" fmla="*/ 2147483647 w 19"/>
                <a:gd name="T11" fmla="*/ 2147483647 h 65"/>
                <a:gd name="T12" fmla="*/ 2147483647 w 19"/>
                <a:gd name="T13" fmla="*/ 2147483647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015F85"/>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sp>
          <p:nvSpPr>
            <p:cNvPr id="61" name="Freeform 228"/>
            <p:cNvSpPr>
              <a:spLocks/>
            </p:cNvSpPr>
            <p:nvPr/>
          </p:nvSpPr>
          <p:spPr bwMode="auto">
            <a:xfrm>
              <a:off x="5075" y="1586"/>
              <a:ext cx="82" cy="167"/>
            </a:xfrm>
            <a:custGeom>
              <a:avLst/>
              <a:gdLst>
                <a:gd name="T0" fmla="*/ 2147483647 w 19"/>
                <a:gd name="T1" fmla="*/ 2147483647 h 39"/>
                <a:gd name="T2" fmla="*/ 2147483647 w 19"/>
                <a:gd name="T3" fmla="*/ 0 h 39"/>
                <a:gd name="T4" fmla="*/ 0 w 19"/>
                <a:gd name="T5" fmla="*/ 2147483647 h 39"/>
                <a:gd name="T6" fmla="*/ 0 w 19"/>
                <a:gd name="T7" fmla="*/ 2147483647 h 39"/>
                <a:gd name="T8" fmla="*/ 2147483647 w 19"/>
                <a:gd name="T9" fmla="*/ 2147483647 h 39"/>
                <a:gd name="T10" fmla="*/ 2147483647 w 19"/>
                <a:gd name="T11" fmla="*/ 2147483647 h 39"/>
                <a:gd name="T12" fmla="*/ 2147483647 w 19"/>
                <a:gd name="T13" fmla="*/ 2147483647 h 39"/>
                <a:gd name="T14" fmla="*/ 0 60000 65536"/>
                <a:gd name="T15" fmla="*/ 0 60000 65536"/>
                <a:gd name="T16" fmla="*/ 0 60000 65536"/>
                <a:gd name="T17" fmla="*/ 0 60000 65536"/>
                <a:gd name="T18" fmla="*/ 0 60000 65536"/>
                <a:gd name="T19" fmla="*/ 0 60000 65536"/>
                <a:gd name="T20" fmla="*/ 0 60000 65536"/>
                <a:gd name="T21" fmla="*/ 0 w 19"/>
                <a:gd name="T22" fmla="*/ 0 h 39"/>
                <a:gd name="T23" fmla="*/ 19 w 19"/>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015F85"/>
            </a:solidFill>
            <a:ln w="9525">
              <a:noFill/>
              <a:round/>
              <a:headEnd/>
              <a:tailEnd/>
            </a:ln>
          </p:spPr>
          <p:txBody>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2400" b="1" i="0" u="none" strike="noStrike" kern="0" cap="none" spc="0" normalizeH="0" baseline="0" noProof="0" smtClean="0">
                <a:ln>
                  <a:noFill/>
                </a:ln>
                <a:solidFill>
                  <a:srgbClr val="333333"/>
                </a:solidFill>
                <a:effectLst/>
                <a:uLnTx/>
                <a:uFillTx/>
                <a:ea typeface="Arial Unicode MS" pitchFamily="34" charset="-128"/>
                <a:cs typeface="Arial Unicode MS" pitchFamily="34" charset="-128"/>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path" presetSubtype="0" accel="50000" decel="50000" fill="hold" nodeType="clickEffect">
                                  <p:stCondLst>
                                    <p:cond delay="0"/>
                                  </p:stCondLst>
                                  <p:childTnLst>
                                    <p:animMotion origin="layout" path="M -3.05556E-6 3.7037E-6 L 0.00018 -0.07686 " pathEditMode="relative" rAng="0" ptsTypes="AA">
                                      <p:cBhvr>
                                        <p:cTn id="6" dur="2000" fill="hold"/>
                                        <p:tgtEl>
                                          <p:spTgt spid="15"/>
                                        </p:tgtEl>
                                        <p:attrNameLst>
                                          <p:attrName>ppt_x</p:attrName>
                                          <p:attrName>ppt_y</p:attrName>
                                        </p:attrNameLst>
                                      </p:cBhvr>
                                      <p:rCtr x="0" y="-38"/>
                                    </p:animMotion>
                                  </p:childTnLst>
                                </p:cTn>
                              </p:par>
                            </p:childTnLst>
                          </p:cTn>
                        </p:par>
                        <p:par>
                          <p:cTn id="7" fill="hold">
                            <p:stCondLst>
                              <p:cond delay="2000"/>
                            </p:stCondLst>
                            <p:childTnLst>
                              <p:par>
                                <p:cTn id="8" presetID="2" presetClass="entr" presetSubtype="2" fill="hold" nodeType="after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1+#ppt_w/2"/>
                                          </p:val>
                                        </p:tav>
                                        <p:tav tm="100000">
                                          <p:val>
                                            <p:strVal val="#ppt_x"/>
                                          </p:val>
                                        </p:tav>
                                      </p:tavLst>
                                    </p:anim>
                                    <p:anim calcmode="lin" valueType="num">
                                      <p:cBhvr additive="base">
                                        <p:cTn id="11" dur="500" fill="hold"/>
                                        <p:tgtEl>
                                          <p:spTgt spid="14"/>
                                        </p:tgtEl>
                                        <p:attrNameLst>
                                          <p:attrName>ppt_y</p:attrName>
                                        </p:attrNameLst>
                                      </p:cBhvr>
                                      <p:tavLst>
                                        <p:tav tm="0">
                                          <p:val>
                                            <p:strVal val="#ppt_y"/>
                                          </p:val>
                                        </p:tav>
                                        <p:tav tm="100000">
                                          <p:val>
                                            <p:strVal val="#ppt_y"/>
                                          </p:val>
                                        </p:tav>
                                      </p:tavLst>
                                    </p:anim>
                                  </p:childTnLst>
                                </p:cTn>
                              </p:par>
                            </p:childTnLst>
                          </p:cTn>
                        </p:par>
                        <p:par>
                          <p:cTn id="12" fill="hold">
                            <p:stCondLst>
                              <p:cond delay="2500"/>
                            </p:stCondLst>
                            <p:childTnLst>
                              <p:par>
                                <p:cTn id="13" presetID="42" presetClass="path" presetSubtype="0" accel="50000" decel="50000" fill="hold" nodeType="afterEffect">
                                  <p:stCondLst>
                                    <p:cond delay="0"/>
                                  </p:stCondLst>
                                  <p:childTnLst>
                                    <p:animMotion origin="layout" path="M 0.00018 -0.07686 L 0.00018 -0.04352 " pathEditMode="relative" rAng="0" ptsTypes="AA">
                                      <p:cBhvr>
                                        <p:cTn id="14" dur="2000" fill="hold"/>
                                        <p:tgtEl>
                                          <p:spTgt spid="15"/>
                                        </p:tgtEl>
                                        <p:attrNameLst>
                                          <p:attrName>ppt_x</p:attrName>
                                          <p:attrName>ppt_y</p:attrName>
                                        </p:attrNameLst>
                                      </p:cBhvr>
                                      <p:rCtr x="0" y="1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in Virtualization</a:t>
            </a:r>
            <a:endParaRPr lang="en-US" dirty="0"/>
          </a:p>
        </p:txBody>
      </p:sp>
      <p:sp>
        <p:nvSpPr>
          <p:cNvPr id="3" name="Content Placeholder 2"/>
          <p:cNvSpPr>
            <a:spLocks noGrp="1"/>
          </p:cNvSpPr>
          <p:nvPr>
            <p:ph idx="1"/>
          </p:nvPr>
        </p:nvSpPr>
        <p:spPr>
          <a:xfrm>
            <a:off x="457200" y="1600201"/>
            <a:ext cx="4114800" cy="2667000"/>
          </a:xfrm>
        </p:spPr>
        <p:txBody>
          <a:bodyPr/>
          <a:lstStyle/>
          <a:p>
            <a:r>
              <a:rPr lang="en-US" dirty="0" smtClean="0"/>
              <a:t>Enhance virtual machine security protection :</a:t>
            </a:r>
          </a:p>
          <a:p>
            <a:pPr lvl="1"/>
            <a:r>
              <a:rPr lang="en-US" dirty="0" smtClean="0"/>
              <a:t>The Application </a:t>
            </a:r>
            <a:r>
              <a:rPr lang="en-US" dirty="0" err="1" smtClean="0"/>
              <a:t>vService</a:t>
            </a:r>
            <a:r>
              <a:rPr lang="en-US" dirty="0" smtClean="0"/>
              <a:t> </a:t>
            </a:r>
            <a:r>
              <a:rPr lang="en-US" dirty="0" err="1" smtClean="0"/>
              <a:t>VMSafe</a:t>
            </a:r>
            <a:r>
              <a:rPr lang="en-US" dirty="0" smtClean="0"/>
              <a:t> allows security vendors to add superior security solutions inside the VMware Infrastructure.</a:t>
            </a:r>
          </a:p>
        </p:txBody>
      </p:sp>
      <p:grpSp>
        <p:nvGrpSpPr>
          <p:cNvPr id="5" name="Group 35"/>
          <p:cNvGrpSpPr>
            <a:grpSpLocks/>
          </p:cNvGrpSpPr>
          <p:nvPr/>
        </p:nvGrpSpPr>
        <p:grpSpPr bwMode="auto">
          <a:xfrm>
            <a:off x="5148945" y="3086782"/>
            <a:ext cx="1676400" cy="2608263"/>
            <a:chOff x="1676400" y="2052601"/>
            <a:chExt cx="1676400" cy="2608299"/>
          </a:xfrm>
        </p:grpSpPr>
        <p:pic>
          <p:nvPicPr>
            <p:cNvPr id="6" name="Picture 9" descr="small_server"/>
            <p:cNvPicPr>
              <a:picLocks noChangeAspect="1" noChangeArrowheads="1"/>
            </p:cNvPicPr>
            <p:nvPr/>
          </p:nvPicPr>
          <p:blipFill>
            <a:blip r:embed="rId2" cstate="print"/>
            <a:srcRect/>
            <a:stretch>
              <a:fillRect/>
            </a:stretch>
          </p:blipFill>
          <p:spPr bwMode="auto">
            <a:xfrm>
              <a:off x="1676400" y="2356148"/>
              <a:ext cx="1676400" cy="2304752"/>
            </a:xfrm>
            <a:prstGeom prst="rect">
              <a:avLst/>
            </a:prstGeom>
            <a:noFill/>
            <a:ln w="9525">
              <a:noFill/>
              <a:miter lim="800000"/>
              <a:headEnd/>
              <a:tailEnd/>
            </a:ln>
          </p:spPr>
        </p:pic>
        <p:pic>
          <p:nvPicPr>
            <p:cNvPr id="7" name="Picture 9" descr="arch3"/>
            <p:cNvPicPr>
              <a:picLocks noChangeAspect="1" noChangeArrowheads="1"/>
            </p:cNvPicPr>
            <p:nvPr/>
          </p:nvPicPr>
          <p:blipFill>
            <a:blip r:embed="rId3" cstate="print"/>
            <a:srcRect/>
            <a:stretch>
              <a:fillRect/>
            </a:stretch>
          </p:blipFill>
          <p:spPr bwMode="auto">
            <a:xfrm>
              <a:off x="1714500" y="2052601"/>
              <a:ext cx="1300170" cy="1057028"/>
            </a:xfrm>
            <a:prstGeom prst="rect">
              <a:avLst/>
            </a:prstGeom>
            <a:noFill/>
            <a:ln w="9525">
              <a:noFill/>
              <a:miter lim="800000"/>
              <a:headEnd/>
              <a:tailEnd/>
            </a:ln>
          </p:spPr>
        </p:pic>
      </p:grpSp>
      <p:grpSp>
        <p:nvGrpSpPr>
          <p:cNvPr id="8" name="Group 33"/>
          <p:cNvGrpSpPr>
            <a:grpSpLocks/>
          </p:cNvGrpSpPr>
          <p:nvPr/>
        </p:nvGrpSpPr>
        <p:grpSpPr bwMode="auto">
          <a:xfrm>
            <a:off x="5943600" y="3516312"/>
            <a:ext cx="1676400" cy="2608263"/>
            <a:chOff x="3695700" y="2057400"/>
            <a:chExt cx="1676400" cy="2608299"/>
          </a:xfrm>
        </p:grpSpPr>
        <p:pic>
          <p:nvPicPr>
            <p:cNvPr id="9" name="Picture 9" descr="small_server"/>
            <p:cNvPicPr>
              <a:picLocks noChangeAspect="1" noChangeArrowheads="1"/>
            </p:cNvPicPr>
            <p:nvPr/>
          </p:nvPicPr>
          <p:blipFill>
            <a:blip r:embed="rId2" cstate="print"/>
            <a:srcRect/>
            <a:stretch>
              <a:fillRect/>
            </a:stretch>
          </p:blipFill>
          <p:spPr bwMode="auto">
            <a:xfrm>
              <a:off x="3695700" y="2360947"/>
              <a:ext cx="1676400" cy="2304752"/>
            </a:xfrm>
            <a:prstGeom prst="rect">
              <a:avLst/>
            </a:prstGeom>
            <a:noFill/>
            <a:ln w="9525">
              <a:noFill/>
              <a:miter lim="800000"/>
              <a:headEnd/>
              <a:tailEnd/>
            </a:ln>
          </p:spPr>
        </p:pic>
        <p:pic>
          <p:nvPicPr>
            <p:cNvPr id="10" name="Picture 9" descr="arch3"/>
            <p:cNvPicPr>
              <a:picLocks noChangeAspect="1" noChangeArrowheads="1"/>
            </p:cNvPicPr>
            <p:nvPr/>
          </p:nvPicPr>
          <p:blipFill>
            <a:blip r:embed="rId3" cstate="print"/>
            <a:srcRect/>
            <a:stretch>
              <a:fillRect/>
            </a:stretch>
          </p:blipFill>
          <p:spPr bwMode="auto">
            <a:xfrm>
              <a:off x="3733800" y="2057400"/>
              <a:ext cx="1300170" cy="1057028"/>
            </a:xfrm>
            <a:prstGeom prst="rect">
              <a:avLst/>
            </a:prstGeom>
            <a:noFill/>
            <a:ln w="9525">
              <a:noFill/>
              <a:miter lim="800000"/>
              <a:headEnd/>
              <a:tailEnd/>
            </a:ln>
          </p:spPr>
        </p:pic>
      </p:grpSp>
      <p:grpSp>
        <p:nvGrpSpPr>
          <p:cNvPr id="11" name="Group 32"/>
          <p:cNvGrpSpPr>
            <a:grpSpLocks/>
          </p:cNvGrpSpPr>
          <p:nvPr/>
        </p:nvGrpSpPr>
        <p:grpSpPr bwMode="auto">
          <a:xfrm>
            <a:off x="6788328" y="3988482"/>
            <a:ext cx="1676400" cy="2608263"/>
            <a:chOff x="5715000" y="2057400"/>
            <a:chExt cx="1676400" cy="2608299"/>
          </a:xfrm>
        </p:grpSpPr>
        <p:pic>
          <p:nvPicPr>
            <p:cNvPr id="12" name="Picture 9" descr="small_server"/>
            <p:cNvPicPr>
              <a:picLocks noChangeAspect="1" noChangeArrowheads="1"/>
            </p:cNvPicPr>
            <p:nvPr/>
          </p:nvPicPr>
          <p:blipFill>
            <a:blip r:embed="rId2" cstate="print"/>
            <a:srcRect/>
            <a:stretch>
              <a:fillRect/>
            </a:stretch>
          </p:blipFill>
          <p:spPr bwMode="auto">
            <a:xfrm>
              <a:off x="5715000" y="2360947"/>
              <a:ext cx="1676400" cy="2304752"/>
            </a:xfrm>
            <a:prstGeom prst="rect">
              <a:avLst/>
            </a:prstGeom>
            <a:noFill/>
            <a:ln w="9525">
              <a:noFill/>
              <a:miter lim="800000"/>
              <a:headEnd/>
              <a:tailEnd/>
            </a:ln>
          </p:spPr>
        </p:pic>
        <p:pic>
          <p:nvPicPr>
            <p:cNvPr id="13" name="Picture 9" descr="arch3"/>
            <p:cNvPicPr>
              <a:picLocks noChangeAspect="1" noChangeArrowheads="1"/>
            </p:cNvPicPr>
            <p:nvPr/>
          </p:nvPicPr>
          <p:blipFill>
            <a:blip r:embed="rId3" cstate="print"/>
            <a:srcRect/>
            <a:stretch>
              <a:fillRect/>
            </a:stretch>
          </p:blipFill>
          <p:spPr bwMode="auto">
            <a:xfrm>
              <a:off x="5753100" y="2057400"/>
              <a:ext cx="1300170" cy="1057028"/>
            </a:xfrm>
            <a:prstGeom prst="rect">
              <a:avLst/>
            </a:prstGeom>
            <a:noFill/>
            <a:ln w="9525">
              <a:noFill/>
              <a:miter lim="800000"/>
              <a:headEnd/>
              <a:tailEnd/>
            </a:ln>
          </p:spPr>
        </p:pic>
      </p:grpSp>
      <p:pic>
        <p:nvPicPr>
          <p:cNvPr id="14" name="Picture 27" descr="VMware-Infra"/>
          <p:cNvPicPr>
            <a:picLocks noChangeAspect="1" noChangeArrowheads="1"/>
          </p:cNvPicPr>
          <p:nvPr/>
        </p:nvPicPr>
        <p:blipFill>
          <a:blip r:embed="rId4" cstate="print"/>
          <a:srcRect/>
          <a:stretch>
            <a:fillRect/>
          </a:stretch>
        </p:blipFill>
        <p:spPr bwMode="auto">
          <a:xfrm>
            <a:off x="5151438" y="2725737"/>
            <a:ext cx="3001962" cy="2036763"/>
          </a:xfrm>
          <a:prstGeom prst="rect">
            <a:avLst/>
          </a:prstGeom>
          <a:noFill/>
          <a:ln w="9525">
            <a:noFill/>
            <a:miter lim="800000"/>
            <a:headEnd/>
            <a:tailEnd/>
          </a:ln>
        </p:spPr>
      </p:pic>
      <p:pic>
        <p:nvPicPr>
          <p:cNvPr id="29" name="Picture 28" descr="vi_security copy.gif"/>
          <p:cNvPicPr>
            <a:picLocks noChangeAspect="1"/>
          </p:cNvPicPr>
          <p:nvPr/>
        </p:nvPicPr>
        <p:blipFill>
          <a:blip r:embed="rId5" cstate="print"/>
          <a:srcRect/>
          <a:stretch>
            <a:fillRect/>
          </a:stretch>
        </p:blipFill>
        <p:spPr bwMode="auto">
          <a:xfrm>
            <a:off x="5140325" y="2346236"/>
            <a:ext cx="3013075" cy="2057400"/>
          </a:xfrm>
          <a:prstGeom prst="rect">
            <a:avLst/>
          </a:prstGeom>
          <a:noFill/>
          <a:ln w="9525">
            <a:noFill/>
            <a:miter lim="800000"/>
            <a:headEnd/>
            <a:tailEnd/>
          </a:ln>
        </p:spPr>
      </p:pic>
      <p:grpSp>
        <p:nvGrpSpPr>
          <p:cNvPr id="16" name="Group 32"/>
          <p:cNvGrpSpPr>
            <a:grpSpLocks/>
          </p:cNvGrpSpPr>
          <p:nvPr/>
        </p:nvGrpSpPr>
        <p:grpSpPr bwMode="auto">
          <a:xfrm>
            <a:off x="5372113" y="1887537"/>
            <a:ext cx="2550596" cy="2383743"/>
            <a:chOff x="5372100" y="1308381"/>
            <a:chExt cx="2550178" cy="2384080"/>
          </a:xfrm>
        </p:grpSpPr>
        <p:grpSp>
          <p:nvGrpSpPr>
            <p:cNvPr id="17" name="Group 36"/>
            <p:cNvGrpSpPr>
              <a:grpSpLocks/>
            </p:cNvGrpSpPr>
            <p:nvPr/>
          </p:nvGrpSpPr>
          <p:grpSpPr bwMode="auto">
            <a:xfrm>
              <a:off x="5372100" y="1308381"/>
              <a:ext cx="986994" cy="1526211"/>
              <a:chOff x="1866900" y="1214401"/>
              <a:chExt cx="986994" cy="1526211"/>
            </a:xfrm>
          </p:grpSpPr>
          <p:pic>
            <p:nvPicPr>
              <p:cNvPr id="26" name="Picture 15" descr="OS_revised"/>
              <p:cNvPicPr>
                <a:picLocks noChangeAspect="1" noChangeArrowheads="1"/>
              </p:cNvPicPr>
              <p:nvPr/>
            </p:nvPicPr>
            <p:blipFill>
              <a:blip r:embed="rId6" cstate="print"/>
              <a:srcRect/>
              <a:stretch>
                <a:fillRect/>
              </a:stretch>
            </p:blipFill>
            <p:spPr bwMode="auto">
              <a:xfrm>
                <a:off x="2324100" y="1214401"/>
                <a:ext cx="529794" cy="1297611"/>
              </a:xfrm>
              <a:prstGeom prst="rect">
                <a:avLst/>
              </a:prstGeom>
              <a:noFill/>
              <a:ln w="9525">
                <a:noFill/>
                <a:miter lim="800000"/>
                <a:headEnd/>
                <a:tailEnd/>
              </a:ln>
            </p:spPr>
          </p:pic>
          <p:pic>
            <p:nvPicPr>
              <p:cNvPr id="27" name="Picture 14" descr="OS_revised"/>
              <p:cNvPicPr>
                <a:picLocks noChangeAspect="1" noChangeArrowheads="1"/>
              </p:cNvPicPr>
              <p:nvPr/>
            </p:nvPicPr>
            <p:blipFill>
              <a:blip r:embed="rId6" cstate="print"/>
              <a:srcRect/>
              <a:stretch>
                <a:fillRect/>
              </a:stretch>
            </p:blipFill>
            <p:spPr bwMode="auto">
              <a:xfrm>
                <a:off x="2095500" y="1290601"/>
                <a:ext cx="529794" cy="1297611"/>
              </a:xfrm>
              <a:prstGeom prst="rect">
                <a:avLst/>
              </a:prstGeom>
              <a:noFill/>
              <a:ln w="9525">
                <a:noFill/>
                <a:miter lim="800000"/>
                <a:headEnd/>
                <a:tailEnd/>
              </a:ln>
            </p:spPr>
          </p:pic>
          <p:pic>
            <p:nvPicPr>
              <p:cNvPr id="28" name="Picture 13" descr="OS_revised"/>
              <p:cNvPicPr>
                <a:picLocks noChangeAspect="1" noChangeArrowheads="1"/>
              </p:cNvPicPr>
              <p:nvPr/>
            </p:nvPicPr>
            <p:blipFill>
              <a:blip r:embed="rId6" cstate="print"/>
              <a:srcRect/>
              <a:stretch>
                <a:fillRect/>
              </a:stretch>
            </p:blipFill>
            <p:spPr bwMode="auto">
              <a:xfrm>
                <a:off x="1866900" y="1443001"/>
                <a:ext cx="529794" cy="1297611"/>
              </a:xfrm>
              <a:prstGeom prst="rect">
                <a:avLst/>
              </a:prstGeom>
              <a:noFill/>
              <a:ln w="9525">
                <a:noFill/>
                <a:miter lim="800000"/>
                <a:headEnd/>
                <a:tailEnd/>
              </a:ln>
            </p:spPr>
          </p:pic>
        </p:grpSp>
        <p:grpSp>
          <p:nvGrpSpPr>
            <p:cNvPr id="18" name="Group 37"/>
            <p:cNvGrpSpPr>
              <a:grpSpLocks/>
            </p:cNvGrpSpPr>
            <p:nvPr/>
          </p:nvGrpSpPr>
          <p:grpSpPr bwMode="auto">
            <a:xfrm>
              <a:off x="6134100" y="1728559"/>
              <a:ext cx="986994" cy="1526211"/>
              <a:chOff x="3886200" y="1166938"/>
              <a:chExt cx="986994" cy="1526211"/>
            </a:xfrm>
          </p:grpSpPr>
          <p:pic>
            <p:nvPicPr>
              <p:cNvPr id="23" name="Picture 15" descr="OS_revised"/>
              <p:cNvPicPr>
                <a:picLocks noChangeAspect="1" noChangeArrowheads="1"/>
              </p:cNvPicPr>
              <p:nvPr/>
            </p:nvPicPr>
            <p:blipFill>
              <a:blip r:embed="rId6" cstate="print"/>
              <a:srcRect/>
              <a:stretch>
                <a:fillRect/>
              </a:stretch>
            </p:blipFill>
            <p:spPr bwMode="auto">
              <a:xfrm>
                <a:off x="4343400" y="1166938"/>
                <a:ext cx="529794" cy="1297611"/>
              </a:xfrm>
              <a:prstGeom prst="rect">
                <a:avLst/>
              </a:prstGeom>
              <a:noFill/>
              <a:ln w="9525">
                <a:noFill/>
                <a:miter lim="800000"/>
                <a:headEnd/>
                <a:tailEnd/>
              </a:ln>
            </p:spPr>
          </p:pic>
          <p:pic>
            <p:nvPicPr>
              <p:cNvPr id="24" name="Picture 14" descr="OS_revised"/>
              <p:cNvPicPr>
                <a:picLocks noChangeAspect="1" noChangeArrowheads="1"/>
              </p:cNvPicPr>
              <p:nvPr/>
            </p:nvPicPr>
            <p:blipFill>
              <a:blip r:embed="rId6" cstate="print"/>
              <a:srcRect/>
              <a:stretch>
                <a:fillRect/>
              </a:stretch>
            </p:blipFill>
            <p:spPr bwMode="auto">
              <a:xfrm>
                <a:off x="4114800" y="1243138"/>
                <a:ext cx="529794" cy="1297611"/>
              </a:xfrm>
              <a:prstGeom prst="rect">
                <a:avLst/>
              </a:prstGeom>
              <a:noFill/>
              <a:ln w="9525">
                <a:noFill/>
                <a:miter lim="800000"/>
                <a:headEnd/>
                <a:tailEnd/>
              </a:ln>
            </p:spPr>
          </p:pic>
          <p:pic>
            <p:nvPicPr>
              <p:cNvPr id="25" name="Picture 13" descr="OS_revised"/>
              <p:cNvPicPr>
                <a:picLocks noChangeAspect="1" noChangeArrowheads="1"/>
              </p:cNvPicPr>
              <p:nvPr/>
            </p:nvPicPr>
            <p:blipFill>
              <a:blip r:embed="rId6" cstate="print"/>
              <a:srcRect/>
              <a:stretch>
                <a:fillRect/>
              </a:stretch>
            </p:blipFill>
            <p:spPr bwMode="auto">
              <a:xfrm>
                <a:off x="3886200" y="1395538"/>
                <a:ext cx="529794" cy="1297611"/>
              </a:xfrm>
              <a:prstGeom prst="rect">
                <a:avLst/>
              </a:prstGeom>
              <a:noFill/>
              <a:ln w="9525">
                <a:noFill/>
                <a:miter lim="800000"/>
                <a:headEnd/>
                <a:tailEnd/>
              </a:ln>
            </p:spPr>
          </p:pic>
        </p:grpSp>
        <p:grpSp>
          <p:nvGrpSpPr>
            <p:cNvPr id="19" name="Group 38"/>
            <p:cNvGrpSpPr>
              <a:grpSpLocks/>
            </p:cNvGrpSpPr>
            <p:nvPr/>
          </p:nvGrpSpPr>
          <p:grpSpPr bwMode="auto">
            <a:xfrm>
              <a:off x="6935286" y="2166249"/>
              <a:ext cx="986992" cy="1526212"/>
              <a:chOff x="5792286" y="1175649"/>
              <a:chExt cx="986992" cy="1526212"/>
            </a:xfrm>
          </p:grpSpPr>
          <p:pic>
            <p:nvPicPr>
              <p:cNvPr id="20" name="Picture 15" descr="OS_revised"/>
              <p:cNvPicPr>
                <a:picLocks noChangeAspect="1" noChangeArrowheads="1"/>
              </p:cNvPicPr>
              <p:nvPr/>
            </p:nvPicPr>
            <p:blipFill>
              <a:blip r:embed="rId6" cstate="print"/>
              <a:srcRect/>
              <a:stretch>
                <a:fillRect/>
              </a:stretch>
            </p:blipFill>
            <p:spPr bwMode="auto">
              <a:xfrm>
                <a:off x="6249485" y="1175649"/>
                <a:ext cx="529793" cy="1297612"/>
              </a:xfrm>
              <a:prstGeom prst="rect">
                <a:avLst/>
              </a:prstGeom>
              <a:noFill/>
              <a:ln w="9525">
                <a:noFill/>
                <a:miter lim="800000"/>
                <a:headEnd/>
                <a:tailEnd/>
              </a:ln>
            </p:spPr>
          </p:pic>
          <p:pic>
            <p:nvPicPr>
              <p:cNvPr id="21" name="Picture 14" descr="OS_revised"/>
              <p:cNvPicPr>
                <a:picLocks noChangeAspect="1" noChangeArrowheads="1"/>
              </p:cNvPicPr>
              <p:nvPr/>
            </p:nvPicPr>
            <p:blipFill>
              <a:blip r:embed="rId6" cstate="print"/>
              <a:srcRect/>
              <a:stretch>
                <a:fillRect/>
              </a:stretch>
            </p:blipFill>
            <p:spPr bwMode="auto">
              <a:xfrm>
                <a:off x="6020886" y="1251849"/>
                <a:ext cx="529793" cy="1297612"/>
              </a:xfrm>
              <a:prstGeom prst="rect">
                <a:avLst/>
              </a:prstGeom>
              <a:noFill/>
              <a:ln w="9525">
                <a:noFill/>
                <a:miter lim="800000"/>
                <a:headEnd/>
                <a:tailEnd/>
              </a:ln>
            </p:spPr>
          </p:pic>
          <p:pic>
            <p:nvPicPr>
              <p:cNvPr id="22" name="Picture 13" descr="OS_revised"/>
              <p:cNvPicPr>
                <a:picLocks noChangeAspect="1" noChangeArrowheads="1"/>
              </p:cNvPicPr>
              <p:nvPr/>
            </p:nvPicPr>
            <p:blipFill>
              <a:blip r:embed="rId6" cstate="print"/>
              <a:srcRect/>
              <a:stretch>
                <a:fillRect/>
              </a:stretch>
            </p:blipFill>
            <p:spPr bwMode="auto">
              <a:xfrm>
                <a:off x="5792286" y="1404249"/>
                <a:ext cx="529793" cy="1297612"/>
              </a:xfrm>
              <a:prstGeom prst="rect">
                <a:avLst/>
              </a:prstGeom>
              <a:noFill/>
              <a:ln w="9525">
                <a:noFill/>
                <a:miter lim="800000"/>
                <a:headEnd/>
                <a:tailEnd/>
              </a:ln>
            </p:spPr>
          </p:pic>
        </p:grpSp>
      </p:grpSp>
      <p:pic>
        <p:nvPicPr>
          <p:cNvPr id="36" name="Picture 57" descr="checkpoint"/>
          <p:cNvPicPr>
            <a:picLocks noChangeAspect="1" noChangeArrowheads="1"/>
          </p:cNvPicPr>
          <p:nvPr/>
        </p:nvPicPr>
        <p:blipFill>
          <a:blip r:embed="rId7" cstate="print"/>
          <a:srcRect/>
          <a:stretch>
            <a:fillRect/>
          </a:stretch>
        </p:blipFill>
        <p:spPr bwMode="auto">
          <a:xfrm>
            <a:off x="2306638" y="4802188"/>
            <a:ext cx="1085850" cy="303212"/>
          </a:xfrm>
          <a:prstGeom prst="rect">
            <a:avLst/>
          </a:prstGeom>
          <a:noFill/>
          <a:ln w="9525">
            <a:noFill/>
            <a:miter lim="800000"/>
            <a:headEnd/>
            <a:tailEnd/>
          </a:ln>
        </p:spPr>
      </p:pic>
      <p:pic>
        <p:nvPicPr>
          <p:cNvPr id="37" name="Picture 58" descr="McAfee"/>
          <p:cNvPicPr>
            <a:picLocks noChangeAspect="1" noChangeArrowheads="1"/>
          </p:cNvPicPr>
          <p:nvPr/>
        </p:nvPicPr>
        <p:blipFill>
          <a:blip r:embed="rId8" cstate="print"/>
          <a:srcRect/>
          <a:stretch>
            <a:fillRect/>
          </a:stretch>
        </p:blipFill>
        <p:spPr bwMode="auto">
          <a:xfrm>
            <a:off x="3713163" y="4852988"/>
            <a:ext cx="893762" cy="203200"/>
          </a:xfrm>
          <a:prstGeom prst="rect">
            <a:avLst/>
          </a:prstGeom>
          <a:noFill/>
          <a:ln w="9525">
            <a:noFill/>
            <a:miter lim="800000"/>
            <a:headEnd/>
            <a:tailEnd/>
          </a:ln>
        </p:spPr>
      </p:pic>
      <p:pic>
        <p:nvPicPr>
          <p:cNvPr id="38" name="Picture 59" descr="trend"/>
          <p:cNvPicPr>
            <a:picLocks noChangeAspect="1" noChangeArrowheads="1"/>
          </p:cNvPicPr>
          <p:nvPr/>
        </p:nvPicPr>
        <p:blipFill>
          <a:blip r:embed="rId9" cstate="print"/>
          <a:srcRect/>
          <a:stretch>
            <a:fillRect/>
          </a:stretch>
        </p:blipFill>
        <p:spPr bwMode="auto">
          <a:xfrm>
            <a:off x="1286668" y="5356225"/>
            <a:ext cx="471488" cy="568325"/>
          </a:xfrm>
          <a:prstGeom prst="rect">
            <a:avLst/>
          </a:prstGeom>
          <a:noFill/>
          <a:ln w="9525">
            <a:noFill/>
            <a:miter lim="800000"/>
            <a:headEnd/>
            <a:tailEnd/>
          </a:ln>
        </p:spPr>
      </p:pic>
      <p:pic>
        <p:nvPicPr>
          <p:cNvPr id="39" name="Picture 60" descr="radware"/>
          <p:cNvPicPr>
            <a:picLocks noChangeAspect="1" noChangeArrowheads="1"/>
          </p:cNvPicPr>
          <p:nvPr/>
        </p:nvPicPr>
        <p:blipFill>
          <a:blip r:embed="rId10" cstate="print">
            <a:duotone>
              <a:prstClr val="black"/>
              <a:srgbClr val="333333">
                <a:tint val="45000"/>
                <a:satMod val="400000"/>
              </a:srgbClr>
            </a:duotone>
          </a:blip>
          <a:srcRect/>
          <a:stretch>
            <a:fillRect/>
          </a:stretch>
        </p:blipFill>
        <p:spPr bwMode="auto">
          <a:xfrm>
            <a:off x="2432301" y="5375276"/>
            <a:ext cx="834524" cy="530226"/>
          </a:xfrm>
          <a:prstGeom prst="rect">
            <a:avLst/>
          </a:prstGeom>
          <a:noFill/>
          <a:ln w="9525">
            <a:noFill/>
            <a:miter lim="800000"/>
            <a:headEnd/>
            <a:tailEnd/>
          </a:ln>
        </p:spPr>
      </p:pic>
      <p:pic>
        <p:nvPicPr>
          <p:cNvPr id="40" name="Picture 61" descr="ibm_logo"/>
          <p:cNvPicPr>
            <a:picLocks noChangeAspect="1" noChangeArrowheads="1"/>
          </p:cNvPicPr>
          <p:nvPr/>
        </p:nvPicPr>
        <p:blipFill>
          <a:blip r:embed="rId11" cstate="print"/>
          <a:srcRect/>
          <a:stretch>
            <a:fillRect/>
          </a:stretch>
        </p:blipFill>
        <p:spPr bwMode="auto">
          <a:xfrm>
            <a:off x="3771901" y="5435600"/>
            <a:ext cx="776287" cy="409575"/>
          </a:xfrm>
          <a:prstGeom prst="rect">
            <a:avLst/>
          </a:prstGeom>
          <a:noFill/>
          <a:ln w="9525">
            <a:noFill/>
            <a:miter lim="800000"/>
            <a:headEnd/>
            <a:tailEnd/>
          </a:ln>
        </p:spPr>
      </p:pic>
      <p:pic>
        <p:nvPicPr>
          <p:cNvPr id="41" name="Picture 70" descr="images.jpg"/>
          <p:cNvPicPr>
            <a:picLocks noChangeAspect="1"/>
          </p:cNvPicPr>
          <p:nvPr/>
        </p:nvPicPr>
        <p:blipFill>
          <a:blip r:embed="rId12" cstate="print"/>
          <a:srcRect/>
          <a:stretch>
            <a:fillRect/>
          </a:stretch>
        </p:blipFill>
        <p:spPr bwMode="auto">
          <a:xfrm>
            <a:off x="990600" y="4724400"/>
            <a:ext cx="1063625" cy="4349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path" presetSubtype="0" accel="50000" decel="50000" fill="hold" nodeType="clickEffect">
                                  <p:stCondLst>
                                    <p:cond delay="0"/>
                                  </p:stCondLst>
                                  <p:childTnLst>
                                    <p:animMotion origin="layout" path="M -3.05556E-6 3.7037E-6 L 0.00018 -0.07686 " pathEditMode="relative" rAng="0" ptsTypes="AA">
                                      <p:cBhvr>
                                        <p:cTn id="6" dur="2000" fill="hold"/>
                                        <p:tgtEl>
                                          <p:spTgt spid="16"/>
                                        </p:tgtEl>
                                        <p:attrNameLst>
                                          <p:attrName>ppt_x</p:attrName>
                                          <p:attrName>ppt_y</p:attrName>
                                        </p:attrNameLst>
                                      </p:cBhvr>
                                      <p:rCtr x="0" y="-38"/>
                                    </p:animMotion>
                                  </p:childTnLst>
                                </p:cTn>
                              </p:par>
                            </p:childTnLst>
                          </p:cTn>
                        </p:par>
                        <p:par>
                          <p:cTn id="7" fill="hold">
                            <p:stCondLst>
                              <p:cond delay="2000"/>
                            </p:stCondLst>
                            <p:childTnLst>
                              <p:par>
                                <p:cTn id="8" presetID="2" presetClass="entr" presetSubtype="2" fill="hold" nodeType="afterEffect">
                                  <p:stCondLst>
                                    <p:cond delay="0"/>
                                  </p:stCondLst>
                                  <p:childTnLst>
                                    <p:set>
                                      <p:cBhvr>
                                        <p:cTn id="9" dur="1" fill="hold">
                                          <p:stCondLst>
                                            <p:cond delay="0"/>
                                          </p:stCondLst>
                                        </p:cTn>
                                        <p:tgtEl>
                                          <p:spTgt spid="29"/>
                                        </p:tgtEl>
                                        <p:attrNameLst>
                                          <p:attrName>style.visibility</p:attrName>
                                        </p:attrNameLst>
                                      </p:cBhvr>
                                      <p:to>
                                        <p:strVal val="visible"/>
                                      </p:to>
                                    </p:set>
                                    <p:anim calcmode="lin" valueType="num">
                                      <p:cBhvr additive="base">
                                        <p:cTn id="10" dur="500" fill="hold"/>
                                        <p:tgtEl>
                                          <p:spTgt spid="29"/>
                                        </p:tgtEl>
                                        <p:attrNameLst>
                                          <p:attrName>ppt_x</p:attrName>
                                        </p:attrNameLst>
                                      </p:cBhvr>
                                      <p:tavLst>
                                        <p:tav tm="0">
                                          <p:val>
                                            <p:strVal val="1+#ppt_w/2"/>
                                          </p:val>
                                        </p:tav>
                                        <p:tav tm="100000">
                                          <p:val>
                                            <p:strVal val="#ppt_x"/>
                                          </p:val>
                                        </p:tav>
                                      </p:tavLst>
                                    </p:anim>
                                    <p:anim calcmode="lin" valueType="num">
                                      <p:cBhvr additive="base">
                                        <p:cTn id="11" dur="500" fill="hold"/>
                                        <p:tgtEl>
                                          <p:spTgt spid="29"/>
                                        </p:tgtEl>
                                        <p:attrNameLst>
                                          <p:attrName>ppt_y</p:attrName>
                                        </p:attrNameLst>
                                      </p:cBhvr>
                                      <p:tavLst>
                                        <p:tav tm="0">
                                          <p:val>
                                            <p:strVal val="#ppt_y"/>
                                          </p:val>
                                        </p:tav>
                                        <p:tav tm="100000">
                                          <p:val>
                                            <p:strVal val="#ppt_y"/>
                                          </p:val>
                                        </p:tav>
                                      </p:tavLst>
                                    </p:anim>
                                  </p:childTnLst>
                                </p:cTn>
                              </p:par>
                            </p:childTnLst>
                          </p:cTn>
                        </p:par>
                        <p:par>
                          <p:cTn id="12" fill="hold">
                            <p:stCondLst>
                              <p:cond delay="2500"/>
                            </p:stCondLst>
                            <p:childTnLst>
                              <p:par>
                                <p:cTn id="13" presetID="42" presetClass="path" presetSubtype="0" accel="50000" decel="50000" fill="hold" nodeType="afterEffect">
                                  <p:stCondLst>
                                    <p:cond delay="0"/>
                                  </p:stCondLst>
                                  <p:childTnLst>
                                    <p:animMotion origin="layout" path="M 0.00018 -0.07686 L 0.00018 -0.04352 " pathEditMode="relative" rAng="0" ptsTypes="AA">
                                      <p:cBhvr>
                                        <p:cTn id="14" dur="2000" fill="hold"/>
                                        <p:tgtEl>
                                          <p:spTgt spid="16"/>
                                        </p:tgtEl>
                                        <p:attrNameLst>
                                          <p:attrName>ppt_x</p:attrName>
                                          <p:attrName>ppt_y</p:attrName>
                                        </p:attrNameLst>
                                      </p:cBhvr>
                                      <p:rCtr x="0" y="1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a:xfrm>
            <a:off x="457200" y="1219200"/>
            <a:ext cx="8229600" cy="5257800"/>
          </a:xfrm>
        </p:spPr>
        <p:txBody>
          <a:bodyPr/>
          <a:lstStyle/>
          <a:p>
            <a:r>
              <a:rPr lang="en-US" dirty="0" smtClean="0"/>
              <a:t>Server virtualization technique :</a:t>
            </a:r>
          </a:p>
          <a:p>
            <a:pPr lvl="1"/>
            <a:r>
              <a:rPr lang="en-US" dirty="0" smtClean="0"/>
              <a:t>CPU virtualization</a:t>
            </a:r>
          </a:p>
          <a:p>
            <a:pPr lvl="2"/>
            <a:r>
              <a:rPr lang="en-US" dirty="0" smtClean="0"/>
              <a:t>Ring compression, Intel VT-x, …etc</a:t>
            </a:r>
          </a:p>
          <a:p>
            <a:pPr lvl="1"/>
            <a:r>
              <a:rPr lang="en-US" dirty="0" smtClean="0"/>
              <a:t>Memory virtualization</a:t>
            </a:r>
          </a:p>
          <a:p>
            <a:pPr lvl="2"/>
            <a:r>
              <a:rPr lang="en-US" dirty="0" smtClean="0"/>
              <a:t>Shadow page table, Intel EPT, …etc</a:t>
            </a:r>
          </a:p>
          <a:p>
            <a:pPr lvl="1"/>
            <a:r>
              <a:rPr lang="en-US" dirty="0" smtClean="0"/>
              <a:t>IO virtualization</a:t>
            </a:r>
          </a:p>
          <a:p>
            <a:pPr lvl="2"/>
            <a:r>
              <a:rPr lang="en-US" dirty="0" smtClean="0"/>
              <a:t>Device model, Intel VT-d, </a:t>
            </a:r>
            <a:r>
              <a:rPr lang="en-US" dirty="0" err="1" smtClean="0"/>
              <a:t>PCIe</a:t>
            </a:r>
            <a:r>
              <a:rPr lang="en-US" dirty="0" smtClean="0"/>
              <a:t> SR-IOV, …etc</a:t>
            </a:r>
          </a:p>
          <a:p>
            <a:r>
              <a:rPr lang="en-US" dirty="0" smtClean="0"/>
              <a:t>Ecosystem :</a:t>
            </a:r>
          </a:p>
          <a:p>
            <a:pPr lvl="1"/>
            <a:r>
              <a:rPr lang="en-US" dirty="0" smtClean="0"/>
              <a:t>VMware implements both type-1 &amp; type-2 virtualization</a:t>
            </a:r>
          </a:p>
          <a:p>
            <a:pPr lvl="1"/>
            <a:r>
              <a:rPr lang="en-US" dirty="0" err="1" smtClean="0"/>
              <a:t>Xen</a:t>
            </a:r>
            <a:r>
              <a:rPr lang="en-US" dirty="0" smtClean="0"/>
              <a:t> implements both </a:t>
            </a:r>
            <a:r>
              <a:rPr lang="en-US" dirty="0" err="1" smtClean="0"/>
              <a:t>para</a:t>
            </a:r>
            <a:r>
              <a:rPr lang="en-US" dirty="0" smtClean="0"/>
              <a:t> and full virtualization</a:t>
            </a:r>
          </a:p>
          <a:p>
            <a:pPr lvl="1"/>
            <a:r>
              <a:rPr lang="en-US" dirty="0" smtClean="0"/>
              <a:t>KVM implements in Linux mainstream kernel</a:t>
            </a:r>
          </a:p>
          <a:p>
            <a:r>
              <a:rPr lang="en-US" dirty="0" smtClean="0"/>
              <a:t>Cloud properties :</a:t>
            </a:r>
          </a:p>
          <a:p>
            <a:pPr lvl="1"/>
            <a:r>
              <a:rPr lang="en-US" dirty="0" smtClean="0"/>
              <a:t>Enabled by live migration technique</a:t>
            </a:r>
          </a:p>
          <a:p>
            <a:pPr lvl="1"/>
            <a:r>
              <a:rPr lang="en-US" dirty="0" smtClean="0"/>
              <a:t>Scalability, Availability, Manageability and Performance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5791200" y="1447800"/>
            <a:ext cx="3239732" cy="243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8229600" cy="4724400"/>
          </a:xfrm>
        </p:spPr>
        <p:txBody>
          <a:bodyPr>
            <a:noAutofit/>
          </a:bodyPr>
          <a:lstStyle/>
          <a:p>
            <a:r>
              <a:rPr lang="en-US" dirty="0" smtClean="0"/>
              <a:t>Books :</a:t>
            </a:r>
          </a:p>
          <a:p>
            <a:pPr lvl="1"/>
            <a:r>
              <a:rPr lang="en-US" sz="1600" dirty="0" smtClean="0"/>
              <a:t>James E. Smith &amp; Ravi Nair, </a:t>
            </a:r>
            <a:r>
              <a:rPr lang="en-US" sz="1600" b="1" i="1" dirty="0" smtClean="0"/>
              <a:t>Virtual Machines</a:t>
            </a:r>
            <a:r>
              <a:rPr lang="en-US" sz="1600" dirty="0" smtClean="0"/>
              <a:t>, Elsevier Inc., 2005</a:t>
            </a:r>
          </a:p>
          <a:p>
            <a:pPr lvl="1"/>
            <a:r>
              <a:rPr lang="zh-TW" altLang="en-US" sz="1600" dirty="0" smtClean="0"/>
              <a:t>英特爾開源軟件技術中心 </a:t>
            </a:r>
            <a:r>
              <a:rPr lang="en-US" altLang="zh-TW" sz="1600" dirty="0" smtClean="0"/>
              <a:t>&amp; </a:t>
            </a:r>
            <a:r>
              <a:rPr lang="zh-TW" altLang="en-US" sz="1600" dirty="0" smtClean="0"/>
              <a:t>復旦大學並行處理研究所</a:t>
            </a:r>
            <a:r>
              <a:rPr lang="en-US" altLang="zh-TW" sz="1600" dirty="0" smtClean="0"/>
              <a:t>, </a:t>
            </a:r>
            <a:r>
              <a:rPr lang="zh-TW" altLang="en-US" sz="1600" b="1" i="1" dirty="0" smtClean="0"/>
              <a:t>系統虛擬化 </a:t>
            </a:r>
            <a:r>
              <a:rPr lang="en-US" altLang="zh-TW" sz="1600" b="1" i="1" dirty="0" smtClean="0"/>
              <a:t>–</a:t>
            </a:r>
            <a:r>
              <a:rPr lang="zh-TW" altLang="en-US" sz="1600" b="1" i="1" dirty="0" smtClean="0"/>
              <a:t> 原理與實現</a:t>
            </a:r>
            <a:r>
              <a:rPr lang="en-US" altLang="zh-TW" sz="1600" dirty="0" smtClean="0"/>
              <a:t>, </a:t>
            </a:r>
            <a:r>
              <a:rPr lang="zh-TW" altLang="en-US" sz="1600" dirty="0" smtClean="0"/>
              <a:t>北京 </a:t>
            </a:r>
            <a:r>
              <a:rPr lang="en-US" altLang="zh-TW" sz="1600" dirty="0" smtClean="0"/>
              <a:t>:</a:t>
            </a:r>
            <a:r>
              <a:rPr lang="zh-TW" altLang="en-US" sz="1600" dirty="0" smtClean="0"/>
              <a:t> 清華大學出版社</a:t>
            </a:r>
            <a:r>
              <a:rPr lang="en-US" altLang="zh-TW" sz="1600" dirty="0" smtClean="0"/>
              <a:t>, 2009.03</a:t>
            </a:r>
            <a:endParaRPr lang="en-US" sz="1600" dirty="0" smtClean="0"/>
          </a:p>
          <a:p>
            <a:r>
              <a:rPr lang="en-US" dirty="0" smtClean="0"/>
              <a:t>Web resources :</a:t>
            </a:r>
            <a:endParaRPr lang="en-US" sz="1700" dirty="0" smtClean="0"/>
          </a:p>
          <a:p>
            <a:pPr lvl="1"/>
            <a:r>
              <a:rPr lang="en-US" sz="1700" dirty="0" err="1" smtClean="0"/>
              <a:t>Xen</a:t>
            </a:r>
            <a:r>
              <a:rPr lang="en-US" sz="1700" dirty="0" smtClean="0"/>
              <a:t> project </a:t>
            </a:r>
            <a:r>
              <a:rPr lang="en-US" sz="1700" i="1" dirty="0" smtClean="0"/>
              <a:t>http://www.xen.org</a:t>
            </a:r>
          </a:p>
          <a:p>
            <a:pPr lvl="1"/>
            <a:r>
              <a:rPr lang="en-US" sz="1700" dirty="0" smtClean="0"/>
              <a:t>KVM project </a:t>
            </a:r>
            <a:r>
              <a:rPr lang="en-US" sz="1700" i="1" dirty="0" smtClean="0"/>
              <a:t>http://www.linux-kvm.org/page/Main_Page</a:t>
            </a:r>
          </a:p>
          <a:p>
            <a:pPr lvl="1"/>
            <a:r>
              <a:rPr lang="en-US" sz="1700" dirty="0" smtClean="0"/>
              <a:t>IBM </a:t>
            </a:r>
            <a:r>
              <a:rPr lang="en-US" sz="1700" dirty="0" err="1" smtClean="0"/>
              <a:t>VirtIO</a:t>
            </a:r>
            <a:r>
              <a:rPr lang="en-US" sz="1700" dirty="0" smtClean="0"/>
              <a:t> survey </a:t>
            </a:r>
            <a:r>
              <a:rPr lang="en-US" sz="1700" i="1" dirty="0" smtClean="0"/>
              <a:t>https://www.ibm.com/developerworks/linux/library/l-virtio</a:t>
            </a:r>
          </a:p>
          <a:p>
            <a:pPr lvl="1"/>
            <a:r>
              <a:rPr lang="en-US" sz="1700" dirty="0" smtClean="0"/>
              <a:t>PCI-SIG IO virtualization specification </a:t>
            </a:r>
            <a:r>
              <a:rPr lang="en-US" sz="1700" i="1" dirty="0" smtClean="0"/>
              <a:t>http://www.pcisig.com/specifications/iov</a:t>
            </a:r>
          </a:p>
          <a:p>
            <a:r>
              <a:rPr lang="en-US" dirty="0" smtClean="0"/>
              <a:t>Other resources :</a:t>
            </a:r>
          </a:p>
          <a:p>
            <a:pPr lvl="1"/>
            <a:r>
              <a:rPr lang="en-US" sz="1600" dirty="0" smtClean="0"/>
              <a:t>Lecture slides of “Virtual Machine” course (5200) in NCTU</a:t>
            </a:r>
          </a:p>
          <a:p>
            <a:pPr lvl="1"/>
            <a:r>
              <a:rPr lang="en-US" sz="1600" dirty="0" err="1" smtClean="0"/>
              <a:t>Vmware</a:t>
            </a:r>
            <a:r>
              <a:rPr lang="en-US" sz="1600" dirty="0" smtClean="0"/>
              <a:t> Overview </a:t>
            </a:r>
            <a:r>
              <a:rPr lang="en-US" sz="1600" dirty="0" err="1" smtClean="0"/>
              <a:t>Openline</a:t>
            </a:r>
            <a:r>
              <a:rPr lang="en-US" sz="1600" dirty="0" smtClean="0"/>
              <a:t> presentation slides </a:t>
            </a:r>
            <a:r>
              <a:rPr lang="en-US" sz="1600" i="1" dirty="0" smtClean="0"/>
              <a:t>http://www.openline.nl</a:t>
            </a:r>
          </a:p>
          <a:p>
            <a:pPr lvl="1"/>
            <a:r>
              <a:rPr lang="en-US" sz="1600" dirty="0" err="1" smtClean="0"/>
              <a:t>Xen</a:t>
            </a:r>
            <a:r>
              <a:rPr lang="en-US" sz="1600" dirty="0" smtClean="0"/>
              <a:t> presentation </a:t>
            </a:r>
            <a:r>
              <a:rPr lang="en-US" sz="1600" i="1" dirty="0" smtClean="0"/>
              <a:t>http://www.cl.cam.ac.uk/research/srg/netos/papers/2006-xen-fosdem.ppt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k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Sky</Template>
  <TotalTime>34554</TotalTime>
  <Words>5637</Words>
  <Application>Microsoft Office PowerPoint</Application>
  <PresentationFormat>如螢幕大小 (4:3)</PresentationFormat>
  <Paragraphs>1052</Paragraphs>
  <Slides>137</Slides>
  <Notes>0</Notes>
  <HiddenSlides>0</HiddenSlides>
  <MMClips>0</MMClips>
  <ScaleCrop>false</ScaleCrop>
  <HeadingPairs>
    <vt:vector size="4" baseType="variant">
      <vt:variant>
        <vt:lpstr>佈景主題</vt:lpstr>
      </vt:variant>
      <vt:variant>
        <vt:i4>1</vt:i4>
      </vt:variant>
      <vt:variant>
        <vt:lpstr>投影片標題</vt:lpstr>
      </vt:variant>
      <vt:variant>
        <vt:i4>137</vt:i4>
      </vt:variant>
    </vt:vector>
  </HeadingPairs>
  <TitlesOfParts>
    <vt:vector size="138" baseType="lpstr">
      <vt:lpstr>Sky</vt:lpstr>
      <vt:lpstr>雲端計算 Cloud Computing</vt:lpstr>
      <vt:lpstr>Agenda</vt:lpstr>
      <vt:lpstr>CPU Virtualization</vt:lpstr>
      <vt:lpstr>Emulation Technique</vt:lpstr>
      <vt:lpstr>Emulation Technique</vt:lpstr>
      <vt:lpstr>Interpretation</vt:lpstr>
      <vt:lpstr>Interpretation</vt:lpstr>
      <vt:lpstr>Static Binary Translation</vt:lpstr>
      <vt:lpstr>Static Binary Translation</vt:lpstr>
      <vt:lpstr>Binary Translation</vt:lpstr>
      <vt:lpstr>Comparison</vt:lpstr>
      <vt:lpstr>Dynamic Binary Translation</vt:lpstr>
      <vt:lpstr>Dynamic Binary Translation</vt:lpstr>
      <vt:lpstr>Design challenges and issues</vt:lpstr>
      <vt:lpstr>Register Mapping Problem</vt:lpstr>
      <vt:lpstr>Register Mapping Problem</vt:lpstr>
      <vt:lpstr>Register Mapping Problem</vt:lpstr>
      <vt:lpstr>Performance Improvement</vt:lpstr>
      <vt:lpstr>Translation Chaining</vt:lpstr>
      <vt:lpstr>Translation Chaining</vt:lpstr>
      <vt:lpstr>Dynamic Optimization</vt:lpstr>
      <vt:lpstr>Dynamic Optimization</vt:lpstr>
      <vt:lpstr>Dynamic Optimization</vt:lpstr>
      <vt:lpstr>Dynamic Optimization</vt:lpstr>
      <vt:lpstr>CPU Virtualization</vt:lpstr>
      <vt:lpstr>Virtualization Technique</vt:lpstr>
      <vt:lpstr>Virtualization Technique</vt:lpstr>
      <vt:lpstr>CPU Architecture</vt:lpstr>
      <vt:lpstr>CPU Architecture</vt:lpstr>
      <vt:lpstr>CPU Architecture</vt:lpstr>
      <vt:lpstr>CPU Architecture</vt:lpstr>
      <vt:lpstr>Trap and Emulate Model</vt:lpstr>
      <vt:lpstr>Trap and Emulate Model</vt:lpstr>
      <vt:lpstr>Trap and Emulate Model</vt:lpstr>
      <vt:lpstr>Trap and Emulate Model</vt:lpstr>
      <vt:lpstr>Context Switch</vt:lpstr>
      <vt:lpstr>System State Management</vt:lpstr>
      <vt:lpstr>Virtualization Theorem</vt:lpstr>
      <vt:lpstr>Virtualization Techniques</vt:lpstr>
      <vt:lpstr>Para-Virtualization</vt:lpstr>
      <vt:lpstr>Binary Translation</vt:lpstr>
      <vt:lpstr>Binary Translation</vt:lpstr>
      <vt:lpstr>Binary Translation</vt:lpstr>
      <vt:lpstr>Some Difficulties</vt:lpstr>
      <vt:lpstr>CPU Virtualization</vt:lpstr>
      <vt:lpstr>Hardware Solution</vt:lpstr>
      <vt:lpstr>Hardware Solution</vt:lpstr>
      <vt:lpstr>Intel VT-x</vt:lpstr>
      <vt:lpstr>Intel VT-x</vt:lpstr>
      <vt:lpstr>Context Switch</vt:lpstr>
      <vt:lpstr>System State Management</vt:lpstr>
      <vt:lpstr>System State Management</vt:lpstr>
      <vt:lpstr>CPU Virtualization Summary</vt:lpstr>
      <vt:lpstr>Memory Virtualization</vt:lpstr>
      <vt:lpstr>Memory Virtualization</vt:lpstr>
      <vt:lpstr>Memory Architecture</vt:lpstr>
      <vt:lpstr>Memory Architecture</vt:lpstr>
      <vt:lpstr>Memory Virtualization</vt:lpstr>
      <vt:lpstr>Memory Virtualization</vt:lpstr>
      <vt:lpstr>Shadow Page Table</vt:lpstr>
      <vt:lpstr>Shadow Page Table</vt:lpstr>
      <vt:lpstr>Shadow Page Table</vt:lpstr>
      <vt:lpstr>Shadow Page Table</vt:lpstr>
      <vt:lpstr>Shadow Page Table</vt:lpstr>
      <vt:lpstr>Other Issues</vt:lpstr>
      <vt:lpstr>Memory Virtualization</vt:lpstr>
      <vt:lpstr>Hardware Solution</vt:lpstr>
      <vt:lpstr>Extended Page Table</vt:lpstr>
      <vt:lpstr>Extended Page Table</vt:lpstr>
      <vt:lpstr>Memory Virtualization Summary</vt:lpstr>
      <vt:lpstr>IO Virtualization</vt:lpstr>
      <vt:lpstr>IO Virtualization</vt:lpstr>
      <vt:lpstr>Port Mapped IO</vt:lpstr>
      <vt:lpstr>Memory Mapped IO</vt:lpstr>
      <vt:lpstr>Direct Memory Access</vt:lpstr>
      <vt:lpstr>PCI &amp; PCI Express</vt:lpstr>
      <vt:lpstr>PCI &amp; PCI Express</vt:lpstr>
      <vt:lpstr>PCI &amp; PCI Express</vt:lpstr>
      <vt:lpstr>IO Virtualization</vt:lpstr>
      <vt:lpstr>IO Virtualization</vt:lpstr>
      <vt:lpstr>IO Virtualization</vt:lpstr>
      <vt:lpstr>IO Virtualization</vt:lpstr>
      <vt:lpstr>IO Virtualization</vt:lpstr>
      <vt:lpstr>Device Model</vt:lpstr>
      <vt:lpstr>Device Model</vt:lpstr>
      <vt:lpstr>Device Model</vt:lpstr>
      <vt:lpstr>Device Discovery</vt:lpstr>
      <vt:lpstr>Access Interception</vt:lpstr>
      <vt:lpstr>Access Interception</vt:lpstr>
      <vt:lpstr>Device Virtualization</vt:lpstr>
      <vt:lpstr>Device Virtualization</vt:lpstr>
      <vt:lpstr>Device Virtualization</vt:lpstr>
      <vt:lpstr>Performance Issues</vt:lpstr>
      <vt:lpstr>IO Virtualization</vt:lpstr>
      <vt:lpstr>Hardware Solution</vt:lpstr>
      <vt:lpstr>Intel VT-d</vt:lpstr>
      <vt:lpstr>IO Virtualization Progress</vt:lpstr>
      <vt:lpstr>IO Virtualization Progress</vt:lpstr>
      <vt:lpstr>IO Virtualization Progress</vt:lpstr>
      <vt:lpstr>Single Root – IO Virtualization</vt:lpstr>
      <vt:lpstr>Single Root – IO Virtualization</vt:lpstr>
      <vt:lpstr>IO Virtualization Summary</vt:lpstr>
      <vt:lpstr>Ecosystem</vt:lpstr>
      <vt:lpstr>Venders and Projects</vt:lpstr>
      <vt:lpstr>VMware</vt:lpstr>
      <vt:lpstr>VMware Virtualization Stack</vt:lpstr>
      <vt:lpstr>VMware Major Products</vt:lpstr>
      <vt:lpstr>VMware GSX Server Architecture</vt:lpstr>
      <vt:lpstr>VMware ESX Server Architecture</vt:lpstr>
      <vt:lpstr>Xen</vt:lpstr>
      <vt:lpstr>Para-virtualization in Xen </vt:lpstr>
      <vt:lpstr>Original Xen Architecture</vt:lpstr>
      <vt:lpstr>Hardware Assistance in Xen</vt:lpstr>
      <vt:lpstr>New Xen Architecture</vt:lpstr>
      <vt:lpstr>KVM</vt:lpstr>
      <vt:lpstr>KVM Full Virtualization</vt:lpstr>
      <vt:lpstr>IO Device Model in KVM</vt:lpstr>
      <vt:lpstr>IO Device Model in KVM</vt:lpstr>
      <vt:lpstr>IO Device Model in KVM</vt:lpstr>
      <vt:lpstr>Other Issues</vt:lpstr>
      <vt:lpstr>Other Issues</vt:lpstr>
      <vt:lpstr>Live Migration Technique</vt:lpstr>
      <vt:lpstr>Live Migration Technique</vt:lpstr>
      <vt:lpstr>Live Migration Technique</vt:lpstr>
      <vt:lpstr>Live Migration Technique</vt:lpstr>
      <vt:lpstr>Live Migration Technique</vt:lpstr>
      <vt:lpstr>Live Migration Technique</vt:lpstr>
      <vt:lpstr>Scalability in Virtualization</vt:lpstr>
      <vt:lpstr>Availability in Virtualization</vt:lpstr>
      <vt:lpstr>Availability in Virtualization</vt:lpstr>
      <vt:lpstr>Availability in Virtualization</vt:lpstr>
      <vt:lpstr>Manageability in Virtualization</vt:lpstr>
      <vt:lpstr>Performance in Virtualization</vt:lpstr>
      <vt:lpstr>Performance in Virtualization</vt:lpstr>
      <vt:lpstr>Security in Virtualization</vt:lpstr>
      <vt:lpstr>Summary</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IaaS - Server Virtualization</dc:title>
  <dc:creator>cyhuang</dc:creator>
  <cp:lastModifiedBy>Yeh-Ching Chung</cp:lastModifiedBy>
  <cp:revision>2252</cp:revision>
  <dcterms:created xsi:type="dcterms:W3CDTF">2006-08-16T00:00:00Z</dcterms:created>
  <dcterms:modified xsi:type="dcterms:W3CDTF">2010-11-23T02:34:42Z</dcterms:modified>
</cp:coreProperties>
</file>