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0"/>
  </p:notesMasterIdLst>
  <p:sldIdLst>
    <p:sldId id="325" r:id="rId3"/>
    <p:sldId id="257" r:id="rId4"/>
    <p:sldId id="260" r:id="rId5"/>
    <p:sldId id="261" r:id="rId6"/>
    <p:sldId id="262" r:id="rId7"/>
    <p:sldId id="263" r:id="rId8"/>
    <p:sldId id="32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5" r:id="rId17"/>
    <p:sldId id="286" r:id="rId18"/>
    <p:sldId id="287" r:id="rId19"/>
    <p:sldId id="271" r:id="rId20"/>
    <p:sldId id="288" r:id="rId21"/>
    <p:sldId id="289" r:id="rId22"/>
    <p:sldId id="291" r:id="rId23"/>
    <p:sldId id="272" r:id="rId24"/>
    <p:sldId id="273" r:id="rId25"/>
    <p:sldId id="292" r:id="rId26"/>
    <p:sldId id="293" r:id="rId27"/>
    <p:sldId id="294" r:id="rId28"/>
    <p:sldId id="274" r:id="rId29"/>
    <p:sldId id="275" r:id="rId30"/>
    <p:sldId id="296" r:id="rId31"/>
    <p:sldId id="295" r:id="rId32"/>
    <p:sldId id="276" r:id="rId33"/>
    <p:sldId id="277" r:id="rId34"/>
    <p:sldId id="297" r:id="rId35"/>
    <p:sldId id="298" r:id="rId36"/>
    <p:sldId id="299" r:id="rId37"/>
    <p:sldId id="278" r:id="rId38"/>
    <p:sldId id="279" r:id="rId39"/>
    <p:sldId id="300" r:id="rId40"/>
    <p:sldId id="301" r:id="rId41"/>
    <p:sldId id="302" r:id="rId42"/>
    <p:sldId id="303" r:id="rId43"/>
    <p:sldId id="304" r:id="rId44"/>
    <p:sldId id="280" r:id="rId45"/>
    <p:sldId id="281" r:id="rId46"/>
    <p:sldId id="282" r:id="rId47"/>
    <p:sldId id="283" r:id="rId48"/>
    <p:sldId id="305" r:id="rId49"/>
    <p:sldId id="306" r:id="rId50"/>
    <p:sldId id="308" r:id="rId51"/>
    <p:sldId id="307" r:id="rId52"/>
    <p:sldId id="310" r:id="rId53"/>
    <p:sldId id="311" r:id="rId54"/>
    <p:sldId id="309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7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75" autoAdjust="0"/>
    <p:restoredTop sz="94660"/>
  </p:normalViewPr>
  <p:slideViewPr>
    <p:cSldViewPr>
      <p:cViewPr varScale="1">
        <p:scale>
          <a:sx n="68" d="100"/>
          <a:sy n="68" d="100"/>
        </p:scale>
        <p:origin x="-44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4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" Type="http://schemas.openxmlformats.org/officeDocument/2006/relationships/slide" Target="slides/slide5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E753-CA80-4E53-8708-8592B06B203E}" type="datetimeFigureOut">
              <a:rPr lang="en-US" smtClean="0"/>
              <a:pPr/>
              <a:t>11/24/2010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FF87C-2B6D-4AB4-8D2A-EA90E93D86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FF87C-2B6D-4AB4-8D2A-EA90E93D86B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81E7-CFF3-4D70-8781-7FAF4A5BBD43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EEBE-DB20-4C6E-9273-D9B491A0940A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C6E0-1C88-4CB6-A79E-5F9131A5C7D9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838E7-4632-4FD6-A3DB-94D0C5C35537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0263B-255F-47CA-B96B-DFEC2E2D2B75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9900-5BD0-4D7A-B6E7-E3E1BBCAE8B2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1EB7F-F2EF-42FC-B896-9F480E9C3019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F5DD-8358-4636-B18B-2496DC5E2CEC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3E6A8-D719-4E8D-893D-2C0F3F67A269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BD60-F834-4F64-8E89-19EA8593427B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9A92A-C73A-4275-91C5-53A392D4CAEA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E2D6-2F39-441A-BD0E-11F86CA7154A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A213-9D75-4A49-AAA0-BD5604C91424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6776-BE1E-4E77-9FDB-ECDCBA772194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0891-8390-42D0-8768-3E6207AA94F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24FF1-CB6E-4C35-821E-623DB009A937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84DC-EB6A-498D-8AFE-20DD3F3DA79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8E2C-7574-46E8-97CE-884F02FB5A6B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5CEF-59C8-4F04-92FE-F69DCC48AB19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5FE8-9240-46CF-AA03-3BD098738AEA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F6A7-95C9-446A-BB0A-D8DF2F46502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B17-3604-4535-88E7-5EFF320193B6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991D-0971-4978-8A46-F5214E047540}" type="datetime1">
              <a:rPr lang="en-US" altLang="zh-TW" smtClean="0"/>
              <a:pPr/>
              <a:t>11/24/2010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B1030-0B75-4E2F-8E3E-605E91EF4B3C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pPr/>
              <a:t>11/24/2010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Storage Virtualization</a:t>
            </a: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Storage Virtualization</a:t>
            </a:r>
          </a:p>
          <a:p>
            <a:pPr lvl="1"/>
            <a:r>
              <a:rPr lang="en-US" dirty="0" smtClean="0"/>
              <a:t>Introduction</a:t>
            </a:r>
          </a:p>
          <a:p>
            <a:pPr lvl="1"/>
            <a:r>
              <a:rPr lang="en-US" dirty="0" smtClean="0"/>
              <a:t>What to be virtualized</a:t>
            </a:r>
          </a:p>
          <a:p>
            <a:pPr lvl="1"/>
            <a:r>
              <a:rPr lang="en-US" dirty="0" smtClean="0"/>
              <a:t>Where to be virtualized</a:t>
            </a:r>
          </a:p>
          <a:p>
            <a:pPr lvl="1"/>
            <a:r>
              <a:rPr lang="en-US" dirty="0" smtClean="0"/>
              <a:t>How to be virtualized</a:t>
            </a:r>
          </a:p>
          <a:p>
            <a:pPr lvl="1"/>
            <a:r>
              <a:rPr lang="en-US" dirty="0" smtClean="0"/>
              <a:t>Case study</a:t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90801"/>
            <a:ext cx="7772400" cy="1816100"/>
          </a:xfrm>
        </p:spPr>
        <p:txBody>
          <a:bodyPr>
            <a:noAutofit/>
          </a:bodyPr>
          <a:lstStyle/>
          <a:p>
            <a:r>
              <a:rPr lang="en-US" dirty="0" smtClean="0"/>
              <a:t>Overview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What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What to be virtualized ?</a:t>
            </a:r>
          </a:p>
          <a:p>
            <a:pPr lvl="1"/>
            <a:r>
              <a:rPr lang="en-US" dirty="0" smtClean="0"/>
              <a:t>Block, File system</a:t>
            </a:r>
          </a:p>
          <a:p>
            <a:r>
              <a:rPr lang="en-US" dirty="0" smtClean="0"/>
              <a:t>Where to be virtualized ?</a:t>
            </a:r>
          </a:p>
          <a:p>
            <a:pPr lvl="1"/>
            <a:r>
              <a:rPr lang="en-US" dirty="0" smtClean="0"/>
              <a:t>Host-based, Network-based, Storage-based</a:t>
            </a:r>
          </a:p>
          <a:p>
            <a:r>
              <a:rPr lang="en-US" dirty="0" smtClean="0"/>
              <a:t>How to be virtualized ?</a:t>
            </a:r>
          </a:p>
          <a:p>
            <a:pPr lvl="1"/>
            <a:r>
              <a:rPr lang="en-US" dirty="0" smtClean="0"/>
              <a:t>In-band, Out-of-band</a:t>
            </a:r>
          </a:p>
          <a:p>
            <a:r>
              <a:rPr lang="en-US" dirty="0" smtClean="0"/>
              <a:t>Case study</a:t>
            </a:r>
          </a:p>
          <a:p>
            <a:pPr lvl="1"/>
            <a:r>
              <a:rPr lang="en-US" dirty="0" err="1" smtClean="0"/>
              <a:t>Lustre</a:t>
            </a:r>
            <a:r>
              <a:rPr lang="en-US" dirty="0" smtClean="0"/>
              <a:t>, LVM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benjr.tw/files/images/other/storage_syste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371601"/>
            <a:ext cx="4191000" cy="5486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525780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Common storage architecture :</a:t>
            </a:r>
          </a:p>
          <a:p>
            <a:pPr lvl="1"/>
            <a:r>
              <a:rPr lang="en-US" dirty="0" smtClean="0"/>
              <a:t>DAS - Direct Attached Storage</a:t>
            </a:r>
          </a:p>
          <a:p>
            <a:pPr lvl="2"/>
            <a:r>
              <a:rPr lang="en-US" dirty="0" smtClean="0"/>
              <a:t>Storage device was directly attached to a server or workstation, without a storage network in between.</a:t>
            </a:r>
          </a:p>
          <a:p>
            <a:pPr lvl="1"/>
            <a:r>
              <a:rPr lang="en-US" dirty="0" smtClean="0"/>
              <a:t>NAS - Network Attached Storage</a:t>
            </a:r>
          </a:p>
          <a:p>
            <a:pPr lvl="2"/>
            <a:r>
              <a:rPr lang="en-US" dirty="0" smtClean="0"/>
              <a:t>File-level computer data storage connected to a computer network providing data access to heterogeneous clients.</a:t>
            </a:r>
          </a:p>
          <a:p>
            <a:pPr lvl="1"/>
            <a:r>
              <a:rPr lang="en-US" dirty="0" smtClean="0"/>
              <a:t>SAN - Storage Area Network</a:t>
            </a:r>
          </a:p>
          <a:p>
            <a:pPr lvl="2"/>
            <a:r>
              <a:rPr lang="en-US" dirty="0" smtClean="0"/>
              <a:t>Attach remote storage devices to servers in such a way that the devices appear as locally attached to the operating system.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Desirable properties of storage virtualization:</a:t>
            </a:r>
          </a:p>
          <a:p>
            <a:pPr lvl="1"/>
            <a:r>
              <a:rPr lang="en-US" dirty="0" smtClean="0"/>
              <a:t>Manageability</a:t>
            </a:r>
          </a:p>
          <a:p>
            <a:pPr lvl="2"/>
            <a:r>
              <a:rPr lang="en-US" dirty="0" smtClean="0"/>
              <a:t>Storage resource should be easily configured and deployed.</a:t>
            </a:r>
          </a:p>
          <a:p>
            <a:pPr lvl="1"/>
            <a:r>
              <a:rPr lang="en-US" dirty="0" smtClean="0"/>
              <a:t>Availability</a:t>
            </a:r>
          </a:p>
          <a:p>
            <a:pPr lvl="2"/>
            <a:r>
              <a:rPr lang="en-US" dirty="0" smtClean="0"/>
              <a:t>Storage hardware failures should not affect the application.</a:t>
            </a:r>
          </a:p>
          <a:p>
            <a:pPr lvl="1"/>
            <a:r>
              <a:rPr lang="en-US" dirty="0" smtClean="0"/>
              <a:t>Scalability</a:t>
            </a:r>
          </a:p>
          <a:p>
            <a:pPr lvl="2"/>
            <a:r>
              <a:rPr lang="en-US" dirty="0" smtClean="0"/>
              <a:t>Storage resource can easily scale up and down.</a:t>
            </a:r>
          </a:p>
          <a:p>
            <a:pPr lvl="1"/>
            <a:r>
              <a:rPr lang="en-US" dirty="0" smtClean="0"/>
              <a:t>Security</a:t>
            </a:r>
          </a:p>
          <a:p>
            <a:pPr lvl="2"/>
            <a:r>
              <a:rPr lang="en-US" dirty="0" smtClean="0"/>
              <a:t>Storage resource should be securely isolated.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Storage concept and technique</a:t>
            </a:r>
          </a:p>
          <a:p>
            <a:pPr lvl="1"/>
            <a:r>
              <a:rPr lang="en-US" altLang="zh-TW" dirty="0" smtClean="0"/>
              <a:t>Storage resource mapping table</a:t>
            </a:r>
          </a:p>
          <a:p>
            <a:pPr lvl="1"/>
            <a:r>
              <a:rPr lang="en-US" altLang="zh-TW" dirty="0" smtClean="0"/>
              <a:t>Redundant data</a:t>
            </a:r>
          </a:p>
          <a:p>
            <a:pPr lvl="1"/>
            <a:r>
              <a:rPr lang="en-US" altLang="zh-TW" dirty="0" smtClean="0"/>
              <a:t>Multi-path</a:t>
            </a:r>
          </a:p>
          <a:p>
            <a:pPr lvl="1"/>
            <a:r>
              <a:rPr lang="en-US" altLang="zh-TW" dirty="0" smtClean="0"/>
              <a:t>Data sharing</a:t>
            </a:r>
          </a:p>
          <a:p>
            <a:pPr lvl="1"/>
            <a:r>
              <a:rPr lang="en-US" altLang="zh-TW" dirty="0" err="1" smtClean="0"/>
              <a:t>Tiering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and Technique</a:t>
            </a:r>
            <a:endParaRPr lang="en-US" dirty="0"/>
          </a:p>
        </p:txBody>
      </p:sp>
      <p:pic>
        <p:nvPicPr>
          <p:cNvPr id="4" name="Picture 3" descr="c_program1.png"/>
          <p:cNvPicPr>
            <a:picLocks noChangeAspect="1"/>
          </p:cNvPicPr>
          <p:nvPr/>
        </p:nvPicPr>
        <p:blipFill>
          <a:blip r:embed="rId2" cstate="print"/>
          <a:srcRect l="756"/>
          <a:stretch>
            <a:fillRect/>
          </a:stretch>
        </p:blipFill>
        <p:spPr>
          <a:xfrm>
            <a:off x="1636857" y="2637658"/>
            <a:ext cx="5870286" cy="4296541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219200"/>
            <a:ext cx="82296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Clr>
                <a:srgbClr val="4F81BD">
                  <a:lumMod val="75000"/>
                </a:srgbClr>
              </a:buClr>
              <a:buFont typeface="Arial" pitchFamily="34" charset="0"/>
              <a:buChar char="•"/>
            </a:pPr>
            <a:r>
              <a:rPr lang="en-US" altLang="zh-TW" sz="2200" dirty="0" smtClean="0">
                <a:solidFill>
                  <a:srgbClr val="1F497D">
                    <a:lumMod val="75000"/>
                  </a:srgbClr>
                </a:solidFill>
                <a:latin typeface="Cambria" pitchFamily="18" charset="0"/>
              </a:rPr>
              <a:t>Storage resource mapping table</a:t>
            </a:r>
          </a:p>
          <a:p>
            <a:pPr marL="742950" lvl="1" indent="-285750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900" dirty="0" smtClean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Maintain tables to map storage resource to target.</a:t>
            </a:r>
          </a:p>
          <a:p>
            <a:pPr marL="742950" lvl="1" indent="-285750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900" dirty="0" smtClean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Dynamic modify table entries for thin provisioning.</a:t>
            </a:r>
          </a:p>
          <a:p>
            <a:pPr marL="742950" lvl="1" indent="-285750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900" dirty="0" smtClean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Use table to isolate different storage address space.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and Technique</a:t>
            </a:r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Redundant data</a:t>
            </a:r>
          </a:p>
          <a:p>
            <a:pPr lvl="1"/>
            <a:r>
              <a:rPr lang="en-US" altLang="zh-TW" dirty="0" smtClean="0"/>
              <a:t>Maintain replicas to provide high availability.</a:t>
            </a:r>
          </a:p>
          <a:p>
            <a:pPr lvl="1"/>
            <a:r>
              <a:rPr lang="en-US" altLang="zh-TW" dirty="0" smtClean="0"/>
              <a:t>Use RAID technique to improve performance and availability.</a:t>
            </a:r>
          </a:p>
          <a:p>
            <a:endParaRPr lang="zh-TW" altLang="en-US" dirty="0"/>
          </a:p>
        </p:txBody>
      </p:sp>
      <p:pic>
        <p:nvPicPr>
          <p:cNvPr id="1026" name="Picture 2" descr="http://pooyaparand.net/fa/aboutrstorage_clip_image001_0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524250"/>
            <a:ext cx="3333750" cy="2809875"/>
          </a:xfrm>
          <a:prstGeom prst="rect">
            <a:avLst/>
          </a:prstGeom>
          <a:noFill/>
        </p:spPr>
      </p:pic>
      <p:pic>
        <p:nvPicPr>
          <p:cNvPr id="1028" name="Picture 4" descr="http://docs.hp.com/en/B7660-90018/img/gfx8.gif"/>
          <p:cNvPicPr>
            <a:picLocks noChangeAspect="1" noChangeArrowheads="1"/>
          </p:cNvPicPr>
          <p:nvPr/>
        </p:nvPicPr>
        <p:blipFill>
          <a:blip r:embed="rId3" cstate="print"/>
          <a:srcRect l="22170"/>
          <a:stretch>
            <a:fillRect/>
          </a:stretch>
        </p:blipFill>
        <p:spPr bwMode="auto">
          <a:xfrm>
            <a:off x="575136" y="3505200"/>
            <a:ext cx="4530264" cy="2895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and Technique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05200"/>
          </a:xfrm>
        </p:spPr>
        <p:txBody>
          <a:bodyPr>
            <a:normAutofit/>
          </a:bodyPr>
          <a:lstStyle/>
          <a:p>
            <a:r>
              <a:rPr lang="en-US" dirty="0" smtClean="0"/>
              <a:t>Multi-path</a:t>
            </a:r>
          </a:p>
          <a:p>
            <a:pPr lvl="1">
              <a:lnSpc>
                <a:spcPts val="2700"/>
              </a:lnSpc>
            </a:pPr>
            <a:r>
              <a:rPr lang="en-US" dirty="0" smtClean="0"/>
              <a:t>A fault-tolerance and performance </a:t>
            </a:r>
            <a:br>
              <a:rPr lang="en-US" dirty="0" smtClean="0"/>
            </a:br>
            <a:r>
              <a:rPr lang="en-US" dirty="0" smtClean="0"/>
              <a:t>enhancement technique. </a:t>
            </a:r>
          </a:p>
          <a:p>
            <a:pPr lvl="1">
              <a:lnSpc>
                <a:spcPts val="2700"/>
              </a:lnSpc>
            </a:pPr>
            <a:r>
              <a:rPr lang="en-US" dirty="0" smtClean="0"/>
              <a:t>There is more than one physical path </a:t>
            </a:r>
            <a:br>
              <a:rPr lang="en-US" dirty="0" smtClean="0"/>
            </a:br>
            <a:r>
              <a:rPr lang="en-US" dirty="0" smtClean="0"/>
              <a:t>between the host and storage devices </a:t>
            </a:r>
            <a:br>
              <a:rPr lang="en-US" dirty="0" smtClean="0"/>
            </a:br>
            <a:r>
              <a:rPr lang="en-US" dirty="0" smtClean="0"/>
              <a:t>through the buses, controllers, </a:t>
            </a:r>
            <a:br>
              <a:rPr lang="en-US" dirty="0" smtClean="0"/>
            </a:br>
            <a:r>
              <a:rPr lang="en-US" dirty="0" smtClean="0"/>
              <a:t>switches, and bridge devices </a:t>
            </a:r>
            <a:br>
              <a:rPr lang="en-US" dirty="0" smtClean="0"/>
            </a:br>
            <a:r>
              <a:rPr lang="en-US" dirty="0" smtClean="0"/>
              <a:t>connecting them.</a:t>
            </a:r>
          </a:p>
        </p:txBody>
      </p:sp>
      <p:pic>
        <p:nvPicPr>
          <p:cNvPr id="37890" name="Picture 2" descr="Active/Active Multipath Configuration with One RAID Device"/>
          <p:cNvPicPr>
            <a:picLocks noChangeAspect="1" noChangeArrowheads="1"/>
          </p:cNvPicPr>
          <p:nvPr/>
        </p:nvPicPr>
        <p:blipFill>
          <a:blip r:embed="rId2" cstate="print"/>
          <a:srcRect l="18301" t="9907" r="18954" b="15789"/>
          <a:stretch>
            <a:fillRect/>
          </a:stretch>
        </p:blipFill>
        <p:spPr bwMode="auto">
          <a:xfrm>
            <a:off x="5730240" y="2209800"/>
            <a:ext cx="3108960" cy="3886200"/>
          </a:xfrm>
          <a:prstGeom prst="roundRect">
            <a:avLst>
              <a:gd name="adj" fmla="val 6111"/>
            </a:avLst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and Technique</a:t>
            </a:r>
            <a:endParaRPr lang="en-US" dirty="0"/>
          </a:p>
        </p:txBody>
      </p:sp>
      <p:pic>
        <p:nvPicPr>
          <p:cNvPr id="54274" name="Picture 2" descr="http://blogs.netapp.com/.a/6a00d8341ca27e53ef0128758ea65b970c-pi"/>
          <p:cNvPicPr>
            <a:picLocks noChangeAspect="1" noChangeArrowheads="1"/>
          </p:cNvPicPr>
          <p:nvPr/>
        </p:nvPicPr>
        <p:blipFill>
          <a:blip r:embed="rId2" cstate="print"/>
          <a:srcRect b="32026"/>
          <a:stretch>
            <a:fillRect/>
          </a:stretch>
        </p:blipFill>
        <p:spPr bwMode="auto">
          <a:xfrm>
            <a:off x="838200" y="3352800"/>
            <a:ext cx="7253654" cy="2514600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>
            <a:normAutofit/>
          </a:bodyPr>
          <a:lstStyle/>
          <a:p>
            <a:r>
              <a:rPr lang="en-US" dirty="0" smtClean="0"/>
              <a:t>Data sharing</a:t>
            </a:r>
          </a:p>
          <a:p>
            <a:pPr lvl="1"/>
            <a:r>
              <a:rPr lang="en-US" dirty="0" smtClean="0"/>
              <a:t>Use data de-duplication technique to eliminate duplicated data.</a:t>
            </a:r>
          </a:p>
          <a:p>
            <a:pPr lvl="1"/>
            <a:r>
              <a:rPr lang="en-US" dirty="0" smtClean="0"/>
              <a:t>Saving and improving the usage of storage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and Technique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81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Tiering</a:t>
            </a:r>
            <a:endParaRPr lang="en-US" dirty="0" smtClean="0"/>
          </a:p>
          <a:p>
            <a:pPr lvl="1"/>
            <a:r>
              <a:rPr lang="en-US" dirty="0" smtClean="0"/>
              <a:t>Automatic migrate data across storage resources with different properties according to the significance or access frequency of data.</a:t>
            </a:r>
          </a:p>
        </p:txBody>
      </p:sp>
      <p:grpSp>
        <p:nvGrpSpPr>
          <p:cNvPr id="3" name="Group 11"/>
          <p:cNvGrpSpPr/>
          <p:nvPr/>
        </p:nvGrpSpPr>
        <p:grpSpPr>
          <a:xfrm>
            <a:off x="1600200" y="3352800"/>
            <a:ext cx="5943600" cy="3209976"/>
            <a:chOff x="1905000" y="3648024"/>
            <a:chExt cx="5715000" cy="3057576"/>
          </a:xfrm>
        </p:grpSpPr>
        <p:pic>
          <p:nvPicPr>
            <p:cNvPr id="3481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b="72273"/>
            <a:stretch>
              <a:fillRect/>
            </a:stretch>
          </p:blipFill>
          <p:spPr bwMode="auto">
            <a:xfrm>
              <a:off x="1905000" y="3648024"/>
              <a:ext cx="5715000" cy="847776"/>
            </a:xfrm>
            <a:prstGeom prst="rect">
              <a:avLst/>
            </a:prstGeom>
            <a:noFill/>
          </p:spPr>
        </p:pic>
        <p:pic>
          <p:nvPicPr>
            <p:cNvPr id="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t="37696"/>
            <a:stretch>
              <a:fillRect/>
            </a:stretch>
          </p:blipFill>
          <p:spPr bwMode="auto">
            <a:xfrm>
              <a:off x="1905000" y="4800600"/>
              <a:ext cx="5715000" cy="1905000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2598965" y="4505960"/>
              <a:ext cx="830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1F497D">
                      <a:lumMod val="75000"/>
                    </a:srgbClr>
                  </a:solidFill>
                </a:rPr>
                <a:t>Storage</a:t>
              </a:r>
              <a:endParaRPr lang="en-US" sz="1600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78960" y="4505960"/>
              <a:ext cx="820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1F497D">
                      <a:lumMod val="75000"/>
                    </a:srgbClr>
                  </a:solidFill>
                </a:rPr>
                <a:t>Policies</a:t>
              </a:r>
              <a:endParaRPr lang="en-US" sz="1600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22260" y="4505960"/>
              <a:ext cx="13299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1F497D">
                      <a:lumMod val="75000"/>
                    </a:srgbClr>
                  </a:solidFill>
                </a:rPr>
                <a:t>Access Group</a:t>
              </a:r>
              <a:endParaRPr lang="en-US" sz="1600" b="1" dirty="0">
                <a:solidFill>
                  <a:srgbClr val="1F497D">
                    <a:lumMod val="75000"/>
                  </a:srgb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Overview</a:t>
            </a:r>
          </a:p>
          <a:p>
            <a:r>
              <a:rPr lang="en-US" dirty="0" smtClean="0"/>
              <a:t>What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What To Be Virtualized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dirty="0" smtClean="0"/>
              <a:t>Layers can be virtualized</a:t>
            </a:r>
          </a:p>
          <a:p>
            <a:pPr lvl="1"/>
            <a:r>
              <a:rPr lang="en-US" dirty="0" smtClean="0"/>
              <a:t>File system</a:t>
            </a:r>
          </a:p>
          <a:p>
            <a:pPr lvl="2"/>
            <a:r>
              <a:rPr lang="en-US" dirty="0" smtClean="0"/>
              <a:t>Provide compatible system call interface to user space applications.</a:t>
            </a:r>
          </a:p>
          <a:p>
            <a:pPr lvl="1"/>
            <a:r>
              <a:rPr lang="en-US" dirty="0" smtClean="0"/>
              <a:t>Block device</a:t>
            </a:r>
          </a:p>
          <a:p>
            <a:pPr lvl="2"/>
            <a:r>
              <a:rPr lang="en-US" dirty="0" smtClean="0"/>
              <a:t>Provide compatible block device interface to file system.</a:t>
            </a:r>
          </a:p>
          <a:p>
            <a:pPr lvl="2"/>
            <a:r>
              <a:rPr lang="en-US" dirty="0" smtClean="0"/>
              <a:t>Through the interface such as SCIS, SAS, ATA, SATA,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3200400"/>
            <a:ext cx="3352800" cy="1752600"/>
          </a:xfrm>
          <a:prstGeom prst="rect">
            <a:avLst/>
          </a:prstGeom>
          <a:gradFill>
            <a:gsLst>
              <a:gs pos="100000">
                <a:schemeClr val="accent3">
                  <a:tint val="50000"/>
                  <a:satMod val="300000"/>
                </a:schemeClr>
              </a:gs>
              <a:gs pos="65000">
                <a:schemeClr val="accent3">
                  <a:tint val="37000"/>
                  <a:satMod val="300000"/>
                </a:schemeClr>
              </a:gs>
              <a:gs pos="0">
                <a:schemeClr val="accent3">
                  <a:tint val="15000"/>
                  <a:satMod val="350000"/>
                </a:schemeClr>
              </a:gs>
            </a:gsLst>
          </a:gradFill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Kernel Space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05400" y="1828800"/>
            <a:ext cx="3352800" cy="1295400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User Space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34000" y="2286000"/>
            <a:ext cx="26670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Application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0" y="2895600"/>
            <a:ext cx="2667000" cy="381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System call interface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334000" y="3429000"/>
            <a:ext cx="26670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File System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0" y="4038600"/>
            <a:ext cx="2667000" cy="381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Block interface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34000" y="4572000"/>
            <a:ext cx="26670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Device driver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05400" y="5105400"/>
            <a:ext cx="3352800" cy="4572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Storage Device</a:t>
            </a: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and Files</a:t>
            </a:r>
          </a:p>
          <a:p>
            <a:pPr lvl="1"/>
            <a:r>
              <a:rPr lang="en-US" dirty="0" smtClean="0"/>
              <a:t>What is data ?</a:t>
            </a:r>
          </a:p>
          <a:p>
            <a:pPr lvl="2"/>
            <a:r>
              <a:rPr lang="en-US" dirty="0" smtClean="0"/>
              <a:t>Data is information that has been converted to a machine-readable, digital binary format.</a:t>
            </a:r>
          </a:p>
          <a:p>
            <a:pPr lvl="2"/>
            <a:r>
              <a:rPr lang="en-US" dirty="0" smtClean="0"/>
              <a:t>Control information indicates how data should be processed.</a:t>
            </a:r>
          </a:p>
          <a:p>
            <a:pPr lvl="2"/>
            <a:r>
              <a:rPr lang="en-US" dirty="0" smtClean="0"/>
              <a:t>Applications may embed control information in user data for formatting or presentation.</a:t>
            </a:r>
          </a:p>
          <a:p>
            <a:pPr lvl="2"/>
            <a:r>
              <a:rPr lang="en-US" dirty="0" smtClean="0"/>
              <a:t>Data and its associated control information is organized into discrete units as files or records.</a:t>
            </a:r>
          </a:p>
          <a:p>
            <a:pPr lvl="1"/>
            <a:r>
              <a:rPr lang="en-US" dirty="0" smtClean="0"/>
              <a:t>What is file ?</a:t>
            </a:r>
          </a:p>
          <a:p>
            <a:pPr lvl="2"/>
            <a:r>
              <a:rPr lang="en-US" dirty="0" smtClean="0"/>
              <a:t>Files are the common containers for user data, application code, and operating system executables and parameters.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About the files</a:t>
            </a:r>
          </a:p>
          <a:p>
            <a:pPr lvl="1"/>
            <a:r>
              <a:rPr lang="en-US" dirty="0" smtClean="0"/>
              <a:t>Metadata</a:t>
            </a:r>
          </a:p>
          <a:p>
            <a:pPr lvl="2"/>
            <a:r>
              <a:rPr lang="en-US" dirty="0" smtClean="0"/>
              <a:t>The control information for file management is known as metadata.</a:t>
            </a:r>
          </a:p>
          <a:p>
            <a:pPr lvl="2"/>
            <a:r>
              <a:rPr lang="en-US" dirty="0" smtClean="0"/>
              <a:t>File metadata includes file attributes and pointers to the location of file data content.</a:t>
            </a:r>
          </a:p>
          <a:p>
            <a:pPr lvl="2"/>
            <a:r>
              <a:rPr lang="en-US" dirty="0" smtClean="0"/>
              <a:t>File metadata may be segregated from a file's data content.</a:t>
            </a:r>
          </a:p>
          <a:p>
            <a:pPr lvl="2"/>
            <a:r>
              <a:rPr lang="en-US" dirty="0" smtClean="0"/>
              <a:t>Metadata on file ownership and permissions is used in file access.</a:t>
            </a:r>
          </a:p>
          <a:p>
            <a:pPr lvl="2"/>
            <a:r>
              <a:rPr lang="en-US" dirty="0" smtClean="0"/>
              <a:t>File timestamp metadata facilitates automated processes such as backup and life cycle management.</a:t>
            </a:r>
          </a:p>
          <a:p>
            <a:pPr lvl="1"/>
            <a:r>
              <a:rPr lang="en-US" dirty="0" smtClean="0"/>
              <a:t>Different file systems</a:t>
            </a:r>
          </a:p>
          <a:p>
            <a:pPr lvl="2"/>
            <a:r>
              <a:rPr lang="en-US" dirty="0" smtClean="0"/>
              <a:t>In Unix systems, file metadata is contained in the </a:t>
            </a:r>
            <a:r>
              <a:rPr lang="en-US" i="1" dirty="0" err="1" smtClean="0"/>
              <a:t>i</a:t>
            </a:r>
            <a:r>
              <a:rPr lang="en-US" dirty="0" smtClean="0"/>
              <a:t>-node structure.</a:t>
            </a:r>
          </a:p>
          <a:p>
            <a:pPr lvl="2"/>
            <a:r>
              <a:rPr lang="en-US" dirty="0" smtClean="0"/>
              <a:t>In Windows systems, file metadata is contained in records of file attributes.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File system</a:t>
            </a:r>
          </a:p>
          <a:p>
            <a:pPr lvl="1"/>
            <a:r>
              <a:rPr lang="en-US" dirty="0" smtClean="0"/>
              <a:t>What is file system ?</a:t>
            </a:r>
          </a:p>
          <a:p>
            <a:pPr lvl="2"/>
            <a:r>
              <a:rPr lang="en-US" dirty="0" smtClean="0"/>
              <a:t>A file system is a software layer responsible for organizing and policing the creation, modification, and deletion of files.</a:t>
            </a:r>
          </a:p>
          <a:p>
            <a:pPr lvl="2"/>
            <a:r>
              <a:rPr lang="en-US" dirty="0" smtClean="0"/>
              <a:t>File systems provide a hierarchical organization of files into directories and subdirectories.</a:t>
            </a:r>
          </a:p>
          <a:p>
            <a:pPr lvl="2"/>
            <a:r>
              <a:rPr lang="en-US" dirty="0" smtClean="0"/>
              <a:t>The </a:t>
            </a:r>
            <a:r>
              <a:rPr lang="en-US" i="1" dirty="0" smtClean="0"/>
              <a:t>B</a:t>
            </a:r>
            <a:r>
              <a:rPr lang="en-US" dirty="0" smtClean="0"/>
              <a:t>-tree algorithm facilitates more rapid search and retrieval of files by name.</a:t>
            </a:r>
          </a:p>
          <a:p>
            <a:pPr lvl="2"/>
            <a:r>
              <a:rPr lang="en-US" dirty="0" smtClean="0"/>
              <a:t>File system integrity is maintained through duplication of master tables, change logs, and immediate writes off file changes.</a:t>
            </a:r>
          </a:p>
          <a:p>
            <a:pPr lvl="1"/>
            <a:r>
              <a:rPr lang="en-US" dirty="0" smtClean="0"/>
              <a:t>Different file systems</a:t>
            </a:r>
          </a:p>
          <a:p>
            <a:pPr lvl="2"/>
            <a:r>
              <a:rPr lang="en-US" dirty="0" smtClean="0"/>
              <a:t>In Unix, the super block contains information on the current state of the file system and its resources.</a:t>
            </a:r>
          </a:p>
          <a:p>
            <a:pPr lvl="2"/>
            <a:r>
              <a:rPr lang="en-US" dirty="0" smtClean="0"/>
              <a:t>In Windows NTFS, the master file table contains information on all file entries and status.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191000"/>
          </a:xfrm>
        </p:spPr>
        <p:txBody>
          <a:bodyPr/>
          <a:lstStyle/>
          <a:p>
            <a:r>
              <a:rPr lang="en-US" dirty="0" smtClean="0"/>
              <a:t>File system level virtualization</a:t>
            </a:r>
          </a:p>
          <a:p>
            <a:pPr lvl="1"/>
            <a:r>
              <a:rPr lang="en-US" dirty="0" smtClean="0"/>
              <a:t>File system maintains metadata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i="1" dirty="0" err="1" smtClean="0"/>
              <a:t>i</a:t>
            </a:r>
            <a:r>
              <a:rPr lang="en-US" dirty="0" smtClean="0"/>
              <a:t>-node) of each file.</a:t>
            </a:r>
          </a:p>
          <a:p>
            <a:pPr lvl="1"/>
            <a:r>
              <a:rPr lang="en-US" dirty="0" smtClean="0"/>
              <a:t>Translate file access requests to underlining file system.</a:t>
            </a:r>
          </a:p>
          <a:p>
            <a:pPr lvl="1"/>
            <a:r>
              <a:rPr lang="en-US" dirty="0" smtClean="0"/>
              <a:t>Sometime divide large file into small sub-files (chunks) for parallel access, which improves the performance</a:t>
            </a:r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3414713" cy="488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Device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524000"/>
            <a:ext cx="8267700" cy="4876800"/>
          </a:xfrm>
        </p:spPr>
        <p:txBody>
          <a:bodyPr>
            <a:noAutofit/>
          </a:bodyPr>
          <a:lstStyle/>
          <a:p>
            <a:r>
              <a:rPr lang="en-US" dirty="0" smtClean="0"/>
              <a:t>Block level data</a:t>
            </a:r>
          </a:p>
          <a:p>
            <a:pPr lvl="1"/>
            <a:r>
              <a:rPr lang="en-US" dirty="0" smtClean="0"/>
              <a:t>The file system block</a:t>
            </a:r>
          </a:p>
          <a:p>
            <a:pPr lvl="2"/>
            <a:r>
              <a:rPr lang="en-US" dirty="0" smtClean="0"/>
              <a:t>The atomic unit of file system management is the file system block.</a:t>
            </a:r>
          </a:p>
          <a:p>
            <a:pPr lvl="2"/>
            <a:r>
              <a:rPr lang="en-US" dirty="0" smtClean="0"/>
              <a:t>A file's data may span multiple file system blocks.</a:t>
            </a:r>
          </a:p>
          <a:p>
            <a:pPr lvl="2"/>
            <a:r>
              <a:rPr lang="en-US" dirty="0" smtClean="0"/>
              <a:t>A file system block is composed of a consecutive range of disk block addresses.</a:t>
            </a:r>
          </a:p>
          <a:p>
            <a:pPr lvl="1"/>
            <a:r>
              <a:rPr lang="en-US" dirty="0" smtClean="0"/>
              <a:t>Data in disk</a:t>
            </a:r>
          </a:p>
          <a:p>
            <a:pPr lvl="2"/>
            <a:r>
              <a:rPr lang="en-US" dirty="0" smtClean="0"/>
              <a:t>Disk drives read and write data to media through cylinder, head, and sector geometry.</a:t>
            </a:r>
          </a:p>
          <a:p>
            <a:pPr lvl="2"/>
            <a:r>
              <a:rPr lang="en-US" dirty="0" smtClean="0"/>
              <a:t>Microcode on a disk translates between disk block numbers and cylinder/head/sector locations.</a:t>
            </a:r>
          </a:p>
          <a:p>
            <a:pPr lvl="2"/>
            <a:r>
              <a:rPr lang="en-US" dirty="0" smtClean="0"/>
              <a:t>This translation is an elementary form of virtualization.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Device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352800"/>
          </a:xfrm>
        </p:spPr>
        <p:txBody>
          <a:bodyPr/>
          <a:lstStyle/>
          <a:p>
            <a:r>
              <a:rPr lang="en-US" dirty="0" smtClean="0"/>
              <a:t>Block device interface</a:t>
            </a:r>
          </a:p>
          <a:p>
            <a:pPr lvl="1"/>
            <a:r>
              <a:rPr lang="en-US" dirty="0" smtClean="0"/>
              <a:t>SCSI (</a:t>
            </a:r>
            <a:r>
              <a:rPr lang="en-US" i="1" dirty="0" smtClean="0"/>
              <a:t>Small Computer System Interface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The exchange of data blocks between the host system and storage is governed by the SCSI protocol.</a:t>
            </a:r>
          </a:p>
          <a:p>
            <a:pPr lvl="2"/>
            <a:r>
              <a:rPr lang="en-US" dirty="0" smtClean="0"/>
              <a:t>The SCSI protocol is implemented in a client/server model.</a:t>
            </a:r>
          </a:p>
          <a:p>
            <a:pPr lvl="2"/>
            <a:r>
              <a:rPr lang="en-US" dirty="0" smtClean="0"/>
              <a:t>The SCSI protocol is responsible for block exchange but does not define how data blocks will be placed on disk.</a:t>
            </a:r>
          </a:p>
          <a:p>
            <a:pPr lvl="2"/>
            <a:r>
              <a:rPr lang="en-US" dirty="0" smtClean="0"/>
              <a:t>Multiple instances of SCSI client/server sessions may run concurrently between a server and storage.</a:t>
            </a:r>
          </a:p>
        </p:txBody>
      </p:sp>
      <p:pic>
        <p:nvPicPr>
          <p:cNvPr id="7" name="Picture 6" descr="Network_2.png"/>
          <p:cNvPicPr>
            <a:picLocks noChangeAspect="1"/>
          </p:cNvPicPr>
          <p:nvPr/>
        </p:nvPicPr>
        <p:blipFill>
          <a:blip r:embed="rId2" cstate="print"/>
          <a:srcRect l="769"/>
          <a:stretch>
            <a:fillRect/>
          </a:stretch>
        </p:blipFill>
        <p:spPr>
          <a:xfrm>
            <a:off x="1623060" y="4191000"/>
            <a:ext cx="5897881" cy="2516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Device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295400"/>
            <a:ext cx="845820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Logical unit and Logical volume</a:t>
            </a:r>
          </a:p>
          <a:p>
            <a:pPr lvl="1"/>
            <a:r>
              <a:rPr lang="en-US" dirty="0" smtClean="0"/>
              <a:t>Logical unit</a:t>
            </a:r>
          </a:p>
          <a:p>
            <a:pPr lvl="2"/>
            <a:r>
              <a:rPr lang="en-US" dirty="0" smtClean="0"/>
              <a:t>The SCSI command processing entity within the storage target represents a logical unit (LU) and is assigned a logical unit number (LUN) for identification by the host platform.</a:t>
            </a:r>
          </a:p>
          <a:p>
            <a:pPr lvl="2"/>
            <a:r>
              <a:rPr lang="en-US" dirty="0" smtClean="0"/>
              <a:t>LUN assignment can be manipulated through LUN mapping, which substitutes virtual LUN numbers for actual ones.</a:t>
            </a:r>
          </a:p>
          <a:p>
            <a:pPr lvl="1"/>
            <a:r>
              <a:rPr lang="en-US" dirty="0" smtClean="0"/>
              <a:t>Logical volume</a:t>
            </a:r>
          </a:p>
          <a:p>
            <a:pPr lvl="2"/>
            <a:r>
              <a:rPr lang="en-US" dirty="0" smtClean="0"/>
              <a:t>A volume represents the storage capacity of one or more disk drives.</a:t>
            </a:r>
          </a:p>
          <a:p>
            <a:pPr lvl="2"/>
            <a:r>
              <a:rPr lang="en-US" dirty="0" smtClean="0"/>
              <a:t>Logical volume management may sit between the file system and the device drivers that control system I/O.</a:t>
            </a:r>
          </a:p>
          <a:p>
            <a:pPr lvl="2"/>
            <a:r>
              <a:rPr lang="en-US" dirty="0" smtClean="0"/>
              <a:t>Volume management is responsible for creating and maintaining metadata about storage capacity.</a:t>
            </a:r>
          </a:p>
          <a:p>
            <a:pPr lvl="2"/>
            <a:r>
              <a:rPr lang="en-US" dirty="0" smtClean="0"/>
              <a:t>Volumes are an archetypal form of storage virtualization.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2801" y="1097280"/>
            <a:ext cx="3410712" cy="542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Device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4876800" cy="4525963"/>
          </a:xfrm>
        </p:spPr>
        <p:txBody>
          <a:bodyPr/>
          <a:lstStyle/>
          <a:p>
            <a:r>
              <a:rPr lang="en-US" dirty="0" smtClean="0"/>
              <a:t>Data block level virtualization</a:t>
            </a:r>
          </a:p>
          <a:p>
            <a:pPr lvl="1"/>
            <a:r>
              <a:rPr lang="en-US" dirty="0" smtClean="0"/>
              <a:t>LUN &amp; LBA</a:t>
            </a:r>
          </a:p>
          <a:p>
            <a:pPr lvl="2"/>
            <a:r>
              <a:rPr lang="en-US" dirty="0" smtClean="0"/>
              <a:t>A single block of information is addressed using a logical unit identifier (LUN) and an offset within that LUN, which known as a Logical Block Address (LBA).</a:t>
            </a:r>
          </a:p>
          <a:p>
            <a:pPr lvl="1"/>
            <a:r>
              <a:rPr lang="en-US" dirty="0" smtClean="0"/>
              <a:t>Apply address space remapping</a:t>
            </a:r>
          </a:p>
          <a:p>
            <a:pPr lvl="2"/>
            <a:r>
              <a:rPr lang="en-US" dirty="0" smtClean="0"/>
              <a:t>The address space mapping is between a logical disk and a logical unit presented by one or more storage controllers.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Overview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What to be virtualized</a:t>
            </a:r>
          </a:p>
          <a:p>
            <a:r>
              <a:rPr lang="en-US" dirty="0" smtClean="0"/>
              <a:t>Where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Be Virtualized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0037"/>
            <a:ext cx="7391400" cy="3459163"/>
          </a:xfrm>
        </p:spPr>
        <p:txBody>
          <a:bodyPr/>
          <a:lstStyle/>
          <a:p>
            <a:r>
              <a:rPr lang="en-US" dirty="0" smtClean="0"/>
              <a:t>Storage interconnection</a:t>
            </a:r>
          </a:p>
          <a:p>
            <a:pPr lvl="1"/>
            <a:r>
              <a:rPr lang="en-US" dirty="0" smtClean="0"/>
              <a:t>The path to storage</a:t>
            </a:r>
          </a:p>
          <a:p>
            <a:pPr lvl="2"/>
            <a:r>
              <a:rPr lang="en-US" dirty="0" smtClean="0"/>
              <a:t>The storage interconnect provides the data path between servers and storage.</a:t>
            </a:r>
          </a:p>
          <a:p>
            <a:pPr lvl="2"/>
            <a:r>
              <a:rPr lang="en-US" dirty="0" smtClean="0"/>
              <a:t>The storage interconnect is composed of both hardware and software components.</a:t>
            </a:r>
          </a:p>
          <a:p>
            <a:pPr lvl="2"/>
            <a:r>
              <a:rPr lang="en-US" dirty="0" smtClean="0"/>
              <a:t>Operating systems provide drivers for I/O to storage assets.</a:t>
            </a:r>
          </a:p>
          <a:p>
            <a:pPr lvl="2"/>
            <a:r>
              <a:rPr lang="en-US" dirty="0" smtClean="0"/>
              <a:t>Storage connectivity for hosts is provided by host bus adapters (HBAs) or network interface cards (NICs).</a:t>
            </a:r>
            <a:endParaRPr lang="en-US" dirty="0"/>
          </a:p>
        </p:txBody>
      </p:sp>
      <p:pic>
        <p:nvPicPr>
          <p:cNvPr id="6" name="Picture 5" descr="Storage_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778" y="4724400"/>
            <a:ext cx="7696444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Be Virtualized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r>
              <a:rPr lang="en-US" dirty="0" smtClean="0"/>
              <a:t>Storage interconnection protocol</a:t>
            </a:r>
          </a:p>
          <a:p>
            <a:pPr lvl="1"/>
            <a:r>
              <a:rPr lang="en-US" dirty="0" err="1" smtClean="0"/>
              <a:t>Fibre</a:t>
            </a:r>
            <a:r>
              <a:rPr lang="en-US" dirty="0" smtClean="0"/>
              <a:t> Channel</a:t>
            </a:r>
          </a:p>
          <a:p>
            <a:pPr lvl="2"/>
            <a:r>
              <a:rPr lang="en-US" dirty="0" smtClean="0"/>
              <a:t>Usually for high performance requirements.</a:t>
            </a:r>
          </a:p>
          <a:p>
            <a:pPr lvl="2"/>
            <a:r>
              <a:rPr lang="en-US" dirty="0" smtClean="0"/>
              <a:t>Supports point-to-point, arbitrated loop, and fabric interconnects.</a:t>
            </a:r>
          </a:p>
          <a:p>
            <a:pPr lvl="2"/>
            <a:r>
              <a:rPr lang="en-US" dirty="0" smtClean="0"/>
              <a:t>Device discovery is provided by the simple name server (SNS).</a:t>
            </a:r>
          </a:p>
          <a:p>
            <a:pPr lvl="2"/>
            <a:r>
              <a:rPr lang="en-US" dirty="0" err="1" smtClean="0"/>
              <a:t>Fibre</a:t>
            </a:r>
            <a:r>
              <a:rPr lang="en-US" dirty="0" smtClean="0"/>
              <a:t> Channel fabrics are self-configuring via fabric protocols.</a:t>
            </a:r>
          </a:p>
          <a:p>
            <a:pPr lvl="1"/>
            <a:r>
              <a:rPr lang="en-US" dirty="0" err="1" smtClean="0"/>
              <a:t>iSCSI</a:t>
            </a:r>
            <a:r>
              <a:rPr lang="en-US" dirty="0" smtClean="0"/>
              <a:t> ( </a:t>
            </a:r>
            <a:r>
              <a:rPr lang="en-US" i="1" dirty="0" smtClean="0"/>
              <a:t>internet SCSI 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For moderate performance requirements.</a:t>
            </a:r>
          </a:p>
          <a:p>
            <a:pPr lvl="2"/>
            <a:r>
              <a:rPr lang="en-US" dirty="0" smtClean="0"/>
              <a:t>Encapsulates SCSI commands, status and data in TCP/IP.</a:t>
            </a:r>
          </a:p>
          <a:p>
            <a:pPr lvl="2"/>
            <a:r>
              <a:rPr lang="en-US" dirty="0" smtClean="0"/>
              <a:t>Device discovery by the Internet Storage Name Service (</a:t>
            </a:r>
            <a:r>
              <a:rPr lang="en-US" dirty="0" err="1" smtClean="0"/>
              <a:t>iSNS</a:t>
            </a:r>
            <a:r>
              <a:rPr lang="en-US" dirty="0" smtClean="0"/>
              <a:t>).</a:t>
            </a:r>
          </a:p>
          <a:p>
            <a:pPr lvl="2"/>
            <a:r>
              <a:rPr lang="en-US" dirty="0" err="1" smtClean="0"/>
              <a:t>iSCSI</a:t>
            </a:r>
            <a:r>
              <a:rPr lang="en-US" dirty="0" smtClean="0"/>
              <a:t> servers can be integrated into </a:t>
            </a:r>
            <a:r>
              <a:rPr lang="en-US" dirty="0" err="1" smtClean="0"/>
              <a:t>Fibre</a:t>
            </a:r>
            <a:r>
              <a:rPr lang="en-US" dirty="0" smtClean="0"/>
              <a:t> Channel SANs through IP storage routers.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Be Virtualized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Autofit/>
          </a:bodyPr>
          <a:lstStyle/>
          <a:p>
            <a:r>
              <a:rPr lang="en-US" dirty="0" smtClean="0"/>
              <a:t>Abstracting physical storage</a:t>
            </a:r>
          </a:p>
          <a:p>
            <a:pPr lvl="1"/>
            <a:r>
              <a:rPr lang="en-US" dirty="0" smtClean="0"/>
              <a:t>Physical to virtual</a:t>
            </a:r>
          </a:p>
          <a:p>
            <a:pPr lvl="2"/>
            <a:r>
              <a:rPr lang="en-US" dirty="0" smtClean="0"/>
              <a:t>The cylinder, head and sector geometry of individual disks is virtualized into logical block addresses (LBAs).</a:t>
            </a:r>
          </a:p>
          <a:p>
            <a:pPr lvl="2"/>
            <a:r>
              <a:rPr lang="en-US" dirty="0" smtClean="0"/>
              <a:t>For storage networks, the physical storage system is identified by a network address / LUN pair.</a:t>
            </a:r>
          </a:p>
          <a:p>
            <a:pPr lvl="2"/>
            <a:r>
              <a:rPr lang="en-US" dirty="0" smtClean="0"/>
              <a:t>Combining RAID and JBOD assets to create a virtualized mirror must accommodate performance differences. </a:t>
            </a:r>
          </a:p>
          <a:p>
            <a:pPr lvl="1"/>
            <a:r>
              <a:rPr lang="en-US" dirty="0" smtClean="0"/>
              <a:t>Metadata integrity</a:t>
            </a:r>
          </a:p>
          <a:p>
            <a:pPr lvl="2"/>
            <a:r>
              <a:rPr lang="en-US" dirty="0" smtClean="0"/>
              <a:t>Storage metadata integrity requires redundancy for failover or load balancing.</a:t>
            </a:r>
          </a:p>
          <a:p>
            <a:pPr lvl="2"/>
            <a:r>
              <a:rPr lang="en-US" dirty="0" smtClean="0"/>
              <a:t>Virtualization intelligence may need to interface with upper layer applications to ensure data consistency.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Be Virtualized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572000" cy="4419599"/>
          </a:xfrm>
        </p:spPr>
        <p:txBody>
          <a:bodyPr>
            <a:normAutofit/>
          </a:bodyPr>
          <a:lstStyle/>
          <a:p>
            <a:r>
              <a:rPr lang="en-US" dirty="0" smtClean="0"/>
              <a:t>Different approaches :</a:t>
            </a:r>
          </a:p>
          <a:p>
            <a:pPr lvl="1"/>
            <a:r>
              <a:rPr lang="en-US" dirty="0" smtClean="0"/>
              <a:t>Host-based approach</a:t>
            </a:r>
          </a:p>
          <a:p>
            <a:pPr lvl="2"/>
            <a:r>
              <a:rPr lang="en-US" dirty="0" smtClean="0"/>
              <a:t>Implemented as a software running on host systems.</a:t>
            </a:r>
          </a:p>
          <a:p>
            <a:pPr lvl="1"/>
            <a:r>
              <a:rPr lang="en-US" dirty="0" smtClean="0"/>
              <a:t>Network-based approach</a:t>
            </a:r>
          </a:p>
          <a:p>
            <a:pPr lvl="2"/>
            <a:r>
              <a:rPr lang="en-US" dirty="0" smtClean="0"/>
              <a:t>Implemented on network devices.</a:t>
            </a:r>
          </a:p>
          <a:p>
            <a:pPr lvl="1"/>
            <a:r>
              <a:rPr lang="en-US" dirty="0" smtClean="0"/>
              <a:t>Storage-based approach</a:t>
            </a:r>
          </a:p>
          <a:p>
            <a:pPr lvl="2"/>
            <a:r>
              <a:rPr lang="en-US" dirty="0" smtClean="0"/>
              <a:t>Implemented on storage target subsystem.</a:t>
            </a:r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524000"/>
            <a:ext cx="3567113" cy="50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Host-based approach</a:t>
            </a:r>
          </a:p>
          <a:p>
            <a:pPr lvl="1"/>
            <a:r>
              <a:rPr lang="en-US" dirty="0" smtClean="0"/>
              <a:t>File level</a:t>
            </a:r>
          </a:p>
          <a:p>
            <a:pPr lvl="2"/>
            <a:r>
              <a:rPr lang="en-US" dirty="0" smtClean="0"/>
              <a:t>Run virtualized file system on the host to map files into data blocks, which distributed among several storage devices.</a:t>
            </a:r>
          </a:p>
          <a:p>
            <a:pPr lvl="1"/>
            <a:r>
              <a:rPr lang="en-US" dirty="0" smtClean="0"/>
              <a:t>Block level</a:t>
            </a:r>
          </a:p>
          <a:p>
            <a:pPr lvl="2"/>
            <a:r>
              <a:rPr lang="en-US" dirty="0" smtClean="0"/>
              <a:t>Run logical volume management software on the host to intercept I/O requests and redirect them to storage devices.</a:t>
            </a:r>
          </a:p>
          <a:p>
            <a:pPr lvl="1"/>
            <a:r>
              <a:rPr lang="en-US" dirty="0" smtClean="0"/>
              <a:t>Provide services</a:t>
            </a:r>
          </a:p>
          <a:p>
            <a:pPr lvl="2"/>
            <a:r>
              <a:rPr lang="en-US" dirty="0" smtClean="0"/>
              <a:t>Software RAID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9408" y="1605756"/>
            <a:ext cx="3822192" cy="471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7838" y="2067561"/>
            <a:ext cx="3071822" cy="4213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file-txt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52749" y="1524000"/>
            <a:ext cx="762000" cy="762000"/>
          </a:xfrm>
          <a:prstGeom prst="rect">
            <a:avLst/>
          </a:prstGeom>
        </p:spPr>
      </p:pic>
      <p:grpSp>
        <p:nvGrpSpPr>
          <p:cNvPr id="5" name="Group 16"/>
          <p:cNvGrpSpPr/>
          <p:nvPr/>
        </p:nvGrpSpPr>
        <p:grpSpPr>
          <a:xfrm>
            <a:off x="5715000" y="2720790"/>
            <a:ext cx="685800" cy="539496"/>
            <a:chOff x="3124200" y="3810000"/>
            <a:chExt cx="685800" cy="539496"/>
          </a:xfrm>
        </p:grpSpPr>
        <p:pic>
          <p:nvPicPr>
            <p:cNvPr id="18" name="Picture 17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6781800" y="2720790"/>
            <a:ext cx="685800" cy="539496"/>
            <a:chOff x="3124200" y="3810000"/>
            <a:chExt cx="685800" cy="539496"/>
          </a:xfrm>
        </p:grpSpPr>
        <p:pic>
          <p:nvPicPr>
            <p:cNvPr id="21" name="Picture 20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2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" name="Group 22"/>
          <p:cNvGrpSpPr/>
          <p:nvPr/>
        </p:nvGrpSpPr>
        <p:grpSpPr>
          <a:xfrm>
            <a:off x="7772400" y="2720790"/>
            <a:ext cx="685800" cy="539496"/>
            <a:chOff x="3124200" y="3810000"/>
            <a:chExt cx="685800" cy="539496"/>
          </a:xfrm>
        </p:grpSpPr>
        <p:pic>
          <p:nvPicPr>
            <p:cNvPr id="24" name="Picture 2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3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2010238"/>
            <a:ext cx="3280653" cy="4323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32889" y="1219200"/>
            <a:ext cx="2987675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Round Diagonal Corner Rectangle 53"/>
          <p:cNvSpPr/>
          <p:nvPr/>
        </p:nvSpPr>
        <p:spPr>
          <a:xfrm>
            <a:off x="5637906" y="2819400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55" name="Round Diagonal Corner Rectangle 54"/>
          <p:cNvSpPr/>
          <p:nvPr/>
        </p:nvSpPr>
        <p:spPr>
          <a:xfrm>
            <a:off x="6285606" y="2819400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2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56" name="Round Diagonal Corner Rectangle 55"/>
          <p:cNvSpPr/>
          <p:nvPr/>
        </p:nvSpPr>
        <p:spPr>
          <a:xfrm>
            <a:off x="6933306" y="2819400"/>
            <a:ext cx="45720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57" name="Round Diagonal Corner Rectangle 56"/>
          <p:cNvSpPr/>
          <p:nvPr/>
        </p:nvSpPr>
        <p:spPr>
          <a:xfrm>
            <a:off x="7581006" y="2819400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2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58" name="Round Diagonal Corner Rectangle 57"/>
          <p:cNvSpPr/>
          <p:nvPr/>
        </p:nvSpPr>
        <p:spPr>
          <a:xfrm>
            <a:off x="8228706" y="2819400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53366E-6 L -0.1625 0.1526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" y="7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53366E-6 L 0.07916 0.1526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7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53366E-6 L 0.14583 0.1526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0.15267 L -0.1125 0.3636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10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15267 L 0.22917 0.3636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10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0.15267 L -0.10417 0.3636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9.16031E-7 L -0.15816 0.16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8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16031E-7 L -0.04566 0.161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" y="8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9.16031E-7 L 0.05851 0.2165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08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9.16031E-7 L 0.01267 0.16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8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84178E-7 L 0.20833 0.16655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84 0.161 L 0.03351 0.44969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144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7 0.161 L 0.17934 0.40528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122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1 0.21652 L 0.00017 0.40528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" y="94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816 0.161 L -0.24983 0.40528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" y="122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66 0.161 L -0.07066 0.44969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Important issues</a:t>
            </a:r>
          </a:p>
          <a:p>
            <a:pPr lvl="1"/>
            <a:r>
              <a:rPr lang="en-US" dirty="0" smtClean="0"/>
              <a:t>Storage metadata servers</a:t>
            </a:r>
          </a:p>
          <a:p>
            <a:pPr lvl="2"/>
            <a:r>
              <a:rPr lang="en-US" dirty="0" smtClean="0"/>
              <a:t>Storage metadata may be shared by multiple servers.</a:t>
            </a:r>
          </a:p>
          <a:p>
            <a:pPr lvl="2"/>
            <a:r>
              <a:rPr lang="en-US" dirty="0" smtClean="0"/>
              <a:t>Shared metadata enables a SAN file system view for multiple servers.</a:t>
            </a:r>
          </a:p>
          <a:p>
            <a:pPr lvl="2"/>
            <a:r>
              <a:rPr lang="en-US" dirty="0" smtClean="0"/>
              <a:t>Provides virtual to real logical block address mapping for client.</a:t>
            </a:r>
          </a:p>
          <a:p>
            <a:pPr lvl="2"/>
            <a:r>
              <a:rPr lang="en-US" dirty="0" smtClean="0"/>
              <a:t>A distributed SAN file system requires file locking mechanisms to preserve data integrity.</a:t>
            </a:r>
          </a:p>
          <a:p>
            <a:pPr lvl="1"/>
            <a:r>
              <a:rPr lang="en-US" dirty="0" smtClean="0"/>
              <a:t>Host-based storage APIs</a:t>
            </a:r>
          </a:p>
          <a:p>
            <a:pPr lvl="2"/>
            <a:r>
              <a:rPr lang="en-US" dirty="0" smtClean="0"/>
              <a:t>May be implemented by the operating system to provide a common interface to disparate virtualized resources.</a:t>
            </a:r>
          </a:p>
          <a:p>
            <a:pPr lvl="2"/>
            <a:r>
              <a:rPr lang="en-US" dirty="0" smtClean="0"/>
              <a:t>Microsoft's virtual disk service (VDS) provides a management interface for dynamic generation of virtualized storage.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4876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 typical example :</a:t>
            </a:r>
          </a:p>
          <a:p>
            <a:pPr lvl="1"/>
            <a:r>
              <a:rPr lang="en-US" dirty="0" smtClean="0"/>
              <a:t>LVM</a:t>
            </a:r>
          </a:p>
          <a:p>
            <a:pPr lvl="2"/>
            <a:r>
              <a:rPr lang="en-US" dirty="0" smtClean="0"/>
              <a:t>Software layer between the file system and the disk driver.</a:t>
            </a:r>
          </a:p>
          <a:p>
            <a:pPr lvl="2"/>
            <a:r>
              <a:rPr lang="en-US" dirty="0" smtClean="0"/>
              <a:t>Executed by the host CPU.</a:t>
            </a:r>
          </a:p>
          <a:p>
            <a:pPr lvl="2"/>
            <a:r>
              <a:rPr lang="en-US" dirty="0" smtClean="0"/>
              <a:t>Lack hardware-assist for functions such as software RAID.</a:t>
            </a:r>
          </a:p>
          <a:p>
            <a:pPr lvl="2"/>
            <a:r>
              <a:rPr lang="en-US" dirty="0" smtClean="0"/>
              <a:t>Independence from vendor-specific storage architectures.</a:t>
            </a:r>
          </a:p>
          <a:p>
            <a:pPr lvl="2"/>
            <a:r>
              <a:rPr lang="en-US" dirty="0" smtClean="0"/>
              <a:t>Dynamic capacity allocation to expand or shrink volumes.</a:t>
            </a:r>
          </a:p>
          <a:p>
            <a:pPr lvl="2"/>
            <a:r>
              <a:rPr lang="en-US" dirty="0" smtClean="0"/>
              <a:t>Support alternate </a:t>
            </a:r>
            <a:r>
              <a:rPr lang="en-US" dirty="0" err="1" smtClean="0"/>
              <a:t>pathing</a:t>
            </a:r>
            <a:r>
              <a:rPr lang="en-US" dirty="0" smtClean="0"/>
              <a:t> for high availability.</a:t>
            </a:r>
            <a:endParaRPr lang="en-US" dirty="0"/>
          </a:p>
        </p:txBody>
      </p:sp>
      <p:pic>
        <p:nvPicPr>
          <p:cNvPr id="5" name="Picture 4" descr="Storage_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0" y="2407491"/>
            <a:ext cx="3657600" cy="3688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Host-based implementation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No additional hardware or infrastructure requirements</a:t>
            </a:r>
          </a:p>
          <a:p>
            <a:pPr lvl="2"/>
            <a:r>
              <a:rPr lang="en-US" dirty="0" smtClean="0"/>
              <a:t>Simple to design and implement</a:t>
            </a:r>
          </a:p>
          <a:p>
            <a:pPr lvl="2"/>
            <a:r>
              <a:rPr lang="en-US" dirty="0" smtClean="0"/>
              <a:t>Improve storage utilization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Storage utilization optimized only on a per host base</a:t>
            </a:r>
          </a:p>
          <a:p>
            <a:pPr lvl="2"/>
            <a:r>
              <a:rPr lang="en-US" dirty="0" smtClean="0"/>
              <a:t>Software implementation is depending on each operating system</a:t>
            </a:r>
          </a:p>
          <a:p>
            <a:pPr lvl="2"/>
            <a:r>
              <a:rPr lang="en-US" dirty="0" smtClean="0"/>
              <a:t>Consume CPU clock cycle for virtualization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LVM, NFS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Network-based approach</a:t>
            </a:r>
          </a:p>
          <a:p>
            <a:pPr lvl="1"/>
            <a:r>
              <a:rPr lang="en-US" dirty="0" smtClean="0"/>
              <a:t>File level</a:t>
            </a:r>
          </a:p>
          <a:p>
            <a:pPr lvl="2"/>
            <a:r>
              <a:rPr lang="en-US" dirty="0" smtClean="0"/>
              <a:t>Seldom implement file level virtualization on network device.</a:t>
            </a:r>
          </a:p>
          <a:p>
            <a:pPr lvl="1"/>
            <a:r>
              <a:rPr lang="en-US" dirty="0" smtClean="0"/>
              <a:t>Block level</a:t>
            </a:r>
          </a:p>
          <a:p>
            <a:pPr lvl="2"/>
            <a:r>
              <a:rPr lang="en-US" dirty="0" smtClean="0"/>
              <a:t>Run software on dedicated appliances or intelligent switches and routers.</a:t>
            </a:r>
          </a:p>
          <a:p>
            <a:pPr lvl="1"/>
            <a:r>
              <a:rPr lang="en-US" dirty="0" smtClean="0"/>
              <a:t>Provide services</a:t>
            </a:r>
          </a:p>
          <a:p>
            <a:pPr lvl="2"/>
            <a:r>
              <a:rPr lang="en-US" dirty="0" smtClean="0"/>
              <a:t>Multi-path</a:t>
            </a:r>
          </a:p>
          <a:p>
            <a:pPr lvl="2"/>
            <a:r>
              <a:rPr lang="en-US" dirty="0" smtClean="0"/>
              <a:t>Storage pooling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9525" y="1819275"/>
            <a:ext cx="390207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0653" y="1814470"/>
            <a:ext cx="33353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 b="6119"/>
          <a:stretch>
            <a:fillRect/>
          </a:stretch>
        </p:blipFill>
        <p:spPr bwMode="auto">
          <a:xfrm>
            <a:off x="5364484" y="1293893"/>
            <a:ext cx="2987675" cy="72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ound Diagonal Corner Rectangle 11"/>
          <p:cNvSpPr/>
          <p:nvPr/>
        </p:nvSpPr>
        <p:spPr>
          <a:xfrm>
            <a:off x="5276378" y="2465559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9" name="Round Diagonal Corner Rectangle 12"/>
          <p:cNvSpPr/>
          <p:nvPr/>
        </p:nvSpPr>
        <p:spPr>
          <a:xfrm>
            <a:off x="5809778" y="2465559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2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Round Diagonal Corner Rectangle 13"/>
          <p:cNvSpPr/>
          <p:nvPr/>
        </p:nvSpPr>
        <p:spPr>
          <a:xfrm>
            <a:off x="6647978" y="2465559"/>
            <a:ext cx="45720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Round Diagonal Corner Rectangle 14"/>
          <p:cNvSpPr/>
          <p:nvPr/>
        </p:nvSpPr>
        <p:spPr>
          <a:xfrm>
            <a:off x="7476653" y="2465559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2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12" name="Round Diagonal Corner Rectangle 15"/>
          <p:cNvSpPr/>
          <p:nvPr/>
        </p:nvSpPr>
        <p:spPr>
          <a:xfrm>
            <a:off x="8000528" y="2465559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0.05625 0.211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" y="10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29331E-6 L 0.04791 0.211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" y="10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-0.00208 0.211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10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63174E-6 L -0.04271 0.2125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" y="10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63174E-6 L -0.05 0.2125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25 0.2112 L 0.15625 0.4332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11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112 L 0.21458 0.4776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1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2112 L -0.11041 0.4776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" y="13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71 0.21258 L -0.20104 0.4346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111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 0.21258 L -0.025 0.4346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Requirements of storage network</a:t>
            </a:r>
          </a:p>
          <a:p>
            <a:pPr lvl="1"/>
            <a:r>
              <a:rPr lang="en-US" dirty="0" smtClean="0"/>
              <a:t>Intelligent services</a:t>
            </a:r>
          </a:p>
          <a:p>
            <a:pPr lvl="2"/>
            <a:r>
              <a:rPr lang="en-US" dirty="0" smtClean="0"/>
              <a:t>Logon services</a:t>
            </a:r>
          </a:p>
          <a:p>
            <a:pPr lvl="2"/>
            <a:r>
              <a:rPr lang="en-US" dirty="0" smtClean="0"/>
              <a:t>Simple name server</a:t>
            </a:r>
          </a:p>
          <a:p>
            <a:pPr lvl="2"/>
            <a:r>
              <a:rPr lang="en-US" dirty="0" smtClean="0"/>
              <a:t>Change notification</a:t>
            </a:r>
          </a:p>
          <a:p>
            <a:pPr lvl="2"/>
            <a:r>
              <a:rPr lang="en-US" dirty="0" smtClean="0"/>
              <a:t>Network address assignment</a:t>
            </a:r>
          </a:p>
          <a:p>
            <a:pPr lvl="2"/>
            <a:r>
              <a:rPr lang="en-US" dirty="0" smtClean="0"/>
              <a:t>Zoning</a:t>
            </a:r>
          </a:p>
          <a:p>
            <a:pPr lvl="1"/>
            <a:r>
              <a:rPr lang="en-US" dirty="0" smtClean="0"/>
              <a:t>Fabric switch should provide</a:t>
            </a:r>
          </a:p>
          <a:p>
            <a:pPr lvl="2"/>
            <a:r>
              <a:rPr lang="en-US" dirty="0" smtClean="0"/>
              <a:t>Connectivity for all storage transactions</a:t>
            </a:r>
          </a:p>
          <a:p>
            <a:pPr lvl="2"/>
            <a:r>
              <a:rPr lang="en-US" dirty="0" smtClean="0"/>
              <a:t>Interoperability between disparate servers,</a:t>
            </a:r>
            <a:br>
              <a:rPr lang="en-US" dirty="0" smtClean="0"/>
            </a:br>
            <a:r>
              <a:rPr lang="en-US" dirty="0" smtClean="0"/>
              <a:t>operating systems, and target devices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3400" y="3615690"/>
            <a:ext cx="4753707" cy="30899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Techniques for fabric switch virtualization</a:t>
            </a:r>
          </a:p>
          <a:p>
            <a:pPr lvl="1"/>
            <a:r>
              <a:rPr lang="en-US" dirty="0" smtClean="0"/>
              <a:t>Hosted on departmental switches</a:t>
            </a:r>
          </a:p>
          <a:p>
            <a:pPr lvl="2"/>
            <a:r>
              <a:rPr lang="en-US" dirty="0" smtClean="0"/>
              <a:t>A PC engine provisioned as an option blade.</a:t>
            </a:r>
          </a:p>
          <a:p>
            <a:pPr lvl="1"/>
            <a:r>
              <a:rPr lang="en-US" dirty="0" smtClean="0"/>
              <a:t>Data center directors</a:t>
            </a:r>
          </a:p>
          <a:p>
            <a:pPr lvl="2"/>
            <a:r>
              <a:rPr lang="en-US" dirty="0" smtClean="0"/>
              <a:t>Should be able to preserve the five nines availability characteristic of director-class switches.</a:t>
            </a:r>
          </a:p>
          <a:p>
            <a:pPr lvl="2"/>
            <a:r>
              <a:rPr lang="en-US" dirty="0" smtClean="0"/>
              <a:t>Dedicated virtualization ASICs provide</a:t>
            </a:r>
            <a:br>
              <a:rPr lang="en-US" dirty="0" smtClean="0"/>
            </a:br>
            <a:r>
              <a:rPr lang="en-US" dirty="0" smtClean="0"/>
              <a:t>high-performance frame processing</a:t>
            </a:r>
            <a:br>
              <a:rPr lang="en-US" dirty="0" smtClean="0"/>
            </a:br>
            <a:r>
              <a:rPr lang="en-US" dirty="0" smtClean="0"/>
              <a:t>and block address mapping.</a:t>
            </a:r>
          </a:p>
          <a:p>
            <a:pPr lvl="1"/>
            <a:r>
              <a:rPr lang="en-US" dirty="0" smtClean="0"/>
              <a:t>Interoperability between</a:t>
            </a:r>
            <a:br>
              <a:rPr lang="en-US" dirty="0" smtClean="0"/>
            </a:br>
            <a:r>
              <a:rPr lang="en-US" dirty="0" smtClean="0"/>
              <a:t>different implementations</a:t>
            </a:r>
            <a:br>
              <a:rPr lang="en-US" dirty="0" smtClean="0"/>
            </a:br>
            <a:r>
              <a:rPr lang="en-US" dirty="0" smtClean="0"/>
              <a:t>will become a priority.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40599" y="3962400"/>
            <a:ext cx="5662802" cy="27127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458200" cy="3429000"/>
          </a:xfrm>
        </p:spPr>
        <p:txBody>
          <a:bodyPr/>
          <a:lstStyle/>
          <a:p>
            <a:r>
              <a:rPr lang="en-US" dirty="0" smtClean="0"/>
              <a:t>Interoperability issue</a:t>
            </a:r>
          </a:p>
          <a:p>
            <a:pPr lvl="1"/>
            <a:r>
              <a:rPr lang="en-US" dirty="0" smtClean="0"/>
              <a:t>FAIS ( </a:t>
            </a:r>
            <a:r>
              <a:rPr lang="en-US" i="1" dirty="0" smtClean="0"/>
              <a:t>Fabric Application Interface Standard</a:t>
            </a:r>
            <a:r>
              <a:rPr lang="en-US" dirty="0" smtClean="0"/>
              <a:t> )</a:t>
            </a:r>
          </a:p>
          <a:p>
            <a:pPr lvl="2"/>
            <a:r>
              <a:rPr lang="en-US" dirty="0" smtClean="0"/>
              <a:t>Define a set of standard APIs to integrate applications and switches.</a:t>
            </a:r>
          </a:p>
          <a:p>
            <a:pPr lvl="2"/>
            <a:r>
              <a:rPr lang="en-US" dirty="0" smtClean="0"/>
              <a:t>FAIS separates control information and data paths.</a:t>
            </a:r>
          </a:p>
          <a:p>
            <a:pPr lvl="2"/>
            <a:r>
              <a:rPr lang="en-US" dirty="0" smtClean="0"/>
              <a:t>The control path processor (CPP) supports the FAIS APIs and upper layer storage virtualization application.</a:t>
            </a:r>
          </a:p>
          <a:p>
            <a:pPr lvl="2"/>
            <a:r>
              <a:rPr lang="en-US" dirty="0" smtClean="0"/>
              <a:t>The data path controller (DPC) executes the virtualized SCSI I/Os under the management of one or more CPPs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r>
              <a:rPr lang="en-US" dirty="0" smtClean="0"/>
              <a:t>Network-based implementation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True heterogeneous storage virtualization</a:t>
            </a:r>
          </a:p>
          <a:p>
            <a:pPr lvl="2"/>
            <a:r>
              <a:rPr lang="en-US" dirty="0" smtClean="0"/>
              <a:t>No need for modification of host or storage system</a:t>
            </a:r>
          </a:p>
          <a:p>
            <a:pPr lvl="2"/>
            <a:r>
              <a:rPr lang="en-US" dirty="0" smtClean="0"/>
              <a:t>Multi-path technique improve the access performance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Complex interoperability matrices - limited by vendors support</a:t>
            </a:r>
          </a:p>
          <a:p>
            <a:pPr lvl="2"/>
            <a:r>
              <a:rPr lang="en-US" dirty="0" smtClean="0"/>
              <a:t>Difficult to implement fast metadata updates in switch device</a:t>
            </a:r>
          </a:p>
          <a:p>
            <a:pPr lvl="2"/>
            <a:r>
              <a:rPr lang="en-US" dirty="0" smtClean="0"/>
              <a:t>Usually require to build specific network equipments (e.g., </a:t>
            </a:r>
            <a:r>
              <a:rPr lang="en-US" altLang="zh-TW" dirty="0" err="1" smtClean="0"/>
              <a:t>Fibre</a:t>
            </a:r>
            <a:r>
              <a:rPr lang="en-US" altLang="zh-TW" dirty="0" smtClean="0"/>
              <a:t> Channel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IBM SVC ( SAN Volume Controller ), EMC </a:t>
            </a:r>
            <a:r>
              <a:rPr lang="en-US" dirty="0" err="1" smtClean="0"/>
              <a:t>Invista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7284" y="1676400"/>
            <a:ext cx="3879876" cy="4869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Storage-based approach</a:t>
            </a:r>
          </a:p>
          <a:p>
            <a:pPr lvl="1"/>
            <a:r>
              <a:rPr lang="en-US" dirty="0" smtClean="0"/>
              <a:t>File level</a:t>
            </a:r>
          </a:p>
          <a:p>
            <a:pPr lvl="2"/>
            <a:r>
              <a:rPr lang="en-US" dirty="0" smtClean="0"/>
              <a:t>Run software on storage device to provide file based data storage services to host through network.</a:t>
            </a:r>
          </a:p>
          <a:p>
            <a:pPr lvl="1"/>
            <a:r>
              <a:rPr lang="en-US" dirty="0" smtClean="0"/>
              <a:t>Block level</a:t>
            </a:r>
          </a:p>
          <a:p>
            <a:pPr lvl="2"/>
            <a:r>
              <a:rPr lang="en-US" dirty="0" smtClean="0"/>
              <a:t>Embeds the technology in the target storage devices.</a:t>
            </a:r>
          </a:p>
          <a:p>
            <a:pPr lvl="1"/>
            <a:r>
              <a:rPr lang="en-US" dirty="0" smtClean="0"/>
              <a:t>Provide services</a:t>
            </a:r>
          </a:p>
          <a:p>
            <a:pPr lvl="2"/>
            <a:r>
              <a:rPr lang="en-US" dirty="0" smtClean="0"/>
              <a:t>Storage pooling</a:t>
            </a:r>
          </a:p>
          <a:p>
            <a:pPr lvl="2"/>
            <a:r>
              <a:rPr lang="en-US" dirty="0" smtClean="0"/>
              <a:t>Replication and RAID</a:t>
            </a:r>
          </a:p>
          <a:p>
            <a:pPr lvl="2"/>
            <a:r>
              <a:rPr lang="en-US" dirty="0" smtClean="0"/>
              <a:t>Data sharing and </a:t>
            </a:r>
            <a:r>
              <a:rPr lang="en-US" dirty="0" err="1" smtClean="0"/>
              <a:t>tiering</a:t>
            </a:r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6134" y="1664235"/>
            <a:ext cx="31829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990600"/>
            <a:ext cx="7747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4178300"/>
            <a:ext cx="7747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61"/>
          <p:cNvGrpSpPr/>
          <p:nvPr/>
        </p:nvGrpSpPr>
        <p:grpSpPr>
          <a:xfrm>
            <a:off x="5715000" y="5181600"/>
            <a:ext cx="685800" cy="539496"/>
            <a:chOff x="3124200" y="3810000"/>
            <a:chExt cx="685800" cy="539496"/>
          </a:xfrm>
        </p:grpSpPr>
        <p:pic>
          <p:nvPicPr>
            <p:cNvPr id="11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2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65"/>
          <p:cNvGrpSpPr/>
          <p:nvPr/>
        </p:nvGrpSpPr>
        <p:grpSpPr>
          <a:xfrm>
            <a:off x="6781800" y="5181600"/>
            <a:ext cx="685800" cy="539496"/>
            <a:chOff x="3124200" y="3810000"/>
            <a:chExt cx="685800" cy="539496"/>
          </a:xfrm>
        </p:grpSpPr>
        <p:pic>
          <p:nvPicPr>
            <p:cNvPr id="14" name="Picture 66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5" name="TextBox 67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2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68"/>
          <p:cNvGrpSpPr/>
          <p:nvPr/>
        </p:nvGrpSpPr>
        <p:grpSpPr>
          <a:xfrm>
            <a:off x="7772400" y="5181600"/>
            <a:ext cx="685800" cy="539496"/>
            <a:chOff x="3124200" y="3810000"/>
            <a:chExt cx="685800" cy="539496"/>
          </a:xfrm>
        </p:grpSpPr>
        <p:pic>
          <p:nvPicPr>
            <p:cNvPr id="17" name="Picture 69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8" name="TextBox 70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3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" name="Group 61"/>
          <p:cNvGrpSpPr/>
          <p:nvPr/>
        </p:nvGrpSpPr>
        <p:grpSpPr>
          <a:xfrm>
            <a:off x="5715000" y="5181600"/>
            <a:ext cx="685800" cy="539496"/>
            <a:chOff x="3124200" y="3810000"/>
            <a:chExt cx="685800" cy="539496"/>
          </a:xfrm>
        </p:grpSpPr>
        <p:pic>
          <p:nvPicPr>
            <p:cNvPr id="20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1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1.bak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Group 61"/>
          <p:cNvGrpSpPr/>
          <p:nvPr/>
        </p:nvGrpSpPr>
        <p:grpSpPr>
          <a:xfrm>
            <a:off x="6781800" y="5181600"/>
            <a:ext cx="685800" cy="539496"/>
            <a:chOff x="3124200" y="3810000"/>
            <a:chExt cx="685800" cy="539496"/>
          </a:xfrm>
        </p:grpSpPr>
        <p:pic>
          <p:nvPicPr>
            <p:cNvPr id="23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4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altLang="zh-TW" sz="900" b="1" dirty="0" smtClean="0">
                  <a:solidFill>
                    <a:prstClr val="black"/>
                  </a:solidFill>
                </a:rPr>
                <a:t>2.bak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83734" y="1664235"/>
            <a:ext cx="33353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57565" y="1088316"/>
            <a:ext cx="2987675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ound Diagonal Corner Rectangle 11"/>
          <p:cNvSpPr/>
          <p:nvPr/>
        </p:nvSpPr>
        <p:spPr>
          <a:xfrm>
            <a:off x="5748168" y="2295525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2" name="Round Diagonal Corner Rectangle 13"/>
          <p:cNvSpPr/>
          <p:nvPr/>
        </p:nvSpPr>
        <p:spPr>
          <a:xfrm>
            <a:off x="6853068" y="2295525"/>
            <a:ext cx="45720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3" name="Round Diagonal Corner Rectangle 15"/>
          <p:cNvSpPr/>
          <p:nvPr/>
        </p:nvSpPr>
        <p:spPr>
          <a:xfrm>
            <a:off x="7957968" y="2286000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4" name="Round Diagonal Corner Rectangle 11"/>
          <p:cNvSpPr/>
          <p:nvPr/>
        </p:nvSpPr>
        <p:spPr>
          <a:xfrm>
            <a:off x="5867400" y="5257800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5" name="Round Diagonal Corner Rectangle 13"/>
          <p:cNvSpPr/>
          <p:nvPr/>
        </p:nvSpPr>
        <p:spPr>
          <a:xfrm>
            <a:off x="6868758" y="5257800"/>
            <a:ext cx="45720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6" name="Round Diagonal Corner Rectangle 15"/>
          <p:cNvSpPr/>
          <p:nvPr/>
        </p:nvSpPr>
        <p:spPr>
          <a:xfrm>
            <a:off x="7941384" y="5248275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Block 1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7" name="Round Diagonal Corner Rectangle 11"/>
          <p:cNvSpPr/>
          <p:nvPr/>
        </p:nvSpPr>
        <p:spPr>
          <a:xfrm>
            <a:off x="5867400" y="5256567"/>
            <a:ext cx="457200" cy="22860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Replica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8" name="Round Diagonal Corner Rectangle 13"/>
          <p:cNvSpPr/>
          <p:nvPr/>
        </p:nvSpPr>
        <p:spPr>
          <a:xfrm>
            <a:off x="6868758" y="5256567"/>
            <a:ext cx="45720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Replica</a:t>
            </a:r>
            <a:endParaRPr lang="en-US" sz="900" b="1" dirty="0">
              <a:solidFill>
                <a:prstClr val="black"/>
              </a:solidFill>
            </a:endParaRPr>
          </a:p>
        </p:txBody>
      </p:sp>
      <p:sp>
        <p:nvSpPr>
          <p:cNvPr id="39" name="Round Diagonal Corner Rectangle 15"/>
          <p:cNvSpPr/>
          <p:nvPr/>
        </p:nvSpPr>
        <p:spPr>
          <a:xfrm>
            <a:off x="7941384" y="5247042"/>
            <a:ext cx="457200" cy="22860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prstClr val="black"/>
                </a:solidFill>
              </a:rPr>
              <a:t>Replica</a:t>
            </a:r>
            <a:endParaRPr lang="en-US" sz="9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50914E-6 L -0.05069 0.3432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1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69 0.34328 L -0.00069 0.465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" y="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59259E-6 L 0.1375 0.0384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1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0.12916 0.0384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02083 -0.0171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-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-0.02084 -0.0171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-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9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6183E-6 L 0.17968 0.1929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96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05 0.1879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94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17031 0.22778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" y="1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8 0.19292 L 0.12135 0.3483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" y="7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48 0.19305 L 0.08385 0.34861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78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31 0.22778 L -0.20364 0.35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5277E-6 L -0.1184 0.05161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26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6.20227E-7 L -0.10955 0.05022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25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6.20227E-7 L 0.225 0.05022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1" grpId="2" animBg="1"/>
      <p:bldP spid="31" grpId="3" animBg="1"/>
      <p:bldP spid="32" grpId="0" animBg="1"/>
      <p:bldP spid="32" grpId="1" animBg="1"/>
      <p:bldP spid="32" grpId="2" animBg="1"/>
      <p:bldP spid="32" grpId="3" animBg="1"/>
      <p:bldP spid="33" grpId="0" animBg="1"/>
      <p:bldP spid="33" grpId="1" animBg="1"/>
      <p:bldP spid="33" grpId="2" animBg="1"/>
      <p:bldP spid="33" grpId="3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4267200" y="2971800"/>
            <a:ext cx="4800600" cy="3729557"/>
            <a:chOff x="4267200" y="2823643"/>
            <a:chExt cx="4800600" cy="3729557"/>
          </a:xfrm>
        </p:grpSpPr>
        <p:pic>
          <p:nvPicPr>
            <p:cNvPr id="5" name="Picture 4" descr="Storage_6.png"/>
            <p:cNvPicPr>
              <a:picLocks noChangeAspect="1"/>
            </p:cNvPicPr>
            <p:nvPr/>
          </p:nvPicPr>
          <p:blipFill>
            <a:blip r:embed="rId2" cstate="print"/>
            <a:srcRect r="55279"/>
            <a:stretch>
              <a:fillRect/>
            </a:stretch>
          </p:blipFill>
          <p:spPr>
            <a:xfrm>
              <a:off x="4267200" y="2823643"/>
              <a:ext cx="2262935" cy="3729557"/>
            </a:xfrm>
            <a:prstGeom prst="rect">
              <a:avLst/>
            </a:prstGeom>
          </p:spPr>
        </p:pic>
        <p:pic>
          <p:nvPicPr>
            <p:cNvPr id="6" name="Picture 5" descr="Storage_6.png"/>
            <p:cNvPicPr>
              <a:picLocks noChangeAspect="1"/>
            </p:cNvPicPr>
            <p:nvPr/>
          </p:nvPicPr>
          <p:blipFill>
            <a:blip r:embed="rId2" cstate="print"/>
            <a:srcRect l="49328"/>
            <a:stretch>
              <a:fillRect/>
            </a:stretch>
          </p:blipFill>
          <p:spPr>
            <a:xfrm>
              <a:off x="6503730" y="2823644"/>
              <a:ext cx="2564070" cy="37295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Array-based virtualization</a:t>
            </a:r>
          </a:p>
          <a:p>
            <a:pPr lvl="1"/>
            <a:r>
              <a:rPr lang="en-US" dirty="0" smtClean="0"/>
              <a:t>Storage controller</a:t>
            </a:r>
          </a:p>
          <a:p>
            <a:pPr lvl="2"/>
            <a:r>
              <a:rPr lang="en-US" dirty="0" smtClean="0"/>
              <a:t>Provide basic disk virtualization in the form of RAID management, mirroring, and LUN mapping or masking.</a:t>
            </a:r>
          </a:p>
          <a:p>
            <a:pPr lvl="2"/>
            <a:r>
              <a:rPr lang="en-US" dirty="0" smtClean="0"/>
              <a:t>Allocate a single LUN to multiple servers.</a:t>
            </a:r>
          </a:p>
          <a:p>
            <a:pPr lvl="2"/>
            <a:r>
              <a:rPr lang="en-US" dirty="0" smtClean="0"/>
              <a:t>Offer </a:t>
            </a:r>
            <a:r>
              <a:rPr lang="en-US" dirty="0" err="1" smtClean="0"/>
              <a:t>Fibre</a:t>
            </a:r>
            <a:r>
              <a:rPr lang="en-US" dirty="0" smtClean="0"/>
              <a:t> Channel, </a:t>
            </a:r>
            <a:r>
              <a:rPr lang="en-US" dirty="0" err="1" smtClean="0"/>
              <a:t>iSCSI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and SCSI protocol.</a:t>
            </a:r>
          </a:p>
          <a:p>
            <a:pPr lvl="1"/>
            <a:r>
              <a:rPr lang="en-US" dirty="0" smtClean="0"/>
              <a:t>Cache memory</a:t>
            </a:r>
          </a:p>
          <a:p>
            <a:pPr lvl="2"/>
            <a:r>
              <a:rPr lang="en-US" dirty="0" smtClean="0"/>
              <a:t>Enhance performance.</a:t>
            </a:r>
          </a:p>
          <a:p>
            <a:pPr lvl="1"/>
            <a:r>
              <a:rPr lang="en-US" dirty="0" smtClean="0"/>
              <a:t>Storage assets coordination</a:t>
            </a:r>
          </a:p>
          <a:p>
            <a:pPr lvl="2"/>
            <a:r>
              <a:rPr lang="en-US" dirty="0" smtClean="0"/>
              <a:t>Coordination between</a:t>
            </a:r>
            <a:br>
              <a:rPr lang="en-US" dirty="0" smtClean="0"/>
            </a:br>
            <a:r>
              <a:rPr lang="en-US" dirty="0" smtClean="0"/>
              <a:t>multiple storage systems</a:t>
            </a:r>
            <a:br>
              <a:rPr lang="en-US" dirty="0" smtClean="0"/>
            </a:br>
            <a:r>
              <a:rPr lang="en-US" dirty="0" smtClean="0"/>
              <a:t>is necessary to ensure high</a:t>
            </a:r>
            <a:br>
              <a:rPr lang="en-US" dirty="0" smtClean="0"/>
            </a:br>
            <a:r>
              <a:rPr lang="en-US" dirty="0" smtClean="0"/>
              <a:t>availability.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r>
              <a:rPr lang="en-US" dirty="0" smtClean="0"/>
              <a:t>Data replication</a:t>
            </a:r>
          </a:p>
          <a:p>
            <a:pPr lvl="1"/>
            <a:r>
              <a:rPr lang="en-US" dirty="0" smtClean="0"/>
              <a:t>Array-based data replication</a:t>
            </a:r>
          </a:p>
          <a:p>
            <a:pPr lvl="2"/>
            <a:r>
              <a:rPr lang="en-US" dirty="0" smtClean="0"/>
              <a:t>Referred to as disk-to-disk replication.</a:t>
            </a:r>
          </a:p>
          <a:p>
            <a:pPr lvl="2"/>
            <a:r>
              <a:rPr lang="en-US" dirty="0" smtClean="0"/>
              <a:t>Requires that a storage controller function concurrently as both an initiator and target.</a:t>
            </a:r>
          </a:p>
          <a:p>
            <a:pPr lvl="1"/>
            <a:r>
              <a:rPr lang="en-US" dirty="0" smtClean="0"/>
              <a:t>Synchronous vs. Asynchronous</a:t>
            </a:r>
          </a:p>
          <a:p>
            <a:pPr lvl="2"/>
            <a:r>
              <a:rPr lang="en-US" dirty="0" smtClean="0"/>
              <a:t>Synchronous data replication ensures that a write operation to a secondary disk array is completed before the primary array acknowledges task completion to the server.</a:t>
            </a:r>
          </a:p>
          <a:p>
            <a:pPr lvl="2"/>
            <a:r>
              <a:rPr lang="en-US" dirty="0" smtClean="0"/>
              <a:t>Asynchronous data replication provides write completion by the primary array, although the transaction may still be pending to the secondary array.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pic>
        <p:nvPicPr>
          <p:cNvPr id="5" name="Content Placeholder 4" descr="Storage_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3766" y="2743200"/>
            <a:ext cx="4231271" cy="3017520"/>
          </a:xfrm>
        </p:spPr>
      </p:pic>
      <p:pic>
        <p:nvPicPr>
          <p:cNvPr id="6" name="Picture 5" descr="Storage_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53366" y="2743200"/>
            <a:ext cx="4262034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7035" y="1524000"/>
            <a:ext cx="2064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Synchronous</a:t>
            </a:r>
            <a:endParaRPr lang="en-US" sz="2800" b="1" i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56029" y="1524000"/>
            <a:ext cx="22567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Asynchronous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001" y="20574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To preserve performance, synchronous data replication is limited to metropolitan distances</a:t>
            </a:r>
            <a:endParaRPr lang="en-US" sz="16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6983" y="20574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Asynchronous data replication is largely immune to transmission latency</a:t>
            </a:r>
            <a:endParaRPr lang="en-US" sz="1600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features</a:t>
            </a:r>
          </a:p>
          <a:p>
            <a:pPr lvl="1"/>
            <a:r>
              <a:rPr lang="en-US" dirty="0" smtClean="0"/>
              <a:t>Point-in-time copy ( snapshot )</a:t>
            </a:r>
          </a:p>
          <a:p>
            <a:pPr lvl="2"/>
            <a:r>
              <a:rPr lang="en-US" dirty="0" smtClean="0"/>
              <a:t>Provide point-in-time copies of an entire storage volume.</a:t>
            </a:r>
          </a:p>
          <a:p>
            <a:pPr lvl="2"/>
            <a:r>
              <a:rPr lang="en-US" dirty="0" smtClean="0"/>
              <a:t>Snapshot copies may be written to secondary storage arrays.</a:t>
            </a:r>
          </a:p>
          <a:p>
            <a:pPr lvl="2"/>
            <a:r>
              <a:rPr lang="en-US" dirty="0" smtClean="0"/>
              <a:t>Provide an efficient means to quickly recover a known good volume state in the event of data from the host.</a:t>
            </a:r>
          </a:p>
          <a:p>
            <a:pPr lvl="1"/>
            <a:r>
              <a:rPr lang="en-US" dirty="0" smtClean="0"/>
              <a:t>Distributed modular virtualization</a:t>
            </a:r>
          </a:p>
          <a:p>
            <a:pPr lvl="2"/>
            <a:r>
              <a:rPr lang="en-US" dirty="0" smtClean="0"/>
              <a:t>Decoupling storage controller logic from physical disk banks provides flexibility for supporting heterogeneous disk assets and facilitates distributed virtualization intelligence.</a:t>
            </a:r>
          </a:p>
          <a:p>
            <a:pPr lvl="2"/>
            <a:r>
              <a:rPr lang="en-US" dirty="0" smtClean="0"/>
              <a:t>Accommodates class of storage services and data lifecycle management.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pic>
        <p:nvPicPr>
          <p:cNvPr id="5" name="Picture 4" descr="Storage_9.png"/>
          <p:cNvPicPr>
            <a:picLocks noChangeAspect="1"/>
          </p:cNvPicPr>
          <p:nvPr/>
        </p:nvPicPr>
        <p:blipFill>
          <a:blip r:embed="rId2" cstate="print"/>
          <a:srcRect l="699" r="1080"/>
          <a:stretch>
            <a:fillRect/>
          </a:stretch>
        </p:blipFill>
        <p:spPr>
          <a:xfrm>
            <a:off x="1696131" y="2895600"/>
            <a:ext cx="5751740" cy="3834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9607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chemeClr val="accent2">
                    <a:lumMod val="50000"/>
                  </a:schemeClr>
                </a:solidFill>
              </a:rPr>
              <a:t>Decoupling storage controller intelligence and virtualization engines from physical disk banks facilitates multi-protocol block data access and accommodation of a broad range of disk architectures. </a:t>
            </a:r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4863" y="1341154"/>
            <a:ext cx="5314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Distributed Modular Virtualization</a:t>
            </a:r>
            <a:endParaRPr lang="en-US" sz="2800" b="1" i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Storage-based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Storage-based implementation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Provide most of the benefits of storage virtualization</a:t>
            </a:r>
          </a:p>
          <a:p>
            <a:pPr lvl="2"/>
            <a:r>
              <a:rPr lang="en-US" dirty="0" smtClean="0"/>
              <a:t>Reduce additional latency to individual IO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Storage utilization optimized only across the connected controllers</a:t>
            </a:r>
          </a:p>
          <a:p>
            <a:pPr lvl="2"/>
            <a:r>
              <a:rPr lang="en-US" dirty="0" smtClean="0"/>
              <a:t>Replication and data migration only possible across the connected controllers and the same vendors devices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Disk array products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38400"/>
            <a:ext cx="7772400" cy="1968501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Overview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What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r>
              <a:rPr lang="en-US" dirty="0" smtClean="0"/>
              <a:t>How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In-band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572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Implementation methods :</a:t>
            </a:r>
          </a:p>
          <a:p>
            <a:pPr lvl="1"/>
            <a:r>
              <a:rPr lang="en-US" dirty="0" smtClean="0"/>
              <a:t>In-band</a:t>
            </a:r>
          </a:p>
          <a:p>
            <a:pPr lvl="2"/>
            <a:r>
              <a:rPr lang="en-US" dirty="0" smtClean="0"/>
              <a:t>Also known as </a:t>
            </a:r>
            <a:r>
              <a:rPr lang="en-US" b="1" i="1" dirty="0" smtClean="0"/>
              <a:t>symmetric</a:t>
            </a:r>
            <a:r>
              <a:rPr lang="en-US" dirty="0" smtClean="0"/>
              <a:t>, virtualization devices actually sit in the data path between the host and storage.</a:t>
            </a:r>
          </a:p>
          <a:p>
            <a:pPr lvl="2"/>
            <a:r>
              <a:rPr lang="en-US" dirty="0" smtClean="0"/>
              <a:t>Hosts perform IO to the virtualized device and never interact with the actual storage device.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Easy to implement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Bad scalability &amp; Bottle neck</a:t>
            </a:r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5000" y="1295400"/>
            <a:ext cx="990600" cy="990600"/>
          </a:xfrm>
          <a:prstGeom prst="rect">
            <a:avLst/>
          </a:prstGeom>
        </p:spPr>
      </p:pic>
      <p:pic>
        <p:nvPicPr>
          <p:cNvPr id="30" name="Picture 29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05600" y="1219200"/>
            <a:ext cx="990600" cy="990600"/>
          </a:xfrm>
          <a:prstGeom prst="rect">
            <a:avLst/>
          </a:prstGeom>
        </p:spPr>
      </p:pic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96200" y="1219200"/>
            <a:ext cx="990600" cy="990600"/>
          </a:xfrm>
          <a:prstGeom prst="rect">
            <a:avLst/>
          </a:prstGeom>
        </p:spPr>
      </p:pic>
      <p:pic>
        <p:nvPicPr>
          <p:cNvPr id="32" name="Picture 31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1042" y="2411349"/>
            <a:ext cx="990600" cy="658749"/>
          </a:xfrm>
          <a:prstGeom prst="rect">
            <a:avLst/>
          </a:prstGeom>
        </p:spPr>
      </p:pic>
      <p:pic>
        <p:nvPicPr>
          <p:cNvPr id="33" name="Picture 32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1042" y="4594098"/>
            <a:ext cx="990600" cy="658749"/>
          </a:xfrm>
          <a:prstGeom prst="rect">
            <a:avLst/>
          </a:prstGeom>
        </p:spPr>
      </p:pic>
      <p:pic>
        <p:nvPicPr>
          <p:cNvPr id="34" name="Picture 33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15000" y="5408295"/>
            <a:ext cx="987552" cy="987552"/>
          </a:xfrm>
          <a:prstGeom prst="rect">
            <a:avLst/>
          </a:prstGeom>
        </p:spPr>
      </p:pic>
      <p:pic>
        <p:nvPicPr>
          <p:cNvPr id="35" name="Picture 34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08648" y="5408295"/>
            <a:ext cx="987552" cy="987552"/>
          </a:xfrm>
          <a:prstGeom prst="rect">
            <a:avLst/>
          </a:prstGeom>
        </p:spPr>
      </p:pic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99248" y="5408295"/>
            <a:ext cx="987552" cy="987552"/>
          </a:xfrm>
          <a:prstGeom prst="rect">
            <a:avLst/>
          </a:prstGeom>
        </p:spPr>
      </p:pic>
      <p:cxnSp>
        <p:nvCxnSpPr>
          <p:cNvPr id="37" name="Straight Connector 36"/>
          <p:cNvCxnSpPr>
            <a:stCxn id="29" idx="2"/>
            <a:endCxn id="32" idx="0"/>
          </p:cNvCxnSpPr>
          <p:nvPr/>
        </p:nvCxnSpPr>
        <p:spPr>
          <a:xfrm rot="16200000" flipH="1">
            <a:off x="6645647" y="1850653"/>
            <a:ext cx="125349" cy="99604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0" idx="2"/>
            <a:endCxn id="32" idx="0"/>
          </p:cNvCxnSpPr>
          <p:nvPr/>
        </p:nvCxnSpPr>
        <p:spPr>
          <a:xfrm rot="16200000" flipH="1">
            <a:off x="7102847" y="2307853"/>
            <a:ext cx="201549" cy="544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1" idx="2"/>
            <a:endCxn id="32" idx="0"/>
          </p:cNvCxnSpPr>
          <p:nvPr/>
        </p:nvCxnSpPr>
        <p:spPr>
          <a:xfrm rot="5400000">
            <a:off x="7598147" y="1817995"/>
            <a:ext cx="201549" cy="9851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2"/>
            <a:endCxn id="34" idx="0"/>
          </p:cNvCxnSpPr>
          <p:nvPr/>
        </p:nvCxnSpPr>
        <p:spPr>
          <a:xfrm rot="5400000">
            <a:off x="6629835" y="4831788"/>
            <a:ext cx="155448" cy="99756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3" idx="2"/>
            <a:endCxn id="35" idx="0"/>
          </p:cNvCxnSpPr>
          <p:nvPr/>
        </p:nvCxnSpPr>
        <p:spPr>
          <a:xfrm rot="5400000">
            <a:off x="7126659" y="5328612"/>
            <a:ext cx="155448" cy="391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3" idx="2"/>
            <a:endCxn id="36" idx="0"/>
          </p:cNvCxnSpPr>
          <p:nvPr/>
        </p:nvCxnSpPr>
        <p:spPr>
          <a:xfrm rot="16200000" flipH="1">
            <a:off x="7621959" y="4837230"/>
            <a:ext cx="155448" cy="9866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3" name="Picture 42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6863442" y="3298698"/>
            <a:ext cx="685800" cy="1024127"/>
          </a:xfrm>
          <a:prstGeom prst="rect">
            <a:avLst/>
          </a:prstGeom>
        </p:spPr>
      </p:pic>
      <p:cxnSp>
        <p:nvCxnSpPr>
          <p:cNvPr id="44" name="Straight Connector 43"/>
          <p:cNvCxnSpPr>
            <a:stCxn id="32" idx="2"/>
            <a:endCxn id="43" idx="0"/>
          </p:cNvCxnSpPr>
          <p:nvPr/>
        </p:nvCxnSpPr>
        <p:spPr>
          <a:xfrm rot="5400000">
            <a:off x="7092042" y="3184398"/>
            <a:ext cx="228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2"/>
            <a:endCxn id="33" idx="0"/>
          </p:cNvCxnSpPr>
          <p:nvPr/>
        </p:nvCxnSpPr>
        <p:spPr>
          <a:xfrm rot="5400000">
            <a:off x="7070706" y="4458461"/>
            <a:ext cx="27127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Round Diagonal Corner Rectangle 45"/>
          <p:cNvSpPr/>
          <p:nvPr/>
        </p:nvSpPr>
        <p:spPr>
          <a:xfrm>
            <a:off x="5865876" y="5698998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47" name="Round Diagonal Corner Rectangle 46"/>
          <p:cNvSpPr/>
          <p:nvPr/>
        </p:nvSpPr>
        <p:spPr>
          <a:xfrm>
            <a:off x="6859524" y="5698998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48" name="Round Diagonal Corner Rectangle 47"/>
          <p:cNvSpPr/>
          <p:nvPr/>
        </p:nvSpPr>
        <p:spPr>
          <a:xfrm>
            <a:off x="7850124" y="5698998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5747656" y="1584198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6781799" y="1584198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7815942" y="1584198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6836484" y="3657600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6836484" y="3657600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836484" y="3657600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.00578 L 0.1099 0.3078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5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509 L -0.00087 0.3071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25168E-6 L -0.11511 0.3104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" y="1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17835E-6 L 0.10191 0.2775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" y="13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717 L -0.11528 0.2815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14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0648 L -0.00018 0.2794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-0.00879 L -0.11702 -0.30627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-149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694 L -0.00243 -0.29332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143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2 -0.00486 L 0.10816 -0.2912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-1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28 -0.28059 L -0.00434 -0.58617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-153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94 -0.28059 L -0.00434 -0.58617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153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74 -0.28059 L -0.00399 -0.58617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" y="-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Out-of-band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4572000" cy="5257800"/>
          </a:xfrm>
        </p:spPr>
        <p:txBody>
          <a:bodyPr/>
          <a:lstStyle/>
          <a:p>
            <a:r>
              <a:rPr lang="en-US" dirty="0" smtClean="0"/>
              <a:t>Implementation methods :</a:t>
            </a:r>
          </a:p>
          <a:p>
            <a:pPr lvl="1"/>
            <a:r>
              <a:rPr lang="en-US" dirty="0" smtClean="0"/>
              <a:t>Out-of-band</a:t>
            </a:r>
          </a:p>
          <a:p>
            <a:pPr lvl="2"/>
            <a:r>
              <a:rPr lang="en-US" dirty="0" smtClean="0"/>
              <a:t>Also known as </a:t>
            </a:r>
            <a:r>
              <a:rPr lang="en-US" b="1" i="1" dirty="0" smtClean="0"/>
              <a:t>asymmetric</a:t>
            </a:r>
            <a:r>
              <a:rPr lang="en-US" dirty="0" smtClean="0"/>
              <a:t>, virtualization devices are sometimes called metadata servers.</a:t>
            </a:r>
          </a:p>
          <a:p>
            <a:pPr lvl="2"/>
            <a:r>
              <a:rPr lang="en-US" dirty="0" smtClean="0"/>
              <a:t>Require additional software in the host which knows </a:t>
            </a:r>
            <a:r>
              <a:rPr lang="en-US" altLang="zh-TW" dirty="0" smtClean="0"/>
              <a:t>the </a:t>
            </a:r>
            <a:r>
              <a:rPr lang="en-US" dirty="0" smtClean="0"/>
              <a:t>first request location of the actual data.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Scalability &amp; Performance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Hard to implement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</p:txBody>
      </p:sp>
      <p:pic>
        <p:nvPicPr>
          <p:cNvPr id="6" name="Picture 5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02352" y="1981200"/>
            <a:ext cx="990600" cy="990600"/>
          </a:xfrm>
          <a:prstGeom prst="rect">
            <a:avLst/>
          </a:prstGeom>
        </p:spPr>
      </p:pic>
      <p:pic>
        <p:nvPicPr>
          <p:cNvPr id="7" name="Picture 6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2952" y="1981200"/>
            <a:ext cx="990600" cy="990600"/>
          </a:xfrm>
          <a:prstGeom prst="rect">
            <a:avLst/>
          </a:prstGeom>
        </p:spPr>
      </p:pic>
      <p:pic>
        <p:nvPicPr>
          <p:cNvPr id="8" name="Picture 7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83552" y="1981200"/>
            <a:ext cx="990600" cy="990600"/>
          </a:xfrm>
          <a:prstGeom prst="rect">
            <a:avLst/>
          </a:prstGeom>
        </p:spPr>
      </p:pic>
      <p:pic>
        <p:nvPicPr>
          <p:cNvPr id="9" name="Picture 8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59552" y="3913251"/>
            <a:ext cx="990600" cy="658749"/>
          </a:xfrm>
          <a:prstGeom prst="rect">
            <a:avLst/>
          </a:prstGeom>
        </p:spPr>
      </p:pic>
      <p:pic>
        <p:nvPicPr>
          <p:cNvPr id="10" name="Picture 9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0152" y="3913251"/>
            <a:ext cx="990600" cy="658749"/>
          </a:xfrm>
          <a:prstGeom prst="rect">
            <a:avLst/>
          </a:prstGeom>
        </p:spPr>
      </p:pic>
      <p:pic>
        <p:nvPicPr>
          <p:cNvPr id="11" name="Picture 10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02352" y="5334000"/>
            <a:ext cx="987552" cy="987552"/>
          </a:xfrm>
          <a:prstGeom prst="rect">
            <a:avLst/>
          </a:prstGeom>
        </p:spPr>
      </p:pic>
      <p:pic>
        <p:nvPicPr>
          <p:cNvPr id="12" name="Picture 11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0" y="5334000"/>
            <a:ext cx="987552" cy="987552"/>
          </a:xfrm>
          <a:prstGeom prst="rect">
            <a:avLst/>
          </a:prstGeom>
        </p:spPr>
      </p:pic>
      <p:pic>
        <p:nvPicPr>
          <p:cNvPr id="13" name="Picture 12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6600" y="5334000"/>
            <a:ext cx="987552" cy="987552"/>
          </a:xfrm>
          <a:prstGeom prst="rect">
            <a:avLst/>
          </a:prstGeom>
        </p:spPr>
      </p:pic>
      <p:cxnSp>
        <p:nvCxnSpPr>
          <p:cNvPr id="14" name="Straight Connector 13"/>
          <p:cNvCxnSpPr>
            <a:stCxn id="6" idx="2"/>
            <a:endCxn id="9" idx="0"/>
          </p:cNvCxnSpPr>
          <p:nvPr/>
        </p:nvCxnSpPr>
        <p:spPr>
          <a:xfrm rot="16200000" flipH="1">
            <a:off x="5355527" y="3213925"/>
            <a:ext cx="941451" cy="457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2"/>
            <a:endCxn id="10" idx="0"/>
          </p:cNvCxnSpPr>
          <p:nvPr/>
        </p:nvCxnSpPr>
        <p:spPr>
          <a:xfrm rot="16200000" flipH="1">
            <a:off x="5850827" y="2718625"/>
            <a:ext cx="941451" cy="1447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2"/>
            <a:endCxn id="9" idx="0"/>
          </p:cNvCxnSpPr>
          <p:nvPr/>
        </p:nvCxnSpPr>
        <p:spPr>
          <a:xfrm rot="5400000">
            <a:off x="5850827" y="3175825"/>
            <a:ext cx="941451" cy="5334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2"/>
            <a:endCxn id="9" idx="0"/>
          </p:cNvCxnSpPr>
          <p:nvPr/>
        </p:nvCxnSpPr>
        <p:spPr>
          <a:xfrm rot="5400000">
            <a:off x="6346127" y="2680525"/>
            <a:ext cx="941451" cy="1524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10" idx="0"/>
          </p:cNvCxnSpPr>
          <p:nvPr/>
        </p:nvCxnSpPr>
        <p:spPr>
          <a:xfrm rot="16200000" flipH="1">
            <a:off x="6346127" y="3213925"/>
            <a:ext cx="941451" cy="457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2"/>
            <a:endCxn id="10" idx="0"/>
          </p:cNvCxnSpPr>
          <p:nvPr/>
        </p:nvCxnSpPr>
        <p:spPr>
          <a:xfrm rot="5400000">
            <a:off x="6841427" y="3175825"/>
            <a:ext cx="941451" cy="5334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2"/>
            <a:endCxn id="11" idx="0"/>
          </p:cNvCxnSpPr>
          <p:nvPr/>
        </p:nvCxnSpPr>
        <p:spPr>
          <a:xfrm rot="5400000">
            <a:off x="5444490" y="4723638"/>
            <a:ext cx="762000" cy="4587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2" idx="0"/>
          </p:cNvCxnSpPr>
          <p:nvPr/>
        </p:nvCxnSpPr>
        <p:spPr>
          <a:xfrm rot="16200000" flipH="1">
            <a:off x="5941314" y="4685538"/>
            <a:ext cx="762000" cy="5349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3" idx="0"/>
          </p:cNvCxnSpPr>
          <p:nvPr/>
        </p:nvCxnSpPr>
        <p:spPr>
          <a:xfrm rot="16200000" flipH="1">
            <a:off x="6436614" y="4190238"/>
            <a:ext cx="762000" cy="15255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2"/>
            <a:endCxn id="11" idx="0"/>
          </p:cNvCxnSpPr>
          <p:nvPr/>
        </p:nvCxnSpPr>
        <p:spPr>
          <a:xfrm rot="5400000">
            <a:off x="5939790" y="4228338"/>
            <a:ext cx="762000" cy="14493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2"/>
            <a:endCxn id="12" idx="0"/>
          </p:cNvCxnSpPr>
          <p:nvPr/>
        </p:nvCxnSpPr>
        <p:spPr>
          <a:xfrm rot="5400000">
            <a:off x="6436614" y="4725162"/>
            <a:ext cx="762000" cy="4556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  <a:endCxn id="13" idx="0"/>
          </p:cNvCxnSpPr>
          <p:nvPr/>
        </p:nvCxnSpPr>
        <p:spPr>
          <a:xfrm rot="16200000" flipH="1">
            <a:off x="6931914" y="4685538"/>
            <a:ext cx="762000" cy="5349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Picture 25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8150352" y="3729881"/>
            <a:ext cx="685800" cy="1024127"/>
          </a:xfrm>
          <a:prstGeom prst="rect">
            <a:avLst/>
          </a:prstGeom>
        </p:spPr>
      </p:pic>
      <p:cxnSp>
        <p:nvCxnSpPr>
          <p:cNvPr id="27" name="Straight Connector 26"/>
          <p:cNvCxnSpPr>
            <a:stCxn id="10" idx="3"/>
            <a:endCxn id="26" idx="1"/>
          </p:cNvCxnSpPr>
          <p:nvPr/>
        </p:nvCxnSpPr>
        <p:spPr>
          <a:xfrm flipV="1">
            <a:off x="7540752" y="4241945"/>
            <a:ext cx="609600" cy="68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156780" y="2282952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190923" y="2282952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5066" y="2282952"/>
            <a:ext cx="772886" cy="4572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074152" y="4035552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8074152" y="4035552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8074152" y="4035552"/>
            <a:ext cx="772886" cy="4572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Control</a:t>
            </a:r>
            <a:br>
              <a:rPr lang="en-US" sz="1200" b="1" dirty="0" smtClean="0">
                <a:solidFill>
                  <a:prstClr val="white"/>
                </a:solidFill>
              </a:rPr>
            </a:br>
            <a:r>
              <a:rPr lang="en-US" sz="1200" b="1" dirty="0" smtClean="0">
                <a:solidFill>
                  <a:prstClr val="white"/>
                </a:solidFill>
              </a:rPr>
              <a:t> Message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4" name="Round Diagonal Corner Rectangle 33"/>
          <p:cNvSpPr/>
          <p:nvPr/>
        </p:nvSpPr>
        <p:spPr>
          <a:xfrm>
            <a:off x="5254752" y="5711952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5" name="Round Diagonal Corner Rectangle 34"/>
          <p:cNvSpPr/>
          <p:nvPr/>
        </p:nvSpPr>
        <p:spPr>
          <a:xfrm>
            <a:off x="6248400" y="5711952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  <p:sp>
        <p:nvSpPr>
          <p:cNvPr id="36" name="Round Diagonal Corner Rectangle 35"/>
          <p:cNvSpPr/>
          <p:nvPr/>
        </p:nvSpPr>
        <p:spPr>
          <a:xfrm>
            <a:off x="7239000" y="5711952"/>
            <a:ext cx="685800" cy="3048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prstClr val="white"/>
                </a:solidFill>
              </a:rPr>
              <a:t>Data</a:t>
            </a:r>
            <a:endParaRPr lang="en-US" sz="12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152 0.09537 0.04322 0.19097 0.09635 0.23333 C 0.14947 0.27569 0.2342 0.26481 0.31909 0.25393 " pathEditMode="relative" ptsTypes="aaA">
                                      <p:cBhvr>
                                        <p:cTn id="1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059 0.09074 0.02135 0.18148 0.05468 0.22384 C 0.08802 0.2662 0.14392 0.26018 0.2 0.25416 " pathEditMode="relative" ptsTypes="aaA">
                                      <p:cBhvr>
                                        <p:cTn id="1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635 0.09328 -0.09271 0.18657 -0.07847 0.23009 C -0.06423 0.27361 0.05868 0.25648 0.08577 0.2618 " pathEditMode="relative" ptsTypes="aaA">
                                      <p:cBhvr>
                                        <p:cTn id="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8.67362E-19 C -0.08681 -0.01227 -0.17344 -0.02453 -0.22622 0.01111 C -0.27899 0.04676 -0.29792 0.13033 -0.31667 0.21412 " pathEditMode="relative" ptsTypes="aaA">
                                      <p:cBhvr>
                                        <p:cTn id="4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017 -0.01435 -0.10017 -0.0287 -0.13454 0.00648 C -0.16892 0.04167 -0.1875 0.12639 -0.2059 0.21111 " pathEditMode="relative" ptsTypes="aaA">
                                      <p:cBhvr>
                                        <p:cTn id="4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69 -0.01366 -0.15122 -0.02731 -0.16667 0.0081 C -0.18212 0.04352 -0.1375 0.12801 -0.09288 0.21273 " pathEditMode="relative" ptsTypes="aaA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6 0.00023 L 0.22431 -0.4886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" y="-24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00046 L -0.00365 -0.48843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244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-0.00046 L -0.2243 -0.4892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" y="-2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torage_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88747" y="3053080"/>
            <a:ext cx="4186107" cy="3657600"/>
          </a:xfrm>
          <a:prstGeom prst="rect">
            <a:avLst/>
          </a:prstGeom>
        </p:spPr>
      </p:pic>
      <p:pic>
        <p:nvPicPr>
          <p:cNvPr id="5" name="Picture 4" descr="Storage_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9258" y="3053080"/>
            <a:ext cx="4245885" cy="3657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Virtualization Services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1972270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In a virtualized storage pool, virtual assets may be dynamically resized and allocated to servers by drawing on the total storage capacity of the SAN</a:t>
            </a:r>
            <a:endParaRPr lang="en-US" sz="16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886" y="1066800"/>
            <a:ext cx="364862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Pooling Heterogeneous</a:t>
            </a:r>
            <a:b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Storage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000" y="1282243"/>
            <a:ext cx="3968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Heterogeneous Mirroring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800" y="1972270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Heterogeneous mirroring offers more flexible options than conventional mirroring, including three-way mirroring within storage capacity carved from different storage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torage_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37360" y="2847092"/>
            <a:ext cx="5669280" cy="342424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Virtualization Services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43000" y="2057400"/>
            <a:ext cx="6858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i="1" dirty="0" smtClean="0">
                <a:solidFill>
                  <a:schemeClr val="accent2">
                    <a:lumMod val="50000"/>
                  </a:schemeClr>
                </a:solidFill>
              </a:rPr>
              <a:t>Heterogeneous data replication enables duplication of storage data between otherwise incompatible storage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1283" y="1447800"/>
            <a:ext cx="50014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Heterogeneous Data Replication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38400"/>
            <a:ext cx="7772400" cy="1968501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Overview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What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r>
              <a:rPr lang="en-US" dirty="0" smtClean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r>
              <a:rPr lang="en-US" dirty="0" smtClean="0"/>
              <a:t>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cases</a:t>
            </a:r>
          </a:p>
          <a:p>
            <a:pPr lvl="1"/>
            <a:r>
              <a:rPr lang="en-US" dirty="0" err="1" smtClean="0"/>
              <a:t>Lustre</a:t>
            </a:r>
            <a:endParaRPr lang="en-US" dirty="0" smtClean="0"/>
          </a:p>
          <a:p>
            <a:pPr lvl="2"/>
            <a:r>
              <a:rPr lang="en-US" dirty="0" smtClean="0"/>
              <a:t>Virtualized at file level</a:t>
            </a:r>
          </a:p>
          <a:p>
            <a:pPr lvl="2"/>
            <a:r>
              <a:rPr lang="en-US" dirty="0" smtClean="0"/>
              <a:t>Host-base virtualization approach</a:t>
            </a:r>
          </a:p>
          <a:p>
            <a:pPr lvl="2"/>
            <a:r>
              <a:rPr lang="en-US" dirty="0" smtClean="0"/>
              <a:t>Out-of-band virtualization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LVM ( </a:t>
            </a:r>
            <a:r>
              <a:rPr lang="en-US" i="1" dirty="0" smtClean="0"/>
              <a:t>Logical Volume Management</a:t>
            </a:r>
            <a:r>
              <a:rPr lang="en-US" dirty="0" smtClean="0"/>
              <a:t> )</a:t>
            </a:r>
          </a:p>
          <a:p>
            <a:pPr lvl="2"/>
            <a:r>
              <a:rPr lang="en-US" dirty="0" smtClean="0"/>
              <a:t>Virtualized at block level</a:t>
            </a:r>
          </a:p>
          <a:p>
            <a:pPr lvl="2"/>
            <a:r>
              <a:rPr lang="en-US" dirty="0" smtClean="0"/>
              <a:t>Host-based virtualization approach</a:t>
            </a:r>
          </a:p>
          <a:p>
            <a:pPr lvl="2"/>
            <a:r>
              <a:rPr lang="en-US" dirty="0" smtClean="0"/>
              <a:t>In-band virtualization</a:t>
            </a:r>
            <a:endParaRPr lang="en-US" dirty="0"/>
          </a:p>
        </p:txBody>
      </p:sp>
      <p:pic>
        <p:nvPicPr>
          <p:cNvPr id="2050" name="Picture 2" descr="http://insidehpc.com/wp-content/uploads/2008/01/lustre-logo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2438400"/>
            <a:ext cx="2177143" cy="457200"/>
          </a:xfrm>
          <a:prstGeom prst="rect">
            <a:avLst/>
          </a:prstGeom>
          <a:noFill/>
        </p:spPr>
      </p:pic>
      <p:pic>
        <p:nvPicPr>
          <p:cNvPr id="2052" name="Picture 4" descr="http://www.techorz.com/wp-content/uploads/2010/07/linux-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3505200"/>
            <a:ext cx="1685925" cy="20198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Lustre</a:t>
            </a:r>
            <a:r>
              <a:rPr lang="en-US" dirty="0" smtClean="0"/>
              <a:t>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Autofit/>
          </a:bodyPr>
          <a:lstStyle/>
          <a:p>
            <a:r>
              <a:rPr lang="en-US" dirty="0" smtClean="0"/>
              <a:t>What is </a:t>
            </a:r>
            <a:r>
              <a:rPr lang="en-US" dirty="0" err="1" smtClean="0"/>
              <a:t>Lustre</a:t>
            </a:r>
            <a:r>
              <a:rPr lang="en-US" dirty="0" smtClean="0"/>
              <a:t> ?</a:t>
            </a:r>
          </a:p>
          <a:p>
            <a:pPr lvl="1"/>
            <a:r>
              <a:rPr lang="en-US" dirty="0" err="1" smtClean="0"/>
              <a:t>Lustre</a:t>
            </a:r>
            <a:r>
              <a:rPr lang="en-US" dirty="0" smtClean="0"/>
              <a:t> is a POSIX-compliant global, distributed, parallel </a:t>
            </a:r>
            <a:r>
              <a:rPr lang="en-US" dirty="0" err="1" smtClean="0"/>
              <a:t>filesystem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Lustre</a:t>
            </a:r>
            <a:r>
              <a:rPr lang="en-US" dirty="0" smtClean="0"/>
              <a:t> is licensed under GPL.</a:t>
            </a:r>
          </a:p>
          <a:p>
            <a:r>
              <a:rPr lang="en-US" dirty="0" smtClean="0"/>
              <a:t>Some features :</a:t>
            </a:r>
          </a:p>
          <a:p>
            <a:pPr lvl="1"/>
            <a:r>
              <a:rPr lang="en-US" dirty="0" smtClean="0"/>
              <a:t>Parallel shared POSIX file system</a:t>
            </a:r>
          </a:p>
          <a:p>
            <a:pPr lvl="1"/>
            <a:r>
              <a:rPr lang="en-US" dirty="0" smtClean="0"/>
              <a:t>Scalable</a:t>
            </a:r>
          </a:p>
          <a:p>
            <a:pPr lvl="2"/>
            <a:r>
              <a:rPr lang="en-US" dirty="0" smtClean="0"/>
              <a:t>High performance</a:t>
            </a:r>
          </a:p>
          <a:p>
            <a:pPr lvl="2"/>
            <a:r>
              <a:rPr lang="en-US" dirty="0" err="1" smtClean="0"/>
              <a:t>Petabytes</a:t>
            </a:r>
            <a:r>
              <a:rPr lang="en-US" dirty="0" smtClean="0"/>
              <a:t> of storage</a:t>
            </a:r>
          </a:p>
          <a:p>
            <a:pPr lvl="1"/>
            <a:r>
              <a:rPr lang="en-US" dirty="0" smtClean="0"/>
              <a:t>Coherent</a:t>
            </a:r>
          </a:p>
          <a:p>
            <a:pPr lvl="2"/>
            <a:r>
              <a:rPr lang="en-US" dirty="0" smtClean="0"/>
              <a:t>Single namespace</a:t>
            </a:r>
          </a:p>
          <a:p>
            <a:pPr lvl="2"/>
            <a:r>
              <a:rPr lang="en-US" dirty="0" smtClean="0"/>
              <a:t>Strict concurrency control</a:t>
            </a:r>
          </a:p>
          <a:p>
            <a:pPr lvl="1"/>
            <a:r>
              <a:rPr lang="en-US" dirty="0" smtClean="0"/>
              <a:t>Heterogeneous networking</a:t>
            </a:r>
          </a:p>
          <a:p>
            <a:pPr lvl="1"/>
            <a:r>
              <a:rPr lang="en-US" dirty="0" smtClean="0"/>
              <a:t>High availability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Lustre</a:t>
            </a:r>
            <a:r>
              <a:rPr lang="en-US" dirty="0" smtClean="0"/>
              <a:t>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Lustre</a:t>
            </a:r>
            <a:r>
              <a:rPr lang="en-US" dirty="0" smtClean="0"/>
              <a:t> components :</a:t>
            </a:r>
          </a:p>
          <a:p>
            <a:pPr lvl="1"/>
            <a:r>
              <a:rPr lang="en-US" dirty="0" smtClean="0"/>
              <a:t>Metadata Server (MDS)</a:t>
            </a:r>
          </a:p>
          <a:p>
            <a:pPr lvl="2"/>
            <a:r>
              <a:rPr lang="en-US" dirty="0" smtClean="0"/>
              <a:t>The MDS server makes metadata stored in one or more MDTs.</a:t>
            </a:r>
          </a:p>
          <a:p>
            <a:pPr lvl="1"/>
            <a:r>
              <a:rPr lang="en-US" dirty="0" smtClean="0"/>
              <a:t>Metadata Target (MDT)</a:t>
            </a:r>
          </a:p>
          <a:p>
            <a:pPr lvl="2"/>
            <a:r>
              <a:rPr lang="en-US" dirty="0" smtClean="0"/>
              <a:t>The MDT stores metadata (such as filenames, permissions) on an MDS.</a:t>
            </a:r>
          </a:p>
          <a:p>
            <a:pPr lvl="1"/>
            <a:r>
              <a:rPr lang="en-US" dirty="0" smtClean="0"/>
              <a:t>Object Storage Servers (OSS)</a:t>
            </a:r>
          </a:p>
          <a:p>
            <a:pPr lvl="2"/>
            <a:r>
              <a:rPr lang="en-US" dirty="0" smtClean="0"/>
              <a:t>The OSS provides file I/O service, and network request handling for one or more local OSTs.</a:t>
            </a:r>
          </a:p>
          <a:p>
            <a:pPr lvl="1"/>
            <a:r>
              <a:rPr lang="en-US" dirty="0" smtClean="0"/>
              <a:t>Object Storage Target (OST)</a:t>
            </a:r>
          </a:p>
          <a:p>
            <a:pPr lvl="2"/>
            <a:r>
              <a:rPr lang="en-US" dirty="0" smtClean="0"/>
              <a:t>The OST stores file data as data objects on one or more OSSs.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Lustre</a:t>
            </a:r>
            <a:r>
              <a:rPr lang="en-US" dirty="0" smtClean="0"/>
              <a:t> network :</a:t>
            </a:r>
          </a:p>
          <a:p>
            <a:pPr lvl="1"/>
            <a:r>
              <a:rPr lang="en-US" dirty="0" smtClean="0"/>
              <a:t>Supports several network types</a:t>
            </a:r>
          </a:p>
          <a:p>
            <a:pPr lvl="2"/>
            <a:r>
              <a:rPr lang="en-US" dirty="0" err="1" smtClean="0"/>
              <a:t>Infiniband</a:t>
            </a:r>
            <a:r>
              <a:rPr lang="en-US" dirty="0" smtClean="0"/>
              <a:t>, TCP/IP on Ethernet, </a:t>
            </a:r>
            <a:r>
              <a:rPr lang="en-US" dirty="0" err="1" smtClean="0"/>
              <a:t>Myrinet</a:t>
            </a:r>
            <a:r>
              <a:rPr lang="en-US" dirty="0" smtClean="0"/>
              <a:t>, Quadrics, …etc.</a:t>
            </a:r>
          </a:p>
          <a:p>
            <a:pPr lvl="1"/>
            <a:r>
              <a:rPr lang="en-US" dirty="0" smtClean="0"/>
              <a:t>Take advantage of remote direct memory access (RDMA)</a:t>
            </a:r>
          </a:p>
          <a:p>
            <a:pPr lvl="2"/>
            <a:r>
              <a:rPr lang="en-US" dirty="0" smtClean="0"/>
              <a:t>Improve throughput and reduce CPU usage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1" y="1181891"/>
            <a:ext cx="8124824" cy="5580068"/>
          </a:xfrm>
          <a:prstGeom prst="roundRect">
            <a:avLst>
              <a:gd name="adj" fmla="val 318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Lustre</a:t>
            </a:r>
            <a:r>
              <a:rPr lang="en-US" dirty="0" smtClean="0"/>
              <a:t> File System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Lustre</a:t>
            </a:r>
            <a:r>
              <a:rPr lang="en-US" dirty="0" smtClean="0"/>
              <a:t>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525963"/>
          </a:xfrm>
        </p:spPr>
        <p:txBody>
          <a:bodyPr/>
          <a:lstStyle/>
          <a:p>
            <a:r>
              <a:rPr lang="en-US" dirty="0" err="1" smtClean="0"/>
              <a:t>Lustre</a:t>
            </a:r>
            <a:r>
              <a:rPr lang="en-US" dirty="0" smtClean="0"/>
              <a:t> in HPC</a:t>
            </a:r>
          </a:p>
          <a:p>
            <a:pPr lvl="1"/>
            <a:r>
              <a:rPr lang="en-US" dirty="0" err="1" smtClean="0"/>
              <a:t>Lustre</a:t>
            </a:r>
            <a:r>
              <a:rPr lang="en-US" dirty="0" smtClean="0"/>
              <a:t> is the leading HPC file system</a:t>
            </a:r>
          </a:p>
          <a:p>
            <a:pPr lvl="2"/>
            <a:r>
              <a:rPr lang="en-US" dirty="0" smtClean="0"/>
              <a:t>7 of Top 10</a:t>
            </a:r>
          </a:p>
          <a:p>
            <a:pPr lvl="2"/>
            <a:r>
              <a:rPr lang="en-US" dirty="0" smtClean="0"/>
              <a:t>Over 40% of Top100</a:t>
            </a:r>
          </a:p>
          <a:p>
            <a:pPr lvl="2"/>
            <a:r>
              <a:rPr lang="en-US" dirty="0" smtClean="0"/>
              <a:t>Demonstrated scalability</a:t>
            </a:r>
          </a:p>
          <a:p>
            <a:pPr lvl="1"/>
            <a:r>
              <a:rPr lang="en-US" dirty="0" smtClean="0"/>
              <a:t>Performance</a:t>
            </a:r>
          </a:p>
          <a:p>
            <a:pPr lvl="2"/>
            <a:r>
              <a:rPr lang="en-US" dirty="0" smtClean="0"/>
              <a:t>190 GB/sec IO</a:t>
            </a:r>
          </a:p>
          <a:p>
            <a:pPr lvl="2"/>
            <a:r>
              <a:rPr lang="en-US" dirty="0" smtClean="0"/>
              <a:t>26,000 clients</a:t>
            </a:r>
          </a:p>
          <a:p>
            <a:pPr lvl="2"/>
            <a:r>
              <a:rPr lang="en-US" dirty="0" smtClean="0"/>
              <a:t>Systems with over 1,000 nodes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Jaguar supercomputer at Oak Ridge National Laboratory</a:t>
            </a:r>
          </a:p>
          <a:p>
            <a:pPr lvl="2"/>
            <a:r>
              <a:rPr lang="en-US" dirty="0" smtClean="0"/>
              <a:t>System at Lawrence Livermore National Laboratory (LLNL)</a:t>
            </a:r>
          </a:p>
          <a:p>
            <a:pPr lvl="2"/>
            <a:r>
              <a:rPr lang="en-US" dirty="0" smtClean="0"/>
              <a:t>Texas Advanced Computing Center (TACC)</a:t>
            </a:r>
          </a:p>
        </p:txBody>
      </p:sp>
      <p:pic>
        <p:nvPicPr>
          <p:cNvPr id="80900" name="Picture 4" descr="http://www.brightsideofnews.com/Data/2009_11_16/AMD-powers-Top-3-Supercomputers-GPGPU-system-in-Top-5/CRAY_Jaguar_67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438400"/>
            <a:ext cx="428625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"/>
          </a:xfrm>
        </p:spPr>
        <p:txBody>
          <a:bodyPr/>
          <a:lstStyle/>
          <a:p>
            <a:r>
              <a:rPr lang="en-US" dirty="0" smtClean="0"/>
              <a:t>LVM architecture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57400"/>
            <a:ext cx="7315200" cy="4654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LVM project is implemented in two components:</a:t>
            </a:r>
          </a:p>
          <a:p>
            <a:pPr lvl="1"/>
            <a:r>
              <a:rPr lang="en-US" dirty="0" smtClean="0"/>
              <a:t>In user space</a:t>
            </a:r>
          </a:p>
          <a:p>
            <a:pPr lvl="2"/>
            <a:r>
              <a:rPr lang="en-US" dirty="0" smtClean="0"/>
              <a:t>Some management utilities and configuration tools</a:t>
            </a:r>
            <a:br>
              <a:rPr lang="en-US" dirty="0" smtClean="0"/>
            </a:br>
            <a:r>
              <a:rPr lang="en-US" dirty="0" smtClean="0"/>
              <a:t>     Ex.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lvm</a:t>
            </a:r>
            <a:r>
              <a:rPr lang="en-US" dirty="0" smtClean="0"/>
              <a:t> ,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 smtClean="0"/>
              <a:t>Programming interface with a well-designed library</a:t>
            </a:r>
            <a:br>
              <a:rPr lang="en-US" dirty="0" smtClean="0"/>
            </a:br>
            <a:r>
              <a:rPr lang="en-US" dirty="0" smtClean="0"/>
              <a:t>     Ex.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libdevmapper.h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 smtClean="0"/>
              <a:t>In kernel space</a:t>
            </a:r>
          </a:p>
          <a:p>
            <a:pPr lvl="2"/>
            <a:r>
              <a:rPr lang="en-US" dirty="0" smtClean="0"/>
              <a:t>Implement device </a:t>
            </a:r>
            <a:r>
              <a:rPr lang="en-US" dirty="0" err="1" smtClean="0"/>
              <a:t>mapper</a:t>
            </a:r>
            <a:r>
              <a:rPr lang="en-US" dirty="0" smtClean="0"/>
              <a:t> framework</a:t>
            </a:r>
          </a:p>
          <a:p>
            <a:pPr lvl="2"/>
            <a:r>
              <a:rPr lang="en-US" dirty="0" smtClean="0"/>
              <a:t>Provide different mapped device targets</a:t>
            </a:r>
            <a:br>
              <a:rPr lang="en-US" dirty="0" smtClean="0"/>
            </a:br>
            <a:r>
              <a:rPr lang="en-US" dirty="0" smtClean="0"/>
              <a:t>     Ex.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linear</a:t>
            </a:r>
            <a:r>
              <a:rPr lang="en-US" dirty="0" smtClean="0"/>
              <a:t> ,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stripe</a:t>
            </a:r>
            <a:r>
              <a:rPr lang="en-US" dirty="0" smtClean="0"/>
              <a:t> ,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mirror</a:t>
            </a:r>
            <a:r>
              <a:rPr lang="en-US" dirty="0" smtClean="0"/>
              <a:t> …etc.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3400"/>
          </a:xfrm>
        </p:spPr>
        <p:txBody>
          <a:bodyPr/>
          <a:lstStyle/>
          <a:p>
            <a:r>
              <a:rPr lang="en-US" dirty="0" smtClean="0"/>
              <a:t>Tools and utilities are in user space.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1219200" y="2362200"/>
            <a:ext cx="663187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1933" y="2209800"/>
            <a:ext cx="252661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lvm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 smtClean="0"/>
              <a:t>Command-line tools for LVM2. </a:t>
            </a:r>
          </a:p>
          <a:p>
            <a:pPr lvl="2"/>
            <a:r>
              <a:rPr lang="en-US" dirty="0" smtClean="0"/>
              <a:t>logical volume ( </a:t>
            </a:r>
            <a:r>
              <a:rPr lang="en-US" b="1" dirty="0" err="1" smtClean="0"/>
              <a:t>lv</a:t>
            </a:r>
            <a:r>
              <a:rPr lang="en-US" b="1" dirty="0" smtClean="0"/>
              <a:t> </a:t>
            </a:r>
            <a:r>
              <a:rPr lang="en-US" dirty="0" smtClean="0"/>
              <a:t>) operations</a:t>
            </a:r>
          </a:p>
          <a:p>
            <a:pPr lvl="2"/>
            <a:r>
              <a:rPr lang="en-US" dirty="0" smtClean="0"/>
              <a:t>volume group ( </a:t>
            </a:r>
            <a:r>
              <a:rPr lang="en-US" b="1" dirty="0" smtClean="0"/>
              <a:t>vg </a:t>
            </a:r>
            <a:r>
              <a:rPr lang="en-US" dirty="0" smtClean="0"/>
              <a:t>) operations</a:t>
            </a:r>
          </a:p>
          <a:p>
            <a:pPr lvl="2"/>
            <a:r>
              <a:rPr lang="en-US" dirty="0" smtClean="0"/>
              <a:t>physical volume ( </a:t>
            </a:r>
            <a:r>
              <a:rPr lang="en-US" b="1" dirty="0" err="1" smtClean="0"/>
              <a:t>pv</a:t>
            </a:r>
            <a:r>
              <a:rPr lang="en-US" b="1" dirty="0" smtClean="0"/>
              <a:t> </a:t>
            </a:r>
            <a:r>
              <a:rPr lang="en-US" dirty="0" smtClean="0"/>
              <a:t>) operations</a:t>
            </a:r>
          </a:p>
          <a:p>
            <a:pPr lvl="1"/>
            <a:r>
              <a:rPr lang="en-US" dirty="0" smtClean="0"/>
              <a:t>Limited controllability</a:t>
            </a:r>
          </a:p>
          <a:p>
            <a:pPr lvl="2"/>
            <a:r>
              <a:rPr lang="en-US" dirty="0" smtClean="0"/>
              <a:t>Only can create logical volume with simple</a:t>
            </a:r>
            <a:br>
              <a:rPr lang="en-US" dirty="0" smtClean="0"/>
            </a:br>
            <a:r>
              <a:rPr lang="en-US" dirty="0" smtClean="0"/>
              <a:t>mapping mechanisms.</a:t>
            </a:r>
          </a:p>
          <a:p>
            <a:pPr lvl="2"/>
            <a:r>
              <a:rPr lang="en-US" dirty="0" smtClean="0"/>
              <a:t>Do not allow cross machine mappings.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 smtClean="0"/>
              <a:t>Limitations</a:t>
            </a:r>
          </a:p>
          <a:p>
            <a:pPr lvl="2"/>
            <a:r>
              <a:rPr lang="en-US" dirty="0" smtClean="0"/>
              <a:t>Still cannot provide cross machine mappings.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1676400"/>
          </a:xfrm>
        </p:spPr>
        <p:txBody>
          <a:bodyPr/>
          <a:lstStyle/>
          <a:p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 smtClean="0"/>
              <a:t>low level logical volume management</a:t>
            </a:r>
          </a:p>
          <a:p>
            <a:pPr lvl="2"/>
            <a:r>
              <a:rPr lang="en-US" dirty="0" smtClean="0"/>
              <a:t>Operate create, delete, suspend and resume …etc</a:t>
            </a:r>
          </a:p>
          <a:p>
            <a:pPr lvl="2"/>
            <a:r>
              <a:rPr lang="en-US" dirty="0" smtClean="0"/>
              <a:t>Work with mapping table file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2107" y="2971800"/>
            <a:ext cx="591978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543800" cy="838200"/>
          </a:xfrm>
        </p:spPr>
        <p:txBody>
          <a:bodyPr/>
          <a:lstStyle/>
          <a:p>
            <a:r>
              <a:rPr lang="en-US" dirty="0" smtClean="0"/>
              <a:t>File system will build upon device </a:t>
            </a:r>
            <a:r>
              <a:rPr lang="en-US" dirty="0" err="1" smtClean="0"/>
              <a:t>mapper</a:t>
            </a:r>
            <a:r>
              <a:rPr lang="en-US" dirty="0" smtClean="0"/>
              <a:t> framework by means of system calls.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1219200" y="2590800"/>
            <a:ext cx="64673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1996" y="2667000"/>
            <a:ext cx="2625443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system in operating system will invoke a set of block device system calls.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l="18576" r="1655"/>
          <a:stretch>
            <a:fillRect/>
          </a:stretch>
        </p:blipFill>
        <p:spPr bwMode="auto">
          <a:xfrm>
            <a:off x="1815976" y="2590800"/>
            <a:ext cx="5562600" cy="3962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798534" y="3429000"/>
            <a:ext cx="1600200" cy="914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33830" y="2743200"/>
            <a:ext cx="2738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C00000"/>
                </a:solidFill>
              </a:rPr>
              <a:t>Device </a:t>
            </a:r>
            <a:r>
              <a:rPr lang="en-US" b="1" i="1" dirty="0" err="1" smtClean="0">
                <a:solidFill>
                  <a:srgbClr val="C00000"/>
                </a:solidFill>
              </a:rPr>
              <a:t>Mapper</a:t>
            </a:r>
            <a:r>
              <a:rPr lang="en-US" b="1" i="1" dirty="0" smtClean="0">
                <a:solidFill>
                  <a:srgbClr val="C00000"/>
                </a:solidFill>
              </a:rPr>
              <a:t> framework</a:t>
            </a:r>
            <a:br>
              <a:rPr lang="en-US" b="1" i="1" dirty="0" smtClean="0">
                <a:solidFill>
                  <a:srgbClr val="C00000"/>
                </a:solidFill>
              </a:rPr>
            </a:br>
            <a:r>
              <a:rPr lang="en-US" b="1" i="1" dirty="0" smtClean="0">
                <a:solidFill>
                  <a:srgbClr val="C00000"/>
                </a:solidFill>
              </a:rPr>
              <a:t>reload operation functions</a:t>
            </a:r>
            <a:endParaRPr lang="en-US" b="1" i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system can be also implemented in the user space only.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 t="4313" b="5121"/>
          <a:stretch>
            <a:fillRect/>
          </a:stretch>
        </p:blipFill>
        <p:spPr bwMode="auto">
          <a:xfrm>
            <a:off x="1714500" y="2438400"/>
            <a:ext cx="5715000" cy="39188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Device </a:t>
            </a:r>
            <a:r>
              <a:rPr lang="en-US" dirty="0" err="1" smtClean="0"/>
              <a:t>mapper</a:t>
            </a:r>
            <a:r>
              <a:rPr lang="en-US" dirty="0" smtClean="0"/>
              <a:t> framework implements a Linux kernel driver for different mappings.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998082"/>
            <a:ext cx="5486400" cy="270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1219200" y="2474082"/>
            <a:ext cx="6675120" cy="1795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Device </a:t>
            </a:r>
            <a:r>
              <a:rPr lang="en-US" dirty="0" err="1" smtClean="0"/>
              <a:t>mapper</a:t>
            </a:r>
            <a:r>
              <a:rPr lang="en-US" dirty="0" smtClean="0"/>
              <a:t> framework defines a set of target device mapping interfaces.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dm_ctr_fn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ctr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 smtClean="0"/>
              <a:t>Initiator of each newly created mapped device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dm_dtr_fn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dtr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 smtClean="0"/>
              <a:t>Destructor of each removing mapped device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dm_map_fn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map</a:t>
            </a:r>
          </a:p>
          <a:p>
            <a:pPr lvl="2"/>
            <a:r>
              <a:rPr lang="en-US" dirty="0" smtClean="0"/>
              <a:t>Setup the mapping relations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dm_ioctl_fn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ioctl</a:t>
            </a:r>
            <a:endParaRPr lang="en-US" b="1" dirty="0" smtClean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 smtClean="0"/>
              <a:t>Exactly perform system IO invocations</a:t>
            </a:r>
          </a:p>
          <a:p>
            <a:pPr lvl="1"/>
            <a:r>
              <a:rPr lang="en-US" dirty="0" smtClean="0"/>
              <a:t>… etc.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Volume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010400" cy="1524000"/>
          </a:xfrm>
        </p:spPr>
        <p:txBody>
          <a:bodyPr/>
          <a:lstStyle/>
          <a:p>
            <a:r>
              <a:rPr lang="en-US" dirty="0" smtClean="0"/>
              <a:t>Develop a new mapped device target and add it into device </a:t>
            </a:r>
            <a:r>
              <a:rPr lang="en-US" dirty="0" err="1" smtClean="0"/>
              <a:t>mapper</a:t>
            </a:r>
            <a:r>
              <a:rPr lang="en-US" dirty="0" smtClean="0"/>
              <a:t> framework.</a:t>
            </a:r>
          </a:p>
          <a:p>
            <a:pPr lvl="1"/>
            <a:r>
              <a:rPr lang="en-US" dirty="0" smtClean="0"/>
              <a:t>Improve scalability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9958" y="3989171"/>
            <a:ext cx="6492240" cy="2769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1219200" y="2474082"/>
            <a:ext cx="6675120" cy="1795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r>
              <a:rPr lang="en-US" dirty="0" smtClean="0"/>
              <a:t>Storage virtualization technique :</a:t>
            </a:r>
          </a:p>
          <a:p>
            <a:pPr lvl="1"/>
            <a:r>
              <a:rPr lang="en-US" dirty="0" smtClean="0"/>
              <a:t>Virtualization layer</a:t>
            </a:r>
          </a:p>
          <a:p>
            <a:pPr lvl="2"/>
            <a:r>
              <a:rPr lang="en-US" dirty="0" smtClean="0"/>
              <a:t>File level and block level</a:t>
            </a:r>
          </a:p>
          <a:p>
            <a:pPr lvl="1"/>
            <a:r>
              <a:rPr lang="en-US" dirty="0" smtClean="0"/>
              <a:t>Virtualization location</a:t>
            </a:r>
          </a:p>
          <a:p>
            <a:pPr lvl="2"/>
            <a:r>
              <a:rPr lang="en-US" dirty="0" smtClean="0"/>
              <a:t>Host, network and storage base</a:t>
            </a:r>
          </a:p>
          <a:p>
            <a:pPr lvl="1"/>
            <a:r>
              <a:rPr lang="en-US" dirty="0" smtClean="0"/>
              <a:t>Virtualization method</a:t>
            </a:r>
          </a:p>
          <a:p>
            <a:pPr lvl="2"/>
            <a:r>
              <a:rPr lang="en-US" dirty="0" smtClean="0"/>
              <a:t>In-band and out-of-band</a:t>
            </a:r>
          </a:p>
          <a:p>
            <a:r>
              <a:rPr lang="en-US" dirty="0" smtClean="0"/>
              <a:t>Storage virtualization services</a:t>
            </a:r>
          </a:p>
          <a:p>
            <a:pPr lvl="1"/>
            <a:r>
              <a:rPr lang="en-US" dirty="0" smtClean="0"/>
              <a:t>Storage pooling and sharing</a:t>
            </a:r>
          </a:p>
          <a:p>
            <a:pPr lvl="1"/>
            <a:r>
              <a:rPr lang="en-US" dirty="0" smtClean="0"/>
              <a:t>Data replication and mirroring</a:t>
            </a:r>
          </a:p>
          <a:p>
            <a:pPr lvl="1"/>
            <a:r>
              <a:rPr lang="en-US" dirty="0" smtClean="0"/>
              <a:t>Snapshot and multi-</a:t>
            </a:r>
            <a:r>
              <a:rPr lang="en-US" dirty="0" err="1" smtClean="0"/>
              <a:t>pathing</a:t>
            </a:r>
            <a:endParaRPr lang="en-US" dirty="0" smtClean="0"/>
          </a:p>
          <a:p>
            <a:r>
              <a:rPr lang="en-US" dirty="0" smtClean="0"/>
              <a:t>Case study</a:t>
            </a:r>
          </a:p>
          <a:p>
            <a:pPr lvl="1"/>
            <a:r>
              <a:rPr lang="en-US" dirty="0" err="1" smtClean="0"/>
              <a:t>Lustre</a:t>
            </a:r>
            <a:r>
              <a:rPr lang="en-US" dirty="0" smtClean="0"/>
              <a:t> </a:t>
            </a:r>
            <a:r>
              <a:rPr lang="en-US" dirty="0" err="1" smtClean="0"/>
              <a:t>filesystem</a:t>
            </a:r>
            <a:r>
              <a:rPr lang="en-US" dirty="0" smtClean="0"/>
              <a:t>, Logical Volume Management</a:t>
            </a: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2040" y="2458199"/>
            <a:ext cx="4023360" cy="302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dirty="0" smtClean="0"/>
              <a:t>Book:</a:t>
            </a:r>
          </a:p>
          <a:p>
            <a:pPr lvl="1"/>
            <a:r>
              <a:rPr lang="en-US" altLang="zh-TW" dirty="0" smtClean="0"/>
              <a:t>Tom Clark, </a:t>
            </a:r>
            <a:r>
              <a:rPr lang="en-US" altLang="zh-TW" b="1" dirty="0" smtClean="0"/>
              <a:t>Storage Virtualization: Technologies for Simplifying Data Storage and Management</a:t>
            </a:r>
            <a:r>
              <a:rPr lang="en-US" altLang="zh-TW" dirty="0" smtClean="0"/>
              <a:t>, Addison Wesley Professional, 2005.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Web resources:</a:t>
            </a:r>
          </a:p>
          <a:p>
            <a:pPr lvl="1"/>
            <a:r>
              <a:rPr lang="en-US" altLang="zh-TW" dirty="0" smtClean="0"/>
              <a:t>From Wikipedia, the free encyclopedia</a:t>
            </a:r>
          </a:p>
          <a:p>
            <a:pPr lvl="1"/>
            <a:r>
              <a:rPr lang="en-US" altLang="zh-TW" dirty="0" err="1" smtClean="0"/>
              <a:t>Lustre</a:t>
            </a:r>
            <a:r>
              <a:rPr lang="en-US" altLang="zh-TW" dirty="0" smtClean="0"/>
              <a:t> File System. </a:t>
            </a:r>
            <a:r>
              <a:rPr lang="en-US" altLang="zh-TW" i="1" dirty="0" smtClean="0"/>
              <a:t>http://www.oracle.com/us/products/servers-storage/storage/storage-software/031855.htm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Logical Volume Management (LVM). </a:t>
            </a:r>
            <a:r>
              <a:rPr lang="en-US" altLang="zh-TW" i="1" dirty="0" smtClean="0"/>
              <a:t>http://www.tldp.org/HOWTO/LVM-HOWTO/ 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Sky</Template>
  <TotalTime>6963</TotalTime>
  <Words>2960</Words>
  <Application>Microsoft Office PowerPoint</Application>
  <PresentationFormat>如螢幕大小 (4:3)</PresentationFormat>
  <Paragraphs>560</Paragraphs>
  <Slides>67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67</vt:i4>
      </vt:variant>
    </vt:vector>
  </HeadingPairs>
  <TitlesOfParts>
    <vt:vector size="69" baseType="lpstr">
      <vt:lpstr>Sky</vt:lpstr>
      <vt:lpstr>1_Sky</vt:lpstr>
      <vt:lpstr>雲端計算 Cloud Computing</vt:lpstr>
      <vt:lpstr>Agenda</vt:lpstr>
      <vt:lpstr>Storage Virtualization</vt:lpstr>
      <vt:lpstr>Overview</vt:lpstr>
      <vt:lpstr>Storage Virtualization</vt:lpstr>
      <vt:lpstr>Storage Virtualization</vt:lpstr>
      <vt:lpstr>Storage Virtualization</vt:lpstr>
      <vt:lpstr>Concept and Technique</vt:lpstr>
      <vt:lpstr>Concept and Technique</vt:lpstr>
      <vt:lpstr>Concept and Technique</vt:lpstr>
      <vt:lpstr>Concept and Technique</vt:lpstr>
      <vt:lpstr>Concept and Technique</vt:lpstr>
      <vt:lpstr>Storage virtualization</vt:lpstr>
      <vt:lpstr>What To Be Virtualized</vt:lpstr>
      <vt:lpstr>File System Level</vt:lpstr>
      <vt:lpstr>File System Level</vt:lpstr>
      <vt:lpstr>File System Level</vt:lpstr>
      <vt:lpstr>File System Level</vt:lpstr>
      <vt:lpstr>Block Device Level</vt:lpstr>
      <vt:lpstr>Block Device Level</vt:lpstr>
      <vt:lpstr>Block Device Level</vt:lpstr>
      <vt:lpstr>Block Device Level</vt:lpstr>
      <vt:lpstr>Storage virtualization</vt:lpstr>
      <vt:lpstr>Where To Be Virtualized</vt:lpstr>
      <vt:lpstr>Where To Be Virtualized</vt:lpstr>
      <vt:lpstr>Where To Be Virtualized</vt:lpstr>
      <vt:lpstr>Where To Be Virtualized</vt:lpstr>
      <vt:lpstr>Host-based Virtualization</vt:lpstr>
      <vt:lpstr>Host-based Virtualization</vt:lpstr>
      <vt:lpstr>Host-based Virtualization</vt:lpstr>
      <vt:lpstr>Host-based Virtualization</vt:lpstr>
      <vt:lpstr>Network-based Virtualization</vt:lpstr>
      <vt:lpstr>Network-based Virtualization</vt:lpstr>
      <vt:lpstr>Network-based Virtualization</vt:lpstr>
      <vt:lpstr>Network-based Virtualization</vt:lpstr>
      <vt:lpstr>Network-based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 virtualization</vt:lpstr>
      <vt:lpstr>In-band Virtualization</vt:lpstr>
      <vt:lpstr>Out-of-band Virtualization</vt:lpstr>
      <vt:lpstr>Other Virtualization Services</vt:lpstr>
      <vt:lpstr>Other Virtualization Services</vt:lpstr>
      <vt:lpstr>Storage virtualization</vt:lpstr>
      <vt:lpstr>Case Study</vt:lpstr>
      <vt:lpstr>Lustre File System</vt:lpstr>
      <vt:lpstr>Lustre File System</vt:lpstr>
      <vt:lpstr>Lustre File System</vt:lpstr>
      <vt:lpstr>Lustre File System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Summary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IaaS - Storage and Network Virtualization</dc:title>
  <dc:creator>cyhuang</dc:creator>
  <cp:lastModifiedBy>Yeh-Ching Chung</cp:lastModifiedBy>
  <cp:revision>626</cp:revision>
  <dcterms:created xsi:type="dcterms:W3CDTF">2006-08-16T00:00:00Z</dcterms:created>
  <dcterms:modified xsi:type="dcterms:W3CDTF">2010-11-24T01:02:29Z</dcterms:modified>
</cp:coreProperties>
</file>