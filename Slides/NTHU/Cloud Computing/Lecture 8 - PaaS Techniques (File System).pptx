
<file path=[Content_Types].xml><?xml version="1.0" encoding="utf-8"?>
<Types xmlns="http://schemas.openxmlformats.org/package/2006/content-types">
  <Override PartName="/ppt/slides/slide47.xml" ContentType="application/vnd.openxmlformats-officedocument.presentationml.slide+xml"/>
  <Override PartName="/ppt/slides/slide58.xml" ContentType="application/vnd.openxmlformats-officedocument.presentationml.slide+xml"/>
  <Override PartName="/ppt/slides/slide94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6.xml" ContentType="application/vnd.openxmlformats-officedocument.presentationml.slide+xml"/>
  <Override PartName="/ppt/slides/slide83.xml" ContentType="application/vnd.openxmlformats-officedocument.presentationml.slide+xml"/>
  <Override PartName="/ppt/notesSlides/notesSlide3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96.xml" ContentType="application/vnd.openxmlformats-officedocument.presentationml.notesSlide+xml"/>
  <Override PartName="/ppt/slides/slide25.xml" ContentType="application/vnd.openxmlformats-officedocument.presentationml.slide+xml"/>
  <Override PartName="/ppt/slides/slide72.xml" ContentType="application/vnd.openxmlformats-officedocument.presentationml.slide+xml"/>
  <Override PartName="/ppt/slideLayouts/slideLayout2.xml" ContentType="application/vnd.openxmlformats-officedocument.presentationml.slideLayout+xml"/>
  <Override PartName="/ppt/notesSlides/notesSlide27.xml" ContentType="application/vnd.openxmlformats-officedocument.presentationml.notesSlide+xml"/>
  <Override PartName="/ppt/notesSlides/notesSlide74.xml" ContentType="application/vnd.openxmlformats-officedocument.presentationml.notesSlide+xml"/>
  <Default Extension="xml" ContentType="application/xml"/>
  <Override PartName="/ppt/slides/slide14.xml" ContentType="application/vnd.openxmlformats-officedocument.presentationml.slide+xml"/>
  <Override PartName="/ppt/slides/slide50.xml" ContentType="application/vnd.openxmlformats-officedocument.presentationml.slide+xml"/>
  <Override PartName="/ppt/slides/slide61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6.xml" ContentType="application/vnd.openxmlformats-officedocument.presentationml.notesSlide+xml"/>
  <Override PartName="/ppt/notesSlides/notesSlide63.xml" ContentType="application/vnd.openxmlformats-officedocument.presentationml.notesSlide+xml"/>
  <Override PartName="/ppt/tableStyles.xml" ContentType="application/vnd.openxmlformats-officedocument.presentationml.tableStyles+xml"/>
  <Override PartName="/ppt/notesSlides/notesSlide4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30.xml" ContentType="application/vnd.openxmlformats-officedocument.presentationml.notesSlide+xml"/>
  <Override PartName="/ppt/slides/slide99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9.xml" ContentType="application/vnd.openxmlformats-officedocument.presentationml.slide+xml"/>
  <Override PartName="/ppt/slides/slide59.xml" ContentType="application/vnd.openxmlformats-officedocument.presentationml.slide+xml"/>
  <Override PartName="/ppt/slides/slide77.xml" ContentType="application/vnd.openxmlformats-officedocument.presentationml.slide+xml"/>
  <Override PartName="/ppt/slides/slide88.xml" ContentType="application/vnd.openxmlformats-officedocument.presentationml.slide+xml"/>
  <Override PartName="/ppt/viewProps.xml" ContentType="application/vnd.openxmlformats-officedocument.presentationml.viewProp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48.xml" ContentType="application/vnd.openxmlformats-officedocument.presentationml.slide+xml"/>
  <Override PartName="/ppt/slides/slide66.xml" ContentType="application/vnd.openxmlformats-officedocument.presentationml.slide+xml"/>
  <Override PartName="/ppt/slides/slide95.xml" ContentType="application/vnd.openxmlformats-officedocument.presentationml.slide+xml"/>
  <Override PartName="/ppt/slides/slide103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3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97.xml" ContentType="application/vnd.openxmlformats-officedocument.presentationml.notes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55.xml" ContentType="application/vnd.openxmlformats-officedocument.presentationml.slide+xml"/>
  <Override PartName="/ppt/slides/slide73.xml" ContentType="application/vnd.openxmlformats-officedocument.presentationml.slide+xml"/>
  <Override PartName="/ppt/slides/slide84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notesSlides/notesSlide39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86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33.xml" ContentType="application/vnd.openxmlformats-officedocument.presentationml.slide+xml"/>
  <Override PartName="/ppt/slides/slide44.xml" ContentType="application/vnd.openxmlformats-officedocument.presentationml.slide+xml"/>
  <Override PartName="/ppt/slides/slide62.xml" ContentType="application/vnd.openxmlformats-officedocument.presentationml.slide+xml"/>
  <Override PartName="/ppt/slides/slide80.xml" ContentType="application/vnd.openxmlformats-officedocument.presentationml.slide+xml"/>
  <Override PartName="/ppt/slides/slide91.xml" ContentType="application/vnd.openxmlformats-officedocument.presentationml.slide+xml"/>
  <Override PartName="/ppt/slideLayouts/slideLayout3.xml" ContentType="application/vnd.openxmlformats-officedocument.presentationml.slideLayout+xml"/>
  <Override PartName="/ppt/notesSlides/notesSlide1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93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22.xml" ContentType="application/vnd.openxmlformats-officedocument.presentationml.slide+xml"/>
  <Override PartName="/ppt/slides/slide51.xml" ContentType="application/vnd.openxmlformats-officedocument.presentationml.slide+xml"/>
  <Override PartName="/ppt/notesSlides/notesSlide2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82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40.xml" ContentType="application/vnd.openxmlformats-officedocument.presentationml.slide+xml"/>
  <Override PartName="/ppt/notesSlides/notesSlide13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60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1.xml" ContentType="application/vnd.openxmlformats-officedocument.presentationml.notesSlide+xml"/>
  <Override PartName="/ppt/slides/slide89.xml" ContentType="application/vnd.openxmlformats-officedocument.presentationml.slide+xml"/>
  <Override PartName="/ppt/slides/slide49.xml" ContentType="application/vnd.openxmlformats-officedocument.presentationml.slide+xml"/>
  <Override PartName="/ppt/slides/slide78.xml" ContentType="application/vnd.openxmlformats-officedocument.presentationml.slide+xml"/>
  <Override PartName="/ppt/slides/slide96.xml" ContentType="application/vnd.openxmlformats-officedocument.presentationml.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s/slide38.xml" ContentType="application/vnd.openxmlformats-officedocument.presentationml.slide+xml"/>
  <Override PartName="/ppt/slides/slide56.xml" ContentType="application/vnd.openxmlformats-officedocument.presentationml.slide+xml"/>
  <Override PartName="/ppt/slides/slide67.xml" ContentType="application/vnd.openxmlformats-officedocument.presentationml.slide+xml"/>
  <Override PartName="/ppt/slides/slide85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69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98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slides/slide45.xml" ContentType="application/vnd.openxmlformats-officedocument.presentationml.slide+xml"/>
  <Override PartName="/ppt/slides/slide74.xml" ContentType="application/vnd.openxmlformats-officedocument.presentationml.slide+xml"/>
  <Override PartName="/ppt/slides/slide92.xml" ContentType="application/vnd.openxmlformats-officedocument.presentationml.slide+xml"/>
  <Override PartName="/ppt/slideLayouts/slideLayout4.xml" ContentType="application/vnd.openxmlformats-officedocument.presentationml.slideLayout+xml"/>
  <Override PartName="/ppt/notesSlides/notesSlide29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94.xml" ContentType="application/vnd.openxmlformats-officedocument.presentationml.notesSlid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34.xml" ContentType="application/vnd.openxmlformats-officedocument.presentationml.slide+xml"/>
  <Override PartName="/ppt/slides/slide52.xml" ContentType="application/vnd.openxmlformats-officedocument.presentationml.slide+xml"/>
  <Override PartName="/ppt/slides/slide63.xml" ContentType="application/vnd.openxmlformats-officedocument.presentationml.slide+xml"/>
  <Override PartName="/ppt/slides/slide81.xml" ContentType="application/vnd.openxmlformats-officedocument.presentationml.slide+xml"/>
  <Override PartName="/ppt/slides/slide100.xml" ContentType="application/vnd.openxmlformats-officedocument.presentationml.slide+xml"/>
  <Override PartName="/ppt/notesSlides/notesSlide18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83.xml" ContentType="application/vnd.openxmlformats-officedocument.presentationml.notesSlide+xml"/>
  <Default Extension="rels" ContentType="application/vnd.openxmlformats-package.relationships+xml"/>
  <Override PartName="/ppt/slides/slide23.xml" ContentType="application/vnd.openxmlformats-officedocument.presentationml.slide+xml"/>
  <Override PartName="/ppt/slides/slide41.xml" ContentType="application/vnd.openxmlformats-officedocument.presentationml.slide+xml"/>
  <Override PartName="/ppt/slides/slide70.xml" ContentType="application/vnd.openxmlformats-officedocument.presentationml.slide+xml"/>
  <Override PartName="/ppt/notesSlides/notesSlide25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90.xml" ContentType="application/vnd.openxmlformats-officedocument.presentationml.notesSlide+xml"/>
  <Override PartName="/ppt/slides/slide12.xml" ContentType="application/vnd.openxmlformats-officedocument.presentationml.slide+xml"/>
  <Override PartName="/ppt/slides/slide30.xml" ContentType="application/vnd.openxmlformats-officedocument.presentationml.slide+xml"/>
  <Override PartName="/ppt/slideLayouts/slideLayout11.xml" ContentType="application/vnd.openxmlformats-officedocument.presentationml.slideLayout+xml"/>
  <Override PartName="/ppt/notesSlides/notesSlide14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50.xml" ContentType="application/vnd.openxmlformats-officedocument.presentationml.notesSlide+xml"/>
  <Override PartName="/ppt/slides/slide79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68.xml" ContentType="application/vnd.openxmlformats-officedocument.presentationml.slide+xml"/>
  <Override PartName="/ppt/slides/slide97.xml" ContentType="application/vnd.openxmlformats-officedocument.presentationml.slide+xml"/>
  <Override PartName="/ppt/slideLayouts/slideLayout9.xml" ContentType="application/vnd.openxmlformats-officedocument.presentationml.slideLayout+xml"/>
  <Override PartName="/ppt/notesSlides/notesSlide5.xml" ContentType="application/vnd.openxmlformats-officedocument.presentationml.notes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57.xml" ContentType="application/vnd.openxmlformats-officedocument.presentationml.slide+xml"/>
  <Override PartName="/ppt/slides/slide75.xml" ContentType="application/vnd.openxmlformats-officedocument.presentationml.slide+xml"/>
  <Override PartName="/ppt/slides/slide86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88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46.xml" ContentType="application/vnd.openxmlformats-officedocument.presentationml.slide+xml"/>
  <Override PartName="/ppt/slides/slide64.xml" ContentType="application/vnd.openxmlformats-officedocument.presentationml.slide+xml"/>
  <Override PartName="/ppt/slides/slide93.xml" ContentType="application/vnd.openxmlformats-officedocument.presentationml.slide+xml"/>
  <Override PartName="/ppt/slides/slide101.xml" ContentType="application/vnd.openxmlformats-officedocument.presentationml.slide+xml"/>
  <Override PartName="/ppt/slideLayouts/slideLayout5.xml" ContentType="application/vnd.openxmlformats-officedocument.presentationml.slideLayout+xml"/>
  <Override PartName="/ppt/notesSlides/notesSlide19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95.xml" ContentType="application/vnd.openxmlformats-officedocument.presentationml.notesSlide+xml"/>
  <Override PartName="/ppt/slides/slide24.xml" ContentType="application/vnd.openxmlformats-officedocument.presentationml.slide+xml"/>
  <Override PartName="/ppt/slides/slide35.xml" ContentType="application/vnd.openxmlformats-officedocument.presentationml.slide+xml"/>
  <Override PartName="/ppt/slides/slide53.xml" ContentType="application/vnd.openxmlformats-officedocument.presentationml.slide+xml"/>
  <Override PartName="/ppt/slides/slide71.xml" ContentType="application/vnd.openxmlformats-officedocument.presentationml.slide+xml"/>
  <Override PartName="/ppt/slides/slide82.xml" ContentType="application/vnd.openxmlformats-officedocument.presentationml.slide+xml"/>
  <Default Extension="jpeg" ContentType="image/jpeg"/>
  <Override PartName="/ppt/notesSlides/notesSlide37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84.xml" ContentType="application/vnd.openxmlformats-officedocument.presentationml.notesSlide+xml"/>
  <Override PartName="/ppt/slides/slide13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s/slide60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91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40.xml" ContentType="application/vnd.openxmlformats-officedocument.presentationml.notesSlide+xml"/>
  <Override PartName="/ppt/slides/slide98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8.xml" ContentType="application/vnd.openxmlformats-officedocument.presentationml.slide+xml"/>
  <Override PartName="/ppt/slides/slide69.xml" ContentType="application/vnd.openxmlformats-officedocument.presentationml.slide+xml"/>
  <Override PartName="/ppt/slides/slide87.xml" ContentType="application/vnd.openxmlformats-officedocument.presentationml.slide+xml"/>
  <Override PartName="/ppt/notesSlides/notesSlide89.xml" ContentType="application/vnd.openxmlformats-officedocument.presentationml.notesSlide+xml"/>
  <Override PartName="/ppt/slides/slide29.xml" ContentType="application/vnd.openxmlformats-officedocument.presentationml.slide+xml"/>
  <Override PartName="/ppt/slides/slide76.xml" ContentType="application/vnd.openxmlformats-officedocument.presentationml.slide+xml"/>
  <Override PartName="/ppt/notesSlides/notesSlide78.xml" ContentType="application/vnd.openxmlformats-officedocument.presentationml.notes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54.xml" ContentType="application/vnd.openxmlformats-officedocument.presentationml.slide+xml"/>
  <Override PartName="/ppt/slides/slide65.xml" ContentType="application/vnd.openxmlformats-officedocument.presentationml.slide+xml"/>
  <Override PartName="/ppt/slides/slide102.xml" ContentType="application/vnd.openxmlformats-officedocument.presentationml.slide+xml"/>
  <Override PartName="/ppt/slideLayouts/slideLayout6.xml" ContentType="application/vnd.openxmlformats-officedocument.presentationml.slideLayout+xml"/>
  <Override PartName="/ppt/notesSlides/notesSlide67.xml" ContentType="application/vnd.openxmlformats-officedocument.presentationml.notesSlide+xml"/>
  <Override PartName="/ppt/slides/slide43.xml" ContentType="application/vnd.openxmlformats-officedocument.presentationml.slide+xml"/>
  <Override PartName="/ppt/slides/slide90.xml" ContentType="application/vnd.openxmlformats-officedocument.presentationml.slide+xml"/>
  <Override PartName="/ppt/theme/theme1.xml" ContentType="application/vnd.openxmlformats-officedocument.theme+xml"/>
  <Override PartName="/ppt/notesSlides/notesSlide4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92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4.xml" ContentType="application/vnd.openxmlformats-officedocument.presentationml.notesSlide+xml"/>
  <Override PartName="/ppt/notesSlides/notesSlide81.xml" ContentType="application/vnd.openxmlformats-officedocument.presentationml.notesSlide+xml"/>
  <Override PartName="/ppt/slides/slide10.xml" ContentType="application/vnd.openxmlformats-officedocument.presentationml.slide+xml"/>
  <Override PartName="/ppt/slides/slide21.xml" ContentType="application/vnd.openxmlformats-officedocument.presentationml.slide+xml"/>
  <Override PartName="/ppt/notesSlides/notesSlide23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12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05"/>
  </p:notesMasterIdLst>
  <p:sldIdLst>
    <p:sldId id="266" r:id="rId2"/>
    <p:sldId id="257" r:id="rId3"/>
    <p:sldId id="401" r:id="rId4"/>
    <p:sldId id="402" r:id="rId5"/>
    <p:sldId id="264" r:id="rId6"/>
    <p:sldId id="403" r:id="rId7"/>
    <p:sldId id="289" r:id="rId8"/>
    <p:sldId id="290" r:id="rId9"/>
    <p:sldId id="291" r:id="rId10"/>
    <p:sldId id="292" r:id="rId11"/>
    <p:sldId id="293" r:id="rId12"/>
    <p:sldId id="294" r:id="rId13"/>
    <p:sldId id="295" r:id="rId14"/>
    <p:sldId id="296" r:id="rId15"/>
    <p:sldId id="297" r:id="rId16"/>
    <p:sldId id="298" r:id="rId17"/>
    <p:sldId id="299" r:id="rId18"/>
    <p:sldId id="300" r:id="rId19"/>
    <p:sldId id="301" r:id="rId20"/>
    <p:sldId id="302" r:id="rId21"/>
    <p:sldId id="383" r:id="rId22"/>
    <p:sldId id="303" r:id="rId23"/>
    <p:sldId id="305" r:id="rId24"/>
    <p:sldId id="375" r:id="rId25"/>
    <p:sldId id="307" r:id="rId26"/>
    <p:sldId id="308" r:id="rId27"/>
    <p:sldId id="311" r:id="rId28"/>
    <p:sldId id="377" r:id="rId29"/>
    <p:sldId id="371" r:id="rId30"/>
    <p:sldId id="310" r:id="rId31"/>
    <p:sldId id="372" r:id="rId32"/>
    <p:sldId id="312" r:id="rId33"/>
    <p:sldId id="313" r:id="rId34"/>
    <p:sldId id="379" r:id="rId35"/>
    <p:sldId id="373" r:id="rId36"/>
    <p:sldId id="374" r:id="rId37"/>
    <p:sldId id="318" r:id="rId38"/>
    <p:sldId id="317" r:id="rId39"/>
    <p:sldId id="380" r:id="rId40"/>
    <p:sldId id="381" r:id="rId41"/>
    <p:sldId id="382" r:id="rId42"/>
    <p:sldId id="404" r:id="rId43"/>
    <p:sldId id="385" r:id="rId44"/>
    <p:sldId id="319" r:id="rId45"/>
    <p:sldId id="324" r:id="rId46"/>
    <p:sldId id="323" r:id="rId47"/>
    <p:sldId id="321" r:id="rId48"/>
    <p:sldId id="386" r:id="rId49"/>
    <p:sldId id="325" r:id="rId50"/>
    <p:sldId id="387" r:id="rId51"/>
    <p:sldId id="388" r:id="rId52"/>
    <p:sldId id="327" r:id="rId53"/>
    <p:sldId id="328" r:id="rId54"/>
    <p:sldId id="329" r:id="rId55"/>
    <p:sldId id="389" r:id="rId56"/>
    <p:sldId id="390" r:id="rId57"/>
    <p:sldId id="330" r:id="rId58"/>
    <p:sldId id="391" r:id="rId59"/>
    <p:sldId id="405" r:id="rId60"/>
    <p:sldId id="393" r:id="rId61"/>
    <p:sldId id="333" r:id="rId62"/>
    <p:sldId id="394" r:id="rId63"/>
    <p:sldId id="395" r:id="rId64"/>
    <p:sldId id="397" r:id="rId65"/>
    <p:sldId id="335" r:id="rId66"/>
    <p:sldId id="336" r:id="rId67"/>
    <p:sldId id="337" r:id="rId68"/>
    <p:sldId id="398" r:id="rId69"/>
    <p:sldId id="338" r:id="rId70"/>
    <p:sldId id="396" r:id="rId71"/>
    <p:sldId id="339" r:id="rId72"/>
    <p:sldId id="406" r:id="rId73"/>
    <p:sldId id="399" r:id="rId74"/>
    <p:sldId id="342" r:id="rId75"/>
    <p:sldId id="343" r:id="rId76"/>
    <p:sldId id="400" r:id="rId77"/>
    <p:sldId id="344" r:id="rId78"/>
    <p:sldId id="345" r:id="rId79"/>
    <p:sldId id="347" r:id="rId80"/>
    <p:sldId id="367" r:id="rId81"/>
    <p:sldId id="407" r:id="rId82"/>
    <p:sldId id="350" r:id="rId83"/>
    <p:sldId id="351" r:id="rId84"/>
    <p:sldId id="352" r:id="rId85"/>
    <p:sldId id="411" r:id="rId86"/>
    <p:sldId id="359" r:id="rId87"/>
    <p:sldId id="353" r:id="rId88"/>
    <p:sldId id="354" r:id="rId89"/>
    <p:sldId id="355" r:id="rId90"/>
    <p:sldId id="412" r:id="rId91"/>
    <p:sldId id="356" r:id="rId92"/>
    <p:sldId id="357" r:id="rId93"/>
    <p:sldId id="363" r:id="rId94"/>
    <p:sldId id="358" r:id="rId95"/>
    <p:sldId id="360" r:id="rId96"/>
    <p:sldId id="361" r:id="rId97"/>
    <p:sldId id="362" r:id="rId98"/>
    <p:sldId id="413" r:id="rId99"/>
    <p:sldId id="364" r:id="rId100"/>
    <p:sldId id="365" r:id="rId101"/>
    <p:sldId id="366" r:id="rId102"/>
    <p:sldId id="369" r:id="rId103"/>
    <p:sldId id="265" r:id="rId104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671" autoAdjust="0"/>
    <p:restoredTop sz="91502" autoAdjust="0"/>
  </p:normalViewPr>
  <p:slideViewPr>
    <p:cSldViewPr>
      <p:cViewPr varScale="1">
        <p:scale>
          <a:sx n="78" d="100"/>
          <a:sy n="78" d="100"/>
        </p:scale>
        <p:origin x="-1594" y="-8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07" Type="http://schemas.openxmlformats.org/officeDocument/2006/relationships/viewProps" Target="viewProps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87" Type="http://schemas.openxmlformats.org/officeDocument/2006/relationships/slide" Target="slides/slide86.xml"/><Relationship Id="rId102" Type="http://schemas.openxmlformats.org/officeDocument/2006/relationships/slide" Target="slides/slide10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103" Type="http://schemas.openxmlformats.org/officeDocument/2006/relationships/slide" Target="slides/slide102.xml"/><Relationship Id="rId108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tableStyles" Target="tableStyles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1A7DD20-92F8-4282-BDE4-0E24C1A0D45F}" type="datetimeFigureOut">
              <a:rPr lang="zh-TW" altLang="en-US" smtClean="0"/>
              <a:pPr/>
              <a:t>2011/6/27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20D120-4707-426F-9B85-873E256A663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20D120-4707-426F-9B85-873E256A6635}" type="slidenum">
              <a:rPr lang="zh-TW" altLang="en-US" smtClean="0"/>
              <a:pPr/>
              <a:t>1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20D120-4707-426F-9B85-873E256A6635}" type="slidenum">
              <a:rPr lang="zh-TW" altLang="en-US" smtClean="0"/>
              <a:pPr/>
              <a:t>2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7798105-4A26-4A76-A573-41E254B34C61}" type="slidenum">
              <a:rPr lang="zh-TW" altLang="en-US" smtClean="0"/>
              <a:pPr/>
              <a:t>3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20D120-4707-426F-9B85-873E256A6635}" type="slidenum">
              <a:rPr lang="zh-TW" altLang="en-US" smtClean="0"/>
              <a:pPr/>
              <a:t>5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20D120-4707-426F-9B85-873E256A6635}" type="slidenum">
              <a:rPr lang="zh-TW" altLang="en-US" smtClean="0"/>
              <a:pPr/>
              <a:t>6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20D120-4707-426F-9B85-873E256A6635}" type="slidenum">
              <a:rPr lang="zh-TW" altLang="en-US" smtClean="0"/>
              <a:pPr/>
              <a:t>7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BFA5A3-E274-4694-B6A5-D346393E3593}" type="slidenum">
              <a:rPr lang="zh-TW" altLang="en-US" smtClean="0"/>
              <a:pPr/>
              <a:t>8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BFA5A3-E274-4694-B6A5-D346393E3593}" type="slidenum">
              <a:rPr lang="zh-TW" altLang="en-US" smtClean="0"/>
              <a:pPr/>
              <a:t>9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BFA5A3-E274-4694-B6A5-D346393E3593}" type="slidenum">
              <a:rPr lang="zh-TW" altLang="en-US" smtClean="0"/>
              <a:pPr/>
              <a:t>10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BFA5A3-E274-4694-B6A5-D346393E3593}" type="slidenum">
              <a:rPr lang="zh-TW" altLang="en-US" smtClean="0"/>
              <a:pPr/>
              <a:t>11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BFA5A3-E274-4694-B6A5-D346393E3593}" type="slidenum">
              <a:rPr lang="zh-TW" altLang="en-US" smtClean="0"/>
              <a:pPr/>
              <a:t>12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BFA5A3-E274-4694-B6A5-D346393E3593}" type="slidenum">
              <a:rPr lang="zh-TW" altLang="en-US" smtClean="0"/>
              <a:pPr/>
              <a:t>13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BFA5A3-E274-4694-B6A5-D346393E3593}" type="slidenum">
              <a:rPr lang="zh-TW" altLang="en-US" smtClean="0"/>
              <a:pPr/>
              <a:t>14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20D120-4707-426F-9B85-873E256A6635}" type="slidenum">
              <a:rPr lang="zh-TW" altLang="en-US" smtClean="0"/>
              <a:pPr/>
              <a:t>15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BFA5A3-E274-4694-B6A5-D346393E3593}" type="slidenum">
              <a:rPr lang="zh-TW" altLang="en-US" smtClean="0"/>
              <a:pPr/>
              <a:t>16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BFA5A3-E274-4694-B6A5-D346393E3593}" type="slidenum">
              <a:rPr lang="zh-TW" altLang="en-US" smtClean="0"/>
              <a:pPr/>
              <a:t>17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BFA5A3-E274-4694-B6A5-D346393E3593}" type="slidenum">
              <a:rPr lang="zh-TW" altLang="en-US" smtClean="0"/>
              <a:pPr/>
              <a:t>18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BFA5A3-E274-4694-B6A5-D346393E3593}" type="slidenum">
              <a:rPr lang="zh-TW" altLang="en-US" smtClean="0"/>
              <a:pPr/>
              <a:t>19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20D120-4707-426F-9B85-873E256A6635}" type="slidenum">
              <a:rPr lang="zh-TW" altLang="en-US" smtClean="0"/>
              <a:pPr/>
              <a:t>20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20D120-4707-426F-9B85-873E256A6635}" type="slidenum">
              <a:rPr lang="zh-TW" altLang="en-US" smtClean="0"/>
              <a:pPr/>
              <a:t>21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BFA5A3-E274-4694-B6A5-D346393E3593}" type="slidenum">
              <a:rPr lang="zh-TW" altLang="en-US" smtClean="0"/>
              <a:pPr/>
              <a:t>22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BFA5A3-E274-4694-B6A5-D346393E3593}" type="slidenum">
              <a:rPr lang="zh-TW" altLang="en-US" smtClean="0"/>
              <a:pPr/>
              <a:t>23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20D120-4707-426F-9B85-873E256A6635}" type="slidenum">
              <a:rPr lang="zh-TW" altLang="en-US" smtClean="0"/>
              <a:pPr/>
              <a:t>24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BFA5A3-E274-4694-B6A5-D346393E3593}" type="slidenum">
              <a:rPr lang="zh-TW" altLang="en-US" smtClean="0"/>
              <a:pPr/>
              <a:t>25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BFA5A3-E274-4694-B6A5-D346393E3593}" type="slidenum">
              <a:rPr lang="zh-TW" altLang="en-US" smtClean="0"/>
              <a:pPr/>
              <a:t>26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BFA5A3-E274-4694-B6A5-D346393E3593}" type="slidenum">
              <a:rPr lang="zh-TW" altLang="en-US" smtClean="0"/>
              <a:pPr/>
              <a:t>27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20D120-4707-426F-9B85-873E256A6635}" type="slidenum">
              <a:rPr lang="zh-TW" altLang="en-US" smtClean="0"/>
              <a:pPr/>
              <a:t>28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30458CE-6E35-4AB9-864A-A68BEB60751B}" type="slidenum">
              <a:rPr lang="zh-TW" altLang="en-US" smtClean="0"/>
              <a:pPr/>
              <a:t>29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BFA5A3-E274-4694-B6A5-D346393E3593}" type="slidenum">
              <a:rPr lang="zh-TW" altLang="en-US" smtClean="0"/>
              <a:pPr/>
              <a:t>30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BFA5A3-E274-4694-B6A5-D346393E3593}" type="slidenum">
              <a:rPr lang="zh-TW" altLang="en-US" smtClean="0"/>
              <a:pPr/>
              <a:t>31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BFA5A3-E274-4694-B6A5-D346393E3593}" type="slidenum">
              <a:rPr lang="zh-TW" altLang="en-US" smtClean="0"/>
              <a:pPr/>
              <a:t>32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BFA5A3-E274-4694-B6A5-D346393E3593}" type="slidenum">
              <a:rPr lang="zh-TW" altLang="en-US" smtClean="0"/>
              <a:pPr/>
              <a:t>33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20D120-4707-426F-9B85-873E256A6635}" type="slidenum">
              <a:rPr lang="zh-TW" altLang="en-US" smtClean="0"/>
              <a:pPr/>
              <a:t>34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30458CE-6E35-4AB9-864A-A68BEB60751B}" type="slidenum">
              <a:rPr lang="zh-TW" altLang="en-US" smtClean="0"/>
              <a:pPr/>
              <a:t>35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30458CE-6E35-4AB9-864A-A68BEB60751B}" type="slidenum">
              <a:rPr lang="zh-TW" altLang="en-US" smtClean="0"/>
              <a:pPr/>
              <a:t>36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BFA5A3-E274-4694-B6A5-D346393E3593}" type="slidenum">
              <a:rPr lang="zh-TW" altLang="en-US" smtClean="0"/>
              <a:pPr/>
              <a:t>37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BFA5A3-E274-4694-B6A5-D346393E3593}" type="slidenum">
              <a:rPr lang="zh-TW" altLang="en-US" smtClean="0"/>
              <a:pPr/>
              <a:t>38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20D120-4707-426F-9B85-873E256A6635}" type="slidenum">
              <a:rPr lang="zh-TW" altLang="en-US" smtClean="0"/>
              <a:pPr/>
              <a:t>39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BFA5A3-E274-4694-B6A5-D346393E3593}" type="slidenum">
              <a:rPr lang="zh-TW" altLang="en-US" smtClean="0"/>
              <a:pPr/>
              <a:t>40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20D120-4707-426F-9B85-873E256A6635}" type="slidenum">
              <a:rPr lang="zh-TW" altLang="en-US" smtClean="0"/>
              <a:pPr/>
              <a:t>41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BFA5A3-E274-4694-B6A5-D346393E3593}" type="slidenum">
              <a:rPr lang="zh-TW" altLang="en-US" smtClean="0"/>
              <a:pPr/>
              <a:t>42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20D120-4707-426F-9B85-873E256A6635}" type="slidenum">
              <a:rPr lang="zh-TW" altLang="en-US" smtClean="0"/>
              <a:pPr/>
              <a:t>43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BFA5A3-E274-4694-B6A5-D346393E3593}" type="slidenum">
              <a:rPr lang="zh-TW" altLang="en-US" smtClean="0"/>
              <a:pPr/>
              <a:t>44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BFA5A3-E274-4694-B6A5-D346393E3593}" type="slidenum">
              <a:rPr lang="zh-TW" altLang="en-US" smtClean="0"/>
              <a:pPr/>
              <a:t>45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BFA5A3-E274-4694-B6A5-D346393E3593}" type="slidenum">
              <a:rPr lang="zh-TW" altLang="en-US" smtClean="0"/>
              <a:pPr/>
              <a:t>46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BFA5A3-E274-4694-B6A5-D346393E3593}" type="slidenum">
              <a:rPr lang="zh-TW" altLang="en-US" smtClean="0"/>
              <a:pPr/>
              <a:t>47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20D120-4707-426F-9B85-873E256A6635}" type="slidenum">
              <a:rPr lang="zh-TW" altLang="en-US" smtClean="0"/>
              <a:pPr/>
              <a:t>48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BFA5A3-E274-4694-B6A5-D346393E3593}" type="slidenum">
              <a:rPr lang="zh-TW" altLang="en-US" smtClean="0"/>
              <a:pPr/>
              <a:t>49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20D120-4707-426F-9B85-873E256A6635}" type="slidenum">
              <a:rPr lang="zh-TW" altLang="en-US" smtClean="0"/>
              <a:pPr/>
              <a:t>50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715D5A-A8EE-45C4-8683-C35B9C362645}" type="slidenum">
              <a:rPr lang="zh-TW" altLang="en-US" smtClean="0"/>
              <a:pPr/>
              <a:t>51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BFA5A3-E274-4694-B6A5-D346393E3593}" type="slidenum">
              <a:rPr lang="zh-TW" altLang="en-US" smtClean="0"/>
              <a:pPr/>
              <a:t>52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BFA5A3-E274-4694-B6A5-D346393E3593}" type="slidenum">
              <a:rPr lang="zh-TW" altLang="en-US" smtClean="0"/>
              <a:pPr/>
              <a:t>53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BFA5A3-E274-4694-B6A5-D346393E3593}" type="slidenum">
              <a:rPr lang="zh-TW" altLang="en-US" smtClean="0"/>
              <a:pPr/>
              <a:t>54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715D5A-A8EE-45C4-8683-C35B9C362645}" type="slidenum">
              <a:rPr lang="zh-TW" altLang="en-US" smtClean="0"/>
              <a:pPr/>
              <a:t>55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20D120-4707-426F-9B85-873E256A6635}" type="slidenum">
              <a:rPr lang="zh-TW" altLang="en-US" smtClean="0"/>
              <a:pPr/>
              <a:t>56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BFA5A3-E274-4694-B6A5-D346393E3593}" type="slidenum">
              <a:rPr lang="zh-TW" altLang="en-US" smtClean="0"/>
              <a:pPr/>
              <a:t>57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20D120-4707-426F-9B85-873E256A6635}" type="slidenum">
              <a:rPr lang="zh-TW" altLang="en-US" smtClean="0"/>
              <a:pPr/>
              <a:t>58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BFA5A3-E274-4694-B6A5-D346393E3593}" type="slidenum">
              <a:rPr lang="zh-TW" altLang="en-US" smtClean="0"/>
              <a:pPr/>
              <a:t>59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20D120-4707-426F-9B85-873E256A6635}" type="slidenum">
              <a:rPr lang="zh-TW" altLang="en-US" smtClean="0"/>
              <a:pPr/>
              <a:t>60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BFA5A3-E274-4694-B6A5-D346393E3593}" type="slidenum">
              <a:rPr lang="zh-TW" altLang="en-US" smtClean="0"/>
              <a:pPr/>
              <a:t>61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30458CE-6E35-4AB9-864A-A68BEB60751B}" type="slidenum">
              <a:rPr lang="zh-TW" altLang="en-US" smtClean="0"/>
              <a:pPr/>
              <a:t>62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30458CE-6E35-4AB9-864A-A68BEB60751B}" type="slidenum">
              <a:rPr lang="zh-TW" altLang="en-US" smtClean="0"/>
              <a:pPr/>
              <a:t>63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20D120-4707-426F-9B85-873E256A6635}" type="slidenum">
              <a:rPr lang="zh-TW" altLang="en-US" smtClean="0"/>
              <a:pPr/>
              <a:t>64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BFA5A3-E274-4694-B6A5-D346393E3593}" type="slidenum">
              <a:rPr lang="zh-TW" altLang="en-US" smtClean="0"/>
              <a:pPr/>
              <a:t>65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BFA5A3-E274-4694-B6A5-D346393E3593}" type="slidenum">
              <a:rPr lang="zh-TW" altLang="en-US" smtClean="0"/>
              <a:pPr/>
              <a:t>66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BFA5A3-E274-4694-B6A5-D346393E3593}" type="slidenum">
              <a:rPr lang="zh-TW" altLang="en-US" smtClean="0"/>
              <a:pPr/>
              <a:t>67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20D120-4707-426F-9B85-873E256A6635}" type="slidenum">
              <a:rPr lang="zh-TW" altLang="en-US" smtClean="0"/>
              <a:pPr/>
              <a:t>68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BFA5A3-E274-4694-B6A5-D346393E3593}" type="slidenum">
              <a:rPr lang="zh-TW" altLang="en-US" smtClean="0"/>
              <a:pPr/>
              <a:t>69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30458CE-6E35-4AB9-864A-A68BEB60751B}" type="slidenum">
              <a:rPr lang="zh-TW" altLang="en-US" smtClean="0"/>
              <a:pPr/>
              <a:t>70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BFA5A3-E274-4694-B6A5-D346393E3593}" type="slidenum">
              <a:rPr lang="zh-TW" altLang="en-US" smtClean="0"/>
              <a:pPr/>
              <a:t>71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BFA5A3-E274-4694-B6A5-D346393E3593}" type="slidenum">
              <a:rPr lang="zh-TW" altLang="en-US" smtClean="0"/>
              <a:pPr/>
              <a:t>72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20D120-4707-426F-9B85-873E256A6635}" type="slidenum">
              <a:rPr lang="zh-TW" altLang="en-US" smtClean="0"/>
              <a:pPr/>
              <a:t>73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BFA5A3-E274-4694-B6A5-D346393E3593}" type="slidenum">
              <a:rPr lang="zh-TW" altLang="en-US" smtClean="0"/>
              <a:pPr/>
              <a:t>74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BFA5A3-E274-4694-B6A5-D346393E3593}" type="slidenum">
              <a:rPr lang="zh-TW" altLang="en-US" smtClean="0"/>
              <a:pPr/>
              <a:t>75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20D120-4707-426F-9B85-873E256A6635}" type="slidenum">
              <a:rPr lang="zh-TW" altLang="en-US" smtClean="0"/>
              <a:pPr/>
              <a:t>76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BFA5A3-E274-4694-B6A5-D346393E3593}" type="slidenum">
              <a:rPr lang="zh-TW" altLang="en-US" smtClean="0"/>
              <a:pPr/>
              <a:t>77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BFA5A3-E274-4694-B6A5-D346393E3593}" type="slidenum">
              <a:rPr lang="zh-TW" altLang="en-US" smtClean="0"/>
              <a:pPr/>
              <a:t>78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BFA5A3-E274-4694-B6A5-D346393E3593}" type="slidenum">
              <a:rPr lang="zh-TW" altLang="en-US" smtClean="0"/>
              <a:pPr/>
              <a:t>79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20D120-4707-426F-9B85-873E256A6635}" type="slidenum">
              <a:rPr lang="zh-TW" altLang="en-US" smtClean="0"/>
              <a:pPr/>
              <a:t>80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D0AD91-CA01-4E83-A032-09C6988F7E20}" type="slidenum">
              <a:rPr lang="zh-TW" altLang="en-US" smtClean="0"/>
              <a:pPr/>
              <a:t>82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D0AD91-CA01-4E83-A032-09C6988F7E20}" type="slidenum">
              <a:rPr lang="zh-TW" altLang="en-US" smtClean="0"/>
              <a:pPr/>
              <a:t>83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D0AD91-CA01-4E83-A032-09C6988F7E20}" type="slidenum">
              <a:rPr lang="zh-TW" altLang="en-US" smtClean="0"/>
              <a:pPr/>
              <a:t>84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D0AD91-CA01-4E83-A032-09C6988F7E20}" type="slidenum">
              <a:rPr lang="zh-TW" altLang="en-US" smtClean="0"/>
              <a:pPr/>
              <a:t>86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D0AD91-CA01-4E83-A032-09C6988F7E20}" type="slidenum">
              <a:rPr lang="zh-TW" altLang="en-US" smtClean="0"/>
              <a:pPr/>
              <a:t>87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D0AD91-CA01-4E83-A032-09C6988F7E20}" type="slidenum">
              <a:rPr lang="zh-TW" altLang="en-US" smtClean="0"/>
              <a:pPr/>
              <a:t>88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D0AD91-CA01-4E83-A032-09C6988F7E20}" type="slidenum">
              <a:rPr lang="zh-TW" altLang="en-US" smtClean="0"/>
              <a:pPr/>
              <a:t>89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D0AD91-CA01-4E83-A032-09C6988F7E20}" type="slidenum">
              <a:rPr lang="zh-TW" altLang="en-US" smtClean="0"/>
              <a:pPr/>
              <a:t>91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D0AD91-CA01-4E83-A032-09C6988F7E20}" type="slidenum">
              <a:rPr lang="zh-TW" altLang="en-US" smtClean="0"/>
              <a:pPr/>
              <a:t>92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D0AD91-CA01-4E83-A032-09C6988F7E20}" type="slidenum">
              <a:rPr lang="zh-TW" altLang="en-US" smtClean="0"/>
              <a:pPr/>
              <a:t>93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D0AD91-CA01-4E83-A032-09C6988F7E20}" type="slidenum">
              <a:rPr lang="zh-TW" altLang="en-US" smtClean="0"/>
              <a:pPr/>
              <a:t>94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D0AD91-CA01-4E83-A032-09C6988F7E20}" type="slidenum">
              <a:rPr lang="zh-TW" altLang="en-US" smtClean="0"/>
              <a:pPr/>
              <a:t>95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D0AD91-CA01-4E83-A032-09C6988F7E20}" type="slidenum">
              <a:rPr lang="zh-TW" altLang="en-US" smtClean="0"/>
              <a:pPr/>
              <a:t>96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D0AD91-CA01-4E83-A032-09C6988F7E20}" type="slidenum">
              <a:rPr lang="zh-TW" altLang="en-US" smtClean="0"/>
              <a:pPr/>
              <a:t>97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D0AD91-CA01-4E83-A032-09C6988F7E20}" type="slidenum">
              <a:rPr lang="zh-TW" altLang="en-US" smtClean="0"/>
              <a:pPr/>
              <a:t>99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D0AD91-CA01-4E83-A032-09C6988F7E20}" type="slidenum">
              <a:rPr lang="zh-TW" altLang="en-US" smtClean="0"/>
              <a:pPr/>
              <a:t>100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D0AD91-CA01-4E83-A032-09C6988F7E20}" type="slidenum">
              <a:rPr lang="zh-TW" altLang="en-US" smtClean="0"/>
              <a:pPr/>
              <a:t>101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BFA5A3-E274-4694-B6A5-D346393E3593}" type="slidenum">
              <a:rPr lang="zh-TW" altLang="en-US" smtClean="0"/>
              <a:pPr/>
              <a:t>102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20D120-4707-426F-9B85-873E256A6635}" type="slidenum">
              <a:rPr lang="zh-TW" altLang="en-US" smtClean="0"/>
              <a:pPr/>
              <a:t>103</a:t>
            </a:fld>
            <a:endParaRPr lang="zh-TW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>
            <a:normAutofit/>
          </a:bodyPr>
          <a:lstStyle>
            <a:lvl1pPr algn="ctr">
              <a:defRPr lang="en-US" sz="3600" b="1" i="1" kern="1200" dirty="0">
                <a:solidFill>
                  <a:schemeClr val="accent1">
                    <a:lumMod val="50000"/>
                  </a:schemeClr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 anchor="b">
            <a:normAutofit/>
          </a:bodyPr>
          <a:lstStyle>
            <a:lvl1pPr marL="0" indent="0" algn="l">
              <a:buNone/>
              <a:defRPr lang="en-US" sz="1800" b="1" i="1" kern="1200" dirty="0">
                <a:solidFill>
                  <a:schemeClr val="accent2">
                    <a:lumMod val="50000"/>
                  </a:schemeClr>
                </a:solidFill>
                <a:latin typeface="Cambria" pitchFamily="18" charset="0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2011/6/27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  <p:pic>
        <p:nvPicPr>
          <p:cNvPr id="7" name="Picture 6" descr="logo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374027" y="6030097"/>
            <a:ext cx="2743200" cy="7620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/>
          <a:lstStyle>
            <a:lvl1pPr algn="r">
              <a:defRPr b="1">
                <a:latin typeface="+mj-lt"/>
              </a:defRPr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2011/6/27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2011/6/27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2011/6/27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2011/6/27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2011/6/27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2011/6/27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2011/6/27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 smtClean="0"/>
              <a:t>按一下圖示以新增圖片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2011/6/27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2011/6/27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2011/6/27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BEAD13-0566-4C6C-97E7-55F17F24B09F}" type="datetimeFigureOut">
              <a:rPr lang="zh-TW" altLang="en-US" smtClean="0"/>
              <a:pPr/>
              <a:t>2011/6/27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r" defTabSz="914400" rtl="0" eaLnBrk="1" latinLnBrk="0" hangingPunct="1">
        <a:spcBef>
          <a:spcPct val="0"/>
        </a:spcBef>
        <a:buNone/>
        <a:defRPr sz="4400" b="1" i="1" kern="1200">
          <a:solidFill>
            <a:schemeClr val="accent5">
              <a:lumMod val="50000"/>
            </a:schemeClr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Clr>
          <a:schemeClr val="accent1">
            <a:lumMod val="75000"/>
          </a:schemeClr>
        </a:buClr>
        <a:buFont typeface="Arial" pitchFamily="34" charset="0"/>
        <a:buChar char="•"/>
        <a:defRPr sz="2800" kern="1200">
          <a:solidFill>
            <a:schemeClr val="tx2">
              <a:lumMod val="75000"/>
            </a:schemeClr>
          </a:solidFill>
          <a:latin typeface="Cambria" pitchFamily="18" charset="0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Clr>
          <a:schemeClr val="accent3">
            <a:lumMod val="50000"/>
          </a:schemeClr>
        </a:buClr>
        <a:buFont typeface="Wingdings" pitchFamily="2" charset="2"/>
        <a:buChar char="§"/>
        <a:defRPr sz="2800" kern="1200">
          <a:solidFill>
            <a:schemeClr val="accent3">
              <a:lumMod val="50000"/>
            </a:schemeClr>
          </a:solidFill>
          <a:latin typeface="Cambria" pitchFamily="18" charset="0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Clr>
          <a:schemeClr val="accent4">
            <a:lumMod val="50000"/>
          </a:schemeClr>
        </a:buClr>
        <a:buFont typeface="Arial" pitchFamily="34" charset="0"/>
        <a:buChar char="•"/>
        <a:defRPr sz="2400" kern="1200">
          <a:solidFill>
            <a:schemeClr val="accent4">
              <a:lumMod val="5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3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3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3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3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3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3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3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95.xml"/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96.xml"/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7.xml"/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hyperlink" Target="http://hadoop.apache.org/" TargetMode="External"/><Relationship Id="rId2" Type="http://schemas.openxmlformats.org/officeDocument/2006/relationships/notesSlide" Target="../notesSlides/notesSlide98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://ntucsiecloud98.appspot.com/course_information" TargetMode="External"/><Relationship Id="rId4" Type="http://schemas.openxmlformats.org/officeDocument/2006/relationships/hyperlink" Target="http://trac.nchc.org.tw/cloud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8200" y="1371600"/>
            <a:ext cx="7772400" cy="1905000"/>
          </a:xfrm>
        </p:spPr>
        <p:txBody>
          <a:bodyPr>
            <a:normAutofit/>
          </a:bodyPr>
          <a:lstStyle/>
          <a:p>
            <a:r>
              <a:rPr lang="zh-TW" altLang="en-US" sz="4000" i="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雲端計算</a:t>
            </a:r>
            <a:r>
              <a:rPr lang="en-US" altLang="zh-TW" sz="4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/>
            </a:r>
            <a:br>
              <a:rPr lang="en-US" altLang="zh-TW" sz="4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4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Cloud Computing</a:t>
            </a:r>
            <a:endParaRPr lang="en-US" sz="4000" i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200400"/>
            <a:ext cx="6400800" cy="2362200"/>
          </a:xfrm>
        </p:spPr>
        <p:txBody>
          <a:bodyPr>
            <a:normAutofit/>
          </a:bodyPr>
          <a:lstStyle/>
          <a:p>
            <a:pPr algn="ctr"/>
            <a:r>
              <a:rPr lang="en-US" altLang="zh-TW" sz="3200" i="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標楷體" pitchFamily="65" charset="-120"/>
                <a:ea typeface="標楷體" pitchFamily="65" charset="-120"/>
              </a:rPr>
              <a:t>PaaS Techniques</a:t>
            </a:r>
          </a:p>
          <a:p>
            <a:pPr algn="ctr"/>
            <a:r>
              <a:rPr lang="en-US" altLang="zh-TW" sz="2400" i="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標楷體" pitchFamily="65" charset="-120"/>
                <a:ea typeface="標楷體" pitchFamily="65" charset="-120"/>
              </a:rPr>
              <a:t>File System</a:t>
            </a:r>
            <a:endParaRPr lang="en-US" altLang="zh-TW" sz="3200" i="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標楷體" pitchFamily="65" charset="-120"/>
              <a:ea typeface="標楷體" pitchFamily="65" charset="-120"/>
            </a:endParaRPr>
          </a:p>
          <a:p>
            <a:pPr algn="ctr"/>
            <a:endParaRPr lang="en-US" altLang="zh-TW" sz="1600" i="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標楷體" pitchFamily="65" charset="-120"/>
              <a:ea typeface="標楷體" pitchFamily="65" charset="-120"/>
            </a:endParaRPr>
          </a:p>
          <a:p>
            <a:pPr algn="ctr"/>
            <a:endParaRPr lang="en-US" altLang="zh-TW" sz="3200" i="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標楷體" pitchFamily="65" charset="-120"/>
              <a:ea typeface="標楷體" pitchFamily="65" charset="-12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Agenda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>
                <a:latin typeface="+mj-lt"/>
              </a:rPr>
              <a:t>Overview </a:t>
            </a:r>
          </a:p>
          <a:p>
            <a:pPr lvl="1"/>
            <a:r>
              <a:rPr lang="en-US" altLang="zh-TW" dirty="0" err="1" smtClean="0">
                <a:latin typeface="+mj-lt"/>
              </a:rPr>
              <a:t>Hadoop</a:t>
            </a:r>
            <a:r>
              <a:rPr lang="en-US" altLang="zh-TW" dirty="0" smtClean="0">
                <a:latin typeface="+mj-lt"/>
              </a:rPr>
              <a:t> &amp; Google</a:t>
            </a:r>
          </a:p>
          <a:p>
            <a:endParaRPr lang="en-US" altLang="zh-TW" dirty="0" smtClean="0">
              <a:latin typeface="+mj-lt"/>
            </a:endParaRPr>
          </a:p>
          <a:p>
            <a:r>
              <a:rPr lang="en-US" altLang="zh-TW" dirty="0" smtClean="0">
                <a:latin typeface="+mj-lt"/>
              </a:rPr>
              <a:t>PaaS Techniques</a:t>
            </a:r>
          </a:p>
          <a:p>
            <a:pPr lvl="1"/>
            <a:r>
              <a:rPr lang="en-US" altLang="zh-TW" dirty="0" smtClean="0">
                <a:latin typeface="+mj-lt"/>
              </a:rPr>
              <a:t>File System</a:t>
            </a:r>
          </a:p>
          <a:p>
            <a:pPr lvl="2"/>
            <a:r>
              <a:rPr lang="en-US" altLang="zh-TW" dirty="0" smtClean="0">
                <a:latin typeface="+mj-lt"/>
              </a:rPr>
              <a:t>GFS, HDFS</a:t>
            </a:r>
          </a:p>
          <a:p>
            <a:pPr lvl="1"/>
            <a:r>
              <a:rPr lang="en-US" altLang="zh-TW" dirty="0" smtClean="0">
                <a:latin typeface="+mj-lt"/>
              </a:rPr>
              <a:t>Programming Model</a:t>
            </a:r>
          </a:p>
          <a:p>
            <a:pPr lvl="2"/>
            <a:r>
              <a:rPr lang="en-US" altLang="zh-TW" dirty="0" err="1" smtClean="0">
                <a:latin typeface="+mj-lt"/>
              </a:rPr>
              <a:t>MapReduce</a:t>
            </a:r>
            <a:r>
              <a:rPr lang="en-US" altLang="zh-TW" dirty="0" smtClean="0">
                <a:latin typeface="+mj-lt"/>
              </a:rPr>
              <a:t>, </a:t>
            </a:r>
            <a:r>
              <a:rPr lang="en-US" altLang="zh-TW" dirty="0" err="1" smtClean="0">
                <a:latin typeface="+mj-lt"/>
              </a:rPr>
              <a:t>Pregel</a:t>
            </a:r>
            <a:endParaRPr lang="en-US" altLang="zh-TW" dirty="0" smtClean="0">
              <a:latin typeface="+mj-lt"/>
            </a:endParaRPr>
          </a:p>
          <a:p>
            <a:pPr lvl="1"/>
            <a:r>
              <a:rPr lang="en-US" altLang="zh-TW" dirty="0" smtClean="0">
                <a:latin typeface="+mj-lt"/>
              </a:rPr>
              <a:t>Storage System for Structured Data</a:t>
            </a:r>
          </a:p>
          <a:p>
            <a:pPr lvl="2"/>
            <a:r>
              <a:rPr lang="en-US" altLang="zh-TW" dirty="0" err="1" smtClean="0">
                <a:latin typeface="+mj-lt"/>
              </a:rPr>
              <a:t>Bigtable</a:t>
            </a:r>
            <a:r>
              <a:rPr lang="en-US" altLang="zh-TW" dirty="0" smtClean="0">
                <a:latin typeface="+mj-lt"/>
              </a:rPr>
              <a:t>, </a:t>
            </a:r>
            <a:r>
              <a:rPr lang="en-US" altLang="zh-TW" dirty="0" err="1" smtClean="0">
                <a:latin typeface="+mj-lt"/>
              </a:rPr>
              <a:t>Hbase</a:t>
            </a:r>
            <a:endParaRPr lang="zh-TW" altLang="en-US" dirty="0">
              <a:latin typeface="+mj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 smtClean="0"/>
              <a:t>Hadoop</a:t>
            </a:r>
            <a:endParaRPr lang="zh-TW" altLang="en-US" dirty="0"/>
          </a:p>
        </p:txBody>
      </p:sp>
      <p:sp>
        <p:nvSpPr>
          <p:cNvPr id="4" name="內容版面配置區 2"/>
          <p:cNvSpPr>
            <a:spLocks noGrp="1"/>
          </p:cNvSpPr>
          <p:nvPr>
            <p:ph idx="1"/>
          </p:nvPr>
        </p:nvSpPr>
        <p:spPr>
          <a:xfrm>
            <a:off x="457200" y="1600200"/>
            <a:ext cx="4474840" cy="4525963"/>
          </a:xfrm>
        </p:spPr>
        <p:txBody>
          <a:bodyPr/>
          <a:lstStyle/>
          <a:p>
            <a:r>
              <a:rPr lang="en-US" altLang="zh-TW" dirty="0" err="1" smtClean="0">
                <a:latin typeface="+mj-lt"/>
              </a:rPr>
              <a:t>Hadoop</a:t>
            </a:r>
            <a:r>
              <a:rPr lang="en-US" altLang="zh-TW" dirty="0" smtClean="0">
                <a:latin typeface="+mj-lt"/>
              </a:rPr>
              <a:t> is</a:t>
            </a:r>
          </a:p>
          <a:p>
            <a:pPr lvl="1"/>
            <a:r>
              <a:rPr lang="en-US" altLang="zh-TW" dirty="0" smtClean="0">
                <a:latin typeface="+mj-lt"/>
              </a:rPr>
              <a:t>A distributed computing platform</a:t>
            </a:r>
          </a:p>
          <a:p>
            <a:pPr lvl="1"/>
            <a:r>
              <a:rPr lang="en-US" altLang="zh-TW" dirty="0" smtClean="0">
                <a:latin typeface="+mj-lt"/>
              </a:rPr>
              <a:t>A software framework that lets one easily write and run applications that process vast amounts of data</a:t>
            </a:r>
          </a:p>
          <a:p>
            <a:pPr lvl="1"/>
            <a:r>
              <a:rPr lang="en-US" altLang="zh-TW" dirty="0" smtClean="0">
                <a:latin typeface="+mj-lt"/>
              </a:rPr>
              <a:t>Inspired from published papers by Google</a:t>
            </a:r>
            <a:endParaRPr lang="zh-TW" altLang="en-US" dirty="0">
              <a:latin typeface="+mj-lt"/>
            </a:endParaRP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 cstate="print"/>
          <a:stretch>
            <a:fillRect/>
          </a:stretch>
        </p:blipFill>
        <p:spPr bwMode="auto">
          <a:xfrm>
            <a:off x="323528" y="5589240"/>
            <a:ext cx="4563889" cy="108012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" name="群組 12"/>
          <p:cNvGrpSpPr/>
          <p:nvPr/>
        </p:nvGrpSpPr>
        <p:grpSpPr>
          <a:xfrm>
            <a:off x="5148064" y="1700808"/>
            <a:ext cx="3816424" cy="4680520"/>
            <a:chOff x="4998915" y="2636912"/>
            <a:chExt cx="3816424" cy="4680520"/>
          </a:xfrm>
        </p:grpSpPr>
        <p:sp>
          <p:nvSpPr>
            <p:cNvPr id="7" name="圓角矩形 6"/>
            <p:cNvSpPr/>
            <p:nvPr/>
          </p:nvSpPr>
          <p:spPr>
            <a:xfrm>
              <a:off x="4998915" y="5013176"/>
              <a:ext cx="3811485" cy="936199"/>
            </a:xfrm>
            <a:prstGeom prst="roundRect">
              <a:avLst/>
            </a:prstGeom>
            <a:solidFill>
              <a:srgbClr val="3276C8"/>
            </a:solidFill>
            <a:ln>
              <a:solidFill>
                <a:srgbClr val="3276C8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  <a:softEdge rad="3175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zh-TW" dirty="0" err="1" smtClean="0"/>
                <a:t>Hadoop</a:t>
              </a:r>
              <a:r>
                <a:rPr lang="en-US" altLang="zh-TW" dirty="0" smtClean="0"/>
                <a:t> Distributed</a:t>
              </a:r>
              <a:br>
                <a:rPr lang="en-US" altLang="zh-TW" dirty="0" smtClean="0"/>
              </a:br>
              <a:r>
                <a:rPr lang="en-US" altLang="zh-TW" dirty="0" smtClean="0"/>
                <a:t>File System (HDFS)</a:t>
              </a:r>
              <a:endParaRPr lang="zh-TW" altLang="en-US" dirty="0"/>
            </a:p>
          </p:txBody>
        </p:sp>
        <p:sp>
          <p:nvSpPr>
            <p:cNvPr id="8" name="圓角矩形 7"/>
            <p:cNvSpPr/>
            <p:nvPr/>
          </p:nvSpPr>
          <p:spPr>
            <a:xfrm>
              <a:off x="4998915" y="3933056"/>
              <a:ext cx="2304256" cy="735585"/>
            </a:xfrm>
            <a:prstGeom prst="round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tx2">
                  <a:lumMod val="60000"/>
                  <a:lumOff val="40000"/>
                </a:schemeClr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  <a:softEdge rad="31750"/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 err="1" smtClean="0"/>
                <a:t>MapReduce</a:t>
              </a:r>
              <a:endParaRPr lang="zh-TW" altLang="en-US" dirty="0"/>
            </a:p>
          </p:txBody>
        </p:sp>
        <p:sp>
          <p:nvSpPr>
            <p:cNvPr id="9" name="圓角矩形 8"/>
            <p:cNvSpPr/>
            <p:nvPr/>
          </p:nvSpPr>
          <p:spPr>
            <a:xfrm>
              <a:off x="7009913" y="4997671"/>
              <a:ext cx="1800488" cy="735585"/>
            </a:xfrm>
            <a:prstGeom prst="round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tx2">
                  <a:lumMod val="60000"/>
                  <a:lumOff val="40000"/>
                </a:schemeClr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  <a:softEdge rad="3175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 err="1" smtClean="0"/>
                <a:t>Hbase</a:t>
              </a:r>
              <a:endParaRPr lang="zh-TW" altLang="en-US" dirty="0"/>
            </a:p>
          </p:txBody>
        </p:sp>
        <p:sp>
          <p:nvSpPr>
            <p:cNvPr id="10" name="圓角矩形 9"/>
            <p:cNvSpPr/>
            <p:nvPr/>
          </p:nvSpPr>
          <p:spPr>
            <a:xfrm>
              <a:off x="4998915" y="6381233"/>
              <a:ext cx="3811485" cy="936199"/>
            </a:xfrm>
            <a:prstGeom prst="roundRect">
              <a:avLst/>
            </a:prstGeom>
            <a:solidFill>
              <a:srgbClr val="396499"/>
            </a:solidFill>
            <a:ln>
              <a:solidFill>
                <a:srgbClr val="396499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  <a:softEdge rad="3175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 smtClean="0"/>
                <a:t>A Cluster of Machines</a:t>
              </a:r>
              <a:endParaRPr lang="zh-TW" altLang="en-US" dirty="0"/>
            </a:p>
          </p:txBody>
        </p:sp>
        <p:sp>
          <p:nvSpPr>
            <p:cNvPr id="11" name="圓角矩形 10"/>
            <p:cNvSpPr/>
            <p:nvPr/>
          </p:nvSpPr>
          <p:spPr>
            <a:xfrm>
              <a:off x="5003854" y="2636912"/>
              <a:ext cx="3811485" cy="936199"/>
            </a:xfrm>
            <a:prstGeom prst="roundRect">
              <a:avLst/>
            </a:prstGeom>
            <a:solidFill>
              <a:schemeClr val="tx2">
                <a:lumMod val="40000"/>
                <a:lumOff val="60000"/>
              </a:schemeClr>
            </a:solidFill>
            <a:ln>
              <a:solidFill>
                <a:schemeClr val="tx2">
                  <a:lumMod val="40000"/>
                  <a:lumOff val="60000"/>
                </a:schemeClr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  <a:softEdge rad="31750"/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 smtClean="0"/>
                <a:t>Cloud Applications</a:t>
              </a:r>
              <a:endParaRPr lang="zh-TW" altLang="en-US" dirty="0"/>
            </a:p>
          </p:txBody>
        </p:sp>
      </p:grpSp>
      <p:cxnSp>
        <p:nvCxnSpPr>
          <p:cNvPr id="13" name="直線單箭頭接點 12"/>
          <p:cNvCxnSpPr/>
          <p:nvPr/>
        </p:nvCxnSpPr>
        <p:spPr>
          <a:xfrm rot="16200000" flipV="1">
            <a:off x="5842995" y="2806078"/>
            <a:ext cx="347469" cy="9139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直線單箭頭接點 13"/>
          <p:cNvCxnSpPr/>
          <p:nvPr/>
        </p:nvCxnSpPr>
        <p:spPr>
          <a:xfrm rot="16200000" flipV="1">
            <a:off x="5847566" y="3881627"/>
            <a:ext cx="338331" cy="9143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直線單箭頭接點 16"/>
          <p:cNvCxnSpPr>
            <a:stCxn id="10" idx="0"/>
            <a:endCxn id="7" idx="2"/>
          </p:cNvCxnSpPr>
          <p:nvPr/>
        </p:nvCxnSpPr>
        <p:spPr>
          <a:xfrm rot="5400000" flipH="1" flipV="1">
            <a:off x="6837878" y="5229200"/>
            <a:ext cx="431858" cy="1588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直線單箭頭接點 25"/>
          <p:cNvCxnSpPr/>
          <p:nvPr/>
        </p:nvCxnSpPr>
        <p:spPr>
          <a:xfrm rot="16200000" flipV="1">
            <a:off x="7143710" y="3881626"/>
            <a:ext cx="338331" cy="9143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直線單箭頭接點 26"/>
          <p:cNvCxnSpPr/>
          <p:nvPr/>
        </p:nvCxnSpPr>
        <p:spPr>
          <a:xfrm rot="16200000" flipV="1">
            <a:off x="7323730" y="3341566"/>
            <a:ext cx="1418452" cy="9144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Google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Google published the designs of web-search engine</a:t>
            </a:r>
          </a:p>
          <a:p>
            <a:pPr lvl="1"/>
            <a:r>
              <a:rPr lang="en-US" altLang="zh-TW" dirty="0" smtClean="0"/>
              <a:t>SOSP 2003 </a:t>
            </a:r>
          </a:p>
          <a:p>
            <a:pPr lvl="2"/>
            <a:r>
              <a:rPr lang="en-US" altLang="zh-TW" dirty="0" smtClean="0"/>
              <a:t>The </a:t>
            </a:r>
            <a:r>
              <a:rPr lang="en-US" altLang="zh-TW" b="1" dirty="0" smtClean="0">
                <a:solidFill>
                  <a:srgbClr val="FF0000"/>
                </a:solidFill>
              </a:rPr>
              <a:t>G</a:t>
            </a:r>
            <a:r>
              <a:rPr lang="en-US" altLang="zh-TW" dirty="0" smtClean="0"/>
              <a:t>oogle </a:t>
            </a:r>
            <a:r>
              <a:rPr lang="en-US" altLang="zh-TW" b="1" dirty="0" smtClean="0">
                <a:solidFill>
                  <a:srgbClr val="FF0000"/>
                </a:solidFill>
              </a:rPr>
              <a:t>F</a:t>
            </a:r>
            <a:r>
              <a:rPr lang="en-US" altLang="zh-TW" dirty="0" smtClean="0"/>
              <a:t>ile </a:t>
            </a:r>
            <a:r>
              <a:rPr lang="en-US" altLang="zh-TW" b="1" dirty="0" smtClean="0">
                <a:solidFill>
                  <a:srgbClr val="FF0000"/>
                </a:solidFill>
              </a:rPr>
              <a:t>S</a:t>
            </a:r>
            <a:r>
              <a:rPr lang="en-US" altLang="zh-TW" dirty="0" smtClean="0"/>
              <a:t>ystem</a:t>
            </a:r>
          </a:p>
          <a:p>
            <a:pPr lvl="1"/>
            <a:r>
              <a:rPr lang="en-US" altLang="zh-TW" dirty="0" smtClean="0"/>
              <a:t>OSDI 2004 </a:t>
            </a:r>
          </a:p>
          <a:p>
            <a:pPr lvl="2"/>
            <a:r>
              <a:rPr lang="en-US" altLang="zh-TW" b="1" dirty="0" err="1" smtClean="0">
                <a:solidFill>
                  <a:srgbClr val="FF0000"/>
                </a:solidFill>
              </a:rPr>
              <a:t>MapReduce</a:t>
            </a:r>
            <a:r>
              <a:rPr lang="en-US" altLang="zh-TW" dirty="0" smtClean="0"/>
              <a:t> : Simplified Data Processing on Large Cluster</a:t>
            </a:r>
          </a:p>
          <a:p>
            <a:pPr lvl="1"/>
            <a:r>
              <a:rPr lang="en-US" altLang="zh-TW" dirty="0" smtClean="0"/>
              <a:t>OSDI 2006</a:t>
            </a:r>
          </a:p>
          <a:p>
            <a:pPr lvl="2"/>
            <a:r>
              <a:rPr lang="en-US" altLang="zh-TW" b="1" dirty="0" err="1" smtClean="0">
                <a:solidFill>
                  <a:srgbClr val="FF0000"/>
                </a:solidFill>
              </a:rPr>
              <a:t>Bigtable</a:t>
            </a:r>
            <a:r>
              <a:rPr lang="en-US" altLang="zh-TW" dirty="0" smtClean="0"/>
              <a:t>: A Distributed Storage System for Structured Data</a:t>
            </a:r>
          </a:p>
          <a:p>
            <a:endParaRPr lang="zh-TW" altLang="en-US" dirty="0"/>
          </a:p>
        </p:txBody>
      </p:sp>
      <p:pic>
        <p:nvPicPr>
          <p:cNvPr id="2050" name="Picture 2" descr="Google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64088" y="5373216"/>
            <a:ext cx="3467100" cy="120015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Google vs. </a:t>
            </a:r>
            <a:r>
              <a:rPr lang="en-US" altLang="zh-TW" dirty="0" err="1" smtClean="0"/>
              <a:t>Hadoop</a:t>
            </a:r>
            <a:endParaRPr lang="zh-TW" altLang="en-US" dirty="0"/>
          </a:p>
        </p:txBody>
      </p:sp>
      <p:graphicFrame>
        <p:nvGraphicFramePr>
          <p:cNvPr id="4" name="Group 411"/>
          <p:cNvGraphicFramePr>
            <a:graphicFrameLocks noGrp="1"/>
          </p:cNvGraphicFramePr>
          <p:nvPr>
            <p:ph idx="1"/>
          </p:nvPr>
        </p:nvGraphicFramePr>
        <p:xfrm>
          <a:off x="539552" y="1556793"/>
          <a:ext cx="8065592" cy="4924087"/>
        </p:xfrm>
        <a:graphic>
          <a:graphicData uri="http://schemas.openxmlformats.org/drawingml/2006/table">
            <a:tbl>
              <a:tblPr/>
              <a:tblGrid>
                <a:gridCol w="3091835"/>
                <a:gridCol w="2657894"/>
                <a:gridCol w="2315863"/>
              </a:tblGrid>
              <a:tr h="509954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文鼎PL細上海宋Uni"/>
                          <a:cs typeface="Times New Roman" pitchFamily="18" charset="0"/>
                        </a:rPr>
                        <a:t>Develop Group</a:t>
                      </a:r>
                      <a:endParaRPr kumimoji="1" lang="en-US" altLang="zh-TW" sz="4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文鼎PL細上海宋Uni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folHlink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folHlink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folHlink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folHlink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800000"/>
                          </a:solidFill>
                          <a:effectLst/>
                          <a:latin typeface="+mj-lt"/>
                          <a:ea typeface="文鼎PL細上海宋Uni"/>
                          <a:cs typeface="Times New Roman" pitchFamily="18" charset="0"/>
                        </a:rPr>
                        <a:t>Google </a:t>
                      </a:r>
                      <a:endParaRPr kumimoji="1" lang="en-US" altLang="zh-TW" sz="4400" b="0" i="0" u="none" strike="noStrike" cap="none" normalizeH="0" baseline="0" smtClean="0">
                        <a:ln>
                          <a:noFill/>
                        </a:ln>
                        <a:solidFill>
                          <a:srgbClr val="800000"/>
                        </a:solidFill>
                        <a:effectLst/>
                        <a:latin typeface="+mj-lt"/>
                        <a:ea typeface="文鼎PL細上海宋Uni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folHlink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folHlink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folHlink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folHlink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+mj-lt"/>
                          <a:ea typeface="文鼎PL細上海宋Uni"/>
                          <a:cs typeface="Times New Roman" pitchFamily="18" charset="0"/>
                        </a:rPr>
                        <a:t>Apache</a:t>
                      </a:r>
                      <a:endParaRPr kumimoji="1" lang="en-US" altLang="zh-TW" sz="44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+mj-lt"/>
                        <a:ea typeface="文鼎PL細上海宋Uni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folHlink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folHlink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folHlink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folHlink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509954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文鼎PL細上海宋Uni"/>
                          <a:cs typeface="Times New Roman" pitchFamily="18" charset="0"/>
                        </a:rPr>
                        <a:t>Sponsor</a:t>
                      </a:r>
                      <a:endParaRPr kumimoji="1" lang="en-US" altLang="zh-TW" sz="4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文鼎PL細上海宋Uni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folHlink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folHlink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folHlink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folHlink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800000"/>
                          </a:solidFill>
                          <a:effectLst/>
                          <a:latin typeface="+mj-lt"/>
                          <a:ea typeface="文鼎PL細上海宋Uni"/>
                          <a:cs typeface="Times New Roman" pitchFamily="18" charset="0"/>
                        </a:rPr>
                        <a:t>Google</a:t>
                      </a:r>
                      <a:endParaRPr kumimoji="1" lang="en-US" altLang="zh-TW" sz="4400" b="0" i="0" u="none" strike="noStrike" cap="none" normalizeH="0" baseline="0" smtClean="0">
                        <a:ln>
                          <a:noFill/>
                        </a:ln>
                        <a:solidFill>
                          <a:srgbClr val="800000"/>
                        </a:solidFill>
                        <a:effectLst/>
                        <a:latin typeface="+mj-lt"/>
                        <a:ea typeface="文鼎PL細上海宋Uni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folHlink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folHlink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folHlink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folHlink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+mj-lt"/>
                          <a:ea typeface="文鼎PL細上海宋Uni"/>
                          <a:cs typeface="Times New Roman" pitchFamily="18" charset="0"/>
                        </a:rPr>
                        <a:t>Yahoo, Amazon</a:t>
                      </a:r>
                      <a:endParaRPr kumimoji="1" lang="en-US" altLang="zh-TW" sz="4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+mj-lt"/>
                        <a:ea typeface="文鼎PL細上海宋Uni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folHlink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folHlink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folHlink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folHlink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518822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文鼎PL細上海宋Uni"/>
                          <a:cs typeface="Times New Roman" pitchFamily="18" charset="0"/>
                        </a:rPr>
                        <a:t>Resource</a:t>
                      </a:r>
                      <a:endParaRPr kumimoji="1" lang="en-US" altLang="zh-TW" sz="4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文鼎PL細上海宋Uni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folHlink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folHlink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folHlink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folHlink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800000"/>
                          </a:solidFill>
                          <a:effectLst/>
                          <a:latin typeface="+mj-lt"/>
                          <a:ea typeface="文鼎PL細上海宋Uni"/>
                          <a:cs typeface="Times New Roman" pitchFamily="18" charset="0"/>
                        </a:rPr>
                        <a:t>open document</a:t>
                      </a:r>
                      <a:endParaRPr kumimoji="1" lang="en-US" altLang="zh-TW" sz="44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800000"/>
                        </a:solidFill>
                        <a:effectLst/>
                        <a:latin typeface="+mj-lt"/>
                        <a:ea typeface="文鼎PL細上海宋Uni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folHlink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folHlink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folHlink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folHlink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+mj-lt"/>
                          <a:ea typeface="文鼎PL細上海宋Uni"/>
                          <a:cs typeface="Times New Roman" pitchFamily="18" charset="0"/>
                        </a:rPr>
                        <a:t>open source</a:t>
                      </a:r>
                      <a:endParaRPr kumimoji="1" lang="en-US" altLang="zh-TW" sz="44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+mj-lt"/>
                        <a:ea typeface="文鼎PL細上海宋Uni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folHlink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folHlink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folHlink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folHlink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518822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文鼎PL細上海宋Uni"/>
                          <a:cs typeface="Times New Roman" pitchFamily="18" charset="0"/>
                        </a:rPr>
                        <a:t>File System</a:t>
                      </a:r>
                      <a:endParaRPr kumimoji="1" lang="en-US" altLang="zh-TW" sz="4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文鼎PL細上海宋Uni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folHlink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folHlink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folHlink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folHlink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800000"/>
                          </a:solidFill>
                          <a:effectLst/>
                          <a:latin typeface="+mj-lt"/>
                          <a:ea typeface="文鼎PL細上海宋Uni"/>
                          <a:cs typeface="Times New Roman" pitchFamily="18" charset="0"/>
                        </a:rPr>
                        <a:t>GFS</a:t>
                      </a:r>
                      <a:endParaRPr kumimoji="1" lang="en-US" altLang="zh-TW" sz="44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800000"/>
                        </a:solidFill>
                        <a:effectLst/>
                        <a:latin typeface="+mj-lt"/>
                        <a:ea typeface="文鼎PL細上海宋Uni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folHlink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folHlink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folHlink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folHlink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+mj-lt"/>
                          <a:ea typeface="文鼎PL細上海宋Uni"/>
                          <a:cs typeface="Times New Roman" pitchFamily="18" charset="0"/>
                        </a:rPr>
                        <a:t>HDFS</a:t>
                      </a:r>
                      <a:endParaRPr kumimoji="1" lang="en-US" altLang="zh-TW" sz="44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+mj-lt"/>
                        <a:ea typeface="文鼎PL細上海宋Uni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folHlink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folHlink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folHlink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folHlink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518822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文鼎PL細上海宋Uni"/>
                          <a:cs typeface="Times New Roman" pitchFamily="18" charset="0"/>
                        </a:rPr>
                        <a:t>Programming Model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folHlink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folHlink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folHlink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folHlink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800000"/>
                          </a:solidFill>
                          <a:effectLst/>
                          <a:latin typeface="+mj-lt"/>
                          <a:ea typeface="文鼎PL細上海宋Uni"/>
                          <a:cs typeface="Times New Roman" pitchFamily="18" charset="0"/>
                        </a:rPr>
                        <a:t>MapReduce</a:t>
                      </a:r>
                      <a:endParaRPr kumimoji="1" lang="en-US" altLang="zh-TW" sz="44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800000"/>
                        </a:solidFill>
                        <a:effectLst/>
                        <a:latin typeface="+mj-lt"/>
                        <a:ea typeface="文鼎PL細上海宋Uni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folHlink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folHlink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folHlink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folHlink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+mj-lt"/>
                          <a:ea typeface="文鼎PL細上海宋Uni"/>
                          <a:cs typeface="Times New Roman" pitchFamily="18" charset="0"/>
                        </a:rPr>
                        <a:t>Hadoop</a:t>
                      </a:r>
                      <a:r>
                        <a:rPr kumimoji="1" lang="en-US" altLang="zh-TW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+mj-lt"/>
                          <a:ea typeface="文鼎PL細上海宋Uni"/>
                          <a:cs typeface="Times New Roman" pitchFamily="18" charset="0"/>
                        </a:rPr>
                        <a:t> </a:t>
                      </a:r>
                      <a:r>
                        <a:rPr kumimoji="1" lang="en-US" altLang="zh-TW" sz="24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+mj-lt"/>
                          <a:ea typeface="文鼎PL細上海宋Uni"/>
                          <a:cs typeface="Times New Roman" pitchFamily="18" charset="0"/>
                        </a:rPr>
                        <a:t>MapReduce</a:t>
                      </a:r>
                      <a:endParaRPr kumimoji="1" lang="en-US" altLang="zh-TW" sz="44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+mj-lt"/>
                        <a:ea typeface="文鼎PL細上海宋Uni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folHlink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folHlink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folHlink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folHlink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907569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文鼎PL細上海宋Uni"/>
                          <a:cs typeface="Times New Roman" pitchFamily="18" charset="0"/>
                        </a:rPr>
                        <a:t>Storage System </a:t>
                      </a:r>
                    </a:p>
                    <a:p>
                      <a:pPr marL="342900" marR="0" lvl="0" indent="-34290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文鼎PL細上海宋Uni"/>
                          <a:cs typeface="Times New Roman" pitchFamily="18" charset="0"/>
                        </a:rPr>
                        <a:t>(for structure data)</a:t>
                      </a:r>
                      <a:endParaRPr kumimoji="1" lang="en-US" altLang="zh-TW" sz="4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文鼎PL細上海宋Uni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folHlink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folHlink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folHlink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folHlink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800000"/>
                          </a:solidFill>
                          <a:effectLst/>
                          <a:latin typeface="+mj-lt"/>
                          <a:ea typeface="文鼎PL細上海宋Uni"/>
                          <a:cs typeface="Times New Roman" pitchFamily="18" charset="0"/>
                        </a:rPr>
                        <a:t>Bigtable</a:t>
                      </a:r>
                      <a:endParaRPr kumimoji="1" lang="en-US" altLang="zh-TW" sz="44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800000"/>
                        </a:solidFill>
                        <a:effectLst/>
                        <a:latin typeface="+mj-lt"/>
                        <a:ea typeface="文鼎PL細上海宋Uni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folHlink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folHlink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folHlink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folHlink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+mj-lt"/>
                          <a:ea typeface="文鼎PL細上海宋Uni"/>
                          <a:cs typeface="Times New Roman" pitchFamily="18" charset="0"/>
                        </a:rPr>
                        <a:t>Hbase</a:t>
                      </a:r>
                      <a:endParaRPr kumimoji="1" lang="en-US" altLang="zh-TW" sz="44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+mj-lt"/>
                        <a:ea typeface="文鼎PL細上海宋Uni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folHlink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folHlink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folHlink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folHlink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569078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文鼎PL細上海宋Uni"/>
                          <a:cs typeface="Times New Roman" pitchFamily="18" charset="0"/>
                        </a:rPr>
                        <a:t>Search Engine</a:t>
                      </a:r>
                      <a:endParaRPr kumimoji="1" lang="en-US" altLang="zh-TW" sz="4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文鼎PL細上海宋Uni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folHlink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folHlink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folHlink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folHlink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800000"/>
                          </a:solidFill>
                          <a:effectLst/>
                          <a:latin typeface="+mj-lt"/>
                          <a:ea typeface="文鼎PL細上海宋Uni"/>
                          <a:cs typeface="Times New Roman" pitchFamily="18" charset="0"/>
                        </a:rPr>
                        <a:t>Google </a:t>
                      </a:r>
                      <a:endParaRPr kumimoji="1" lang="en-US" altLang="zh-TW" sz="4400" b="0" i="0" u="none" strike="noStrike" cap="none" normalizeH="0" baseline="0" smtClean="0">
                        <a:ln>
                          <a:noFill/>
                        </a:ln>
                        <a:solidFill>
                          <a:srgbClr val="800000"/>
                        </a:solidFill>
                        <a:effectLst/>
                        <a:latin typeface="+mj-lt"/>
                        <a:ea typeface="文鼎PL細上海宋Uni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folHlink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folHlink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folHlink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folHlink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+mj-lt"/>
                          <a:ea typeface="文鼎PL細上海宋Uni"/>
                          <a:cs typeface="Times New Roman" pitchFamily="18" charset="0"/>
                        </a:rPr>
                        <a:t>Nutch</a:t>
                      </a:r>
                      <a:endParaRPr kumimoji="1" lang="en-US" altLang="zh-TW" sz="44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+mj-lt"/>
                        <a:ea typeface="文鼎PL細上海宋Uni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folHlink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folHlink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folHlink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folHlink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479679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文鼎PL細上海宋Uni"/>
                          <a:cs typeface="Times New Roman" pitchFamily="18" charset="0"/>
                        </a:rPr>
                        <a:t>OS</a:t>
                      </a:r>
                      <a:endParaRPr kumimoji="1" lang="en-US" altLang="zh-TW" sz="4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文鼎PL細上海宋Uni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folHlink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folHlink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folHlink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folHlink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800000"/>
                          </a:solidFill>
                          <a:effectLst/>
                          <a:latin typeface="+mj-lt"/>
                          <a:ea typeface="文鼎PL細上海宋Uni"/>
                          <a:cs typeface="Times New Roman" pitchFamily="18" charset="0"/>
                        </a:rPr>
                        <a:t>Linux</a:t>
                      </a:r>
                      <a:endParaRPr kumimoji="1" lang="en-US" altLang="zh-TW" sz="4400" b="0" i="0" u="none" strike="noStrike" cap="none" normalizeH="0" baseline="0" smtClean="0">
                        <a:ln>
                          <a:noFill/>
                        </a:ln>
                        <a:solidFill>
                          <a:srgbClr val="800000"/>
                        </a:solidFill>
                        <a:effectLst/>
                        <a:latin typeface="+mj-lt"/>
                        <a:ea typeface="文鼎PL細上海宋Uni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folHlink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folHlink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folHlink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folHlink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+mj-lt"/>
                          <a:ea typeface="文鼎PL細上海宋Uni"/>
                          <a:cs typeface="Times New Roman" pitchFamily="18" charset="0"/>
                        </a:rPr>
                        <a:t>Linux / GPL</a:t>
                      </a:r>
                      <a:endParaRPr kumimoji="1" lang="en-US" altLang="zh-TW" sz="44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+mj-lt"/>
                        <a:ea typeface="文鼎PL細上海宋Uni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folHlink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folHlink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folHlink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folHlink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Agenda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Clr>
                <a:schemeClr val="bg1">
                  <a:lumMod val="50000"/>
                </a:schemeClr>
              </a:buClr>
            </a:pPr>
            <a:r>
              <a:rPr lang="en-US" altLang="zh-TW" dirty="0" smtClean="0">
                <a:solidFill>
                  <a:schemeClr val="bg1">
                    <a:lumMod val="50000"/>
                  </a:schemeClr>
                </a:solidFill>
                <a:latin typeface="+mj-lt"/>
              </a:rPr>
              <a:t>Overview </a:t>
            </a:r>
          </a:p>
          <a:p>
            <a:pPr lvl="1">
              <a:buClr>
                <a:schemeClr val="bg1">
                  <a:lumMod val="50000"/>
                </a:schemeClr>
              </a:buClr>
            </a:pPr>
            <a:r>
              <a:rPr lang="en-US" altLang="zh-TW" dirty="0" err="1" smtClean="0">
                <a:solidFill>
                  <a:schemeClr val="bg1">
                    <a:lumMod val="50000"/>
                  </a:schemeClr>
                </a:solidFill>
                <a:latin typeface="+mj-lt"/>
              </a:rPr>
              <a:t>Hadoop</a:t>
            </a:r>
            <a:r>
              <a:rPr lang="en-US" altLang="zh-TW" dirty="0" smtClean="0">
                <a:solidFill>
                  <a:schemeClr val="bg1">
                    <a:lumMod val="50000"/>
                  </a:schemeClr>
                </a:solidFill>
                <a:latin typeface="+mj-lt"/>
              </a:rPr>
              <a:t> &amp; Google</a:t>
            </a:r>
          </a:p>
          <a:p>
            <a:endParaRPr lang="en-US" altLang="zh-TW" dirty="0" smtClean="0">
              <a:latin typeface="+mj-lt"/>
            </a:endParaRPr>
          </a:p>
          <a:p>
            <a:r>
              <a:rPr lang="en-US" altLang="zh-TW" dirty="0" smtClean="0">
                <a:latin typeface="+mj-lt"/>
              </a:rPr>
              <a:t>PaaS Techniques</a:t>
            </a:r>
          </a:p>
          <a:p>
            <a:pPr lvl="1"/>
            <a:r>
              <a:rPr lang="en-US" altLang="zh-TW" dirty="0" smtClean="0">
                <a:latin typeface="+mj-lt"/>
              </a:rPr>
              <a:t>File System</a:t>
            </a:r>
          </a:p>
          <a:p>
            <a:pPr lvl="2"/>
            <a:r>
              <a:rPr lang="en-US" altLang="zh-TW" dirty="0" smtClean="0">
                <a:latin typeface="+mj-lt"/>
              </a:rPr>
              <a:t>GFS, HDFS</a:t>
            </a:r>
          </a:p>
          <a:p>
            <a:pPr lvl="1">
              <a:buClr>
                <a:schemeClr val="bg1">
                  <a:lumMod val="50000"/>
                </a:schemeClr>
              </a:buClr>
            </a:pPr>
            <a:r>
              <a:rPr lang="en-US" altLang="zh-TW" dirty="0" smtClean="0">
                <a:solidFill>
                  <a:schemeClr val="bg1">
                    <a:lumMod val="50000"/>
                  </a:schemeClr>
                </a:solidFill>
                <a:latin typeface="+mj-lt"/>
              </a:rPr>
              <a:t>Programming Model</a:t>
            </a:r>
          </a:p>
          <a:p>
            <a:pPr lvl="2">
              <a:buClr>
                <a:schemeClr val="bg1">
                  <a:lumMod val="50000"/>
                </a:schemeClr>
              </a:buClr>
            </a:pPr>
            <a:r>
              <a:rPr lang="en-US" altLang="zh-TW" dirty="0" err="1" smtClean="0">
                <a:solidFill>
                  <a:schemeClr val="bg1">
                    <a:lumMod val="50000"/>
                  </a:schemeClr>
                </a:solidFill>
                <a:latin typeface="+mj-lt"/>
              </a:rPr>
              <a:t>MapReduce</a:t>
            </a:r>
            <a:r>
              <a:rPr lang="en-US" altLang="zh-TW" dirty="0" smtClean="0">
                <a:solidFill>
                  <a:schemeClr val="bg1">
                    <a:lumMod val="50000"/>
                  </a:schemeClr>
                </a:solidFill>
                <a:latin typeface="+mj-lt"/>
              </a:rPr>
              <a:t>, </a:t>
            </a:r>
            <a:r>
              <a:rPr lang="en-US" altLang="zh-TW" dirty="0" err="1" smtClean="0">
                <a:solidFill>
                  <a:schemeClr val="bg1">
                    <a:lumMod val="50000"/>
                  </a:schemeClr>
                </a:solidFill>
                <a:latin typeface="+mj-lt"/>
              </a:rPr>
              <a:t>Pregel</a:t>
            </a:r>
            <a:endParaRPr lang="en-US" altLang="zh-TW" dirty="0" smtClean="0">
              <a:solidFill>
                <a:schemeClr val="bg1">
                  <a:lumMod val="50000"/>
                </a:schemeClr>
              </a:solidFill>
              <a:latin typeface="+mj-lt"/>
            </a:endParaRPr>
          </a:p>
          <a:p>
            <a:pPr lvl="1">
              <a:buClr>
                <a:schemeClr val="bg1">
                  <a:lumMod val="50000"/>
                </a:schemeClr>
              </a:buClr>
            </a:pPr>
            <a:r>
              <a:rPr lang="en-US" altLang="zh-TW" dirty="0" smtClean="0">
                <a:solidFill>
                  <a:schemeClr val="bg1">
                    <a:lumMod val="50000"/>
                  </a:schemeClr>
                </a:solidFill>
                <a:latin typeface="+mj-lt"/>
              </a:rPr>
              <a:t>Storage System for Structured Data</a:t>
            </a:r>
          </a:p>
          <a:p>
            <a:pPr lvl="2">
              <a:buClr>
                <a:schemeClr val="bg1">
                  <a:lumMod val="50000"/>
                </a:schemeClr>
              </a:buClr>
            </a:pPr>
            <a:r>
              <a:rPr lang="en-US" altLang="zh-TW" dirty="0" err="1" smtClean="0">
                <a:solidFill>
                  <a:schemeClr val="bg1">
                    <a:lumMod val="50000"/>
                  </a:schemeClr>
                </a:solidFill>
                <a:latin typeface="+mj-lt"/>
              </a:rPr>
              <a:t>Bigtable</a:t>
            </a:r>
            <a:r>
              <a:rPr lang="en-US" altLang="zh-TW" dirty="0" smtClean="0">
                <a:solidFill>
                  <a:schemeClr val="bg1">
                    <a:lumMod val="50000"/>
                  </a:schemeClr>
                </a:solidFill>
                <a:latin typeface="+mj-lt"/>
              </a:rPr>
              <a:t>, </a:t>
            </a:r>
            <a:r>
              <a:rPr lang="en-US" altLang="zh-TW" dirty="0" err="1" smtClean="0">
                <a:solidFill>
                  <a:schemeClr val="bg1">
                    <a:lumMod val="50000"/>
                  </a:schemeClr>
                </a:solidFill>
                <a:latin typeface="+mj-lt"/>
              </a:rPr>
              <a:t>Hbase</a:t>
            </a:r>
            <a:endParaRPr lang="zh-TW" altLang="en-US" dirty="0">
              <a:solidFill>
                <a:schemeClr val="bg1">
                  <a:lumMod val="50000"/>
                </a:schemeClr>
              </a:solidFill>
              <a:latin typeface="+mj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File System</a:t>
            </a:r>
            <a:endParaRPr lang="zh-TW" altLang="en-US" dirty="0"/>
          </a:p>
        </p:txBody>
      </p:sp>
      <p:sp>
        <p:nvSpPr>
          <p:cNvPr id="5" name="文字版面配置區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 smtClean="0"/>
              <a:t>File System Overview</a:t>
            </a:r>
          </a:p>
          <a:p>
            <a:r>
              <a:rPr lang="en-US" altLang="zh-TW" dirty="0" smtClean="0">
                <a:solidFill>
                  <a:schemeClr val="bg1">
                    <a:lumMod val="50000"/>
                  </a:schemeClr>
                </a:solidFill>
              </a:rPr>
              <a:t>Distributed File Systems (DFS)</a:t>
            </a:r>
          </a:p>
          <a:p>
            <a:r>
              <a:rPr lang="en-US" altLang="zh-TW" dirty="0" smtClean="0">
                <a:solidFill>
                  <a:schemeClr val="bg1">
                    <a:lumMod val="50000"/>
                  </a:schemeClr>
                </a:solidFill>
              </a:rPr>
              <a:t>Google File System (GFS)</a:t>
            </a:r>
          </a:p>
          <a:p>
            <a:r>
              <a:rPr lang="en-US" altLang="zh-TW" dirty="0" err="1" smtClean="0">
                <a:solidFill>
                  <a:schemeClr val="bg1">
                    <a:lumMod val="50000"/>
                  </a:schemeClr>
                </a:solidFill>
              </a:rPr>
              <a:t>Hadoop</a:t>
            </a:r>
            <a:r>
              <a:rPr lang="en-US" altLang="zh-TW" dirty="0" smtClean="0">
                <a:solidFill>
                  <a:schemeClr val="bg1">
                    <a:lumMod val="50000"/>
                  </a:schemeClr>
                </a:solidFill>
              </a:rPr>
              <a:t> Distributed File Systems (HDFS)</a:t>
            </a:r>
            <a:endParaRPr lang="zh-TW" altLang="en-US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File System Overview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25144"/>
          </a:xfrm>
        </p:spPr>
        <p:txBody>
          <a:bodyPr>
            <a:normAutofit/>
          </a:bodyPr>
          <a:lstStyle/>
          <a:p>
            <a:r>
              <a:rPr lang="en-US" altLang="zh-TW" dirty="0" smtClean="0">
                <a:latin typeface="+mj-lt"/>
              </a:rPr>
              <a:t>System that permanently stores data</a:t>
            </a:r>
          </a:p>
          <a:p>
            <a:r>
              <a:rPr lang="en-US" altLang="zh-TW" dirty="0" smtClean="0">
                <a:latin typeface="+mj-lt"/>
              </a:rPr>
              <a:t>To store data in units called “files” on disks and other media</a:t>
            </a:r>
          </a:p>
          <a:p>
            <a:r>
              <a:rPr lang="en-US" altLang="zh-TW" dirty="0" smtClean="0">
                <a:latin typeface="+mj-lt"/>
              </a:rPr>
              <a:t>Files are managed by the Operating System</a:t>
            </a:r>
          </a:p>
          <a:p>
            <a:r>
              <a:rPr lang="en-US" altLang="zh-TW" dirty="0" smtClean="0">
                <a:latin typeface="+mj-lt"/>
              </a:rPr>
              <a:t>The part of the Operating System that deal with files is known as the “File System”</a:t>
            </a:r>
          </a:p>
          <a:p>
            <a:pPr lvl="1"/>
            <a:r>
              <a:rPr lang="en-US" altLang="zh-TW" dirty="0" smtClean="0">
                <a:latin typeface="+mj-lt"/>
              </a:rPr>
              <a:t>A file is a collection of disk blocks</a:t>
            </a:r>
          </a:p>
          <a:p>
            <a:pPr lvl="1"/>
            <a:r>
              <a:rPr lang="en-US" altLang="zh-TW" dirty="0" smtClean="0">
                <a:latin typeface="+mj-lt"/>
              </a:rPr>
              <a:t>File System maps file names and offsets to disk blocks</a:t>
            </a:r>
          </a:p>
          <a:p>
            <a:r>
              <a:rPr lang="en-US" altLang="zh-TW" dirty="0" smtClean="0">
                <a:latin typeface="+mj-lt"/>
              </a:rPr>
              <a:t>The set of valid paths form the “namespace” of the file system.</a:t>
            </a:r>
            <a:endParaRPr lang="zh-TW" altLang="en-US" dirty="0">
              <a:latin typeface="+mj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What Gets Stored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>
                <a:latin typeface="+mj-lt"/>
              </a:rPr>
              <a:t>User data itself is the bulk of the file system's contents</a:t>
            </a:r>
          </a:p>
          <a:p>
            <a:r>
              <a:rPr lang="en-US" altLang="zh-TW" dirty="0" smtClean="0">
                <a:latin typeface="+mj-lt"/>
              </a:rPr>
              <a:t>Also includes meta-data on a volume-wide and per-file basis:</a:t>
            </a:r>
            <a:endParaRPr lang="zh-TW" altLang="en-US" dirty="0">
              <a:latin typeface="+mj-lt"/>
            </a:endParaRPr>
          </a:p>
        </p:txBody>
      </p:sp>
      <p:grpSp>
        <p:nvGrpSpPr>
          <p:cNvPr id="4" name="群組 9"/>
          <p:cNvGrpSpPr/>
          <p:nvPr/>
        </p:nvGrpSpPr>
        <p:grpSpPr>
          <a:xfrm>
            <a:off x="1403648" y="3789040"/>
            <a:ext cx="3024336" cy="2490630"/>
            <a:chOff x="1907704" y="4005064"/>
            <a:chExt cx="2448272" cy="2016224"/>
          </a:xfrm>
        </p:grpSpPr>
        <p:sp>
          <p:nvSpPr>
            <p:cNvPr id="7" name="矩形 6"/>
            <p:cNvSpPr/>
            <p:nvPr/>
          </p:nvSpPr>
          <p:spPr>
            <a:xfrm>
              <a:off x="2051720" y="4365104"/>
              <a:ext cx="2304256" cy="1656184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lIns="288000" rtlCol="0" anchor="ctr" anchorCtr="0"/>
            <a:lstStyle/>
            <a:p>
              <a:pPr indent="-180000" defTabSz="900000">
                <a:buFont typeface="Arial" pitchFamily="34" charset="0"/>
                <a:buChar char="•"/>
              </a:pPr>
              <a:r>
                <a:rPr lang="en-US" altLang="zh-TW" sz="2200" dirty="0" smtClean="0"/>
                <a:t>Available space</a:t>
              </a:r>
            </a:p>
            <a:p>
              <a:pPr indent="-180000" defTabSz="900000">
                <a:buFont typeface="Arial" pitchFamily="34" charset="0"/>
                <a:buChar char="•"/>
              </a:pPr>
              <a:r>
                <a:rPr lang="en-US" altLang="zh-TW" sz="2200" dirty="0" smtClean="0"/>
                <a:t>Formatting info.</a:t>
              </a:r>
            </a:p>
            <a:p>
              <a:pPr indent="-180000" defTabSz="900000">
                <a:buFont typeface="Arial" pitchFamily="34" charset="0"/>
                <a:buChar char="•"/>
              </a:pPr>
              <a:r>
                <a:rPr lang="en-US" altLang="zh-TW" sz="2200" dirty="0" smtClean="0"/>
                <a:t>Character set</a:t>
              </a:r>
            </a:p>
            <a:p>
              <a:pPr indent="-180000" defTabSz="900000">
                <a:buFont typeface="Arial" pitchFamily="34" charset="0"/>
                <a:buChar char="•"/>
              </a:pPr>
              <a:r>
                <a:rPr lang="en-US" altLang="zh-TW" sz="2200" dirty="0" smtClean="0"/>
                <a:t>…</a:t>
              </a:r>
              <a:endParaRPr lang="zh-TW" altLang="en-US" sz="2200" dirty="0"/>
            </a:p>
          </p:txBody>
        </p:sp>
        <p:sp>
          <p:nvSpPr>
            <p:cNvPr id="5" name="圓角矩形 4"/>
            <p:cNvSpPr/>
            <p:nvPr/>
          </p:nvSpPr>
          <p:spPr>
            <a:xfrm>
              <a:off x="1907704" y="4005064"/>
              <a:ext cx="2016224" cy="432048"/>
            </a:xfrm>
            <a:prstGeom prst="roundRect">
              <a:avLst/>
            </a:prstGeom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2200" dirty="0" smtClean="0"/>
                <a:t>Volume-wide</a:t>
              </a:r>
              <a:endParaRPr lang="zh-TW" altLang="en-US" sz="2200" dirty="0"/>
            </a:p>
          </p:txBody>
        </p:sp>
      </p:grpSp>
      <p:grpSp>
        <p:nvGrpSpPr>
          <p:cNvPr id="9" name="群組 10"/>
          <p:cNvGrpSpPr/>
          <p:nvPr/>
        </p:nvGrpSpPr>
        <p:grpSpPr>
          <a:xfrm>
            <a:off x="4716016" y="3789040"/>
            <a:ext cx="3024336" cy="2490630"/>
            <a:chOff x="4716016" y="4005064"/>
            <a:chExt cx="2448272" cy="2016224"/>
          </a:xfrm>
        </p:grpSpPr>
        <p:sp>
          <p:nvSpPr>
            <p:cNvPr id="8" name="矩形 7"/>
            <p:cNvSpPr/>
            <p:nvPr/>
          </p:nvSpPr>
          <p:spPr>
            <a:xfrm>
              <a:off x="4860032" y="4365104"/>
              <a:ext cx="2304256" cy="1656184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lIns="288000" rtlCol="0" anchor="ctr"/>
            <a:lstStyle/>
            <a:p>
              <a:pPr indent="-180000">
                <a:buFont typeface="Arial" pitchFamily="34" charset="0"/>
                <a:buChar char="•"/>
              </a:pPr>
              <a:r>
                <a:rPr lang="en-US" altLang="zh-TW" sz="2200" dirty="0" smtClean="0"/>
                <a:t>Name</a:t>
              </a:r>
            </a:p>
            <a:p>
              <a:pPr indent="-180000">
                <a:buFont typeface="Arial" pitchFamily="34" charset="0"/>
                <a:buChar char="•"/>
              </a:pPr>
              <a:r>
                <a:rPr lang="en-US" altLang="zh-TW" sz="2200" dirty="0" smtClean="0"/>
                <a:t>Owner</a:t>
              </a:r>
            </a:p>
            <a:p>
              <a:pPr indent="-180000">
                <a:buFont typeface="Arial" pitchFamily="34" charset="0"/>
                <a:buChar char="•"/>
              </a:pPr>
              <a:r>
                <a:rPr lang="en-US" altLang="zh-TW" sz="2200" dirty="0" smtClean="0"/>
                <a:t>Modification data</a:t>
              </a:r>
            </a:p>
            <a:p>
              <a:pPr indent="-180000">
                <a:buFont typeface="Arial" pitchFamily="34" charset="0"/>
                <a:buChar char="•"/>
              </a:pPr>
              <a:r>
                <a:rPr lang="en-US" altLang="zh-TW" sz="2200" dirty="0" smtClean="0"/>
                <a:t>…</a:t>
              </a:r>
              <a:endParaRPr lang="zh-TW" altLang="en-US" sz="2200" dirty="0"/>
            </a:p>
          </p:txBody>
        </p:sp>
        <p:sp>
          <p:nvSpPr>
            <p:cNvPr id="6" name="圓角矩形 5"/>
            <p:cNvSpPr/>
            <p:nvPr/>
          </p:nvSpPr>
          <p:spPr>
            <a:xfrm>
              <a:off x="4716016" y="4005064"/>
              <a:ext cx="2016224" cy="432048"/>
            </a:xfrm>
            <a:prstGeom prst="roundRect">
              <a:avLst/>
            </a:prstGeom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2200" dirty="0" smtClean="0"/>
                <a:t>Per-file</a:t>
              </a:r>
              <a:endParaRPr lang="zh-TW" altLang="en-US" sz="2200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Design Considerations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257800"/>
          </a:xfrm>
        </p:spPr>
        <p:txBody>
          <a:bodyPr>
            <a:normAutofit lnSpcReduction="10000"/>
          </a:bodyPr>
          <a:lstStyle/>
          <a:p>
            <a:r>
              <a:rPr lang="en-US" altLang="zh-TW" dirty="0" smtClean="0">
                <a:latin typeface="+mj-lt"/>
              </a:rPr>
              <a:t>Namespace</a:t>
            </a:r>
          </a:p>
          <a:p>
            <a:pPr lvl="1"/>
            <a:r>
              <a:rPr lang="en-US" altLang="zh-TW" dirty="0" smtClean="0">
                <a:latin typeface="+mj-lt"/>
              </a:rPr>
              <a:t>Physical mapping</a:t>
            </a:r>
          </a:p>
          <a:p>
            <a:pPr lvl="1"/>
            <a:r>
              <a:rPr lang="en-US" altLang="zh-TW" dirty="0" smtClean="0">
                <a:latin typeface="+mj-lt"/>
              </a:rPr>
              <a:t>Logical volume</a:t>
            </a:r>
          </a:p>
          <a:p>
            <a:r>
              <a:rPr lang="en-US" altLang="zh-TW" dirty="0" smtClean="0">
                <a:latin typeface="+mj-lt"/>
              </a:rPr>
              <a:t>Consistency</a:t>
            </a:r>
          </a:p>
          <a:p>
            <a:pPr lvl="1"/>
            <a:r>
              <a:rPr lang="en-US" altLang="zh-TW" dirty="0" smtClean="0">
                <a:latin typeface="+mj-lt"/>
              </a:rPr>
              <a:t>What to do when more than one user reads/writes on the same file?</a:t>
            </a:r>
          </a:p>
          <a:p>
            <a:r>
              <a:rPr lang="en-US" altLang="zh-TW" dirty="0" smtClean="0">
                <a:latin typeface="+mj-lt"/>
              </a:rPr>
              <a:t>Security</a:t>
            </a:r>
          </a:p>
          <a:p>
            <a:pPr lvl="1"/>
            <a:r>
              <a:rPr lang="en-US" altLang="zh-TW" dirty="0" smtClean="0">
                <a:latin typeface="+mj-lt"/>
              </a:rPr>
              <a:t>Who can do what to a file? </a:t>
            </a:r>
          </a:p>
          <a:p>
            <a:pPr lvl="1"/>
            <a:r>
              <a:rPr lang="en-US" altLang="zh-TW" dirty="0" smtClean="0">
                <a:latin typeface="+mj-lt"/>
              </a:rPr>
              <a:t>Authentication/Access Control List (ACL)</a:t>
            </a:r>
          </a:p>
          <a:p>
            <a:r>
              <a:rPr lang="en-US" altLang="zh-TW" dirty="0" smtClean="0">
                <a:latin typeface="+mj-lt"/>
              </a:rPr>
              <a:t>Reliability</a:t>
            </a:r>
          </a:p>
          <a:p>
            <a:pPr lvl="1"/>
            <a:r>
              <a:rPr lang="en-US" altLang="zh-TW" dirty="0" smtClean="0">
                <a:latin typeface="+mj-lt"/>
              </a:rPr>
              <a:t>Can files not be damaged at power outage or other hardware failures?</a:t>
            </a:r>
            <a:endParaRPr lang="zh-TW" altLang="en-US" dirty="0">
              <a:latin typeface="+mj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Local FS on Unix-like Systems(1/4)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53136"/>
          </a:xfrm>
        </p:spPr>
        <p:txBody>
          <a:bodyPr>
            <a:normAutofit/>
          </a:bodyPr>
          <a:lstStyle/>
          <a:p>
            <a:r>
              <a:rPr lang="en-US" altLang="zh-TW" dirty="0" smtClean="0">
                <a:latin typeface="+mj-lt"/>
              </a:rPr>
              <a:t>Namespace</a:t>
            </a:r>
          </a:p>
          <a:p>
            <a:pPr lvl="1"/>
            <a:r>
              <a:rPr lang="en-US" altLang="zh-TW" dirty="0" smtClean="0">
                <a:latin typeface="+mj-lt"/>
              </a:rPr>
              <a:t>root directory “/”, followed by directories and files.</a:t>
            </a:r>
          </a:p>
          <a:p>
            <a:r>
              <a:rPr lang="en-US" altLang="zh-TW" dirty="0" smtClean="0">
                <a:latin typeface="+mj-lt"/>
              </a:rPr>
              <a:t>Consistency</a:t>
            </a:r>
          </a:p>
          <a:p>
            <a:pPr lvl="1"/>
            <a:r>
              <a:rPr lang="en-US" altLang="zh-TW" dirty="0" smtClean="0">
                <a:latin typeface="+mj-lt"/>
              </a:rPr>
              <a:t>“sequential consistency”, newly written data are immediately visible to open reads</a:t>
            </a:r>
            <a:endParaRPr lang="en-US" altLang="zh-TW" dirty="0" smtClean="0">
              <a:solidFill>
                <a:srgbClr val="FF0000"/>
              </a:solidFill>
              <a:latin typeface="+mj-lt"/>
            </a:endParaRPr>
          </a:p>
          <a:p>
            <a:r>
              <a:rPr lang="en-US" altLang="zh-TW" dirty="0" smtClean="0">
                <a:latin typeface="+mj-lt"/>
              </a:rPr>
              <a:t>Security</a:t>
            </a:r>
          </a:p>
          <a:p>
            <a:pPr lvl="1"/>
            <a:r>
              <a:rPr lang="en-US" altLang="zh-TW" dirty="0" err="1" smtClean="0">
                <a:latin typeface="+mj-lt"/>
              </a:rPr>
              <a:t>uid</a:t>
            </a:r>
            <a:r>
              <a:rPr lang="en-US" altLang="zh-TW" dirty="0" smtClean="0">
                <a:latin typeface="+mj-lt"/>
              </a:rPr>
              <a:t>/</a:t>
            </a:r>
            <a:r>
              <a:rPr lang="en-US" altLang="zh-TW" dirty="0" err="1" smtClean="0">
                <a:latin typeface="+mj-lt"/>
              </a:rPr>
              <a:t>gid</a:t>
            </a:r>
            <a:r>
              <a:rPr lang="en-US" altLang="zh-TW" dirty="0" smtClean="0">
                <a:latin typeface="+mj-lt"/>
              </a:rPr>
              <a:t>, mode of files</a:t>
            </a:r>
          </a:p>
          <a:p>
            <a:pPr lvl="1"/>
            <a:r>
              <a:rPr lang="en-US" altLang="zh-TW" dirty="0" err="1" smtClean="0">
                <a:latin typeface="+mj-lt"/>
              </a:rPr>
              <a:t>kerberos</a:t>
            </a:r>
            <a:r>
              <a:rPr lang="en-US" altLang="zh-TW" dirty="0" smtClean="0">
                <a:latin typeface="+mj-lt"/>
              </a:rPr>
              <a:t>: tickets</a:t>
            </a:r>
          </a:p>
          <a:p>
            <a:r>
              <a:rPr lang="en-US" altLang="zh-TW" dirty="0" smtClean="0">
                <a:latin typeface="+mj-lt"/>
              </a:rPr>
              <a:t>Reliability</a:t>
            </a:r>
          </a:p>
          <a:p>
            <a:pPr lvl="1"/>
            <a:r>
              <a:rPr lang="en-US" altLang="zh-TW" dirty="0" smtClean="0">
                <a:latin typeface="+mj-lt"/>
              </a:rPr>
              <a:t>journaling, snapshot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Local FS on Unix-like Systems(2/4)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25144"/>
          </a:xfrm>
        </p:spPr>
        <p:txBody>
          <a:bodyPr>
            <a:normAutofit/>
          </a:bodyPr>
          <a:lstStyle/>
          <a:p>
            <a:r>
              <a:rPr lang="en-US" altLang="zh-TW" dirty="0" smtClean="0">
                <a:latin typeface="+mj-lt"/>
              </a:rPr>
              <a:t>Namespace</a:t>
            </a:r>
          </a:p>
          <a:p>
            <a:pPr lvl="1"/>
            <a:r>
              <a:rPr lang="en-US" altLang="zh-TW" dirty="0" smtClean="0">
                <a:latin typeface="+mj-lt"/>
              </a:rPr>
              <a:t>Physical mapping</a:t>
            </a:r>
          </a:p>
          <a:p>
            <a:pPr lvl="2"/>
            <a:r>
              <a:rPr lang="en-US" altLang="zh-TW" dirty="0" smtClean="0">
                <a:latin typeface="+mj-lt"/>
              </a:rPr>
              <a:t>a directory and all of its subdirectories are stored on the same physical media</a:t>
            </a:r>
          </a:p>
          <a:p>
            <a:pPr lvl="3"/>
            <a:r>
              <a:rPr lang="en-US" altLang="zh-TW" dirty="0" smtClean="0">
                <a:latin typeface="+mj-lt"/>
              </a:rPr>
              <a:t>/</a:t>
            </a:r>
            <a:r>
              <a:rPr lang="en-US" altLang="zh-TW" dirty="0" err="1" smtClean="0">
                <a:latin typeface="+mj-lt"/>
              </a:rPr>
              <a:t>mnt</a:t>
            </a:r>
            <a:r>
              <a:rPr lang="en-US" altLang="zh-TW" dirty="0" smtClean="0">
                <a:latin typeface="+mj-lt"/>
              </a:rPr>
              <a:t>/</a:t>
            </a:r>
            <a:r>
              <a:rPr lang="en-US" altLang="zh-TW" dirty="0" err="1" smtClean="0">
                <a:latin typeface="+mj-lt"/>
              </a:rPr>
              <a:t>cdrom</a:t>
            </a:r>
            <a:endParaRPr lang="en-US" altLang="zh-TW" dirty="0" smtClean="0">
              <a:latin typeface="+mj-lt"/>
            </a:endParaRPr>
          </a:p>
          <a:p>
            <a:pPr lvl="3"/>
            <a:r>
              <a:rPr lang="en-US" altLang="zh-TW" dirty="0" smtClean="0">
                <a:latin typeface="+mj-lt"/>
              </a:rPr>
              <a:t>/</a:t>
            </a:r>
            <a:r>
              <a:rPr lang="en-US" altLang="zh-TW" dirty="0" err="1" smtClean="0">
                <a:latin typeface="+mj-lt"/>
              </a:rPr>
              <a:t>mnt</a:t>
            </a:r>
            <a:r>
              <a:rPr lang="en-US" altLang="zh-TW" dirty="0" smtClean="0">
                <a:latin typeface="+mj-lt"/>
              </a:rPr>
              <a:t>/disk1, /</a:t>
            </a:r>
            <a:r>
              <a:rPr lang="en-US" altLang="zh-TW" dirty="0" err="1" smtClean="0">
                <a:latin typeface="+mj-lt"/>
              </a:rPr>
              <a:t>mnt</a:t>
            </a:r>
            <a:r>
              <a:rPr lang="en-US" altLang="zh-TW" dirty="0" smtClean="0">
                <a:latin typeface="+mj-lt"/>
              </a:rPr>
              <a:t>/disk2, … when you have multiple disks</a:t>
            </a:r>
          </a:p>
          <a:p>
            <a:pPr lvl="1"/>
            <a:r>
              <a:rPr lang="en-US" altLang="zh-TW" dirty="0" smtClean="0">
                <a:latin typeface="+mj-lt"/>
              </a:rPr>
              <a:t>Logical volume</a:t>
            </a:r>
          </a:p>
          <a:p>
            <a:pPr lvl="2"/>
            <a:r>
              <a:rPr lang="en-US" altLang="zh-TW" dirty="0" smtClean="0">
                <a:latin typeface="+mj-lt"/>
              </a:rPr>
              <a:t>a logical namespace that can contain multiple physical media or a partition of a physical media</a:t>
            </a:r>
          </a:p>
          <a:p>
            <a:pPr lvl="3"/>
            <a:r>
              <a:rPr lang="en-US" altLang="zh-TW" dirty="0" smtClean="0">
                <a:latin typeface="+mj-lt"/>
              </a:rPr>
              <a:t>still mounted like /</a:t>
            </a:r>
            <a:r>
              <a:rPr lang="en-US" altLang="zh-TW" dirty="0" err="1" smtClean="0">
                <a:latin typeface="+mj-lt"/>
              </a:rPr>
              <a:t>mnt</a:t>
            </a:r>
            <a:r>
              <a:rPr lang="en-US" altLang="zh-TW" dirty="0" smtClean="0">
                <a:latin typeface="+mj-lt"/>
              </a:rPr>
              <a:t>/vol1</a:t>
            </a:r>
          </a:p>
          <a:p>
            <a:pPr lvl="3"/>
            <a:r>
              <a:rPr lang="en-US" altLang="zh-TW" dirty="0" smtClean="0">
                <a:latin typeface="+mj-lt"/>
              </a:rPr>
              <a:t>dynamical resizing by adding/removing disks without reboot</a:t>
            </a:r>
          </a:p>
          <a:p>
            <a:pPr lvl="3"/>
            <a:r>
              <a:rPr lang="en-US" altLang="zh-TW" dirty="0" smtClean="0">
                <a:latin typeface="+mj-lt"/>
              </a:rPr>
              <a:t>splitting/merging volumes as long as no data spans the split</a:t>
            </a:r>
            <a:endParaRPr lang="zh-TW" altLang="en-US" dirty="0">
              <a:latin typeface="+mj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Local FS on Unix-like Systems(3/4)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97152"/>
          </a:xfrm>
        </p:spPr>
        <p:txBody>
          <a:bodyPr>
            <a:normAutofit/>
          </a:bodyPr>
          <a:lstStyle/>
          <a:p>
            <a:r>
              <a:rPr lang="en-US" altLang="zh-TW" dirty="0" smtClean="0">
                <a:latin typeface="+mj-lt"/>
              </a:rPr>
              <a:t>Journaling</a:t>
            </a:r>
          </a:p>
          <a:p>
            <a:pPr lvl="1"/>
            <a:r>
              <a:rPr lang="en-US" altLang="zh-TW" dirty="0" smtClean="0">
                <a:latin typeface="+mj-lt"/>
              </a:rPr>
              <a:t>Changes to the </a:t>
            </a:r>
            <a:r>
              <a:rPr lang="en-US" altLang="zh-TW" dirty="0" err="1" smtClean="0">
                <a:latin typeface="+mj-lt"/>
              </a:rPr>
              <a:t>filesystem</a:t>
            </a:r>
            <a:r>
              <a:rPr lang="en-US" altLang="zh-TW" dirty="0" smtClean="0">
                <a:latin typeface="+mj-lt"/>
              </a:rPr>
              <a:t> is logged in a </a:t>
            </a:r>
            <a:r>
              <a:rPr lang="en-US" altLang="zh-TW" i="1" dirty="0" smtClean="0">
                <a:latin typeface="+mj-lt"/>
              </a:rPr>
              <a:t>journal </a:t>
            </a:r>
            <a:r>
              <a:rPr lang="en-US" altLang="zh-TW" dirty="0" smtClean="0">
                <a:latin typeface="+mj-lt"/>
              </a:rPr>
              <a:t>before it is committed</a:t>
            </a:r>
          </a:p>
          <a:p>
            <a:pPr lvl="2"/>
            <a:r>
              <a:rPr lang="en-US" altLang="zh-TW" dirty="0" smtClean="0">
                <a:latin typeface="+mj-lt"/>
              </a:rPr>
              <a:t>useful if an supposedly atomic action needs two or more writes</a:t>
            </a:r>
          </a:p>
          <a:p>
            <a:pPr lvl="3"/>
            <a:r>
              <a:rPr lang="en-US" altLang="zh-TW" dirty="0" smtClean="0">
                <a:latin typeface="+mj-lt"/>
              </a:rPr>
              <a:t>e.g., appending to a file (update metadata + allocate space + write the data)</a:t>
            </a:r>
          </a:p>
          <a:p>
            <a:pPr lvl="2"/>
            <a:r>
              <a:rPr lang="en-US" altLang="zh-TW" dirty="0" smtClean="0">
                <a:latin typeface="+mj-lt"/>
              </a:rPr>
              <a:t>can play back a journal to recover data quickly in case of hardware failure. </a:t>
            </a:r>
          </a:p>
          <a:p>
            <a:pPr lvl="1"/>
            <a:r>
              <a:rPr lang="en-US" altLang="zh-TW" dirty="0" smtClean="0">
                <a:latin typeface="+mj-lt"/>
              </a:rPr>
              <a:t>What to log?</a:t>
            </a:r>
          </a:p>
          <a:p>
            <a:pPr lvl="2"/>
            <a:r>
              <a:rPr lang="en-US" altLang="zh-TW" dirty="0" smtClean="0">
                <a:latin typeface="+mj-lt"/>
              </a:rPr>
              <a:t>changes to file content: heavy overhead</a:t>
            </a:r>
          </a:p>
          <a:p>
            <a:pPr lvl="2"/>
            <a:r>
              <a:rPr lang="en-US" altLang="zh-TW" dirty="0" smtClean="0">
                <a:latin typeface="+mj-lt"/>
              </a:rPr>
              <a:t>changes to metadata: fast, but data corruption may occur</a:t>
            </a:r>
          </a:p>
          <a:p>
            <a:pPr lvl="1"/>
            <a:r>
              <a:rPr lang="fr-FR" altLang="zh-TW" dirty="0" smtClean="0">
                <a:latin typeface="+mj-lt"/>
              </a:rPr>
              <a:t>Implementations: xfs3, ReiserFS, IBM's JFS, etc.</a:t>
            </a:r>
            <a:endParaRPr lang="zh-TW" altLang="en-US" dirty="0">
              <a:latin typeface="+mj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Local FS on Unix-like Systems(4/4)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069160"/>
          </a:xfrm>
        </p:spPr>
        <p:txBody>
          <a:bodyPr>
            <a:normAutofit/>
          </a:bodyPr>
          <a:lstStyle/>
          <a:p>
            <a:r>
              <a:rPr lang="en-US" altLang="zh-TW" dirty="0" smtClean="0">
                <a:latin typeface="+mj-lt"/>
              </a:rPr>
              <a:t>Snapshot</a:t>
            </a:r>
          </a:p>
          <a:p>
            <a:pPr lvl="1"/>
            <a:r>
              <a:rPr lang="en-US" altLang="zh-TW" dirty="0" smtClean="0">
                <a:latin typeface="+mj-lt"/>
              </a:rPr>
              <a:t>A snapshot = a copy of a set of files and directories at a point in time</a:t>
            </a:r>
            <a:endParaRPr lang="en-US" altLang="zh-TW" sz="3200" dirty="0" smtClean="0">
              <a:latin typeface="+mj-lt"/>
            </a:endParaRPr>
          </a:p>
          <a:p>
            <a:pPr lvl="2"/>
            <a:r>
              <a:rPr lang="en-US" altLang="zh-TW" dirty="0" smtClean="0">
                <a:latin typeface="+mj-lt"/>
              </a:rPr>
              <a:t>read-only snapshots, read-write snapshots</a:t>
            </a:r>
          </a:p>
          <a:p>
            <a:pPr lvl="2"/>
            <a:r>
              <a:rPr lang="en-US" altLang="zh-TW" dirty="0" smtClean="0">
                <a:latin typeface="+mj-lt"/>
              </a:rPr>
              <a:t>usually done by the </a:t>
            </a:r>
            <a:r>
              <a:rPr lang="en-US" altLang="zh-TW" dirty="0" err="1" smtClean="0">
                <a:latin typeface="+mj-lt"/>
              </a:rPr>
              <a:t>filesystem</a:t>
            </a:r>
            <a:r>
              <a:rPr lang="en-US" altLang="zh-TW" dirty="0" smtClean="0">
                <a:latin typeface="+mj-lt"/>
              </a:rPr>
              <a:t> itself, sometimes by LVMs</a:t>
            </a:r>
          </a:p>
          <a:p>
            <a:pPr lvl="2"/>
            <a:r>
              <a:rPr lang="en-US" altLang="zh-TW" dirty="0" smtClean="0">
                <a:latin typeface="+mj-lt"/>
              </a:rPr>
              <a:t>backing up data can be done on a read-only snapshot without worrying about consistency</a:t>
            </a:r>
          </a:p>
          <a:p>
            <a:pPr lvl="1"/>
            <a:r>
              <a:rPr lang="en-US" altLang="zh-TW" dirty="0" smtClean="0">
                <a:latin typeface="+mj-lt"/>
              </a:rPr>
              <a:t>Copy-on-write is a simple and fast way to create snapshots</a:t>
            </a:r>
          </a:p>
          <a:p>
            <a:pPr lvl="2"/>
            <a:r>
              <a:rPr lang="en-US" altLang="zh-TW" dirty="0" smtClean="0">
                <a:latin typeface="+mj-lt"/>
              </a:rPr>
              <a:t>current data is the snapshot</a:t>
            </a:r>
          </a:p>
          <a:p>
            <a:pPr lvl="2"/>
            <a:r>
              <a:rPr lang="en-US" altLang="zh-TW" dirty="0" smtClean="0">
                <a:latin typeface="+mj-lt"/>
              </a:rPr>
              <a:t>a request to write to a file creates a new copy, and work from there afterwards</a:t>
            </a:r>
          </a:p>
          <a:p>
            <a:pPr lvl="1"/>
            <a:r>
              <a:rPr lang="fr-FR" altLang="zh-TW" dirty="0" smtClean="0">
                <a:latin typeface="+mj-lt"/>
              </a:rPr>
              <a:t>Implementation: UFS, Sun's ZFS, etc.</a:t>
            </a:r>
            <a:endParaRPr lang="zh-TW" altLang="en-US" dirty="0">
              <a:latin typeface="+mj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File System</a:t>
            </a:r>
            <a:endParaRPr lang="zh-TW" altLang="en-US" dirty="0"/>
          </a:p>
        </p:txBody>
      </p:sp>
      <p:sp>
        <p:nvSpPr>
          <p:cNvPr id="5" name="文字版面配置區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 smtClean="0">
                <a:solidFill>
                  <a:schemeClr val="bg1">
                    <a:lumMod val="50000"/>
                  </a:schemeClr>
                </a:solidFill>
              </a:rPr>
              <a:t>File System Overview</a:t>
            </a:r>
          </a:p>
          <a:p>
            <a:r>
              <a:rPr lang="en-US" altLang="zh-TW" dirty="0" smtClean="0"/>
              <a:t>Distributed File Systems (DFS)</a:t>
            </a:r>
          </a:p>
          <a:p>
            <a:r>
              <a:rPr lang="en-US" altLang="zh-TW" dirty="0" smtClean="0">
                <a:solidFill>
                  <a:schemeClr val="bg1">
                    <a:lumMod val="50000"/>
                  </a:schemeClr>
                </a:solidFill>
              </a:rPr>
              <a:t>Google File System (GFS)</a:t>
            </a:r>
          </a:p>
          <a:p>
            <a:r>
              <a:rPr lang="en-US" altLang="zh-TW" dirty="0" err="1" smtClean="0">
                <a:solidFill>
                  <a:schemeClr val="bg1">
                    <a:lumMod val="50000"/>
                  </a:schemeClr>
                </a:solidFill>
              </a:rPr>
              <a:t>Hadoop</a:t>
            </a:r>
            <a:r>
              <a:rPr lang="en-US" altLang="zh-TW" dirty="0" smtClean="0">
                <a:solidFill>
                  <a:schemeClr val="bg1">
                    <a:lumMod val="50000"/>
                  </a:schemeClr>
                </a:solidFill>
              </a:rPr>
              <a:t> Distributed File Systems (HDFS)</a:t>
            </a:r>
            <a:endParaRPr lang="zh-TW" altLang="en-US" dirty="0" smtClean="0">
              <a:solidFill>
                <a:schemeClr val="bg1">
                  <a:lumMod val="50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Distributed File Systems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TW" dirty="0" smtClean="0">
                <a:latin typeface="+mj-lt"/>
              </a:rPr>
              <a:t>Allows access to files from multiple hosts sharing via a computer network</a:t>
            </a:r>
          </a:p>
          <a:p>
            <a:r>
              <a:rPr lang="en-US" altLang="zh-TW" dirty="0" smtClean="0">
                <a:latin typeface="+mj-lt"/>
              </a:rPr>
              <a:t>Must support concurrency</a:t>
            </a:r>
          </a:p>
          <a:p>
            <a:pPr lvl="1"/>
            <a:r>
              <a:rPr lang="en-US" altLang="zh-TW" dirty="0" smtClean="0">
                <a:latin typeface="+mj-lt"/>
              </a:rPr>
              <a:t>Make varying guarantees about locking, who “wins” with concurrent writes, etc...</a:t>
            </a:r>
          </a:p>
          <a:p>
            <a:pPr lvl="1"/>
            <a:r>
              <a:rPr lang="en-US" altLang="zh-TW" dirty="0" smtClean="0">
                <a:latin typeface="+mj-lt"/>
              </a:rPr>
              <a:t>Must gracefully handle dropped connections</a:t>
            </a:r>
          </a:p>
          <a:p>
            <a:r>
              <a:rPr lang="en-US" altLang="zh-TW" dirty="0" smtClean="0">
                <a:latin typeface="+mj-lt"/>
              </a:rPr>
              <a:t>May include facilities for transparent replication and fault tolerance </a:t>
            </a:r>
          </a:p>
          <a:p>
            <a:r>
              <a:rPr lang="en-US" altLang="zh-TW" dirty="0" smtClean="0">
                <a:latin typeface="+mj-lt"/>
              </a:rPr>
              <a:t>Different implementations sit in different places on complexity/feature scale</a:t>
            </a:r>
            <a:endParaRPr lang="zh-TW" altLang="en-US" dirty="0">
              <a:latin typeface="+mj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When is DFS Useful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>
                <a:latin typeface="+mj-lt"/>
              </a:rPr>
              <a:t>Multiple users want to share files</a:t>
            </a:r>
          </a:p>
          <a:p>
            <a:r>
              <a:rPr lang="en-US" altLang="zh-TW" dirty="0" smtClean="0">
                <a:latin typeface="+mj-lt"/>
              </a:rPr>
              <a:t>The data may be much larger than the storage space of a computer</a:t>
            </a:r>
          </a:p>
          <a:p>
            <a:r>
              <a:rPr lang="en-US" altLang="zh-TW" dirty="0" smtClean="0">
                <a:latin typeface="+mj-lt"/>
              </a:rPr>
              <a:t>A user want to access his/her data from different machines at different geographic locations</a:t>
            </a:r>
          </a:p>
          <a:p>
            <a:r>
              <a:rPr lang="en-US" altLang="zh-TW" dirty="0" smtClean="0">
                <a:latin typeface="+mj-lt"/>
              </a:rPr>
              <a:t>Users want a storage system</a:t>
            </a:r>
          </a:p>
          <a:p>
            <a:pPr lvl="1"/>
            <a:r>
              <a:rPr lang="en-US" altLang="zh-TW" dirty="0" smtClean="0">
                <a:latin typeface="+mj-lt"/>
              </a:rPr>
              <a:t>Backup</a:t>
            </a:r>
          </a:p>
          <a:p>
            <a:pPr lvl="1"/>
            <a:r>
              <a:rPr lang="en-US" altLang="zh-TW" dirty="0" smtClean="0">
                <a:latin typeface="+mj-lt"/>
              </a:rPr>
              <a:t>Management</a:t>
            </a:r>
            <a:endParaRPr lang="zh-TW" altLang="en-US" dirty="0">
              <a:latin typeface="+mj-lt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3491880" y="6165304"/>
            <a:ext cx="5400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Note that a “user” of a DFS may actually be a “program”</a:t>
            </a:r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/>
              <a:t>Design Considerations of DFS(1/2)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069160"/>
          </a:xfrm>
        </p:spPr>
        <p:txBody>
          <a:bodyPr>
            <a:normAutofit/>
          </a:bodyPr>
          <a:lstStyle/>
          <a:p>
            <a:r>
              <a:rPr lang="en-US" altLang="zh-TW" dirty="0" smtClean="0">
                <a:latin typeface="+mj-lt"/>
              </a:rPr>
              <a:t>Different systems have different designs and behaviors on the following features</a:t>
            </a:r>
          </a:p>
          <a:p>
            <a:pPr lvl="1"/>
            <a:r>
              <a:rPr lang="en-US" altLang="zh-TW" dirty="0" smtClean="0">
                <a:latin typeface="+mj-lt"/>
              </a:rPr>
              <a:t>Interface</a:t>
            </a:r>
          </a:p>
          <a:p>
            <a:pPr lvl="2"/>
            <a:r>
              <a:rPr lang="en-US" altLang="zh-TW" dirty="0" smtClean="0">
                <a:latin typeface="+mj-lt"/>
              </a:rPr>
              <a:t>file system, block I/O, custom made</a:t>
            </a:r>
          </a:p>
          <a:p>
            <a:pPr lvl="1"/>
            <a:r>
              <a:rPr lang="en-US" altLang="zh-TW" dirty="0" smtClean="0">
                <a:latin typeface="+mj-lt"/>
              </a:rPr>
              <a:t>Security</a:t>
            </a:r>
          </a:p>
          <a:p>
            <a:pPr lvl="2"/>
            <a:r>
              <a:rPr lang="en-US" altLang="zh-TW" dirty="0" smtClean="0">
                <a:latin typeface="+mj-lt"/>
              </a:rPr>
              <a:t>various authentication/authorization schemes</a:t>
            </a:r>
          </a:p>
          <a:p>
            <a:pPr lvl="1"/>
            <a:r>
              <a:rPr lang="en-US" altLang="zh-TW" dirty="0" smtClean="0">
                <a:latin typeface="+mj-lt"/>
              </a:rPr>
              <a:t>Reliability (fault-tolerance)</a:t>
            </a:r>
          </a:p>
          <a:p>
            <a:pPr lvl="2"/>
            <a:r>
              <a:rPr lang="en-US" altLang="zh-TW" dirty="0" smtClean="0">
                <a:latin typeface="+mj-lt"/>
              </a:rPr>
              <a:t>continue to function when some hardware fail (disks, nodes, power, etc.)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/>
              <a:t>Design Considerations of DFS(2/2)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069160"/>
          </a:xfrm>
        </p:spPr>
        <p:txBody>
          <a:bodyPr>
            <a:normAutofit/>
          </a:bodyPr>
          <a:lstStyle/>
          <a:p>
            <a:pPr lvl="1"/>
            <a:r>
              <a:rPr lang="en-US" altLang="zh-TW" dirty="0" smtClean="0">
                <a:latin typeface="+mj-lt"/>
              </a:rPr>
              <a:t>Namespace (virtualization)</a:t>
            </a:r>
          </a:p>
          <a:p>
            <a:pPr lvl="2"/>
            <a:r>
              <a:rPr lang="en-US" altLang="zh-TW" dirty="0" smtClean="0">
                <a:latin typeface="+mj-lt"/>
              </a:rPr>
              <a:t>provide logical namespace that can span across physical boundaries</a:t>
            </a:r>
          </a:p>
          <a:p>
            <a:pPr lvl="1"/>
            <a:r>
              <a:rPr lang="en-US" altLang="zh-TW" dirty="0" smtClean="0">
                <a:latin typeface="+mj-lt"/>
              </a:rPr>
              <a:t>Consistency</a:t>
            </a:r>
          </a:p>
          <a:p>
            <a:pPr lvl="2"/>
            <a:r>
              <a:rPr lang="en-US" altLang="zh-TW" dirty="0" smtClean="0">
                <a:latin typeface="+mj-lt"/>
              </a:rPr>
              <a:t>all clients get the same data all the time</a:t>
            </a:r>
          </a:p>
          <a:p>
            <a:pPr lvl="2"/>
            <a:r>
              <a:rPr lang="en-US" altLang="zh-TW" dirty="0" smtClean="0">
                <a:latin typeface="+mj-lt"/>
              </a:rPr>
              <a:t>related to locking, caching, and synchronization</a:t>
            </a:r>
          </a:p>
          <a:p>
            <a:pPr lvl="1"/>
            <a:r>
              <a:rPr lang="en-US" altLang="zh-TW" dirty="0" smtClean="0">
                <a:latin typeface="+mj-lt"/>
              </a:rPr>
              <a:t>Parallel</a:t>
            </a:r>
          </a:p>
          <a:p>
            <a:pPr lvl="2"/>
            <a:r>
              <a:rPr lang="en-US" altLang="zh-TW" dirty="0" smtClean="0">
                <a:latin typeface="+mj-lt"/>
              </a:rPr>
              <a:t>multiple clients can have access to multiple disks at the same time</a:t>
            </a:r>
          </a:p>
          <a:p>
            <a:pPr lvl="1"/>
            <a:r>
              <a:rPr lang="en-US" altLang="zh-TW" dirty="0" smtClean="0">
                <a:latin typeface="+mj-lt"/>
              </a:rPr>
              <a:t>Scope</a:t>
            </a:r>
          </a:p>
          <a:p>
            <a:pPr lvl="2"/>
            <a:r>
              <a:rPr lang="en-US" altLang="zh-TW" dirty="0" smtClean="0">
                <a:latin typeface="+mj-lt"/>
              </a:rPr>
              <a:t>local area network vs. wide area network</a:t>
            </a:r>
            <a:endParaRPr lang="zh-TW" altLang="en-US" dirty="0">
              <a:latin typeface="+mj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File System</a:t>
            </a:r>
            <a:endParaRPr lang="zh-TW" altLang="en-US" dirty="0"/>
          </a:p>
        </p:txBody>
      </p:sp>
      <p:sp>
        <p:nvSpPr>
          <p:cNvPr id="5" name="文字版面配置區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 smtClean="0">
                <a:solidFill>
                  <a:schemeClr val="bg1">
                    <a:lumMod val="50000"/>
                  </a:schemeClr>
                </a:solidFill>
              </a:rPr>
              <a:t>File System Overview</a:t>
            </a:r>
          </a:p>
          <a:p>
            <a:r>
              <a:rPr lang="en-US" altLang="zh-TW" dirty="0" smtClean="0">
                <a:solidFill>
                  <a:schemeClr val="bg1">
                    <a:lumMod val="50000"/>
                  </a:schemeClr>
                </a:solidFill>
              </a:rPr>
              <a:t>Distributed File Systems (DFS)</a:t>
            </a:r>
          </a:p>
          <a:p>
            <a:r>
              <a:rPr lang="en-US" altLang="zh-TW" dirty="0" smtClean="0"/>
              <a:t>Google File System (GFS)</a:t>
            </a:r>
          </a:p>
          <a:p>
            <a:r>
              <a:rPr lang="en-US" altLang="zh-TW" dirty="0" err="1" smtClean="0">
                <a:solidFill>
                  <a:schemeClr val="bg1">
                    <a:lumMod val="50000"/>
                  </a:schemeClr>
                </a:solidFill>
              </a:rPr>
              <a:t>Hadoop</a:t>
            </a:r>
            <a:r>
              <a:rPr lang="en-US" altLang="zh-TW" dirty="0" smtClean="0">
                <a:solidFill>
                  <a:schemeClr val="bg1">
                    <a:lumMod val="50000"/>
                  </a:schemeClr>
                </a:solidFill>
              </a:rPr>
              <a:t> Distributed File Systems (HDFS)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 idx="4294967295"/>
          </p:nvPr>
        </p:nvSpPr>
        <p:spPr>
          <a:xfrm>
            <a:off x="1371600" y="4406900"/>
            <a:ext cx="7772400" cy="1362075"/>
          </a:xfrm>
        </p:spPr>
        <p:txBody>
          <a:bodyPr>
            <a:normAutofit fontScale="90000"/>
          </a:bodyPr>
          <a:lstStyle/>
          <a:p>
            <a:r>
              <a:rPr lang="en-US" altLang="zh-TW" dirty="0" smtClean="0"/>
              <a:t>Google File System</a:t>
            </a:r>
            <a:r>
              <a:rPr lang="zh-TW" altLang="en-US" dirty="0" smtClean="0"/>
              <a:t/>
            </a:r>
            <a:br>
              <a:rPr lang="zh-TW" altLang="en-US" dirty="0" smtClean="0"/>
            </a:br>
            <a:endParaRPr lang="zh-TW" altLang="en-US" dirty="0"/>
          </a:p>
        </p:txBody>
      </p:sp>
      <p:sp>
        <p:nvSpPr>
          <p:cNvPr id="5" name="文字版面配置區 4"/>
          <p:cNvSpPr>
            <a:spLocks noGrp="1"/>
          </p:cNvSpPr>
          <p:nvPr>
            <p:ph type="body" idx="4294967295"/>
          </p:nvPr>
        </p:nvSpPr>
        <p:spPr>
          <a:xfrm>
            <a:off x="1371600" y="2906713"/>
            <a:ext cx="7772400" cy="1500187"/>
          </a:xfrm>
        </p:spPr>
        <p:txBody>
          <a:bodyPr/>
          <a:lstStyle/>
          <a:p>
            <a:pPr marL="0" indent="0">
              <a:buNone/>
            </a:pPr>
            <a:r>
              <a:rPr lang="en-US" altLang="zh-TW" dirty="0" smtClean="0"/>
              <a:t>How to process large data sets and easily </a:t>
            </a:r>
            <a:br>
              <a:rPr lang="en-US" altLang="zh-TW" dirty="0" smtClean="0"/>
            </a:br>
            <a:r>
              <a:rPr lang="en-US" altLang="zh-TW" dirty="0" smtClean="0"/>
              <a:t>utilize the resources of a large distributed system …</a:t>
            </a:r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Google File System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>
                <a:latin typeface="+mj-lt"/>
              </a:rPr>
              <a:t>Motivations</a:t>
            </a:r>
          </a:p>
          <a:p>
            <a:r>
              <a:rPr lang="en-US" altLang="zh-TW" dirty="0" smtClean="0">
                <a:latin typeface="+mj-lt"/>
              </a:rPr>
              <a:t>Design Overview</a:t>
            </a:r>
          </a:p>
          <a:p>
            <a:r>
              <a:rPr lang="en-US" altLang="zh-TW" dirty="0" smtClean="0">
                <a:latin typeface="+mj-lt"/>
              </a:rPr>
              <a:t>System Interactions</a:t>
            </a:r>
          </a:p>
          <a:p>
            <a:r>
              <a:rPr lang="en-US" altLang="zh-TW" dirty="0" smtClean="0">
                <a:latin typeface="+mj-lt"/>
              </a:rPr>
              <a:t>Master Operations</a:t>
            </a:r>
          </a:p>
          <a:p>
            <a:r>
              <a:rPr lang="en-US" altLang="zh-TW" dirty="0" smtClean="0">
                <a:latin typeface="+mj-lt"/>
              </a:rPr>
              <a:t>Fault Tolerance</a:t>
            </a:r>
          </a:p>
          <a:p>
            <a:endParaRPr lang="zh-TW" altLang="en-US" dirty="0">
              <a:latin typeface="+mj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Motivations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65104"/>
          </a:xfrm>
        </p:spPr>
        <p:txBody>
          <a:bodyPr>
            <a:normAutofit/>
          </a:bodyPr>
          <a:lstStyle/>
          <a:p>
            <a:r>
              <a:rPr lang="en-US" altLang="zh-TW" dirty="0" smtClean="0">
                <a:latin typeface="Calibri" pitchFamily="34" charset="0"/>
                <a:cs typeface="Calibri" pitchFamily="34" charset="0"/>
              </a:rPr>
              <a:t>Fault-tolerance and auto-recovery need to be built into the system.</a:t>
            </a:r>
          </a:p>
          <a:p>
            <a:endParaRPr lang="en-US" altLang="zh-TW" dirty="0" smtClean="0">
              <a:latin typeface="Calibri" pitchFamily="34" charset="0"/>
              <a:cs typeface="Calibri" pitchFamily="34" charset="0"/>
            </a:endParaRPr>
          </a:p>
          <a:p>
            <a:r>
              <a:rPr lang="en-US" altLang="zh-TW" dirty="0" smtClean="0">
                <a:latin typeface="Calibri" pitchFamily="34" charset="0"/>
                <a:cs typeface="Calibri" pitchFamily="34" charset="0"/>
              </a:rPr>
              <a:t>Standard I/O assumptions (e.g. block size) have to be re-examined.</a:t>
            </a:r>
          </a:p>
          <a:p>
            <a:endParaRPr lang="en-US" altLang="zh-TW" dirty="0" smtClean="0">
              <a:latin typeface="Calibri" pitchFamily="34" charset="0"/>
              <a:cs typeface="Calibri" pitchFamily="34" charset="0"/>
            </a:endParaRPr>
          </a:p>
          <a:p>
            <a:r>
              <a:rPr lang="en-US" altLang="zh-TW" dirty="0" smtClean="0">
                <a:latin typeface="Calibri" pitchFamily="34" charset="0"/>
                <a:cs typeface="Calibri" pitchFamily="34" charset="0"/>
              </a:rPr>
              <a:t>Record appends are the prevalent form of writing.</a:t>
            </a:r>
          </a:p>
          <a:p>
            <a:endParaRPr lang="en-US" altLang="zh-TW" dirty="0" smtClean="0">
              <a:latin typeface="Calibri" pitchFamily="34" charset="0"/>
              <a:cs typeface="Calibri" pitchFamily="34" charset="0"/>
            </a:endParaRPr>
          </a:p>
          <a:p>
            <a:r>
              <a:rPr lang="en-US" altLang="zh-TW" dirty="0" smtClean="0">
                <a:latin typeface="Calibri" pitchFamily="34" charset="0"/>
                <a:cs typeface="Calibri" pitchFamily="34" charset="0"/>
              </a:rPr>
              <a:t>Google applications and GFS should be co-designed.</a:t>
            </a:r>
            <a:endParaRPr lang="zh-TW" altLang="en-US" dirty="0">
              <a:latin typeface="Calibri" pitchFamily="34" charset="0"/>
              <a:cs typeface="Calibri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Design Overview</a:t>
            </a:r>
            <a:endParaRPr lang="zh-TW" alt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r>
              <a:rPr lang="en-US" altLang="zh-TW" dirty="0" smtClean="0">
                <a:cs typeface="Calibri" pitchFamily="34" charset="0"/>
              </a:rPr>
              <a:t>Assumptions</a:t>
            </a:r>
          </a:p>
          <a:p>
            <a:r>
              <a:rPr lang="en-US" altLang="zh-TW" dirty="0" smtClean="0">
                <a:solidFill>
                  <a:schemeClr val="bg1">
                    <a:lumMod val="50000"/>
                  </a:schemeClr>
                </a:solidFill>
                <a:cs typeface="Calibri" pitchFamily="34" charset="0"/>
              </a:rPr>
              <a:t>Architecture</a:t>
            </a:r>
          </a:p>
          <a:p>
            <a:r>
              <a:rPr lang="en-US" altLang="zh-TW" dirty="0" smtClean="0">
                <a:solidFill>
                  <a:schemeClr val="bg1">
                    <a:lumMod val="50000"/>
                  </a:schemeClr>
                </a:solidFill>
                <a:cs typeface="Calibri" pitchFamily="34" charset="0"/>
              </a:rPr>
              <a:t>Metadata</a:t>
            </a:r>
          </a:p>
          <a:p>
            <a:r>
              <a:rPr lang="en-US" altLang="zh-TW" dirty="0" smtClean="0">
                <a:solidFill>
                  <a:schemeClr val="bg1">
                    <a:lumMod val="50000"/>
                  </a:schemeClr>
                </a:solidFill>
                <a:cs typeface="Calibri" pitchFamily="34" charset="0"/>
              </a:rPr>
              <a:t>Consistency Model</a:t>
            </a:r>
            <a:endParaRPr lang="zh-TW" altLang="en-US" dirty="0" smtClean="0">
              <a:solidFill>
                <a:schemeClr val="bg1">
                  <a:lumMod val="50000"/>
                </a:schemeClr>
              </a:solidFill>
              <a:cs typeface="Calibri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Assumptions(1/2)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484784"/>
            <a:ext cx="8229600" cy="5040560"/>
          </a:xfrm>
        </p:spPr>
        <p:txBody>
          <a:bodyPr/>
          <a:lstStyle/>
          <a:p>
            <a:r>
              <a:rPr lang="en-US" altLang="zh-TW" dirty="0" smtClean="0">
                <a:latin typeface="+mj-lt"/>
              </a:rPr>
              <a:t>High component failure rates</a:t>
            </a:r>
          </a:p>
          <a:p>
            <a:pPr lvl="1"/>
            <a:r>
              <a:rPr lang="en-US" altLang="zh-TW" dirty="0" smtClean="0">
                <a:latin typeface="+mj-lt"/>
              </a:rPr>
              <a:t>Inexpensive commodity components fail all the time</a:t>
            </a:r>
          </a:p>
          <a:p>
            <a:pPr lvl="1"/>
            <a:r>
              <a:rPr lang="en-US" altLang="zh-TW" dirty="0" smtClean="0">
                <a:latin typeface="+mj-lt"/>
              </a:rPr>
              <a:t>Must monitor itself and detect, tolerate, and recover from failures on a routine basis</a:t>
            </a:r>
          </a:p>
          <a:p>
            <a:r>
              <a:rPr lang="en-US" altLang="zh-TW" dirty="0" smtClean="0">
                <a:latin typeface="+mj-lt"/>
              </a:rPr>
              <a:t>Modest number of large files</a:t>
            </a:r>
          </a:p>
          <a:p>
            <a:pPr lvl="1"/>
            <a:r>
              <a:rPr lang="en-US" altLang="zh-TW" dirty="0" smtClean="0">
                <a:latin typeface="+mj-lt"/>
              </a:rPr>
              <a:t>Expect a few million files, each 100 MB or larger</a:t>
            </a:r>
          </a:p>
          <a:p>
            <a:pPr lvl="1"/>
            <a:r>
              <a:rPr lang="en-US" altLang="zh-TW" dirty="0" smtClean="0">
                <a:latin typeface="+mj-lt"/>
              </a:rPr>
              <a:t>Multi-GB files are the common case and should be managed efficiently</a:t>
            </a:r>
          </a:p>
          <a:p>
            <a:r>
              <a:rPr lang="en-US" altLang="zh-TW" dirty="0" smtClean="0">
                <a:latin typeface="+mj-lt"/>
              </a:rPr>
              <a:t>The workloads primarily consist of two kinds of reads</a:t>
            </a:r>
          </a:p>
          <a:p>
            <a:pPr lvl="1"/>
            <a:r>
              <a:rPr lang="en-US" altLang="zh-TW" dirty="0" smtClean="0">
                <a:latin typeface="+mj-lt"/>
              </a:rPr>
              <a:t>large streaming reads</a:t>
            </a:r>
          </a:p>
          <a:p>
            <a:pPr lvl="1"/>
            <a:r>
              <a:rPr lang="en-US" altLang="zh-TW" dirty="0" smtClean="0">
                <a:latin typeface="+mj-lt"/>
              </a:rPr>
              <a:t>small random reads</a:t>
            </a:r>
            <a:endParaRPr lang="zh-TW" altLang="en-US" dirty="0">
              <a:latin typeface="+mj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Assumptions(2/2)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484784"/>
            <a:ext cx="8229600" cy="4752528"/>
          </a:xfrm>
        </p:spPr>
        <p:txBody>
          <a:bodyPr>
            <a:normAutofit/>
          </a:bodyPr>
          <a:lstStyle/>
          <a:p>
            <a:r>
              <a:rPr lang="en-US" altLang="zh-TW" dirty="0" smtClean="0">
                <a:latin typeface="+mj-lt"/>
              </a:rPr>
              <a:t>The workloads also have many large, sequential writes that append data to files</a:t>
            </a:r>
          </a:p>
          <a:p>
            <a:pPr lvl="1"/>
            <a:r>
              <a:rPr lang="en-US" altLang="zh-TW" dirty="0" smtClean="0">
                <a:latin typeface="+mj-lt"/>
              </a:rPr>
              <a:t>Typical operation sizes are similar to those for reads</a:t>
            </a:r>
          </a:p>
          <a:p>
            <a:r>
              <a:rPr lang="en-US" altLang="zh-TW" dirty="0" smtClean="0">
                <a:latin typeface="+mj-lt"/>
              </a:rPr>
              <a:t>Well-defined semantics for multiple clients that concurrently append to the same file</a:t>
            </a:r>
          </a:p>
          <a:p>
            <a:endParaRPr lang="en-US" altLang="zh-TW" dirty="0" smtClean="0">
              <a:latin typeface="+mj-lt"/>
            </a:endParaRPr>
          </a:p>
          <a:p>
            <a:r>
              <a:rPr lang="en-US" altLang="zh-TW" dirty="0" smtClean="0">
                <a:latin typeface="+mj-lt"/>
              </a:rPr>
              <a:t>High sustained bandwidth is more important than low latency</a:t>
            </a:r>
          </a:p>
          <a:p>
            <a:pPr lvl="1"/>
            <a:r>
              <a:rPr lang="en-US" altLang="zh-TW" dirty="0" smtClean="0">
                <a:latin typeface="+mj-lt"/>
              </a:rPr>
              <a:t>Place a premium on processing data in bulk at a high rate, while have stringent response time</a:t>
            </a:r>
            <a:endParaRPr lang="zh-TW" altLang="en-US" dirty="0">
              <a:latin typeface="+mj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Design Decisions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141168"/>
          </a:xfrm>
        </p:spPr>
        <p:txBody>
          <a:bodyPr>
            <a:normAutofit/>
          </a:bodyPr>
          <a:lstStyle/>
          <a:p>
            <a:pPr>
              <a:spcBef>
                <a:spcPts val="300"/>
              </a:spcBef>
            </a:pPr>
            <a:r>
              <a:rPr lang="en-US" altLang="zh-TW" dirty="0" smtClean="0">
                <a:latin typeface="+mj-lt"/>
              </a:rPr>
              <a:t>Reliability through replication</a:t>
            </a:r>
          </a:p>
          <a:p>
            <a:pPr>
              <a:spcBef>
                <a:spcPts val="300"/>
              </a:spcBef>
            </a:pPr>
            <a:r>
              <a:rPr lang="en-US" altLang="zh-TW" dirty="0" smtClean="0">
                <a:latin typeface="+mj-lt"/>
              </a:rPr>
              <a:t>Single master to coordinate access, keep metadata</a:t>
            </a:r>
          </a:p>
          <a:p>
            <a:pPr lvl="1">
              <a:spcBef>
                <a:spcPts val="300"/>
              </a:spcBef>
            </a:pPr>
            <a:r>
              <a:rPr lang="en-US" altLang="zh-TW" dirty="0" smtClean="0">
                <a:latin typeface="+mj-lt"/>
              </a:rPr>
              <a:t>Simple centralized management</a:t>
            </a:r>
          </a:p>
          <a:p>
            <a:pPr>
              <a:spcBef>
                <a:spcPts val="300"/>
              </a:spcBef>
            </a:pPr>
            <a:r>
              <a:rPr lang="en-US" altLang="zh-TW" dirty="0" smtClean="0">
                <a:latin typeface="+mj-lt"/>
              </a:rPr>
              <a:t>No data caching</a:t>
            </a:r>
          </a:p>
          <a:p>
            <a:pPr lvl="1">
              <a:spcBef>
                <a:spcPts val="300"/>
              </a:spcBef>
            </a:pPr>
            <a:r>
              <a:rPr lang="en-US" altLang="zh-TW" dirty="0" smtClean="0">
                <a:latin typeface="+mj-lt"/>
              </a:rPr>
              <a:t>Little benefit on client: large data sets / streaming reads</a:t>
            </a:r>
          </a:p>
          <a:p>
            <a:pPr lvl="1">
              <a:spcBef>
                <a:spcPts val="300"/>
              </a:spcBef>
            </a:pPr>
            <a:r>
              <a:rPr lang="en-US" altLang="zh-TW" dirty="0" smtClean="0">
                <a:latin typeface="+mj-lt"/>
              </a:rPr>
              <a:t>No need on </a:t>
            </a:r>
            <a:r>
              <a:rPr lang="en-US" altLang="zh-TW" dirty="0" err="1" smtClean="0">
                <a:latin typeface="+mj-lt"/>
              </a:rPr>
              <a:t>chunkserver</a:t>
            </a:r>
            <a:r>
              <a:rPr lang="en-US" altLang="zh-TW" dirty="0" smtClean="0">
                <a:latin typeface="+mj-lt"/>
              </a:rPr>
              <a:t>: rely on existing file buffers</a:t>
            </a:r>
          </a:p>
          <a:p>
            <a:pPr lvl="1">
              <a:spcBef>
                <a:spcPts val="300"/>
              </a:spcBef>
            </a:pPr>
            <a:r>
              <a:rPr lang="en-US" altLang="zh-TW" dirty="0" smtClean="0">
                <a:latin typeface="+mj-lt"/>
              </a:rPr>
              <a:t>Simplifies the system by eliminating cache coherence issues</a:t>
            </a:r>
          </a:p>
          <a:p>
            <a:pPr>
              <a:spcBef>
                <a:spcPts val="300"/>
              </a:spcBef>
            </a:pPr>
            <a:r>
              <a:rPr lang="en-US" altLang="zh-TW" dirty="0" smtClean="0">
                <a:latin typeface="+mj-lt"/>
              </a:rPr>
              <a:t>Familiar interface, but customize the API</a:t>
            </a:r>
          </a:p>
          <a:p>
            <a:pPr lvl="1">
              <a:spcBef>
                <a:spcPts val="300"/>
              </a:spcBef>
            </a:pPr>
            <a:r>
              <a:rPr lang="en-US" altLang="zh-TW" dirty="0" smtClean="0">
                <a:latin typeface="+mj-lt"/>
              </a:rPr>
              <a:t>No POSIX: simplify the problem; focus on Google apps</a:t>
            </a:r>
          </a:p>
          <a:p>
            <a:pPr lvl="1">
              <a:spcBef>
                <a:spcPts val="300"/>
              </a:spcBef>
            </a:pPr>
            <a:r>
              <a:rPr lang="en-US" altLang="zh-TW" dirty="0" smtClean="0">
                <a:latin typeface="+mj-lt"/>
              </a:rPr>
              <a:t>Add </a:t>
            </a:r>
            <a:r>
              <a:rPr lang="en-US" altLang="zh-TW" i="1" dirty="0" smtClean="0">
                <a:latin typeface="+mn-ea"/>
              </a:rPr>
              <a:t>snapshot</a:t>
            </a:r>
            <a:r>
              <a:rPr lang="en-US" altLang="zh-TW" i="1" dirty="0" smtClean="0">
                <a:latin typeface="+mj-lt"/>
              </a:rPr>
              <a:t> </a:t>
            </a:r>
            <a:r>
              <a:rPr lang="en-US" altLang="zh-TW" dirty="0" smtClean="0">
                <a:latin typeface="+mj-lt"/>
              </a:rPr>
              <a:t>and</a:t>
            </a:r>
            <a:r>
              <a:rPr lang="en-US" altLang="zh-TW" i="1" dirty="0" smtClean="0">
                <a:latin typeface="+mj-lt"/>
              </a:rPr>
              <a:t> </a:t>
            </a:r>
            <a:r>
              <a:rPr lang="en-US" altLang="zh-TW" i="1" dirty="0" smtClean="0">
                <a:latin typeface="+mn-ea"/>
              </a:rPr>
              <a:t>record</a:t>
            </a:r>
            <a:r>
              <a:rPr lang="en-US" altLang="zh-TW" i="1" dirty="0" smtClean="0">
                <a:latin typeface="+mj-lt"/>
              </a:rPr>
              <a:t> </a:t>
            </a:r>
            <a:r>
              <a:rPr lang="en-US" altLang="zh-TW" i="1" dirty="0" smtClean="0">
                <a:latin typeface="+mn-ea"/>
              </a:rPr>
              <a:t>append</a:t>
            </a:r>
            <a:r>
              <a:rPr lang="en-US" altLang="zh-TW" i="1" dirty="0" smtClean="0">
                <a:latin typeface="+mj-lt"/>
              </a:rPr>
              <a:t> </a:t>
            </a:r>
            <a:r>
              <a:rPr lang="en-US" altLang="zh-TW" dirty="0" smtClean="0">
                <a:latin typeface="+mj-lt"/>
              </a:rPr>
              <a:t>operations</a:t>
            </a:r>
            <a:endParaRPr lang="zh-TW" altLang="en-US" dirty="0">
              <a:latin typeface="+mj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Design Overview</a:t>
            </a:r>
            <a:endParaRPr lang="zh-TW" alt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r>
              <a:rPr lang="en-US" altLang="zh-TW" dirty="0" smtClean="0">
                <a:solidFill>
                  <a:schemeClr val="bg1">
                    <a:lumMod val="50000"/>
                  </a:schemeClr>
                </a:solidFill>
                <a:cs typeface="Calibri" pitchFamily="34" charset="0"/>
              </a:rPr>
              <a:t>Assumptions</a:t>
            </a:r>
          </a:p>
          <a:p>
            <a:r>
              <a:rPr lang="en-US" altLang="zh-TW" dirty="0" smtClean="0">
                <a:cs typeface="Calibri" pitchFamily="34" charset="0"/>
              </a:rPr>
              <a:t>Architecture</a:t>
            </a:r>
          </a:p>
          <a:p>
            <a:r>
              <a:rPr lang="en-US" altLang="zh-TW" dirty="0" smtClean="0">
                <a:solidFill>
                  <a:schemeClr val="bg1">
                    <a:lumMod val="50000"/>
                  </a:schemeClr>
                </a:solidFill>
                <a:cs typeface="Calibri" pitchFamily="34" charset="0"/>
              </a:rPr>
              <a:t>Metadata</a:t>
            </a:r>
          </a:p>
          <a:p>
            <a:r>
              <a:rPr lang="en-US" altLang="zh-TW" dirty="0" smtClean="0">
                <a:solidFill>
                  <a:schemeClr val="bg1">
                    <a:lumMod val="50000"/>
                  </a:schemeClr>
                </a:solidFill>
                <a:cs typeface="Calibri" pitchFamily="34" charset="0"/>
              </a:rPr>
              <a:t>Consistency Model</a:t>
            </a:r>
            <a:endParaRPr lang="zh-TW" altLang="en-US" dirty="0" smtClean="0">
              <a:solidFill>
                <a:schemeClr val="bg1">
                  <a:lumMod val="50000"/>
                </a:schemeClr>
              </a:solidFill>
              <a:cs typeface="Calibri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/>
              <a:t>Architecture</a:t>
            </a:r>
            <a:endParaRPr lang="zh-TW" altLang="en-US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259632" y="5196645"/>
            <a:ext cx="1933128" cy="11951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39552" y="2132856"/>
            <a:ext cx="1695450" cy="1038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3203848" y="1772816"/>
            <a:ext cx="4295646" cy="20406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" name="矩形 12"/>
          <p:cNvSpPr/>
          <p:nvPr/>
        </p:nvSpPr>
        <p:spPr>
          <a:xfrm>
            <a:off x="7524328" y="2060848"/>
            <a:ext cx="1619672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dirty="0" smtClean="0"/>
              <a:t>Identified by</a:t>
            </a:r>
          </a:p>
          <a:p>
            <a:r>
              <a:rPr lang="en-US" altLang="zh-TW" dirty="0" smtClean="0"/>
              <a:t>an immutable</a:t>
            </a:r>
          </a:p>
          <a:p>
            <a:r>
              <a:rPr lang="en-US" altLang="zh-TW" dirty="0" smtClean="0"/>
              <a:t>and globally</a:t>
            </a:r>
          </a:p>
          <a:p>
            <a:r>
              <a:rPr lang="en-US" altLang="zh-TW" dirty="0" smtClean="0"/>
              <a:t>unique 64 bit</a:t>
            </a:r>
          </a:p>
          <a:p>
            <a:r>
              <a:rPr lang="en-US" altLang="zh-TW" b="1" i="1" dirty="0" smtClean="0"/>
              <a:t>chunk handle</a:t>
            </a:r>
            <a:endParaRPr lang="zh-TW" altLang="en-US" b="1" dirty="0"/>
          </a:p>
        </p:txBody>
      </p:sp>
      <p:pic>
        <p:nvPicPr>
          <p:cNvPr id="14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707904" y="5196645"/>
            <a:ext cx="1933128" cy="11951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5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300192" y="5196645"/>
            <a:ext cx="1933128" cy="11951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20" name="直線單箭頭接點 19"/>
          <p:cNvCxnSpPr/>
          <p:nvPr/>
        </p:nvCxnSpPr>
        <p:spPr>
          <a:xfrm rot="10800000">
            <a:off x="7020272" y="2708920"/>
            <a:ext cx="576064" cy="1588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1" name="橢圓 10"/>
          <p:cNvSpPr/>
          <p:nvPr/>
        </p:nvSpPr>
        <p:spPr>
          <a:xfrm>
            <a:off x="593870" y="2780927"/>
            <a:ext cx="1656184" cy="387199"/>
          </a:xfrm>
          <a:prstGeom prst="ellipse">
            <a:avLst/>
          </a:prstGeom>
          <a:solidFill>
            <a:schemeClr val="accent1">
              <a:alpha val="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橢圓 11"/>
          <p:cNvSpPr/>
          <p:nvPr/>
        </p:nvSpPr>
        <p:spPr>
          <a:xfrm>
            <a:off x="3185742" y="1862930"/>
            <a:ext cx="1656184" cy="432048"/>
          </a:xfrm>
          <a:prstGeom prst="ellipse">
            <a:avLst/>
          </a:prstGeom>
          <a:solidFill>
            <a:schemeClr val="accent1">
              <a:alpha val="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橢圓 15"/>
          <p:cNvSpPr/>
          <p:nvPr/>
        </p:nvSpPr>
        <p:spPr>
          <a:xfrm>
            <a:off x="1313534" y="5196658"/>
            <a:ext cx="1728192" cy="353116"/>
          </a:xfrm>
          <a:prstGeom prst="ellipse">
            <a:avLst/>
          </a:prstGeom>
          <a:solidFill>
            <a:schemeClr val="accent1">
              <a:alpha val="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Roles in GFS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>
                <a:latin typeface="+mj-lt"/>
              </a:rPr>
              <a:t>Roles: master, </a:t>
            </a:r>
            <a:r>
              <a:rPr lang="en-US" altLang="zh-TW" dirty="0" err="1" smtClean="0">
                <a:latin typeface="+mj-lt"/>
              </a:rPr>
              <a:t>chunkserver</a:t>
            </a:r>
            <a:r>
              <a:rPr lang="en-US" altLang="zh-TW" dirty="0" smtClean="0">
                <a:latin typeface="+mj-lt"/>
              </a:rPr>
              <a:t>, client</a:t>
            </a:r>
          </a:p>
          <a:p>
            <a:pPr lvl="1"/>
            <a:r>
              <a:rPr lang="en-US" altLang="zh-TW" dirty="0" smtClean="0">
                <a:latin typeface="+mj-lt"/>
              </a:rPr>
              <a:t>Commodity Linux box, user level server processes</a:t>
            </a:r>
          </a:p>
          <a:p>
            <a:pPr lvl="1"/>
            <a:r>
              <a:rPr lang="en-US" altLang="zh-TW" dirty="0" smtClean="0">
                <a:latin typeface="+mj-lt"/>
              </a:rPr>
              <a:t>Client and </a:t>
            </a:r>
            <a:r>
              <a:rPr lang="en-US" altLang="zh-TW" dirty="0" err="1" smtClean="0">
                <a:latin typeface="+mj-lt"/>
              </a:rPr>
              <a:t>chunkserver</a:t>
            </a:r>
            <a:r>
              <a:rPr lang="en-US" altLang="zh-TW" dirty="0" smtClean="0">
                <a:latin typeface="+mj-lt"/>
              </a:rPr>
              <a:t> can run on the same box</a:t>
            </a:r>
          </a:p>
          <a:p>
            <a:endParaRPr lang="en-US" altLang="zh-TW" dirty="0" smtClean="0">
              <a:latin typeface="+mj-lt"/>
            </a:endParaRPr>
          </a:p>
          <a:p>
            <a:r>
              <a:rPr lang="en-US" altLang="zh-TW" dirty="0" smtClean="0">
                <a:latin typeface="+mj-lt"/>
              </a:rPr>
              <a:t>Master holds metadata</a:t>
            </a:r>
          </a:p>
          <a:p>
            <a:r>
              <a:rPr lang="en-US" altLang="zh-TW" dirty="0" err="1" smtClean="0">
                <a:latin typeface="+mj-lt"/>
              </a:rPr>
              <a:t>Chunkservers</a:t>
            </a:r>
            <a:r>
              <a:rPr lang="en-US" altLang="zh-TW" dirty="0" smtClean="0">
                <a:latin typeface="+mj-lt"/>
              </a:rPr>
              <a:t> hold data</a:t>
            </a:r>
          </a:p>
          <a:p>
            <a:r>
              <a:rPr lang="en-US" altLang="zh-TW" dirty="0" smtClean="0">
                <a:latin typeface="+mj-lt"/>
              </a:rPr>
              <a:t>Client produces/consumes data</a:t>
            </a:r>
            <a:endParaRPr lang="zh-TW" altLang="en-US" dirty="0">
              <a:latin typeface="+mj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Single Master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97152"/>
          </a:xfrm>
        </p:spPr>
        <p:txBody>
          <a:bodyPr>
            <a:normAutofit fontScale="92500" lnSpcReduction="10000"/>
          </a:bodyPr>
          <a:lstStyle/>
          <a:p>
            <a:r>
              <a:rPr lang="en-US" altLang="zh-TW" dirty="0" smtClean="0">
                <a:latin typeface="+mj-lt"/>
              </a:rPr>
              <a:t>The master have global knowledge of chunks</a:t>
            </a:r>
          </a:p>
          <a:p>
            <a:pPr lvl="1"/>
            <a:r>
              <a:rPr lang="en-US" altLang="zh-TW" dirty="0" smtClean="0">
                <a:latin typeface="+mj-lt"/>
              </a:rPr>
              <a:t>Easy to make decisions on placement and replication</a:t>
            </a:r>
          </a:p>
          <a:p>
            <a:r>
              <a:rPr lang="en-US" altLang="zh-TW" dirty="0" smtClean="0">
                <a:latin typeface="+mj-lt"/>
              </a:rPr>
              <a:t>From distributed systems we know this is a:</a:t>
            </a:r>
          </a:p>
          <a:p>
            <a:pPr lvl="1"/>
            <a:r>
              <a:rPr lang="en-US" altLang="zh-TW" dirty="0" smtClean="0">
                <a:latin typeface="+mj-lt"/>
              </a:rPr>
              <a:t>Single point of failure</a:t>
            </a:r>
          </a:p>
          <a:p>
            <a:pPr lvl="1"/>
            <a:r>
              <a:rPr lang="en-US" altLang="zh-TW" dirty="0" smtClean="0">
                <a:latin typeface="+mj-lt"/>
              </a:rPr>
              <a:t>Scalability bottleneck</a:t>
            </a:r>
          </a:p>
          <a:p>
            <a:r>
              <a:rPr lang="en-US" altLang="zh-TW" dirty="0" smtClean="0">
                <a:latin typeface="+mj-lt"/>
              </a:rPr>
              <a:t>GFS solutions:</a:t>
            </a:r>
          </a:p>
          <a:p>
            <a:pPr lvl="1"/>
            <a:r>
              <a:rPr lang="en-US" altLang="zh-TW" dirty="0" smtClean="0">
                <a:latin typeface="+mj-lt"/>
              </a:rPr>
              <a:t>Shadow masters</a:t>
            </a:r>
          </a:p>
          <a:p>
            <a:pPr lvl="1"/>
            <a:r>
              <a:rPr lang="en-US" altLang="zh-TW" dirty="0" smtClean="0">
                <a:latin typeface="+mj-lt"/>
              </a:rPr>
              <a:t>Minimize master involvement</a:t>
            </a:r>
          </a:p>
          <a:p>
            <a:pPr lvl="2"/>
            <a:r>
              <a:rPr lang="en-US" altLang="zh-TW" dirty="0" smtClean="0">
                <a:latin typeface="+mj-lt"/>
              </a:rPr>
              <a:t>never move data through it, use only for metadata</a:t>
            </a:r>
          </a:p>
          <a:p>
            <a:pPr lvl="2"/>
            <a:r>
              <a:rPr lang="en-US" altLang="zh-TW" dirty="0" smtClean="0">
                <a:latin typeface="+mj-lt"/>
              </a:rPr>
              <a:t>cache metadata at clients</a:t>
            </a:r>
          </a:p>
          <a:p>
            <a:pPr lvl="2"/>
            <a:r>
              <a:rPr lang="en-US" altLang="zh-TW" dirty="0" smtClean="0">
                <a:latin typeface="+mj-lt"/>
              </a:rPr>
              <a:t>large chunk size</a:t>
            </a:r>
          </a:p>
          <a:p>
            <a:pPr lvl="2"/>
            <a:r>
              <a:rPr lang="en-US" altLang="zh-TW" dirty="0" smtClean="0">
                <a:latin typeface="+mj-lt"/>
              </a:rPr>
              <a:t>master delegates authority to primary replicas in data mutations(chunk leases)</a:t>
            </a:r>
            <a:endParaRPr lang="zh-TW" altLang="en-US" dirty="0">
              <a:latin typeface="+mj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 smtClean="0"/>
              <a:t>Chunkserver</a:t>
            </a:r>
            <a:r>
              <a:rPr lang="en-US" altLang="zh-TW" dirty="0" smtClean="0"/>
              <a:t> - Data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97152"/>
          </a:xfrm>
        </p:spPr>
        <p:txBody>
          <a:bodyPr>
            <a:normAutofit/>
          </a:bodyPr>
          <a:lstStyle/>
          <a:p>
            <a:r>
              <a:rPr lang="en-US" altLang="zh-TW" dirty="0" smtClean="0">
                <a:latin typeface="+mj-lt"/>
              </a:rPr>
              <a:t>Data organized in files and directories</a:t>
            </a:r>
          </a:p>
          <a:p>
            <a:pPr lvl="1"/>
            <a:r>
              <a:rPr lang="en-US" altLang="zh-TW" dirty="0" smtClean="0">
                <a:latin typeface="+mj-lt"/>
              </a:rPr>
              <a:t>Manipulation through file handles</a:t>
            </a:r>
          </a:p>
          <a:p>
            <a:r>
              <a:rPr lang="en-US" altLang="zh-TW" dirty="0" smtClean="0">
                <a:latin typeface="+mj-lt"/>
              </a:rPr>
              <a:t>Files stored in </a:t>
            </a:r>
            <a:r>
              <a:rPr lang="en-US" altLang="zh-TW" i="1" dirty="0" smtClean="0">
                <a:latin typeface="+mj-lt"/>
              </a:rPr>
              <a:t>chunks</a:t>
            </a:r>
            <a:r>
              <a:rPr lang="en-US" altLang="zh-TW" dirty="0" smtClean="0">
                <a:latin typeface="+mj-lt"/>
              </a:rPr>
              <a:t> (c.f. “</a:t>
            </a:r>
            <a:r>
              <a:rPr lang="en-US" altLang="zh-TW" i="1" dirty="0" smtClean="0">
                <a:latin typeface="+mj-lt"/>
              </a:rPr>
              <a:t>blocks</a:t>
            </a:r>
            <a:r>
              <a:rPr lang="en-US" altLang="zh-TW" dirty="0" smtClean="0">
                <a:latin typeface="+mj-lt"/>
              </a:rPr>
              <a:t>” in disk file systems)</a:t>
            </a:r>
          </a:p>
          <a:p>
            <a:pPr lvl="1"/>
            <a:r>
              <a:rPr lang="en-US" altLang="zh-TW" dirty="0" smtClean="0">
                <a:latin typeface="+mj-lt"/>
              </a:rPr>
              <a:t>A chunk is a Linux file on local disk of a </a:t>
            </a:r>
            <a:r>
              <a:rPr lang="en-US" altLang="zh-TW" dirty="0" err="1" smtClean="0">
                <a:latin typeface="+mj-lt"/>
              </a:rPr>
              <a:t>chunkserver</a:t>
            </a:r>
            <a:endParaRPr lang="en-US" altLang="zh-TW" dirty="0" smtClean="0">
              <a:latin typeface="+mj-lt"/>
            </a:endParaRPr>
          </a:p>
          <a:p>
            <a:pPr lvl="1"/>
            <a:r>
              <a:rPr lang="en-US" altLang="zh-TW" dirty="0" smtClean="0">
                <a:latin typeface="+mj-lt"/>
              </a:rPr>
              <a:t>Unique 64 bit chunk handles, assigned by master at creation time</a:t>
            </a:r>
          </a:p>
          <a:p>
            <a:pPr lvl="1"/>
            <a:r>
              <a:rPr lang="en-US" altLang="zh-TW" dirty="0" smtClean="0">
                <a:latin typeface="+mj-lt"/>
              </a:rPr>
              <a:t>Fixed chunk size of 64MB</a:t>
            </a:r>
          </a:p>
          <a:p>
            <a:pPr lvl="1"/>
            <a:r>
              <a:rPr lang="en-US" altLang="zh-TW" dirty="0" smtClean="0">
                <a:latin typeface="+mj-lt"/>
              </a:rPr>
              <a:t>Read/write by (chunk handle, byte range)</a:t>
            </a:r>
          </a:p>
          <a:p>
            <a:pPr lvl="1"/>
            <a:r>
              <a:rPr lang="en-US" altLang="zh-TW" dirty="0" smtClean="0">
                <a:latin typeface="+mj-lt"/>
              </a:rPr>
              <a:t>Each chunk is replicated across 3+ </a:t>
            </a:r>
            <a:r>
              <a:rPr lang="en-US" altLang="zh-TW" dirty="0" err="1" smtClean="0">
                <a:latin typeface="+mj-lt"/>
              </a:rPr>
              <a:t>chunkservers</a:t>
            </a:r>
            <a:endParaRPr lang="zh-TW" altLang="en-US" dirty="0">
              <a:latin typeface="+mj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Chunk Size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602473"/>
            <a:ext cx="8229600" cy="5184576"/>
          </a:xfrm>
        </p:spPr>
        <p:txBody>
          <a:bodyPr>
            <a:normAutofit/>
          </a:bodyPr>
          <a:lstStyle/>
          <a:p>
            <a:r>
              <a:rPr lang="en-US" altLang="zh-TW" dirty="0" smtClean="0">
                <a:latin typeface="+mj-lt"/>
              </a:rPr>
              <a:t>Each chunk size is 64 MB</a:t>
            </a:r>
          </a:p>
          <a:p>
            <a:r>
              <a:rPr lang="en-US" altLang="zh-TW" dirty="0" smtClean="0">
                <a:latin typeface="+mj-lt"/>
              </a:rPr>
              <a:t>A large chunk size offers important advantages when stream reading/writing</a:t>
            </a:r>
          </a:p>
          <a:p>
            <a:pPr lvl="1"/>
            <a:r>
              <a:rPr lang="en-US" altLang="zh-TW" dirty="0" smtClean="0">
                <a:latin typeface="+mj-lt"/>
              </a:rPr>
              <a:t>Less communication between client and master</a:t>
            </a:r>
          </a:p>
          <a:p>
            <a:pPr lvl="1"/>
            <a:r>
              <a:rPr lang="en-US" altLang="zh-TW" dirty="0" smtClean="0">
                <a:latin typeface="+mj-lt"/>
              </a:rPr>
              <a:t>Less memory space needed for metadata in master</a:t>
            </a:r>
          </a:p>
          <a:p>
            <a:pPr lvl="1"/>
            <a:r>
              <a:rPr lang="en-US" altLang="zh-TW" dirty="0" smtClean="0">
                <a:latin typeface="+mj-lt"/>
              </a:rPr>
              <a:t>Less network overhead between client and </a:t>
            </a:r>
            <a:r>
              <a:rPr lang="en-US" altLang="zh-TW" dirty="0" err="1" smtClean="0">
                <a:latin typeface="+mj-lt"/>
              </a:rPr>
              <a:t>chunkserver</a:t>
            </a:r>
            <a:r>
              <a:rPr lang="en-US" altLang="zh-TW" dirty="0" smtClean="0">
                <a:latin typeface="+mj-lt"/>
              </a:rPr>
              <a:t> (one TCP connection for larger amount of data)</a:t>
            </a:r>
          </a:p>
          <a:p>
            <a:r>
              <a:rPr lang="en-US" altLang="zh-TW" dirty="0" smtClean="0">
                <a:latin typeface="+mj-lt"/>
              </a:rPr>
              <a:t>On the other hand, a large chunk size has its disadvantages</a:t>
            </a:r>
          </a:p>
          <a:p>
            <a:pPr lvl="1"/>
            <a:r>
              <a:rPr lang="en-US" altLang="zh-TW" dirty="0" smtClean="0">
                <a:latin typeface="+mj-lt"/>
              </a:rPr>
              <a:t>Hot spots</a:t>
            </a:r>
          </a:p>
          <a:p>
            <a:pPr lvl="1"/>
            <a:r>
              <a:rPr lang="en-US" altLang="zh-TW" dirty="0" smtClean="0">
                <a:latin typeface="+mj-lt"/>
              </a:rPr>
              <a:t>Fragmentation</a:t>
            </a:r>
            <a:endParaRPr lang="zh-TW" altLang="en-US" dirty="0">
              <a:latin typeface="+mj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Design Overview</a:t>
            </a:r>
            <a:endParaRPr lang="zh-TW" alt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r>
              <a:rPr lang="en-US" altLang="zh-TW" dirty="0" smtClean="0">
                <a:solidFill>
                  <a:schemeClr val="bg1">
                    <a:lumMod val="50000"/>
                  </a:schemeClr>
                </a:solidFill>
                <a:cs typeface="Calibri" pitchFamily="34" charset="0"/>
              </a:rPr>
              <a:t>Assumptions</a:t>
            </a:r>
          </a:p>
          <a:p>
            <a:r>
              <a:rPr lang="en-US" altLang="zh-TW" dirty="0" smtClean="0">
                <a:solidFill>
                  <a:schemeClr val="bg1">
                    <a:lumMod val="50000"/>
                  </a:schemeClr>
                </a:solidFill>
                <a:cs typeface="Calibri" pitchFamily="34" charset="0"/>
              </a:rPr>
              <a:t>Architecture</a:t>
            </a:r>
          </a:p>
          <a:p>
            <a:r>
              <a:rPr lang="en-US" altLang="zh-TW" dirty="0" smtClean="0">
                <a:cs typeface="Calibri" pitchFamily="34" charset="0"/>
              </a:rPr>
              <a:t>Metadata</a:t>
            </a:r>
          </a:p>
          <a:p>
            <a:r>
              <a:rPr lang="en-US" altLang="zh-TW" dirty="0" smtClean="0">
                <a:solidFill>
                  <a:schemeClr val="bg1">
                    <a:lumMod val="50000"/>
                  </a:schemeClr>
                </a:solidFill>
                <a:cs typeface="Calibri" pitchFamily="34" charset="0"/>
              </a:rPr>
              <a:t>Consistency Model</a:t>
            </a:r>
            <a:endParaRPr lang="zh-TW" altLang="en-US" dirty="0" smtClean="0">
              <a:solidFill>
                <a:schemeClr val="bg1">
                  <a:lumMod val="50000"/>
                </a:schemeClr>
              </a:solidFill>
              <a:cs typeface="Calibri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/>
              <a:t>Metadata</a:t>
            </a:r>
            <a:endParaRPr lang="zh-TW" altLang="en-US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259632" y="5196645"/>
            <a:ext cx="1933128" cy="11951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55576" y="2204864"/>
            <a:ext cx="1695450" cy="1038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4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707904" y="5196645"/>
            <a:ext cx="1933128" cy="11951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5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300192" y="5196645"/>
            <a:ext cx="1933128" cy="11951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" name="矩形 11"/>
          <p:cNvSpPr/>
          <p:nvPr/>
        </p:nvSpPr>
        <p:spPr>
          <a:xfrm>
            <a:off x="3707904" y="1844824"/>
            <a:ext cx="4320480" cy="2016224"/>
          </a:xfrm>
          <a:prstGeom prst="rect">
            <a:avLst/>
          </a:prstGeom>
          <a:ln w="31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marL="36000" indent="36000">
              <a:lnSpc>
                <a:spcPct val="150000"/>
              </a:lnSpc>
              <a:spcBef>
                <a:spcPts val="1200"/>
              </a:spcBef>
              <a:spcAft>
                <a:spcPts val="600"/>
              </a:spcAft>
            </a:pPr>
            <a:r>
              <a:rPr lang="en-US" altLang="zh-TW" sz="2400" b="1" dirty="0" smtClean="0">
                <a:solidFill>
                  <a:schemeClr val="tx1"/>
                </a:solidFill>
                <a:latin typeface="Cambria" pitchFamily="18" charset="0"/>
                <a:ea typeface="Cambria Math" pitchFamily="18" charset="0"/>
              </a:rPr>
              <a:t>GFS master</a:t>
            </a:r>
          </a:p>
          <a:p>
            <a:r>
              <a:rPr lang="en-US" altLang="zh-TW" sz="2200" dirty="0" smtClean="0">
                <a:solidFill>
                  <a:schemeClr val="accent3">
                    <a:lumMod val="75000"/>
                  </a:schemeClr>
                </a:solidFill>
              </a:rPr>
              <a:t>• Namespace(file, chunk)</a:t>
            </a:r>
          </a:p>
          <a:p>
            <a:r>
              <a:rPr lang="en-US" altLang="zh-TW" sz="2200" dirty="0" smtClean="0">
                <a:solidFill>
                  <a:schemeClr val="accent3">
                    <a:lumMod val="75000"/>
                  </a:schemeClr>
                </a:solidFill>
              </a:rPr>
              <a:t>• Mapping from files to chunks</a:t>
            </a:r>
          </a:p>
          <a:p>
            <a:r>
              <a:rPr lang="en-US" altLang="zh-TW" sz="2200" dirty="0" smtClean="0">
                <a:solidFill>
                  <a:schemeClr val="accent3">
                    <a:lumMod val="75000"/>
                  </a:schemeClr>
                </a:solidFill>
              </a:rPr>
              <a:t>• Current locations of chunks</a:t>
            </a:r>
          </a:p>
          <a:p>
            <a:r>
              <a:rPr lang="en-US" altLang="zh-TW" sz="2200" dirty="0" smtClean="0">
                <a:solidFill>
                  <a:schemeClr val="accent3">
                    <a:lumMod val="75000"/>
                  </a:schemeClr>
                </a:solidFill>
              </a:rPr>
              <a:t>• Access Control Information</a:t>
            </a:r>
          </a:p>
        </p:txBody>
      </p:sp>
      <p:sp>
        <p:nvSpPr>
          <p:cNvPr id="11" name="矩形 10"/>
          <p:cNvSpPr/>
          <p:nvPr/>
        </p:nvSpPr>
        <p:spPr>
          <a:xfrm>
            <a:off x="6931024" y="1916832"/>
            <a:ext cx="2212976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2200" dirty="0" smtClean="0">
                <a:solidFill>
                  <a:srgbClr val="FF0000"/>
                </a:solidFill>
              </a:rPr>
              <a:t>All in memory during operation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Metadata (cont.)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zh-TW" dirty="0" smtClean="0">
                <a:latin typeface="+mj-lt"/>
              </a:rPr>
              <a:t>Namespace and file-to-chunk mapping are kept persistent</a:t>
            </a:r>
          </a:p>
          <a:p>
            <a:pPr lvl="1"/>
            <a:r>
              <a:rPr lang="en-US" altLang="zh-TW" i="1" dirty="0" smtClean="0">
                <a:latin typeface="+mn-ea"/>
              </a:rPr>
              <a:t>operation logs  </a:t>
            </a:r>
            <a:r>
              <a:rPr lang="en-US" altLang="zh-TW" dirty="0" smtClean="0">
                <a:latin typeface="+mj-lt"/>
              </a:rPr>
              <a:t>+</a:t>
            </a:r>
            <a:r>
              <a:rPr lang="en-US" altLang="zh-TW" i="1" dirty="0" smtClean="0">
                <a:latin typeface="+mj-lt"/>
              </a:rPr>
              <a:t> </a:t>
            </a:r>
            <a:r>
              <a:rPr lang="en-US" altLang="zh-TW" i="1" dirty="0" smtClean="0">
                <a:latin typeface="+mn-ea"/>
              </a:rPr>
              <a:t>checkpoints</a:t>
            </a:r>
          </a:p>
          <a:p>
            <a:r>
              <a:rPr lang="en-US" altLang="zh-TW" dirty="0" smtClean="0">
                <a:latin typeface="+mj-lt"/>
              </a:rPr>
              <a:t>Operation logs = historical record of mutations</a:t>
            </a:r>
          </a:p>
          <a:p>
            <a:pPr lvl="1"/>
            <a:r>
              <a:rPr lang="en-US" altLang="zh-TW" dirty="0" smtClean="0">
                <a:latin typeface="+mj-lt"/>
              </a:rPr>
              <a:t>represents the timeline of changes to metadata in concurrent operations</a:t>
            </a:r>
          </a:p>
          <a:p>
            <a:pPr lvl="1"/>
            <a:r>
              <a:rPr lang="en-US" altLang="zh-TW" dirty="0" smtClean="0">
                <a:latin typeface="+mj-lt"/>
              </a:rPr>
              <a:t>stored on master's local disk</a:t>
            </a:r>
          </a:p>
          <a:p>
            <a:pPr lvl="1"/>
            <a:r>
              <a:rPr lang="en-US" altLang="zh-TW" dirty="0" smtClean="0">
                <a:latin typeface="+mj-lt"/>
              </a:rPr>
              <a:t>replicated remotely</a:t>
            </a:r>
          </a:p>
          <a:p>
            <a:r>
              <a:rPr lang="en-US" altLang="zh-TW" dirty="0" smtClean="0">
                <a:latin typeface="+mj-lt"/>
              </a:rPr>
              <a:t>A mutation is not done or visible until the operation log is stored locally and remotely</a:t>
            </a:r>
          </a:p>
          <a:p>
            <a:pPr lvl="1"/>
            <a:r>
              <a:rPr lang="en-US" altLang="zh-TW" dirty="0" smtClean="0">
                <a:latin typeface="+mj-lt"/>
              </a:rPr>
              <a:t>master may group operation logs for batch flush</a:t>
            </a:r>
            <a:endParaRPr lang="zh-TW" altLang="en-US" dirty="0" smtClean="0">
              <a:latin typeface="+mj-lt"/>
            </a:endParaRPr>
          </a:p>
          <a:p>
            <a:endParaRPr lang="zh-TW" altLang="en-US" dirty="0">
              <a:latin typeface="+mj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Recovery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97152"/>
          </a:xfrm>
        </p:spPr>
        <p:txBody>
          <a:bodyPr>
            <a:normAutofit fontScale="92500" lnSpcReduction="10000"/>
          </a:bodyPr>
          <a:lstStyle/>
          <a:p>
            <a:r>
              <a:rPr lang="en-US" altLang="zh-TW" dirty="0" smtClean="0">
                <a:latin typeface="+mj-lt"/>
              </a:rPr>
              <a:t>Recover the file system = replay the operation logs</a:t>
            </a:r>
          </a:p>
          <a:p>
            <a:pPr lvl="1"/>
            <a:r>
              <a:rPr lang="en-US" altLang="zh-TW" dirty="0" smtClean="0">
                <a:latin typeface="+mj-lt"/>
              </a:rPr>
              <a:t>“</a:t>
            </a:r>
            <a:r>
              <a:rPr lang="en-US" altLang="zh-TW" dirty="0" err="1" smtClean="0">
                <a:latin typeface="+mj-lt"/>
              </a:rPr>
              <a:t>fsck</a:t>
            </a:r>
            <a:r>
              <a:rPr lang="en-US" altLang="zh-TW" dirty="0" smtClean="0">
                <a:latin typeface="+mj-lt"/>
              </a:rPr>
              <a:t>” of GFS after, e.g., a master crash.</a:t>
            </a:r>
          </a:p>
          <a:p>
            <a:r>
              <a:rPr lang="en-US" altLang="zh-TW" dirty="0" smtClean="0">
                <a:latin typeface="+mj-lt"/>
              </a:rPr>
              <a:t>Use checkpoints to speed up</a:t>
            </a:r>
          </a:p>
          <a:p>
            <a:pPr lvl="1"/>
            <a:r>
              <a:rPr lang="en-US" altLang="zh-TW" dirty="0" smtClean="0">
                <a:latin typeface="+mj-lt"/>
              </a:rPr>
              <a:t>memory-</a:t>
            </a:r>
            <a:r>
              <a:rPr lang="en-US" altLang="zh-TW" dirty="0" err="1" smtClean="0">
                <a:latin typeface="+mj-lt"/>
              </a:rPr>
              <a:t>mappable</a:t>
            </a:r>
            <a:r>
              <a:rPr lang="en-US" altLang="zh-TW" dirty="0" smtClean="0">
                <a:latin typeface="+mj-lt"/>
              </a:rPr>
              <a:t>, no parsing</a:t>
            </a:r>
          </a:p>
          <a:p>
            <a:pPr lvl="1"/>
            <a:r>
              <a:rPr lang="en-US" altLang="zh-TW" dirty="0" smtClean="0">
                <a:latin typeface="+mj-lt"/>
              </a:rPr>
              <a:t>Recovery = read in the latest checkpoint + replay logs taken after the checkpoint</a:t>
            </a:r>
          </a:p>
          <a:p>
            <a:pPr lvl="1"/>
            <a:r>
              <a:rPr lang="en-US" altLang="zh-TW" dirty="0" smtClean="0">
                <a:latin typeface="+mj-lt"/>
              </a:rPr>
              <a:t>Incomplete checkpoints are ignored</a:t>
            </a:r>
          </a:p>
          <a:p>
            <a:pPr lvl="1"/>
            <a:r>
              <a:rPr lang="en-US" altLang="zh-TW" dirty="0" smtClean="0">
                <a:latin typeface="+mj-lt"/>
              </a:rPr>
              <a:t>Old checkpoints and operation logs can be deleted.</a:t>
            </a:r>
          </a:p>
          <a:p>
            <a:r>
              <a:rPr lang="en-US" altLang="zh-TW" dirty="0" smtClean="0">
                <a:latin typeface="+mj-lt"/>
              </a:rPr>
              <a:t>Creating a checkpoint: must not delay new mutations</a:t>
            </a:r>
          </a:p>
          <a:p>
            <a:pPr marL="914400" lvl="1" indent="-324000">
              <a:buFont typeface="+mj-lt"/>
              <a:buAutoNum type="arabicPeriod"/>
            </a:pPr>
            <a:r>
              <a:rPr lang="en-US" altLang="zh-TW" dirty="0" smtClean="0">
                <a:latin typeface="+mj-lt"/>
              </a:rPr>
              <a:t>Switch to a new log file for new operation logs: all operation logs up to now are now “frozen”</a:t>
            </a:r>
          </a:p>
          <a:p>
            <a:pPr marL="914400" lvl="1" indent="-324000">
              <a:buFont typeface="+mj-lt"/>
              <a:buAutoNum type="arabicPeriod"/>
            </a:pPr>
            <a:r>
              <a:rPr lang="en-US" altLang="zh-TW" dirty="0" smtClean="0">
                <a:latin typeface="+mj-lt"/>
              </a:rPr>
              <a:t>Build the checkpoint in a separate thread</a:t>
            </a:r>
          </a:p>
          <a:p>
            <a:pPr marL="914400" lvl="1" indent="-324000">
              <a:buFont typeface="+mj-lt"/>
              <a:buAutoNum type="arabicPeriod"/>
            </a:pPr>
            <a:r>
              <a:rPr lang="en-US" altLang="zh-TW" dirty="0" smtClean="0">
                <a:latin typeface="+mj-lt"/>
              </a:rPr>
              <a:t>Write locally and remotely</a:t>
            </a:r>
            <a:endParaRPr lang="zh-TW" altLang="en-US" dirty="0">
              <a:latin typeface="+mj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Chunk Locations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TW" dirty="0" smtClean="0">
                <a:latin typeface="+mj-lt"/>
              </a:rPr>
              <a:t>Chunk locations are not stored in master's disks</a:t>
            </a:r>
          </a:p>
          <a:p>
            <a:pPr lvl="1"/>
            <a:r>
              <a:rPr lang="en-US" altLang="zh-TW" dirty="0" smtClean="0">
                <a:latin typeface="+mj-lt"/>
              </a:rPr>
              <a:t>The master asks </a:t>
            </a:r>
            <a:r>
              <a:rPr lang="en-US" altLang="zh-TW" dirty="0" err="1" smtClean="0">
                <a:latin typeface="+mj-lt"/>
              </a:rPr>
              <a:t>chunkservers</a:t>
            </a:r>
            <a:r>
              <a:rPr lang="en-US" altLang="zh-TW" dirty="0" smtClean="0">
                <a:latin typeface="+mj-lt"/>
              </a:rPr>
              <a:t> what they have during master startup or when a new </a:t>
            </a:r>
            <a:r>
              <a:rPr lang="en-US" altLang="zh-TW" dirty="0" err="1" smtClean="0">
                <a:latin typeface="+mj-lt"/>
              </a:rPr>
              <a:t>chunkserver</a:t>
            </a:r>
            <a:r>
              <a:rPr lang="en-US" altLang="zh-TW" dirty="0" smtClean="0">
                <a:latin typeface="+mj-lt"/>
              </a:rPr>
              <a:t> joins the cluster</a:t>
            </a:r>
          </a:p>
          <a:p>
            <a:pPr lvl="1"/>
            <a:r>
              <a:rPr lang="en-US" altLang="zh-TW" dirty="0" smtClean="0">
                <a:latin typeface="+mj-lt"/>
              </a:rPr>
              <a:t>It decides chunk placements thereafter</a:t>
            </a:r>
          </a:p>
          <a:p>
            <a:pPr lvl="1"/>
            <a:r>
              <a:rPr lang="en-US" altLang="zh-TW" dirty="0" smtClean="0">
                <a:latin typeface="+mj-lt"/>
              </a:rPr>
              <a:t>It monitors </a:t>
            </a:r>
            <a:r>
              <a:rPr lang="en-US" altLang="zh-TW" dirty="0" err="1" smtClean="0">
                <a:latin typeface="+mj-lt"/>
              </a:rPr>
              <a:t>chunkservers</a:t>
            </a:r>
            <a:r>
              <a:rPr lang="en-US" altLang="zh-TW" dirty="0" smtClean="0">
                <a:latin typeface="+mj-lt"/>
              </a:rPr>
              <a:t> with regular heartbeat messages</a:t>
            </a:r>
          </a:p>
          <a:p>
            <a:r>
              <a:rPr lang="en-US" altLang="zh-TW" dirty="0" smtClean="0">
                <a:latin typeface="+mj-lt"/>
              </a:rPr>
              <a:t>Rationale</a:t>
            </a:r>
          </a:p>
          <a:p>
            <a:pPr lvl="1"/>
            <a:r>
              <a:rPr lang="en-US" altLang="zh-TW" dirty="0" smtClean="0">
                <a:latin typeface="+mj-lt"/>
              </a:rPr>
              <a:t>Disks fail</a:t>
            </a:r>
          </a:p>
          <a:p>
            <a:pPr lvl="1"/>
            <a:r>
              <a:rPr lang="en-US" altLang="zh-TW" dirty="0" err="1" smtClean="0">
                <a:latin typeface="+mj-lt"/>
              </a:rPr>
              <a:t>Chunkservers</a:t>
            </a:r>
            <a:r>
              <a:rPr lang="en-US" altLang="zh-TW" dirty="0" smtClean="0">
                <a:latin typeface="+mj-lt"/>
              </a:rPr>
              <a:t> die, (re)appear, get renamed, etc.</a:t>
            </a:r>
          </a:p>
          <a:p>
            <a:pPr lvl="1"/>
            <a:r>
              <a:rPr lang="en-US" altLang="zh-TW" dirty="0" smtClean="0">
                <a:latin typeface="+mj-lt"/>
              </a:rPr>
              <a:t>Eliminate synchronization problem between the master and all </a:t>
            </a:r>
            <a:r>
              <a:rPr lang="en-US" altLang="zh-TW" dirty="0" err="1" smtClean="0">
                <a:latin typeface="+mj-lt"/>
              </a:rPr>
              <a:t>chunkservers</a:t>
            </a:r>
            <a:endParaRPr lang="zh-TW" altLang="en-US" dirty="0">
              <a:solidFill>
                <a:srgbClr val="FF0000"/>
              </a:solidFill>
              <a:latin typeface="+mj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Design Overview</a:t>
            </a:r>
            <a:endParaRPr lang="zh-TW" alt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r>
              <a:rPr lang="en-US" altLang="zh-TW" dirty="0" smtClean="0">
                <a:solidFill>
                  <a:schemeClr val="bg1">
                    <a:lumMod val="50000"/>
                  </a:schemeClr>
                </a:solidFill>
                <a:cs typeface="Calibri" pitchFamily="34" charset="0"/>
              </a:rPr>
              <a:t>Assumptions</a:t>
            </a:r>
          </a:p>
          <a:p>
            <a:r>
              <a:rPr lang="en-US" altLang="zh-TW" dirty="0" smtClean="0">
                <a:solidFill>
                  <a:schemeClr val="bg1">
                    <a:lumMod val="50000"/>
                  </a:schemeClr>
                </a:solidFill>
                <a:cs typeface="Calibri" pitchFamily="34" charset="0"/>
              </a:rPr>
              <a:t>Architecture</a:t>
            </a:r>
          </a:p>
          <a:p>
            <a:r>
              <a:rPr lang="en-US" altLang="zh-TW" dirty="0" smtClean="0">
                <a:solidFill>
                  <a:schemeClr val="bg1">
                    <a:lumMod val="50000"/>
                  </a:schemeClr>
                </a:solidFill>
                <a:cs typeface="Calibri" pitchFamily="34" charset="0"/>
              </a:rPr>
              <a:t>Metadata</a:t>
            </a:r>
          </a:p>
          <a:p>
            <a:r>
              <a:rPr lang="en-US" altLang="zh-TW" dirty="0" smtClean="0">
                <a:cs typeface="Calibri" pitchFamily="34" charset="0"/>
              </a:rPr>
              <a:t>Consistency Model</a:t>
            </a:r>
            <a:endParaRPr lang="zh-TW" altLang="en-US" dirty="0" smtClean="0">
              <a:cs typeface="Calibri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Consistency Model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97152"/>
          </a:xfrm>
        </p:spPr>
        <p:txBody>
          <a:bodyPr>
            <a:normAutofit/>
          </a:bodyPr>
          <a:lstStyle/>
          <a:p>
            <a:r>
              <a:rPr lang="en-US" altLang="zh-TW" dirty="0" smtClean="0">
                <a:latin typeface="+mj-lt"/>
              </a:rPr>
              <a:t>GFS has a relaxed consistency model</a:t>
            </a:r>
          </a:p>
          <a:p>
            <a:r>
              <a:rPr lang="en-US" altLang="zh-TW" dirty="0" smtClean="0">
                <a:latin typeface="+mj-lt"/>
              </a:rPr>
              <a:t>File namespace mutations are atomic and consistent</a:t>
            </a:r>
          </a:p>
          <a:p>
            <a:pPr lvl="1"/>
            <a:r>
              <a:rPr lang="en-US" altLang="zh-TW" dirty="0" smtClean="0">
                <a:latin typeface="+mj-lt"/>
              </a:rPr>
              <a:t>handled exclusively by the master</a:t>
            </a:r>
          </a:p>
          <a:p>
            <a:pPr lvl="1"/>
            <a:r>
              <a:rPr lang="en-US" altLang="zh-TW" dirty="0" smtClean="0">
                <a:latin typeface="+mj-lt"/>
              </a:rPr>
              <a:t>namespace lock guarantees atomicity and correctness</a:t>
            </a:r>
          </a:p>
          <a:p>
            <a:pPr lvl="1"/>
            <a:r>
              <a:rPr lang="en-US" altLang="zh-TW" dirty="0" smtClean="0">
                <a:latin typeface="+mj-lt"/>
              </a:rPr>
              <a:t>order defined by the operation logs</a:t>
            </a:r>
          </a:p>
          <a:p>
            <a:r>
              <a:rPr lang="en-US" altLang="zh-TW" dirty="0" smtClean="0">
                <a:latin typeface="+mj-lt"/>
              </a:rPr>
              <a:t>File region mutations: complicated by replicas</a:t>
            </a:r>
          </a:p>
          <a:p>
            <a:pPr lvl="1"/>
            <a:r>
              <a:rPr lang="en-US" altLang="zh-TW" dirty="0" smtClean="0">
                <a:latin typeface="+mj-lt"/>
              </a:rPr>
              <a:t>“Consistent” = all replicas have the same data</a:t>
            </a:r>
          </a:p>
          <a:p>
            <a:pPr lvl="1"/>
            <a:r>
              <a:rPr lang="en-US" altLang="zh-TW" dirty="0" smtClean="0">
                <a:latin typeface="+mj-lt"/>
              </a:rPr>
              <a:t>“Defined” = consistent + replica reflects the mutation entirely</a:t>
            </a:r>
          </a:p>
          <a:p>
            <a:pPr lvl="1"/>
            <a:r>
              <a:rPr lang="en-US" altLang="zh-TW" dirty="0" smtClean="0">
                <a:latin typeface="+mj-lt"/>
              </a:rPr>
              <a:t>A relaxed consistency model: not always consistent, not always defined, either</a:t>
            </a:r>
            <a:endParaRPr lang="zh-TW" altLang="en-US" dirty="0">
              <a:latin typeface="+mj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Consistency Model (cont.)</a:t>
            </a:r>
            <a:endParaRPr lang="zh-TW" altLang="en-US" dirty="0"/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43725" y="2132856"/>
            <a:ext cx="8656550" cy="35283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Google File System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Clr>
                <a:schemeClr val="bg1">
                  <a:lumMod val="50000"/>
                </a:schemeClr>
              </a:buClr>
            </a:pPr>
            <a:r>
              <a:rPr lang="en-US" altLang="zh-TW" dirty="0" smtClean="0">
                <a:solidFill>
                  <a:schemeClr val="bg1">
                    <a:lumMod val="50000"/>
                  </a:schemeClr>
                </a:solidFill>
                <a:latin typeface="+mj-lt"/>
              </a:rPr>
              <a:t>Motivations</a:t>
            </a:r>
          </a:p>
          <a:p>
            <a:pPr>
              <a:buClr>
                <a:schemeClr val="bg1">
                  <a:lumMod val="50000"/>
                </a:schemeClr>
              </a:buClr>
            </a:pPr>
            <a:r>
              <a:rPr lang="en-US" altLang="zh-TW" dirty="0" smtClean="0">
                <a:solidFill>
                  <a:schemeClr val="bg1">
                    <a:lumMod val="50000"/>
                  </a:schemeClr>
                </a:solidFill>
                <a:latin typeface="+mj-lt"/>
              </a:rPr>
              <a:t>Design Overview</a:t>
            </a:r>
          </a:p>
          <a:p>
            <a:r>
              <a:rPr lang="en-US" altLang="zh-TW" dirty="0" smtClean="0">
                <a:latin typeface="+mj-lt"/>
              </a:rPr>
              <a:t>System Interactions</a:t>
            </a:r>
          </a:p>
          <a:p>
            <a:pPr>
              <a:buClr>
                <a:schemeClr val="bg1">
                  <a:lumMod val="50000"/>
                </a:schemeClr>
              </a:buClr>
            </a:pPr>
            <a:r>
              <a:rPr lang="en-US" altLang="zh-TW" dirty="0" smtClean="0">
                <a:solidFill>
                  <a:schemeClr val="bg1">
                    <a:lumMod val="50000"/>
                  </a:schemeClr>
                </a:solidFill>
                <a:latin typeface="+mj-lt"/>
              </a:rPr>
              <a:t>Master Operations</a:t>
            </a:r>
          </a:p>
          <a:p>
            <a:pPr>
              <a:buClr>
                <a:schemeClr val="bg1">
                  <a:lumMod val="50000"/>
                </a:schemeClr>
              </a:buClr>
            </a:pPr>
            <a:r>
              <a:rPr lang="en-US" altLang="zh-TW" dirty="0" smtClean="0">
                <a:solidFill>
                  <a:schemeClr val="bg1">
                    <a:lumMod val="50000"/>
                  </a:schemeClr>
                </a:solidFill>
                <a:latin typeface="+mj-lt"/>
              </a:rPr>
              <a:t>Fault Tolerance</a:t>
            </a:r>
          </a:p>
          <a:p>
            <a:endParaRPr lang="zh-TW" altLang="en-US" dirty="0">
              <a:latin typeface="+mj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System Interactions</a:t>
            </a:r>
            <a:endParaRPr lang="zh-TW" alt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r>
              <a:rPr lang="en-US" altLang="zh-TW" dirty="0" smtClean="0"/>
              <a:t>Read/Write</a:t>
            </a:r>
          </a:p>
          <a:p>
            <a:r>
              <a:rPr lang="en-US" altLang="zh-TW" dirty="0" smtClean="0">
                <a:solidFill>
                  <a:schemeClr val="bg1">
                    <a:lumMod val="50000"/>
                  </a:schemeClr>
                </a:solidFill>
              </a:rPr>
              <a:t>Concurrent Write</a:t>
            </a:r>
          </a:p>
          <a:p>
            <a:r>
              <a:rPr lang="en-US" altLang="zh-TW" dirty="0" smtClean="0">
                <a:solidFill>
                  <a:schemeClr val="bg1">
                    <a:lumMod val="50000"/>
                  </a:schemeClr>
                </a:solidFill>
              </a:rPr>
              <a:t>Atomic Record Appends</a:t>
            </a:r>
          </a:p>
          <a:p>
            <a:r>
              <a:rPr lang="en-US" altLang="zh-TW" dirty="0" smtClean="0">
                <a:solidFill>
                  <a:schemeClr val="bg1">
                    <a:lumMod val="50000"/>
                  </a:schemeClr>
                </a:solidFill>
              </a:rPr>
              <a:t>Snapshot</a:t>
            </a:r>
            <a:endParaRPr lang="zh-TW" altLang="en-US" dirty="0" smtClean="0">
              <a:solidFill>
                <a:schemeClr val="bg1">
                  <a:lumMod val="50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While reading a file</a:t>
            </a:r>
            <a:endParaRPr lang="zh-TW" altLang="en-US" dirty="0"/>
          </a:p>
        </p:txBody>
      </p:sp>
      <p:sp>
        <p:nvSpPr>
          <p:cNvPr id="4" name="矩形 3"/>
          <p:cNvSpPr/>
          <p:nvPr/>
        </p:nvSpPr>
        <p:spPr>
          <a:xfrm>
            <a:off x="539552" y="1124744"/>
            <a:ext cx="1440160" cy="576064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Application</a:t>
            </a:r>
            <a:endParaRPr lang="zh-TW" altLang="en-US" dirty="0"/>
          </a:p>
        </p:txBody>
      </p:sp>
      <p:sp>
        <p:nvSpPr>
          <p:cNvPr id="5" name="矩形 4"/>
          <p:cNvSpPr/>
          <p:nvPr/>
        </p:nvSpPr>
        <p:spPr>
          <a:xfrm>
            <a:off x="3347864" y="1124744"/>
            <a:ext cx="1440160" cy="576064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GFS Client</a:t>
            </a:r>
            <a:endParaRPr lang="zh-TW" altLang="en-US" dirty="0"/>
          </a:p>
        </p:txBody>
      </p:sp>
      <p:sp>
        <p:nvSpPr>
          <p:cNvPr id="6" name="矩形 5"/>
          <p:cNvSpPr/>
          <p:nvPr/>
        </p:nvSpPr>
        <p:spPr>
          <a:xfrm>
            <a:off x="5436096" y="1124744"/>
            <a:ext cx="1440160" cy="576064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Master</a:t>
            </a:r>
            <a:endParaRPr lang="zh-TW" altLang="en-US" dirty="0"/>
          </a:p>
        </p:txBody>
      </p:sp>
      <p:sp>
        <p:nvSpPr>
          <p:cNvPr id="7" name="矩形 6"/>
          <p:cNvSpPr/>
          <p:nvPr/>
        </p:nvSpPr>
        <p:spPr>
          <a:xfrm>
            <a:off x="7452320" y="1124744"/>
            <a:ext cx="1440160" cy="576064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err="1" smtClean="0"/>
              <a:t>Chunkserver</a:t>
            </a:r>
            <a:endParaRPr lang="zh-TW" altLang="en-US" dirty="0"/>
          </a:p>
        </p:txBody>
      </p:sp>
      <p:cxnSp>
        <p:nvCxnSpPr>
          <p:cNvPr id="8" name="直線接點 7"/>
          <p:cNvCxnSpPr>
            <a:stCxn id="4" idx="2"/>
          </p:cNvCxnSpPr>
          <p:nvPr/>
        </p:nvCxnSpPr>
        <p:spPr>
          <a:xfrm rot="5400000">
            <a:off x="-1296652" y="4257092"/>
            <a:ext cx="511256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接點 8"/>
          <p:cNvCxnSpPr/>
          <p:nvPr/>
        </p:nvCxnSpPr>
        <p:spPr>
          <a:xfrm rot="5400000">
            <a:off x="1511660" y="4257092"/>
            <a:ext cx="511256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接點 9"/>
          <p:cNvCxnSpPr/>
          <p:nvPr/>
        </p:nvCxnSpPr>
        <p:spPr>
          <a:xfrm rot="5400000">
            <a:off x="3599892" y="4257092"/>
            <a:ext cx="511256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接點 10"/>
          <p:cNvCxnSpPr/>
          <p:nvPr/>
        </p:nvCxnSpPr>
        <p:spPr>
          <a:xfrm rot="5400000">
            <a:off x="5616116" y="4257092"/>
            <a:ext cx="511256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單箭頭接點 11"/>
          <p:cNvCxnSpPr/>
          <p:nvPr/>
        </p:nvCxnSpPr>
        <p:spPr>
          <a:xfrm>
            <a:off x="1259632" y="2132856"/>
            <a:ext cx="2808312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字方塊 12"/>
          <p:cNvSpPr txBox="1"/>
          <p:nvPr/>
        </p:nvSpPr>
        <p:spPr>
          <a:xfrm>
            <a:off x="1763688" y="1772816"/>
            <a:ext cx="18722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Open(name, read)</a:t>
            </a:r>
            <a:endParaRPr lang="zh-TW" altLang="en-US" dirty="0"/>
          </a:p>
        </p:txBody>
      </p:sp>
      <p:cxnSp>
        <p:nvCxnSpPr>
          <p:cNvPr id="14" name="直線單箭頭接點 13"/>
          <p:cNvCxnSpPr/>
          <p:nvPr/>
        </p:nvCxnSpPr>
        <p:spPr>
          <a:xfrm>
            <a:off x="4067944" y="2276872"/>
            <a:ext cx="2088232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單箭頭接點 14"/>
          <p:cNvCxnSpPr/>
          <p:nvPr/>
        </p:nvCxnSpPr>
        <p:spPr>
          <a:xfrm rot="10800000">
            <a:off x="4067944" y="2779339"/>
            <a:ext cx="2088232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字方塊 15"/>
          <p:cNvSpPr txBox="1"/>
          <p:nvPr/>
        </p:nvSpPr>
        <p:spPr>
          <a:xfrm>
            <a:off x="4716016" y="1916832"/>
            <a:ext cx="720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name</a:t>
            </a:r>
            <a:endParaRPr lang="zh-TW" altLang="en-US" dirty="0"/>
          </a:p>
        </p:txBody>
      </p:sp>
      <p:sp>
        <p:nvSpPr>
          <p:cNvPr id="17" name="文字方塊 16"/>
          <p:cNvSpPr txBox="1"/>
          <p:nvPr/>
        </p:nvSpPr>
        <p:spPr>
          <a:xfrm>
            <a:off x="4644008" y="2411596"/>
            <a:ext cx="8640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handle</a:t>
            </a:r>
            <a:endParaRPr lang="zh-TW" altLang="en-US" dirty="0"/>
          </a:p>
        </p:txBody>
      </p:sp>
      <p:cxnSp>
        <p:nvCxnSpPr>
          <p:cNvPr id="18" name="直線單箭頭接點 17"/>
          <p:cNvCxnSpPr/>
          <p:nvPr/>
        </p:nvCxnSpPr>
        <p:spPr>
          <a:xfrm rot="10800000">
            <a:off x="1259632" y="2924944"/>
            <a:ext cx="2808312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文字方塊 18"/>
          <p:cNvSpPr txBox="1"/>
          <p:nvPr/>
        </p:nvSpPr>
        <p:spPr>
          <a:xfrm>
            <a:off x="2195736" y="2564904"/>
            <a:ext cx="8640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handle</a:t>
            </a:r>
            <a:endParaRPr lang="zh-TW" altLang="en-US" dirty="0"/>
          </a:p>
        </p:txBody>
      </p:sp>
      <p:cxnSp>
        <p:nvCxnSpPr>
          <p:cNvPr id="20" name="直線單箭頭接點 19"/>
          <p:cNvCxnSpPr/>
          <p:nvPr/>
        </p:nvCxnSpPr>
        <p:spPr>
          <a:xfrm>
            <a:off x="1259632" y="3429000"/>
            <a:ext cx="2808312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矩形 20"/>
          <p:cNvSpPr/>
          <p:nvPr/>
        </p:nvSpPr>
        <p:spPr>
          <a:xfrm>
            <a:off x="1763688" y="3068960"/>
            <a:ext cx="206997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dirty="0" smtClean="0"/>
              <a:t>Read(handle, offset,</a:t>
            </a:r>
          </a:p>
          <a:p>
            <a:r>
              <a:rPr lang="en-US" altLang="zh-TW" dirty="0" smtClean="0"/>
              <a:t>length, buffer)</a:t>
            </a:r>
            <a:endParaRPr lang="zh-TW" altLang="en-US" dirty="0"/>
          </a:p>
        </p:txBody>
      </p:sp>
      <p:cxnSp>
        <p:nvCxnSpPr>
          <p:cNvPr id="22" name="直線單箭頭接點 21"/>
          <p:cNvCxnSpPr/>
          <p:nvPr/>
        </p:nvCxnSpPr>
        <p:spPr>
          <a:xfrm>
            <a:off x="4067944" y="3645024"/>
            <a:ext cx="2088232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矩形 22"/>
          <p:cNvSpPr/>
          <p:nvPr/>
        </p:nvSpPr>
        <p:spPr>
          <a:xfrm>
            <a:off x="4499992" y="3284984"/>
            <a:ext cx="136815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dirty="0" smtClean="0"/>
              <a:t>handle,</a:t>
            </a:r>
          </a:p>
          <a:p>
            <a:r>
              <a:rPr lang="en-US" altLang="zh-TW" dirty="0" err="1" smtClean="0"/>
              <a:t>chunk_index</a:t>
            </a:r>
            <a:endParaRPr lang="zh-TW" altLang="en-US" dirty="0"/>
          </a:p>
        </p:txBody>
      </p:sp>
      <p:sp>
        <p:nvSpPr>
          <p:cNvPr id="24" name="矩形 23"/>
          <p:cNvSpPr/>
          <p:nvPr/>
        </p:nvSpPr>
        <p:spPr>
          <a:xfrm>
            <a:off x="4283968" y="3861048"/>
            <a:ext cx="18002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dirty="0" err="1" smtClean="0"/>
              <a:t>chunk_handle</a:t>
            </a:r>
            <a:r>
              <a:rPr lang="en-US" altLang="zh-TW" dirty="0" smtClean="0"/>
              <a:t>,</a:t>
            </a:r>
          </a:p>
          <a:p>
            <a:r>
              <a:rPr lang="en-US" altLang="zh-TW" dirty="0" err="1" smtClean="0"/>
              <a:t>chunk_locations</a:t>
            </a:r>
            <a:endParaRPr lang="zh-TW" altLang="en-US" dirty="0"/>
          </a:p>
        </p:txBody>
      </p:sp>
      <p:cxnSp>
        <p:nvCxnSpPr>
          <p:cNvPr id="25" name="直線單箭頭接點 24"/>
          <p:cNvCxnSpPr/>
          <p:nvPr/>
        </p:nvCxnSpPr>
        <p:spPr>
          <a:xfrm rot="10800000">
            <a:off x="4067944" y="4221088"/>
            <a:ext cx="2088232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矩形 25"/>
          <p:cNvSpPr/>
          <p:nvPr/>
        </p:nvSpPr>
        <p:spPr>
          <a:xfrm>
            <a:off x="3923928" y="4437112"/>
            <a:ext cx="288032" cy="648072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2"/>
          </a:lnRef>
          <a:fillRef idx="1003">
            <a:schemeClr val="lt1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7" name="矩形 26"/>
          <p:cNvSpPr/>
          <p:nvPr/>
        </p:nvSpPr>
        <p:spPr>
          <a:xfrm>
            <a:off x="2123728" y="3933056"/>
            <a:ext cx="1728192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dirty="0" smtClean="0"/>
              <a:t>cache (handle,</a:t>
            </a:r>
          </a:p>
          <a:p>
            <a:r>
              <a:rPr lang="en-US" altLang="zh-TW" dirty="0" err="1" smtClean="0"/>
              <a:t>chunk_index</a:t>
            </a:r>
            <a:r>
              <a:rPr lang="en-US" altLang="zh-TW" dirty="0" smtClean="0"/>
              <a:t>)</a:t>
            </a:r>
          </a:p>
          <a:p>
            <a:r>
              <a:rPr lang="zh-TW" altLang="en-US" dirty="0" smtClean="0"/>
              <a:t>→</a:t>
            </a:r>
          </a:p>
          <a:p>
            <a:r>
              <a:rPr lang="en-US" altLang="zh-TW" dirty="0" smtClean="0"/>
              <a:t>(</a:t>
            </a:r>
            <a:r>
              <a:rPr lang="en-US" altLang="zh-TW" dirty="0" err="1" smtClean="0"/>
              <a:t>chunk_handle</a:t>
            </a:r>
            <a:r>
              <a:rPr lang="en-US" altLang="zh-TW" dirty="0" smtClean="0"/>
              <a:t>,</a:t>
            </a:r>
          </a:p>
          <a:p>
            <a:r>
              <a:rPr lang="en-US" altLang="zh-TW" dirty="0" smtClean="0"/>
              <a:t>locations),</a:t>
            </a:r>
          </a:p>
          <a:p>
            <a:r>
              <a:rPr lang="en-US" altLang="zh-TW" dirty="0" smtClean="0"/>
              <a:t>select a replica</a:t>
            </a:r>
            <a:endParaRPr lang="zh-TW" altLang="en-US" dirty="0"/>
          </a:p>
        </p:txBody>
      </p:sp>
      <p:cxnSp>
        <p:nvCxnSpPr>
          <p:cNvPr id="28" name="直線單箭頭接點 27"/>
          <p:cNvCxnSpPr/>
          <p:nvPr/>
        </p:nvCxnSpPr>
        <p:spPr>
          <a:xfrm>
            <a:off x="4067944" y="5229200"/>
            <a:ext cx="4104456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矩形 28"/>
          <p:cNvSpPr/>
          <p:nvPr/>
        </p:nvSpPr>
        <p:spPr>
          <a:xfrm>
            <a:off x="5292080" y="4869160"/>
            <a:ext cx="185395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dirty="0" err="1" smtClean="0"/>
              <a:t>chunk_handle</a:t>
            </a:r>
            <a:r>
              <a:rPr lang="en-US" altLang="zh-TW" dirty="0" smtClean="0"/>
              <a:t>,</a:t>
            </a:r>
          </a:p>
          <a:p>
            <a:r>
              <a:rPr lang="en-US" altLang="zh-TW" dirty="0" err="1" smtClean="0"/>
              <a:t>byte_range</a:t>
            </a:r>
            <a:endParaRPr lang="zh-TW" altLang="en-US" dirty="0"/>
          </a:p>
        </p:txBody>
      </p:sp>
      <p:sp>
        <p:nvSpPr>
          <p:cNvPr id="30" name="向左箭號 29"/>
          <p:cNvSpPr/>
          <p:nvPr/>
        </p:nvSpPr>
        <p:spPr>
          <a:xfrm>
            <a:off x="4067944" y="5517232"/>
            <a:ext cx="4104456" cy="936104"/>
          </a:xfrm>
          <a:prstGeom prst="leftArrow">
            <a:avLst>
              <a:gd name="adj1" fmla="val 68606"/>
              <a:gd name="adj2" fmla="val 70467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200" dirty="0" smtClean="0"/>
              <a:t>Data</a:t>
            </a:r>
            <a:endParaRPr lang="zh-TW" altLang="en-US" sz="2200" dirty="0"/>
          </a:p>
        </p:txBody>
      </p:sp>
      <p:cxnSp>
        <p:nvCxnSpPr>
          <p:cNvPr id="31" name="直線單箭頭接點 30"/>
          <p:cNvCxnSpPr/>
          <p:nvPr/>
        </p:nvCxnSpPr>
        <p:spPr>
          <a:xfrm rot="10800000">
            <a:off x="1259632" y="6453336"/>
            <a:ext cx="2808312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矩形 31"/>
          <p:cNvSpPr/>
          <p:nvPr/>
        </p:nvSpPr>
        <p:spPr>
          <a:xfrm>
            <a:off x="2051720" y="6093296"/>
            <a:ext cx="12845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 smtClean="0"/>
              <a:t>return code</a:t>
            </a:r>
            <a:endParaRPr lang="zh-TW" altLang="en-US" dirty="0"/>
          </a:p>
        </p:txBody>
      </p:sp>
      <p:sp>
        <p:nvSpPr>
          <p:cNvPr id="33" name="左大括弧 32"/>
          <p:cNvSpPr/>
          <p:nvPr/>
        </p:nvSpPr>
        <p:spPr>
          <a:xfrm>
            <a:off x="827584" y="1988840"/>
            <a:ext cx="288032" cy="1080120"/>
          </a:xfrm>
          <a:prstGeom prst="leftBrace">
            <a:avLst>
              <a:gd name="adj1" fmla="val 20427"/>
              <a:gd name="adj2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4" name="左大括弧 33"/>
          <p:cNvSpPr/>
          <p:nvPr/>
        </p:nvSpPr>
        <p:spPr>
          <a:xfrm>
            <a:off x="827584" y="3284984"/>
            <a:ext cx="288032" cy="3312368"/>
          </a:xfrm>
          <a:prstGeom prst="leftBrace">
            <a:avLst>
              <a:gd name="adj1" fmla="val 20427"/>
              <a:gd name="adj2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5" name="文字方塊 34"/>
          <p:cNvSpPr txBox="1"/>
          <p:nvPr/>
        </p:nvSpPr>
        <p:spPr>
          <a:xfrm>
            <a:off x="170181" y="2339549"/>
            <a:ext cx="720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>
                <a:solidFill>
                  <a:schemeClr val="accent5">
                    <a:lumMod val="75000"/>
                  </a:schemeClr>
                </a:solidFill>
              </a:rPr>
              <a:t>Open</a:t>
            </a:r>
            <a:endParaRPr lang="zh-TW" altLang="en-US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36" name="文字方塊 35"/>
          <p:cNvSpPr txBox="1"/>
          <p:nvPr/>
        </p:nvSpPr>
        <p:spPr>
          <a:xfrm>
            <a:off x="179512" y="4753137"/>
            <a:ext cx="6480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>
                <a:solidFill>
                  <a:schemeClr val="accent5">
                    <a:lumMod val="75000"/>
                  </a:schemeClr>
                </a:solidFill>
              </a:rPr>
              <a:t>Read</a:t>
            </a:r>
            <a:endParaRPr lang="zh-TW" altLang="en-US" dirty="0">
              <a:solidFill>
                <a:schemeClr val="accent5">
                  <a:lumMod val="75000"/>
                </a:schemeClr>
              </a:solidFill>
            </a:endParaRPr>
          </a:p>
        </p:txBody>
      </p:sp>
      <p:cxnSp>
        <p:nvCxnSpPr>
          <p:cNvPr id="37" name="直線接點 36"/>
          <p:cNvCxnSpPr/>
          <p:nvPr/>
        </p:nvCxnSpPr>
        <p:spPr>
          <a:xfrm rot="5400000">
            <a:off x="8459264" y="1880828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圓柱 37"/>
          <p:cNvSpPr/>
          <p:nvPr/>
        </p:nvSpPr>
        <p:spPr>
          <a:xfrm>
            <a:off x="8388424" y="2395535"/>
            <a:ext cx="504056" cy="216024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9" name="圓柱 38"/>
          <p:cNvSpPr/>
          <p:nvPr/>
        </p:nvSpPr>
        <p:spPr>
          <a:xfrm>
            <a:off x="8385466" y="2222282"/>
            <a:ext cx="504056" cy="216024"/>
          </a:xfrm>
          <a:prstGeom prst="can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0" name="圓柱 39"/>
          <p:cNvSpPr/>
          <p:nvPr/>
        </p:nvSpPr>
        <p:spPr>
          <a:xfrm>
            <a:off x="8388424" y="2060848"/>
            <a:ext cx="504056" cy="216024"/>
          </a:xfrm>
          <a:prstGeom prst="can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500"/>
                            </p:stCondLst>
                            <p:childTnLst>
                              <p:par>
                                <p:cTn id="2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00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6" grpId="0"/>
      <p:bldP spid="17" grpId="0"/>
      <p:bldP spid="19" grpId="0"/>
      <p:bldP spid="21" grpId="0"/>
      <p:bldP spid="23" grpId="0"/>
      <p:bldP spid="24" grpId="0"/>
      <p:bldP spid="26" grpId="0" animBg="1"/>
      <p:bldP spid="27" grpId="0"/>
      <p:bldP spid="29" grpId="0"/>
      <p:bldP spid="30" grpId="0" animBg="1"/>
      <p:bldP spid="32" grpId="0"/>
      <p:bldP spid="33" grpId="0" animBg="1"/>
      <p:bldP spid="34" grpId="0" animBg="1"/>
      <p:bldP spid="35" grpId="0"/>
      <p:bldP spid="36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While writing to a File</a:t>
            </a:r>
            <a:endParaRPr lang="zh-TW" altLang="en-US" dirty="0"/>
          </a:p>
        </p:txBody>
      </p:sp>
      <p:sp>
        <p:nvSpPr>
          <p:cNvPr id="5" name="矩形 4"/>
          <p:cNvSpPr/>
          <p:nvPr/>
        </p:nvSpPr>
        <p:spPr>
          <a:xfrm>
            <a:off x="2164662" y="2663487"/>
            <a:ext cx="1781944" cy="923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dirty="0" err="1" smtClean="0">
                <a:solidFill>
                  <a:srgbClr val="0000FF"/>
                </a:solidFill>
              </a:rPr>
              <a:t>chunk_handle</a:t>
            </a:r>
            <a:r>
              <a:rPr lang="en-US" altLang="zh-TW" dirty="0" smtClean="0">
                <a:solidFill>
                  <a:srgbClr val="0000FF"/>
                </a:solidFill>
              </a:rPr>
              <a:t>,</a:t>
            </a:r>
          </a:p>
          <a:p>
            <a:pPr algn="ctr"/>
            <a:r>
              <a:rPr lang="en-US" altLang="zh-TW" dirty="0" err="1" smtClean="0">
                <a:solidFill>
                  <a:srgbClr val="0000FF"/>
                </a:solidFill>
              </a:rPr>
              <a:t>primary_id</a:t>
            </a:r>
            <a:r>
              <a:rPr lang="en-US" altLang="zh-TW" dirty="0" smtClean="0">
                <a:solidFill>
                  <a:srgbClr val="0000FF"/>
                </a:solidFill>
              </a:rPr>
              <a:t>, Rep-   </a:t>
            </a:r>
            <a:r>
              <a:rPr lang="en-US" altLang="zh-TW" dirty="0" err="1" smtClean="0">
                <a:solidFill>
                  <a:srgbClr val="0000FF"/>
                </a:solidFill>
              </a:rPr>
              <a:t>lica_locations</a:t>
            </a:r>
            <a:endParaRPr lang="zh-TW" altLang="en-US" dirty="0">
              <a:solidFill>
                <a:srgbClr val="0000FF"/>
              </a:solidFill>
            </a:endParaRPr>
          </a:p>
        </p:txBody>
      </p:sp>
      <p:sp>
        <p:nvSpPr>
          <p:cNvPr id="6" name="矩形 5"/>
          <p:cNvSpPr/>
          <p:nvPr/>
        </p:nvSpPr>
        <p:spPr>
          <a:xfrm>
            <a:off x="28805" y="1081861"/>
            <a:ext cx="1296144" cy="576064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Application</a:t>
            </a:r>
            <a:endParaRPr lang="zh-TW" altLang="en-US" dirty="0"/>
          </a:p>
        </p:txBody>
      </p:sp>
      <p:sp>
        <p:nvSpPr>
          <p:cNvPr id="7" name="矩形 6"/>
          <p:cNvSpPr/>
          <p:nvPr/>
        </p:nvSpPr>
        <p:spPr>
          <a:xfrm>
            <a:off x="1634478" y="1081861"/>
            <a:ext cx="1152128" cy="576064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GFS Client</a:t>
            </a:r>
            <a:endParaRPr lang="zh-TW" altLang="en-US" dirty="0"/>
          </a:p>
        </p:txBody>
      </p:sp>
      <p:sp>
        <p:nvSpPr>
          <p:cNvPr id="8" name="矩形 7"/>
          <p:cNvSpPr/>
          <p:nvPr/>
        </p:nvSpPr>
        <p:spPr>
          <a:xfrm>
            <a:off x="3388206" y="1081861"/>
            <a:ext cx="1008113" cy="576064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Master</a:t>
            </a:r>
            <a:endParaRPr lang="zh-TW" altLang="en-US" dirty="0"/>
          </a:p>
        </p:txBody>
      </p:sp>
      <p:sp>
        <p:nvSpPr>
          <p:cNvPr id="9" name="矩形 8"/>
          <p:cNvSpPr/>
          <p:nvPr/>
        </p:nvSpPr>
        <p:spPr>
          <a:xfrm>
            <a:off x="4656480" y="1081861"/>
            <a:ext cx="1396615" cy="576064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err="1" smtClean="0"/>
              <a:t>Chunkserver</a:t>
            </a:r>
            <a:endParaRPr lang="zh-TW" altLang="en-US" dirty="0"/>
          </a:p>
        </p:txBody>
      </p:sp>
      <p:cxnSp>
        <p:nvCxnSpPr>
          <p:cNvPr id="10" name="直線接點 9"/>
          <p:cNvCxnSpPr>
            <a:stCxn id="6" idx="2"/>
          </p:cNvCxnSpPr>
          <p:nvPr/>
        </p:nvCxnSpPr>
        <p:spPr>
          <a:xfrm rot="5400000">
            <a:off x="-1879408" y="4214209"/>
            <a:ext cx="511256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接點 10"/>
          <p:cNvCxnSpPr/>
          <p:nvPr/>
        </p:nvCxnSpPr>
        <p:spPr>
          <a:xfrm rot="5400000">
            <a:off x="-352114" y="4214209"/>
            <a:ext cx="511256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接點 11"/>
          <p:cNvCxnSpPr/>
          <p:nvPr/>
        </p:nvCxnSpPr>
        <p:spPr>
          <a:xfrm rot="5400000">
            <a:off x="1329606" y="4214209"/>
            <a:ext cx="511256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接點 12"/>
          <p:cNvCxnSpPr/>
          <p:nvPr/>
        </p:nvCxnSpPr>
        <p:spPr>
          <a:xfrm rot="5400000">
            <a:off x="2791812" y="4214209"/>
            <a:ext cx="511256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矩形 13"/>
          <p:cNvSpPr/>
          <p:nvPr/>
        </p:nvSpPr>
        <p:spPr>
          <a:xfrm>
            <a:off x="6187585" y="1081861"/>
            <a:ext cx="1368152" cy="576064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Primary </a:t>
            </a:r>
            <a:r>
              <a:rPr lang="en-US" altLang="zh-TW" dirty="0" err="1" smtClean="0"/>
              <a:t>Chunkserver</a:t>
            </a:r>
            <a:endParaRPr lang="zh-TW" altLang="en-US" dirty="0"/>
          </a:p>
        </p:txBody>
      </p:sp>
      <p:cxnSp>
        <p:nvCxnSpPr>
          <p:cNvPr id="15" name="直線接點 14"/>
          <p:cNvCxnSpPr/>
          <p:nvPr/>
        </p:nvCxnSpPr>
        <p:spPr>
          <a:xfrm rot="5400000">
            <a:off x="4322918" y="4214209"/>
            <a:ext cx="511256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矩形 15"/>
          <p:cNvSpPr/>
          <p:nvPr/>
        </p:nvSpPr>
        <p:spPr>
          <a:xfrm>
            <a:off x="7709279" y="1081861"/>
            <a:ext cx="1368152" cy="576064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err="1" smtClean="0"/>
              <a:t>Chunkserver</a:t>
            </a:r>
            <a:endParaRPr lang="zh-TW" altLang="en-US" dirty="0"/>
          </a:p>
        </p:txBody>
      </p:sp>
      <p:cxnSp>
        <p:nvCxnSpPr>
          <p:cNvPr id="17" name="直線接點 16"/>
          <p:cNvCxnSpPr/>
          <p:nvPr/>
        </p:nvCxnSpPr>
        <p:spPr>
          <a:xfrm rot="5400000">
            <a:off x="5844612" y="4214209"/>
            <a:ext cx="511256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矩形 17"/>
          <p:cNvSpPr/>
          <p:nvPr/>
        </p:nvSpPr>
        <p:spPr>
          <a:xfrm>
            <a:off x="724503" y="1729933"/>
            <a:ext cx="1800200" cy="923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dirty="0" smtClean="0">
                <a:solidFill>
                  <a:schemeClr val="accent5">
                    <a:lumMod val="75000"/>
                  </a:schemeClr>
                </a:solidFill>
              </a:rPr>
              <a:t>Write(handle, </a:t>
            </a:r>
          </a:p>
          <a:p>
            <a:r>
              <a:rPr lang="en-US" altLang="zh-TW" dirty="0" err="1" smtClean="0">
                <a:solidFill>
                  <a:schemeClr val="accent5">
                    <a:lumMod val="75000"/>
                  </a:schemeClr>
                </a:solidFill>
              </a:rPr>
              <a:t>offset,length</a:t>
            </a:r>
            <a:r>
              <a:rPr lang="en-US" altLang="zh-TW" dirty="0" smtClean="0">
                <a:solidFill>
                  <a:schemeClr val="accent5">
                    <a:lumMod val="75000"/>
                  </a:schemeClr>
                </a:solidFill>
              </a:rPr>
              <a:t>, </a:t>
            </a:r>
          </a:p>
          <a:p>
            <a:r>
              <a:rPr lang="en-US" altLang="zh-TW" dirty="0" smtClean="0">
                <a:solidFill>
                  <a:schemeClr val="accent5">
                    <a:lumMod val="75000"/>
                  </a:schemeClr>
                </a:solidFill>
              </a:rPr>
              <a:t>buffer)</a:t>
            </a:r>
            <a:endParaRPr lang="zh-TW" altLang="en-US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2596710" y="2265347"/>
            <a:ext cx="82907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 smtClean="0">
                <a:solidFill>
                  <a:srgbClr val="0000FF"/>
                </a:solidFill>
              </a:rPr>
              <a:t>handle</a:t>
            </a:r>
            <a:endParaRPr lang="zh-TW" altLang="en-US" dirty="0">
              <a:solidFill>
                <a:srgbClr val="0000FF"/>
              </a:solidFill>
            </a:endParaRPr>
          </a:p>
        </p:txBody>
      </p:sp>
      <p:sp>
        <p:nvSpPr>
          <p:cNvPr id="20" name="左大括弧 19"/>
          <p:cNvSpPr/>
          <p:nvPr/>
        </p:nvSpPr>
        <p:spPr>
          <a:xfrm>
            <a:off x="2020646" y="2481370"/>
            <a:ext cx="144017" cy="648072"/>
          </a:xfrm>
          <a:prstGeom prst="leftBrace">
            <a:avLst/>
          </a:prstGeom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1" name="矩形 20"/>
          <p:cNvSpPr/>
          <p:nvPr/>
        </p:nvSpPr>
        <p:spPr>
          <a:xfrm>
            <a:off x="1285707" y="2632129"/>
            <a:ext cx="76290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 smtClean="0">
                <a:solidFill>
                  <a:schemeClr val="accent6">
                    <a:lumMod val="50000"/>
                  </a:schemeClr>
                </a:solidFill>
              </a:rPr>
              <a:t>Query</a:t>
            </a:r>
            <a:endParaRPr lang="zh-TW" altLang="en-US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642969" y="3070701"/>
            <a:ext cx="170993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dirty="0" smtClean="0">
                <a:solidFill>
                  <a:srgbClr val="0000FF"/>
                </a:solidFill>
              </a:rPr>
              <a:t>cache, select a replica</a:t>
            </a:r>
            <a:endParaRPr lang="zh-TW" altLang="en-US" dirty="0">
              <a:solidFill>
                <a:srgbClr val="0000FF"/>
              </a:solidFill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2107512" y="3314110"/>
            <a:ext cx="216024" cy="216024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4" name="矩形 23"/>
          <p:cNvSpPr/>
          <p:nvPr/>
        </p:nvSpPr>
        <p:spPr>
          <a:xfrm>
            <a:off x="4180887" y="2416105"/>
            <a:ext cx="230425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dirty="0" smtClean="0">
                <a:solidFill>
                  <a:srgbClr val="0000FF"/>
                </a:solidFill>
              </a:rPr>
              <a:t>grants a lease</a:t>
            </a:r>
          </a:p>
          <a:p>
            <a:r>
              <a:rPr lang="en-US" altLang="zh-TW" dirty="0" smtClean="0">
                <a:solidFill>
                  <a:srgbClr val="0000FF"/>
                </a:solidFill>
              </a:rPr>
              <a:t>(if not granted before)</a:t>
            </a:r>
            <a:endParaRPr lang="zh-TW" altLang="en-US" dirty="0">
              <a:solidFill>
                <a:srgbClr val="0000FF"/>
              </a:solidFill>
            </a:endParaRPr>
          </a:p>
        </p:txBody>
      </p:sp>
      <p:cxnSp>
        <p:nvCxnSpPr>
          <p:cNvPr id="25" name="直線單箭頭接點 24"/>
          <p:cNvCxnSpPr/>
          <p:nvPr/>
        </p:nvCxnSpPr>
        <p:spPr>
          <a:xfrm>
            <a:off x="680487" y="2050284"/>
            <a:ext cx="1543242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線單箭頭接點 25"/>
          <p:cNvCxnSpPr/>
          <p:nvPr/>
        </p:nvCxnSpPr>
        <p:spPr>
          <a:xfrm>
            <a:off x="2208678" y="2569645"/>
            <a:ext cx="1656184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線單箭頭接點 26"/>
          <p:cNvCxnSpPr/>
          <p:nvPr/>
        </p:nvCxnSpPr>
        <p:spPr>
          <a:xfrm rot="10800000">
            <a:off x="2195737" y="2996952"/>
            <a:ext cx="1697119" cy="213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向右箭號 27"/>
          <p:cNvSpPr/>
          <p:nvPr/>
        </p:nvSpPr>
        <p:spPr>
          <a:xfrm>
            <a:off x="2212288" y="3602142"/>
            <a:ext cx="3096345" cy="648072"/>
          </a:xfrm>
          <a:prstGeom prst="rightArrow">
            <a:avLst>
              <a:gd name="adj1" fmla="val 73516"/>
              <a:gd name="adj2" fmla="val 63228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Data</a:t>
            </a:r>
            <a:endParaRPr lang="zh-TW" altLang="en-US" dirty="0"/>
          </a:p>
        </p:txBody>
      </p:sp>
      <p:sp>
        <p:nvSpPr>
          <p:cNvPr id="29" name="向右箭號 28"/>
          <p:cNvSpPr/>
          <p:nvPr/>
        </p:nvSpPr>
        <p:spPr>
          <a:xfrm>
            <a:off x="5352065" y="3746157"/>
            <a:ext cx="1493118" cy="648072"/>
          </a:xfrm>
          <a:prstGeom prst="rightArrow">
            <a:avLst>
              <a:gd name="adj1" fmla="val 73516"/>
              <a:gd name="adj2" fmla="val 52940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Data</a:t>
            </a:r>
            <a:endParaRPr lang="zh-TW" altLang="en-US" dirty="0"/>
          </a:p>
        </p:txBody>
      </p:sp>
      <p:sp>
        <p:nvSpPr>
          <p:cNvPr id="30" name="向右箭號 29"/>
          <p:cNvSpPr/>
          <p:nvPr/>
        </p:nvSpPr>
        <p:spPr>
          <a:xfrm>
            <a:off x="6888615" y="3890174"/>
            <a:ext cx="1493118" cy="648072"/>
          </a:xfrm>
          <a:prstGeom prst="rightArrow">
            <a:avLst>
              <a:gd name="adj1" fmla="val 73516"/>
              <a:gd name="adj2" fmla="val 52940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Data</a:t>
            </a:r>
            <a:endParaRPr lang="zh-TW" altLang="en-US" dirty="0"/>
          </a:p>
        </p:txBody>
      </p:sp>
      <p:cxnSp>
        <p:nvCxnSpPr>
          <p:cNvPr id="31" name="直線單箭頭接點 30"/>
          <p:cNvCxnSpPr/>
          <p:nvPr/>
        </p:nvCxnSpPr>
        <p:spPr>
          <a:xfrm rot="10800000">
            <a:off x="6888615" y="4610253"/>
            <a:ext cx="1512167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矩形 31"/>
          <p:cNvSpPr/>
          <p:nvPr/>
        </p:nvSpPr>
        <p:spPr>
          <a:xfrm>
            <a:off x="7205223" y="4538245"/>
            <a:ext cx="98251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 smtClean="0">
                <a:solidFill>
                  <a:srgbClr val="0000FF"/>
                </a:solidFill>
              </a:rPr>
              <a:t>received</a:t>
            </a:r>
            <a:endParaRPr lang="zh-TW" altLang="en-US" dirty="0">
              <a:solidFill>
                <a:srgbClr val="0000FF"/>
              </a:solidFill>
            </a:endParaRPr>
          </a:p>
        </p:txBody>
      </p:sp>
      <p:cxnSp>
        <p:nvCxnSpPr>
          <p:cNvPr id="33" name="直線單箭頭接點 32"/>
          <p:cNvCxnSpPr/>
          <p:nvPr/>
        </p:nvCxnSpPr>
        <p:spPr>
          <a:xfrm rot="10800000">
            <a:off x="5357398" y="4697119"/>
            <a:ext cx="1512167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線單箭頭接點 33"/>
          <p:cNvCxnSpPr/>
          <p:nvPr/>
        </p:nvCxnSpPr>
        <p:spPr>
          <a:xfrm rot="10800000">
            <a:off x="2236672" y="4754269"/>
            <a:ext cx="3105871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矩形 34"/>
          <p:cNvSpPr/>
          <p:nvPr/>
        </p:nvSpPr>
        <p:spPr>
          <a:xfrm>
            <a:off x="3172775" y="4426996"/>
            <a:ext cx="145046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 smtClean="0">
                <a:solidFill>
                  <a:srgbClr val="0000FF"/>
                </a:solidFill>
              </a:rPr>
              <a:t>data received</a:t>
            </a:r>
            <a:endParaRPr lang="zh-TW" altLang="en-US" dirty="0">
              <a:solidFill>
                <a:srgbClr val="0000FF"/>
              </a:solidFill>
            </a:endParaRPr>
          </a:p>
        </p:txBody>
      </p:sp>
      <p:cxnSp>
        <p:nvCxnSpPr>
          <p:cNvPr id="36" name="直線單箭頭接點 35"/>
          <p:cNvCxnSpPr/>
          <p:nvPr/>
        </p:nvCxnSpPr>
        <p:spPr>
          <a:xfrm>
            <a:off x="2208095" y="5124976"/>
            <a:ext cx="468052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矩形 36"/>
          <p:cNvSpPr/>
          <p:nvPr/>
        </p:nvSpPr>
        <p:spPr>
          <a:xfrm>
            <a:off x="4108878" y="4803035"/>
            <a:ext cx="113114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 smtClean="0">
                <a:solidFill>
                  <a:srgbClr val="0000FF"/>
                </a:solidFill>
              </a:rPr>
              <a:t>write (ids)</a:t>
            </a:r>
            <a:endParaRPr lang="zh-TW" altLang="en-US" dirty="0">
              <a:solidFill>
                <a:srgbClr val="0000FF"/>
              </a:solidFill>
            </a:endParaRPr>
          </a:p>
        </p:txBody>
      </p:sp>
      <p:cxnSp>
        <p:nvCxnSpPr>
          <p:cNvPr id="38" name="直線單箭頭接點 37"/>
          <p:cNvCxnSpPr/>
          <p:nvPr/>
        </p:nvCxnSpPr>
        <p:spPr>
          <a:xfrm rot="10800000">
            <a:off x="5361591" y="5469249"/>
            <a:ext cx="1512167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線單箭頭接點 38"/>
          <p:cNvCxnSpPr/>
          <p:nvPr/>
        </p:nvCxnSpPr>
        <p:spPr>
          <a:xfrm>
            <a:off x="6883283" y="5541258"/>
            <a:ext cx="1512167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矩形 39"/>
          <p:cNvSpPr/>
          <p:nvPr/>
        </p:nvSpPr>
        <p:spPr>
          <a:xfrm>
            <a:off x="8285342" y="5690374"/>
            <a:ext cx="216024" cy="216024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1" name="矩形 40"/>
          <p:cNvSpPr/>
          <p:nvPr/>
        </p:nvSpPr>
        <p:spPr>
          <a:xfrm>
            <a:off x="5232432" y="5618366"/>
            <a:ext cx="216024" cy="216024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2" name="矩形 41"/>
          <p:cNvSpPr/>
          <p:nvPr/>
        </p:nvSpPr>
        <p:spPr>
          <a:xfrm>
            <a:off x="5621047" y="5157975"/>
            <a:ext cx="12523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 smtClean="0">
                <a:solidFill>
                  <a:srgbClr val="0000FF"/>
                </a:solidFill>
              </a:rPr>
              <a:t>m. order(*)</a:t>
            </a:r>
            <a:endParaRPr lang="zh-TW" altLang="en-US" dirty="0">
              <a:solidFill>
                <a:srgbClr val="0000FF"/>
              </a:solidFill>
            </a:endParaRPr>
          </a:p>
        </p:txBody>
      </p:sp>
      <p:sp>
        <p:nvSpPr>
          <p:cNvPr id="43" name="矩形 42"/>
          <p:cNvSpPr/>
          <p:nvPr/>
        </p:nvSpPr>
        <p:spPr>
          <a:xfrm>
            <a:off x="7133215" y="5233942"/>
            <a:ext cx="12523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 smtClean="0">
                <a:solidFill>
                  <a:srgbClr val="0000FF"/>
                </a:solidFill>
              </a:rPr>
              <a:t>m. order(*)</a:t>
            </a:r>
            <a:endParaRPr lang="zh-TW" altLang="en-US" dirty="0">
              <a:solidFill>
                <a:srgbClr val="0000FF"/>
              </a:solidFill>
            </a:endParaRPr>
          </a:p>
        </p:txBody>
      </p:sp>
      <p:cxnSp>
        <p:nvCxnSpPr>
          <p:cNvPr id="44" name="直線單箭頭接點 43"/>
          <p:cNvCxnSpPr/>
          <p:nvPr/>
        </p:nvCxnSpPr>
        <p:spPr>
          <a:xfrm>
            <a:off x="5361591" y="5978405"/>
            <a:ext cx="1512167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線單箭頭接點 44"/>
          <p:cNvCxnSpPr/>
          <p:nvPr/>
        </p:nvCxnSpPr>
        <p:spPr>
          <a:xfrm rot="10800000">
            <a:off x="6888615" y="6050413"/>
            <a:ext cx="1512167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矩形 45"/>
          <p:cNvSpPr/>
          <p:nvPr/>
        </p:nvSpPr>
        <p:spPr>
          <a:xfrm>
            <a:off x="7070732" y="5728474"/>
            <a:ext cx="106548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 smtClean="0">
                <a:solidFill>
                  <a:srgbClr val="0000FF"/>
                </a:solidFill>
              </a:rPr>
              <a:t>complete</a:t>
            </a:r>
            <a:endParaRPr lang="zh-TW" altLang="en-US" dirty="0">
              <a:solidFill>
                <a:srgbClr val="0000FF"/>
              </a:solidFill>
            </a:endParaRPr>
          </a:p>
        </p:txBody>
      </p:sp>
      <p:sp>
        <p:nvSpPr>
          <p:cNvPr id="47" name="矩形 46"/>
          <p:cNvSpPr/>
          <p:nvPr/>
        </p:nvSpPr>
        <p:spPr>
          <a:xfrm>
            <a:off x="5563675" y="5671323"/>
            <a:ext cx="106548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 smtClean="0">
                <a:solidFill>
                  <a:srgbClr val="0000FF"/>
                </a:solidFill>
              </a:rPr>
              <a:t>complete</a:t>
            </a:r>
            <a:endParaRPr lang="zh-TW" altLang="en-US" dirty="0">
              <a:solidFill>
                <a:srgbClr val="0000FF"/>
              </a:solidFill>
            </a:endParaRPr>
          </a:p>
        </p:txBody>
      </p:sp>
      <p:cxnSp>
        <p:nvCxnSpPr>
          <p:cNvPr id="48" name="直線單箭頭接點 47"/>
          <p:cNvCxnSpPr/>
          <p:nvPr/>
        </p:nvCxnSpPr>
        <p:spPr>
          <a:xfrm rot="10800000">
            <a:off x="2193237" y="6194429"/>
            <a:ext cx="468052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矩形 48"/>
          <p:cNvSpPr/>
          <p:nvPr/>
        </p:nvSpPr>
        <p:spPr>
          <a:xfrm>
            <a:off x="3964862" y="5887347"/>
            <a:ext cx="118731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 smtClean="0">
                <a:solidFill>
                  <a:srgbClr val="0000FF"/>
                </a:solidFill>
              </a:rPr>
              <a:t>completed</a:t>
            </a:r>
            <a:endParaRPr lang="zh-TW" altLang="en-US" dirty="0">
              <a:solidFill>
                <a:srgbClr val="0000FF"/>
              </a:solidFill>
            </a:endParaRPr>
          </a:p>
        </p:txBody>
      </p:sp>
      <p:cxnSp>
        <p:nvCxnSpPr>
          <p:cNvPr id="50" name="直線單箭頭接點 49"/>
          <p:cNvCxnSpPr/>
          <p:nvPr/>
        </p:nvCxnSpPr>
        <p:spPr>
          <a:xfrm rot="10800000">
            <a:off x="695928" y="6419978"/>
            <a:ext cx="1512167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矩形 50"/>
          <p:cNvSpPr/>
          <p:nvPr/>
        </p:nvSpPr>
        <p:spPr>
          <a:xfrm>
            <a:off x="796511" y="6122420"/>
            <a:ext cx="12845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 smtClean="0">
                <a:solidFill>
                  <a:srgbClr val="0000FF"/>
                </a:solidFill>
              </a:rPr>
              <a:t>return code</a:t>
            </a:r>
            <a:endParaRPr lang="zh-TW" altLang="en-US" dirty="0">
              <a:solidFill>
                <a:srgbClr val="0000FF"/>
              </a:solidFill>
            </a:endParaRPr>
          </a:p>
        </p:txBody>
      </p:sp>
      <p:sp>
        <p:nvSpPr>
          <p:cNvPr id="52" name="左大括弧 51"/>
          <p:cNvSpPr/>
          <p:nvPr/>
        </p:nvSpPr>
        <p:spPr>
          <a:xfrm>
            <a:off x="2020647" y="3602142"/>
            <a:ext cx="144017" cy="1224135"/>
          </a:xfrm>
          <a:prstGeom prst="leftBrace">
            <a:avLst/>
          </a:prstGeom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3" name="矩形 52"/>
          <p:cNvSpPr/>
          <p:nvPr/>
        </p:nvSpPr>
        <p:spPr>
          <a:xfrm>
            <a:off x="940527" y="4034188"/>
            <a:ext cx="112550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 smtClean="0">
                <a:solidFill>
                  <a:schemeClr val="accent6">
                    <a:lumMod val="50000"/>
                  </a:schemeClr>
                </a:solidFill>
              </a:rPr>
              <a:t>Data Push</a:t>
            </a:r>
            <a:endParaRPr lang="zh-TW" altLang="en-US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54" name="左大括弧 53"/>
          <p:cNvSpPr/>
          <p:nvPr/>
        </p:nvSpPr>
        <p:spPr>
          <a:xfrm>
            <a:off x="2020647" y="5042301"/>
            <a:ext cx="144017" cy="1224135"/>
          </a:xfrm>
          <a:prstGeom prst="leftBrace">
            <a:avLst/>
          </a:prstGeom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5" name="矩形 54"/>
          <p:cNvSpPr/>
          <p:nvPr/>
        </p:nvSpPr>
        <p:spPr>
          <a:xfrm>
            <a:off x="1084544" y="5474349"/>
            <a:ext cx="92845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 smtClean="0">
                <a:solidFill>
                  <a:schemeClr val="accent6">
                    <a:lumMod val="50000"/>
                  </a:schemeClr>
                </a:solidFill>
              </a:rPr>
              <a:t>Commit</a:t>
            </a:r>
            <a:endParaRPr lang="zh-TW" altLang="en-US" dirty="0">
              <a:solidFill>
                <a:schemeClr val="accent6">
                  <a:lumMod val="50000"/>
                </a:schemeClr>
              </a:solidFill>
            </a:endParaRPr>
          </a:p>
        </p:txBody>
      </p:sp>
      <p:cxnSp>
        <p:nvCxnSpPr>
          <p:cNvPr id="56" name="直線單箭頭接點 55"/>
          <p:cNvCxnSpPr/>
          <p:nvPr/>
        </p:nvCxnSpPr>
        <p:spPr>
          <a:xfrm>
            <a:off x="3892855" y="2718995"/>
            <a:ext cx="2952328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矩形 63"/>
          <p:cNvSpPr/>
          <p:nvPr/>
        </p:nvSpPr>
        <p:spPr>
          <a:xfrm>
            <a:off x="7236296" y="6239053"/>
            <a:ext cx="201180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dirty="0" smtClean="0">
                <a:solidFill>
                  <a:srgbClr val="0000FF"/>
                </a:solidFill>
              </a:rPr>
              <a:t>* assign mutation</a:t>
            </a:r>
          </a:p>
          <a:p>
            <a:r>
              <a:rPr lang="en-US" altLang="zh-TW" dirty="0" smtClean="0">
                <a:solidFill>
                  <a:srgbClr val="0000FF"/>
                </a:solidFill>
              </a:rPr>
              <a:t>order, write to disk</a:t>
            </a:r>
            <a:endParaRPr lang="zh-TW" altLang="en-US" dirty="0">
              <a:solidFill>
                <a:srgbClr val="0000FF"/>
              </a:solidFill>
            </a:endParaRPr>
          </a:p>
        </p:txBody>
      </p:sp>
      <p:sp>
        <p:nvSpPr>
          <p:cNvPr id="70" name="文字方塊 69"/>
          <p:cNvSpPr txBox="1"/>
          <p:nvPr/>
        </p:nvSpPr>
        <p:spPr>
          <a:xfrm>
            <a:off x="6140154" y="1187421"/>
            <a:ext cx="1440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 err="1" smtClean="0">
                <a:solidFill>
                  <a:srgbClr val="FFFFFF"/>
                </a:solidFill>
              </a:rPr>
              <a:t>Chunkserver</a:t>
            </a:r>
            <a:endParaRPr lang="zh-TW" altLang="en-US" dirty="0">
              <a:solidFill>
                <a:srgbClr val="FFFFFF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9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9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000"/>
                            </p:stCondLst>
                            <p:childTnLst>
                              <p:par>
                                <p:cTn id="32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50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1000"/>
                            </p:stCondLst>
                            <p:childTnLst>
                              <p:par>
                                <p:cTn id="6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500"/>
                            </p:stCondLst>
                            <p:childTnLst>
                              <p:par>
                                <p:cTn id="8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100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8" fill="hold">
                            <p:stCondLst>
                              <p:cond delay="500"/>
                            </p:stCondLst>
                            <p:childTnLst>
                              <p:par>
                                <p:cTn id="11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6" fill="hold">
                            <p:stCondLst>
                              <p:cond delay="500"/>
                            </p:stCondLst>
                            <p:childTnLst>
                              <p:par>
                                <p:cTn id="1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>
                      <p:stCondLst>
                        <p:cond delay="indefinite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3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>
                      <p:stCondLst>
                        <p:cond delay="indefinite"/>
                      </p:stCondLst>
                      <p:childTnLst>
                        <p:par>
                          <p:cTn id="155" fill="hold">
                            <p:stCondLst>
                              <p:cond delay="0"/>
                            </p:stCondLst>
                            <p:childTnLst>
                              <p:par>
                                <p:cTn id="1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8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1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2" fill="hold">
                      <p:stCondLst>
                        <p:cond delay="indefinite"/>
                      </p:stCondLst>
                      <p:childTnLst>
                        <p:par>
                          <p:cTn id="163" fill="hold">
                            <p:stCondLst>
                              <p:cond delay="0"/>
                            </p:stCondLst>
                            <p:childTnLst>
                              <p:par>
                                <p:cTn id="16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6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9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8" grpId="0"/>
      <p:bldP spid="19" grpId="0"/>
      <p:bldP spid="20" grpId="0" animBg="1"/>
      <p:bldP spid="21" grpId="0"/>
      <p:bldP spid="22" grpId="0"/>
      <p:bldP spid="23" grpId="0" animBg="1"/>
      <p:bldP spid="24" grpId="0"/>
      <p:bldP spid="28" grpId="0" animBg="1"/>
      <p:bldP spid="29" grpId="0" animBg="1"/>
      <p:bldP spid="30" grpId="0" animBg="1"/>
      <p:bldP spid="32" grpId="0"/>
      <p:bldP spid="35" grpId="0"/>
      <p:bldP spid="37" grpId="0"/>
      <p:bldP spid="40" grpId="0" animBg="1"/>
      <p:bldP spid="41" grpId="0" animBg="1"/>
      <p:bldP spid="42" grpId="0"/>
      <p:bldP spid="43" grpId="0"/>
      <p:bldP spid="46" grpId="0"/>
      <p:bldP spid="47" grpId="0"/>
      <p:bldP spid="49" grpId="0"/>
      <p:bldP spid="51" grpId="0"/>
      <p:bldP spid="52" grpId="0" animBg="1"/>
      <p:bldP spid="53" grpId="0"/>
      <p:bldP spid="54" grpId="0" animBg="1"/>
      <p:bldP spid="55" grpId="0"/>
      <p:bldP spid="64" grpId="0"/>
      <p:bldP spid="70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Lease Management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069160"/>
          </a:xfrm>
        </p:spPr>
        <p:txBody>
          <a:bodyPr>
            <a:normAutofit fontScale="92500" lnSpcReduction="10000"/>
          </a:bodyPr>
          <a:lstStyle/>
          <a:p>
            <a:r>
              <a:rPr lang="en-US" altLang="zh-TW" dirty="0" smtClean="0">
                <a:latin typeface="+mj-lt"/>
              </a:rPr>
              <a:t>A crucial part of concurrent write/append operation</a:t>
            </a:r>
          </a:p>
          <a:p>
            <a:pPr lvl="1"/>
            <a:r>
              <a:rPr lang="en-US" altLang="zh-TW" dirty="0" smtClean="0">
                <a:latin typeface="+mj-lt"/>
              </a:rPr>
              <a:t>Designed to minimize master's management overhead by authorizing </a:t>
            </a:r>
            <a:r>
              <a:rPr lang="en-US" altLang="zh-TW" dirty="0" err="1" smtClean="0">
                <a:latin typeface="+mj-lt"/>
              </a:rPr>
              <a:t>chunkservers</a:t>
            </a:r>
            <a:r>
              <a:rPr lang="en-US" altLang="zh-TW" dirty="0" smtClean="0">
                <a:latin typeface="+mj-lt"/>
              </a:rPr>
              <a:t> to make decisions</a:t>
            </a:r>
          </a:p>
          <a:p>
            <a:r>
              <a:rPr lang="en-US" altLang="zh-TW" dirty="0" smtClean="0">
                <a:latin typeface="+mj-lt"/>
              </a:rPr>
              <a:t>One lease per chunk</a:t>
            </a:r>
          </a:p>
          <a:p>
            <a:pPr lvl="1"/>
            <a:r>
              <a:rPr lang="en-US" altLang="zh-TW" dirty="0" smtClean="0">
                <a:latin typeface="+mj-lt"/>
              </a:rPr>
              <a:t>Granted to a </a:t>
            </a:r>
            <a:r>
              <a:rPr lang="en-US" altLang="zh-TW" dirty="0" err="1" smtClean="0">
                <a:latin typeface="+mj-lt"/>
              </a:rPr>
              <a:t>chunkserver</a:t>
            </a:r>
            <a:r>
              <a:rPr lang="en-US" altLang="zh-TW" dirty="0" smtClean="0">
                <a:latin typeface="+mj-lt"/>
              </a:rPr>
              <a:t>, which becomes the primary</a:t>
            </a:r>
          </a:p>
          <a:p>
            <a:pPr lvl="1"/>
            <a:r>
              <a:rPr lang="en-US" altLang="zh-TW" dirty="0" smtClean="0">
                <a:latin typeface="+mj-lt"/>
              </a:rPr>
              <a:t>Granting a lease increases the version number of the chunk</a:t>
            </a:r>
          </a:p>
          <a:p>
            <a:pPr lvl="1"/>
            <a:r>
              <a:rPr lang="en-US" altLang="zh-TW" dirty="0" smtClean="0">
                <a:latin typeface="+mj-lt"/>
              </a:rPr>
              <a:t>Reminder: the primary decides the mutation order</a:t>
            </a:r>
          </a:p>
          <a:p>
            <a:r>
              <a:rPr lang="en-US" altLang="zh-TW" dirty="0" smtClean="0">
                <a:latin typeface="+mj-lt"/>
              </a:rPr>
              <a:t>The primary can renew the lease before it expires</a:t>
            </a:r>
          </a:p>
          <a:p>
            <a:pPr lvl="1"/>
            <a:r>
              <a:rPr lang="en-US" altLang="zh-TW" dirty="0" smtClean="0">
                <a:latin typeface="+mj-lt"/>
              </a:rPr>
              <a:t>Piggybacked on the regular heartbeat message</a:t>
            </a:r>
          </a:p>
          <a:p>
            <a:r>
              <a:rPr lang="en-US" altLang="zh-TW" dirty="0" smtClean="0">
                <a:latin typeface="+mj-lt"/>
              </a:rPr>
              <a:t>The master can revoke a lease (e.g., for snapshot)</a:t>
            </a:r>
          </a:p>
          <a:p>
            <a:r>
              <a:rPr lang="en-US" altLang="zh-TW" dirty="0" smtClean="0">
                <a:latin typeface="+mj-lt"/>
              </a:rPr>
              <a:t>The master can grant the lease to another replica if the current lease expires (primary crashed, etc)</a:t>
            </a:r>
            <a:endParaRPr lang="zh-TW" altLang="en-US" dirty="0">
              <a:latin typeface="+mj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Mutation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zh-TW" dirty="0" smtClean="0">
                <a:latin typeface="+mj-lt"/>
              </a:rPr>
              <a:t>Mutation = write or append</a:t>
            </a:r>
          </a:p>
          <a:p>
            <a:pPr lvl="1"/>
            <a:r>
              <a:rPr lang="en-US" altLang="zh-TW" dirty="0" smtClean="0">
                <a:latin typeface="+mj-lt"/>
              </a:rPr>
              <a:t>must be done for all replicas</a:t>
            </a:r>
          </a:p>
          <a:p>
            <a:r>
              <a:rPr lang="en-US" altLang="zh-TW" dirty="0" smtClean="0">
                <a:latin typeface="+mj-lt"/>
              </a:rPr>
              <a:t>Goal</a:t>
            </a:r>
          </a:p>
          <a:p>
            <a:pPr lvl="1"/>
            <a:r>
              <a:rPr lang="en-US" altLang="zh-TW" dirty="0" smtClean="0">
                <a:latin typeface="+mj-lt"/>
              </a:rPr>
              <a:t>minimize master involvement</a:t>
            </a:r>
          </a:p>
          <a:p>
            <a:r>
              <a:rPr lang="en-US" altLang="zh-TW" dirty="0" smtClean="0">
                <a:latin typeface="+mj-lt"/>
              </a:rPr>
              <a:t>Lease mechanism for consistency</a:t>
            </a:r>
          </a:p>
          <a:p>
            <a:pPr lvl="1"/>
            <a:r>
              <a:rPr lang="en-US" altLang="zh-TW" dirty="0" smtClean="0">
                <a:latin typeface="+mj-lt"/>
              </a:rPr>
              <a:t>master picks one replica as primary; gives it a “lease” for mutations</a:t>
            </a:r>
          </a:p>
          <a:p>
            <a:pPr lvl="1"/>
            <a:r>
              <a:rPr lang="en-US" altLang="zh-TW" dirty="0" smtClean="0">
                <a:latin typeface="+mj-lt"/>
              </a:rPr>
              <a:t>a lease = a lock that has an expiration time</a:t>
            </a:r>
          </a:p>
          <a:p>
            <a:pPr lvl="1"/>
            <a:r>
              <a:rPr lang="en-US" altLang="zh-TW" dirty="0" smtClean="0">
                <a:latin typeface="+mj-lt"/>
              </a:rPr>
              <a:t>primary defines a serial order of mutations</a:t>
            </a:r>
          </a:p>
          <a:p>
            <a:pPr lvl="1"/>
            <a:r>
              <a:rPr lang="en-US" altLang="zh-TW" dirty="0" smtClean="0">
                <a:latin typeface="+mj-lt"/>
              </a:rPr>
              <a:t>all replicas follow this order</a:t>
            </a:r>
          </a:p>
          <a:p>
            <a:r>
              <a:rPr lang="en-US" altLang="zh-TW" dirty="0" smtClean="0">
                <a:latin typeface="+mj-lt"/>
              </a:rPr>
              <a:t>Data flow is decoupled from control flow</a:t>
            </a:r>
            <a:endParaRPr lang="zh-TW" altLang="en-US" dirty="0">
              <a:latin typeface="+mj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System Interactions</a:t>
            </a:r>
            <a:endParaRPr lang="zh-TW" alt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r>
              <a:rPr lang="en-US" altLang="zh-TW" dirty="0" smtClean="0">
                <a:solidFill>
                  <a:schemeClr val="bg1">
                    <a:lumMod val="50000"/>
                  </a:schemeClr>
                </a:solidFill>
              </a:rPr>
              <a:t>Read/Write</a:t>
            </a:r>
          </a:p>
          <a:p>
            <a:r>
              <a:rPr lang="en-US" altLang="zh-TW" dirty="0" smtClean="0"/>
              <a:t>Concurrent Write</a:t>
            </a:r>
          </a:p>
          <a:p>
            <a:r>
              <a:rPr lang="en-US" altLang="zh-TW" dirty="0" smtClean="0"/>
              <a:t>Atomic Record Appends</a:t>
            </a:r>
          </a:p>
          <a:p>
            <a:r>
              <a:rPr lang="en-US" altLang="zh-TW" dirty="0" smtClean="0">
                <a:solidFill>
                  <a:schemeClr val="bg1">
                    <a:lumMod val="50000"/>
                  </a:schemeClr>
                </a:solidFill>
              </a:rPr>
              <a:t>Snapshot</a:t>
            </a:r>
            <a:endParaRPr lang="zh-TW" altLang="en-US" dirty="0" smtClean="0">
              <a:solidFill>
                <a:schemeClr val="bg1">
                  <a:lumMod val="50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Concurrent Write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>
                <a:latin typeface="+mj-lt"/>
              </a:rPr>
              <a:t>If two clients concurrently write to the same region of a file, any of the following may happen to the overlapping portion:</a:t>
            </a:r>
          </a:p>
          <a:p>
            <a:pPr lvl="1"/>
            <a:r>
              <a:rPr lang="en-US" altLang="zh-TW" dirty="0" smtClean="0">
                <a:latin typeface="+mj-lt"/>
              </a:rPr>
              <a:t>Eventually the overlapping region may contain data from exactly one of the two writes.</a:t>
            </a:r>
          </a:p>
          <a:p>
            <a:pPr lvl="1"/>
            <a:r>
              <a:rPr lang="en-US" altLang="zh-TW" dirty="0" smtClean="0">
                <a:latin typeface="+mj-lt"/>
              </a:rPr>
              <a:t>Eventually the overlapping region may contain a mixture of data from the two writes.</a:t>
            </a:r>
          </a:p>
          <a:p>
            <a:r>
              <a:rPr lang="en-US" altLang="zh-TW" dirty="0" smtClean="0">
                <a:latin typeface="+mj-lt"/>
              </a:rPr>
              <a:t>Furthermore, if a read is executed concurrently with a write, the read operation may see either all of the write, none of the write, or just a portion of the write.</a:t>
            </a:r>
            <a:endParaRPr lang="zh-TW" altLang="en-US" dirty="0">
              <a:latin typeface="+mj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Consistency Model (remind)</a:t>
            </a:r>
            <a:endParaRPr lang="zh-TW" altLang="en-US" dirty="0"/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43725" y="2132856"/>
            <a:ext cx="8656550" cy="35283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67744" y="1691516"/>
            <a:ext cx="1695450" cy="1038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21" name="直線單箭頭接點 20"/>
          <p:cNvCxnSpPr>
            <a:stCxn id="4" idx="2"/>
          </p:cNvCxnSpPr>
          <p:nvPr/>
        </p:nvCxnSpPr>
        <p:spPr>
          <a:xfrm rot="16200000" flipH="1">
            <a:off x="2202607" y="3642602"/>
            <a:ext cx="1842095" cy="16371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文字方塊 21"/>
          <p:cNvSpPr txBox="1"/>
          <p:nvPr/>
        </p:nvSpPr>
        <p:spPr>
          <a:xfrm>
            <a:off x="3275856" y="3491716"/>
            <a:ext cx="280557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dirty="0" smtClean="0">
                <a:solidFill>
                  <a:schemeClr val="accent5">
                    <a:lumMod val="75000"/>
                  </a:schemeClr>
                </a:solidFill>
              </a:rPr>
              <a:t>Write X at region @ in C1</a:t>
            </a:r>
            <a:endParaRPr lang="zh-TW" altLang="en-US" sz="2000" dirty="0">
              <a:solidFill>
                <a:schemeClr val="accent5">
                  <a:lumMod val="75000"/>
                </a:schemeClr>
              </a:solidFill>
            </a:endParaRPr>
          </a:p>
        </p:txBody>
      </p:sp>
      <p:grpSp>
        <p:nvGrpSpPr>
          <p:cNvPr id="2" name="群組 31"/>
          <p:cNvGrpSpPr/>
          <p:nvPr/>
        </p:nvGrpSpPr>
        <p:grpSpPr>
          <a:xfrm>
            <a:off x="2411760" y="4571836"/>
            <a:ext cx="1872208" cy="1449452"/>
            <a:chOff x="2411760" y="4221088"/>
            <a:chExt cx="1872208" cy="1449452"/>
          </a:xfrm>
        </p:grpSpPr>
        <p:sp>
          <p:nvSpPr>
            <p:cNvPr id="5" name="圓角矩形 4"/>
            <p:cNvSpPr/>
            <p:nvPr/>
          </p:nvSpPr>
          <p:spPr>
            <a:xfrm>
              <a:off x="2411760" y="4221088"/>
              <a:ext cx="1872208" cy="1440160"/>
            </a:xfrm>
            <a:prstGeom prst="roundRect">
              <a:avLst>
                <a:gd name="adj" fmla="val 10654"/>
              </a:avLst>
            </a:prstGeom>
            <a:solidFill>
              <a:schemeClr val="accent1">
                <a:alpha val="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8" name="矩形 7"/>
            <p:cNvSpPr/>
            <p:nvPr/>
          </p:nvSpPr>
          <p:spPr>
            <a:xfrm>
              <a:off x="2809900" y="4437112"/>
              <a:ext cx="1080120" cy="864096"/>
            </a:xfrm>
            <a:prstGeom prst="rect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23" name="文字方塊 22"/>
            <p:cNvSpPr txBox="1"/>
            <p:nvPr/>
          </p:nvSpPr>
          <p:spPr>
            <a:xfrm>
              <a:off x="3131840" y="5301208"/>
              <a:ext cx="47801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 smtClean="0">
                  <a:solidFill>
                    <a:schemeClr val="accent2"/>
                  </a:solidFill>
                </a:rPr>
                <a:t>C1</a:t>
              </a:r>
              <a:r>
                <a:rPr lang="en-US" altLang="zh-TW" dirty="0" smtClean="0"/>
                <a:t> </a:t>
              </a:r>
              <a:endParaRPr lang="zh-TW" altLang="en-US" dirty="0"/>
            </a:p>
          </p:txBody>
        </p:sp>
      </p:grpSp>
      <p:grpSp>
        <p:nvGrpSpPr>
          <p:cNvPr id="3" name="群組 38"/>
          <p:cNvGrpSpPr/>
          <p:nvPr/>
        </p:nvGrpSpPr>
        <p:grpSpPr>
          <a:xfrm>
            <a:off x="4644008" y="4571836"/>
            <a:ext cx="1872208" cy="1449452"/>
            <a:chOff x="2411760" y="4221088"/>
            <a:chExt cx="1872208" cy="1449452"/>
          </a:xfrm>
        </p:grpSpPr>
        <p:sp>
          <p:nvSpPr>
            <p:cNvPr id="40" name="圓角矩形 39"/>
            <p:cNvSpPr/>
            <p:nvPr/>
          </p:nvSpPr>
          <p:spPr>
            <a:xfrm>
              <a:off x="2411760" y="4221088"/>
              <a:ext cx="1872208" cy="1440160"/>
            </a:xfrm>
            <a:prstGeom prst="roundRect">
              <a:avLst>
                <a:gd name="adj" fmla="val 10654"/>
              </a:avLst>
            </a:prstGeom>
            <a:solidFill>
              <a:schemeClr val="accent1">
                <a:alpha val="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41" name="矩形 40"/>
            <p:cNvSpPr/>
            <p:nvPr/>
          </p:nvSpPr>
          <p:spPr>
            <a:xfrm>
              <a:off x="2809900" y="4437112"/>
              <a:ext cx="1080120" cy="864096"/>
            </a:xfrm>
            <a:prstGeom prst="rect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42" name="文字方塊 41"/>
            <p:cNvSpPr txBox="1"/>
            <p:nvPr/>
          </p:nvSpPr>
          <p:spPr>
            <a:xfrm>
              <a:off x="3131840" y="5301208"/>
              <a:ext cx="47801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 smtClean="0">
                  <a:solidFill>
                    <a:schemeClr val="accent2"/>
                  </a:solidFill>
                </a:rPr>
                <a:t>C1</a:t>
              </a:r>
              <a:r>
                <a:rPr lang="en-US" altLang="zh-TW" dirty="0" smtClean="0"/>
                <a:t> </a:t>
              </a:r>
              <a:endParaRPr lang="zh-TW" altLang="en-US" dirty="0"/>
            </a:p>
          </p:txBody>
        </p:sp>
      </p:grpSp>
      <p:grpSp>
        <p:nvGrpSpPr>
          <p:cNvPr id="6" name="群組 42"/>
          <p:cNvGrpSpPr/>
          <p:nvPr/>
        </p:nvGrpSpPr>
        <p:grpSpPr>
          <a:xfrm>
            <a:off x="6732240" y="4571836"/>
            <a:ext cx="1872208" cy="1449452"/>
            <a:chOff x="2411760" y="4221088"/>
            <a:chExt cx="1872208" cy="1449452"/>
          </a:xfrm>
        </p:grpSpPr>
        <p:sp>
          <p:nvSpPr>
            <p:cNvPr id="44" name="圓角矩形 43"/>
            <p:cNvSpPr/>
            <p:nvPr/>
          </p:nvSpPr>
          <p:spPr>
            <a:xfrm>
              <a:off x="2411760" y="4221088"/>
              <a:ext cx="1872208" cy="1440160"/>
            </a:xfrm>
            <a:prstGeom prst="roundRect">
              <a:avLst>
                <a:gd name="adj" fmla="val 10654"/>
              </a:avLst>
            </a:prstGeom>
            <a:solidFill>
              <a:schemeClr val="accent1">
                <a:alpha val="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45" name="矩形 44"/>
            <p:cNvSpPr/>
            <p:nvPr/>
          </p:nvSpPr>
          <p:spPr>
            <a:xfrm>
              <a:off x="2809900" y="4437112"/>
              <a:ext cx="1080120" cy="864096"/>
            </a:xfrm>
            <a:prstGeom prst="rect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46" name="文字方塊 45"/>
            <p:cNvSpPr txBox="1"/>
            <p:nvPr/>
          </p:nvSpPr>
          <p:spPr>
            <a:xfrm>
              <a:off x="3131840" y="5301208"/>
              <a:ext cx="47801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 smtClean="0">
                  <a:solidFill>
                    <a:schemeClr val="accent2"/>
                  </a:solidFill>
                </a:rPr>
                <a:t>C1</a:t>
              </a:r>
              <a:r>
                <a:rPr lang="en-US" altLang="zh-TW" dirty="0" smtClean="0"/>
                <a:t> </a:t>
              </a:r>
              <a:endParaRPr lang="zh-TW" altLang="en-US" dirty="0"/>
            </a:p>
          </p:txBody>
        </p:sp>
      </p:grpSp>
      <p:sp>
        <p:nvSpPr>
          <p:cNvPr id="47" name="文字方塊 46"/>
          <p:cNvSpPr txBox="1"/>
          <p:nvPr/>
        </p:nvSpPr>
        <p:spPr>
          <a:xfrm>
            <a:off x="4860032" y="2627620"/>
            <a:ext cx="241117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200" dirty="0" smtClean="0"/>
              <a:t>Region inconsistent</a:t>
            </a:r>
            <a:endParaRPr lang="zh-TW" altLang="en-US" sz="2200" dirty="0"/>
          </a:p>
        </p:txBody>
      </p:sp>
      <p:sp>
        <p:nvSpPr>
          <p:cNvPr id="48" name="文字方塊 47"/>
          <p:cNvSpPr txBox="1"/>
          <p:nvPr/>
        </p:nvSpPr>
        <p:spPr>
          <a:xfrm>
            <a:off x="4860032" y="2636912"/>
            <a:ext cx="252028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200" dirty="0" smtClean="0"/>
              <a:t>Region consistent</a:t>
            </a:r>
            <a:endParaRPr lang="zh-TW" altLang="en-US" sz="2200" dirty="0"/>
          </a:p>
        </p:txBody>
      </p:sp>
      <p:sp>
        <p:nvSpPr>
          <p:cNvPr id="49" name="矩形 48"/>
          <p:cNvSpPr/>
          <p:nvPr/>
        </p:nvSpPr>
        <p:spPr>
          <a:xfrm>
            <a:off x="7524328" y="5022934"/>
            <a:ext cx="30489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TW" dirty="0" smtClean="0"/>
              <a:t>X</a:t>
            </a:r>
            <a:endParaRPr lang="zh-TW" altLang="en-US" dirty="0"/>
          </a:p>
        </p:txBody>
      </p:sp>
      <p:sp>
        <p:nvSpPr>
          <p:cNvPr id="52" name="矩形 51"/>
          <p:cNvSpPr/>
          <p:nvPr/>
        </p:nvSpPr>
        <p:spPr>
          <a:xfrm>
            <a:off x="5426571" y="5022934"/>
            <a:ext cx="30489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TW" dirty="0" smtClean="0"/>
              <a:t>X</a:t>
            </a:r>
            <a:endParaRPr lang="zh-TW" altLang="en-US" dirty="0"/>
          </a:p>
        </p:txBody>
      </p:sp>
      <p:sp>
        <p:nvSpPr>
          <p:cNvPr id="53" name="矩形 52"/>
          <p:cNvSpPr/>
          <p:nvPr/>
        </p:nvSpPr>
        <p:spPr>
          <a:xfrm>
            <a:off x="3194323" y="5022934"/>
            <a:ext cx="30489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TW" dirty="0" smtClean="0"/>
              <a:t>X</a:t>
            </a:r>
            <a:endParaRPr lang="zh-TW" altLang="en-US" dirty="0"/>
          </a:p>
        </p:txBody>
      </p:sp>
      <p:pic>
        <p:nvPicPr>
          <p:cNvPr id="54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23528" y="2627620"/>
            <a:ext cx="1695450" cy="1038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56" name="圖案 55"/>
          <p:cNvCxnSpPr>
            <a:stCxn id="54" idx="2"/>
          </p:cNvCxnSpPr>
          <p:nvPr/>
        </p:nvCxnSpPr>
        <p:spPr>
          <a:xfrm rot="16200000" flipH="1">
            <a:off x="978471" y="3858626"/>
            <a:ext cx="1626071" cy="1240507"/>
          </a:xfrm>
          <a:prstGeom prst="bentConnector2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文字方塊 56"/>
          <p:cNvSpPr txBox="1"/>
          <p:nvPr/>
        </p:nvSpPr>
        <p:spPr>
          <a:xfrm>
            <a:off x="3275856" y="3501008"/>
            <a:ext cx="29974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dirty="0" smtClean="0">
                <a:solidFill>
                  <a:schemeClr val="accent5">
                    <a:lumMod val="75000"/>
                  </a:schemeClr>
                </a:solidFill>
              </a:rPr>
              <a:t>Write xyz at region @ in C1</a:t>
            </a:r>
            <a:endParaRPr lang="zh-TW" altLang="en-US" sz="200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58" name="文字方塊 57"/>
          <p:cNvSpPr txBox="1"/>
          <p:nvPr/>
        </p:nvSpPr>
        <p:spPr>
          <a:xfrm>
            <a:off x="251520" y="5291916"/>
            <a:ext cx="212372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dirty="0" smtClean="0">
                <a:solidFill>
                  <a:schemeClr val="accent5">
                    <a:lumMod val="75000"/>
                  </a:schemeClr>
                </a:solidFill>
              </a:rPr>
              <a:t>Write </a:t>
            </a:r>
            <a:r>
              <a:rPr lang="en-US" altLang="zh-TW" sz="2000" dirty="0" err="1" smtClean="0">
                <a:solidFill>
                  <a:schemeClr val="accent5">
                    <a:lumMod val="75000"/>
                  </a:schemeClr>
                </a:solidFill>
              </a:rPr>
              <a:t>abc</a:t>
            </a:r>
            <a:r>
              <a:rPr lang="en-US" altLang="zh-TW" sz="2000" dirty="0" smtClean="0">
                <a:solidFill>
                  <a:schemeClr val="accent5">
                    <a:lumMod val="75000"/>
                  </a:schemeClr>
                </a:solidFill>
              </a:rPr>
              <a:t> at region @ in C1</a:t>
            </a:r>
            <a:endParaRPr lang="zh-TW" altLang="en-US" sz="200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59" name="文字方塊 58"/>
          <p:cNvSpPr txBox="1"/>
          <p:nvPr/>
        </p:nvSpPr>
        <p:spPr>
          <a:xfrm>
            <a:off x="4211960" y="2638073"/>
            <a:ext cx="405244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200" dirty="0" smtClean="0"/>
              <a:t>Region consistent but undefined </a:t>
            </a:r>
            <a:endParaRPr lang="zh-TW" altLang="en-US" sz="2200" dirty="0"/>
          </a:p>
        </p:txBody>
      </p:sp>
      <p:sp>
        <p:nvSpPr>
          <p:cNvPr id="60" name="文字方塊 59"/>
          <p:cNvSpPr txBox="1"/>
          <p:nvPr/>
        </p:nvSpPr>
        <p:spPr>
          <a:xfrm>
            <a:off x="2956796" y="5013176"/>
            <a:ext cx="8040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err="1" smtClean="0"/>
              <a:t>xyzabc</a:t>
            </a:r>
            <a:endParaRPr lang="zh-TW" altLang="en-US" dirty="0"/>
          </a:p>
        </p:txBody>
      </p:sp>
      <p:sp>
        <p:nvSpPr>
          <p:cNvPr id="62" name="文字方塊 61"/>
          <p:cNvSpPr txBox="1"/>
          <p:nvPr/>
        </p:nvSpPr>
        <p:spPr>
          <a:xfrm>
            <a:off x="5186164" y="5013176"/>
            <a:ext cx="8040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err="1" smtClean="0"/>
              <a:t>xyzabc</a:t>
            </a:r>
            <a:endParaRPr lang="zh-TW" altLang="en-US" dirty="0"/>
          </a:p>
        </p:txBody>
      </p:sp>
      <p:sp>
        <p:nvSpPr>
          <p:cNvPr id="63" name="文字方塊 62"/>
          <p:cNvSpPr txBox="1"/>
          <p:nvPr/>
        </p:nvSpPr>
        <p:spPr>
          <a:xfrm>
            <a:off x="7308304" y="5003884"/>
            <a:ext cx="8040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err="1" smtClean="0"/>
              <a:t>xyzabc</a:t>
            </a:r>
            <a:endParaRPr lang="zh-TW" altLang="en-US" dirty="0"/>
          </a:p>
        </p:txBody>
      </p:sp>
      <p:sp>
        <p:nvSpPr>
          <p:cNvPr id="30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altLang="zh-TW" dirty="0" smtClean="0"/>
              <a:t>Write/Concurrent Write</a:t>
            </a:r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0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1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" dur="1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" dur="1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1000"/>
                            </p:stCondLst>
                            <p:childTnLst>
                              <p:par>
                                <p:cTn id="5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1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1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10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2" grpId="1"/>
      <p:bldP spid="47" grpId="0"/>
      <p:bldP spid="47" grpId="1"/>
      <p:bldP spid="48" grpId="0"/>
      <p:bldP spid="48" grpId="1"/>
      <p:bldP spid="49" grpId="0"/>
      <p:bldP spid="49" grpId="1"/>
      <p:bldP spid="52" grpId="0"/>
      <p:bldP spid="52" grpId="1"/>
      <p:bldP spid="53" grpId="0"/>
      <p:bldP spid="53" grpId="1"/>
      <p:bldP spid="57" grpId="0"/>
      <p:bldP spid="58" grpId="0"/>
      <p:bldP spid="59" grpId="0"/>
      <p:bldP spid="60" grpId="0"/>
      <p:bldP spid="62" grpId="0"/>
      <p:bldP spid="63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Trade-offs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>
                <a:latin typeface="+mj-lt"/>
              </a:rPr>
              <a:t>Some properties</a:t>
            </a:r>
          </a:p>
          <a:p>
            <a:pPr lvl="1"/>
            <a:r>
              <a:rPr lang="en-US" altLang="zh-TW" dirty="0" smtClean="0">
                <a:latin typeface="+mj-lt"/>
              </a:rPr>
              <a:t>concurrent writes leave region consistent, but possibly undefined</a:t>
            </a:r>
          </a:p>
          <a:p>
            <a:pPr lvl="1"/>
            <a:r>
              <a:rPr lang="en-US" altLang="zh-TW" dirty="0" smtClean="0">
                <a:latin typeface="+mj-lt"/>
              </a:rPr>
              <a:t>failed writes leave the region inconsistent</a:t>
            </a:r>
          </a:p>
          <a:p>
            <a:pPr lvl="1"/>
            <a:endParaRPr lang="en-US" altLang="zh-TW" dirty="0" smtClean="0">
              <a:latin typeface="+mj-lt"/>
            </a:endParaRPr>
          </a:p>
          <a:p>
            <a:r>
              <a:rPr lang="en-US" altLang="zh-TW" dirty="0" smtClean="0">
                <a:latin typeface="+mj-lt"/>
              </a:rPr>
              <a:t>Some work has moved into the applications</a:t>
            </a:r>
          </a:p>
          <a:p>
            <a:pPr lvl="1"/>
            <a:r>
              <a:rPr lang="en-US" altLang="zh-TW" dirty="0" smtClean="0">
                <a:latin typeface="+mj-lt"/>
              </a:rPr>
              <a:t>e.g., self-validating, self-identifying records</a:t>
            </a:r>
            <a:endParaRPr lang="zh-TW" altLang="en-US" dirty="0">
              <a:latin typeface="+mj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Atomic Record Appends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141168"/>
          </a:xfrm>
        </p:spPr>
        <p:txBody>
          <a:bodyPr>
            <a:normAutofit/>
          </a:bodyPr>
          <a:lstStyle/>
          <a:p>
            <a:r>
              <a:rPr lang="en-US" altLang="zh-TW" dirty="0" smtClean="0">
                <a:latin typeface="+mj-lt"/>
              </a:rPr>
              <a:t>GFS provides an atomic append operation called “record append”</a:t>
            </a:r>
          </a:p>
          <a:p>
            <a:r>
              <a:rPr lang="en-US" altLang="zh-TW" dirty="0" smtClean="0">
                <a:latin typeface="+mj-lt"/>
              </a:rPr>
              <a:t>Client specifies data, but not the offset</a:t>
            </a:r>
          </a:p>
          <a:p>
            <a:r>
              <a:rPr lang="en-US" altLang="zh-TW" dirty="0" smtClean="0">
                <a:latin typeface="+mj-lt"/>
              </a:rPr>
              <a:t>GFS guarantees that the data is appended to the file atomically at least once</a:t>
            </a:r>
          </a:p>
          <a:p>
            <a:pPr lvl="1"/>
            <a:r>
              <a:rPr lang="en-US" altLang="zh-TW" dirty="0" smtClean="0">
                <a:latin typeface="+mj-lt"/>
              </a:rPr>
              <a:t>GFS picks the offset, and returns the offset to client</a:t>
            </a:r>
          </a:p>
          <a:p>
            <a:pPr lvl="1"/>
            <a:r>
              <a:rPr lang="en-US" altLang="zh-TW" dirty="0" smtClean="0">
                <a:latin typeface="+mj-lt"/>
              </a:rPr>
              <a:t>works for concurrent writers</a:t>
            </a:r>
          </a:p>
          <a:p>
            <a:r>
              <a:rPr lang="en-US" altLang="zh-TW" dirty="0" smtClean="0">
                <a:latin typeface="+mj-lt"/>
              </a:rPr>
              <a:t>Used heavily by Google apps</a:t>
            </a:r>
          </a:p>
          <a:p>
            <a:pPr lvl="1"/>
            <a:r>
              <a:rPr lang="en-US" altLang="zh-TW" dirty="0" smtClean="0">
                <a:latin typeface="+mj-lt"/>
              </a:rPr>
              <a:t>e.g., for files that serve as multiple-producer/single-consumer queues</a:t>
            </a:r>
          </a:p>
          <a:p>
            <a:pPr lvl="1"/>
            <a:r>
              <a:rPr lang="en-US" altLang="zh-TW" dirty="0" smtClean="0">
                <a:latin typeface="+mj-lt"/>
              </a:rPr>
              <a:t>Contain merged results from many different clients</a:t>
            </a:r>
            <a:endParaRPr lang="zh-TW" altLang="en-US" dirty="0">
              <a:latin typeface="+mj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How Record Append Works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069160"/>
          </a:xfrm>
        </p:spPr>
        <p:txBody>
          <a:bodyPr>
            <a:normAutofit/>
          </a:bodyPr>
          <a:lstStyle/>
          <a:p>
            <a:r>
              <a:rPr lang="en-US" altLang="zh-TW" dirty="0" smtClean="0">
                <a:latin typeface="+mj-lt"/>
              </a:rPr>
              <a:t>Query and Data Push are similar to write operation</a:t>
            </a:r>
          </a:p>
          <a:p>
            <a:r>
              <a:rPr lang="en-US" altLang="zh-TW" dirty="0" smtClean="0">
                <a:latin typeface="+mj-lt"/>
              </a:rPr>
              <a:t>Client send write request to primary</a:t>
            </a:r>
          </a:p>
          <a:p>
            <a:r>
              <a:rPr lang="en-US" altLang="zh-TW" dirty="0" smtClean="0">
                <a:latin typeface="+mj-lt"/>
              </a:rPr>
              <a:t>If appending would exceed chunk boundary</a:t>
            </a:r>
          </a:p>
          <a:p>
            <a:pPr lvl="1"/>
            <a:r>
              <a:rPr lang="en-US" altLang="zh-TW" dirty="0" smtClean="0">
                <a:latin typeface="+mj-lt"/>
              </a:rPr>
              <a:t>Primary pads the current chunk, tells other replicas to do the same, replies to client asking to retry on the next chunk</a:t>
            </a:r>
          </a:p>
          <a:p>
            <a:r>
              <a:rPr lang="en-US" altLang="zh-TW" dirty="0" smtClean="0">
                <a:latin typeface="+mj-lt"/>
              </a:rPr>
              <a:t>Else</a:t>
            </a:r>
          </a:p>
          <a:p>
            <a:pPr lvl="1"/>
            <a:r>
              <a:rPr lang="en-US" altLang="zh-TW" dirty="0" smtClean="0">
                <a:latin typeface="+mj-lt"/>
              </a:rPr>
              <a:t>commit the write in all replicas</a:t>
            </a:r>
          </a:p>
          <a:p>
            <a:r>
              <a:rPr lang="en-US" altLang="zh-TW" dirty="0" smtClean="0">
                <a:latin typeface="+mj-lt"/>
              </a:rPr>
              <a:t>Any replica failure: client retries</a:t>
            </a:r>
            <a:endParaRPr lang="zh-TW" altLang="en-US" dirty="0">
              <a:latin typeface="+mj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67744" y="1691516"/>
            <a:ext cx="1695450" cy="1038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5" name="直線單箭頭接點 4"/>
          <p:cNvCxnSpPr>
            <a:stCxn id="4" idx="2"/>
          </p:cNvCxnSpPr>
          <p:nvPr/>
        </p:nvCxnSpPr>
        <p:spPr>
          <a:xfrm rot="16200000" flipH="1">
            <a:off x="2202607" y="3642602"/>
            <a:ext cx="1842095" cy="16371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字方塊 5"/>
          <p:cNvSpPr txBox="1"/>
          <p:nvPr/>
        </p:nvSpPr>
        <p:spPr>
          <a:xfrm>
            <a:off x="3275856" y="3491716"/>
            <a:ext cx="142539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dirty="0" smtClean="0">
                <a:solidFill>
                  <a:schemeClr val="accent5">
                    <a:lumMod val="75000"/>
                  </a:schemeClr>
                </a:solidFill>
              </a:rPr>
              <a:t>Append </a:t>
            </a:r>
            <a:r>
              <a:rPr lang="en-US" altLang="zh-TW" sz="2000" dirty="0" err="1" smtClean="0">
                <a:solidFill>
                  <a:schemeClr val="accent5">
                    <a:lumMod val="75000"/>
                  </a:schemeClr>
                </a:solidFill>
              </a:rPr>
              <a:t>abc</a:t>
            </a:r>
            <a:endParaRPr lang="zh-TW" altLang="en-US" sz="2000" dirty="0">
              <a:solidFill>
                <a:schemeClr val="accent5">
                  <a:lumMod val="75000"/>
                </a:schemeClr>
              </a:solidFill>
            </a:endParaRPr>
          </a:p>
        </p:txBody>
      </p:sp>
      <p:grpSp>
        <p:nvGrpSpPr>
          <p:cNvPr id="2" name="群組 6"/>
          <p:cNvGrpSpPr/>
          <p:nvPr/>
        </p:nvGrpSpPr>
        <p:grpSpPr>
          <a:xfrm>
            <a:off x="2411760" y="4571836"/>
            <a:ext cx="1872208" cy="1449452"/>
            <a:chOff x="2411760" y="4221088"/>
            <a:chExt cx="1872208" cy="1449452"/>
          </a:xfrm>
        </p:grpSpPr>
        <p:sp>
          <p:nvSpPr>
            <p:cNvPr id="8" name="圓角矩形 7"/>
            <p:cNvSpPr/>
            <p:nvPr/>
          </p:nvSpPr>
          <p:spPr>
            <a:xfrm>
              <a:off x="2411760" y="4221088"/>
              <a:ext cx="1872208" cy="1440160"/>
            </a:xfrm>
            <a:prstGeom prst="roundRect">
              <a:avLst>
                <a:gd name="adj" fmla="val 10654"/>
              </a:avLst>
            </a:prstGeom>
            <a:solidFill>
              <a:schemeClr val="accent1">
                <a:alpha val="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9" name="矩形 8"/>
            <p:cNvSpPr/>
            <p:nvPr/>
          </p:nvSpPr>
          <p:spPr>
            <a:xfrm>
              <a:off x="2809900" y="4437112"/>
              <a:ext cx="1080120" cy="864096"/>
            </a:xfrm>
            <a:prstGeom prst="rect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10" name="文字方塊 9"/>
            <p:cNvSpPr txBox="1"/>
            <p:nvPr/>
          </p:nvSpPr>
          <p:spPr>
            <a:xfrm>
              <a:off x="3131840" y="5301208"/>
              <a:ext cx="47801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 smtClean="0">
                  <a:solidFill>
                    <a:schemeClr val="accent2"/>
                  </a:solidFill>
                </a:rPr>
                <a:t>C1</a:t>
              </a:r>
              <a:r>
                <a:rPr lang="en-US" altLang="zh-TW" dirty="0" smtClean="0"/>
                <a:t> </a:t>
              </a:r>
              <a:endParaRPr lang="zh-TW" altLang="en-US" dirty="0"/>
            </a:p>
          </p:txBody>
        </p:sp>
      </p:grpSp>
      <p:grpSp>
        <p:nvGrpSpPr>
          <p:cNvPr id="3" name="群組 10"/>
          <p:cNvGrpSpPr/>
          <p:nvPr/>
        </p:nvGrpSpPr>
        <p:grpSpPr>
          <a:xfrm>
            <a:off x="4644008" y="4571836"/>
            <a:ext cx="1872208" cy="1449452"/>
            <a:chOff x="2411760" y="4221088"/>
            <a:chExt cx="1872208" cy="1449452"/>
          </a:xfrm>
        </p:grpSpPr>
        <p:sp>
          <p:nvSpPr>
            <p:cNvPr id="12" name="圓角矩形 11"/>
            <p:cNvSpPr/>
            <p:nvPr/>
          </p:nvSpPr>
          <p:spPr>
            <a:xfrm>
              <a:off x="2411760" y="4221088"/>
              <a:ext cx="1872208" cy="1440160"/>
            </a:xfrm>
            <a:prstGeom prst="roundRect">
              <a:avLst>
                <a:gd name="adj" fmla="val 10654"/>
              </a:avLst>
            </a:prstGeom>
            <a:solidFill>
              <a:schemeClr val="accent1">
                <a:alpha val="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13" name="矩形 12"/>
            <p:cNvSpPr/>
            <p:nvPr/>
          </p:nvSpPr>
          <p:spPr>
            <a:xfrm>
              <a:off x="2809900" y="4437112"/>
              <a:ext cx="1080120" cy="864096"/>
            </a:xfrm>
            <a:prstGeom prst="rect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14" name="文字方塊 13"/>
            <p:cNvSpPr txBox="1"/>
            <p:nvPr/>
          </p:nvSpPr>
          <p:spPr>
            <a:xfrm>
              <a:off x="3131840" y="5301208"/>
              <a:ext cx="47801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 smtClean="0">
                  <a:solidFill>
                    <a:schemeClr val="accent2"/>
                  </a:solidFill>
                </a:rPr>
                <a:t>C1</a:t>
              </a:r>
              <a:r>
                <a:rPr lang="en-US" altLang="zh-TW" dirty="0" smtClean="0"/>
                <a:t> </a:t>
              </a:r>
              <a:endParaRPr lang="zh-TW" altLang="en-US" dirty="0"/>
            </a:p>
          </p:txBody>
        </p:sp>
      </p:grpSp>
      <p:grpSp>
        <p:nvGrpSpPr>
          <p:cNvPr id="7" name="群組 14"/>
          <p:cNvGrpSpPr/>
          <p:nvPr/>
        </p:nvGrpSpPr>
        <p:grpSpPr>
          <a:xfrm>
            <a:off x="6732240" y="4571836"/>
            <a:ext cx="1872208" cy="1449452"/>
            <a:chOff x="2411760" y="4221088"/>
            <a:chExt cx="1872208" cy="1449452"/>
          </a:xfrm>
        </p:grpSpPr>
        <p:sp>
          <p:nvSpPr>
            <p:cNvPr id="16" name="圓角矩形 15"/>
            <p:cNvSpPr/>
            <p:nvPr/>
          </p:nvSpPr>
          <p:spPr>
            <a:xfrm>
              <a:off x="2411760" y="4221088"/>
              <a:ext cx="1872208" cy="1440160"/>
            </a:xfrm>
            <a:prstGeom prst="roundRect">
              <a:avLst>
                <a:gd name="adj" fmla="val 10654"/>
              </a:avLst>
            </a:prstGeom>
            <a:solidFill>
              <a:schemeClr val="accent1">
                <a:alpha val="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17" name="矩形 16"/>
            <p:cNvSpPr/>
            <p:nvPr/>
          </p:nvSpPr>
          <p:spPr>
            <a:xfrm>
              <a:off x="2809900" y="4437112"/>
              <a:ext cx="1080120" cy="864096"/>
            </a:xfrm>
            <a:prstGeom prst="rect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18" name="文字方塊 17"/>
            <p:cNvSpPr txBox="1"/>
            <p:nvPr/>
          </p:nvSpPr>
          <p:spPr>
            <a:xfrm>
              <a:off x="3131840" y="5301208"/>
              <a:ext cx="47801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 smtClean="0">
                  <a:solidFill>
                    <a:schemeClr val="accent2"/>
                  </a:solidFill>
                </a:rPr>
                <a:t>C1</a:t>
              </a:r>
              <a:r>
                <a:rPr lang="en-US" altLang="zh-TW" dirty="0" smtClean="0"/>
                <a:t> </a:t>
              </a:r>
              <a:endParaRPr lang="zh-TW" altLang="en-US" dirty="0"/>
            </a:p>
          </p:txBody>
        </p:sp>
      </p:grpSp>
      <p:sp>
        <p:nvSpPr>
          <p:cNvPr id="19" name="文字方塊 18"/>
          <p:cNvSpPr txBox="1"/>
          <p:nvPr/>
        </p:nvSpPr>
        <p:spPr>
          <a:xfrm>
            <a:off x="4211960" y="2627620"/>
            <a:ext cx="403244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200" dirty="0" smtClean="0"/>
              <a:t>Region defined interspersed with inconsistent</a:t>
            </a:r>
            <a:endParaRPr lang="zh-TW" altLang="en-US" sz="2200" dirty="0"/>
          </a:p>
        </p:txBody>
      </p:sp>
      <p:sp>
        <p:nvSpPr>
          <p:cNvPr id="26" name="文字方塊 25"/>
          <p:cNvSpPr txBox="1"/>
          <p:nvPr/>
        </p:nvSpPr>
        <p:spPr>
          <a:xfrm>
            <a:off x="3089983" y="5075892"/>
            <a:ext cx="5148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err="1" smtClean="0"/>
              <a:t>abc</a:t>
            </a:r>
            <a:endParaRPr lang="zh-TW" altLang="en-US" dirty="0"/>
          </a:p>
        </p:txBody>
      </p:sp>
      <p:sp>
        <p:nvSpPr>
          <p:cNvPr id="27" name="文字方塊 26"/>
          <p:cNvSpPr txBox="1"/>
          <p:nvPr/>
        </p:nvSpPr>
        <p:spPr>
          <a:xfrm>
            <a:off x="5319351" y="5075892"/>
            <a:ext cx="5148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err="1" smtClean="0"/>
              <a:t>abc</a:t>
            </a:r>
            <a:endParaRPr lang="zh-TW" altLang="en-US" dirty="0"/>
          </a:p>
        </p:txBody>
      </p:sp>
      <p:sp>
        <p:nvSpPr>
          <p:cNvPr id="28" name="文字方塊 27"/>
          <p:cNvSpPr txBox="1"/>
          <p:nvPr/>
        </p:nvSpPr>
        <p:spPr>
          <a:xfrm>
            <a:off x="7441491" y="5075892"/>
            <a:ext cx="5148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err="1" smtClean="0"/>
              <a:t>abc</a:t>
            </a:r>
            <a:endParaRPr lang="zh-TW" altLang="en-US" dirty="0"/>
          </a:p>
        </p:txBody>
      </p:sp>
      <p:cxnSp>
        <p:nvCxnSpPr>
          <p:cNvPr id="30" name="直線單箭頭接點 29"/>
          <p:cNvCxnSpPr/>
          <p:nvPr/>
        </p:nvCxnSpPr>
        <p:spPr>
          <a:xfrm rot="5400000" flipH="1" flipV="1">
            <a:off x="1691680" y="3635732"/>
            <a:ext cx="1872208" cy="1588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文字方塊 30"/>
          <p:cNvSpPr txBox="1"/>
          <p:nvPr/>
        </p:nvSpPr>
        <p:spPr>
          <a:xfrm>
            <a:off x="1835696" y="3491716"/>
            <a:ext cx="73956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dirty="0" smtClean="0">
                <a:solidFill>
                  <a:schemeClr val="accent5">
                    <a:lumMod val="75000"/>
                  </a:schemeClr>
                </a:solidFill>
              </a:rPr>
              <a:t>Retry</a:t>
            </a:r>
            <a:endParaRPr lang="zh-TW" altLang="en-US" sz="200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32" name="文字方塊 31"/>
          <p:cNvSpPr txBox="1"/>
          <p:nvPr/>
        </p:nvSpPr>
        <p:spPr>
          <a:xfrm>
            <a:off x="4283968" y="2627620"/>
            <a:ext cx="403244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200" dirty="0" smtClean="0"/>
              <a:t>Region inconsistent and undefined</a:t>
            </a:r>
            <a:endParaRPr lang="zh-TW" altLang="en-US" sz="2200" dirty="0"/>
          </a:p>
        </p:txBody>
      </p:sp>
      <p:sp>
        <p:nvSpPr>
          <p:cNvPr id="33" name="文字方塊 32"/>
          <p:cNvSpPr txBox="1"/>
          <p:nvPr/>
        </p:nvSpPr>
        <p:spPr>
          <a:xfrm>
            <a:off x="3089983" y="4931876"/>
            <a:ext cx="51488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err="1" smtClean="0"/>
              <a:t>abc</a:t>
            </a:r>
            <a:endParaRPr lang="en-US" altLang="zh-TW" dirty="0" smtClean="0"/>
          </a:p>
          <a:p>
            <a:r>
              <a:rPr lang="en-US" altLang="zh-TW" dirty="0" err="1" smtClean="0"/>
              <a:t>abc</a:t>
            </a:r>
            <a:endParaRPr lang="zh-TW" altLang="en-US" dirty="0"/>
          </a:p>
        </p:txBody>
      </p:sp>
      <p:sp>
        <p:nvSpPr>
          <p:cNvPr id="25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altLang="zh-TW" dirty="0" smtClean="0"/>
              <a:t>Append</a:t>
            </a:r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000"/>
                            </p:stCondLst>
                            <p:childTnLst>
                              <p:par>
                                <p:cTn id="32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2000"/>
                            </p:stCondLst>
                            <p:childTnLst>
                              <p:par>
                                <p:cTn id="3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6" grpId="1"/>
      <p:bldP spid="19" grpId="0"/>
      <p:bldP spid="26" grpId="0"/>
      <p:bldP spid="27" grpId="0"/>
      <p:bldP spid="28" grpId="0"/>
      <p:bldP spid="31" grpId="0"/>
      <p:bldP spid="31" grpId="1"/>
      <p:bldP spid="32" grpId="0"/>
      <p:bldP spid="33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System Interactions</a:t>
            </a:r>
            <a:endParaRPr lang="zh-TW" alt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r>
              <a:rPr lang="en-US" altLang="zh-TW" dirty="0" smtClean="0">
                <a:solidFill>
                  <a:schemeClr val="bg1">
                    <a:lumMod val="50000"/>
                  </a:schemeClr>
                </a:solidFill>
              </a:rPr>
              <a:t>Read/Write</a:t>
            </a:r>
          </a:p>
          <a:p>
            <a:r>
              <a:rPr lang="en-US" altLang="zh-TW" dirty="0" smtClean="0">
                <a:solidFill>
                  <a:schemeClr val="bg1">
                    <a:lumMod val="50000"/>
                  </a:schemeClr>
                </a:solidFill>
              </a:rPr>
              <a:t>Concurrent Write</a:t>
            </a:r>
          </a:p>
          <a:p>
            <a:r>
              <a:rPr lang="en-US" altLang="zh-TW" dirty="0" smtClean="0">
                <a:solidFill>
                  <a:schemeClr val="bg1">
                    <a:lumMod val="50000"/>
                  </a:schemeClr>
                </a:solidFill>
              </a:rPr>
              <a:t>Atomic Record Appends</a:t>
            </a:r>
          </a:p>
          <a:p>
            <a:r>
              <a:rPr lang="en-US" altLang="zh-TW" dirty="0" smtClean="0"/>
              <a:t>Snapshot</a:t>
            </a:r>
            <a:endParaRPr lang="zh-TW" alt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Snapshot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257800"/>
          </a:xfrm>
        </p:spPr>
        <p:txBody>
          <a:bodyPr>
            <a:normAutofit/>
          </a:bodyPr>
          <a:lstStyle/>
          <a:p>
            <a:r>
              <a:rPr lang="en-US" altLang="zh-TW" dirty="0" smtClean="0">
                <a:latin typeface="+mj-lt"/>
              </a:rPr>
              <a:t>Makes a copy of a file or a directory tree almost instantaneously</a:t>
            </a:r>
          </a:p>
          <a:p>
            <a:pPr lvl="1"/>
            <a:r>
              <a:rPr lang="en-US" altLang="zh-TW" dirty="0" smtClean="0">
                <a:latin typeface="+mj-lt"/>
              </a:rPr>
              <a:t>minimize interruptions of ongoing mutations</a:t>
            </a:r>
          </a:p>
          <a:p>
            <a:pPr lvl="1"/>
            <a:r>
              <a:rPr lang="en-US" altLang="zh-TW" dirty="0" smtClean="0">
                <a:latin typeface="+mj-lt"/>
              </a:rPr>
              <a:t>copy-on-write with reference counts on chunks</a:t>
            </a:r>
          </a:p>
          <a:p>
            <a:r>
              <a:rPr lang="en-US" altLang="zh-TW" dirty="0" smtClean="0">
                <a:latin typeface="+mj-lt"/>
              </a:rPr>
              <a:t>Steps: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altLang="zh-TW" dirty="0" smtClean="0">
                <a:latin typeface="+mj-lt"/>
              </a:rPr>
              <a:t>a client issues a snapshot request for source files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altLang="zh-TW" dirty="0" smtClean="0">
                <a:latin typeface="+mj-lt"/>
              </a:rPr>
              <a:t>master revokes all leases of affected chunks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altLang="zh-TW" dirty="0" smtClean="0">
                <a:latin typeface="+mj-lt"/>
              </a:rPr>
              <a:t>master logs the operation to disk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altLang="zh-TW" dirty="0" smtClean="0">
                <a:latin typeface="+mj-lt"/>
              </a:rPr>
              <a:t>master duplicates metadata of source files, pointing to the same chunks, increasing the reference count of the chunks</a:t>
            </a:r>
            <a:endParaRPr lang="zh-TW" altLang="en-US" dirty="0">
              <a:latin typeface="+mj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116632"/>
            <a:ext cx="8229600" cy="1143000"/>
          </a:xfrm>
        </p:spPr>
        <p:txBody>
          <a:bodyPr/>
          <a:lstStyle/>
          <a:p>
            <a:r>
              <a:rPr lang="en-US" altLang="zh-TW" dirty="0" smtClean="0"/>
              <a:t> After Snapshot(Read/Write)</a:t>
            </a:r>
            <a:endParaRPr lang="zh-TW" altLang="en-US" dirty="0"/>
          </a:p>
        </p:txBody>
      </p:sp>
      <p:sp>
        <p:nvSpPr>
          <p:cNvPr id="4" name="矩形 3"/>
          <p:cNvSpPr/>
          <p:nvPr/>
        </p:nvSpPr>
        <p:spPr>
          <a:xfrm>
            <a:off x="3578657" y="1052736"/>
            <a:ext cx="4754840" cy="320150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pic>
        <p:nvPicPr>
          <p:cNvPr id="6" name="Picture 8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976302" y="1115692"/>
            <a:ext cx="3832259" cy="17102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文字方塊 6"/>
          <p:cNvSpPr txBox="1"/>
          <p:nvPr/>
        </p:nvSpPr>
        <p:spPr>
          <a:xfrm>
            <a:off x="6346400" y="1706036"/>
            <a:ext cx="1313180" cy="3770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850" dirty="0" smtClean="0">
                <a:latin typeface="Cambria Math" pitchFamily="18" charset="0"/>
                <a:ea typeface="Cambria Math" pitchFamily="18" charset="0"/>
              </a:rPr>
              <a:t>chunk 2ef1</a:t>
            </a:r>
            <a:endParaRPr lang="zh-TW" altLang="en-US" sz="1850" dirty="0">
              <a:latin typeface="Cambria Math" pitchFamily="18" charset="0"/>
            </a:endParaRPr>
          </a:p>
        </p:txBody>
      </p:sp>
      <p:sp>
        <p:nvSpPr>
          <p:cNvPr id="8" name="文字方塊 7"/>
          <p:cNvSpPr txBox="1"/>
          <p:nvPr/>
        </p:nvSpPr>
        <p:spPr>
          <a:xfrm>
            <a:off x="2088334" y="2012359"/>
            <a:ext cx="12774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 smtClean="0"/>
              <a:t>Read bar</a:t>
            </a:r>
            <a:endParaRPr lang="zh-TW" altLang="en-US" dirty="0"/>
          </a:p>
        </p:txBody>
      </p:sp>
      <p:sp>
        <p:nvSpPr>
          <p:cNvPr id="9" name="文字方塊 8"/>
          <p:cNvSpPr txBox="1"/>
          <p:nvPr/>
        </p:nvSpPr>
        <p:spPr>
          <a:xfrm>
            <a:off x="1992139" y="2006707"/>
            <a:ext cx="14873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 smtClean="0"/>
              <a:t>Write bar</a:t>
            </a:r>
            <a:endParaRPr lang="zh-TW" altLang="en-US" dirty="0"/>
          </a:p>
        </p:txBody>
      </p:sp>
      <p:grpSp>
        <p:nvGrpSpPr>
          <p:cNvPr id="3" name="群組 9"/>
          <p:cNvGrpSpPr/>
          <p:nvPr/>
        </p:nvGrpSpPr>
        <p:grpSpPr>
          <a:xfrm>
            <a:off x="4217367" y="3262317"/>
            <a:ext cx="922581" cy="851344"/>
            <a:chOff x="3275856" y="1772816"/>
            <a:chExt cx="1080120" cy="1123553"/>
          </a:xfrm>
        </p:grpSpPr>
        <p:cxnSp>
          <p:nvCxnSpPr>
            <p:cNvPr id="11" name="直線接點 10"/>
            <p:cNvCxnSpPr/>
            <p:nvPr/>
          </p:nvCxnSpPr>
          <p:spPr>
            <a:xfrm rot="5400000">
              <a:off x="3275856" y="1772816"/>
              <a:ext cx="720080" cy="720080"/>
            </a:xfrm>
            <a:prstGeom prst="line">
              <a:avLst/>
            </a:prstGeom>
            <a:ln w="19050">
              <a:solidFill>
                <a:schemeClr val="dk1">
                  <a:alpha val="54000"/>
                </a:schemeClr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2" name="直線接點 11"/>
            <p:cNvCxnSpPr/>
            <p:nvPr/>
          </p:nvCxnSpPr>
          <p:spPr>
            <a:xfrm rot="16200000" flipH="1">
              <a:off x="3626371" y="2142382"/>
              <a:ext cx="720080" cy="720080"/>
            </a:xfrm>
            <a:prstGeom prst="line">
              <a:avLst/>
            </a:prstGeom>
            <a:ln w="19050">
              <a:solidFill>
                <a:schemeClr val="dk1">
                  <a:alpha val="54000"/>
                </a:schemeClr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3" name="直線接點 12"/>
            <p:cNvCxnSpPr/>
            <p:nvPr/>
          </p:nvCxnSpPr>
          <p:spPr>
            <a:xfrm rot="5400000">
              <a:off x="3815916" y="1952836"/>
              <a:ext cx="360040" cy="0"/>
            </a:xfrm>
            <a:prstGeom prst="line">
              <a:avLst/>
            </a:prstGeom>
            <a:ln w="19050">
              <a:solidFill>
                <a:schemeClr val="dk1">
                  <a:alpha val="54000"/>
                </a:schemeClr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4" name="直線接點 13"/>
            <p:cNvCxnSpPr/>
            <p:nvPr/>
          </p:nvCxnSpPr>
          <p:spPr>
            <a:xfrm rot="16200000" flipH="1">
              <a:off x="3995936" y="1772816"/>
              <a:ext cx="360040" cy="360040"/>
            </a:xfrm>
            <a:prstGeom prst="line">
              <a:avLst/>
            </a:prstGeom>
            <a:ln w="19050">
              <a:solidFill>
                <a:schemeClr val="dk1">
                  <a:alpha val="54000"/>
                </a:schemeClr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5" name="直線接點 14"/>
            <p:cNvCxnSpPr/>
            <p:nvPr/>
          </p:nvCxnSpPr>
          <p:spPr>
            <a:xfrm rot="5400000">
              <a:off x="3635896" y="2526804"/>
              <a:ext cx="360040" cy="360040"/>
            </a:xfrm>
            <a:prstGeom prst="line">
              <a:avLst/>
            </a:prstGeom>
            <a:ln w="19050">
              <a:solidFill>
                <a:schemeClr val="dk1">
                  <a:alpha val="54000"/>
                </a:schemeClr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6" name="直線接點 15"/>
            <p:cNvCxnSpPr/>
            <p:nvPr/>
          </p:nvCxnSpPr>
          <p:spPr>
            <a:xfrm rot="5400000">
              <a:off x="3825441" y="2716349"/>
              <a:ext cx="360040" cy="0"/>
            </a:xfrm>
            <a:prstGeom prst="line">
              <a:avLst/>
            </a:prstGeom>
            <a:ln w="19050">
              <a:solidFill>
                <a:schemeClr val="dk1">
                  <a:alpha val="54000"/>
                </a:schemeClr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7" name="直線接點 16"/>
            <p:cNvCxnSpPr/>
            <p:nvPr/>
          </p:nvCxnSpPr>
          <p:spPr>
            <a:xfrm rot="5400000" flipH="1" flipV="1">
              <a:off x="3446351" y="2346784"/>
              <a:ext cx="360040" cy="0"/>
            </a:xfrm>
            <a:prstGeom prst="line">
              <a:avLst/>
            </a:prstGeom>
            <a:ln w="19050">
              <a:solidFill>
                <a:schemeClr val="dk1">
                  <a:alpha val="54000"/>
                </a:schemeClr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8" name="向下箭號 17"/>
          <p:cNvSpPr/>
          <p:nvPr/>
        </p:nvSpPr>
        <p:spPr>
          <a:xfrm>
            <a:off x="4501238" y="2928440"/>
            <a:ext cx="638710" cy="251826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" name="文字方塊 18"/>
          <p:cNvSpPr txBox="1"/>
          <p:nvPr/>
        </p:nvSpPr>
        <p:spPr>
          <a:xfrm>
            <a:off x="3933496" y="2865483"/>
            <a:ext cx="645336" cy="3229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Copy</a:t>
            </a:r>
            <a:endParaRPr lang="zh-TW" altLang="en-US" dirty="0"/>
          </a:p>
        </p:txBody>
      </p:sp>
      <p:cxnSp>
        <p:nvCxnSpPr>
          <p:cNvPr id="20" name="弧形接點 19"/>
          <p:cNvCxnSpPr/>
          <p:nvPr/>
        </p:nvCxnSpPr>
        <p:spPr>
          <a:xfrm flipV="1">
            <a:off x="5103914" y="1560227"/>
            <a:ext cx="1242486" cy="2518757"/>
          </a:xfrm>
          <a:prstGeom prst="curvedConnector3">
            <a:avLst>
              <a:gd name="adj1" fmla="val 50000"/>
            </a:avLst>
          </a:prstGeom>
          <a:ln>
            <a:prstDash val="dash"/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文字方塊 20"/>
          <p:cNvSpPr txBox="1"/>
          <p:nvPr/>
        </p:nvSpPr>
        <p:spPr>
          <a:xfrm>
            <a:off x="7452320" y="1412676"/>
            <a:ext cx="13483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i="1" dirty="0" smtClean="0">
                <a:solidFill>
                  <a:srgbClr val="FF0000"/>
                </a:solidFill>
              </a:rPr>
              <a:t>Reference: 2</a:t>
            </a:r>
            <a:endParaRPr lang="zh-TW" altLang="en-US" i="1" dirty="0">
              <a:solidFill>
                <a:srgbClr val="FF0000"/>
              </a:solidFill>
            </a:endParaRPr>
          </a:p>
        </p:txBody>
      </p:sp>
      <p:pic>
        <p:nvPicPr>
          <p:cNvPr id="22" name="Picture 6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23528" y="1765578"/>
            <a:ext cx="1670957" cy="9243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3" name="Picture 7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2879908" y="4880090"/>
            <a:ext cx="2331008" cy="5666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4" name="Picture 7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6204464" y="4880090"/>
            <a:ext cx="2331008" cy="5666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5" name="文字方塊 24"/>
          <p:cNvSpPr txBox="1"/>
          <p:nvPr/>
        </p:nvSpPr>
        <p:spPr>
          <a:xfrm>
            <a:off x="5494787" y="4943047"/>
            <a:ext cx="425807" cy="3229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….</a:t>
            </a:r>
            <a:endParaRPr lang="zh-TW" altLang="en-US" dirty="0"/>
          </a:p>
        </p:txBody>
      </p:sp>
      <p:cxnSp>
        <p:nvCxnSpPr>
          <p:cNvPr id="26" name="直線單箭頭接點 25"/>
          <p:cNvCxnSpPr/>
          <p:nvPr/>
        </p:nvCxnSpPr>
        <p:spPr>
          <a:xfrm>
            <a:off x="1998592" y="2323858"/>
            <a:ext cx="1561291" cy="138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流程圖: 磁碟 26"/>
          <p:cNvSpPr/>
          <p:nvPr/>
        </p:nvSpPr>
        <p:spPr>
          <a:xfrm>
            <a:off x="3222694" y="5761481"/>
            <a:ext cx="993549" cy="920405"/>
          </a:xfrm>
          <a:prstGeom prst="flowChartMagneticDisk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8" name="流程圖: 磁碟 27"/>
          <p:cNvSpPr/>
          <p:nvPr/>
        </p:nvSpPr>
        <p:spPr>
          <a:xfrm>
            <a:off x="7855497" y="5761481"/>
            <a:ext cx="993549" cy="920405"/>
          </a:xfrm>
          <a:prstGeom prst="flowChartMagneticDisk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9" name="流程圖: 磁碟 28"/>
          <p:cNvSpPr/>
          <p:nvPr/>
        </p:nvSpPr>
        <p:spPr>
          <a:xfrm>
            <a:off x="4548175" y="5761481"/>
            <a:ext cx="993549" cy="920405"/>
          </a:xfrm>
          <a:prstGeom prst="flowChartMagneticDisk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0" name="流程圖: 磁碟 29"/>
          <p:cNvSpPr/>
          <p:nvPr/>
        </p:nvSpPr>
        <p:spPr>
          <a:xfrm>
            <a:off x="6535272" y="5761481"/>
            <a:ext cx="993549" cy="920405"/>
          </a:xfrm>
          <a:prstGeom prst="flowChartMagneticDisk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31" name="圖案 30"/>
          <p:cNvCxnSpPr>
            <a:endCxn id="27" idx="2"/>
          </p:cNvCxnSpPr>
          <p:nvPr/>
        </p:nvCxnSpPr>
        <p:spPr>
          <a:xfrm rot="16200000" flipH="1">
            <a:off x="2728750" y="5727739"/>
            <a:ext cx="774985" cy="212903"/>
          </a:xfrm>
          <a:prstGeom prst="bentConnector2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圖案 31"/>
          <p:cNvCxnSpPr/>
          <p:nvPr/>
        </p:nvCxnSpPr>
        <p:spPr>
          <a:xfrm rot="16200000" flipH="1">
            <a:off x="4030200" y="5727740"/>
            <a:ext cx="774985" cy="212903"/>
          </a:xfrm>
          <a:prstGeom prst="bentConnector2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圖案 32"/>
          <p:cNvCxnSpPr/>
          <p:nvPr/>
        </p:nvCxnSpPr>
        <p:spPr>
          <a:xfrm rot="16200000" flipH="1">
            <a:off x="7342779" y="5727739"/>
            <a:ext cx="774985" cy="212903"/>
          </a:xfrm>
          <a:prstGeom prst="bentConnector2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圖案 33"/>
          <p:cNvCxnSpPr/>
          <p:nvPr/>
        </p:nvCxnSpPr>
        <p:spPr>
          <a:xfrm rot="16200000" flipH="1">
            <a:off x="6041328" y="5727739"/>
            <a:ext cx="774985" cy="212903"/>
          </a:xfrm>
          <a:prstGeom prst="bentConnector2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5" name="矩形 34"/>
          <p:cNvSpPr/>
          <p:nvPr/>
        </p:nvSpPr>
        <p:spPr>
          <a:xfrm>
            <a:off x="3356367" y="6130892"/>
            <a:ext cx="212903" cy="188869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6" name="矩形 35"/>
          <p:cNvSpPr/>
          <p:nvPr/>
        </p:nvSpPr>
        <p:spPr>
          <a:xfrm>
            <a:off x="6673076" y="6130892"/>
            <a:ext cx="212903" cy="188869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7" name="矩形 36"/>
          <p:cNvSpPr/>
          <p:nvPr/>
        </p:nvSpPr>
        <p:spPr>
          <a:xfrm>
            <a:off x="456076" y="6013307"/>
            <a:ext cx="212903" cy="188869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8" name="文字方塊 37"/>
          <p:cNvSpPr txBox="1"/>
          <p:nvPr/>
        </p:nvSpPr>
        <p:spPr>
          <a:xfrm>
            <a:off x="616786" y="5950350"/>
            <a:ext cx="1344323" cy="3229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: Chunk 2ef0</a:t>
            </a:r>
            <a:endParaRPr lang="zh-TW" altLang="en-US" dirty="0"/>
          </a:p>
        </p:txBody>
      </p:sp>
      <p:sp>
        <p:nvSpPr>
          <p:cNvPr id="39" name="上彎箭號 38"/>
          <p:cNvSpPr/>
          <p:nvPr/>
        </p:nvSpPr>
        <p:spPr>
          <a:xfrm flipH="1">
            <a:off x="598012" y="2676614"/>
            <a:ext cx="2270968" cy="2581215"/>
          </a:xfrm>
          <a:prstGeom prst="bentUpArrow">
            <a:avLst>
              <a:gd name="adj1" fmla="val 6949"/>
              <a:gd name="adj2" fmla="val 8576"/>
              <a:gd name="adj3" fmla="val 8879"/>
            </a:avLst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40" name="弧形接點 39"/>
          <p:cNvCxnSpPr/>
          <p:nvPr/>
        </p:nvCxnSpPr>
        <p:spPr>
          <a:xfrm flipV="1">
            <a:off x="5115917" y="1501933"/>
            <a:ext cx="1230483" cy="1197831"/>
          </a:xfrm>
          <a:prstGeom prst="curvedConnector3">
            <a:avLst>
              <a:gd name="adj1" fmla="val 50000"/>
            </a:avLst>
          </a:prstGeom>
          <a:ln>
            <a:prstDash val="dash"/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41" name="Picture 9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3862528" y="4288499"/>
            <a:ext cx="3955077" cy="5666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42" name="直線單箭頭接點 41"/>
          <p:cNvCxnSpPr/>
          <p:nvPr/>
        </p:nvCxnSpPr>
        <p:spPr>
          <a:xfrm rot="10800000">
            <a:off x="1998592" y="2549312"/>
            <a:ext cx="1561291" cy="138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文字方塊 42"/>
          <p:cNvSpPr txBox="1"/>
          <p:nvPr/>
        </p:nvSpPr>
        <p:spPr>
          <a:xfrm>
            <a:off x="2053915" y="2674046"/>
            <a:ext cx="1453775" cy="3229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Chunk handle</a:t>
            </a:r>
            <a:endParaRPr lang="zh-TW" altLang="en-US" dirty="0"/>
          </a:p>
        </p:txBody>
      </p:sp>
      <p:cxnSp>
        <p:nvCxnSpPr>
          <p:cNvPr id="44" name="弧形接點 43"/>
          <p:cNvCxnSpPr/>
          <p:nvPr/>
        </p:nvCxnSpPr>
        <p:spPr>
          <a:xfrm flipV="1">
            <a:off x="5121173" y="1816715"/>
            <a:ext cx="1225227" cy="866394"/>
          </a:xfrm>
          <a:prstGeom prst="curvedConnector3">
            <a:avLst>
              <a:gd name="adj1" fmla="val 50000"/>
            </a:avLst>
          </a:prstGeom>
          <a:ln>
            <a:prstDash val="dash"/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6" name="文字方塊 45"/>
          <p:cNvSpPr txBox="1"/>
          <p:nvPr/>
        </p:nvSpPr>
        <p:spPr>
          <a:xfrm>
            <a:off x="6843174" y="2047049"/>
            <a:ext cx="454996" cy="219476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en-US" altLang="zh-TW" dirty="0" smtClean="0"/>
              <a:t>…</a:t>
            </a:r>
            <a:endParaRPr lang="zh-TW" altLang="en-US" dirty="0"/>
          </a:p>
        </p:txBody>
      </p:sp>
      <p:sp>
        <p:nvSpPr>
          <p:cNvPr id="47" name="文字方塊 46"/>
          <p:cNvSpPr txBox="1"/>
          <p:nvPr/>
        </p:nvSpPr>
        <p:spPr>
          <a:xfrm>
            <a:off x="7452320" y="1404555"/>
            <a:ext cx="13483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i="1" dirty="0" smtClean="0">
                <a:solidFill>
                  <a:srgbClr val="FF0000"/>
                </a:solidFill>
              </a:rPr>
              <a:t>Reference: 1</a:t>
            </a:r>
            <a:endParaRPr lang="zh-TW" altLang="en-US" i="1" dirty="0">
              <a:solidFill>
                <a:srgbClr val="FF0000"/>
              </a:solidFill>
            </a:endParaRPr>
          </a:p>
        </p:txBody>
      </p:sp>
      <p:sp>
        <p:nvSpPr>
          <p:cNvPr id="48" name="上彎箭號 47"/>
          <p:cNvSpPr/>
          <p:nvPr/>
        </p:nvSpPr>
        <p:spPr>
          <a:xfrm rot="16200000" flipH="1" flipV="1">
            <a:off x="432124" y="2943398"/>
            <a:ext cx="2707129" cy="2166582"/>
          </a:xfrm>
          <a:prstGeom prst="bentUpArrow">
            <a:avLst>
              <a:gd name="adj1" fmla="val 6949"/>
              <a:gd name="adj2" fmla="val 8576"/>
              <a:gd name="adj3" fmla="val 8879"/>
            </a:avLst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9" name="矩形 48"/>
          <p:cNvSpPr/>
          <p:nvPr/>
        </p:nvSpPr>
        <p:spPr>
          <a:xfrm>
            <a:off x="3862528" y="6138557"/>
            <a:ext cx="212903" cy="188869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0" name="矩形 49"/>
          <p:cNvSpPr/>
          <p:nvPr/>
        </p:nvSpPr>
        <p:spPr>
          <a:xfrm>
            <a:off x="7198013" y="6130892"/>
            <a:ext cx="212903" cy="188869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1" name="矩形 50"/>
          <p:cNvSpPr/>
          <p:nvPr/>
        </p:nvSpPr>
        <p:spPr>
          <a:xfrm>
            <a:off x="456076" y="6336417"/>
            <a:ext cx="212903" cy="188869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2" name="文字方塊 51"/>
          <p:cNvSpPr txBox="1"/>
          <p:nvPr/>
        </p:nvSpPr>
        <p:spPr>
          <a:xfrm>
            <a:off x="617911" y="6265133"/>
            <a:ext cx="1344323" cy="3229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: Chunk 2ef1</a:t>
            </a:r>
            <a:endParaRPr lang="zh-TW" altLang="en-US" dirty="0"/>
          </a:p>
        </p:txBody>
      </p:sp>
      <p:sp>
        <p:nvSpPr>
          <p:cNvPr id="53" name="向右箭號 52"/>
          <p:cNvSpPr/>
          <p:nvPr/>
        </p:nvSpPr>
        <p:spPr>
          <a:xfrm>
            <a:off x="3649625" y="6168865"/>
            <a:ext cx="141936" cy="125913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4" name="向右箭號 53"/>
          <p:cNvSpPr/>
          <p:nvPr/>
        </p:nvSpPr>
        <p:spPr>
          <a:xfrm>
            <a:off x="6985110" y="6168865"/>
            <a:ext cx="141936" cy="125913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5" name="文字方塊 54"/>
          <p:cNvSpPr txBox="1"/>
          <p:nvPr/>
        </p:nvSpPr>
        <p:spPr>
          <a:xfrm>
            <a:off x="6488335" y="6294778"/>
            <a:ext cx="1106524" cy="3229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chemeClr val="tx2"/>
                </a:solidFill>
              </a:rPr>
              <a:t>Copy data</a:t>
            </a:r>
            <a:endParaRPr lang="zh-TW" altLang="en-US" dirty="0">
              <a:solidFill>
                <a:schemeClr val="tx2"/>
              </a:solidFill>
            </a:endParaRPr>
          </a:p>
        </p:txBody>
      </p:sp>
      <p:sp>
        <p:nvSpPr>
          <p:cNvPr id="56" name="文字方塊 55"/>
          <p:cNvSpPr txBox="1"/>
          <p:nvPr/>
        </p:nvSpPr>
        <p:spPr>
          <a:xfrm>
            <a:off x="3171626" y="6346454"/>
            <a:ext cx="1106524" cy="3229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chemeClr val="tx2"/>
                </a:solidFill>
              </a:rPr>
              <a:t>Copy data</a:t>
            </a:r>
            <a:endParaRPr lang="zh-TW" altLang="en-US" dirty="0">
              <a:solidFill>
                <a:schemeClr val="tx2"/>
              </a:solidFill>
            </a:endParaRPr>
          </a:p>
        </p:txBody>
      </p:sp>
      <p:sp>
        <p:nvSpPr>
          <p:cNvPr id="57" name="向右箭號 56"/>
          <p:cNvSpPr/>
          <p:nvPr/>
        </p:nvSpPr>
        <p:spPr>
          <a:xfrm>
            <a:off x="5220303" y="5047642"/>
            <a:ext cx="950743" cy="264816"/>
          </a:xfrm>
          <a:prstGeom prst="rightArrow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9" name="文字方塊 58"/>
          <p:cNvSpPr txBox="1"/>
          <p:nvPr/>
        </p:nvSpPr>
        <p:spPr>
          <a:xfrm>
            <a:off x="3563888" y="3059668"/>
            <a:ext cx="10539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Snapshot</a:t>
            </a:r>
            <a:endParaRPr lang="zh-TW" altLang="en-US" dirty="0"/>
          </a:p>
        </p:txBody>
      </p:sp>
      <p:sp>
        <p:nvSpPr>
          <p:cNvPr id="60" name="文字方塊 59"/>
          <p:cNvSpPr txBox="1"/>
          <p:nvPr/>
        </p:nvSpPr>
        <p:spPr>
          <a:xfrm>
            <a:off x="7452320" y="1673649"/>
            <a:ext cx="1359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i="1" dirty="0" smtClean="0">
                <a:solidFill>
                  <a:srgbClr val="FF0000"/>
                </a:solidFill>
              </a:rPr>
              <a:t>Reference: 1</a:t>
            </a:r>
            <a:endParaRPr lang="zh-TW" altLang="en-US" i="1" dirty="0">
              <a:solidFill>
                <a:srgbClr val="FF0000"/>
              </a:solidFill>
            </a:endParaRPr>
          </a:p>
        </p:txBody>
      </p:sp>
      <p:cxnSp>
        <p:nvCxnSpPr>
          <p:cNvPr id="62" name="圖案 61"/>
          <p:cNvCxnSpPr>
            <a:stCxn id="22" idx="2"/>
            <a:endCxn id="23" idx="1"/>
          </p:cNvCxnSpPr>
          <p:nvPr/>
        </p:nvCxnSpPr>
        <p:spPr>
          <a:xfrm rot="16200000" flipH="1">
            <a:off x="782736" y="3066222"/>
            <a:ext cx="2473442" cy="1720901"/>
          </a:xfrm>
          <a:prstGeom prst="bentConnector2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3" name="文字方塊 62"/>
          <p:cNvSpPr txBox="1"/>
          <p:nvPr/>
        </p:nvSpPr>
        <p:spPr>
          <a:xfrm>
            <a:off x="1331640" y="4653136"/>
            <a:ext cx="14750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Chunk handle</a:t>
            </a:r>
            <a:endParaRPr lang="zh-TW" altLang="en-US" dirty="0"/>
          </a:p>
        </p:txBody>
      </p:sp>
      <p:sp>
        <p:nvSpPr>
          <p:cNvPr id="64" name="文字方塊 63"/>
          <p:cNvSpPr txBox="1"/>
          <p:nvPr/>
        </p:nvSpPr>
        <p:spPr>
          <a:xfrm>
            <a:off x="107504" y="4149080"/>
            <a:ext cx="620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Data</a:t>
            </a:r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20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20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4" dur="20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7" dur="20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200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20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8" dur="20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>
                            <p:stCondLst>
                              <p:cond delay="500"/>
                            </p:stCondLst>
                            <p:childTnLst>
                              <p:par>
                                <p:cTn id="1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8" fill="hold">
                            <p:stCondLst>
                              <p:cond delay="500"/>
                            </p:stCondLst>
                            <p:childTnLst>
                              <p:par>
                                <p:cTn id="139" presetID="10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2" fill="hold">
                            <p:stCondLst>
                              <p:cond delay="1000"/>
                            </p:stCondLst>
                            <p:childTnLst>
                              <p:par>
                                <p:cTn id="14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10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4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0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3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" fill="hold">
                      <p:stCondLst>
                        <p:cond delay="indefinite"/>
                      </p:stCondLst>
                      <p:childTnLst>
                        <p:par>
                          <p:cTn id="176" fill="hold">
                            <p:stCondLst>
                              <p:cond delay="0"/>
                            </p:stCondLst>
                            <p:childTnLst>
                              <p:par>
                                <p:cTn id="177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8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0" presetID="10" presetClass="exit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5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6" fill="hold">
                            <p:stCondLst>
                              <p:cond delay="500"/>
                            </p:stCondLst>
                            <p:childTnLst>
                              <p:par>
                                <p:cTn id="18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9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8" grpId="1"/>
      <p:bldP spid="9" grpId="0"/>
      <p:bldP spid="9" grpId="1"/>
      <p:bldP spid="18" grpId="0" animBg="1"/>
      <p:bldP spid="18" grpId="1" animBg="1"/>
      <p:bldP spid="19" grpId="0"/>
      <p:bldP spid="19" grpId="1"/>
      <p:bldP spid="21" grpId="0"/>
      <p:bldP spid="21" grpId="1"/>
      <p:bldP spid="39" grpId="0" animBg="1"/>
      <p:bldP spid="39" grpId="1" animBg="1"/>
      <p:bldP spid="43" grpId="0"/>
      <p:bldP spid="43" grpId="1"/>
      <p:bldP spid="43" grpId="2"/>
      <p:bldP spid="43" grpId="3"/>
      <p:bldP spid="47" grpId="0"/>
      <p:bldP spid="47" grpId="1"/>
      <p:bldP spid="48" grpId="0" animBg="1"/>
      <p:bldP spid="49" grpId="0" animBg="1"/>
      <p:bldP spid="50" grpId="0" animBg="1"/>
      <p:bldP spid="51" grpId="0" animBg="1"/>
      <p:bldP spid="52" grpId="0"/>
      <p:bldP spid="53" grpId="0" animBg="1"/>
      <p:bldP spid="53" grpId="1" animBg="1"/>
      <p:bldP spid="54" grpId="0" animBg="1"/>
      <p:bldP spid="54" grpId="1" animBg="1"/>
      <p:bldP spid="55" grpId="0"/>
      <p:bldP spid="55" grpId="1"/>
      <p:bldP spid="56" grpId="0"/>
      <p:bldP spid="56" grpId="1"/>
      <p:bldP spid="57" grpId="0" animBg="1"/>
      <p:bldP spid="59" grpId="0"/>
      <p:bldP spid="60" grpId="0"/>
      <p:bldP spid="63" grpId="0"/>
      <p:bldP spid="63" grpId="1"/>
      <p:bldP spid="64" grpId="0"/>
      <p:bldP spid="64" grpId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Google File System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Clr>
                <a:schemeClr val="bg1">
                  <a:lumMod val="50000"/>
                </a:schemeClr>
              </a:buClr>
            </a:pPr>
            <a:r>
              <a:rPr lang="en-US" altLang="zh-TW" dirty="0" smtClean="0">
                <a:solidFill>
                  <a:schemeClr val="bg1">
                    <a:lumMod val="50000"/>
                  </a:schemeClr>
                </a:solidFill>
                <a:latin typeface="+mj-lt"/>
              </a:rPr>
              <a:t>Motivations</a:t>
            </a:r>
          </a:p>
          <a:p>
            <a:pPr>
              <a:buClr>
                <a:schemeClr val="bg1">
                  <a:lumMod val="50000"/>
                </a:schemeClr>
              </a:buClr>
            </a:pPr>
            <a:r>
              <a:rPr lang="en-US" altLang="zh-TW" dirty="0" smtClean="0">
                <a:solidFill>
                  <a:schemeClr val="bg1">
                    <a:lumMod val="50000"/>
                  </a:schemeClr>
                </a:solidFill>
                <a:latin typeface="+mj-lt"/>
              </a:rPr>
              <a:t>Design Overview</a:t>
            </a:r>
          </a:p>
          <a:p>
            <a:pPr>
              <a:buClr>
                <a:schemeClr val="bg1">
                  <a:lumMod val="50000"/>
                </a:schemeClr>
              </a:buClr>
            </a:pPr>
            <a:r>
              <a:rPr lang="en-US" altLang="zh-TW" dirty="0" smtClean="0">
                <a:solidFill>
                  <a:schemeClr val="bg1">
                    <a:lumMod val="50000"/>
                  </a:schemeClr>
                </a:solidFill>
                <a:latin typeface="+mj-lt"/>
              </a:rPr>
              <a:t>System Interactions</a:t>
            </a:r>
          </a:p>
          <a:p>
            <a:r>
              <a:rPr lang="en-US" altLang="zh-TW" dirty="0" smtClean="0">
                <a:latin typeface="+mj-lt"/>
              </a:rPr>
              <a:t>Master Operations</a:t>
            </a:r>
          </a:p>
          <a:p>
            <a:pPr>
              <a:buClr>
                <a:schemeClr val="bg1">
                  <a:lumMod val="50000"/>
                </a:schemeClr>
              </a:buClr>
            </a:pPr>
            <a:r>
              <a:rPr lang="en-US" altLang="zh-TW" dirty="0" smtClean="0">
                <a:solidFill>
                  <a:schemeClr val="bg1">
                    <a:lumMod val="50000"/>
                  </a:schemeClr>
                </a:solidFill>
                <a:latin typeface="+mj-lt"/>
              </a:rPr>
              <a:t>Fault Tolerance</a:t>
            </a:r>
          </a:p>
          <a:p>
            <a:endParaRPr lang="zh-TW" altLang="en-US" dirty="0">
              <a:latin typeface="+mj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Master Operations</a:t>
            </a:r>
            <a:endParaRPr lang="zh-TW" alt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altLang="zh-TW" dirty="0" smtClean="0"/>
              <a:t>Namespace Management and Locking</a:t>
            </a:r>
          </a:p>
          <a:p>
            <a:r>
              <a:rPr lang="en-US" altLang="zh-TW" dirty="0" smtClean="0">
                <a:solidFill>
                  <a:schemeClr val="bg1">
                    <a:lumMod val="50000"/>
                  </a:schemeClr>
                </a:solidFill>
              </a:rPr>
              <a:t>Replica Placement</a:t>
            </a:r>
          </a:p>
          <a:p>
            <a:r>
              <a:rPr lang="en-US" altLang="zh-TW" dirty="0" smtClean="0">
                <a:solidFill>
                  <a:schemeClr val="bg1">
                    <a:lumMod val="50000"/>
                  </a:schemeClr>
                </a:solidFill>
              </a:rPr>
              <a:t>Creation, Rebalancing , Re-replication</a:t>
            </a:r>
          </a:p>
          <a:p>
            <a:r>
              <a:rPr lang="en-US" altLang="zh-TW" dirty="0" smtClean="0">
                <a:solidFill>
                  <a:schemeClr val="bg1">
                    <a:lumMod val="50000"/>
                  </a:schemeClr>
                </a:solidFill>
              </a:rPr>
              <a:t>Garbage Collection</a:t>
            </a:r>
          </a:p>
          <a:p>
            <a:r>
              <a:rPr lang="en-US" altLang="zh-TW" dirty="0" smtClean="0">
                <a:solidFill>
                  <a:schemeClr val="bg1">
                    <a:lumMod val="50000"/>
                  </a:schemeClr>
                </a:solidFill>
              </a:rPr>
              <a:t>Stale Replica Detection</a:t>
            </a:r>
            <a:endParaRPr lang="zh-TW" altLang="en-US" dirty="0" smtClean="0">
              <a:solidFill>
                <a:schemeClr val="bg1">
                  <a:lumMod val="50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/>
              <a:t>Namespace Mgt and Locking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97152"/>
          </a:xfrm>
        </p:spPr>
        <p:txBody>
          <a:bodyPr>
            <a:normAutofit lnSpcReduction="10000"/>
          </a:bodyPr>
          <a:lstStyle/>
          <a:p>
            <a:r>
              <a:rPr lang="en-US" altLang="zh-TW" dirty="0" smtClean="0">
                <a:latin typeface="+mj-lt"/>
              </a:rPr>
              <a:t>Allows multiple operations to be active and use locks over regions of the namespace</a:t>
            </a:r>
          </a:p>
          <a:p>
            <a:endParaRPr lang="en-US" altLang="zh-TW" dirty="0" smtClean="0">
              <a:latin typeface="+mj-lt"/>
            </a:endParaRPr>
          </a:p>
          <a:p>
            <a:r>
              <a:rPr lang="en-US" altLang="zh-TW" dirty="0" smtClean="0">
                <a:latin typeface="+mj-lt"/>
              </a:rPr>
              <a:t>Logically represents namespace as a lookup table mapping full pathnames to metadata</a:t>
            </a:r>
          </a:p>
          <a:p>
            <a:endParaRPr lang="en-US" altLang="zh-TW" dirty="0" smtClean="0">
              <a:latin typeface="+mj-lt"/>
            </a:endParaRPr>
          </a:p>
          <a:p>
            <a:r>
              <a:rPr lang="en-US" altLang="zh-TW" dirty="0" smtClean="0">
                <a:latin typeface="+mj-lt"/>
              </a:rPr>
              <a:t>Each node in the namespace tree has an associated read-write lock</a:t>
            </a:r>
          </a:p>
          <a:p>
            <a:endParaRPr lang="en-US" altLang="zh-TW" dirty="0" smtClean="0">
              <a:latin typeface="+mj-lt"/>
            </a:endParaRPr>
          </a:p>
          <a:p>
            <a:r>
              <a:rPr lang="en-US" altLang="zh-TW" dirty="0" smtClean="0">
                <a:latin typeface="+mj-lt"/>
              </a:rPr>
              <a:t>Each master operation acquires a set of locks before it runs</a:t>
            </a:r>
            <a:endParaRPr lang="zh-TW" altLang="en-US" dirty="0">
              <a:latin typeface="+mj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 smtClean="0"/>
              <a:t>Namespace Mgt and Locking (cont.)</a:t>
            </a:r>
            <a:endParaRPr lang="zh-TW" altLang="en-US" dirty="0"/>
          </a:p>
        </p:txBody>
      </p:sp>
      <p:sp>
        <p:nvSpPr>
          <p:cNvPr id="4" name="矩形 3"/>
          <p:cNvSpPr/>
          <p:nvPr/>
        </p:nvSpPr>
        <p:spPr>
          <a:xfrm>
            <a:off x="4860032" y="1988840"/>
            <a:ext cx="3312368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3000" dirty="0" smtClean="0">
                <a:latin typeface="Calibri" pitchFamily="34" charset="0"/>
                <a:cs typeface="Calibri" pitchFamily="34" charset="0"/>
              </a:rPr>
              <a:t>/d1/d2/…/</a:t>
            </a:r>
            <a:r>
              <a:rPr lang="en-US" altLang="zh-TW" sz="3000" dirty="0" err="1" smtClean="0">
                <a:latin typeface="Calibri" pitchFamily="34" charset="0"/>
                <a:cs typeface="Calibri" pitchFamily="34" charset="0"/>
              </a:rPr>
              <a:t>dn</a:t>
            </a:r>
            <a:r>
              <a:rPr lang="en-US" altLang="zh-TW" sz="3000" dirty="0" smtClean="0">
                <a:latin typeface="Calibri" pitchFamily="34" charset="0"/>
                <a:cs typeface="Calibri" pitchFamily="34" charset="0"/>
              </a:rPr>
              <a:t>/leaf</a:t>
            </a:r>
          </a:p>
          <a:p>
            <a:endParaRPr lang="en-US" altLang="zh-TW" sz="3000" dirty="0" smtClean="0">
              <a:latin typeface="Calibri" pitchFamily="34" charset="0"/>
              <a:cs typeface="Calibri" pitchFamily="34" charset="0"/>
            </a:endParaRPr>
          </a:p>
          <a:p>
            <a:r>
              <a:rPr lang="en-US" altLang="zh-TW" sz="3000" dirty="0" smtClean="0">
                <a:solidFill>
                  <a:schemeClr val="accent6">
                    <a:lumMod val="75000"/>
                  </a:schemeClr>
                </a:solidFill>
                <a:latin typeface="Calibri" pitchFamily="34" charset="0"/>
                <a:cs typeface="Calibri" pitchFamily="34" charset="0"/>
              </a:rPr>
              <a:t>/d1</a:t>
            </a:r>
          </a:p>
          <a:p>
            <a:r>
              <a:rPr lang="en-US" altLang="zh-TW" sz="3000" dirty="0" smtClean="0">
                <a:solidFill>
                  <a:schemeClr val="accent6">
                    <a:lumMod val="75000"/>
                  </a:schemeClr>
                </a:solidFill>
                <a:latin typeface="Calibri" pitchFamily="34" charset="0"/>
                <a:cs typeface="Calibri" pitchFamily="34" charset="0"/>
              </a:rPr>
              <a:t>/d1/d2</a:t>
            </a:r>
          </a:p>
          <a:p>
            <a:r>
              <a:rPr lang="en-US" altLang="zh-TW" sz="3000" dirty="0" smtClean="0">
                <a:solidFill>
                  <a:schemeClr val="accent6">
                    <a:lumMod val="75000"/>
                  </a:schemeClr>
                </a:solidFill>
                <a:latin typeface="Calibri" pitchFamily="34" charset="0"/>
                <a:cs typeface="Calibri" pitchFamily="34" charset="0"/>
              </a:rPr>
              <a:t>…</a:t>
            </a:r>
          </a:p>
          <a:p>
            <a:r>
              <a:rPr lang="en-US" altLang="zh-TW" sz="3000" dirty="0" smtClean="0">
                <a:solidFill>
                  <a:schemeClr val="accent6">
                    <a:lumMod val="75000"/>
                  </a:schemeClr>
                </a:solidFill>
                <a:latin typeface="Calibri" pitchFamily="34" charset="0"/>
                <a:cs typeface="Calibri" pitchFamily="34" charset="0"/>
              </a:rPr>
              <a:t>/d1/d2/…/</a:t>
            </a:r>
            <a:r>
              <a:rPr lang="en-US" altLang="zh-TW" sz="3000" dirty="0" err="1" smtClean="0">
                <a:solidFill>
                  <a:schemeClr val="accent6">
                    <a:lumMod val="75000"/>
                  </a:schemeClr>
                </a:solidFill>
                <a:latin typeface="Calibri" pitchFamily="34" charset="0"/>
                <a:cs typeface="Calibri" pitchFamily="34" charset="0"/>
              </a:rPr>
              <a:t>dn</a:t>
            </a:r>
            <a:endParaRPr lang="en-US" altLang="zh-TW" sz="3000" dirty="0" smtClean="0">
              <a:solidFill>
                <a:schemeClr val="accent6">
                  <a:lumMod val="75000"/>
                </a:schemeClr>
              </a:solidFill>
              <a:latin typeface="Calibri" pitchFamily="34" charset="0"/>
              <a:cs typeface="Calibri" pitchFamily="34" charset="0"/>
            </a:endParaRPr>
          </a:p>
          <a:p>
            <a:endParaRPr lang="en-US" altLang="zh-TW" sz="3000" dirty="0" smtClean="0">
              <a:latin typeface="Calibri" pitchFamily="34" charset="0"/>
              <a:cs typeface="Calibri" pitchFamily="34" charset="0"/>
            </a:endParaRPr>
          </a:p>
          <a:p>
            <a:r>
              <a:rPr lang="en-US" altLang="zh-TW" sz="3000" dirty="0" smtClean="0">
                <a:solidFill>
                  <a:schemeClr val="accent6">
                    <a:lumMod val="75000"/>
                  </a:schemeClr>
                </a:solidFill>
                <a:latin typeface="Calibri" pitchFamily="34" charset="0"/>
                <a:cs typeface="Calibri" pitchFamily="34" charset="0"/>
              </a:rPr>
              <a:t>/d1/d2/…/</a:t>
            </a:r>
            <a:r>
              <a:rPr lang="en-US" altLang="zh-TW" sz="3000" dirty="0" err="1" smtClean="0">
                <a:solidFill>
                  <a:schemeClr val="accent6">
                    <a:lumMod val="75000"/>
                  </a:schemeClr>
                </a:solidFill>
                <a:latin typeface="Calibri" pitchFamily="34" charset="0"/>
                <a:cs typeface="Calibri" pitchFamily="34" charset="0"/>
              </a:rPr>
              <a:t>dn</a:t>
            </a:r>
            <a:r>
              <a:rPr lang="en-US" altLang="zh-TW" sz="3000" dirty="0" smtClean="0">
                <a:solidFill>
                  <a:schemeClr val="accent6">
                    <a:lumMod val="75000"/>
                  </a:schemeClr>
                </a:solidFill>
                <a:latin typeface="Calibri" pitchFamily="34" charset="0"/>
                <a:cs typeface="Calibri" pitchFamily="34" charset="0"/>
              </a:rPr>
              <a:t>/leaf</a:t>
            </a:r>
            <a:endParaRPr lang="zh-TW" altLang="en-US" sz="3000" dirty="0">
              <a:solidFill>
                <a:schemeClr val="accent6">
                  <a:lumMod val="75000"/>
                </a:schemeClr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403648" y="1988840"/>
            <a:ext cx="3168352" cy="47089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3000" dirty="0" smtClean="0">
                <a:latin typeface="Calibri" pitchFamily="34" charset="0"/>
                <a:cs typeface="Calibri" pitchFamily="34" charset="0"/>
              </a:rPr>
              <a:t>If it involves:</a:t>
            </a:r>
          </a:p>
          <a:p>
            <a:endParaRPr lang="en-US" altLang="zh-TW" sz="3000" dirty="0" smtClean="0">
              <a:latin typeface="Calibri" pitchFamily="34" charset="0"/>
              <a:cs typeface="Calibri" pitchFamily="34" charset="0"/>
            </a:endParaRPr>
          </a:p>
          <a:p>
            <a:r>
              <a:rPr lang="en-US" altLang="zh-TW" sz="3000" dirty="0" smtClean="0">
                <a:latin typeface="Calibri" pitchFamily="34" charset="0"/>
                <a:cs typeface="Calibri" pitchFamily="34" charset="0"/>
              </a:rPr>
              <a:t>Read locks on the</a:t>
            </a:r>
          </a:p>
          <a:p>
            <a:r>
              <a:rPr lang="en-US" altLang="zh-TW" sz="3000" dirty="0" smtClean="0">
                <a:latin typeface="Calibri" pitchFamily="34" charset="0"/>
                <a:cs typeface="Calibri" pitchFamily="34" charset="0"/>
              </a:rPr>
              <a:t>directory name</a:t>
            </a:r>
          </a:p>
          <a:p>
            <a:endParaRPr lang="en-US" altLang="zh-TW" sz="3000" dirty="0" smtClean="0">
              <a:latin typeface="Calibri" pitchFamily="34" charset="0"/>
              <a:cs typeface="Calibri" pitchFamily="34" charset="0"/>
            </a:endParaRPr>
          </a:p>
          <a:p>
            <a:endParaRPr lang="en-US" altLang="zh-TW" sz="3000" dirty="0" smtClean="0">
              <a:latin typeface="Calibri" pitchFamily="34" charset="0"/>
              <a:cs typeface="Calibri" pitchFamily="34" charset="0"/>
            </a:endParaRPr>
          </a:p>
          <a:p>
            <a:endParaRPr lang="en-US" altLang="zh-TW" sz="3000" dirty="0" smtClean="0">
              <a:latin typeface="Calibri" pitchFamily="34" charset="0"/>
              <a:cs typeface="Calibri" pitchFamily="34" charset="0"/>
            </a:endParaRPr>
          </a:p>
          <a:p>
            <a:r>
              <a:rPr lang="en-US" altLang="zh-TW" sz="3000" dirty="0" smtClean="0">
                <a:latin typeface="Calibri" pitchFamily="34" charset="0"/>
                <a:cs typeface="Calibri" pitchFamily="34" charset="0"/>
              </a:rPr>
              <a:t>Either a read lock</a:t>
            </a:r>
          </a:p>
          <a:p>
            <a:r>
              <a:rPr lang="en-US" altLang="zh-TW" sz="3000" dirty="0" smtClean="0">
                <a:latin typeface="Calibri" pitchFamily="34" charset="0"/>
                <a:cs typeface="Calibri" pitchFamily="34" charset="0"/>
              </a:rPr>
              <a:t>or a write lock on</a:t>
            </a:r>
          </a:p>
          <a:p>
            <a:r>
              <a:rPr lang="en-US" altLang="zh-TW" sz="3000" dirty="0" smtClean="0">
                <a:latin typeface="Calibri" pitchFamily="34" charset="0"/>
                <a:cs typeface="Calibri" pitchFamily="34" charset="0"/>
              </a:rPr>
              <a:t>the full pathname</a:t>
            </a:r>
            <a:endParaRPr lang="zh-TW" altLang="en-US" sz="3000" dirty="0">
              <a:latin typeface="Calibri" pitchFamily="34" charset="0"/>
              <a:cs typeface="Calibri" pitchFamily="34" charset="0"/>
            </a:endParaRPr>
          </a:p>
        </p:txBody>
      </p:sp>
      <p:cxnSp>
        <p:nvCxnSpPr>
          <p:cNvPr id="7" name="直線接點 6"/>
          <p:cNvCxnSpPr/>
          <p:nvPr/>
        </p:nvCxnSpPr>
        <p:spPr>
          <a:xfrm>
            <a:off x="827584" y="2780928"/>
            <a:ext cx="7920880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8" name="直線接點 7"/>
          <p:cNvCxnSpPr/>
          <p:nvPr/>
        </p:nvCxnSpPr>
        <p:spPr>
          <a:xfrm>
            <a:off x="827584" y="5013176"/>
            <a:ext cx="7920880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 smtClean="0"/>
              <a:t>Namespace Mgt and Locking (cont.)</a:t>
            </a:r>
            <a:endParaRPr lang="zh-TW" altLang="en-US" b="1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>
                <a:latin typeface="+mj-lt"/>
              </a:rPr>
              <a:t>How this locking mechanism can prevent a file </a:t>
            </a:r>
            <a:r>
              <a:rPr lang="en-US" altLang="zh-TW" dirty="0" smtClean="0">
                <a:latin typeface="+mn-ea"/>
              </a:rPr>
              <a:t>/home/user/</a:t>
            </a:r>
            <a:r>
              <a:rPr lang="en-US" altLang="zh-TW" dirty="0" err="1" smtClean="0">
                <a:latin typeface="+mn-ea"/>
              </a:rPr>
              <a:t>foo</a:t>
            </a:r>
            <a:r>
              <a:rPr lang="en-US" altLang="zh-TW" dirty="0" smtClean="0">
                <a:latin typeface="+mn-ea"/>
              </a:rPr>
              <a:t> </a:t>
            </a:r>
            <a:r>
              <a:rPr lang="en-US" altLang="zh-TW" dirty="0" smtClean="0">
                <a:latin typeface="+mj-lt"/>
              </a:rPr>
              <a:t>from being created while </a:t>
            </a:r>
            <a:r>
              <a:rPr lang="en-US" altLang="zh-TW" dirty="0" smtClean="0">
                <a:latin typeface="+mn-ea"/>
              </a:rPr>
              <a:t>/home/user </a:t>
            </a:r>
            <a:r>
              <a:rPr lang="en-US" altLang="zh-TW" dirty="0" smtClean="0">
                <a:latin typeface="+mj-lt"/>
              </a:rPr>
              <a:t>is being </a:t>
            </a:r>
            <a:r>
              <a:rPr lang="en-US" altLang="zh-TW" dirty="0" err="1" smtClean="0">
                <a:latin typeface="+mj-lt"/>
              </a:rPr>
              <a:t>snapshotted</a:t>
            </a:r>
            <a:r>
              <a:rPr lang="en-US" altLang="zh-TW" dirty="0" smtClean="0">
                <a:latin typeface="+mj-lt"/>
              </a:rPr>
              <a:t> to </a:t>
            </a:r>
            <a:r>
              <a:rPr lang="en-US" altLang="zh-TW" dirty="0" smtClean="0">
                <a:latin typeface="+mn-ea"/>
              </a:rPr>
              <a:t>/save/user</a:t>
            </a:r>
            <a:endParaRPr lang="zh-TW" altLang="en-US" dirty="0">
              <a:latin typeface="+mn-ea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1403648" y="3513562"/>
          <a:ext cx="6408711" cy="2231526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2136237"/>
                <a:gridCol w="2136237"/>
                <a:gridCol w="2136237"/>
              </a:tblGrid>
              <a:tr h="707526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2200" b="1" kern="1200" baseline="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Read locks</a:t>
                      </a:r>
                      <a:endParaRPr lang="zh-TW" altLang="en-US" sz="2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2200" b="1" kern="1200" baseline="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Write locks</a:t>
                      </a:r>
                      <a:endParaRPr lang="zh-TW" altLang="en-US" sz="2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1936">
                <a:tc rowSpan="2">
                  <a:txBody>
                    <a:bodyPr/>
                    <a:lstStyle/>
                    <a:p>
                      <a:pPr algn="ctr"/>
                      <a:r>
                        <a:rPr kumimoji="0" lang="en-US" altLang="zh-TW" sz="22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Snapshot</a:t>
                      </a:r>
                    </a:p>
                    <a:p>
                      <a:pPr algn="ctr"/>
                      <a:r>
                        <a:rPr kumimoji="0" lang="en-US" altLang="zh-TW" sz="22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operation</a:t>
                      </a:r>
                      <a:endParaRPr lang="zh-TW" altLang="en-US" sz="2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kern="1200" baseline="0" dirty="0" smtClean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/home</a:t>
                      </a:r>
                      <a:endParaRPr lang="zh-TW" altLang="en-US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kern="1200" baseline="0" dirty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/home/user</a:t>
                      </a:r>
                      <a:endParaRPr lang="zh-TW" altLang="en-US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281936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kern="1200" baseline="0" dirty="0" smtClean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/save</a:t>
                      </a:r>
                      <a:endParaRPr lang="zh-TW" altLang="en-US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kern="1200" baseline="0" dirty="0" smtClean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/save/user</a:t>
                      </a:r>
                      <a:endParaRPr lang="zh-TW" altLang="en-US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152145">
                <a:tc rowSpan="2">
                  <a:txBody>
                    <a:bodyPr/>
                    <a:lstStyle/>
                    <a:p>
                      <a:pPr algn="ctr"/>
                      <a:r>
                        <a:rPr kumimoji="0" lang="en-US" altLang="zh-TW" sz="22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Creation</a:t>
                      </a:r>
                    </a:p>
                    <a:p>
                      <a:pPr algn="ctr"/>
                      <a:r>
                        <a:rPr kumimoji="0" lang="en-US" altLang="zh-TW" sz="22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operation</a:t>
                      </a:r>
                      <a:endParaRPr lang="zh-TW" altLang="en-US" sz="2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kern="1200" baseline="0" dirty="0" smtClean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/home</a:t>
                      </a:r>
                      <a:endParaRPr lang="zh-TW" altLang="en-US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kumimoji="0" lang="en-US" altLang="zh-TW" sz="1800" kern="1200" baseline="0" dirty="0" smtClean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/home/user/</a:t>
                      </a:r>
                      <a:r>
                        <a:rPr kumimoji="0" lang="en-US" altLang="zh-TW" sz="1800" kern="1200" baseline="0" dirty="0" err="1" smtClean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foo</a:t>
                      </a:r>
                      <a:endParaRPr lang="zh-TW" altLang="en-US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228217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kern="1200" baseline="0" dirty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/home/user</a:t>
                      </a:r>
                      <a:endParaRPr lang="zh-TW" altLang="en-US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Master Operations</a:t>
            </a:r>
            <a:endParaRPr lang="zh-TW" alt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altLang="zh-TW" dirty="0" smtClean="0">
                <a:solidFill>
                  <a:schemeClr val="bg1">
                    <a:lumMod val="50000"/>
                  </a:schemeClr>
                </a:solidFill>
              </a:rPr>
              <a:t>Namespace Management and Locking</a:t>
            </a:r>
          </a:p>
          <a:p>
            <a:r>
              <a:rPr lang="en-US" altLang="zh-TW" dirty="0" smtClean="0"/>
              <a:t>Replica Placement</a:t>
            </a:r>
          </a:p>
          <a:p>
            <a:r>
              <a:rPr lang="en-US" altLang="zh-TW" dirty="0" smtClean="0"/>
              <a:t>Creation, Rebalancing , Re-replication</a:t>
            </a:r>
          </a:p>
          <a:p>
            <a:r>
              <a:rPr lang="en-US" altLang="zh-TW" dirty="0" smtClean="0">
                <a:solidFill>
                  <a:schemeClr val="bg1">
                    <a:lumMod val="50000"/>
                  </a:schemeClr>
                </a:solidFill>
              </a:rPr>
              <a:t>Garbage Collection</a:t>
            </a:r>
          </a:p>
          <a:p>
            <a:r>
              <a:rPr lang="en-US" altLang="zh-TW" dirty="0" smtClean="0">
                <a:solidFill>
                  <a:schemeClr val="bg1">
                    <a:lumMod val="50000"/>
                  </a:schemeClr>
                </a:solidFill>
              </a:rPr>
              <a:t>Stale Replica Detection</a:t>
            </a:r>
            <a:endParaRPr lang="zh-TW" altLang="en-US" dirty="0" smtClean="0">
              <a:solidFill>
                <a:schemeClr val="bg1">
                  <a:lumMod val="50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Replica Placement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069160"/>
          </a:xfrm>
        </p:spPr>
        <p:txBody>
          <a:bodyPr>
            <a:normAutofit/>
          </a:bodyPr>
          <a:lstStyle/>
          <a:p>
            <a:r>
              <a:rPr lang="en-US" altLang="zh-TW" dirty="0" smtClean="0">
                <a:latin typeface="+mj-lt"/>
              </a:rPr>
              <a:t>Traffic between racks is slower than within the same rack</a:t>
            </a:r>
          </a:p>
          <a:p>
            <a:r>
              <a:rPr lang="en-US" altLang="zh-TW" dirty="0" smtClean="0">
                <a:latin typeface="+mj-lt"/>
              </a:rPr>
              <a:t>A replica is created for 3 reasons</a:t>
            </a:r>
          </a:p>
          <a:p>
            <a:pPr lvl="1"/>
            <a:r>
              <a:rPr lang="en-US" altLang="zh-TW" dirty="0" smtClean="0">
                <a:latin typeface="+mj-lt"/>
              </a:rPr>
              <a:t>Chunk creation</a:t>
            </a:r>
          </a:p>
          <a:p>
            <a:pPr lvl="1"/>
            <a:r>
              <a:rPr lang="en-US" altLang="zh-TW" dirty="0" smtClean="0">
                <a:latin typeface="+mj-lt"/>
              </a:rPr>
              <a:t>Chunk re-replication</a:t>
            </a:r>
          </a:p>
          <a:p>
            <a:pPr lvl="1"/>
            <a:r>
              <a:rPr lang="en-US" altLang="zh-TW" dirty="0" smtClean="0">
                <a:latin typeface="+mj-lt"/>
              </a:rPr>
              <a:t>Chunk rebalancing</a:t>
            </a:r>
          </a:p>
          <a:p>
            <a:r>
              <a:rPr lang="en-US" altLang="zh-TW" dirty="0" smtClean="0">
                <a:latin typeface="+mj-lt"/>
              </a:rPr>
              <a:t>Master has a replica placement policy</a:t>
            </a:r>
          </a:p>
          <a:p>
            <a:pPr lvl="1"/>
            <a:r>
              <a:rPr lang="en-US" altLang="zh-TW" dirty="0" smtClean="0">
                <a:latin typeface="+mj-lt"/>
              </a:rPr>
              <a:t>Maximize data reliability and availability</a:t>
            </a:r>
          </a:p>
          <a:p>
            <a:pPr lvl="1"/>
            <a:r>
              <a:rPr lang="en-US" altLang="zh-TW" dirty="0" smtClean="0">
                <a:latin typeface="+mj-lt"/>
              </a:rPr>
              <a:t>Maximize network bandwidth utilization</a:t>
            </a:r>
          </a:p>
          <a:p>
            <a:pPr lvl="1"/>
            <a:r>
              <a:rPr lang="en-US" altLang="zh-TW" dirty="0" smtClean="0">
                <a:latin typeface="+mj-lt"/>
              </a:rPr>
              <a:t>Must spread replica across racks</a:t>
            </a:r>
            <a:endParaRPr lang="zh-TW" altLang="en-US" dirty="0">
              <a:latin typeface="+mj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Chunk Creation &amp; Rebalance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53136"/>
          </a:xfrm>
        </p:spPr>
        <p:txBody>
          <a:bodyPr>
            <a:normAutofit/>
          </a:bodyPr>
          <a:lstStyle/>
          <a:p>
            <a:r>
              <a:rPr lang="en-US" altLang="zh-TW" dirty="0" smtClean="0">
                <a:latin typeface="+mj-lt"/>
              </a:rPr>
              <a:t>Where to put the initial replicas?</a:t>
            </a:r>
          </a:p>
          <a:p>
            <a:pPr lvl="1"/>
            <a:r>
              <a:rPr lang="en-US" altLang="zh-TW" dirty="0" smtClean="0">
                <a:latin typeface="+mj-lt"/>
              </a:rPr>
              <a:t>Servers with below-average disk utilization</a:t>
            </a:r>
          </a:p>
          <a:p>
            <a:pPr lvl="1"/>
            <a:r>
              <a:rPr lang="en-US" altLang="zh-TW" dirty="0" smtClean="0">
                <a:latin typeface="+mj-lt"/>
              </a:rPr>
              <a:t>But not too many recent creations on a server</a:t>
            </a:r>
          </a:p>
          <a:p>
            <a:pPr lvl="1"/>
            <a:r>
              <a:rPr lang="en-US" altLang="zh-TW" dirty="0" smtClean="0">
                <a:latin typeface="+mj-lt"/>
              </a:rPr>
              <a:t>And must have servers across racks</a:t>
            </a:r>
          </a:p>
          <a:p>
            <a:r>
              <a:rPr lang="en-US" altLang="zh-TW" dirty="0" smtClean="0">
                <a:latin typeface="+mj-lt"/>
              </a:rPr>
              <a:t>Master rebalances replicas periodically</a:t>
            </a:r>
          </a:p>
          <a:p>
            <a:pPr lvl="1"/>
            <a:r>
              <a:rPr lang="en-US" altLang="zh-TW" dirty="0" smtClean="0">
                <a:latin typeface="+mj-lt"/>
              </a:rPr>
              <a:t>Moves chunks for better disk space balance and load balance</a:t>
            </a:r>
          </a:p>
          <a:p>
            <a:pPr lvl="1"/>
            <a:r>
              <a:rPr lang="en-US" altLang="zh-TW" dirty="0" smtClean="0">
                <a:latin typeface="+mj-lt"/>
              </a:rPr>
              <a:t>Fills up new </a:t>
            </a:r>
            <a:r>
              <a:rPr lang="en-US" altLang="zh-TW" dirty="0" err="1" smtClean="0">
                <a:latin typeface="+mj-lt"/>
              </a:rPr>
              <a:t>chunkserver</a:t>
            </a:r>
            <a:endParaRPr lang="en-US" altLang="zh-TW" dirty="0" smtClean="0">
              <a:latin typeface="+mj-lt"/>
            </a:endParaRPr>
          </a:p>
          <a:p>
            <a:r>
              <a:rPr lang="en-US" altLang="zh-TW" dirty="0" smtClean="0">
                <a:latin typeface="+mj-lt"/>
              </a:rPr>
              <a:t>Master prefers to move chunks out of crowded </a:t>
            </a:r>
            <a:r>
              <a:rPr lang="en-US" altLang="zh-TW" dirty="0" err="1" smtClean="0">
                <a:latin typeface="+mj-lt"/>
              </a:rPr>
              <a:t>chunkserver</a:t>
            </a:r>
            <a:endParaRPr lang="zh-TW" altLang="en-US" dirty="0">
              <a:latin typeface="+mj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/>
              <a:t>Chunk Re-replication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257800"/>
          </a:xfrm>
        </p:spPr>
        <p:txBody>
          <a:bodyPr>
            <a:normAutofit fontScale="92500"/>
          </a:bodyPr>
          <a:lstStyle/>
          <a:p>
            <a:r>
              <a:rPr lang="en-US" altLang="zh-TW" dirty="0" smtClean="0">
                <a:latin typeface="+mj-lt"/>
              </a:rPr>
              <a:t>Master re-replicates a chunk as soon as the number of available replicas falls below a user-specified goal.</a:t>
            </a:r>
          </a:p>
          <a:p>
            <a:pPr lvl="1"/>
            <a:r>
              <a:rPr lang="en-US" altLang="zh-TW" dirty="0" err="1" smtClean="0">
                <a:latin typeface="+mj-lt"/>
              </a:rPr>
              <a:t>Chunkserver</a:t>
            </a:r>
            <a:r>
              <a:rPr lang="en-US" altLang="zh-TW" dirty="0" smtClean="0">
                <a:latin typeface="+mj-lt"/>
              </a:rPr>
              <a:t> dies, is removed, etc. Disk fails, is disabled, etc. Chunk is corrupt. Goal is increased.</a:t>
            </a:r>
          </a:p>
          <a:p>
            <a:r>
              <a:rPr lang="en-US" altLang="zh-TW" dirty="0" smtClean="0">
                <a:latin typeface="+mj-lt"/>
              </a:rPr>
              <a:t>Factors affecting which chunk is cloned first:</a:t>
            </a:r>
          </a:p>
          <a:p>
            <a:pPr lvl="1"/>
            <a:r>
              <a:rPr lang="en-US" altLang="zh-TW" dirty="0" smtClean="0">
                <a:latin typeface="+mj-lt"/>
              </a:rPr>
              <a:t>How far is it from the goal</a:t>
            </a:r>
          </a:p>
          <a:p>
            <a:pPr lvl="1"/>
            <a:r>
              <a:rPr lang="en-US" altLang="zh-TW" dirty="0" smtClean="0">
                <a:latin typeface="+mj-lt"/>
              </a:rPr>
              <a:t>Live files vs. deleted files</a:t>
            </a:r>
          </a:p>
          <a:p>
            <a:pPr lvl="1"/>
            <a:r>
              <a:rPr lang="en-US" altLang="zh-TW" dirty="0" smtClean="0">
                <a:latin typeface="+mj-lt"/>
              </a:rPr>
              <a:t>Blocking client</a:t>
            </a:r>
          </a:p>
          <a:p>
            <a:r>
              <a:rPr lang="en-US" altLang="zh-TW" dirty="0" smtClean="0">
                <a:latin typeface="+mj-lt"/>
              </a:rPr>
              <a:t>Placement policy is similar to chunk creation</a:t>
            </a:r>
          </a:p>
          <a:p>
            <a:r>
              <a:rPr lang="en-US" altLang="zh-TW" dirty="0" smtClean="0">
                <a:latin typeface="+mj-lt"/>
              </a:rPr>
              <a:t>Master limits the number of cloning per </a:t>
            </a:r>
            <a:r>
              <a:rPr lang="en-US" altLang="zh-TW" dirty="0" err="1" smtClean="0">
                <a:latin typeface="+mj-lt"/>
              </a:rPr>
              <a:t>chunkserver</a:t>
            </a:r>
            <a:r>
              <a:rPr lang="en-US" altLang="zh-TW" dirty="0" smtClean="0">
                <a:latin typeface="+mj-lt"/>
              </a:rPr>
              <a:t> and cluster-wide to minimize the impact on client traffic</a:t>
            </a:r>
          </a:p>
          <a:p>
            <a:r>
              <a:rPr lang="en-US" altLang="zh-TW" dirty="0" err="1" smtClean="0">
                <a:latin typeface="+mj-lt"/>
              </a:rPr>
              <a:t>Chunkserver</a:t>
            </a:r>
            <a:r>
              <a:rPr lang="en-US" altLang="zh-TW" dirty="0" smtClean="0">
                <a:latin typeface="+mj-lt"/>
              </a:rPr>
              <a:t> throttles cloning read</a:t>
            </a:r>
            <a:endParaRPr lang="zh-TW" altLang="en-US" dirty="0">
              <a:latin typeface="+mj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Master Operations</a:t>
            </a:r>
            <a:endParaRPr lang="zh-TW" alt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altLang="zh-TW" dirty="0" smtClean="0">
                <a:solidFill>
                  <a:schemeClr val="bg1">
                    <a:lumMod val="50000"/>
                  </a:schemeClr>
                </a:solidFill>
              </a:rPr>
              <a:t>Namespace Management and Locking</a:t>
            </a:r>
          </a:p>
          <a:p>
            <a:r>
              <a:rPr lang="en-US" altLang="zh-TW" dirty="0" smtClean="0">
                <a:solidFill>
                  <a:schemeClr val="bg1">
                    <a:lumMod val="50000"/>
                  </a:schemeClr>
                </a:solidFill>
              </a:rPr>
              <a:t>Replica Placement</a:t>
            </a:r>
          </a:p>
          <a:p>
            <a:r>
              <a:rPr lang="en-US" altLang="zh-TW" dirty="0" smtClean="0">
                <a:solidFill>
                  <a:schemeClr val="bg1">
                    <a:lumMod val="50000"/>
                  </a:schemeClr>
                </a:solidFill>
              </a:rPr>
              <a:t>Creation, Rebalancing , Re-replication</a:t>
            </a:r>
          </a:p>
          <a:p>
            <a:r>
              <a:rPr lang="en-US" altLang="zh-TW" dirty="0" smtClean="0"/>
              <a:t>Garbage Collection</a:t>
            </a:r>
          </a:p>
          <a:p>
            <a:r>
              <a:rPr lang="en-US" altLang="zh-TW" dirty="0" smtClean="0"/>
              <a:t>Stale Replica Detection</a:t>
            </a:r>
            <a:endParaRPr lang="zh-TW" alt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Garbage Collection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67544" y="1556792"/>
            <a:ext cx="8229600" cy="5184576"/>
          </a:xfrm>
        </p:spPr>
        <p:txBody>
          <a:bodyPr>
            <a:normAutofit fontScale="92500"/>
          </a:bodyPr>
          <a:lstStyle/>
          <a:p>
            <a:r>
              <a:rPr lang="en-US" altLang="zh-TW" dirty="0" smtClean="0">
                <a:latin typeface="+mj-lt"/>
              </a:rPr>
              <a:t>Chunks of deleted files are not reclaimed immediately</a:t>
            </a:r>
          </a:p>
          <a:p>
            <a:r>
              <a:rPr lang="en-US" altLang="zh-TW" dirty="0" smtClean="0">
                <a:latin typeface="+mj-lt"/>
              </a:rPr>
              <a:t>Mechanism:</a:t>
            </a:r>
          </a:p>
          <a:p>
            <a:pPr lvl="1"/>
            <a:r>
              <a:rPr lang="en-US" altLang="zh-TW" dirty="0" smtClean="0">
                <a:latin typeface="+mj-lt"/>
              </a:rPr>
              <a:t>Client issues a request to delete a file</a:t>
            </a:r>
          </a:p>
          <a:p>
            <a:pPr lvl="1"/>
            <a:r>
              <a:rPr lang="en-US" altLang="zh-TW" dirty="0" smtClean="0">
                <a:latin typeface="+mj-lt"/>
              </a:rPr>
              <a:t>Master logs the operation immediately, renames the file to a hidden name with timestamp, and replies</a:t>
            </a:r>
          </a:p>
          <a:p>
            <a:pPr lvl="1"/>
            <a:r>
              <a:rPr lang="en-US" altLang="zh-TW" dirty="0" smtClean="0">
                <a:latin typeface="+mj-lt"/>
              </a:rPr>
              <a:t>Master scans file namespace regularly</a:t>
            </a:r>
          </a:p>
          <a:p>
            <a:pPr lvl="2"/>
            <a:r>
              <a:rPr lang="en-US" altLang="zh-TW" dirty="0" smtClean="0">
                <a:latin typeface="+mj-lt"/>
              </a:rPr>
              <a:t>Master removes metadata of hidden files older than 3 days</a:t>
            </a:r>
          </a:p>
          <a:p>
            <a:pPr lvl="1"/>
            <a:r>
              <a:rPr lang="en-US" altLang="zh-TW" dirty="0" smtClean="0">
                <a:latin typeface="+mj-lt"/>
              </a:rPr>
              <a:t>Master scans chunk namespace regularly</a:t>
            </a:r>
          </a:p>
          <a:p>
            <a:pPr lvl="2"/>
            <a:r>
              <a:rPr lang="en-US" altLang="zh-TW" dirty="0" smtClean="0">
                <a:latin typeface="+mj-lt"/>
              </a:rPr>
              <a:t>Master removes metadata of orphaned chunks</a:t>
            </a:r>
          </a:p>
          <a:p>
            <a:pPr lvl="1"/>
            <a:r>
              <a:rPr lang="en-US" altLang="zh-TW" dirty="0" err="1" smtClean="0">
                <a:latin typeface="+mj-lt"/>
              </a:rPr>
              <a:t>Chunkserver</a:t>
            </a:r>
            <a:r>
              <a:rPr lang="en-US" altLang="zh-TW" dirty="0" smtClean="0">
                <a:latin typeface="+mj-lt"/>
              </a:rPr>
              <a:t> sends master a list of chunk handles it has in regular </a:t>
            </a:r>
            <a:r>
              <a:rPr lang="en-US" altLang="zh-TW" dirty="0" err="1" smtClean="0">
                <a:latin typeface="+mj-lt"/>
              </a:rPr>
              <a:t>HeartBeat</a:t>
            </a:r>
            <a:r>
              <a:rPr lang="en-US" altLang="zh-TW" dirty="0" smtClean="0">
                <a:latin typeface="+mj-lt"/>
              </a:rPr>
              <a:t> message</a:t>
            </a:r>
          </a:p>
          <a:p>
            <a:pPr lvl="2"/>
            <a:r>
              <a:rPr lang="en-US" altLang="zh-TW" dirty="0" smtClean="0">
                <a:latin typeface="+mj-lt"/>
              </a:rPr>
              <a:t>Master replies the chunks not in namespace</a:t>
            </a:r>
          </a:p>
          <a:p>
            <a:pPr lvl="2"/>
            <a:r>
              <a:rPr lang="en-US" altLang="zh-TW" dirty="0" err="1" smtClean="0">
                <a:latin typeface="+mj-lt"/>
              </a:rPr>
              <a:t>Chunkserver</a:t>
            </a:r>
            <a:r>
              <a:rPr lang="en-US" altLang="zh-TW" dirty="0" smtClean="0">
                <a:latin typeface="+mj-lt"/>
              </a:rPr>
              <a:t> is free to delete the chunks</a:t>
            </a:r>
            <a:endParaRPr lang="zh-TW" altLang="en-US" dirty="0">
              <a:latin typeface="+mj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Garbage Collection(cont.)</a:t>
            </a:r>
            <a:endParaRPr lang="zh-TW" altLang="en-US" dirty="0"/>
          </a:p>
        </p:txBody>
      </p:sp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996434" y="2204864"/>
            <a:ext cx="1695450" cy="1038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876754" y="1844824"/>
            <a:ext cx="4295646" cy="20406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8" name="直線單箭頭接點 7"/>
          <p:cNvCxnSpPr/>
          <p:nvPr/>
        </p:nvCxnSpPr>
        <p:spPr>
          <a:xfrm>
            <a:off x="2724626" y="2924944"/>
            <a:ext cx="1123665" cy="158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文字方塊 9"/>
          <p:cNvSpPr txBox="1"/>
          <p:nvPr/>
        </p:nvSpPr>
        <p:spPr>
          <a:xfrm>
            <a:off x="2652618" y="2564904"/>
            <a:ext cx="12890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Delete /</a:t>
            </a:r>
            <a:r>
              <a:rPr lang="en-US" altLang="zh-TW" dirty="0" err="1" smtClean="0"/>
              <a:t>foo</a:t>
            </a:r>
            <a:endParaRPr lang="zh-TW" altLang="en-US" dirty="0"/>
          </a:p>
        </p:txBody>
      </p:sp>
      <p:graphicFrame>
        <p:nvGraphicFramePr>
          <p:cNvPr id="12" name="表格 11"/>
          <p:cNvGraphicFramePr>
            <a:graphicFrameLocks noGrp="1"/>
          </p:cNvGraphicFramePr>
          <p:nvPr/>
        </p:nvGraphicFramePr>
        <p:xfrm>
          <a:off x="1932538" y="4553116"/>
          <a:ext cx="1992560" cy="18282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92560"/>
              </a:tblGrid>
              <a:tr h="396044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Log</a:t>
                      </a:r>
                      <a:endParaRPr lang="zh-TW" altLang="en-US" dirty="0"/>
                    </a:p>
                  </a:txBody>
                  <a:tcPr/>
                </a:tc>
              </a:tr>
              <a:tr h="396044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…</a:t>
                      </a:r>
                      <a:endParaRPr lang="zh-TW" altLang="en-US" dirty="0"/>
                    </a:p>
                  </a:txBody>
                  <a:tcPr/>
                </a:tc>
              </a:tr>
              <a:tr h="396044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</a:tr>
              <a:tr h="396044">
                <a:tc>
                  <a:txBody>
                    <a:bodyPr/>
                    <a:lstStyle/>
                    <a:p>
                      <a:endParaRPr lang="en-US" altLang="zh-TW" dirty="0" smtClean="0"/>
                    </a:p>
                    <a:p>
                      <a:endParaRPr lang="en-US" altLang="zh-TW" dirty="0" smtClean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3" name="表格 12"/>
          <p:cNvGraphicFramePr>
            <a:graphicFrameLocks noGrp="1"/>
          </p:cNvGraphicFramePr>
          <p:nvPr/>
        </p:nvGraphicFramePr>
        <p:xfrm>
          <a:off x="4188450" y="4553117"/>
          <a:ext cx="1992560" cy="18246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92560"/>
              </a:tblGrid>
              <a:tr h="386076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Metadata</a:t>
                      </a:r>
                      <a:endParaRPr lang="zh-TW" altLang="en-US" dirty="0"/>
                    </a:p>
                  </a:txBody>
                  <a:tcPr/>
                </a:tc>
              </a:tr>
              <a:tr h="386076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…</a:t>
                      </a:r>
                      <a:endParaRPr lang="zh-TW" altLang="en-US" dirty="0"/>
                    </a:p>
                  </a:txBody>
                  <a:tcPr/>
                </a:tc>
              </a:tr>
              <a:tr h="386076">
                <a:tc>
                  <a:txBody>
                    <a:bodyPr/>
                    <a:lstStyle/>
                    <a:p>
                      <a:endParaRPr kumimoji="0" lang="en-US" altLang="zh-TW" sz="1800" kern="1200" baseline="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666379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…</a:t>
                      </a:r>
                    </a:p>
                    <a:p>
                      <a:endParaRPr lang="en-US" altLang="zh-TW" dirty="0" smtClean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4" name="矩形 13"/>
          <p:cNvSpPr/>
          <p:nvPr/>
        </p:nvSpPr>
        <p:spPr>
          <a:xfrm>
            <a:off x="1932538" y="5335912"/>
            <a:ext cx="103701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 smtClean="0"/>
              <a:t>Delete …</a:t>
            </a:r>
            <a:endParaRPr lang="zh-TW" altLang="en-US" dirty="0"/>
          </a:p>
        </p:txBody>
      </p:sp>
      <p:sp>
        <p:nvSpPr>
          <p:cNvPr id="15" name="矩形 14"/>
          <p:cNvSpPr/>
          <p:nvPr/>
        </p:nvSpPr>
        <p:spPr>
          <a:xfrm>
            <a:off x="4190913" y="5335912"/>
            <a:ext cx="176080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 smtClean="0">
                <a:solidFill>
                  <a:schemeClr val="dk1"/>
                </a:solidFill>
              </a:rPr>
              <a:t>/.foo-20101013</a:t>
            </a:r>
          </a:p>
        </p:txBody>
      </p:sp>
      <p:sp>
        <p:nvSpPr>
          <p:cNvPr id="16" name="矩形 15"/>
          <p:cNvSpPr/>
          <p:nvPr/>
        </p:nvSpPr>
        <p:spPr>
          <a:xfrm>
            <a:off x="4190913" y="5335912"/>
            <a:ext cx="60984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 smtClean="0">
                <a:solidFill>
                  <a:schemeClr val="dk1"/>
                </a:solidFill>
              </a:rPr>
              <a:t>/</a:t>
            </a:r>
            <a:r>
              <a:rPr lang="en-US" altLang="zh-TW" dirty="0" err="1" smtClean="0">
                <a:solidFill>
                  <a:schemeClr val="dk1"/>
                </a:solidFill>
              </a:rPr>
              <a:t>foo</a:t>
            </a:r>
            <a:endParaRPr lang="en-US" altLang="zh-TW" dirty="0" smtClean="0">
              <a:solidFill>
                <a:schemeClr val="dk1"/>
              </a:solidFill>
            </a:endParaRPr>
          </a:p>
        </p:txBody>
      </p:sp>
      <p:cxnSp>
        <p:nvCxnSpPr>
          <p:cNvPr id="20" name="直線單箭頭接點 19"/>
          <p:cNvCxnSpPr/>
          <p:nvPr/>
        </p:nvCxnSpPr>
        <p:spPr>
          <a:xfrm rot="10800000" flipV="1">
            <a:off x="4668842" y="3717032"/>
            <a:ext cx="1080120" cy="576064"/>
          </a:xfrm>
          <a:prstGeom prst="straightConnector1">
            <a:avLst/>
          </a:prstGeom>
          <a:ln w="28575"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4" grpId="0"/>
      <p:bldP spid="15" grpId="0"/>
      <p:bldP spid="16" grpId="0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/>
              <a:t>Stale Replica Deletion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97152"/>
          </a:xfrm>
        </p:spPr>
        <p:txBody>
          <a:bodyPr>
            <a:normAutofit/>
          </a:bodyPr>
          <a:lstStyle/>
          <a:p>
            <a:r>
              <a:rPr lang="en-US" altLang="zh-TW" dirty="0" smtClean="0">
                <a:latin typeface="+mj-lt"/>
              </a:rPr>
              <a:t>Stale replica is a replica that misses mutation(s) while the </a:t>
            </a:r>
            <a:r>
              <a:rPr lang="en-US" altLang="zh-TW" dirty="0" err="1" smtClean="0">
                <a:latin typeface="+mj-lt"/>
              </a:rPr>
              <a:t>chunkserver</a:t>
            </a:r>
            <a:r>
              <a:rPr lang="en-US" altLang="zh-TW" dirty="0" smtClean="0">
                <a:latin typeface="+mj-lt"/>
              </a:rPr>
              <a:t> is down</a:t>
            </a:r>
          </a:p>
          <a:p>
            <a:pPr lvl="1"/>
            <a:r>
              <a:rPr lang="en-US" altLang="zh-TW" dirty="0" smtClean="0">
                <a:latin typeface="+mj-lt"/>
              </a:rPr>
              <a:t>Server reports its chunks to master after booting. Oops!</a:t>
            </a:r>
          </a:p>
          <a:p>
            <a:r>
              <a:rPr lang="en-US" altLang="zh-TW" dirty="0" smtClean="0">
                <a:latin typeface="+mj-lt"/>
              </a:rPr>
              <a:t>Solution: chunk version number</a:t>
            </a:r>
          </a:p>
          <a:p>
            <a:pPr lvl="1"/>
            <a:r>
              <a:rPr lang="en-US" altLang="zh-TW" dirty="0" smtClean="0">
                <a:latin typeface="+mj-lt"/>
              </a:rPr>
              <a:t>Master and </a:t>
            </a:r>
            <a:r>
              <a:rPr lang="en-US" altLang="zh-TW" dirty="0" err="1" smtClean="0">
                <a:latin typeface="+mj-lt"/>
              </a:rPr>
              <a:t>chunkservers</a:t>
            </a:r>
            <a:r>
              <a:rPr lang="en-US" altLang="zh-TW" dirty="0" smtClean="0">
                <a:latin typeface="+mj-lt"/>
              </a:rPr>
              <a:t> keep chunk version numbers persistently.</a:t>
            </a:r>
          </a:p>
          <a:p>
            <a:pPr lvl="1"/>
            <a:r>
              <a:rPr lang="en-US" altLang="zh-TW" dirty="0" smtClean="0">
                <a:latin typeface="+mj-lt"/>
              </a:rPr>
              <a:t>Master creates new chunk version number when granting a lease to primary, and notifies all replicas, then store the new version persistently</a:t>
            </a:r>
          </a:p>
          <a:p>
            <a:r>
              <a:rPr lang="en-US" altLang="zh-TW" dirty="0" smtClean="0">
                <a:latin typeface="+mj-lt"/>
              </a:rPr>
              <a:t>The master removes stale replicas in its regular garbage collection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Google File System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Clr>
                <a:schemeClr val="bg1">
                  <a:lumMod val="50000"/>
                </a:schemeClr>
              </a:buClr>
            </a:pPr>
            <a:r>
              <a:rPr lang="en-US" altLang="zh-TW" dirty="0" smtClean="0">
                <a:solidFill>
                  <a:schemeClr val="bg1">
                    <a:lumMod val="50000"/>
                  </a:schemeClr>
                </a:solidFill>
                <a:latin typeface="+mj-lt"/>
              </a:rPr>
              <a:t>Motivations</a:t>
            </a:r>
          </a:p>
          <a:p>
            <a:pPr>
              <a:buClr>
                <a:schemeClr val="bg1">
                  <a:lumMod val="50000"/>
                </a:schemeClr>
              </a:buClr>
            </a:pPr>
            <a:r>
              <a:rPr lang="en-US" altLang="zh-TW" dirty="0" smtClean="0">
                <a:solidFill>
                  <a:schemeClr val="bg1">
                    <a:lumMod val="50000"/>
                  </a:schemeClr>
                </a:solidFill>
                <a:latin typeface="+mj-lt"/>
              </a:rPr>
              <a:t>Design Overview</a:t>
            </a:r>
          </a:p>
          <a:p>
            <a:pPr>
              <a:buClr>
                <a:schemeClr val="bg1">
                  <a:lumMod val="50000"/>
                </a:schemeClr>
              </a:buClr>
            </a:pPr>
            <a:r>
              <a:rPr lang="en-US" altLang="zh-TW" dirty="0" smtClean="0">
                <a:solidFill>
                  <a:schemeClr val="bg1">
                    <a:lumMod val="50000"/>
                  </a:schemeClr>
                </a:solidFill>
                <a:latin typeface="+mj-lt"/>
              </a:rPr>
              <a:t>System Interactions</a:t>
            </a:r>
          </a:p>
          <a:p>
            <a:pPr>
              <a:buClr>
                <a:schemeClr val="bg1">
                  <a:lumMod val="50000"/>
                </a:schemeClr>
              </a:buClr>
            </a:pPr>
            <a:r>
              <a:rPr lang="en-US" altLang="zh-TW" dirty="0" smtClean="0">
                <a:solidFill>
                  <a:schemeClr val="bg1">
                    <a:lumMod val="50000"/>
                  </a:schemeClr>
                </a:solidFill>
                <a:latin typeface="+mj-lt"/>
              </a:rPr>
              <a:t>Master Operations</a:t>
            </a:r>
          </a:p>
          <a:p>
            <a:r>
              <a:rPr lang="en-US" altLang="zh-TW" dirty="0" smtClean="0">
                <a:latin typeface="+mj-lt"/>
              </a:rPr>
              <a:t>Fault Tolerance</a:t>
            </a:r>
          </a:p>
          <a:p>
            <a:endParaRPr lang="zh-TW" altLang="en-US" dirty="0">
              <a:latin typeface="+mj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Fault Tolerance</a:t>
            </a:r>
            <a:endParaRPr lang="zh-TW" alt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 smtClean="0"/>
              <a:t>High Availability</a:t>
            </a:r>
          </a:p>
          <a:p>
            <a:r>
              <a:rPr lang="en-US" altLang="zh-TW" dirty="0" smtClean="0">
                <a:solidFill>
                  <a:schemeClr val="bg1">
                    <a:lumMod val="50000"/>
                  </a:schemeClr>
                </a:solidFill>
              </a:rPr>
              <a:t>Data Integrity</a:t>
            </a:r>
          </a:p>
          <a:p>
            <a:r>
              <a:rPr lang="en-US" altLang="zh-TW" dirty="0" smtClean="0">
                <a:solidFill>
                  <a:schemeClr val="bg1">
                    <a:lumMod val="50000"/>
                  </a:schemeClr>
                </a:solidFill>
              </a:rPr>
              <a:t>Diagnostic Tools</a:t>
            </a:r>
            <a:endParaRPr lang="zh-TW" altLang="en-US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Fast Recovery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>
                <a:latin typeface="+mj-lt"/>
              </a:rPr>
              <a:t>Master and </a:t>
            </a:r>
            <a:r>
              <a:rPr lang="en-US" altLang="zh-TW" dirty="0" err="1" smtClean="0">
                <a:latin typeface="+mj-lt"/>
              </a:rPr>
              <a:t>chunkserver</a:t>
            </a:r>
            <a:r>
              <a:rPr lang="en-US" altLang="zh-TW" dirty="0" smtClean="0">
                <a:latin typeface="+mj-lt"/>
              </a:rPr>
              <a:t> can start and restore to previous state in seconds</a:t>
            </a:r>
          </a:p>
          <a:p>
            <a:pPr lvl="1"/>
            <a:r>
              <a:rPr lang="en-US" altLang="zh-TW" dirty="0" smtClean="0">
                <a:latin typeface="+mj-lt"/>
              </a:rPr>
              <a:t>Metadata is stored in binary format, no parsing</a:t>
            </a:r>
          </a:p>
          <a:p>
            <a:pPr lvl="1"/>
            <a:r>
              <a:rPr lang="en-US" altLang="zh-TW" dirty="0" smtClean="0">
                <a:latin typeface="+mj-lt"/>
              </a:rPr>
              <a:t>50MB – 100 MB of metadata per server</a:t>
            </a:r>
          </a:p>
          <a:p>
            <a:pPr lvl="1"/>
            <a:r>
              <a:rPr lang="en-US" altLang="zh-TW" dirty="0" smtClean="0">
                <a:latin typeface="+mj-lt"/>
              </a:rPr>
              <a:t>Normal startup and startup after abnormal termination is the same</a:t>
            </a:r>
          </a:p>
          <a:p>
            <a:pPr lvl="1"/>
            <a:r>
              <a:rPr lang="en-US" altLang="zh-TW" dirty="0" smtClean="0">
                <a:latin typeface="+mj-lt"/>
              </a:rPr>
              <a:t>Can kill the process anytime</a:t>
            </a:r>
          </a:p>
          <a:p>
            <a:pPr lvl="2"/>
            <a:r>
              <a:rPr lang="en-US" altLang="zh-TW" dirty="0" smtClean="0">
                <a:latin typeface="+mj-lt"/>
              </a:rPr>
              <a:t>do not distinguish between normal and abnormal termination</a:t>
            </a:r>
            <a:endParaRPr lang="zh-TW" altLang="en-US" dirty="0">
              <a:latin typeface="+mj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Master Replication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97152"/>
          </a:xfrm>
        </p:spPr>
        <p:txBody>
          <a:bodyPr>
            <a:normAutofit lnSpcReduction="10000"/>
          </a:bodyPr>
          <a:lstStyle/>
          <a:p>
            <a:r>
              <a:rPr lang="en-US" altLang="zh-TW" dirty="0" smtClean="0">
                <a:latin typeface="+mj-lt"/>
              </a:rPr>
              <a:t>Master's operation logs and checkpoints are replicated on multiple machines</a:t>
            </a:r>
          </a:p>
          <a:p>
            <a:pPr lvl="1"/>
            <a:r>
              <a:rPr lang="en-US" altLang="zh-TW" dirty="0" smtClean="0">
                <a:latin typeface="+mj-lt"/>
              </a:rPr>
              <a:t>A mutation is complete only when all replicas are updated</a:t>
            </a:r>
          </a:p>
          <a:p>
            <a:r>
              <a:rPr lang="en-US" altLang="zh-TW" dirty="0" smtClean="0">
                <a:latin typeface="+mj-lt"/>
              </a:rPr>
              <a:t>If the master dies, cluster monitoring software starts another master with checkpoints and operation logs</a:t>
            </a:r>
          </a:p>
          <a:p>
            <a:pPr lvl="1"/>
            <a:r>
              <a:rPr lang="en-US" altLang="zh-TW" dirty="0" smtClean="0">
                <a:latin typeface="+mj-lt"/>
              </a:rPr>
              <a:t>Clients see the new master as soon as the DNS alias is updated</a:t>
            </a:r>
          </a:p>
          <a:p>
            <a:r>
              <a:rPr lang="en-US" altLang="zh-TW" dirty="0" smtClean="0">
                <a:latin typeface="+mj-lt"/>
              </a:rPr>
              <a:t>Shadow masters provide read-only access</a:t>
            </a:r>
          </a:p>
          <a:p>
            <a:pPr lvl="1"/>
            <a:r>
              <a:rPr lang="en-US" altLang="zh-TW" dirty="0" smtClean="0">
                <a:latin typeface="+mj-lt"/>
              </a:rPr>
              <a:t>Reads a replica operation log to update the metadata</a:t>
            </a:r>
          </a:p>
          <a:p>
            <a:pPr lvl="1"/>
            <a:r>
              <a:rPr lang="en-US" altLang="zh-TW" dirty="0" smtClean="0">
                <a:latin typeface="+mj-lt"/>
              </a:rPr>
              <a:t>Typically behind by less than a second</a:t>
            </a:r>
          </a:p>
          <a:p>
            <a:pPr lvl="1"/>
            <a:r>
              <a:rPr lang="en-US" altLang="zh-TW" dirty="0" smtClean="0">
                <a:latin typeface="+mj-lt"/>
              </a:rPr>
              <a:t>No interaction with the busy master except replica location updates (cloning)</a:t>
            </a:r>
            <a:endParaRPr lang="zh-TW" altLang="en-US" dirty="0">
              <a:latin typeface="+mj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Fault Tolerance</a:t>
            </a:r>
            <a:endParaRPr lang="zh-TW" alt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 smtClean="0">
                <a:solidFill>
                  <a:schemeClr val="bg1">
                    <a:lumMod val="50000"/>
                  </a:schemeClr>
                </a:solidFill>
              </a:rPr>
              <a:t>High Availability</a:t>
            </a:r>
          </a:p>
          <a:p>
            <a:r>
              <a:rPr lang="en-US" altLang="zh-TW" dirty="0" smtClean="0"/>
              <a:t>Data Integrity</a:t>
            </a:r>
          </a:p>
          <a:p>
            <a:r>
              <a:rPr lang="en-US" altLang="zh-TW" dirty="0" smtClean="0"/>
              <a:t>Diagnostic Tools</a:t>
            </a:r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Data Integrity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141168"/>
          </a:xfrm>
        </p:spPr>
        <p:txBody>
          <a:bodyPr>
            <a:normAutofit lnSpcReduction="10000"/>
          </a:bodyPr>
          <a:lstStyle/>
          <a:p>
            <a:r>
              <a:rPr lang="en-US" altLang="zh-TW" dirty="0" smtClean="0">
                <a:latin typeface="+mj-lt"/>
              </a:rPr>
              <a:t>A responsibility of </a:t>
            </a:r>
            <a:r>
              <a:rPr lang="en-US" altLang="zh-TW" dirty="0" err="1" smtClean="0">
                <a:latin typeface="+mj-lt"/>
              </a:rPr>
              <a:t>chunkservers</a:t>
            </a:r>
            <a:r>
              <a:rPr lang="en-US" altLang="zh-TW" dirty="0" smtClean="0">
                <a:latin typeface="+mj-lt"/>
              </a:rPr>
              <a:t>, not master</a:t>
            </a:r>
          </a:p>
          <a:p>
            <a:pPr lvl="1"/>
            <a:r>
              <a:rPr lang="en-US" altLang="zh-TW" dirty="0" smtClean="0">
                <a:latin typeface="+mj-lt"/>
              </a:rPr>
              <a:t>Disks failure is norm, </a:t>
            </a:r>
            <a:r>
              <a:rPr lang="en-US" altLang="zh-TW" dirty="0" err="1" smtClean="0">
                <a:latin typeface="+mj-lt"/>
              </a:rPr>
              <a:t>chunkserver</a:t>
            </a:r>
            <a:r>
              <a:rPr lang="en-US" altLang="zh-TW" dirty="0" smtClean="0">
                <a:latin typeface="+mj-lt"/>
              </a:rPr>
              <a:t> must know</a:t>
            </a:r>
          </a:p>
          <a:p>
            <a:pPr lvl="1"/>
            <a:r>
              <a:rPr lang="en-US" altLang="zh-TW" dirty="0" smtClean="0">
                <a:latin typeface="+mj-lt"/>
              </a:rPr>
              <a:t>GFS doesn't guarantee identical replica, independent verification is necessary</a:t>
            </a:r>
          </a:p>
          <a:p>
            <a:r>
              <a:rPr lang="en-US" altLang="zh-TW" dirty="0" smtClean="0">
                <a:latin typeface="+mj-lt"/>
              </a:rPr>
              <a:t>32 bit checksum for every 64 KB block of data</a:t>
            </a:r>
          </a:p>
          <a:p>
            <a:pPr lvl="1"/>
            <a:r>
              <a:rPr lang="en-US" altLang="zh-TW" dirty="0" smtClean="0">
                <a:latin typeface="+mj-lt"/>
              </a:rPr>
              <a:t>available in memory, persistent with logging</a:t>
            </a:r>
          </a:p>
          <a:p>
            <a:pPr lvl="1"/>
            <a:r>
              <a:rPr lang="en-US" altLang="zh-TW" dirty="0" smtClean="0">
                <a:latin typeface="+mj-lt"/>
              </a:rPr>
              <a:t>separate from user data</a:t>
            </a:r>
          </a:p>
          <a:p>
            <a:r>
              <a:rPr lang="en-US" altLang="zh-TW" dirty="0" smtClean="0">
                <a:latin typeface="+mj-lt"/>
              </a:rPr>
              <a:t>Read: verify checksum before returning data</a:t>
            </a:r>
          </a:p>
          <a:p>
            <a:pPr lvl="1"/>
            <a:r>
              <a:rPr lang="en-US" altLang="zh-TW" dirty="0" smtClean="0">
                <a:latin typeface="+mj-lt"/>
              </a:rPr>
              <a:t>mismatch: return error to client, report to master</a:t>
            </a:r>
          </a:p>
          <a:p>
            <a:pPr lvl="1"/>
            <a:r>
              <a:rPr lang="en-US" altLang="zh-TW" dirty="0" smtClean="0">
                <a:latin typeface="+mj-lt"/>
              </a:rPr>
              <a:t>client reads from another replica</a:t>
            </a:r>
          </a:p>
          <a:p>
            <a:pPr lvl="1"/>
            <a:r>
              <a:rPr lang="en-US" altLang="zh-TW" dirty="0" smtClean="0">
                <a:latin typeface="+mj-lt"/>
              </a:rPr>
              <a:t>master clones a replica, tells </a:t>
            </a:r>
            <a:r>
              <a:rPr lang="en-US" altLang="zh-TW" dirty="0" err="1" smtClean="0">
                <a:latin typeface="+mj-lt"/>
              </a:rPr>
              <a:t>chunkserver</a:t>
            </a:r>
            <a:r>
              <a:rPr lang="en-US" altLang="zh-TW" dirty="0" smtClean="0">
                <a:latin typeface="+mj-lt"/>
              </a:rPr>
              <a:t> to delete the chunk</a:t>
            </a:r>
            <a:endParaRPr lang="zh-TW" altLang="en-US" dirty="0">
              <a:latin typeface="+mj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Diagnostic Tools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>
                <a:latin typeface="+mj-lt"/>
              </a:rPr>
              <a:t>Logs on each server</a:t>
            </a:r>
          </a:p>
          <a:p>
            <a:pPr lvl="1"/>
            <a:r>
              <a:rPr lang="en-US" altLang="zh-TW" dirty="0" smtClean="0">
                <a:latin typeface="+mj-lt"/>
              </a:rPr>
              <a:t>Significant events (server up, down)</a:t>
            </a:r>
          </a:p>
          <a:p>
            <a:pPr lvl="1"/>
            <a:r>
              <a:rPr lang="en-US" altLang="zh-TW" dirty="0" smtClean="0">
                <a:latin typeface="+mj-lt"/>
              </a:rPr>
              <a:t>RPC requests/replies</a:t>
            </a:r>
          </a:p>
          <a:p>
            <a:r>
              <a:rPr lang="en-US" altLang="zh-TW" dirty="0" smtClean="0">
                <a:latin typeface="+mj-lt"/>
              </a:rPr>
              <a:t>Combining logs on all servers to reconstruct the full interaction history, to identify source of problems</a:t>
            </a:r>
          </a:p>
          <a:p>
            <a:r>
              <a:rPr lang="en-US" altLang="zh-TW" dirty="0" smtClean="0">
                <a:latin typeface="+mj-lt"/>
              </a:rPr>
              <a:t>Logs can be used on performance analysis and load testing, too</a:t>
            </a:r>
            <a:endParaRPr lang="zh-TW" altLang="en-US" dirty="0">
              <a:latin typeface="+mj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Summary of GFS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25144"/>
          </a:xfrm>
        </p:spPr>
        <p:txBody>
          <a:bodyPr>
            <a:normAutofit/>
          </a:bodyPr>
          <a:lstStyle/>
          <a:p>
            <a:r>
              <a:rPr lang="en-US" altLang="zh-TW" dirty="0" smtClean="0">
                <a:latin typeface="+mj-lt"/>
              </a:rPr>
              <a:t>GFS demonstrates how to support large-scale processing workloads on commodity hardware</a:t>
            </a:r>
          </a:p>
          <a:p>
            <a:pPr lvl="1"/>
            <a:r>
              <a:rPr lang="en-US" altLang="zh-TW" dirty="0" smtClean="0">
                <a:latin typeface="+mj-lt"/>
              </a:rPr>
              <a:t>designed to tolerate frequent component failures</a:t>
            </a:r>
          </a:p>
          <a:p>
            <a:pPr lvl="1"/>
            <a:r>
              <a:rPr lang="en-US" altLang="zh-TW" dirty="0" smtClean="0">
                <a:latin typeface="+mj-lt"/>
              </a:rPr>
              <a:t>uniform logical namespace</a:t>
            </a:r>
          </a:p>
          <a:p>
            <a:pPr lvl="1"/>
            <a:r>
              <a:rPr lang="en-US" altLang="zh-TW" dirty="0" smtClean="0">
                <a:latin typeface="+mj-lt"/>
              </a:rPr>
              <a:t>optimize for huge files that are mostly appended and read</a:t>
            </a:r>
          </a:p>
          <a:p>
            <a:pPr lvl="1"/>
            <a:r>
              <a:rPr lang="en-US" altLang="zh-TW" dirty="0" smtClean="0">
                <a:latin typeface="+mj-lt"/>
              </a:rPr>
              <a:t>feel free to relax and extend FS interface as required</a:t>
            </a:r>
          </a:p>
          <a:p>
            <a:pPr lvl="1"/>
            <a:r>
              <a:rPr lang="en-US" altLang="zh-TW" dirty="0" smtClean="0">
                <a:latin typeface="+mj-lt"/>
              </a:rPr>
              <a:t>relaxed consistency model</a:t>
            </a:r>
          </a:p>
          <a:p>
            <a:pPr lvl="1"/>
            <a:r>
              <a:rPr lang="en-US" altLang="zh-TW" dirty="0" smtClean="0">
                <a:latin typeface="+mj-lt"/>
              </a:rPr>
              <a:t>go for simple solutions (e.g., single master, garbage collection)</a:t>
            </a:r>
          </a:p>
          <a:p>
            <a:r>
              <a:rPr lang="en-US" altLang="zh-TW" dirty="0" smtClean="0">
                <a:latin typeface="+mj-lt"/>
              </a:rPr>
              <a:t>GFS has met Google’s storage needs</a:t>
            </a:r>
            <a:endParaRPr lang="zh-TW" altLang="en-US" dirty="0">
              <a:latin typeface="+mj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How about </a:t>
            </a:r>
            <a:r>
              <a:rPr lang="en-US" altLang="zh-TW" dirty="0" err="1" smtClean="0"/>
              <a:t>Hadoop</a:t>
            </a:r>
            <a:endParaRPr lang="zh-TW" altLang="en-US" dirty="0"/>
          </a:p>
        </p:txBody>
      </p:sp>
      <p:sp>
        <p:nvSpPr>
          <p:cNvPr id="8" name="文字版面配置區 7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 smtClean="0"/>
              <a:t>HDFS</a:t>
            </a:r>
            <a:endParaRPr lang="zh-TW" altLang="en-US" dirty="0"/>
          </a:p>
        </p:txBody>
      </p:sp>
      <p:pic>
        <p:nvPicPr>
          <p:cNvPr id="7" name="圖片 6" descr="hdfs-logo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707904" y="3068960"/>
            <a:ext cx="2009775" cy="1123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HDFS</a:t>
            </a:r>
            <a:endParaRPr lang="zh-TW" altLang="en-US" dirty="0"/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Overview </a:t>
            </a:r>
          </a:p>
          <a:p>
            <a:r>
              <a:rPr lang="en-US" altLang="zh-TW" dirty="0" smtClean="0"/>
              <a:t>Architecture</a:t>
            </a:r>
          </a:p>
          <a:p>
            <a:r>
              <a:rPr lang="en-US" altLang="zh-TW" dirty="0" smtClean="0"/>
              <a:t>Implementation</a:t>
            </a:r>
          </a:p>
          <a:p>
            <a:r>
              <a:rPr lang="en-US" altLang="zh-TW" dirty="0" smtClean="0"/>
              <a:t>Other Issue </a:t>
            </a:r>
            <a:endParaRPr lang="zh-TW" altLang="en-US" dirty="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/>
              <a:t>What’s HDFS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600200"/>
            <a:ext cx="4690864" cy="4525963"/>
          </a:xfrm>
        </p:spPr>
        <p:txBody>
          <a:bodyPr>
            <a:normAutofit lnSpcReduction="10000"/>
          </a:bodyPr>
          <a:lstStyle/>
          <a:p>
            <a:r>
              <a:rPr lang="en-US" altLang="zh-TW" dirty="0" err="1" smtClean="0">
                <a:solidFill>
                  <a:srgbClr val="FF0000"/>
                </a:solidFill>
                <a:latin typeface="+mj-lt"/>
              </a:rPr>
              <a:t>H</a:t>
            </a:r>
            <a:r>
              <a:rPr lang="en-US" altLang="zh-TW" dirty="0" err="1" smtClean="0">
                <a:latin typeface="+mj-lt"/>
              </a:rPr>
              <a:t>adoop</a:t>
            </a:r>
            <a:r>
              <a:rPr lang="en-US" altLang="zh-TW" dirty="0" smtClean="0">
                <a:latin typeface="+mj-lt"/>
              </a:rPr>
              <a:t> </a:t>
            </a:r>
            <a:r>
              <a:rPr lang="en-US" altLang="zh-TW" dirty="0" smtClean="0">
                <a:solidFill>
                  <a:srgbClr val="FF0000"/>
                </a:solidFill>
                <a:latin typeface="+mj-lt"/>
              </a:rPr>
              <a:t>D</a:t>
            </a:r>
            <a:r>
              <a:rPr lang="en-US" altLang="zh-TW" dirty="0" smtClean="0">
                <a:latin typeface="+mj-lt"/>
              </a:rPr>
              <a:t>istributed </a:t>
            </a:r>
            <a:r>
              <a:rPr lang="en-US" altLang="zh-TW" dirty="0" smtClean="0">
                <a:solidFill>
                  <a:srgbClr val="FF0000"/>
                </a:solidFill>
                <a:latin typeface="+mj-lt"/>
              </a:rPr>
              <a:t>F</a:t>
            </a:r>
            <a:r>
              <a:rPr lang="en-US" altLang="zh-TW" dirty="0" smtClean="0">
                <a:latin typeface="+mj-lt"/>
              </a:rPr>
              <a:t>ile </a:t>
            </a:r>
            <a:r>
              <a:rPr lang="en-US" altLang="zh-TW" dirty="0" smtClean="0">
                <a:solidFill>
                  <a:srgbClr val="FF0000"/>
                </a:solidFill>
                <a:latin typeface="+mj-lt"/>
              </a:rPr>
              <a:t>S</a:t>
            </a:r>
            <a:r>
              <a:rPr lang="en-US" altLang="zh-TW" dirty="0" smtClean="0">
                <a:latin typeface="+mj-lt"/>
              </a:rPr>
              <a:t>ystem</a:t>
            </a:r>
          </a:p>
          <a:p>
            <a:pPr lvl="1"/>
            <a:r>
              <a:rPr lang="en-US" altLang="zh-TW" dirty="0" smtClean="0">
                <a:latin typeface="+mj-lt"/>
              </a:rPr>
              <a:t>Reference from Google File System</a:t>
            </a:r>
          </a:p>
          <a:p>
            <a:pPr lvl="1"/>
            <a:r>
              <a:rPr lang="en-US" altLang="zh-TW" dirty="0" smtClean="0">
                <a:latin typeface="+mj-lt"/>
              </a:rPr>
              <a:t>A scalable distributed file system for large data analysis</a:t>
            </a:r>
          </a:p>
          <a:p>
            <a:pPr lvl="1"/>
            <a:r>
              <a:rPr lang="en-US" altLang="zh-TW" dirty="0" smtClean="0">
                <a:latin typeface="+mj-lt"/>
              </a:rPr>
              <a:t>Based on commodity hardware with high fault-tolerant</a:t>
            </a:r>
          </a:p>
          <a:p>
            <a:pPr lvl="1"/>
            <a:r>
              <a:rPr lang="en-US" altLang="zh-TW" dirty="0" smtClean="0">
                <a:latin typeface="+mj-lt"/>
              </a:rPr>
              <a:t>The primary storage used by </a:t>
            </a:r>
            <a:r>
              <a:rPr lang="en-US" altLang="zh-TW" dirty="0" err="1" smtClean="0">
                <a:latin typeface="+mj-lt"/>
              </a:rPr>
              <a:t>Hadoop</a:t>
            </a:r>
            <a:r>
              <a:rPr lang="en-US" altLang="zh-TW" dirty="0" smtClean="0">
                <a:latin typeface="+mj-lt"/>
              </a:rPr>
              <a:t> applications</a:t>
            </a:r>
          </a:p>
          <a:p>
            <a:pPr lvl="1"/>
            <a:endParaRPr lang="en-US" altLang="zh-TW" dirty="0" smtClean="0">
              <a:latin typeface="+mj-lt"/>
            </a:endParaRPr>
          </a:p>
        </p:txBody>
      </p:sp>
      <p:grpSp>
        <p:nvGrpSpPr>
          <p:cNvPr id="23" name="群組 12"/>
          <p:cNvGrpSpPr/>
          <p:nvPr/>
        </p:nvGrpSpPr>
        <p:grpSpPr>
          <a:xfrm>
            <a:off x="5148064" y="1700808"/>
            <a:ext cx="3816424" cy="4680520"/>
            <a:chOff x="4998915" y="2636912"/>
            <a:chExt cx="3816424" cy="4680520"/>
          </a:xfrm>
        </p:grpSpPr>
        <p:sp>
          <p:nvSpPr>
            <p:cNvPr id="24" name="圓角矩形 23"/>
            <p:cNvSpPr/>
            <p:nvPr/>
          </p:nvSpPr>
          <p:spPr>
            <a:xfrm>
              <a:off x="4998915" y="5013176"/>
              <a:ext cx="3811485" cy="936199"/>
            </a:xfrm>
            <a:prstGeom prst="roundRect">
              <a:avLst/>
            </a:prstGeom>
            <a:solidFill>
              <a:srgbClr val="3276C8"/>
            </a:solidFill>
            <a:ln>
              <a:solidFill>
                <a:srgbClr val="3276C8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  <a:softEdge rad="3175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zh-TW" dirty="0" err="1" smtClean="0"/>
                <a:t>Hadoop</a:t>
              </a:r>
              <a:r>
                <a:rPr lang="en-US" altLang="zh-TW" dirty="0" smtClean="0"/>
                <a:t> Distributed</a:t>
              </a:r>
              <a:br>
                <a:rPr lang="en-US" altLang="zh-TW" dirty="0" smtClean="0"/>
              </a:br>
              <a:r>
                <a:rPr lang="en-US" altLang="zh-TW" dirty="0" smtClean="0"/>
                <a:t>File System (HDFS)</a:t>
              </a:r>
              <a:endParaRPr lang="zh-TW" altLang="en-US" dirty="0"/>
            </a:p>
          </p:txBody>
        </p:sp>
        <p:sp>
          <p:nvSpPr>
            <p:cNvPr id="25" name="圓角矩形 24"/>
            <p:cNvSpPr/>
            <p:nvPr/>
          </p:nvSpPr>
          <p:spPr>
            <a:xfrm>
              <a:off x="4998915" y="3933056"/>
              <a:ext cx="2304256" cy="735585"/>
            </a:xfrm>
            <a:prstGeom prst="round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tx2">
                  <a:lumMod val="60000"/>
                  <a:lumOff val="40000"/>
                </a:schemeClr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  <a:softEdge rad="31750"/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 err="1" smtClean="0"/>
                <a:t>MapReduce</a:t>
              </a:r>
              <a:endParaRPr lang="zh-TW" altLang="en-US" dirty="0"/>
            </a:p>
          </p:txBody>
        </p:sp>
        <p:sp>
          <p:nvSpPr>
            <p:cNvPr id="26" name="圓角矩形 25"/>
            <p:cNvSpPr/>
            <p:nvPr/>
          </p:nvSpPr>
          <p:spPr>
            <a:xfrm>
              <a:off x="7009913" y="4997671"/>
              <a:ext cx="1800488" cy="735585"/>
            </a:xfrm>
            <a:prstGeom prst="round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tx2">
                  <a:lumMod val="60000"/>
                  <a:lumOff val="40000"/>
                </a:schemeClr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  <a:softEdge rad="3175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 err="1" smtClean="0"/>
                <a:t>Hbase</a:t>
              </a:r>
              <a:endParaRPr lang="zh-TW" altLang="en-US" dirty="0"/>
            </a:p>
          </p:txBody>
        </p:sp>
        <p:sp>
          <p:nvSpPr>
            <p:cNvPr id="27" name="圓角矩形 26"/>
            <p:cNvSpPr/>
            <p:nvPr/>
          </p:nvSpPr>
          <p:spPr>
            <a:xfrm>
              <a:off x="4998915" y="6381233"/>
              <a:ext cx="3811485" cy="936199"/>
            </a:xfrm>
            <a:prstGeom prst="roundRect">
              <a:avLst/>
            </a:prstGeom>
            <a:solidFill>
              <a:srgbClr val="396499"/>
            </a:solidFill>
            <a:ln>
              <a:solidFill>
                <a:srgbClr val="396499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  <a:softEdge rad="3175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 smtClean="0"/>
                <a:t>A Cluster of Machines</a:t>
              </a:r>
              <a:endParaRPr lang="zh-TW" altLang="en-US" dirty="0"/>
            </a:p>
          </p:txBody>
        </p:sp>
        <p:sp>
          <p:nvSpPr>
            <p:cNvPr id="28" name="圓角矩形 27"/>
            <p:cNvSpPr/>
            <p:nvPr/>
          </p:nvSpPr>
          <p:spPr>
            <a:xfrm>
              <a:off x="5003854" y="2636912"/>
              <a:ext cx="3811485" cy="936199"/>
            </a:xfrm>
            <a:prstGeom prst="roundRect">
              <a:avLst/>
            </a:prstGeom>
            <a:solidFill>
              <a:schemeClr val="tx2">
                <a:lumMod val="40000"/>
                <a:lumOff val="60000"/>
              </a:schemeClr>
            </a:solidFill>
            <a:ln>
              <a:solidFill>
                <a:schemeClr val="tx2">
                  <a:lumMod val="40000"/>
                  <a:lumOff val="60000"/>
                </a:schemeClr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  <a:softEdge rad="31750"/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 smtClean="0"/>
                <a:t>Cloud Applications</a:t>
              </a:r>
              <a:endParaRPr lang="zh-TW" altLang="en-US" dirty="0"/>
            </a:p>
          </p:txBody>
        </p:sp>
      </p:grpSp>
      <p:cxnSp>
        <p:nvCxnSpPr>
          <p:cNvPr id="29" name="直線單箭頭接點 28"/>
          <p:cNvCxnSpPr/>
          <p:nvPr/>
        </p:nvCxnSpPr>
        <p:spPr>
          <a:xfrm rot="16200000" flipV="1">
            <a:off x="5842995" y="2806078"/>
            <a:ext cx="347469" cy="9139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直線單箭頭接點 29"/>
          <p:cNvCxnSpPr/>
          <p:nvPr/>
        </p:nvCxnSpPr>
        <p:spPr>
          <a:xfrm rot="16200000" flipV="1">
            <a:off x="5847566" y="3881627"/>
            <a:ext cx="338331" cy="9143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直線單箭頭接點 30"/>
          <p:cNvCxnSpPr>
            <a:stCxn id="27" idx="0"/>
            <a:endCxn id="24" idx="2"/>
          </p:cNvCxnSpPr>
          <p:nvPr/>
        </p:nvCxnSpPr>
        <p:spPr>
          <a:xfrm rot="5400000" flipH="1" flipV="1">
            <a:off x="6837878" y="5229200"/>
            <a:ext cx="431858" cy="1588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直線單箭頭接點 31"/>
          <p:cNvCxnSpPr/>
          <p:nvPr/>
        </p:nvCxnSpPr>
        <p:spPr>
          <a:xfrm rot="16200000" flipV="1">
            <a:off x="7143710" y="3881626"/>
            <a:ext cx="338331" cy="9143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直線單箭頭接點 32"/>
          <p:cNvCxnSpPr/>
          <p:nvPr/>
        </p:nvCxnSpPr>
        <p:spPr>
          <a:xfrm rot="16200000" flipV="1">
            <a:off x="7323730" y="3341566"/>
            <a:ext cx="1418452" cy="9144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矩形 21"/>
          <p:cNvSpPr/>
          <p:nvPr/>
        </p:nvSpPr>
        <p:spPr>
          <a:xfrm>
            <a:off x="5109264" y="4005064"/>
            <a:ext cx="2077920" cy="1080120"/>
          </a:xfrm>
          <a:prstGeom prst="rect">
            <a:avLst/>
          </a:prstGeom>
          <a:solidFill>
            <a:schemeClr val="lt1">
              <a:alpha val="0"/>
            </a:schemeClr>
          </a:solidFill>
          <a:ln w="5715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/>
              <a:t>HDFS’s Feature(1/2)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>
                <a:latin typeface="+mj-lt"/>
              </a:rPr>
              <a:t>Large data sets and files</a:t>
            </a:r>
          </a:p>
          <a:p>
            <a:pPr lvl="1"/>
            <a:r>
              <a:rPr lang="en-US" altLang="zh-TW" dirty="0" smtClean="0">
                <a:latin typeface="+mj-lt"/>
              </a:rPr>
              <a:t>Support </a:t>
            </a:r>
            <a:r>
              <a:rPr lang="en-US" altLang="zh-TW" b="1" dirty="0" err="1" smtClean="0">
                <a:latin typeface="+mj-lt"/>
              </a:rPr>
              <a:t>Petabytes</a:t>
            </a:r>
            <a:r>
              <a:rPr lang="en-US" altLang="zh-TW" dirty="0" smtClean="0">
                <a:latin typeface="+mj-lt"/>
              </a:rPr>
              <a:t> size</a:t>
            </a:r>
          </a:p>
          <a:p>
            <a:r>
              <a:rPr lang="en-US" altLang="zh-TW" dirty="0" smtClean="0">
                <a:latin typeface="+mj-lt"/>
              </a:rPr>
              <a:t>Heterogeneous</a:t>
            </a:r>
          </a:p>
          <a:p>
            <a:pPr lvl="1"/>
            <a:r>
              <a:rPr lang="en-US" altLang="zh-TW" dirty="0" smtClean="0">
                <a:latin typeface="+mj-lt"/>
              </a:rPr>
              <a:t>Could be deployed on </a:t>
            </a:r>
            <a:r>
              <a:rPr lang="en-US" altLang="zh-TW" b="1" dirty="0" smtClean="0">
                <a:latin typeface="+mj-lt"/>
              </a:rPr>
              <a:t>different hardware</a:t>
            </a:r>
          </a:p>
          <a:p>
            <a:r>
              <a:rPr lang="en-US" altLang="zh-TW" dirty="0" smtClean="0">
                <a:latin typeface="+mj-lt"/>
              </a:rPr>
              <a:t>Streaming data access</a:t>
            </a:r>
          </a:p>
          <a:p>
            <a:pPr lvl="1"/>
            <a:r>
              <a:rPr lang="en-US" altLang="zh-TW" b="1" dirty="0" smtClean="0">
                <a:latin typeface="+mj-lt"/>
              </a:rPr>
              <a:t>Batch</a:t>
            </a:r>
            <a:r>
              <a:rPr lang="en-US" altLang="zh-TW" dirty="0" smtClean="0">
                <a:latin typeface="+mj-lt"/>
              </a:rPr>
              <a:t> processing rather than interactive user access</a:t>
            </a:r>
          </a:p>
          <a:p>
            <a:pPr lvl="1"/>
            <a:r>
              <a:rPr lang="en-US" altLang="zh-TW" dirty="0" smtClean="0">
                <a:latin typeface="+mj-lt"/>
              </a:rPr>
              <a:t>High aggregate data bandwidth</a:t>
            </a:r>
          </a:p>
          <a:p>
            <a:endParaRPr lang="en-US" altLang="zh-TW" dirty="0" smtClean="0">
              <a:latin typeface="+mj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/>
              <a:t>HDFS’s Feature(2/2)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>
                <a:latin typeface="+mj-lt"/>
              </a:rPr>
              <a:t>Fault-Tolerance</a:t>
            </a:r>
          </a:p>
          <a:p>
            <a:pPr lvl="1"/>
            <a:r>
              <a:rPr lang="en-US" altLang="zh-TW" dirty="0" smtClean="0">
                <a:latin typeface="+mj-lt"/>
              </a:rPr>
              <a:t>The norm rather than exception</a:t>
            </a:r>
          </a:p>
          <a:p>
            <a:pPr lvl="1"/>
            <a:r>
              <a:rPr lang="en-US" altLang="zh-TW" dirty="0" smtClean="0">
                <a:latin typeface="+mj-lt"/>
              </a:rPr>
              <a:t>Automatic recovery or report failure</a:t>
            </a:r>
          </a:p>
          <a:p>
            <a:r>
              <a:rPr lang="en-US" altLang="zh-TW" dirty="0" smtClean="0">
                <a:latin typeface="+mj-lt"/>
              </a:rPr>
              <a:t>Coherency Model</a:t>
            </a:r>
          </a:p>
          <a:p>
            <a:pPr lvl="1"/>
            <a:r>
              <a:rPr lang="en-US" altLang="zh-TW" b="1" dirty="0" smtClean="0">
                <a:latin typeface="+mj-lt"/>
              </a:rPr>
              <a:t>Write-once-read-many</a:t>
            </a:r>
          </a:p>
          <a:p>
            <a:pPr lvl="1"/>
            <a:r>
              <a:rPr lang="en-US" altLang="zh-TW" dirty="0" smtClean="0">
                <a:latin typeface="+mj-lt"/>
              </a:rPr>
              <a:t>This assumption simplifies coherency</a:t>
            </a:r>
          </a:p>
          <a:p>
            <a:r>
              <a:rPr lang="en-US" altLang="zh-TW" dirty="0" smtClean="0">
                <a:latin typeface="+mj-lt"/>
              </a:rPr>
              <a:t>Data Locality</a:t>
            </a:r>
          </a:p>
          <a:p>
            <a:pPr lvl="1"/>
            <a:r>
              <a:rPr lang="en-US" altLang="zh-TW" dirty="0" smtClean="0">
                <a:latin typeface="+mj-lt"/>
              </a:rPr>
              <a:t>Move compute to data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HDFS</a:t>
            </a:r>
            <a:endParaRPr lang="zh-TW" altLang="en-US" dirty="0"/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Clr>
                <a:schemeClr val="bg1">
                  <a:lumMod val="50000"/>
                </a:schemeClr>
              </a:buClr>
            </a:pPr>
            <a:r>
              <a:rPr lang="en-US" altLang="zh-TW" dirty="0" smtClean="0">
                <a:solidFill>
                  <a:schemeClr val="bg1">
                    <a:lumMod val="50000"/>
                  </a:schemeClr>
                </a:solidFill>
              </a:rPr>
              <a:t>Overview </a:t>
            </a:r>
          </a:p>
          <a:p>
            <a:r>
              <a:rPr lang="en-US" altLang="zh-TW" dirty="0" smtClean="0"/>
              <a:t>Architecture</a:t>
            </a:r>
          </a:p>
          <a:p>
            <a:pPr>
              <a:buClr>
                <a:schemeClr val="bg1">
                  <a:lumMod val="50000"/>
                </a:schemeClr>
              </a:buClr>
            </a:pPr>
            <a:r>
              <a:rPr lang="en-US" altLang="zh-TW" dirty="0" smtClean="0">
                <a:solidFill>
                  <a:schemeClr val="bg1">
                    <a:lumMod val="50000"/>
                  </a:schemeClr>
                </a:solidFill>
              </a:rPr>
              <a:t>Implementation</a:t>
            </a:r>
          </a:p>
          <a:p>
            <a:pPr>
              <a:buClr>
                <a:schemeClr val="bg1">
                  <a:lumMod val="50000"/>
                </a:schemeClr>
              </a:buClr>
            </a:pPr>
            <a:r>
              <a:rPr lang="en-US" altLang="zh-TW" dirty="0" smtClean="0">
                <a:solidFill>
                  <a:schemeClr val="bg1">
                    <a:lumMod val="50000"/>
                  </a:schemeClr>
                </a:solidFill>
              </a:rPr>
              <a:t>Other Issue </a:t>
            </a:r>
            <a:endParaRPr lang="zh-TW" altLang="en-US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How to manage data</a:t>
            </a:r>
            <a:endParaRPr lang="zh-TW" altLang="en-US" dirty="0"/>
          </a:p>
        </p:txBody>
      </p:sp>
      <p:grpSp>
        <p:nvGrpSpPr>
          <p:cNvPr id="3" name="群組 4"/>
          <p:cNvGrpSpPr/>
          <p:nvPr/>
        </p:nvGrpSpPr>
        <p:grpSpPr>
          <a:xfrm>
            <a:off x="755576" y="1719970"/>
            <a:ext cx="7632848" cy="4877382"/>
            <a:chOff x="755577" y="1488809"/>
            <a:chExt cx="7632848" cy="4877382"/>
          </a:xfrm>
        </p:grpSpPr>
        <p:pic>
          <p:nvPicPr>
            <p:cNvPr id="2051" name="Picture 3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755577" y="1488809"/>
              <a:ext cx="7632848" cy="487738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4" name="文字方塊 3"/>
            <p:cNvSpPr txBox="1"/>
            <p:nvPr/>
          </p:nvSpPr>
          <p:spPr>
            <a:xfrm>
              <a:off x="6372200" y="5949280"/>
              <a:ext cx="201622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 smtClean="0">
                  <a:latin typeface="+mj-lt"/>
                </a:rPr>
                <a:t>HDFS Architecture</a:t>
              </a:r>
              <a:endParaRPr lang="zh-TW" altLang="en-US" dirty="0">
                <a:latin typeface="+mj-lt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 smtClean="0"/>
              <a:t>Namenode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>
                <a:latin typeface="+mj-lt"/>
              </a:rPr>
              <a:t>Each HDFS cluster consists </a:t>
            </a:r>
            <a:r>
              <a:rPr lang="en-US" altLang="zh-TW" b="1" dirty="0" smtClean="0">
                <a:latin typeface="+mj-lt"/>
              </a:rPr>
              <a:t>one</a:t>
            </a:r>
          </a:p>
          <a:p>
            <a:r>
              <a:rPr lang="en-US" altLang="zh-TW" dirty="0" smtClean="0">
                <a:latin typeface="+mj-lt"/>
              </a:rPr>
              <a:t>Manages the </a:t>
            </a:r>
            <a:r>
              <a:rPr lang="en-US" altLang="zh-TW" b="1" dirty="0" smtClean="0">
                <a:latin typeface="+mj-lt"/>
              </a:rPr>
              <a:t>file system namespace</a:t>
            </a:r>
          </a:p>
          <a:p>
            <a:r>
              <a:rPr lang="en-US" altLang="zh-TW" dirty="0" smtClean="0">
                <a:latin typeface="+mj-lt"/>
              </a:rPr>
              <a:t>Regulates</a:t>
            </a:r>
            <a:r>
              <a:rPr lang="en-US" altLang="zh-TW" b="1" dirty="0" smtClean="0">
                <a:latin typeface="+mj-lt"/>
              </a:rPr>
              <a:t> access </a:t>
            </a:r>
            <a:r>
              <a:rPr lang="en-US" altLang="zh-TW" dirty="0" smtClean="0">
                <a:latin typeface="+mj-lt"/>
              </a:rPr>
              <a:t>to files by clients</a:t>
            </a:r>
          </a:p>
          <a:p>
            <a:r>
              <a:rPr lang="en-US" altLang="zh-TW" dirty="0" smtClean="0">
                <a:latin typeface="+mj-lt"/>
              </a:rPr>
              <a:t>Executes file system </a:t>
            </a:r>
            <a:r>
              <a:rPr lang="en-US" altLang="zh-TW" b="1" dirty="0" smtClean="0">
                <a:latin typeface="+mj-lt"/>
              </a:rPr>
              <a:t>namespace operations</a:t>
            </a:r>
          </a:p>
          <a:p>
            <a:r>
              <a:rPr lang="en-US" altLang="zh-TW" dirty="0" smtClean="0">
                <a:latin typeface="+mj-lt"/>
              </a:rPr>
              <a:t>Determines the </a:t>
            </a:r>
            <a:r>
              <a:rPr lang="en-US" altLang="zh-TW" b="1" dirty="0" smtClean="0">
                <a:latin typeface="+mj-lt"/>
              </a:rPr>
              <a:t>rack id </a:t>
            </a:r>
            <a:r>
              <a:rPr lang="en-US" altLang="zh-TW" dirty="0" smtClean="0">
                <a:latin typeface="+mj-lt"/>
              </a:rPr>
              <a:t>each </a:t>
            </a:r>
            <a:r>
              <a:rPr lang="en-US" altLang="zh-TW" dirty="0" err="1" smtClean="0">
                <a:latin typeface="+mj-lt"/>
              </a:rPr>
              <a:t>DataNode</a:t>
            </a:r>
            <a:r>
              <a:rPr lang="en-US" altLang="zh-TW" dirty="0" smtClean="0">
                <a:latin typeface="+mj-lt"/>
              </a:rPr>
              <a:t> belongs to</a:t>
            </a:r>
            <a:endParaRPr lang="zh-TW" altLang="en-US" dirty="0">
              <a:latin typeface="+mj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 smtClean="0"/>
              <a:t>Datanode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b="1" dirty="0" smtClean="0">
                <a:latin typeface="+mj-lt"/>
              </a:rPr>
              <a:t>One per node </a:t>
            </a:r>
            <a:r>
              <a:rPr lang="en-US" altLang="zh-TW" dirty="0" smtClean="0">
                <a:latin typeface="+mj-lt"/>
              </a:rPr>
              <a:t>in the cluster</a:t>
            </a:r>
          </a:p>
          <a:p>
            <a:r>
              <a:rPr lang="en-US" altLang="zh-TW" b="1" dirty="0" smtClean="0">
                <a:latin typeface="+mj-lt"/>
              </a:rPr>
              <a:t>Manage storage </a:t>
            </a:r>
            <a:r>
              <a:rPr lang="en-US" altLang="zh-TW" dirty="0" smtClean="0">
                <a:latin typeface="+mj-lt"/>
              </a:rPr>
              <a:t>attached to the nodes that they run on</a:t>
            </a:r>
          </a:p>
          <a:p>
            <a:r>
              <a:rPr lang="en-US" altLang="zh-TW" dirty="0" smtClean="0">
                <a:latin typeface="+mj-lt"/>
              </a:rPr>
              <a:t>Serving </a:t>
            </a:r>
            <a:r>
              <a:rPr lang="en-US" altLang="zh-TW" b="1" dirty="0" smtClean="0">
                <a:latin typeface="+mj-lt"/>
              </a:rPr>
              <a:t>read and write </a:t>
            </a:r>
            <a:r>
              <a:rPr lang="en-US" altLang="zh-TW" dirty="0" smtClean="0">
                <a:latin typeface="+mj-lt"/>
              </a:rPr>
              <a:t>requests from the file system’s clients</a:t>
            </a:r>
          </a:p>
          <a:p>
            <a:r>
              <a:rPr lang="en-US" altLang="zh-TW" dirty="0" smtClean="0">
                <a:latin typeface="+mj-lt"/>
              </a:rPr>
              <a:t>Perform </a:t>
            </a:r>
            <a:r>
              <a:rPr lang="en-US" altLang="zh-TW" b="1" dirty="0" smtClean="0">
                <a:latin typeface="+mj-lt"/>
              </a:rPr>
              <a:t>block creation</a:t>
            </a:r>
            <a:r>
              <a:rPr lang="en-US" altLang="zh-TW" dirty="0" smtClean="0">
                <a:latin typeface="+mj-lt"/>
              </a:rPr>
              <a:t>, </a:t>
            </a:r>
            <a:r>
              <a:rPr lang="en-US" altLang="zh-TW" b="1" dirty="0" smtClean="0">
                <a:latin typeface="+mj-lt"/>
              </a:rPr>
              <a:t>deletion</a:t>
            </a:r>
            <a:r>
              <a:rPr lang="en-US" altLang="zh-TW" dirty="0" smtClean="0">
                <a:latin typeface="+mj-lt"/>
              </a:rPr>
              <a:t>, and </a:t>
            </a:r>
            <a:r>
              <a:rPr lang="en-US" altLang="zh-TW" b="1" dirty="0" smtClean="0">
                <a:latin typeface="+mj-lt"/>
              </a:rPr>
              <a:t>replication</a:t>
            </a:r>
            <a:endParaRPr lang="zh-TW" altLang="en-US" b="1" dirty="0">
              <a:latin typeface="+mj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/>
              <a:t>File System Namespace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>
                <a:latin typeface="+mj-lt"/>
              </a:rPr>
              <a:t>Traditional </a:t>
            </a:r>
            <a:r>
              <a:rPr lang="en-US" altLang="zh-TW" b="1" dirty="0" smtClean="0">
                <a:latin typeface="+mj-lt"/>
              </a:rPr>
              <a:t>hierarchical</a:t>
            </a:r>
            <a:r>
              <a:rPr lang="en-US" altLang="zh-TW" dirty="0" smtClean="0">
                <a:latin typeface="+mj-lt"/>
              </a:rPr>
              <a:t> file organization</a:t>
            </a:r>
          </a:p>
          <a:p>
            <a:r>
              <a:rPr lang="en-US" altLang="zh-TW" dirty="0" smtClean="0">
                <a:latin typeface="+mj-lt"/>
              </a:rPr>
              <a:t>Does not support hard links or soft links</a:t>
            </a:r>
          </a:p>
          <a:p>
            <a:r>
              <a:rPr lang="en-US" altLang="zh-TW" dirty="0" smtClean="0">
                <a:latin typeface="+mj-lt"/>
              </a:rPr>
              <a:t>Change to the file system namespace or its properties is </a:t>
            </a:r>
            <a:r>
              <a:rPr lang="en-US" altLang="zh-TW" b="1" dirty="0" smtClean="0">
                <a:latin typeface="+mj-lt"/>
              </a:rPr>
              <a:t>recorded by the </a:t>
            </a:r>
            <a:r>
              <a:rPr lang="en-US" altLang="zh-TW" b="1" dirty="0" err="1" smtClean="0">
                <a:latin typeface="+mj-lt"/>
              </a:rPr>
              <a:t>Namenode</a:t>
            </a:r>
            <a:endParaRPr lang="zh-TW" altLang="en-US" b="1" dirty="0">
              <a:latin typeface="+mj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HDFS</a:t>
            </a:r>
            <a:endParaRPr lang="zh-TW" altLang="en-US" dirty="0"/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Clr>
                <a:schemeClr val="bg1">
                  <a:lumMod val="50000"/>
                </a:schemeClr>
              </a:buClr>
            </a:pPr>
            <a:r>
              <a:rPr lang="en-US" altLang="zh-TW" dirty="0" smtClean="0">
                <a:solidFill>
                  <a:schemeClr val="bg1">
                    <a:lumMod val="50000"/>
                  </a:schemeClr>
                </a:solidFill>
              </a:rPr>
              <a:t>Overview </a:t>
            </a:r>
          </a:p>
          <a:p>
            <a:pPr>
              <a:buClr>
                <a:schemeClr val="bg1">
                  <a:lumMod val="50000"/>
                </a:schemeClr>
              </a:buClr>
            </a:pPr>
            <a:r>
              <a:rPr lang="en-US" altLang="zh-TW" dirty="0" smtClean="0">
                <a:solidFill>
                  <a:schemeClr val="bg1">
                    <a:lumMod val="50000"/>
                  </a:schemeClr>
                </a:solidFill>
              </a:rPr>
              <a:t>Architecture</a:t>
            </a:r>
          </a:p>
          <a:p>
            <a:r>
              <a:rPr lang="en-US" altLang="zh-TW" dirty="0" smtClean="0"/>
              <a:t>Implementation</a:t>
            </a:r>
          </a:p>
          <a:p>
            <a:pPr>
              <a:buClr>
                <a:schemeClr val="bg1">
                  <a:lumMod val="50000"/>
                </a:schemeClr>
              </a:buClr>
            </a:pPr>
            <a:r>
              <a:rPr lang="en-US" altLang="zh-TW" dirty="0" smtClean="0">
                <a:solidFill>
                  <a:schemeClr val="bg1">
                    <a:lumMod val="50000"/>
                  </a:schemeClr>
                </a:solidFill>
              </a:rPr>
              <a:t>Other Issue </a:t>
            </a:r>
            <a:endParaRPr lang="zh-TW" altLang="en-US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/>
              <a:t>Data Replication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>
                <a:latin typeface="+mj-lt"/>
              </a:rPr>
              <a:t>Blocks of a file are replicated </a:t>
            </a:r>
            <a:r>
              <a:rPr lang="en-US" altLang="zh-TW" b="1" dirty="0" smtClean="0">
                <a:latin typeface="+mj-lt"/>
              </a:rPr>
              <a:t>for fault tolerance</a:t>
            </a:r>
          </a:p>
          <a:p>
            <a:r>
              <a:rPr lang="en-US" altLang="zh-TW" dirty="0" smtClean="0">
                <a:latin typeface="+mj-lt"/>
              </a:rPr>
              <a:t>The block size and replication factor are </a:t>
            </a:r>
            <a:r>
              <a:rPr lang="en-US" altLang="zh-TW" b="1" dirty="0" smtClean="0">
                <a:latin typeface="+mj-lt"/>
              </a:rPr>
              <a:t>configurable per file</a:t>
            </a:r>
          </a:p>
          <a:p>
            <a:r>
              <a:rPr lang="en-US" altLang="zh-TW" dirty="0" err="1" smtClean="0">
                <a:latin typeface="+mj-lt"/>
              </a:rPr>
              <a:t>NameNode</a:t>
            </a:r>
            <a:r>
              <a:rPr lang="en-US" altLang="zh-TW" dirty="0" smtClean="0">
                <a:latin typeface="+mj-lt"/>
              </a:rPr>
              <a:t> makes all decisions regarding replication of blocks</a:t>
            </a:r>
          </a:p>
          <a:p>
            <a:pPr lvl="1"/>
            <a:r>
              <a:rPr lang="en-US" altLang="zh-TW" b="1" dirty="0" smtClean="0">
                <a:latin typeface="+mj-lt"/>
              </a:rPr>
              <a:t>Heartbeat</a:t>
            </a:r>
            <a:r>
              <a:rPr lang="en-US" altLang="zh-TW" dirty="0" smtClean="0">
                <a:latin typeface="+mj-lt"/>
              </a:rPr>
              <a:t>: </a:t>
            </a:r>
            <a:r>
              <a:rPr lang="en-US" altLang="zh-TW" dirty="0" err="1" smtClean="0">
                <a:latin typeface="+mj-lt"/>
              </a:rPr>
              <a:t>Datanode</a:t>
            </a:r>
            <a:r>
              <a:rPr lang="en-US" altLang="zh-TW" dirty="0" smtClean="0">
                <a:latin typeface="+mj-lt"/>
              </a:rPr>
              <a:t> is functioning properly</a:t>
            </a:r>
          </a:p>
          <a:p>
            <a:pPr lvl="1"/>
            <a:r>
              <a:rPr lang="en-US" altLang="zh-TW" b="1" dirty="0" err="1" smtClean="0">
                <a:latin typeface="+mj-lt"/>
              </a:rPr>
              <a:t>Blockreport</a:t>
            </a:r>
            <a:r>
              <a:rPr lang="en-US" altLang="zh-TW" dirty="0" smtClean="0">
                <a:latin typeface="+mj-lt"/>
              </a:rPr>
              <a:t>: a list of all blocks on a </a:t>
            </a:r>
            <a:r>
              <a:rPr lang="en-US" altLang="zh-TW" dirty="0" err="1" smtClean="0">
                <a:latin typeface="+mj-lt"/>
              </a:rPr>
              <a:t>Datanode</a:t>
            </a:r>
            <a:endParaRPr lang="zh-TW" altLang="en-US" dirty="0" smtClean="0">
              <a:latin typeface="+mj-lt"/>
            </a:endParaRPr>
          </a:p>
          <a:p>
            <a:endParaRPr lang="zh-TW" altLang="en-US" b="1" dirty="0">
              <a:latin typeface="+mj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Block Replication</a:t>
            </a:r>
            <a:endParaRPr lang="zh-TW" alt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67544" y="1412776"/>
            <a:ext cx="8324850" cy="4772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橢圓 4"/>
          <p:cNvSpPr/>
          <p:nvPr/>
        </p:nvSpPr>
        <p:spPr>
          <a:xfrm>
            <a:off x="4860032" y="2060848"/>
            <a:ext cx="1152128" cy="360040"/>
          </a:xfrm>
          <a:prstGeom prst="ellipse">
            <a:avLst/>
          </a:prstGeom>
          <a:solidFill>
            <a:schemeClr val="accent1">
              <a:alpha val="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橢圓 6"/>
          <p:cNvSpPr/>
          <p:nvPr/>
        </p:nvSpPr>
        <p:spPr>
          <a:xfrm>
            <a:off x="683568" y="3933056"/>
            <a:ext cx="576064" cy="576064"/>
          </a:xfrm>
          <a:prstGeom prst="ellipse">
            <a:avLst/>
          </a:prstGeom>
          <a:solidFill>
            <a:schemeClr val="accent1">
              <a:alpha val="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橢圓 7"/>
          <p:cNvSpPr/>
          <p:nvPr/>
        </p:nvSpPr>
        <p:spPr>
          <a:xfrm>
            <a:off x="4860032" y="4005064"/>
            <a:ext cx="576064" cy="576064"/>
          </a:xfrm>
          <a:prstGeom prst="ellipse">
            <a:avLst/>
          </a:prstGeom>
          <a:solidFill>
            <a:schemeClr val="accent1">
              <a:alpha val="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橢圓 8"/>
          <p:cNvSpPr/>
          <p:nvPr/>
        </p:nvSpPr>
        <p:spPr>
          <a:xfrm>
            <a:off x="1763688" y="5229200"/>
            <a:ext cx="576064" cy="576064"/>
          </a:xfrm>
          <a:prstGeom prst="ellipse">
            <a:avLst/>
          </a:prstGeom>
          <a:solidFill>
            <a:schemeClr val="accent1">
              <a:alpha val="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橢圓 9"/>
          <p:cNvSpPr/>
          <p:nvPr/>
        </p:nvSpPr>
        <p:spPr>
          <a:xfrm>
            <a:off x="4932040" y="5085184"/>
            <a:ext cx="576064" cy="576064"/>
          </a:xfrm>
          <a:prstGeom prst="ellipse">
            <a:avLst/>
          </a:prstGeom>
          <a:solidFill>
            <a:schemeClr val="accent1">
              <a:alpha val="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8" grpId="0" animBg="1"/>
      <p:bldP spid="9" grpId="0" animBg="1"/>
      <p:bldP spid="10" grpId="0" animBg="1"/>
    </p:bld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/>
              <a:t>Replica Placement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>
                <a:latin typeface="+mj-lt"/>
              </a:rPr>
              <a:t>Rack-aware replica placement policy</a:t>
            </a:r>
          </a:p>
          <a:p>
            <a:pPr lvl="1"/>
            <a:r>
              <a:rPr lang="en-US" altLang="zh-TW" dirty="0" smtClean="0">
                <a:latin typeface="+mj-lt"/>
              </a:rPr>
              <a:t>data reliability</a:t>
            </a:r>
          </a:p>
          <a:p>
            <a:pPr lvl="1"/>
            <a:r>
              <a:rPr lang="en-US" altLang="zh-TW" dirty="0" smtClean="0">
                <a:latin typeface="+mj-lt"/>
              </a:rPr>
              <a:t>availability</a:t>
            </a:r>
          </a:p>
          <a:p>
            <a:pPr lvl="1"/>
            <a:r>
              <a:rPr lang="en-US" altLang="zh-TW" dirty="0" smtClean="0">
                <a:latin typeface="+mj-lt"/>
              </a:rPr>
              <a:t>network bandwidth utilization</a:t>
            </a:r>
          </a:p>
          <a:p>
            <a:r>
              <a:rPr lang="en-US" altLang="zh-TW" dirty="0" smtClean="0">
                <a:latin typeface="+mj-lt"/>
              </a:rPr>
              <a:t>To validate it on production systems</a:t>
            </a:r>
          </a:p>
          <a:p>
            <a:pPr lvl="1"/>
            <a:r>
              <a:rPr lang="en-US" altLang="zh-TW" dirty="0" smtClean="0">
                <a:latin typeface="+mj-lt"/>
              </a:rPr>
              <a:t>learn more about its </a:t>
            </a:r>
            <a:r>
              <a:rPr lang="en-US" altLang="zh-TW" b="1" dirty="0" smtClean="0">
                <a:latin typeface="+mj-lt"/>
              </a:rPr>
              <a:t>behavior</a:t>
            </a:r>
            <a:r>
              <a:rPr lang="en-US" altLang="zh-TW" dirty="0" smtClean="0">
                <a:latin typeface="+mj-lt"/>
              </a:rPr>
              <a:t> </a:t>
            </a:r>
          </a:p>
          <a:p>
            <a:pPr lvl="1"/>
            <a:r>
              <a:rPr lang="en-US" altLang="zh-TW" dirty="0" smtClean="0">
                <a:latin typeface="+mj-lt"/>
              </a:rPr>
              <a:t>build a foundation to test </a:t>
            </a:r>
          </a:p>
          <a:p>
            <a:pPr lvl="1"/>
            <a:r>
              <a:rPr lang="en-US" altLang="zh-TW" dirty="0" smtClean="0">
                <a:latin typeface="+mj-lt"/>
              </a:rPr>
              <a:t>research more </a:t>
            </a:r>
            <a:r>
              <a:rPr lang="en-US" altLang="zh-TW" b="1" dirty="0" smtClean="0">
                <a:latin typeface="+mj-lt"/>
              </a:rPr>
              <a:t>sophisticated policies</a:t>
            </a:r>
            <a:endParaRPr lang="zh-TW" altLang="en-US" b="1" dirty="0">
              <a:latin typeface="+mj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Screenshot</a:t>
            </a:r>
            <a:endParaRPr lang="zh-TW" alt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860032" y="2348880"/>
            <a:ext cx="4091832" cy="41044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51520" y="2348880"/>
            <a:ext cx="4307934" cy="41044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矩形 5"/>
          <p:cNvSpPr/>
          <p:nvPr/>
        </p:nvSpPr>
        <p:spPr>
          <a:xfrm>
            <a:off x="251520" y="3356992"/>
            <a:ext cx="3672408" cy="216024"/>
          </a:xfrm>
          <a:prstGeom prst="rect">
            <a:avLst/>
          </a:prstGeom>
          <a:solidFill>
            <a:schemeClr val="accent1">
              <a:tint val="100000"/>
              <a:shade val="100000"/>
              <a:hueMod val="100000"/>
              <a:satMod val="100000"/>
              <a:alpha val="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矩形 10"/>
          <p:cNvSpPr/>
          <p:nvPr/>
        </p:nvSpPr>
        <p:spPr>
          <a:xfrm>
            <a:off x="4860032" y="2564904"/>
            <a:ext cx="3528392" cy="216024"/>
          </a:xfrm>
          <a:prstGeom prst="rect">
            <a:avLst/>
          </a:prstGeom>
          <a:solidFill>
            <a:schemeClr val="accent1">
              <a:tint val="100000"/>
              <a:shade val="100000"/>
              <a:hueMod val="100000"/>
              <a:satMod val="100000"/>
              <a:alpha val="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文字方塊 12"/>
          <p:cNvSpPr txBox="1"/>
          <p:nvPr/>
        </p:nvSpPr>
        <p:spPr>
          <a:xfrm>
            <a:off x="3347864" y="1700808"/>
            <a:ext cx="29523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 smtClean="0">
                <a:latin typeface="+mj-lt"/>
              </a:rPr>
              <a:t>Number of Replicas:2</a:t>
            </a:r>
            <a:endParaRPr lang="zh-TW" altLang="en-US" sz="2400" dirty="0">
              <a:latin typeface="+mj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Why it Fault-Tolerance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TW" dirty="0" smtClean="0">
                <a:latin typeface="+mj-lt"/>
              </a:rPr>
              <a:t>Data Corrupt</a:t>
            </a:r>
          </a:p>
          <a:p>
            <a:pPr lvl="1"/>
            <a:r>
              <a:rPr lang="en-US" altLang="zh-TW" dirty="0" smtClean="0">
                <a:latin typeface="+mj-lt"/>
              </a:rPr>
              <a:t>Checked with </a:t>
            </a:r>
            <a:r>
              <a:rPr lang="en-US" altLang="zh-TW" b="1" dirty="0" smtClean="0">
                <a:latin typeface="+mj-lt"/>
              </a:rPr>
              <a:t>CRC32</a:t>
            </a:r>
          </a:p>
          <a:p>
            <a:pPr lvl="1"/>
            <a:r>
              <a:rPr lang="en-US" altLang="zh-TW" dirty="0" smtClean="0">
                <a:latin typeface="+mj-lt"/>
              </a:rPr>
              <a:t>Replace corrupt block with replication one</a:t>
            </a:r>
          </a:p>
          <a:p>
            <a:r>
              <a:rPr lang="en-US" altLang="zh-TW" dirty="0" smtClean="0">
                <a:latin typeface="+mj-lt"/>
              </a:rPr>
              <a:t>Network Fault &amp; </a:t>
            </a:r>
            <a:r>
              <a:rPr lang="en-US" altLang="zh-TW" dirty="0" err="1" smtClean="0">
                <a:latin typeface="+mj-lt"/>
              </a:rPr>
              <a:t>DataNode</a:t>
            </a:r>
            <a:r>
              <a:rPr lang="en-US" altLang="zh-TW" dirty="0" smtClean="0">
                <a:latin typeface="+mj-lt"/>
              </a:rPr>
              <a:t> Fault</a:t>
            </a:r>
          </a:p>
          <a:p>
            <a:pPr lvl="1"/>
            <a:r>
              <a:rPr lang="en-US" altLang="zh-TW" dirty="0" err="1" smtClean="0">
                <a:latin typeface="+mj-lt"/>
              </a:rPr>
              <a:t>Datanode</a:t>
            </a:r>
            <a:r>
              <a:rPr lang="en-US" altLang="zh-TW" dirty="0" smtClean="0">
                <a:latin typeface="+mj-lt"/>
              </a:rPr>
              <a:t> sends </a:t>
            </a:r>
            <a:r>
              <a:rPr lang="en-US" altLang="zh-TW" b="1" dirty="0" smtClean="0">
                <a:latin typeface="+mj-lt"/>
              </a:rPr>
              <a:t>heartbeat</a:t>
            </a:r>
            <a:r>
              <a:rPr lang="en-US" altLang="zh-TW" dirty="0" smtClean="0">
                <a:latin typeface="+mj-lt"/>
              </a:rPr>
              <a:t> to </a:t>
            </a:r>
            <a:r>
              <a:rPr lang="en-US" altLang="zh-TW" dirty="0" err="1" smtClean="0">
                <a:latin typeface="+mj-lt"/>
              </a:rPr>
              <a:t>Namenode</a:t>
            </a:r>
            <a:endParaRPr lang="en-US" altLang="zh-TW" dirty="0" smtClean="0">
              <a:latin typeface="+mj-lt"/>
            </a:endParaRPr>
          </a:p>
          <a:p>
            <a:r>
              <a:rPr lang="en-US" altLang="zh-TW" dirty="0" err="1" smtClean="0">
                <a:latin typeface="+mj-lt"/>
              </a:rPr>
              <a:t>NameNode</a:t>
            </a:r>
            <a:r>
              <a:rPr lang="en-US" altLang="zh-TW" dirty="0" smtClean="0">
                <a:latin typeface="+mj-lt"/>
              </a:rPr>
              <a:t> Fault</a:t>
            </a:r>
          </a:p>
          <a:p>
            <a:pPr lvl="1"/>
            <a:r>
              <a:rPr lang="en-US" altLang="zh-TW" b="1" dirty="0" err="1" smtClean="0">
                <a:latin typeface="+mj-lt"/>
              </a:rPr>
              <a:t>FSImage</a:t>
            </a:r>
            <a:r>
              <a:rPr lang="en-US" altLang="zh-TW" dirty="0" smtClean="0">
                <a:latin typeface="+mj-lt"/>
              </a:rPr>
              <a:t> – </a:t>
            </a:r>
            <a:r>
              <a:rPr lang="en-US" altLang="zh-TW" b="1" dirty="0" smtClean="0">
                <a:latin typeface="+mj-lt"/>
              </a:rPr>
              <a:t>core file system </a:t>
            </a:r>
            <a:r>
              <a:rPr lang="en-US" altLang="zh-TW" dirty="0" smtClean="0">
                <a:latin typeface="+mj-lt"/>
              </a:rPr>
              <a:t>mapping image</a:t>
            </a:r>
          </a:p>
          <a:p>
            <a:pPr lvl="1"/>
            <a:r>
              <a:rPr lang="en-US" altLang="zh-TW" b="1" dirty="0" err="1" smtClean="0">
                <a:latin typeface="+mj-lt"/>
              </a:rPr>
              <a:t>Editlog</a:t>
            </a:r>
            <a:r>
              <a:rPr lang="en-US" altLang="zh-TW" dirty="0" smtClean="0">
                <a:latin typeface="+mj-lt"/>
              </a:rPr>
              <a:t> – like SQL </a:t>
            </a:r>
            <a:r>
              <a:rPr lang="en-US" altLang="zh-TW" b="1" dirty="0" smtClean="0">
                <a:latin typeface="+mj-lt"/>
              </a:rPr>
              <a:t>transaction</a:t>
            </a:r>
            <a:r>
              <a:rPr lang="en-US" altLang="zh-TW" dirty="0" smtClean="0">
                <a:latin typeface="+mj-lt"/>
              </a:rPr>
              <a:t> log</a:t>
            </a:r>
          </a:p>
          <a:p>
            <a:pPr lvl="1"/>
            <a:r>
              <a:rPr lang="en-US" altLang="zh-TW" b="1" dirty="0" smtClean="0">
                <a:latin typeface="+mj-lt"/>
              </a:rPr>
              <a:t>Multiple backups </a:t>
            </a:r>
            <a:r>
              <a:rPr lang="en-US" altLang="zh-TW" dirty="0" smtClean="0">
                <a:latin typeface="+mj-lt"/>
              </a:rPr>
              <a:t>of </a:t>
            </a:r>
            <a:r>
              <a:rPr lang="en-US" altLang="zh-TW" dirty="0" err="1" smtClean="0">
                <a:latin typeface="+mj-lt"/>
              </a:rPr>
              <a:t>FSImage</a:t>
            </a:r>
            <a:r>
              <a:rPr lang="en-US" altLang="zh-TW" dirty="0" smtClean="0">
                <a:latin typeface="+mj-lt"/>
              </a:rPr>
              <a:t> and </a:t>
            </a:r>
            <a:r>
              <a:rPr lang="en-US" altLang="zh-TW" dirty="0" err="1" smtClean="0">
                <a:latin typeface="+mj-lt"/>
              </a:rPr>
              <a:t>Editlog</a:t>
            </a:r>
            <a:endParaRPr lang="en-US" altLang="zh-TW" dirty="0" smtClean="0">
              <a:latin typeface="+mj-lt"/>
            </a:endParaRPr>
          </a:p>
          <a:p>
            <a:pPr lvl="1"/>
            <a:r>
              <a:rPr lang="en-US" altLang="zh-TW" b="1" dirty="0" smtClean="0">
                <a:latin typeface="+mj-lt"/>
              </a:rPr>
              <a:t>Manually recovery </a:t>
            </a:r>
            <a:r>
              <a:rPr lang="en-US" altLang="zh-TW" dirty="0" smtClean="0">
                <a:latin typeface="+mj-lt"/>
              </a:rPr>
              <a:t>while </a:t>
            </a:r>
            <a:r>
              <a:rPr lang="en-US" altLang="zh-TW" dirty="0" err="1" smtClean="0">
                <a:latin typeface="+mj-lt"/>
              </a:rPr>
              <a:t>NameNode</a:t>
            </a:r>
            <a:r>
              <a:rPr lang="en-US" altLang="zh-TW" dirty="0" smtClean="0">
                <a:latin typeface="+mj-lt"/>
              </a:rPr>
              <a:t> Fault</a:t>
            </a:r>
            <a:endParaRPr lang="zh-TW" altLang="en-US" dirty="0">
              <a:latin typeface="+mj-lt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4788024" y="6165304"/>
            <a:ext cx="38884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dirty="0" smtClean="0">
                <a:latin typeface="+mj-lt"/>
              </a:rPr>
              <a:t>CRC: Cyclical Redundancy Check</a:t>
            </a:r>
            <a:endParaRPr lang="zh-TW" altLang="en-US" sz="2000" dirty="0">
              <a:latin typeface="+mj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/>
              <a:t>Coherency Model &amp;</a:t>
            </a:r>
            <a:r>
              <a:rPr lang="zh-TW" altLang="en-US" dirty="0" smtClean="0"/>
              <a:t> </a:t>
            </a:r>
            <a:r>
              <a:rPr lang="en-US" altLang="zh-TW" dirty="0" smtClean="0"/>
              <a:t>Performance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>
                <a:latin typeface="+mj-lt"/>
              </a:rPr>
              <a:t>Coherency model of files</a:t>
            </a:r>
          </a:p>
          <a:p>
            <a:pPr lvl="1"/>
            <a:r>
              <a:rPr lang="en-US" altLang="zh-TW" b="1" dirty="0" err="1" smtClean="0">
                <a:latin typeface="+mj-lt"/>
              </a:rPr>
              <a:t>Namenode</a:t>
            </a:r>
            <a:r>
              <a:rPr lang="en-US" altLang="zh-TW" dirty="0" smtClean="0">
                <a:latin typeface="+mj-lt"/>
              </a:rPr>
              <a:t> handle the operation of write, read and delete.</a:t>
            </a:r>
          </a:p>
          <a:p>
            <a:r>
              <a:rPr lang="en-US" altLang="zh-TW" dirty="0" smtClean="0">
                <a:latin typeface="+mj-lt"/>
              </a:rPr>
              <a:t>Large Data Set and Performance</a:t>
            </a:r>
          </a:p>
          <a:p>
            <a:pPr lvl="1"/>
            <a:r>
              <a:rPr lang="en-US" altLang="zh-TW" dirty="0" smtClean="0">
                <a:latin typeface="+mj-lt"/>
              </a:rPr>
              <a:t>The default block size is </a:t>
            </a:r>
            <a:r>
              <a:rPr lang="en-US" altLang="zh-TW" b="1" dirty="0" smtClean="0">
                <a:latin typeface="+mj-lt"/>
              </a:rPr>
              <a:t>64MB</a:t>
            </a:r>
          </a:p>
          <a:p>
            <a:pPr lvl="1"/>
            <a:r>
              <a:rPr lang="en-US" altLang="zh-TW" dirty="0" smtClean="0">
                <a:latin typeface="+mj-lt"/>
              </a:rPr>
              <a:t>Bigger block size will enhance </a:t>
            </a:r>
            <a:r>
              <a:rPr lang="en-US" altLang="zh-TW" b="1" dirty="0" smtClean="0">
                <a:latin typeface="+mj-lt"/>
              </a:rPr>
              <a:t>read performance</a:t>
            </a:r>
          </a:p>
          <a:p>
            <a:pPr lvl="1"/>
            <a:r>
              <a:rPr lang="en-US" altLang="zh-TW" dirty="0" smtClean="0">
                <a:latin typeface="+mj-lt"/>
              </a:rPr>
              <a:t>Single file stored on HDFS might be larger than single physical disk of </a:t>
            </a:r>
            <a:r>
              <a:rPr lang="en-US" altLang="zh-TW" dirty="0" err="1" smtClean="0">
                <a:latin typeface="+mj-lt"/>
              </a:rPr>
              <a:t>DataNode</a:t>
            </a:r>
            <a:endParaRPr lang="en-US" altLang="zh-TW" dirty="0" smtClean="0">
              <a:latin typeface="+mj-lt"/>
            </a:endParaRPr>
          </a:p>
          <a:p>
            <a:pPr lvl="1"/>
            <a:r>
              <a:rPr lang="en-US" altLang="zh-TW" b="1" dirty="0" smtClean="0">
                <a:latin typeface="+mj-lt"/>
              </a:rPr>
              <a:t>Fully distributed </a:t>
            </a:r>
            <a:r>
              <a:rPr lang="en-US" altLang="zh-TW" dirty="0" smtClean="0">
                <a:latin typeface="+mj-lt"/>
              </a:rPr>
              <a:t>blocks increase throughput of reading</a:t>
            </a:r>
            <a:endParaRPr lang="zh-TW" altLang="en-US" dirty="0">
              <a:latin typeface="+mj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About Data locality</a:t>
            </a:r>
            <a:endParaRPr lang="zh-TW" alt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55576" y="1988840"/>
            <a:ext cx="7673234" cy="40590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橢圓 4"/>
          <p:cNvSpPr/>
          <p:nvPr/>
        </p:nvSpPr>
        <p:spPr>
          <a:xfrm>
            <a:off x="899592" y="3861048"/>
            <a:ext cx="2016224" cy="720080"/>
          </a:xfrm>
          <a:prstGeom prst="ellipse">
            <a:avLst/>
          </a:prstGeom>
          <a:solidFill>
            <a:srgbClr val="FF0000">
              <a:alpha val="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橢圓 5"/>
          <p:cNvSpPr/>
          <p:nvPr/>
        </p:nvSpPr>
        <p:spPr>
          <a:xfrm rot="2987466">
            <a:off x="3676002" y="4290906"/>
            <a:ext cx="2090357" cy="859516"/>
          </a:xfrm>
          <a:prstGeom prst="ellipse">
            <a:avLst/>
          </a:prstGeom>
          <a:solidFill>
            <a:srgbClr val="FF0000">
              <a:alpha val="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HDFS</a:t>
            </a:r>
            <a:endParaRPr lang="zh-TW" altLang="en-US" dirty="0"/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Clr>
                <a:schemeClr val="bg1">
                  <a:lumMod val="50000"/>
                </a:schemeClr>
              </a:buClr>
            </a:pPr>
            <a:r>
              <a:rPr lang="en-US" altLang="zh-TW" dirty="0" smtClean="0">
                <a:solidFill>
                  <a:schemeClr val="bg1">
                    <a:lumMod val="50000"/>
                  </a:schemeClr>
                </a:solidFill>
              </a:rPr>
              <a:t>Overview </a:t>
            </a:r>
          </a:p>
          <a:p>
            <a:pPr>
              <a:buClr>
                <a:schemeClr val="bg1">
                  <a:lumMod val="50000"/>
                </a:schemeClr>
              </a:buClr>
            </a:pPr>
            <a:r>
              <a:rPr lang="en-US" altLang="zh-TW" dirty="0" smtClean="0">
                <a:solidFill>
                  <a:schemeClr val="bg1">
                    <a:lumMod val="50000"/>
                  </a:schemeClr>
                </a:solidFill>
              </a:rPr>
              <a:t>Architecture</a:t>
            </a:r>
          </a:p>
          <a:p>
            <a:pPr>
              <a:buClr>
                <a:schemeClr val="bg1">
                  <a:lumMod val="50000"/>
                </a:schemeClr>
              </a:buClr>
            </a:pPr>
            <a:r>
              <a:rPr lang="en-US" altLang="zh-TW" dirty="0" smtClean="0">
                <a:solidFill>
                  <a:schemeClr val="bg1">
                    <a:lumMod val="50000"/>
                  </a:schemeClr>
                </a:solidFill>
              </a:rPr>
              <a:t>Implementation</a:t>
            </a:r>
          </a:p>
          <a:p>
            <a:r>
              <a:rPr lang="en-US" altLang="zh-TW" dirty="0" smtClean="0"/>
              <a:t>Other Issue </a:t>
            </a:r>
            <a:endParaRPr lang="zh-TW" altLang="en-US" dirty="0"/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Small file problem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>
                <a:latin typeface="+mj-lt"/>
              </a:rPr>
              <a:t>Inefficiency of resource utilization</a:t>
            </a:r>
          </a:p>
          <a:p>
            <a:pPr lvl="1"/>
            <a:r>
              <a:rPr lang="en-US" altLang="zh-TW" dirty="0" smtClean="0">
                <a:latin typeface="+mj-lt"/>
              </a:rPr>
              <a:t>Significantly smaller than the HDFS block size(64MB)</a:t>
            </a:r>
          </a:p>
          <a:p>
            <a:r>
              <a:rPr lang="en-US" altLang="zh-TW" dirty="0" smtClean="0">
                <a:latin typeface="+mj-lt"/>
              </a:rPr>
              <a:t>File, directory and block in HDFS is represented as </a:t>
            </a:r>
            <a:r>
              <a:rPr lang="en-US" altLang="zh-TW" b="1" dirty="0" smtClean="0">
                <a:latin typeface="+mj-lt"/>
              </a:rPr>
              <a:t>an object </a:t>
            </a:r>
            <a:r>
              <a:rPr lang="en-US" altLang="zh-TW" dirty="0" smtClean="0">
                <a:latin typeface="+mj-lt"/>
              </a:rPr>
              <a:t>in the </a:t>
            </a:r>
            <a:r>
              <a:rPr lang="en-US" altLang="zh-TW" dirty="0" err="1" smtClean="0">
                <a:latin typeface="+mj-lt"/>
              </a:rPr>
              <a:t>namenode’s</a:t>
            </a:r>
            <a:r>
              <a:rPr lang="en-US" altLang="zh-TW" dirty="0" smtClean="0">
                <a:latin typeface="+mj-lt"/>
              </a:rPr>
              <a:t> memory, each of which occupies </a:t>
            </a:r>
            <a:r>
              <a:rPr lang="en-US" altLang="zh-TW" b="1" dirty="0" smtClean="0">
                <a:latin typeface="+mj-lt"/>
              </a:rPr>
              <a:t>150 bytes</a:t>
            </a:r>
          </a:p>
          <a:p>
            <a:r>
              <a:rPr lang="en-US" altLang="zh-TW" dirty="0" smtClean="0">
                <a:latin typeface="+mj-lt"/>
              </a:rPr>
              <a:t>HDFS is not geared up to efficiently </a:t>
            </a:r>
            <a:r>
              <a:rPr lang="en-US" altLang="zh-TW" b="1" dirty="0" smtClean="0">
                <a:latin typeface="+mj-lt"/>
              </a:rPr>
              <a:t>accessing</a:t>
            </a:r>
            <a:r>
              <a:rPr lang="en-US" altLang="zh-TW" dirty="0" smtClean="0">
                <a:latin typeface="+mj-lt"/>
              </a:rPr>
              <a:t> small files</a:t>
            </a:r>
          </a:p>
          <a:p>
            <a:pPr lvl="1"/>
            <a:r>
              <a:rPr lang="en-US" altLang="zh-TW" dirty="0" smtClean="0">
                <a:latin typeface="+mj-lt"/>
              </a:rPr>
              <a:t>Designed for streaming access of large files</a:t>
            </a:r>
            <a:endParaRPr lang="zh-TW" altLang="en-US" b="1" dirty="0">
              <a:latin typeface="+mj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Small file solution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err="1" smtClean="0">
                <a:latin typeface="+mj-lt"/>
              </a:rPr>
              <a:t>Hadoop</a:t>
            </a:r>
            <a:r>
              <a:rPr lang="en-US" altLang="zh-TW" dirty="0" smtClean="0">
                <a:latin typeface="+mj-lt"/>
              </a:rPr>
              <a:t> Archives (HAR)</a:t>
            </a:r>
          </a:p>
          <a:p>
            <a:pPr lvl="1"/>
            <a:r>
              <a:rPr lang="en-US" altLang="zh-TW" dirty="0" smtClean="0">
                <a:latin typeface="+mj-lt"/>
              </a:rPr>
              <a:t>Introduced to alleviate the problem of lots of files putting pressure on the </a:t>
            </a:r>
            <a:r>
              <a:rPr lang="en-US" altLang="zh-TW" dirty="0" err="1" smtClean="0">
                <a:latin typeface="+mj-lt"/>
              </a:rPr>
              <a:t>namenode’s</a:t>
            </a:r>
            <a:r>
              <a:rPr lang="en-US" altLang="zh-TW" dirty="0" smtClean="0">
                <a:latin typeface="+mj-lt"/>
              </a:rPr>
              <a:t> memory</a:t>
            </a:r>
          </a:p>
          <a:p>
            <a:pPr lvl="1"/>
            <a:r>
              <a:rPr lang="en-US" altLang="zh-TW" dirty="0" smtClean="0">
                <a:latin typeface="+mj-lt"/>
              </a:rPr>
              <a:t>Building a </a:t>
            </a:r>
            <a:r>
              <a:rPr lang="en-US" altLang="zh-TW" b="1" dirty="0" smtClean="0">
                <a:latin typeface="+mj-lt"/>
              </a:rPr>
              <a:t>layered </a:t>
            </a:r>
            <a:r>
              <a:rPr lang="en-US" altLang="zh-TW" b="1" dirty="0" err="1" smtClean="0">
                <a:latin typeface="+mj-lt"/>
              </a:rPr>
              <a:t>filesystem</a:t>
            </a:r>
            <a:r>
              <a:rPr lang="en-US" altLang="zh-TW" b="1" dirty="0" smtClean="0">
                <a:latin typeface="+mj-lt"/>
              </a:rPr>
              <a:t> </a:t>
            </a:r>
            <a:r>
              <a:rPr lang="en-US" altLang="zh-TW" dirty="0" smtClean="0">
                <a:latin typeface="+mj-lt"/>
              </a:rPr>
              <a:t>on top of HDFS</a:t>
            </a:r>
          </a:p>
        </p:txBody>
      </p:sp>
      <p:pic>
        <p:nvPicPr>
          <p:cNvPr id="1026" name="Picture 2" descr="E:\SSlab\MS'0\Boss Lesson\Cloud computing\Hadoop\HAR FILE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483768" y="3645024"/>
            <a:ext cx="4278124" cy="2679304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Small file solution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>
                <a:latin typeface="+mj-lt"/>
              </a:rPr>
              <a:t>Sequence Files</a:t>
            </a:r>
          </a:p>
          <a:p>
            <a:pPr lvl="1"/>
            <a:r>
              <a:rPr lang="en-US" altLang="zh-TW" dirty="0" smtClean="0">
                <a:latin typeface="+mj-lt"/>
              </a:rPr>
              <a:t>Use the filename as the key and the file contents as the value</a:t>
            </a:r>
            <a:endParaRPr lang="zh-TW" altLang="en-US" dirty="0" smtClean="0">
              <a:latin typeface="+mj-lt"/>
            </a:endParaRPr>
          </a:p>
          <a:p>
            <a:endParaRPr lang="zh-TW" altLang="en-US" dirty="0">
              <a:latin typeface="+mj-lt"/>
            </a:endParaRPr>
          </a:p>
        </p:txBody>
      </p:sp>
      <p:pic>
        <p:nvPicPr>
          <p:cNvPr id="2050" name="Picture 2" descr="E:\SSlab\MS'0\Boss Lesson\Cloud computing\Hadoop\Seq FILE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195736" y="3356992"/>
            <a:ext cx="4865494" cy="2863154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/>
              <a:t>Summary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25144"/>
          </a:xfrm>
        </p:spPr>
        <p:txBody>
          <a:bodyPr>
            <a:normAutofit fontScale="92500"/>
          </a:bodyPr>
          <a:lstStyle/>
          <a:p>
            <a:r>
              <a:rPr lang="en-US" altLang="zh-TW" dirty="0" smtClean="0">
                <a:latin typeface="+mj-lt"/>
              </a:rPr>
              <a:t>Scalability</a:t>
            </a:r>
          </a:p>
          <a:p>
            <a:pPr lvl="1"/>
            <a:r>
              <a:rPr lang="en-US" altLang="zh-TW" dirty="0" smtClean="0">
                <a:latin typeface="+mj-lt"/>
              </a:rPr>
              <a:t>Provide scale-out storage capability of handling very large amounts of data</a:t>
            </a:r>
          </a:p>
          <a:p>
            <a:r>
              <a:rPr lang="en-US" altLang="zh-TW" dirty="0" smtClean="0">
                <a:latin typeface="+mj-lt"/>
              </a:rPr>
              <a:t>Availability</a:t>
            </a:r>
          </a:p>
          <a:p>
            <a:pPr lvl="1"/>
            <a:r>
              <a:rPr lang="en-US" altLang="zh-TW" dirty="0" smtClean="0">
                <a:latin typeface="+mj-lt"/>
              </a:rPr>
              <a:t>Provide the ability of failure tolerance such that data would not lose on machine or disk fail</a:t>
            </a:r>
          </a:p>
          <a:p>
            <a:r>
              <a:rPr lang="en-US" altLang="zh-TW" dirty="0" smtClean="0">
                <a:latin typeface="+mj-lt"/>
              </a:rPr>
              <a:t>Manageability </a:t>
            </a:r>
          </a:p>
          <a:p>
            <a:pPr lvl="1"/>
            <a:r>
              <a:rPr lang="en-US" altLang="zh-TW" dirty="0" smtClean="0">
                <a:latin typeface="+mj-lt"/>
              </a:rPr>
              <a:t>Provide mechanism for the system to automatically monitor itself and manage the massive data transparently for users</a:t>
            </a:r>
          </a:p>
          <a:p>
            <a:r>
              <a:rPr lang="en-US" altLang="zh-TW" dirty="0" smtClean="0">
                <a:latin typeface="+mj-lt"/>
              </a:rPr>
              <a:t>Performance</a:t>
            </a:r>
          </a:p>
          <a:p>
            <a:pPr lvl="1"/>
            <a:r>
              <a:rPr lang="en-US" altLang="zh-TW" dirty="0" smtClean="0">
                <a:latin typeface="+mj-lt"/>
              </a:rPr>
              <a:t>High sustained bandwidth is more important than low latency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References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600200"/>
            <a:ext cx="8507288" cy="4525963"/>
          </a:xfrm>
        </p:spPr>
        <p:txBody>
          <a:bodyPr/>
          <a:lstStyle/>
          <a:p>
            <a:r>
              <a:rPr lang="en-US" altLang="zh-TW" dirty="0" smtClean="0">
                <a:latin typeface="+mj-lt"/>
              </a:rPr>
              <a:t>S. GHEMAWAT, H. GOBIOFF, and S.-T. LEUNG, “The Google file system,” In </a:t>
            </a:r>
            <a:r>
              <a:rPr lang="en-US" altLang="zh-TW" i="1" dirty="0" smtClean="0">
                <a:latin typeface="+mj-lt"/>
              </a:rPr>
              <a:t>Proc. of the 19th ACM SOSP (Dec. </a:t>
            </a:r>
            <a:r>
              <a:rPr lang="en-US" altLang="zh-TW" dirty="0" smtClean="0">
                <a:latin typeface="+mj-lt"/>
              </a:rPr>
              <a:t>2003)</a:t>
            </a:r>
          </a:p>
          <a:p>
            <a:r>
              <a:rPr lang="en-US" altLang="zh-TW" dirty="0" err="1" smtClean="0">
                <a:latin typeface="+mj-lt"/>
              </a:rPr>
              <a:t>Hadoop</a:t>
            </a:r>
            <a:r>
              <a:rPr lang="en-US" altLang="zh-TW" dirty="0" smtClean="0">
                <a:latin typeface="+mj-lt"/>
              </a:rPr>
              <a:t>.</a:t>
            </a:r>
          </a:p>
          <a:p>
            <a:pPr lvl="1"/>
            <a:r>
              <a:rPr lang="en-US" altLang="zh-TW" dirty="0" smtClean="0">
                <a:latin typeface="+mj-lt"/>
                <a:hlinkClick r:id="rId3"/>
              </a:rPr>
              <a:t>http://hadoop.apache.org/</a:t>
            </a:r>
            <a:endParaRPr lang="zh-TW" altLang="en-US" dirty="0" smtClean="0">
              <a:latin typeface="+mj-lt"/>
            </a:endParaRPr>
          </a:p>
          <a:p>
            <a:r>
              <a:rPr lang="en-US" altLang="zh-TW" dirty="0" smtClean="0">
                <a:latin typeface="+mj-lt"/>
              </a:rPr>
              <a:t>NCHC Cloud Computing Research Group.</a:t>
            </a:r>
          </a:p>
          <a:p>
            <a:pPr lvl="1"/>
            <a:r>
              <a:rPr lang="en-US" altLang="zh-TW" dirty="0" smtClean="0">
                <a:latin typeface="+mj-lt"/>
                <a:hlinkClick r:id="rId4"/>
              </a:rPr>
              <a:t>http://trac.nchc.org.tw/cloud</a:t>
            </a:r>
            <a:endParaRPr lang="zh-TW" altLang="en-US" dirty="0" smtClean="0">
              <a:latin typeface="+mj-lt"/>
            </a:endParaRPr>
          </a:p>
          <a:p>
            <a:r>
              <a:rPr lang="en-US" altLang="zh-TW" dirty="0" smtClean="0">
                <a:latin typeface="+mj-lt"/>
              </a:rPr>
              <a:t>NTU course- Cloud Computing and </a:t>
            </a:r>
            <a:r>
              <a:rPr lang="en-US" altLang="zh-TW" smtClean="0">
                <a:latin typeface="+mj-lt"/>
              </a:rPr>
              <a:t>Mobile Platforms.</a:t>
            </a:r>
            <a:endParaRPr lang="en-US" altLang="zh-TW" dirty="0" smtClean="0">
              <a:latin typeface="+mj-lt"/>
            </a:endParaRPr>
          </a:p>
          <a:p>
            <a:pPr lvl="1"/>
            <a:r>
              <a:rPr lang="en-US" altLang="zh-TW" dirty="0" smtClean="0">
                <a:latin typeface="+mj-lt"/>
                <a:hlinkClick r:id="rId5"/>
              </a:rPr>
              <a:t>http://ntucsiecloud98.appspot.com/course_information</a:t>
            </a:r>
            <a:endParaRPr lang="en-US" altLang="zh-TW" dirty="0" smtClean="0">
              <a:latin typeface="+mj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Course Themes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Course Themes</Template>
  <TotalTime>14367</TotalTime>
  <Words>4309</Words>
  <Application>Microsoft Office PowerPoint</Application>
  <PresentationFormat>如螢幕大小 (4:3)</PresentationFormat>
  <Paragraphs>951</Paragraphs>
  <Slides>103</Slides>
  <Notes>98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103</vt:i4>
      </vt:variant>
    </vt:vector>
  </HeadingPairs>
  <TitlesOfParts>
    <vt:vector size="104" baseType="lpstr">
      <vt:lpstr>Course Themes</vt:lpstr>
      <vt:lpstr>雲端計算 Cloud Computing</vt:lpstr>
      <vt:lpstr>Agenda</vt:lpstr>
      <vt:lpstr>Hadoop</vt:lpstr>
      <vt:lpstr>Google</vt:lpstr>
      <vt:lpstr>Google vs. Hadoop</vt:lpstr>
      <vt:lpstr>Agenda</vt:lpstr>
      <vt:lpstr>File System</vt:lpstr>
      <vt:lpstr>File System Overview</vt:lpstr>
      <vt:lpstr>What Gets Stored</vt:lpstr>
      <vt:lpstr>Design Considerations</vt:lpstr>
      <vt:lpstr>Local FS on Unix-like Systems(1/4)</vt:lpstr>
      <vt:lpstr>Local FS on Unix-like Systems(2/4)</vt:lpstr>
      <vt:lpstr>Local FS on Unix-like Systems(3/4)</vt:lpstr>
      <vt:lpstr>Local FS on Unix-like Systems(4/4)</vt:lpstr>
      <vt:lpstr>File System</vt:lpstr>
      <vt:lpstr>Distributed File Systems</vt:lpstr>
      <vt:lpstr>When is DFS Useful</vt:lpstr>
      <vt:lpstr>Design Considerations of DFS(1/2)</vt:lpstr>
      <vt:lpstr>Design Considerations of DFS(2/2)</vt:lpstr>
      <vt:lpstr>File System</vt:lpstr>
      <vt:lpstr>Google File System </vt:lpstr>
      <vt:lpstr>Google File System</vt:lpstr>
      <vt:lpstr>Motivations</vt:lpstr>
      <vt:lpstr>Design Overview</vt:lpstr>
      <vt:lpstr>Assumptions(1/2)</vt:lpstr>
      <vt:lpstr>Assumptions(2/2)</vt:lpstr>
      <vt:lpstr>Design Decisions</vt:lpstr>
      <vt:lpstr>Design Overview</vt:lpstr>
      <vt:lpstr>Architecture</vt:lpstr>
      <vt:lpstr>Roles in GFS</vt:lpstr>
      <vt:lpstr>Single Master</vt:lpstr>
      <vt:lpstr>Chunkserver - Data</vt:lpstr>
      <vt:lpstr>Chunk Size</vt:lpstr>
      <vt:lpstr>Design Overview</vt:lpstr>
      <vt:lpstr>Metadata</vt:lpstr>
      <vt:lpstr>Metadata (cont.)</vt:lpstr>
      <vt:lpstr>Recovery</vt:lpstr>
      <vt:lpstr>Chunk Locations</vt:lpstr>
      <vt:lpstr>Design Overview</vt:lpstr>
      <vt:lpstr>Consistency Model</vt:lpstr>
      <vt:lpstr>Consistency Model (cont.)</vt:lpstr>
      <vt:lpstr>Google File System</vt:lpstr>
      <vt:lpstr>System Interactions</vt:lpstr>
      <vt:lpstr>While reading a file</vt:lpstr>
      <vt:lpstr>While writing to a File</vt:lpstr>
      <vt:lpstr>Lease Management</vt:lpstr>
      <vt:lpstr>Mutation</vt:lpstr>
      <vt:lpstr>System Interactions</vt:lpstr>
      <vt:lpstr>Concurrent Write</vt:lpstr>
      <vt:lpstr>Consistency Model (remind)</vt:lpstr>
      <vt:lpstr>Write/Concurrent Write</vt:lpstr>
      <vt:lpstr>Trade-offs</vt:lpstr>
      <vt:lpstr>Atomic Record Appends</vt:lpstr>
      <vt:lpstr>How Record Append Works</vt:lpstr>
      <vt:lpstr>Append</vt:lpstr>
      <vt:lpstr>System Interactions</vt:lpstr>
      <vt:lpstr>Snapshot</vt:lpstr>
      <vt:lpstr> After Snapshot(Read/Write)</vt:lpstr>
      <vt:lpstr>Google File System</vt:lpstr>
      <vt:lpstr>Master Operations</vt:lpstr>
      <vt:lpstr>Namespace Mgt and Locking</vt:lpstr>
      <vt:lpstr>Namespace Mgt and Locking (cont.)</vt:lpstr>
      <vt:lpstr>Namespace Mgt and Locking (cont.)</vt:lpstr>
      <vt:lpstr>Master Operations</vt:lpstr>
      <vt:lpstr>Replica Placement</vt:lpstr>
      <vt:lpstr>Chunk Creation &amp; Rebalance</vt:lpstr>
      <vt:lpstr>Chunk Re-replication</vt:lpstr>
      <vt:lpstr>Master Operations</vt:lpstr>
      <vt:lpstr>Garbage Collection</vt:lpstr>
      <vt:lpstr>Garbage Collection(cont.)</vt:lpstr>
      <vt:lpstr>Stale Replica Deletion</vt:lpstr>
      <vt:lpstr>Google File System</vt:lpstr>
      <vt:lpstr>Fault Tolerance</vt:lpstr>
      <vt:lpstr>Fast Recovery</vt:lpstr>
      <vt:lpstr>Master Replication</vt:lpstr>
      <vt:lpstr>Fault Tolerance</vt:lpstr>
      <vt:lpstr>Data Integrity</vt:lpstr>
      <vt:lpstr>Diagnostic Tools</vt:lpstr>
      <vt:lpstr>Summary of GFS</vt:lpstr>
      <vt:lpstr>How about Hadoop</vt:lpstr>
      <vt:lpstr>HDFS</vt:lpstr>
      <vt:lpstr>What’s HDFS</vt:lpstr>
      <vt:lpstr>HDFS’s Feature(1/2)</vt:lpstr>
      <vt:lpstr>HDFS’s Feature(2/2)</vt:lpstr>
      <vt:lpstr>HDFS</vt:lpstr>
      <vt:lpstr>How to manage data</vt:lpstr>
      <vt:lpstr>Namenode</vt:lpstr>
      <vt:lpstr>Datanode</vt:lpstr>
      <vt:lpstr>File System Namespace</vt:lpstr>
      <vt:lpstr>HDFS</vt:lpstr>
      <vt:lpstr>Data Replication</vt:lpstr>
      <vt:lpstr>Block Replication</vt:lpstr>
      <vt:lpstr>Replica Placement</vt:lpstr>
      <vt:lpstr>Screenshot</vt:lpstr>
      <vt:lpstr>Why it Fault-Tolerance</vt:lpstr>
      <vt:lpstr>Coherency Model &amp; Performance</vt:lpstr>
      <vt:lpstr>About Data locality</vt:lpstr>
      <vt:lpstr>HDFS</vt:lpstr>
      <vt:lpstr>Small file problem</vt:lpstr>
      <vt:lpstr>Small file solution</vt:lpstr>
      <vt:lpstr>Small file solution</vt:lpstr>
      <vt:lpstr>Summary</vt:lpstr>
      <vt:lpstr>References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tlcsmall3</dc:creator>
  <cp:lastModifiedBy>5g</cp:lastModifiedBy>
  <cp:revision>1261</cp:revision>
  <dcterms:created xsi:type="dcterms:W3CDTF">2010-08-10T05:14:29Z</dcterms:created>
  <dcterms:modified xsi:type="dcterms:W3CDTF">2011-06-27T02:59:17Z</dcterms:modified>
</cp:coreProperties>
</file>