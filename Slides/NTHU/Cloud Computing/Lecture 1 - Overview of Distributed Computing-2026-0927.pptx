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4"/>
  </p:notesMasterIdLst>
  <p:sldIdLst>
    <p:sldId id="361" r:id="rId3"/>
    <p:sldId id="362" r:id="rId4"/>
    <p:sldId id="395" r:id="rId5"/>
    <p:sldId id="400" r:id="rId6"/>
    <p:sldId id="396" r:id="rId7"/>
    <p:sldId id="323" r:id="rId8"/>
    <p:sldId id="384" r:id="rId9"/>
    <p:sldId id="366" r:id="rId10"/>
    <p:sldId id="325" r:id="rId11"/>
    <p:sldId id="326" r:id="rId12"/>
    <p:sldId id="328" r:id="rId13"/>
    <p:sldId id="329" r:id="rId14"/>
    <p:sldId id="382" r:id="rId15"/>
    <p:sldId id="348" r:id="rId16"/>
    <p:sldId id="352" r:id="rId17"/>
    <p:sldId id="354" r:id="rId18"/>
    <p:sldId id="373" r:id="rId19"/>
    <p:sldId id="388" r:id="rId20"/>
    <p:sldId id="392" r:id="rId21"/>
    <p:sldId id="391" r:id="rId22"/>
    <p:sldId id="393" r:id="rId23"/>
    <p:sldId id="436" r:id="rId24"/>
    <p:sldId id="401" r:id="rId25"/>
    <p:sldId id="349" r:id="rId26"/>
    <p:sldId id="405" r:id="rId27"/>
    <p:sldId id="411" r:id="rId28"/>
    <p:sldId id="410" r:id="rId29"/>
    <p:sldId id="414" r:id="rId30"/>
    <p:sldId id="416" r:id="rId31"/>
    <p:sldId id="415" r:id="rId32"/>
    <p:sldId id="419" r:id="rId33"/>
    <p:sldId id="420" r:id="rId34"/>
    <p:sldId id="422" r:id="rId35"/>
    <p:sldId id="424" r:id="rId36"/>
    <p:sldId id="418" r:id="rId37"/>
    <p:sldId id="403" r:id="rId38"/>
    <p:sldId id="417" r:id="rId39"/>
    <p:sldId id="338" r:id="rId40"/>
    <p:sldId id="330" r:id="rId41"/>
    <p:sldId id="341" r:id="rId42"/>
    <p:sldId id="342" r:id="rId43"/>
    <p:sldId id="426" r:id="rId44"/>
    <p:sldId id="470" r:id="rId45"/>
    <p:sldId id="467" r:id="rId46"/>
    <p:sldId id="468" r:id="rId47"/>
    <p:sldId id="471" r:id="rId48"/>
    <p:sldId id="472" r:id="rId49"/>
    <p:sldId id="480" r:id="rId50"/>
    <p:sldId id="429" r:id="rId51"/>
    <p:sldId id="439" r:id="rId52"/>
    <p:sldId id="402" r:id="rId53"/>
    <p:sldId id="474" r:id="rId54"/>
    <p:sldId id="440" r:id="rId55"/>
    <p:sldId id="447" r:id="rId56"/>
    <p:sldId id="481" r:id="rId57"/>
    <p:sldId id="448" r:id="rId58"/>
    <p:sldId id="482" r:id="rId59"/>
    <p:sldId id="484" r:id="rId60"/>
    <p:sldId id="483" r:id="rId61"/>
    <p:sldId id="485" r:id="rId62"/>
    <p:sldId id="450" r:id="rId63"/>
    <p:sldId id="451" r:id="rId64"/>
    <p:sldId id="452" r:id="rId65"/>
    <p:sldId id="454" r:id="rId66"/>
    <p:sldId id="456" r:id="rId67"/>
    <p:sldId id="445" r:id="rId68"/>
    <p:sldId id="459" r:id="rId69"/>
    <p:sldId id="461" r:id="rId70"/>
    <p:sldId id="460" r:id="rId71"/>
    <p:sldId id="463" r:id="rId72"/>
    <p:sldId id="449" r:id="rId7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7020" autoAdjust="0"/>
  </p:normalViewPr>
  <p:slideViewPr>
    <p:cSldViewPr>
      <p:cViewPr>
        <p:scale>
          <a:sx n="50" d="100"/>
          <a:sy n="50" d="100"/>
        </p:scale>
        <p:origin x="1692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B7012-DFAE-4ACA-90C7-205332D88888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62E73-1BBA-494F-AF75-1EAE4F4A023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62E73-1BBA-494F-AF75-1EAE4F4A0233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62E73-1BBA-494F-AF75-1EAE4F4A0233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62E73-1BBA-494F-AF75-1EAE4F4A0233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62E73-1BBA-494F-AF75-1EAE4F4A0233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降低資訊營運成本與資本投入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62E73-1BBA-494F-AF75-1EAE4F4A0233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Picture 6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2026/9/27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4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wmf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26.wmf"/><Relationship Id="rId3" Type="http://schemas.openxmlformats.org/officeDocument/2006/relationships/image" Target="../media/image19.wmf"/><Relationship Id="rId7" Type="http://schemas.openxmlformats.org/officeDocument/2006/relationships/image" Target="../media/image23.png"/><Relationship Id="rId12" Type="http://schemas.openxmlformats.org/officeDocument/2006/relationships/oleObject" Target="../embeddings/oleObject4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5.wmf"/><Relationship Id="rId5" Type="http://schemas.openxmlformats.org/officeDocument/2006/relationships/image" Target="../media/image21.png"/><Relationship Id="rId15" Type="http://schemas.openxmlformats.org/officeDocument/2006/relationships/oleObject" Target="../embeddings/oleObject6.bin"/><Relationship Id="rId10" Type="http://schemas.openxmlformats.org/officeDocument/2006/relationships/oleObject" Target="../embeddings/oleObject3.bin"/><Relationship Id="rId4" Type="http://schemas.openxmlformats.org/officeDocument/2006/relationships/image" Target="../media/image20.jpeg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36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14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5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3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oleObject" Target="../embeddings/oleObject22.bin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21.bin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.bin"/><Relationship Id="rId11" Type="http://schemas.openxmlformats.org/officeDocument/2006/relationships/oleObject" Target="../embeddings/oleObject20.bin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6.wmf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43.bin"/><Relationship Id="rId117" Type="http://schemas.openxmlformats.org/officeDocument/2006/relationships/oleObject" Target="../embeddings/oleObject134.bin"/><Relationship Id="rId21" Type="http://schemas.openxmlformats.org/officeDocument/2006/relationships/oleObject" Target="../embeddings/oleObject38.bin"/><Relationship Id="rId42" Type="http://schemas.openxmlformats.org/officeDocument/2006/relationships/oleObject" Target="../embeddings/oleObject59.bin"/><Relationship Id="rId47" Type="http://schemas.openxmlformats.org/officeDocument/2006/relationships/oleObject" Target="../embeddings/oleObject64.bin"/><Relationship Id="rId63" Type="http://schemas.openxmlformats.org/officeDocument/2006/relationships/oleObject" Target="../embeddings/oleObject80.bin"/><Relationship Id="rId68" Type="http://schemas.openxmlformats.org/officeDocument/2006/relationships/oleObject" Target="../embeddings/oleObject85.bin"/><Relationship Id="rId84" Type="http://schemas.openxmlformats.org/officeDocument/2006/relationships/oleObject" Target="../embeddings/oleObject101.bin"/><Relationship Id="rId89" Type="http://schemas.openxmlformats.org/officeDocument/2006/relationships/oleObject" Target="../embeddings/oleObject106.bin"/><Relationship Id="rId112" Type="http://schemas.openxmlformats.org/officeDocument/2006/relationships/oleObject" Target="../embeddings/oleObject129.bin"/><Relationship Id="rId16" Type="http://schemas.openxmlformats.org/officeDocument/2006/relationships/oleObject" Target="../embeddings/oleObject33.bin"/><Relationship Id="rId107" Type="http://schemas.openxmlformats.org/officeDocument/2006/relationships/oleObject" Target="../embeddings/oleObject124.bin"/><Relationship Id="rId11" Type="http://schemas.openxmlformats.org/officeDocument/2006/relationships/oleObject" Target="../embeddings/oleObject28.bin"/><Relationship Id="rId32" Type="http://schemas.openxmlformats.org/officeDocument/2006/relationships/oleObject" Target="../embeddings/oleObject49.bin"/><Relationship Id="rId37" Type="http://schemas.openxmlformats.org/officeDocument/2006/relationships/oleObject" Target="../embeddings/oleObject54.bin"/><Relationship Id="rId53" Type="http://schemas.openxmlformats.org/officeDocument/2006/relationships/oleObject" Target="../embeddings/oleObject70.bin"/><Relationship Id="rId58" Type="http://schemas.openxmlformats.org/officeDocument/2006/relationships/oleObject" Target="../embeddings/oleObject75.bin"/><Relationship Id="rId74" Type="http://schemas.openxmlformats.org/officeDocument/2006/relationships/oleObject" Target="../embeddings/oleObject91.bin"/><Relationship Id="rId79" Type="http://schemas.openxmlformats.org/officeDocument/2006/relationships/oleObject" Target="../embeddings/oleObject96.bin"/><Relationship Id="rId102" Type="http://schemas.openxmlformats.org/officeDocument/2006/relationships/oleObject" Target="../embeddings/oleObject119.bin"/><Relationship Id="rId123" Type="http://schemas.openxmlformats.org/officeDocument/2006/relationships/oleObject" Target="../embeddings/oleObject140.bin"/><Relationship Id="rId5" Type="http://schemas.openxmlformats.org/officeDocument/2006/relationships/image" Target="../media/image34.wmf"/><Relationship Id="rId90" Type="http://schemas.openxmlformats.org/officeDocument/2006/relationships/oleObject" Target="../embeddings/oleObject107.bin"/><Relationship Id="rId95" Type="http://schemas.openxmlformats.org/officeDocument/2006/relationships/oleObject" Target="../embeddings/oleObject112.bin"/><Relationship Id="rId22" Type="http://schemas.openxmlformats.org/officeDocument/2006/relationships/oleObject" Target="../embeddings/oleObject39.bin"/><Relationship Id="rId27" Type="http://schemas.openxmlformats.org/officeDocument/2006/relationships/oleObject" Target="../embeddings/oleObject44.bin"/><Relationship Id="rId43" Type="http://schemas.openxmlformats.org/officeDocument/2006/relationships/oleObject" Target="../embeddings/oleObject60.bin"/><Relationship Id="rId48" Type="http://schemas.openxmlformats.org/officeDocument/2006/relationships/oleObject" Target="../embeddings/oleObject65.bin"/><Relationship Id="rId64" Type="http://schemas.openxmlformats.org/officeDocument/2006/relationships/oleObject" Target="../embeddings/oleObject81.bin"/><Relationship Id="rId69" Type="http://schemas.openxmlformats.org/officeDocument/2006/relationships/oleObject" Target="../embeddings/oleObject86.bin"/><Relationship Id="rId113" Type="http://schemas.openxmlformats.org/officeDocument/2006/relationships/oleObject" Target="../embeddings/oleObject130.bin"/><Relationship Id="rId118" Type="http://schemas.openxmlformats.org/officeDocument/2006/relationships/oleObject" Target="../embeddings/oleObject135.bin"/><Relationship Id="rId80" Type="http://schemas.openxmlformats.org/officeDocument/2006/relationships/oleObject" Target="../embeddings/oleObject97.bin"/><Relationship Id="rId85" Type="http://schemas.openxmlformats.org/officeDocument/2006/relationships/oleObject" Target="../embeddings/oleObject102.bin"/><Relationship Id="rId12" Type="http://schemas.openxmlformats.org/officeDocument/2006/relationships/oleObject" Target="../embeddings/oleObject29.bin"/><Relationship Id="rId17" Type="http://schemas.openxmlformats.org/officeDocument/2006/relationships/oleObject" Target="../embeddings/oleObject34.bin"/><Relationship Id="rId33" Type="http://schemas.openxmlformats.org/officeDocument/2006/relationships/oleObject" Target="../embeddings/oleObject50.bin"/><Relationship Id="rId38" Type="http://schemas.openxmlformats.org/officeDocument/2006/relationships/oleObject" Target="../embeddings/oleObject55.bin"/><Relationship Id="rId59" Type="http://schemas.openxmlformats.org/officeDocument/2006/relationships/oleObject" Target="../embeddings/oleObject76.bin"/><Relationship Id="rId103" Type="http://schemas.openxmlformats.org/officeDocument/2006/relationships/oleObject" Target="../embeddings/oleObject120.bin"/><Relationship Id="rId108" Type="http://schemas.openxmlformats.org/officeDocument/2006/relationships/oleObject" Target="../embeddings/oleObject125.bin"/><Relationship Id="rId124" Type="http://schemas.openxmlformats.org/officeDocument/2006/relationships/oleObject" Target="../embeddings/oleObject141.bin"/><Relationship Id="rId54" Type="http://schemas.openxmlformats.org/officeDocument/2006/relationships/oleObject" Target="../embeddings/oleObject71.bin"/><Relationship Id="rId70" Type="http://schemas.openxmlformats.org/officeDocument/2006/relationships/oleObject" Target="../embeddings/oleObject87.bin"/><Relationship Id="rId75" Type="http://schemas.openxmlformats.org/officeDocument/2006/relationships/oleObject" Target="../embeddings/oleObject92.bin"/><Relationship Id="rId91" Type="http://schemas.openxmlformats.org/officeDocument/2006/relationships/oleObject" Target="../embeddings/oleObject108.bin"/><Relationship Id="rId96" Type="http://schemas.openxmlformats.org/officeDocument/2006/relationships/oleObject" Target="../embeddings/oleObject11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5.bin"/><Relationship Id="rId23" Type="http://schemas.openxmlformats.org/officeDocument/2006/relationships/oleObject" Target="../embeddings/oleObject40.bin"/><Relationship Id="rId28" Type="http://schemas.openxmlformats.org/officeDocument/2006/relationships/oleObject" Target="../embeddings/oleObject45.bin"/><Relationship Id="rId49" Type="http://schemas.openxmlformats.org/officeDocument/2006/relationships/oleObject" Target="../embeddings/oleObject66.bin"/><Relationship Id="rId114" Type="http://schemas.openxmlformats.org/officeDocument/2006/relationships/oleObject" Target="../embeddings/oleObject131.bin"/><Relationship Id="rId119" Type="http://schemas.openxmlformats.org/officeDocument/2006/relationships/oleObject" Target="../embeddings/oleObject136.bin"/><Relationship Id="rId44" Type="http://schemas.openxmlformats.org/officeDocument/2006/relationships/oleObject" Target="../embeddings/oleObject61.bin"/><Relationship Id="rId60" Type="http://schemas.openxmlformats.org/officeDocument/2006/relationships/oleObject" Target="../embeddings/oleObject77.bin"/><Relationship Id="rId65" Type="http://schemas.openxmlformats.org/officeDocument/2006/relationships/oleObject" Target="../embeddings/oleObject82.bin"/><Relationship Id="rId81" Type="http://schemas.openxmlformats.org/officeDocument/2006/relationships/oleObject" Target="../embeddings/oleObject98.bin"/><Relationship Id="rId86" Type="http://schemas.openxmlformats.org/officeDocument/2006/relationships/oleObject" Target="../embeddings/oleObject103.bin"/><Relationship Id="rId13" Type="http://schemas.openxmlformats.org/officeDocument/2006/relationships/oleObject" Target="../embeddings/oleObject30.bin"/><Relationship Id="rId18" Type="http://schemas.openxmlformats.org/officeDocument/2006/relationships/oleObject" Target="../embeddings/oleObject35.bin"/><Relationship Id="rId39" Type="http://schemas.openxmlformats.org/officeDocument/2006/relationships/oleObject" Target="../embeddings/oleObject56.bin"/><Relationship Id="rId109" Type="http://schemas.openxmlformats.org/officeDocument/2006/relationships/oleObject" Target="../embeddings/oleObject126.bin"/><Relationship Id="rId34" Type="http://schemas.openxmlformats.org/officeDocument/2006/relationships/oleObject" Target="../embeddings/oleObject51.bin"/><Relationship Id="rId50" Type="http://schemas.openxmlformats.org/officeDocument/2006/relationships/oleObject" Target="../embeddings/oleObject67.bin"/><Relationship Id="rId55" Type="http://schemas.openxmlformats.org/officeDocument/2006/relationships/oleObject" Target="../embeddings/oleObject72.bin"/><Relationship Id="rId76" Type="http://schemas.openxmlformats.org/officeDocument/2006/relationships/oleObject" Target="../embeddings/oleObject93.bin"/><Relationship Id="rId97" Type="http://schemas.openxmlformats.org/officeDocument/2006/relationships/oleObject" Target="../embeddings/oleObject114.bin"/><Relationship Id="rId104" Type="http://schemas.openxmlformats.org/officeDocument/2006/relationships/oleObject" Target="../embeddings/oleObject121.bin"/><Relationship Id="rId120" Type="http://schemas.openxmlformats.org/officeDocument/2006/relationships/oleObject" Target="../embeddings/oleObject137.bin"/><Relationship Id="rId125" Type="http://schemas.openxmlformats.org/officeDocument/2006/relationships/oleObject" Target="../embeddings/oleObject142.bin"/><Relationship Id="rId7" Type="http://schemas.openxmlformats.org/officeDocument/2006/relationships/image" Target="../media/image35.wmf"/><Relationship Id="rId71" Type="http://schemas.openxmlformats.org/officeDocument/2006/relationships/oleObject" Target="../embeddings/oleObject88.bin"/><Relationship Id="rId92" Type="http://schemas.openxmlformats.org/officeDocument/2006/relationships/oleObject" Target="../embeddings/oleObject109.bin"/><Relationship Id="rId2" Type="http://schemas.openxmlformats.org/officeDocument/2006/relationships/oleObject" Target="../embeddings/oleObject23.bin"/><Relationship Id="rId29" Type="http://schemas.openxmlformats.org/officeDocument/2006/relationships/oleObject" Target="../embeddings/oleObject46.bin"/><Relationship Id="rId24" Type="http://schemas.openxmlformats.org/officeDocument/2006/relationships/oleObject" Target="../embeddings/oleObject41.bin"/><Relationship Id="rId40" Type="http://schemas.openxmlformats.org/officeDocument/2006/relationships/oleObject" Target="../embeddings/oleObject57.bin"/><Relationship Id="rId45" Type="http://schemas.openxmlformats.org/officeDocument/2006/relationships/oleObject" Target="../embeddings/oleObject62.bin"/><Relationship Id="rId66" Type="http://schemas.openxmlformats.org/officeDocument/2006/relationships/oleObject" Target="../embeddings/oleObject83.bin"/><Relationship Id="rId87" Type="http://schemas.openxmlformats.org/officeDocument/2006/relationships/oleObject" Target="../embeddings/oleObject104.bin"/><Relationship Id="rId110" Type="http://schemas.openxmlformats.org/officeDocument/2006/relationships/oleObject" Target="../embeddings/oleObject127.bin"/><Relationship Id="rId115" Type="http://schemas.openxmlformats.org/officeDocument/2006/relationships/oleObject" Target="../embeddings/oleObject132.bin"/><Relationship Id="rId61" Type="http://schemas.openxmlformats.org/officeDocument/2006/relationships/oleObject" Target="../embeddings/oleObject78.bin"/><Relationship Id="rId82" Type="http://schemas.openxmlformats.org/officeDocument/2006/relationships/oleObject" Target="../embeddings/oleObject99.bin"/><Relationship Id="rId19" Type="http://schemas.openxmlformats.org/officeDocument/2006/relationships/oleObject" Target="../embeddings/oleObject36.bin"/><Relationship Id="rId14" Type="http://schemas.openxmlformats.org/officeDocument/2006/relationships/oleObject" Target="../embeddings/oleObject31.bin"/><Relationship Id="rId30" Type="http://schemas.openxmlformats.org/officeDocument/2006/relationships/oleObject" Target="../embeddings/oleObject47.bin"/><Relationship Id="rId35" Type="http://schemas.openxmlformats.org/officeDocument/2006/relationships/oleObject" Target="../embeddings/oleObject52.bin"/><Relationship Id="rId56" Type="http://schemas.openxmlformats.org/officeDocument/2006/relationships/oleObject" Target="../embeddings/oleObject73.bin"/><Relationship Id="rId77" Type="http://schemas.openxmlformats.org/officeDocument/2006/relationships/oleObject" Target="../embeddings/oleObject94.bin"/><Relationship Id="rId100" Type="http://schemas.openxmlformats.org/officeDocument/2006/relationships/oleObject" Target="../embeddings/oleObject117.bin"/><Relationship Id="rId105" Type="http://schemas.openxmlformats.org/officeDocument/2006/relationships/oleObject" Target="../embeddings/oleObject122.bin"/><Relationship Id="rId126" Type="http://schemas.openxmlformats.org/officeDocument/2006/relationships/oleObject" Target="../embeddings/oleObject143.bin"/><Relationship Id="rId8" Type="http://schemas.openxmlformats.org/officeDocument/2006/relationships/oleObject" Target="../embeddings/oleObject26.bin"/><Relationship Id="rId51" Type="http://schemas.openxmlformats.org/officeDocument/2006/relationships/oleObject" Target="../embeddings/oleObject68.bin"/><Relationship Id="rId72" Type="http://schemas.openxmlformats.org/officeDocument/2006/relationships/oleObject" Target="../embeddings/oleObject89.bin"/><Relationship Id="rId93" Type="http://schemas.openxmlformats.org/officeDocument/2006/relationships/oleObject" Target="../embeddings/oleObject110.bin"/><Relationship Id="rId98" Type="http://schemas.openxmlformats.org/officeDocument/2006/relationships/oleObject" Target="../embeddings/oleObject115.bin"/><Relationship Id="rId121" Type="http://schemas.openxmlformats.org/officeDocument/2006/relationships/oleObject" Target="../embeddings/oleObject138.bin"/><Relationship Id="rId3" Type="http://schemas.openxmlformats.org/officeDocument/2006/relationships/image" Target="../media/image33.wmf"/><Relationship Id="rId25" Type="http://schemas.openxmlformats.org/officeDocument/2006/relationships/oleObject" Target="../embeddings/oleObject42.bin"/><Relationship Id="rId46" Type="http://schemas.openxmlformats.org/officeDocument/2006/relationships/oleObject" Target="../embeddings/oleObject63.bin"/><Relationship Id="rId67" Type="http://schemas.openxmlformats.org/officeDocument/2006/relationships/oleObject" Target="../embeddings/oleObject84.bin"/><Relationship Id="rId116" Type="http://schemas.openxmlformats.org/officeDocument/2006/relationships/oleObject" Target="../embeddings/oleObject133.bin"/><Relationship Id="rId20" Type="http://schemas.openxmlformats.org/officeDocument/2006/relationships/oleObject" Target="../embeddings/oleObject37.bin"/><Relationship Id="rId41" Type="http://schemas.openxmlformats.org/officeDocument/2006/relationships/oleObject" Target="../embeddings/oleObject58.bin"/><Relationship Id="rId62" Type="http://schemas.openxmlformats.org/officeDocument/2006/relationships/oleObject" Target="../embeddings/oleObject79.bin"/><Relationship Id="rId83" Type="http://schemas.openxmlformats.org/officeDocument/2006/relationships/oleObject" Target="../embeddings/oleObject100.bin"/><Relationship Id="rId88" Type="http://schemas.openxmlformats.org/officeDocument/2006/relationships/oleObject" Target="../embeddings/oleObject105.bin"/><Relationship Id="rId111" Type="http://schemas.openxmlformats.org/officeDocument/2006/relationships/oleObject" Target="../embeddings/oleObject128.bin"/><Relationship Id="rId15" Type="http://schemas.openxmlformats.org/officeDocument/2006/relationships/oleObject" Target="../embeddings/oleObject32.bin"/><Relationship Id="rId36" Type="http://schemas.openxmlformats.org/officeDocument/2006/relationships/oleObject" Target="../embeddings/oleObject53.bin"/><Relationship Id="rId57" Type="http://schemas.openxmlformats.org/officeDocument/2006/relationships/oleObject" Target="../embeddings/oleObject74.bin"/><Relationship Id="rId106" Type="http://schemas.openxmlformats.org/officeDocument/2006/relationships/oleObject" Target="../embeddings/oleObject123.bin"/><Relationship Id="rId127" Type="http://schemas.openxmlformats.org/officeDocument/2006/relationships/oleObject" Target="../embeddings/oleObject144.bin"/><Relationship Id="rId10" Type="http://schemas.openxmlformats.org/officeDocument/2006/relationships/oleObject" Target="../embeddings/oleObject27.bin"/><Relationship Id="rId31" Type="http://schemas.openxmlformats.org/officeDocument/2006/relationships/oleObject" Target="../embeddings/oleObject48.bin"/><Relationship Id="rId52" Type="http://schemas.openxmlformats.org/officeDocument/2006/relationships/oleObject" Target="../embeddings/oleObject69.bin"/><Relationship Id="rId73" Type="http://schemas.openxmlformats.org/officeDocument/2006/relationships/oleObject" Target="../embeddings/oleObject90.bin"/><Relationship Id="rId78" Type="http://schemas.openxmlformats.org/officeDocument/2006/relationships/oleObject" Target="../embeddings/oleObject95.bin"/><Relationship Id="rId94" Type="http://schemas.openxmlformats.org/officeDocument/2006/relationships/oleObject" Target="../embeddings/oleObject111.bin"/><Relationship Id="rId99" Type="http://schemas.openxmlformats.org/officeDocument/2006/relationships/oleObject" Target="../embeddings/oleObject116.bin"/><Relationship Id="rId101" Type="http://schemas.openxmlformats.org/officeDocument/2006/relationships/oleObject" Target="../embeddings/oleObject118.bin"/><Relationship Id="rId122" Type="http://schemas.openxmlformats.org/officeDocument/2006/relationships/oleObject" Target="../embeddings/oleObject139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6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dnightkite.com/PlanetPovray/planets-5-large.jpg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gif"/><Relationship Id="rId3" Type="http://schemas.openxmlformats.org/officeDocument/2006/relationships/image" Target="../media/image59.gif"/><Relationship Id="rId7" Type="http://schemas.openxmlformats.org/officeDocument/2006/relationships/image" Target="../media/image63.gif"/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gif"/><Relationship Id="rId5" Type="http://schemas.openxmlformats.org/officeDocument/2006/relationships/image" Target="../media/image61.gif"/><Relationship Id="rId4" Type="http://schemas.openxmlformats.org/officeDocument/2006/relationships/image" Target="../media/image60.gi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jpe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3" Type="http://schemas.openxmlformats.org/officeDocument/2006/relationships/hyperlink" Target="http://www.novell.com/" TargetMode="External"/><Relationship Id="rId18" Type="http://schemas.openxmlformats.org/officeDocument/2006/relationships/image" Target="../media/image84.png"/><Relationship Id="rId26" Type="http://schemas.openxmlformats.org/officeDocument/2006/relationships/image" Target="../media/image88.png"/><Relationship Id="rId39" Type="http://schemas.openxmlformats.org/officeDocument/2006/relationships/hyperlink" Target="http://www.trampolinesystems.com/" TargetMode="External"/><Relationship Id="rId21" Type="http://schemas.openxmlformats.org/officeDocument/2006/relationships/hyperlink" Target="http://www.igloosoftware.com/" TargetMode="External"/><Relationship Id="rId34" Type="http://schemas.openxmlformats.org/officeDocument/2006/relationships/image" Target="../media/image92.png"/><Relationship Id="rId42" Type="http://schemas.openxmlformats.org/officeDocument/2006/relationships/image" Target="../media/image96.png"/><Relationship Id="rId47" Type="http://schemas.openxmlformats.org/officeDocument/2006/relationships/hyperlink" Target="http://www.cloudworks.com/" TargetMode="External"/><Relationship Id="rId50" Type="http://schemas.openxmlformats.org/officeDocument/2006/relationships/image" Target="../media/image101.png"/><Relationship Id="rId55" Type="http://schemas.openxmlformats.org/officeDocument/2006/relationships/hyperlink" Target="http://www.parascale.com/" TargetMode="External"/><Relationship Id="rId63" Type="http://schemas.openxmlformats.org/officeDocument/2006/relationships/image" Target="../media/image111.png"/><Relationship Id="rId7" Type="http://schemas.openxmlformats.org/officeDocument/2006/relationships/hyperlink" Target="http://www.oracle.com/" TargetMode="External"/><Relationship Id="rId2" Type="http://schemas.openxmlformats.org/officeDocument/2006/relationships/image" Target="../media/image76.png"/><Relationship Id="rId16" Type="http://schemas.openxmlformats.org/officeDocument/2006/relationships/image" Target="../media/image83.png"/><Relationship Id="rId29" Type="http://schemas.openxmlformats.org/officeDocument/2006/relationships/hyperlink" Target="http://www.ngenera.com/" TargetMode="External"/><Relationship Id="rId11" Type="http://schemas.openxmlformats.org/officeDocument/2006/relationships/hyperlink" Target="http://www.horngroup.com/" TargetMode="External"/><Relationship Id="rId24" Type="http://schemas.openxmlformats.org/officeDocument/2006/relationships/image" Target="../media/image87.png"/><Relationship Id="rId32" Type="http://schemas.openxmlformats.org/officeDocument/2006/relationships/image" Target="../media/image91.png"/><Relationship Id="rId37" Type="http://schemas.openxmlformats.org/officeDocument/2006/relationships/hyperlink" Target="http://www.telligent.com/" TargetMode="External"/><Relationship Id="rId40" Type="http://schemas.openxmlformats.org/officeDocument/2006/relationships/image" Target="../media/image95.png"/><Relationship Id="rId45" Type="http://schemas.openxmlformats.org/officeDocument/2006/relationships/image" Target="../media/image98.png"/><Relationship Id="rId53" Type="http://schemas.openxmlformats.org/officeDocument/2006/relationships/hyperlink" Target="http://www.servepath.com/" TargetMode="External"/><Relationship Id="rId58" Type="http://schemas.openxmlformats.org/officeDocument/2006/relationships/image" Target="../media/image106.png"/><Relationship Id="rId5" Type="http://schemas.openxmlformats.org/officeDocument/2006/relationships/hyperlink" Target="http://www.opentext.com/" TargetMode="External"/><Relationship Id="rId61" Type="http://schemas.openxmlformats.org/officeDocument/2006/relationships/image" Target="../media/image109.png"/><Relationship Id="rId19" Type="http://schemas.openxmlformats.org/officeDocument/2006/relationships/hyperlink" Target="http://www.connectbeam.com/" TargetMode="External"/><Relationship Id="rId14" Type="http://schemas.openxmlformats.org/officeDocument/2006/relationships/image" Target="../media/image82.png"/><Relationship Id="rId22" Type="http://schemas.openxmlformats.org/officeDocument/2006/relationships/image" Target="../media/image86.png"/><Relationship Id="rId27" Type="http://schemas.openxmlformats.org/officeDocument/2006/relationships/hyperlink" Target="http://www.liquidplanner.com/" TargetMode="External"/><Relationship Id="rId30" Type="http://schemas.openxmlformats.org/officeDocument/2006/relationships/image" Target="../media/image90.png"/><Relationship Id="rId35" Type="http://schemas.openxmlformats.org/officeDocument/2006/relationships/hyperlink" Target="http://www.spigit.com/" TargetMode="External"/><Relationship Id="rId43" Type="http://schemas.openxmlformats.org/officeDocument/2006/relationships/hyperlink" Target="http://www.elastra.com/" TargetMode="External"/><Relationship Id="rId48" Type="http://schemas.openxmlformats.org/officeDocument/2006/relationships/image" Target="../media/image100.png"/><Relationship Id="rId56" Type="http://schemas.openxmlformats.org/officeDocument/2006/relationships/image" Target="../media/image105.png"/><Relationship Id="rId64" Type="http://schemas.openxmlformats.org/officeDocument/2006/relationships/image" Target="../media/image112.png"/><Relationship Id="rId8" Type="http://schemas.openxmlformats.org/officeDocument/2006/relationships/image" Target="../media/image79.png"/><Relationship Id="rId51" Type="http://schemas.openxmlformats.org/officeDocument/2006/relationships/image" Target="../media/image102.png"/><Relationship Id="rId3" Type="http://schemas.openxmlformats.org/officeDocument/2006/relationships/hyperlink" Target="http://www.ibm.com/" TargetMode="External"/><Relationship Id="rId12" Type="http://schemas.openxmlformats.org/officeDocument/2006/relationships/image" Target="../media/image81.png"/><Relationship Id="rId17" Type="http://schemas.openxmlformats.org/officeDocument/2006/relationships/hyperlink" Target="http://www.alfresco.com/" TargetMode="External"/><Relationship Id="rId25" Type="http://schemas.openxmlformats.org/officeDocument/2006/relationships/hyperlink" Target="http://www.jivesoftware.com/" TargetMode="External"/><Relationship Id="rId33" Type="http://schemas.openxmlformats.org/officeDocument/2006/relationships/hyperlink" Target="http://www.socialtext.com/" TargetMode="External"/><Relationship Id="rId38" Type="http://schemas.openxmlformats.org/officeDocument/2006/relationships/image" Target="../media/image94.png"/><Relationship Id="rId46" Type="http://schemas.openxmlformats.org/officeDocument/2006/relationships/image" Target="../media/image99.png"/><Relationship Id="rId59" Type="http://schemas.openxmlformats.org/officeDocument/2006/relationships/image" Target="../media/image107.png"/><Relationship Id="rId20" Type="http://schemas.openxmlformats.org/officeDocument/2006/relationships/image" Target="../media/image85.png"/><Relationship Id="rId41" Type="http://schemas.openxmlformats.org/officeDocument/2006/relationships/hyperlink" Target="http://www.myworklight.com/" TargetMode="External"/><Relationship Id="rId54" Type="http://schemas.openxmlformats.org/officeDocument/2006/relationships/image" Target="../media/image104.png"/><Relationship Id="rId6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5" Type="http://schemas.openxmlformats.org/officeDocument/2006/relationships/hyperlink" Target="http://acquia.com/" TargetMode="External"/><Relationship Id="rId23" Type="http://schemas.openxmlformats.org/officeDocument/2006/relationships/hyperlink" Target="http://www.inquira.com/" TargetMode="External"/><Relationship Id="rId28" Type="http://schemas.openxmlformats.org/officeDocument/2006/relationships/image" Target="../media/image89.png"/><Relationship Id="rId36" Type="http://schemas.openxmlformats.org/officeDocument/2006/relationships/image" Target="../media/image93.png"/><Relationship Id="rId49" Type="http://schemas.openxmlformats.org/officeDocument/2006/relationships/hyperlink" Target="http://www.appistry.com/" TargetMode="External"/><Relationship Id="rId57" Type="http://schemas.openxmlformats.org/officeDocument/2006/relationships/hyperlink" Target="http://www.3tera.com/" TargetMode="External"/><Relationship Id="rId10" Type="http://schemas.openxmlformats.org/officeDocument/2006/relationships/image" Target="../media/image80.png"/><Relationship Id="rId31" Type="http://schemas.openxmlformats.org/officeDocument/2006/relationships/hyperlink" Target="http://www.remycorp.com/" TargetMode="External"/><Relationship Id="rId44" Type="http://schemas.openxmlformats.org/officeDocument/2006/relationships/image" Target="../media/image97.png"/><Relationship Id="rId52" Type="http://schemas.openxmlformats.org/officeDocument/2006/relationships/image" Target="../media/image103.jpeg"/><Relationship Id="rId60" Type="http://schemas.openxmlformats.org/officeDocument/2006/relationships/image" Target="../media/image108.png"/><Relationship Id="rId4" Type="http://schemas.openxmlformats.org/officeDocument/2006/relationships/image" Target="../media/image77.png"/><Relationship Id="rId9" Type="http://schemas.openxmlformats.org/officeDocument/2006/relationships/hyperlink" Target="http://www.alcatel-lucent.com/" TargetMode="Externa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5576" y="3200400"/>
            <a:ext cx="7232848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Overview of Distributed Computing</a:t>
            </a:r>
          </a:p>
          <a:p>
            <a:pPr algn="ctr"/>
            <a:endParaRPr lang="en-US" sz="32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Trends of computing</a:t>
            </a:r>
          </a:p>
          <a:p>
            <a:pPr lvl="1"/>
            <a:r>
              <a:rPr lang="en-US" altLang="zh-TW" dirty="0"/>
              <a:t>Utility Computing</a:t>
            </a:r>
          </a:p>
          <a:p>
            <a:pPr lvl="1"/>
            <a:r>
              <a:rPr lang="en-US" altLang="zh-TW" dirty="0"/>
              <a:t>Cluster computing</a:t>
            </a:r>
          </a:p>
          <a:p>
            <a:pPr lvl="1"/>
            <a:r>
              <a:rPr lang="en-US" altLang="zh-TW" dirty="0"/>
              <a:t>Grid computing</a:t>
            </a:r>
          </a:p>
          <a:p>
            <a:pPr lvl="2"/>
            <a:endParaRPr lang="en-US" altLang="zh-TW" dirty="0"/>
          </a:p>
          <a:p>
            <a:r>
              <a:rPr lang="en-US" altLang="zh-TW" dirty="0"/>
              <a:t>Next big thing</a:t>
            </a:r>
          </a:p>
          <a:p>
            <a:pPr lvl="1"/>
            <a:r>
              <a:rPr lang="en-US" altLang="zh-TW" dirty="0"/>
              <a:t>Cloud Computing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D:\Data\edu_NTHU\_myResearchNotes\cloud computing\_Course\slides\tmp\Calculator_on_Windows_7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419872" y="1127357"/>
            <a:ext cx="2644122" cy="337232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What’s Computing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r>
              <a:rPr lang="en-US" altLang="zh-TW" dirty="0"/>
              <a:t>Calculate</a:t>
            </a:r>
          </a:p>
          <a:p>
            <a:endParaRPr lang="en-US" altLang="zh-TW" dirty="0"/>
          </a:p>
          <a:p>
            <a:r>
              <a:rPr lang="en-US" altLang="zh-TW" dirty="0"/>
              <a:t>Game theory</a:t>
            </a:r>
          </a:p>
          <a:p>
            <a:endParaRPr lang="en-US" altLang="zh-TW" dirty="0"/>
          </a:p>
          <a:p>
            <a:r>
              <a:rPr lang="en-US" altLang="zh-TW" dirty="0"/>
              <a:t>Embattle</a:t>
            </a:r>
          </a:p>
          <a:p>
            <a:endParaRPr lang="en-US" altLang="zh-TW" dirty="0"/>
          </a:p>
          <a:p>
            <a:r>
              <a:rPr lang="en-US" altLang="zh-TW" dirty="0"/>
              <a:t>Your thinking</a:t>
            </a:r>
          </a:p>
          <a:p>
            <a:endParaRPr lang="en-US" altLang="zh-TW" dirty="0"/>
          </a:p>
          <a:p>
            <a:r>
              <a:rPr lang="en-US" altLang="zh-TW" dirty="0"/>
              <a:t>…</a:t>
            </a:r>
          </a:p>
          <a:p>
            <a:endParaRPr lang="en-US" altLang="zh-TW" dirty="0"/>
          </a:p>
        </p:txBody>
      </p:sp>
      <p:pic>
        <p:nvPicPr>
          <p:cNvPr id="13316" name="Picture 4" descr="D:\Data\edu_NTHU\_myResearchNotes\cloud computing\_Course\slides\八卦陣.jpeg"/>
          <p:cNvPicPr>
            <a:picLocks noChangeAspect="1" noChangeArrowheads="1"/>
          </p:cNvPicPr>
          <p:nvPr/>
        </p:nvPicPr>
        <p:blipFill>
          <a:blip r:embed="rId3" cstate="print"/>
          <a:srcRect l="2389" t="6806" r="3340" b="11519"/>
          <a:stretch>
            <a:fillRect/>
          </a:stretch>
        </p:blipFill>
        <p:spPr bwMode="auto">
          <a:xfrm>
            <a:off x="3509882" y="4509120"/>
            <a:ext cx="5310590" cy="2160240"/>
          </a:xfrm>
          <a:prstGeom prst="rect">
            <a:avLst/>
          </a:prstGeom>
          <a:ln>
            <a:noFill/>
          </a:ln>
          <a:effectLst>
            <a:outerShdw blurRad="190500" sx="101000" sy="101000" algn="tl" rotWithShape="0">
              <a:srgbClr val="000000"/>
            </a:outerShdw>
          </a:effectLst>
        </p:spPr>
      </p:pic>
      <p:pic>
        <p:nvPicPr>
          <p:cNvPr id="13315" name="Picture 3" descr="D:\Data\edu_NTHU\_myResearchNotes\cloud computing\_Course\slides\西洋棋.jpg"/>
          <p:cNvPicPr>
            <a:picLocks noChangeAspect="1" noChangeArrowheads="1"/>
          </p:cNvPicPr>
          <p:nvPr/>
        </p:nvPicPr>
        <p:blipFill>
          <a:blip r:embed="rId4" cstate="print"/>
          <a:srcRect l="3693" t="6247" r="5477" b="5161"/>
          <a:stretch>
            <a:fillRect/>
          </a:stretch>
        </p:blipFill>
        <p:spPr bwMode="auto">
          <a:xfrm>
            <a:off x="6281470" y="1268760"/>
            <a:ext cx="2539002" cy="3096344"/>
          </a:xfrm>
          <a:prstGeom prst="rect">
            <a:avLst/>
          </a:prstGeom>
          <a:ln>
            <a:noFill/>
          </a:ln>
          <a:effectLst>
            <a:outerShdw blurRad="190500" sx="101000" sy="101000" algn="tl" rotWithShape="0">
              <a:srgbClr val="000000"/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What’s Computing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 computer science</a:t>
            </a:r>
          </a:p>
          <a:p>
            <a:pPr lvl="1"/>
            <a:r>
              <a:rPr lang="en-US" altLang="zh-TW" dirty="0"/>
              <a:t>In a general way, we can define computing to mean any goal-oriented activity requiring, benefiting from, or creating </a:t>
            </a:r>
            <a:r>
              <a:rPr lang="en-US" altLang="zh-TW" dirty="0">
                <a:solidFill>
                  <a:srgbClr val="00B0F0"/>
                </a:solidFill>
              </a:rPr>
              <a:t>computers</a:t>
            </a:r>
            <a:r>
              <a:rPr lang="en-US" altLang="zh-TW" dirty="0"/>
              <a:t>.</a:t>
            </a:r>
          </a:p>
        </p:txBody>
      </p:sp>
      <p:pic>
        <p:nvPicPr>
          <p:cNvPr id="62467" name="Picture 3" descr="C:\Documents and Settings\5G\Local Settings\Temporary Internet Files\Content.IE5\4TUVSL27\dglxasset[1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3429000"/>
            <a:ext cx="2560653" cy="2952328"/>
          </a:xfrm>
          <a:prstGeom prst="rect">
            <a:avLst/>
          </a:prstGeom>
          <a:noFill/>
        </p:spPr>
      </p:pic>
      <p:pic>
        <p:nvPicPr>
          <p:cNvPr id="62470" name="Picture 6" descr="C:\Program Files\Microsoft Office\MEDIA\CAGCAT10\j0300520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3464" y="3501008"/>
            <a:ext cx="2478416" cy="28803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Computing in Computer Science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/>
              <a:t>Computing includes</a:t>
            </a:r>
          </a:p>
          <a:p>
            <a:pPr lvl="1"/>
            <a:r>
              <a:rPr lang="en-US" altLang="zh-TW" dirty="0"/>
              <a:t>Designing and building hardware and software systems for a wide range of purposes</a:t>
            </a:r>
          </a:p>
          <a:p>
            <a:pPr lvl="1"/>
            <a:r>
              <a:rPr lang="en-US" altLang="zh-TW" dirty="0"/>
              <a:t>Processing, structuring, and managing various kinds of information</a:t>
            </a:r>
          </a:p>
          <a:p>
            <a:pPr lvl="1"/>
            <a:r>
              <a:rPr lang="en-US" altLang="zh-TW" dirty="0"/>
              <a:t>Doing scientific studies using computers</a:t>
            </a:r>
          </a:p>
          <a:p>
            <a:pPr lvl="1"/>
            <a:r>
              <a:rPr lang="en-US" altLang="zh-TW" dirty="0"/>
              <a:t>Making computer systems behave intelligently</a:t>
            </a:r>
          </a:p>
          <a:p>
            <a:pPr lvl="1"/>
            <a:r>
              <a:rPr lang="en-US" altLang="zh-TW" dirty="0"/>
              <a:t>Creating and using communications and entertainment media</a:t>
            </a:r>
          </a:p>
          <a:p>
            <a:pPr lvl="1"/>
            <a:r>
              <a:rPr lang="en-US" altLang="zh-TW" dirty="0"/>
              <a:t>…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type="body" idx="4294967295"/>
          </p:nvPr>
        </p:nvSpPr>
        <p:spPr>
          <a:xfrm>
            <a:off x="1371600" y="1484783"/>
            <a:ext cx="7520880" cy="2922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i="1" dirty="0"/>
              <a:t>…computing may someday be organized as a </a:t>
            </a:r>
            <a:r>
              <a:rPr lang="en-US" altLang="zh-TW" sz="3200" i="1" dirty="0">
                <a:solidFill>
                  <a:srgbClr val="FFC000"/>
                </a:solidFill>
              </a:rPr>
              <a:t>public utility </a:t>
            </a:r>
            <a:r>
              <a:rPr lang="en-US" altLang="zh-TW" sz="3200" i="1" dirty="0"/>
              <a:t>just as the telephone system is a public utility... The computer utility could become the basis of a new and important industry.</a:t>
            </a:r>
          </a:p>
          <a:p>
            <a:endParaRPr lang="en-US" altLang="zh-TW" sz="3200" i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5799302" y="4365104"/>
            <a:ext cx="3344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1400" dirty="0">
                <a:latin typeface="Times New Roman"/>
                <a:cs typeface="Times New Roman"/>
              </a:rPr>
              <a:t>−</a:t>
            </a:r>
            <a:r>
              <a:rPr lang="en-US" altLang="zh-TW" sz="1400" dirty="0"/>
              <a:t> John McCarthy (a professor of MIT) 1961.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type="body" idx="4294967295"/>
          </p:nvPr>
        </p:nvSpPr>
        <p:spPr>
          <a:xfrm>
            <a:off x="1371600" y="1484783"/>
            <a:ext cx="7520880" cy="3816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i="1" dirty="0"/>
              <a:t>As of now, computer networks are still in their infancy, but as they grow up and become sophisticated, we will probably see the spread of </a:t>
            </a:r>
            <a:r>
              <a:rPr lang="en-US" altLang="zh-TW" sz="3200" i="1" dirty="0">
                <a:solidFill>
                  <a:srgbClr val="FFC000"/>
                </a:solidFill>
              </a:rPr>
              <a:t>computer utilities </a:t>
            </a:r>
            <a:r>
              <a:rPr lang="en-US" altLang="zh-TW" sz="3200" i="1" dirty="0"/>
              <a:t>which, like present electric and telephone utilities, will service individual homes and offices across the country.</a:t>
            </a:r>
          </a:p>
          <a:p>
            <a:endParaRPr lang="en-US" altLang="zh-TW" sz="3200" i="1" dirty="0"/>
          </a:p>
        </p:txBody>
      </p:sp>
      <p:sp>
        <p:nvSpPr>
          <p:cNvPr id="4" name="文字方塊 3"/>
          <p:cNvSpPr txBox="1"/>
          <p:nvPr/>
        </p:nvSpPr>
        <p:spPr>
          <a:xfrm>
            <a:off x="3187113" y="5209455"/>
            <a:ext cx="5956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1400" dirty="0">
                <a:latin typeface="Times New Roman"/>
                <a:cs typeface="Times New Roman"/>
              </a:rPr>
              <a:t>−</a:t>
            </a:r>
            <a:r>
              <a:rPr lang="en-US" altLang="zh-TW" sz="1400" dirty="0"/>
              <a:t> L. </a:t>
            </a:r>
            <a:r>
              <a:rPr lang="en-US" altLang="zh-TW" sz="1400" dirty="0" err="1"/>
              <a:t>Kleinrock</a:t>
            </a:r>
            <a:r>
              <a:rPr lang="en-US" altLang="zh-TW" sz="1400" dirty="0"/>
              <a:t> (one of the chief scientists of the original ARPANET project) 1969.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11"/>
          <p:cNvSpPr>
            <a:spLocks noGrp="1"/>
          </p:cNvSpPr>
          <p:nvPr>
            <p:ph type="body" idx="4294967295"/>
          </p:nvPr>
        </p:nvSpPr>
        <p:spPr>
          <a:xfrm>
            <a:off x="1371600" y="2906713"/>
            <a:ext cx="7772400" cy="1500187"/>
          </a:xfrm>
        </p:spPr>
        <p:txBody>
          <a:bodyPr/>
          <a:lstStyle/>
          <a:p>
            <a:pPr>
              <a:buNone/>
            </a:pPr>
            <a:r>
              <a:rPr lang="en-US" altLang="zh-TW" dirty="0"/>
              <a:t>Computing will one day be…</a:t>
            </a:r>
            <a:endParaRPr lang="zh-TW" altLang="en-US" dirty="0"/>
          </a:p>
        </p:txBody>
      </p:sp>
      <p:sp>
        <p:nvSpPr>
          <p:cNvPr id="11" name="標題 10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/>
          <a:lstStyle/>
          <a:p>
            <a:r>
              <a:rPr lang="en-US" altLang="zh-TW" dirty="0"/>
              <a:t>The 5</a:t>
            </a:r>
            <a:r>
              <a:rPr lang="en-US" altLang="zh-TW" baseline="30000" dirty="0"/>
              <a:t>th</a:t>
            </a:r>
            <a:r>
              <a:rPr lang="en-US" altLang="zh-TW" dirty="0"/>
              <a:t> Utility</a:t>
            </a:r>
            <a:endParaRPr lang="zh-TW" altLang="en-US" dirty="0"/>
          </a:p>
        </p:txBody>
      </p:sp>
      <p:pic>
        <p:nvPicPr>
          <p:cNvPr id="9220" name="Picture 4" descr="C:\Documents and Settings\5G\Local Settings\Temporary Internet Files\Content.IE5\C9IV0LU7\dglxasset[1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40803" y="2537917"/>
            <a:ext cx="1803197" cy="1782166"/>
          </a:xfrm>
          <a:prstGeom prst="rect">
            <a:avLst/>
          </a:prstGeom>
          <a:noFill/>
        </p:spPr>
      </p:pic>
      <p:pic>
        <p:nvPicPr>
          <p:cNvPr id="9222" name="Picture 6" descr="C:\Documents and Settings\5G\Local Settings\Temporary Internet Files\Content.IE5\O9YV8TA7\dglxasset[3].aspx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4149080"/>
            <a:ext cx="1368152" cy="1761573"/>
          </a:xfrm>
          <a:prstGeom prst="rect">
            <a:avLst/>
          </a:prstGeom>
          <a:noFill/>
        </p:spPr>
      </p:pic>
      <p:pic>
        <p:nvPicPr>
          <p:cNvPr id="9224" name="Picture 8" descr="C:\Documents and Settings\5G\Local Settings\Temporary Internet Files\Content.IE5\05I38XQJ\MC900434862[2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24544" y="5067071"/>
            <a:ext cx="1790929" cy="1790929"/>
          </a:xfrm>
          <a:prstGeom prst="rect">
            <a:avLst/>
          </a:prstGeom>
          <a:noFill/>
        </p:spPr>
      </p:pic>
      <p:pic>
        <p:nvPicPr>
          <p:cNvPr id="9227" name="Picture 11" descr="C:\Documents and Settings\5G\Local Settings\Temporary Internet Files\Content.IE5\4TUVSL27\dglxasset[3].aspx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2040" y="980728"/>
            <a:ext cx="1512168" cy="15192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5</a:t>
            </a:r>
            <a:r>
              <a:rPr lang="en-US" altLang="zh-TW" baseline="30000" dirty="0"/>
              <a:t>th</a:t>
            </a:r>
            <a:r>
              <a:rPr lang="en-US" altLang="zh-TW" dirty="0"/>
              <a:t> Utility</a:t>
            </a:r>
            <a:endParaRPr lang="en-US" altLang="zh-TW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Traditional utilities</a:t>
            </a:r>
          </a:p>
          <a:p>
            <a:pPr lvl="1"/>
            <a:r>
              <a:rPr lang="en-US" altLang="zh-TW" dirty="0"/>
              <a:t>Water</a:t>
            </a:r>
          </a:p>
          <a:p>
            <a:pPr lvl="1"/>
            <a:r>
              <a:rPr lang="en-US" altLang="zh-TW" dirty="0"/>
              <a:t>Electricity</a:t>
            </a:r>
          </a:p>
          <a:p>
            <a:pPr lvl="1"/>
            <a:r>
              <a:rPr lang="en-US" altLang="zh-TW" dirty="0"/>
              <a:t>Natural gas</a:t>
            </a:r>
          </a:p>
          <a:p>
            <a:pPr lvl="1"/>
            <a:r>
              <a:rPr lang="en-US" altLang="zh-TW" dirty="0"/>
              <a:t>Telephone network</a:t>
            </a:r>
          </a:p>
          <a:p>
            <a:pPr lvl="1"/>
            <a:endParaRPr lang="en-US" altLang="zh-TW" dirty="0"/>
          </a:p>
          <a:p>
            <a:r>
              <a:rPr lang="en-US" altLang="zh-TW" i="1" dirty="0">
                <a:solidFill>
                  <a:schemeClr val="accent3">
                    <a:lumMod val="50000"/>
                  </a:schemeClr>
                </a:solidFill>
              </a:rPr>
              <a:t>Computing</a:t>
            </a:r>
            <a:r>
              <a:rPr lang="en-US" altLang="zh-TW" dirty="0"/>
              <a:t> is being transformed to a model consisting of services that are commoditized and delivered in a manner similar to traditional utilities</a:t>
            </a:r>
          </a:p>
          <a:p>
            <a:endParaRPr lang="en-US" altLang="zh-TW" dirty="0"/>
          </a:p>
          <a:p>
            <a:pPr>
              <a:buNone/>
            </a:pPr>
            <a:r>
              <a:rPr lang="en-US" altLang="zh-TW" dirty="0">
                <a:sym typeface="Wingdings" pitchFamily="2" charset="2"/>
              </a:rPr>
              <a:t> Utility Computing</a:t>
            </a:r>
            <a:endParaRPr lang="en-US" altLang="zh-TW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Utility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/>
              <a:t>Computing as a Utility</a:t>
            </a:r>
          </a:p>
          <a:p>
            <a:pPr lvl="1"/>
            <a:r>
              <a:rPr lang="en-US" altLang="zh-TW" dirty="0"/>
              <a:t>Provide the basic level of computing service that is considered essential to meet the everyday needs</a:t>
            </a:r>
            <a:endParaRPr lang="zh-TW" altLang="en-US" dirty="0"/>
          </a:p>
          <a:p>
            <a:pPr lvl="1"/>
            <a:r>
              <a:rPr lang="en-US" altLang="zh-TW" dirty="0"/>
              <a:t>Users access services based on their requirements without regard to where the services are hosted or how they are delivered</a:t>
            </a:r>
          </a:p>
          <a:p>
            <a:endParaRPr lang="en-US" altLang="zh-TW" dirty="0"/>
          </a:p>
          <a:p>
            <a:r>
              <a:rPr lang="en-US" altLang="zh-TW" dirty="0"/>
              <a:t>Offing computing resources as a metered service</a:t>
            </a:r>
          </a:p>
        </p:txBody>
      </p:sp>
      <p:pic>
        <p:nvPicPr>
          <p:cNvPr id="7173" name="Picture 5" descr="C:\Documents and Settings\5G\Local Settings\Temporary Internet Files\Content.IE5\C9IV0LU7\dglxasset[2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5085184"/>
            <a:ext cx="1584176" cy="166589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Creation of The Internet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Internet is the foremost milestone</a:t>
            </a:r>
          </a:p>
          <a:p>
            <a:endParaRPr lang="en-US" altLang="zh-TW" dirty="0"/>
          </a:p>
          <a:p>
            <a:r>
              <a:rPr lang="en-US" altLang="zh-TW" dirty="0"/>
              <a:t>Enables individual computers to communicate with any other computers located elsewhere in the world</a:t>
            </a:r>
            <a:endParaRPr lang="zh-TW" altLang="en-US" dirty="0"/>
          </a:p>
        </p:txBody>
      </p:sp>
      <p:pic>
        <p:nvPicPr>
          <p:cNvPr id="7" name="Picture 2" descr="D:\Data\edu_NTHU\_myResearchNotes\cloud computing\_Course\slides\600px-Internet_map_1024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648200" y="1843881"/>
            <a:ext cx="4038600" cy="4038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化對角線角落矩形 4"/>
          <p:cNvSpPr/>
          <p:nvPr/>
        </p:nvSpPr>
        <p:spPr>
          <a:xfrm>
            <a:off x="179512" y="3501008"/>
            <a:ext cx="2160240" cy="252028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Paradigms</a:t>
            </a:r>
            <a:r>
              <a:rPr lang="en-US" altLang="zh-TW" dirty="0"/>
              <a:t> </a:t>
            </a:r>
          </a:p>
          <a:p>
            <a:pPr algn="ctr"/>
            <a:endParaRPr lang="en-US" altLang="zh-TW" dirty="0"/>
          </a:p>
          <a:p>
            <a:pPr algn="ctr"/>
            <a:r>
              <a:rPr lang="en-US" altLang="zh-TW" dirty="0"/>
              <a:t>Utility Computing</a:t>
            </a:r>
          </a:p>
          <a:p>
            <a:pPr algn="ctr"/>
            <a:r>
              <a:rPr lang="en-US" altLang="zh-TW" dirty="0"/>
              <a:t>Cluster Computing</a:t>
            </a:r>
          </a:p>
          <a:p>
            <a:pPr algn="ctr"/>
            <a:r>
              <a:rPr lang="en-US" altLang="zh-TW" dirty="0"/>
              <a:t>Grid Computing</a:t>
            </a:r>
          </a:p>
          <a:p>
            <a:pPr algn="ctr"/>
            <a:r>
              <a:rPr lang="en-US" altLang="zh-TW" dirty="0"/>
              <a:t>Cloud Computing</a:t>
            </a:r>
          </a:p>
          <a:p>
            <a:pPr algn="ctr"/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6" name="加號 5"/>
          <p:cNvSpPr/>
          <p:nvPr/>
        </p:nvSpPr>
        <p:spPr>
          <a:xfrm>
            <a:off x="2555776" y="4221088"/>
            <a:ext cx="914400" cy="914400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剪去單一角落矩形 16"/>
          <p:cNvSpPr/>
          <p:nvPr/>
        </p:nvSpPr>
        <p:spPr>
          <a:xfrm>
            <a:off x="3779912" y="3140968"/>
            <a:ext cx="1944216" cy="3384376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Attribute</a:t>
            </a:r>
          </a:p>
          <a:p>
            <a:pPr algn="ctr"/>
            <a:endParaRPr lang="en-US" altLang="zh-TW" dirty="0"/>
          </a:p>
          <a:p>
            <a:pPr algn="ctr"/>
            <a:r>
              <a:rPr lang="en-US" altLang="zh-TW" dirty="0"/>
              <a:t>Accessibility</a:t>
            </a:r>
          </a:p>
          <a:p>
            <a:pPr algn="ctr"/>
            <a:r>
              <a:rPr lang="en-US" altLang="zh-TW" dirty="0"/>
              <a:t>Manageability</a:t>
            </a:r>
          </a:p>
          <a:p>
            <a:pPr algn="ctr"/>
            <a:r>
              <a:rPr lang="en-US" altLang="zh-TW" dirty="0"/>
              <a:t>Autonomic</a:t>
            </a:r>
          </a:p>
          <a:p>
            <a:pPr algn="ctr"/>
            <a:r>
              <a:rPr lang="en-US" altLang="zh-TW" dirty="0"/>
              <a:t>Performance</a:t>
            </a:r>
          </a:p>
          <a:p>
            <a:pPr algn="ctr"/>
            <a:r>
              <a:rPr lang="en-US" altLang="zh-TW" dirty="0"/>
              <a:t>Scalability</a:t>
            </a:r>
          </a:p>
          <a:p>
            <a:pPr algn="ctr"/>
            <a:r>
              <a:rPr lang="en-US" altLang="zh-TW" dirty="0"/>
              <a:t>Availability</a:t>
            </a:r>
          </a:p>
          <a:p>
            <a:pPr algn="ctr"/>
            <a:r>
              <a:rPr lang="en-US" altLang="zh-TW" dirty="0" err="1"/>
              <a:t>QoS</a:t>
            </a:r>
            <a:endParaRPr lang="en-US" altLang="zh-TW" dirty="0"/>
          </a:p>
          <a:p>
            <a:pPr algn="ctr"/>
            <a:r>
              <a:rPr lang="en-US" altLang="zh-TW" dirty="0"/>
              <a:t>SLA</a:t>
            </a:r>
          </a:p>
          <a:p>
            <a:pPr algn="ctr"/>
            <a:r>
              <a:rPr lang="en-US" altLang="zh-TW" dirty="0"/>
              <a:t>…</a:t>
            </a:r>
          </a:p>
          <a:p>
            <a:pPr algn="ctr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Variety of Paradigms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96751"/>
          </a:xfrm>
        </p:spPr>
        <p:txBody>
          <a:bodyPr>
            <a:normAutofit/>
          </a:bodyPr>
          <a:lstStyle/>
          <a:p>
            <a:r>
              <a:rPr lang="en-US" altLang="zh-TW" dirty="0"/>
              <a:t>New computing paradigms have been proposed and adopted to edge closer toward achieving the vision of </a:t>
            </a:r>
            <a:r>
              <a:rPr lang="en-US" altLang="zh-TW" i="1" dirty="0">
                <a:solidFill>
                  <a:srgbClr val="00B0F0"/>
                </a:solidFill>
              </a:rPr>
              <a:t>computer utilities</a:t>
            </a:r>
            <a:endParaRPr lang="zh-TW" altLang="en-US" i="1" dirty="0">
              <a:solidFill>
                <a:srgbClr val="00B0F0"/>
              </a:solidFill>
            </a:endParaRPr>
          </a:p>
        </p:txBody>
      </p:sp>
      <p:sp>
        <p:nvSpPr>
          <p:cNvPr id="16" name="向右箭號 15"/>
          <p:cNvSpPr/>
          <p:nvPr/>
        </p:nvSpPr>
        <p:spPr>
          <a:xfrm>
            <a:off x="6084168" y="4437112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121" name="Picture 1" descr="C:\Documents and Settings\5G\Local Settings\Temporary Internet Files\Content.IE5\4TUVSL27\dglxasset[4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3645024"/>
            <a:ext cx="1691640" cy="18324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11"/>
          <p:cNvSpPr>
            <a:spLocks noGrp="1"/>
          </p:cNvSpPr>
          <p:nvPr>
            <p:ph type="body" idx="4294967295"/>
          </p:nvPr>
        </p:nvSpPr>
        <p:spPr>
          <a:xfrm>
            <a:off x="1371600" y="2906713"/>
            <a:ext cx="7772400" cy="1500187"/>
          </a:xfrm>
        </p:spPr>
        <p:txBody>
          <a:bodyPr/>
          <a:lstStyle/>
          <a:p>
            <a:pPr>
              <a:buNone/>
            </a:pPr>
            <a:r>
              <a:rPr lang="en-US" altLang="zh-TW" dirty="0"/>
              <a:t>The fundamental notion is…</a:t>
            </a:r>
            <a:endParaRPr lang="zh-TW" altLang="en-US" dirty="0"/>
          </a:p>
        </p:txBody>
      </p:sp>
      <p:sp>
        <p:nvSpPr>
          <p:cNvPr id="11" name="標題 10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/>
          <a:lstStyle/>
          <a:p>
            <a:r>
              <a:rPr lang="en-US" altLang="zh-TW" dirty="0"/>
              <a:t>Distributed Computing</a:t>
            </a:r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Distributed Computing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n-US" altLang="zh-TW" dirty="0"/>
              <a:t>A computer system in which several </a:t>
            </a:r>
            <a:r>
              <a:rPr lang="en-US" altLang="zh-TW" i="1" dirty="0">
                <a:solidFill>
                  <a:srgbClr val="00B0F0"/>
                </a:solidFill>
              </a:rPr>
              <a:t>interconnected computers </a:t>
            </a:r>
            <a:r>
              <a:rPr lang="en-US" altLang="zh-TW" dirty="0"/>
              <a:t>share the computing tasks assigned to the system</a:t>
            </a:r>
          </a:p>
          <a:p>
            <a:pPr lvl="2"/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Paradigms</a:t>
            </a:r>
          </a:p>
          <a:p>
            <a:pPr lvl="1"/>
            <a:r>
              <a:rPr lang="en-US" altLang="zh-TW" dirty="0"/>
              <a:t>Cluster computing</a:t>
            </a:r>
          </a:p>
          <a:p>
            <a:pPr lvl="1"/>
            <a:r>
              <a:rPr lang="en-US" altLang="zh-TW" dirty="0"/>
              <a:t>Grid computing</a:t>
            </a:r>
          </a:p>
          <a:p>
            <a:pPr lvl="1"/>
            <a:r>
              <a:rPr lang="en-US" altLang="zh-TW" dirty="0"/>
              <a:t>Cloud computing</a:t>
            </a:r>
          </a:p>
        </p:txBody>
      </p:sp>
      <p:pic>
        <p:nvPicPr>
          <p:cNvPr id="3073" name="Picture 1" descr="C:\Documents and Settings\5G\Local Settings\Temporary Internet Files\Content.IE5\05I38XQJ\dglxasset[1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4005064"/>
            <a:ext cx="2448272" cy="24755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Demand for Computing Power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Solving  grand challenge applications using computer </a:t>
            </a:r>
            <a:r>
              <a:rPr lang="en-US" altLang="zh-TW" i="1" dirty="0">
                <a:solidFill>
                  <a:srgbClr val="00B0F0"/>
                </a:solidFill>
              </a:rPr>
              <a:t>modeling</a:t>
            </a:r>
            <a:r>
              <a:rPr lang="en-US" altLang="zh-TW" dirty="0"/>
              <a:t>, </a:t>
            </a:r>
            <a:r>
              <a:rPr lang="en-US" altLang="zh-TW" i="1" dirty="0">
                <a:solidFill>
                  <a:srgbClr val="00B0F0"/>
                </a:solidFill>
              </a:rPr>
              <a:t>simulation</a:t>
            </a:r>
            <a:r>
              <a:rPr lang="en-US" altLang="zh-TW" dirty="0"/>
              <a:t> and </a:t>
            </a:r>
            <a:r>
              <a:rPr lang="en-US" altLang="zh-TW" i="1" dirty="0">
                <a:solidFill>
                  <a:srgbClr val="00B0F0"/>
                </a:solidFill>
              </a:rPr>
              <a:t>analysis</a:t>
            </a:r>
          </a:p>
          <a:p>
            <a:endParaRPr lang="zh-TW" altLang="en-US" dirty="0"/>
          </a:p>
        </p:txBody>
      </p:sp>
      <p:grpSp>
        <p:nvGrpSpPr>
          <p:cNvPr id="432" name="群組 431"/>
          <p:cNvGrpSpPr/>
          <p:nvPr/>
        </p:nvGrpSpPr>
        <p:grpSpPr>
          <a:xfrm>
            <a:off x="269522" y="2492896"/>
            <a:ext cx="8604956" cy="4337156"/>
            <a:chOff x="107504" y="2389584"/>
            <a:chExt cx="8986837" cy="4513153"/>
          </a:xfrm>
        </p:grpSpPr>
        <p:grpSp>
          <p:nvGrpSpPr>
            <p:cNvPr id="325" name="Group 4"/>
            <p:cNvGrpSpPr>
              <a:grpSpLocks/>
            </p:cNvGrpSpPr>
            <p:nvPr/>
          </p:nvGrpSpPr>
          <p:grpSpPr bwMode="auto">
            <a:xfrm>
              <a:off x="178941" y="4926410"/>
              <a:ext cx="2733675" cy="1181100"/>
              <a:chOff x="4" y="3124"/>
              <a:chExt cx="4290" cy="1016"/>
            </a:xfrm>
          </p:grpSpPr>
          <p:sp>
            <p:nvSpPr>
              <p:cNvPr id="326" name="Rectangle 5"/>
              <p:cNvSpPr>
                <a:spLocks noChangeArrowheads="1"/>
              </p:cNvSpPr>
              <p:nvPr/>
            </p:nvSpPr>
            <p:spPr bwMode="auto">
              <a:xfrm>
                <a:off x="4" y="3124"/>
                <a:ext cx="4290" cy="1016"/>
              </a:xfrm>
              <a:prstGeom prst="rect">
                <a:avLst/>
              </a:prstGeom>
              <a:gradFill rotWithShape="0">
                <a:gsLst>
                  <a:gs pos="0">
                    <a:srgbClr val="C0FEF9"/>
                  </a:gs>
                  <a:gs pos="100000">
                    <a:srgbClr val="C0FEF9">
                      <a:gamma/>
                      <a:shade val="29804"/>
                      <a:invGamma/>
                    </a:srgbClr>
                  </a:gs>
                </a:gsLst>
                <a:path path="rect">
                  <a:fillToRect r="100000" b="100000"/>
                </a:path>
              </a:gradFill>
              <a:ln w="12700">
                <a:solidFill>
                  <a:srgbClr val="FFFF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1C1C1C"/>
                </a:outerShdw>
              </a:effec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327" name="Group 6"/>
              <p:cNvGrpSpPr>
                <a:grpSpLocks/>
              </p:cNvGrpSpPr>
              <p:nvPr/>
            </p:nvGrpSpPr>
            <p:grpSpPr bwMode="auto">
              <a:xfrm>
                <a:off x="49" y="3161"/>
                <a:ext cx="4217" cy="848"/>
                <a:chOff x="48" y="3076"/>
                <a:chExt cx="4100" cy="825"/>
              </a:xfrm>
            </p:grpSpPr>
            <p:grpSp>
              <p:nvGrpSpPr>
                <p:cNvPr id="348" name="Group 7"/>
                <p:cNvGrpSpPr>
                  <a:grpSpLocks/>
                </p:cNvGrpSpPr>
                <p:nvPr/>
              </p:nvGrpSpPr>
              <p:grpSpPr bwMode="auto">
                <a:xfrm>
                  <a:off x="1120" y="3076"/>
                  <a:ext cx="2815" cy="324"/>
                  <a:chOff x="1120" y="3076"/>
                  <a:chExt cx="2815" cy="324"/>
                </a:xfrm>
              </p:grpSpPr>
              <p:grpSp>
                <p:nvGrpSpPr>
                  <p:cNvPr id="376" name="Group 8"/>
                  <p:cNvGrpSpPr>
                    <a:grpSpLocks/>
                  </p:cNvGrpSpPr>
                  <p:nvPr/>
                </p:nvGrpSpPr>
                <p:grpSpPr bwMode="auto">
                  <a:xfrm>
                    <a:off x="1444" y="3110"/>
                    <a:ext cx="1503" cy="286"/>
                    <a:chOff x="1444" y="3110"/>
                    <a:chExt cx="1503" cy="286"/>
                  </a:xfrm>
                </p:grpSpPr>
                <p:grpSp>
                  <p:nvGrpSpPr>
                    <p:cNvPr id="378" name="Group 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57" y="3121"/>
                      <a:ext cx="957" cy="246"/>
                      <a:chOff x="1657" y="3121"/>
                      <a:chExt cx="957" cy="246"/>
                    </a:xfrm>
                  </p:grpSpPr>
                  <p:sp>
                    <p:nvSpPr>
                      <p:cNvPr id="380" name="Freeform 1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49" y="3121"/>
                        <a:ext cx="165" cy="20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60" y="3"/>
                          </a:cxn>
                          <a:cxn ang="0">
                            <a:pos x="164" y="0"/>
                          </a:cxn>
                          <a:cxn ang="0">
                            <a:pos x="56" y="200"/>
                          </a:cxn>
                          <a:cxn ang="0">
                            <a:pos x="0" y="200"/>
                          </a:cxn>
                          <a:cxn ang="0">
                            <a:pos x="119" y="0"/>
                          </a:cxn>
                          <a:cxn ang="0">
                            <a:pos x="160" y="3"/>
                          </a:cxn>
                        </a:cxnLst>
                        <a:rect l="0" t="0" r="r" b="b"/>
                        <a:pathLst>
                          <a:path w="165" h="201">
                            <a:moveTo>
                              <a:pt x="160" y="3"/>
                            </a:moveTo>
                            <a:lnTo>
                              <a:pt x="164" y="0"/>
                            </a:lnTo>
                            <a:lnTo>
                              <a:pt x="56" y="200"/>
                            </a:lnTo>
                            <a:lnTo>
                              <a:pt x="0" y="200"/>
                            </a:lnTo>
                            <a:lnTo>
                              <a:pt x="119" y="0"/>
                            </a:lnTo>
                            <a:lnTo>
                              <a:pt x="160" y="3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81" name="Freeform 1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57" y="3233"/>
                        <a:ext cx="152" cy="13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11" y="15"/>
                          </a:cxn>
                          <a:cxn ang="0">
                            <a:pos x="107" y="13"/>
                          </a:cxn>
                          <a:cxn ang="0">
                            <a:pos x="0" y="133"/>
                          </a:cxn>
                          <a:cxn ang="0">
                            <a:pos x="52" y="126"/>
                          </a:cxn>
                          <a:cxn ang="0">
                            <a:pos x="151" y="0"/>
                          </a:cxn>
                          <a:cxn ang="0">
                            <a:pos x="111" y="15"/>
                          </a:cxn>
                        </a:cxnLst>
                        <a:rect l="0" t="0" r="r" b="b"/>
                        <a:pathLst>
                          <a:path w="152" h="134">
                            <a:moveTo>
                              <a:pt x="111" y="15"/>
                            </a:moveTo>
                            <a:lnTo>
                              <a:pt x="107" y="13"/>
                            </a:lnTo>
                            <a:lnTo>
                              <a:pt x="0" y="133"/>
                            </a:lnTo>
                            <a:lnTo>
                              <a:pt x="52" y="126"/>
                            </a:lnTo>
                            <a:lnTo>
                              <a:pt x="151" y="0"/>
                            </a:lnTo>
                            <a:lnTo>
                              <a:pt x="111" y="15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sp>
                  <p:nvSpPr>
                    <p:cNvPr id="379" name="Freeform 12"/>
                    <p:cNvSpPr>
                      <a:spLocks/>
                    </p:cNvSpPr>
                    <p:nvPr/>
                  </p:nvSpPr>
                  <p:spPr bwMode="auto">
                    <a:xfrm>
                      <a:off x="1444" y="3110"/>
                      <a:ext cx="1503" cy="286"/>
                    </a:xfrm>
                    <a:custGeom>
                      <a:avLst/>
                      <a:gdLst/>
                      <a:ahLst/>
                      <a:cxnLst>
                        <a:cxn ang="0">
                          <a:pos x="1490" y="38"/>
                        </a:cxn>
                        <a:cxn ang="0">
                          <a:pos x="1349" y="33"/>
                        </a:cxn>
                        <a:cxn ang="0">
                          <a:pos x="1241" y="33"/>
                        </a:cxn>
                        <a:cxn ang="0">
                          <a:pos x="1096" y="26"/>
                        </a:cxn>
                        <a:cxn ang="0">
                          <a:pos x="962" y="26"/>
                        </a:cxn>
                        <a:cxn ang="0">
                          <a:pos x="811" y="26"/>
                        </a:cxn>
                        <a:cxn ang="0">
                          <a:pos x="676" y="29"/>
                        </a:cxn>
                        <a:cxn ang="0">
                          <a:pos x="613" y="37"/>
                        </a:cxn>
                        <a:cxn ang="0">
                          <a:pos x="558" y="48"/>
                        </a:cxn>
                        <a:cxn ang="0">
                          <a:pos x="497" y="67"/>
                        </a:cxn>
                        <a:cxn ang="0">
                          <a:pos x="439" y="87"/>
                        </a:cxn>
                        <a:cxn ang="0">
                          <a:pos x="227" y="183"/>
                        </a:cxn>
                        <a:cxn ang="0">
                          <a:pos x="114" y="227"/>
                        </a:cxn>
                        <a:cxn ang="0">
                          <a:pos x="49" y="263"/>
                        </a:cxn>
                        <a:cxn ang="0">
                          <a:pos x="108" y="262"/>
                        </a:cxn>
                        <a:cxn ang="0">
                          <a:pos x="1501" y="170"/>
                        </a:cxn>
                        <a:cxn ang="0">
                          <a:pos x="1499" y="198"/>
                        </a:cxn>
                        <a:cxn ang="0">
                          <a:pos x="45" y="285"/>
                        </a:cxn>
                        <a:cxn ang="0">
                          <a:pos x="0" y="278"/>
                        </a:cxn>
                        <a:cxn ang="0">
                          <a:pos x="23" y="253"/>
                        </a:cxn>
                        <a:cxn ang="0">
                          <a:pos x="63" y="227"/>
                        </a:cxn>
                        <a:cxn ang="0">
                          <a:pos x="161" y="183"/>
                        </a:cxn>
                        <a:cxn ang="0">
                          <a:pos x="237" y="147"/>
                        </a:cxn>
                        <a:cxn ang="0">
                          <a:pos x="430" y="65"/>
                        </a:cxn>
                        <a:cxn ang="0">
                          <a:pos x="517" y="36"/>
                        </a:cxn>
                        <a:cxn ang="0">
                          <a:pos x="603" y="16"/>
                        </a:cxn>
                        <a:cxn ang="0">
                          <a:pos x="795" y="0"/>
                        </a:cxn>
                        <a:cxn ang="0">
                          <a:pos x="1059" y="0"/>
                        </a:cxn>
                        <a:cxn ang="0">
                          <a:pos x="1490" y="20"/>
                        </a:cxn>
                        <a:cxn ang="0">
                          <a:pos x="1490" y="38"/>
                        </a:cxn>
                      </a:cxnLst>
                      <a:rect l="0" t="0" r="r" b="b"/>
                      <a:pathLst>
                        <a:path w="1502" h="286">
                          <a:moveTo>
                            <a:pt x="1490" y="38"/>
                          </a:moveTo>
                          <a:lnTo>
                            <a:pt x="1349" y="33"/>
                          </a:lnTo>
                          <a:lnTo>
                            <a:pt x="1241" y="33"/>
                          </a:lnTo>
                          <a:lnTo>
                            <a:pt x="1096" y="26"/>
                          </a:lnTo>
                          <a:lnTo>
                            <a:pt x="962" y="26"/>
                          </a:lnTo>
                          <a:lnTo>
                            <a:pt x="811" y="26"/>
                          </a:lnTo>
                          <a:lnTo>
                            <a:pt x="676" y="29"/>
                          </a:lnTo>
                          <a:lnTo>
                            <a:pt x="613" y="37"/>
                          </a:lnTo>
                          <a:lnTo>
                            <a:pt x="558" y="48"/>
                          </a:lnTo>
                          <a:lnTo>
                            <a:pt x="497" y="67"/>
                          </a:lnTo>
                          <a:lnTo>
                            <a:pt x="439" y="87"/>
                          </a:lnTo>
                          <a:lnTo>
                            <a:pt x="227" y="183"/>
                          </a:lnTo>
                          <a:lnTo>
                            <a:pt x="114" y="227"/>
                          </a:lnTo>
                          <a:lnTo>
                            <a:pt x="49" y="263"/>
                          </a:lnTo>
                          <a:lnTo>
                            <a:pt x="108" y="262"/>
                          </a:lnTo>
                          <a:lnTo>
                            <a:pt x="1501" y="170"/>
                          </a:lnTo>
                          <a:lnTo>
                            <a:pt x="1499" y="198"/>
                          </a:lnTo>
                          <a:lnTo>
                            <a:pt x="45" y="285"/>
                          </a:lnTo>
                          <a:lnTo>
                            <a:pt x="0" y="278"/>
                          </a:lnTo>
                          <a:lnTo>
                            <a:pt x="23" y="253"/>
                          </a:lnTo>
                          <a:lnTo>
                            <a:pt x="63" y="227"/>
                          </a:lnTo>
                          <a:lnTo>
                            <a:pt x="161" y="183"/>
                          </a:lnTo>
                          <a:lnTo>
                            <a:pt x="237" y="147"/>
                          </a:lnTo>
                          <a:lnTo>
                            <a:pt x="430" y="65"/>
                          </a:lnTo>
                          <a:lnTo>
                            <a:pt x="517" y="36"/>
                          </a:lnTo>
                          <a:lnTo>
                            <a:pt x="603" y="16"/>
                          </a:lnTo>
                          <a:lnTo>
                            <a:pt x="795" y="0"/>
                          </a:lnTo>
                          <a:lnTo>
                            <a:pt x="1059" y="0"/>
                          </a:lnTo>
                          <a:lnTo>
                            <a:pt x="1490" y="20"/>
                          </a:lnTo>
                          <a:lnTo>
                            <a:pt x="1490" y="38"/>
                          </a:lnTo>
                        </a:path>
                      </a:pathLst>
                    </a:custGeom>
                    <a:solidFill>
                      <a:srgbClr val="80000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p:grpSp>
              <p:sp>
                <p:nvSpPr>
                  <p:cNvPr id="377" name="Freeform 13"/>
                  <p:cNvSpPr>
                    <a:spLocks/>
                  </p:cNvSpPr>
                  <p:nvPr/>
                </p:nvSpPr>
                <p:spPr bwMode="auto">
                  <a:xfrm>
                    <a:off x="1120" y="3076"/>
                    <a:ext cx="2815" cy="324"/>
                  </a:xfrm>
                  <a:custGeom>
                    <a:avLst/>
                    <a:gdLst/>
                    <a:ahLst/>
                    <a:cxnLst>
                      <a:cxn ang="0">
                        <a:pos x="2703" y="203"/>
                      </a:cxn>
                      <a:cxn ang="0">
                        <a:pos x="2564" y="172"/>
                      </a:cxn>
                      <a:cxn ang="0">
                        <a:pos x="2458" y="148"/>
                      </a:cxn>
                      <a:cxn ang="0">
                        <a:pos x="2349" y="122"/>
                      </a:cxn>
                      <a:cxn ang="0">
                        <a:pos x="2238" y="105"/>
                      </a:cxn>
                      <a:cxn ang="0">
                        <a:pos x="2149" y="92"/>
                      </a:cxn>
                      <a:cxn ang="0">
                        <a:pos x="2036" y="76"/>
                      </a:cxn>
                      <a:cxn ang="0">
                        <a:pos x="1936" y="57"/>
                      </a:cxn>
                      <a:cxn ang="0">
                        <a:pos x="1864" y="18"/>
                      </a:cxn>
                      <a:cxn ang="0">
                        <a:pos x="1715" y="14"/>
                      </a:cxn>
                      <a:cxn ang="0">
                        <a:pos x="1537" y="3"/>
                      </a:cxn>
                      <a:cxn ang="0">
                        <a:pos x="1311" y="1"/>
                      </a:cxn>
                      <a:cxn ang="0">
                        <a:pos x="1124" y="0"/>
                      </a:cxn>
                      <a:cxn ang="0">
                        <a:pos x="947" y="18"/>
                      </a:cxn>
                      <a:cxn ang="0">
                        <a:pos x="820" y="47"/>
                      </a:cxn>
                      <a:cxn ang="0">
                        <a:pos x="684" y="83"/>
                      </a:cxn>
                      <a:cxn ang="0">
                        <a:pos x="535" y="127"/>
                      </a:cxn>
                      <a:cxn ang="0">
                        <a:pos x="381" y="171"/>
                      </a:cxn>
                      <a:cxn ang="0">
                        <a:pos x="267" y="202"/>
                      </a:cxn>
                      <a:cxn ang="0">
                        <a:pos x="145" y="237"/>
                      </a:cxn>
                      <a:cxn ang="0">
                        <a:pos x="0" y="281"/>
                      </a:cxn>
                      <a:cxn ang="0">
                        <a:pos x="69" y="307"/>
                      </a:cxn>
                      <a:cxn ang="0">
                        <a:pos x="170" y="322"/>
                      </a:cxn>
                      <a:cxn ang="0">
                        <a:pos x="318" y="321"/>
                      </a:cxn>
                      <a:cxn ang="0">
                        <a:pos x="355" y="281"/>
                      </a:cxn>
                      <a:cxn ang="0">
                        <a:pos x="466" y="224"/>
                      </a:cxn>
                      <a:cxn ang="0">
                        <a:pos x="644" y="145"/>
                      </a:cxn>
                      <a:cxn ang="0">
                        <a:pos x="831" y="73"/>
                      </a:cxn>
                      <a:cxn ang="0">
                        <a:pos x="977" y="45"/>
                      </a:cxn>
                      <a:cxn ang="0">
                        <a:pos x="1258" y="34"/>
                      </a:cxn>
                      <a:cxn ang="0">
                        <a:pos x="1586" y="42"/>
                      </a:cxn>
                      <a:cxn ang="0">
                        <a:pos x="1826" y="245"/>
                      </a:cxn>
                    </a:cxnLst>
                    <a:rect l="0" t="0" r="r" b="b"/>
                    <a:pathLst>
                      <a:path w="2812" h="324">
                        <a:moveTo>
                          <a:pt x="2811" y="216"/>
                        </a:moveTo>
                        <a:lnTo>
                          <a:pt x="2703" y="203"/>
                        </a:lnTo>
                        <a:lnTo>
                          <a:pt x="2620" y="186"/>
                        </a:lnTo>
                        <a:lnTo>
                          <a:pt x="2564" y="172"/>
                        </a:lnTo>
                        <a:lnTo>
                          <a:pt x="2518" y="161"/>
                        </a:lnTo>
                        <a:lnTo>
                          <a:pt x="2458" y="148"/>
                        </a:lnTo>
                        <a:lnTo>
                          <a:pt x="2407" y="135"/>
                        </a:lnTo>
                        <a:lnTo>
                          <a:pt x="2349" y="122"/>
                        </a:lnTo>
                        <a:lnTo>
                          <a:pt x="2297" y="113"/>
                        </a:lnTo>
                        <a:lnTo>
                          <a:pt x="2238" y="105"/>
                        </a:lnTo>
                        <a:lnTo>
                          <a:pt x="2190" y="98"/>
                        </a:lnTo>
                        <a:lnTo>
                          <a:pt x="2149" y="92"/>
                        </a:lnTo>
                        <a:lnTo>
                          <a:pt x="2088" y="83"/>
                        </a:lnTo>
                        <a:lnTo>
                          <a:pt x="2036" y="76"/>
                        </a:lnTo>
                        <a:lnTo>
                          <a:pt x="1987" y="69"/>
                        </a:lnTo>
                        <a:lnTo>
                          <a:pt x="1936" y="57"/>
                        </a:lnTo>
                        <a:lnTo>
                          <a:pt x="1894" y="39"/>
                        </a:lnTo>
                        <a:lnTo>
                          <a:pt x="1864" y="18"/>
                        </a:lnTo>
                        <a:lnTo>
                          <a:pt x="1803" y="16"/>
                        </a:lnTo>
                        <a:lnTo>
                          <a:pt x="1715" y="14"/>
                        </a:lnTo>
                        <a:lnTo>
                          <a:pt x="1615" y="7"/>
                        </a:lnTo>
                        <a:lnTo>
                          <a:pt x="1537" y="3"/>
                        </a:lnTo>
                        <a:lnTo>
                          <a:pt x="1422" y="2"/>
                        </a:lnTo>
                        <a:lnTo>
                          <a:pt x="1311" y="1"/>
                        </a:lnTo>
                        <a:lnTo>
                          <a:pt x="1205" y="0"/>
                        </a:lnTo>
                        <a:lnTo>
                          <a:pt x="1124" y="0"/>
                        </a:lnTo>
                        <a:lnTo>
                          <a:pt x="1036" y="6"/>
                        </a:lnTo>
                        <a:lnTo>
                          <a:pt x="947" y="18"/>
                        </a:lnTo>
                        <a:lnTo>
                          <a:pt x="880" y="33"/>
                        </a:lnTo>
                        <a:lnTo>
                          <a:pt x="820" y="47"/>
                        </a:lnTo>
                        <a:lnTo>
                          <a:pt x="755" y="64"/>
                        </a:lnTo>
                        <a:lnTo>
                          <a:pt x="684" y="83"/>
                        </a:lnTo>
                        <a:lnTo>
                          <a:pt x="612" y="105"/>
                        </a:lnTo>
                        <a:lnTo>
                          <a:pt x="535" y="127"/>
                        </a:lnTo>
                        <a:lnTo>
                          <a:pt x="460" y="150"/>
                        </a:lnTo>
                        <a:lnTo>
                          <a:pt x="381" y="171"/>
                        </a:lnTo>
                        <a:lnTo>
                          <a:pt x="322" y="189"/>
                        </a:lnTo>
                        <a:lnTo>
                          <a:pt x="267" y="202"/>
                        </a:lnTo>
                        <a:lnTo>
                          <a:pt x="207" y="221"/>
                        </a:lnTo>
                        <a:lnTo>
                          <a:pt x="145" y="237"/>
                        </a:lnTo>
                        <a:lnTo>
                          <a:pt x="69" y="259"/>
                        </a:lnTo>
                        <a:lnTo>
                          <a:pt x="0" y="281"/>
                        </a:lnTo>
                        <a:lnTo>
                          <a:pt x="28" y="297"/>
                        </a:lnTo>
                        <a:lnTo>
                          <a:pt x="69" y="307"/>
                        </a:lnTo>
                        <a:lnTo>
                          <a:pt x="114" y="317"/>
                        </a:lnTo>
                        <a:lnTo>
                          <a:pt x="170" y="322"/>
                        </a:lnTo>
                        <a:lnTo>
                          <a:pt x="244" y="323"/>
                        </a:lnTo>
                        <a:lnTo>
                          <a:pt x="318" y="321"/>
                        </a:lnTo>
                        <a:lnTo>
                          <a:pt x="337" y="297"/>
                        </a:lnTo>
                        <a:lnTo>
                          <a:pt x="355" y="281"/>
                        </a:lnTo>
                        <a:lnTo>
                          <a:pt x="390" y="260"/>
                        </a:lnTo>
                        <a:lnTo>
                          <a:pt x="466" y="224"/>
                        </a:lnTo>
                        <a:lnTo>
                          <a:pt x="560" y="182"/>
                        </a:lnTo>
                        <a:lnTo>
                          <a:pt x="644" y="145"/>
                        </a:lnTo>
                        <a:lnTo>
                          <a:pt x="746" y="101"/>
                        </a:lnTo>
                        <a:lnTo>
                          <a:pt x="831" y="73"/>
                        </a:lnTo>
                        <a:lnTo>
                          <a:pt x="912" y="53"/>
                        </a:lnTo>
                        <a:lnTo>
                          <a:pt x="977" y="45"/>
                        </a:lnTo>
                        <a:lnTo>
                          <a:pt x="1099" y="35"/>
                        </a:lnTo>
                        <a:lnTo>
                          <a:pt x="1258" y="34"/>
                        </a:lnTo>
                        <a:lnTo>
                          <a:pt x="1444" y="38"/>
                        </a:lnTo>
                        <a:lnTo>
                          <a:pt x="1586" y="42"/>
                        </a:lnTo>
                        <a:lnTo>
                          <a:pt x="1813" y="53"/>
                        </a:lnTo>
                        <a:lnTo>
                          <a:pt x="1826" y="245"/>
                        </a:lnTo>
                        <a:lnTo>
                          <a:pt x="2811" y="216"/>
                        </a:lnTo>
                      </a:path>
                    </a:pathLst>
                  </a:custGeom>
                  <a:solidFill>
                    <a:srgbClr val="FF000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349" name="Freeform 14"/>
                <p:cNvSpPr>
                  <a:spLocks/>
                </p:cNvSpPr>
                <p:nvPr/>
              </p:nvSpPr>
              <p:spPr bwMode="auto">
                <a:xfrm>
                  <a:off x="50" y="3392"/>
                  <a:ext cx="3805" cy="509"/>
                </a:xfrm>
                <a:custGeom>
                  <a:avLst/>
                  <a:gdLst/>
                  <a:ahLst/>
                  <a:cxnLst>
                    <a:cxn ang="0">
                      <a:pos x="594" y="240"/>
                    </a:cxn>
                    <a:cxn ang="0">
                      <a:pos x="565" y="317"/>
                    </a:cxn>
                    <a:cxn ang="0">
                      <a:pos x="565" y="376"/>
                    </a:cxn>
                    <a:cxn ang="0">
                      <a:pos x="0" y="376"/>
                    </a:cxn>
                    <a:cxn ang="0">
                      <a:pos x="39" y="416"/>
                    </a:cxn>
                    <a:cxn ang="0">
                      <a:pos x="13" y="460"/>
                    </a:cxn>
                    <a:cxn ang="0">
                      <a:pos x="13" y="481"/>
                    </a:cxn>
                    <a:cxn ang="0">
                      <a:pos x="30" y="496"/>
                    </a:cxn>
                    <a:cxn ang="0">
                      <a:pos x="355" y="496"/>
                    </a:cxn>
                    <a:cxn ang="0">
                      <a:pos x="381" y="508"/>
                    </a:cxn>
                    <a:cxn ang="0">
                      <a:pos x="547" y="508"/>
                    </a:cxn>
                    <a:cxn ang="0">
                      <a:pos x="569" y="494"/>
                    </a:cxn>
                    <a:cxn ang="0">
                      <a:pos x="3577" y="494"/>
                    </a:cxn>
                    <a:cxn ang="0">
                      <a:pos x="3696" y="401"/>
                    </a:cxn>
                    <a:cxn ang="0">
                      <a:pos x="3790" y="432"/>
                    </a:cxn>
                    <a:cxn ang="0">
                      <a:pos x="3802" y="185"/>
                    </a:cxn>
                    <a:cxn ang="0">
                      <a:pos x="3573" y="0"/>
                    </a:cxn>
                    <a:cxn ang="0">
                      <a:pos x="3215" y="7"/>
                    </a:cxn>
                    <a:cxn ang="0">
                      <a:pos x="1351" y="416"/>
                    </a:cxn>
                    <a:cxn ang="0">
                      <a:pos x="1298" y="366"/>
                    </a:cxn>
                    <a:cxn ang="0">
                      <a:pos x="1252" y="239"/>
                    </a:cxn>
                    <a:cxn ang="0">
                      <a:pos x="1186" y="136"/>
                    </a:cxn>
                    <a:cxn ang="0">
                      <a:pos x="990" y="52"/>
                    </a:cxn>
                    <a:cxn ang="0">
                      <a:pos x="808" y="56"/>
                    </a:cxn>
                    <a:cxn ang="0">
                      <a:pos x="672" y="117"/>
                    </a:cxn>
                    <a:cxn ang="0">
                      <a:pos x="594" y="240"/>
                    </a:cxn>
                  </a:cxnLst>
                  <a:rect l="0" t="0" r="r" b="b"/>
                  <a:pathLst>
                    <a:path w="3803" h="509">
                      <a:moveTo>
                        <a:pt x="594" y="240"/>
                      </a:moveTo>
                      <a:lnTo>
                        <a:pt x="565" y="317"/>
                      </a:lnTo>
                      <a:lnTo>
                        <a:pt x="565" y="376"/>
                      </a:lnTo>
                      <a:lnTo>
                        <a:pt x="0" y="376"/>
                      </a:lnTo>
                      <a:lnTo>
                        <a:pt x="39" y="416"/>
                      </a:lnTo>
                      <a:lnTo>
                        <a:pt x="13" y="460"/>
                      </a:lnTo>
                      <a:lnTo>
                        <a:pt x="13" y="481"/>
                      </a:lnTo>
                      <a:lnTo>
                        <a:pt x="30" y="496"/>
                      </a:lnTo>
                      <a:lnTo>
                        <a:pt x="355" y="496"/>
                      </a:lnTo>
                      <a:lnTo>
                        <a:pt x="381" y="508"/>
                      </a:lnTo>
                      <a:lnTo>
                        <a:pt x="547" y="508"/>
                      </a:lnTo>
                      <a:lnTo>
                        <a:pt x="569" y="494"/>
                      </a:lnTo>
                      <a:lnTo>
                        <a:pt x="3577" y="494"/>
                      </a:lnTo>
                      <a:lnTo>
                        <a:pt x="3696" y="401"/>
                      </a:lnTo>
                      <a:lnTo>
                        <a:pt x="3790" y="432"/>
                      </a:lnTo>
                      <a:lnTo>
                        <a:pt x="3802" y="185"/>
                      </a:lnTo>
                      <a:lnTo>
                        <a:pt x="3573" y="0"/>
                      </a:lnTo>
                      <a:lnTo>
                        <a:pt x="3215" y="7"/>
                      </a:lnTo>
                      <a:lnTo>
                        <a:pt x="1351" y="416"/>
                      </a:lnTo>
                      <a:lnTo>
                        <a:pt x="1298" y="366"/>
                      </a:lnTo>
                      <a:lnTo>
                        <a:pt x="1252" y="239"/>
                      </a:lnTo>
                      <a:lnTo>
                        <a:pt x="1186" y="136"/>
                      </a:lnTo>
                      <a:lnTo>
                        <a:pt x="990" y="52"/>
                      </a:lnTo>
                      <a:lnTo>
                        <a:pt x="808" y="56"/>
                      </a:lnTo>
                      <a:lnTo>
                        <a:pt x="672" y="117"/>
                      </a:lnTo>
                      <a:lnTo>
                        <a:pt x="594" y="24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350" name="Group 15"/>
                <p:cNvGrpSpPr>
                  <a:grpSpLocks/>
                </p:cNvGrpSpPr>
                <p:nvPr/>
              </p:nvGrpSpPr>
              <p:grpSpPr bwMode="auto">
                <a:xfrm>
                  <a:off x="48" y="3181"/>
                  <a:ext cx="4100" cy="646"/>
                  <a:chOff x="48" y="3181"/>
                  <a:chExt cx="4100" cy="646"/>
                </a:xfrm>
              </p:grpSpPr>
              <p:grpSp>
                <p:nvGrpSpPr>
                  <p:cNvPr id="351" name="Group 16"/>
                  <p:cNvGrpSpPr>
                    <a:grpSpLocks/>
                  </p:cNvGrpSpPr>
                  <p:nvPr/>
                </p:nvGrpSpPr>
                <p:grpSpPr bwMode="auto">
                  <a:xfrm>
                    <a:off x="3908" y="3389"/>
                    <a:ext cx="240" cy="363"/>
                    <a:chOff x="3908" y="3389"/>
                    <a:chExt cx="240" cy="363"/>
                  </a:xfrm>
                </p:grpSpPr>
                <p:sp>
                  <p:nvSpPr>
                    <p:cNvPr id="363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39" y="3468"/>
                      <a:ext cx="8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12700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364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39" y="3389"/>
                      <a:ext cx="87" cy="2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12700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365" name="Rectangle 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39" y="3439"/>
                      <a:ext cx="8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12700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366" name="Arc 20"/>
                    <p:cNvSpPr>
                      <a:spLocks/>
                    </p:cNvSpPr>
                    <p:nvPr/>
                  </p:nvSpPr>
                  <p:spPr bwMode="auto">
                    <a:xfrm>
                      <a:off x="4042" y="3496"/>
                      <a:ext cx="90" cy="80"/>
                    </a:xfrm>
                    <a:custGeom>
                      <a:avLst/>
                      <a:gdLst>
                        <a:gd name="G0" fmla="+- 0 0 0"/>
                        <a:gd name="G1" fmla="+- 0 0 0"/>
                        <a:gd name="G2" fmla="+- 21600 0 0"/>
                        <a:gd name="T0" fmla="*/ 21600 w 21600"/>
                        <a:gd name="T1" fmla="*/ 0 h 21600"/>
                        <a:gd name="T2" fmla="*/ 0 w 21600"/>
                        <a:gd name="T3" fmla="*/ 21600 h 21600"/>
                        <a:gd name="T4" fmla="*/ 0 w 21600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</a:path>
                        <a:path w="21600" h="21600" stroke="0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12700" cap="rnd">
                      <a:solidFill>
                        <a:srgbClr val="C0C0C0"/>
                      </a:solidFill>
                      <a:round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367" name="Group 2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08" y="3718"/>
                      <a:ext cx="240" cy="5"/>
                      <a:chOff x="3908" y="3718"/>
                      <a:chExt cx="240" cy="5"/>
                    </a:xfrm>
                  </p:grpSpPr>
                  <p:sp>
                    <p:nvSpPr>
                      <p:cNvPr id="374" name="Rectangle 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08" y="3718"/>
                        <a:ext cx="22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75" name="Oval 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29" y="3718"/>
                        <a:ext cx="19" cy="5"/>
                      </a:xfrm>
                      <a:prstGeom prst="ellipse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round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368" name="Group 2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08" y="3745"/>
                      <a:ext cx="240" cy="7"/>
                      <a:chOff x="3908" y="3745"/>
                      <a:chExt cx="240" cy="7"/>
                    </a:xfrm>
                  </p:grpSpPr>
                  <p:sp>
                    <p:nvSpPr>
                      <p:cNvPr id="372" name="Rectangle 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08" y="3745"/>
                        <a:ext cx="228" cy="7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73" name="Oval 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29" y="3745"/>
                        <a:ext cx="19" cy="7"/>
                      </a:xfrm>
                      <a:prstGeom prst="ellipse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round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369" name="Group 2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08" y="3688"/>
                      <a:ext cx="240" cy="5"/>
                      <a:chOff x="3908" y="3688"/>
                      <a:chExt cx="240" cy="5"/>
                    </a:xfrm>
                  </p:grpSpPr>
                  <p:sp>
                    <p:nvSpPr>
                      <p:cNvPr id="370" name="Rectangle 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08" y="3688"/>
                        <a:ext cx="22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71" name="Oval 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29" y="3688"/>
                        <a:ext cx="19" cy="5"/>
                      </a:xfrm>
                      <a:prstGeom prst="ellipse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round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sp>
                <p:nvSpPr>
                  <p:cNvPr id="352" name="Freeform 30"/>
                  <p:cNvSpPr>
                    <a:spLocks/>
                  </p:cNvSpPr>
                  <p:nvPr/>
                </p:nvSpPr>
                <p:spPr bwMode="auto">
                  <a:xfrm>
                    <a:off x="48" y="3290"/>
                    <a:ext cx="4081" cy="537"/>
                  </a:xfrm>
                  <a:custGeom>
                    <a:avLst/>
                    <a:gdLst/>
                    <a:ahLst/>
                    <a:cxnLst>
                      <a:cxn ang="0">
                        <a:pos x="3874" y="0"/>
                      </a:cxn>
                      <a:cxn ang="0">
                        <a:pos x="4054" y="0"/>
                      </a:cxn>
                      <a:cxn ang="0">
                        <a:pos x="4078" y="83"/>
                      </a:cxn>
                      <a:cxn ang="0">
                        <a:pos x="3998" y="83"/>
                      </a:cxn>
                      <a:cxn ang="0">
                        <a:pos x="3998" y="382"/>
                      </a:cxn>
                      <a:cxn ang="0">
                        <a:pos x="3841" y="518"/>
                      </a:cxn>
                      <a:cxn ang="0">
                        <a:pos x="3806" y="532"/>
                      </a:cxn>
                      <a:cxn ang="0">
                        <a:pos x="3776" y="536"/>
                      </a:cxn>
                      <a:cxn ang="0">
                        <a:pos x="3781" y="468"/>
                      </a:cxn>
                      <a:cxn ang="0">
                        <a:pos x="3785" y="386"/>
                      </a:cxn>
                      <a:cxn ang="0">
                        <a:pos x="3764" y="317"/>
                      </a:cxn>
                      <a:cxn ang="0">
                        <a:pos x="3735" y="266"/>
                      </a:cxn>
                      <a:cxn ang="0">
                        <a:pos x="3697" y="222"/>
                      </a:cxn>
                      <a:cxn ang="0">
                        <a:pos x="3642" y="178"/>
                      </a:cxn>
                      <a:cxn ang="0">
                        <a:pos x="3578" y="145"/>
                      </a:cxn>
                      <a:cxn ang="0">
                        <a:pos x="3488" y="124"/>
                      </a:cxn>
                      <a:cxn ang="0">
                        <a:pos x="3370" y="117"/>
                      </a:cxn>
                      <a:cxn ang="0">
                        <a:pos x="3288" y="135"/>
                      </a:cxn>
                      <a:cxn ang="0">
                        <a:pos x="3228" y="163"/>
                      </a:cxn>
                      <a:cxn ang="0">
                        <a:pos x="3178" y="196"/>
                      </a:cxn>
                      <a:cxn ang="0">
                        <a:pos x="3118" y="246"/>
                      </a:cxn>
                      <a:cxn ang="0">
                        <a:pos x="3080" y="303"/>
                      </a:cxn>
                      <a:cxn ang="0">
                        <a:pos x="3055" y="353"/>
                      </a:cxn>
                      <a:cxn ang="0">
                        <a:pos x="3047" y="401"/>
                      </a:cxn>
                      <a:cxn ang="0">
                        <a:pos x="3047" y="507"/>
                      </a:cxn>
                      <a:cxn ang="0">
                        <a:pos x="1266" y="536"/>
                      </a:cxn>
                      <a:cxn ang="0">
                        <a:pos x="1266" y="434"/>
                      </a:cxn>
                      <a:cxn ang="0">
                        <a:pos x="1241" y="364"/>
                      </a:cxn>
                      <a:cxn ang="0">
                        <a:pos x="1212" y="309"/>
                      </a:cxn>
                      <a:cxn ang="0">
                        <a:pos x="1168" y="258"/>
                      </a:cxn>
                      <a:cxn ang="0">
                        <a:pos x="1105" y="214"/>
                      </a:cxn>
                      <a:cxn ang="0">
                        <a:pos x="1041" y="185"/>
                      </a:cxn>
                      <a:cxn ang="0">
                        <a:pos x="978" y="168"/>
                      </a:cxn>
                      <a:cxn ang="0">
                        <a:pos x="867" y="168"/>
                      </a:cxn>
                      <a:cxn ang="0">
                        <a:pos x="808" y="178"/>
                      </a:cxn>
                      <a:cxn ang="0">
                        <a:pos x="748" y="201"/>
                      </a:cxn>
                      <a:cxn ang="0">
                        <a:pos x="694" y="240"/>
                      </a:cxn>
                      <a:cxn ang="0">
                        <a:pos x="642" y="291"/>
                      </a:cxn>
                      <a:cxn ang="0">
                        <a:pos x="608" y="353"/>
                      </a:cxn>
                      <a:cxn ang="0">
                        <a:pos x="587" y="419"/>
                      </a:cxn>
                      <a:cxn ang="0">
                        <a:pos x="587" y="488"/>
                      </a:cxn>
                      <a:cxn ang="0">
                        <a:pos x="0" y="487"/>
                      </a:cxn>
                      <a:cxn ang="0">
                        <a:pos x="0" y="464"/>
                      </a:cxn>
                      <a:cxn ang="0">
                        <a:pos x="19" y="464"/>
                      </a:cxn>
                      <a:cxn ang="0">
                        <a:pos x="19" y="431"/>
                      </a:cxn>
                      <a:cxn ang="0">
                        <a:pos x="1" y="430"/>
                      </a:cxn>
                      <a:cxn ang="0">
                        <a:pos x="1" y="330"/>
                      </a:cxn>
                      <a:cxn ang="0">
                        <a:pos x="17" y="309"/>
                      </a:cxn>
                      <a:cxn ang="0">
                        <a:pos x="153" y="251"/>
                      </a:cxn>
                      <a:cxn ang="0">
                        <a:pos x="303" y="201"/>
                      </a:cxn>
                      <a:cxn ang="0">
                        <a:pos x="484" y="153"/>
                      </a:cxn>
                      <a:cxn ang="0">
                        <a:pos x="680" y="112"/>
                      </a:cxn>
                      <a:cxn ang="0">
                        <a:pos x="860" y="80"/>
                      </a:cxn>
                      <a:cxn ang="0">
                        <a:pos x="1032" y="54"/>
                      </a:cxn>
                      <a:cxn ang="0">
                        <a:pos x="1091" y="54"/>
                      </a:cxn>
                      <a:cxn ang="0">
                        <a:pos x="1130" y="68"/>
                      </a:cxn>
                      <a:cxn ang="0">
                        <a:pos x="1313" y="91"/>
                      </a:cxn>
                      <a:cxn ang="0">
                        <a:pos x="1458" y="102"/>
                      </a:cxn>
                      <a:cxn ang="0">
                        <a:pos x="2218" y="61"/>
                      </a:cxn>
                      <a:cxn ang="0">
                        <a:pos x="2583" y="35"/>
                      </a:cxn>
                      <a:cxn ang="0">
                        <a:pos x="2927" y="13"/>
                      </a:cxn>
                      <a:cxn ang="0">
                        <a:pos x="3101" y="3"/>
                      </a:cxn>
                      <a:cxn ang="0">
                        <a:pos x="3874" y="0"/>
                      </a:cxn>
                    </a:cxnLst>
                    <a:rect l="0" t="0" r="r" b="b"/>
                    <a:pathLst>
                      <a:path w="4079" h="537">
                        <a:moveTo>
                          <a:pt x="3874" y="0"/>
                        </a:moveTo>
                        <a:lnTo>
                          <a:pt x="4054" y="0"/>
                        </a:lnTo>
                        <a:lnTo>
                          <a:pt x="4078" y="83"/>
                        </a:lnTo>
                        <a:lnTo>
                          <a:pt x="3998" y="83"/>
                        </a:lnTo>
                        <a:lnTo>
                          <a:pt x="3998" y="382"/>
                        </a:lnTo>
                        <a:lnTo>
                          <a:pt x="3841" y="518"/>
                        </a:lnTo>
                        <a:lnTo>
                          <a:pt x="3806" y="532"/>
                        </a:lnTo>
                        <a:lnTo>
                          <a:pt x="3776" y="536"/>
                        </a:lnTo>
                        <a:lnTo>
                          <a:pt x="3781" y="468"/>
                        </a:lnTo>
                        <a:lnTo>
                          <a:pt x="3785" y="386"/>
                        </a:lnTo>
                        <a:lnTo>
                          <a:pt x="3764" y="317"/>
                        </a:lnTo>
                        <a:lnTo>
                          <a:pt x="3735" y="266"/>
                        </a:lnTo>
                        <a:lnTo>
                          <a:pt x="3697" y="222"/>
                        </a:lnTo>
                        <a:lnTo>
                          <a:pt x="3642" y="178"/>
                        </a:lnTo>
                        <a:lnTo>
                          <a:pt x="3578" y="145"/>
                        </a:lnTo>
                        <a:lnTo>
                          <a:pt x="3488" y="124"/>
                        </a:lnTo>
                        <a:lnTo>
                          <a:pt x="3370" y="117"/>
                        </a:lnTo>
                        <a:lnTo>
                          <a:pt x="3288" y="135"/>
                        </a:lnTo>
                        <a:lnTo>
                          <a:pt x="3228" y="163"/>
                        </a:lnTo>
                        <a:lnTo>
                          <a:pt x="3178" y="196"/>
                        </a:lnTo>
                        <a:lnTo>
                          <a:pt x="3118" y="246"/>
                        </a:lnTo>
                        <a:lnTo>
                          <a:pt x="3080" y="303"/>
                        </a:lnTo>
                        <a:lnTo>
                          <a:pt x="3055" y="353"/>
                        </a:lnTo>
                        <a:lnTo>
                          <a:pt x="3047" y="401"/>
                        </a:lnTo>
                        <a:lnTo>
                          <a:pt x="3047" y="507"/>
                        </a:lnTo>
                        <a:lnTo>
                          <a:pt x="1266" y="536"/>
                        </a:lnTo>
                        <a:lnTo>
                          <a:pt x="1266" y="434"/>
                        </a:lnTo>
                        <a:lnTo>
                          <a:pt x="1241" y="364"/>
                        </a:lnTo>
                        <a:lnTo>
                          <a:pt x="1212" y="309"/>
                        </a:lnTo>
                        <a:lnTo>
                          <a:pt x="1168" y="258"/>
                        </a:lnTo>
                        <a:lnTo>
                          <a:pt x="1105" y="214"/>
                        </a:lnTo>
                        <a:lnTo>
                          <a:pt x="1041" y="185"/>
                        </a:lnTo>
                        <a:lnTo>
                          <a:pt x="978" y="168"/>
                        </a:lnTo>
                        <a:lnTo>
                          <a:pt x="867" y="168"/>
                        </a:lnTo>
                        <a:lnTo>
                          <a:pt x="808" y="178"/>
                        </a:lnTo>
                        <a:lnTo>
                          <a:pt x="748" y="201"/>
                        </a:lnTo>
                        <a:lnTo>
                          <a:pt x="694" y="240"/>
                        </a:lnTo>
                        <a:lnTo>
                          <a:pt x="642" y="291"/>
                        </a:lnTo>
                        <a:lnTo>
                          <a:pt x="608" y="353"/>
                        </a:lnTo>
                        <a:lnTo>
                          <a:pt x="587" y="419"/>
                        </a:lnTo>
                        <a:lnTo>
                          <a:pt x="587" y="488"/>
                        </a:lnTo>
                        <a:lnTo>
                          <a:pt x="0" y="487"/>
                        </a:lnTo>
                        <a:lnTo>
                          <a:pt x="0" y="464"/>
                        </a:lnTo>
                        <a:lnTo>
                          <a:pt x="19" y="464"/>
                        </a:lnTo>
                        <a:lnTo>
                          <a:pt x="19" y="431"/>
                        </a:lnTo>
                        <a:lnTo>
                          <a:pt x="1" y="430"/>
                        </a:lnTo>
                        <a:lnTo>
                          <a:pt x="1" y="330"/>
                        </a:lnTo>
                        <a:lnTo>
                          <a:pt x="17" y="309"/>
                        </a:lnTo>
                        <a:lnTo>
                          <a:pt x="153" y="251"/>
                        </a:lnTo>
                        <a:lnTo>
                          <a:pt x="303" y="201"/>
                        </a:lnTo>
                        <a:lnTo>
                          <a:pt x="484" y="153"/>
                        </a:lnTo>
                        <a:lnTo>
                          <a:pt x="680" y="112"/>
                        </a:lnTo>
                        <a:lnTo>
                          <a:pt x="860" y="80"/>
                        </a:lnTo>
                        <a:lnTo>
                          <a:pt x="1032" y="54"/>
                        </a:lnTo>
                        <a:lnTo>
                          <a:pt x="1091" y="54"/>
                        </a:lnTo>
                        <a:lnTo>
                          <a:pt x="1130" y="68"/>
                        </a:lnTo>
                        <a:lnTo>
                          <a:pt x="1313" y="91"/>
                        </a:lnTo>
                        <a:lnTo>
                          <a:pt x="1458" y="102"/>
                        </a:lnTo>
                        <a:lnTo>
                          <a:pt x="2218" y="61"/>
                        </a:lnTo>
                        <a:lnTo>
                          <a:pt x="2583" y="35"/>
                        </a:lnTo>
                        <a:lnTo>
                          <a:pt x="2927" y="13"/>
                        </a:lnTo>
                        <a:lnTo>
                          <a:pt x="3101" y="3"/>
                        </a:lnTo>
                        <a:lnTo>
                          <a:pt x="3874" y="0"/>
                        </a:lnTo>
                      </a:path>
                    </a:pathLst>
                  </a:custGeom>
                  <a:solidFill>
                    <a:srgbClr val="FF000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3" name="Freeform 31"/>
                  <p:cNvSpPr>
                    <a:spLocks/>
                  </p:cNvSpPr>
                  <p:nvPr/>
                </p:nvSpPr>
                <p:spPr bwMode="auto">
                  <a:xfrm>
                    <a:off x="1665" y="3335"/>
                    <a:ext cx="823" cy="481"/>
                  </a:xfrm>
                  <a:custGeom>
                    <a:avLst/>
                    <a:gdLst/>
                    <a:ahLst/>
                    <a:cxnLst>
                      <a:cxn ang="0">
                        <a:pos x="822" y="0"/>
                      </a:cxn>
                      <a:cxn ang="0">
                        <a:pos x="822" y="470"/>
                      </a:cxn>
                      <a:cxn ang="0">
                        <a:pos x="0" y="481"/>
                      </a:cxn>
                      <a:cxn ang="0">
                        <a:pos x="0" y="51"/>
                      </a:cxn>
                      <a:cxn ang="0">
                        <a:pos x="109" y="41"/>
                      </a:cxn>
                      <a:cxn ang="0">
                        <a:pos x="259" y="33"/>
                      </a:cxn>
                      <a:cxn ang="0">
                        <a:pos x="410" y="27"/>
                      </a:cxn>
                      <a:cxn ang="0">
                        <a:pos x="507" y="19"/>
                      </a:cxn>
                      <a:cxn ang="0">
                        <a:pos x="603" y="14"/>
                      </a:cxn>
                      <a:cxn ang="0">
                        <a:pos x="733" y="4"/>
                      </a:cxn>
                      <a:cxn ang="0">
                        <a:pos x="822" y="0"/>
                      </a:cxn>
                    </a:cxnLst>
                    <a:rect l="0" t="0" r="r" b="b"/>
                    <a:pathLst>
                      <a:path w="823" h="482">
                        <a:moveTo>
                          <a:pt x="822" y="0"/>
                        </a:moveTo>
                        <a:lnTo>
                          <a:pt x="822" y="470"/>
                        </a:lnTo>
                        <a:lnTo>
                          <a:pt x="0" y="481"/>
                        </a:lnTo>
                        <a:lnTo>
                          <a:pt x="0" y="51"/>
                        </a:lnTo>
                        <a:lnTo>
                          <a:pt x="109" y="41"/>
                        </a:lnTo>
                        <a:lnTo>
                          <a:pt x="259" y="33"/>
                        </a:lnTo>
                        <a:lnTo>
                          <a:pt x="410" y="27"/>
                        </a:lnTo>
                        <a:lnTo>
                          <a:pt x="507" y="19"/>
                        </a:lnTo>
                        <a:lnTo>
                          <a:pt x="603" y="14"/>
                        </a:lnTo>
                        <a:lnTo>
                          <a:pt x="733" y="4"/>
                        </a:lnTo>
                        <a:lnTo>
                          <a:pt x="822" y="0"/>
                        </a:lnTo>
                      </a:path>
                    </a:pathLst>
                  </a:custGeom>
                  <a:solidFill>
                    <a:srgbClr val="FF000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54" name="Group 32"/>
                  <p:cNvGrpSpPr>
                    <a:grpSpLocks/>
                  </p:cNvGrpSpPr>
                  <p:nvPr/>
                </p:nvGrpSpPr>
                <p:grpSpPr bwMode="auto">
                  <a:xfrm>
                    <a:off x="1769" y="3181"/>
                    <a:ext cx="1382" cy="548"/>
                    <a:chOff x="1769" y="3181"/>
                    <a:chExt cx="1382" cy="548"/>
                  </a:xfrm>
                </p:grpSpPr>
                <p:sp>
                  <p:nvSpPr>
                    <p:cNvPr id="355" name="Oval 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1" y="3181"/>
                      <a:ext cx="150" cy="68"/>
                    </a:xfrm>
                    <a:prstGeom prst="ellipse">
                      <a:avLst/>
                    </a:prstGeom>
                    <a:solidFill>
                      <a:srgbClr val="800000"/>
                    </a:solidFill>
                    <a:ln w="12700">
                      <a:solidFill>
                        <a:srgbClr val="800000"/>
                      </a:solidFill>
                      <a:round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356" name="Oval 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07" y="3207"/>
                      <a:ext cx="15" cy="12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357" name="Group 3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69" y="3400"/>
                      <a:ext cx="871" cy="329"/>
                      <a:chOff x="1769" y="3400"/>
                      <a:chExt cx="871" cy="329"/>
                    </a:xfrm>
                  </p:grpSpPr>
                  <p:sp>
                    <p:nvSpPr>
                      <p:cNvPr id="358" name="Freeform 3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69" y="3623"/>
                        <a:ext cx="871" cy="10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70" y="59"/>
                          </a:cxn>
                          <a:cxn ang="0">
                            <a:pos x="870" y="106"/>
                          </a:cxn>
                          <a:cxn ang="0">
                            <a:pos x="0" y="0"/>
                          </a:cxn>
                          <a:cxn ang="0">
                            <a:pos x="870" y="59"/>
                          </a:cxn>
                        </a:cxnLst>
                        <a:rect l="0" t="0" r="r" b="b"/>
                        <a:pathLst>
                          <a:path w="871" h="107">
                            <a:moveTo>
                              <a:pt x="870" y="59"/>
                            </a:moveTo>
                            <a:lnTo>
                              <a:pt x="870" y="106"/>
                            </a:lnTo>
                            <a:lnTo>
                              <a:pt x="0" y="0"/>
                            </a:lnTo>
                            <a:lnTo>
                              <a:pt x="870" y="59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8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59" name="Freeform 3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78" y="3400"/>
                        <a:ext cx="862" cy="12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61" y="0"/>
                          </a:cxn>
                          <a:cxn ang="0">
                            <a:pos x="861" y="48"/>
                          </a:cxn>
                          <a:cxn ang="0">
                            <a:pos x="0" y="124"/>
                          </a:cxn>
                          <a:cxn ang="0">
                            <a:pos x="861" y="0"/>
                          </a:cxn>
                        </a:cxnLst>
                        <a:rect l="0" t="0" r="r" b="b"/>
                        <a:pathLst>
                          <a:path w="862" h="125">
                            <a:moveTo>
                              <a:pt x="861" y="0"/>
                            </a:moveTo>
                            <a:lnTo>
                              <a:pt x="861" y="48"/>
                            </a:lnTo>
                            <a:lnTo>
                              <a:pt x="0" y="124"/>
                            </a:lnTo>
                            <a:lnTo>
                              <a:pt x="861" y="0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8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60" name="Freeform 3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78" y="3474"/>
                        <a:ext cx="862" cy="7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61" y="0"/>
                          </a:cxn>
                          <a:cxn ang="0">
                            <a:pos x="861" y="47"/>
                          </a:cxn>
                          <a:cxn ang="0">
                            <a:pos x="0" y="75"/>
                          </a:cxn>
                          <a:cxn ang="0">
                            <a:pos x="861" y="0"/>
                          </a:cxn>
                        </a:cxnLst>
                        <a:rect l="0" t="0" r="r" b="b"/>
                        <a:pathLst>
                          <a:path w="862" h="76">
                            <a:moveTo>
                              <a:pt x="861" y="0"/>
                            </a:moveTo>
                            <a:lnTo>
                              <a:pt x="861" y="47"/>
                            </a:lnTo>
                            <a:lnTo>
                              <a:pt x="0" y="75"/>
                            </a:lnTo>
                            <a:lnTo>
                              <a:pt x="861" y="0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8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61" name="Freeform 3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69" y="3542"/>
                        <a:ext cx="871" cy="4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70" y="0"/>
                          </a:cxn>
                          <a:cxn ang="0">
                            <a:pos x="870" y="47"/>
                          </a:cxn>
                          <a:cxn ang="0">
                            <a:pos x="0" y="28"/>
                          </a:cxn>
                          <a:cxn ang="0">
                            <a:pos x="870" y="0"/>
                          </a:cxn>
                        </a:cxnLst>
                        <a:rect l="0" t="0" r="r" b="b"/>
                        <a:pathLst>
                          <a:path w="871" h="48">
                            <a:moveTo>
                              <a:pt x="870" y="0"/>
                            </a:moveTo>
                            <a:lnTo>
                              <a:pt x="870" y="47"/>
                            </a:lnTo>
                            <a:lnTo>
                              <a:pt x="0" y="28"/>
                            </a:lnTo>
                            <a:lnTo>
                              <a:pt x="870" y="0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8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62" name="Freeform 4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69" y="3597"/>
                        <a:ext cx="871" cy="6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70" y="15"/>
                          </a:cxn>
                          <a:cxn ang="0">
                            <a:pos x="870" y="62"/>
                          </a:cxn>
                          <a:cxn ang="0">
                            <a:pos x="0" y="0"/>
                          </a:cxn>
                          <a:cxn ang="0">
                            <a:pos x="870" y="15"/>
                          </a:cxn>
                        </a:cxnLst>
                        <a:rect l="0" t="0" r="r" b="b"/>
                        <a:pathLst>
                          <a:path w="871" h="63">
                            <a:moveTo>
                              <a:pt x="870" y="15"/>
                            </a:moveTo>
                            <a:lnTo>
                              <a:pt x="870" y="62"/>
                            </a:lnTo>
                            <a:lnTo>
                              <a:pt x="0" y="0"/>
                            </a:lnTo>
                            <a:lnTo>
                              <a:pt x="870" y="15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8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328" name="Group 41"/>
              <p:cNvGrpSpPr>
                <a:grpSpLocks/>
              </p:cNvGrpSpPr>
              <p:nvPr/>
            </p:nvGrpSpPr>
            <p:grpSpPr bwMode="auto">
              <a:xfrm>
                <a:off x="739" y="3524"/>
                <a:ext cx="655" cy="569"/>
                <a:chOff x="718" y="3429"/>
                <a:chExt cx="636" cy="553"/>
              </a:xfrm>
            </p:grpSpPr>
            <p:sp>
              <p:nvSpPr>
                <p:cNvPr id="339" name="Oval 42"/>
                <p:cNvSpPr>
                  <a:spLocks noChangeArrowheads="1"/>
                </p:cNvSpPr>
                <p:nvPr/>
              </p:nvSpPr>
              <p:spPr bwMode="auto">
                <a:xfrm>
                  <a:off x="718" y="3429"/>
                  <a:ext cx="636" cy="553"/>
                </a:xfrm>
                <a:prstGeom prst="ellipse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0" name="Freeform 43"/>
                <p:cNvSpPr>
                  <a:spLocks/>
                </p:cNvSpPr>
                <p:nvPr/>
              </p:nvSpPr>
              <p:spPr bwMode="auto">
                <a:xfrm>
                  <a:off x="972" y="3793"/>
                  <a:ext cx="114" cy="122"/>
                </a:xfrm>
                <a:custGeom>
                  <a:avLst/>
                  <a:gdLst/>
                  <a:ahLst/>
                  <a:cxnLst>
                    <a:cxn ang="0">
                      <a:pos x="113" y="112"/>
                    </a:cxn>
                    <a:cxn ang="0">
                      <a:pos x="69" y="0"/>
                    </a:cxn>
                    <a:cxn ang="0">
                      <a:pos x="42" y="0"/>
                    </a:cxn>
                    <a:cxn ang="0">
                      <a:pos x="0" y="117"/>
                    </a:cxn>
                    <a:cxn ang="0">
                      <a:pos x="55" y="121"/>
                    </a:cxn>
                    <a:cxn ang="0">
                      <a:pos x="113" y="112"/>
                    </a:cxn>
                  </a:cxnLst>
                  <a:rect l="0" t="0" r="r" b="b"/>
                  <a:pathLst>
                    <a:path w="114" h="122">
                      <a:moveTo>
                        <a:pt x="113" y="112"/>
                      </a:moveTo>
                      <a:lnTo>
                        <a:pt x="69" y="0"/>
                      </a:lnTo>
                      <a:lnTo>
                        <a:pt x="42" y="0"/>
                      </a:lnTo>
                      <a:lnTo>
                        <a:pt x="0" y="117"/>
                      </a:lnTo>
                      <a:lnTo>
                        <a:pt x="55" y="121"/>
                      </a:lnTo>
                      <a:lnTo>
                        <a:pt x="113" y="112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1" name="Freeform 44"/>
                <p:cNvSpPr>
                  <a:spLocks/>
                </p:cNvSpPr>
                <p:nvPr/>
              </p:nvSpPr>
              <p:spPr bwMode="auto">
                <a:xfrm>
                  <a:off x="974" y="3503"/>
                  <a:ext cx="116" cy="121"/>
                </a:xfrm>
                <a:custGeom>
                  <a:avLst/>
                  <a:gdLst/>
                  <a:ahLst/>
                  <a:cxnLst>
                    <a:cxn ang="0">
                      <a:pos x="115" y="9"/>
                    </a:cxn>
                    <a:cxn ang="0">
                      <a:pos x="69" y="120"/>
                    </a:cxn>
                    <a:cxn ang="0">
                      <a:pos x="43" y="120"/>
                    </a:cxn>
                    <a:cxn ang="0">
                      <a:pos x="0" y="5"/>
                    </a:cxn>
                    <a:cxn ang="0">
                      <a:pos x="56" y="0"/>
                    </a:cxn>
                    <a:cxn ang="0">
                      <a:pos x="115" y="9"/>
                    </a:cxn>
                  </a:cxnLst>
                  <a:rect l="0" t="0" r="r" b="b"/>
                  <a:pathLst>
                    <a:path w="116" h="121">
                      <a:moveTo>
                        <a:pt x="115" y="9"/>
                      </a:moveTo>
                      <a:lnTo>
                        <a:pt x="69" y="120"/>
                      </a:lnTo>
                      <a:lnTo>
                        <a:pt x="43" y="120"/>
                      </a:lnTo>
                      <a:lnTo>
                        <a:pt x="0" y="5"/>
                      </a:lnTo>
                      <a:lnTo>
                        <a:pt x="56" y="0"/>
                      </a:lnTo>
                      <a:lnTo>
                        <a:pt x="115" y="9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2" name="Freeform 45"/>
                <p:cNvSpPr>
                  <a:spLocks/>
                </p:cNvSpPr>
                <p:nvPr/>
              </p:nvSpPr>
              <p:spPr bwMode="auto">
                <a:xfrm>
                  <a:off x="798" y="3657"/>
                  <a:ext cx="140" cy="97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138" y="39"/>
                    </a:cxn>
                    <a:cxn ang="0">
                      <a:pos x="138" y="62"/>
                    </a:cxn>
                    <a:cxn ang="0">
                      <a:pos x="6" y="97"/>
                    </a:cxn>
                    <a:cxn ang="0">
                      <a:pos x="0" y="51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39" h="98">
                      <a:moveTo>
                        <a:pt x="10" y="0"/>
                      </a:moveTo>
                      <a:lnTo>
                        <a:pt x="138" y="39"/>
                      </a:lnTo>
                      <a:lnTo>
                        <a:pt x="138" y="62"/>
                      </a:lnTo>
                      <a:lnTo>
                        <a:pt x="6" y="97"/>
                      </a:lnTo>
                      <a:lnTo>
                        <a:pt x="0" y="51"/>
                      </a:lnTo>
                      <a:lnTo>
                        <a:pt x="10" y="0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3" name="Freeform 46"/>
                <p:cNvSpPr>
                  <a:spLocks/>
                </p:cNvSpPr>
                <p:nvPr/>
              </p:nvSpPr>
              <p:spPr bwMode="auto">
                <a:xfrm>
                  <a:off x="1129" y="3657"/>
                  <a:ext cx="138" cy="97"/>
                </a:xfrm>
                <a:custGeom>
                  <a:avLst/>
                  <a:gdLst/>
                  <a:ahLst/>
                  <a:cxnLst>
                    <a:cxn ang="0">
                      <a:pos x="128" y="0"/>
                    </a:cxn>
                    <a:cxn ang="0">
                      <a:pos x="0" y="39"/>
                    </a:cxn>
                    <a:cxn ang="0">
                      <a:pos x="0" y="62"/>
                    </a:cxn>
                    <a:cxn ang="0">
                      <a:pos x="133" y="97"/>
                    </a:cxn>
                    <a:cxn ang="0">
                      <a:pos x="138" y="51"/>
                    </a:cxn>
                    <a:cxn ang="0">
                      <a:pos x="128" y="0"/>
                    </a:cxn>
                  </a:cxnLst>
                  <a:rect l="0" t="0" r="r" b="b"/>
                  <a:pathLst>
                    <a:path w="139" h="98">
                      <a:moveTo>
                        <a:pt x="128" y="0"/>
                      </a:moveTo>
                      <a:lnTo>
                        <a:pt x="0" y="39"/>
                      </a:lnTo>
                      <a:lnTo>
                        <a:pt x="0" y="62"/>
                      </a:lnTo>
                      <a:lnTo>
                        <a:pt x="133" y="97"/>
                      </a:lnTo>
                      <a:lnTo>
                        <a:pt x="138" y="51"/>
                      </a:lnTo>
                      <a:lnTo>
                        <a:pt x="128" y="0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4" name="Oval 47"/>
                <p:cNvSpPr>
                  <a:spLocks noChangeArrowheads="1"/>
                </p:cNvSpPr>
                <p:nvPr/>
              </p:nvSpPr>
              <p:spPr bwMode="auto">
                <a:xfrm>
                  <a:off x="810" y="3503"/>
                  <a:ext cx="457" cy="397"/>
                </a:xfrm>
                <a:prstGeom prst="ellipse">
                  <a:avLst/>
                </a:prstGeom>
                <a:noFill/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345" name="Group 48"/>
                <p:cNvGrpSpPr>
                  <a:grpSpLocks/>
                </p:cNvGrpSpPr>
                <p:nvPr/>
              </p:nvGrpSpPr>
              <p:grpSpPr bwMode="auto">
                <a:xfrm>
                  <a:off x="955" y="3630"/>
                  <a:ext cx="167" cy="145"/>
                  <a:chOff x="955" y="3630"/>
                  <a:chExt cx="167" cy="145"/>
                </a:xfrm>
              </p:grpSpPr>
              <p:sp>
                <p:nvSpPr>
                  <p:cNvPr id="346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955" y="3630"/>
                    <a:ext cx="167" cy="145"/>
                  </a:xfrm>
                  <a:prstGeom prst="ellipse">
                    <a:avLst/>
                  </a:prstGeom>
                  <a:solidFill>
                    <a:srgbClr val="000000"/>
                  </a:solidFill>
                  <a:ln w="25400">
                    <a:solidFill>
                      <a:srgbClr val="FFFFFF"/>
                    </a:solidFill>
                    <a:round/>
                    <a:headEnd/>
                    <a:tailEnd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47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994" y="3661"/>
                    <a:ext cx="94" cy="8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25400">
                    <a:solidFill>
                      <a:srgbClr val="FFFFFF"/>
                    </a:solidFill>
                    <a:round/>
                    <a:headEnd/>
                    <a:tailEnd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grpSp>
            <p:nvGrpSpPr>
              <p:cNvPr id="329" name="Group 51"/>
              <p:cNvGrpSpPr>
                <a:grpSpLocks/>
              </p:cNvGrpSpPr>
              <p:nvPr/>
            </p:nvGrpSpPr>
            <p:grpSpPr bwMode="auto">
              <a:xfrm>
                <a:off x="3238" y="3524"/>
                <a:ext cx="655" cy="569"/>
                <a:chOff x="3146" y="3429"/>
                <a:chExt cx="637" cy="553"/>
              </a:xfrm>
            </p:grpSpPr>
            <p:sp>
              <p:nvSpPr>
                <p:cNvPr id="330" name="Oval 52"/>
                <p:cNvSpPr>
                  <a:spLocks noChangeArrowheads="1"/>
                </p:cNvSpPr>
                <p:nvPr/>
              </p:nvSpPr>
              <p:spPr bwMode="auto">
                <a:xfrm>
                  <a:off x="3146" y="3429"/>
                  <a:ext cx="637" cy="553"/>
                </a:xfrm>
                <a:prstGeom prst="ellipse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1" name="Freeform 53"/>
                <p:cNvSpPr>
                  <a:spLocks/>
                </p:cNvSpPr>
                <p:nvPr/>
              </p:nvSpPr>
              <p:spPr bwMode="auto">
                <a:xfrm>
                  <a:off x="3398" y="3793"/>
                  <a:ext cx="114" cy="122"/>
                </a:xfrm>
                <a:custGeom>
                  <a:avLst/>
                  <a:gdLst/>
                  <a:ahLst/>
                  <a:cxnLst>
                    <a:cxn ang="0">
                      <a:pos x="112" y="112"/>
                    </a:cxn>
                    <a:cxn ang="0">
                      <a:pos x="69" y="0"/>
                    </a:cxn>
                    <a:cxn ang="0">
                      <a:pos x="42" y="0"/>
                    </a:cxn>
                    <a:cxn ang="0">
                      <a:pos x="0" y="117"/>
                    </a:cxn>
                    <a:cxn ang="0">
                      <a:pos x="54" y="121"/>
                    </a:cxn>
                    <a:cxn ang="0">
                      <a:pos x="112" y="112"/>
                    </a:cxn>
                  </a:cxnLst>
                  <a:rect l="0" t="0" r="r" b="b"/>
                  <a:pathLst>
                    <a:path w="113" h="122">
                      <a:moveTo>
                        <a:pt x="112" y="112"/>
                      </a:moveTo>
                      <a:lnTo>
                        <a:pt x="69" y="0"/>
                      </a:lnTo>
                      <a:lnTo>
                        <a:pt x="42" y="0"/>
                      </a:lnTo>
                      <a:lnTo>
                        <a:pt x="0" y="117"/>
                      </a:lnTo>
                      <a:lnTo>
                        <a:pt x="54" y="121"/>
                      </a:lnTo>
                      <a:lnTo>
                        <a:pt x="112" y="112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2" name="Freeform 54"/>
                <p:cNvSpPr>
                  <a:spLocks/>
                </p:cNvSpPr>
                <p:nvPr/>
              </p:nvSpPr>
              <p:spPr bwMode="auto">
                <a:xfrm>
                  <a:off x="3402" y="3503"/>
                  <a:ext cx="116" cy="121"/>
                </a:xfrm>
                <a:custGeom>
                  <a:avLst/>
                  <a:gdLst/>
                  <a:ahLst/>
                  <a:cxnLst>
                    <a:cxn ang="0">
                      <a:pos x="116" y="9"/>
                    </a:cxn>
                    <a:cxn ang="0">
                      <a:pos x="70" y="120"/>
                    </a:cxn>
                    <a:cxn ang="0">
                      <a:pos x="42" y="120"/>
                    </a:cxn>
                    <a:cxn ang="0">
                      <a:pos x="0" y="5"/>
                    </a:cxn>
                    <a:cxn ang="0">
                      <a:pos x="56" y="0"/>
                    </a:cxn>
                    <a:cxn ang="0">
                      <a:pos x="116" y="9"/>
                    </a:cxn>
                  </a:cxnLst>
                  <a:rect l="0" t="0" r="r" b="b"/>
                  <a:pathLst>
                    <a:path w="117" h="121">
                      <a:moveTo>
                        <a:pt x="116" y="9"/>
                      </a:moveTo>
                      <a:lnTo>
                        <a:pt x="70" y="120"/>
                      </a:lnTo>
                      <a:lnTo>
                        <a:pt x="42" y="120"/>
                      </a:lnTo>
                      <a:lnTo>
                        <a:pt x="0" y="5"/>
                      </a:lnTo>
                      <a:lnTo>
                        <a:pt x="56" y="0"/>
                      </a:lnTo>
                      <a:lnTo>
                        <a:pt x="116" y="9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3" name="Freeform 55"/>
                <p:cNvSpPr>
                  <a:spLocks/>
                </p:cNvSpPr>
                <p:nvPr/>
              </p:nvSpPr>
              <p:spPr bwMode="auto">
                <a:xfrm>
                  <a:off x="3226" y="3657"/>
                  <a:ext cx="138" cy="97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139" y="39"/>
                    </a:cxn>
                    <a:cxn ang="0">
                      <a:pos x="139" y="62"/>
                    </a:cxn>
                    <a:cxn ang="0">
                      <a:pos x="6" y="97"/>
                    </a:cxn>
                    <a:cxn ang="0">
                      <a:pos x="0" y="51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40" h="98">
                      <a:moveTo>
                        <a:pt x="10" y="0"/>
                      </a:moveTo>
                      <a:lnTo>
                        <a:pt x="139" y="39"/>
                      </a:lnTo>
                      <a:lnTo>
                        <a:pt x="139" y="62"/>
                      </a:lnTo>
                      <a:lnTo>
                        <a:pt x="6" y="97"/>
                      </a:lnTo>
                      <a:lnTo>
                        <a:pt x="0" y="51"/>
                      </a:lnTo>
                      <a:lnTo>
                        <a:pt x="10" y="0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4" name="Freeform 56"/>
                <p:cNvSpPr>
                  <a:spLocks/>
                </p:cNvSpPr>
                <p:nvPr/>
              </p:nvSpPr>
              <p:spPr bwMode="auto">
                <a:xfrm>
                  <a:off x="3555" y="3657"/>
                  <a:ext cx="141" cy="97"/>
                </a:xfrm>
                <a:custGeom>
                  <a:avLst/>
                  <a:gdLst/>
                  <a:ahLst/>
                  <a:cxnLst>
                    <a:cxn ang="0">
                      <a:pos x="129" y="0"/>
                    </a:cxn>
                    <a:cxn ang="0">
                      <a:pos x="0" y="39"/>
                    </a:cxn>
                    <a:cxn ang="0">
                      <a:pos x="0" y="62"/>
                    </a:cxn>
                    <a:cxn ang="0">
                      <a:pos x="133" y="97"/>
                    </a:cxn>
                    <a:cxn ang="0">
                      <a:pos x="139" y="51"/>
                    </a:cxn>
                    <a:cxn ang="0">
                      <a:pos x="129" y="0"/>
                    </a:cxn>
                  </a:cxnLst>
                  <a:rect l="0" t="0" r="r" b="b"/>
                  <a:pathLst>
                    <a:path w="140" h="98">
                      <a:moveTo>
                        <a:pt x="129" y="0"/>
                      </a:moveTo>
                      <a:lnTo>
                        <a:pt x="0" y="39"/>
                      </a:lnTo>
                      <a:lnTo>
                        <a:pt x="0" y="62"/>
                      </a:lnTo>
                      <a:lnTo>
                        <a:pt x="133" y="97"/>
                      </a:lnTo>
                      <a:lnTo>
                        <a:pt x="139" y="51"/>
                      </a:lnTo>
                      <a:lnTo>
                        <a:pt x="129" y="0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5" name="Oval 57"/>
                <p:cNvSpPr>
                  <a:spLocks noChangeArrowheads="1"/>
                </p:cNvSpPr>
                <p:nvPr/>
              </p:nvSpPr>
              <p:spPr bwMode="auto">
                <a:xfrm>
                  <a:off x="3238" y="3503"/>
                  <a:ext cx="458" cy="397"/>
                </a:xfrm>
                <a:prstGeom prst="ellipse">
                  <a:avLst/>
                </a:prstGeom>
                <a:noFill/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336" name="Group 58"/>
                <p:cNvGrpSpPr>
                  <a:grpSpLocks/>
                </p:cNvGrpSpPr>
                <p:nvPr/>
              </p:nvGrpSpPr>
              <p:grpSpPr bwMode="auto">
                <a:xfrm>
                  <a:off x="3381" y="3630"/>
                  <a:ext cx="170" cy="145"/>
                  <a:chOff x="3381" y="3630"/>
                  <a:chExt cx="170" cy="145"/>
                </a:xfrm>
              </p:grpSpPr>
              <p:sp>
                <p:nvSpPr>
                  <p:cNvPr id="337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3381" y="3630"/>
                    <a:ext cx="170" cy="145"/>
                  </a:xfrm>
                  <a:prstGeom prst="ellipse">
                    <a:avLst/>
                  </a:prstGeom>
                  <a:solidFill>
                    <a:srgbClr val="000000"/>
                  </a:solidFill>
                  <a:ln w="25400">
                    <a:solidFill>
                      <a:srgbClr val="FFFFFF"/>
                    </a:solidFill>
                    <a:round/>
                    <a:headEnd/>
                    <a:tailEnd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8" name="Oval 60"/>
                  <p:cNvSpPr>
                    <a:spLocks noChangeArrowheads="1"/>
                  </p:cNvSpPr>
                  <p:nvPr/>
                </p:nvSpPr>
                <p:spPr bwMode="auto">
                  <a:xfrm>
                    <a:off x="3422" y="3661"/>
                    <a:ext cx="92" cy="8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25400">
                    <a:solidFill>
                      <a:srgbClr val="FFFFFF"/>
                    </a:solidFill>
                    <a:round/>
                    <a:headEnd/>
                    <a:tailEnd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  <p:sp>
          <p:nvSpPr>
            <p:cNvPr id="382" name="Rectangle 61"/>
            <p:cNvSpPr>
              <a:spLocks noChangeArrowheads="1"/>
            </p:cNvSpPr>
            <p:nvPr/>
          </p:nvSpPr>
          <p:spPr bwMode="auto">
            <a:xfrm>
              <a:off x="164655" y="4373959"/>
              <a:ext cx="1831832" cy="4777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0" tIns="44446" rIns="90480" bIns="44446">
              <a:spAutoFit/>
            </a:bodyPr>
            <a:lstStyle/>
            <a:p>
              <a:pPr algn="l" eaLnBrk="0" hangingPunct="0"/>
              <a:r>
                <a:rPr lang="en-US" altLang="zh-TW" sz="2400" dirty="0"/>
                <a:t>Life Sciences</a:t>
              </a:r>
            </a:p>
          </p:txBody>
        </p:sp>
        <p:sp>
          <p:nvSpPr>
            <p:cNvPr id="383" name="Rectangle 62"/>
            <p:cNvSpPr>
              <a:spLocks noChangeArrowheads="1"/>
            </p:cNvSpPr>
            <p:nvPr/>
          </p:nvSpPr>
          <p:spPr bwMode="auto">
            <a:xfrm>
              <a:off x="107504" y="6356429"/>
              <a:ext cx="2211387" cy="4777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0" tIns="44446" rIns="90480" bIns="44446">
              <a:spAutoFit/>
            </a:bodyPr>
            <a:lstStyle/>
            <a:p>
              <a:pPr algn="l" eaLnBrk="0" hangingPunct="0"/>
              <a:r>
                <a:rPr lang="en-US" altLang="zh-TW" sz="2400" dirty="0"/>
                <a:t>CAD/CAM</a:t>
              </a:r>
            </a:p>
          </p:txBody>
        </p:sp>
        <p:sp>
          <p:nvSpPr>
            <p:cNvPr id="384" name="Rectangle 63"/>
            <p:cNvSpPr>
              <a:spLocks noChangeArrowheads="1"/>
            </p:cNvSpPr>
            <p:nvPr/>
          </p:nvSpPr>
          <p:spPr bwMode="auto">
            <a:xfrm>
              <a:off x="3326954" y="3916759"/>
              <a:ext cx="1558478" cy="4777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0" tIns="44446" rIns="90480" bIns="44446">
              <a:spAutoFit/>
            </a:bodyPr>
            <a:lstStyle/>
            <a:p>
              <a:pPr algn="l" eaLnBrk="0" hangingPunct="0"/>
              <a:r>
                <a:rPr lang="en-US" altLang="zh-TW" sz="2400" dirty="0"/>
                <a:t>Aerospace</a:t>
              </a:r>
            </a:p>
          </p:txBody>
        </p:sp>
        <p:sp>
          <p:nvSpPr>
            <p:cNvPr id="385" name="Rectangle 64"/>
            <p:cNvSpPr>
              <a:spLocks noChangeArrowheads="1"/>
            </p:cNvSpPr>
            <p:nvPr/>
          </p:nvSpPr>
          <p:spPr bwMode="auto">
            <a:xfrm>
              <a:off x="5578029" y="2954734"/>
              <a:ext cx="1682750" cy="1819275"/>
            </a:xfrm>
            <a:prstGeom prst="rect">
              <a:avLst/>
            </a:prstGeom>
            <a:gradFill rotWithShape="0">
              <a:gsLst>
                <a:gs pos="0">
                  <a:srgbClr val="C0FEF9"/>
                </a:gs>
                <a:gs pos="100000">
                  <a:srgbClr val="C0FEF9">
                    <a:gamma/>
                    <a:shade val="29804"/>
                    <a:invGamma/>
                  </a:srgbClr>
                </a:gs>
              </a:gsLst>
              <a:path path="rect">
                <a:fillToRect r="100000" b="100000"/>
              </a:path>
            </a:gradFill>
            <a:ln w="12700">
              <a:solidFill>
                <a:srgbClr val="FFFF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1C1C1C"/>
              </a:outerShdw>
            </a:effectLst>
          </p:spPr>
          <p:txBody>
            <a:bodyPr wrap="none" lIns="93067" tIns="45717" rIns="93067" bIns="45717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386" name="Group 65"/>
            <p:cNvGrpSpPr>
              <a:grpSpLocks/>
            </p:cNvGrpSpPr>
            <p:nvPr/>
          </p:nvGrpSpPr>
          <p:grpSpPr bwMode="auto">
            <a:xfrm>
              <a:off x="5578029" y="2389584"/>
              <a:ext cx="1597025" cy="1766888"/>
              <a:chOff x="3606" y="1792"/>
              <a:chExt cx="1006" cy="1113"/>
            </a:xfrm>
          </p:grpSpPr>
          <p:grpSp>
            <p:nvGrpSpPr>
              <p:cNvPr id="387" name="Group 66"/>
              <p:cNvGrpSpPr>
                <a:grpSpLocks/>
              </p:cNvGrpSpPr>
              <p:nvPr/>
            </p:nvGrpSpPr>
            <p:grpSpPr bwMode="auto">
              <a:xfrm>
                <a:off x="3739" y="1792"/>
                <a:ext cx="873" cy="1113"/>
                <a:chOff x="3739" y="1792"/>
                <a:chExt cx="873" cy="1113"/>
              </a:xfrm>
            </p:grpSpPr>
            <p:sp>
              <p:nvSpPr>
                <p:cNvPr id="409" name="Freeform 67"/>
                <p:cNvSpPr>
                  <a:spLocks/>
                </p:cNvSpPr>
                <p:nvPr/>
              </p:nvSpPr>
              <p:spPr bwMode="auto">
                <a:xfrm>
                  <a:off x="3739" y="1827"/>
                  <a:ext cx="873" cy="999"/>
                </a:xfrm>
                <a:custGeom>
                  <a:avLst/>
                  <a:gdLst/>
                  <a:ahLst/>
                  <a:cxnLst>
                    <a:cxn ang="0">
                      <a:pos x="546" y="19"/>
                    </a:cxn>
                    <a:cxn ang="0">
                      <a:pos x="646" y="73"/>
                    </a:cxn>
                    <a:cxn ang="0">
                      <a:pos x="731" y="145"/>
                    </a:cxn>
                    <a:cxn ang="0">
                      <a:pos x="798" y="231"/>
                    </a:cxn>
                    <a:cxn ang="0">
                      <a:pos x="845" y="328"/>
                    </a:cxn>
                    <a:cxn ang="0">
                      <a:pos x="869" y="432"/>
                    </a:cxn>
                    <a:cxn ang="0">
                      <a:pos x="869" y="540"/>
                    </a:cxn>
                    <a:cxn ang="0">
                      <a:pos x="845" y="645"/>
                    </a:cxn>
                    <a:cxn ang="0">
                      <a:pos x="798" y="742"/>
                    </a:cxn>
                    <a:cxn ang="0">
                      <a:pos x="731" y="828"/>
                    </a:cxn>
                    <a:cxn ang="0">
                      <a:pos x="646" y="901"/>
                    </a:cxn>
                    <a:cxn ang="0">
                      <a:pos x="546" y="954"/>
                    </a:cxn>
                    <a:cxn ang="0">
                      <a:pos x="437" y="987"/>
                    </a:cxn>
                    <a:cxn ang="0">
                      <a:pos x="323" y="998"/>
                    </a:cxn>
                    <a:cxn ang="0">
                      <a:pos x="208" y="987"/>
                    </a:cxn>
                    <a:cxn ang="0">
                      <a:pos x="100" y="954"/>
                    </a:cxn>
                    <a:cxn ang="0">
                      <a:pos x="0" y="901"/>
                    </a:cxn>
                    <a:cxn ang="0">
                      <a:pos x="76" y="886"/>
                    </a:cxn>
                    <a:cxn ang="0">
                      <a:pos x="170" y="925"/>
                    </a:cxn>
                    <a:cxn ang="0">
                      <a:pos x="270" y="945"/>
                    </a:cxn>
                    <a:cxn ang="0">
                      <a:pos x="374" y="945"/>
                    </a:cxn>
                    <a:cxn ang="0">
                      <a:pos x="476" y="925"/>
                    </a:cxn>
                    <a:cxn ang="0">
                      <a:pos x="571" y="886"/>
                    </a:cxn>
                    <a:cxn ang="0">
                      <a:pos x="654" y="830"/>
                    </a:cxn>
                    <a:cxn ang="0">
                      <a:pos x="723" y="758"/>
                    </a:cxn>
                    <a:cxn ang="0">
                      <a:pos x="776" y="674"/>
                    </a:cxn>
                    <a:cxn ang="0">
                      <a:pos x="807" y="582"/>
                    </a:cxn>
                    <a:cxn ang="0">
                      <a:pos x="818" y="486"/>
                    </a:cxn>
                    <a:cxn ang="0">
                      <a:pos x="807" y="390"/>
                    </a:cxn>
                    <a:cxn ang="0">
                      <a:pos x="776" y="299"/>
                    </a:cxn>
                    <a:cxn ang="0">
                      <a:pos x="723" y="215"/>
                    </a:cxn>
                    <a:cxn ang="0">
                      <a:pos x="654" y="143"/>
                    </a:cxn>
                    <a:cxn ang="0">
                      <a:pos x="571" y="87"/>
                    </a:cxn>
                    <a:cxn ang="0">
                      <a:pos x="476" y="48"/>
                    </a:cxn>
                    <a:cxn ang="0">
                      <a:pos x="492" y="0"/>
                    </a:cxn>
                  </a:cxnLst>
                  <a:rect l="0" t="0" r="r" b="b"/>
                  <a:pathLst>
                    <a:path w="873" h="999">
                      <a:moveTo>
                        <a:pt x="492" y="0"/>
                      </a:moveTo>
                      <a:lnTo>
                        <a:pt x="546" y="19"/>
                      </a:lnTo>
                      <a:lnTo>
                        <a:pt x="598" y="44"/>
                      </a:lnTo>
                      <a:lnTo>
                        <a:pt x="646" y="73"/>
                      </a:lnTo>
                      <a:lnTo>
                        <a:pt x="691" y="106"/>
                      </a:lnTo>
                      <a:lnTo>
                        <a:pt x="731" y="145"/>
                      </a:lnTo>
                      <a:lnTo>
                        <a:pt x="767" y="186"/>
                      </a:lnTo>
                      <a:lnTo>
                        <a:pt x="798" y="231"/>
                      </a:lnTo>
                      <a:lnTo>
                        <a:pt x="825" y="278"/>
                      </a:lnTo>
                      <a:lnTo>
                        <a:pt x="845" y="328"/>
                      </a:lnTo>
                      <a:lnTo>
                        <a:pt x="860" y="380"/>
                      </a:lnTo>
                      <a:lnTo>
                        <a:pt x="869" y="432"/>
                      </a:lnTo>
                      <a:lnTo>
                        <a:pt x="872" y="486"/>
                      </a:lnTo>
                      <a:lnTo>
                        <a:pt x="869" y="540"/>
                      </a:lnTo>
                      <a:lnTo>
                        <a:pt x="860" y="593"/>
                      </a:lnTo>
                      <a:lnTo>
                        <a:pt x="845" y="645"/>
                      </a:lnTo>
                      <a:lnTo>
                        <a:pt x="825" y="694"/>
                      </a:lnTo>
                      <a:lnTo>
                        <a:pt x="798" y="742"/>
                      </a:lnTo>
                      <a:lnTo>
                        <a:pt x="767" y="787"/>
                      </a:lnTo>
                      <a:lnTo>
                        <a:pt x="731" y="828"/>
                      </a:lnTo>
                      <a:lnTo>
                        <a:pt x="691" y="867"/>
                      </a:lnTo>
                      <a:lnTo>
                        <a:pt x="646" y="901"/>
                      </a:lnTo>
                      <a:lnTo>
                        <a:pt x="598" y="929"/>
                      </a:lnTo>
                      <a:lnTo>
                        <a:pt x="546" y="954"/>
                      </a:lnTo>
                      <a:lnTo>
                        <a:pt x="492" y="973"/>
                      </a:lnTo>
                      <a:lnTo>
                        <a:pt x="437" y="987"/>
                      </a:lnTo>
                      <a:lnTo>
                        <a:pt x="380" y="995"/>
                      </a:lnTo>
                      <a:lnTo>
                        <a:pt x="323" y="998"/>
                      </a:lnTo>
                      <a:lnTo>
                        <a:pt x="265" y="995"/>
                      </a:lnTo>
                      <a:lnTo>
                        <a:pt x="208" y="987"/>
                      </a:lnTo>
                      <a:lnTo>
                        <a:pt x="153" y="973"/>
                      </a:lnTo>
                      <a:lnTo>
                        <a:pt x="100" y="954"/>
                      </a:lnTo>
                      <a:lnTo>
                        <a:pt x="49" y="929"/>
                      </a:lnTo>
                      <a:lnTo>
                        <a:pt x="0" y="901"/>
                      </a:lnTo>
                      <a:lnTo>
                        <a:pt x="31" y="860"/>
                      </a:lnTo>
                      <a:lnTo>
                        <a:pt x="76" y="886"/>
                      </a:lnTo>
                      <a:lnTo>
                        <a:pt x="122" y="908"/>
                      </a:lnTo>
                      <a:lnTo>
                        <a:pt x="170" y="925"/>
                      </a:lnTo>
                      <a:lnTo>
                        <a:pt x="220" y="938"/>
                      </a:lnTo>
                      <a:lnTo>
                        <a:pt x="270" y="945"/>
                      </a:lnTo>
                      <a:lnTo>
                        <a:pt x="323" y="948"/>
                      </a:lnTo>
                      <a:lnTo>
                        <a:pt x="374" y="945"/>
                      </a:lnTo>
                      <a:lnTo>
                        <a:pt x="426" y="938"/>
                      </a:lnTo>
                      <a:lnTo>
                        <a:pt x="476" y="925"/>
                      </a:lnTo>
                      <a:lnTo>
                        <a:pt x="525" y="908"/>
                      </a:lnTo>
                      <a:lnTo>
                        <a:pt x="571" y="886"/>
                      </a:lnTo>
                      <a:lnTo>
                        <a:pt x="614" y="860"/>
                      </a:lnTo>
                      <a:lnTo>
                        <a:pt x="654" y="830"/>
                      </a:lnTo>
                      <a:lnTo>
                        <a:pt x="691" y="796"/>
                      </a:lnTo>
                      <a:lnTo>
                        <a:pt x="723" y="758"/>
                      </a:lnTo>
                      <a:lnTo>
                        <a:pt x="752" y="716"/>
                      </a:lnTo>
                      <a:lnTo>
                        <a:pt x="776" y="674"/>
                      </a:lnTo>
                      <a:lnTo>
                        <a:pt x="795" y="630"/>
                      </a:lnTo>
                      <a:lnTo>
                        <a:pt x="807" y="582"/>
                      </a:lnTo>
                      <a:lnTo>
                        <a:pt x="815" y="534"/>
                      </a:lnTo>
                      <a:lnTo>
                        <a:pt x="818" y="486"/>
                      </a:lnTo>
                      <a:lnTo>
                        <a:pt x="815" y="437"/>
                      </a:lnTo>
                      <a:lnTo>
                        <a:pt x="807" y="390"/>
                      </a:lnTo>
                      <a:lnTo>
                        <a:pt x="795" y="343"/>
                      </a:lnTo>
                      <a:lnTo>
                        <a:pt x="776" y="299"/>
                      </a:lnTo>
                      <a:lnTo>
                        <a:pt x="752" y="255"/>
                      </a:lnTo>
                      <a:lnTo>
                        <a:pt x="723" y="215"/>
                      </a:lnTo>
                      <a:lnTo>
                        <a:pt x="691" y="177"/>
                      </a:lnTo>
                      <a:lnTo>
                        <a:pt x="654" y="143"/>
                      </a:lnTo>
                      <a:lnTo>
                        <a:pt x="614" y="113"/>
                      </a:lnTo>
                      <a:lnTo>
                        <a:pt x="571" y="87"/>
                      </a:lnTo>
                      <a:lnTo>
                        <a:pt x="525" y="64"/>
                      </a:lnTo>
                      <a:lnTo>
                        <a:pt x="476" y="48"/>
                      </a:lnTo>
                      <a:lnTo>
                        <a:pt x="477" y="44"/>
                      </a:lnTo>
                      <a:lnTo>
                        <a:pt x="49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6BF69">
                        <a:gamma/>
                        <a:tint val="50196"/>
                        <a:invGamma/>
                      </a:srgbClr>
                    </a:gs>
                    <a:gs pos="100000">
                      <a:srgbClr val="F6BF69"/>
                    </a:gs>
                  </a:gsLst>
                  <a:lin ang="5400000" scaled="1"/>
                </a:gradFill>
                <a:ln w="762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0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3767" y="2661"/>
                  <a:ext cx="72" cy="162"/>
                </a:xfrm>
                <a:prstGeom prst="line">
                  <a:avLst/>
                </a:prstGeom>
                <a:noFill/>
                <a:ln w="25400">
                  <a:solidFill>
                    <a:srgbClr val="333399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1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4256" y="1886"/>
                  <a:ext cx="8" cy="62"/>
                </a:xfrm>
                <a:prstGeom prst="line">
                  <a:avLst/>
                </a:prstGeom>
                <a:noFill/>
                <a:ln w="25400">
                  <a:solidFill>
                    <a:srgbClr val="3333CC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2" name="Freeform 70"/>
                <p:cNvSpPr>
                  <a:spLocks/>
                </p:cNvSpPr>
                <p:nvPr/>
              </p:nvSpPr>
              <p:spPr bwMode="auto">
                <a:xfrm>
                  <a:off x="3839" y="2818"/>
                  <a:ext cx="510" cy="87"/>
                </a:xfrm>
                <a:custGeom>
                  <a:avLst/>
                  <a:gdLst/>
                  <a:ahLst/>
                  <a:cxnLst>
                    <a:cxn ang="0">
                      <a:pos x="2" y="55"/>
                    </a:cxn>
                    <a:cxn ang="0">
                      <a:pos x="12" y="45"/>
                    </a:cxn>
                    <a:cxn ang="0">
                      <a:pos x="27" y="37"/>
                    </a:cxn>
                    <a:cxn ang="0">
                      <a:pos x="54" y="24"/>
                    </a:cxn>
                    <a:cxn ang="0">
                      <a:pos x="85" y="17"/>
                    </a:cxn>
                    <a:cxn ang="0">
                      <a:pos x="114" y="11"/>
                    </a:cxn>
                    <a:cxn ang="0">
                      <a:pos x="153" y="5"/>
                    </a:cxn>
                    <a:cxn ang="0">
                      <a:pos x="190" y="2"/>
                    </a:cxn>
                    <a:cxn ang="0">
                      <a:pos x="234" y="0"/>
                    </a:cxn>
                    <a:cxn ang="0">
                      <a:pos x="288" y="1"/>
                    </a:cxn>
                    <a:cxn ang="0">
                      <a:pos x="343" y="3"/>
                    </a:cxn>
                    <a:cxn ang="0">
                      <a:pos x="383" y="8"/>
                    </a:cxn>
                    <a:cxn ang="0">
                      <a:pos x="424" y="15"/>
                    </a:cxn>
                    <a:cxn ang="0">
                      <a:pos x="463" y="27"/>
                    </a:cxn>
                    <a:cxn ang="0">
                      <a:pos x="484" y="37"/>
                    </a:cxn>
                    <a:cxn ang="0">
                      <a:pos x="497" y="46"/>
                    </a:cxn>
                    <a:cxn ang="0">
                      <a:pos x="509" y="61"/>
                    </a:cxn>
                    <a:cxn ang="0">
                      <a:pos x="488" y="69"/>
                    </a:cxn>
                    <a:cxn ang="0">
                      <a:pos x="453" y="75"/>
                    </a:cxn>
                    <a:cxn ang="0">
                      <a:pos x="410" y="80"/>
                    </a:cxn>
                    <a:cxn ang="0">
                      <a:pos x="368" y="84"/>
                    </a:cxn>
                    <a:cxn ang="0">
                      <a:pos x="319" y="85"/>
                    </a:cxn>
                    <a:cxn ang="0">
                      <a:pos x="265" y="86"/>
                    </a:cxn>
                    <a:cxn ang="0">
                      <a:pos x="213" y="86"/>
                    </a:cxn>
                    <a:cxn ang="0">
                      <a:pos x="159" y="85"/>
                    </a:cxn>
                    <a:cxn ang="0">
                      <a:pos x="99" y="81"/>
                    </a:cxn>
                    <a:cxn ang="0">
                      <a:pos x="52" y="76"/>
                    </a:cxn>
                    <a:cxn ang="0">
                      <a:pos x="12" y="68"/>
                    </a:cxn>
                    <a:cxn ang="0">
                      <a:pos x="0" y="62"/>
                    </a:cxn>
                    <a:cxn ang="0">
                      <a:pos x="2" y="55"/>
                    </a:cxn>
                  </a:cxnLst>
                  <a:rect l="0" t="0" r="r" b="b"/>
                  <a:pathLst>
                    <a:path w="510" h="87">
                      <a:moveTo>
                        <a:pt x="2" y="55"/>
                      </a:moveTo>
                      <a:lnTo>
                        <a:pt x="12" y="45"/>
                      </a:lnTo>
                      <a:lnTo>
                        <a:pt x="27" y="37"/>
                      </a:lnTo>
                      <a:lnTo>
                        <a:pt x="54" y="24"/>
                      </a:lnTo>
                      <a:lnTo>
                        <a:pt x="85" y="17"/>
                      </a:lnTo>
                      <a:lnTo>
                        <a:pt x="114" y="11"/>
                      </a:lnTo>
                      <a:lnTo>
                        <a:pt x="153" y="5"/>
                      </a:lnTo>
                      <a:lnTo>
                        <a:pt x="190" y="2"/>
                      </a:lnTo>
                      <a:lnTo>
                        <a:pt x="234" y="0"/>
                      </a:lnTo>
                      <a:lnTo>
                        <a:pt x="288" y="1"/>
                      </a:lnTo>
                      <a:lnTo>
                        <a:pt x="343" y="3"/>
                      </a:lnTo>
                      <a:lnTo>
                        <a:pt x="383" y="8"/>
                      </a:lnTo>
                      <a:lnTo>
                        <a:pt x="424" y="15"/>
                      </a:lnTo>
                      <a:lnTo>
                        <a:pt x="463" y="27"/>
                      </a:lnTo>
                      <a:lnTo>
                        <a:pt x="484" y="37"/>
                      </a:lnTo>
                      <a:lnTo>
                        <a:pt x="497" y="46"/>
                      </a:lnTo>
                      <a:lnTo>
                        <a:pt x="509" y="61"/>
                      </a:lnTo>
                      <a:lnTo>
                        <a:pt x="488" y="69"/>
                      </a:lnTo>
                      <a:lnTo>
                        <a:pt x="453" y="75"/>
                      </a:lnTo>
                      <a:lnTo>
                        <a:pt x="410" y="80"/>
                      </a:lnTo>
                      <a:lnTo>
                        <a:pt x="368" y="84"/>
                      </a:lnTo>
                      <a:lnTo>
                        <a:pt x="319" y="85"/>
                      </a:lnTo>
                      <a:lnTo>
                        <a:pt x="265" y="86"/>
                      </a:lnTo>
                      <a:lnTo>
                        <a:pt x="213" y="86"/>
                      </a:lnTo>
                      <a:lnTo>
                        <a:pt x="159" y="85"/>
                      </a:lnTo>
                      <a:lnTo>
                        <a:pt x="99" y="81"/>
                      </a:lnTo>
                      <a:lnTo>
                        <a:pt x="52" y="76"/>
                      </a:lnTo>
                      <a:lnTo>
                        <a:pt x="12" y="68"/>
                      </a:lnTo>
                      <a:lnTo>
                        <a:pt x="0" y="62"/>
                      </a:lnTo>
                      <a:lnTo>
                        <a:pt x="2" y="55"/>
                      </a:lnTo>
                    </a:path>
                  </a:pathLst>
                </a:custGeom>
                <a:solidFill>
                  <a:srgbClr val="333399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3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4303" y="1792"/>
                  <a:ext cx="10" cy="67"/>
                </a:xfrm>
                <a:prstGeom prst="line">
                  <a:avLst/>
                </a:prstGeom>
                <a:noFill/>
                <a:ln w="25400">
                  <a:solidFill>
                    <a:srgbClr val="3333CC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88" name="Group 72"/>
              <p:cNvGrpSpPr>
                <a:grpSpLocks/>
              </p:cNvGrpSpPr>
              <p:nvPr/>
            </p:nvGrpSpPr>
            <p:grpSpPr bwMode="auto">
              <a:xfrm>
                <a:off x="3606" y="1896"/>
                <a:ext cx="908" cy="843"/>
                <a:chOff x="3606" y="1896"/>
                <a:chExt cx="908" cy="843"/>
              </a:xfrm>
            </p:grpSpPr>
            <p:sp>
              <p:nvSpPr>
                <p:cNvPr id="389" name="Oval 73"/>
                <p:cNvSpPr>
                  <a:spLocks noChangeArrowheads="1"/>
                </p:cNvSpPr>
                <p:nvPr/>
              </p:nvSpPr>
              <p:spPr bwMode="auto">
                <a:xfrm>
                  <a:off x="3606" y="1896"/>
                  <a:ext cx="908" cy="84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6BF69">
                        <a:gamma/>
                        <a:tint val="50196"/>
                        <a:invGamma/>
                      </a:srgbClr>
                    </a:gs>
                    <a:gs pos="100000">
                      <a:srgbClr val="F6BF69"/>
                    </a:gs>
                  </a:gsLst>
                  <a:lin ang="5400000" scaled="1"/>
                </a:gradFill>
                <a:ln w="76200">
                  <a:noFill/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390" name="Group 74"/>
                <p:cNvGrpSpPr>
                  <a:grpSpLocks/>
                </p:cNvGrpSpPr>
                <p:nvPr/>
              </p:nvGrpSpPr>
              <p:grpSpPr bwMode="auto">
                <a:xfrm>
                  <a:off x="3606" y="1984"/>
                  <a:ext cx="845" cy="626"/>
                  <a:chOff x="3606" y="1984"/>
                  <a:chExt cx="845" cy="626"/>
                </a:xfrm>
              </p:grpSpPr>
              <p:sp>
                <p:nvSpPr>
                  <p:cNvPr id="391" name="Freeform 75"/>
                  <p:cNvSpPr>
                    <a:spLocks/>
                  </p:cNvSpPr>
                  <p:nvPr/>
                </p:nvSpPr>
                <p:spPr bwMode="auto">
                  <a:xfrm>
                    <a:off x="3725" y="2213"/>
                    <a:ext cx="1" cy="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7"/>
                      </a:cxn>
                      <a:cxn ang="0">
                        <a:pos x="0" y="7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8">
                        <a:moveTo>
                          <a:pt x="0" y="0"/>
                        </a:move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3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2" name="Freeform 76"/>
                  <p:cNvSpPr>
                    <a:spLocks/>
                  </p:cNvSpPr>
                  <p:nvPr/>
                </p:nvSpPr>
                <p:spPr bwMode="auto">
                  <a:xfrm>
                    <a:off x="3741" y="2230"/>
                    <a:ext cx="4" cy="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" y="0"/>
                      </a:cxn>
                      <a:cxn ang="0">
                        <a:pos x="3" y="4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" h="5">
                        <a:moveTo>
                          <a:pt x="0" y="0"/>
                        </a:moveTo>
                        <a:lnTo>
                          <a:pt x="3" y="0"/>
                        </a:lnTo>
                        <a:lnTo>
                          <a:pt x="3" y="4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3" name="Freeform 77"/>
                  <p:cNvSpPr>
                    <a:spLocks/>
                  </p:cNvSpPr>
                  <p:nvPr/>
                </p:nvSpPr>
                <p:spPr bwMode="auto">
                  <a:xfrm>
                    <a:off x="3788" y="2208"/>
                    <a:ext cx="32" cy="27"/>
                  </a:xfrm>
                  <a:custGeom>
                    <a:avLst/>
                    <a:gdLst/>
                    <a:ahLst/>
                    <a:cxnLst>
                      <a:cxn ang="0">
                        <a:pos x="31" y="0"/>
                      </a:cxn>
                      <a:cxn ang="0">
                        <a:pos x="19" y="0"/>
                      </a:cxn>
                      <a:cxn ang="0">
                        <a:pos x="13" y="7"/>
                      </a:cxn>
                      <a:cxn ang="0">
                        <a:pos x="8" y="7"/>
                      </a:cxn>
                      <a:cxn ang="0">
                        <a:pos x="5" y="11"/>
                      </a:cxn>
                      <a:cxn ang="0">
                        <a:pos x="0" y="11"/>
                      </a:cxn>
                      <a:cxn ang="0">
                        <a:pos x="0" y="20"/>
                      </a:cxn>
                      <a:cxn ang="0">
                        <a:pos x="7" y="26"/>
                      </a:cxn>
                      <a:cxn ang="0">
                        <a:pos x="25" y="26"/>
                      </a:cxn>
                      <a:cxn ang="0">
                        <a:pos x="31" y="20"/>
                      </a:cxn>
                      <a:cxn ang="0">
                        <a:pos x="31" y="0"/>
                      </a:cxn>
                    </a:cxnLst>
                    <a:rect l="0" t="0" r="r" b="b"/>
                    <a:pathLst>
                      <a:path w="32" h="27">
                        <a:moveTo>
                          <a:pt x="31" y="0"/>
                        </a:moveTo>
                        <a:lnTo>
                          <a:pt x="19" y="0"/>
                        </a:lnTo>
                        <a:lnTo>
                          <a:pt x="13" y="7"/>
                        </a:lnTo>
                        <a:lnTo>
                          <a:pt x="8" y="7"/>
                        </a:lnTo>
                        <a:lnTo>
                          <a:pt x="5" y="11"/>
                        </a:lnTo>
                        <a:lnTo>
                          <a:pt x="0" y="11"/>
                        </a:lnTo>
                        <a:lnTo>
                          <a:pt x="0" y="20"/>
                        </a:lnTo>
                        <a:lnTo>
                          <a:pt x="7" y="26"/>
                        </a:lnTo>
                        <a:lnTo>
                          <a:pt x="25" y="26"/>
                        </a:lnTo>
                        <a:lnTo>
                          <a:pt x="31" y="20"/>
                        </a:lnTo>
                        <a:lnTo>
                          <a:pt x="31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4" name="Freeform 78"/>
                  <p:cNvSpPr>
                    <a:spLocks/>
                  </p:cNvSpPr>
                  <p:nvPr/>
                </p:nvSpPr>
                <p:spPr bwMode="auto">
                  <a:xfrm>
                    <a:off x="3606" y="2229"/>
                    <a:ext cx="273" cy="331"/>
                  </a:xfrm>
                  <a:custGeom>
                    <a:avLst/>
                    <a:gdLst/>
                    <a:ahLst/>
                    <a:cxnLst>
                      <a:cxn ang="0">
                        <a:pos x="65" y="0"/>
                      </a:cxn>
                      <a:cxn ang="0">
                        <a:pos x="60" y="9"/>
                      </a:cxn>
                      <a:cxn ang="0">
                        <a:pos x="39" y="26"/>
                      </a:cxn>
                      <a:cxn ang="0">
                        <a:pos x="34" y="43"/>
                      </a:cxn>
                      <a:cxn ang="0">
                        <a:pos x="18" y="54"/>
                      </a:cxn>
                      <a:cxn ang="0">
                        <a:pos x="7" y="76"/>
                      </a:cxn>
                      <a:cxn ang="0">
                        <a:pos x="7" y="89"/>
                      </a:cxn>
                      <a:cxn ang="0">
                        <a:pos x="0" y="113"/>
                      </a:cxn>
                      <a:cxn ang="0">
                        <a:pos x="10" y="123"/>
                      </a:cxn>
                      <a:cxn ang="0">
                        <a:pos x="34" y="153"/>
                      </a:cxn>
                      <a:cxn ang="0">
                        <a:pos x="41" y="149"/>
                      </a:cxn>
                      <a:cxn ang="0">
                        <a:pos x="84" y="149"/>
                      </a:cxn>
                      <a:cxn ang="0">
                        <a:pos x="104" y="157"/>
                      </a:cxn>
                      <a:cxn ang="0">
                        <a:pos x="102" y="180"/>
                      </a:cxn>
                      <a:cxn ang="0">
                        <a:pos x="117" y="211"/>
                      </a:cxn>
                      <a:cxn ang="0">
                        <a:pos x="116" y="219"/>
                      </a:cxn>
                      <a:cxn ang="0">
                        <a:pos x="122" y="229"/>
                      </a:cxn>
                      <a:cxn ang="0">
                        <a:pos x="113" y="251"/>
                      </a:cxn>
                      <a:cxn ang="0">
                        <a:pos x="123" y="278"/>
                      </a:cxn>
                      <a:cxn ang="0">
                        <a:pos x="129" y="300"/>
                      </a:cxn>
                      <a:cxn ang="0">
                        <a:pos x="137" y="313"/>
                      </a:cxn>
                      <a:cxn ang="0">
                        <a:pos x="144" y="330"/>
                      </a:cxn>
                      <a:cxn ang="0">
                        <a:pos x="159" y="328"/>
                      </a:cxn>
                      <a:cxn ang="0">
                        <a:pos x="183" y="315"/>
                      </a:cxn>
                      <a:cxn ang="0">
                        <a:pos x="194" y="300"/>
                      </a:cxn>
                      <a:cxn ang="0">
                        <a:pos x="193" y="290"/>
                      </a:cxn>
                      <a:cxn ang="0">
                        <a:pos x="207" y="281"/>
                      </a:cxn>
                      <a:cxn ang="0">
                        <a:pos x="204" y="267"/>
                      </a:cxn>
                      <a:cxn ang="0">
                        <a:pos x="225" y="243"/>
                      </a:cxn>
                      <a:cxn ang="0">
                        <a:pos x="228" y="224"/>
                      </a:cxn>
                      <a:cxn ang="0">
                        <a:pos x="223" y="218"/>
                      </a:cxn>
                      <a:cxn ang="0">
                        <a:pos x="225" y="210"/>
                      </a:cxn>
                      <a:cxn ang="0">
                        <a:pos x="220" y="202"/>
                      </a:cxn>
                      <a:cxn ang="0">
                        <a:pos x="236" y="184"/>
                      </a:cxn>
                      <a:cxn ang="0">
                        <a:pos x="236" y="175"/>
                      </a:cxn>
                      <a:cxn ang="0">
                        <a:pos x="258" y="159"/>
                      </a:cxn>
                      <a:cxn ang="0">
                        <a:pos x="272" y="116"/>
                      </a:cxn>
                      <a:cxn ang="0">
                        <a:pos x="252" y="128"/>
                      </a:cxn>
                      <a:cxn ang="0">
                        <a:pos x="234" y="122"/>
                      </a:cxn>
                      <a:cxn ang="0">
                        <a:pos x="237" y="112"/>
                      </a:cxn>
                      <a:cxn ang="0">
                        <a:pos x="219" y="101"/>
                      </a:cxn>
                      <a:cxn ang="0">
                        <a:pos x="211" y="74"/>
                      </a:cxn>
                      <a:cxn ang="0">
                        <a:pos x="194" y="53"/>
                      </a:cxn>
                      <a:cxn ang="0">
                        <a:pos x="194" y="37"/>
                      </a:cxn>
                      <a:cxn ang="0">
                        <a:pos x="185" y="36"/>
                      </a:cxn>
                      <a:cxn ang="0">
                        <a:pos x="179" y="39"/>
                      </a:cxn>
                      <a:cxn ang="0">
                        <a:pos x="153" y="30"/>
                      </a:cxn>
                      <a:cxn ang="0">
                        <a:pos x="147" y="36"/>
                      </a:cxn>
                      <a:cxn ang="0">
                        <a:pos x="141" y="44"/>
                      </a:cxn>
                      <a:cxn ang="0">
                        <a:pos x="128" y="30"/>
                      </a:cxn>
                      <a:cxn ang="0">
                        <a:pos x="114" y="26"/>
                      </a:cxn>
                      <a:cxn ang="0">
                        <a:pos x="113" y="8"/>
                      </a:cxn>
                      <a:cxn ang="0">
                        <a:pos x="93" y="11"/>
                      </a:cxn>
                      <a:cxn ang="0">
                        <a:pos x="81" y="7"/>
                      </a:cxn>
                      <a:cxn ang="0">
                        <a:pos x="65" y="0"/>
                      </a:cxn>
                    </a:cxnLst>
                    <a:rect l="0" t="0" r="r" b="b"/>
                    <a:pathLst>
                      <a:path w="273" h="331">
                        <a:moveTo>
                          <a:pt x="65" y="0"/>
                        </a:moveTo>
                        <a:lnTo>
                          <a:pt x="60" y="9"/>
                        </a:lnTo>
                        <a:lnTo>
                          <a:pt x="39" y="26"/>
                        </a:lnTo>
                        <a:lnTo>
                          <a:pt x="34" y="43"/>
                        </a:lnTo>
                        <a:lnTo>
                          <a:pt x="18" y="54"/>
                        </a:lnTo>
                        <a:lnTo>
                          <a:pt x="7" y="76"/>
                        </a:lnTo>
                        <a:lnTo>
                          <a:pt x="7" y="89"/>
                        </a:lnTo>
                        <a:lnTo>
                          <a:pt x="0" y="113"/>
                        </a:lnTo>
                        <a:lnTo>
                          <a:pt x="10" y="123"/>
                        </a:lnTo>
                        <a:lnTo>
                          <a:pt x="34" y="153"/>
                        </a:lnTo>
                        <a:lnTo>
                          <a:pt x="41" y="149"/>
                        </a:lnTo>
                        <a:lnTo>
                          <a:pt x="84" y="149"/>
                        </a:lnTo>
                        <a:lnTo>
                          <a:pt x="104" y="157"/>
                        </a:lnTo>
                        <a:lnTo>
                          <a:pt x="102" y="180"/>
                        </a:lnTo>
                        <a:lnTo>
                          <a:pt x="117" y="211"/>
                        </a:lnTo>
                        <a:lnTo>
                          <a:pt x="116" y="219"/>
                        </a:lnTo>
                        <a:lnTo>
                          <a:pt x="122" y="229"/>
                        </a:lnTo>
                        <a:lnTo>
                          <a:pt x="113" y="251"/>
                        </a:lnTo>
                        <a:lnTo>
                          <a:pt x="123" y="278"/>
                        </a:lnTo>
                        <a:lnTo>
                          <a:pt x="129" y="300"/>
                        </a:lnTo>
                        <a:lnTo>
                          <a:pt x="137" y="313"/>
                        </a:lnTo>
                        <a:lnTo>
                          <a:pt x="144" y="330"/>
                        </a:lnTo>
                        <a:lnTo>
                          <a:pt x="159" y="328"/>
                        </a:lnTo>
                        <a:lnTo>
                          <a:pt x="183" y="315"/>
                        </a:lnTo>
                        <a:lnTo>
                          <a:pt x="194" y="300"/>
                        </a:lnTo>
                        <a:lnTo>
                          <a:pt x="193" y="290"/>
                        </a:lnTo>
                        <a:lnTo>
                          <a:pt x="207" y="281"/>
                        </a:lnTo>
                        <a:lnTo>
                          <a:pt x="204" y="267"/>
                        </a:lnTo>
                        <a:lnTo>
                          <a:pt x="225" y="243"/>
                        </a:lnTo>
                        <a:lnTo>
                          <a:pt x="228" y="224"/>
                        </a:lnTo>
                        <a:lnTo>
                          <a:pt x="223" y="218"/>
                        </a:lnTo>
                        <a:lnTo>
                          <a:pt x="225" y="210"/>
                        </a:lnTo>
                        <a:lnTo>
                          <a:pt x="220" y="202"/>
                        </a:lnTo>
                        <a:lnTo>
                          <a:pt x="236" y="184"/>
                        </a:lnTo>
                        <a:lnTo>
                          <a:pt x="236" y="175"/>
                        </a:lnTo>
                        <a:lnTo>
                          <a:pt x="258" y="159"/>
                        </a:lnTo>
                        <a:lnTo>
                          <a:pt x="272" y="116"/>
                        </a:lnTo>
                        <a:lnTo>
                          <a:pt x="252" y="128"/>
                        </a:lnTo>
                        <a:lnTo>
                          <a:pt x="234" y="122"/>
                        </a:lnTo>
                        <a:lnTo>
                          <a:pt x="237" y="112"/>
                        </a:lnTo>
                        <a:lnTo>
                          <a:pt x="219" y="101"/>
                        </a:lnTo>
                        <a:lnTo>
                          <a:pt x="211" y="74"/>
                        </a:lnTo>
                        <a:lnTo>
                          <a:pt x="194" y="53"/>
                        </a:lnTo>
                        <a:lnTo>
                          <a:pt x="194" y="37"/>
                        </a:lnTo>
                        <a:lnTo>
                          <a:pt x="185" y="36"/>
                        </a:lnTo>
                        <a:lnTo>
                          <a:pt x="179" y="39"/>
                        </a:lnTo>
                        <a:lnTo>
                          <a:pt x="153" y="30"/>
                        </a:lnTo>
                        <a:lnTo>
                          <a:pt x="147" y="36"/>
                        </a:lnTo>
                        <a:lnTo>
                          <a:pt x="141" y="44"/>
                        </a:lnTo>
                        <a:lnTo>
                          <a:pt x="128" y="30"/>
                        </a:lnTo>
                        <a:lnTo>
                          <a:pt x="114" y="26"/>
                        </a:lnTo>
                        <a:lnTo>
                          <a:pt x="113" y="8"/>
                        </a:lnTo>
                        <a:lnTo>
                          <a:pt x="93" y="11"/>
                        </a:lnTo>
                        <a:lnTo>
                          <a:pt x="81" y="7"/>
                        </a:lnTo>
                        <a:lnTo>
                          <a:pt x="65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5" name="Freeform 79"/>
                  <p:cNvSpPr>
                    <a:spLocks/>
                  </p:cNvSpPr>
                  <p:nvPr/>
                </p:nvSpPr>
                <p:spPr bwMode="auto">
                  <a:xfrm>
                    <a:off x="4238" y="2312"/>
                    <a:ext cx="10" cy="16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5" y="5"/>
                      </a:cxn>
                      <a:cxn ang="0">
                        <a:pos x="4" y="8"/>
                      </a:cxn>
                      <a:cxn ang="0">
                        <a:pos x="4" y="10"/>
                      </a:cxn>
                      <a:cxn ang="0">
                        <a:pos x="9" y="13"/>
                      </a:cxn>
                      <a:cxn ang="0">
                        <a:pos x="9" y="15"/>
                      </a:cxn>
                      <a:cxn ang="0">
                        <a:pos x="5" y="13"/>
                      </a:cxn>
                      <a:cxn ang="0">
                        <a:pos x="2" y="15"/>
                      </a:cxn>
                      <a:cxn ang="0">
                        <a:pos x="0" y="13"/>
                      </a:cxn>
                      <a:cxn ang="0">
                        <a:pos x="2" y="10"/>
                      </a:cxn>
                      <a:cxn ang="0">
                        <a:pos x="0" y="8"/>
                      </a:cxn>
                      <a:cxn ang="0">
                        <a:pos x="2" y="2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10" h="16">
                        <a:moveTo>
                          <a:pt x="4" y="0"/>
                        </a:moveTo>
                        <a:lnTo>
                          <a:pt x="5" y="5"/>
                        </a:lnTo>
                        <a:lnTo>
                          <a:pt x="4" y="8"/>
                        </a:lnTo>
                        <a:lnTo>
                          <a:pt x="4" y="10"/>
                        </a:lnTo>
                        <a:lnTo>
                          <a:pt x="9" y="13"/>
                        </a:lnTo>
                        <a:lnTo>
                          <a:pt x="9" y="15"/>
                        </a:lnTo>
                        <a:lnTo>
                          <a:pt x="5" y="13"/>
                        </a:lnTo>
                        <a:lnTo>
                          <a:pt x="2" y="15"/>
                        </a:lnTo>
                        <a:lnTo>
                          <a:pt x="0" y="13"/>
                        </a:lnTo>
                        <a:lnTo>
                          <a:pt x="2" y="10"/>
                        </a:lnTo>
                        <a:lnTo>
                          <a:pt x="0" y="8"/>
                        </a:lnTo>
                        <a:lnTo>
                          <a:pt x="2" y="2"/>
                        </a:lnTo>
                        <a:lnTo>
                          <a:pt x="4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6" name="Freeform 80"/>
                  <p:cNvSpPr>
                    <a:spLocks/>
                  </p:cNvSpPr>
                  <p:nvPr/>
                </p:nvSpPr>
                <p:spPr bwMode="auto">
                  <a:xfrm>
                    <a:off x="4186" y="2380"/>
                    <a:ext cx="41" cy="56"/>
                  </a:xfrm>
                  <a:custGeom>
                    <a:avLst/>
                    <a:gdLst/>
                    <a:ahLst/>
                    <a:cxnLst>
                      <a:cxn ang="0">
                        <a:pos x="0" y="28"/>
                      </a:cxn>
                      <a:cxn ang="0">
                        <a:pos x="15" y="28"/>
                      </a:cxn>
                      <a:cxn ang="0">
                        <a:pos x="31" y="0"/>
                      </a:cxn>
                      <a:cxn ang="0">
                        <a:pos x="40" y="16"/>
                      </a:cxn>
                      <a:cxn ang="0">
                        <a:pos x="33" y="55"/>
                      </a:cxn>
                      <a:cxn ang="0">
                        <a:pos x="3" y="46"/>
                      </a:cxn>
                      <a:cxn ang="0">
                        <a:pos x="0" y="28"/>
                      </a:cxn>
                    </a:cxnLst>
                    <a:rect l="0" t="0" r="r" b="b"/>
                    <a:pathLst>
                      <a:path w="41" h="56">
                        <a:moveTo>
                          <a:pt x="0" y="28"/>
                        </a:moveTo>
                        <a:lnTo>
                          <a:pt x="15" y="28"/>
                        </a:lnTo>
                        <a:lnTo>
                          <a:pt x="31" y="0"/>
                        </a:lnTo>
                        <a:lnTo>
                          <a:pt x="40" y="16"/>
                        </a:lnTo>
                        <a:lnTo>
                          <a:pt x="33" y="55"/>
                        </a:lnTo>
                        <a:lnTo>
                          <a:pt x="3" y="46"/>
                        </a:lnTo>
                        <a:lnTo>
                          <a:pt x="0" y="28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7" name="Freeform 81"/>
                  <p:cNvSpPr>
                    <a:spLocks/>
                  </p:cNvSpPr>
                  <p:nvPr/>
                </p:nvSpPr>
                <p:spPr bwMode="auto">
                  <a:xfrm>
                    <a:off x="4268" y="2401"/>
                    <a:ext cx="71" cy="54"/>
                  </a:xfrm>
                  <a:custGeom>
                    <a:avLst/>
                    <a:gdLst/>
                    <a:ahLst/>
                    <a:cxnLst>
                      <a:cxn ang="0">
                        <a:pos x="4" y="13"/>
                      </a:cxn>
                      <a:cxn ang="0">
                        <a:pos x="0" y="0"/>
                      </a:cxn>
                      <a:cxn ang="0">
                        <a:pos x="24" y="5"/>
                      </a:cxn>
                      <a:cxn ang="0">
                        <a:pos x="57" y="18"/>
                      </a:cxn>
                      <a:cxn ang="0">
                        <a:pos x="57" y="28"/>
                      </a:cxn>
                      <a:cxn ang="0">
                        <a:pos x="70" y="53"/>
                      </a:cxn>
                      <a:cxn ang="0">
                        <a:pos x="44" y="29"/>
                      </a:cxn>
                      <a:cxn ang="0">
                        <a:pos x="27" y="31"/>
                      </a:cxn>
                      <a:cxn ang="0">
                        <a:pos x="4" y="13"/>
                      </a:cxn>
                    </a:cxnLst>
                    <a:rect l="0" t="0" r="r" b="b"/>
                    <a:pathLst>
                      <a:path w="71" h="54">
                        <a:moveTo>
                          <a:pt x="4" y="13"/>
                        </a:moveTo>
                        <a:lnTo>
                          <a:pt x="0" y="0"/>
                        </a:lnTo>
                        <a:lnTo>
                          <a:pt x="24" y="5"/>
                        </a:lnTo>
                        <a:lnTo>
                          <a:pt x="57" y="18"/>
                        </a:lnTo>
                        <a:lnTo>
                          <a:pt x="57" y="28"/>
                        </a:lnTo>
                        <a:lnTo>
                          <a:pt x="70" y="53"/>
                        </a:lnTo>
                        <a:lnTo>
                          <a:pt x="44" y="29"/>
                        </a:lnTo>
                        <a:lnTo>
                          <a:pt x="27" y="31"/>
                        </a:lnTo>
                        <a:lnTo>
                          <a:pt x="4" y="13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8" name="Freeform 82"/>
                  <p:cNvSpPr>
                    <a:spLocks/>
                  </p:cNvSpPr>
                  <p:nvPr/>
                </p:nvSpPr>
                <p:spPr bwMode="auto">
                  <a:xfrm>
                    <a:off x="4403" y="2509"/>
                    <a:ext cx="48" cy="58"/>
                  </a:xfrm>
                  <a:custGeom>
                    <a:avLst/>
                    <a:gdLst/>
                    <a:ahLst/>
                    <a:cxnLst>
                      <a:cxn ang="0">
                        <a:pos x="29" y="0"/>
                      </a:cxn>
                      <a:cxn ang="0">
                        <a:pos x="47" y="17"/>
                      </a:cxn>
                      <a:cxn ang="0">
                        <a:pos x="10" y="57"/>
                      </a:cxn>
                      <a:cxn ang="0">
                        <a:pos x="0" y="48"/>
                      </a:cxn>
                      <a:cxn ang="0">
                        <a:pos x="27" y="22"/>
                      </a:cxn>
                      <a:cxn ang="0">
                        <a:pos x="29" y="0"/>
                      </a:cxn>
                    </a:cxnLst>
                    <a:rect l="0" t="0" r="r" b="b"/>
                    <a:pathLst>
                      <a:path w="48" h="58">
                        <a:moveTo>
                          <a:pt x="29" y="0"/>
                        </a:moveTo>
                        <a:lnTo>
                          <a:pt x="47" y="17"/>
                        </a:lnTo>
                        <a:lnTo>
                          <a:pt x="10" y="57"/>
                        </a:lnTo>
                        <a:lnTo>
                          <a:pt x="0" y="48"/>
                        </a:lnTo>
                        <a:lnTo>
                          <a:pt x="27" y="22"/>
                        </a:lnTo>
                        <a:lnTo>
                          <a:pt x="29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9" name="Freeform 83"/>
                  <p:cNvSpPr>
                    <a:spLocks/>
                  </p:cNvSpPr>
                  <p:nvPr/>
                </p:nvSpPr>
                <p:spPr bwMode="auto">
                  <a:xfrm>
                    <a:off x="3691" y="2123"/>
                    <a:ext cx="24" cy="37"/>
                  </a:xfrm>
                  <a:custGeom>
                    <a:avLst/>
                    <a:gdLst/>
                    <a:ahLst/>
                    <a:cxnLst>
                      <a:cxn ang="0">
                        <a:pos x="23" y="28"/>
                      </a:cxn>
                      <a:cxn ang="0">
                        <a:pos x="17" y="24"/>
                      </a:cxn>
                      <a:cxn ang="0">
                        <a:pos x="17" y="8"/>
                      </a:cxn>
                      <a:cxn ang="0">
                        <a:pos x="20" y="5"/>
                      </a:cxn>
                      <a:cxn ang="0">
                        <a:pos x="15" y="5"/>
                      </a:cxn>
                      <a:cxn ang="0">
                        <a:pos x="18" y="0"/>
                      </a:cxn>
                      <a:cxn ang="0">
                        <a:pos x="14" y="0"/>
                      </a:cxn>
                      <a:cxn ang="0">
                        <a:pos x="8" y="5"/>
                      </a:cxn>
                      <a:cxn ang="0">
                        <a:pos x="8" y="15"/>
                      </a:cxn>
                      <a:cxn ang="0">
                        <a:pos x="11" y="17"/>
                      </a:cxn>
                      <a:cxn ang="0">
                        <a:pos x="11" y="22"/>
                      </a:cxn>
                      <a:cxn ang="0">
                        <a:pos x="9" y="22"/>
                      </a:cxn>
                      <a:cxn ang="0">
                        <a:pos x="5" y="25"/>
                      </a:cxn>
                      <a:cxn ang="0">
                        <a:pos x="5" y="29"/>
                      </a:cxn>
                      <a:cxn ang="0">
                        <a:pos x="0" y="36"/>
                      </a:cxn>
                      <a:cxn ang="0">
                        <a:pos x="17" y="36"/>
                      </a:cxn>
                      <a:cxn ang="0">
                        <a:pos x="23" y="28"/>
                      </a:cxn>
                    </a:cxnLst>
                    <a:rect l="0" t="0" r="r" b="b"/>
                    <a:pathLst>
                      <a:path w="24" h="37">
                        <a:moveTo>
                          <a:pt x="23" y="28"/>
                        </a:moveTo>
                        <a:lnTo>
                          <a:pt x="17" y="24"/>
                        </a:lnTo>
                        <a:lnTo>
                          <a:pt x="17" y="8"/>
                        </a:lnTo>
                        <a:lnTo>
                          <a:pt x="20" y="5"/>
                        </a:lnTo>
                        <a:lnTo>
                          <a:pt x="15" y="5"/>
                        </a:lnTo>
                        <a:lnTo>
                          <a:pt x="18" y="0"/>
                        </a:lnTo>
                        <a:lnTo>
                          <a:pt x="14" y="0"/>
                        </a:lnTo>
                        <a:lnTo>
                          <a:pt x="8" y="5"/>
                        </a:lnTo>
                        <a:lnTo>
                          <a:pt x="8" y="15"/>
                        </a:lnTo>
                        <a:lnTo>
                          <a:pt x="11" y="17"/>
                        </a:lnTo>
                        <a:lnTo>
                          <a:pt x="11" y="22"/>
                        </a:lnTo>
                        <a:lnTo>
                          <a:pt x="9" y="22"/>
                        </a:lnTo>
                        <a:lnTo>
                          <a:pt x="5" y="25"/>
                        </a:lnTo>
                        <a:lnTo>
                          <a:pt x="5" y="29"/>
                        </a:lnTo>
                        <a:lnTo>
                          <a:pt x="0" y="36"/>
                        </a:lnTo>
                        <a:lnTo>
                          <a:pt x="17" y="36"/>
                        </a:lnTo>
                        <a:lnTo>
                          <a:pt x="23" y="28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0" name="Freeform 84"/>
                  <p:cNvSpPr>
                    <a:spLocks/>
                  </p:cNvSpPr>
                  <p:nvPr/>
                </p:nvSpPr>
                <p:spPr bwMode="auto">
                  <a:xfrm>
                    <a:off x="3683" y="2135"/>
                    <a:ext cx="13" cy="13"/>
                  </a:xfrm>
                  <a:custGeom>
                    <a:avLst/>
                    <a:gdLst/>
                    <a:ahLst/>
                    <a:cxnLst>
                      <a:cxn ang="0">
                        <a:pos x="10" y="4"/>
                      </a:cxn>
                      <a:cxn ang="0">
                        <a:pos x="12" y="4"/>
                      </a:cxn>
                      <a:cxn ang="0">
                        <a:pos x="12" y="0"/>
                      </a:cxn>
                      <a:cxn ang="0">
                        <a:pos x="8" y="0"/>
                      </a:cxn>
                      <a:cxn ang="0">
                        <a:pos x="0" y="8"/>
                      </a:cxn>
                      <a:cxn ang="0">
                        <a:pos x="0" y="12"/>
                      </a:cxn>
                      <a:cxn ang="0">
                        <a:pos x="7" y="12"/>
                      </a:cxn>
                      <a:cxn ang="0">
                        <a:pos x="10" y="9"/>
                      </a:cxn>
                      <a:cxn ang="0">
                        <a:pos x="10" y="4"/>
                      </a:cxn>
                    </a:cxnLst>
                    <a:rect l="0" t="0" r="r" b="b"/>
                    <a:pathLst>
                      <a:path w="13" h="13">
                        <a:moveTo>
                          <a:pt x="10" y="4"/>
                        </a:moveTo>
                        <a:lnTo>
                          <a:pt x="12" y="4"/>
                        </a:lnTo>
                        <a:lnTo>
                          <a:pt x="12" y="0"/>
                        </a:lnTo>
                        <a:lnTo>
                          <a:pt x="8" y="0"/>
                        </a:lnTo>
                        <a:lnTo>
                          <a:pt x="0" y="8"/>
                        </a:lnTo>
                        <a:lnTo>
                          <a:pt x="0" y="12"/>
                        </a:lnTo>
                        <a:lnTo>
                          <a:pt x="7" y="12"/>
                        </a:lnTo>
                        <a:lnTo>
                          <a:pt x="10" y="9"/>
                        </a:lnTo>
                        <a:lnTo>
                          <a:pt x="10" y="4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1" name="Freeform 85"/>
                  <p:cNvSpPr>
                    <a:spLocks/>
                  </p:cNvSpPr>
                  <p:nvPr/>
                </p:nvSpPr>
                <p:spPr bwMode="auto">
                  <a:xfrm>
                    <a:off x="3664" y="2113"/>
                    <a:ext cx="156" cy="122"/>
                  </a:xfrm>
                  <a:custGeom>
                    <a:avLst/>
                    <a:gdLst/>
                    <a:ahLst/>
                    <a:cxnLst>
                      <a:cxn ang="0">
                        <a:pos x="102" y="8"/>
                      </a:cxn>
                      <a:cxn ang="0">
                        <a:pos x="122" y="11"/>
                      </a:cxn>
                      <a:cxn ang="0">
                        <a:pos x="110" y="16"/>
                      </a:cxn>
                      <a:cxn ang="0">
                        <a:pos x="105" y="23"/>
                      </a:cxn>
                      <a:cxn ang="0">
                        <a:pos x="97" y="39"/>
                      </a:cxn>
                      <a:cxn ang="0">
                        <a:pos x="85" y="41"/>
                      </a:cxn>
                      <a:cxn ang="0">
                        <a:pos x="74" y="39"/>
                      </a:cxn>
                      <a:cxn ang="0">
                        <a:pos x="80" y="31"/>
                      </a:cxn>
                      <a:cxn ang="0">
                        <a:pos x="75" y="21"/>
                      </a:cxn>
                      <a:cxn ang="0">
                        <a:pos x="69" y="39"/>
                      </a:cxn>
                      <a:cxn ang="0">
                        <a:pos x="53" y="47"/>
                      </a:cxn>
                      <a:cxn ang="0">
                        <a:pos x="44" y="53"/>
                      </a:cxn>
                      <a:cxn ang="0">
                        <a:pos x="32" y="61"/>
                      </a:cxn>
                      <a:cxn ang="0">
                        <a:pos x="26" y="80"/>
                      </a:cxn>
                      <a:cxn ang="0">
                        <a:pos x="5" y="73"/>
                      </a:cxn>
                      <a:cxn ang="0">
                        <a:pos x="0" y="88"/>
                      </a:cxn>
                      <a:cxn ang="0">
                        <a:pos x="9" y="109"/>
                      </a:cxn>
                      <a:cxn ang="0">
                        <a:pos x="43" y="86"/>
                      </a:cxn>
                      <a:cxn ang="0">
                        <a:pos x="64" y="82"/>
                      </a:cxn>
                      <a:cxn ang="0">
                        <a:pos x="67" y="90"/>
                      </a:cxn>
                      <a:cxn ang="0">
                        <a:pos x="85" y="113"/>
                      </a:cxn>
                      <a:cxn ang="0">
                        <a:pos x="87" y="106"/>
                      </a:cxn>
                      <a:cxn ang="0">
                        <a:pos x="91" y="106"/>
                      </a:cxn>
                      <a:cxn ang="0">
                        <a:pos x="74" y="85"/>
                      </a:cxn>
                      <a:cxn ang="0">
                        <a:pos x="80" y="78"/>
                      </a:cxn>
                      <a:cxn ang="0">
                        <a:pos x="97" y="100"/>
                      </a:cxn>
                      <a:cxn ang="0">
                        <a:pos x="105" y="114"/>
                      </a:cxn>
                      <a:cxn ang="0">
                        <a:pos x="108" y="121"/>
                      </a:cxn>
                      <a:cxn ang="0">
                        <a:pos x="111" y="107"/>
                      </a:cxn>
                      <a:cxn ang="0">
                        <a:pos x="123" y="102"/>
                      </a:cxn>
                      <a:cxn ang="0">
                        <a:pos x="130" y="100"/>
                      </a:cxn>
                      <a:cxn ang="0">
                        <a:pos x="127" y="89"/>
                      </a:cxn>
                      <a:cxn ang="0">
                        <a:pos x="133" y="71"/>
                      </a:cxn>
                      <a:cxn ang="0">
                        <a:pos x="141" y="73"/>
                      </a:cxn>
                      <a:cxn ang="0">
                        <a:pos x="144" y="82"/>
                      </a:cxn>
                      <a:cxn ang="0">
                        <a:pos x="150" y="77"/>
                      </a:cxn>
                      <a:cxn ang="0">
                        <a:pos x="148" y="76"/>
                      </a:cxn>
                      <a:cxn ang="0">
                        <a:pos x="153" y="64"/>
                      </a:cxn>
                      <a:cxn ang="0">
                        <a:pos x="155" y="77"/>
                      </a:cxn>
                      <a:cxn ang="0">
                        <a:pos x="102" y="0"/>
                      </a:cxn>
                    </a:cxnLst>
                    <a:rect l="0" t="0" r="r" b="b"/>
                    <a:pathLst>
                      <a:path w="156" h="122">
                        <a:moveTo>
                          <a:pt x="102" y="0"/>
                        </a:moveTo>
                        <a:lnTo>
                          <a:pt x="102" y="8"/>
                        </a:lnTo>
                        <a:lnTo>
                          <a:pt x="105" y="11"/>
                        </a:lnTo>
                        <a:lnTo>
                          <a:pt x="122" y="11"/>
                        </a:lnTo>
                        <a:lnTo>
                          <a:pt x="122" y="16"/>
                        </a:lnTo>
                        <a:lnTo>
                          <a:pt x="110" y="16"/>
                        </a:lnTo>
                        <a:lnTo>
                          <a:pt x="110" y="29"/>
                        </a:lnTo>
                        <a:lnTo>
                          <a:pt x="105" y="23"/>
                        </a:lnTo>
                        <a:lnTo>
                          <a:pt x="105" y="32"/>
                        </a:lnTo>
                        <a:lnTo>
                          <a:pt x="97" y="39"/>
                        </a:lnTo>
                        <a:lnTo>
                          <a:pt x="93" y="35"/>
                        </a:lnTo>
                        <a:lnTo>
                          <a:pt x="85" y="41"/>
                        </a:lnTo>
                        <a:lnTo>
                          <a:pt x="84" y="39"/>
                        </a:lnTo>
                        <a:lnTo>
                          <a:pt x="74" y="39"/>
                        </a:lnTo>
                        <a:lnTo>
                          <a:pt x="80" y="33"/>
                        </a:lnTo>
                        <a:lnTo>
                          <a:pt x="80" y="31"/>
                        </a:lnTo>
                        <a:lnTo>
                          <a:pt x="75" y="27"/>
                        </a:lnTo>
                        <a:lnTo>
                          <a:pt x="75" y="21"/>
                        </a:lnTo>
                        <a:lnTo>
                          <a:pt x="69" y="27"/>
                        </a:lnTo>
                        <a:lnTo>
                          <a:pt x="69" y="39"/>
                        </a:lnTo>
                        <a:lnTo>
                          <a:pt x="62" y="39"/>
                        </a:lnTo>
                        <a:lnTo>
                          <a:pt x="53" y="47"/>
                        </a:lnTo>
                        <a:lnTo>
                          <a:pt x="49" y="47"/>
                        </a:lnTo>
                        <a:lnTo>
                          <a:pt x="44" y="53"/>
                        </a:lnTo>
                        <a:lnTo>
                          <a:pt x="26" y="53"/>
                        </a:lnTo>
                        <a:lnTo>
                          <a:pt x="32" y="61"/>
                        </a:lnTo>
                        <a:lnTo>
                          <a:pt x="32" y="73"/>
                        </a:lnTo>
                        <a:lnTo>
                          <a:pt x="26" y="80"/>
                        </a:lnTo>
                        <a:lnTo>
                          <a:pt x="19" y="73"/>
                        </a:lnTo>
                        <a:lnTo>
                          <a:pt x="5" y="73"/>
                        </a:lnTo>
                        <a:lnTo>
                          <a:pt x="5" y="82"/>
                        </a:lnTo>
                        <a:lnTo>
                          <a:pt x="0" y="88"/>
                        </a:lnTo>
                        <a:lnTo>
                          <a:pt x="0" y="100"/>
                        </a:lnTo>
                        <a:lnTo>
                          <a:pt x="9" y="109"/>
                        </a:lnTo>
                        <a:lnTo>
                          <a:pt x="22" y="109"/>
                        </a:lnTo>
                        <a:lnTo>
                          <a:pt x="43" y="86"/>
                        </a:lnTo>
                        <a:lnTo>
                          <a:pt x="61" y="86"/>
                        </a:lnTo>
                        <a:lnTo>
                          <a:pt x="64" y="82"/>
                        </a:lnTo>
                        <a:lnTo>
                          <a:pt x="68" y="86"/>
                        </a:lnTo>
                        <a:lnTo>
                          <a:pt x="67" y="90"/>
                        </a:lnTo>
                        <a:lnTo>
                          <a:pt x="85" y="106"/>
                        </a:lnTo>
                        <a:lnTo>
                          <a:pt x="85" y="113"/>
                        </a:lnTo>
                        <a:lnTo>
                          <a:pt x="88" y="110"/>
                        </a:lnTo>
                        <a:lnTo>
                          <a:pt x="87" y="106"/>
                        </a:lnTo>
                        <a:lnTo>
                          <a:pt x="88" y="104"/>
                        </a:lnTo>
                        <a:lnTo>
                          <a:pt x="91" y="106"/>
                        </a:lnTo>
                        <a:lnTo>
                          <a:pt x="93" y="106"/>
                        </a:lnTo>
                        <a:lnTo>
                          <a:pt x="74" y="85"/>
                        </a:lnTo>
                        <a:lnTo>
                          <a:pt x="74" y="78"/>
                        </a:lnTo>
                        <a:lnTo>
                          <a:pt x="80" y="78"/>
                        </a:lnTo>
                        <a:lnTo>
                          <a:pt x="80" y="82"/>
                        </a:lnTo>
                        <a:lnTo>
                          <a:pt x="97" y="100"/>
                        </a:lnTo>
                        <a:lnTo>
                          <a:pt x="97" y="106"/>
                        </a:lnTo>
                        <a:lnTo>
                          <a:pt x="105" y="114"/>
                        </a:lnTo>
                        <a:lnTo>
                          <a:pt x="103" y="116"/>
                        </a:lnTo>
                        <a:lnTo>
                          <a:pt x="108" y="121"/>
                        </a:lnTo>
                        <a:lnTo>
                          <a:pt x="116" y="113"/>
                        </a:lnTo>
                        <a:lnTo>
                          <a:pt x="111" y="107"/>
                        </a:lnTo>
                        <a:lnTo>
                          <a:pt x="116" y="102"/>
                        </a:lnTo>
                        <a:lnTo>
                          <a:pt x="123" y="102"/>
                        </a:lnTo>
                        <a:lnTo>
                          <a:pt x="126" y="100"/>
                        </a:lnTo>
                        <a:lnTo>
                          <a:pt x="130" y="100"/>
                        </a:lnTo>
                        <a:lnTo>
                          <a:pt x="124" y="93"/>
                        </a:lnTo>
                        <a:lnTo>
                          <a:pt x="127" y="89"/>
                        </a:lnTo>
                        <a:lnTo>
                          <a:pt x="127" y="77"/>
                        </a:lnTo>
                        <a:lnTo>
                          <a:pt x="133" y="71"/>
                        </a:lnTo>
                        <a:lnTo>
                          <a:pt x="136" y="73"/>
                        </a:lnTo>
                        <a:lnTo>
                          <a:pt x="141" y="73"/>
                        </a:lnTo>
                        <a:lnTo>
                          <a:pt x="139" y="77"/>
                        </a:lnTo>
                        <a:lnTo>
                          <a:pt x="144" y="82"/>
                        </a:lnTo>
                        <a:lnTo>
                          <a:pt x="147" y="77"/>
                        </a:lnTo>
                        <a:lnTo>
                          <a:pt x="150" y="77"/>
                        </a:lnTo>
                        <a:lnTo>
                          <a:pt x="150" y="76"/>
                        </a:lnTo>
                        <a:lnTo>
                          <a:pt x="148" y="76"/>
                        </a:lnTo>
                        <a:lnTo>
                          <a:pt x="145" y="73"/>
                        </a:lnTo>
                        <a:lnTo>
                          <a:pt x="153" y="64"/>
                        </a:lnTo>
                        <a:lnTo>
                          <a:pt x="153" y="77"/>
                        </a:lnTo>
                        <a:lnTo>
                          <a:pt x="155" y="77"/>
                        </a:lnTo>
                        <a:lnTo>
                          <a:pt x="155" y="0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2" name="Freeform 86"/>
                  <p:cNvSpPr>
                    <a:spLocks/>
                  </p:cNvSpPr>
                  <p:nvPr/>
                </p:nvSpPr>
                <p:spPr bwMode="auto">
                  <a:xfrm>
                    <a:off x="3730" y="1984"/>
                    <a:ext cx="660" cy="435"/>
                  </a:xfrm>
                  <a:custGeom>
                    <a:avLst/>
                    <a:gdLst/>
                    <a:ahLst/>
                    <a:cxnLst>
                      <a:cxn ang="0">
                        <a:pos x="19" y="114"/>
                      </a:cxn>
                      <a:cxn ang="0">
                        <a:pos x="60" y="76"/>
                      </a:cxn>
                      <a:cxn ang="0">
                        <a:pos x="86" y="102"/>
                      </a:cxn>
                      <a:cxn ang="0">
                        <a:pos x="71" y="101"/>
                      </a:cxn>
                      <a:cxn ang="0">
                        <a:pos x="131" y="97"/>
                      </a:cxn>
                      <a:cxn ang="0">
                        <a:pos x="145" y="62"/>
                      </a:cxn>
                      <a:cxn ang="0">
                        <a:pos x="146" y="70"/>
                      </a:cxn>
                      <a:cxn ang="0">
                        <a:pos x="135" y="97"/>
                      </a:cxn>
                      <a:cxn ang="0">
                        <a:pos x="182" y="75"/>
                      </a:cxn>
                      <a:cxn ang="0">
                        <a:pos x="279" y="13"/>
                      </a:cxn>
                      <a:cxn ang="0">
                        <a:pos x="348" y="16"/>
                      </a:cxn>
                      <a:cxn ang="0">
                        <a:pos x="425" y="8"/>
                      </a:cxn>
                      <a:cxn ang="0">
                        <a:pos x="509" y="40"/>
                      </a:cxn>
                      <a:cxn ang="0">
                        <a:pos x="606" y="51"/>
                      </a:cxn>
                      <a:cxn ang="0">
                        <a:pos x="654" y="88"/>
                      </a:cxn>
                      <a:cxn ang="0">
                        <a:pos x="617" y="116"/>
                      </a:cxn>
                      <a:cxn ang="0">
                        <a:pos x="597" y="152"/>
                      </a:cxn>
                      <a:cxn ang="0">
                        <a:pos x="572" y="154"/>
                      </a:cxn>
                      <a:cxn ang="0">
                        <a:pos x="580" y="104"/>
                      </a:cxn>
                      <a:cxn ang="0">
                        <a:pos x="549" y="131"/>
                      </a:cxn>
                      <a:cxn ang="0">
                        <a:pos x="526" y="154"/>
                      </a:cxn>
                      <a:cxn ang="0">
                        <a:pos x="534" y="180"/>
                      </a:cxn>
                      <a:cxn ang="0">
                        <a:pos x="507" y="218"/>
                      </a:cxn>
                      <a:cxn ang="0">
                        <a:pos x="511" y="248"/>
                      </a:cxn>
                      <a:cxn ang="0">
                        <a:pos x="508" y="233"/>
                      </a:cxn>
                      <a:cxn ang="0">
                        <a:pos x="483" y="235"/>
                      </a:cxn>
                      <a:cxn ang="0">
                        <a:pos x="502" y="281"/>
                      </a:cxn>
                      <a:cxn ang="0">
                        <a:pos x="455" y="333"/>
                      </a:cxn>
                      <a:cxn ang="0">
                        <a:pos x="442" y="347"/>
                      </a:cxn>
                      <a:cxn ang="0">
                        <a:pos x="426" y="399"/>
                      </a:cxn>
                      <a:cxn ang="0">
                        <a:pos x="403" y="400"/>
                      </a:cxn>
                      <a:cxn ang="0">
                        <a:pos x="431" y="434"/>
                      </a:cxn>
                      <a:cxn ang="0">
                        <a:pos x="384" y="354"/>
                      </a:cxn>
                      <a:cxn ang="0">
                        <a:pos x="330" y="337"/>
                      </a:cxn>
                      <a:cxn ang="0">
                        <a:pos x="305" y="390"/>
                      </a:cxn>
                      <a:cxn ang="0">
                        <a:pos x="285" y="417"/>
                      </a:cxn>
                      <a:cxn ang="0">
                        <a:pos x="252" y="334"/>
                      </a:cxn>
                      <a:cxn ang="0">
                        <a:pos x="226" y="343"/>
                      </a:cxn>
                      <a:cxn ang="0">
                        <a:pos x="204" y="308"/>
                      </a:cxn>
                      <a:cxn ang="0">
                        <a:pos x="135" y="288"/>
                      </a:cxn>
                      <a:cxn ang="0">
                        <a:pos x="159" y="326"/>
                      </a:cxn>
                      <a:cxn ang="0">
                        <a:pos x="142" y="350"/>
                      </a:cxn>
                      <a:cxn ang="0">
                        <a:pos x="115" y="342"/>
                      </a:cxn>
                      <a:cxn ang="0">
                        <a:pos x="72" y="280"/>
                      </a:cxn>
                      <a:cxn ang="0">
                        <a:pos x="90" y="244"/>
                      </a:cxn>
                      <a:cxn ang="0">
                        <a:pos x="101" y="218"/>
                      </a:cxn>
                      <a:cxn ang="0">
                        <a:pos x="90" y="128"/>
                      </a:cxn>
                      <a:cxn ang="0">
                        <a:pos x="52" y="109"/>
                      </a:cxn>
                      <a:cxn ang="0">
                        <a:pos x="33" y="119"/>
                      </a:cxn>
                      <a:cxn ang="0">
                        <a:pos x="0" y="128"/>
                      </a:cxn>
                    </a:cxnLst>
                    <a:rect l="0" t="0" r="r" b="b"/>
                    <a:pathLst>
                      <a:path w="660" h="435">
                        <a:moveTo>
                          <a:pt x="0" y="128"/>
                        </a:moveTo>
                        <a:lnTo>
                          <a:pt x="19" y="114"/>
                        </a:lnTo>
                        <a:lnTo>
                          <a:pt x="38" y="88"/>
                        </a:lnTo>
                        <a:lnTo>
                          <a:pt x="60" y="76"/>
                        </a:lnTo>
                        <a:lnTo>
                          <a:pt x="83" y="91"/>
                        </a:lnTo>
                        <a:lnTo>
                          <a:pt x="86" y="102"/>
                        </a:lnTo>
                        <a:lnTo>
                          <a:pt x="81" y="102"/>
                        </a:lnTo>
                        <a:lnTo>
                          <a:pt x="71" y="101"/>
                        </a:lnTo>
                        <a:lnTo>
                          <a:pt x="83" y="114"/>
                        </a:lnTo>
                        <a:lnTo>
                          <a:pt x="131" y="97"/>
                        </a:lnTo>
                        <a:lnTo>
                          <a:pt x="125" y="84"/>
                        </a:lnTo>
                        <a:lnTo>
                          <a:pt x="145" y="62"/>
                        </a:lnTo>
                        <a:lnTo>
                          <a:pt x="159" y="63"/>
                        </a:lnTo>
                        <a:lnTo>
                          <a:pt x="146" y="70"/>
                        </a:lnTo>
                        <a:lnTo>
                          <a:pt x="135" y="87"/>
                        </a:lnTo>
                        <a:lnTo>
                          <a:pt x="135" y="97"/>
                        </a:lnTo>
                        <a:lnTo>
                          <a:pt x="154" y="109"/>
                        </a:lnTo>
                        <a:lnTo>
                          <a:pt x="182" y="75"/>
                        </a:lnTo>
                        <a:lnTo>
                          <a:pt x="279" y="35"/>
                        </a:lnTo>
                        <a:lnTo>
                          <a:pt x="279" y="13"/>
                        </a:lnTo>
                        <a:lnTo>
                          <a:pt x="323" y="4"/>
                        </a:lnTo>
                        <a:lnTo>
                          <a:pt x="348" y="16"/>
                        </a:lnTo>
                        <a:lnTo>
                          <a:pt x="406" y="0"/>
                        </a:lnTo>
                        <a:lnTo>
                          <a:pt x="425" y="8"/>
                        </a:lnTo>
                        <a:lnTo>
                          <a:pt x="464" y="48"/>
                        </a:lnTo>
                        <a:lnTo>
                          <a:pt x="509" y="40"/>
                        </a:lnTo>
                        <a:lnTo>
                          <a:pt x="537" y="54"/>
                        </a:lnTo>
                        <a:lnTo>
                          <a:pt x="606" y="51"/>
                        </a:lnTo>
                        <a:lnTo>
                          <a:pt x="659" y="67"/>
                        </a:lnTo>
                        <a:lnTo>
                          <a:pt x="654" y="88"/>
                        </a:lnTo>
                        <a:lnTo>
                          <a:pt x="609" y="102"/>
                        </a:lnTo>
                        <a:lnTo>
                          <a:pt x="617" y="116"/>
                        </a:lnTo>
                        <a:lnTo>
                          <a:pt x="598" y="124"/>
                        </a:lnTo>
                        <a:lnTo>
                          <a:pt x="597" y="152"/>
                        </a:lnTo>
                        <a:lnTo>
                          <a:pt x="580" y="172"/>
                        </a:lnTo>
                        <a:lnTo>
                          <a:pt x="572" y="154"/>
                        </a:lnTo>
                        <a:lnTo>
                          <a:pt x="582" y="138"/>
                        </a:lnTo>
                        <a:lnTo>
                          <a:pt x="580" y="104"/>
                        </a:lnTo>
                        <a:lnTo>
                          <a:pt x="563" y="121"/>
                        </a:lnTo>
                        <a:lnTo>
                          <a:pt x="549" y="131"/>
                        </a:lnTo>
                        <a:lnTo>
                          <a:pt x="535" y="116"/>
                        </a:lnTo>
                        <a:lnTo>
                          <a:pt x="526" y="154"/>
                        </a:lnTo>
                        <a:lnTo>
                          <a:pt x="536" y="154"/>
                        </a:lnTo>
                        <a:lnTo>
                          <a:pt x="534" y="180"/>
                        </a:lnTo>
                        <a:lnTo>
                          <a:pt x="522" y="207"/>
                        </a:lnTo>
                        <a:lnTo>
                          <a:pt x="507" y="218"/>
                        </a:lnTo>
                        <a:lnTo>
                          <a:pt x="519" y="236"/>
                        </a:lnTo>
                        <a:lnTo>
                          <a:pt x="511" y="248"/>
                        </a:lnTo>
                        <a:lnTo>
                          <a:pt x="508" y="237"/>
                        </a:lnTo>
                        <a:lnTo>
                          <a:pt x="508" y="233"/>
                        </a:lnTo>
                        <a:lnTo>
                          <a:pt x="498" y="227"/>
                        </a:lnTo>
                        <a:lnTo>
                          <a:pt x="483" y="235"/>
                        </a:lnTo>
                        <a:lnTo>
                          <a:pt x="497" y="265"/>
                        </a:lnTo>
                        <a:lnTo>
                          <a:pt x="502" y="281"/>
                        </a:lnTo>
                        <a:lnTo>
                          <a:pt x="485" y="322"/>
                        </a:lnTo>
                        <a:lnTo>
                          <a:pt x="455" y="333"/>
                        </a:lnTo>
                        <a:lnTo>
                          <a:pt x="430" y="331"/>
                        </a:lnTo>
                        <a:lnTo>
                          <a:pt x="442" y="347"/>
                        </a:lnTo>
                        <a:lnTo>
                          <a:pt x="443" y="371"/>
                        </a:lnTo>
                        <a:lnTo>
                          <a:pt x="426" y="399"/>
                        </a:lnTo>
                        <a:lnTo>
                          <a:pt x="406" y="384"/>
                        </a:lnTo>
                        <a:lnTo>
                          <a:pt x="403" y="400"/>
                        </a:lnTo>
                        <a:lnTo>
                          <a:pt x="418" y="414"/>
                        </a:lnTo>
                        <a:lnTo>
                          <a:pt x="431" y="434"/>
                        </a:lnTo>
                        <a:lnTo>
                          <a:pt x="409" y="422"/>
                        </a:lnTo>
                        <a:lnTo>
                          <a:pt x="384" y="354"/>
                        </a:lnTo>
                        <a:lnTo>
                          <a:pt x="353" y="335"/>
                        </a:lnTo>
                        <a:lnTo>
                          <a:pt x="330" y="337"/>
                        </a:lnTo>
                        <a:lnTo>
                          <a:pt x="301" y="376"/>
                        </a:lnTo>
                        <a:lnTo>
                          <a:pt x="305" y="390"/>
                        </a:lnTo>
                        <a:lnTo>
                          <a:pt x="295" y="417"/>
                        </a:lnTo>
                        <a:lnTo>
                          <a:pt x="285" y="417"/>
                        </a:lnTo>
                        <a:lnTo>
                          <a:pt x="252" y="359"/>
                        </a:lnTo>
                        <a:lnTo>
                          <a:pt x="252" y="334"/>
                        </a:lnTo>
                        <a:lnTo>
                          <a:pt x="245" y="343"/>
                        </a:lnTo>
                        <a:lnTo>
                          <a:pt x="226" y="343"/>
                        </a:lnTo>
                        <a:lnTo>
                          <a:pt x="233" y="328"/>
                        </a:lnTo>
                        <a:lnTo>
                          <a:pt x="204" y="308"/>
                        </a:lnTo>
                        <a:lnTo>
                          <a:pt x="167" y="308"/>
                        </a:lnTo>
                        <a:lnTo>
                          <a:pt x="135" y="288"/>
                        </a:lnTo>
                        <a:lnTo>
                          <a:pt x="133" y="308"/>
                        </a:lnTo>
                        <a:lnTo>
                          <a:pt x="159" y="326"/>
                        </a:lnTo>
                        <a:lnTo>
                          <a:pt x="168" y="326"/>
                        </a:lnTo>
                        <a:lnTo>
                          <a:pt x="142" y="350"/>
                        </a:lnTo>
                        <a:lnTo>
                          <a:pt x="115" y="356"/>
                        </a:lnTo>
                        <a:lnTo>
                          <a:pt x="115" y="342"/>
                        </a:lnTo>
                        <a:lnTo>
                          <a:pt x="77" y="293"/>
                        </a:lnTo>
                        <a:lnTo>
                          <a:pt x="72" y="280"/>
                        </a:lnTo>
                        <a:lnTo>
                          <a:pt x="93" y="264"/>
                        </a:lnTo>
                        <a:lnTo>
                          <a:pt x="90" y="244"/>
                        </a:lnTo>
                        <a:lnTo>
                          <a:pt x="90" y="222"/>
                        </a:lnTo>
                        <a:lnTo>
                          <a:pt x="101" y="218"/>
                        </a:lnTo>
                        <a:lnTo>
                          <a:pt x="90" y="207"/>
                        </a:lnTo>
                        <a:lnTo>
                          <a:pt x="90" y="128"/>
                        </a:lnTo>
                        <a:lnTo>
                          <a:pt x="37" y="128"/>
                        </a:lnTo>
                        <a:lnTo>
                          <a:pt x="52" y="109"/>
                        </a:lnTo>
                        <a:lnTo>
                          <a:pt x="51" y="102"/>
                        </a:lnTo>
                        <a:lnTo>
                          <a:pt x="33" y="119"/>
                        </a:lnTo>
                        <a:lnTo>
                          <a:pt x="27" y="128"/>
                        </a:lnTo>
                        <a:lnTo>
                          <a:pt x="0" y="128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3" name="Freeform 87"/>
                  <p:cNvSpPr>
                    <a:spLocks/>
                  </p:cNvSpPr>
                  <p:nvPr/>
                </p:nvSpPr>
                <p:spPr bwMode="auto">
                  <a:xfrm>
                    <a:off x="4252" y="2162"/>
                    <a:ext cx="57" cy="88"/>
                  </a:xfrm>
                  <a:custGeom>
                    <a:avLst/>
                    <a:gdLst/>
                    <a:ahLst/>
                    <a:cxnLst>
                      <a:cxn ang="0">
                        <a:pos x="38" y="0"/>
                      </a:cxn>
                      <a:cxn ang="0">
                        <a:pos x="38" y="11"/>
                      </a:cxn>
                      <a:cxn ang="0">
                        <a:pos x="33" y="18"/>
                      </a:cxn>
                      <a:cxn ang="0">
                        <a:pos x="34" y="30"/>
                      </a:cxn>
                      <a:cxn ang="0">
                        <a:pos x="29" y="46"/>
                      </a:cxn>
                      <a:cxn ang="0">
                        <a:pos x="19" y="60"/>
                      </a:cxn>
                      <a:cxn ang="0">
                        <a:pos x="4" y="70"/>
                      </a:cxn>
                      <a:cxn ang="0">
                        <a:pos x="0" y="86"/>
                      </a:cxn>
                      <a:cxn ang="0">
                        <a:pos x="6" y="87"/>
                      </a:cxn>
                      <a:cxn ang="0">
                        <a:pos x="6" y="72"/>
                      </a:cxn>
                      <a:cxn ang="0">
                        <a:pos x="26" y="71"/>
                      </a:cxn>
                      <a:cxn ang="0">
                        <a:pos x="42" y="61"/>
                      </a:cxn>
                      <a:cxn ang="0">
                        <a:pos x="42" y="40"/>
                      </a:cxn>
                      <a:cxn ang="0">
                        <a:pos x="46" y="33"/>
                      </a:cxn>
                      <a:cxn ang="0">
                        <a:pos x="38" y="19"/>
                      </a:cxn>
                      <a:cxn ang="0">
                        <a:pos x="49" y="15"/>
                      </a:cxn>
                      <a:cxn ang="0">
                        <a:pos x="56" y="4"/>
                      </a:cxn>
                      <a:cxn ang="0">
                        <a:pos x="42" y="6"/>
                      </a:cxn>
                      <a:cxn ang="0">
                        <a:pos x="38" y="0"/>
                      </a:cxn>
                    </a:cxnLst>
                    <a:rect l="0" t="0" r="r" b="b"/>
                    <a:pathLst>
                      <a:path w="57" h="88">
                        <a:moveTo>
                          <a:pt x="38" y="0"/>
                        </a:moveTo>
                        <a:lnTo>
                          <a:pt x="38" y="11"/>
                        </a:lnTo>
                        <a:lnTo>
                          <a:pt x="33" y="18"/>
                        </a:lnTo>
                        <a:lnTo>
                          <a:pt x="34" y="30"/>
                        </a:lnTo>
                        <a:lnTo>
                          <a:pt x="29" y="46"/>
                        </a:lnTo>
                        <a:lnTo>
                          <a:pt x="19" y="60"/>
                        </a:lnTo>
                        <a:lnTo>
                          <a:pt x="4" y="70"/>
                        </a:lnTo>
                        <a:lnTo>
                          <a:pt x="0" y="86"/>
                        </a:lnTo>
                        <a:lnTo>
                          <a:pt x="6" y="87"/>
                        </a:lnTo>
                        <a:lnTo>
                          <a:pt x="6" y="72"/>
                        </a:lnTo>
                        <a:lnTo>
                          <a:pt x="26" y="71"/>
                        </a:lnTo>
                        <a:lnTo>
                          <a:pt x="42" y="61"/>
                        </a:lnTo>
                        <a:lnTo>
                          <a:pt x="42" y="40"/>
                        </a:lnTo>
                        <a:lnTo>
                          <a:pt x="46" y="33"/>
                        </a:lnTo>
                        <a:lnTo>
                          <a:pt x="38" y="19"/>
                        </a:lnTo>
                        <a:lnTo>
                          <a:pt x="49" y="15"/>
                        </a:lnTo>
                        <a:lnTo>
                          <a:pt x="56" y="4"/>
                        </a:lnTo>
                        <a:lnTo>
                          <a:pt x="42" y="6"/>
                        </a:lnTo>
                        <a:lnTo>
                          <a:pt x="38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4" name="Freeform 88"/>
                  <p:cNvSpPr>
                    <a:spLocks/>
                  </p:cNvSpPr>
                  <p:nvPr/>
                </p:nvSpPr>
                <p:spPr bwMode="auto">
                  <a:xfrm>
                    <a:off x="4036" y="2398"/>
                    <a:ext cx="11" cy="21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0" y="9"/>
                      </a:cxn>
                      <a:cxn ang="0">
                        <a:pos x="3" y="20"/>
                      </a:cxn>
                      <a:cxn ang="0">
                        <a:pos x="10" y="12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1" h="21">
                        <a:moveTo>
                          <a:pt x="5" y="0"/>
                        </a:moveTo>
                        <a:lnTo>
                          <a:pt x="0" y="9"/>
                        </a:lnTo>
                        <a:lnTo>
                          <a:pt x="3" y="20"/>
                        </a:lnTo>
                        <a:lnTo>
                          <a:pt x="10" y="12"/>
                        </a:lnTo>
                        <a:lnTo>
                          <a:pt x="5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5" name="Freeform 89"/>
                  <p:cNvSpPr>
                    <a:spLocks/>
                  </p:cNvSpPr>
                  <p:nvPr/>
                </p:nvSpPr>
                <p:spPr bwMode="auto">
                  <a:xfrm>
                    <a:off x="4123" y="2419"/>
                    <a:ext cx="133" cy="5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0" y="4"/>
                      </a:cxn>
                      <a:cxn ang="0">
                        <a:pos x="50" y="24"/>
                      </a:cxn>
                      <a:cxn ang="0">
                        <a:pos x="45" y="34"/>
                      </a:cxn>
                      <a:cxn ang="0">
                        <a:pos x="70" y="44"/>
                      </a:cxn>
                      <a:cxn ang="0">
                        <a:pos x="132" y="44"/>
                      </a:cxn>
                      <a:cxn ang="0">
                        <a:pos x="64" y="53"/>
                      </a:cxn>
                      <a:cxn ang="0">
                        <a:pos x="45" y="34"/>
                      </a:cxn>
                      <a:cxn ang="0">
                        <a:pos x="28" y="3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33" h="54">
                        <a:moveTo>
                          <a:pt x="0" y="0"/>
                        </a:moveTo>
                        <a:lnTo>
                          <a:pt x="20" y="4"/>
                        </a:lnTo>
                        <a:lnTo>
                          <a:pt x="50" y="24"/>
                        </a:lnTo>
                        <a:lnTo>
                          <a:pt x="45" y="34"/>
                        </a:lnTo>
                        <a:lnTo>
                          <a:pt x="70" y="44"/>
                        </a:lnTo>
                        <a:lnTo>
                          <a:pt x="132" y="44"/>
                        </a:lnTo>
                        <a:lnTo>
                          <a:pt x="64" y="53"/>
                        </a:lnTo>
                        <a:lnTo>
                          <a:pt x="45" y="34"/>
                        </a:lnTo>
                        <a:lnTo>
                          <a:pt x="28" y="31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6" name="Freeform 90"/>
                  <p:cNvSpPr>
                    <a:spLocks/>
                  </p:cNvSpPr>
                  <p:nvPr/>
                </p:nvSpPr>
                <p:spPr bwMode="auto">
                  <a:xfrm>
                    <a:off x="4229" y="2462"/>
                    <a:ext cx="144" cy="127"/>
                  </a:xfrm>
                  <a:custGeom>
                    <a:avLst/>
                    <a:gdLst/>
                    <a:ahLst/>
                    <a:cxnLst>
                      <a:cxn ang="0">
                        <a:pos x="115" y="124"/>
                      </a:cxn>
                      <a:cxn ang="0">
                        <a:pos x="109" y="122"/>
                      </a:cxn>
                      <a:cxn ang="0">
                        <a:pos x="94" y="107"/>
                      </a:cxn>
                      <a:cxn ang="0">
                        <a:pos x="79" y="104"/>
                      </a:cxn>
                      <a:cxn ang="0">
                        <a:pos x="76" y="96"/>
                      </a:cxn>
                      <a:cxn ang="0">
                        <a:pos x="67" y="89"/>
                      </a:cxn>
                      <a:cxn ang="0">
                        <a:pos x="53" y="89"/>
                      </a:cxn>
                      <a:cxn ang="0">
                        <a:pos x="38" y="94"/>
                      </a:cxn>
                      <a:cxn ang="0">
                        <a:pos x="25" y="97"/>
                      </a:cxn>
                      <a:cxn ang="0">
                        <a:pos x="9" y="97"/>
                      </a:cxn>
                      <a:cxn ang="0">
                        <a:pos x="8" y="87"/>
                      </a:cxn>
                      <a:cxn ang="0">
                        <a:pos x="3" y="72"/>
                      </a:cxn>
                      <a:cxn ang="0">
                        <a:pos x="2" y="65"/>
                      </a:cxn>
                      <a:cxn ang="0">
                        <a:pos x="2" y="45"/>
                      </a:cxn>
                      <a:cxn ang="0">
                        <a:pos x="27" y="35"/>
                      </a:cxn>
                      <a:cxn ang="0">
                        <a:pos x="29" y="23"/>
                      </a:cxn>
                      <a:cxn ang="0">
                        <a:pos x="35" y="25"/>
                      </a:cxn>
                      <a:cxn ang="0">
                        <a:pos x="47" y="13"/>
                      </a:cxn>
                      <a:cxn ang="0">
                        <a:pos x="59" y="14"/>
                      </a:cxn>
                      <a:cxn ang="0">
                        <a:pos x="68" y="6"/>
                      </a:cxn>
                      <a:cxn ang="0">
                        <a:pos x="76" y="4"/>
                      </a:cxn>
                      <a:cxn ang="0">
                        <a:pos x="88" y="20"/>
                      </a:cxn>
                      <a:cxn ang="0">
                        <a:pos x="99" y="25"/>
                      </a:cxn>
                      <a:cxn ang="0">
                        <a:pos x="100" y="9"/>
                      </a:cxn>
                      <a:cxn ang="0">
                        <a:pos x="105" y="0"/>
                      </a:cxn>
                      <a:cxn ang="0">
                        <a:pos x="112" y="13"/>
                      </a:cxn>
                      <a:cxn ang="0">
                        <a:pos x="119" y="35"/>
                      </a:cxn>
                      <a:cxn ang="0">
                        <a:pos x="133" y="47"/>
                      </a:cxn>
                      <a:cxn ang="0">
                        <a:pos x="141" y="58"/>
                      </a:cxn>
                      <a:cxn ang="0">
                        <a:pos x="143" y="76"/>
                      </a:cxn>
                      <a:cxn ang="0">
                        <a:pos x="135" y="97"/>
                      </a:cxn>
                      <a:cxn ang="0">
                        <a:pos x="132" y="116"/>
                      </a:cxn>
                      <a:cxn ang="0">
                        <a:pos x="119" y="123"/>
                      </a:cxn>
                    </a:cxnLst>
                    <a:rect l="0" t="0" r="r" b="b"/>
                    <a:pathLst>
                      <a:path w="144" h="127">
                        <a:moveTo>
                          <a:pt x="119" y="123"/>
                        </a:moveTo>
                        <a:lnTo>
                          <a:pt x="115" y="124"/>
                        </a:lnTo>
                        <a:lnTo>
                          <a:pt x="112" y="126"/>
                        </a:lnTo>
                        <a:lnTo>
                          <a:pt x="109" y="122"/>
                        </a:lnTo>
                        <a:lnTo>
                          <a:pt x="96" y="116"/>
                        </a:lnTo>
                        <a:lnTo>
                          <a:pt x="94" y="107"/>
                        </a:lnTo>
                        <a:lnTo>
                          <a:pt x="90" y="104"/>
                        </a:lnTo>
                        <a:lnTo>
                          <a:pt x="79" y="104"/>
                        </a:lnTo>
                        <a:lnTo>
                          <a:pt x="79" y="98"/>
                        </a:lnTo>
                        <a:lnTo>
                          <a:pt x="76" y="96"/>
                        </a:lnTo>
                        <a:lnTo>
                          <a:pt x="75" y="90"/>
                        </a:lnTo>
                        <a:lnTo>
                          <a:pt x="67" y="89"/>
                        </a:lnTo>
                        <a:lnTo>
                          <a:pt x="59" y="87"/>
                        </a:lnTo>
                        <a:lnTo>
                          <a:pt x="53" y="89"/>
                        </a:lnTo>
                        <a:lnTo>
                          <a:pt x="53" y="90"/>
                        </a:lnTo>
                        <a:lnTo>
                          <a:pt x="38" y="94"/>
                        </a:lnTo>
                        <a:lnTo>
                          <a:pt x="38" y="97"/>
                        </a:lnTo>
                        <a:lnTo>
                          <a:pt x="25" y="97"/>
                        </a:lnTo>
                        <a:lnTo>
                          <a:pt x="17" y="101"/>
                        </a:lnTo>
                        <a:lnTo>
                          <a:pt x="9" y="97"/>
                        </a:lnTo>
                        <a:lnTo>
                          <a:pt x="8" y="96"/>
                        </a:lnTo>
                        <a:lnTo>
                          <a:pt x="8" y="87"/>
                        </a:lnTo>
                        <a:lnTo>
                          <a:pt x="6" y="80"/>
                        </a:lnTo>
                        <a:lnTo>
                          <a:pt x="3" y="72"/>
                        </a:lnTo>
                        <a:lnTo>
                          <a:pt x="5" y="67"/>
                        </a:lnTo>
                        <a:lnTo>
                          <a:pt x="2" y="65"/>
                        </a:lnTo>
                        <a:lnTo>
                          <a:pt x="0" y="54"/>
                        </a:lnTo>
                        <a:lnTo>
                          <a:pt x="2" y="45"/>
                        </a:lnTo>
                        <a:lnTo>
                          <a:pt x="10" y="39"/>
                        </a:lnTo>
                        <a:lnTo>
                          <a:pt x="27" y="35"/>
                        </a:lnTo>
                        <a:lnTo>
                          <a:pt x="31" y="29"/>
                        </a:lnTo>
                        <a:lnTo>
                          <a:pt x="29" y="23"/>
                        </a:lnTo>
                        <a:lnTo>
                          <a:pt x="34" y="22"/>
                        </a:lnTo>
                        <a:lnTo>
                          <a:pt x="35" y="25"/>
                        </a:lnTo>
                        <a:lnTo>
                          <a:pt x="37" y="20"/>
                        </a:lnTo>
                        <a:lnTo>
                          <a:pt x="47" y="13"/>
                        </a:lnTo>
                        <a:lnTo>
                          <a:pt x="53" y="16"/>
                        </a:lnTo>
                        <a:lnTo>
                          <a:pt x="59" y="14"/>
                        </a:lnTo>
                        <a:lnTo>
                          <a:pt x="62" y="7"/>
                        </a:lnTo>
                        <a:lnTo>
                          <a:pt x="68" y="6"/>
                        </a:lnTo>
                        <a:lnTo>
                          <a:pt x="67" y="1"/>
                        </a:lnTo>
                        <a:lnTo>
                          <a:pt x="76" y="4"/>
                        </a:lnTo>
                        <a:lnTo>
                          <a:pt x="84" y="3"/>
                        </a:lnTo>
                        <a:lnTo>
                          <a:pt x="88" y="20"/>
                        </a:lnTo>
                        <a:lnTo>
                          <a:pt x="94" y="25"/>
                        </a:lnTo>
                        <a:lnTo>
                          <a:pt x="99" y="25"/>
                        </a:lnTo>
                        <a:lnTo>
                          <a:pt x="102" y="14"/>
                        </a:lnTo>
                        <a:lnTo>
                          <a:pt x="100" y="9"/>
                        </a:lnTo>
                        <a:lnTo>
                          <a:pt x="102" y="1"/>
                        </a:lnTo>
                        <a:lnTo>
                          <a:pt x="105" y="0"/>
                        </a:lnTo>
                        <a:lnTo>
                          <a:pt x="109" y="10"/>
                        </a:lnTo>
                        <a:lnTo>
                          <a:pt x="112" y="13"/>
                        </a:lnTo>
                        <a:lnTo>
                          <a:pt x="115" y="22"/>
                        </a:lnTo>
                        <a:lnTo>
                          <a:pt x="119" y="35"/>
                        </a:lnTo>
                        <a:lnTo>
                          <a:pt x="126" y="38"/>
                        </a:lnTo>
                        <a:lnTo>
                          <a:pt x="133" y="47"/>
                        </a:lnTo>
                        <a:lnTo>
                          <a:pt x="135" y="52"/>
                        </a:lnTo>
                        <a:lnTo>
                          <a:pt x="141" y="58"/>
                        </a:lnTo>
                        <a:lnTo>
                          <a:pt x="143" y="68"/>
                        </a:lnTo>
                        <a:lnTo>
                          <a:pt x="143" y="76"/>
                        </a:lnTo>
                        <a:lnTo>
                          <a:pt x="141" y="89"/>
                        </a:lnTo>
                        <a:lnTo>
                          <a:pt x="135" y="97"/>
                        </a:lnTo>
                        <a:lnTo>
                          <a:pt x="132" y="107"/>
                        </a:lnTo>
                        <a:lnTo>
                          <a:pt x="132" y="116"/>
                        </a:lnTo>
                        <a:lnTo>
                          <a:pt x="126" y="118"/>
                        </a:lnTo>
                        <a:lnTo>
                          <a:pt x="119" y="123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7" name="Freeform 91"/>
                  <p:cNvSpPr>
                    <a:spLocks/>
                  </p:cNvSpPr>
                  <p:nvPr/>
                </p:nvSpPr>
                <p:spPr bwMode="auto">
                  <a:xfrm>
                    <a:off x="4343" y="2594"/>
                    <a:ext cx="11" cy="16"/>
                  </a:xfrm>
                  <a:custGeom>
                    <a:avLst/>
                    <a:gdLst/>
                    <a:ahLst/>
                    <a:cxnLst>
                      <a:cxn ang="0">
                        <a:pos x="5" y="14"/>
                      </a:cxn>
                      <a:cxn ang="0">
                        <a:pos x="2" y="11"/>
                      </a:cxn>
                      <a:cxn ang="0">
                        <a:pos x="2" y="9"/>
                      </a:cxn>
                      <a:cxn ang="0">
                        <a:pos x="2" y="6"/>
                      </a:cxn>
                      <a:cxn ang="0">
                        <a:pos x="1" y="4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5" y="2"/>
                      </a:cxn>
                      <a:cxn ang="0">
                        <a:pos x="7" y="1"/>
                      </a:cxn>
                      <a:cxn ang="0">
                        <a:pos x="8" y="1"/>
                      </a:cxn>
                      <a:cxn ang="0">
                        <a:pos x="10" y="0"/>
                      </a:cxn>
                      <a:cxn ang="0">
                        <a:pos x="10" y="6"/>
                      </a:cxn>
                      <a:cxn ang="0">
                        <a:pos x="9" y="9"/>
                      </a:cxn>
                      <a:cxn ang="0">
                        <a:pos x="8" y="11"/>
                      </a:cxn>
                      <a:cxn ang="0">
                        <a:pos x="8" y="13"/>
                      </a:cxn>
                      <a:cxn ang="0">
                        <a:pos x="7" y="14"/>
                      </a:cxn>
                      <a:cxn ang="0">
                        <a:pos x="7" y="15"/>
                      </a:cxn>
                      <a:cxn ang="0">
                        <a:pos x="5" y="14"/>
                      </a:cxn>
                    </a:cxnLst>
                    <a:rect l="0" t="0" r="r" b="b"/>
                    <a:pathLst>
                      <a:path w="11" h="16">
                        <a:moveTo>
                          <a:pt x="5" y="14"/>
                        </a:moveTo>
                        <a:lnTo>
                          <a:pt x="2" y="11"/>
                        </a:lnTo>
                        <a:lnTo>
                          <a:pt x="2" y="9"/>
                        </a:lnTo>
                        <a:lnTo>
                          <a:pt x="2" y="6"/>
                        </a:lnTo>
                        <a:lnTo>
                          <a:pt x="1" y="4"/>
                        </a:lnTo>
                        <a:lnTo>
                          <a:pt x="0" y="0"/>
                        </a:lnTo>
                        <a:lnTo>
                          <a:pt x="2" y="0"/>
                        </a:lnTo>
                        <a:lnTo>
                          <a:pt x="5" y="2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10" y="0"/>
                        </a:lnTo>
                        <a:lnTo>
                          <a:pt x="10" y="6"/>
                        </a:lnTo>
                        <a:lnTo>
                          <a:pt x="9" y="9"/>
                        </a:lnTo>
                        <a:lnTo>
                          <a:pt x="8" y="11"/>
                        </a:lnTo>
                        <a:lnTo>
                          <a:pt x="8" y="13"/>
                        </a:lnTo>
                        <a:lnTo>
                          <a:pt x="7" y="14"/>
                        </a:lnTo>
                        <a:lnTo>
                          <a:pt x="7" y="15"/>
                        </a:lnTo>
                        <a:lnTo>
                          <a:pt x="5" y="14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8" name="Freeform 92"/>
                  <p:cNvSpPr>
                    <a:spLocks/>
                  </p:cNvSpPr>
                  <p:nvPr/>
                </p:nvSpPr>
                <p:spPr bwMode="auto">
                  <a:xfrm>
                    <a:off x="3844" y="2452"/>
                    <a:ext cx="16" cy="60"/>
                  </a:xfrm>
                  <a:custGeom>
                    <a:avLst/>
                    <a:gdLst/>
                    <a:ahLst/>
                    <a:cxnLst>
                      <a:cxn ang="0">
                        <a:pos x="2" y="21"/>
                      </a:cxn>
                      <a:cxn ang="0">
                        <a:pos x="8" y="16"/>
                      </a:cxn>
                      <a:cxn ang="0">
                        <a:pos x="12" y="0"/>
                      </a:cxn>
                      <a:cxn ang="0">
                        <a:pos x="15" y="24"/>
                      </a:cxn>
                      <a:cxn ang="0">
                        <a:pos x="10" y="53"/>
                      </a:cxn>
                      <a:cxn ang="0">
                        <a:pos x="0" y="59"/>
                      </a:cxn>
                      <a:cxn ang="0">
                        <a:pos x="0" y="45"/>
                      </a:cxn>
                      <a:cxn ang="0">
                        <a:pos x="3" y="36"/>
                      </a:cxn>
                      <a:cxn ang="0">
                        <a:pos x="2" y="21"/>
                      </a:cxn>
                    </a:cxnLst>
                    <a:rect l="0" t="0" r="r" b="b"/>
                    <a:pathLst>
                      <a:path w="16" h="60">
                        <a:moveTo>
                          <a:pt x="2" y="21"/>
                        </a:moveTo>
                        <a:lnTo>
                          <a:pt x="8" y="16"/>
                        </a:lnTo>
                        <a:lnTo>
                          <a:pt x="12" y="0"/>
                        </a:lnTo>
                        <a:lnTo>
                          <a:pt x="15" y="24"/>
                        </a:lnTo>
                        <a:lnTo>
                          <a:pt x="10" y="53"/>
                        </a:lnTo>
                        <a:lnTo>
                          <a:pt x="0" y="59"/>
                        </a:lnTo>
                        <a:lnTo>
                          <a:pt x="0" y="45"/>
                        </a:lnTo>
                        <a:lnTo>
                          <a:pt x="3" y="36"/>
                        </a:lnTo>
                        <a:lnTo>
                          <a:pt x="2" y="21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  <p:graphicFrame>
          <p:nvGraphicFramePr>
            <p:cNvPr id="414" name="Object 9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2968179" y="2543572"/>
            <a:ext cx="2460625" cy="1290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" name="Clip" r:id="rId2" imgW="6360840" imgH="2412720" progId="">
                    <p:embed/>
                  </p:oleObj>
                </mc:Choice>
                <mc:Fallback>
                  <p:oleObj name="Clip" r:id="rId2" imgW="6360840" imgH="2412720" progId="">
                    <p:embed/>
                    <p:pic>
                      <p:nvPicPr>
                        <p:cNvPr id="0" name="Object 9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179" y="2543572"/>
                          <a:ext cx="2460625" cy="1290637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rgbClr val="FFFFFF"/>
                          </a:solidFill>
                          <a:miter lim="800000"/>
                          <a:headEnd/>
                          <a:tailEnd/>
                        </a:ln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E4A8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15" name="Picture 94" descr="a8-129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800279" y="5069284"/>
              <a:ext cx="3108325" cy="141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6" name="Rectangle 95"/>
            <p:cNvSpPr>
              <a:spLocks noChangeArrowheads="1"/>
            </p:cNvSpPr>
            <p:nvPr/>
          </p:nvSpPr>
          <p:spPr bwMode="auto">
            <a:xfrm>
              <a:off x="6059041" y="6425009"/>
              <a:ext cx="3035300" cy="4777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88898" tIns="44449" rIns="88898" bIns="44449">
              <a:spAutoFit/>
            </a:bodyPr>
            <a:lstStyle/>
            <a:p>
              <a:pPr algn="l" defTabSz="906463" eaLnBrk="0" hangingPunct="0"/>
              <a:r>
                <a:rPr lang="en-US" altLang="zh-TW" sz="2400" dirty="0"/>
                <a:t>Military Applications</a:t>
              </a:r>
            </a:p>
          </p:txBody>
        </p:sp>
        <p:sp>
          <p:nvSpPr>
            <p:cNvPr id="417" name="Rectangle 96"/>
            <p:cNvSpPr>
              <a:spLocks noChangeArrowheads="1"/>
            </p:cNvSpPr>
            <p:nvPr/>
          </p:nvSpPr>
          <p:spPr bwMode="auto">
            <a:xfrm>
              <a:off x="3060254" y="6313884"/>
              <a:ext cx="2211387" cy="4777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0" tIns="44446" rIns="90480" bIns="44446">
              <a:spAutoFit/>
            </a:bodyPr>
            <a:lstStyle/>
            <a:p>
              <a:pPr algn="l" eaLnBrk="0" hangingPunct="0"/>
              <a:r>
                <a:rPr lang="en-US" altLang="zh-TW" sz="2400" dirty="0"/>
                <a:t>Digital Biology</a:t>
              </a:r>
            </a:p>
          </p:txBody>
        </p:sp>
        <p:pic>
          <p:nvPicPr>
            <p:cNvPr id="418" name="Picture 97" descr="fro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984304" y="3723084"/>
              <a:ext cx="1323975" cy="1187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9" name="Picture 98" descr="butterfly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282504" y="4994672"/>
              <a:ext cx="2119312" cy="1260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20" name="Picture 99" descr="HumanGenome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726754" y="2770584"/>
              <a:ext cx="1714500" cy="17795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23" name="Group 102"/>
            <p:cNvGrpSpPr>
              <a:grpSpLocks/>
            </p:cNvGrpSpPr>
            <p:nvPr/>
          </p:nvGrpSpPr>
          <p:grpSpPr bwMode="auto">
            <a:xfrm>
              <a:off x="7362379" y="2537222"/>
              <a:ext cx="1731962" cy="1755775"/>
              <a:chOff x="4669" y="1581"/>
              <a:chExt cx="1091" cy="1106"/>
            </a:xfrm>
          </p:grpSpPr>
          <p:graphicFrame>
            <p:nvGraphicFramePr>
              <p:cNvPr id="424" name="Object 103"/>
              <p:cNvGraphicFramePr>
                <a:graphicFrameLocks noChangeAspect="1"/>
              </p:cNvGraphicFramePr>
              <p:nvPr/>
            </p:nvGraphicFramePr>
            <p:xfrm>
              <a:off x="4711" y="1581"/>
              <a:ext cx="886" cy="8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9" name="Clip" r:id="rId8" imgW="3717360" imgH="3352320" progId="">
                      <p:embed/>
                    </p:oleObj>
                  </mc:Choice>
                  <mc:Fallback>
                    <p:oleObj name="Clip" r:id="rId8" imgW="3717360" imgH="3352320" progId="">
                      <p:embed/>
                      <p:pic>
                        <p:nvPicPr>
                          <p:cNvPr id="0" name="Object 10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1" y="1581"/>
                            <a:ext cx="886" cy="8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25" name="Group 104"/>
              <p:cNvGrpSpPr>
                <a:grpSpLocks/>
              </p:cNvGrpSpPr>
              <p:nvPr/>
            </p:nvGrpSpPr>
            <p:grpSpPr bwMode="auto">
              <a:xfrm>
                <a:off x="4663" y="2193"/>
                <a:ext cx="1089" cy="501"/>
                <a:chOff x="4032" y="1488"/>
                <a:chExt cx="1123" cy="512"/>
              </a:xfrm>
            </p:grpSpPr>
            <p:graphicFrame>
              <p:nvGraphicFramePr>
                <p:cNvPr id="426" name="Object 105"/>
                <p:cNvGraphicFramePr>
                  <a:graphicFrameLocks noChangeAspect="1"/>
                </p:cNvGraphicFramePr>
                <p:nvPr/>
              </p:nvGraphicFramePr>
              <p:xfrm>
                <a:off x="4032" y="1488"/>
                <a:ext cx="950" cy="3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70" name="Clip" r:id="rId10" imgW="6133680" imgH="2634840" progId="">
                        <p:embed/>
                      </p:oleObj>
                    </mc:Choice>
                    <mc:Fallback>
                      <p:oleObj name="Clip" r:id="rId10" imgW="6133680" imgH="2634840" progId="">
                        <p:embed/>
                        <p:pic>
                          <p:nvPicPr>
                            <p:cNvPr id="0" name="Object 10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32" y="1488"/>
                              <a:ext cx="950" cy="35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7" name="Object 106"/>
                <p:cNvGraphicFramePr>
                  <a:graphicFrameLocks noChangeAspect="1"/>
                </p:cNvGraphicFramePr>
                <p:nvPr/>
              </p:nvGraphicFramePr>
              <p:xfrm>
                <a:off x="4090" y="1539"/>
                <a:ext cx="950" cy="3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71" name="Clip" r:id="rId12" imgW="6133680" imgH="2634840" progId="">
                        <p:embed/>
                      </p:oleObj>
                    </mc:Choice>
                    <mc:Fallback>
                      <p:oleObj name="Clip" r:id="rId12" imgW="6133680" imgH="2634840" progId="">
                        <p:embed/>
                        <p:pic>
                          <p:nvPicPr>
                            <p:cNvPr id="0" name="Object 10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90" y="1539"/>
                              <a:ext cx="950" cy="35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8" name="Object 107"/>
                <p:cNvGraphicFramePr>
                  <a:graphicFrameLocks noChangeAspect="1"/>
                </p:cNvGraphicFramePr>
                <p:nvPr/>
              </p:nvGraphicFramePr>
              <p:xfrm>
                <a:off x="4147" y="1590"/>
                <a:ext cx="951" cy="3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72" name="Clip" r:id="rId14" imgW="6133680" imgH="2634840" progId="">
                        <p:embed/>
                      </p:oleObj>
                    </mc:Choice>
                    <mc:Fallback>
                      <p:oleObj name="Clip" r:id="rId14" imgW="6133680" imgH="2634840" progId="">
                        <p:embed/>
                        <p:pic>
                          <p:nvPicPr>
                            <p:cNvPr id="0" name="Object 10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47" y="1590"/>
                              <a:ext cx="951" cy="35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29" name="Object 108"/>
                <p:cNvGraphicFramePr>
                  <a:graphicFrameLocks noChangeAspect="1"/>
                </p:cNvGraphicFramePr>
                <p:nvPr/>
              </p:nvGraphicFramePr>
              <p:xfrm>
                <a:off x="4205" y="1640"/>
                <a:ext cx="950" cy="36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73" name="Clip" r:id="rId15" imgW="6133680" imgH="2634840" progId="">
                        <p:embed/>
                      </p:oleObj>
                    </mc:Choice>
                    <mc:Fallback>
                      <p:oleObj name="Clip" r:id="rId15" imgW="6133680" imgH="2634840" progId="">
                        <p:embed/>
                        <p:pic>
                          <p:nvPicPr>
                            <p:cNvPr id="0" name="Object 10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05" y="1640"/>
                              <a:ext cx="950" cy="36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430" name="Rectangle 109"/>
            <p:cNvSpPr>
              <a:spLocks noChangeArrowheads="1"/>
            </p:cNvSpPr>
            <p:nvPr/>
          </p:nvSpPr>
          <p:spPr bwMode="auto">
            <a:xfrm>
              <a:off x="7386191" y="4218384"/>
              <a:ext cx="1708150" cy="86204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88898" tIns="44449" rIns="88898" bIns="44449">
              <a:spAutoFit/>
            </a:bodyPr>
            <a:lstStyle/>
            <a:p>
              <a:pPr algn="l" defTabSz="906463" eaLnBrk="0" hangingPunct="0"/>
              <a:r>
                <a:rPr lang="en-US" altLang="zh-TW" sz="2400"/>
                <a:t>Internet &amp; </a:t>
              </a:r>
            </a:p>
            <a:p>
              <a:pPr algn="l" defTabSz="906463" eaLnBrk="0" hangingPunct="0"/>
              <a:r>
                <a:rPr lang="en-US" altLang="zh-TW" sz="2400"/>
                <a:t>Ecommerce</a:t>
              </a:r>
            </a:p>
          </p:txBody>
        </p:sp>
        <p:pic>
          <p:nvPicPr>
            <p:cNvPr id="431" name="Picture 110" descr="hiv_rt"/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107504" y="2541984"/>
              <a:ext cx="1824037" cy="190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Run Applications Faster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/>
              <a:t>There are 3 ways to improve performance:</a:t>
            </a:r>
          </a:p>
          <a:p>
            <a:pPr lvl="1"/>
            <a:r>
              <a:rPr lang="en-US" altLang="zh-TW" dirty="0"/>
              <a:t>Work Harder</a:t>
            </a:r>
          </a:p>
          <a:p>
            <a:pPr lvl="1"/>
            <a:r>
              <a:rPr lang="en-US" altLang="zh-TW" dirty="0"/>
              <a:t>Work Smarter</a:t>
            </a:r>
          </a:p>
          <a:p>
            <a:pPr lvl="1"/>
            <a:r>
              <a:rPr lang="en-US" altLang="zh-TW" dirty="0"/>
              <a:t>Get Help</a:t>
            </a:r>
          </a:p>
          <a:p>
            <a:endParaRPr lang="en-US" altLang="zh-TW" dirty="0"/>
          </a:p>
          <a:p>
            <a:r>
              <a:rPr lang="en-US" altLang="zh-TW" dirty="0"/>
              <a:t>Computer analogy</a:t>
            </a:r>
          </a:p>
          <a:p>
            <a:pPr lvl="1"/>
            <a:r>
              <a:rPr lang="en-US" altLang="zh-TW" dirty="0"/>
              <a:t>Using faster hardware</a:t>
            </a:r>
          </a:p>
          <a:p>
            <a:pPr lvl="1"/>
            <a:r>
              <a:rPr lang="en-US" altLang="zh-TW" dirty="0"/>
              <a:t>Using optimized algorithms and techniques to solve computational tasks</a:t>
            </a:r>
          </a:p>
          <a:p>
            <a:pPr lvl="1"/>
            <a:r>
              <a:rPr lang="en-US" altLang="zh-TW" dirty="0"/>
              <a:t>Using multiple computers to solve a particular task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History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/>
              <a:t>In the 1980s</a:t>
            </a:r>
          </a:p>
          <a:p>
            <a:pPr lvl="1"/>
            <a:r>
              <a:rPr lang="en-US" altLang="zh-TW" dirty="0"/>
              <a:t>Computer performance was best improved by creating faster and more efficient processors</a:t>
            </a:r>
          </a:p>
          <a:p>
            <a:endParaRPr lang="en-US" altLang="zh-TW" dirty="0"/>
          </a:p>
          <a:p>
            <a:r>
              <a:rPr lang="en-US" altLang="zh-TW" dirty="0"/>
              <a:t>In the early 1990s</a:t>
            </a:r>
          </a:p>
          <a:p>
            <a:pPr lvl="1"/>
            <a:r>
              <a:rPr lang="en-US" altLang="zh-TW" dirty="0"/>
              <a:t>An increasing trend to move away from expensive and specialized proprietary parallel supercomputers towards networks of workstations</a:t>
            </a:r>
          </a:p>
          <a:p>
            <a:endParaRPr lang="en-US" altLang="zh-TW" dirty="0"/>
          </a:p>
        </p:txBody>
      </p:sp>
      <p:pic>
        <p:nvPicPr>
          <p:cNvPr id="44033" name="Picture 1" descr="C:\Documents and Settings\5G\Local Settings\Temporary Internet Files\Content.IE5\4TUVSL27\dglxasset[4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06869" y="4794571"/>
            <a:ext cx="1425571" cy="20188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Towards Commodity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/>
              <a:t>Trend of computing</a:t>
            </a:r>
          </a:p>
          <a:p>
            <a:pPr lvl="1"/>
            <a:r>
              <a:rPr lang="en-US" altLang="zh-TW" dirty="0"/>
              <a:t>From specialized traditional supercomputing platforms </a:t>
            </a:r>
          </a:p>
          <a:p>
            <a:pPr lvl="1"/>
            <a:r>
              <a:rPr lang="en-US" altLang="zh-TW" dirty="0"/>
              <a:t>To </a:t>
            </a:r>
            <a:r>
              <a:rPr lang="en-US" altLang="zh-TW" dirty="0">
                <a:ea typeface="新細明體" charset="-120"/>
              </a:rPr>
              <a:t>inexpensive</a:t>
            </a:r>
            <a:r>
              <a:rPr lang="en-US" altLang="zh-TW" dirty="0"/>
              <a:t>, general purpose systems consisting of loosely coupled components built up from single or multiprocessor PCs or workstations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Low-cost commodity supercomputing</a:t>
            </a:r>
          </a:p>
          <a:p>
            <a:pPr lvl="1"/>
            <a:r>
              <a:rPr lang="en-US" altLang="zh-TW" dirty="0"/>
              <a:t>Linking together two or more computers to jointly solve some computational problem</a:t>
            </a:r>
          </a:p>
          <a:p>
            <a:pPr lvl="1"/>
            <a:r>
              <a:rPr lang="en-US" altLang="zh-TW" dirty="0"/>
              <a:t>Providing high performance computational facilities for large-scale and grand-challenge applications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Traditional Food Chain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9540552" y="2971006"/>
            <a:ext cx="6967413" cy="915988"/>
            <a:chOff x="2195736" y="3068960"/>
            <a:chExt cx="6967413" cy="915988"/>
          </a:xfrm>
        </p:grpSpPr>
        <p:graphicFrame>
          <p:nvGraphicFramePr>
            <p:cNvPr id="31" name="Object 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588224" y="3068960"/>
            <a:ext cx="2574925" cy="915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2" name="Clip" r:id="rId3" imgW="2573280" imgH="914400" progId="">
                    <p:embed/>
                  </p:oleObj>
                </mc:Choice>
                <mc:Fallback>
                  <p:oleObj name="Clip" r:id="rId3" imgW="2573280" imgH="914400" progId="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8224" y="3068960"/>
                          <a:ext cx="2574925" cy="915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788024" y="3284984"/>
            <a:ext cx="1268413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3" name="Clip" r:id="rId5" imgW="1266480" imgH="453960" progId="">
                    <p:embed/>
                  </p:oleObj>
                </mc:Choice>
                <mc:Fallback>
                  <p:oleObj name="Clip" r:id="rId5" imgW="1266480" imgH="453960" progId="">
                    <p:embed/>
                    <p:pic>
                      <p:nvPicPr>
                        <p:cNvPr id="0" name="Object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8024" y="3284984"/>
                          <a:ext cx="1268413" cy="455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347864" y="3356992"/>
            <a:ext cx="890587" cy="322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4" name="Clip" r:id="rId7" imgW="888840" imgH="320400" progId="">
                    <p:embed/>
                  </p:oleObj>
                </mc:Choice>
                <mc:Fallback>
                  <p:oleObj name="Clip" r:id="rId7" imgW="888840" imgH="320400" progId="">
                    <p:embed/>
                    <p:pic>
                      <p:nvPicPr>
                        <p:cNvPr id="0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3356992"/>
                          <a:ext cx="890587" cy="322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2195736" y="3412654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5" name="Clip" r:id="rId9" imgW="622080" imgH="228600" progId="">
                    <p:embed/>
                  </p:oleObj>
                </mc:Choice>
                <mc:Fallback>
                  <p:oleObj name="Clip" r:id="rId9" imgW="622080" imgH="228600" progId="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3412654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群組 7"/>
          <p:cNvGrpSpPr/>
          <p:nvPr/>
        </p:nvGrpSpPr>
        <p:grpSpPr>
          <a:xfrm>
            <a:off x="1763688" y="2971006"/>
            <a:ext cx="6967413" cy="915988"/>
            <a:chOff x="2195736" y="3068960"/>
            <a:chExt cx="6967413" cy="915988"/>
          </a:xfrm>
        </p:grpSpPr>
        <p:graphicFrame>
          <p:nvGraphicFramePr>
            <p:cNvPr id="9" name="Object 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588224" y="3068960"/>
            <a:ext cx="2574925" cy="915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6" name="Clip" r:id="rId11" imgW="2573280" imgH="914400" progId="">
                    <p:embed/>
                  </p:oleObj>
                </mc:Choice>
                <mc:Fallback>
                  <p:oleObj name="Clip" r:id="rId11" imgW="2573280" imgH="914400" progId="">
                    <p:embed/>
                    <p:pic>
                      <p:nvPicPr>
                        <p:cNvPr id="0" name="Picture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8224" y="3068960"/>
                          <a:ext cx="2574925" cy="915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788024" y="3284984"/>
            <a:ext cx="1268413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7" name="Clip" r:id="rId13" imgW="1266480" imgH="453960" progId="">
                    <p:embed/>
                  </p:oleObj>
                </mc:Choice>
                <mc:Fallback>
                  <p:oleObj name="Clip" r:id="rId13" imgW="1266480" imgH="453960" progId="">
                    <p:embed/>
                    <p:pic>
                      <p:nvPicPr>
                        <p:cNvPr id="0" name="Picture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8024" y="3284984"/>
                          <a:ext cx="1268413" cy="455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347864" y="3356992"/>
            <a:ext cx="890587" cy="322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8" name="Clip" r:id="rId15" imgW="888840" imgH="320400" progId="">
                    <p:embed/>
                  </p:oleObj>
                </mc:Choice>
                <mc:Fallback>
                  <p:oleObj name="Clip" r:id="rId15" imgW="888840" imgH="320400" progId="">
                    <p:embed/>
                    <p:pic>
                      <p:nvPicPr>
                        <p:cNvPr id="0" name="Picture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3356992"/>
                          <a:ext cx="890587" cy="322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2195736" y="3412654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9" name="Clip" r:id="rId17" imgW="622080" imgH="228600" progId="">
                    <p:embed/>
                  </p:oleObj>
                </mc:Choice>
                <mc:Fallback>
                  <p:oleObj name="Clip" r:id="rId17" imgW="622080" imgH="228600" progId="">
                    <p:embed/>
                    <p:pic>
                      <p:nvPicPr>
                        <p:cNvPr id="0" name="Picture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3412654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34883E-6 L -1.80243 -0.0037 " pathEditMode="relative" rAng="0" ptsTypes="AA">
                                      <p:cBhvr>
                                        <p:cTn id="6" dur="7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100" y="-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Food Chain of Computer</a:t>
            </a:r>
            <a:endParaRPr lang="zh-TW" altLang="en-US" dirty="0"/>
          </a:p>
        </p:txBody>
      </p:sp>
      <p:grpSp>
        <p:nvGrpSpPr>
          <p:cNvPr id="24" name="群組 23"/>
          <p:cNvGrpSpPr/>
          <p:nvPr/>
        </p:nvGrpSpPr>
        <p:grpSpPr>
          <a:xfrm>
            <a:off x="1493391" y="2850150"/>
            <a:ext cx="7039049" cy="1157700"/>
            <a:chOff x="1349375" y="2759075"/>
            <a:chExt cx="7039049" cy="1157700"/>
          </a:xfrm>
        </p:grpSpPr>
        <p:grpSp>
          <p:nvGrpSpPr>
            <p:cNvPr id="20" name="群組 19"/>
            <p:cNvGrpSpPr/>
            <p:nvPr/>
          </p:nvGrpSpPr>
          <p:grpSpPr>
            <a:xfrm>
              <a:off x="1349375" y="2759075"/>
              <a:ext cx="2574925" cy="1157700"/>
              <a:chOff x="1349375" y="2759075"/>
              <a:chExt cx="2574925" cy="1157700"/>
            </a:xfrm>
          </p:grpSpPr>
          <p:graphicFrame>
            <p:nvGraphicFramePr>
              <p:cNvPr id="31" name="Object 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1349375" y="2759075"/>
              <a:ext cx="2574925" cy="915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18" name="Clip" r:id="rId2" imgW="2573280" imgH="914400" progId="">
                      <p:embed/>
                    </p:oleObj>
                  </mc:Choice>
                  <mc:Fallback>
                    <p:oleObj name="Clip" r:id="rId2" imgW="2573280" imgH="914400" progId="">
                      <p:embed/>
                      <p:pic>
                        <p:nvPicPr>
                          <p:cNvPr id="0" name="Object 1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9375" y="2759075"/>
                            <a:ext cx="2574925" cy="9159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8"/>
              <p:cNvSpPr>
                <a:spLocks noChangeArrowheads="1"/>
              </p:cNvSpPr>
              <p:nvPr/>
            </p:nvSpPr>
            <p:spPr bwMode="auto">
              <a:xfrm>
                <a:off x="2293938" y="3611563"/>
                <a:ext cx="995466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Mainframe</a:t>
                </a:r>
              </a:p>
            </p:txBody>
          </p:sp>
        </p:grpSp>
        <p:grpSp>
          <p:nvGrpSpPr>
            <p:cNvPr id="21" name="群組 20"/>
            <p:cNvGrpSpPr/>
            <p:nvPr/>
          </p:nvGrpSpPr>
          <p:grpSpPr>
            <a:xfrm>
              <a:off x="4499992" y="2941881"/>
              <a:ext cx="1309469" cy="792088"/>
              <a:chOff x="4499992" y="3068960"/>
              <a:chExt cx="1309469" cy="792088"/>
            </a:xfrm>
          </p:grpSpPr>
          <p:graphicFrame>
            <p:nvGraphicFramePr>
              <p:cNvPr id="33" name="Object 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499992" y="3068960"/>
              <a:ext cx="1268413" cy="455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20" name="Clip" r:id="rId4" imgW="1266480" imgH="453960" progId="">
                      <p:embed/>
                    </p:oleObj>
                  </mc:Choice>
                  <mc:Fallback>
                    <p:oleObj name="Clip" r:id="rId4" imgW="1266480" imgH="453960" progId="">
                      <p:embed/>
                      <p:pic>
                        <p:nvPicPr>
                          <p:cNvPr id="0" name="Object 1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99992" y="3068960"/>
                            <a:ext cx="1268413" cy="4556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Rectangle 10"/>
              <p:cNvSpPr>
                <a:spLocks noChangeArrowheads="1"/>
              </p:cNvSpPr>
              <p:nvPr/>
            </p:nvSpPr>
            <p:spPr bwMode="auto">
              <a:xfrm>
                <a:off x="4519042" y="3555836"/>
                <a:ext cx="1290419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Mini Computer</a:t>
                </a:r>
              </a:p>
            </p:txBody>
          </p:sp>
        </p:grpSp>
        <p:grpSp>
          <p:nvGrpSpPr>
            <p:cNvPr id="22" name="群組 21"/>
            <p:cNvGrpSpPr/>
            <p:nvPr/>
          </p:nvGrpSpPr>
          <p:grpSpPr>
            <a:xfrm>
              <a:off x="6288665" y="3013869"/>
              <a:ext cx="1091647" cy="648112"/>
              <a:chOff x="6288665" y="3140968"/>
              <a:chExt cx="1091647" cy="648112"/>
            </a:xfrm>
          </p:grpSpPr>
          <p:graphicFrame>
            <p:nvGraphicFramePr>
              <p:cNvPr id="34" name="Object 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348990" y="3140968"/>
              <a:ext cx="890587" cy="322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21" name="Clip" r:id="rId6" imgW="888840" imgH="320400" progId="">
                      <p:embed/>
                    </p:oleObj>
                  </mc:Choice>
                  <mc:Fallback>
                    <p:oleObj name="Clip" r:id="rId6" imgW="888840" imgH="320400" progId="">
                      <p:embed/>
                      <p:pic>
                        <p:nvPicPr>
                          <p:cNvPr id="0" name="Object 2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48990" y="3140968"/>
                            <a:ext cx="890587" cy="322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"/>
              <p:cNvSpPr>
                <a:spLocks noChangeArrowheads="1"/>
              </p:cNvSpPr>
              <p:nvPr/>
            </p:nvSpPr>
            <p:spPr bwMode="auto">
              <a:xfrm>
                <a:off x="6288665" y="3483868"/>
                <a:ext cx="1091647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Workstation</a:t>
                </a:r>
              </a:p>
            </p:txBody>
          </p:sp>
        </p:grpSp>
        <p:grpSp>
          <p:nvGrpSpPr>
            <p:cNvPr id="23" name="群組 22"/>
            <p:cNvGrpSpPr/>
            <p:nvPr/>
          </p:nvGrpSpPr>
          <p:grpSpPr>
            <a:xfrm>
              <a:off x="7764537" y="3076575"/>
              <a:ext cx="623887" cy="522700"/>
              <a:chOff x="7764537" y="3212976"/>
              <a:chExt cx="623887" cy="522700"/>
            </a:xfrm>
          </p:grpSpPr>
          <p:graphicFrame>
            <p:nvGraphicFramePr>
              <p:cNvPr id="35" name="Object 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764537" y="3212976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22" name="Clip" r:id="rId8" imgW="622080" imgH="228600" progId="">
                      <p:embed/>
                    </p:oleObj>
                  </mc:Choice>
                  <mc:Fallback>
                    <p:oleObj name="Clip" r:id="rId8" imgW="622080" imgH="228600" progId="">
                      <p:embed/>
                      <p:pic>
                        <p:nvPicPr>
                          <p:cNvPr id="0" name="Object 2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64537" y="3212976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Rectangle 12"/>
              <p:cNvSpPr>
                <a:spLocks noChangeArrowheads="1"/>
              </p:cNvSpPr>
              <p:nvPr/>
            </p:nvSpPr>
            <p:spPr bwMode="auto">
              <a:xfrm>
                <a:off x="7861374" y="3430464"/>
                <a:ext cx="371898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PC</a:t>
                </a:r>
              </a:p>
            </p:txBody>
          </p:sp>
        </p:grpSp>
      </p:grpSp>
      <p:grpSp>
        <p:nvGrpSpPr>
          <p:cNvPr id="25" name="群組 24"/>
          <p:cNvGrpSpPr/>
          <p:nvPr/>
        </p:nvGrpSpPr>
        <p:grpSpPr>
          <a:xfrm>
            <a:off x="9396536" y="2852936"/>
            <a:ext cx="7039049" cy="1157700"/>
            <a:chOff x="1349375" y="2759075"/>
            <a:chExt cx="7039049" cy="1157700"/>
          </a:xfrm>
        </p:grpSpPr>
        <p:grpSp>
          <p:nvGrpSpPr>
            <p:cNvPr id="26" name="群組 25"/>
            <p:cNvGrpSpPr/>
            <p:nvPr/>
          </p:nvGrpSpPr>
          <p:grpSpPr>
            <a:xfrm>
              <a:off x="1349375" y="2759075"/>
              <a:ext cx="2574925" cy="1157700"/>
              <a:chOff x="1349375" y="2759075"/>
              <a:chExt cx="2574925" cy="1157700"/>
            </a:xfrm>
          </p:grpSpPr>
          <p:graphicFrame>
            <p:nvGraphicFramePr>
              <p:cNvPr id="45" name="Object 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1349375" y="2759075"/>
              <a:ext cx="2574925" cy="915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31" name="Clip" r:id="rId10" imgW="2573280" imgH="914400" progId="">
                      <p:embed/>
                    </p:oleObj>
                  </mc:Choice>
                  <mc:Fallback>
                    <p:oleObj name="Clip" r:id="rId10" imgW="2573280" imgH="914400" progId="">
                      <p:embed/>
                      <p:pic>
                        <p:nvPicPr>
                          <p:cNvPr id="0" name="Picture 1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9375" y="2759075"/>
                            <a:ext cx="2574925" cy="9159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Rectangle 8"/>
              <p:cNvSpPr>
                <a:spLocks noChangeArrowheads="1"/>
              </p:cNvSpPr>
              <p:nvPr/>
            </p:nvSpPr>
            <p:spPr bwMode="auto">
              <a:xfrm>
                <a:off x="2293938" y="3611563"/>
                <a:ext cx="995466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Mainframe</a:t>
                </a:r>
              </a:p>
            </p:txBody>
          </p:sp>
        </p:grpSp>
        <p:grpSp>
          <p:nvGrpSpPr>
            <p:cNvPr id="27" name="群組 26"/>
            <p:cNvGrpSpPr/>
            <p:nvPr/>
          </p:nvGrpSpPr>
          <p:grpSpPr>
            <a:xfrm>
              <a:off x="4499992" y="2941881"/>
              <a:ext cx="1309469" cy="792088"/>
              <a:chOff x="4499992" y="3068960"/>
              <a:chExt cx="1309469" cy="792088"/>
            </a:xfrm>
          </p:grpSpPr>
          <p:graphicFrame>
            <p:nvGraphicFramePr>
              <p:cNvPr id="43" name="Object 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499992" y="3068960"/>
              <a:ext cx="1268413" cy="455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32" name="Clip" r:id="rId11" imgW="1266480" imgH="453960" progId="">
                      <p:embed/>
                    </p:oleObj>
                  </mc:Choice>
                  <mc:Fallback>
                    <p:oleObj name="Clip" r:id="rId11" imgW="1266480" imgH="453960" progId="">
                      <p:embed/>
                      <p:pic>
                        <p:nvPicPr>
                          <p:cNvPr id="0" name="Picture 1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99992" y="3068960"/>
                            <a:ext cx="1268413" cy="4556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Rectangle 10"/>
              <p:cNvSpPr>
                <a:spLocks noChangeArrowheads="1"/>
              </p:cNvSpPr>
              <p:nvPr/>
            </p:nvSpPr>
            <p:spPr bwMode="auto">
              <a:xfrm>
                <a:off x="4519042" y="3555836"/>
                <a:ext cx="1290419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Mini Computer</a:t>
                </a:r>
              </a:p>
            </p:txBody>
          </p:sp>
        </p:grpSp>
        <p:grpSp>
          <p:nvGrpSpPr>
            <p:cNvPr id="28" name="群組 27"/>
            <p:cNvGrpSpPr/>
            <p:nvPr/>
          </p:nvGrpSpPr>
          <p:grpSpPr>
            <a:xfrm>
              <a:off x="6288665" y="3013869"/>
              <a:ext cx="1091647" cy="648112"/>
              <a:chOff x="6288665" y="3140968"/>
              <a:chExt cx="1091647" cy="648112"/>
            </a:xfrm>
          </p:grpSpPr>
          <p:graphicFrame>
            <p:nvGraphicFramePr>
              <p:cNvPr id="41" name="Object 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348990" y="3140968"/>
              <a:ext cx="890587" cy="322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33" name="Clip" r:id="rId12" imgW="888840" imgH="320400" progId="">
                      <p:embed/>
                    </p:oleObj>
                  </mc:Choice>
                  <mc:Fallback>
                    <p:oleObj name="Clip" r:id="rId12" imgW="888840" imgH="320400" progId="">
                      <p:embed/>
                      <p:pic>
                        <p:nvPicPr>
                          <p:cNvPr id="0" name="Picture 1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48990" y="3140968"/>
                            <a:ext cx="890587" cy="322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" name="Rectangle 11"/>
              <p:cNvSpPr>
                <a:spLocks noChangeArrowheads="1"/>
              </p:cNvSpPr>
              <p:nvPr/>
            </p:nvSpPr>
            <p:spPr bwMode="auto">
              <a:xfrm>
                <a:off x="6288665" y="3483868"/>
                <a:ext cx="1091647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Workstation</a:t>
                </a:r>
              </a:p>
            </p:txBody>
          </p:sp>
        </p:grpSp>
        <p:grpSp>
          <p:nvGrpSpPr>
            <p:cNvPr id="29" name="群組 28"/>
            <p:cNvGrpSpPr/>
            <p:nvPr/>
          </p:nvGrpSpPr>
          <p:grpSpPr>
            <a:xfrm>
              <a:off x="7764537" y="3076575"/>
              <a:ext cx="623887" cy="522700"/>
              <a:chOff x="7764537" y="3212976"/>
              <a:chExt cx="623887" cy="522700"/>
            </a:xfrm>
          </p:grpSpPr>
          <p:graphicFrame>
            <p:nvGraphicFramePr>
              <p:cNvPr id="30" name="Object 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764537" y="3212976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34" name="Clip" r:id="rId13" imgW="622080" imgH="228600" progId="">
                      <p:embed/>
                    </p:oleObj>
                  </mc:Choice>
                  <mc:Fallback>
                    <p:oleObj name="Clip" r:id="rId13" imgW="622080" imgH="228600" progId="">
                      <p:embed/>
                      <p:pic>
                        <p:nvPicPr>
                          <p:cNvPr id="0" name="Picture 1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64537" y="3212976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Rectangle 12"/>
              <p:cNvSpPr>
                <a:spLocks noChangeArrowheads="1"/>
              </p:cNvSpPr>
              <p:nvPr/>
            </p:nvSpPr>
            <p:spPr bwMode="auto">
              <a:xfrm>
                <a:off x="7861374" y="3430464"/>
                <a:ext cx="371898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PC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045E-16 -4.33958E-6 L -1.80243 -0.01064 " pathEditMode="relative" rAng="0" ptsTypes="AA">
                                      <p:cBhvr>
                                        <p:cTn id="6" dur="7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100" y="-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Food Chain of Distributed Computing</a:t>
            </a:r>
            <a:endParaRPr lang="zh-TW" altLang="en-US" dirty="0"/>
          </a:p>
        </p:txBody>
      </p:sp>
      <p:grpSp>
        <p:nvGrpSpPr>
          <p:cNvPr id="160" name="群組 159"/>
          <p:cNvGrpSpPr/>
          <p:nvPr/>
        </p:nvGrpSpPr>
        <p:grpSpPr>
          <a:xfrm>
            <a:off x="755576" y="1982788"/>
            <a:ext cx="8167688" cy="2892425"/>
            <a:chOff x="755576" y="1982788"/>
            <a:chExt cx="8167688" cy="2892425"/>
          </a:xfrm>
        </p:grpSpPr>
        <p:grpSp>
          <p:nvGrpSpPr>
            <p:cNvPr id="4" name="群組 19"/>
            <p:cNvGrpSpPr/>
            <p:nvPr/>
          </p:nvGrpSpPr>
          <p:grpSpPr>
            <a:xfrm>
              <a:off x="755576" y="2850150"/>
              <a:ext cx="2574925" cy="1157700"/>
              <a:chOff x="1349375" y="2759075"/>
              <a:chExt cx="2574925" cy="1157700"/>
            </a:xfrm>
          </p:grpSpPr>
          <p:graphicFrame>
            <p:nvGraphicFramePr>
              <p:cNvPr id="31" name="Object 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1349375" y="2759075"/>
              <a:ext cx="2574925" cy="915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0" name="Clip" r:id="rId2" imgW="2573280" imgH="914400" progId="">
                      <p:embed/>
                    </p:oleObj>
                  </mc:Choice>
                  <mc:Fallback>
                    <p:oleObj name="Clip" r:id="rId2" imgW="2573280" imgH="914400" progId="">
                      <p:embed/>
                      <p:pic>
                        <p:nvPicPr>
                          <p:cNvPr id="0" name="Object 1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9375" y="2759075"/>
                            <a:ext cx="2574925" cy="9159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" name="Rectangle 8"/>
              <p:cNvSpPr>
                <a:spLocks noChangeArrowheads="1"/>
              </p:cNvSpPr>
              <p:nvPr/>
            </p:nvSpPr>
            <p:spPr bwMode="auto">
              <a:xfrm>
                <a:off x="2293938" y="3611563"/>
                <a:ext cx="995466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Mainframe</a:t>
                </a:r>
              </a:p>
            </p:txBody>
          </p:sp>
        </p:grpSp>
        <p:grpSp>
          <p:nvGrpSpPr>
            <p:cNvPr id="5" name="群組 20"/>
            <p:cNvGrpSpPr/>
            <p:nvPr/>
          </p:nvGrpSpPr>
          <p:grpSpPr>
            <a:xfrm>
              <a:off x="2682057" y="3717032"/>
              <a:ext cx="1309469" cy="792088"/>
              <a:chOff x="4499992" y="3068960"/>
              <a:chExt cx="1309469" cy="792088"/>
            </a:xfrm>
          </p:grpSpPr>
          <p:graphicFrame>
            <p:nvGraphicFramePr>
              <p:cNvPr id="33" name="Object 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499992" y="3068960"/>
              <a:ext cx="1268413" cy="455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1" name="Clip" r:id="rId4" imgW="1266480" imgH="453960" progId="">
                      <p:embed/>
                    </p:oleObj>
                  </mc:Choice>
                  <mc:Fallback>
                    <p:oleObj name="Clip" r:id="rId4" imgW="1266480" imgH="453960" progId="">
                      <p:embed/>
                      <p:pic>
                        <p:nvPicPr>
                          <p:cNvPr id="0" name="Object 1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99992" y="3068960"/>
                            <a:ext cx="1268413" cy="4556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Rectangle 10"/>
              <p:cNvSpPr>
                <a:spLocks noChangeArrowheads="1"/>
              </p:cNvSpPr>
              <p:nvPr/>
            </p:nvSpPr>
            <p:spPr bwMode="auto">
              <a:xfrm>
                <a:off x="4519042" y="3555836"/>
                <a:ext cx="1290419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Mini Computer</a:t>
                </a:r>
              </a:p>
            </p:txBody>
          </p:sp>
        </p:grpSp>
        <p:grpSp>
          <p:nvGrpSpPr>
            <p:cNvPr id="6" name="群組 21"/>
            <p:cNvGrpSpPr/>
            <p:nvPr/>
          </p:nvGrpSpPr>
          <p:grpSpPr>
            <a:xfrm>
              <a:off x="3330129" y="3068960"/>
              <a:ext cx="1091647" cy="648112"/>
              <a:chOff x="6288665" y="3140968"/>
              <a:chExt cx="1091647" cy="648112"/>
            </a:xfrm>
          </p:grpSpPr>
          <p:graphicFrame>
            <p:nvGraphicFramePr>
              <p:cNvPr id="34" name="Object 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348990" y="3140968"/>
              <a:ext cx="890587" cy="322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2" name="Clip" r:id="rId6" imgW="888840" imgH="320400" progId="">
                      <p:embed/>
                    </p:oleObj>
                  </mc:Choice>
                  <mc:Fallback>
                    <p:oleObj name="Clip" r:id="rId6" imgW="888840" imgH="320400" progId="">
                      <p:embed/>
                      <p:pic>
                        <p:nvPicPr>
                          <p:cNvPr id="0" name="Object 2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48990" y="3140968"/>
                            <a:ext cx="890587" cy="322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" name="Rectangle 11"/>
              <p:cNvSpPr>
                <a:spLocks noChangeArrowheads="1"/>
              </p:cNvSpPr>
              <p:nvPr/>
            </p:nvSpPr>
            <p:spPr bwMode="auto">
              <a:xfrm>
                <a:off x="6288665" y="3483868"/>
                <a:ext cx="1091647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Workstation</a:t>
                </a:r>
              </a:p>
            </p:txBody>
          </p:sp>
        </p:grpSp>
        <p:grpSp>
          <p:nvGrpSpPr>
            <p:cNvPr id="7" name="群組 22"/>
            <p:cNvGrpSpPr/>
            <p:nvPr/>
          </p:nvGrpSpPr>
          <p:grpSpPr>
            <a:xfrm>
              <a:off x="4410249" y="3482364"/>
              <a:ext cx="623887" cy="522700"/>
              <a:chOff x="7764537" y="3212976"/>
              <a:chExt cx="623887" cy="522700"/>
            </a:xfrm>
          </p:grpSpPr>
          <p:graphicFrame>
            <p:nvGraphicFramePr>
              <p:cNvPr id="35" name="Object 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764537" y="3212976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3" name="Clip" r:id="rId8" imgW="622080" imgH="228600" progId="">
                      <p:embed/>
                    </p:oleObj>
                  </mc:Choice>
                  <mc:Fallback>
                    <p:oleObj name="Clip" r:id="rId8" imgW="622080" imgH="228600" progId="">
                      <p:embed/>
                      <p:pic>
                        <p:nvPicPr>
                          <p:cNvPr id="0" name="Object 2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64537" y="3212976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Rectangle 12"/>
              <p:cNvSpPr>
                <a:spLocks noChangeArrowheads="1"/>
              </p:cNvSpPr>
              <p:nvPr/>
            </p:nvSpPr>
            <p:spPr bwMode="auto">
              <a:xfrm>
                <a:off x="7861374" y="3430464"/>
                <a:ext cx="371898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PC</a:t>
                </a:r>
              </a:p>
            </p:txBody>
          </p:sp>
        </p:grpSp>
        <p:grpSp>
          <p:nvGrpSpPr>
            <p:cNvPr id="86" name="群組 85"/>
            <p:cNvGrpSpPr/>
            <p:nvPr/>
          </p:nvGrpSpPr>
          <p:grpSpPr>
            <a:xfrm>
              <a:off x="3978201" y="1982788"/>
              <a:ext cx="4945063" cy="2892425"/>
              <a:chOff x="2867025" y="2565400"/>
              <a:chExt cx="4945063" cy="2892425"/>
            </a:xfrm>
          </p:grpSpPr>
          <p:graphicFrame>
            <p:nvGraphicFramePr>
              <p:cNvPr id="37898" name="Object 2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2867025" y="3213100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8" name="Clip" r:id="rId10" imgW="622080" imgH="228600" progId="">
                      <p:embed/>
                    </p:oleObj>
                  </mc:Choice>
                  <mc:Fallback>
                    <p:oleObj name="Clip" r:id="rId10" imgW="622080" imgH="228600" progId="">
                      <p:embed/>
                      <p:pic>
                        <p:nvPicPr>
                          <p:cNvPr id="0" name="Picture 1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67025" y="3213100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899" name="Object 1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082925" y="2997200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899" name="Clip" r:id="rId11" imgW="622080" imgH="228600" progId="">
                      <p:embed/>
                    </p:oleObj>
                  </mc:Choice>
                  <mc:Fallback>
                    <p:oleObj name="Clip" r:id="rId11" imgW="622080" imgH="228600" progId="">
                      <p:embed/>
                      <p:pic>
                        <p:nvPicPr>
                          <p:cNvPr id="0" name="Picture 1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2925" y="2997200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0" name="Object 1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370263" y="2781300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0" name="Clip" r:id="rId12" imgW="622080" imgH="228600" progId="">
                      <p:embed/>
                    </p:oleObj>
                  </mc:Choice>
                  <mc:Fallback>
                    <p:oleObj name="Clip" r:id="rId12" imgW="622080" imgH="228600" progId="">
                      <p:embed/>
                      <p:pic>
                        <p:nvPicPr>
                          <p:cNvPr id="0" name="Picture 1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70263" y="2781300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1" name="Object 1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586163" y="2565400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1" name="Clip" r:id="rId13" imgW="622080" imgH="228600" progId="">
                      <p:embed/>
                    </p:oleObj>
                  </mc:Choice>
                  <mc:Fallback>
                    <p:oleObj name="Clip" r:id="rId13" imgW="622080" imgH="228600" progId="">
                      <p:embed/>
                      <p:pic>
                        <p:nvPicPr>
                          <p:cNvPr id="0" name="Picture 1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86163" y="2565400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2" name="Object 1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467100" y="3213100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2" name="Clip" r:id="rId14" imgW="622080" imgH="228600" progId="">
                      <p:embed/>
                    </p:oleObj>
                  </mc:Choice>
                  <mc:Fallback>
                    <p:oleObj name="Clip" r:id="rId14" imgW="622080" imgH="228600" progId="">
                      <p:embed/>
                      <p:pic>
                        <p:nvPicPr>
                          <p:cNvPr id="0" name="Picture 1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67100" y="3213100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3" name="Object 1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683000" y="2997200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3" name="Clip" r:id="rId15" imgW="622080" imgH="228600" progId="">
                      <p:embed/>
                    </p:oleObj>
                  </mc:Choice>
                  <mc:Fallback>
                    <p:oleObj name="Clip" r:id="rId15" imgW="622080" imgH="228600" progId="">
                      <p:embed/>
                      <p:pic>
                        <p:nvPicPr>
                          <p:cNvPr id="0" name="Picture 1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83000" y="2997200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4" name="Object 1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970338" y="2781300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4" name="Clip" r:id="rId16" imgW="622080" imgH="228600" progId="">
                      <p:embed/>
                    </p:oleObj>
                  </mc:Choice>
                  <mc:Fallback>
                    <p:oleObj name="Clip" r:id="rId16" imgW="622080" imgH="228600" progId="">
                      <p:embed/>
                      <p:pic>
                        <p:nvPicPr>
                          <p:cNvPr id="0" name="Picture 1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70338" y="2781300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5" name="Object 1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186238" y="2565400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5" name="Clip" r:id="rId17" imgW="622080" imgH="228600" progId="">
                      <p:embed/>
                    </p:oleObj>
                  </mc:Choice>
                  <mc:Fallback>
                    <p:oleObj name="Clip" r:id="rId17" imgW="622080" imgH="228600" progId="">
                      <p:embed/>
                      <p:pic>
                        <p:nvPicPr>
                          <p:cNvPr id="0" name="Picture 1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6238" y="2565400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6" name="Object 1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946525" y="3357563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6" name="Clip" r:id="rId18" imgW="622080" imgH="228600" progId="">
                      <p:embed/>
                    </p:oleObj>
                  </mc:Choice>
                  <mc:Fallback>
                    <p:oleObj name="Clip" r:id="rId18" imgW="622080" imgH="228600" progId="">
                      <p:embed/>
                      <p:pic>
                        <p:nvPicPr>
                          <p:cNvPr id="0" name="Picture 1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6525" y="3357563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7" name="Object 19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162425" y="3141663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7" name="Clip" r:id="rId19" imgW="622080" imgH="228600" progId="">
                      <p:embed/>
                    </p:oleObj>
                  </mc:Choice>
                  <mc:Fallback>
                    <p:oleObj name="Clip" r:id="rId19" imgW="622080" imgH="228600" progId="">
                      <p:embed/>
                      <p:pic>
                        <p:nvPicPr>
                          <p:cNvPr id="0" name="Picture 1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62425" y="3141663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8" name="Object 2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449763" y="292417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8" name="Clip" r:id="rId20" imgW="622080" imgH="228600" progId="">
                      <p:embed/>
                    </p:oleObj>
                  </mc:Choice>
                  <mc:Fallback>
                    <p:oleObj name="Clip" r:id="rId20" imgW="622080" imgH="228600" progId="">
                      <p:embed/>
                      <p:pic>
                        <p:nvPicPr>
                          <p:cNvPr id="0" name="Picture 2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49763" y="292417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09" name="Object 2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665663" y="270827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09" name="Clip" r:id="rId21" imgW="622080" imgH="228600" progId="">
                      <p:embed/>
                    </p:oleObj>
                  </mc:Choice>
                  <mc:Fallback>
                    <p:oleObj name="Clip" r:id="rId21" imgW="622080" imgH="228600" progId="">
                      <p:embed/>
                      <p:pic>
                        <p:nvPicPr>
                          <p:cNvPr id="0" name="Picture 2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65663" y="270827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0" name="Object 2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379913" y="3573463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10" name="Clip" r:id="rId22" imgW="622080" imgH="228600" progId="">
                      <p:embed/>
                    </p:oleObj>
                  </mc:Choice>
                  <mc:Fallback>
                    <p:oleObj name="Clip" r:id="rId22" imgW="622080" imgH="228600" progId="">
                      <p:embed/>
                      <p:pic>
                        <p:nvPicPr>
                          <p:cNvPr id="0" name="Picture 2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79913" y="3573463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1" name="Object 2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595813" y="3357563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11" name="Clip" r:id="rId23" imgW="622080" imgH="228600" progId="">
                      <p:embed/>
                    </p:oleObj>
                  </mc:Choice>
                  <mc:Fallback>
                    <p:oleObj name="Clip" r:id="rId23" imgW="622080" imgH="228600" progId="">
                      <p:embed/>
                      <p:pic>
                        <p:nvPicPr>
                          <p:cNvPr id="0" name="Picture 2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5813" y="3357563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2" name="Object 2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884738" y="314007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12" name="Clip" r:id="rId24" imgW="622080" imgH="228600" progId="">
                      <p:embed/>
                    </p:oleObj>
                  </mc:Choice>
                  <mc:Fallback>
                    <p:oleObj name="Clip" r:id="rId24" imgW="622080" imgH="228600" progId="">
                      <p:embed/>
                      <p:pic>
                        <p:nvPicPr>
                          <p:cNvPr id="0" name="Picture 2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84738" y="314007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3" name="Object 2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100638" y="292417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13" name="Clip" r:id="rId25" imgW="622080" imgH="228600" progId="">
                      <p:embed/>
                    </p:oleObj>
                  </mc:Choice>
                  <mc:Fallback>
                    <p:oleObj name="Clip" r:id="rId25" imgW="622080" imgH="228600" progId="">
                      <p:embed/>
                      <p:pic>
                        <p:nvPicPr>
                          <p:cNvPr id="0" name="Picture 2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0638" y="292417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4" name="Object 2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714875" y="3789363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14" name="Clip" r:id="rId26" imgW="622080" imgH="228600" progId="">
                      <p:embed/>
                    </p:oleObj>
                  </mc:Choice>
                  <mc:Fallback>
                    <p:oleObj name="Clip" r:id="rId26" imgW="622080" imgH="228600" progId="">
                      <p:embed/>
                      <p:pic>
                        <p:nvPicPr>
                          <p:cNvPr id="0" name="Picture 2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4875" y="3789363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5" name="Object 2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930775" y="3573463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15" name="Clip" r:id="rId27" imgW="622080" imgH="228600" progId="">
                      <p:embed/>
                    </p:oleObj>
                  </mc:Choice>
                  <mc:Fallback>
                    <p:oleObj name="Clip" r:id="rId27" imgW="622080" imgH="228600" progId="">
                      <p:embed/>
                      <p:pic>
                        <p:nvPicPr>
                          <p:cNvPr id="0" name="Picture 2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0775" y="3573463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6" name="Object 2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245100" y="3357563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16" name="Clip" r:id="rId28" imgW="622080" imgH="228600" progId="">
                      <p:embed/>
                    </p:oleObj>
                  </mc:Choice>
                  <mc:Fallback>
                    <p:oleObj name="Clip" r:id="rId28" imgW="622080" imgH="228600" progId="">
                      <p:embed/>
                      <p:pic>
                        <p:nvPicPr>
                          <p:cNvPr id="0" name="Picture 2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45100" y="3357563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7" name="Object 29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461000" y="3141663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17" name="Clip" r:id="rId29" imgW="622080" imgH="228600" progId="">
                      <p:embed/>
                    </p:oleObj>
                  </mc:Choice>
                  <mc:Fallback>
                    <p:oleObj name="Clip" r:id="rId29" imgW="622080" imgH="228600" progId="">
                      <p:embed/>
                      <p:pic>
                        <p:nvPicPr>
                          <p:cNvPr id="0" name="Picture 2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61000" y="3141663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8" name="Object 3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884738" y="41370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18" name="Clip" r:id="rId30" imgW="622080" imgH="228600" progId="">
                      <p:embed/>
                    </p:oleObj>
                  </mc:Choice>
                  <mc:Fallback>
                    <p:oleObj name="Clip" r:id="rId30" imgW="622080" imgH="228600" progId="">
                      <p:embed/>
                      <p:pic>
                        <p:nvPicPr>
                          <p:cNvPr id="0" name="Picture 3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84738" y="41370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9" name="Object 3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100638" y="39211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19" name="Clip" r:id="rId31" imgW="622080" imgH="228600" progId="">
                      <p:embed/>
                    </p:oleObj>
                  </mc:Choice>
                  <mc:Fallback>
                    <p:oleObj name="Clip" r:id="rId31" imgW="622080" imgH="228600" progId="">
                      <p:embed/>
                      <p:pic>
                        <p:nvPicPr>
                          <p:cNvPr id="0" name="Picture 3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00638" y="39211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0" name="Object 3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387975" y="3716338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0" name="Clip" r:id="rId32" imgW="622080" imgH="228600" progId="">
                      <p:embed/>
                    </p:oleObj>
                  </mc:Choice>
                  <mc:Fallback>
                    <p:oleObj name="Clip" r:id="rId32" imgW="622080" imgH="228600" progId="">
                      <p:embed/>
                      <p:pic>
                        <p:nvPicPr>
                          <p:cNvPr id="0" name="Picture 3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87975" y="3716338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1" name="Object 3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603875" y="3500438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1" name="Clip" r:id="rId33" imgW="622080" imgH="228600" progId="">
                      <p:embed/>
                    </p:oleObj>
                  </mc:Choice>
                  <mc:Fallback>
                    <p:oleObj name="Clip" r:id="rId33" imgW="622080" imgH="228600" progId="">
                      <p:embed/>
                      <p:pic>
                        <p:nvPicPr>
                          <p:cNvPr id="0" name="Picture 3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03875" y="3500438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2" name="Object 3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876675" y="4987925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2" name="Clip" r:id="rId34" imgW="622080" imgH="228600" progId="">
                      <p:embed/>
                    </p:oleObj>
                  </mc:Choice>
                  <mc:Fallback>
                    <p:oleObj name="Clip" r:id="rId34" imgW="622080" imgH="228600" progId="">
                      <p:embed/>
                      <p:pic>
                        <p:nvPicPr>
                          <p:cNvPr id="0" name="Picture 3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6675" y="4987925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3" name="Object 3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092575" y="4772025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3" name="Clip" r:id="rId35" imgW="622080" imgH="228600" progId="">
                      <p:embed/>
                    </p:oleObj>
                  </mc:Choice>
                  <mc:Fallback>
                    <p:oleObj name="Clip" r:id="rId35" imgW="622080" imgH="228600" progId="">
                      <p:embed/>
                      <p:pic>
                        <p:nvPicPr>
                          <p:cNvPr id="0" name="Picture 3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2575" y="4772025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4" name="Object 3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379913" y="45688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4" name="Clip" r:id="rId36" imgW="622080" imgH="228600" progId="">
                      <p:embed/>
                    </p:oleObj>
                  </mc:Choice>
                  <mc:Fallback>
                    <p:oleObj name="Clip" r:id="rId36" imgW="622080" imgH="228600" progId="">
                      <p:embed/>
                      <p:pic>
                        <p:nvPicPr>
                          <p:cNvPr id="0" name="Picture 3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79913" y="45688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5" name="Object 3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595813" y="43529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5" name="Clip" r:id="rId37" imgW="622080" imgH="228600" progId="">
                      <p:embed/>
                    </p:oleObj>
                  </mc:Choice>
                  <mc:Fallback>
                    <p:oleObj name="Clip" r:id="rId37" imgW="622080" imgH="228600" progId="">
                      <p:embed/>
                      <p:pic>
                        <p:nvPicPr>
                          <p:cNvPr id="0" name="Picture 3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5813" y="43529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6" name="Object 3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155950" y="5072063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6" name="Clip" r:id="rId38" imgW="622080" imgH="228600" progId="">
                      <p:embed/>
                    </p:oleObj>
                  </mc:Choice>
                  <mc:Fallback>
                    <p:oleObj name="Clip" r:id="rId38" imgW="622080" imgH="228600" progId="">
                      <p:embed/>
                      <p:pic>
                        <p:nvPicPr>
                          <p:cNvPr id="0" name="Picture 3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5950" y="5072063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7" name="Object 39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371850" y="4856163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7" name="Clip" r:id="rId39" imgW="622080" imgH="228600" progId="">
                      <p:embed/>
                    </p:oleObj>
                  </mc:Choice>
                  <mc:Fallback>
                    <p:oleObj name="Clip" r:id="rId39" imgW="622080" imgH="228600" progId="">
                      <p:embed/>
                      <p:pic>
                        <p:nvPicPr>
                          <p:cNvPr id="0" name="Picture 3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71850" y="4856163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8" name="Object 4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660775" y="5216525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8" name="Clip" r:id="rId40" imgW="622080" imgH="228600" progId="">
                      <p:embed/>
                    </p:oleObj>
                  </mc:Choice>
                  <mc:Fallback>
                    <p:oleObj name="Clip" r:id="rId40" imgW="622080" imgH="228600" progId="">
                      <p:embed/>
                      <p:pic>
                        <p:nvPicPr>
                          <p:cNvPr id="0" name="Picture 4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60775" y="5216525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29" name="Object 4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284663" y="52165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9" name="Clip" r:id="rId41" imgW="622080" imgH="228600" progId="">
                      <p:embed/>
                    </p:oleObj>
                  </mc:Choice>
                  <mc:Fallback>
                    <p:oleObj name="Clip" r:id="rId41" imgW="622080" imgH="228600" progId="">
                      <p:embed/>
                      <p:pic>
                        <p:nvPicPr>
                          <p:cNvPr id="0" name="Picture 4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4663" y="52165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0" name="Object 4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500563" y="50006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30" name="Clip" r:id="rId42" imgW="622080" imgH="228600" progId="">
                      <p:embed/>
                    </p:oleObj>
                  </mc:Choice>
                  <mc:Fallback>
                    <p:oleObj name="Clip" r:id="rId42" imgW="622080" imgH="228600" progId="">
                      <p:embed/>
                      <p:pic>
                        <p:nvPicPr>
                          <p:cNvPr id="0" name="Picture 4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0563" y="50006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1" name="Object 4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787900" y="4795838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31" name="Clip" r:id="rId43" imgW="622080" imgH="228600" progId="">
                      <p:embed/>
                    </p:oleObj>
                  </mc:Choice>
                  <mc:Fallback>
                    <p:oleObj name="Clip" r:id="rId43" imgW="622080" imgH="228600" progId="">
                      <p:embed/>
                      <p:pic>
                        <p:nvPicPr>
                          <p:cNvPr id="0" name="Picture 4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87900" y="4795838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2" name="Object 4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075238" y="45688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32" name="Clip" r:id="rId44" imgW="622080" imgH="228600" progId="">
                      <p:embed/>
                    </p:oleObj>
                  </mc:Choice>
                  <mc:Fallback>
                    <p:oleObj name="Clip" r:id="rId44" imgW="622080" imgH="228600" progId="">
                      <p:embed/>
                      <p:pic>
                        <p:nvPicPr>
                          <p:cNvPr id="0" name="Picture 4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75238" y="45688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3" name="Object 4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292725" y="4352925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33" name="Clip" r:id="rId45" imgW="622080" imgH="228600" progId="">
                      <p:embed/>
                    </p:oleObj>
                  </mc:Choice>
                  <mc:Fallback>
                    <p:oleObj name="Clip" r:id="rId45" imgW="622080" imgH="228600" progId="">
                      <p:embed/>
                      <p:pic>
                        <p:nvPicPr>
                          <p:cNvPr id="0" name="Picture 4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2725" y="4352925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4" name="Object 4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508625" y="4137025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34" name="Clip" r:id="rId46" imgW="622080" imgH="228600" progId="">
                      <p:embed/>
                    </p:oleObj>
                  </mc:Choice>
                  <mc:Fallback>
                    <p:oleObj name="Clip" r:id="rId46" imgW="622080" imgH="228600" progId="">
                      <p:embed/>
                      <p:pic>
                        <p:nvPicPr>
                          <p:cNvPr id="0" name="Picture 4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08625" y="4137025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5" name="Object 4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795963" y="3919538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35" name="Clip" r:id="rId47" imgW="622080" imgH="228600" progId="">
                      <p:embed/>
                    </p:oleObj>
                  </mc:Choice>
                  <mc:Fallback>
                    <p:oleObj name="Clip" r:id="rId47" imgW="622080" imgH="228600" progId="">
                      <p:embed/>
                      <p:pic>
                        <p:nvPicPr>
                          <p:cNvPr id="0" name="Picture 4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5963" y="3919538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6" name="Object 4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011863" y="3703638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36" name="Clip" r:id="rId48" imgW="622080" imgH="228600" progId="">
                      <p:embed/>
                    </p:oleObj>
                  </mc:Choice>
                  <mc:Fallback>
                    <p:oleObj name="Clip" r:id="rId48" imgW="622080" imgH="228600" progId="">
                      <p:embed/>
                      <p:pic>
                        <p:nvPicPr>
                          <p:cNvPr id="0" name="Picture 4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11863" y="3703638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7" name="Object 49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300788" y="3500438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37" name="Clip" r:id="rId49" imgW="622080" imgH="228600" progId="">
                      <p:embed/>
                    </p:oleObj>
                  </mc:Choice>
                  <mc:Fallback>
                    <p:oleObj name="Clip" r:id="rId49" imgW="622080" imgH="228600" progId="">
                      <p:embed/>
                      <p:pic>
                        <p:nvPicPr>
                          <p:cNvPr id="0" name="Picture 4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00788" y="3500438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8" name="Object 5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516688" y="3284538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38" name="Clip" r:id="rId50" imgW="622080" imgH="228600" progId="">
                      <p:embed/>
                    </p:oleObj>
                  </mc:Choice>
                  <mc:Fallback>
                    <p:oleObj name="Clip" r:id="rId50" imgW="622080" imgH="228600" progId="">
                      <p:embed/>
                      <p:pic>
                        <p:nvPicPr>
                          <p:cNvPr id="0" name="Picture 5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16688" y="3284538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39" name="Object 5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972300" y="3500438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39" name="Clip" r:id="rId51" imgW="622080" imgH="228600" progId="">
                      <p:embed/>
                    </p:oleObj>
                  </mc:Choice>
                  <mc:Fallback>
                    <p:oleObj name="Clip" r:id="rId51" imgW="622080" imgH="228600" progId="">
                      <p:embed/>
                      <p:pic>
                        <p:nvPicPr>
                          <p:cNvPr id="0" name="Picture 5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72300" y="3500438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40" name="Object 5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188200" y="3284538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0" name="Clip" r:id="rId52" imgW="622080" imgH="228600" progId="">
                      <p:embed/>
                    </p:oleObj>
                  </mc:Choice>
                  <mc:Fallback>
                    <p:oleObj name="Clip" r:id="rId52" imgW="622080" imgH="228600" progId="">
                      <p:embed/>
                      <p:pic>
                        <p:nvPicPr>
                          <p:cNvPr id="0" name="Picture 5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88200" y="3284538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41" name="Object 5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180138" y="41370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1" name="Clip" r:id="rId53" imgW="622080" imgH="228600" progId="">
                      <p:embed/>
                    </p:oleObj>
                  </mc:Choice>
                  <mc:Fallback>
                    <p:oleObj name="Clip" r:id="rId53" imgW="622080" imgH="228600" progId="">
                      <p:embed/>
                      <p:pic>
                        <p:nvPicPr>
                          <p:cNvPr id="0" name="Picture 5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80138" y="41370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42" name="Object 5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469063" y="3919538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2" name="Clip" r:id="rId54" imgW="622080" imgH="228600" progId="">
                      <p:embed/>
                    </p:oleObj>
                  </mc:Choice>
                  <mc:Fallback>
                    <p:oleObj name="Clip" r:id="rId54" imgW="622080" imgH="228600" progId="">
                      <p:embed/>
                      <p:pic>
                        <p:nvPicPr>
                          <p:cNvPr id="0" name="Picture 5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69063" y="3919538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43" name="Object 5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684963" y="3703638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3" name="Clip" r:id="rId55" imgW="622080" imgH="228600" progId="">
                      <p:embed/>
                    </p:oleObj>
                  </mc:Choice>
                  <mc:Fallback>
                    <p:oleObj name="Clip" r:id="rId55" imgW="622080" imgH="228600" progId="">
                      <p:embed/>
                      <p:pic>
                        <p:nvPicPr>
                          <p:cNvPr id="0" name="Picture 5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84963" y="3703638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44" name="Object 5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484813" y="47847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4" name="Clip" r:id="rId56" imgW="622080" imgH="228600" progId="">
                      <p:embed/>
                    </p:oleObj>
                  </mc:Choice>
                  <mc:Fallback>
                    <p:oleObj name="Clip" r:id="rId56" imgW="622080" imgH="228600" progId="">
                      <p:embed/>
                      <p:pic>
                        <p:nvPicPr>
                          <p:cNvPr id="0" name="Picture 5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84813" y="47847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45" name="Object 5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795963" y="45688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5" name="Clip" r:id="rId57" imgW="622080" imgH="228600" progId="">
                      <p:embed/>
                    </p:oleObj>
                  </mc:Choice>
                  <mc:Fallback>
                    <p:oleObj name="Clip" r:id="rId57" imgW="622080" imgH="228600" progId="">
                      <p:embed/>
                      <p:pic>
                        <p:nvPicPr>
                          <p:cNvPr id="0" name="Picture 5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5963" y="45688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46" name="Object 5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011863" y="43529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6" name="Clip" r:id="rId58" imgW="622080" imgH="228600" progId="">
                      <p:embed/>
                    </p:oleObj>
                  </mc:Choice>
                  <mc:Fallback>
                    <p:oleObj name="Clip" r:id="rId58" imgW="622080" imgH="228600" progId="">
                      <p:embed/>
                      <p:pic>
                        <p:nvPicPr>
                          <p:cNvPr id="0" name="Picture 5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11863" y="43529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47" name="Object 59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219700" y="5000625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7" name="Clip" r:id="rId59" imgW="622080" imgH="228600" progId="">
                      <p:embed/>
                    </p:oleObj>
                  </mc:Choice>
                  <mc:Fallback>
                    <p:oleObj name="Clip" r:id="rId59" imgW="622080" imgH="228600" progId="">
                      <p:embed/>
                      <p:pic>
                        <p:nvPicPr>
                          <p:cNvPr id="0" name="Picture 5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9700" y="5000625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48" name="Object 6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156325" y="4797425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8" name="Clip" r:id="rId60" imgW="622080" imgH="228600" progId="">
                      <p:embed/>
                    </p:oleObj>
                  </mc:Choice>
                  <mc:Fallback>
                    <p:oleObj name="Clip" r:id="rId60" imgW="622080" imgH="228600" progId="">
                      <p:embed/>
                      <p:pic>
                        <p:nvPicPr>
                          <p:cNvPr id="0" name="Picture 6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56325" y="4797425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49" name="Object 6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443663" y="45815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49" name="Clip" r:id="rId61" imgW="622080" imgH="228600" progId="">
                      <p:embed/>
                    </p:oleObj>
                  </mc:Choice>
                  <mc:Fallback>
                    <p:oleObj name="Clip" r:id="rId61" imgW="622080" imgH="228600" progId="">
                      <p:embed/>
                      <p:pic>
                        <p:nvPicPr>
                          <p:cNvPr id="0" name="Picture 6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43663" y="45815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50" name="Object 6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516688" y="50133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50" name="Clip" r:id="rId62" imgW="622080" imgH="228600" progId="">
                      <p:embed/>
                    </p:oleObj>
                  </mc:Choice>
                  <mc:Fallback>
                    <p:oleObj name="Clip" r:id="rId62" imgW="622080" imgH="228600" progId="">
                      <p:embed/>
                      <p:pic>
                        <p:nvPicPr>
                          <p:cNvPr id="0" name="Picture 6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16688" y="50133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51" name="Object 6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804025" y="4797425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51" name="Clip" r:id="rId63" imgW="622080" imgH="228600" progId="">
                      <p:embed/>
                    </p:oleObj>
                  </mc:Choice>
                  <mc:Fallback>
                    <p:oleObj name="Clip" r:id="rId63" imgW="622080" imgH="228600" progId="">
                      <p:embed/>
                      <p:pic>
                        <p:nvPicPr>
                          <p:cNvPr id="0" name="Picture 6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04025" y="4797425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52" name="Object 6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900863" y="52292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52" name="Clip" r:id="rId64" imgW="622080" imgH="228600" progId="">
                      <p:embed/>
                    </p:oleObj>
                  </mc:Choice>
                  <mc:Fallback>
                    <p:oleObj name="Clip" r:id="rId64" imgW="622080" imgH="228600" progId="">
                      <p:embed/>
                      <p:pic>
                        <p:nvPicPr>
                          <p:cNvPr id="0" name="Picture 6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00863" y="52292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53" name="Object 6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188200" y="5013325"/>
              <a:ext cx="623888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53" name="Clip" r:id="rId65" imgW="622080" imgH="228600" progId="">
                      <p:embed/>
                    </p:oleObj>
                  </mc:Choice>
                  <mc:Fallback>
                    <p:oleObj name="Clip" r:id="rId65" imgW="622080" imgH="228600" progId="">
                      <p:embed/>
                      <p:pic>
                        <p:nvPicPr>
                          <p:cNvPr id="0" name="Picture 6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88200" y="5013325"/>
                            <a:ext cx="623888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54" name="Object 6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932363" y="5229225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54" name="Clip" r:id="rId66" imgW="622080" imgH="228600" progId="">
                      <p:embed/>
                    </p:oleObj>
                  </mc:Choice>
                  <mc:Fallback>
                    <p:oleObj name="Clip" r:id="rId66" imgW="622080" imgH="228600" progId="">
                      <p:embed/>
                      <p:pic>
                        <p:nvPicPr>
                          <p:cNvPr id="0" name="Picture 6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2363" y="5229225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61" name="群組 160"/>
          <p:cNvGrpSpPr/>
          <p:nvPr/>
        </p:nvGrpSpPr>
        <p:grpSpPr>
          <a:xfrm>
            <a:off x="9540552" y="2856202"/>
            <a:ext cx="5184576" cy="1658970"/>
            <a:chOff x="9540552" y="2856202"/>
            <a:chExt cx="5184576" cy="1658970"/>
          </a:xfrm>
        </p:grpSpPr>
        <p:grpSp>
          <p:nvGrpSpPr>
            <p:cNvPr id="89" name="群組 19"/>
            <p:cNvGrpSpPr/>
            <p:nvPr/>
          </p:nvGrpSpPr>
          <p:grpSpPr>
            <a:xfrm>
              <a:off x="9540552" y="2856202"/>
              <a:ext cx="2574925" cy="1157700"/>
              <a:chOff x="1349375" y="2759075"/>
              <a:chExt cx="2574925" cy="1157700"/>
            </a:xfrm>
          </p:grpSpPr>
          <p:graphicFrame>
            <p:nvGraphicFramePr>
              <p:cNvPr id="157" name="Object 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1349375" y="2759075"/>
              <a:ext cx="2574925" cy="915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55" name="Clip" r:id="rId67" imgW="2573280" imgH="914400" progId="">
                      <p:embed/>
                    </p:oleObj>
                  </mc:Choice>
                  <mc:Fallback>
                    <p:oleObj name="Clip" r:id="rId67" imgW="2573280" imgH="914400" progId="">
                      <p:embed/>
                      <p:pic>
                        <p:nvPicPr>
                          <p:cNvPr id="0" name="Picture 6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9375" y="2759075"/>
                            <a:ext cx="2574925" cy="9159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8" name="Rectangle 8"/>
              <p:cNvSpPr>
                <a:spLocks noChangeArrowheads="1"/>
              </p:cNvSpPr>
              <p:nvPr/>
            </p:nvSpPr>
            <p:spPr bwMode="auto">
              <a:xfrm>
                <a:off x="2293938" y="3611563"/>
                <a:ext cx="995466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Mainframe</a:t>
                </a:r>
              </a:p>
            </p:txBody>
          </p:sp>
        </p:grpSp>
        <p:grpSp>
          <p:nvGrpSpPr>
            <p:cNvPr id="90" name="群組 20"/>
            <p:cNvGrpSpPr/>
            <p:nvPr/>
          </p:nvGrpSpPr>
          <p:grpSpPr>
            <a:xfrm>
              <a:off x="11868993" y="3723084"/>
              <a:ext cx="1309469" cy="792088"/>
              <a:chOff x="4499992" y="3068960"/>
              <a:chExt cx="1309469" cy="792088"/>
            </a:xfrm>
          </p:grpSpPr>
          <p:graphicFrame>
            <p:nvGraphicFramePr>
              <p:cNvPr id="155" name="Object 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499992" y="3068960"/>
              <a:ext cx="1268413" cy="455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56" name="Clip" r:id="rId68" imgW="1266480" imgH="453960" progId="">
                      <p:embed/>
                    </p:oleObj>
                  </mc:Choice>
                  <mc:Fallback>
                    <p:oleObj name="Clip" r:id="rId68" imgW="1266480" imgH="453960" progId="">
                      <p:embed/>
                      <p:pic>
                        <p:nvPicPr>
                          <p:cNvPr id="0" name="Picture 6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99992" y="3068960"/>
                            <a:ext cx="1268413" cy="4556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6" name="Rectangle 10"/>
              <p:cNvSpPr>
                <a:spLocks noChangeArrowheads="1"/>
              </p:cNvSpPr>
              <p:nvPr/>
            </p:nvSpPr>
            <p:spPr bwMode="auto">
              <a:xfrm>
                <a:off x="4519042" y="3555836"/>
                <a:ext cx="1290419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Mini Computer</a:t>
                </a:r>
              </a:p>
            </p:txBody>
          </p:sp>
        </p:grpSp>
        <p:grpSp>
          <p:nvGrpSpPr>
            <p:cNvPr id="91" name="群組 21"/>
            <p:cNvGrpSpPr/>
            <p:nvPr/>
          </p:nvGrpSpPr>
          <p:grpSpPr>
            <a:xfrm>
              <a:off x="12913401" y="3075012"/>
              <a:ext cx="1091647" cy="648112"/>
              <a:chOff x="6288665" y="3140968"/>
              <a:chExt cx="1091647" cy="648112"/>
            </a:xfrm>
          </p:grpSpPr>
          <p:graphicFrame>
            <p:nvGraphicFramePr>
              <p:cNvPr id="153" name="Object 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348990" y="3140968"/>
              <a:ext cx="890587" cy="322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57" name="Clip" r:id="rId69" imgW="888840" imgH="320400" progId="">
                      <p:embed/>
                    </p:oleObj>
                  </mc:Choice>
                  <mc:Fallback>
                    <p:oleObj name="Clip" r:id="rId69" imgW="888840" imgH="320400" progId="">
                      <p:embed/>
                      <p:pic>
                        <p:nvPicPr>
                          <p:cNvPr id="0" name="Picture 6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48990" y="3140968"/>
                            <a:ext cx="890587" cy="322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" name="Rectangle 11"/>
              <p:cNvSpPr>
                <a:spLocks noChangeArrowheads="1"/>
              </p:cNvSpPr>
              <p:nvPr/>
            </p:nvSpPr>
            <p:spPr bwMode="auto">
              <a:xfrm>
                <a:off x="6288665" y="3483868"/>
                <a:ext cx="1091647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Workstation</a:t>
                </a:r>
              </a:p>
            </p:txBody>
          </p:sp>
        </p:grpSp>
        <p:grpSp>
          <p:nvGrpSpPr>
            <p:cNvPr id="92" name="群組 22"/>
            <p:cNvGrpSpPr/>
            <p:nvPr/>
          </p:nvGrpSpPr>
          <p:grpSpPr>
            <a:xfrm>
              <a:off x="14101241" y="3488416"/>
              <a:ext cx="623887" cy="522700"/>
              <a:chOff x="7764537" y="3212976"/>
              <a:chExt cx="623887" cy="522700"/>
            </a:xfrm>
          </p:grpSpPr>
          <p:graphicFrame>
            <p:nvGraphicFramePr>
              <p:cNvPr id="151" name="Object 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764537" y="3212976"/>
              <a:ext cx="623887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58" name="Clip" r:id="rId70" imgW="622080" imgH="228600" progId="">
                      <p:embed/>
                    </p:oleObj>
                  </mc:Choice>
                  <mc:Fallback>
                    <p:oleObj name="Clip" r:id="rId70" imgW="622080" imgH="228600" progId="">
                      <p:embed/>
                      <p:pic>
                        <p:nvPicPr>
                          <p:cNvPr id="0" name="Picture 7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64537" y="3212976"/>
                            <a:ext cx="623887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2" name="Rectangle 12"/>
              <p:cNvSpPr>
                <a:spLocks noChangeArrowheads="1"/>
              </p:cNvSpPr>
              <p:nvPr/>
            </p:nvSpPr>
            <p:spPr bwMode="auto">
              <a:xfrm>
                <a:off x="7861374" y="3430464"/>
                <a:ext cx="371898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PC</a:t>
                </a:r>
              </a:p>
            </p:txBody>
          </p:sp>
        </p:grpSp>
      </p:grpSp>
      <p:grpSp>
        <p:nvGrpSpPr>
          <p:cNvPr id="93" name="群組 85"/>
          <p:cNvGrpSpPr/>
          <p:nvPr/>
        </p:nvGrpSpPr>
        <p:grpSpPr>
          <a:xfrm>
            <a:off x="14509104" y="1988840"/>
            <a:ext cx="4945063" cy="2892425"/>
            <a:chOff x="2867025" y="2565400"/>
            <a:chExt cx="4945063" cy="2892425"/>
          </a:xfrm>
        </p:grpSpPr>
        <p:graphicFrame>
          <p:nvGraphicFramePr>
            <p:cNvPr id="94" name="Object 2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2867025" y="3213100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59" name="Clip" r:id="rId71" imgW="622080" imgH="228600" progId="">
                    <p:embed/>
                  </p:oleObj>
                </mc:Choice>
                <mc:Fallback>
                  <p:oleObj name="Clip" r:id="rId71" imgW="622080" imgH="228600" progId="">
                    <p:embed/>
                    <p:pic>
                      <p:nvPicPr>
                        <p:cNvPr id="0" name="Picture 7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7025" y="3213100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" name="Object 1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082925" y="2997200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0" name="Clip" r:id="rId72" imgW="622080" imgH="228600" progId="">
                    <p:embed/>
                  </p:oleObj>
                </mc:Choice>
                <mc:Fallback>
                  <p:oleObj name="Clip" r:id="rId72" imgW="622080" imgH="228600" progId="">
                    <p:embed/>
                    <p:pic>
                      <p:nvPicPr>
                        <p:cNvPr id="0" name="Picture 7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2925" y="2997200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Object 1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370263" y="2781300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1" name="Clip" r:id="rId73" imgW="622080" imgH="228600" progId="">
                    <p:embed/>
                  </p:oleObj>
                </mc:Choice>
                <mc:Fallback>
                  <p:oleObj name="Clip" r:id="rId73" imgW="622080" imgH="228600" progId="">
                    <p:embed/>
                    <p:pic>
                      <p:nvPicPr>
                        <p:cNvPr id="0" name="Picture 7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0263" y="2781300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1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586163" y="2565400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2" name="Clip" r:id="rId74" imgW="622080" imgH="228600" progId="">
                    <p:embed/>
                  </p:oleObj>
                </mc:Choice>
                <mc:Fallback>
                  <p:oleObj name="Clip" r:id="rId74" imgW="622080" imgH="228600" progId="">
                    <p:embed/>
                    <p:pic>
                      <p:nvPicPr>
                        <p:cNvPr id="0" name="Picture 7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6163" y="2565400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Object 1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467100" y="3213100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3" name="Clip" r:id="rId75" imgW="622080" imgH="228600" progId="">
                    <p:embed/>
                  </p:oleObj>
                </mc:Choice>
                <mc:Fallback>
                  <p:oleObj name="Clip" r:id="rId75" imgW="622080" imgH="228600" progId="">
                    <p:embed/>
                    <p:pic>
                      <p:nvPicPr>
                        <p:cNvPr id="0" name="Picture 7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7100" y="3213100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" name="Object 1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683000" y="2997200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4" name="Clip" r:id="rId76" imgW="622080" imgH="228600" progId="">
                    <p:embed/>
                  </p:oleObj>
                </mc:Choice>
                <mc:Fallback>
                  <p:oleObj name="Clip" r:id="rId76" imgW="622080" imgH="228600" progId="">
                    <p:embed/>
                    <p:pic>
                      <p:nvPicPr>
                        <p:cNvPr id="0" name="Picture 7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3000" y="2997200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" name="Object 1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970338" y="2781300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5" name="Clip" r:id="rId77" imgW="622080" imgH="228600" progId="">
                    <p:embed/>
                  </p:oleObj>
                </mc:Choice>
                <mc:Fallback>
                  <p:oleObj name="Clip" r:id="rId77" imgW="622080" imgH="228600" progId="">
                    <p:embed/>
                    <p:pic>
                      <p:nvPicPr>
                        <p:cNvPr id="0" name="Picture 7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0338" y="2781300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" name="Object 1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186238" y="2565400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6" name="Clip" r:id="rId78" imgW="622080" imgH="228600" progId="">
                    <p:embed/>
                  </p:oleObj>
                </mc:Choice>
                <mc:Fallback>
                  <p:oleObj name="Clip" r:id="rId78" imgW="622080" imgH="228600" progId="">
                    <p:embed/>
                    <p:pic>
                      <p:nvPicPr>
                        <p:cNvPr id="0" name="Picture 7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238" y="2565400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" name="Object 1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946525" y="3357563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7" name="Clip" r:id="rId79" imgW="622080" imgH="228600" progId="">
                    <p:embed/>
                  </p:oleObj>
                </mc:Choice>
                <mc:Fallback>
                  <p:oleObj name="Clip" r:id="rId79" imgW="622080" imgH="228600" progId="">
                    <p:embed/>
                    <p:pic>
                      <p:nvPicPr>
                        <p:cNvPr id="0" name="Picture 7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6525" y="3357563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" name="Object 19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162425" y="3141663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8" name="Clip" r:id="rId80" imgW="622080" imgH="228600" progId="">
                    <p:embed/>
                  </p:oleObj>
                </mc:Choice>
                <mc:Fallback>
                  <p:oleObj name="Clip" r:id="rId80" imgW="622080" imgH="228600" progId="">
                    <p:embed/>
                    <p:pic>
                      <p:nvPicPr>
                        <p:cNvPr id="0" name="Picture 8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2425" y="3141663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" name="Object 2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449763" y="292417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9" name="Clip" r:id="rId81" imgW="622080" imgH="228600" progId="">
                    <p:embed/>
                  </p:oleObj>
                </mc:Choice>
                <mc:Fallback>
                  <p:oleObj name="Clip" r:id="rId81" imgW="622080" imgH="228600" progId="">
                    <p:embed/>
                    <p:pic>
                      <p:nvPicPr>
                        <p:cNvPr id="0" name="Picture 8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9763" y="292417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Object 2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665663" y="270827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0" name="Clip" r:id="rId82" imgW="622080" imgH="228600" progId="">
                    <p:embed/>
                  </p:oleObj>
                </mc:Choice>
                <mc:Fallback>
                  <p:oleObj name="Clip" r:id="rId82" imgW="622080" imgH="228600" progId="">
                    <p:embed/>
                    <p:pic>
                      <p:nvPicPr>
                        <p:cNvPr id="0" name="Picture 8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5663" y="270827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" name="Object 2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379913" y="3573463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1" name="Clip" r:id="rId83" imgW="622080" imgH="228600" progId="">
                    <p:embed/>
                  </p:oleObj>
                </mc:Choice>
                <mc:Fallback>
                  <p:oleObj name="Clip" r:id="rId83" imgW="622080" imgH="228600" progId="">
                    <p:embed/>
                    <p:pic>
                      <p:nvPicPr>
                        <p:cNvPr id="0" name="Picture 8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9913" y="3573463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" name="Object 2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595813" y="3357563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2" name="Clip" r:id="rId84" imgW="622080" imgH="228600" progId="">
                    <p:embed/>
                  </p:oleObj>
                </mc:Choice>
                <mc:Fallback>
                  <p:oleObj name="Clip" r:id="rId84" imgW="622080" imgH="228600" progId="">
                    <p:embed/>
                    <p:pic>
                      <p:nvPicPr>
                        <p:cNvPr id="0" name="Picture 8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5813" y="3357563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8" name="Object 2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884738" y="314007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3" name="Clip" r:id="rId85" imgW="622080" imgH="228600" progId="">
                    <p:embed/>
                  </p:oleObj>
                </mc:Choice>
                <mc:Fallback>
                  <p:oleObj name="Clip" r:id="rId85" imgW="622080" imgH="228600" progId="">
                    <p:embed/>
                    <p:pic>
                      <p:nvPicPr>
                        <p:cNvPr id="0" name="Picture 8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4738" y="314007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" name="Object 2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100638" y="292417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4" name="Clip" r:id="rId86" imgW="622080" imgH="228600" progId="">
                    <p:embed/>
                  </p:oleObj>
                </mc:Choice>
                <mc:Fallback>
                  <p:oleObj name="Clip" r:id="rId86" imgW="622080" imgH="228600" progId="">
                    <p:embed/>
                    <p:pic>
                      <p:nvPicPr>
                        <p:cNvPr id="0" name="Picture 8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0638" y="292417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" name="Object 2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714875" y="3789363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5" name="Clip" r:id="rId87" imgW="622080" imgH="228600" progId="">
                    <p:embed/>
                  </p:oleObj>
                </mc:Choice>
                <mc:Fallback>
                  <p:oleObj name="Clip" r:id="rId87" imgW="622080" imgH="228600" progId="">
                    <p:embed/>
                    <p:pic>
                      <p:nvPicPr>
                        <p:cNvPr id="0" name="Picture 8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4875" y="3789363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" name="Object 2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930775" y="3573463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6" name="Clip" r:id="rId88" imgW="622080" imgH="228600" progId="">
                    <p:embed/>
                  </p:oleObj>
                </mc:Choice>
                <mc:Fallback>
                  <p:oleObj name="Clip" r:id="rId88" imgW="622080" imgH="228600" progId="">
                    <p:embed/>
                    <p:pic>
                      <p:nvPicPr>
                        <p:cNvPr id="0" name="Picture 8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0775" y="3573463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" name="Object 2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245100" y="3357563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7" name="Clip" r:id="rId89" imgW="622080" imgH="228600" progId="">
                    <p:embed/>
                  </p:oleObj>
                </mc:Choice>
                <mc:Fallback>
                  <p:oleObj name="Clip" r:id="rId89" imgW="622080" imgH="228600" progId="">
                    <p:embed/>
                    <p:pic>
                      <p:nvPicPr>
                        <p:cNvPr id="0" name="Picture 8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5100" y="3357563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" name="Object 29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461000" y="3141663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8" name="Clip" r:id="rId90" imgW="622080" imgH="228600" progId="">
                    <p:embed/>
                  </p:oleObj>
                </mc:Choice>
                <mc:Fallback>
                  <p:oleObj name="Clip" r:id="rId90" imgW="622080" imgH="228600" progId="">
                    <p:embed/>
                    <p:pic>
                      <p:nvPicPr>
                        <p:cNvPr id="0" name="Picture 9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1000" y="3141663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" name="Object 3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884738" y="41370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79" name="Clip" r:id="rId91" imgW="622080" imgH="228600" progId="">
                    <p:embed/>
                  </p:oleObj>
                </mc:Choice>
                <mc:Fallback>
                  <p:oleObj name="Clip" r:id="rId91" imgW="622080" imgH="228600" progId="">
                    <p:embed/>
                    <p:pic>
                      <p:nvPicPr>
                        <p:cNvPr id="0" name="Picture 9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4738" y="41370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" name="Object 3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100638" y="39211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0" name="Clip" r:id="rId92" imgW="622080" imgH="228600" progId="">
                    <p:embed/>
                  </p:oleObj>
                </mc:Choice>
                <mc:Fallback>
                  <p:oleObj name="Clip" r:id="rId92" imgW="622080" imgH="228600" progId="">
                    <p:embed/>
                    <p:pic>
                      <p:nvPicPr>
                        <p:cNvPr id="0" name="Picture 9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0638" y="39211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" name="Object 3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387975" y="3716338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1" name="Clip" r:id="rId93" imgW="622080" imgH="228600" progId="">
                    <p:embed/>
                  </p:oleObj>
                </mc:Choice>
                <mc:Fallback>
                  <p:oleObj name="Clip" r:id="rId93" imgW="622080" imgH="228600" progId="">
                    <p:embed/>
                    <p:pic>
                      <p:nvPicPr>
                        <p:cNvPr id="0" name="Picture 9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7975" y="3716338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7" name="Object 3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603875" y="3500438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2" name="Clip" r:id="rId94" imgW="622080" imgH="228600" progId="">
                    <p:embed/>
                  </p:oleObj>
                </mc:Choice>
                <mc:Fallback>
                  <p:oleObj name="Clip" r:id="rId94" imgW="622080" imgH="228600" progId="">
                    <p:embed/>
                    <p:pic>
                      <p:nvPicPr>
                        <p:cNvPr id="0" name="Picture 9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3875" y="3500438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8" name="Object 3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876675" y="4987925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3" name="Clip" r:id="rId95" imgW="622080" imgH="228600" progId="">
                    <p:embed/>
                  </p:oleObj>
                </mc:Choice>
                <mc:Fallback>
                  <p:oleObj name="Clip" r:id="rId95" imgW="622080" imgH="228600" progId="">
                    <p:embed/>
                    <p:pic>
                      <p:nvPicPr>
                        <p:cNvPr id="0" name="Picture 9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6675" y="4987925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9" name="Object 3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092575" y="4772025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4" name="Clip" r:id="rId96" imgW="622080" imgH="228600" progId="">
                    <p:embed/>
                  </p:oleObj>
                </mc:Choice>
                <mc:Fallback>
                  <p:oleObj name="Clip" r:id="rId96" imgW="622080" imgH="228600" progId="">
                    <p:embed/>
                    <p:pic>
                      <p:nvPicPr>
                        <p:cNvPr id="0" name="Picture 9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2575" y="4772025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0" name="Object 3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379913" y="45688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5" name="Clip" r:id="rId97" imgW="622080" imgH="228600" progId="">
                    <p:embed/>
                  </p:oleObj>
                </mc:Choice>
                <mc:Fallback>
                  <p:oleObj name="Clip" r:id="rId97" imgW="622080" imgH="228600" progId="">
                    <p:embed/>
                    <p:pic>
                      <p:nvPicPr>
                        <p:cNvPr id="0" name="Picture 9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9913" y="45688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1" name="Object 3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595813" y="43529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6" name="Clip" r:id="rId98" imgW="622080" imgH="228600" progId="">
                    <p:embed/>
                  </p:oleObj>
                </mc:Choice>
                <mc:Fallback>
                  <p:oleObj name="Clip" r:id="rId98" imgW="622080" imgH="228600" progId="">
                    <p:embed/>
                    <p:pic>
                      <p:nvPicPr>
                        <p:cNvPr id="0" name="Picture 9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5813" y="43529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" name="Object 3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155950" y="5072063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7" name="Clip" r:id="rId99" imgW="622080" imgH="228600" progId="">
                    <p:embed/>
                  </p:oleObj>
                </mc:Choice>
                <mc:Fallback>
                  <p:oleObj name="Clip" r:id="rId99" imgW="622080" imgH="228600" progId="">
                    <p:embed/>
                    <p:pic>
                      <p:nvPicPr>
                        <p:cNvPr id="0" name="Picture 9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5950" y="5072063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" name="Object 39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371850" y="4856163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8" name="Clip" r:id="rId100" imgW="622080" imgH="228600" progId="">
                    <p:embed/>
                  </p:oleObj>
                </mc:Choice>
                <mc:Fallback>
                  <p:oleObj name="Clip" r:id="rId100" imgW="622080" imgH="228600" progId="">
                    <p:embed/>
                    <p:pic>
                      <p:nvPicPr>
                        <p:cNvPr id="0" name="Picture 10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1850" y="4856163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4" name="Object 4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660775" y="5216525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89" name="Clip" r:id="rId101" imgW="622080" imgH="228600" progId="">
                    <p:embed/>
                  </p:oleObj>
                </mc:Choice>
                <mc:Fallback>
                  <p:oleObj name="Clip" r:id="rId101" imgW="622080" imgH="228600" progId="">
                    <p:embed/>
                    <p:pic>
                      <p:nvPicPr>
                        <p:cNvPr id="0" name="Picture 10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775" y="5216525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5" name="Object 4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284663" y="52165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0" name="Clip" r:id="rId102" imgW="622080" imgH="228600" progId="">
                    <p:embed/>
                  </p:oleObj>
                </mc:Choice>
                <mc:Fallback>
                  <p:oleObj name="Clip" r:id="rId102" imgW="622080" imgH="228600" progId="">
                    <p:embed/>
                    <p:pic>
                      <p:nvPicPr>
                        <p:cNvPr id="0" name="Picture 10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4663" y="52165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6" name="Object 4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500563" y="50006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1" name="Clip" r:id="rId103" imgW="622080" imgH="228600" progId="">
                    <p:embed/>
                  </p:oleObj>
                </mc:Choice>
                <mc:Fallback>
                  <p:oleObj name="Clip" r:id="rId103" imgW="622080" imgH="228600" progId="">
                    <p:embed/>
                    <p:pic>
                      <p:nvPicPr>
                        <p:cNvPr id="0" name="Picture 10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0563" y="50006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7" name="Object 4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787900" y="4795838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2" name="Clip" r:id="rId104" imgW="622080" imgH="228600" progId="">
                    <p:embed/>
                  </p:oleObj>
                </mc:Choice>
                <mc:Fallback>
                  <p:oleObj name="Clip" r:id="rId104" imgW="622080" imgH="228600" progId="">
                    <p:embed/>
                    <p:pic>
                      <p:nvPicPr>
                        <p:cNvPr id="0" name="Picture 10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7900" y="4795838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8" name="Object 4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075238" y="45688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3" name="Clip" r:id="rId105" imgW="622080" imgH="228600" progId="">
                    <p:embed/>
                  </p:oleObj>
                </mc:Choice>
                <mc:Fallback>
                  <p:oleObj name="Clip" r:id="rId105" imgW="622080" imgH="228600" progId="">
                    <p:embed/>
                    <p:pic>
                      <p:nvPicPr>
                        <p:cNvPr id="0" name="Picture 10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5238" y="45688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9" name="Object 4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292725" y="4352925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4" name="Clip" r:id="rId106" imgW="622080" imgH="228600" progId="">
                    <p:embed/>
                  </p:oleObj>
                </mc:Choice>
                <mc:Fallback>
                  <p:oleObj name="Clip" r:id="rId106" imgW="622080" imgH="228600" progId="">
                    <p:embed/>
                    <p:pic>
                      <p:nvPicPr>
                        <p:cNvPr id="0" name="Picture 10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2725" y="4352925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0" name="Object 4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508625" y="4137025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5" name="Clip" r:id="rId107" imgW="622080" imgH="228600" progId="">
                    <p:embed/>
                  </p:oleObj>
                </mc:Choice>
                <mc:Fallback>
                  <p:oleObj name="Clip" r:id="rId107" imgW="622080" imgH="228600" progId="">
                    <p:embed/>
                    <p:pic>
                      <p:nvPicPr>
                        <p:cNvPr id="0" name="Picture 10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625" y="4137025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1" name="Object 4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795963" y="3919538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6" name="Clip" r:id="rId108" imgW="622080" imgH="228600" progId="">
                    <p:embed/>
                  </p:oleObj>
                </mc:Choice>
                <mc:Fallback>
                  <p:oleObj name="Clip" r:id="rId108" imgW="622080" imgH="228600" progId="">
                    <p:embed/>
                    <p:pic>
                      <p:nvPicPr>
                        <p:cNvPr id="0" name="Picture 10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5963" y="3919538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2" name="Object 4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011863" y="3703638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7" name="Clip" r:id="rId109" imgW="622080" imgH="228600" progId="">
                    <p:embed/>
                  </p:oleObj>
                </mc:Choice>
                <mc:Fallback>
                  <p:oleObj name="Clip" r:id="rId109" imgW="622080" imgH="228600" progId="">
                    <p:embed/>
                    <p:pic>
                      <p:nvPicPr>
                        <p:cNvPr id="0" name="Picture 10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1863" y="3703638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" name="Object 49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300788" y="3500438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8" name="Clip" r:id="rId110" imgW="622080" imgH="228600" progId="">
                    <p:embed/>
                  </p:oleObj>
                </mc:Choice>
                <mc:Fallback>
                  <p:oleObj name="Clip" r:id="rId110" imgW="622080" imgH="228600" progId="">
                    <p:embed/>
                    <p:pic>
                      <p:nvPicPr>
                        <p:cNvPr id="0" name="Picture 1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0788" y="3500438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" name="Object 5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516688" y="3284538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99" name="Clip" r:id="rId111" imgW="622080" imgH="228600" progId="">
                    <p:embed/>
                  </p:oleObj>
                </mc:Choice>
                <mc:Fallback>
                  <p:oleObj name="Clip" r:id="rId111" imgW="622080" imgH="228600" progId="">
                    <p:embed/>
                    <p:pic>
                      <p:nvPicPr>
                        <p:cNvPr id="0" name="Picture 1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6688" y="3284538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" name="Object 5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972300" y="3500438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0" name="Clip" r:id="rId112" imgW="622080" imgH="228600" progId="">
                    <p:embed/>
                  </p:oleObj>
                </mc:Choice>
                <mc:Fallback>
                  <p:oleObj name="Clip" r:id="rId112" imgW="622080" imgH="228600" progId="">
                    <p:embed/>
                    <p:pic>
                      <p:nvPicPr>
                        <p:cNvPr id="0" name="Picture 1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2300" y="3500438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" name="Object 5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7188200" y="3284538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1" name="Clip" r:id="rId113" imgW="622080" imgH="228600" progId="">
                    <p:embed/>
                  </p:oleObj>
                </mc:Choice>
                <mc:Fallback>
                  <p:oleObj name="Clip" r:id="rId113" imgW="622080" imgH="228600" progId="">
                    <p:embed/>
                    <p:pic>
                      <p:nvPicPr>
                        <p:cNvPr id="0" name="Picture 1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8200" y="3284538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" name="Object 5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180138" y="41370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2" name="Clip" r:id="rId114" imgW="622080" imgH="228600" progId="">
                    <p:embed/>
                  </p:oleObj>
                </mc:Choice>
                <mc:Fallback>
                  <p:oleObj name="Clip" r:id="rId114" imgW="622080" imgH="228600" progId="">
                    <p:embed/>
                    <p:pic>
                      <p:nvPicPr>
                        <p:cNvPr id="0" name="Picture 1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0138" y="41370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" name="Object 5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469063" y="3919538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3" name="Clip" r:id="rId115" imgW="622080" imgH="228600" progId="">
                    <p:embed/>
                  </p:oleObj>
                </mc:Choice>
                <mc:Fallback>
                  <p:oleObj name="Clip" r:id="rId115" imgW="622080" imgH="228600" progId="">
                    <p:embed/>
                    <p:pic>
                      <p:nvPicPr>
                        <p:cNvPr id="0" name="Picture 1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9063" y="3919538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" name="Object 5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684963" y="3703638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4" name="Clip" r:id="rId116" imgW="622080" imgH="228600" progId="">
                    <p:embed/>
                  </p:oleObj>
                </mc:Choice>
                <mc:Fallback>
                  <p:oleObj name="Clip" r:id="rId116" imgW="622080" imgH="228600" progId="">
                    <p:embed/>
                    <p:pic>
                      <p:nvPicPr>
                        <p:cNvPr id="0" name="Picture 1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4963" y="3703638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" name="Object 5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484813" y="47847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5" name="Clip" r:id="rId117" imgW="622080" imgH="228600" progId="">
                    <p:embed/>
                  </p:oleObj>
                </mc:Choice>
                <mc:Fallback>
                  <p:oleObj name="Clip" r:id="rId117" imgW="622080" imgH="228600" progId="">
                    <p:embed/>
                    <p:pic>
                      <p:nvPicPr>
                        <p:cNvPr id="0" name="Picture 1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4813" y="47847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1" name="Object 5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795963" y="45688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6" name="Clip" r:id="rId118" imgW="622080" imgH="228600" progId="">
                    <p:embed/>
                  </p:oleObj>
                </mc:Choice>
                <mc:Fallback>
                  <p:oleObj name="Clip" r:id="rId118" imgW="622080" imgH="228600" progId="">
                    <p:embed/>
                    <p:pic>
                      <p:nvPicPr>
                        <p:cNvPr id="0" name="Picture 1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5963" y="45688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2" name="Object 5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011863" y="43529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7" name="Clip" r:id="rId119" imgW="622080" imgH="228600" progId="">
                    <p:embed/>
                  </p:oleObj>
                </mc:Choice>
                <mc:Fallback>
                  <p:oleObj name="Clip" r:id="rId119" imgW="622080" imgH="228600" progId="">
                    <p:embed/>
                    <p:pic>
                      <p:nvPicPr>
                        <p:cNvPr id="0" name="Picture 1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1863" y="43529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" name="Object 59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219700" y="5000625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8" name="Clip" r:id="rId120" imgW="622080" imgH="228600" progId="">
                    <p:embed/>
                  </p:oleObj>
                </mc:Choice>
                <mc:Fallback>
                  <p:oleObj name="Clip" r:id="rId120" imgW="622080" imgH="228600" progId="">
                    <p:embed/>
                    <p:pic>
                      <p:nvPicPr>
                        <p:cNvPr id="0" name="Picture 1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9700" y="5000625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" name="Object 6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156325" y="4797425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9" name="Clip" r:id="rId121" imgW="622080" imgH="228600" progId="">
                    <p:embed/>
                  </p:oleObj>
                </mc:Choice>
                <mc:Fallback>
                  <p:oleObj name="Clip" r:id="rId121" imgW="622080" imgH="228600" progId="">
                    <p:embed/>
                    <p:pic>
                      <p:nvPicPr>
                        <p:cNvPr id="0" name="Picture 1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6325" y="4797425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5" name="Object 6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443663" y="45815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0" name="Clip" r:id="rId122" imgW="622080" imgH="228600" progId="">
                    <p:embed/>
                  </p:oleObj>
                </mc:Choice>
                <mc:Fallback>
                  <p:oleObj name="Clip" r:id="rId122" imgW="622080" imgH="228600" progId="">
                    <p:embed/>
                    <p:pic>
                      <p:nvPicPr>
                        <p:cNvPr id="0" name="Picture 1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3663" y="45815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" name="Object 6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516688" y="50133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1" name="Clip" r:id="rId123" imgW="622080" imgH="228600" progId="">
                    <p:embed/>
                  </p:oleObj>
                </mc:Choice>
                <mc:Fallback>
                  <p:oleObj name="Clip" r:id="rId123" imgW="622080" imgH="228600" progId="">
                    <p:embed/>
                    <p:pic>
                      <p:nvPicPr>
                        <p:cNvPr id="0" name="Picture 1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6688" y="50133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7" name="Object 6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804025" y="4797425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2" name="Clip" r:id="rId124" imgW="622080" imgH="228600" progId="">
                    <p:embed/>
                  </p:oleObj>
                </mc:Choice>
                <mc:Fallback>
                  <p:oleObj name="Clip" r:id="rId124" imgW="622080" imgH="228600" progId="">
                    <p:embed/>
                    <p:pic>
                      <p:nvPicPr>
                        <p:cNvPr id="0" name="Picture 1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025" y="4797425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" name="Object 6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900863" y="52292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3" name="Clip" r:id="rId125" imgW="622080" imgH="228600" progId="">
                    <p:embed/>
                  </p:oleObj>
                </mc:Choice>
                <mc:Fallback>
                  <p:oleObj name="Clip" r:id="rId125" imgW="622080" imgH="228600" progId="">
                    <p:embed/>
                    <p:pic>
                      <p:nvPicPr>
                        <p:cNvPr id="0" name="Picture 1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0863" y="52292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" name="Object 6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7188200" y="5013325"/>
            <a:ext cx="623888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4" name="Clip" r:id="rId126" imgW="622080" imgH="228600" progId="">
                    <p:embed/>
                  </p:oleObj>
                </mc:Choice>
                <mc:Fallback>
                  <p:oleObj name="Clip" r:id="rId126" imgW="622080" imgH="228600" progId="">
                    <p:embed/>
                    <p:pic>
                      <p:nvPicPr>
                        <p:cNvPr id="0" name="Picture 12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8200" y="5013325"/>
                          <a:ext cx="623888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" name="Object 6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932363" y="5229225"/>
            <a:ext cx="623887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15" name="Clip" r:id="rId127" imgW="622080" imgH="228600" progId="">
                    <p:embed/>
                  </p:oleObj>
                </mc:Choice>
                <mc:Fallback>
                  <p:oleObj name="Clip" r:id="rId127" imgW="622080" imgH="228600" progId="">
                    <p:embed/>
                    <p:pic>
                      <p:nvPicPr>
                        <p:cNvPr id="0" name="Picture 1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2363" y="5229225"/>
                          <a:ext cx="623887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4.3257E-6 L -1.77969 -0.00579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0" y="-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1.94444E-6 1.69789E-6 L -2.29427 -0.00093 " pathEditMode="relative" rAng="0" ptsTypes="AA">
                                      <p:cBhvr>
                                        <p:cTn id="8" dur="5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Rise &amp; Fall of Computing Technologies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166555" y="2193504"/>
            <a:ext cx="131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Mainframes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483243" y="2193504"/>
            <a:ext cx="1709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Mini-Computers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178987" y="4562217"/>
            <a:ext cx="1709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Mini-Computers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411235" y="4562217"/>
            <a:ext cx="1213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Personal</a:t>
            </a:r>
          </a:p>
          <a:p>
            <a:r>
              <a:rPr lang="en-US" altLang="zh-TW" dirty="0"/>
              <a:t>Computers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787499" y="2184212"/>
            <a:ext cx="2069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Personal Computers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721024" y="4562217"/>
            <a:ext cx="1218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Network</a:t>
            </a:r>
          </a:p>
          <a:p>
            <a:r>
              <a:rPr lang="en-US" altLang="zh-TW" dirty="0"/>
              <a:t>Computing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803723" y="3264332"/>
            <a:ext cx="1232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Distributed</a:t>
            </a:r>
          </a:p>
          <a:p>
            <a:r>
              <a:rPr lang="en-US" altLang="zh-TW" dirty="0"/>
              <a:t>Computing</a:t>
            </a:r>
            <a:endParaRPr lang="zh-TW" altLang="en-US" dirty="0"/>
          </a:p>
        </p:txBody>
      </p:sp>
      <p:grpSp>
        <p:nvGrpSpPr>
          <p:cNvPr id="2" name="群組 52"/>
          <p:cNvGrpSpPr/>
          <p:nvPr/>
        </p:nvGrpSpPr>
        <p:grpSpPr>
          <a:xfrm>
            <a:off x="1278379" y="2601328"/>
            <a:ext cx="2094137" cy="1879600"/>
            <a:chOff x="1143000" y="2693988"/>
            <a:chExt cx="2094137" cy="1879600"/>
          </a:xfrm>
        </p:grpSpPr>
        <p:sp>
          <p:nvSpPr>
            <p:cNvPr id="36" name="Arc 4"/>
            <p:cNvSpPr>
              <a:spLocks/>
            </p:cNvSpPr>
            <p:nvPr/>
          </p:nvSpPr>
          <p:spPr bwMode="auto">
            <a:xfrm>
              <a:off x="1143000" y="26939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chemeClr val="accent3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" name="Arc 5"/>
            <p:cNvSpPr>
              <a:spLocks/>
            </p:cNvSpPr>
            <p:nvPr/>
          </p:nvSpPr>
          <p:spPr bwMode="auto">
            <a:xfrm rot="10800000">
              <a:off x="2195737" y="36083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chemeClr val="accent3">
                  <a:lumMod val="60000"/>
                  <a:lumOff val="40000"/>
                </a:schemeClr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3" name="群組 54"/>
          <p:cNvGrpSpPr/>
          <p:nvPr/>
        </p:nvGrpSpPr>
        <p:grpSpPr>
          <a:xfrm>
            <a:off x="1305367" y="2616260"/>
            <a:ext cx="2081680" cy="1872208"/>
            <a:chOff x="1169988" y="2708920"/>
            <a:chExt cx="2081680" cy="1872208"/>
          </a:xfrm>
        </p:grpSpPr>
        <p:sp>
          <p:nvSpPr>
            <p:cNvPr id="45" name="Arc 13"/>
            <p:cNvSpPr>
              <a:spLocks/>
            </p:cNvSpPr>
            <p:nvPr/>
          </p:nvSpPr>
          <p:spPr bwMode="auto">
            <a:xfrm rot="10800000">
              <a:off x="1169988" y="3615928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790015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" name="Arc 14"/>
            <p:cNvSpPr>
              <a:spLocks/>
            </p:cNvSpPr>
            <p:nvPr/>
          </p:nvSpPr>
          <p:spPr bwMode="auto">
            <a:xfrm>
              <a:off x="2210268" y="2708920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790015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4" name="群組 55"/>
          <p:cNvGrpSpPr/>
          <p:nvPr/>
        </p:nvGrpSpPr>
        <p:grpSpPr>
          <a:xfrm>
            <a:off x="3534815" y="2601328"/>
            <a:ext cx="2094137" cy="1879600"/>
            <a:chOff x="1143000" y="2693988"/>
            <a:chExt cx="2094137" cy="1879600"/>
          </a:xfrm>
        </p:grpSpPr>
        <p:sp>
          <p:nvSpPr>
            <p:cNvPr id="57" name="Arc 4"/>
            <p:cNvSpPr>
              <a:spLocks/>
            </p:cNvSpPr>
            <p:nvPr/>
          </p:nvSpPr>
          <p:spPr bwMode="auto">
            <a:xfrm>
              <a:off x="1143000" y="26939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chemeClr val="accent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8" name="Arc 5"/>
            <p:cNvSpPr>
              <a:spLocks/>
            </p:cNvSpPr>
            <p:nvPr/>
          </p:nvSpPr>
          <p:spPr bwMode="auto">
            <a:xfrm rot="10800000">
              <a:off x="2195737" y="36083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chemeClr val="accent2">
                  <a:lumMod val="60000"/>
                  <a:lumOff val="40000"/>
                </a:schemeClr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5" name="群組 58"/>
          <p:cNvGrpSpPr/>
          <p:nvPr/>
        </p:nvGrpSpPr>
        <p:grpSpPr>
          <a:xfrm>
            <a:off x="3561803" y="2616260"/>
            <a:ext cx="2081680" cy="1872208"/>
            <a:chOff x="1169988" y="2708920"/>
            <a:chExt cx="2081680" cy="1872208"/>
          </a:xfrm>
        </p:grpSpPr>
        <p:sp>
          <p:nvSpPr>
            <p:cNvPr id="60" name="Arc 13"/>
            <p:cNvSpPr>
              <a:spLocks/>
            </p:cNvSpPr>
            <p:nvPr/>
          </p:nvSpPr>
          <p:spPr bwMode="auto">
            <a:xfrm rot="10800000">
              <a:off x="1169988" y="3615928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1" name="Arc 14"/>
            <p:cNvSpPr>
              <a:spLocks/>
            </p:cNvSpPr>
            <p:nvPr/>
          </p:nvSpPr>
          <p:spPr bwMode="auto">
            <a:xfrm>
              <a:off x="2210268" y="2708920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00206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14" name="群組 61"/>
          <p:cNvGrpSpPr/>
          <p:nvPr/>
        </p:nvGrpSpPr>
        <p:grpSpPr>
          <a:xfrm>
            <a:off x="5760511" y="2601328"/>
            <a:ext cx="2094137" cy="1879600"/>
            <a:chOff x="1143000" y="2693988"/>
            <a:chExt cx="2094137" cy="1879600"/>
          </a:xfrm>
        </p:grpSpPr>
        <p:sp>
          <p:nvSpPr>
            <p:cNvPr id="63" name="Arc 4"/>
            <p:cNvSpPr>
              <a:spLocks/>
            </p:cNvSpPr>
            <p:nvPr/>
          </p:nvSpPr>
          <p:spPr bwMode="auto">
            <a:xfrm>
              <a:off x="1143000" y="26939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rgbClr val="00B0F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4" name="Arc 5"/>
            <p:cNvSpPr>
              <a:spLocks/>
            </p:cNvSpPr>
            <p:nvPr/>
          </p:nvSpPr>
          <p:spPr bwMode="auto">
            <a:xfrm rot="10800000">
              <a:off x="2195737" y="36083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rgbClr val="00B0F0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15" name="群組 64"/>
          <p:cNvGrpSpPr/>
          <p:nvPr/>
        </p:nvGrpSpPr>
        <p:grpSpPr>
          <a:xfrm>
            <a:off x="5787499" y="2616260"/>
            <a:ext cx="2081680" cy="1872208"/>
            <a:chOff x="1169988" y="2708920"/>
            <a:chExt cx="2081680" cy="1872208"/>
          </a:xfrm>
        </p:grpSpPr>
        <p:sp>
          <p:nvSpPr>
            <p:cNvPr id="66" name="Arc 13"/>
            <p:cNvSpPr>
              <a:spLocks/>
            </p:cNvSpPr>
            <p:nvPr/>
          </p:nvSpPr>
          <p:spPr bwMode="auto">
            <a:xfrm rot="10800000">
              <a:off x="1169988" y="3615928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00B05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7" name="Arc 14"/>
            <p:cNvSpPr>
              <a:spLocks/>
            </p:cNvSpPr>
            <p:nvPr/>
          </p:nvSpPr>
          <p:spPr bwMode="auto">
            <a:xfrm>
              <a:off x="2210268" y="2708920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69" name="Text Box 7"/>
          <p:cNvSpPr txBox="1">
            <a:spLocks noChangeArrowheads="1"/>
          </p:cNvSpPr>
          <p:nvPr/>
        </p:nvSpPr>
        <p:spPr bwMode="auto">
          <a:xfrm>
            <a:off x="2987824" y="5589240"/>
            <a:ext cx="91563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TW" sz="2800" dirty="0"/>
              <a:t>1980</a:t>
            </a:r>
          </a:p>
        </p:txBody>
      </p:sp>
      <p:sp>
        <p:nvSpPr>
          <p:cNvPr id="70" name="Text Box 8"/>
          <p:cNvSpPr txBox="1">
            <a:spLocks noChangeArrowheads="1"/>
          </p:cNvSpPr>
          <p:nvPr/>
        </p:nvSpPr>
        <p:spPr bwMode="auto">
          <a:xfrm>
            <a:off x="5223520" y="5589240"/>
            <a:ext cx="91563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TW" sz="2800" dirty="0"/>
              <a:t>1995</a:t>
            </a:r>
          </a:p>
        </p:txBody>
      </p:sp>
      <p:sp>
        <p:nvSpPr>
          <p:cNvPr id="71" name="Text Box 21"/>
          <p:cNvSpPr txBox="1">
            <a:spLocks noChangeArrowheads="1"/>
          </p:cNvSpPr>
          <p:nvPr/>
        </p:nvSpPr>
        <p:spPr bwMode="auto">
          <a:xfrm>
            <a:off x="1076901" y="5590728"/>
            <a:ext cx="91563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TW" sz="2800" dirty="0"/>
              <a:t>1970</a:t>
            </a:r>
          </a:p>
        </p:txBody>
      </p:sp>
      <p:sp>
        <p:nvSpPr>
          <p:cNvPr id="72" name="Text Box 22"/>
          <p:cNvSpPr txBox="1">
            <a:spLocks noChangeArrowheads="1"/>
          </p:cNvSpPr>
          <p:nvPr/>
        </p:nvSpPr>
        <p:spPr bwMode="auto">
          <a:xfrm>
            <a:off x="7524328" y="5589240"/>
            <a:ext cx="1095375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TW" sz="2800" dirty="0"/>
              <a:t>2000+</a:t>
            </a:r>
          </a:p>
        </p:txBody>
      </p:sp>
      <p:grpSp>
        <p:nvGrpSpPr>
          <p:cNvPr id="16" name="群組 33"/>
          <p:cNvGrpSpPr/>
          <p:nvPr/>
        </p:nvGrpSpPr>
        <p:grpSpPr>
          <a:xfrm>
            <a:off x="827584" y="1896180"/>
            <a:ext cx="8136904" cy="3600400"/>
            <a:chOff x="827584" y="1700808"/>
            <a:chExt cx="8136904" cy="3600400"/>
          </a:xfrm>
        </p:grpSpPr>
        <p:cxnSp>
          <p:nvCxnSpPr>
            <p:cNvPr id="74" name="直線接點 73"/>
            <p:cNvCxnSpPr/>
            <p:nvPr/>
          </p:nvCxnSpPr>
          <p:spPr>
            <a:xfrm rot="5400000">
              <a:off x="-972616" y="3501008"/>
              <a:ext cx="3600400" cy="0"/>
            </a:xfrm>
            <a:prstGeom prst="line">
              <a:avLst/>
            </a:prstGeom>
            <a:ln w="76200">
              <a:headEnd type="stealt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接點 75"/>
            <p:cNvCxnSpPr/>
            <p:nvPr/>
          </p:nvCxnSpPr>
          <p:spPr>
            <a:xfrm rot="10800000">
              <a:off x="827584" y="5301208"/>
              <a:ext cx="8136904" cy="0"/>
            </a:xfrm>
            <a:prstGeom prst="line">
              <a:avLst/>
            </a:prstGeom>
            <a:ln w="76200">
              <a:headEnd type="stealt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Distributed computing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Cluster Computing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Grid Computing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Cloud Computing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Cluster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/>
              <a:t>A cluster is a type of parallel and distributed system, which consists of a collection of </a:t>
            </a:r>
            <a:r>
              <a:rPr lang="en-US" altLang="zh-TW" i="1" dirty="0">
                <a:solidFill>
                  <a:srgbClr val="00B0F0"/>
                </a:solidFill>
              </a:rPr>
              <a:t>inter-connected stand-alone</a:t>
            </a:r>
            <a:r>
              <a:rPr lang="en-US" altLang="zh-TW" dirty="0"/>
              <a:t> computers working together as a </a:t>
            </a:r>
            <a:r>
              <a:rPr lang="en-US" altLang="zh-TW" i="1" dirty="0">
                <a:solidFill>
                  <a:srgbClr val="00B0F0"/>
                </a:solidFill>
              </a:rPr>
              <a:t>single</a:t>
            </a:r>
            <a:r>
              <a:rPr lang="en-US" altLang="zh-TW" dirty="0"/>
              <a:t> integrated computing resource</a:t>
            </a:r>
          </a:p>
          <a:p>
            <a:endParaRPr lang="en-US" altLang="zh-CN" dirty="0">
              <a:ea typeface="SimSun" pitchFamily="2" charset="-122"/>
            </a:endParaRPr>
          </a:p>
        </p:txBody>
      </p:sp>
      <p:pic>
        <p:nvPicPr>
          <p:cNvPr id="50178" name="Picture 2" descr="D:\Data\edu_NTHU\_myResearchNotes\cloud computing\_Course\slides\tmp\cluster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1071" y="3645024"/>
            <a:ext cx="3641859" cy="28277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Cluster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A Node</a:t>
            </a:r>
          </a:p>
          <a:p>
            <a:pPr lvl="1"/>
            <a:r>
              <a:rPr lang="en-US" altLang="zh-TW" dirty="0"/>
              <a:t>A single or multiprocessor system with memory, I/O facilities, &amp; OS </a:t>
            </a:r>
          </a:p>
          <a:p>
            <a:endParaRPr lang="en-US" altLang="zh-TW" dirty="0"/>
          </a:p>
          <a:p>
            <a:r>
              <a:rPr lang="en-US" altLang="zh-TW" dirty="0"/>
              <a:t>A Cluster:</a:t>
            </a:r>
          </a:p>
          <a:p>
            <a:pPr lvl="1"/>
            <a:r>
              <a:rPr lang="en-US" altLang="zh-TW" dirty="0"/>
              <a:t>Generally two or more computers (nodes) connected together</a:t>
            </a:r>
          </a:p>
          <a:p>
            <a:pPr lvl="1"/>
            <a:r>
              <a:rPr lang="en-US" altLang="zh-TW" dirty="0"/>
              <a:t>In a single cabinet, or physically separated &amp; connected via a LAN</a:t>
            </a:r>
          </a:p>
          <a:p>
            <a:pPr lvl="1"/>
            <a:r>
              <a:rPr lang="en-US" altLang="zh-TW" dirty="0"/>
              <a:t>Appear as a single system to users and applications </a:t>
            </a:r>
          </a:p>
          <a:p>
            <a:pPr lvl="1"/>
            <a:r>
              <a:rPr lang="en-US" altLang="zh-TW" dirty="0"/>
              <a:t>Provide a cost-effective way to gain features and benefits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Parallel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Parallel Computing </a:t>
            </a:r>
          </a:p>
          <a:p>
            <a:pPr lvl="1"/>
            <a:r>
              <a:rPr lang="en-US" altLang="zh-TW" dirty="0"/>
              <a:t>A form of computation in which many </a:t>
            </a:r>
            <a:r>
              <a:rPr lang="en-US" altLang="zh-TW" i="1" dirty="0">
                <a:solidFill>
                  <a:srgbClr val="00B0F0"/>
                </a:solidFill>
              </a:rPr>
              <a:t>calculations are carried out simultaneously</a:t>
            </a:r>
          </a:p>
          <a:p>
            <a:pPr lvl="1"/>
            <a:r>
              <a:rPr lang="en-US" altLang="zh-TW" dirty="0"/>
              <a:t>Large problems can often be divided into smaller ones, which are then solved concurrently ("</a:t>
            </a:r>
            <a:r>
              <a:rPr lang="en-US" altLang="zh-TW" i="1" dirty="0">
                <a:solidFill>
                  <a:srgbClr val="00B0F0"/>
                </a:solidFill>
              </a:rPr>
              <a:t>in parallel</a:t>
            </a:r>
            <a:r>
              <a:rPr lang="en-US" altLang="zh-TW" dirty="0"/>
              <a:t>")</a:t>
            </a:r>
          </a:p>
          <a:p>
            <a:endParaRPr lang="en-US" altLang="zh-TW" dirty="0"/>
          </a:p>
          <a:p>
            <a:r>
              <a:rPr lang="en-US" altLang="zh-TW" dirty="0"/>
              <a:t>Advantages</a:t>
            </a:r>
          </a:p>
          <a:p>
            <a:pPr lvl="1"/>
            <a:r>
              <a:rPr lang="en-US" altLang="zh-TW" dirty="0"/>
              <a:t>Cost efficient</a:t>
            </a:r>
          </a:p>
          <a:p>
            <a:pPr lvl="1"/>
            <a:r>
              <a:rPr lang="en-US" altLang="zh-TW" dirty="0"/>
              <a:t>High performance</a:t>
            </a:r>
          </a:p>
          <a:p>
            <a:pPr lvl="1"/>
            <a:r>
              <a:rPr lang="en-US" altLang="zh-TW" dirty="0"/>
              <a:t>Improve Utilization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Parallel Programming Models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Parallel programming model </a:t>
            </a:r>
          </a:p>
          <a:p>
            <a:pPr lvl="1"/>
            <a:r>
              <a:rPr lang="en-US" altLang="zh-TW" dirty="0"/>
              <a:t>A set of software technologies to express parallel algorithms and match applications with the underlying parallel systems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Flynn’s taxonomy</a:t>
            </a:r>
          </a:p>
          <a:p>
            <a:r>
              <a:rPr lang="en-US" altLang="zh-TW" dirty="0"/>
              <a:t>Shared-memory or Distributed-memory model</a:t>
            </a:r>
            <a:endParaRPr lang="zh-TW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Flynn's Taxonomy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60848"/>
          </a:xfrm>
        </p:spPr>
        <p:txBody>
          <a:bodyPr/>
          <a:lstStyle/>
          <a:p>
            <a:r>
              <a:rPr lang="en-US" altLang="zh-TW" dirty="0"/>
              <a:t>Programs and computers are classified by </a:t>
            </a:r>
          </a:p>
          <a:p>
            <a:pPr lvl="1"/>
            <a:r>
              <a:rPr lang="en-US" altLang="zh-TW" dirty="0"/>
              <a:t>whether they were operating using a single set or multiple sets of instructions</a:t>
            </a:r>
          </a:p>
          <a:p>
            <a:pPr lvl="1"/>
            <a:r>
              <a:rPr lang="en-US" altLang="zh-TW" dirty="0"/>
              <a:t>whether or not those instructions were using a single or multiple sets of data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79848" y="4029040"/>
          <a:ext cx="5784304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6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9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8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b="1" kern="1200" cap="none" spc="0" dirty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chemeClr val="bg2">
                            <a:tint val="85000"/>
                            <a:satMod val="155000"/>
                          </a:schemeClr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cap="none" spc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Single</a:t>
                      </a:r>
                      <a:br>
                        <a:rPr lang="en-US" altLang="zh-TW" sz="2400" b="1" cap="none" spc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</a:br>
                      <a:r>
                        <a:rPr lang="en-US" altLang="zh-TW" sz="2400" b="1" cap="none" spc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Instruction</a:t>
                      </a:r>
                      <a:endParaRPr lang="zh-TW" altLang="en-US" sz="2400" b="1" cap="none" spc="0" dirty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chemeClr val="bg2">
                            <a:tint val="85000"/>
                            <a:satMod val="155000"/>
                          </a:schemeClr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cap="none" spc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Multiple Instructions</a:t>
                      </a:r>
                      <a:endParaRPr lang="zh-TW" altLang="en-US" sz="2400" b="1" cap="none" spc="0" dirty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chemeClr val="bg2">
                            <a:tint val="85000"/>
                            <a:satMod val="155000"/>
                          </a:schemeClr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cap="none" spc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Single</a:t>
                      </a:r>
                      <a:br>
                        <a:rPr lang="en-US" altLang="zh-TW" sz="2400" b="1" kern="1200" cap="none" spc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</a:br>
                      <a:r>
                        <a:rPr lang="en-US" altLang="zh-TW" sz="2400" b="1" kern="1200" cap="none" spc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Data</a:t>
                      </a:r>
                      <a:endParaRPr lang="zh-TW" altLang="en-US" sz="2400" b="1" kern="1200" cap="none" spc="0" dirty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chemeClr val="bg2">
                            <a:tint val="85000"/>
                            <a:satMod val="155000"/>
                          </a:schemeClr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cap="none" spc="0" dirty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</a:rPr>
                        <a:t>SISD</a:t>
                      </a:r>
                      <a:endParaRPr lang="zh-TW" altLang="en-US" sz="24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cap="none" spc="0" dirty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</a:rPr>
                        <a:t>MISD</a:t>
                      </a:r>
                      <a:endParaRPr lang="zh-TW" altLang="en-US" sz="24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cap="none" spc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Multiple</a:t>
                      </a:r>
                      <a:br>
                        <a:rPr lang="en-US" altLang="zh-TW" sz="2400" b="1" kern="1200" cap="none" spc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</a:br>
                      <a:r>
                        <a:rPr lang="en-US" altLang="zh-TW" sz="2400" b="1" kern="1200" cap="none" spc="0" dirty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Data</a:t>
                      </a:r>
                      <a:endParaRPr lang="zh-TW" altLang="en-US" sz="2400" b="1" kern="1200" cap="none" spc="0" dirty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chemeClr val="bg2">
                            <a:tint val="85000"/>
                            <a:satMod val="155000"/>
                          </a:schemeClr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cap="none" spc="0" dirty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</a:rPr>
                        <a:t>SIMD</a:t>
                      </a:r>
                      <a:endParaRPr lang="zh-TW" altLang="en-US" sz="24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cap="none" spc="0" dirty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</a:rPr>
                        <a:t>MIMD</a:t>
                      </a:r>
                      <a:endParaRPr lang="zh-TW" altLang="en-US" sz="24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Basic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Shared memory model</a:t>
            </a:r>
          </a:p>
          <a:p>
            <a:pPr lvl="1"/>
            <a:r>
              <a:rPr lang="en-US" sz="2000" dirty="0"/>
              <a:t>Memory can be simultaneously accessed by multiple process with an intent to provide communication among them or avoid redundant copies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6627" y="3619467"/>
            <a:ext cx="8093973" cy="2247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Two Basic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Distributed memory model</a:t>
            </a:r>
          </a:p>
          <a:p>
            <a:pPr lvl="1"/>
            <a:r>
              <a:rPr lang="en-US" dirty="0"/>
              <a:t>A multiple-processor computer system in which each processor has its own private memory</a:t>
            </a:r>
          </a:p>
          <a:p>
            <a:pPr lvl="1"/>
            <a:r>
              <a:rPr lang="en-US" dirty="0"/>
              <a:t>Computational tasks can only operate on local data, and if remote data is required, the computational task must communicate with one or more remote processors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2804" y="3510544"/>
            <a:ext cx="7338392" cy="3271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Computer Collaboration in Cluster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How machines co-work in cluster?</a:t>
            </a:r>
          </a:p>
          <a:p>
            <a:pPr lvl="1"/>
            <a:r>
              <a:rPr lang="en-US" altLang="zh-TW" sz="2400" dirty="0"/>
              <a:t>Using MPI to inter-connect those stand-alone computers</a:t>
            </a:r>
          </a:p>
          <a:p>
            <a:endParaRPr lang="en-US" altLang="zh-TW" sz="2800" dirty="0"/>
          </a:p>
          <a:p>
            <a:r>
              <a:rPr lang="en-US" altLang="zh-TW" sz="2800" dirty="0"/>
              <a:t>Massage Passing Interface (MPI)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A specification that allows computers communicate with each other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Use Message Passing to do synchronization</a:t>
            </a:r>
            <a:br>
              <a:rPr lang="en-US" altLang="zh-TW" sz="2400" dirty="0">
                <a:ea typeface="新細明體" pitchFamily="18" charset="-120"/>
              </a:rPr>
            </a:br>
            <a:endParaRPr lang="en-US" altLang="zh-TW" sz="2400" dirty="0"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Massage Passing Interface (</a:t>
            </a:r>
            <a:r>
              <a:rPr lang="en-US" dirty="0"/>
              <a:t>MPI)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468760"/>
          </a:xfrm>
        </p:spPr>
        <p:txBody>
          <a:bodyPr>
            <a:normAutofit/>
          </a:bodyPr>
          <a:lstStyle/>
          <a:p>
            <a:r>
              <a:rPr lang="en-US" sz="2800" dirty="0"/>
              <a:t>Distributed memory programming model</a:t>
            </a:r>
          </a:p>
          <a:p>
            <a:r>
              <a:rPr lang="en-US" sz="2800" dirty="0"/>
              <a:t>Complete computers connected through an interconnection network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 l="21544" t="18507" r="12409" b="12839"/>
          <a:stretch>
            <a:fillRect/>
          </a:stretch>
        </p:blipFill>
        <p:spPr bwMode="auto">
          <a:xfrm>
            <a:off x="2231740" y="3265512"/>
            <a:ext cx="4680520" cy="3259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Massage Passing Interface (MPI)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14400"/>
          </a:xfrm>
        </p:spPr>
        <p:txBody>
          <a:bodyPr>
            <a:noAutofit/>
          </a:bodyPr>
          <a:lstStyle/>
          <a:p>
            <a:r>
              <a:rPr lang="en-US" sz="2800" dirty="0"/>
              <a:t>Single program with multiple data (SPMD)</a:t>
            </a:r>
          </a:p>
          <a:p>
            <a:pPr lvl="1"/>
            <a:r>
              <a:rPr lang="en-US" sz="2400" dirty="0"/>
              <a:t>Similar to SIMD (single instruction multiple data)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316288"/>
            <a:ext cx="7200900" cy="32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581400" y="2794556"/>
            <a:ext cx="19559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b="1" i="1" dirty="0">
                <a:solidFill>
                  <a:srgbClr val="CC0000"/>
                </a:solidFill>
              </a:rPr>
              <a:t>the same program</a:t>
            </a: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 flipH="1">
            <a:off x="2851150" y="3097213"/>
            <a:ext cx="649287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5586412" y="3097213"/>
            <a:ext cx="5762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Arrow Connector 70"/>
          <p:cNvCxnSpPr>
            <a:endCxn id="56" idx="3"/>
          </p:cNvCxnSpPr>
          <p:nvPr/>
        </p:nvCxnSpPr>
        <p:spPr>
          <a:xfrm rot="10800000" flipV="1">
            <a:off x="2997644" y="3962398"/>
            <a:ext cx="1421959" cy="7331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Massage Passing Interface (MPI)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399"/>
          </a:xfrm>
        </p:spPr>
        <p:txBody>
          <a:bodyPr>
            <a:normAutofit/>
          </a:bodyPr>
          <a:lstStyle/>
          <a:p>
            <a:r>
              <a:rPr lang="en-US" sz="2800" dirty="0"/>
              <a:t>Typical parallel execution flow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25558" y="1676400"/>
            <a:ext cx="647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3800" y="2416884"/>
            <a:ext cx="1447800" cy="381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accent3">
                    <a:lumMod val="50000"/>
                  </a:schemeClr>
                </a:solidFill>
              </a:rPr>
              <a:t>Initialization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67200" y="2035884"/>
            <a:ext cx="381000" cy="3048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62000" y="3102684"/>
            <a:ext cx="12954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b="1" i="1" dirty="0">
                <a:solidFill>
                  <a:schemeClr val="accent3">
                    <a:lumMod val="50000"/>
                  </a:schemeClr>
                </a:solidFill>
              </a:rPr>
              <a:t>Process 1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3102684"/>
            <a:ext cx="12954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b="1" i="1" dirty="0">
                <a:solidFill>
                  <a:schemeClr val="accent3">
                    <a:lumMod val="50000"/>
                  </a:schemeClr>
                </a:solidFill>
              </a:rPr>
              <a:t>Process 2</a:t>
            </a:r>
          </a:p>
        </p:txBody>
      </p:sp>
      <p:sp>
        <p:nvSpPr>
          <p:cNvPr id="10" name="Oval 9"/>
          <p:cNvSpPr/>
          <p:nvPr/>
        </p:nvSpPr>
        <p:spPr>
          <a:xfrm>
            <a:off x="3810000" y="3102684"/>
            <a:ext cx="12954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b="1" i="1" dirty="0">
                <a:solidFill>
                  <a:schemeClr val="accent3">
                    <a:lumMod val="50000"/>
                  </a:schemeClr>
                </a:solidFill>
              </a:rPr>
              <a:t>Process 3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3102684"/>
            <a:ext cx="12954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b="1" i="1" dirty="0">
                <a:solidFill>
                  <a:schemeClr val="accent3">
                    <a:lumMod val="50000"/>
                  </a:schemeClr>
                </a:solidFill>
              </a:rPr>
              <a:t>Process N</a:t>
            </a:r>
          </a:p>
        </p:txBody>
      </p:sp>
      <p:cxnSp>
        <p:nvCxnSpPr>
          <p:cNvPr id="15" name="Straight Arrow Connector 14"/>
          <p:cNvCxnSpPr>
            <a:stCxn id="6" idx="2"/>
            <a:endCxn id="8" idx="7"/>
          </p:cNvCxnSpPr>
          <p:nvPr/>
        </p:nvCxnSpPr>
        <p:spPr>
          <a:xfrm rot="5400000">
            <a:off x="2976820" y="1688758"/>
            <a:ext cx="371755" cy="25900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2"/>
            <a:endCxn id="9" idx="7"/>
          </p:cNvCxnSpPr>
          <p:nvPr/>
        </p:nvCxnSpPr>
        <p:spPr>
          <a:xfrm rot="5400000">
            <a:off x="3738820" y="2450758"/>
            <a:ext cx="371755" cy="10660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2"/>
            <a:endCxn id="10" idx="0"/>
          </p:cNvCxnSpPr>
          <p:nvPr/>
        </p:nvCxnSpPr>
        <p:spPr>
          <a:xfrm rot="5400000">
            <a:off x="4305300" y="2950284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" idx="2"/>
            <a:endCxn id="12" idx="1"/>
          </p:cNvCxnSpPr>
          <p:nvPr/>
        </p:nvCxnSpPr>
        <p:spPr>
          <a:xfrm rot="16200000" flipH="1">
            <a:off x="5566826" y="1688757"/>
            <a:ext cx="371755" cy="25900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6" idx="2"/>
          </p:cNvCxnSpPr>
          <p:nvPr/>
        </p:nvCxnSpPr>
        <p:spPr>
          <a:xfrm rot="16200000" flipH="1">
            <a:off x="4857750" y="2397834"/>
            <a:ext cx="381000" cy="1181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257800" y="3178884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▪  ▪  ▪  ▪  ▪  ▪  ▪</a:t>
            </a:r>
          </a:p>
        </p:txBody>
      </p:sp>
      <p:cxnSp>
        <p:nvCxnSpPr>
          <p:cNvPr id="33" name="Straight Arrow Connector 32"/>
          <p:cNvCxnSpPr>
            <a:stCxn id="8" idx="4"/>
          </p:cNvCxnSpPr>
          <p:nvPr/>
        </p:nvCxnSpPr>
        <p:spPr>
          <a:xfrm rot="5400000">
            <a:off x="462353" y="4496025"/>
            <a:ext cx="1883488" cy="1120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" idx="4"/>
          </p:cNvCxnSpPr>
          <p:nvPr/>
        </p:nvCxnSpPr>
        <p:spPr>
          <a:xfrm rot="5400000">
            <a:off x="1967529" y="4498713"/>
            <a:ext cx="1905000" cy="27342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0" idx="4"/>
          </p:cNvCxnSpPr>
          <p:nvPr/>
        </p:nvCxnSpPr>
        <p:spPr>
          <a:xfrm rot="5400000">
            <a:off x="3486150" y="4493334"/>
            <a:ext cx="1905000" cy="381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4"/>
          </p:cNvCxnSpPr>
          <p:nvPr/>
        </p:nvCxnSpPr>
        <p:spPr>
          <a:xfrm rot="5400000">
            <a:off x="6534150" y="4493334"/>
            <a:ext cx="1905000" cy="381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62000" y="5464884"/>
            <a:ext cx="7391400" cy="381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accent2">
                    <a:lumMod val="50000"/>
                  </a:schemeClr>
                </a:solidFill>
              </a:rPr>
              <a:t>Finalization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4267200" y="5943600"/>
            <a:ext cx="381000" cy="3048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339326" y="4648200"/>
            <a:ext cx="152400" cy="457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3907716" y="6248400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Complete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39326" y="3657600"/>
            <a:ext cx="152400" cy="457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373217" y="3645672"/>
            <a:ext cx="155712" cy="119667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434001" y="3646998"/>
            <a:ext cx="152400" cy="457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434001" y="4187687"/>
            <a:ext cx="152400" cy="457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/>
          <p:cNvCxnSpPr>
            <a:endCxn id="53" idx="0"/>
          </p:cNvCxnSpPr>
          <p:nvPr/>
        </p:nvCxnSpPr>
        <p:spPr>
          <a:xfrm rot="10800000" flipV="1">
            <a:off x="1415526" y="4419600"/>
            <a:ext cx="1480074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854519" y="4190999"/>
            <a:ext cx="143124" cy="100915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>
            <a:stCxn id="52" idx="3"/>
            <a:endCxn id="56" idx="0"/>
          </p:cNvCxnSpPr>
          <p:nvPr/>
        </p:nvCxnSpPr>
        <p:spPr>
          <a:xfrm>
            <a:off x="1491726" y="3886200"/>
            <a:ext cx="1434355" cy="304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58" idx="1"/>
          </p:cNvCxnSpPr>
          <p:nvPr/>
        </p:nvCxnSpPr>
        <p:spPr>
          <a:xfrm rot="10800000" flipV="1">
            <a:off x="6705601" y="3875598"/>
            <a:ext cx="728401" cy="1630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endCxn id="59" idx="1"/>
          </p:cNvCxnSpPr>
          <p:nvPr/>
        </p:nvCxnSpPr>
        <p:spPr>
          <a:xfrm>
            <a:off x="6705600" y="4267200"/>
            <a:ext cx="728401" cy="1490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461143" y="4035623"/>
            <a:ext cx="1358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>
                <a:solidFill>
                  <a:schemeClr val="accent2">
                    <a:lumMod val="50000"/>
                  </a:schemeClr>
                </a:solidFill>
              </a:rPr>
              <a:t>Communication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85143" y="4343400"/>
            <a:ext cx="1358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>
                <a:solidFill>
                  <a:schemeClr val="accent2">
                    <a:lumMod val="50000"/>
                  </a:schemeClr>
                </a:solidFill>
              </a:rPr>
              <a:t>Communication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62600" y="3994674"/>
            <a:ext cx="1358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>
                <a:solidFill>
                  <a:schemeClr val="accent2">
                    <a:lumMod val="50000"/>
                  </a:schemeClr>
                </a:solidFill>
              </a:rPr>
              <a:t>Communication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Cluster Applications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Cluster had become the mainstream computing system</a:t>
            </a:r>
            <a:endParaRPr lang="zh-TW" altLang="en-US" dirty="0"/>
          </a:p>
          <a:p>
            <a:endParaRPr lang="en-US" altLang="zh-TW" dirty="0"/>
          </a:p>
          <a:p>
            <a:r>
              <a:rPr lang="en-US" altLang="zh-TW" dirty="0"/>
              <a:t>Apply parallel program to</a:t>
            </a:r>
          </a:p>
          <a:p>
            <a:pPr lvl="1"/>
            <a:r>
              <a:rPr lang="en-US" altLang="zh-TW" dirty="0"/>
              <a:t>Computing intensive</a:t>
            </a:r>
          </a:p>
          <a:p>
            <a:pPr lvl="1"/>
            <a:r>
              <a:rPr lang="en-US" altLang="zh-TW" dirty="0"/>
              <a:t>Data intensive </a:t>
            </a:r>
          </a:p>
          <a:p>
            <a:pPr lvl="1"/>
            <a:r>
              <a:rPr lang="en-US" altLang="zh-TW" dirty="0"/>
              <a:t>Timing critical system</a:t>
            </a:r>
          </a:p>
          <a:p>
            <a:pPr lvl="1"/>
            <a:r>
              <a:rPr lang="en-US" altLang="zh-TW" dirty="0"/>
              <a:t>… any time you are pleased</a:t>
            </a:r>
          </a:p>
          <a:p>
            <a:endParaRPr lang="zh-TW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2636912"/>
            <a:ext cx="4619146" cy="4117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Distributed computing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Cluster Computing</a:t>
            </a:r>
          </a:p>
          <a:p>
            <a:r>
              <a:rPr lang="en-US" altLang="zh-TW" dirty="0"/>
              <a:t>Grid Computing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Cloud Computing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Demand for More Computing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507288" cy="5257800"/>
          </a:xfrm>
        </p:spPr>
        <p:txBody>
          <a:bodyPr>
            <a:normAutofit/>
          </a:bodyPr>
          <a:lstStyle/>
          <a:p>
            <a:r>
              <a:rPr lang="en-US" altLang="zh-TW" dirty="0"/>
              <a:t>The large-scale, computational-/data-intensive scientific applications require more resources</a:t>
            </a:r>
            <a:endParaRPr lang="en-US" dirty="0"/>
          </a:p>
          <a:p>
            <a:endParaRPr lang="en-US" dirty="0"/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Scientific application</a:t>
            </a:r>
          </a:p>
          <a:p>
            <a:pPr lvl="1"/>
            <a:r>
              <a:rPr lang="en-US" dirty="0"/>
              <a:t>Computer animation</a:t>
            </a:r>
          </a:p>
          <a:p>
            <a:pPr lvl="1"/>
            <a:r>
              <a:rPr lang="en-US" dirty="0"/>
              <a:t>Computer games</a:t>
            </a:r>
          </a:p>
          <a:p>
            <a:pPr lvl="1"/>
            <a:r>
              <a:rPr lang="en-US" dirty="0"/>
              <a:t>Image processing</a:t>
            </a:r>
          </a:p>
          <a:p>
            <a:pPr lvl="1"/>
            <a:r>
              <a:rPr lang="en-US" dirty="0"/>
              <a:t>Data mining</a:t>
            </a:r>
          </a:p>
          <a:p>
            <a:pPr lvl="1"/>
            <a:r>
              <a:rPr lang="en-US" dirty="0"/>
              <a:t>… etc</a:t>
            </a:r>
          </a:p>
        </p:txBody>
      </p:sp>
      <p:pic>
        <p:nvPicPr>
          <p:cNvPr id="23554" name="Picture 2" descr="http://www.uniclust.it/images/stories/fluid-dynamics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0796" y="3068960"/>
            <a:ext cx="1490803" cy="1490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556" name="Picture 4" descr="http://www.midnightkite.com/PlanetPovray/planets-5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11960" y="5157192"/>
            <a:ext cx="2496912" cy="15293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558" name="Picture 6" descr="http://www.ucar.edu/communications/newsreleases/2004/wrf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87536" y="4093524"/>
            <a:ext cx="1927763" cy="19277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Grid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853136"/>
          </a:xfrm>
        </p:spPr>
        <p:txBody>
          <a:bodyPr>
            <a:normAutofit/>
          </a:bodyPr>
          <a:lstStyle/>
          <a:p>
            <a:r>
              <a:rPr lang="en-US" altLang="zh-TW" dirty="0"/>
              <a:t>Grid computing</a:t>
            </a:r>
          </a:p>
          <a:p>
            <a:pPr lvl="1"/>
            <a:r>
              <a:rPr lang="en-US" altLang="zh-TW" dirty="0"/>
              <a:t>To coordinate resource sharing and problem solving in dynamic, multi-institutional virtual organization (VO)</a:t>
            </a:r>
          </a:p>
          <a:p>
            <a:endParaRPr lang="en-US" altLang="zh-TW" dirty="0"/>
          </a:p>
          <a:p>
            <a:r>
              <a:rPr lang="en-US" altLang="zh-TW" dirty="0"/>
              <a:t>Provide the generic approach for a general resource-sharing framework that address the VO requirement</a:t>
            </a:r>
          </a:p>
          <a:p>
            <a:r>
              <a:rPr lang="en-US" altLang="zh-TW" dirty="0"/>
              <a:t>Support the creation and use of computation- and data-enriched environments</a:t>
            </a:r>
          </a:p>
          <a:p>
            <a:r>
              <a:rPr lang="en-US" altLang="zh-TW" dirty="0"/>
              <a:t>Uses open standards and interfaces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Grid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Grid</a:t>
            </a:r>
          </a:p>
          <a:p>
            <a:pPr lvl="1"/>
            <a:r>
              <a:rPr lang="en-US" altLang="zh-TW" dirty="0"/>
              <a:t>An analogy with the electric power grid around 1910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In the mid-1990s, this term is coined to denote a proposed </a:t>
            </a:r>
            <a:r>
              <a:rPr lang="en-US" altLang="zh-TW" i="1" dirty="0">
                <a:solidFill>
                  <a:srgbClr val="00B0F0"/>
                </a:solidFill>
              </a:rPr>
              <a:t>distributed computing infrastructure </a:t>
            </a:r>
            <a:r>
              <a:rPr lang="en-US" altLang="zh-TW" dirty="0"/>
              <a:t>for advanced science and engineering</a:t>
            </a:r>
          </a:p>
          <a:p>
            <a:pPr lvl="1"/>
            <a:endParaRPr lang="en-US" altLang="zh-TW" dirty="0"/>
          </a:p>
        </p:txBody>
      </p:sp>
      <p:pic>
        <p:nvPicPr>
          <p:cNvPr id="9" name="Picture 2" descr="D:\Data\edu_NTHU\_myResearchNotes\cloud computing\_Course\slides\500px-Electricity_Grid_Schematic_English.svg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945292" y="1600200"/>
            <a:ext cx="3947188" cy="51866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Resource Collaboration in Grids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US" altLang="zh-TW" dirty="0"/>
              <a:t>Virtual Organization (VO)</a:t>
            </a:r>
          </a:p>
          <a:p>
            <a:pPr lvl="1"/>
            <a:r>
              <a:rPr lang="en-US" altLang="zh-TW" dirty="0"/>
              <a:t>A set of individuals and/or institutions defined by such sharing rules form</a:t>
            </a:r>
          </a:p>
          <a:p>
            <a:pPr lvl="2"/>
            <a:r>
              <a:rPr lang="en-US" altLang="zh-TW" dirty="0"/>
              <a:t>what is shared</a:t>
            </a:r>
          </a:p>
          <a:p>
            <a:pPr lvl="2"/>
            <a:r>
              <a:rPr lang="en-US" altLang="zh-TW" dirty="0"/>
              <a:t>who is allowed to share</a:t>
            </a:r>
          </a:p>
          <a:p>
            <a:pPr lvl="2"/>
            <a:r>
              <a:rPr lang="en-US" altLang="zh-TW" dirty="0"/>
              <a:t>the conditions under which sharing occurs</a:t>
            </a:r>
          </a:p>
          <a:p>
            <a:endParaRPr lang="en-US" altLang="zh-TW" dirty="0"/>
          </a:p>
          <a:p>
            <a:r>
              <a:rPr lang="en-US" altLang="zh-TW" dirty="0"/>
              <a:t>An actual organization can participate in one or more VOs by sharing some or all of its</a:t>
            </a:r>
            <a:r>
              <a:rPr lang="zh-TW" altLang="en-US" dirty="0"/>
              <a:t> </a:t>
            </a:r>
            <a:r>
              <a:rPr lang="en-US" altLang="zh-TW" dirty="0"/>
              <a:t>resources</a:t>
            </a:r>
            <a:endParaRPr lang="zh-TW" altLang="en-US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of VOs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686800" cy="1684784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Three actual organizations (the ovals) &amp; Two VOs (P, Q)</a:t>
            </a:r>
          </a:p>
          <a:p>
            <a:pPr lvl="1"/>
            <a:r>
              <a:rPr lang="en-US" altLang="zh-TW" dirty="0"/>
              <a:t>P:</a:t>
            </a:r>
            <a:r>
              <a:rPr lang="zh-TW" altLang="en-US" dirty="0"/>
              <a:t> </a:t>
            </a:r>
            <a:r>
              <a:rPr lang="en-US" altLang="zh-TW" dirty="0"/>
              <a:t>links participants in an</a:t>
            </a:r>
            <a:r>
              <a:rPr lang="zh-TW" altLang="en-US" dirty="0"/>
              <a:t> </a:t>
            </a:r>
            <a:r>
              <a:rPr lang="en-US" altLang="zh-TW" dirty="0"/>
              <a:t>aerospace design consortium</a:t>
            </a:r>
          </a:p>
          <a:p>
            <a:pPr lvl="1"/>
            <a:r>
              <a:rPr lang="en-US" altLang="zh-TW" dirty="0"/>
              <a:t>Q:</a:t>
            </a:r>
            <a:r>
              <a:rPr lang="zh-TW" altLang="en-US" dirty="0"/>
              <a:t> </a:t>
            </a:r>
            <a:r>
              <a:rPr lang="en-US" altLang="zh-TW" dirty="0"/>
              <a:t>links colleagues who have agreed to share spare computing</a:t>
            </a:r>
            <a:r>
              <a:rPr lang="zh-TW" altLang="en-US" dirty="0"/>
              <a:t> </a:t>
            </a:r>
            <a:r>
              <a:rPr lang="en-US" altLang="zh-TW" dirty="0"/>
              <a:t>to run ray tracing computations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7324" y="3212976"/>
            <a:ext cx="8249353" cy="350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Grid Environments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925144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Resources are heterogeneous </a:t>
            </a:r>
          </a:p>
          <a:p>
            <a:pPr lvl="1"/>
            <a:r>
              <a:rPr lang="en-US" altLang="zh-TW" dirty="0"/>
              <a:t>supercomputers, storage systems, data sources, and specialized devices owned by different administrative domains</a:t>
            </a:r>
          </a:p>
          <a:p>
            <a:endParaRPr lang="en-US" altLang="zh-TW" dirty="0"/>
          </a:p>
          <a:p>
            <a:r>
              <a:rPr lang="en-US" altLang="zh-TW" dirty="0"/>
              <a:t>Enables the sharing, selection, and aggregation of a wide variety of geographically distributed resources </a:t>
            </a:r>
          </a:p>
          <a:p>
            <a:endParaRPr lang="en-US" altLang="zh-TW" dirty="0"/>
          </a:p>
          <a:p>
            <a:r>
              <a:rPr lang="en-US" altLang="zh-TW" dirty="0"/>
              <a:t>To solve large scale resource-intensive problems in science, engineering, and commerce</a:t>
            </a:r>
          </a:p>
          <a:p>
            <a:endParaRPr lang="en-US" altLang="zh-TW" dirty="0"/>
          </a:p>
          <a:p>
            <a:r>
              <a:rPr lang="en-US" altLang="zh-TW" dirty="0"/>
              <a:t>Hailed as the next revolution after the Internet and the World Wide Web</a:t>
            </a:r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 idx="4294967295"/>
          </p:nvPr>
        </p:nvSpPr>
        <p:spPr>
          <a:xfrm>
            <a:off x="0" y="2420888"/>
            <a:ext cx="7772400" cy="1470025"/>
          </a:xfrm>
        </p:spPr>
        <p:txBody>
          <a:bodyPr>
            <a:normAutofit fontScale="90000"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dirty="0"/>
              <a:t>Taiwan </a:t>
            </a:r>
            <a:r>
              <a:rPr lang="en-US" altLang="zh-TW" dirty="0" err="1"/>
              <a:t>UniGrid</a:t>
            </a:r>
            <a:br>
              <a:rPr lang="en-US" altLang="zh-TW" dirty="0"/>
            </a:br>
            <a:r>
              <a:rPr lang="en-US" altLang="zh-TW" sz="2800" b="0" i="0" dirty="0">
                <a:solidFill>
                  <a:srgbClr val="1F497D">
                    <a:lumMod val="75000"/>
                  </a:srgbClr>
                </a:solidFill>
                <a:latin typeface="Cambria" pitchFamily="18" charset="0"/>
                <a:cs typeface="+mn-cs"/>
              </a:rPr>
              <a:t>A University Grid Platform in Taiwan</a:t>
            </a:r>
            <a:br>
              <a:rPr lang="en-US" altLang="zh-TW" sz="2800" b="0" i="0" dirty="0">
                <a:solidFill>
                  <a:srgbClr val="1F497D">
                    <a:lumMod val="75000"/>
                  </a:srgbClr>
                </a:solidFill>
                <a:latin typeface="Cambria" pitchFamily="18" charset="0"/>
                <a:cs typeface="+mn-cs"/>
              </a:rPr>
            </a:br>
            <a:endParaRPr lang="zh-TW" altLang="en-US" dirty="0"/>
          </a:p>
        </p:txBody>
      </p:sp>
      <p:pic>
        <p:nvPicPr>
          <p:cNvPr id="6" name="Picture 6" descr="C:\Documents and Settings\shedoh\桌面\PortalLogo_images\unigrid_logo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4509120"/>
            <a:ext cx="2557868" cy="1905612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5700257" y="6381328"/>
            <a:ext cx="29761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1F497D">
                    <a:lumMod val="75000"/>
                  </a:srgbClr>
                </a:solidFill>
                <a:latin typeface="Cambria" pitchFamily="18" charset="0"/>
              </a:rPr>
              <a:t>http://www.unigrid.org.tw/</a:t>
            </a:r>
            <a:endParaRPr lang="zh-TW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Taiwan </a:t>
            </a:r>
            <a:r>
              <a:rPr lang="en-US" altLang="zh-TW" dirty="0" err="1"/>
              <a:t>UniGrid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554960" cy="4525963"/>
          </a:xfrm>
        </p:spPr>
        <p:txBody>
          <a:bodyPr>
            <a:normAutofit fontScale="92500"/>
          </a:bodyPr>
          <a:lstStyle/>
          <a:p>
            <a:r>
              <a:rPr lang="en-US" altLang="zh-TW" dirty="0">
                <a:ea typeface="新細明體" pitchFamily="18" charset="-120"/>
              </a:rPr>
              <a:t>Motivation</a:t>
            </a:r>
          </a:p>
          <a:p>
            <a:pPr lvl="1"/>
            <a:r>
              <a:rPr lang="en-US" altLang="zh-TW" dirty="0"/>
              <a:t>Integrate computers from universities and research institutes in Taiwan to form a general purpose Grid platform for researchers in Taiwan to conduct Grid related research</a:t>
            </a:r>
          </a:p>
          <a:p>
            <a:endParaRPr lang="en-US" altLang="zh-TW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All participating institutes contribute some resources to collaborate for large scale applications</a:t>
            </a:r>
          </a:p>
          <a:p>
            <a:endParaRPr lang="zh-TW" altLang="en-US" dirty="0"/>
          </a:p>
        </p:txBody>
      </p:sp>
      <p:pic>
        <p:nvPicPr>
          <p:cNvPr id="5" name="Picture 9" descr="unigrid loc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940152" y="1628800"/>
            <a:ext cx="2657475" cy="48307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Basic System Architecture</a:t>
            </a:r>
            <a:endParaRPr lang="zh-TW" altLang="en-US" dirty="0"/>
          </a:p>
        </p:txBody>
      </p:sp>
      <p:grpSp>
        <p:nvGrpSpPr>
          <p:cNvPr id="10" name="內容版面配置區 9"/>
          <p:cNvGrpSpPr>
            <a:grpSpLocks noGrp="1"/>
          </p:cNvGrpSpPr>
          <p:nvPr/>
        </p:nvGrpSpPr>
        <p:grpSpPr>
          <a:xfrm>
            <a:off x="457200" y="1600200"/>
            <a:ext cx="8229600" cy="4525963"/>
            <a:chOff x="7281807" y="16832230"/>
            <a:chExt cx="11534856" cy="5143536"/>
          </a:xfrm>
        </p:grpSpPr>
        <p:sp>
          <p:nvSpPr>
            <p:cNvPr id="11" name="矩形 10"/>
            <p:cNvSpPr/>
            <p:nvPr/>
          </p:nvSpPr>
          <p:spPr>
            <a:xfrm>
              <a:off x="7281807" y="18618180"/>
              <a:ext cx="11534856" cy="107157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800" b="1" dirty="0">
                  <a:solidFill>
                    <a:srgbClr val="0000FF"/>
                  </a:solidFill>
                </a:rPr>
                <a:t>Middleware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  <p:grpSp>
          <p:nvGrpSpPr>
            <p:cNvPr id="12" name="群組 70"/>
            <p:cNvGrpSpPr/>
            <p:nvPr/>
          </p:nvGrpSpPr>
          <p:grpSpPr>
            <a:xfrm>
              <a:off x="7281807" y="19689750"/>
              <a:ext cx="3429024" cy="2286016"/>
              <a:chOff x="7281807" y="19689750"/>
              <a:chExt cx="3429024" cy="2286016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7281807" y="19689750"/>
                <a:ext cx="3429024" cy="123349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sz="2400" dirty="0"/>
                  <a:t>Machine/Cluster</a:t>
                </a:r>
                <a:endParaRPr lang="zh-TW" altLang="en-US" sz="2400" dirty="0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7281807" y="20923244"/>
                <a:ext cx="1857388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Computing</a:t>
                </a:r>
                <a:endParaRPr lang="zh-TW" altLang="en-US" sz="2400" dirty="0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9139195" y="20923244"/>
                <a:ext cx="1571636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Storage</a:t>
                </a:r>
                <a:endParaRPr lang="zh-TW" altLang="en-US" sz="2400" dirty="0"/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7281807" y="17689486"/>
              <a:ext cx="11534856" cy="92869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800" b="1" dirty="0">
                  <a:solidFill>
                    <a:srgbClr val="0000FF"/>
                  </a:solidFill>
                </a:rPr>
                <a:t>Services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281807" y="16832230"/>
              <a:ext cx="11534856" cy="8572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800" b="1" dirty="0">
                  <a:solidFill>
                    <a:srgbClr val="0000FF"/>
                  </a:solidFill>
                </a:rPr>
                <a:t>User Interface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  <p:grpSp>
          <p:nvGrpSpPr>
            <p:cNvPr id="15" name="群組 68"/>
            <p:cNvGrpSpPr/>
            <p:nvPr/>
          </p:nvGrpSpPr>
          <p:grpSpPr>
            <a:xfrm>
              <a:off x="15383670" y="19689750"/>
              <a:ext cx="3429025" cy="2286016"/>
              <a:chOff x="15383670" y="19689750"/>
              <a:chExt cx="3429025" cy="2286016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5383670" y="19689750"/>
                <a:ext cx="3429024" cy="123349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sz="2400" dirty="0"/>
                  <a:t>Machine/Cluster</a:t>
                </a:r>
                <a:endParaRPr lang="zh-TW" altLang="en-US" sz="2400" dirty="0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5383670" y="20923244"/>
                <a:ext cx="1857388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Computing</a:t>
                </a:r>
                <a:endParaRPr lang="zh-TW" altLang="en-US" sz="2400" dirty="0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7241059" y="20923244"/>
                <a:ext cx="1571636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Storage</a:t>
                </a:r>
                <a:endParaRPr lang="zh-TW" altLang="en-US" sz="2400" dirty="0"/>
              </a:p>
            </p:txBody>
          </p:sp>
        </p:grpSp>
        <p:grpSp>
          <p:nvGrpSpPr>
            <p:cNvPr id="16" name="群組 69"/>
            <p:cNvGrpSpPr/>
            <p:nvPr/>
          </p:nvGrpSpPr>
          <p:grpSpPr>
            <a:xfrm>
              <a:off x="11332738" y="19689750"/>
              <a:ext cx="3429024" cy="2286016"/>
              <a:chOff x="11332738" y="19689750"/>
              <a:chExt cx="3429024" cy="2286016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1332738" y="19689750"/>
                <a:ext cx="3429024" cy="123349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sz="2400" dirty="0"/>
                  <a:t>Machine/Cluster</a:t>
                </a:r>
                <a:endParaRPr lang="zh-TW" altLang="en-US" sz="2400" dirty="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1332738" y="20923244"/>
                <a:ext cx="1857388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Computing</a:t>
                </a:r>
                <a:endParaRPr lang="zh-TW" altLang="en-US" sz="2400" dirty="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3190126" y="20923244"/>
                <a:ext cx="1571636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Storage</a:t>
                </a:r>
                <a:endParaRPr lang="zh-TW" altLang="en-US" sz="2400" dirty="0"/>
              </a:p>
            </p:txBody>
          </p:sp>
        </p:grp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UniGrid</a:t>
            </a:r>
            <a:r>
              <a:rPr lang="en-US" altLang="zh-TW" dirty="0"/>
              <a:t> System Architecture</a:t>
            </a:r>
            <a:endParaRPr lang="zh-TW" altLang="en-US" dirty="0"/>
          </a:p>
        </p:txBody>
      </p:sp>
      <p:grpSp>
        <p:nvGrpSpPr>
          <p:cNvPr id="6" name="內容版面配置區 5"/>
          <p:cNvGrpSpPr>
            <a:grpSpLocks noGrp="1"/>
          </p:cNvGrpSpPr>
          <p:nvPr/>
        </p:nvGrpSpPr>
        <p:grpSpPr>
          <a:xfrm>
            <a:off x="457200" y="1600200"/>
            <a:ext cx="8229600" cy="5069160"/>
            <a:chOff x="17211689" y="8974050"/>
            <a:chExt cx="12644526" cy="8215370"/>
          </a:xfrm>
        </p:grpSpPr>
        <p:sp>
          <p:nvSpPr>
            <p:cNvPr id="7" name="圓角矩形 6"/>
            <p:cNvSpPr/>
            <p:nvPr/>
          </p:nvSpPr>
          <p:spPr>
            <a:xfrm>
              <a:off x="17211689" y="8974050"/>
              <a:ext cx="12644526" cy="1389257"/>
            </a:xfrm>
            <a:prstGeom prst="roundRect">
              <a:avLst>
                <a:gd name="adj" fmla="val 8818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TW" sz="2000" b="1" dirty="0"/>
                <a:t>Portal</a:t>
              </a: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17211689" y="11121006"/>
              <a:ext cx="3816001" cy="3620436"/>
            </a:xfrm>
            <a:prstGeom prst="roundRect">
              <a:avLst>
                <a:gd name="adj" fmla="val 8818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TW" sz="2000" b="1" dirty="0"/>
                <a:t>Storage Service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17497441" y="9274096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Data Management</a:t>
              </a:r>
              <a:endParaRPr lang="zh-TW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26330463" y="9274096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Workflow</a:t>
              </a:r>
              <a:br>
                <a:rPr lang="en-US" altLang="zh-TW" dirty="0"/>
              </a:br>
              <a:r>
                <a:rPr lang="en-US" altLang="zh-TW" dirty="0"/>
                <a:t>Management</a:t>
              </a:r>
              <a:endParaRPr lang="zh-TW" altLang="en-US" dirty="0"/>
            </a:p>
          </p:txBody>
        </p:sp>
        <p:sp>
          <p:nvSpPr>
            <p:cNvPr id="12" name="圓角矩形 11"/>
            <p:cNvSpPr/>
            <p:nvPr/>
          </p:nvSpPr>
          <p:spPr>
            <a:xfrm>
              <a:off x="21625952" y="11121006"/>
              <a:ext cx="3816001" cy="3620436"/>
            </a:xfrm>
            <a:prstGeom prst="roundRect">
              <a:avLst>
                <a:gd name="adj" fmla="val 8818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TW" sz="2000" b="1" dirty="0"/>
                <a:t>Information Service</a:t>
              </a:r>
            </a:p>
          </p:txBody>
        </p:sp>
        <p:sp>
          <p:nvSpPr>
            <p:cNvPr id="13" name="圓角矩形 12"/>
            <p:cNvSpPr/>
            <p:nvPr/>
          </p:nvSpPr>
          <p:spPr>
            <a:xfrm>
              <a:off x="26040214" y="11121006"/>
              <a:ext cx="3816001" cy="3620436"/>
            </a:xfrm>
            <a:prstGeom prst="roundRect">
              <a:avLst>
                <a:gd name="adj" fmla="val 8818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TW" sz="2000" b="1" dirty="0"/>
                <a:t>Computing Service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6330463" y="13574776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Resource Broker</a:t>
              </a:r>
              <a:endParaRPr lang="zh-TW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26330463" y="12217454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Global Queue</a:t>
              </a:r>
              <a:endParaRPr lang="zh-TW" altLang="en-US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21926597" y="13574776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Visualization Tool</a:t>
              </a:r>
              <a:endParaRPr lang="zh-TW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21926597" y="12217454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Information Monitor</a:t>
              </a:r>
              <a:endParaRPr lang="zh-TW" altLang="en-US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17497441" y="13574776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Replica Service</a:t>
              </a:r>
              <a:endParaRPr lang="zh-TW" altLang="en-US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17497441" y="12217454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Virtual Storage Service</a:t>
              </a:r>
              <a:endParaRPr lang="zh-TW" altLang="en-US" dirty="0"/>
            </a:p>
          </p:txBody>
        </p:sp>
        <p:sp>
          <p:nvSpPr>
            <p:cNvPr id="20" name="圓角矩形 19"/>
            <p:cNvSpPr/>
            <p:nvPr/>
          </p:nvSpPr>
          <p:spPr>
            <a:xfrm>
              <a:off x="17211689" y="15555616"/>
              <a:ext cx="12644526" cy="1633804"/>
            </a:xfrm>
            <a:prstGeom prst="roundRect">
              <a:avLst>
                <a:gd name="adj" fmla="val 881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TW" sz="2000" b="1" dirty="0" err="1"/>
                <a:t>UniGrid</a:t>
              </a:r>
              <a:r>
                <a:rPr lang="en-US" altLang="zh-TW" sz="2000" b="1" dirty="0"/>
                <a:t> Middleware</a:t>
              </a:r>
            </a:p>
          </p:txBody>
        </p:sp>
        <p:sp>
          <p:nvSpPr>
            <p:cNvPr id="21" name="矩形 20"/>
            <p:cNvSpPr/>
            <p:nvPr/>
          </p:nvSpPr>
          <p:spPr>
            <a:xfrm>
              <a:off x="21926596" y="16172720"/>
              <a:ext cx="3240000" cy="899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/>
                <a:t>Unibox</a:t>
              </a:r>
              <a:endParaRPr lang="zh-TW" altLang="en-US" dirty="0"/>
            </a:p>
          </p:txBody>
        </p:sp>
        <p:cxnSp>
          <p:nvCxnSpPr>
            <p:cNvPr id="22" name="直線單箭頭接點 21"/>
            <p:cNvCxnSpPr>
              <a:stCxn id="10" idx="3"/>
              <a:endCxn id="11" idx="1"/>
            </p:cNvCxnSpPr>
            <p:nvPr/>
          </p:nvCxnSpPr>
          <p:spPr>
            <a:xfrm>
              <a:off x="20737441" y="9724096"/>
              <a:ext cx="5593022" cy="1588"/>
            </a:xfrm>
            <a:prstGeom prst="straightConnector1">
              <a:avLst/>
            </a:prstGeom>
            <a:ln>
              <a:prstDash val="dash"/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12" idx="0"/>
              <a:endCxn id="7" idx="2"/>
            </p:cNvCxnSpPr>
            <p:nvPr/>
          </p:nvCxnSpPr>
          <p:spPr>
            <a:xfrm rot="16200000" flipV="1">
              <a:off x="23155104" y="10742154"/>
              <a:ext cx="757699" cy="2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13" idx="0"/>
            </p:cNvCxnSpPr>
            <p:nvPr/>
          </p:nvCxnSpPr>
          <p:spPr>
            <a:xfrm rot="5400000" flipH="1" flipV="1">
              <a:off x="27603744" y="10765275"/>
              <a:ext cx="700202" cy="1125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stCxn id="9" idx="0"/>
            </p:cNvCxnSpPr>
            <p:nvPr/>
          </p:nvCxnSpPr>
          <p:spPr>
            <a:xfrm rot="16200000" flipV="1">
              <a:off x="18763960" y="10765274"/>
              <a:ext cx="700202" cy="11261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12" idx="3"/>
              <a:endCxn id="13" idx="1"/>
            </p:cNvCxnSpPr>
            <p:nvPr/>
          </p:nvCxnSpPr>
          <p:spPr>
            <a:xfrm>
              <a:off x="25441953" y="12931225"/>
              <a:ext cx="598261" cy="2574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>
              <a:stCxn id="9" idx="3"/>
              <a:endCxn id="12" idx="1"/>
            </p:cNvCxnSpPr>
            <p:nvPr/>
          </p:nvCxnSpPr>
          <p:spPr>
            <a:xfrm>
              <a:off x="21027690" y="12931225"/>
              <a:ext cx="598263" cy="2574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單箭頭接點 27"/>
            <p:cNvCxnSpPr>
              <a:stCxn id="20" idx="0"/>
              <a:endCxn id="12" idx="2"/>
            </p:cNvCxnSpPr>
            <p:nvPr/>
          </p:nvCxnSpPr>
          <p:spPr>
            <a:xfrm rot="5400000" flipH="1" flipV="1">
              <a:off x="23126866" y="15148530"/>
              <a:ext cx="814174" cy="2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>
              <a:stCxn id="9" idx="2"/>
            </p:cNvCxnSpPr>
            <p:nvPr/>
          </p:nvCxnSpPr>
          <p:spPr>
            <a:xfrm rot="5400000">
              <a:off x="18706974" y="15142899"/>
              <a:ext cx="814174" cy="11261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單箭頭接點 29"/>
            <p:cNvCxnSpPr>
              <a:stCxn id="13" idx="2"/>
            </p:cNvCxnSpPr>
            <p:nvPr/>
          </p:nvCxnSpPr>
          <p:spPr>
            <a:xfrm rot="16200000" flipH="1">
              <a:off x="27546759" y="15142899"/>
              <a:ext cx="814174" cy="1125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Major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Portal &amp; Single-Sign-On</a:t>
            </a:r>
          </a:p>
          <a:p>
            <a:pPr lvl="1"/>
            <a:r>
              <a:rPr lang="en-US" altLang="zh-TW" dirty="0"/>
              <a:t>Provide an interface for legal users to use available resources and services in the </a:t>
            </a:r>
            <a:r>
              <a:rPr lang="en-US" altLang="zh-TW" dirty="0" err="1"/>
              <a:t>UniGrid</a:t>
            </a:r>
            <a:r>
              <a:rPr lang="en-US" altLang="zh-TW" dirty="0"/>
              <a:t> system</a:t>
            </a:r>
          </a:p>
          <a:p>
            <a:r>
              <a:rPr lang="en-US" altLang="zh-TW" dirty="0"/>
              <a:t>Computing service</a:t>
            </a:r>
          </a:p>
          <a:p>
            <a:pPr lvl="1"/>
            <a:r>
              <a:rPr lang="en-US" altLang="zh-TW" dirty="0"/>
              <a:t>Deal with the job execution process including the automatically scheduling  and management policy</a:t>
            </a:r>
          </a:p>
          <a:p>
            <a:r>
              <a:rPr lang="en-US" altLang="zh-TW" dirty="0"/>
              <a:t>Storage service</a:t>
            </a:r>
          </a:p>
          <a:p>
            <a:pPr lvl="1"/>
            <a:r>
              <a:rPr lang="en-US" altLang="zh-TW" dirty="0"/>
              <a:t>Provide a collaborative storage space for </a:t>
            </a:r>
            <a:r>
              <a:rPr lang="en-US" altLang="zh-TW" dirty="0" err="1"/>
              <a:t>UniGrid</a:t>
            </a:r>
            <a:r>
              <a:rPr lang="en-US" altLang="zh-TW" dirty="0"/>
              <a:t> users to share their files</a:t>
            </a:r>
          </a:p>
          <a:p>
            <a:r>
              <a:rPr lang="en-US" altLang="zh-TW" dirty="0"/>
              <a:t>Information service</a:t>
            </a:r>
          </a:p>
          <a:p>
            <a:pPr lvl="1"/>
            <a:r>
              <a:rPr lang="en-US" altLang="zh-TW" dirty="0"/>
              <a:t>Monitor and provide the information of resource status</a:t>
            </a:r>
            <a:endParaRPr lang="zh-TW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36712"/>
            <a:ext cx="7533419" cy="562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zh-TW" dirty="0"/>
              <a:t>Screenshot</a:t>
            </a:r>
            <a:endParaRPr lang="zh-TW" altLang="en-US" dirty="0"/>
          </a:p>
        </p:txBody>
      </p:sp>
      <p:pic>
        <p:nvPicPr>
          <p:cNvPr id="11" name="Picture 6" descr="Figure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385598" y="836712"/>
            <a:ext cx="3650897" cy="56166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919061" y="1340768"/>
            <a:ext cx="7305879" cy="5479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altLang="zh-TW" dirty="0"/>
              <a:t>Computing Paradigm Evolution</a:t>
            </a:r>
            <a:endParaRPr lang="zh-TW" altLang="en-US" dirty="0"/>
          </a:p>
        </p:txBody>
      </p:sp>
      <p:grpSp>
        <p:nvGrpSpPr>
          <p:cNvPr id="495" name="群組 494"/>
          <p:cNvGrpSpPr/>
          <p:nvPr/>
        </p:nvGrpSpPr>
        <p:grpSpPr>
          <a:xfrm>
            <a:off x="500609" y="1218456"/>
            <a:ext cx="8142783" cy="5497278"/>
            <a:chOff x="683568" y="1218456"/>
            <a:chExt cx="8142783" cy="5497278"/>
          </a:xfrm>
        </p:grpSpPr>
        <p:pic>
          <p:nvPicPr>
            <p:cNvPr id="1507" name="Picture 2" descr="E:\CLIP_ART\BUSINESS\BUILDING\OFCBLD03.WM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68369" y="2554163"/>
              <a:ext cx="1013990" cy="802790"/>
            </a:xfrm>
            <a:prstGeom prst="rect">
              <a:avLst/>
            </a:prstGeom>
            <a:noFill/>
          </p:spPr>
        </p:pic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464297" y="4630342"/>
              <a:ext cx="1474654" cy="961335"/>
              <a:chOff x="913" y="2523"/>
              <a:chExt cx="1083" cy="743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1150" y="3092"/>
                <a:ext cx="666" cy="126"/>
                <a:chOff x="1150" y="3092"/>
                <a:chExt cx="666" cy="126"/>
              </a:xfrm>
            </p:grpSpPr>
            <p:grpSp>
              <p:nvGrpSpPr>
                <p:cNvPr id="5" name="Group 5"/>
                <p:cNvGrpSpPr>
                  <a:grpSpLocks/>
                </p:cNvGrpSpPr>
                <p:nvPr/>
              </p:nvGrpSpPr>
              <p:grpSpPr bwMode="auto">
                <a:xfrm>
                  <a:off x="1150" y="3092"/>
                  <a:ext cx="666" cy="126"/>
                  <a:chOff x="1150" y="3092"/>
                  <a:chExt cx="666" cy="126"/>
                </a:xfrm>
              </p:grpSpPr>
              <p:sp>
                <p:nvSpPr>
                  <p:cNvPr id="2004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1154" y="3200"/>
                    <a:ext cx="656" cy="18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5" name="Freeform 7"/>
                  <p:cNvSpPr>
                    <a:spLocks/>
                  </p:cNvSpPr>
                  <p:nvPr/>
                </p:nvSpPr>
                <p:spPr bwMode="auto">
                  <a:xfrm>
                    <a:off x="1150" y="3092"/>
                    <a:ext cx="666" cy="107"/>
                  </a:xfrm>
                  <a:custGeom>
                    <a:avLst/>
                    <a:gdLst/>
                    <a:ahLst/>
                    <a:cxnLst>
                      <a:cxn ang="0">
                        <a:pos x="0" y="106"/>
                      </a:cxn>
                      <a:cxn ang="0">
                        <a:pos x="665" y="106"/>
                      </a:cxn>
                      <a:cxn ang="0">
                        <a:pos x="626" y="1"/>
                      </a:cxn>
                      <a:cxn ang="0">
                        <a:pos x="49" y="0"/>
                      </a:cxn>
                      <a:cxn ang="0">
                        <a:pos x="0" y="106"/>
                      </a:cxn>
                    </a:cxnLst>
                    <a:rect l="0" t="0" r="r" b="b"/>
                    <a:pathLst>
                      <a:path w="666" h="107">
                        <a:moveTo>
                          <a:pt x="0" y="106"/>
                        </a:moveTo>
                        <a:lnTo>
                          <a:pt x="665" y="106"/>
                        </a:lnTo>
                        <a:lnTo>
                          <a:pt x="626" y="1"/>
                        </a:lnTo>
                        <a:lnTo>
                          <a:pt x="49" y="0"/>
                        </a:lnTo>
                        <a:lnTo>
                          <a:pt x="0" y="106"/>
                        </a:lnTo>
                      </a:path>
                    </a:pathLst>
                  </a:custGeom>
                  <a:solidFill>
                    <a:srgbClr val="C0C0C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6" name="Freeform 8"/>
                  <p:cNvSpPr>
                    <a:spLocks/>
                  </p:cNvSpPr>
                  <p:nvPr/>
                </p:nvSpPr>
                <p:spPr bwMode="auto">
                  <a:xfrm>
                    <a:off x="1170" y="3104"/>
                    <a:ext cx="623" cy="81"/>
                  </a:xfrm>
                  <a:custGeom>
                    <a:avLst/>
                    <a:gdLst/>
                    <a:ahLst/>
                    <a:cxnLst>
                      <a:cxn ang="0">
                        <a:pos x="35" y="0"/>
                      </a:cxn>
                      <a:cxn ang="0">
                        <a:pos x="0" y="80"/>
                      </a:cxn>
                      <a:cxn ang="0">
                        <a:pos x="622" y="80"/>
                      </a:cxn>
                      <a:cxn ang="0">
                        <a:pos x="593" y="0"/>
                      </a:cxn>
                    </a:cxnLst>
                    <a:rect l="0" t="0" r="r" b="b"/>
                    <a:pathLst>
                      <a:path w="623" h="81">
                        <a:moveTo>
                          <a:pt x="35" y="0"/>
                        </a:moveTo>
                        <a:lnTo>
                          <a:pt x="0" y="80"/>
                        </a:lnTo>
                        <a:lnTo>
                          <a:pt x="622" y="80"/>
                        </a:lnTo>
                        <a:lnTo>
                          <a:pt x="593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6" name="Group 9"/>
                <p:cNvGrpSpPr>
                  <a:grpSpLocks/>
                </p:cNvGrpSpPr>
                <p:nvPr/>
              </p:nvGrpSpPr>
              <p:grpSpPr bwMode="auto">
                <a:xfrm>
                  <a:off x="1222" y="3102"/>
                  <a:ext cx="525" cy="25"/>
                  <a:chOff x="1222" y="3102"/>
                  <a:chExt cx="525" cy="25"/>
                </a:xfrm>
              </p:grpSpPr>
              <p:sp>
                <p:nvSpPr>
                  <p:cNvPr id="1998" name="Freeform 10"/>
                  <p:cNvSpPr>
                    <a:spLocks/>
                  </p:cNvSpPr>
                  <p:nvPr/>
                </p:nvSpPr>
                <p:spPr bwMode="auto">
                  <a:xfrm>
                    <a:off x="1222" y="3102"/>
                    <a:ext cx="23" cy="17"/>
                  </a:xfrm>
                  <a:custGeom>
                    <a:avLst/>
                    <a:gdLst/>
                    <a:ahLst/>
                    <a:cxnLst>
                      <a:cxn ang="0">
                        <a:pos x="6" y="0"/>
                      </a:cxn>
                      <a:cxn ang="0">
                        <a:pos x="22" y="0"/>
                      </a:cxn>
                      <a:cxn ang="0">
                        <a:pos x="17" y="16"/>
                      </a:cxn>
                      <a:cxn ang="0">
                        <a:pos x="0" y="16"/>
                      </a:cxn>
                      <a:cxn ang="0">
                        <a:pos x="6" y="0"/>
                      </a:cxn>
                    </a:cxnLst>
                    <a:rect l="0" t="0" r="r" b="b"/>
                    <a:pathLst>
                      <a:path w="23" h="17">
                        <a:moveTo>
                          <a:pt x="6" y="0"/>
                        </a:moveTo>
                        <a:lnTo>
                          <a:pt x="22" y="0"/>
                        </a:lnTo>
                        <a:lnTo>
                          <a:pt x="17" y="16"/>
                        </a:lnTo>
                        <a:lnTo>
                          <a:pt x="0" y="16"/>
                        </a:lnTo>
                        <a:lnTo>
                          <a:pt x="6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1999" name="Freeform 11"/>
                  <p:cNvSpPr>
                    <a:spLocks/>
                  </p:cNvSpPr>
                  <p:nvPr/>
                </p:nvSpPr>
                <p:spPr bwMode="auto">
                  <a:xfrm>
                    <a:off x="1274" y="3102"/>
                    <a:ext cx="83" cy="15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82" y="0"/>
                      </a:cxn>
                      <a:cxn ang="0">
                        <a:pos x="79" y="14"/>
                      </a:cxn>
                      <a:cxn ang="0">
                        <a:pos x="0" y="14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83" h="15">
                        <a:moveTo>
                          <a:pt x="4" y="0"/>
                        </a:moveTo>
                        <a:lnTo>
                          <a:pt x="82" y="0"/>
                        </a:lnTo>
                        <a:lnTo>
                          <a:pt x="79" y="14"/>
                        </a:lnTo>
                        <a:lnTo>
                          <a:pt x="0" y="14"/>
                        </a:lnTo>
                        <a:lnTo>
                          <a:pt x="4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0" name="Freeform 12"/>
                  <p:cNvSpPr>
                    <a:spLocks/>
                  </p:cNvSpPr>
                  <p:nvPr/>
                </p:nvSpPr>
                <p:spPr bwMode="auto">
                  <a:xfrm>
                    <a:off x="1379" y="3102"/>
                    <a:ext cx="80" cy="17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79" y="0"/>
                      </a:cxn>
                      <a:cxn ang="0">
                        <a:pos x="78" y="16"/>
                      </a:cxn>
                      <a:cxn ang="0">
                        <a:pos x="0" y="16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80" h="17">
                        <a:moveTo>
                          <a:pt x="3" y="0"/>
                        </a:moveTo>
                        <a:lnTo>
                          <a:pt x="79" y="0"/>
                        </a:lnTo>
                        <a:lnTo>
                          <a:pt x="78" y="16"/>
                        </a:lnTo>
                        <a:lnTo>
                          <a:pt x="0" y="16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1" name="Freeform 13"/>
                  <p:cNvSpPr>
                    <a:spLocks/>
                  </p:cNvSpPr>
                  <p:nvPr/>
                </p:nvSpPr>
                <p:spPr bwMode="auto">
                  <a:xfrm>
                    <a:off x="1474" y="3102"/>
                    <a:ext cx="82" cy="17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81" y="0"/>
                      </a:cxn>
                      <a:cxn ang="0">
                        <a:pos x="81" y="16"/>
                      </a:cxn>
                      <a:cxn ang="0">
                        <a:pos x="0" y="16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82" h="17">
                        <a:moveTo>
                          <a:pt x="1" y="0"/>
                        </a:moveTo>
                        <a:lnTo>
                          <a:pt x="81" y="0"/>
                        </a:lnTo>
                        <a:lnTo>
                          <a:pt x="81" y="16"/>
                        </a:lnTo>
                        <a:lnTo>
                          <a:pt x="0" y="16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2" name="Freeform 14"/>
                  <p:cNvSpPr>
                    <a:spLocks/>
                  </p:cNvSpPr>
                  <p:nvPr/>
                </p:nvSpPr>
                <p:spPr bwMode="auto">
                  <a:xfrm>
                    <a:off x="1571" y="3102"/>
                    <a:ext cx="71" cy="1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68" y="0"/>
                      </a:cxn>
                      <a:cxn ang="0">
                        <a:pos x="70" y="17"/>
                      </a:cxn>
                      <a:cxn ang="0">
                        <a:pos x="0" y="1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71" h="18">
                        <a:moveTo>
                          <a:pt x="0" y="0"/>
                        </a:moveTo>
                        <a:lnTo>
                          <a:pt x="68" y="0"/>
                        </a:lnTo>
                        <a:lnTo>
                          <a:pt x="70" y="17"/>
                        </a:lnTo>
                        <a:lnTo>
                          <a:pt x="0" y="1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3" name="Freeform 15"/>
                  <p:cNvSpPr>
                    <a:spLocks/>
                  </p:cNvSpPr>
                  <p:nvPr/>
                </p:nvSpPr>
                <p:spPr bwMode="auto">
                  <a:xfrm>
                    <a:off x="1660" y="3112"/>
                    <a:ext cx="87" cy="1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78" y="0"/>
                      </a:cxn>
                      <a:cxn ang="0">
                        <a:pos x="86" y="14"/>
                      </a:cxn>
                      <a:cxn ang="0">
                        <a:pos x="4" y="14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87" h="15">
                        <a:moveTo>
                          <a:pt x="0" y="0"/>
                        </a:moveTo>
                        <a:lnTo>
                          <a:pt x="78" y="0"/>
                        </a:lnTo>
                        <a:lnTo>
                          <a:pt x="86" y="14"/>
                        </a:lnTo>
                        <a:lnTo>
                          <a:pt x="4" y="14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7" name="Group 16"/>
                <p:cNvGrpSpPr>
                  <a:grpSpLocks/>
                </p:cNvGrpSpPr>
                <p:nvPr/>
              </p:nvGrpSpPr>
              <p:grpSpPr bwMode="auto">
                <a:xfrm>
                  <a:off x="1206" y="3130"/>
                  <a:ext cx="543" cy="42"/>
                  <a:chOff x="1206" y="3130"/>
                  <a:chExt cx="543" cy="42"/>
                </a:xfrm>
              </p:grpSpPr>
              <p:grpSp>
                <p:nvGrpSpPr>
                  <p:cNvPr id="8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1254" y="3132"/>
                    <a:ext cx="265" cy="36"/>
                    <a:chOff x="1254" y="3132"/>
                    <a:chExt cx="265" cy="36"/>
                  </a:xfrm>
                </p:grpSpPr>
                <p:sp>
                  <p:nvSpPr>
                    <p:cNvPr id="1994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54" y="3132"/>
                      <a:ext cx="250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5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65" y="3144"/>
                      <a:ext cx="254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6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68" y="3156"/>
                      <a:ext cx="220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7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73" y="3168"/>
                      <a:ext cx="23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  <p:grpSp>
                <p:nvGrpSpPr>
                  <p:cNvPr id="9" name="Group 22"/>
                  <p:cNvGrpSpPr>
                    <a:grpSpLocks/>
                  </p:cNvGrpSpPr>
                  <p:nvPr/>
                </p:nvGrpSpPr>
                <p:grpSpPr bwMode="auto">
                  <a:xfrm>
                    <a:off x="1206" y="3137"/>
                    <a:ext cx="38" cy="24"/>
                    <a:chOff x="1206" y="3137"/>
                    <a:chExt cx="38" cy="24"/>
                  </a:xfrm>
                </p:grpSpPr>
                <p:sp>
                  <p:nvSpPr>
                    <p:cNvPr id="1991" name="Line 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18" y="3137"/>
                      <a:ext cx="1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2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13" y="3150"/>
                      <a:ext cx="17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3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06" y="3161"/>
                      <a:ext cx="3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  <p:grpSp>
                <p:nvGrpSpPr>
                  <p:cNvPr id="10" name="Group 26"/>
                  <p:cNvGrpSpPr>
                    <a:grpSpLocks/>
                  </p:cNvGrpSpPr>
                  <p:nvPr/>
                </p:nvGrpSpPr>
                <p:grpSpPr bwMode="auto">
                  <a:xfrm>
                    <a:off x="1312" y="3130"/>
                    <a:ext cx="241" cy="39"/>
                    <a:chOff x="1312" y="3130"/>
                    <a:chExt cx="241" cy="39"/>
                  </a:xfrm>
                </p:grpSpPr>
                <p:sp>
                  <p:nvSpPr>
                    <p:cNvPr id="198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12" y="3168"/>
                      <a:ext cx="14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6" name="Line 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24" y="3130"/>
                      <a:ext cx="29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7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4" y="3144"/>
                      <a:ext cx="19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8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14" y="3157"/>
                      <a:ext cx="39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9" name="Line 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74" y="3168"/>
                      <a:ext cx="17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0" name="Line 3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07" y="3169"/>
                      <a:ext cx="45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  <p:grpSp>
                <p:nvGrpSpPr>
                  <p:cNvPr id="11" name="Group 33"/>
                  <p:cNvGrpSpPr>
                    <a:grpSpLocks/>
                  </p:cNvGrpSpPr>
                  <p:nvPr/>
                </p:nvGrpSpPr>
                <p:grpSpPr bwMode="auto">
                  <a:xfrm>
                    <a:off x="1575" y="3137"/>
                    <a:ext cx="69" cy="33"/>
                    <a:chOff x="1575" y="3137"/>
                    <a:chExt cx="69" cy="33"/>
                  </a:xfrm>
                </p:grpSpPr>
                <p:sp>
                  <p:nvSpPr>
                    <p:cNvPr id="1982" name="Line 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75" y="3137"/>
                      <a:ext cx="65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3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85" y="3153"/>
                      <a:ext cx="57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4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86" y="3170"/>
                      <a:ext cx="5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  <p:grpSp>
                <p:nvGrpSpPr>
                  <p:cNvPr id="12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1665" y="3137"/>
                    <a:ext cx="84" cy="35"/>
                    <a:chOff x="1665" y="3137"/>
                    <a:chExt cx="84" cy="35"/>
                  </a:xfrm>
                </p:grpSpPr>
                <p:sp>
                  <p:nvSpPr>
                    <p:cNvPr id="1976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72" y="3137"/>
                      <a:ext cx="62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77" name="Line 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65" y="3151"/>
                      <a:ext cx="49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78" name="Line 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72" y="3161"/>
                      <a:ext cx="45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79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69" y="3172"/>
                      <a:ext cx="5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0" name="Line 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34" y="3151"/>
                      <a:ext cx="11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1" name="Line 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40" y="3167"/>
                      <a:ext cx="9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</p:grpSp>
          </p:grpSp>
          <p:grpSp>
            <p:nvGrpSpPr>
              <p:cNvPr id="13" name="Group 44"/>
              <p:cNvGrpSpPr>
                <a:grpSpLocks/>
              </p:cNvGrpSpPr>
              <p:nvPr/>
            </p:nvGrpSpPr>
            <p:grpSpPr bwMode="auto">
              <a:xfrm>
                <a:off x="1820" y="3161"/>
                <a:ext cx="176" cy="105"/>
                <a:chOff x="1820" y="3161"/>
                <a:chExt cx="176" cy="105"/>
              </a:xfrm>
            </p:grpSpPr>
            <p:sp>
              <p:nvSpPr>
                <p:cNvPr id="1957" name="Freeform 45"/>
                <p:cNvSpPr>
                  <a:spLocks/>
                </p:cNvSpPr>
                <p:nvPr/>
              </p:nvSpPr>
              <p:spPr bwMode="auto">
                <a:xfrm>
                  <a:off x="1820" y="3161"/>
                  <a:ext cx="176" cy="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3" y="3"/>
                    </a:cxn>
                    <a:cxn ang="0">
                      <a:pos x="57" y="5"/>
                    </a:cxn>
                    <a:cxn ang="0">
                      <a:pos x="78" y="8"/>
                    </a:cxn>
                    <a:cxn ang="0">
                      <a:pos x="100" y="13"/>
                    </a:cxn>
                    <a:cxn ang="0">
                      <a:pos x="115" y="16"/>
                    </a:cxn>
                    <a:cxn ang="0">
                      <a:pos x="134" y="21"/>
                    </a:cxn>
                    <a:cxn ang="0">
                      <a:pos x="144" y="24"/>
                    </a:cxn>
                    <a:cxn ang="0">
                      <a:pos x="152" y="26"/>
                    </a:cxn>
                    <a:cxn ang="0">
                      <a:pos x="156" y="28"/>
                    </a:cxn>
                    <a:cxn ang="0">
                      <a:pos x="160" y="29"/>
                    </a:cxn>
                    <a:cxn ang="0">
                      <a:pos x="164" y="31"/>
                    </a:cxn>
                    <a:cxn ang="0">
                      <a:pos x="169" y="34"/>
                    </a:cxn>
                    <a:cxn ang="0">
                      <a:pos x="173" y="37"/>
                    </a:cxn>
                    <a:cxn ang="0">
                      <a:pos x="175" y="41"/>
                    </a:cxn>
                    <a:cxn ang="0">
                      <a:pos x="175" y="44"/>
                    </a:cxn>
                    <a:cxn ang="0">
                      <a:pos x="174" y="48"/>
                    </a:cxn>
                    <a:cxn ang="0">
                      <a:pos x="173" y="53"/>
                    </a:cxn>
                    <a:cxn ang="0">
                      <a:pos x="171" y="57"/>
                    </a:cxn>
                    <a:cxn ang="0">
                      <a:pos x="168" y="60"/>
                    </a:cxn>
                    <a:cxn ang="0">
                      <a:pos x="164" y="64"/>
                    </a:cxn>
                    <a:cxn ang="0">
                      <a:pos x="160" y="66"/>
                    </a:cxn>
                    <a:cxn ang="0">
                      <a:pos x="155" y="67"/>
                    </a:cxn>
                    <a:cxn ang="0">
                      <a:pos x="150" y="69"/>
                    </a:cxn>
                    <a:cxn ang="0">
                      <a:pos x="143" y="69"/>
                    </a:cxn>
                    <a:cxn ang="0">
                      <a:pos x="137" y="68"/>
                    </a:cxn>
                    <a:cxn ang="0">
                      <a:pos x="127" y="66"/>
                    </a:cxn>
                  </a:cxnLst>
                  <a:rect l="0" t="0" r="r" b="b"/>
                  <a:pathLst>
                    <a:path w="176" h="70">
                      <a:moveTo>
                        <a:pt x="0" y="0"/>
                      </a:moveTo>
                      <a:lnTo>
                        <a:pt x="33" y="3"/>
                      </a:lnTo>
                      <a:lnTo>
                        <a:pt x="57" y="5"/>
                      </a:lnTo>
                      <a:lnTo>
                        <a:pt x="78" y="8"/>
                      </a:lnTo>
                      <a:lnTo>
                        <a:pt x="100" y="13"/>
                      </a:lnTo>
                      <a:lnTo>
                        <a:pt x="115" y="16"/>
                      </a:lnTo>
                      <a:lnTo>
                        <a:pt x="134" y="21"/>
                      </a:lnTo>
                      <a:lnTo>
                        <a:pt x="144" y="24"/>
                      </a:lnTo>
                      <a:lnTo>
                        <a:pt x="152" y="26"/>
                      </a:lnTo>
                      <a:lnTo>
                        <a:pt x="156" y="28"/>
                      </a:lnTo>
                      <a:lnTo>
                        <a:pt x="160" y="29"/>
                      </a:lnTo>
                      <a:lnTo>
                        <a:pt x="164" y="31"/>
                      </a:lnTo>
                      <a:lnTo>
                        <a:pt x="169" y="34"/>
                      </a:lnTo>
                      <a:lnTo>
                        <a:pt x="173" y="37"/>
                      </a:lnTo>
                      <a:lnTo>
                        <a:pt x="175" y="41"/>
                      </a:lnTo>
                      <a:lnTo>
                        <a:pt x="175" y="44"/>
                      </a:lnTo>
                      <a:lnTo>
                        <a:pt x="174" y="48"/>
                      </a:lnTo>
                      <a:lnTo>
                        <a:pt x="173" y="53"/>
                      </a:lnTo>
                      <a:lnTo>
                        <a:pt x="171" y="57"/>
                      </a:lnTo>
                      <a:lnTo>
                        <a:pt x="168" y="60"/>
                      </a:lnTo>
                      <a:lnTo>
                        <a:pt x="164" y="64"/>
                      </a:lnTo>
                      <a:lnTo>
                        <a:pt x="160" y="66"/>
                      </a:lnTo>
                      <a:lnTo>
                        <a:pt x="155" y="67"/>
                      </a:lnTo>
                      <a:lnTo>
                        <a:pt x="150" y="69"/>
                      </a:lnTo>
                      <a:lnTo>
                        <a:pt x="143" y="69"/>
                      </a:lnTo>
                      <a:lnTo>
                        <a:pt x="137" y="68"/>
                      </a:lnTo>
                      <a:lnTo>
                        <a:pt x="127" y="66"/>
                      </a:lnTo>
                    </a:path>
                  </a:pathLst>
                </a:custGeom>
                <a:noFill/>
                <a:ln w="25400" cap="rnd" cmpd="sng">
                  <a:solidFill>
                    <a:srgbClr val="C0C0C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4" name="Group 46"/>
                <p:cNvGrpSpPr>
                  <a:grpSpLocks/>
                </p:cNvGrpSpPr>
                <p:nvPr/>
              </p:nvGrpSpPr>
              <p:grpSpPr bwMode="auto">
                <a:xfrm>
                  <a:off x="1828" y="3196"/>
                  <a:ext cx="122" cy="70"/>
                  <a:chOff x="1828" y="3196"/>
                  <a:chExt cx="122" cy="70"/>
                </a:xfrm>
              </p:grpSpPr>
              <p:grpSp>
                <p:nvGrpSpPr>
                  <p:cNvPr id="15" name="Group 47"/>
                  <p:cNvGrpSpPr>
                    <a:grpSpLocks/>
                  </p:cNvGrpSpPr>
                  <p:nvPr/>
                </p:nvGrpSpPr>
                <p:grpSpPr bwMode="auto">
                  <a:xfrm>
                    <a:off x="1828" y="3196"/>
                    <a:ext cx="122" cy="70"/>
                    <a:chOff x="1828" y="3196"/>
                    <a:chExt cx="122" cy="70"/>
                  </a:xfrm>
                </p:grpSpPr>
                <p:sp>
                  <p:nvSpPr>
                    <p:cNvPr id="1964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1828" y="3196"/>
                      <a:ext cx="75" cy="4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6"/>
                        </a:cxn>
                        <a:cxn ang="0">
                          <a:pos x="19" y="0"/>
                        </a:cxn>
                        <a:cxn ang="0">
                          <a:pos x="74" y="14"/>
                        </a:cxn>
                        <a:cxn ang="0">
                          <a:pos x="52" y="43"/>
                        </a:cxn>
                        <a:cxn ang="0">
                          <a:pos x="0" y="26"/>
                        </a:cxn>
                      </a:cxnLst>
                      <a:rect l="0" t="0" r="r" b="b"/>
                      <a:pathLst>
                        <a:path w="75" h="44">
                          <a:moveTo>
                            <a:pt x="0" y="26"/>
                          </a:moveTo>
                          <a:lnTo>
                            <a:pt x="19" y="0"/>
                          </a:lnTo>
                          <a:lnTo>
                            <a:pt x="74" y="14"/>
                          </a:lnTo>
                          <a:lnTo>
                            <a:pt x="52" y="43"/>
                          </a:lnTo>
                          <a:lnTo>
                            <a:pt x="0" y="26"/>
                          </a:lnTo>
                        </a:path>
                      </a:pathLst>
                    </a:custGeom>
                    <a:solidFill>
                      <a:srgbClr val="E0E0E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65" name="Freeform 49"/>
                    <p:cNvSpPr>
                      <a:spLocks/>
                    </p:cNvSpPr>
                    <p:nvPr/>
                  </p:nvSpPr>
                  <p:spPr bwMode="auto">
                    <a:xfrm>
                      <a:off x="1828" y="3223"/>
                      <a:ext cx="53" cy="4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23"/>
                        </a:cxn>
                        <a:cxn ang="0">
                          <a:pos x="1" y="23"/>
                        </a:cxn>
                        <a:cxn ang="0">
                          <a:pos x="52" y="42"/>
                        </a:cxn>
                        <a:cxn ang="0">
                          <a:pos x="52" y="18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53" h="43">
                          <a:moveTo>
                            <a:pt x="0" y="0"/>
                          </a:moveTo>
                          <a:lnTo>
                            <a:pt x="0" y="23"/>
                          </a:lnTo>
                          <a:lnTo>
                            <a:pt x="1" y="23"/>
                          </a:lnTo>
                          <a:lnTo>
                            <a:pt x="52" y="42"/>
                          </a:lnTo>
                          <a:lnTo>
                            <a:pt x="52" y="1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66" name="Freeform 50"/>
                    <p:cNvSpPr>
                      <a:spLocks/>
                    </p:cNvSpPr>
                    <p:nvPr/>
                  </p:nvSpPr>
                  <p:spPr bwMode="auto">
                    <a:xfrm>
                      <a:off x="1882" y="3212"/>
                      <a:ext cx="68" cy="5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9"/>
                        </a:cxn>
                        <a:cxn ang="0">
                          <a:pos x="21" y="0"/>
                        </a:cxn>
                        <a:cxn ang="0">
                          <a:pos x="67" y="8"/>
                        </a:cxn>
                        <a:cxn ang="0">
                          <a:pos x="67" y="29"/>
                        </a:cxn>
                        <a:cxn ang="0">
                          <a:pos x="0" y="53"/>
                        </a:cxn>
                        <a:cxn ang="0">
                          <a:pos x="0" y="29"/>
                        </a:cxn>
                      </a:cxnLst>
                      <a:rect l="0" t="0" r="r" b="b"/>
                      <a:pathLst>
                        <a:path w="68" h="54">
                          <a:moveTo>
                            <a:pt x="0" y="29"/>
                          </a:moveTo>
                          <a:lnTo>
                            <a:pt x="21" y="0"/>
                          </a:lnTo>
                          <a:lnTo>
                            <a:pt x="67" y="8"/>
                          </a:lnTo>
                          <a:lnTo>
                            <a:pt x="67" y="29"/>
                          </a:lnTo>
                          <a:lnTo>
                            <a:pt x="0" y="53"/>
                          </a:lnTo>
                          <a:lnTo>
                            <a:pt x="0" y="29"/>
                          </a:lnTo>
                        </a:path>
                      </a:pathLst>
                    </a:custGeom>
                    <a:solidFill>
                      <a:srgbClr val="A0A0A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67" name="Freeform 51"/>
                    <p:cNvSpPr>
                      <a:spLocks/>
                    </p:cNvSpPr>
                    <p:nvPr/>
                  </p:nvSpPr>
                  <p:spPr bwMode="auto">
                    <a:xfrm>
                      <a:off x="1848" y="3196"/>
                      <a:ext cx="102" cy="2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51" y="5"/>
                        </a:cxn>
                        <a:cxn ang="0">
                          <a:pos x="101" y="21"/>
                        </a:cxn>
                        <a:cxn ang="0">
                          <a:pos x="55" y="14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02" h="22">
                          <a:moveTo>
                            <a:pt x="0" y="0"/>
                          </a:moveTo>
                          <a:lnTo>
                            <a:pt x="51" y="5"/>
                          </a:lnTo>
                          <a:lnTo>
                            <a:pt x="101" y="21"/>
                          </a:lnTo>
                          <a:lnTo>
                            <a:pt x="55" y="14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80808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grpSp>
                <p:nvGrpSpPr>
                  <p:cNvPr id="16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1832" y="3214"/>
                    <a:ext cx="113" cy="37"/>
                    <a:chOff x="1832" y="3214"/>
                    <a:chExt cx="113" cy="37"/>
                  </a:xfrm>
                </p:grpSpPr>
                <p:sp>
                  <p:nvSpPr>
                    <p:cNvPr id="1961" name="Line 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32" y="3233"/>
                      <a:ext cx="46" cy="1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80808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62" name="Line 5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887" y="3214"/>
                      <a:ext cx="13" cy="37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60606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63" name="Line 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09" y="3218"/>
                      <a:ext cx="36" cy="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60606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</p:grpSp>
          </p:grpSp>
          <p:grpSp>
            <p:nvGrpSpPr>
              <p:cNvPr id="17" name="Group 56"/>
              <p:cNvGrpSpPr>
                <a:grpSpLocks/>
              </p:cNvGrpSpPr>
              <p:nvPr/>
            </p:nvGrpSpPr>
            <p:grpSpPr bwMode="auto">
              <a:xfrm>
                <a:off x="1303" y="3027"/>
                <a:ext cx="353" cy="61"/>
                <a:chOff x="1303" y="3027"/>
                <a:chExt cx="353" cy="61"/>
              </a:xfrm>
            </p:grpSpPr>
            <p:sp>
              <p:nvSpPr>
                <p:cNvPr id="1955" name="Freeform 57"/>
                <p:cNvSpPr>
                  <a:spLocks/>
                </p:cNvSpPr>
                <p:nvPr/>
              </p:nvSpPr>
              <p:spPr bwMode="auto">
                <a:xfrm>
                  <a:off x="1303" y="3027"/>
                  <a:ext cx="353" cy="34"/>
                </a:xfrm>
                <a:custGeom>
                  <a:avLst/>
                  <a:gdLst/>
                  <a:ahLst/>
                  <a:cxnLst>
                    <a:cxn ang="0">
                      <a:pos x="0" y="33"/>
                    </a:cxn>
                    <a:cxn ang="0">
                      <a:pos x="352" y="33"/>
                    </a:cxn>
                    <a:cxn ang="0">
                      <a:pos x="332" y="0"/>
                    </a:cxn>
                    <a:cxn ang="0">
                      <a:pos x="21" y="0"/>
                    </a:cxn>
                    <a:cxn ang="0">
                      <a:pos x="0" y="33"/>
                    </a:cxn>
                  </a:cxnLst>
                  <a:rect l="0" t="0" r="r" b="b"/>
                  <a:pathLst>
                    <a:path w="353" h="34">
                      <a:moveTo>
                        <a:pt x="0" y="33"/>
                      </a:moveTo>
                      <a:lnTo>
                        <a:pt x="352" y="33"/>
                      </a:lnTo>
                      <a:lnTo>
                        <a:pt x="332" y="0"/>
                      </a:lnTo>
                      <a:lnTo>
                        <a:pt x="21" y="0"/>
                      </a:lnTo>
                      <a:lnTo>
                        <a:pt x="0" y="33"/>
                      </a:lnTo>
                    </a:path>
                  </a:pathLst>
                </a:custGeom>
                <a:solidFill>
                  <a:srgbClr val="C0C0C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956" name="Rectangle 58"/>
                <p:cNvSpPr>
                  <a:spLocks noChangeArrowheads="1"/>
                </p:cNvSpPr>
                <p:nvPr/>
              </p:nvSpPr>
              <p:spPr bwMode="auto">
                <a:xfrm>
                  <a:off x="1306" y="3063"/>
                  <a:ext cx="345" cy="25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930" name="Freeform 59"/>
              <p:cNvSpPr>
                <a:spLocks/>
              </p:cNvSpPr>
              <p:nvPr/>
            </p:nvSpPr>
            <p:spPr bwMode="auto">
              <a:xfrm>
                <a:off x="1385" y="2998"/>
                <a:ext cx="189" cy="63"/>
              </a:xfrm>
              <a:custGeom>
                <a:avLst/>
                <a:gdLst/>
                <a:ahLst/>
                <a:cxnLst>
                  <a:cxn ang="0">
                    <a:pos x="0" y="35"/>
                  </a:cxn>
                  <a:cxn ang="0">
                    <a:pos x="0" y="0"/>
                  </a:cxn>
                  <a:cxn ang="0">
                    <a:pos x="188" y="0"/>
                  </a:cxn>
                  <a:cxn ang="0">
                    <a:pos x="188" y="36"/>
                  </a:cxn>
                  <a:cxn ang="0">
                    <a:pos x="187" y="39"/>
                  </a:cxn>
                  <a:cxn ang="0">
                    <a:pos x="185" y="42"/>
                  </a:cxn>
                  <a:cxn ang="0">
                    <a:pos x="182" y="45"/>
                  </a:cxn>
                  <a:cxn ang="0">
                    <a:pos x="178" y="47"/>
                  </a:cxn>
                  <a:cxn ang="0">
                    <a:pos x="172" y="50"/>
                  </a:cxn>
                  <a:cxn ang="0">
                    <a:pos x="167" y="52"/>
                  </a:cxn>
                  <a:cxn ang="0">
                    <a:pos x="161" y="54"/>
                  </a:cxn>
                  <a:cxn ang="0">
                    <a:pos x="154" y="56"/>
                  </a:cxn>
                  <a:cxn ang="0">
                    <a:pos x="148" y="57"/>
                  </a:cxn>
                  <a:cxn ang="0">
                    <a:pos x="138" y="59"/>
                  </a:cxn>
                  <a:cxn ang="0">
                    <a:pos x="130" y="60"/>
                  </a:cxn>
                  <a:cxn ang="0">
                    <a:pos x="122" y="61"/>
                  </a:cxn>
                  <a:cxn ang="0">
                    <a:pos x="113" y="62"/>
                  </a:cxn>
                  <a:cxn ang="0">
                    <a:pos x="102" y="62"/>
                  </a:cxn>
                  <a:cxn ang="0">
                    <a:pos x="89" y="62"/>
                  </a:cxn>
                  <a:cxn ang="0">
                    <a:pos x="77" y="62"/>
                  </a:cxn>
                  <a:cxn ang="0">
                    <a:pos x="66" y="61"/>
                  </a:cxn>
                  <a:cxn ang="0">
                    <a:pos x="55" y="60"/>
                  </a:cxn>
                  <a:cxn ang="0">
                    <a:pos x="46" y="59"/>
                  </a:cxn>
                  <a:cxn ang="0">
                    <a:pos x="39" y="57"/>
                  </a:cxn>
                  <a:cxn ang="0">
                    <a:pos x="31" y="55"/>
                  </a:cxn>
                  <a:cxn ang="0">
                    <a:pos x="24" y="53"/>
                  </a:cxn>
                  <a:cxn ang="0">
                    <a:pos x="17" y="51"/>
                  </a:cxn>
                  <a:cxn ang="0">
                    <a:pos x="12" y="48"/>
                  </a:cxn>
                  <a:cxn ang="0">
                    <a:pos x="8" y="46"/>
                  </a:cxn>
                  <a:cxn ang="0">
                    <a:pos x="5" y="43"/>
                  </a:cxn>
                  <a:cxn ang="0">
                    <a:pos x="3" y="41"/>
                  </a:cxn>
                  <a:cxn ang="0">
                    <a:pos x="1" y="38"/>
                  </a:cxn>
                  <a:cxn ang="0">
                    <a:pos x="0" y="35"/>
                  </a:cxn>
                </a:cxnLst>
                <a:rect l="0" t="0" r="r" b="b"/>
                <a:pathLst>
                  <a:path w="189" h="63">
                    <a:moveTo>
                      <a:pt x="0" y="35"/>
                    </a:moveTo>
                    <a:lnTo>
                      <a:pt x="0" y="0"/>
                    </a:lnTo>
                    <a:lnTo>
                      <a:pt x="188" y="0"/>
                    </a:lnTo>
                    <a:lnTo>
                      <a:pt x="188" y="36"/>
                    </a:lnTo>
                    <a:lnTo>
                      <a:pt x="187" y="39"/>
                    </a:lnTo>
                    <a:lnTo>
                      <a:pt x="185" y="42"/>
                    </a:lnTo>
                    <a:lnTo>
                      <a:pt x="182" y="45"/>
                    </a:lnTo>
                    <a:lnTo>
                      <a:pt x="178" y="47"/>
                    </a:lnTo>
                    <a:lnTo>
                      <a:pt x="172" y="50"/>
                    </a:lnTo>
                    <a:lnTo>
                      <a:pt x="167" y="52"/>
                    </a:lnTo>
                    <a:lnTo>
                      <a:pt x="161" y="54"/>
                    </a:lnTo>
                    <a:lnTo>
                      <a:pt x="154" y="56"/>
                    </a:lnTo>
                    <a:lnTo>
                      <a:pt x="148" y="57"/>
                    </a:lnTo>
                    <a:lnTo>
                      <a:pt x="138" y="59"/>
                    </a:lnTo>
                    <a:lnTo>
                      <a:pt x="130" y="60"/>
                    </a:lnTo>
                    <a:lnTo>
                      <a:pt x="122" y="61"/>
                    </a:lnTo>
                    <a:lnTo>
                      <a:pt x="113" y="62"/>
                    </a:lnTo>
                    <a:lnTo>
                      <a:pt x="102" y="62"/>
                    </a:lnTo>
                    <a:lnTo>
                      <a:pt x="89" y="62"/>
                    </a:lnTo>
                    <a:lnTo>
                      <a:pt x="77" y="62"/>
                    </a:lnTo>
                    <a:lnTo>
                      <a:pt x="66" y="61"/>
                    </a:lnTo>
                    <a:lnTo>
                      <a:pt x="55" y="60"/>
                    </a:lnTo>
                    <a:lnTo>
                      <a:pt x="46" y="59"/>
                    </a:lnTo>
                    <a:lnTo>
                      <a:pt x="39" y="57"/>
                    </a:lnTo>
                    <a:lnTo>
                      <a:pt x="31" y="55"/>
                    </a:lnTo>
                    <a:lnTo>
                      <a:pt x="24" y="53"/>
                    </a:lnTo>
                    <a:lnTo>
                      <a:pt x="17" y="51"/>
                    </a:lnTo>
                    <a:lnTo>
                      <a:pt x="12" y="48"/>
                    </a:lnTo>
                    <a:lnTo>
                      <a:pt x="8" y="46"/>
                    </a:lnTo>
                    <a:lnTo>
                      <a:pt x="5" y="43"/>
                    </a:lnTo>
                    <a:lnTo>
                      <a:pt x="3" y="41"/>
                    </a:lnTo>
                    <a:lnTo>
                      <a:pt x="1" y="38"/>
                    </a:lnTo>
                    <a:lnTo>
                      <a:pt x="0" y="35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31" name="AutoShape 60"/>
              <p:cNvSpPr>
                <a:spLocks noChangeArrowheads="1"/>
              </p:cNvSpPr>
              <p:nvPr/>
            </p:nvSpPr>
            <p:spPr bwMode="auto">
              <a:xfrm>
                <a:off x="1263" y="2523"/>
                <a:ext cx="430" cy="483"/>
              </a:xfrm>
              <a:prstGeom prst="roundRect">
                <a:avLst>
                  <a:gd name="adj" fmla="val 2120"/>
                </a:avLst>
              </a:prstGeom>
              <a:solidFill>
                <a:srgbClr val="C0C0C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932" name="AutoShape 61"/>
              <p:cNvSpPr>
                <a:spLocks noChangeArrowheads="1"/>
              </p:cNvSpPr>
              <p:nvPr/>
            </p:nvSpPr>
            <p:spPr bwMode="auto">
              <a:xfrm>
                <a:off x="1293" y="2561"/>
                <a:ext cx="377" cy="401"/>
              </a:xfrm>
              <a:prstGeom prst="roundRect">
                <a:avLst>
                  <a:gd name="adj" fmla="val 16667"/>
                </a:avLst>
              </a:prstGeom>
              <a:solidFill>
                <a:srgbClr val="80808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933" name="Rectangle 62"/>
              <p:cNvSpPr>
                <a:spLocks noChangeArrowheads="1"/>
              </p:cNvSpPr>
              <p:nvPr/>
            </p:nvSpPr>
            <p:spPr bwMode="auto">
              <a:xfrm>
                <a:off x="1302" y="2987"/>
                <a:ext cx="39" cy="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934" name="Rectangle 63"/>
              <p:cNvSpPr>
                <a:spLocks noChangeArrowheads="1"/>
              </p:cNvSpPr>
              <p:nvPr/>
            </p:nvSpPr>
            <p:spPr bwMode="auto">
              <a:xfrm>
                <a:off x="962" y="2613"/>
                <a:ext cx="121" cy="1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18" name="Group 64"/>
              <p:cNvGrpSpPr>
                <a:grpSpLocks/>
              </p:cNvGrpSpPr>
              <p:nvPr/>
            </p:nvGrpSpPr>
            <p:grpSpPr bwMode="auto">
              <a:xfrm>
                <a:off x="913" y="2576"/>
                <a:ext cx="176" cy="662"/>
                <a:chOff x="913" y="2576"/>
                <a:chExt cx="176" cy="662"/>
              </a:xfrm>
            </p:grpSpPr>
            <p:sp>
              <p:nvSpPr>
                <p:cNvPr id="1953" name="Rectangle 65"/>
                <p:cNvSpPr>
                  <a:spLocks noChangeArrowheads="1"/>
                </p:cNvSpPr>
                <p:nvPr/>
              </p:nvSpPr>
              <p:spPr bwMode="auto">
                <a:xfrm>
                  <a:off x="959" y="2577"/>
                  <a:ext cx="130" cy="655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54" name="Freeform 66"/>
                <p:cNvSpPr>
                  <a:spLocks/>
                </p:cNvSpPr>
                <p:nvPr/>
              </p:nvSpPr>
              <p:spPr bwMode="auto">
                <a:xfrm>
                  <a:off x="913" y="2576"/>
                  <a:ext cx="43" cy="662"/>
                </a:xfrm>
                <a:custGeom>
                  <a:avLst/>
                  <a:gdLst/>
                  <a:ahLst/>
                  <a:cxnLst>
                    <a:cxn ang="0">
                      <a:pos x="42" y="0"/>
                    </a:cxn>
                    <a:cxn ang="0">
                      <a:pos x="42" y="661"/>
                    </a:cxn>
                    <a:cxn ang="0">
                      <a:pos x="0" y="598"/>
                    </a:cxn>
                    <a:cxn ang="0">
                      <a:pos x="0" y="70"/>
                    </a:cxn>
                    <a:cxn ang="0">
                      <a:pos x="42" y="0"/>
                    </a:cxn>
                  </a:cxnLst>
                  <a:rect l="0" t="0" r="r" b="b"/>
                  <a:pathLst>
                    <a:path w="43" h="662">
                      <a:moveTo>
                        <a:pt x="42" y="0"/>
                      </a:moveTo>
                      <a:lnTo>
                        <a:pt x="42" y="661"/>
                      </a:lnTo>
                      <a:lnTo>
                        <a:pt x="0" y="598"/>
                      </a:lnTo>
                      <a:lnTo>
                        <a:pt x="0" y="70"/>
                      </a:lnTo>
                      <a:lnTo>
                        <a:pt x="42" y="0"/>
                      </a:lnTo>
                    </a:path>
                  </a:pathLst>
                </a:custGeom>
                <a:solidFill>
                  <a:srgbClr val="C0C0C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sp>
            <p:nvSpPr>
              <p:cNvPr id="1936" name="Line 67"/>
              <p:cNvSpPr>
                <a:spLocks noChangeShapeType="1"/>
              </p:cNvSpPr>
              <p:nvPr/>
            </p:nvSpPr>
            <p:spPr bwMode="auto">
              <a:xfrm>
                <a:off x="948" y="2591"/>
                <a:ext cx="0" cy="6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19" name="Group 68"/>
              <p:cNvGrpSpPr>
                <a:grpSpLocks/>
              </p:cNvGrpSpPr>
              <p:nvPr/>
            </p:nvGrpSpPr>
            <p:grpSpPr bwMode="auto">
              <a:xfrm>
                <a:off x="973" y="3031"/>
                <a:ext cx="105" cy="165"/>
                <a:chOff x="973" y="3031"/>
                <a:chExt cx="105" cy="165"/>
              </a:xfrm>
            </p:grpSpPr>
            <p:grpSp>
              <p:nvGrpSpPr>
                <p:cNvPr id="20" name="Group 69"/>
                <p:cNvGrpSpPr>
                  <a:grpSpLocks/>
                </p:cNvGrpSpPr>
                <p:nvPr/>
              </p:nvGrpSpPr>
              <p:grpSpPr bwMode="auto">
                <a:xfrm>
                  <a:off x="973" y="3031"/>
                  <a:ext cx="37" cy="165"/>
                  <a:chOff x="973" y="3031"/>
                  <a:chExt cx="37" cy="165"/>
                </a:xfrm>
              </p:grpSpPr>
              <p:sp>
                <p:nvSpPr>
                  <p:cNvPr id="1949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168"/>
                    <a:ext cx="37" cy="28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950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125"/>
                    <a:ext cx="37" cy="14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951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074"/>
                    <a:ext cx="37" cy="2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952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031"/>
                    <a:ext cx="37" cy="14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945" name="Rectangle 74"/>
                <p:cNvSpPr>
                  <a:spLocks noChangeArrowheads="1"/>
                </p:cNvSpPr>
                <p:nvPr/>
              </p:nvSpPr>
              <p:spPr bwMode="auto">
                <a:xfrm>
                  <a:off x="1042" y="3168"/>
                  <a:ext cx="36" cy="2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46" name="Rectangle 75"/>
                <p:cNvSpPr>
                  <a:spLocks noChangeArrowheads="1"/>
                </p:cNvSpPr>
                <p:nvPr/>
              </p:nvSpPr>
              <p:spPr bwMode="auto">
                <a:xfrm>
                  <a:off x="1042" y="3125"/>
                  <a:ext cx="36" cy="14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47" name="Rectangle 76"/>
                <p:cNvSpPr>
                  <a:spLocks noChangeArrowheads="1"/>
                </p:cNvSpPr>
                <p:nvPr/>
              </p:nvSpPr>
              <p:spPr bwMode="auto">
                <a:xfrm>
                  <a:off x="1042" y="3074"/>
                  <a:ext cx="36" cy="20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48" name="Rectangle 77"/>
                <p:cNvSpPr>
                  <a:spLocks noChangeArrowheads="1"/>
                </p:cNvSpPr>
                <p:nvPr/>
              </p:nvSpPr>
              <p:spPr bwMode="auto">
                <a:xfrm>
                  <a:off x="1042" y="3031"/>
                  <a:ext cx="36" cy="14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938" name="Rectangle 78" descr="Narrow vertical"/>
              <p:cNvSpPr>
                <a:spLocks noChangeArrowheads="1"/>
              </p:cNvSpPr>
              <p:nvPr/>
            </p:nvSpPr>
            <p:spPr bwMode="auto">
              <a:xfrm>
                <a:off x="979" y="2732"/>
                <a:ext cx="90" cy="82"/>
              </a:xfrm>
              <a:prstGeom prst="rect">
                <a:avLst/>
              </a:prstGeom>
              <a:pattFill prst="narVert">
                <a:fgClr>
                  <a:schemeClr val="bg1"/>
                </a:fgClr>
                <a:bgClr>
                  <a:schemeClr val="tx1"/>
                </a:bgClr>
              </a:patt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939" name="Rectangle 79" descr="Narrow vertical"/>
              <p:cNvSpPr>
                <a:spLocks noChangeArrowheads="1"/>
              </p:cNvSpPr>
              <p:nvPr/>
            </p:nvSpPr>
            <p:spPr bwMode="auto">
              <a:xfrm>
                <a:off x="973" y="2872"/>
                <a:ext cx="100" cy="122"/>
              </a:xfrm>
              <a:prstGeom prst="rect">
                <a:avLst/>
              </a:prstGeom>
              <a:pattFill prst="narVert">
                <a:fgClr>
                  <a:schemeClr val="bg1"/>
                </a:fgClr>
                <a:bgClr>
                  <a:schemeClr val="tx1"/>
                </a:bgClr>
              </a:patt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21" name="Group 80"/>
              <p:cNvGrpSpPr>
                <a:grpSpLocks/>
              </p:cNvGrpSpPr>
              <p:nvPr/>
            </p:nvGrpSpPr>
            <p:grpSpPr bwMode="auto">
              <a:xfrm>
                <a:off x="979" y="2664"/>
                <a:ext cx="90" cy="46"/>
                <a:chOff x="979" y="2664"/>
                <a:chExt cx="90" cy="46"/>
              </a:xfrm>
            </p:grpSpPr>
            <p:sp>
              <p:nvSpPr>
                <p:cNvPr id="1941" name="Rectangle 81"/>
                <p:cNvSpPr>
                  <a:spLocks noChangeArrowheads="1"/>
                </p:cNvSpPr>
                <p:nvPr/>
              </p:nvSpPr>
              <p:spPr bwMode="auto">
                <a:xfrm>
                  <a:off x="979" y="2664"/>
                  <a:ext cx="90" cy="4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42" name="Rectangle 82"/>
                <p:cNvSpPr>
                  <a:spLocks noChangeArrowheads="1"/>
                </p:cNvSpPr>
                <p:nvPr/>
              </p:nvSpPr>
              <p:spPr bwMode="auto">
                <a:xfrm>
                  <a:off x="982" y="2671"/>
                  <a:ext cx="87" cy="3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43" name="Rectangle 83"/>
                <p:cNvSpPr>
                  <a:spLocks noChangeArrowheads="1"/>
                </p:cNvSpPr>
                <p:nvPr/>
              </p:nvSpPr>
              <p:spPr bwMode="auto">
                <a:xfrm>
                  <a:off x="982" y="2692"/>
                  <a:ext cx="87" cy="7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22" name="Group 84"/>
            <p:cNvGrpSpPr>
              <a:grpSpLocks/>
            </p:cNvGrpSpPr>
            <p:nvPr/>
          </p:nvGrpSpPr>
          <p:grpSpPr bwMode="auto">
            <a:xfrm>
              <a:off x="2671554" y="3632519"/>
              <a:ext cx="684377" cy="1173986"/>
              <a:chOff x="2098" y="1790"/>
              <a:chExt cx="502" cy="908"/>
            </a:xfrm>
          </p:grpSpPr>
          <p:sp>
            <p:nvSpPr>
              <p:cNvPr id="1905" name="Rectangle 85"/>
              <p:cNvSpPr>
                <a:spLocks noChangeArrowheads="1"/>
              </p:cNvSpPr>
              <p:nvPr/>
            </p:nvSpPr>
            <p:spPr bwMode="auto">
              <a:xfrm>
                <a:off x="2098" y="1790"/>
                <a:ext cx="498" cy="85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grpSp>
            <p:nvGrpSpPr>
              <p:cNvPr id="23" name="Group 86"/>
              <p:cNvGrpSpPr>
                <a:grpSpLocks/>
              </p:cNvGrpSpPr>
              <p:nvPr/>
            </p:nvGrpSpPr>
            <p:grpSpPr bwMode="auto">
              <a:xfrm>
                <a:off x="2127" y="2085"/>
                <a:ext cx="442" cy="533"/>
                <a:chOff x="2127" y="2085"/>
                <a:chExt cx="442" cy="533"/>
              </a:xfrm>
            </p:grpSpPr>
            <p:sp>
              <p:nvSpPr>
                <p:cNvPr id="1914" name="Rectangle 87" descr="Narrow vertical"/>
                <p:cNvSpPr>
                  <a:spLocks noChangeArrowheads="1"/>
                </p:cNvSpPr>
                <p:nvPr/>
              </p:nvSpPr>
              <p:spPr bwMode="auto">
                <a:xfrm>
                  <a:off x="2127" y="2085"/>
                  <a:ext cx="442" cy="533"/>
                </a:xfrm>
                <a:prstGeom prst="rect">
                  <a:avLst/>
                </a:prstGeom>
                <a:pattFill prst="narVert">
                  <a:fgClr>
                    <a:schemeClr val="tx1"/>
                  </a:fgClr>
                  <a:bgClr>
                    <a:schemeClr val="bg1"/>
                  </a:bgClr>
                </a:patt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15" name="Line 88"/>
                <p:cNvSpPr>
                  <a:spLocks noChangeShapeType="1"/>
                </p:cNvSpPr>
                <p:nvPr/>
              </p:nvSpPr>
              <p:spPr bwMode="auto">
                <a:xfrm>
                  <a:off x="2127" y="2580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16" name="Line 89"/>
                <p:cNvSpPr>
                  <a:spLocks noChangeShapeType="1"/>
                </p:cNvSpPr>
                <p:nvPr/>
              </p:nvSpPr>
              <p:spPr bwMode="auto">
                <a:xfrm>
                  <a:off x="2127" y="2539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17" name="Line 90"/>
                <p:cNvSpPr>
                  <a:spLocks noChangeShapeType="1"/>
                </p:cNvSpPr>
                <p:nvPr/>
              </p:nvSpPr>
              <p:spPr bwMode="auto">
                <a:xfrm>
                  <a:off x="2127" y="2497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18" name="Line 91"/>
                <p:cNvSpPr>
                  <a:spLocks noChangeShapeType="1"/>
                </p:cNvSpPr>
                <p:nvPr/>
              </p:nvSpPr>
              <p:spPr bwMode="auto">
                <a:xfrm>
                  <a:off x="2127" y="2456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19" name="Line 92"/>
                <p:cNvSpPr>
                  <a:spLocks noChangeShapeType="1"/>
                </p:cNvSpPr>
                <p:nvPr/>
              </p:nvSpPr>
              <p:spPr bwMode="auto">
                <a:xfrm>
                  <a:off x="2127" y="2413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0" name="Line 93"/>
                <p:cNvSpPr>
                  <a:spLocks noChangeShapeType="1"/>
                </p:cNvSpPr>
                <p:nvPr/>
              </p:nvSpPr>
              <p:spPr bwMode="auto">
                <a:xfrm>
                  <a:off x="2127" y="2372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1" name="Line 94"/>
                <p:cNvSpPr>
                  <a:spLocks noChangeShapeType="1"/>
                </p:cNvSpPr>
                <p:nvPr/>
              </p:nvSpPr>
              <p:spPr bwMode="auto">
                <a:xfrm>
                  <a:off x="2127" y="2330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2" name="Line 95"/>
                <p:cNvSpPr>
                  <a:spLocks noChangeShapeType="1"/>
                </p:cNvSpPr>
                <p:nvPr/>
              </p:nvSpPr>
              <p:spPr bwMode="auto">
                <a:xfrm>
                  <a:off x="2127" y="2289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3" name="Line 96"/>
                <p:cNvSpPr>
                  <a:spLocks noChangeShapeType="1"/>
                </p:cNvSpPr>
                <p:nvPr/>
              </p:nvSpPr>
              <p:spPr bwMode="auto">
                <a:xfrm>
                  <a:off x="2127" y="2247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4" name="Line 97"/>
                <p:cNvSpPr>
                  <a:spLocks noChangeShapeType="1"/>
                </p:cNvSpPr>
                <p:nvPr/>
              </p:nvSpPr>
              <p:spPr bwMode="auto">
                <a:xfrm>
                  <a:off x="2127" y="2205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5" name="Line 98"/>
                <p:cNvSpPr>
                  <a:spLocks noChangeShapeType="1"/>
                </p:cNvSpPr>
                <p:nvPr/>
              </p:nvSpPr>
              <p:spPr bwMode="auto">
                <a:xfrm>
                  <a:off x="2127" y="2164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6" name="Line 99"/>
                <p:cNvSpPr>
                  <a:spLocks noChangeShapeType="1"/>
                </p:cNvSpPr>
                <p:nvPr/>
              </p:nvSpPr>
              <p:spPr bwMode="auto">
                <a:xfrm>
                  <a:off x="2127" y="2122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sp>
            <p:nvSpPr>
              <p:cNvPr id="1907" name="Rectangle 100"/>
              <p:cNvSpPr>
                <a:spLocks noChangeArrowheads="1"/>
              </p:cNvSpPr>
              <p:nvPr/>
            </p:nvSpPr>
            <p:spPr bwMode="auto">
              <a:xfrm>
                <a:off x="2103" y="1804"/>
                <a:ext cx="497" cy="211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08" name="Line 101"/>
              <p:cNvSpPr>
                <a:spLocks noChangeShapeType="1"/>
              </p:cNvSpPr>
              <p:nvPr/>
            </p:nvSpPr>
            <p:spPr bwMode="auto">
              <a:xfrm>
                <a:off x="2274" y="1819"/>
                <a:ext cx="0" cy="167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09" name="Rectangle 102"/>
              <p:cNvSpPr>
                <a:spLocks noChangeArrowheads="1"/>
              </p:cNvSpPr>
              <p:nvPr/>
            </p:nvSpPr>
            <p:spPr bwMode="auto">
              <a:xfrm>
                <a:off x="2352" y="1815"/>
                <a:ext cx="189" cy="10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pPr defTabSz="677863"/>
                <a:r>
                  <a:rPr lang="en-US" altLang="zh-TW" sz="600" b="1">
                    <a:solidFill>
                      <a:schemeClr val="bg1"/>
                    </a:solidFill>
                    <a:latin typeface="Arial" charset="0"/>
                    <a:ea typeface="新細明體" charset="-120"/>
                  </a:rPr>
                  <a:t>2100</a:t>
                </a:r>
              </a:p>
            </p:txBody>
          </p:sp>
          <p:sp>
            <p:nvSpPr>
              <p:cNvPr id="1910" name="Rectangle 103"/>
              <p:cNvSpPr>
                <a:spLocks noChangeArrowheads="1"/>
              </p:cNvSpPr>
              <p:nvPr/>
            </p:nvSpPr>
            <p:spPr bwMode="auto">
              <a:xfrm>
                <a:off x="2503" y="1833"/>
                <a:ext cx="52" cy="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11" name="Rectangle 104"/>
              <p:cNvSpPr>
                <a:spLocks noChangeArrowheads="1"/>
              </p:cNvSpPr>
              <p:nvPr/>
            </p:nvSpPr>
            <p:spPr bwMode="auto">
              <a:xfrm>
                <a:off x="2113" y="1833"/>
                <a:ext cx="51" cy="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12" name="Rectangle 105"/>
              <p:cNvSpPr>
                <a:spLocks noChangeArrowheads="1"/>
              </p:cNvSpPr>
              <p:nvPr/>
            </p:nvSpPr>
            <p:spPr bwMode="auto">
              <a:xfrm>
                <a:off x="2158" y="2653"/>
                <a:ext cx="16" cy="45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13" name="Rectangle 106"/>
              <p:cNvSpPr>
                <a:spLocks noChangeArrowheads="1"/>
              </p:cNvSpPr>
              <p:nvPr/>
            </p:nvSpPr>
            <p:spPr bwMode="auto">
              <a:xfrm>
                <a:off x="2528" y="2653"/>
                <a:ext cx="16" cy="45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24" name="Group 107"/>
            <p:cNvGrpSpPr>
              <a:grpSpLocks/>
            </p:cNvGrpSpPr>
            <p:nvPr/>
          </p:nvGrpSpPr>
          <p:grpSpPr bwMode="auto">
            <a:xfrm>
              <a:off x="3561112" y="2752983"/>
              <a:ext cx="1044437" cy="1155118"/>
              <a:chOff x="2187" y="1296"/>
              <a:chExt cx="789" cy="918"/>
            </a:xfrm>
          </p:grpSpPr>
          <p:sp>
            <p:nvSpPr>
              <p:cNvPr id="1712" name="Rectangle 108" descr="70%"/>
              <p:cNvSpPr>
                <a:spLocks noChangeArrowheads="1"/>
              </p:cNvSpPr>
              <p:nvPr/>
            </p:nvSpPr>
            <p:spPr bwMode="auto">
              <a:xfrm>
                <a:off x="2411" y="1728"/>
                <a:ext cx="354" cy="69"/>
              </a:xfrm>
              <a:prstGeom prst="rect">
                <a:avLst/>
              </a:prstGeom>
              <a:pattFill prst="pct7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grpSp>
            <p:nvGrpSpPr>
              <p:cNvPr id="25" name="Group 109"/>
              <p:cNvGrpSpPr>
                <a:grpSpLocks/>
              </p:cNvGrpSpPr>
              <p:nvPr/>
            </p:nvGrpSpPr>
            <p:grpSpPr bwMode="auto">
              <a:xfrm>
                <a:off x="2187" y="1968"/>
                <a:ext cx="144" cy="235"/>
                <a:chOff x="2941" y="1914"/>
                <a:chExt cx="140" cy="228"/>
              </a:xfrm>
            </p:grpSpPr>
            <p:sp>
              <p:nvSpPr>
                <p:cNvPr id="1883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41" y="1914"/>
                  <a:ext cx="139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26" name="Group 111"/>
                <p:cNvGrpSpPr>
                  <a:grpSpLocks/>
                </p:cNvGrpSpPr>
                <p:nvPr/>
              </p:nvGrpSpPr>
              <p:grpSpPr bwMode="auto">
                <a:xfrm>
                  <a:off x="2950" y="1990"/>
                  <a:ext cx="123" cy="132"/>
                  <a:chOff x="2950" y="1990"/>
                  <a:chExt cx="123" cy="132"/>
                </a:xfrm>
              </p:grpSpPr>
              <p:sp>
                <p:nvSpPr>
                  <p:cNvPr id="1892" name="Rectangle 112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2950" y="1990"/>
                    <a:ext cx="123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3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115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4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104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5" name="Line 115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93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6" name="Line 116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83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7" name="Line 117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72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8" name="Line 118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61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9" name="Line 119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50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0" name="Line 120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40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1" name="Line 121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29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2" name="Line 122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18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3" name="Line 123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08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4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997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885" name="Rectangle 125"/>
                <p:cNvSpPr>
                  <a:spLocks noChangeArrowheads="1"/>
                </p:cNvSpPr>
                <p:nvPr/>
              </p:nvSpPr>
              <p:spPr bwMode="auto">
                <a:xfrm>
                  <a:off x="2943" y="1918"/>
                  <a:ext cx="138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86" name="Line 126"/>
                <p:cNvSpPr>
                  <a:spLocks noChangeShapeType="1"/>
                </p:cNvSpPr>
                <p:nvPr/>
              </p:nvSpPr>
              <p:spPr bwMode="auto">
                <a:xfrm>
                  <a:off x="2990" y="1922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87" name="Rectangle 127"/>
                <p:cNvSpPr>
                  <a:spLocks noChangeArrowheads="1"/>
                </p:cNvSpPr>
                <p:nvPr/>
              </p:nvSpPr>
              <p:spPr bwMode="auto">
                <a:xfrm>
                  <a:off x="3012" y="1915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888" name="Rectangle 128"/>
                <p:cNvSpPr>
                  <a:spLocks noChangeArrowheads="1"/>
                </p:cNvSpPr>
                <p:nvPr/>
              </p:nvSpPr>
              <p:spPr bwMode="auto">
                <a:xfrm>
                  <a:off x="3058" y="1925"/>
                  <a:ext cx="11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89" name="Rectangle 129"/>
                <p:cNvSpPr>
                  <a:spLocks noChangeArrowheads="1"/>
                </p:cNvSpPr>
                <p:nvPr/>
              </p:nvSpPr>
              <p:spPr bwMode="auto">
                <a:xfrm>
                  <a:off x="2946" y="1925"/>
                  <a:ext cx="9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90" name="Rectangle 130"/>
                <p:cNvSpPr>
                  <a:spLocks noChangeArrowheads="1"/>
                </p:cNvSpPr>
                <p:nvPr/>
              </p:nvSpPr>
              <p:spPr bwMode="auto">
                <a:xfrm>
                  <a:off x="2958" y="2137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91" name="Rectangle 131"/>
                <p:cNvSpPr>
                  <a:spLocks noChangeArrowheads="1"/>
                </p:cNvSpPr>
                <p:nvPr/>
              </p:nvSpPr>
              <p:spPr bwMode="auto">
                <a:xfrm>
                  <a:off x="3065" y="2137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27" name="Group 132"/>
              <p:cNvGrpSpPr>
                <a:grpSpLocks/>
              </p:cNvGrpSpPr>
              <p:nvPr/>
            </p:nvGrpSpPr>
            <p:grpSpPr bwMode="auto">
              <a:xfrm>
                <a:off x="2411" y="1972"/>
                <a:ext cx="144" cy="235"/>
                <a:chOff x="3159" y="1918"/>
                <a:chExt cx="140" cy="228"/>
              </a:xfrm>
            </p:grpSpPr>
            <p:sp>
              <p:nvSpPr>
                <p:cNvPr id="1861" name="Rectangle 133"/>
                <p:cNvSpPr>
                  <a:spLocks noChangeArrowheads="1"/>
                </p:cNvSpPr>
                <p:nvPr/>
              </p:nvSpPr>
              <p:spPr bwMode="auto">
                <a:xfrm>
                  <a:off x="3159" y="1918"/>
                  <a:ext cx="140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28" name="Group 134"/>
                <p:cNvGrpSpPr>
                  <a:grpSpLocks/>
                </p:cNvGrpSpPr>
                <p:nvPr/>
              </p:nvGrpSpPr>
              <p:grpSpPr bwMode="auto">
                <a:xfrm>
                  <a:off x="3168" y="1993"/>
                  <a:ext cx="122" cy="132"/>
                  <a:chOff x="3168" y="1993"/>
                  <a:chExt cx="122" cy="132"/>
                </a:xfrm>
              </p:grpSpPr>
              <p:sp>
                <p:nvSpPr>
                  <p:cNvPr id="1870" name="Rectangle 135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1993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1" name="Line 136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11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2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108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3" name="Line 138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9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4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8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5" name="Line 140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7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6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65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7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5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8" name="Line 143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4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9" name="Line 144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3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80" name="Line 145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2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81" name="Line 146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1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82" name="Line 14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0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863" name="Rectangle 148"/>
                <p:cNvSpPr>
                  <a:spLocks noChangeArrowheads="1"/>
                </p:cNvSpPr>
                <p:nvPr/>
              </p:nvSpPr>
              <p:spPr bwMode="auto">
                <a:xfrm>
                  <a:off x="3161" y="1922"/>
                  <a:ext cx="138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64" name="Line 149"/>
                <p:cNvSpPr>
                  <a:spLocks noChangeShapeType="1"/>
                </p:cNvSpPr>
                <p:nvPr/>
              </p:nvSpPr>
              <p:spPr bwMode="auto">
                <a:xfrm>
                  <a:off x="3208" y="1926"/>
                  <a:ext cx="0" cy="37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65" name="Rectangle 150"/>
                <p:cNvSpPr>
                  <a:spLocks noChangeArrowheads="1"/>
                </p:cNvSpPr>
                <p:nvPr/>
              </p:nvSpPr>
              <p:spPr bwMode="auto">
                <a:xfrm>
                  <a:off x="3230" y="1919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866" name="Rectangle 151"/>
                <p:cNvSpPr>
                  <a:spLocks noChangeArrowheads="1"/>
                </p:cNvSpPr>
                <p:nvPr/>
              </p:nvSpPr>
              <p:spPr bwMode="auto">
                <a:xfrm>
                  <a:off x="3276" y="1925"/>
                  <a:ext cx="11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67" name="Rectangle 152"/>
                <p:cNvSpPr>
                  <a:spLocks noChangeArrowheads="1"/>
                </p:cNvSpPr>
                <p:nvPr/>
              </p:nvSpPr>
              <p:spPr bwMode="auto">
                <a:xfrm>
                  <a:off x="3164" y="1925"/>
                  <a:ext cx="8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68" name="Rectangle 153"/>
                <p:cNvSpPr>
                  <a:spLocks noChangeArrowheads="1"/>
                </p:cNvSpPr>
                <p:nvPr/>
              </p:nvSpPr>
              <p:spPr bwMode="auto">
                <a:xfrm>
                  <a:off x="3176" y="2141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69" name="Rectangle 154"/>
                <p:cNvSpPr>
                  <a:spLocks noChangeArrowheads="1"/>
                </p:cNvSpPr>
                <p:nvPr/>
              </p:nvSpPr>
              <p:spPr bwMode="auto">
                <a:xfrm>
                  <a:off x="3280" y="2141"/>
                  <a:ext cx="6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29" name="Group 155"/>
              <p:cNvGrpSpPr>
                <a:grpSpLocks/>
              </p:cNvGrpSpPr>
              <p:nvPr/>
            </p:nvGrpSpPr>
            <p:grpSpPr bwMode="auto">
              <a:xfrm>
                <a:off x="2610" y="1972"/>
                <a:ext cx="145" cy="235"/>
                <a:chOff x="3352" y="1918"/>
                <a:chExt cx="141" cy="228"/>
              </a:xfrm>
            </p:grpSpPr>
            <p:sp>
              <p:nvSpPr>
                <p:cNvPr id="1839" name="Rectangle 156"/>
                <p:cNvSpPr>
                  <a:spLocks noChangeArrowheads="1"/>
                </p:cNvSpPr>
                <p:nvPr/>
              </p:nvSpPr>
              <p:spPr bwMode="auto">
                <a:xfrm>
                  <a:off x="3352" y="1918"/>
                  <a:ext cx="140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30" name="Group 157"/>
                <p:cNvGrpSpPr>
                  <a:grpSpLocks/>
                </p:cNvGrpSpPr>
                <p:nvPr/>
              </p:nvGrpSpPr>
              <p:grpSpPr bwMode="auto">
                <a:xfrm>
                  <a:off x="3361" y="1993"/>
                  <a:ext cx="122" cy="132"/>
                  <a:chOff x="3361" y="1993"/>
                  <a:chExt cx="122" cy="132"/>
                </a:xfrm>
              </p:grpSpPr>
              <p:sp>
                <p:nvSpPr>
                  <p:cNvPr id="1848" name="Rectangle 158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361" y="1993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49" name="Line 159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11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0" name="Line 160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108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1" name="Line 161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9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2" name="Line 162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8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3" name="Line 163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7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4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65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5" name="Line 165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5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6" name="Line 166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4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7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3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8" name="Line 168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2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9" name="Line 169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1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60" name="Line 170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0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841" name="Rectangle 171"/>
                <p:cNvSpPr>
                  <a:spLocks noChangeArrowheads="1"/>
                </p:cNvSpPr>
                <p:nvPr/>
              </p:nvSpPr>
              <p:spPr bwMode="auto">
                <a:xfrm>
                  <a:off x="3354" y="1922"/>
                  <a:ext cx="139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42" name="Line 172"/>
                <p:cNvSpPr>
                  <a:spLocks noChangeShapeType="1"/>
                </p:cNvSpPr>
                <p:nvPr/>
              </p:nvSpPr>
              <p:spPr bwMode="auto">
                <a:xfrm>
                  <a:off x="3402" y="1926"/>
                  <a:ext cx="0" cy="37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43" name="Rectangle 173"/>
                <p:cNvSpPr>
                  <a:spLocks noChangeArrowheads="1"/>
                </p:cNvSpPr>
                <p:nvPr/>
              </p:nvSpPr>
              <p:spPr bwMode="auto">
                <a:xfrm>
                  <a:off x="3424" y="1919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844" name="Rectangle 174"/>
                <p:cNvSpPr>
                  <a:spLocks noChangeArrowheads="1"/>
                </p:cNvSpPr>
                <p:nvPr/>
              </p:nvSpPr>
              <p:spPr bwMode="auto">
                <a:xfrm>
                  <a:off x="3469" y="1925"/>
                  <a:ext cx="11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45" name="Rectangle 175"/>
                <p:cNvSpPr>
                  <a:spLocks noChangeArrowheads="1"/>
                </p:cNvSpPr>
                <p:nvPr/>
              </p:nvSpPr>
              <p:spPr bwMode="auto">
                <a:xfrm>
                  <a:off x="3357" y="1925"/>
                  <a:ext cx="9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46" name="Rectangle 176"/>
                <p:cNvSpPr>
                  <a:spLocks noChangeArrowheads="1"/>
                </p:cNvSpPr>
                <p:nvPr/>
              </p:nvSpPr>
              <p:spPr bwMode="auto">
                <a:xfrm>
                  <a:off x="3366" y="2141"/>
                  <a:ext cx="7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47" name="Rectangle 177"/>
                <p:cNvSpPr>
                  <a:spLocks noChangeArrowheads="1"/>
                </p:cNvSpPr>
                <p:nvPr/>
              </p:nvSpPr>
              <p:spPr bwMode="auto">
                <a:xfrm>
                  <a:off x="3474" y="2141"/>
                  <a:ext cx="6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31" name="Group 178"/>
              <p:cNvGrpSpPr>
                <a:grpSpLocks/>
              </p:cNvGrpSpPr>
              <p:nvPr/>
            </p:nvGrpSpPr>
            <p:grpSpPr bwMode="auto">
              <a:xfrm>
                <a:off x="2832" y="1980"/>
                <a:ext cx="144" cy="234"/>
                <a:chOff x="3568" y="1925"/>
                <a:chExt cx="140" cy="228"/>
              </a:xfrm>
            </p:grpSpPr>
            <p:sp>
              <p:nvSpPr>
                <p:cNvPr id="1817" name="Rectangle 179"/>
                <p:cNvSpPr>
                  <a:spLocks noChangeArrowheads="1"/>
                </p:cNvSpPr>
                <p:nvPr/>
              </p:nvSpPr>
              <p:spPr bwMode="auto">
                <a:xfrm>
                  <a:off x="3568" y="1925"/>
                  <a:ext cx="139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1504" name="Group 180"/>
                <p:cNvGrpSpPr>
                  <a:grpSpLocks/>
                </p:cNvGrpSpPr>
                <p:nvPr/>
              </p:nvGrpSpPr>
              <p:grpSpPr bwMode="auto">
                <a:xfrm>
                  <a:off x="3576" y="2001"/>
                  <a:ext cx="122" cy="132"/>
                  <a:chOff x="3576" y="2001"/>
                  <a:chExt cx="122" cy="132"/>
                </a:xfrm>
              </p:grpSpPr>
              <p:sp>
                <p:nvSpPr>
                  <p:cNvPr id="1826" name="Rectangle 181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576" y="2001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27" name="Line 182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12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28" name="Line 183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115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29" name="Line 184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10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0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9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1" name="Line 186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83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2" name="Line 187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7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3" name="Line 188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6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4" name="Line 189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5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5" name="Line 190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4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6" name="Line 191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2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7" name="Line 192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1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8" name="Line 193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08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819" name="Rectangle 194"/>
                <p:cNvSpPr>
                  <a:spLocks noChangeArrowheads="1"/>
                </p:cNvSpPr>
                <p:nvPr/>
              </p:nvSpPr>
              <p:spPr bwMode="auto">
                <a:xfrm>
                  <a:off x="3570" y="1929"/>
                  <a:ext cx="138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20" name="Line 195"/>
                <p:cNvSpPr>
                  <a:spLocks noChangeShapeType="1"/>
                </p:cNvSpPr>
                <p:nvPr/>
              </p:nvSpPr>
              <p:spPr bwMode="auto">
                <a:xfrm>
                  <a:off x="3616" y="1933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21" name="Rectangle 196"/>
                <p:cNvSpPr>
                  <a:spLocks noChangeArrowheads="1"/>
                </p:cNvSpPr>
                <p:nvPr/>
              </p:nvSpPr>
              <p:spPr bwMode="auto">
                <a:xfrm>
                  <a:off x="3639" y="1926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822" name="Rectangle 197"/>
                <p:cNvSpPr>
                  <a:spLocks noChangeArrowheads="1"/>
                </p:cNvSpPr>
                <p:nvPr/>
              </p:nvSpPr>
              <p:spPr bwMode="auto">
                <a:xfrm>
                  <a:off x="3684" y="1936"/>
                  <a:ext cx="12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23" name="Rectangle 198"/>
                <p:cNvSpPr>
                  <a:spLocks noChangeArrowheads="1"/>
                </p:cNvSpPr>
                <p:nvPr/>
              </p:nvSpPr>
              <p:spPr bwMode="auto">
                <a:xfrm>
                  <a:off x="3572" y="1936"/>
                  <a:ext cx="10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24" name="Rectangle 199"/>
                <p:cNvSpPr>
                  <a:spLocks noChangeArrowheads="1"/>
                </p:cNvSpPr>
                <p:nvPr/>
              </p:nvSpPr>
              <p:spPr bwMode="auto">
                <a:xfrm>
                  <a:off x="3585" y="2148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25" name="Rectangle 200"/>
                <p:cNvSpPr>
                  <a:spLocks noChangeArrowheads="1"/>
                </p:cNvSpPr>
                <p:nvPr/>
              </p:nvSpPr>
              <p:spPr bwMode="auto">
                <a:xfrm>
                  <a:off x="3692" y="2148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sp>
            <p:nvSpPr>
              <p:cNvPr id="1717" name="Line 201"/>
              <p:cNvSpPr>
                <a:spLocks noChangeShapeType="1"/>
              </p:cNvSpPr>
              <p:nvPr/>
            </p:nvSpPr>
            <p:spPr bwMode="auto">
              <a:xfrm flipH="1">
                <a:off x="2219" y="1776"/>
                <a:ext cx="210" cy="1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18" name="Line 202"/>
              <p:cNvSpPr>
                <a:spLocks noChangeShapeType="1"/>
              </p:cNvSpPr>
              <p:nvPr/>
            </p:nvSpPr>
            <p:spPr bwMode="auto">
              <a:xfrm flipH="1">
                <a:off x="2459" y="1791"/>
                <a:ext cx="49" cy="1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19" name="Line 203"/>
              <p:cNvSpPr>
                <a:spLocks noChangeShapeType="1"/>
              </p:cNvSpPr>
              <p:nvPr/>
            </p:nvSpPr>
            <p:spPr bwMode="auto">
              <a:xfrm>
                <a:off x="2630" y="1791"/>
                <a:ext cx="69" cy="1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20" name="Line 204"/>
              <p:cNvSpPr>
                <a:spLocks noChangeShapeType="1"/>
              </p:cNvSpPr>
              <p:nvPr/>
            </p:nvSpPr>
            <p:spPr bwMode="auto">
              <a:xfrm>
                <a:off x="2699" y="1776"/>
                <a:ext cx="192" cy="1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grpSp>
            <p:nvGrpSpPr>
              <p:cNvPr id="1505" name="Group 205"/>
              <p:cNvGrpSpPr>
                <a:grpSpLocks/>
              </p:cNvGrpSpPr>
              <p:nvPr/>
            </p:nvGrpSpPr>
            <p:grpSpPr bwMode="auto">
              <a:xfrm>
                <a:off x="2187" y="1307"/>
                <a:ext cx="144" cy="235"/>
                <a:chOff x="2941" y="1227"/>
                <a:chExt cx="140" cy="228"/>
              </a:xfrm>
            </p:grpSpPr>
            <p:sp>
              <p:nvSpPr>
                <p:cNvPr id="1795" name="Rectangle 206"/>
                <p:cNvSpPr>
                  <a:spLocks noChangeArrowheads="1"/>
                </p:cNvSpPr>
                <p:nvPr/>
              </p:nvSpPr>
              <p:spPr bwMode="auto">
                <a:xfrm>
                  <a:off x="2941" y="1227"/>
                  <a:ext cx="139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1506" name="Group 207"/>
                <p:cNvGrpSpPr>
                  <a:grpSpLocks/>
                </p:cNvGrpSpPr>
                <p:nvPr/>
              </p:nvGrpSpPr>
              <p:grpSpPr bwMode="auto">
                <a:xfrm>
                  <a:off x="2950" y="1303"/>
                  <a:ext cx="123" cy="131"/>
                  <a:chOff x="2950" y="1303"/>
                  <a:chExt cx="123" cy="131"/>
                </a:xfrm>
              </p:grpSpPr>
              <p:sp>
                <p:nvSpPr>
                  <p:cNvPr id="1804" name="Rectangle 208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2950" y="1303"/>
                    <a:ext cx="123" cy="131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05" name="Line 209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428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06" name="Line 210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417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07" name="Line 211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406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08" name="Line 212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96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09" name="Line 213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85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0" name="Line 214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74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1" name="Line 215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63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2" name="Line 216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53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3" name="Line 217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41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4" name="Line 218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31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5" name="Line 219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20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6" name="Line 220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10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797" name="Rectangle 221"/>
                <p:cNvSpPr>
                  <a:spLocks noChangeArrowheads="1"/>
                </p:cNvSpPr>
                <p:nvPr/>
              </p:nvSpPr>
              <p:spPr bwMode="auto">
                <a:xfrm>
                  <a:off x="2943" y="1231"/>
                  <a:ext cx="138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98" name="Line 222"/>
                <p:cNvSpPr>
                  <a:spLocks noChangeShapeType="1"/>
                </p:cNvSpPr>
                <p:nvPr/>
              </p:nvSpPr>
              <p:spPr bwMode="auto">
                <a:xfrm>
                  <a:off x="2990" y="1235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99" name="Rectangle 223"/>
                <p:cNvSpPr>
                  <a:spLocks noChangeArrowheads="1"/>
                </p:cNvSpPr>
                <p:nvPr/>
              </p:nvSpPr>
              <p:spPr bwMode="auto">
                <a:xfrm>
                  <a:off x="3012" y="1228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800" name="Rectangle 224"/>
                <p:cNvSpPr>
                  <a:spLocks noChangeArrowheads="1"/>
                </p:cNvSpPr>
                <p:nvPr/>
              </p:nvSpPr>
              <p:spPr bwMode="auto">
                <a:xfrm>
                  <a:off x="3058" y="1234"/>
                  <a:ext cx="11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01" name="Rectangle 225"/>
                <p:cNvSpPr>
                  <a:spLocks noChangeArrowheads="1"/>
                </p:cNvSpPr>
                <p:nvPr/>
              </p:nvSpPr>
              <p:spPr bwMode="auto">
                <a:xfrm>
                  <a:off x="2946" y="1234"/>
                  <a:ext cx="9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02" name="Rectangle 226"/>
                <p:cNvSpPr>
                  <a:spLocks noChangeArrowheads="1"/>
                </p:cNvSpPr>
                <p:nvPr/>
              </p:nvSpPr>
              <p:spPr bwMode="auto">
                <a:xfrm>
                  <a:off x="2958" y="1450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03" name="Rectangle 227"/>
                <p:cNvSpPr>
                  <a:spLocks noChangeArrowheads="1"/>
                </p:cNvSpPr>
                <p:nvPr/>
              </p:nvSpPr>
              <p:spPr bwMode="auto">
                <a:xfrm>
                  <a:off x="3065" y="1450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508" name="Group 228"/>
              <p:cNvGrpSpPr>
                <a:grpSpLocks/>
              </p:cNvGrpSpPr>
              <p:nvPr/>
            </p:nvGrpSpPr>
            <p:grpSpPr bwMode="auto">
              <a:xfrm>
                <a:off x="2411" y="1303"/>
                <a:ext cx="144" cy="235"/>
                <a:chOff x="3159" y="1223"/>
                <a:chExt cx="140" cy="228"/>
              </a:xfrm>
            </p:grpSpPr>
            <p:sp>
              <p:nvSpPr>
                <p:cNvPr id="1773" name="Rectangle 229"/>
                <p:cNvSpPr>
                  <a:spLocks noChangeArrowheads="1"/>
                </p:cNvSpPr>
                <p:nvPr/>
              </p:nvSpPr>
              <p:spPr bwMode="auto">
                <a:xfrm>
                  <a:off x="3159" y="1223"/>
                  <a:ext cx="140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1509" name="Group 230"/>
                <p:cNvGrpSpPr>
                  <a:grpSpLocks/>
                </p:cNvGrpSpPr>
                <p:nvPr/>
              </p:nvGrpSpPr>
              <p:grpSpPr bwMode="auto">
                <a:xfrm>
                  <a:off x="3168" y="1299"/>
                  <a:ext cx="122" cy="132"/>
                  <a:chOff x="3168" y="1299"/>
                  <a:chExt cx="122" cy="132"/>
                </a:xfrm>
              </p:grpSpPr>
              <p:sp>
                <p:nvSpPr>
                  <p:cNvPr id="1782" name="Rectangle 231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1299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3" name="Line 23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42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4" name="Line 233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413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5" name="Line 234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40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6" name="Line 235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9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7" name="Line 236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8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8" name="Line 23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7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9" name="Line 238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5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90" name="Line 239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4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91" name="Line 240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38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92" name="Line 241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2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93" name="Line 24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1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94" name="Line 243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0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775" name="Rectangle 244"/>
                <p:cNvSpPr>
                  <a:spLocks noChangeArrowheads="1"/>
                </p:cNvSpPr>
                <p:nvPr/>
              </p:nvSpPr>
              <p:spPr bwMode="auto">
                <a:xfrm>
                  <a:off x="3161" y="1227"/>
                  <a:ext cx="138" cy="49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76" name="Line 245"/>
                <p:cNvSpPr>
                  <a:spLocks noChangeShapeType="1"/>
                </p:cNvSpPr>
                <p:nvPr/>
              </p:nvSpPr>
              <p:spPr bwMode="auto">
                <a:xfrm>
                  <a:off x="3208" y="1231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77" name="Rectangle 246"/>
                <p:cNvSpPr>
                  <a:spLocks noChangeArrowheads="1"/>
                </p:cNvSpPr>
                <p:nvPr/>
              </p:nvSpPr>
              <p:spPr bwMode="auto">
                <a:xfrm>
                  <a:off x="3230" y="1224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778" name="Rectangle 247"/>
                <p:cNvSpPr>
                  <a:spLocks noChangeArrowheads="1"/>
                </p:cNvSpPr>
                <p:nvPr/>
              </p:nvSpPr>
              <p:spPr bwMode="auto">
                <a:xfrm>
                  <a:off x="3276" y="1234"/>
                  <a:ext cx="11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79" name="Rectangle 248"/>
                <p:cNvSpPr>
                  <a:spLocks noChangeArrowheads="1"/>
                </p:cNvSpPr>
                <p:nvPr/>
              </p:nvSpPr>
              <p:spPr bwMode="auto">
                <a:xfrm>
                  <a:off x="3164" y="1234"/>
                  <a:ext cx="8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80" name="Rectangle 249"/>
                <p:cNvSpPr>
                  <a:spLocks noChangeArrowheads="1"/>
                </p:cNvSpPr>
                <p:nvPr/>
              </p:nvSpPr>
              <p:spPr bwMode="auto">
                <a:xfrm>
                  <a:off x="3176" y="1446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81" name="Rectangle 250"/>
                <p:cNvSpPr>
                  <a:spLocks noChangeArrowheads="1"/>
                </p:cNvSpPr>
                <p:nvPr/>
              </p:nvSpPr>
              <p:spPr bwMode="auto">
                <a:xfrm>
                  <a:off x="3280" y="1446"/>
                  <a:ext cx="6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510" name="Group 251"/>
              <p:cNvGrpSpPr>
                <a:grpSpLocks/>
              </p:cNvGrpSpPr>
              <p:nvPr/>
            </p:nvGrpSpPr>
            <p:grpSpPr bwMode="auto">
              <a:xfrm>
                <a:off x="2610" y="1303"/>
                <a:ext cx="145" cy="235"/>
                <a:chOff x="3352" y="1223"/>
                <a:chExt cx="141" cy="228"/>
              </a:xfrm>
            </p:grpSpPr>
            <p:sp>
              <p:nvSpPr>
                <p:cNvPr id="1751" name="Rectangle 252"/>
                <p:cNvSpPr>
                  <a:spLocks noChangeArrowheads="1"/>
                </p:cNvSpPr>
                <p:nvPr/>
              </p:nvSpPr>
              <p:spPr bwMode="auto">
                <a:xfrm>
                  <a:off x="3352" y="1223"/>
                  <a:ext cx="140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1511" name="Group 253"/>
                <p:cNvGrpSpPr>
                  <a:grpSpLocks/>
                </p:cNvGrpSpPr>
                <p:nvPr/>
              </p:nvGrpSpPr>
              <p:grpSpPr bwMode="auto">
                <a:xfrm>
                  <a:off x="3361" y="1299"/>
                  <a:ext cx="122" cy="132"/>
                  <a:chOff x="3361" y="1299"/>
                  <a:chExt cx="122" cy="132"/>
                </a:xfrm>
              </p:grpSpPr>
              <p:sp>
                <p:nvSpPr>
                  <p:cNvPr id="1760" name="Rectangle 254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361" y="1299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1" name="Line 255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42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2" name="Line 256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413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3" name="Line 257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40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4" name="Line 258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9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5" name="Line 259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8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6" name="Line 260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7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7" name="Line 261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5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8" name="Line 262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4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9" name="Line 263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38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70" name="Line 264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2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71" name="Line 265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1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72" name="Line 266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0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753" name="Rectangle 267"/>
                <p:cNvSpPr>
                  <a:spLocks noChangeArrowheads="1"/>
                </p:cNvSpPr>
                <p:nvPr/>
              </p:nvSpPr>
              <p:spPr bwMode="auto">
                <a:xfrm>
                  <a:off x="3354" y="1227"/>
                  <a:ext cx="139" cy="49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54" name="Line 268"/>
                <p:cNvSpPr>
                  <a:spLocks noChangeShapeType="1"/>
                </p:cNvSpPr>
                <p:nvPr/>
              </p:nvSpPr>
              <p:spPr bwMode="auto">
                <a:xfrm>
                  <a:off x="3402" y="1231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55" name="Rectangle 269"/>
                <p:cNvSpPr>
                  <a:spLocks noChangeArrowheads="1"/>
                </p:cNvSpPr>
                <p:nvPr/>
              </p:nvSpPr>
              <p:spPr bwMode="auto">
                <a:xfrm>
                  <a:off x="3424" y="1224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756" name="Rectangle 270"/>
                <p:cNvSpPr>
                  <a:spLocks noChangeArrowheads="1"/>
                </p:cNvSpPr>
                <p:nvPr/>
              </p:nvSpPr>
              <p:spPr bwMode="auto">
                <a:xfrm>
                  <a:off x="3469" y="1234"/>
                  <a:ext cx="11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57" name="Rectangle 271"/>
                <p:cNvSpPr>
                  <a:spLocks noChangeArrowheads="1"/>
                </p:cNvSpPr>
                <p:nvPr/>
              </p:nvSpPr>
              <p:spPr bwMode="auto">
                <a:xfrm>
                  <a:off x="3357" y="1234"/>
                  <a:ext cx="9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58" name="Rectangle 272"/>
                <p:cNvSpPr>
                  <a:spLocks noChangeArrowheads="1"/>
                </p:cNvSpPr>
                <p:nvPr/>
              </p:nvSpPr>
              <p:spPr bwMode="auto">
                <a:xfrm>
                  <a:off x="3366" y="1446"/>
                  <a:ext cx="7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59" name="Rectangle 273"/>
                <p:cNvSpPr>
                  <a:spLocks noChangeArrowheads="1"/>
                </p:cNvSpPr>
                <p:nvPr/>
              </p:nvSpPr>
              <p:spPr bwMode="auto">
                <a:xfrm>
                  <a:off x="3474" y="1446"/>
                  <a:ext cx="6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512" name="Group 274"/>
              <p:cNvGrpSpPr>
                <a:grpSpLocks/>
              </p:cNvGrpSpPr>
              <p:nvPr/>
            </p:nvGrpSpPr>
            <p:grpSpPr bwMode="auto">
              <a:xfrm>
                <a:off x="2832" y="1296"/>
                <a:ext cx="144" cy="234"/>
                <a:chOff x="3568" y="1216"/>
                <a:chExt cx="140" cy="228"/>
              </a:xfrm>
            </p:grpSpPr>
            <p:sp>
              <p:nvSpPr>
                <p:cNvPr id="1729" name="Rectangle 275"/>
                <p:cNvSpPr>
                  <a:spLocks noChangeArrowheads="1"/>
                </p:cNvSpPr>
                <p:nvPr/>
              </p:nvSpPr>
              <p:spPr bwMode="auto">
                <a:xfrm>
                  <a:off x="3568" y="1216"/>
                  <a:ext cx="139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1513" name="Group 276"/>
                <p:cNvGrpSpPr>
                  <a:grpSpLocks/>
                </p:cNvGrpSpPr>
                <p:nvPr/>
              </p:nvGrpSpPr>
              <p:grpSpPr bwMode="auto">
                <a:xfrm>
                  <a:off x="3576" y="1292"/>
                  <a:ext cx="122" cy="132"/>
                  <a:chOff x="3576" y="1292"/>
                  <a:chExt cx="122" cy="132"/>
                </a:xfrm>
              </p:grpSpPr>
              <p:sp>
                <p:nvSpPr>
                  <p:cNvPr id="1738" name="Rectangle 277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576" y="1292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39" name="Line 278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41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0" name="Line 279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40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1" name="Line 280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95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2" name="Line 281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85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3" name="Line 282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7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4" name="Line 283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63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5" name="Line 284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53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6" name="Line 285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4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7" name="Line 286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3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8" name="Line 287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2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9" name="Line 288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1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50" name="Line 289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29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731" name="Rectangle 290"/>
                <p:cNvSpPr>
                  <a:spLocks noChangeArrowheads="1"/>
                </p:cNvSpPr>
                <p:nvPr/>
              </p:nvSpPr>
              <p:spPr bwMode="auto">
                <a:xfrm>
                  <a:off x="3570" y="1220"/>
                  <a:ext cx="138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32" name="Line 291"/>
                <p:cNvSpPr>
                  <a:spLocks noChangeShapeType="1"/>
                </p:cNvSpPr>
                <p:nvPr/>
              </p:nvSpPr>
              <p:spPr bwMode="auto">
                <a:xfrm>
                  <a:off x="3616" y="1224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33" name="Rectangle 292"/>
                <p:cNvSpPr>
                  <a:spLocks noChangeArrowheads="1"/>
                </p:cNvSpPr>
                <p:nvPr/>
              </p:nvSpPr>
              <p:spPr bwMode="auto">
                <a:xfrm>
                  <a:off x="3639" y="1217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734" name="Rectangle 293"/>
                <p:cNvSpPr>
                  <a:spLocks noChangeArrowheads="1"/>
                </p:cNvSpPr>
                <p:nvPr/>
              </p:nvSpPr>
              <p:spPr bwMode="auto">
                <a:xfrm>
                  <a:off x="3684" y="1227"/>
                  <a:ext cx="12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35" name="Rectangle 294"/>
                <p:cNvSpPr>
                  <a:spLocks noChangeArrowheads="1"/>
                </p:cNvSpPr>
                <p:nvPr/>
              </p:nvSpPr>
              <p:spPr bwMode="auto">
                <a:xfrm>
                  <a:off x="3572" y="1227"/>
                  <a:ext cx="10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36" name="Rectangle 295"/>
                <p:cNvSpPr>
                  <a:spLocks noChangeArrowheads="1"/>
                </p:cNvSpPr>
                <p:nvPr/>
              </p:nvSpPr>
              <p:spPr bwMode="auto">
                <a:xfrm>
                  <a:off x="3585" y="1439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37" name="Rectangle 296"/>
                <p:cNvSpPr>
                  <a:spLocks noChangeArrowheads="1"/>
                </p:cNvSpPr>
                <p:nvPr/>
              </p:nvSpPr>
              <p:spPr bwMode="auto">
                <a:xfrm>
                  <a:off x="3692" y="1439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sp>
            <p:nvSpPr>
              <p:cNvPr id="1725" name="Line 297"/>
              <p:cNvSpPr>
                <a:spLocks noChangeShapeType="1"/>
              </p:cNvSpPr>
              <p:nvPr/>
            </p:nvSpPr>
            <p:spPr bwMode="auto">
              <a:xfrm flipH="1" flipV="1">
                <a:off x="2219" y="1536"/>
                <a:ext cx="202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26" name="Line 298"/>
              <p:cNvSpPr>
                <a:spLocks noChangeShapeType="1"/>
              </p:cNvSpPr>
              <p:nvPr/>
            </p:nvSpPr>
            <p:spPr bwMode="auto">
              <a:xfrm flipH="1" flipV="1">
                <a:off x="2459" y="1536"/>
                <a:ext cx="49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27" name="Line 299"/>
              <p:cNvSpPr>
                <a:spLocks noChangeShapeType="1"/>
              </p:cNvSpPr>
              <p:nvPr/>
            </p:nvSpPr>
            <p:spPr bwMode="auto">
              <a:xfrm flipV="1">
                <a:off x="2630" y="1536"/>
                <a:ext cx="21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28" name="Line 300"/>
              <p:cNvSpPr>
                <a:spLocks noChangeShapeType="1"/>
              </p:cNvSpPr>
              <p:nvPr/>
            </p:nvSpPr>
            <p:spPr bwMode="auto">
              <a:xfrm flipV="1">
                <a:off x="2747" y="1536"/>
                <a:ext cx="144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1524" name="Group 301"/>
            <p:cNvGrpSpPr>
              <a:grpSpLocks/>
            </p:cNvGrpSpPr>
            <p:nvPr/>
          </p:nvGrpSpPr>
          <p:grpSpPr bwMode="auto">
            <a:xfrm>
              <a:off x="5912088" y="1784357"/>
              <a:ext cx="1207257" cy="1439438"/>
              <a:chOff x="3600" y="574"/>
              <a:chExt cx="1104" cy="1281"/>
            </a:xfrm>
          </p:grpSpPr>
          <p:pic>
            <p:nvPicPr>
              <p:cNvPr id="1591" name="Picture 302"/>
              <p:cNvPicPr>
                <a:picLocks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756" y="890"/>
                <a:ext cx="812" cy="66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grpSp>
            <p:nvGrpSpPr>
              <p:cNvPr id="1526" name="Group 303"/>
              <p:cNvGrpSpPr>
                <a:grpSpLocks/>
              </p:cNvGrpSpPr>
              <p:nvPr/>
            </p:nvGrpSpPr>
            <p:grpSpPr bwMode="auto">
              <a:xfrm>
                <a:off x="4078" y="574"/>
                <a:ext cx="202" cy="289"/>
                <a:chOff x="4466" y="666"/>
                <a:chExt cx="213" cy="282"/>
              </a:xfrm>
            </p:grpSpPr>
            <p:sp>
              <p:nvSpPr>
                <p:cNvPr id="1693" name="Rectangle 304"/>
                <p:cNvSpPr>
                  <a:spLocks noChangeArrowheads="1"/>
                </p:cNvSpPr>
                <p:nvPr/>
              </p:nvSpPr>
              <p:spPr bwMode="auto">
                <a:xfrm>
                  <a:off x="4529" y="789"/>
                  <a:ext cx="93" cy="4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527" name="Group 305"/>
                <p:cNvGrpSpPr>
                  <a:grpSpLocks/>
                </p:cNvGrpSpPr>
                <p:nvPr/>
              </p:nvGrpSpPr>
              <p:grpSpPr bwMode="auto">
                <a:xfrm>
                  <a:off x="4466" y="831"/>
                  <a:ext cx="213" cy="117"/>
                  <a:chOff x="4466" y="831"/>
                  <a:chExt cx="213" cy="117"/>
                </a:xfrm>
              </p:grpSpPr>
              <p:sp>
                <p:nvSpPr>
                  <p:cNvPr id="1704" name="Line 30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79" y="832"/>
                    <a:ext cx="4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5" name="Line 30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545" y="832"/>
                    <a:ext cx="0" cy="6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6" name="Line 30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02" y="831"/>
                    <a:ext cx="0" cy="6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7" name="Rectangle 309"/>
                  <p:cNvSpPr>
                    <a:spLocks noChangeArrowheads="1"/>
                  </p:cNvSpPr>
                  <p:nvPr/>
                </p:nvSpPr>
                <p:spPr bwMode="auto">
                  <a:xfrm>
                    <a:off x="4466" y="904"/>
                    <a:ext cx="18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8" name="Rectangle 310"/>
                  <p:cNvSpPr>
                    <a:spLocks noChangeArrowheads="1"/>
                  </p:cNvSpPr>
                  <p:nvPr/>
                </p:nvSpPr>
                <p:spPr bwMode="auto">
                  <a:xfrm>
                    <a:off x="4534" y="900"/>
                    <a:ext cx="21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9" name="Rectangle 311"/>
                  <p:cNvSpPr>
                    <a:spLocks noChangeArrowheads="1"/>
                  </p:cNvSpPr>
                  <p:nvPr/>
                </p:nvSpPr>
                <p:spPr bwMode="auto">
                  <a:xfrm>
                    <a:off x="4590" y="899"/>
                    <a:ext cx="19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10" name="Rectangle 312"/>
                  <p:cNvSpPr>
                    <a:spLocks noChangeArrowheads="1"/>
                  </p:cNvSpPr>
                  <p:nvPr/>
                </p:nvSpPr>
                <p:spPr bwMode="auto">
                  <a:xfrm>
                    <a:off x="4662" y="904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11" name="Line 31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618" y="832"/>
                    <a:ext cx="60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528" name="Group 314"/>
                <p:cNvGrpSpPr>
                  <a:grpSpLocks/>
                </p:cNvGrpSpPr>
                <p:nvPr/>
              </p:nvGrpSpPr>
              <p:grpSpPr bwMode="auto">
                <a:xfrm>
                  <a:off x="4466" y="666"/>
                  <a:ext cx="213" cy="109"/>
                  <a:chOff x="4466" y="666"/>
                  <a:chExt cx="213" cy="109"/>
                </a:xfrm>
              </p:grpSpPr>
              <p:sp>
                <p:nvSpPr>
                  <p:cNvPr id="1696" name="Line 315"/>
                  <p:cNvSpPr>
                    <a:spLocks noChangeShapeType="1"/>
                  </p:cNvSpPr>
                  <p:nvPr/>
                </p:nvSpPr>
                <p:spPr bwMode="auto">
                  <a:xfrm>
                    <a:off x="4479" y="718"/>
                    <a:ext cx="41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7" name="Line 316"/>
                  <p:cNvSpPr>
                    <a:spLocks noChangeShapeType="1"/>
                  </p:cNvSpPr>
                  <p:nvPr/>
                </p:nvSpPr>
                <p:spPr bwMode="auto">
                  <a:xfrm>
                    <a:off x="4545" y="724"/>
                    <a:ext cx="0" cy="5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8" name="Line 317"/>
                  <p:cNvSpPr>
                    <a:spLocks noChangeShapeType="1"/>
                  </p:cNvSpPr>
                  <p:nvPr/>
                </p:nvSpPr>
                <p:spPr bwMode="auto">
                  <a:xfrm>
                    <a:off x="4602" y="721"/>
                    <a:ext cx="0" cy="5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9" name="Rectangle 318"/>
                  <p:cNvSpPr>
                    <a:spLocks noChangeArrowheads="1"/>
                  </p:cNvSpPr>
                  <p:nvPr/>
                </p:nvSpPr>
                <p:spPr bwMode="auto">
                  <a:xfrm>
                    <a:off x="4466" y="670"/>
                    <a:ext cx="18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0" name="Rectangle 319"/>
                  <p:cNvSpPr>
                    <a:spLocks noChangeArrowheads="1"/>
                  </p:cNvSpPr>
                  <p:nvPr/>
                </p:nvSpPr>
                <p:spPr bwMode="auto">
                  <a:xfrm>
                    <a:off x="4534" y="666"/>
                    <a:ext cx="21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1" name="Rectangle 320"/>
                  <p:cNvSpPr>
                    <a:spLocks noChangeArrowheads="1"/>
                  </p:cNvSpPr>
                  <p:nvPr/>
                </p:nvSpPr>
                <p:spPr bwMode="auto">
                  <a:xfrm>
                    <a:off x="4590" y="668"/>
                    <a:ext cx="19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2" name="Rectangle 321"/>
                  <p:cNvSpPr>
                    <a:spLocks noChangeArrowheads="1"/>
                  </p:cNvSpPr>
                  <p:nvPr/>
                </p:nvSpPr>
                <p:spPr bwMode="auto">
                  <a:xfrm>
                    <a:off x="4662" y="670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3" name="Line 3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18" y="718"/>
                    <a:ext cx="60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532" name="Group 323"/>
              <p:cNvGrpSpPr>
                <a:grpSpLocks/>
              </p:cNvGrpSpPr>
              <p:nvPr/>
            </p:nvGrpSpPr>
            <p:grpSpPr bwMode="auto">
              <a:xfrm>
                <a:off x="4502" y="754"/>
                <a:ext cx="202" cy="288"/>
                <a:chOff x="4913" y="839"/>
                <a:chExt cx="213" cy="281"/>
              </a:xfrm>
            </p:grpSpPr>
            <p:sp>
              <p:nvSpPr>
                <p:cNvPr id="1674" name="Rectangle 324"/>
                <p:cNvSpPr>
                  <a:spLocks noChangeArrowheads="1"/>
                </p:cNvSpPr>
                <p:nvPr/>
              </p:nvSpPr>
              <p:spPr bwMode="auto">
                <a:xfrm>
                  <a:off x="4976" y="962"/>
                  <a:ext cx="93" cy="4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533" name="Group 325"/>
                <p:cNvGrpSpPr>
                  <a:grpSpLocks/>
                </p:cNvGrpSpPr>
                <p:nvPr/>
              </p:nvGrpSpPr>
              <p:grpSpPr bwMode="auto">
                <a:xfrm>
                  <a:off x="4913" y="1004"/>
                  <a:ext cx="213" cy="116"/>
                  <a:chOff x="4913" y="1004"/>
                  <a:chExt cx="213" cy="116"/>
                </a:xfrm>
              </p:grpSpPr>
              <p:sp>
                <p:nvSpPr>
                  <p:cNvPr id="1685" name="Line 3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26" y="1004"/>
                    <a:ext cx="41" cy="7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6" name="Line 3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92" y="1005"/>
                    <a:ext cx="0" cy="6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7" name="Line 3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47" y="1004"/>
                    <a:ext cx="0" cy="6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8" name="Rectangle 329"/>
                  <p:cNvSpPr>
                    <a:spLocks noChangeArrowheads="1"/>
                  </p:cNvSpPr>
                  <p:nvPr/>
                </p:nvSpPr>
                <p:spPr bwMode="auto">
                  <a:xfrm>
                    <a:off x="4913" y="1077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9" name="Rectangle 330"/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1073"/>
                    <a:ext cx="20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0" name="Rectangle 331"/>
                  <p:cNvSpPr>
                    <a:spLocks noChangeArrowheads="1"/>
                  </p:cNvSpPr>
                  <p:nvPr/>
                </p:nvSpPr>
                <p:spPr bwMode="auto">
                  <a:xfrm>
                    <a:off x="5037" y="1071"/>
                    <a:ext cx="18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1" name="Rectangle 332"/>
                  <p:cNvSpPr>
                    <a:spLocks noChangeArrowheads="1"/>
                  </p:cNvSpPr>
                  <p:nvPr/>
                </p:nvSpPr>
                <p:spPr bwMode="auto">
                  <a:xfrm>
                    <a:off x="5109" y="1077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2" name="Line 33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065" y="1004"/>
                    <a:ext cx="60" cy="7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551" name="Group 334"/>
                <p:cNvGrpSpPr>
                  <a:grpSpLocks/>
                </p:cNvGrpSpPr>
                <p:nvPr/>
              </p:nvGrpSpPr>
              <p:grpSpPr bwMode="auto">
                <a:xfrm>
                  <a:off x="4913" y="839"/>
                  <a:ext cx="213" cy="109"/>
                  <a:chOff x="4913" y="839"/>
                  <a:chExt cx="213" cy="109"/>
                </a:xfrm>
              </p:grpSpPr>
              <p:sp>
                <p:nvSpPr>
                  <p:cNvPr id="1677" name="Line 335"/>
                  <p:cNvSpPr>
                    <a:spLocks noChangeShapeType="1"/>
                  </p:cNvSpPr>
                  <p:nvPr/>
                </p:nvSpPr>
                <p:spPr bwMode="auto">
                  <a:xfrm>
                    <a:off x="4926" y="891"/>
                    <a:ext cx="41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8" name="Line 336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896"/>
                    <a:ext cx="0" cy="5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9" name="Line 337"/>
                  <p:cNvSpPr>
                    <a:spLocks noChangeShapeType="1"/>
                  </p:cNvSpPr>
                  <p:nvPr/>
                </p:nvSpPr>
                <p:spPr bwMode="auto">
                  <a:xfrm>
                    <a:off x="5047" y="894"/>
                    <a:ext cx="0" cy="5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0" name="Rectangle 338"/>
                  <p:cNvSpPr>
                    <a:spLocks noChangeArrowheads="1"/>
                  </p:cNvSpPr>
                  <p:nvPr/>
                </p:nvSpPr>
                <p:spPr bwMode="auto">
                  <a:xfrm>
                    <a:off x="4913" y="842"/>
                    <a:ext cx="17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1" name="Rectangle 339"/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839"/>
                    <a:ext cx="20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2" name="Rectangle 340"/>
                  <p:cNvSpPr>
                    <a:spLocks noChangeArrowheads="1"/>
                  </p:cNvSpPr>
                  <p:nvPr/>
                </p:nvSpPr>
                <p:spPr bwMode="auto">
                  <a:xfrm>
                    <a:off x="5037" y="841"/>
                    <a:ext cx="18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3" name="Rectangle 341"/>
                  <p:cNvSpPr>
                    <a:spLocks noChangeArrowheads="1"/>
                  </p:cNvSpPr>
                  <p:nvPr/>
                </p:nvSpPr>
                <p:spPr bwMode="auto">
                  <a:xfrm>
                    <a:off x="5109" y="842"/>
                    <a:ext cx="17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4" name="Line 3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065" y="891"/>
                    <a:ext cx="60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552" name="Group 343"/>
              <p:cNvGrpSpPr>
                <a:grpSpLocks/>
              </p:cNvGrpSpPr>
              <p:nvPr/>
            </p:nvGrpSpPr>
            <p:grpSpPr bwMode="auto">
              <a:xfrm>
                <a:off x="4502" y="1385"/>
                <a:ext cx="202" cy="289"/>
                <a:chOff x="4913" y="1461"/>
                <a:chExt cx="213" cy="282"/>
              </a:xfrm>
            </p:grpSpPr>
            <p:sp>
              <p:nvSpPr>
                <p:cNvPr id="1655" name="Rectangle 344"/>
                <p:cNvSpPr>
                  <a:spLocks noChangeArrowheads="1"/>
                </p:cNvSpPr>
                <p:nvPr/>
              </p:nvSpPr>
              <p:spPr bwMode="auto">
                <a:xfrm>
                  <a:off x="4976" y="1584"/>
                  <a:ext cx="93" cy="4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570" name="Group 345"/>
                <p:cNvGrpSpPr>
                  <a:grpSpLocks/>
                </p:cNvGrpSpPr>
                <p:nvPr/>
              </p:nvGrpSpPr>
              <p:grpSpPr bwMode="auto">
                <a:xfrm>
                  <a:off x="4913" y="1626"/>
                  <a:ext cx="213" cy="117"/>
                  <a:chOff x="4913" y="1626"/>
                  <a:chExt cx="213" cy="117"/>
                </a:xfrm>
              </p:grpSpPr>
              <p:sp>
                <p:nvSpPr>
                  <p:cNvPr id="1666" name="Line 34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26" y="1627"/>
                    <a:ext cx="4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7" name="Line 34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92" y="1627"/>
                    <a:ext cx="0" cy="6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8" name="Line 3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47" y="1626"/>
                    <a:ext cx="0" cy="6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9" name="Rectangle 349"/>
                  <p:cNvSpPr>
                    <a:spLocks noChangeArrowheads="1"/>
                  </p:cNvSpPr>
                  <p:nvPr/>
                </p:nvSpPr>
                <p:spPr bwMode="auto">
                  <a:xfrm>
                    <a:off x="4913" y="1699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0" name="Rectangle 350"/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1695"/>
                    <a:ext cx="20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1" name="Rectangle 351"/>
                  <p:cNvSpPr>
                    <a:spLocks noChangeArrowheads="1"/>
                  </p:cNvSpPr>
                  <p:nvPr/>
                </p:nvSpPr>
                <p:spPr bwMode="auto">
                  <a:xfrm>
                    <a:off x="5037" y="1694"/>
                    <a:ext cx="18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2" name="Rectangle 352"/>
                  <p:cNvSpPr>
                    <a:spLocks noChangeArrowheads="1"/>
                  </p:cNvSpPr>
                  <p:nvPr/>
                </p:nvSpPr>
                <p:spPr bwMode="auto">
                  <a:xfrm>
                    <a:off x="5109" y="1699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3" name="Line 35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065" y="1627"/>
                    <a:ext cx="60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571" name="Group 354"/>
                <p:cNvGrpSpPr>
                  <a:grpSpLocks/>
                </p:cNvGrpSpPr>
                <p:nvPr/>
              </p:nvGrpSpPr>
              <p:grpSpPr bwMode="auto">
                <a:xfrm>
                  <a:off x="4913" y="1461"/>
                  <a:ext cx="213" cy="109"/>
                  <a:chOff x="4913" y="1461"/>
                  <a:chExt cx="213" cy="109"/>
                </a:xfrm>
              </p:grpSpPr>
              <p:sp>
                <p:nvSpPr>
                  <p:cNvPr id="1658" name="Line 355"/>
                  <p:cNvSpPr>
                    <a:spLocks noChangeShapeType="1"/>
                  </p:cNvSpPr>
                  <p:nvPr/>
                </p:nvSpPr>
                <p:spPr bwMode="auto">
                  <a:xfrm>
                    <a:off x="4926" y="1513"/>
                    <a:ext cx="41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9" name="Line 356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1519"/>
                    <a:ext cx="0" cy="5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0" name="Line 357"/>
                  <p:cNvSpPr>
                    <a:spLocks noChangeShapeType="1"/>
                  </p:cNvSpPr>
                  <p:nvPr/>
                </p:nvSpPr>
                <p:spPr bwMode="auto">
                  <a:xfrm>
                    <a:off x="5047" y="1517"/>
                    <a:ext cx="0" cy="5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1" name="Rectangle 358"/>
                  <p:cNvSpPr>
                    <a:spLocks noChangeArrowheads="1"/>
                  </p:cNvSpPr>
                  <p:nvPr/>
                </p:nvSpPr>
                <p:spPr bwMode="auto">
                  <a:xfrm>
                    <a:off x="4913" y="1465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2" name="Rectangle 359"/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1461"/>
                    <a:ext cx="20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3" name="Rectangle 360"/>
                  <p:cNvSpPr>
                    <a:spLocks noChangeArrowheads="1"/>
                  </p:cNvSpPr>
                  <p:nvPr/>
                </p:nvSpPr>
                <p:spPr bwMode="auto">
                  <a:xfrm>
                    <a:off x="5037" y="1463"/>
                    <a:ext cx="18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4" name="Rectangle 361"/>
                  <p:cNvSpPr>
                    <a:spLocks noChangeArrowheads="1"/>
                  </p:cNvSpPr>
                  <p:nvPr/>
                </p:nvSpPr>
                <p:spPr bwMode="auto">
                  <a:xfrm>
                    <a:off x="5109" y="1465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5" name="Line 36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065" y="1513"/>
                    <a:ext cx="60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592" name="Group 363"/>
              <p:cNvGrpSpPr>
                <a:grpSpLocks/>
              </p:cNvGrpSpPr>
              <p:nvPr/>
            </p:nvGrpSpPr>
            <p:grpSpPr bwMode="auto">
              <a:xfrm>
                <a:off x="4085" y="1566"/>
                <a:ext cx="201" cy="289"/>
                <a:chOff x="4473" y="1640"/>
                <a:chExt cx="212" cy="282"/>
              </a:xfrm>
            </p:grpSpPr>
            <p:sp>
              <p:nvSpPr>
                <p:cNvPr id="1636" name="Rectangle 364"/>
                <p:cNvSpPr>
                  <a:spLocks noChangeArrowheads="1"/>
                </p:cNvSpPr>
                <p:nvPr/>
              </p:nvSpPr>
              <p:spPr bwMode="auto">
                <a:xfrm>
                  <a:off x="4534" y="1764"/>
                  <a:ext cx="95" cy="4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593" name="Group 365"/>
                <p:cNvGrpSpPr>
                  <a:grpSpLocks/>
                </p:cNvGrpSpPr>
                <p:nvPr/>
              </p:nvGrpSpPr>
              <p:grpSpPr bwMode="auto">
                <a:xfrm>
                  <a:off x="4473" y="1805"/>
                  <a:ext cx="212" cy="117"/>
                  <a:chOff x="4473" y="1805"/>
                  <a:chExt cx="212" cy="117"/>
                </a:xfrm>
              </p:grpSpPr>
              <p:sp>
                <p:nvSpPr>
                  <p:cNvPr id="1647" name="Line 36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85" y="1806"/>
                    <a:ext cx="4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8" name="Line 36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552" y="1807"/>
                    <a:ext cx="0" cy="6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9" name="Line 36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07" y="1805"/>
                    <a:ext cx="0" cy="7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0" name="Rectangle 369"/>
                  <p:cNvSpPr>
                    <a:spLocks noChangeArrowheads="1"/>
                  </p:cNvSpPr>
                  <p:nvPr/>
                </p:nvSpPr>
                <p:spPr bwMode="auto">
                  <a:xfrm>
                    <a:off x="4473" y="1878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1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4541" y="1875"/>
                    <a:ext cx="20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2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4596" y="1873"/>
                    <a:ext cx="18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3" name="Rectangle 372"/>
                  <p:cNvSpPr>
                    <a:spLocks noChangeArrowheads="1"/>
                  </p:cNvSpPr>
                  <p:nvPr/>
                </p:nvSpPr>
                <p:spPr bwMode="auto">
                  <a:xfrm>
                    <a:off x="4667" y="1878"/>
                    <a:ext cx="18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4" name="Line 37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624" y="1806"/>
                    <a:ext cx="60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594" name="Group 374"/>
                <p:cNvGrpSpPr>
                  <a:grpSpLocks/>
                </p:cNvGrpSpPr>
                <p:nvPr/>
              </p:nvGrpSpPr>
              <p:grpSpPr bwMode="auto">
                <a:xfrm>
                  <a:off x="4473" y="1640"/>
                  <a:ext cx="212" cy="109"/>
                  <a:chOff x="4473" y="1640"/>
                  <a:chExt cx="212" cy="109"/>
                </a:xfrm>
              </p:grpSpPr>
              <p:sp>
                <p:nvSpPr>
                  <p:cNvPr id="1639" name="Line 375"/>
                  <p:cNvSpPr>
                    <a:spLocks noChangeShapeType="1"/>
                  </p:cNvSpPr>
                  <p:nvPr/>
                </p:nvSpPr>
                <p:spPr bwMode="auto">
                  <a:xfrm>
                    <a:off x="4485" y="1692"/>
                    <a:ext cx="41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0" name="Line 376"/>
                  <p:cNvSpPr>
                    <a:spLocks noChangeShapeType="1"/>
                  </p:cNvSpPr>
                  <p:nvPr/>
                </p:nvSpPr>
                <p:spPr bwMode="auto">
                  <a:xfrm>
                    <a:off x="4552" y="1698"/>
                    <a:ext cx="0" cy="5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1" name="Line 377"/>
                  <p:cNvSpPr>
                    <a:spLocks noChangeShapeType="1"/>
                  </p:cNvSpPr>
                  <p:nvPr/>
                </p:nvSpPr>
                <p:spPr bwMode="auto">
                  <a:xfrm>
                    <a:off x="4607" y="1696"/>
                    <a:ext cx="0" cy="5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2" name="Rectangle 378"/>
                  <p:cNvSpPr>
                    <a:spLocks noChangeArrowheads="1"/>
                  </p:cNvSpPr>
                  <p:nvPr/>
                </p:nvSpPr>
                <p:spPr bwMode="auto">
                  <a:xfrm>
                    <a:off x="4473" y="1644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3" name="Rectangle 379"/>
                  <p:cNvSpPr>
                    <a:spLocks noChangeArrowheads="1"/>
                  </p:cNvSpPr>
                  <p:nvPr/>
                </p:nvSpPr>
                <p:spPr bwMode="auto">
                  <a:xfrm>
                    <a:off x="4541" y="1640"/>
                    <a:ext cx="20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4" name="Rectangle 380"/>
                  <p:cNvSpPr>
                    <a:spLocks noChangeArrowheads="1"/>
                  </p:cNvSpPr>
                  <p:nvPr/>
                </p:nvSpPr>
                <p:spPr bwMode="auto">
                  <a:xfrm>
                    <a:off x="4596" y="1643"/>
                    <a:ext cx="18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5" name="Rectangle 381"/>
                  <p:cNvSpPr>
                    <a:spLocks noChangeArrowheads="1"/>
                  </p:cNvSpPr>
                  <p:nvPr/>
                </p:nvSpPr>
                <p:spPr bwMode="auto">
                  <a:xfrm>
                    <a:off x="4667" y="1644"/>
                    <a:ext cx="18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6" name="Line 38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24" y="1692"/>
                    <a:ext cx="60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595" name="Group 383"/>
              <p:cNvGrpSpPr>
                <a:grpSpLocks/>
              </p:cNvGrpSpPr>
              <p:nvPr/>
            </p:nvGrpSpPr>
            <p:grpSpPr bwMode="auto">
              <a:xfrm>
                <a:off x="3640" y="1423"/>
                <a:ext cx="201" cy="288"/>
                <a:chOff x="4004" y="1496"/>
                <a:chExt cx="212" cy="281"/>
              </a:xfrm>
            </p:grpSpPr>
            <p:sp>
              <p:nvSpPr>
                <p:cNvPr id="1617" name="Rectangle 384"/>
                <p:cNvSpPr>
                  <a:spLocks noChangeArrowheads="1"/>
                </p:cNvSpPr>
                <p:nvPr/>
              </p:nvSpPr>
              <p:spPr bwMode="auto">
                <a:xfrm>
                  <a:off x="4066" y="1619"/>
                  <a:ext cx="94" cy="4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596" name="Group 385"/>
                <p:cNvGrpSpPr>
                  <a:grpSpLocks/>
                </p:cNvGrpSpPr>
                <p:nvPr/>
              </p:nvGrpSpPr>
              <p:grpSpPr bwMode="auto">
                <a:xfrm>
                  <a:off x="4004" y="1661"/>
                  <a:ext cx="212" cy="116"/>
                  <a:chOff x="4004" y="1661"/>
                  <a:chExt cx="212" cy="116"/>
                </a:xfrm>
              </p:grpSpPr>
              <p:sp>
                <p:nvSpPr>
                  <p:cNvPr id="1628" name="Line 38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17" y="1661"/>
                    <a:ext cx="4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9" name="Line 38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83" y="1662"/>
                    <a:ext cx="0" cy="6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0" name="Line 3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39" y="1661"/>
                    <a:ext cx="0" cy="6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1" name="Rectangle 389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733"/>
                    <a:ext cx="18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2" name="Rectangle 390"/>
                  <p:cNvSpPr>
                    <a:spLocks noChangeArrowheads="1"/>
                  </p:cNvSpPr>
                  <p:nvPr/>
                </p:nvSpPr>
                <p:spPr bwMode="auto">
                  <a:xfrm>
                    <a:off x="4072" y="1730"/>
                    <a:ext cx="21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3" name="Rectangle 391"/>
                  <p:cNvSpPr>
                    <a:spLocks noChangeArrowheads="1"/>
                  </p:cNvSpPr>
                  <p:nvPr/>
                </p:nvSpPr>
                <p:spPr bwMode="auto">
                  <a:xfrm>
                    <a:off x="4127" y="1728"/>
                    <a:ext cx="19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4" name="Rectangle 392"/>
                  <p:cNvSpPr>
                    <a:spLocks noChangeArrowheads="1"/>
                  </p:cNvSpPr>
                  <p:nvPr/>
                </p:nvSpPr>
                <p:spPr bwMode="auto">
                  <a:xfrm>
                    <a:off x="4199" y="1733"/>
                    <a:ext cx="17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5" name="Line 39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155" y="1661"/>
                    <a:ext cx="6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597" name="Group 394"/>
                <p:cNvGrpSpPr>
                  <a:grpSpLocks/>
                </p:cNvGrpSpPr>
                <p:nvPr/>
              </p:nvGrpSpPr>
              <p:grpSpPr bwMode="auto">
                <a:xfrm>
                  <a:off x="4004" y="1496"/>
                  <a:ext cx="212" cy="108"/>
                  <a:chOff x="4004" y="1496"/>
                  <a:chExt cx="212" cy="108"/>
                </a:xfrm>
              </p:grpSpPr>
              <p:sp>
                <p:nvSpPr>
                  <p:cNvPr id="1620" name="Line 395"/>
                  <p:cNvSpPr>
                    <a:spLocks noChangeShapeType="1"/>
                  </p:cNvSpPr>
                  <p:nvPr/>
                </p:nvSpPr>
                <p:spPr bwMode="auto">
                  <a:xfrm>
                    <a:off x="4017" y="1548"/>
                    <a:ext cx="41" cy="5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1" name="Line 396"/>
                  <p:cNvSpPr>
                    <a:spLocks noChangeShapeType="1"/>
                  </p:cNvSpPr>
                  <p:nvPr/>
                </p:nvSpPr>
                <p:spPr bwMode="auto">
                  <a:xfrm>
                    <a:off x="4083" y="1553"/>
                    <a:ext cx="0" cy="5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2" name="Line 397"/>
                  <p:cNvSpPr>
                    <a:spLocks noChangeShapeType="1"/>
                  </p:cNvSpPr>
                  <p:nvPr/>
                </p:nvSpPr>
                <p:spPr bwMode="auto">
                  <a:xfrm>
                    <a:off x="4139" y="1551"/>
                    <a:ext cx="0" cy="5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3" name="Rectangle 398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499"/>
                    <a:ext cx="18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4" name="Rectangle 399"/>
                  <p:cNvSpPr>
                    <a:spLocks noChangeArrowheads="1"/>
                  </p:cNvSpPr>
                  <p:nvPr/>
                </p:nvSpPr>
                <p:spPr bwMode="auto">
                  <a:xfrm>
                    <a:off x="4072" y="1496"/>
                    <a:ext cx="21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5" name="Rectangle 400"/>
                  <p:cNvSpPr>
                    <a:spLocks noChangeArrowheads="1"/>
                  </p:cNvSpPr>
                  <p:nvPr/>
                </p:nvSpPr>
                <p:spPr bwMode="auto">
                  <a:xfrm>
                    <a:off x="4127" y="1498"/>
                    <a:ext cx="19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6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4199" y="1499"/>
                    <a:ext cx="17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7" name="Line 40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55" y="1548"/>
                    <a:ext cx="61" cy="5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599" name="Group 403"/>
              <p:cNvGrpSpPr>
                <a:grpSpLocks/>
              </p:cNvGrpSpPr>
              <p:nvPr/>
            </p:nvGrpSpPr>
            <p:grpSpPr bwMode="auto">
              <a:xfrm>
                <a:off x="3600" y="779"/>
                <a:ext cx="202" cy="288"/>
                <a:chOff x="3962" y="867"/>
                <a:chExt cx="213" cy="281"/>
              </a:xfrm>
            </p:grpSpPr>
            <p:sp>
              <p:nvSpPr>
                <p:cNvPr id="1598" name="Rectangle 404"/>
                <p:cNvSpPr>
                  <a:spLocks noChangeArrowheads="1"/>
                </p:cNvSpPr>
                <p:nvPr/>
              </p:nvSpPr>
              <p:spPr bwMode="auto">
                <a:xfrm>
                  <a:off x="4025" y="990"/>
                  <a:ext cx="93" cy="4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600" name="Group 405"/>
                <p:cNvGrpSpPr>
                  <a:grpSpLocks/>
                </p:cNvGrpSpPr>
                <p:nvPr/>
              </p:nvGrpSpPr>
              <p:grpSpPr bwMode="auto">
                <a:xfrm>
                  <a:off x="3962" y="1032"/>
                  <a:ext cx="213" cy="116"/>
                  <a:chOff x="3962" y="1032"/>
                  <a:chExt cx="213" cy="116"/>
                </a:xfrm>
              </p:grpSpPr>
              <p:sp>
                <p:nvSpPr>
                  <p:cNvPr id="1609" name="Line 40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75" y="1033"/>
                    <a:ext cx="4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0" name="Line 40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41" y="1033"/>
                    <a:ext cx="0" cy="6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1" name="Line 40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97" y="1032"/>
                    <a:ext cx="0" cy="6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2" name="Rectangle 409"/>
                  <p:cNvSpPr>
                    <a:spLocks noChangeArrowheads="1"/>
                  </p:cNvSpPr>
                  <p:nvPr/>
                </p:nvSpPr>
                <p:spPr bwMode="auto">
                  <a:xfrm>
                    <a:off x="3962" y="1105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3" name="Rectangle 410"/>
                  <p:cNvSpPr>
                    <a:spLocks noChangeArrowheads="1"/>
                  </p:cNvSpPr>
                  <p:nvPr/>
                </p:nvSpPr>
                <p:spPr bwMode="auto">
                  <a:xfrm>
                    <a:off x="4030" y="1101"/>
                    <a:ext cx="20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4" name="Rectangle 411"/>
                  <p:cNvSpPr>
                    <a:spLocks noChangeArrowheads="1"/>
                  </p:cNvSpPr>
                  <p:nvPr/>
                </p:nvSpPr>
                <p:spPr bwMode="auto">
                  <a:xfrm>
                    <a:off x="4086" y="1100"/>
                    <a:ext cx="19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5" name="Rectangle 412"/>
                  <p:cNvSpPr>
                    <a:spLocks noChangeArrowheads="1"/>
                  </p:cNvSpPr>
                  <p:nvPr/>
                </p:nvSpPr>
                <p:spPr bwMode="auto">
                  <a:xfrm>
                    <a:off x="4158" y="1105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6" name="Line 41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114" y="1033"/>
                    <a:ext cx="60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618" name="Group 414"/>
                <p:cNvGrpSpPr>
                  <a:grpSpLocks/>
                </p:cNvGrpSpPr>
                <p:nvPr/>
              </p:nvGrpSpPr>
              <p:grpSpPr bwMode="auto">
                <a:xfrm>
                  <a:off x="3962" y="867"/>
                  <a:ext cx="213" cy="109"/>
                  <a:chOff x="3962" y="867"/>
                  <a:chExt cx="213" cy="109"/>
                </a:xfrm>
              </p:grpSpPr>
              <p:sp>
                <p:nvSpPr>
                  <p:cNvPr id="1601" name="Line 415"/>
                  <p:cNvSpPr>
                    <a:spLocks noChangeShapeType="1"/>
                  </p:cNvSpPr>
                  <p:nvPr/>
                </p:nvSpPr>
                <p:spPr bwMode="auto">
                  <a:xfrm>
                    <a:off x="3975" y="919"/>
                    <a:ext cx="41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2" name="Line 416"/>
                  <p:cNvSpPr>
                    <a:spLocks noChangeShapeType="1"/>
                  </p:cNvSpPr>
                  <p:nvPr/>
                </p:nvSpPr>
                <p:spPr bwMode="auto">
                  <a:xfrm>
                    <a:off x="4041" y="925"/>
                    <a:ext cx="0" cy="5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3" name="Line 417"/>
                  <p:cNvSpPr>
                    <a:spLocks noChangeShapeType="1"/>
                  </p:cNvSpPr>
                  <p:nvPr/>
                </p:nvSpPr>
                <p:spPr bwMode="auto">
                  <a:xfrm>
                    <a:off x="4097" y="922"/>
                    <a:ext cx="0" cy="5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4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3962" y="871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5" name="Rectangle 419"/>
                  <p:cNvSpPr>
                    <a:spLocks noChangeArrowheads="1"/>
                  </p:cNvSpPr>
                  <p:nvPr/>
                </p:nvSpPr>
                <p:spPr bwMode="auto">
                  <a:xfrm>
                    <a:off x="4030" y="867"/>
                    <a:ext cx="20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6" name="Rectangle 420"/>
                  <p:cNvSpPr>
                    <a:spLocks noChangeArrowheads="1"/>
                  </p:cNvSpPr>
                  <p:nvPr/>
                </p:nvSpPr>
                <p:spPr bwMode="auto">
                  <a:xfrm>
                    <a:off x="4086" y="869"/>
                    <a:ext cx="19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7" name="Rectangle 421"/>
                  <p:cNvSpPr>
                    <a:spLocks noChangeArrowheads="1"/>
                  </p:cNvSpPr>
                  <p:nvPr/>
                </p:nvSpPr>
                <p:spPr bwMode="auto">
                  <a:xfrm>
                    <a:off x="4158" y="871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8" name="Line 4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14" y="919"/>
                    <a:ext cx="60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</p:grpSp>
        <p:sp>
          <p:nvSpPr>
            <p:cNvPr id="1514" name="Rectangle 425"/>
            <p:cNvSpPr>
              <a:spLocks noChangeArrowheads="1"/>
            </p:cNvSpPr>
            <p:nvPr/>
          </p:nvSpPr>
          <p:spPr bwMode="auto">
            <a:xfrm>
              <a:off x="981383" y="6135260"/>
              <a:ext cx="1613900" cy="5555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3067" tIns="45717" rIns="93067" bIns="45717">
              <a:spAutoFit/>
            </a:bodyPr>
            <a:lstStyle/>
            <a:p>
              <a:pPr algn="ctr" defTabSz="939800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Desktop </a:t>
              </a:r>
              <a:br>
                <a:rPr lang="en-US" altLang="zh-TW" sz="1500" b="1" dirty="0">
                  <a:ea typeface="新細明體" charset="-120"/>
                </a:rPr>
              </a:br>
              <a:r>
                <a:rPr lang="en-US" altLang="zh-TW" sz="1400" b="1" dirty="0">
                  <a:ea typeface="新細明體" charset="-120"/>
                </a:rPr>
                <a:t>(Single or Multi-processors)</a:t>
              </a:r>
            </a:p>
          </p:txBody>
        </p:sp>
        <p:sp>
          <p:nvSpPr>
            <p:cNvPr id="1515" name="Rectangle 426"/>
            <p:cNvSpPr>
              <a:spLocks noChangeArrowheads="1"/>
            </p:cNvSpPr>
            <p:nvPr/>
          </p:nvSpPr>
          <p:spPr bwMode="auto">
            <a:xfrm>
              <a:off x="2493551" y="6135260"/>
              <a:ext cx="1181561" cy="5804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3067" tIns="45717" rIns="93067" bIns="45717">
              <a:spAutoFit/>
            </a:bodyPr>
            <a:lstStyle/>
            <a:p>
              <a:pPr algn="ctr" defTabSz="939800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SMPs or Super-computers</a:t>
              </a:r>
            </a:p>
          </p:txBody>
        </p:sp>
        <p:sp>
          <p:nvSpPr>
            <p:cNvPr id="1516" name="Rectangle 427"/>
            <p:cNvSpPr>
              <a:spLocks noChangeArrowheads="1"/>
            </p:cNvSpPr>
            <p:nvPr/>
          </p:nvSpPr>
          <p:spPr bwMode="auto">
            <a:xfrm>
              <a:off x="3723985" y="6135260"/>
              <a:ext cx="929806" cy="4616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3067" tIns="45717" rIns="93067" bIns="45717">
              <a:spAutoFit/>
            </a:bodyPr>
            <a:lstStyle/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Local</a:t>
              </a:r>
            </a:p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Cluster</a:t>
              </a:r>
            </a:p>
          </p:txBody>
        </p:sp>
        <p:sp>
          <p:nvSpPr>
            <p:cNvPr id="1517" name="Rectangle 428"/>
            <p:cNvSpPr>
              <a:spLocks noChangeArrowheads="1"/>
            </p:cNvSpPr>
            <p:nvPr/>
          </p:nvSpPr>
          <p:spPr bwMode="auto">
            <a:xfrm>
              <a:off x="6040541" y="6137376"/>
              <a:ext cx="1430911" cy="4616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3067" tIns="45717" rIns="93067" bIns="45717">
              <a:spAutoFit/>
            </a:bodyPr>
            <a:lstStyle/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Global</a:t>
              </a:r>
            </a:p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Cluster/Grid</a:t>
              </a:r>
            </a:p>
          </p:txBody>
        </p:sp>
        <p:sp>
          <p:nvSpPr>
            <p:cNvPr id="1518" name="Rectangle 429"/>
            <p:cNvSpPr>
              <a:spLocks noChangeArrowheads="1"/>
            </p:cNvSpPr>
            <p:nvPr/>
          </p:nvSpPr>
          <p:spPr bwMode="auto">
            <a:xfrm>
              <a:off x="683568" y="3175759"/>
              <a:ext cx="384929" cy="22590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vert270" lIns="93067" tIns="45717" rIns="93067" bIns="45717">
              <a:spAutoFit/>
            </a:bodyPr>
            <a:lstStyle/>
            <a:p>
              <a:pPr defTabSz="93980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TW" sz="1600" b="1" dirty="0">
                  <a:ea typeface="新細明體" charset="-120"/>
                </a:rPr>
                <a:t>RESOURCE CAPACITY</a:t>
              </a:r>
            </a:p>
          </p:txBody>
        </p:sp>
        <p:sp>
          <p:nvSpPr>
            <p:cNvPr id="1519" name="Text Box 432"/>
            <p:cNvSpPr txBox="1">
              <a:spLocks noChangeArrowheads="1"/>
            </p:cNvSpPr>
            <p:nvPr/>
          </p:nvSpPr>
          <p:spPr bwMode="auto">
            <a:xfrm>
              <a:off x="7386983" y="6043354"/>
              <a:ext cx="1422184" cy="5539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defTabSz="931863"/>
              <a:r>
                <a:rPr lang="en-US" altLang="zh-TW" sz="1500" b="1" dirty="0">
                  <a:solidFill>
                    <a:srgbClr val="0070C0"/>
                  </a:solidFill>
                  <a:ea typeface="新細明體" charset="-120"/>
                </a:rPr>
                <a:t>Next big thing</a:t>
              </a:r>
            </a:p>
            <a:p>
              <a:pPr algn="ctr" defTabSz="931863"/>
              <a:r>
                <a:rPr lang="en-US" altLang="zh-TW" sz="1500" b="1" dirty="0">
                  <a:solidFill>
                    <a:srgbClr val="0070C0"/>
                  </a:solidFill>
                  <a:ea typeface="新細明體" charset="-120"/>
                </a:rPr>
                <a:t>Grid or Cloud??</a:t>
              </a:r>
            </a:p>
          </p:txBody>
        </p:sp>
        <p:sp>
          <p:nvSpPr>
            <p:cNvPr id="1525" name="Rectangle 441"/>
            <p:cNvSpPr>
              <a:spLocks noChangeArrowheads="1"/>
            </p:cNvSpPr>
            <p:nvPr/>
          </p:nvSpPr>
          <p:spPr bwMode="auto">
            <a:xfrm>
              <a:off x="4704829" y="6135260"/>
              <a:ext cx="1407620" cy="4616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3067" tIns="45717" rIns="93067" bIns="45717">
              <a:spAutoFit/>
            </a:bodyPr>
            <a:lstStyle/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Enterprise</a:t>
              </a:r>
            </a:p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Cluster/Grid</a:t>
              </a:r>
            </a:p>
          </p:txBody>
        </p:sp>
        <p:grpSp>
          <p:nvGrpSpPr>
            <p:cNvPr id="1637" name="Group 442"/>
            <p:cNvGrpSpPr>
              <a:grpSpLocks/>
            </p:cNvGrpSpPr>
            <p:nvPr/>
          </p:nvGrpSpPr>
          <p:grpSpPr bwMode="auto">
            <a:xfrm>
              <a:off x="5022546" y="3296559"/>
              <a:ext cx="266074" cy="364905"/>
              <a:chOff x="4473" y="1640"/>
              <a:chExt cx="212" cy="282"/>
            </a:xfrm>
          </p:grpSpPr>
          <p:sp>
            <p:nvSpPr>
              <p:cNvPr id="1569" name="Rectangle 443"/>
              <p:cNvSpPr>
                <a:spLocks noChangeArrowheads="1"/>
              </p:cNvSpPr>
              <p:nvPr/>
            </p:nvSpPr>
            <p:spPr bwMode="auto">
              <a:xfrm>
                <a:off x="4534" y="1764"/>
                <a:ext cx="95" cy="41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1638" name="Group 444"/>
              <p:cNvGrpSpPr>
                <a:grpSpLocks/>
              </p:cNvGrpSpPr>
              <p:nvPr/>
            </p:nvGrpSpPr>
            <p:grpSpPr bwMode="auto">
              <a:xfrm>
                <a:off x="4473" y="1805"/>
                <a:ext cx="212" cy="117"/>
                <a:chOff x="4473" y="1805"/>
                <a:chExt cx="212" cy="117"/>
              </a:xfrm>
            </p:grpSpPr>
            <p:sp>
              <p:nvSpPr>
                <p:cNvPr id="1580" name="Line 445"/>
                <p:cNvSpPr>
                  <a:spLocks noChangeShapeType="1"/>
                </p:cNvSpPr>
                <p:nvPr/>
              </p:nvSpPr>
              <p:spPr bwMode="auto">
                <a:xfrm flipV="1">
                  <a:off x="4485" y="1806"/>
                  <a:ext cx="41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1" name="Line 446"/>
                <p:cNvSpPr>
                  <a:spLocks noChangeShapeType="1"/>
                </p:cNvSpPr>
                <p:nvPr/>
              </p:nvSpPr>
              <p:spPr bwMode="auto">
                <a:xfrm flipV="1">
                  <a:off x="4552" y="1807"/>
                  <a:ext cx="0" cy="6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2" name="Line 447"/>
                <p:cNvSpPr>
                  <a:spLocks noChangeShapeType="1"/>
                </p:cNvSpPr>
                <p:nvPr/>
              </p:nvSpPr>
              <p:spPr bwMode="auto">
                <a:xfrm flipV="1">
                  <a:off x="4607" y="1805"/>
                  <a:ext cx="0" cy="7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3" name="Rectangle 448"/>
                <p:cNvSpPr>
                  <a:spLocks noChangeArrowheads="1"/>
                </p:cNvSpPr>
                <p:nvPr/>
              </p:nvSpPr>
              <p:spPr bwMode="auto">
                <a:xfrm>
                  <a:off x="4473" y="1878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4" name="Rectangle 449"/>
                <p:cNvSpPr>
                  <a:spLocks noChangeArrowheads="1"/>
                </p:cNvSpPr>
                <p:nvPr/>
              </p:nvSpPr>
              <p:spPr bwMode="auto">
                <a:xfrm>
                  <a:off x="4541" y="1875"/>
                  <a:ext cx="20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5" name="Rectangle 450"/>
                <p:cNvSpPr>
                  <a:spLocks noChangeArrowheads="1"/>
                </p:cNvSpPr>
                <p:nvPr/>
              </p:nvSpPr>
              <p:spPr bwMode="auto">
                <a:xfrm>
                  <a:off x="4596" y="1873"/>
                  <a:ext cx="18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6" name="Rectangle 451"/>
                <p:cNvSpPr>
                  <a:spLocks noChangeArrowheads="1"/>
                </p:cNvSpPr>
                <p:nvPr/>
              </p:nvSpPr>
              <p:spPr bwMode="auto">
                <a:xfrm>
                  <a:off x="4667" y="1878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7" name="Line 452"/>
                <p:cNvSpPr>
                  <a:spLocks noChangeShapeType="1"/>
                </p:cNvSpPr>
                <p:nvPr/>
              </p:nvSpPr>
              <p:spPr bwMode="auto">
                <a:xfrm flipH="1" flipV="1">
                  <a:off x="4624" y="1806"/>
                  <a:ext cx="60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656" name="Group 453"/>
              <p:cNvGrpSpPr>
                <a:grpSpLocks/>
              </p:cNvGrpSpPr>
              <p:nvPr/>
            </p:nvGrpSpPr>
            <p:grpSpPr bwMode="auto">
              <a:xfrm>
                <a:off x="4473" y="1640"/>
                <a:ext cx="212" cy="109"/>
                <a:chOff x="4473" y="1640"/>
                <a:chExt cx="212" cy="109"/>
              </a:xfrm>
            </p:grpSpPr>
            <p:sp>
              <p:nvSpPr>
                <p:cNvPr id="1572" name="Line 454"/>
                <p:cNvSpPr>
                  <a:spLocks noChangeShapeType="1"/>
                </p:cNvSpPr>
                <p:nvPr/>
              </p:nvSpPr>
              <p:spPr bwMode="auto">
                <a:xfrm>
                  <a:off x="4485" y="1692"/>
                  <a:ext cx="41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3" name="Line 455"/>
                <p:cNvSpPr>
                  <a:spLocks noChangeShapeType="1"/>
                </p:cNvSpPr>
                <p:nvPr/>
              </p:nvSpPr>
              <p:spPr bwMode="auto">
                <a:xfrm>
                  <a:off x="4552" y="169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4" name="Line 456"/>
                <p:cNvSpPr>
                  <a:spLocks noChangeShapeType="1"/>
                </p:cNvSpPr>
                <p:nvPr/>
              </p:nvSpPr>
              <p:spPr bwMode="auto">
                <a:xfrm>
                  <a:off x="4607" y="1696"/>
                  <a:ext cx="0" cy="5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5" name="Rectangle 457"/>
                <p:cNvSpPr>
                  <a:spLocks noChangeArrowheads="1"/>
                </p:cNvSpPr>
                <p:nvPr/>
              </p:nvSpPr>
              <p:spPr bwMode="auto">
                <a:xfrm>
                  <a:off x="4473" y="1644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6" name="Rectangle 458"/>
                <p:cNvSpPr>
                  <a:spLocks noChangeArrowheads="1"/>
                </p:cNvSpPr>
                <p:nvPr/>
              </p:nvSpPr>
              <p:spPr bwMode="auto">
                <a:xfrm>
                  <a:off x="4541" y="1640"/>
                  <a:ext cx="20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7" name="Rectangle 459"/>
                <p:cNvSpPr>
                  <a:spLocks noChangeArrowheads="1"/>
                </p:cNvSpPr>
                <p:nvPr/>
              </p:nvSpPr>
              <p:spPr bwMode="auto">
                <a:xfrm>
                  <a:off x="4596" y="1643"/>
                  <a:ext cx="18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8" name="Rectangle 460"/>
                <p:cNvSpPr>
                  <a:spLocks noChangeArrowheads="1"/>
                </p:cNvSpPr>
                <p:nvPr/>
              </p:nvSpPr>
              <p:spPr bwMode="auto">
                <a:xfrm>
                  <a:off x="4667" y="1644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9" name="Line 461"/>
                <p:cNvSpPr>
                  <a:spLocks noChangeShapeType="1"/>
                </p:cNvSpPr>
                <p:nvPr/>
              </p:nvSpPr>
              <p:spPr bwMode="auto">
                <a:xfrm flipH="1">
                  <a:off x="4624" y="1692"/>
                  <a:ext cx="60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1657" name="Group 462"/>
            <p:cNvGrpSpPr>
              <a:grpSpLocks/>
            </p:cNvGrpSpPr>
            <p:nvPr/>
          </p:nvGrpSpPr>
          <p:grpSpPr bwMode="auto">
            <a:xfrm>
              <a:off x="5530864" y="3175763"/>
              <a:ext cx="266074" cy="364905"/>
              <a:chOff x="4473" y="1640"/>
              <a:chExt cx="212" cy="282"/>
            </a:xfrm>
          </p:grpSpPr>
          <p:sp>
            <p:nvSpPr>
              <p:cNvPr id="1550" name="Rectangle 463"/>
              <p:cNvSpPr>
                <a:spLocks noChangeArrowheads="1"/>
              </p:cNvSpPr>
              <p:nvPr/>
            </p:nvSpPr>
            <p:spPr bwMode="auto">
              <a:xfrm>
                <a:off x="4534" y="1764"/>
                <a:ext cx="95" cy="41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1675" name="Group 464"/>
              <p:cNvGrpSpPr>
                <a:grpSpLocks/>
              </p:cNvGrpSpPr>
              <p:nvPr/>
            </p:nvGrpSpPr>
            <p:grpSpPr bwMode="auto">
              <a:xfrm>
                <a:off x="4473" y="1805"/>
                <a:ext cx="212" cy="117"/>
                <a:chOff x="4473" y="1805"/>
                <a:chExt cx="212" cy="117"/>
              </a:xfrm>
            </p:grpSpPr>
            <p:sp>
              <p:nvSpPr>
                <p:cNvPr id="1561" name="Line 465"/>
                <p:cNvSpPr>
                  <a:spLocks noChangeShapeType="1"/>
                </p:cNvSpPr>
                <p:nvPr/>
              </p:nvSpPr>
              <p:spPr bwMode="auto">
                <a:xfrm flipV="1">
                  <a:off x="4485" y="1806"/>
                  <a:ext cx="41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2" name="Line 466"/>
                <p:cNvSpPr>
                  <a:spLocks noChangeShapeType="1"/>
                </p:cNvSpPr>
                <p:nvPr/>
              </p:nvSpPr>
              <p:spPr bwMode="auto">
                <a:xfrm flipV="1">
                  <a:off x="4552" y="1807"/>
                  <a:ext cx="0" cy="6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3" name="Line 467"/>
                <p:cNvSpPr>
                  <a:spLocks noChangeShapeType="1"/>
                </p:cNvSpPr>
                <p:nvPr/>
              </p:nvSpPr>
              <p:spPr bwMode="auto">
                <a:xfrm flipV="1">
                  <a:off x="4607" y="1805"/>
                  <a:ext cx="0" cy="7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4" name="Rectangle 468"/>
                <p:cNvSpPr>
                  <a:spLocks noChangeArrowheads="1"/>
                </p:cNvSpPr>
                <p:nvPr/>
              </p:nvSpPr>
              <p:spPr bwMode="auto">
                <a:xfrm>
                  <a:off x="4473" y="1878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5" name="Rectangle 469"/>
                <p:cNvSpPr>
                  <a:spLocks noChangeArrowheads="1"/>
                </p:cNvSpPr>
                <p:nvPr/>
              </p:nvSpPr>
              <p:spPr bwMode="auto">
                <a:xfrm>
                  <a:off x="4541" y="1875"/>
                  <a:ext cx="20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6" name="Rectangle 470"/>
                <p:cNvSpPr>
                  <a:spLocks noChangeArrowheads="1"/>
                </p:cNvSpPr>
                <p:nvPr/>
              </p:nvSpPr>
              <p:spPr bwMode="auto">
                <a:xfrm>
                  <a:off x="4596" y="1873"/>
                  <a:ext cx="18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7" name="Rectangle 471"/>
                <p:cNvSpPr>
                  <a:spLocks noChangeArrowheads="1"/>
                </p:cNvSpPr>
                <p:nvPr/>
              </p:nvSpPr>
              <p:spPr bwMode="auto">
                <a:xfrm>
                  <a:off x="4667" y="1878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8" name="Line 472"/>
                <p:cNvSpPr>
                  <a:spLocks noChangeShapeType="1"/>
                </p:cNvSpPr>
                <p:nvPr/>
              </p:nvSpPr>
              <p:spPr bwMode="auto">
                <a:xfrm flipH="1" flipV="1">
                  <a:off x="4624" y="1806"/>
                  <a:ext cx="60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676" name="Group 473"/>
              <p:cNvGrpSpPr>
                <a:grpSpLocks/>
              </p:cNvGrpSpPr>
              <p:nvPr/>
            </p:nvGrpSpPr>
            <p:grpSpPr bwMode="auto">
              <a:xfrm>
                <a:off x="4473" y="1640"/>
                <a:ext cx="212" cy="109"/>
                <a:chOff x="4473" y="1640"/>
                <a:chExt cx="212" cy="109"/>
              </a:xfrm>
            </p:grpSpPr>
            <p:sp>
              <p:nvSpPr>
                <p:cNvPr id="1553" name="Line 474"/>
                <p:cNvSpPr>
                  <a:spLocks noChangeShapeType="1"/>
                </p:cNvSpPr>
                <p:nvPr/>
              </p:nvSpPr>
              <p:spPr bwMode="auto">
                <a:xfrm>
                  <a:off x="4485" y="1692"/>
                  <a:ext cx="41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4" name="Line 475"/>
                <p:cNvSpPr>
                  <a:spLocks noChangeShapeType="1"/>
                </p:cNvSpPr>
                <p:nvPr/>
              </p:nvSpPr>
              <p:spPr bwMode="auto">
                <a:xfrm>
                  <a:off x="4552" y="169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5" name="Line 476"/>
                <p:cNvSpPr>
                  <a:spLocks noChangeShapeType="1"/>
                </p:cNvSpPr>
                <p:nvPr/>
              </p:nvSpPr>
              <p:spPr bwMode="auto">
                <a:xfrm>
                  <a:off x="4607" y="1696"/>
                  <a:ext cx="0" cy="5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6" name="Rectangle 477"/>
                <p:cNvSpPr>
                  <a:spLocks noChangeArrowheads="1"/>
                </p:cNvSpPr>
                <p:nvPr/>
              </p:nvSpPr>
              <p:spPr bwMode="auto">
                <a:xfrm>
                  <a:off x="4473" y="1644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7" name="Rectangle 478"/>
                <p:cNvSpPr>
                  <a:spLocks noChangeArrowheads="1"/>
                </p:cNvSpPr>
                <p:nvPr/>
              </p:nvSpPr>
              <p:spPr bwMode="auto">
                <a:xfrm>
                  <a:off x="4541" y="1640"/>
                  <a:ext cx="20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8" name="Rectangle 479"/>
                <p:cNvSpPr>
                  <a:spLocks noChangeArrowheads="1"/>
                </p:cNvSpPr>
                <p:nvPr/>
              </p:nvSpPr>
              <p:spPr bwMode="auto">
                <a:xfrm>
                  <a:off x="4596" y="1643"/>
                  <a:ext cx="18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9" name="Rectangle 480"/>
                <p:cNvSpPr>
                  <a:spLocks noChangeArrowheads="1"/>
                </p:cNvSpPr>
                <p:nvPr/>
              </p:nvSpPr>
              <p:spPr bwMode="auto">
                <a:xfrm>
                  <a:off x="4667" y="1644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0" name="Line 481"/>
                <p:cNvSpPr>
                  <a:spLocks noChangeShapeType="1"/>
                </p:cNvSpPr>
                <p:nvPr/>
              </p:nvSpPr>
              <p:spPr bwMode="auto">
                <a:xfrm flipH="1">
                  <a:off x="4624" y="1692"/>
                  <a:ext cx="60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1694" name="Group 482"/>
            <p:cNvGrpSpPr>
              <a:grpSpLocks/>
            </p:cNvGrpSpPr>
            <p:nvPr/>
          </p:nvGrpSpPr>
          <p:grpSpPr bwMode="auto">
            <a:xfrm>
              <a:off x="4895466" y="2148997"/>
              <a:ext cx="266074" cy="364905"/>
              <a:chOff x="4473" y="1640"/>
              <a:chExt cx="212" cy="282"/>
            </a:xfrm>
          </p:grpSpPr>
          <p:sp>
            <p:nvSpPr>
              <p:cNvPr id="1531" name="Rectangle 483"/>
              <p:cNvSpPr>
                <a:spLocks noChangeArrowheads="1"/>
              </p:cNvSpPr>
              <p:nvPr/>
            </p:nvSpPr>
            <p:spPr bwMode="auto">
              <a:xfrm>
                <a:off x="4534" y="1764"/>
                <a:ext cx="95" cy="41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1695" name="Group 484"/>
              <p:cNvGrpSpPr>
                <a:grpSpLocks/>
              </p:cNvGrpSpPr>
              <p:nvPr/>
            </p:nvGrpSpPr>
            <p:grpSpPr bwMode="auto">
              <a:xfrm>
                <a:off x="4473" y="1805"/>
                <a:ext cx="212" cy="117"/>
                <a:chOff x="4473" y="1805"/>
                <a:chExt cx="212" cy="117"/>
              </a:xfrm>
            </p:grpSpPr>
            <p:sp>
              <p:nvSpPr>
                <p:cNvPr id="1542" name="Line 485"/>
                <p:cNvSpPr>
                  <a:spLocks noChangeShapeType="1"/>
                </p:cNvSpPr>
                <p:nvPr/>
              </p:nvSpPr>
              <p:spPr bwMode="auto">
                <a:xfrm flipV="1">
                  <a:off x="4485" y="1806"/>
                  <a:ext cx="41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3" name="Line 486"/>
                <p:cNvSpPr>
                  <a:spLocks noChangeShapeType="1"/>
                </p:cNvSpPr>
                <p:nvPr/>
              </p:nvSpPr>
              <p:spPr bwMode="auto">
                <a:xfrm flipV="1">
                  <a:off x="4552" y="1807"/>
                  <a:ext cx="0" cy="6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4" name="Line 487"/>
                <p:cNvSpPr>
                  <a:spLocks noChangeShapeType="1"/>
                </p:cNvSpPr>
                <p:nvPr/>
              </p:nvSpPr>
              <p:spPr bwMode="auto">
                <a:xfrm flipV="1">
                  <a:off x="4607" y="1805"/>
                  <a:ext cx="0" cy="7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5" name="Rectangle 488"/>
                <p:cNvSpPr>
                  <a:spLocks noChangeArrowheads="1"/>
                </p:cNvSpPr>
                <p:nvPr/>
              </p:nvSpPr>
              <p:spPr bwMode="auto">
                <a:xfrm>
                  <a:off x="4473" y="1878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6" name="Rectangle 489"/>
                <p:cNvSpPr>
                  <a:spLocks noChangeArrowheads="1"/>
                </p:cNvSpPr>
                <p:nvPr/>
              </p:nvSpPr>
              <p:spPr bwMode="auto">
                <a:xfrm>
                  <a:off x="4541" y="1875"/>
                  <a:ext cx="20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7" name="Rectangle 490"/>
                <p:cNvSpPr>
                  <a:spLocks noChangeArrowheads="1"/>
                </p:cNvSpPr>
                <p:nvPr/>
              </p:nvSpPr>
              <p:spPr bwMode="auto">
                <a:xfrm>
                  <a:off x="4596" y="1873"/>
                  <a:ext cx="18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8" name="Rectangle 491"/>
                <p:cNvSpPr>
                  <a:spLocks noChangeArrowheads="1"/>
                </p:cNvSpPr>
                <p:nvPr/>
              </p:nvSpPr>
              <p:spPr bwMode="auto">
                <a:xfrm>
                  <a:off x="4667" y="1878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9" name="Line 492"/>
                <p:cNvSpPr>
                  <a:spLocks noChangeShapeType="1"/>
                </p:cNvSpPr>
                <p:nvPr/>
              </p:nvSpPr>
              <p:spPr bwMode="auto">
                <a:xfrm flipH="1" flipV="1">
                  <a:off x="4624" y="1806"/>
                  <a:ext cx="60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713" name="Group 493"/>
              <p:cNvGrpSpPr>
                <a:grpSpLocks/>
              </p:cNvGrpSpPr>
              <p:nvPr/>
            </p:nvGrpSpPr>
            <p:grpSpPr bwMode="auto">
              <a:xfrm>
                <a:off x="4473" y="1640"/>
                <a:ext cx="212" cy="109"/>
                <a:chOff x="4473" y="1640"/>
                <a:chExt cx="212" cy="109"/>
              </a:xfrm>
            </p:grpSpPr>
            <p:sp>
              <p:nvSpPr>
                <p:cNvPr id="1534" name="Line 494"/>
                <p:cNvSpPr>
                  <a:spLocks noChangeShapeType="1"/>
                </p:cNvSpPr>
                <p:nvPr/>
              </p:nvSpPr>
              <p:spPr bwMode="auto">
                <a:xfrm>
                  <a:off x="4485" y="1692"/>
                  <a:ext cx="41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35" name="Line 495"/>
                <p:cNvSpPr>
                  <a:spLocks noChangeShapeType="1"/>
                </p:cNvSpPr>
                <p:nvPr/>
              </p:nvSpPr>
              <p:spPr bwMode="auto">
                <a:xfrm>
                  <a:off x="4552" y="169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36" name="Line 496"/>
                <p:cNvSpPr>
                  <a:spLocks noChangeShapeType="1"/>
                </p:cNvSpPr>
                <p:nvPr/>
              </p:nvSpPr>
              <p:spPr bwMode="auto">
                <a:xfrm>
                  <a:off x="4607" y="1696"/>
                  <a:ext cx="0" cy="5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37" name="Rectangle 497"/>
                <p:cNvSpPr>
                  <a:spLocks noChangeArrowheads="1"/>
                </p:cNvSpPr>
                <p:nvPr/>
              </p:nvSpPr>
              <p:spPr bwMode="auto">
                <a:xfrm>
                  <a:off x="4473" y="1644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38" name="Rectangle 498"/>
                <p:cNvSpPr>
                  <a:spLocks noChangeArrowheads="1"/>
                </p:cNvSpPr>
                <p:nvPr/>
              </p:nvSpPr>
              <p:spPr bwMode="auto">
                <a:xfrm>
                  <a:off x="4541" y="1640"/>
                  <a:ext cx="20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39" name="Rectangle 499"/>
                <p:cNvSpPr>
                  <a:spLocks noChangeArrowheads="1"/>
                </p:cNvSpPr>
                <p:nvPr/>
              </p:nvSpPr>
              <p:spPr bwMode="auto">
                <a:xfrm>
                  <a:off x="4596" y="1643"/>
                  <a:ext cx="18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0" name="Rectangle 500"/>
                <p:cNvSpPr>
                  <a:spLocks noChangeArrowheads="1"/>
                </p:cNvSpPr>
                <p:nvPr/>
              </p:nvSpPr>
              <p:spPr bwMode="auto">
                <a:xfrm>
                  <a:off x="4667" y="1644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1" name="Line 501"/>
                <p:cNvSpPr>
                  <a:spLocks noChangeShapeType="1"/>
                </p:cNvSpPr>
                <p:nvPr/>
              </p:nvSpPr>
              <p:spPr bwMode="auto">
                <a:xfrm flipH="1">
                  <a:off x="4624" y="1692"/>
                  <a:ext cx="60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1714" name="群組 502"/>
            <p:cNvGrpSpPr/>
            <p:nvPr/>
          </p:nvGrpSpPr>
          <p:grpSpPr>
            <a:xfrm>
              <a:off x="1230015" y="1340768"/>
              <a:ext cx="7488832" cy="4608512"/>
              <a:chOff x="1475656" y="1340768"/>
              <a:chExt cx="7488832" cy="4608512"/>
            </a:xfrm>
          </p:grpSpPr>
          <p:cxnSp>
            <p:nvCxnSpPr>
              <p:cNvPr id="507" name="直線接點 506"/>
              <p:cNvCxnSpPr/>
              <p:nvPr/>
            </p:nvCxnSpPr>
            <p:spPr>
              <a:xfrm rot="5400000">
                <a:off x="-828600" y="3645024"/>
                <a:ext cx="4608512" cy="0"/>
              </a:xfrm>
              <a:prstGeom prst="line">
                <a:avLst/>
              </a:prstGeom>
              <a:ln w="76200">
                <a:headEnd type="stealt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8" name="直線接點 507"/>
              <p:cNvCxnSpPr/>
              <p:nvPr/>
            </p:nvCxnSpPr>
            <p:spPr>
              <a:xfrm rot="10800000">
                <a:off x="1475656" y="5949280"/>
                <a:ext cx="7488832" cy="0"/>
              </a:xfrm>
              <a:prstGeom prst="line">
                <a:avLst/>
              </a:prstGeom>
              <a:ln w="76200">
                <a:headEnd type="stealt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04" name="雲朵形 503"/>
            <p:cNvSpPr/>
            <p:nvPr/>
          </p:nvSpPr>
          <p:spPr>
            <a:xfrm>
              <a:off x="7134671" y="1218456"/>
              <a:ext cx="1691680" cy="1274440"/>
            </a:xfrm>
            <a:prstGeom prst="clou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What’s next ? </a:t>
              </a:r>
              <a:endParaRPr lang="zh-TW" altLang="en-US" dirty="0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Distributed computing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Cluster Computing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Grid Computing</a:t>
            </a:r>
          </a:p>
          <a:p>
            <a:r>
              <a:rPr lang="en-US" altLang="zh-TW" dirty="0"/>
              <a:t>Cloud Computing – Next big thing </a:t>
            </a:r>
            <a:endParaRPr lang="zh-TW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Long united, must divide </a:t>
            </a:r>
            <a:br>
              <a:rPr lang="en-US" altLang="zh-TW" dirty="0"/>
            </a:br>
            <a:r>
              <a:rPr lang="en-US" altLang="zh-TW" dirty="0"/>
              <a:t>Long divided, must unite</a:t>
            </a:r>
            <a:endParaRPr lang="zh-TW" altLang="en-US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563" y="1510555"/>
            <a:ext cx="8778875" cy="523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Next Big Thing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Google search trends – all years</a:t>
            </a:r>
            <a:endParaRPr lang="zh-TW" altLang="en-US" dirty="0"/>
          </a:p>
        </p:txBody>
      </p:sp>
      <p:pic>
        <p:nvPicPr>
          <p:cNvPr id="51211" name="Picture 11"/>
          <p:cNvPicPr>
            <a:picLocks noChangeAspect="1" noChangeArrowheads="1"/>
          </p:cNvPicPr>
          <p:nvPr/>
        </p:nvPicPr>
        <p:blipFill>
          <a:blip r:embed="rId2" cstate="print"/>
          <a:srcRect l="1178" t="29080" r="45903" b="24721"/>
          <a:stretch>
            <a:fillRect/>
          </a:stretch>
        </p:blipFill>
        <p:spPr bwMode="auto">
          <a:xfrm>
            <a:off x="832820" y="2348880"/>
            <a:ext cx="7771627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13" name="Picture 13"/>
          <p:cNvPicPr>
            <a:picLocks noChangeAspect="1" noChangeArrowheads="1"/>
          </p:cNvPicPr>
          <p:nvPr/>
        </p:nvPicPr>
        <p:blipFill>
          <a:blip r:embed="rId3" cstate="print"/>
          <a:srcRect l="945" t="31920" r="66925" b="12641"/>
          <a:stretch>
            <a:fillRect/>
          </a:stretch>
        </p:blipFill>
        <p:spPr bwMode="auto">
          <a:xfrm>
            <a:off x="2123728" y="2060848"/>
            <a:ext cx="4896544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“Cloud”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2332856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/>
              <a:t>The term “cloud” is often used as a metaphor for the Internet.</a:t>
            </a:r>
          </a:p>
          <a:p>
            <a:pPr lvl="1"/>
            <a:r>
              <a:rPr lang="en-US" altLang="zh-TW" dirty="0"/>
              <a:t>A simplified way to represent the complicated operations in the network</a:t>
            </a:r>
          </a:p>
          <a:p>
            <a:r>
              <a:rPr lang="en-US" altLang="zh-TW" dirty="0">
                <a:ea typeface="新細明體" pitchFamily="18" charset="-120"/>
              </a:rPr>
              <a:t>Currently, the term “cloud” is further used as an abstraction of complexities 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E.g., servers, applications, data, and heterogeneous platforms</a:t>
            </a:r>
          </a:p>
          <a:p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2285746" y="3933056"/>
            <a:ext cx="4572508" cy="2808312"/>
            <a:chOff x="1835696" y="3212976"/>
            <a:chExt cx="5400600" cy="3672408"/>
          </a:xfrm>
        </p:grpSpPr>
        <p:pic>
          <p:nvPicPr>
            <p:cNvPr id="84994" name="Picture 2" descr="C:\Documents and Settings\5G\Local Settings\Temporary Internet Files\Content.IE5\O9YV8TA7\dglxasset[5].aspx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88143" y="3356992"/>
              <a:ext cx="4167715" cy="3240360"/>
            </a:xfrm>
            <a:prstGeom prst="rect">
              <a:avLst/>
            </a:prstGeom>
            <a:noFill/>
          </p:spPr>
        </p:pic>
        <p:pic>
          <p:nvPicPr>
            <p:cNvPr id="84996" name="Picture 4" descr="C:\Documents and Settings\5G\Local Settings\Temporary Internet Files\Content.IE5\C9IV0LU7\MM900282845[1].gif"/>
            <p:cNvPicPr>
              <a:picLocks noChangeAspect="1" noChangeArrowheads="1" noCrop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868144" y="3861048"/>
              <a:ext cx="1368152" cy="1100069"/>
            </a:xfrm>
            <a:prstGeom prst="rect">
              <a:avLst/>
            </a:prstGeom>
            <a:noFill/>
          </p:spPr>
        </p:pic>
        <p:pic>
          <p:nvPicPr>
            <p:cNvPr id="84997" name="Picture 5" descr="C:\Documents and Settings\5G\Local Settings\Temporary Internet Files\Content.IE5\4TUVSL27\MM900283842[2].gif"/>
            <p:cNvPicPr>
              <a:picLocks noChangeAspect="1" noChangeArrowheads="1" noCrop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940152" y="5589240"/>
              <a:ext cx="864096" cy="1045277"/>
            </a:xfrm>
            <a:prstGeom prst="rect">
              <a:avLst/>
            </a:prstGeom>
            <a:noFill/>
          </p:spPr>
        </p:pic>
        <p:pic>
          <p:nvPicPr>
            <p:cNvPr id="84999" name="Picture 7" descr="C:\Documents and Settings\5G\Local Settings\Temporary Internet Files\Content.IE5\05I38XQJ\MM900234774[2].gif"/>
            <p:cNvPicPr>
              <a:picLocks noChangeAspect="1" noChangeArrowheads="1" noCrop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074913" y="3212976"/>
              <a:ext cx="1001143" cy="1052049"/>
            </a:xfrm>
            <a:prstGeom prst="rect">
              <a:avLst/>
            </a:prstGeom>
            <a:noFill/>
          </p:spPr>
        </p:pic>
        <p:pic>
          <p:nvPicPr>
            <p:cNvPr id="85000" name="Picture 8" descr="C:\Documents and Settings\5G\Local Settings\Temporary Internet Files\Content.IE5\4TUVSL27\MM900283011[2].gif"/>
            <p:cNvPicPr>
              <a:picLocks noChangeAspect="1" noChangeArrowheads="1" noCrop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835696" y="5733256"/>
              <a:ext cx="936104" cy="936104"/>
            </a:xfrm>
            <a:prstGeom prst="rect">
              <a:avLst/>
            </a:prstGeom>
            <a:noFill/>
          </p:spPr>
        </p:pic>
        <p:pic>
          <p:nvPicPr>
            <p:cNvPr id="85001" name="Picture 9" descr="C:\Documents and Settings\5G\Local Settings\Temporary Internet Files\Content.IE5\O9YV8TA7\MM900284002[2].gif"/>
            <p:cNvPicPr>
              <a:picLocks noChangeAspect="1" noChangeArrowheads="1" noCrop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211960" y="5854443"/>
              <a:ext cx="1075765" cy="1030941"/>
            </a:xfrm>
            <a:prstGeom prst="rect">
              <a:avLst/>
            </a:prstGeom>
            <a:noFill/>
          </p:spPr>
        </p:pic>
        <p:pic>
          <p:nvPicPr>
            <p:cNvPr id="85006" name="Picture 14" descr="C:\Documents and Settings\5G\Local Settings\Temporary Internet Files\Content.IE5\05I38XQJ\MM900288920[2].gif"/>
            <p:cNvPicPr>
              <a:picLocks noChangeAspect="1" noChangeArrowheads="1" noCrop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979712" y="3933056"/>
              <a:ext cx="936104" cy="936104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標題 13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Cloud Computing – A New Paradigm</a:t>
            </a:r>
            <a:endParaRPr lang="zh-TW" altLang="en-US" dirty="0"/>
          </a:p>
        </p:txBody>
      </p:sp>
      <p:sp>
        <p:nvSpPr>
          <p:cNvPr id="134" name="內容版面配置區 133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18288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An IT service delivered to users that provides:</a:t>
            </a:r>
          </a:p>
          <a:p>
            <a:pPr lvl="1"/>
            <a:r>
              <a:rPr lang="en-US" altLang="zh-TW" dirty="0"/>
              <a:t>A simple user interface that automatically provisions IT resources</a:t>
            </a:r>
          </a:p>
          <a:p>
            <a:pPr lvl="1"/>
            <a:r>
              <a:rPr lang="en-US" altLang="zh-TW" dirty="0"/>
              <a:t>Capacity on demand with massive scalability</a:t>
            </a:r>
          </a:p>
          <a:p>
            <a:pPr lvl="1"/>
            <a:r>
              <a:rPr lang="en-US" altLang="zh-TW" dirty="0"/>
              <a:t>Innovative service delivery models for applications</a:t>
            </a:r>
            <a:endParaRPr lang="zh-TW" altLang="en-US" i="1" dirty="0">
              <a:solidFill>
                <a:srgbClr val="00B0F0"/>
              </a:solidFill>
            </a:endParaRPr>
          </a:p>
        </p:txBody>
      </p:sp>
      <p:sp>
        <p:nvSpPr>
          <p:cNvPr id="198" name="Line 3"/>
          <p:cNvSpPr>
            <a:spLocks noChangeShapeType="1"/>
          </p:cNvSpPr>
          <p:nvPr/>
        </p:nvSpPr>
        <p:spPr bwMode="auto">
          <a:xfrm>
            <a:off x="4787900" y="3460452"/>
            <a:ext cx="477838" cy="233363"/>
          </a:xfrm>
          <a:prstGeom prst="line">
            <a:avLst/>
          </a:prstGeom>
          <a:noFill/>
          <a:ln w="6350">
            <a:noFill/>
            <a:miter lim="800000"/>
            <a:headEnd/>
            <a:tailEnd type="triangle" w="med" len="med"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9" name="Line 4"/>
          <p:cNvSpPr>
            <a:spLocks noChangeShapeType="1"/>
          </p:cNvSpPr>
          <p:nvPr/>
        </p:nvSpPr>
        <p:spPr bwMode="auto">
          <a:xfrm>
            <a:off x="2438400" y="4222452"/>
            <a:ext cx="0" cy="2362200"/>
          </a:xfrm>
          <a:prstGeom prst="line">
            <a:avLst/>
          </a:prstGeom>
          <a:noFill/>
          <a:ln w="38100">
            <a:solidFill>
              <a:srgbClr val="CC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0" name="Text Box 5"/>
          <p:cNvSpPr txBox="1">
            <a:spLocks noChangeArrowheads="1"/>
          </p:cNvSpPr>
          <p:nvPr/>
        </p:nvSpPr>
        <p:spPr bwMode="auto">
          <a:xfrm>
            <a:off x="573088" y="4937936"/>
            <a:ext cx="1636712" cy="9199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57582" tIns="28791" rIns="57582" bIns="28791">
            <a:spAutoFit/>
          </a:bodyPr>
          <a:lstStyle/>
          <a:p>
            <a:pPr marL="144463" indent="-144463" defTabSz="576263">
              <a:buClr>
                <a:schemeClr val="tx1"/>
              </a:buClr>
              <a:buFontTx/>
              <a:buChar char="•"/>
            </a:pPr>
            <a:r>
              <a:rPr lang="en-US" altLang="ja-JP" sz="1400" dirty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Solving large problems with parallel computing</a:t>
            </a:r>
            <a:r>
              <a:rPr lang="en-US" altLang="ja-JP" sz="1400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 </a:t>
            </a:r>
          </a:p>
          <a:p>
            <a:pPr marL="144463" indent="-144463" defTabSz="576263">
              <a:buClr>
                <a:schemeClr val="tx1"/>
              </a:buClr>
              <a:buFontTx/>
              <a:buChar char="•"/>
            </a:pPr>
            <a:endParaRPr lang="en-US" altLang="ja-JP" sz="1400" dirty="0">
              <a:solidFill>
                <a:srgbClr val="000000"/>
              </a:solidFill>
              <a:ea typeface="MS PGothic" pitchFamily="34" charset="-128"/>
              <a:cs typeface="Tahoma" pitchFamily="34" charset="0"/>
            </a:endParaRPr>
          </a:p>
        </p:txBody>
      </p:sp>
      <p:sp>
        <p:nvSpPr>
          <p:cNvPr id="201" name="Text Box 6"/>
          <p:cNvSpPr txBox="1">
            <a:spLocks noChangeArrowheads="1"/>
          </p:cNvSpPr>
          <p:nvPr/>
        </p:nvSpPr>
        <p:spPr bwMode="auto">
          <a:xfrm>
            <a:off x="5029200" y="4391836"/>
            <a:ext cx="1524000" cy="9199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57582" tIns="28791" rIns="57582" bIns="28791">
            <a:spAutoFit/>
          </a:bodyPr>
          <a:lstStyle/>
          <a:p>
            <a:pPr marL="144463" indent="-144463" defTabSz="576263" eaLnBrk="0" hangingPunct="0">
              <a:buClr>
                <a:schemeClr val="tx1"/>
              </a:buClr>
              <a:buFontTx/>
              <a:buChar char="•"/>
            </a:pPr>
            <a:r>
              <a:rPr lang="en-US" altLang="zh-TW" sz="1400" dirty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Network-based subscriptions to applications</a:t>
            </a:r>
          </a:p>
          <a:p>
            <a:pPr marL="144463" indent="-144463" defTabSz="576263" eaLnBrk="0" hangingPunct="0">
              <a:buClr>
                <a:schemeClr val="tx1"/>
              </a:buClr>
              <a:buFontTx/>
              <a:buChar char="•"/>
            </a:pPr>
            <a:endParaRPr lang="zh-TW" altLang="en-US" sz="1400" dirty="0">
              <a:solidFill>
                <a:srgbClr val="000000"/>
              </a:solidFill>
              <a:ea typeface="MS Mincho" pitchFamily="49" charset="-128"/>
              <a:cs typeface="Tahoma" pitchFamily="34" charset="0"/>
            </a:endParaRPr>
          </a:p>
        </p:txBody>
      </p:sp>
      <p:sp>
        <p:nvSpPr>
          <p:cNvPr id="202" name="Line 7"/>
          <p:cNvSpPr>
            <a:spLocks noChangeShapeType="1"/>
          </p:cNvSpPr>
          <p:nvPr/>
        </p:nvSpPr>
        <p:spPr bwMode="auto">
          <a:xfrm>
            <a:off x="6858000" y="3536652"/>
            <a:ext cx="0" cy="3048000"/>
          </a:xfrm>
          <a:prstGeom prst="line">
            <a:avLst/>
          </a:prstGeom>
          <a:noFill/>
          <a:ln w="38100">
            <a:solidFill>
              <a:srgbClr val="CC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3" name="Text Box 8"/>
          <p:cNvSpPr txBox="1">
            <a:spLocks noChangeArrowheads="1"/>
          </p:cNvSpPr>
          <p:nvPr/>
        </p:nvSpPr>
        <p:spPr bwMode="auto">
          <a:xfrm>
            <a:off x="152400" y="4089102"/>
            <a:ext cx="679450" cy="361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7582" tIns="28791" rIns="57582" bIns="28791">
            <a:spAutoFit/>
          </a:bodyPr>
          <a:lstStyle/>
          <a:p>
            <a:pPr defTabSz="576263" eaLnBrk="0" hangingPunct="0">
              <a:buClr>
                <a:srgbClr val="2F4F88"/>
              </a:buClr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1990</a:t>
            </a:r>
          </a:p>
        </p:txBody>
      </p:sp>
      <p:sp>
        <p:nvSpPr>
          <p:cNvPr id="204" name="Text Box 10"/>
          <p:cNvSpPr txBox="1">
            <a:spLocks noChangeArrowheads="1"/>
          </p:cNvSpPr>
          <p:nvPr/>
        </p:nvSpPr>
        <p:spPr bwMode="auto">
          <a:xfrm>
            <a:off x="2743200" y="4709336"/>
            <a:ext cx="1905000" cy="9199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57582" tIns="28791" rIns="57582" bIns="28791">
            <a:spAutoFit/>
          </a:bodyPr>
          <a:lstStyle/>
          <a:p>
            <a:pPr marL="144463" indent="-144463" defTabSz="576263">
              <a:buClr>
                <a:schemeClr val="tx1"/>
              </a:buClr>
              <a:buFontTx/>
              <a:buChar char="•"/>
            </a:pPr>
            <a:r>
              <a:rPr lang="en-US" altLang="ja-JP" sz="1400" dirty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Offering computing resources as a metered service</a:t>
            </a:r>
            <a:r>
              <a:rPr lang="en-US" altLang="ja-JP" sz="1400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 </a:t>
            </a:r>
          </a:p>
          <a:p>
            <a:pPr marL="144463" indent="-144463" defTabSz="576263">
              <a:buClr>
                <a:schemeClr val="tx1"/>
              </a:buClr>
              <a:buFontTx/>
              <a:buChar char="•"/>
            </a:pPr>
            <a:endParaRPr lang="en-US" altLang="ja-JP" sz="1400" dirty="0">
              <a:solidFill>
                <a:srgbClr val="000000"/>
              </a:solidFill>
              <a:ea typeface="MS PGothic" pitchFamily="34" charset="-128"/>
              <a:cs typeface="Tahoma" pitchFamily="34" charset="0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7162800" y="5609927"/>
            <a:ext cx="1447800" cy="898525"/>
            <a:chOff x="4361" y="2468"/>
            <a:chExt cx="1416" cy="1040"/>
          </a:xfrm>
        </p:grpSpPr>
        <p:sp>
          <p:nvSpPr>
            <p:cNvPr id="206" name="Cloud"/>
            <p:cNvSpPr>
              <a:spLocks noChangeAspect="1" noEditPoints="1" noChangeArrowheads="1"/>
            </p:cNvSpPr>
            <p:nvPr/>
          </p:nvSpPr>
          <p:spPr bwMode="auto">
            <a:xfrm rot="180039">
              <a:off x="4361" y="2468"/>
              <a:ext cx="1416" cy="1040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C0C0C0">
                <a:alpha val="8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B3767">
                  <a:alpha val="50000"/>
                </a:srgbClr>
              </a:outerShdw>
            </a:effectLst>
          </p:spPr>
          <p:txBody>
            <a:bodyPr lIns="57582" tIns="28791" rIns="57582" bIns="28791"/>
            <a:lstStyle/>
            <a:p>
              <a:pPr marL="0" marR="0" lvl="0" indent="0" defTabSz="57626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07" name="Picture 13" descr="MCj04352420000[1]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80039">
              <a:off x="4609" y="2639"/>
              <a:ext cx="100" cy="281"/>
            </a:xfrm>
            <a:prstGeom prst="rect">
              <a:avLst/>
            </a:prstGeom>
            <a:noFill/>
          </p:spPr>
        </p:pic>
        <p:pic>
          <p:nvPicPr>
            <p:cNvPr id="208" name="Picture 14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4910" y="2601"/>
              <a:ext cx="99" cy="281"/>
            </a:xfrm>
            <a:prstGeom prst="rect">
              <a:avLst/>
            </a:prstGeom>
            <a:noFill/>
          </p:spPr>
        </p:pic>
        <p:pic>
          <p:nvPicPr>
            <p:cNvPr id="209" name="Picture 15" descr="MCj04352420000[1]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80039">
              <a:off x="5372" y="3053"/>
              <a:ext cx="100" cy="280"/>
            </a:xfrm>
            <a:prstGeom prst="rect">
              <a:avLst/>
            </a:prstGeom>
            <a:noFill/>
          </p:spPr>
        </p:pic>
        <p:pic>
          <p:nvPicPr>
            <p:cNvPr id="210" name="Picture 16" descr="MCj04352420000[1]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180039">
              <a:off x="5471" y="2843"/>
              <a:ext cx="99" cy="282"/>
            </a:xfrm>
            <a:prstGeom prst="rect">
              <a:avLst/>
            </a:prstGeom>
            <a:noFill/>
          </p:spPr>
        </p:pic>
        <p:sp>
          <p:nvSpPr>
            <p:cNvPr id="211" name="Line 17"/>
            <p:cNvSpPr>
              <a:spLocks noChangeShapeType="1"/>
            </p:cNvSpPr>
            <p:nvPr/>
          </p:nvSpPr>
          <p:spPr bwMode="auto">
            <a:xfrm rot="180039" flipV="1">
              <a:off x="4830" y="2766"/>
              <a:ext cx="411" cy="146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2" name="Line 18"/>
            <p:cNvSpPr>
              <a:spLocks noChangeShapeType="1"/>
            </p:cNvSpPr>
            <p:nvPr/>
          </p:nvSpPr>
          <p:spPr bwMode="auto">
            <a:xfrm rot="180039" flipH="1">
              <a:off x="4712" y="2858"/>
              <a:ext cx="75" cy="161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3" name="Line 19"/>
            <p:cNvSpPr>
              <a:spLocks noChangeShapeType="1"/>
            </p:cNvSpPr>
            <p:nvPr/>
          </p:nvSpPr>
          <p:spPr bwMode="auto">
            <a:xfrm rot="180039">
              <a:off x="5031" y="3251"/>
              <a:ext cx="187" cy="5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4" name="Line 20"/>
            <p:cNvSpPr>
              <a:spLocks noChangeShapeType="1"/>
            </p:cNvSpPr>
            <p:nvPr/>
          </p:nvSpPr>
          <p:spPr bwMode="auto">
            <a:xfrm rot="180039">
              <a:off x="4976" y="2819"/>
              <a:ext cx="112" cy="201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5" name="Line 21"/>
            <p:cNvSpPr>
              <a:spLocks noChangeShapeType="1"/>
            </p:cNvSpPr>
            <p:nvPr/>
          </p:nvSpPr>
          <p:spPr bwMode="auto">
            <a:xfrm rot="180039" flipV="1">
              <a:off x="5194" y="3030"/>
              <a:ext cx="74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6" name="Line 22"/>
            <p:cNvSpPr>
              <a:spLocks noChangeShapeType="1"/>
            </p:cNvSpPr>
            <p:nvPr/>
          </p:nvSpPr>
          <p:spPr bwMode="auto">
            <a:xfrm rot="180039" flipV="1">
              <a:off x="5258" y="3155"/>
              <a:ext cx="112" cy="14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7" name="Line 23"/>
            <p:cNvSpPr>
              <a:spLocks noChangeShapeType="1"/>
            </p:cNvSpPr>
            <p:nvPr/>
          </p:nvSpPr>
          <p:spPr bwMode="auto">
            <a:xfrm rot="180039">
              <a:off x="5319" y="2769"/>
              <a:ext cx="149" cy="5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8" name="Line 24"/>
            <p:cNvSpPr>
              <a:spLocks noChangeShapeType="1"/>
            </p:cNvSpPr>
            <p:nvPr/>
          </p:nvSpPr>
          <p:spPr bwMode="auto">
            <a:xfrm rot="180039" flipV="1">
              <a:off x="4985" y="2703"/>
              <a:ext cx="261" cy="106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9" name="Line 25"/>
            <p:cNvSpPr>
              <a:spLocks noChangeShapeType="1"/>
            </p:cNvSpPr>
            <p:nvPr/>
          </p:nvSpPr>
          <p:spPr bwMode="auto">
            <a:xfrm rot="180039" flipV="1">
              <a:off x="5347" y="2931"/>
              <a:ext cx="112" cy="5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0" name="Line 26"/>
            <p:cNvSpPr>
              <a:spLocks noChangeShapeType="1"/>
            </p:cNvSpPr>
            <p:nvPr/>
          </p:nvSpPr>
          <p:spPr bwMode="auto">
            <a:xfrm rot="180039" flipV="1">
              <a:off x="5163" y="2872"/>
              <a:ext cx="299" cy="6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1" name="Line 27"/>
            <p:cNvSpPr>
              <a:spLocks noChangeShapeType="1"/>
            </p:cNvSpPr>
            <p:nvPr/>
          </p:nvSpPr>
          <p:spPr bwMode="auto">
            <a:xfrm rot="180039" flipV="1">
              <a:off x="5267" y="2930"/>
              <a:ext cx="224" cy="268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2" name="Line 28"/>
            <p:cNvSpPr>
              <a:spLocks noChangeShapeType="1"/>
            </p:cNvSpPr>
            <p:nvPr/>
          </p:nvSpPr>
          <p:spPr bwMode="auto">
            <a:xfrm rot="180039">
              <a:off x="4781" y="2958"/>
              <a:ext cx="149" cy="21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3" name="Line 29"/>
            <p:cNvSpPr>
              <a:spLocks noChangeShapeType="1"/>
            </p:cNvSpPr>
            <p:nvPr/>
          </p:nvSpPr>
          <p:spPr bwMode="auto">
            <a:xfrm rot="180039">
              <a:off x="4817" y="2924"/>
              <a:ext cx="374" cy="32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4" name="Line 30"/>
            <p:cNvSpPr>
              <a:spLocks noChangeShapeType="1"/>
            </p:cNvSpPr>
            <p:nvPr/>
          </p:nvSpPr>
          <p:spPr bwMode="auto">
            <a:xfrm rot="180039" flipV="1">
              <a:off x="4816" y="3015"/>
              <a:ext cx="262" cy="161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5" name="Line 31"/>
            <p:cNvSpPr>
              <a:spLocks noChangeShapeType="1"/>
            </p:cNvSpPr>
            <p:nvPr/>
          </p:nvSpPr>
          <p:spPr bwMode="auto">
            <a:xfrm rot="180039">
              <a:off x="4981" y="2717"/>
              <a:ext cx="261" cy="199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6" name="Line 32"/>
            <p:cNvSpPr>
              <a:spLocks noChangeShapeType="1"/>
            </p:cNvSpPr>
            <p:nvPr/>
          </p:nvSpPr>
          <p:spPr bwMode="auto">
            <a:xfrm rot="180039">
              <a:off x="5151" y="3085"/>
              <a:ext cx="224" cy="6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7" name="Line 33"/>
            <p:cNvSpPr>
              <a:spLocks noChangeShapeType="1"/>
            </p:cNvSpPr>
            <p:nvPr/>
          </p:nvSpPr>
          <p:spPr bwMode="auto">
            <a:xfrm rot="180039" flipV="1">
              <a:off x="5313" y="2872"/>
              <a:ext cx="0" cy="6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8" name="Line 34"/>
            <p:cNvSpPr>
              <a:spLocks noChangeShapeType="1"/>
            </p:cNvSpPr>
            <p:nvPr/>
          </p:nvSpPr>
          <p:spPr bwMode="auto">
            <a:xfrm rot="180039" flipV="1">
              <a:off x="5129" y="2760"/>
              <a:ext cx="112" cy="16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9" name="Line 35"/>
            <p:cNvSpPr>
              <a:spLocks noChangeShapeType="1"/>
            </p:cNvSpPr>
            <p:nvPr/>
          </p:nvSpPr>
          <p:spPr bwMode="auto">
            <a:xfrm rot="180039" flipH="1" flipV="1">
              <a:off x="5150" y="3080"/>
              <a:ext cx="38" cy="10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30" name="Picture 36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4756" y="2701"/>
              <a:ext cx="99" cy="280"/>
            </a:xfrm>
            <a:prstGeom prst="rect">
              <a:avLst/>
            </a:prstGeom>
            <a:noFill/>
          </p:spPr>
        </p:pic>
        <p:pic>
          <p:nvPicPr>
            <p:cNvPr id="231" name="Picture 37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5180" y="3151"/>
              <a:ext cx="99" cy="280"/>
            </a:xfrm>
            <a:prstGeom prst="rect">
              <a:avLst/>
            </a:prstGeom>
            <a:noFill/>
          </p:spPr>
        </p:pic>
        <p:sp>
          <p:nvSpPr>
            <p:cNvPr id="232" name="Line 38"/>
            <p:cNvSpPr>
              <a:spLocks noChangeShapeType="1"/>
            </p:cNvSpPr>
            <p:nvPr/>
          </p:nvSpPr>
          <p:spPr bwMode="auto">
            <a:xfrm rot="180039">
              <a:off x="4737" y="3128"/>
              <a:ext cx="74" cy="106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3" name="Line 39"/>
            <p:cNvSpPr>
              <a:spLocks noChangeShapeType="1"/>
            </p:cNvSpPr>
            <p:nvPr/>
          </p:nvSpPr>
          <p:spPr bwMode="auto">
            <a:xfrm rot="180039" flipH="1" flipV="1">
              <a:off x="4639" y="2853"/>
              <a:ext cx="37" cy="161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4" name="Line 40"/>
            <p:cNvSpPr>
              <a:spLocks noChangeShapeType="1"/>
            </p:cNvSpPr>
            <p:nvPr/>
          </p:nvSpPr>
          <p:spPr bwMode="auto">
            <a:xfrm rot="180039" flipV="1">
              <a:off x="4874" y="2705"/>
              <a:ext cx="37" cy="53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5" name="Line 41"/>
            <p:cNvSpPr>
              <a:spLocks noChangeShapeType="1"/>
            </p:cNvSpPr>
            <p:nvPr/>
          </p:nvSpPr>
          <p:spPr bwMode="auto">
            <a:xfrm rot="180039" flipV="1">
              <a:off x="4727" y="2647"/>
              <a:ext cx="187" cy="5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6" name="Line 42"/>
            <p:cNvSpPr>
              <a:spLocks noChangeShapeType="1"/>
            </p:cNvSpPr>
            <p:nvPr/>
          </p:nvSpPr>
          <p:spPr bwMode="auto">
            <a:xfrm rot="180039" flipV="1">
              <a:off x="5027" y="2664"/>
              <a:ext cx="224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7" name="Line 43"/>
            <p:cNvSpPr>
              <a:spLocks noChangeShapeType="1"/>
            </p:cNvSpPr>
            <p:nvPr/>
          </p:nvSpPr>
          <p:spPr bwMode="auto">
            <a:xfrm rot="180039">
              <a:off x="5286" y="2677"/>
              <a:ext cx="224" cy="55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8" name="Line 44"/>
            <p:cNvSpPr>
              <a:spLocks noChangeShapeType="1"/>
            </p:cNvSpPr>
            <p:nvPr/>
          </p:nvSpPr>
          <p:spPr bwMode="auto">
            <a:xfrm rot="180039">
              <a:off x="4935" y="2815"/>
              <a:ext cx="38" cy="322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9" name="Line 45"/>
            <p:cNvSpPr>
              <a:spLocks noChangeShapeType="1"/>
            </p:cNvSpPr>
            <p:nvPr/>
          </p:nvSpPr>
          <p:spPr bwMode="auto">
            <a:xfrm rot="180039" flipV="1">
              <a:off x="4882" y="3241"/>
              <a:ext cx="75" cy="53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0" name="Line 46"/>
            <p:cNvSpPr>
              <a:spLocks noChangeShapeType="1"/>
            </p:cNvSpPr>
            <p:nvPr/>
          </p:nvSpPr>
          <p:spPr bwMode="auto">
            <a:xfrm rot="180039" flipV="1">
              <a:off x="5038" y="3089"/>
              <a:ext cx="75" cy="10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1" name="Line 47"/>
            <p:cNvSpPr>
              <a:spLocks noChangeShapeType="1"/>
            </p:cNvSpPr>
            <p:nvPr/>
          </p:nvSpPr>
          <p:spPr bwMode="auto">
            <a:xfrm rot="180039" flipV="1">
              <a:off x="5164" y="2828"/>
              <a:ext cx="75" cy="10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42" name="Picture 48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5470" y="2630"/>
              <a:ext cx="99" cy="280"/>
            </a:xfrm>
            <a:prstGeom prst="rect">
              <a:avLst/>
            </a:prstGeom>
            <a:noFill/>
          </p:spPr>
        </p:pic>
        <p:pic>
          <p:nvPicPr>
            <p:cNvPr id="243" name="Picture 49" descr="MCj04352420000[1]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180039">
              <a:off x="5080" y="2917"/>
              <a:ext cx="99" cy="282"/>
            </a:xfrm>
            <a:prstGeom prst="rect">
              <a:avLst/>
            </a:prstGeom>
            <a:noFill/>
          </p:spPr>
        </p:pic>
        <p:pic>
          <p:nvPicPr>
            <p:cNvPr id="244" name="Picture 50" descr="MCj04352420000[1]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180039">
              <a:off x="5229" y="2925"/>
              <a:ext cx="99" cy="282"/>
            </a:xfrm>
            <a:prstGeom prst="rect">
              <a:avLst/>
            </a:prstGeom>
            <a:noFill/>
          </p:spPr>
        </p:pic>
        <p:pic>
          <p:nvPicPr>
            <p:cNvPr id="245" name="Picture 51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5244" y="2659"/>
              <a:ext cx="99" cy="279"/>
            </a:xfrm>
            <a:prstGeom prst="rect">
              <a:avLst/>
            </a:prstGeom>
            <a:noFill/>
          </p:spPr>
        </p:pic>
        <p:pic>
          <p:nvPicPr>
            <p:cNvPr id="246" name="Picture 52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4932" y="3125"/>
              <a:ext cx="99" cy="281"/>
            </a:xfrm>
            <a:prstGeom prst="rect">
              <a:avLst/>
            </a:prstGeom>
            <a:noFill/>
          </p:spPr>
        </p:pic>
        <p:pic>
          <p:nvPicPr>
            <p:cNvPr id="247" name="Picture 53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4664" y="3017"/>
              <a:ext cx="99" cy="280"/>
            </a:xfrm>
            <a:prstGeom prst="rect">
              <a:avLst/>
            </a:prstGeom>
            <a:noFill/>
          </p:spPr>
        </p:pic>
        <p:pic>
          <p:nvPicPr>
            <p:cNvPr id="248" name="Picture 54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4767" y="3170"/>
              <a:ext cx="99" cy="280"/>
            </a:xfrm>
            <a:prstGeom prst="rect">
              <a:avLst/>
            </a:prstGeom>
            <a:noFill/>
          </p:spPr>
        </p:pic>
        <p:sp>
          <p:nvSpPr>
            <p:cNvPr id="249" name="Line 55"/>
            <p:cNvSpPr>
              <a:spLocks noChangeShapeType="1"/>
            </p:cNvSpPr>
            <p:nvPr/>
          </p:nvSpPr>
          <p:spPr bwMode="auto">
            <a:xfrm rot="180039">
              <a:off x="4673" y="2804"/>
              <a:ext cx="149" cy="375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0" name="Line 56"/>
          <p:cNvSpPr>
            <a:spLocks noChangeShapeType="1"/>
          </p:cNvSpPr>
          <p:nvPr/>
        </p:nvSpPr>
        <p:spPr bwMode="auto">
          <a:xfrm>
            <a:off x="4644008" y="3933056"/>
            <a:ext cx="4192" cy="2651596"/>
          </a:xfrm>
          <a:prstGeom prst="line">
            <a:avLst/>
          </a:prstGeom>
          <a:noFill/>
          <a:ln w="38100">
            <a:solidFill>
              <a:srgbClr val="CC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1" name="Text Box 57"/>
          <p:cNvSpPr txBox="1">
            <a:spLocks noChangeArrowheads="1"/>
          </p:cNvSpPr>
          <p:nvPr/>
        </p:nvSpPr>
        <p:spPr bwMode="auto">
          <a:xfrm>
            <a:off x="7086600" y="3993374"/>
            <a:ext cx="1877888" cy="9199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57582" tIns="28791" rIns="57582" bIns="28791">
            <a:spAutoFit/>
          </a:bodyPr>
          <a:lstStyle/>
          <a:p>
            <a:pPr marL="144463" indent="-144463" defTabSz="576263"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en-US" altLang="zh-TW" sz="1400" dirty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Anytime, anywhere access to resources delivered dynamically as a service</a:t>
            </a:r>
            <a:endParaRPr lang="zh-TW" altLang="en-US" sz="1400" dirty="0">
              <a:solidFill>
                <a:srgbClr val="000000"/>
              </a:solidFill>
              <a:ea typeface="MS Mincho" pitchFamily="49" charset="-128"/>
              <a:cs typeface="Tahoma" pitchFamily="34" charset="0"/>
            </a:endParaRPr>
          </a:p>
        </p:txBody>
      </p:sp>
      <p:sp>
        <p:nvSpPr>
          <p:cNvPr id="252" name="Text Box 59"/>
          <p:cNvSpPr txBox="1">
            <a:spLocks noChangeArrowheads="1"/>
          </p:cNvSpPr>
          <p:nvPr/>
        </p:nvSpPr>
        <p:spPr bwMode="auto">
          <a:xfrm>
            <a:off x="8312150" y="2774652"/>
            <a:ext cx="679450" cy="361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7582" tIns="28791" rIns="57582" bIns="28791">
            <a:spAutoFit/>
          </a:bodyPr>
          <a:lstStyle/>
          <a:p>
            <a:pPr defTabSz="576263" eaLnBrk="0" hangingPunct="0">
              <a:buClr>
                <a:srgbClr val="2F4F88"/>
              </a:buClr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2009</a:t>
            </a:r>
          </a:p>
        </p:txBody>
      </p:sp>
      <p:pic>
        <p:nvPicPr>
          <p:cNvPr id="253" name="Picture 60" descr="j0402693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0" y="5641677"/>
            <a:ext cx="896938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4" name="Picture 6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57800" y="5648027"/>
            <a:ext cx="936625" cy="941388"/>
          </a:xfrm>
          <a:prstGeom prst="rect">
            <a:avLst/>
          </a:prstGeom>
          <a:noFill/>
        </p:spPr>
      </p:pic>
      <p:sp>
        <p:nvSpPr>
          <p:cNvPr id="255" name="Text Box 62"/>
          <p:cNvSpPr txBox="1">
            <a:spLocks noChangeArrowheads="1"/>
          </p:cNvSpPr>
          <p:nvPr/>
        </p:nvSpPr>
        <p:spPr bwMode="auto">
          <a:xfrm>
            <a:off x="4773613" y="4073227"/>
            <a:ext cx="199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Software as a Service</a:t>
            </a:r>
          </a:p>
        </p:txBody>
      </p:sp>
      <p:sp>
        <p:nvSpPr>
          <p:cNvPr id="256" name="Text Box 63"/>
          <p:cNvSpPr txBox="1">
            <a:spLocks noChangeArrowheads="1"/>
          </p:cNvSpPr>
          <p:nvPr/>
        </p:nvSpPr>
        <p:spPr bwMode="auto">
          <a:xfrm>
            <a:off x="2667000" y="4365104"/>
            <a:ext cx="168988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Utility Computing</a:t>
            </a:r>
          </a:p>
        </p:txBody>
      </p:sp>
      <p:sp>
        <p:nvSpPr>
          <p:cNvPr id="257" name="Text Box 64"/>
          <p:cNvSpPr txBox="1">
            <a:spLocks noChangeArrowheads="1"/>
          </p:cNvSpPr>
          <p:nvPr/>
        </p:nvSpPr>
        <p:spPr bwMode="auto">
          <a:xfrm>
            <a:off x="7016750" y="3692227"/>
            <a:ext cx="165782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Cloud Computing</a:t>
            </a:r>
          </a:p>
        </p:txBody>
      </p:sp>
      <p:sp>
        <p:nvSpPr>
          <p:cNvPr id="258" name="Text Box 65"/>
          <p:cNvSpPr txBox="1">
            <a:spLocks noChangeArrowheads="1"/>
          </p:cNvSpPr>
          <p:nvPr/>
        </p:nvSpPr>
        <p:spPr bwMode="auto">
          <a:xfrm>
            <a:off x="533400" y="4606627"/>
            <a:ext cx="153279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Grid Computing</a:t>
            </a:r>
          </a:p>
        </p:txBody>
      </p:sp>
      <p:pic>
        <p:nvPicPr>
          <p:cNvPr id="259" name="Picture 66" descr="GRID_Computer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9600" y="5517852"/>
            <a:ext cx="1285875" cy="1079500"/>
          </a:xfrm>
          <a:prstGeom prst="rect">
            <a:avLst/>
          </a:prstGeom>
          <a:noFill/>
        </p:spPr>
      </p:pic>
      <p:sp>
        <p:nvSpPr>
          <p:cNvPr id="260" name="Line 68"/>
          <p:cNvSpPr>
            <a:spLocks noChangeShapeType="1"/>
          </p:cNvSpPr>
          <p:nvPr/>
        </p:nvSpPr>
        <p:spPr bwMode="auto">
          <a:xfrm rot="20161932">
            <a:off x="565150" y="2846090"/>
            <a:ext cx="8045450" cy="2081212"/>
          </a:xfrm>
          <a:prstGeom prst="line">
            <a:avLst/>
          </a:prstGeom>
          <a:noFill/>
          <a:ln w="57150">
            <a:solidFill>
              <a:srgbClr val="DFFF66"/>
            </a:solidFill>
            <a:round/>
            <a:headEnd/>
            <a:tailEnd type="triangle" w="med" len="med"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Cloud Computing in Mathematics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19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1</a:t>
            </a:r>
          </a:p>
          <a:p>
            <a:pPr lvl="1"/>
            <a:r>
              <a:rPr lang="en-US" altLang="zh-TW" dirty="0"/>
              <a:t>One single integrated environment</a:t>
            </a:r>
          </a:p>
          <a:p>
            <a:pPr lvl="1"/>
            <a:r>
              <a:rPr lang="en-US" altLang="zh-TW" dirty="0"/>
              <a:t>A collection pool of resources and services</a:t>
            </a:r>
          </a:p>
          <a:p>
            <a:endParaRPr lang="en-US" altLang="zh-TW" dirty="0"/>
          </a:p>
          <a:p>
            <a:r>
              <a:rPr lang="en-US" altLang="zh-TW" dirty="0"/>
              <a:t>0</a:t>
            </a:r>
          </a:p>
          <a:p>
            <a:pPr lvl="1"/>
            <a:r>
              <a:rPr lang="en-US" altLang="zh-TW" dirty="0"/>
              <a:t>Zero management</a:t>
            </a:r>
          </a:p>
          <a:p>
            <a:pPr lvl="1"/>
            <a:r>
              <a:rPr lang="en-US" altLang="zh-TW" dirty="0"/>
              <a:t>Automatic management and resilience of resource or service up/down/fail</a:t>
            </a:r>
          </a:p>
          <a:p>
            <a:r>
              <a:rPr lang="en-US" altLang="zh-TW" dirty="0">
                <a:latin typeface="Times New Roman"/>
                <a:cs typeface="Times New Roman"/>
              </a:rPr>
              <a:t>∞</a:t>
            </a:r>
          </a:p>
          <a:p>
            <a:pPr lvl="1"/>
            <a:r>
              <a:rPr lang="en-US" altLang="zh-TW" dirty="0">
                <a:latin typeface="Times New Roman"/>
                <a:cs typeface="Times New Roman"/>
              </a:rPr>
              <a:t>Endless possibility</a:t>
            </a:r>
          </a:p>
          <a:p>
            <a:pPr lvl="1"/>
            <a:r>
              <a:rPr lang="en-US" altLang="zh-TW" dirty="0">
                <a:latin typeface="Times New Roman"/>
                <a:cs typeface="Times New Roman"/>
              </a:rPr>
              <a:t>Scalability, Availability, Accessibility, Manageability, Performance</a:t>
            </a:r>
            <a:endParaRPr lang="zh-TW" altLang="en-US" dirty="0"/>
          </a:p>
        </p:txBody>
      </p:sp>
      <p:pic>
        <p:nvPicPr>
          <p:cNvPr id="50181" name="Picture 5" descr="C:\Documents and Settings\5G\Local Settings\Temporary Internet Files\Content.IE5\4TUVSL27\dglxasset[1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7161014" y="4910510"/>
            <a:ext cx="1844824" cy="19061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868362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Cloud Computing in IT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altLang="zh-TW" dirty="0"/>
              <a:t>An acquisition and delivery model of IT resources </a:t>
            </a:r>
          </a:p>
          <a:p>
            <a:pPr lvl="1"/>
            <a:r>
              <a:rPr lang="en-US" altLang="zh-TW" dirty="0"/>
              <a:t>Help improve business </a:t>
            </a:r>
            <a:r>
              <a:rPr lang="en-US" altLang="zh-TW" i="1" dirty="0">
                <a:solidFill>
                  <a:srgbClr val="00B0F0"/>
                </a:solidFill>
              </a:rPr>
              <a:t>performance</a:t>
            </a:r>
            <a:r>
              <a:rPr lang="en-US" altLang="zh-TW" dirty="0"/>
              <a:t> and control the </a:t>
            </a:r>
            <a:r>
              <a:rPr lang="en-US" altLang="zh-TW" i="1" dirty="0">
                <a:solidFill>
                  <a:srgbClr val="00B0F0"/>
                </a:solidFill>
              </a:rPr>
              <a:t>costs</a:t>
            </a:r>
            <a:r>
              <a:rPr lang="en-US" altLang="zh-TW" dirty="0"/>
              <a:t> of delivering IT resources to the organization</a:t>
            </a:r>
          </a:p>
          <a:p>
            <a:r>
              <a:rPr lang="en-US" altLang="zh-TW" dirty="0"/>
              <a:t>From a user perspective</a:t>
            </a:r>
          </a:p>
          <a:p>
            <a:pPr lvl="1"/>
            <a:r>
              <a:rPr lang="en-US" altLang="zh-TW" dirty="0"/>
              <a:t>Provides a means of acquiring computing services via the internet while making the technology beyond the user device almost </a:t>
            </a:r>
            <a:r>
              <a:rPr lang="en-US" altLang="zh-TW" i="1" dirty="0">
                <a:solidFill>
                  <a:srgbClr val="00B0F0"/>
                </a:solidFill>
              </a:rPr>
              <a:t>invisible</a:t>
            </a:r>
          </a:p>
          <a:p>
            <a:r>
              <a:rPr lang="en-US" altLang="zh-TW" dirty="0"/>
              <a:t>From an organization perspective</a:t>
            </a:r>
          </a:p>
          <a:p>
            <a:pPr lvl="1"/>
            <a:r>
              <a:rPr lang="en-US" altLang="zh-TW" dirty="0"/>
              <a:t>Delivers services for consumer and business needs in a simplified way, </a:t>
            </a:r>
            <a:r>
              <a:rPr lang="en-US" altLang="zh-TW" i="1" dirty="0">
                <a:solidFill>
                  <a:srgbClr val="00B0F0"/>
                </a:solidFill>
              </a:rPr>
              <a:t>providing unbounded scale </a:t>
            </a:r>
            <a:r>
              <a:rPr lang="en-US" altLang="zh-TW" dirty="0"/>
              <a:t>and</a:t>
            </a:r>
            <a:r>
              <a:rPr lang="en-US" altLang="zh-TW" i="1" dirty="0">
                <a:solidFill>
                  <a:srgbClr val="00B0F0"/>
                </a:solidFill>
              </a:rPr>
              <a:t> differentiated quality of service </a:t>
            </a:r>
            <a:r>
              <a:rPr lang="en-US" altLang="zh-TW" dirty="0"/>
              <a:t>to foster rapid innovation and decision making</a:t>
            </a:r>
            <a:endParaRPr lang="zh-TW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群組 12"/>
          <p:cNvGrpSpPr/>
          <p:nvPr/>
        </p:nvGrpSpPr>
        <p:grpSpPr>
          <a:xfrm>
            <a:off x="0" y="1700808"/>
            <a:ext cx="6962775" cy="5149137"/>
            <a:chOff x="0" y="1700808"/>
            <a:chExt cx="6962775" cy="5149137"/>
          </a:xfrm>
        </p:grpSpPr>
        <p:pic>
          <p:nvPicPr>
            <p:cNvPr id="50179" name="Picture 3" descr="D:\Data\edu_NTHU\paper_nthu\Cloud computing\_cloud slides\Gartner\[Gartner 2008] Hype Cycle for Emerging Technologies 2.jpg"/>
            <p:cNvPicPr>
              <a:picLocks noChangeAspect="1" noChangeArrowheads="1"/>
            </p:cNvPicPr>
            <p:nvPr/>
          </p:nvPicPr>
          <p:blipFill>
            <a:blip r:embed="rId2" cstate="print"/>
            <a:srcRect t="5656"/>
            <a:stretch>
              <a:fillRect/>
            </a:stretch>
          </p:blipFill>
          <p:spPr bwMode="auto">
            <a:xfrm>
              <a:off x="0" y="1700808"/>
              <a:ext cx="6962775" cy="5149137"/>
            </a:xfrm>
            <a:prstGeom prst="rect">
              <a:avLst/>
            </a:prstGeom>
            <a:noFill/>
          </p:spPr>
        </p:pic>
        <p:sp>
          <p:nvSpPr>
            <p:cNvPr id="12" name="橢圓 11"/>
            <p:cNvSpPr/>
            <p:nvPr/>
          </p:nvSpPr>
          <p:spPr>
            <a:xfrm>
              <a:off x="467544" y="2924944"/>
              <a:ext cx="1268556" cy="288032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1691680" y="1176096"/>
            <a:ext cx="7452320" cy="5277240"/>
            <a:chOff x="1691680" y="1392120"/>
            <a:chExt cx="7452320" cy="5277240"/>
          </a:xfrm>
        </p:grpSpPr>
        <p:grpSp>
          <p:nvGrpSpPr>
            <p:cNvPr id="7" name="群組 6"/>
            <p:cNvGrpSpPr/>
            <p:nvPr/>
          </p:nvGrpSpPr>
          <p:grpSpPr>
            <a:xfrm>
              <a:off x="1691680" y="1392120"/>
              <a:ext cx="7452320" cy="5277240"/>
              <a:chOff x="683569" y="1392120"/>
              <a:chExt cx="8460432" cy="5277240"/>
            </a:xfrm>
          </p:grpSpPr>
          <p:pic>
            <p:nvPicPr>
              <p:cNvPr id="50178" name="Picture 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83569" y="1392120"/>
                <a:ext cx="8460432" cy="5277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" name="橢圓 5"/>
              <p:cNvSpPr/>
              <p:nvPr/>
            </p:nvSpPr>
            <p:spPr>
              <a:xfrm>
                <a:off x="3059832" y="1412776"/>
                <a:ext cx="1440160" cy="288032"/>
              </a:xfrm>
              <a:prstGeom prst="ellipse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8" name="文字方塊 7"/>
            <p:cNvSpPr txBox="1"/>
            <p:nvPr/>
          </p:nvSpPr>
          <p:spPr>
            <a:xfrm>
              <a:off x="7599884" y="1412776"/>
              <a:ext cx="1436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Gartner 2009</a:t>
              </a:r>
              <a:endParaRPr lang="zh-TW" altLang="en-US" dirty="0"/>
            </a:p>
          </p:txBody>
        </p:sp>
      </p:grp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Emerging Technologies Hype Cycle</a:t>
            </a:r>
            <a:endParaRPr lang="zh-TW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Emerging Technologies Priority Matrix</a:t>
            </a:r>
            <a:endParaRPr lang="zh-TW" altLang="en-US" sz="4000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 b="1384"/>
          <a:stretch>
            <a:fillRect/>
          </a:stretch>
        </p:blipFill>
        <p:spPr bwMode="auto">
          <a:xfrm>
            <a:off x="683569" y="1403753"/>
            <a:ext cx="8424936" cy="5121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字方塊 3"/>
          <p:cNvSpPr txBox="1"/>
          <p:nvPr/>
        </p:nvSpPr>
        <p:spPr>
          <a:xfrm>
            <a:off x="7596336" y="6444044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Gartner 2009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3851920" y="1916832"/>
            <a:ext cx="1268556" cy="28803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Benefits from Cloud Computing</a:t>
            </a:r>
            <a:endParaRPr lang="zh-TW" altLang="en-US" dirty="0"/>
          </a:p>
        </p:txBody>
      </p:sp>
      <p:grpSp>
        <p:nvGrpSpPr>
          <p:cNvPr id="75" name="群組 74"/>
          <p:cNvGrpSpPr/>
          <p:nvPr/>
        </p:nvGrpSpPr>
        <p:grpSpPr>
          <a:xfrm>
            <a:off x="-468560" y="1268760"/>
            <a:ext cx="9612560" cy="5544616"/>
            <a:chOff x="-324544" y="1412776"/>
            <a:chExt cx="9468544" cy="5400600"/>
          </a:xfrm>
        </p:grpSpPr>
        <p:sp>
          <p:nvSpPr>
            <p:cNvPr id="291" name="Rectangle 3"/>
            <p:cNvSpPr>
              <a:spLocks noChangeArrowheads="1"/>
            </p:cNvSpPr>
            <p:nvPr/>
          </p:nvSpPr>
          <p:spPr bwMode="auto">
            <a:xfrm>
              <a:off x="-324544" y="1412776"/>
              <a:ext cx="9468544" cy="669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rPr>
                <a:t>Q: Rate the </a:t>
              </a:r>
              <a:r>
                <a:rPr kumimoji="0" lang="en-US" altLang="zh-TW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新細明體" charset="-120"/>
                </a:rPr>
                <a:t>benefits</a:t>
              </a:r>
              <a:r>
                <a:rPr kumimoji="0" lang="en-US" altLang="zh-TW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rPr>
                <a:t> commonly ascribed to the 'cloud'/on-demand model </a:t>
              </a:r>
              <a:br>
                <a:rPr kumimoji="0" lang="en-US" altLang="zh-TW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rPr>
              </a:br>
              <a:endParaRPr kumimoji="0" lang="en-US" altLang="zh-TW" sz="1400" b="0" i="1" u="none" strike="noStrike" kern="0" cap="none" spc="0" normalizeH="0" baseline="0" noProof="0" dirty="0">
                <a:ln>
                  <a:noFill/>
                </a:ln>
                <a:solidFill>
                  <a:srgbClr val="013064"/>
                </a:solidFill>
                <a:effectLst/>
                <a:uLnTx/>
                <a:uFillTx/>
                <a:ea typeface="新細明體" charset="-120"/>
              </a:endParaRPr>
            </a:p>
          </p:txBody>
        </p:sp>
        <p:sp>
          <p:nvSpPr>
            <p:cNvPr id="292" name="Text Box 4"/>
            <p:cNvSpPr txBox="1">
              <a:spLocks noChangeArrowheads="1"/>
            </p:cNvSpPr>
            <p:nvPr/>
          </p:nvSpPr>
          <p:spPr bwMode="auto">
            <a:xfrm>
              <a:off x="136996" y="6538739"/>
              <a:ext cx="4597832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rPr>
                <a:t>Source: IDC Enterprise Panel, 3Q09, n = 263, September 2009</a:t>
              </a:r>
            </a:p>
          </p:txBody>
        </p:sp>
        <p:grpSp>
          <p:nvGrpSpPr>
            <p:cNvPr id="294" name="Group 340"/>
            <p:cNvGrpSpPr>
              <a:grpSpLocks/>
            </p:cNvGrpSpPr>
            <p:nvPr/>
          </p:nvGrpSpPr>
          <p:grpSpPr bwMode="auto">
            <a:xfrm>
              <a:off x="-290023" y="1877913"/>
              <a:ext cx="9434023" cy="4143375"/>
              <a:chOff x="-3" y="1161"/>
              <a:chExt cx="5817" cy="2610"/>
            </a:xfrm>
          </p:grpSpPr>
          <p:sp>
            <p:nvSpPr>
              <p:cNvPr id="295" name="AutoShape 271"/>
              <p:cNvSpPr>
                <a:spLocks noChangeAspect="1" noChangeArrowheads="1" noTextEdit="1"/>
              </p:cNvSpPr>
              <p:nvPr/>
            </p:nvSpPr>
            <p:spPr bwMode="auto">
              <a:xfrm>
                <a:off x="54" y="1161"/>
                <a:ext cx="5760" cy="2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6" name="Rectangle 274"/>
              <p:cNvSpPr>
                <a:spLocks noChangeArrowheads="1"/>
              </p:cNvSpPr>
              <p:nvPr/>
            </p:nvSpPr>
            <p:spPr bwMode="auto">
              <a:xfrm>
                <a:off x="2254" y="1303"/>
                <a:ext cx="3295" cy="2031"/>
              </a:xfrm>
              <a:prstGeom prst="rect">
                <a:avLst/>
              </a:prstGeom>
              <a:solidFill>
                <a:srgbClr val="C0C0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7" name="Line 275"/>
              <p:cNvSpPr>
                <a:spLocks noChangeShapeType="1"/>
              </p:cNvSpPr>
              <p:nvPr/>
            </p:nvSpPr>
            <p:spPr bwMode="auto">
              <a:xfrm>
                <a:off x="2616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8" name="Line 276"/>
              <p:cNvSpPr>
                <a:spLocks noChangeShapeType="1"/>
              </p:cNvSpPr>
              <p:nvPr/>
            </p:nvSpPr>
            <p:spPr bwMode="auto">
              <a:xfrm>
                <a:off x="2987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9" name="Line 277"/>
              <p:cNvSpPr>
                <a:spLocks noChangeShapeType="1"/>
              </p:cNvSpPr>
              <p:nvPr/>
            </p:nvSpPr>
            <p:spPr bwMode="auto">
              <a:xfrm>
                <a:off x="3349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0" name="Line 278"/>
              <p:cNvSpPr>
                <a:spLocks noChangeShapeType="1"/>
              </p:cNvSpPr>
              <p:nvPr/>
            </p:nvSpPr>
            <p:spPr bwMode="auto">
              <a:xfrm>
                <a:off x="3720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1" name="Line 279"/>
              <p:cNvSpPr>
                <a:spLocks noChangeShapeType="1"/>
              </p:cNvSpPr>
              <p:nvPr/>
            </p:nvSpPr>
            <p:spPr bwMode="auto">
              <a:xfrm>
                <a:off x="4082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2" name="Line 280"/>
              <p:cNvSpPr>
                <a:spLocks noChangeShapeType="1"/>
              </p:cNvSpPr>
              <p:nvPr/>
            </p:nvSpPr>
            <p:spPr bwMode="auto">
              <a:xfrm>
                <a:off x="4454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3" name="Line 281"/>
              <p:cNvSpPr>
                <a:spLocks noChangeShapeType="1"/>
              </p:cNvSpPr>
              <p:nvPr/>
            </p:nvSpPr>
            <p:spPr bwMode="auto">
              <a:xfrm>
                <a:off x="4816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4" name="Line 282"/>
              <p:cNvSpPr>
                <a:spLocks noChangeShapeType="1"/>
              </p:cNvSpPr>
              <p:nvPr/>
            </p:nvSpPr>
            <p:spPr bwMode="auto">
              <a:xfrm>
                <a:off x="5187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5" name="Line 283"/>
              <p:cNvSpPr>
                <a:spLocks noChangeShapeType="1"/>
              </p:cNvSpPr>
              <p:nvPr/>
            </p:nvSpPr>
            <p:spPr bwMode="auto">
              <a:xfrm>
                <a:off x="5549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6" name="Rectangle 284"/>
              <p:cNvSpPr>
                <a:spLocks noChangeArrowheads="1"/>
              </p:cNvSpPr>
              <p:nvPr/>
            </p:nvSpPr>
            <p:spPr bwMode="auto">
              <a:xfrm>
                <a:off x="2254" y="1303"/>
                <a:ext cx="3295" cy="2031"/>
              </a:xfrm>
              <a:prstGeom prst="rect">
                <a:avLst/>
              </a:prstGeom>
              <a:noFill/>
              <a:ln w="14288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7" name="Rectangle 285"/>
              <p:cNvSpPr>
                <a:spLocks noChangeArrowheads="1"/>
              </p:cNvSpPr>
              <p:nvPr/>
            </p:nvSpPr>
            <p:spPr bwMode="auto">
              <a:xfrm>
                <a:off x="2254" y="3154"/>
                <a:ext cx="1979" cy="104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8" name="Rectangle 286"/>
              <p:cNvSpPr>
                <a:spLocks noChangeArrowheads="1"/>
              </p:cNvSpPr>
              <p:nvPr/>
            </p:nvSpPr>
            <p:spPr bwMode="auto">
              <a:xfrm>
                <a:off x="2254" y="2898"/>
                <a:ext cx="2341" cy="104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9" name="Rectangle 287"/>
              <p:cNvSpPr>
                <a:spLocks noChangeArrowheads="1"/>
              </p:cNvSpPr>
              <p:nvPr/>
            </p:nvSpPr>
            <p:spPr bwMode="auto">
              <a:xfrm>
                <a:off x="2254" y="2651"/>
                <a:ext cx="2367" cy="95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0" name="Rectangle 288"/>
              <p:cNvSpPr>
                <a:spLocks noChangeArrowheads="1"/>
              </p:cNvSpPr>
              <p:nvPr/>
            </p:nvSpPr>
            <p:spPr bwMode="auto">
              <a:xfrm>
                <a:off x="2254" y="2395"/>
                <a:ext cx="2456" cy="104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1" name="Rectangle 289"/>
              <p:cNvSpPr>
                <a:spLocks noChangeArrowheads="1"/>
              </p:cNvSpPr>
              <p:nvPr/>
            </p:nvSpPr>
            <p:spPr bwMode="auto">
              <a:xfrm>
                <a:off x="2254" y="2139"/>
                <a:ext cx="2509" cy="104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2" name="Rectangle 290"/>
              <p:cNvSpPr>
                <a:spLocks noChangeArrowheads="1"/>
              </p:cNvSpPr>
              <p:nvPr/>
            </p:nvSpPr>
            <p:spPr bwMode="auto">
              <a:xfrm>
                <a:off x="2254" y="1882"/>
                <a:ext cx="2756" cy="105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3" name="Rectangle 291"/>
              <p:cNvSpPr>
                <a:spLocks noChangeArrowheads="1"/>
              </p:cNvSpPr>
              <p:nvPr/>
            </p:nvSpPr>
            <p:spPr bwMode="auto">
              <a:xfrm>
                <a:off x="2254" y="1636"/>
                <a:ext cx="2844" cy="94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4" name="Rectangle 292"/>
              <p:cNvSpPr>
                <a:spLocks noChangeArrowheads="1"/>
              </p:cNvSpPr>
              <p:nvPr/>
            </p:nvSpPr>
            <p:spPr bwMode="auto">
              <a:xfrm>
                <a:off x="2254" y="1379"/>
                <a:ext cx="2853" cy="105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5" name="Line 293"/>
              <p:cNvSpPr>
                <a:spLocks noChangeShapeType="1"/>
              </p:cNvSpPr>
              <p:nvPr/>
            </p:nvSpPr>
            <p:spPr bwMode="auto">
              <a:xfrm>
                <a:off x="2254" y="3334"/>
                <a:ext cx="329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6" name="Line 294"/>
              <p:cNvSpPr>
                <a:spLocks noChangeShapeType="1"/>
              </p:cNvSpPr>
              <p:nvPr/>
            </p:nvSpPr>
            <p:spPr bwMode="auto">
              <a:xfrm flipV="1">
                <a:off x="2254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7" name="Line 295"/>
              <p:cNvSpPr>
                <a:spLocks noChangeShapeType="1"/>
              </p:cNvSpPr>
              <p:nvPr/>
            </p:nvSpPr>
            <p:spPr bwMode="auto">
              <a:xfrm flipV="1">
                <a:off x="2616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8" name="Line 296"/>
              <p:cNvSpPr>
                <a:spLocks noChangeShapeType="1"/>
              </p:cNvSpPr>
              <p:nvPr/>
            </p:nvSpPr>
            <p:spPr bwMode="auto">
              <a:xfrm flipV="1">
                <a:off x="2987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9" name="Line 297"/>
              <p:cNvSpPr>
                <a:spLocks noChangeShapeType="1"/>
              </p:cNvSpPr>
              <p:nvPr/>
            </p:nvSpPr>
            <p:spPr bwMode="auto">
              <a:xfrm flipV="1">
                <a:off x="3349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0" name="Line 298"/>
              <p:cNvSpPr>
                <a:spLocks noChangeShapeType="1"/>
              </p:cNvSpPr>
              <p:nvPr/>
            </p:nvSpPr>
            <p:spPr bwMode="auto">
              <a:xfrm flipV="1">
                <a:off x="3720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1" name="Line 299"/>
              <p:cNvSpPr>
                <a:spLocks noChangeShapeType="1"/>
              </p:cNvSpPr>
              <p:nvPr/>
            </p:nvSpPr>
            <p:spPr bwMode="auto">
              <a:xfrm flipV="1">
                <a:off x="4082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2" name="Line 300"/>
              <p:cNvSpPr>
                <a:spLocks noChangeShapeType="1"/>
              </p:cNvSpPr>
              <p:nvPr/>
            </p:nvSpPr>
            <p:spPr bwMode="auto">
              <a:xfrm flipV="1">
                <a:off x="4454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3" name="Line 301"/>
              <p:cNvSpPr>
                <a:spLocks noChangeShapeType="1"/>
              </p:cNvSpPr>
              <p:nvPr/>
            </p:nvSpPr>
            <p:spPr bwMode="auto">
              <a:xfrm flipV="1">
                <a:off x="4816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4" name="Line 302"/>
              <p:cNvSpPr>
                <a:spLocks noChangeShapeType="1"/>
              </p:cNvSpPr>
              <p:nvPr/>
            </p:nvSpPr>
            <p:spPr bwMode="auto">
              <a:xfrm flipV="1">
                <a:off x="5187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5" name="Line 303"/>
              <p:cNvSpPr>
                <a:spLocks noChangeShapeType="1"/>
              </p:cNvSpPr>
              <p:nvPr/>
            </p:nvSpPr>
            <p:spPr bwMode="auto">
              <a:xfrm flipV="1">
                <a:off x="5549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6" name="Line 304"/>
              <p:cNvSpPr>
                <a:spLocks noChangeShapeType="1"/>
              </p:cNvSpPr>
              <p:nvPr/>
            </p:nvSpPr>
            <p:spPr bwMode="auto">
              <a:xfrm>
                <a:off x="2254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7" name="Line 305"/>
              <p:cNvSpPr>
                <a:spLocks noChangeShapeType="1"/>
              </p:cNvSpPr>
              <p:nvPr/>
            </p:nvSpPr>
            <p:spPr bwMode="auto">
              <a:xfrm>
                <a:off x="2218" y="3334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8" name="Line 306"/>
              <p:cNvSpPr>
                <a:spLocks noChangeShapeType="1"/>
              </p:cNvSpPr>
              <p:nvPr/>
            </p:nvSpPr>
            <p:spPr bwMode="auto">
              <a:xfrm>
                <a:off x="2218" y="3078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9" name="Line 307"/>
              <p:cNvSpPr>
                <a:spLocks noChangeShapeType="1"/>
              </p:cNvSpPr>
              <p:nvPr/>
            </p:nvSpPr>
            <p:spPr bwMode="auto">
              <a:xfrm>
                <a:off x="2218" y="2822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0" name="Line 308"/>
              <p:cNvSpPr>
                <a:spLocks noChangeShapeType="1"/>
              </p:cNvSpPr>
              <p:nvPr/>
            </p:nvSpPr>
            <p:spPr bwMode="auto">
              <a:xfrm>
                <a:off x="2218" y="2575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1" name="Line 309"/>
              <p:cNvSpPr>
                <a:spLocks noChangeShapeType="1"/>
              </p:cNvSpPr>
              <p:nvPr/>
            </p:nvSpPr>
            <p:spPr bwMode="auto">
              <a:xfrm>
                <a:off x="2218" y="2319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2" name="Line 310"/>
              <p:cNvSpPr>
                <a:spLocks noChangeShapeType="1"/>
              </p:cNvSpPr>
              <p:nvPr/>
            </p:nvSpPr>
            <p:spPr bwMode="auto">
              <a:xfrm>
                <a:off x="2218" y="2063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3" name="Line 311"/>
              <p:cNvSpPr>
                <a:spLocks noChangeShapeType="1"/>
              </p:cNvSpPr>
              <p:nvPr/>
            </p:nvSpPr>
            <p:spPr bwMode="auto">
              <a:xfrm>
                <a:off x="2218" y="1806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4" name="Line 312"/>
              <p:cNvSpPr>
                <a:spLocks noChangeShapeType="1"/>
              </p:cNvSpPr>
              <p:nvPr/>
            </p:nvSpPr>
            <p:spPr bwMode="auto">
              <a:xfrm>
                <a:off x="2218" y="1560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5" name="Line 313"/>
              <p:cNvSpPr>
                <a:spLocks noChangeShapeType="1"/>
              </p:cNvSpPr>
              <p:nvPr/>
            </p:nvSpPr>
            <p:spPr bwMode="auto">
              <a:xfrm>
                <a:off x="2218" y="1303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6" name="Rectangle 314"/>
              <p:cNvSpPr>
                <a:spLocks noChangeArrowheads="1"/>
              </p:cNvSpPr>
              <p:nvPr/>
            </p:nvSpPr>
            <p:spPr bwMode="auto">
              <a:xfrm>
                <a:off x="4268" y="3126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54.0%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37" name="Rectangle 315"/>
              <p:cNvSpPr>
                <a:spLocks noChangeArrowheads="1"/>
              </p:cNvSpPr>
              <p:nvPr/>
            </p:nvSpPr>
            <p:spPr bwMode="auto">
              <a:xfrm>
                <a:off x="4630" y="2869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63.9%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38" name="Rectangle 316"/>
              <p:cNvSpPr>
                <a:spLocks noChangeArrowheads="1"/>
              </p:cNvSpPr>
              <p:nvPr/>
            </p:nvSpPr>
            <p:spPr bwMode="auto">
              <a:xfrm>
                <a:off x="4657" y="2623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64.6%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39" name="Rectangle 317"/>
              <p:cNvSpPr>
                <a:spLocks noChangeArrowheads="1"/>
              </p:cNvSpPr>
              <p:nvPr/>
            </p:nvSpPr>
            <p:spPr bwMode="auto">
              <a:xfrm>
                <a:off x="4745" y="2366"/>
                <a:ext cx="3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67.0%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0" name="Rectangle 318"/>
              <p:cNvSpPr>
                <a:spLocks noChangeArrowheads="1"/>
              </p:cNvSpPr>
              <p:nvPr/>
            </p:nvSpPr>
            <p:spPr bwMode="auto">
              <a:xfrm>
                <a:off x="4798" y="2110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68.5%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1" name="Rectangle 319"/>
              <p:cNvSpPr>
                <a:spLocks noChangeArrowheads="1"/>
              </p:cNvSpPr>
              <p:nvPr/>
            </p:nvSpPr>
            <p:spPr bwMode="auto">
              <a:xfrm>
                <a:off x="5045" y="1854"/>
                <a:ext cx="3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75.3%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2" name="Rectangle 320"/>
              <p:cNvSpPr>
                <a:spLocks noChangeArrowheads="1"/>
              </p:cNvSpPr>
              <p:nvPr/>
            </p:nvSpPr>
            <p:spPr bwMode="auto">
              <a:xfrm>
                <a:off x="5134" y="1607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77.7%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3" name="Rectangle 321"/>
              <p:cNvSpPr>
                <a:spLocks noChangeArrowheads="1"/>
              </p:cNvSpPr>
              <p:nvPr/>
            </p:nvSpPr>
            <p:spPr bwMode="auto">
              <a:xfrm>
                <a:off x="5143" y="1351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77.9%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4" name="Rectangle 322"/>
              <p:cNvSpPr>
                <a:spLocks noChangeArrowheads="1"/>
              </p:cNvSpPr>
              <p:nvPr/>
            </p:nvSpPr>
            <p:spPr bwMode="auto">
              <a:xfrm>
                <a:off x="2174" y="3439"/>
                <a:ext cx="177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5" name="Rectangle 323"/>
              <p:cNvSpPr>
                <a:spLocks noChangeArrowheads="1"/>
              </p:cNvSpPr>
              <p:nvPr/>
            </p:nvSpPr>
            <p:spPr bwMode="auto">
              <a:xfrm>
                <a:off x="2501" y="3439"/>
                <a:ext cx="24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10%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6" name="Rectangle 324"/>
              <p:cNvSpPr>
                <a:spLocks noChangeArrowheads="1"/>
              </p:cNvSpPr>
              <p:nvPr/>
            </p:nvSpPr>
            <p:spPr bwMode="auto">
              <a:xfrm>
                <a:off x="2872" y="3439"/>
                <a:ext cx="24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20%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7" name="Rectangle 325"/>
              <p:cNvSpPr>
                <a:spLocks noChangeArrowheads="1"/>
              </p:cNvSpPr>
              <p:nvPr/>
            </p:nvSpPr>
            <p:spPr bwMode="auto">
              <a:xfrm>
                <a:off x="3234" y="3439"/>
                <a:ext cx="2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30%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8" name="Rectangle 326"/>
              <p:cNvSpPr>
                <a:spLocks noChangeArrowheads="1"/>
              </p:cNvSpPr>
              <p:nvPr/>
            </p:nvSpPr>
            <p:spPr bwMode="auto">
              <a:xfrm>
                <a:off x="3605" y="3439"/>
                <a:ext cx="2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40%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9" name="Rectangle 327"/>
              <p:cNvSpPr>
                <a:spLocks noChangeArrowheads="1"/>
              </p:cNvSpPr>
              <p:nvPr/>
            </p:nvSpPr>
            <p:spPr bwMode="auto">
              <a:xfrm>
                <a:off x="3968" y="3439"/>
                <a:ext cx="2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50%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0" name="Rectangle 328"/>
              <p:cNvSpPr>
                <a:spLocks noChangeArrowheads="1"/>
              </p:cNvSpPr>
              <p:nvPr/>
            </p:nvSpPr>
            <p:spPr bwMode="auto">
              <a:xfrm>
                <a:off x="4339" y="3439"/>
                <a:ext cx="2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60%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1" name="Rectangle 329"/>
              <p:cNvSpPr>
                <a:spLocks noChangeArrowheads="1"/>
              </p:cNvSpPr>
              <p:nvPr/>
            </p:nvSpPr>
            <p:spPr bwMode="auto">
              <a:xfrm>
                <a:off x="4701" y="3439"/>
                <a:ext cx="24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70%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2" name="Rectangle 330"/>
              <p:cNvSpPr>
                <a:spLocks noChangeArrowheads="1"/>
              </p:cNvSpPr>
              <p:nvPr/>
            </p:nvSpPr>
            <p:spPr bwMode="auto">
              <a:xfrm>
                <a:off x="5072" y="3439"/>
                <a:ext cx="24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80%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3" name="Rectangle 331"/>
              <p:cNvSpPr>
                <a:spLocks noChangeArrowheads="1"/>
              </p:cNvSpPr>
              <p:nvPr/>
            </p:nvSpPr>
            <p:spPr bwMode="auto">
              <a:xfrm>
                <a:off x="5434" y="3439"/>
                <a:ext cx="24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90%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4" name="Rectangle 332"/>
              <p:cNvSpPr>
                <a:spLocks noChangeArrowheads="1"/>
              </p:cNvSpPr>
              <p:nvPr/>
            </p:nvSpPr>
            <p:spPr bwMode="auto">
              <a:xfrm>
                <a:off x="379" y="3135"/>
                <a:ext cx="1851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Seems like the way of the future</a:t>
                </a:r>
                <a:endPara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5" name="Rectangle 333"/>
              <p:cNvSpPr>
                <a:spLocks noChangeArrowheads="1"/>
              </p:cNvSpPr>
              <p:nvPr/>
            </p:nvSpPr>
            <p:spPr bwMode="auto">
              <a:xfrm>
                <a:off x="-3" y="2879"/>
                <a:ext cx="2237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Sharing systems with partners simpler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6" name="Rectangle 334"/>
              <p:cNvSpPr>
                <a:spLocks noChangeArrowheads="1"/>
              </p:cNvSpPr>
              <p:nvPr/>
            </p:nvSpPr>
            <p:spPr bwMode="auto">
              <a:xfrm>
                <a:off x="325" y="2623"/>
                <a:ext cx="1899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Always offers latest functionality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7" name="Rectangle 335"/>
              <p:cNvSpPr>
                <a:spLocks noChangeArrowheads="1"/>
              </p:cNvSpPr>
              <p:nvPr/>
            </p:nvSpPr>
            <p:spPr bwMode="auto">
              <a:xfrm>
                <a:off x="95" y="2366"/>
                <a:ext cx="2148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Requires less in-house IT staff, costs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8" name="Rectangle 336"/>
              <p:cNvSpPr>
                <a:spLocks noChangeArrowheads="1"/>
              </p:cNvSpPr>
              <p:nvPr/>
            </p:nvSpPr>
            <p:spPr bwMode="auto">
              <a:xfrm>
                <a:off x="452" y="2120"/>
                <a:ext cx="176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Encourages standard systems</a:t>
                </a:r>
                <a:endPara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9" name="Rectangle 337"/>
              <p:cNvSpPr>
                <a:spLocks noChangeArrowheads="1"/>
              </p:cNvSpPr>
              <p:nvPr/>
            </p:nvSpPr>
            <p:spPr bwMode="auto">
              <a:xfrm>
                <a:off x="1128" y="1863"/>
                <a:ext cx="1067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Monthly payments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60" name="Rectangle 338"/>
              <p:cNvSpPr>
                <a:spLocks noChangeArrowheads="1"/>
              </p:cNvSpPr>
              <p:nvPr/>
            </p:nvSpPr>
            <p:spPr bwMode="auto">
              <a:xfrm>
                <a:off x="348" y="1607"/>
                <a:ext cx="187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Easy/fast to deploy to end-users</a:t>
                </a:r>
                <a:endPara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61" name="Rectangle 339"/>
              <p:cNvSpPr>
                <a:spLocks noChangeArrowheads="1"/>
              </p:cNvSpPr>
              <p:nvPr/>
            </p:nvSpPr>
            <p:spPr bwMode="auto">
              <a:xfrm>
                <a:off x="1000" y="1351"/>
                <a:ext cx="1239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Pay only for what you use</a:t>
                </a:r>
                <a:endParaRPr kumimoji="0" lang="en-US" altLang="zh-TW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</p:grp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Adoption of Cloud Computing</a:t>
            </a:r>
            <a:endParaRPr lang="zh-TW" altLang="en-US" dirty="0"/>
          </a:p>
        </p:txBody>
      </p:sp>
      <p:grpSp>
        <p:nvGrpSpPr>
          <p:cNvPr id="399" name="群組 398"/>
          <p:cNvGrpSpPr/>
          <p:nvPr/>
        </p:nvGrpSpPr>
        <p:grpSpPr>
          <a:xfrm>
            <a:off x="0" y="1268760"/>
            <a:ext cx="9252520" cy="5522912"/>
            <a:chOff x="0" y="1103313"/>
            <a:chExt cx="9252520" cy="5522912"/>
          </a:xfrm>
        </p:grpSpPr>
        <p:sp>
          <p:nvSpPr>
            <p:cNvPr id="400" name="AutoShape 10"/>
            <p:cNvSpPr>
              <a:spLocks noChangeAspect="1" noChangeArrowheads="1" noTextEdit="1"/>
            </p:cNvSpPr>
            <p:nvPr/>
          </p:nvSpPr>
          <p:spPr bwMode="auto">
            <a:xfrm>
              <a:off x="0" y="1731963"/>
              <a:ext cx="9144000" cy="4833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2" name="Rectangle 7"/>
            <p:cNvSpPr>
              <a:spLocks noChangeArrowheads="1"/>
            </p:cNvSpPr>
            <p:nvPr/>
          </p:nvSpPr>
          <p:spPr bwMode="auto">
            <a:xfrm>
              <a:off x="443483" y="1103313"/>
              <a:ext cx="88090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rPr>
                <a:t>Q: Rate your </a:t>
              </a:r>
              <a:r>
                <a:rPr kumimoji="0" lang="en-US" altLang="zh-TW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ea typeface="新細明體" pitchFamily="18" charset="-120"/>
                </a:rPr>
                <a:t>likelihood to pursue </a:t>
              </a:r>
              <a:r>
                <a:rPr kumimoji="0" lang="en-US" altLang="zh-TW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rPr>
                <a:t>the cloud model for the following </a:t>
              </a:r>
            </a:p>
          </p:txBody>
        </p:sp>
        <p:sp>
          <p:nvSpPr>
            <p:cNvPr id="403" name="Text Box 8"/>
            <p:cNvSpPr txBox="1">
              <a:spLocks noChangeArrowheads="1"/>
            </p:cNvSpPr>
            <p:nvPr/>
          </p:nvSpPr>
          <p:spPr bwMode="auto">
            <a:xfrm>
              <a:off x="0" y="6351588"/>
              <a:ext cx="4440237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rPr>
                <a:t>Source: IDC Enterprise Panel, 3Q09, n = 263, September 2009</a:t>
              </a:r>
            </a:p>
          </p:txBody>
        </p:sp>
        <p:grpSp>
          <p:nvGrpSpPr>
            <p:cNvPr id="404" name="Group 95"/>
            <p:cNvGrpSpPr>
              <a:grpSpLocks/>
            </p:cNvGrpSpPr>
            <p:nvPr/>
          </p:nvGrpSpPr>
          <p:grpSpPr bwMode="auto">
            <a:xfrm>
              <a:off x="90484" y="1633538"/>
              <a:ext cx="8996373" cy="4311655"/>
              <a:chOff x="57" y="1029"/>
              <a:chExt cx="5667" cy="2716"/>
            </a:xfrm>
          </p:grpSpPr>
          <p:sp>
            <p:nvSpPr>
              <p:cNvPr id="405" name="Rectangle 13"/>
              <p:cNvSpPr>
                <a:spLocks noChangeArrowheads="1"/>
              </p:cNvSpPr>
              <p:nvPr/>
            </p:nvSpPr>
            <p:spPr bwMode="auto">
              <a:xfrm>
                <a:off x="1975" y="1029"/>
                <a:ext cx="3707" cy="2493"/>
              </a:xfrm>
              <a:prstGeom prst="rect">
                <a:avLst/>
              </a:prstGeom>
              <a:solidFill>
                <a:srgbClr val="C0C0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6" name="Line 14"/>
              <p:cNvSpPr>
                <a:spLocks noChangeShapeType="1"/>
              </p:cNvSpPr>
              <p:nvPr/>
            </p:nvSpPr>
            <p:spPr bwMode="auto">
              <a:xfrm>
                <a:off x="2436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7" name="Line 15"/>
              <p:cNvSpPr>
                <a:spLocks noChangeShapeType="1"/>
              </p:cNvSpPr>
              <p:nvPr/>
            </p:nvSpPr>
            <p:spPr bwMode="auto">
              <a:xfrm>
                <a:off x="2906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8" name="Line 16"/>
              <p:cNvSpPr>
                <a:spLocks noChangeShapeType="1"/>
              </p:cNvSpPr>
              <p:nvPr/>
            </p:nvSpPr>
            <p:spPr bwMode="auto">
              <a:xfrm>
                <a:off x="3367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9" name="Line 17"/>
              <p:cNvSpPr>
                <a:spLocks noChangeShapeType="1"/>
              </p:cNvSpPr>
              <p:nvPr/>
            </p:nvSpPr>
            <p:spPr bwMode="auto">
              <a:xfrm>
                <a:off x="3829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0" name="Line 18"/>
              <p:cNvSpPr>
                <a:spLocks noChangeShapeType="1"/>
              </p:cNvSpPr>
              <p:nvPr/>
            </p:nvSpPr>
            <p:spPr bwMode="auto">
              <a:xfrm>
                <a:off x="4290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1" name="Line 19"/>
              <p:cNvSpPr>
                <a:spLocks noChangeShapeType="1"/>
              </p:cNvSpPr>
              <p:nvPr/>
            </p:nvSpPr>
            <p:spPr bwMode="auto">
              <a:xfrm>
                <a:off x="4759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2" name="Line 20"/>
              <p:cNvSpPr>
                <a:spLocks noChangeShapeType="1"/>
              </p:cNvSpPr>
              <p:nvPr/>
            </p:nvSpPr>
            <p:spPr bwMode="auto">
              <a:xfrm>
                <a:off x="5221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3" name="Line 21"/>
              <p:cNvSpPr>
                <a:spLocks noChangeShapeType="1"/>
              </p:cNvSpPr>
              <p:nvPr/>
            </p:nvSpPr>
            <p:spPr bwMode="auto">
              <a:xfrm>
                <a:off x="5682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4" name="Rectangle 22"/>
              <p:cNvSpPr>
                <a:spLocks noChangeArrowheads="1"/>
              </p:cNvSpPr>
              <p:nvPr/>
            </p:nvSpPr>
            <p:spPr bwMode="auto">
              <a:xfrm>
                <a:off x="1975" y="1029"/>
                <a:ext cx="3707" cy="2493"/>
              </a:xfrm>
              <a:prstGeom prst="rect">
                <a:avLst/>
              </a:prstGeom>
              <a:noFill/>
              <a:ln w="14288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5" name="Rectangle 23"/>
              <p:cNvSpPr>
                <a:spLocks noChangeArrowheads="1"/>
              </p:cNvSpPr>
              <p:nvPr/>
            </p:nvSpPr>
            <p:spPr bwMode="auto">
              <a:xfrm>
                <a:off x="1975" y="3380"/>
                <a:ext cx="2255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6" name="Rectangle 24"/>
              <p:cNvSpPr>
                <a:spLocks noChangeArrowheads="1"/>
              </p:cNvSpPr>
              <p:nvPr/>
            </p:nvSpPr>
            <p:spPr bwMode="auto">
              <a:xfrm>
                <a:off x="1975" y="3166"/>
                <a:ext cx="2272" cy="89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7" name="Rectangle 25"/>
              <p:cNvSpPr>
                <a:spLocks noChangeArrowheads="1"/>
              </p:cNvSpPr>
              <p:nvPr/>
            </p:nvSpPr>
            <p:spPr bwMode="auto">
              <a:xfrm>
                <a:off x="1975" y="2962"/>
                <a:ext cx="2306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8" name="Rectangle 26"/>
              <p:cNvSpPr>
                <a:spLocks noChangeArrowheads="1"/>
              </p:cNvSpPr>
              <p:nvPr/>
            </p:nvSpPr>
            <p:spPr bwMode="auto">
              <a:xfrm>
                <a:off x="1975" y="2757"/>
                <a:ext cx="2349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9" name="Rectangle 27"/>
              <p:cNvSpPr>
                <a:spLocks noChangeArrowheads="1"/>
              </p:cNvSpPr>
              <p:nvPr/>
            </p:nvSpPr>
            <p:spPr bwMode="auto">
              <a:xfrm>
                <a:off x="1975" y="2543"/>
                <a:ext cx="2375" cy="89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0" name="Rectangle 28"/>
              <p:cNvSpPr>
                <a:spLocks noChangeArrowheads="1"/>
              </p:cNvSpPr>
              <p:nvPr/>
            </p:nvSpPr>
            <p:spPr bwMode="auto">
              <a:xfrm>
                <a:off x="1975" y="2338"/>
                <a:ext cx="2451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1" name="Rectangle 29"/>
              <p:cNvSpPr>
                <a:spLocks noChangeArrowheads="1"/>
              </p:cNvSpPr>
              <p:nvPr/>
            </p:nvSpPr>
            <p:spPr bwMode="auto">
              <a:xfrm>
                <a:off x="1975" y="2133"/>
                <a:ext cx="2537" cy="81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2" name="Rectangle 30"/>
              <p:cNvSpPr>
                <a:spLocks noChangeArrowheads="1"/>
              </p:cNvSpPr>
              <p:nvPr/>
            </p:nvSpPr>
            <p:spPr bwMode="auto">
              <a:xfrm>
                <a:off x="1975" y="1920"/>
                <a:ext cx="2554" cy="89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3" name="Rectangle 31"/>
              <p:cNvSpPr>
                <a:spLocks noChangeArrowheads="1"/>
              </p:cNvSpPr>
              <p:nvPr/>
            </p:nvSpPr>
            <p:spPr bwMode="auto">
              <a:xfrm>
                <a:off x="1975" y="1715"/>
                <a:ext cx="2579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4" name="Rectangle 32"/>
              <p:cNvSpPr>
                <a:spLocks noChangeArrowheads="1"/>
              </p:cNvSpPr>
              <p:nvPr/>
            </p:nvSpPr>
            <p:spPr bwMode="auto">
              <a:xfrm>
                <a:off x="1975" y="1510"/>
                <a:ext cx="2750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5" name="Rectangle 33"/>
              <p:cNvSpPr>
                <a:spLocks noChangeArrowheads="1"/>
              </p:cNvSpPr>
              <p:nvPr/>
            </p:nvSpPr>
            <p:spPr bwMode="auto">
              <a:xfrm>
                <a:off x="1975" y="1297"/>
                <a:ext cx="3100" cy="89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6" name="Rectangle 34"/>
              <p:cNvSpPr>
                <a:spLocks noChangeArrowheads="1"/>
              </p:cNvSpPr>
              <p:nvPr/>
            </p:nvSpPr>
            <p:spPr bwMode="auto">
              <a:xfrm>
                <a:off x="1975" y="1092"/>
                <a:ext cx="3118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7" name="Line 35"/>
              <p:cNvSpPr>
                <a:spLocks noChangeShapeType="1"/>
              </p:cNvSpPr>
              <p:nvPr/>
            </p:nvSpPr>
            <p:spPr bwMode="auto">
              <a:xfrm>
                <a:off x="1975" y="3522"/>
                <a:ext cx="3707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8" name="Line 36"/>
              <p:cNvSpPr>
                <a:spLocks noChangeShapeType="1"/>
              </p:cNvSpPr>
              <p:nvPr/>
            </p:nvSpPr>
            <p:spPr bwMode="auto">
              <a:xfrm flipV="1">
                <a:off x="1975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9" name="Line 37"/>
              <p:cNvSpPr>
                <a:spLocks noChangeShapeType="1"/>
              </p:cNvSpPr>
              <p:nvPr/>
            </p:nvSpPr>
            <p:spPr bwMode="auto">
              <a:xfrm flipV="1">
                <a:off x="2436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0" name="Line 38"/>
              <p:cNvSpPr>
                <a:spLocks noChangeShapeType="1"/>
              </p:cNvSpPr>
              <p:nvPr/>
            </p:nvSpPr>
            <p:spPr bwMode="auto">
              <a:xfrm flipV="1">
                <a:off x="2906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1" name="Line 39"/>
              <p:cNvSpPr>
                <a:spLocks noChangeShapeType="1"/>
              </p:cNvSpPr>
              <p:nvPr/>
            </p:nvSpPr>
            <p:spPr bwMode="auto">
              <a:xfrm flipV="1">
                <a:off x="3367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2" name="Line 40"/>
              <p:cNvSpPr>
                <a:spLocks noChangeShapeType="1"/>
              </p:cNvSpPr>
              <p:nvPr/>
            </p:nvSpPr>
            <p:spPr bwMode="auto">
              <a:xfrm flipV="1">
                <a:off x="3829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3" name="Line 41"/>
              <p:cNvSpPr>
                <a:spLocks noChangeShapeType="1"/>
              </p:cNvSpPr>
              <p:nvPr/>
            </p:nvSpPr>
            <p:spPr bwMode="auto">
              <a:xfrm flipV="1">
                <a:off x="4290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4" name="Line 42"/>
              <p:cNvSpPr>
                <a:spLocks noChangeShapeType="1"/>
              </p:cNvSpPr>
              <p:nvPr/>
            </p:nvSpPr>
            <p:spPr bwMode="auto">
              <a:xfrm flipV="1">
                <a:off x="4759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5" name="Line 43"/>
              <p:cNvSpPr>
                <a:spLocks noChangeShapeType="1"/>
              </p:cNvSpPr>
              <p:nvPr/>
            </p:nvSpPr>
            <p:spPr bwMode="auto">
              <a:xfrm flipV="1">
                <a:off x="5221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6" name="Line 44"/>
              <p:cNvSpPr>
                <a:spLocks noChangeShapeType="1"/>
              </p:cNvSpPr>
              <p:nvPr/>
            </p:nvSpPr>
            <p:spPr bwMode="auto">
              <a:xfrm flipV="1">
                <a:off x="5682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7" name="Line 45"/>
              <p:cNvSpPr>
                <a:spLocks noChangeShapeType="1"/>
              </p:cNvSpPr>
              <p:nvPr/>
            </p:nvSpPr>
            <p:spPr bwMode="auto">
              <a:xfrm>
                <a:off x="1975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8" name="Line 46"/>
              <p:cNvSpPr>
                <a:spLocks noChangeShapeType="1"/>
              </p:cNvSpPr>
              <p:nvPr/>
            </p:nvSpPr>
            <p:spPr bwMode="auto">
              <a:xfrm>
                <a:off x="1941" y="3522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9" name="Line 47"/>
              <p:cNvSpPr>
                <a:spLocks noChangeShapeType="1"/>
              </p:cNvSpPr>
              <p:nvPr/>
            </p:nvSpPr>
            <p:spPr bwMode="auto">
              <a:xfrm>
                <a:off x="1941" y="3318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0" name="Line 48"/>
              <p:cNvSpPr>
                <a:spLocks noChangeShapeType="1"/>
              </p:cNvSpPr>
              <p:nvPr/>
            </p:nvSpPr>
            <p:spPr bwMode="auto">
              <a:xfrm>
                <a:off x="1941" y="3104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1" name="Line 49"/>
              <p:cNvSpPr>
                <a:spLocks noChangeShapeType="1"/>
              </p:cNvSpPr>
              <p:nvPr/>
            </p:nvSpPr>
            <p:spPr bwMode="auto">
              <a:xfrm>
                <a:off x="1941" y="2899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2" name="Line 50"/>
              <p:cNvSpPr>
                <a:spLocks noChangeShapeType="1"/>
              </p:cNvSpPr>
              <p:nvPr/>
            </p:nvSpPr>
            <p:spPr bwMode="auto">
              <a:xfrm>
                <a:off x="1941" y="2694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3" name="Line 51"/>
              <p:cNvSpPr>
                <a:spLocks noChangeShapeType="1"/>
              </p:cNvSpPr>
              <p:nvPr/>
            </p:nvSpPr>
            <p:spPr bwMode="auto">
              <a:xfrm>
                <a:off x="1941" y="2481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4" name="Line 52"/>
              <p:cNvSpPr>
                <a:spLocks noChangeShapeType="1"/>
              </p:cNvSpPr>
              <p:nvPr/>
            </p:nvSpPr>
            <p:spPr bwMode="auto">
              <a:xfrm>
                <a:off x="1941" y="2276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5" name="Line 53"/>
              <p:cNvSpPr>
                <a:spLocks noChangeShapeType="1"/>
              </p:cNvSpPr>
              <p:nvPr/>
            </p:nvSpPr>
            <p:spPr bwMode="auto">
              <a:xfrm>
                <a:off x="1941" y="2071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6" name="Line 54"/>
              <p:cNvSpPr>
                <a:spLocks noChangeShapeType="1"/>
              </p:cNvSpPr>
              <p:nvPr/>
            </p:nvSpPr>
            <p:spPr bwMode="auto">
              <a:xfrm>
                <a:off x="1941" y="1857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7" name="Line 55"/>
              <p:cNvSpPr>
                <a:spLocks noChangeShapeType="1"/>
              </p:cNvSpPr>
              <p:nvPr/>
            </p:nvSpPr>
            <p:spPr bwMode="auto">
              <a:xfrm>
                <a:off x="1941" y="1653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8" name="Line 56"/>
              <p:cNvSpPr>
                <a:spLocks noChangeShapeType="1"/>
              </p:cNvSpPr>
              <p:nvPr/>
            </p:nvSpPr>
            <p:spPr bwMode="auto">
              <a:xfrm>
                <a:off x="1941" y="1448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9" name="Line 57"/>
              <p:cNvSpPr>
                <a:spLocks noChangeShapeType="1"/>
              </p:cNvSpPr>
              <p:nvPr/>
            </p:nvSpPr>
            <p:spPr bwMode="auto">
              <a:xfrm>
                <a:off x="1941" y="1234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0" name="Line 58"/>
              <p:cNvSpPr>
                <a:spLocks noChangeShapeType="1"/>
              </p:cNvSpPr>
              <p:nvPr/>
            </p:nvSpPr>
            <p:spPr bwMode="auto">
              <a:xfrm>
                <a:off x="1941" y="1029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1" name="Rectangle 59"/>
              <p:cNvSpPr>
                <a:spLocks noChangeArrowheads="1"/>
              </p:cNvSpPr>
              <p:nvPr/>
            </p:nvSpPr>
            <p:spPr bwMode="auto">
              <a:xfrm>
                <a:off x="4264" y="3344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48.6%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2" name="Rectangle 60"/>
              <p:cNvSpPr>
                <a:spLocks noChangeArrowheads="1"/>
              </p:cNvSpPr>
              <p:nvPr/>
            </p:nvSpPr>
            <p:spPr bwMode="auto">
              <a:xfrm>
                <a:off x="4281" y="3140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49.1%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3" name="Rectangle 61"/>
              <p:cNvSpPr>
                <a:spLocks noChangeArrowheads="1"/>
              </p:cNvSpPr>
              <p:nvPr/>
            </p:nvSpPr>
            <p:spPr bwMode="auto">
              <a:xfrm>
                <a:off x="4315" y="2926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49.8%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4" name="Rectangle 62"/>
              <p:cNvSpPr>
                <a:spLocks noChangeArrowheads="1"/>
              </p:cNvSpPr>
              <p:nvPr/>
            </p:nvSpPr>
            <p:spPr bwMode="auto">
              <a:xfrm>
                <a:off x="4358" y="2721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50.6%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5" name="Rectangle 63"/>
              <p:cNvSpPr>
                <a:spLocks noChangeArrowheads="1"/>
              </p:cNvSpPr>
              <p:nvPr/>
            </p:nvSpPr>
            <p:spPr bwMode="auto">
              <a:xfrm>
                <a:off x="4384" y="2516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51.3%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6" name="Rectangle 64"/>
              <p:cNvSpPr>
                <a:spLocks noChangeArrowheads="1"/>
              </p:cNvSpPr>
              <p:nvPr/>
            </p:nvSpPr>
            <p:spPr bwMode="auto">
              <a:xfrm>
                <a:off x="4461" y="2303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52.9%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7" name="Rectangle 65"/>
              <p:cNvSpPr>
                <a:spLocks noChangeArrowheads="1"/>
              </p:cNvSpPr>
              <p:nvPr/>
            </p:nvSpPr>
            <p:spPr bwMode="auto">
              <a:xfrm>
                <a:off x="4546" y="2098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54.8%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8" name="Rectangle 66"/>
              <p:cNvSpPr>
                <a:spLocks noChangeArrowheads="1"/>
              </p:cNvSpPr>
              <p:nvPr/>
            </p:nvSpPr>
            <p:spPr bwMode="auto">
              <a:xfrm>
                <a:off x="4563" y="1893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55.1%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9" name="Rectangle 67"/>
              <p:cNvSpPr>
                <a:spLocks noChangeArrowheads="1"/>
              </p:cNvSpPr>
              <p:nvPr/>
            </p:nvSpPr>
            <p:spPr bwMode="auto">
              <a:xfrm>
                <a:off x="4589" y="1679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55.6%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0" name="Rectangle 68"/>
              <p:cNvSpPr>
                <a:spLocks noChangeArrowheads="1"/>
              </p:cNvSpPr>
              <p:nvPr/>
            </p:nvSpPr>
            <p:spPr bwMode="auto">
              <a:xfrm>
                <a:off x="4759" y="1475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59.4%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1" name="Rectangle 69"/>
              <p:cNvSpPr>
                <a:spLocks noChangeArrowheads="1"/>
              </p:cNvSpPr>
              <p:nvPr/>
            </p:nvSpPr>
            <p:spPr bwMode="auto">
              <a:xfrm>
                <a:off x="5110" y="1270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66.9%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2" name="Rectangle 70"/>
              <p:cNvSpPr>
                <a:spLocks noChangeArrowheads="1"/>
              </p:cNvSpPr>
              <p:nvPr/>
            </p:nvSpPr>
            <p:spPr bwMode="auto">
              <a:xfrm>
                <a:off x="5127" y="1056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67.3%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3" name="Rectangle 71"/>
              <p:cNvSpPr>
                <a:spLocks noChangeArrowheads="1"/>
              </p:cNvSpPr>
              <p:nvPr/>
            </p:nvSpPr>
            <p:spPr bwMode="auto">
              <a:xfrm>
                <a:off x="1898" y="3620"/>
                <a:ext cx="150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4" name="Rectangle 72"/>
              <p:cNvSpPr>
                <a:spLocks noChangeArrowheads="1"/>
              </p:cNvSpPr>
              <p:nvPr/>
            </p:nvSpPr>
            <p:spPr bwMode="auto">
              <a:xfrm>
                <a:off x="2334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10%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5" name="Rectangle 73"/>
              <p:cNvSpPr>
                <a:spLocks noChangeArrowheads="1"/>
              </p:cNvSpPr>
              <p:nvPr/>
            </p:nvSpPr>
            <p:spPr bwMode="auto">
              <a:xfrm>
                <a:off x="2804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20%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6" name="Rectangle 74"/>
              <p:cNvSpPr>
                <a:spLocks noChangeArrowheads="1"/>
              </p:cNvSpPr>
              <p:nvPr/>
            </p:nvSpPr>
            <p:spPr bwMode="auto">
              <a:xfrm>
                <a:off x="3265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30%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7" name="Rectangle 75"/>
              <p:cNvSpPr>
                <a:spLocks noChangeArrowheads="1"/>
              </p:cNvSpPr>
              <p:nvPr/>
            </p:nvSpPr>
            <p:spPr bwMode="auto">
              <a:xfrm>
                <a:off x="3726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40%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8" name="Rectangle 76"/>
              <p:cNvSpPr>
                <a:spLocks noChangeArrowheads="1"/>
              </p:cNvSpPr>
              <p:nvPr/>
            </p:nvSpPr>
            <p:spPr bwMode="auto">
              <a:xfrm>
                <a:off x="4187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9" name="Rectangle 77"/>
              <p:cNvSpPr>
                <a:spLocks noChangeArrowheads="1"/>
              </p:cNvSpPr>
              <p:nvPr/>
            </p:nvSpPr>
            <p:spPr bwMode="auto">
              <a:xfrm>
                <a:off x="4657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60%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0" name="Rectangle 78"/>
              <p:cNvSpPr>
                <a:spLocks noChangeArrowheads="1"/>
              </p:cNvSpPr>
              <p:nvPr/>
            </p:nvSpPr>
            <p:spPr bwMode="auto">
              <a:xfrm>
                <a:off x="5118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70%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1" name="Rectangle 79"/>
              <p:cNvSpPr>
                <a:spLocks noChangeArrowheads="1"/>
              </p:cNvSpPr>
              <p:nvPr/>
            </p:nvSpPr>
            <p:spPr bwMode="auto">
              <a:xfrm>
                <a:off x="5516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80%</a:t>
                </a:r>
                <a:endParaRPr kumimoji="0" lang="en-US" altLang="zh-TW" sz="24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2" name="Rectangle 80"/>
              <p:cNvSpPr>
                <a:spLocks noChangeArrowheads="1"/>
              </p:cNvSpPr>
              <p:nvPr/>
            </p:nvSpPr>
            <p:spPr bwMode="auto">
              <a:xfrm>
                <a:off x="759" y="3344"/>
                <a:ext cx="1147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IT/Information Security</a:t>
                </a:r>
                <a:endParaRPr kumimoji="0" lang="en-US" altLang="zh-TW" sz="15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3" name="Rectangle 81"/>
              <p:cNvSpPr>
                <a:spLocks noChangeArrowheads="1"/>
              </p:cNvSpPr>
              <p:nvPr/>
            </p:nvSpPr>
            <p:spPr bwMode="auto">
              <a:xfrm>
                <a:off x="57" y="3140"/>
                <a:ext cx="1838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Application dev/test/deploy platform</a:t>
                </a:r>
                <a:endParaRPr kumimoji="0" lang="en-US" altLang="zh-TW" sz="15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4" name="Rectangle 82"/>
              <p:cNvSpPr>
                <a:spLocks noChangeArrowheads="1"/>
              </p:cNvSpPr>
              <p:nvPr/>
            </p:nvSpPr>
            <p:spPr bwMode="auto">
              <a:xfrm>
                <a:off x="349" y="2935"/>
                <a:ext cx="1512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Business Intelligence/Analytics</a:t>
                </a:r>
                <a:endParaRPr kumimoji="0" lang="en-US" altLang="zh-TW" sz="15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5" name="Rectangle 83"/>
              <p:cNvSpPr>
                <a:spLocks noChangeArrowheads="1"/>
              </p:cNvSpPr>
              <p:nvPr/>
            </p:nvSpPr>
            <p:spPr bwMode="auto">
              <a:xfrm>
                <a:off x="559" y="2721"/>
                <a:ext cx="1336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Server capacity on demand</a:t>
                </a:r>
                <a:endParaRPr kumimoji="0" lang="en-US" altLang="zh-TW" sz="15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6" name="Rectangle 84"/>
              <p:cNvSpPr>
                <a:spLocks noChangeArrowheads="1"/>
              </p:cNvSpPr>
              <p:nvPr/>
            </p:nvSpPr>
            <p:spPr bwMode="auto">
              <a:xfrm>
                <a:off x="650" y="2516"/>
                <a:ext cx="1241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IT Management software</a:t>
                </a:r>
                <a:endParaRPr kumimoji="0" lang="en-US" altLang="zh-TW" sz="15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7" name="Rectangle 85"/>
              <p:cNvSpPr>
                <a:spLocks noChangeArrowheads="1"/>
              </p:cNvSpPr>
              <p:nvPr/>
            </p:nvSpPr>
            <p:spPr bwMode="auto">
              <a:xfrm>
                <a:off x="488" y="2312"/>
                <a:ext cx="1397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Storage capacity on demand</a:t>
                </a:r>
                <a:endParaRPr kumimoji="0" lang="en-US" altLang="zh-TW" sz="15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8" name="Rectangle 86"/>
              <p:cNvSpPr>
                <a:spLocks noChangeArrowheads="1"/>
              </p:cNvSpPr>
              <p:nvPr/>
            </p:nvSpPr>
            <p:spPr bwMode="auto">
              <a:xfrm>
                <a:off x="163" y="2098"/>
                <a:ext cx="1705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Data/Content Distribution services</a:t>
                </a:r>
                <a:endParaRPr kumimoji="0" lang="en-US" altLang="zh-TW" sz="15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9" name="Rectangle 87"/>
              <p:cNvSpPr>
                <a:spLocks noChangeArrowheads="1"/>
              </p:cNvSpPr>
              <p:nvPr/>
            </p:nvSpPr>
            <p:spPr bwMode="auto">
              <a:xfrm>
                <a:off x="574" y="1893"/>
                <a:ext cx="1308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Personal productivity apps</a:t>
                </a:r>
                <a:endParaRPr kumimoji="0" lang="en-US" altLang="zh-TW" sz="15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80" name="Rectangle 88"/>
              <p:cNvSpPr>
                <a:spLocks noChangeArrowheads="1"/>
              </p:cNvSpPr>
              <p:nvPr/>
            </p:nvSpPr>
            <p:spPr bwMode="auto">
              <a:xfrm>
                <a:off x="399" y="1688"/>
                <a:ext cx="1462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Business apps (CRM, HR, ERP)</a:t>
                </a:r>
                <a:endParaRPr kumimoji="0" lang="en-US" altLang="zh-TW" sz="15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81" name="Rectangle 89"/>
              <p:cNvSpPr>
                <a:spLocks noChangeArrowheads="1"/>
              </p:cNvSpPr>
              <p:nvPr/>
            </p:nvSpPr>
            <p:spPr bwMode="auto">
              <a:xfrm>
                <a:off x="297" y="1475"/>
                <a:ext cx="1604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Data Back-up or Archive services</a:t>
                </a:r>
                <a:endParaRPr kumimoji="0" lang="en-US" altLang="zh-TW" sz="1500" b="0" i="0" u="none" strike="noStrike" kern="0" cap="none" spc="0" normalizeH="0" baseline="0" noProof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82" name="Rectangle 90"/>
              <p:cNvSpPr>
                <a:spLocks noChangeArrowheads="1"/>
              </p:cNvSpPr>
              <p:nvPr/>
            </p:nvSpPr>
            <p:spPr bwMode="auto">
              <a:xfrm>
                <a:off x="360" y="1270"/>
                <a:ext cx="1513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Web applications/Web serving</a:t>
                </a:r>
                <a:endParaRPr kumimoji="0" lang="en-US" altLang="zh-TW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83" name="Rectangle 91"/>
              <p:cNvSpPr>
                <a:spLocks noChangeArrowheads="1"/>
              </p:cNvSpPr>
              <p:nvPr/>
            </p:nvSpPr>
            <p:spPr bwMode="auto">
              <a:xfrm>
                <a:off x="567" y="1065"/>
                <a:ext cx="1286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Collaboration applications</a:t>
                </a:r>
                <a:endParaRPr kumimoji="0" lang="en-US" altLang="zh-TW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</p:grp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Cloud Value Drivers &amp; Effects</a:t>
            </a:r>
            <a:endParaRPr lang="zh-TW" altLang="en-US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8" y="1142826"/>
            <a:ext cx="8656637" cy="567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0" y="757638"/>
            <a:ext cx="1707147" cy="943170"/>
            <a:chOff x="3449069" y="-84875"/>
            <a:chExt cx="1742821" cy="1526298"/>
          </a:xfrm>
        </p:grpSpPr>
        <p:sp>
          <p:nvSpPr>
            <p:cNvPr id="24" name="橢圓 23"/>
            <p:cNvSpPr/>
            <p:nvPr/>
          </p:nvSpPr>
          <p:spPr>
            <a:xfrm>
              <a:off x="3449069" y="-84875"/>
              <a:ext cx="1742821" cy="152629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橢圓 4"/>
            <p:cNvSpPr/>
            <p:nvPr/>
          </p:nvSpPr>
          <p:spPr>
            <a:xfrm>
              <a:off x="3704299" y="138646"/>
              <a:ext cx="1232361" cy="10792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1800" kern="1200" dirty="0"/>
                <a:t>Lower costs</a:t>
              </a:r>
              <a:endParaRPr lang="zh-TW" altLang="en-US" sz="1800" kern="1200" dirty="0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Lower IT operating and capital costs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8052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The leading value driver is lower IT operating and capital costs </a:t>
            </a:r>
          </a:p>
          <a:p>
            <a:endParaRPr lang="en-US" altLang="zh-TW" dirty="0"/>
          </a:p>
          <a:p>
            <a:r>
              <a:rPr lang="en-US" altLang="zh-TW" dirty="0"/>
              <a:t>Lower IT cost</a:t>
            </a:r>
          </a:p>
          <a:p>
            <a:pPr lvl="1"/>
            <a:r>
              <a:rPr lang="en-US" altLang="zh-TW" dirty="0"/>
              <a:t>Optimize, consolidate and reduce servers </a:t>
            </a:r>
          </a:p>
          <a:p>
            <a:pPr lvl="1"/>
            <a:r>
              <a:rPr lang="en-US" altLang="zh-TW" dirty="0"/>
              <a:t>Improve capital utilization &amp; quality</a:t>
            </a:r>
          </a:p>
          <a:p>
            <a:pPr lvl="1"/>
            <a:r>
              <a:rPr lang="en-US" altLang="zh-TW" dirty="0"/>
              <a:t>Reduce energy costs </a:t>
            </a:r>
          </a:p>
          <a:p>
            <a:r>
              <a:rPr lang="en-US" altLang="zh-TW" dirty="0"/>
              <a:t>Enables implementation of ideas or applications</a:t>
            </a:r>
          </a:p>
          <a:p>
            <a:pPr lvl="1"/>
            <a:r>
              <a:rPr lang="en-US" altLang="zh-TW" dirty="0"/>
              <a:t>Cheaper pilots encourages experimentation and innovation </a:t>
            </a:r>
          </a:p>
          <a:p>
            <a:pPr lvl="1"/>
            <a:r>
              <a:rPr lang="en-US" altLang="zh-TW" dirty="0"/>
              <a:t>Reduction in the costs for large, compute and storage intensive applications </a:t>
            </a:r>
          </a:p>
          <a:p>
            <a:pPr lvl="1"/>
            <a:r>
              <a:rPr lang="en-US" altLang="zh-TW" dirty="0"/>
              <a:t>A Pay for Use model and the lower cloud costs of large computing and storage resources</a:t>
            </a:r>
            <a:endParaRPr lang="zh-TW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/>
          <p:cNvGrpSpPr/>
          <p:nvPr/>
        </p:nvGrpSpPr>
        <p:grpSpPr>
          <a:xfrm>
            <a:off x="0" y="757638"/>
            <a:ext cx="1707147" cy="943170"/>
            <a:chOff x="5777889" y="2298753"/>
            <a:chExt cx="1742821" cy="1526298"/>
          </a:xfrm>
        </p:grpSpPr>
        <p:sp>
          <p:nvSpPr>
            <p:cNvPr id="14" name="橢圓 13"/>
            <p:cNvSpPr/>
            <p:nvPr/>
          </p:nvSpPr>
          <p:spPr>
            <a:xfrm>
              <a:off x="5777889" y="2298753"/>
              <a:ext cx="1742821" cy="152629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1560506"/>
                <a:satOff val="-1946"/>
                <a:lumOff val="458"/>
                <a:alphaOff val="0"/>
              </a:schemeClr>
            </a:fillRef>
            <a:effectRef idx="0">
              <a:schemeClr val="accent2">
                <a:hueOff val="1560506"/>
                <a:satOff val="-1946"/>
                <a:lumOff val="45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橢圓 6"/>
            <p:cNvSpPr/>
            <p:nvPr/>
          </p:nvSpPr>
          <p:spPr>
            <a:xfrm>
              <a:off x="6033119" y="2522274"/>
              <a:ext cx="1232361" cy="10792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US" sz="1800" kern="1200" dirty="0"/>
                <a:t>Fine grained and rapid provisioning</a:t>
              </a:r>
              <a:endParaRPr lang="zh-TW" altLang="en-US" sz="1800" kern="1200" dirty="0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622300">
              <a:lnSpc>
                <a:spcPct val="90000"/>
              </a:lnSpc>
              <a:spcAft>
                <a:spcPct val="35000"/>
              </a:spcAft>
            </a:pPr>
            <a:r>
              <a:rPr lang="en-US" altLang="en-US" dirty="0"/>
              <a:t>Fine grained and rapid provisioning</a:t>
            </a:r>
            <a:endParaRPr lang="zh-TW" altLang="en-US" dirty="0"/>
          </a:p>
        </p:txBody>
      </p:sp>
      <p:sp>
        <p:nvSpPr>
          <p:cNvPr id="11" name="內容版面配置區 10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80728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Fine grained IT services with very rapid provisioning change the way IT can acquire capacity </a:t>
            </a:r>
            <a:endParaRPr lang="zh-TW" altLang="en-US" dirty="0"/>
          </a:p>
        </p:txBody>
      </p:sp>
      <p:graphicFrame>
        <p:nvGraphicFramePr>
          <p:cNvPr id="12" name="內容版面配置區 9"/>
          <p:cNvGraphicFramePr>
            <a:graphicFrameLocks/>
          </p:cNvGraphicFramePr>
          <p:nvPr/>
        </p:nvGraphicFramePr>
        <p:xfrm>
          <a:off x="457200" y="2564904"/>
          <a:ext cx="8229600" cy="40284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Traditional IT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Cloud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Servers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Today buy large capacities </a:t>
                      </a:r>
                    </a:p>
                    <a:p>
                      <a:pPr algn="l"/>
                      <a:r>
                        <a:rPr lang="en-US" altLang="zh-TW" dirty="0"/>
                        <a:t>using multi-year leases/ </a:t>
                      </a:r>
                    </a:p>
                    <a:p>
                      <a:pPr algn="l"/>
                      <a:r>
                        <a:rPr lang="en-US" altLang="zh-TW" dirty="0"/>
                        <a:t>capital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With cloud capacity on demand, pay-as-you-go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Software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Today multi-year Software </a:t>
                      </a:r>
                    </a:p>
                    <a:p>
                      <a:pPr algn="l"/>
                      <a:r>
                        <a:rPr lang="en-US" altLang="zh-TW" dirty="0"/>
                        <a:t>Licenses by seat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With cloud </a:t>
                      </a:r>
                      <a:r>
                        <a:rPr lang="en-US" altLang="zh-TW" dirty="0" err="1"/>
                        <a:t>SaaS</a:t>
                      </a:r>
                      <a:r>
                        <a:rPr lang="en-US" altLang="zh-TW" dirty="0"/>
                        <a:t> model, pay by the month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Infrastructure capacity in </a:t>
                      </a:r>
                    </a:p>
                    <a:p>
                      <a:pPr algn="ctr"/>
                      <a:r>
                        <a:rPr lang="en-US" altLang="zh-TW" dirty="0"/>
                        <a:t>very small increments 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Traditional IT capacities </a:t>
                      </a:r>
                    </a:p>
                    <a:p>
                      <a:pPr algn="l"/>
                      <a:r>
                        <a:rPr lang="en-US" altLang="zh-TW" dirty="0"/>
                        <a:t>come in large increments</a:t>
                      </a:r>
                    </a:p>
                    <a:p>
                      <a:pPr algn="l"/>
                      <a:r>
                        <a:rPr lang="en-US" altLang="zh-TW" dirty="0"/>
                        <a:t>with up-front capital costs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Fine grained cloud services </a:t>
                      </a:r>
                    </a:p>
                    <a:p>
                      <a:pPr algn="l"/>
                      <a:r>
                        <a:rPr lang="en-US" altLang="zh-TW" dirty="0"/>
                        <a:t>allow capacity to be obtained on just what is needed then and on a pay-as-you-go basis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Rapid provisioning and </a:t>
                      </a:r>
                    </a:p>
                    <a:p>
                      <a:pPr algn="ctr"/>
                      <a:r>
                        <a:rPr lang="en-US" altLang="zh-TW" dirty="0"/>
                        <a:t>scaling up or down easily 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Today routine provisioning </a:t>
                      </a:r>
                    </a:p>
                    <a:p>
                      <a:pPr algn="l"/>
                      <a:r>
                        <a:rPr lang="en-US" altLang="zh-TW" dirty="0"/>
                        <a:t>2 to 3 weeks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With cloud provisioning</a:t>
                      </a:r>
                      <a:r>
                        <a:rPr lang="en-US" altLang="zh-TW" baseline="0" dirty="0"/>
                        <a:t> in minutes to hours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622300">
              <a:lnSpc>
                <a:spcPct val="90000"/>
              </a:lnSpc>
              <a:spcAft>
                <a:spcPct val="35000"/>
              </a:spcAft>
            </a:pPr>
            <a:r>
              <a:rPr lang="en-US" altLang="zh-TW" dirty="0"/>
              <a:t>Removing IT complexity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/>
              <a:t>Removing IT complexity from end users</a:t>
            </a:r>
          </a:p>
          <a:p>
            <a:endParaRPr lang="en-US" altLang="zh-TW" dirty="0"/>
          </a:p>
          <a:p>
            <a:r>
              <a:rPr lang="en-US" altLang="zh-TW" dirty="0"/>
              <a:t>End users can easy to access services without worrying about technical details</a:t>
            </a:r>
          </a:p>
          <a:p>
            <a:pPr lvl="1"/>
            <a:r>
              <a:rPr lang="en-US" altLang="zh-TW" dirty="0"/>
              <a:t>Acquire computing services via the Internet </a:t>
            </a:r>
          </a:p>
          <a:p>
            <a:pPr lvl="2"/>
            <a:r>
              <a:rPr lang="en-US" altLang="zh-TW" dirty="0"/>
              <a:t>using web-based user interface </a:t>
            </a:r>
          </a:p>
          <a:p>
            <a:pPr lvl="1"/>
            <a:r>
              <a:rPr lang="en-US" altLang="zh-TW" dirty="0"/>
              <a:t>Cloud enhances user experience through faster and richer cloud services</a:t>
            </a:r>
          </a:p>
        </p:txBody>
      </p:sp>
      <p:grpSp>
        <p:nvGrpSpPr>
          <p:cNvPr id="8" name="群組 7"/>
          <p:cNvGrpSpPr/>
          <p:nvPr/>
        </p:nvGrpSpPr>
        <p:grpSpPr>
          <a:xfrm>
            <a:off x="0" y="757638"/>
            <a:ext cx="1707147" cy="943170"/>
            <a:chOff x="3354908" y="4019577"/>
            <a:chExt cx="1742821" cy="1526298"/>
          </a:xfrm>
        </p:grpSpPr>
        <p:sp>
          <p:nvSpPr>
            <p:cNvPr id="12" name="橢圓 11"/>
            <p:cNvSpPr/>
            <p:nvPr/>
          </p:nvSpPr>
          <p:spPr>
            <a:xfrm>
              <a:off x="3354908" y="4019577"/>
              <a:ext cx="1742821" cy="152629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3121013"/>
                <a:satOff val="-3893"/>
                <a:lumOff val="915"/>
                <a:alphaOff val="0"/>
              </a:schemeClr>
            </a:fillRef>
            <a:effectRef idx="0">
              <a:schemeClr val="accent2">
                <a:hueOff val="3121013"/>
                <a:satOff val="-3893"/>
                <a:lumOff val="91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橢圓 8"/>
            <p:cNvSpPr/>
            <p:nvPr/>
          </p:nvSpPr>
          <p:spPr>
            <a:xfrm>
              <a:off x="3610138" y="4243098"/>
              <a:ext cx="1232361" cy="10792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1800" kern="1200" dirty="0"/>
                <a:t>Removing IT complexity</a:t>
              </a:r>
              <a:endParaRPr lang="zh-TW" altLang="en-US" sz="1800" kern="1200" dirty="0"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622300">
              <a:lnSpc>
                <a:spcPct val="90000"/>
              </a:lnSpc>
              <a:spcAft>
                <a:spcPct val="35000"/>
              </a:spcAft>
            </a:pPr>
            <a:r>
              <a:rPr lang="en-US" altLang="en-US" dirty="0"/>
              <a:t>Pay for what is used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3456384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Cloud pricing models based on paying for what is used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Avoid the upfront cost for infrastructure and the financial risk</a:t>
            </a:r>
          </a:p>
          <a:p>
            <a:pPr lvl="1"/>
            <a:r>
              <a:rPr lang="en-US" altLang="zh-TW" dirty="0"/>
              <a:t>Cloud pricing models allow pay for what is used</a:t>
            </a:r>
          </a:p>
          <a:p>
            <a:pPr lvl="1"/>
            <a:r>
              <a:rPr lang="en-US" altLang="zh-TW" dirty="0"/>
              <a:t>Scare capital needed to invest in infrastructure is replaced with an operating expense</a:t>
            </a:r>
          </a:p>
        </p:txBody>
      </p:sp>
      <p:grpSp>
        <p:nvGrpSpPr>
          <p:cNvPr id="8" name="群組 7"/>
          <p:cNvGrpSpPr/>
          <p:nvPr/>
        </p:nvGrpSpPr>
        <p:grpSpPr>
          <a:xfrm>
            <a:off x="0" y="757638"/>
            <a:ext cx="1707147" cy="943170"/>
            <a:chOff x="1063532" y="2219318"/>
            <a:chExt cx="1742821" cy="1526298"/>
          </a:xfrm>
        </p:grpSpPr>
        <p:sp>
          <p:nvSpPr>
            <p:cNvPr id="11" name="橢圓 10"/>
            <p:cNvSpPr/>
            <p:nvPr/>
          </p:nvSpPr>
          <p:spPr>
            <a:xfrm>
              <a:off x="1063532" y="2219318"/>
              <a:ext cx="1742821" cy="152629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0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橢圓 10"/>
            <p:cNvSpPr/>
            <p:nvPr/>
          </p:nvSpPr>
          <p:spPr>
            <a:xfrm>
              <a:off x="1318762" y="2442839"/>
              <a:ext cx="1232361" cy="10792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US" sz="1800" kern="1200" dirty="0"/>
                <a:t>Pay for what is used</a:t>
              </a:r>
              <a:endParaRPr lang="zh-TW" altLang="en-US" sz="1800" kern="1200" dirty="0"/>
            </a:p>
          </p:txBody>
        </p:sp>
      </p:grpSp>
      <p:sp>
        <p:nvSpPr>
          <p:cNvPr id="9" name="內容版面配置區 2"/>
          <p:cNvSpPr txBox="1">
            <a:spLocks/>
          </p:cNvSpPr>
          <p:nvPr/>
        </p:nvSpPr>
        <p:spPr>
          <a:xfrm>
            <a:off x="5292080" y="5157192"/>
            <a:ext cx="3744416" cy="1684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Tx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Typical IT budget models 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Applications: 35%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Infrastructure: 60%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Other: 5%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Cloud Computing Players</a:t>
            </a:r>
            <a:br>
              <a:rPr lang="en-US" altLang="zh-TW" dirty="0"/>
            </a:br>
            <a:r>
              <a:rPr lang="en-US" altLang="zh-TW" sz="3100" dirty="0"/>
              <a:t>more and more…</a:t>
            </a:r>
            <a:endParaRPr lang="zh-TW" altLang="en-US" sz="3100" dirty="0"/>
          </a:p>
        </p:txBody>
      </p:sp>
      <p:grpSp>
        <p:nvGrpSpPr>
          <p:cNvPr id="3" name="Group 60"/>
          <p:cNvGrpSpPr>
            <a:grpSpLocks noGrp="1"/>
          </p:cNvGrpSpPr>
          <p:nvPr/>
        </p:nvGrpSpPr>
        <p:grpSpPr bwMode="auto">
          <a:xfrm>
            <a:off x="390364" y="1628800"/>
            <a:ext cx="8363272" cy="4741987"/>
            <a:chOff x="763" y="768"/>
            <a:chExt cx="4230" cy="3160"/>
          </a:xfrm>
        </p:grpSpPr>
        <p:pic>
          <p:nvPicPr>
            <p:cNvPr id="46" name="Picture 1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" y="768"/>
              <a:ext cx="3929" cy="150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pic>
          <p:nvPicPr>
            <p:cNvPr id="47" name="Picture 11" descr="IBM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380" y="2320"/>
              <a:ext cx="556" cy="278"/>
            </a:xfrm>
            <a:prstGeom prst="rect">
              <a:avLst/>
            </a:prstGeom>
            <a:noFill/>
          </p:spPr>
        </p:pic>
        <p:pic>
          <p:nvPicPr>
            <p:cNvPr id="48" name="Picture 12" descr="Open Text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678" y="2318"/>
              <a:ext cx="648" cy="325"/>
            </a:xfrm>
            <a:prstGeom prst="rect">
              <a:avLst/>
            </a:prstGeom>
            <a:noFill/>
          </p:spPr>
        </p:pic>
        <p:pic>
          <p:nvPicPr>
            <p:cNvPr id="49" name="Picture 13" descr="Oracle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695" y="2616"/>
              <a:ext cx="649" cy="324"/>
            </a:xfrm>
            <a:prstGeom prst="rect">
              <a:avLst/>
            </a:prstGeom>
            <a:noFill/>
          </p:spPr>
        </p:pic>
        <p:pic>
          <p:nvPicPr>
            <p:cNvPr id="50" name="Picture 14" descr="Alcatel Lucent">
              <a:hlinkClick r:id="rId9"/>
            </p:cNvPr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1335" y="2318"/>
              <a:ext cx="649" cy="325"/>
            </a:xfrm>
            <a:prstGeom prst="rect">
              <a:avLst/>
            </a:prstGeom>
            <a:noFill/>
          </p:spPr>
        </p:pic>
        <p:pic>
          <p:nvPicPr>
            <p:cNvPr id="51" name="Picture 15" descr="Horn Group">
              <a:hlinkClick r:id="rId11"/>
            </p:cNvPr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4416" y="2352"/>
              <a:ext cx="577" cy="288"/>
            </a:xfrm>
            <a:prstGeom prst="rect">
              <a:avLst/>
            </a:prstGeom>
            <a:noFill/>
          </p:spPr>
        </p:pic>
        <p:pic>
          <p:nvPicPr>
            <p:cNvPr id="52" name="Picture 16" descr="novell">
              <a:hlinkClick r:id="rId13"/>
            </p:cNvPr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2065" y="2323"/>
              <a:ext cx="567" cy="284"/>
            </a:xfrm>
            <a:prstGeom prst="rect">
              <a:avLst/>
            </a:prstGeom>
            <a:noFill/>
          </p:spPr>
        </p:pic>
        <p:pic>
          <p:nvPicPr>
            <p:cNvPr id="53" name="Picture 17" descr="Acquia">
              <a:hlinkClick r:id="rId15"/>
            </p:cNvPr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1533" y="3094"/>
              <a:ext cx="649" cy="324"/>
            </a:xfrm>
            <a:prstGeom prst="rect">
              <a:avLst/>
            </a:prstGeom>
            <a:noFill/>
          </p:spPr>
        </p:pic>
        <p:pic>
          <p:nvPicPr>
            <p:cNvPr id="54" name="Picture 18" descr="Alfresco">
              <a:hlinkClick r:id="rId17"/>
            </p:cNvPr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3885" y="2868"/>
              <a:ext cx="649" cy="325"/>
            </a:xfrm>
            <a:prstGeom prst="rect">
              <a:avLst/>
            </a:prstGeom>
            <a:noFill/>
          </p:spPr>
        </p:pic>
        <p:pic>
          <p:nvPicPr>
            <p:cNvPr id="55" name="Picture 19" descr="ConnectBeam">
              <a:hlinkClick r:id="rId19"/>
            </p:cNvPr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803" y="3071"/>
              <a:ext cx="712" cy="356"/>
            </a:xfrm>
            <a:prstGeom prst="rect">
              <a:avLst/>
            </a:prstGeom>
            <a:noFill/>
          </p:spPr>
        </p:pic>
        <p:pic>
          <p:nvPicPr>
            <p:cNvPr id="56" name="Picture 20" descr="IGLOO">
              <a:hlinkClick r:id="rId21"/>
            </p:cNvPr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2705" y="2868"/>
              <a:ext cx="648" cy="325"/>
            </a:xfrm>
            <a:prstGeom prst="rect">
              <a:avLst/>
            </a:prstGeom>
            <a:noFill/>
          </p:spPr>
        </p:pic>
        <p:pic>
          <p:nvPicPr>
            <p:cNvPr id="57" name="Picture 21" descr="Inquira">
              <a:hlinkClick r:id="rId23"/>
            </p:cNvPr>
            <p:cNvPicPr>
              <a:picLocks noChangeAspect="1"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2256" y="3168"/>
              <a:ext cx="649" cy="325"/>
            </a:xfrm>
            <a:prstGeom prst="rect">
              <a:avLst/>
            </a:prstGeom>
            <a:noFill/>
          </p:spPr>
        </p:pic>
        <p:pic>
          <p:nvPicPr>
            <p:cNvPr id="58" name="Picture 22" descr="jive">
              <a:hlinkClick r:id="rId25"/>
            </p:cNvPr>
            <p:cNvPicPr>
              <a:picLocks noChangeAspect="1" noChangeArrowheads="1"/>
            </p:cNvPicPr>
            <p:nvPr/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3407" y="2922"/>
              <a:ext cx="451" cy="226"/>
            </a:xfrm>
            <a:prstGeom prst="rect">
              <a:avLst/>
            </a:prstGeom>
            <a:noFill/>
          </p:spPr>
        </p:pic>
        <p:pic>
          <p:nvPicPr>
            <p:cNvPr id="59" name="Picture 23" descr="liquidplanner">
              <a:hlinkClick r:id="rId27"/>
            </p:cNvPr>
            <p:cNvPicPr>
              <a:picLocks noChangeAspect="1" noChangeArrowheads="1"/>
            </p:cNvPicPr>
            <p:nvPr/>
          </p:nvPicPr>
          <p:blipFill>
            <a:blip r:embed="rId28" cstate="print"/>
            <a:srcRect/>
            <a:stretch>
              <a:fillRect/>
            </a:stretch>
          </p:blipFill>
          <p:spPr bwMode="auto">
            <a:xfrm>
              <a:off x="2236" y="2931"/>
              <a:ext cx="433" cy="217"/>
            </a:xfrm>
            <a:prstGeom prst="rect">
              <a:avLst/>
            </a:prstGeom>
            <a:noFill/>
          </p:spPr>
        </p:pic>
        <p:pic>
          <p:nvPicPr>
            <p:cNvPr id="60" name="Picture 24" descr="nGenera Corporation">
              <a:hlinkClick r:id="rId29"/>
            </p:cNvPr>
            <p:cNvPicPr>
              <a:picLocks noChangeAspect="1" noChangeArrowheads="1"/>
            </p:cNvPicPr>
            <p:nvPr/>
          </p:nvPicPr>
          <p:blipFill>
            <a:blip r:embed="rId30" cstate="print"/>
            <a:srcRect/>
            <a:stretch>
              <a:fillRect/>
            </a:stretch>
          </p:blipFill>
          <p:spPr bwMode="auto">
            <a:xfrm>
              <a:off x="1533" y="2859"/>
              <a:ext cx="649" cy="325"/>
            </a:xfrm>
            <a:prstGeom prst="rect">
              <a:avLst/>
            </a:prstGeom>
            <a:noFill/>
          </p:spPr>
        </p:pic>
        <p:pic>
          <p:nvPicPr>
            <p:cNvPr id="61" name="Picture 25" descr="Remy Corporation">
              <a:hlinkClick r:id="rId31"/>
            </p:cNvPr>
            <p:cNvPicPr>
              <a:picLocks noChangeAspect="1" noChangeArrowheads="1"/>
            </p:cNvPicPr>
            <p:nvPr/>
          </p:nvPicPr>
          <p:blipFill>
            <a:blip r:embed="rId32" cstate="print"/>
            <a:srcRect/>
            <a:stretch>
              <a:fillRect/>
            </a:stretch>
          </p:blipFill>
          <p:spPr bwMode="auto">
            <a:xfrm>
              <a:off x="794" y="2377"/>
              <a:ext cx="514" cy="257"/>
            </a:xfrm>
            <a:prstGeom prst="rect">
              <a:avLst/>
            </a:prstGeom>
            <a:noFill/>
          </p:spPr>
        </p:pic>
        <p:pic>
          <p:nvPicPr>
            <p:cNvPr id="62" name="Picture 26" descr="Socialtext">
              <a:hlinkClick r:id="rId33"/>
            </p:cNvPr>
            <p:cNvPicPr>
              <a:picLocks noChangeAspect="1" noChangeArrowheads="1"/>
            </p:cNvPicPr>
            <p:nvPr/>
          </p:nvPicPr>
          <p:blipFill>
            <a:blip r:embed="rId34" cstate="print"/>
            <a:srcRect/>
            <a:stretch>
              <a:fillRect/>
            </a:stretch>
          </p:blipFill>
          <p:spPr bwMode="auto">
            <a:xfrm>
              <a:off x="776" y="2562"/>
              <a:ext cx="793" cy="396"/>
            </a:xfrm>
            <a:prstGeom prst="rect">
              <a:avLst/>
            </a:prstGeom>
            <a:noFill/>
          </p:spPr>
        </p:pic>
        <p:pic>
          <p:nvPicPr>
            <p:cNvPr id="63" name="Picture 27" descr="Spigit">
              <a:hlinkClick r:id="rId35"/>
            </p:cNvPr>
            <p:cNvPicPr>
              <a:picLocks noChangeAspect="1" noChangeArrowheads="1"/>
            </p:cNvPicPr>
            <p:nvPr/>
          </p:nvPicPr>
          <p:blipFill>
            <a:blip r:embed="rId36" cstate="print"/>
            <a:srcRect/>
            <a:stretch>
              <a:fillRect/>
            </a:stretch>
          </p:blipFill>
          <p:spPr bwMode="auto">
            <a:xfrm>
              <a:off x="812" y="2859"/>
              <a:ext cx="649" cy="325"/>
            </a:xfrm>
            <a:prstGeom prst="rect">
              <a:avLst/>
            </a:prstGeom>
            <a:noFill/>
          </p:spPr>
        </p:pic>
        <p:pic>
          <p:nvPicPr>
            <p:cNvPr id="64" name="Picture 28" descr="Telligent">
              <a:hlinkClick r:id="rId37"/>
            </p:cNvPr>
            <p:cNvPicPr>
              <a:picLocks noChangeAspect="1" noChangeArrowheads="1"/>
            </p:cNvPicPr>
            <p:nvPr/>
          </p:nvPicPr>
          <p:blipFill>
            <a:blip r:embed="rId38" cstate="print"/>
            <a:srcRect/>
            <a:stretch>
              <a:fillRect/>
            </a:stretch>
          </p:blipFill>
          <p:spPr bwMode="auto">
            <a:xfrm>
              <a:off x="2434" y="2607"/>
              <a:ext cx="649" cy="324"/>
            </a:xfrm>
            <a:prstGeom prst="rect">
              <a:avLst/>
            </a:prstGeom>
            <a:noFill/>
          </p:spPr>
        </p:pic>
        <p:pic>
          <p:nvPicPr>
            <p:cNvPr id="65" name="Picture 29" descr="Trampoline">
              <a:hlinkClick r:id="rId39"/>
            </p:cNvPr>
            <p:cNvPicPr>
              <a:picLocks noChangeAspect="1" noChangeArrowheads="1"/>
            </p:cNvPicPr>
            <p:nvPr/>
          </p:nvPicPr>
          <p:blipFill>
            <a:blip r:embed="rId40" cstate="print"/>
            <a:srcRect/>
            <a:stretch>
              <a:fillRect/>
            </a:stretch>
          </p:blipFill>
          <p:spPr bwMode="auto">
            <a:xfrm>
              <a:off x="3129" y="2616"/>
              <a:ext cx="713" cy="261"/>
            </a:xfrm>
            <a:prstGeom prst="rect">
              <a:avLst/>
            </a:prstGeom>
            <a:noFill/>
          </p:spPr>
        </p:pic>
        <p:pic>
          <p:nvPicPr>
            <p:cNvPr id="66" name="Picture 30" descr="Worklight">
              <a:hlinkClick r:id="rId41"/>
            </p:cNvPr>
            <p:cNvPicPr>
              <a:picLocks noChangeAspect="1" noChangeArrowheads="1"/>
            </p:cNvPicPr>
            <p:nvPr/>
          </p:nvPicPr>
          <p:blipFill>
            <a:blip r:embed="rId42" cstate="print"/>
            <a:srcRect/>
            <a:stretch>
              <a:fillRect/>
            </a:stretch>
          </p:blipFill>
          <p:spPr bwMode="auto">
            <a:xfrm>
              <a:off x="3903" y="2589"/>
              <a:ext cx="649" cy="324"/>
            </a:xfrm>
            <a:prstGeom prst="rect">
              <a:avLst/>
            </a:prstGeom>
            <a:noFill/>
          </p:spPr>
        </p:pic>
        <p:pic>
          <p:nvPicPr>
            <p:cNvPr id="67" name="Picture 31" descr="elastra">
              <a:hlinkClick r:id="rId43"/>
            </p:cNvPr>
            <p:cNvPicPr>
              <a:picLocks noChangeAspect="1" noChangeArrowheads="1"/>
            </p:cNvPicPr>
            <p:nvPr/>
          </p:nvPicPr>
          <p:blipFill>
            <a:blip r:embed="rId44" cstate="print"/>
            <a:srcRect/>
            <a:stretch>
              <a:fillRect/>
            </a:stretch>
          </p:blipFill>
          <p:spPr bwMode="auto">
            <a:xfrm>
              <a:off x="2145" y="3521"/>
              <a:ext cx="504" cy="101"/>
            </a:xfrm>
            <a:prstGeom prst="rect">
              <a:avLst/>
            </a:prstGeom>
            <a:noFill/>
          </p:spPr>
        </p:pic>
        <p:pic>
          <p:nvPicPr>
            <p:cNvPr id="68" name="Picture 32" descr="banner_new_08"/>
            <p:cNvPicPr>
              <a:picLocks noChangeAspect="1" noChangeArrowheads="1"/>
            </p:cNvPicPr>
            <p:nvPr/>
          </p:nvPicPr>
          <p:blipFill>
            <a:blip r:embed="rId45" cstate="print"/>
            <a:srcRect/>
            <a:stretch>
              <a:fillRect/>
            </a:stretch>
          </p:blipFill>
          <p:spPr bwMode="auto">
            <a:xfrm>
              <a:off x="3804" y="3233"/>
              <a:ext cx="997" cy="206"/>
            </a:xfrm>
            <a:prstGeom prst="rect">
              <a:avLst/>
            </a:prstGeom>
            <a:noFill/>
          </p:spPr>
        </p:pic>
        <p:pic>
          <p:nvPicPr>
            <p:cNvPr id="69" name="Picture 33" descr="Netrics"/>
            <p:cNvPicPr>
              <a:picLocks noChangeAspect="1" noChangeArrowheads="1"/>
            </p:cNvPicPr>
            <p:nvPr/>
          </p:nvPicPr>
          <p:blipFill>
            <a:blip r:embed="rId46" cstate="print"/>
            <a:srcRect/>
            <a:stretch>
              <a:fillRect/>
            </a:stretch>
          </p:blipFill>
          <p:spPr bwMode="auto">
            <a:xfrm>
              <a:off x="1213" y="3633"/>
              <a:ext cx="676" cy="270"/>
            </a:xfrm>
            <a:prstGeom prst="rect">
              <a:avLst/>
            </a:prstGeom>
            <a:noFill/>
          </p:spPr>
        </p:pic>
        <p:pic>
          <p:nvPicPr>
            <p:cNvPr id="70" name="Picture 34" descr="CloudWorks Logo">
              <a:hlinkClick r:id="rId47"/>
            </p:cNvPr>
            <p:cNvPicPr>
              <a:picLocks noChangeAspect="1" noChangeArrowheads="1"/>
            </p:cNvPicPr>
            <p:nvPr/>
          </p:nvPicPr>
          <p:blipFill>
            <a:blip r:embed="rId48" cstate="print"/>
            <a:srcRect/>
            <a:stretch>
              <a:fillRect/>
            </a:stretch>
          </p:blipFill>
          <p:spPr bwMode="auto">
            <a:xfrm>
              <a:off x="3964" y="3431"/>
              <a:ext cx="816" cy="144"/>
            </a:xfrm>
            <a:prstGeom prst="rect">
              <a:avLst/>
            </a:prstGeom>
            <a:noFill/>
          </p:spPr>
        </p:pic>
        <p:pic>
          <p:nvPicPr>
            <p:cNvPr id="71" name="Picture 35" descr="Appistry">
              <a:hlinkClick r:id="rId49"/>
            </p:cNvPr>
            <p:cNvPicPr>
              <a:picLocks noChangeAspect="1" noChangeArrowheads="1"/>
            </p:cNvPicPr>
            <p:nvPr/>
          </p:nvPicPr>
          <p:blipFill>
            <a:blip r:embed="rId50" cstate="print"/>
            <a:srcRect/>
            <a:stretch>
              <a:fillRect/>
            </a:stretch>
          </p:blipFill>
          <p:spPr bwMode="auto">
            <a:xfrm>
              <a:off x="3097" y="3665"/>
              <a:ext cx="234" cy="262"/>
            </a:xfrm>
            <a:prstGeom prst="rect">
              <a:avLst/>
            </a:prstGeom>
            <a:noFill/>
          </p:spPr>
        </p:pic>
        <p:pic>
          <p:nvPicPr>
            <p:cNvPr id="72" name="Picture 36" descr="logoNirvanix"/>
            <p:cNvPicPr>
              <a:picLocks noChangeAspect="1" noChangeArrowheads="1"/>
            </p:cNvPicPr>
            <p:nvPr/>
          </p:nvPicPr>
          <p:blipFill>
            <a:blip r:embed="rId51" cstate="print"/>
            <a:srcRect/>
            <a:stretch>
              <a:fillRect/>
            </a:stretch>
          </p:blipFill>
          <p:spPr bwMode="auto">
            <a:xfrm>
              <a:off x="763" y="3622"/>
              <a:ext cx="383" cy="253"/>
            </a:xfrm>
            <a:prstGeom prst="rect">
              <a:avLst/>
            </a:prstGeom>
            <a:noFill/>
          </p:spPr>
        </p:pic>
        <p:pic>
          <p:nvPicPr>
            <p:cNvPr id="73" name="Picture 37" descr="skytap-logo"/>
            <p:cNvPicPr>
              <a:picLocks noChangeAspect="1" noChangeArrowheads="1"/>
            </p:cNvPicPr>
            <p:nvPr/>
          </p:nvPicPr>
          <p:blipFill>
            <a:blip r:embed="rId52" cstate="print"/>
            <a:srcRect/>
            <a:stretch>
              <a:fillRect/>
            </a:stretch>
          </p:blipFill>
          <p:spPr bwMode="auto">
            <a:xfrm>
              <a:off x="1998" y="3686"/>
              <a:ext cx="1000" cy="242"/>
            </a:xfrm>
            <a:prstGeom prst="rect">
              <a:avLst/>
            </a:prstGeom>
            <a:noFill/>
          </p:spPr>
        </p:pic>
        <p:pic>
          <p:nvPicPr>
            <p:cNvPr id="74" name="Picture 38" descr="ServePath Dedicated Server Hosting">
              <a:hlinkClick r:id="rId53"/>
            </p:cNvPr>
            <p:cNvPicPr>
              <a:picLocks noChangeAspect="1" noChangeArrowheads="1"/>
            </p:cNvPicPr>
            <p:nvPr/>
          </p:nvPicPr>
          <p:blipFill>
            <a:blip r:embed="rId54" cstate="print"/>
            <a:srcRect/>
            <a:stretch>
              <a:fillRect/>
            </a:stretch>
          </p:blipFill>
          <p:spPr bwMode="auto">
            <a:xfrm>
              <a:off x="3317" y="3457"/>
              <a:ext cx="594" cy="120"/>
            </a:xfrm>
            <a:prstGeom prst="rect">
              <a:avLst/>
            </a:prstGeom>
            <a:noFill/>
          </p:spPr>
        </p:pic>
        <p:pic>
          <p:nvPicPr>
            <p:cNvPr id="75" name="Picture 39" descr="ParaScale Cloud Storage Software">
              <a:hlinkClick r:id="rId55"/>
            </p:cNvPr>
            <p:cNvPicPr>
              <a:picLocks noChangeAspect="1" noChangeArrowheads="1"/>
            </p:cNvPicPr>
            <p:nvPr/>
          </p:nvPicPr>
          <p:blipFill>
            <a:blip r:embed="rId56" cstate="print"/>
            <a:srcRect/>
            <a:stretch>
              <a:fillRect/>
            </a:stretch>
          </p:blipFill>
          <p:spPr bwMode="auto">
            <a:xfrm>
              <a:off x="822" y="3442"/>
              <a:ext cx="645" cy="161"/>
            </a:xfrm>
            <a:prstGeom prst="rect">
              <a:avLst/>
            </a:prstGeom>
            <a:noFill/>
          </p:spPr>
        </p:pic>
        <p:pic>
          <p:nvPicPr>
            <p:cNvPr id="76" name="Picture 40" descr="3Tera utility computing logo">
              <a:hlinkClick r:id="rId57"/>
            </p:cNvPr>
            <p:cNvPicPr>
              <a:picLocks noChangeAspect="1" noChangeArrowheads="1"/>
            </p:cNvPicPr>
            <p:nvPr/>
          </p:nvPicPr>
          <p:blipFill>
            <a:blip r:embed="rId58" cstate="print"/>
            <a:srcRect r="56229"/>
            <a:stretch>
              <a:fillRect/>
            </a:stretch>
          </p:blipFill>
          <p:spPr bwMode="auto">
            <a:xfrm>
              <a:off x="1615" y="3436"/>
              <a:ext cx="431" cy="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7" name="Picture 41"/>
            <p:cNvPicPr>
              <a:picLocks noChangeAspect="1" noChangeArrowheads="1"/>
            </p:cNvPicPr>
            <p:nvPr/>
          </p:nvPicPr>
          <p:blipFill>
            <a:blip r:embed="rId59" cstate="print"/>
            <a:srcRect l="11252" t="11646" r="62820" b="81520"/>
            <a:stretch>
              <a:fillRect/>
            </a:stretch>
          </p:blipFill>
          <p:spPr bwMode="auto">
            <a:xfrm>
              <a:off x="3049" y="3280"/>
              <a:ext cx="748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8" name="Picture 42" descr="46684ab8e6a82"/>
            <p:cNvPicPr>
              <a:picLocks noChangeAspect="1" noChangeArrowheads="1"/>
            </p:cNvPicPr>
            <p:nvPr/>
          </p:nvPicPr>
          <p:blipFill>
            <a:blip r:embed="rId60" cstate="print"/>
            <a:srcRect/>
            <a:stretch>
              <a:fillRect/>
            </a:stretch>
          </p:blipFill>
          <p:spPr bwMode="auto">
            <a:xfrm>
              <a:off x="2731" y="3478"/>
              <a:ext cx="519" cy="160"/>
            </a:xfrm>
            <a:prstGeom prst="rect">
              <a:avLst/>
            </a:prstGeom>
            <a:noFill/>
          </p:spPr>
        </p:pic>
        <p:sp>
          <p:nvSpPr>
            <p:cNvPr id="79" name="Rectangle 48"/>
            <p:cNvSpPr>
              <a:spLocks noChangeArrowheads="1"/>
            </p:cNvSpPr>
            <p:nvPr/>
          </p:nvSpPr>
          <p:spPr bwMode="auto">
            <a:xfrm>
              <a:off x="912" y="768"/>
              <a:ext cx="1200" cy="3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80" name="Picture 49"/>
            <p:cNvPicPr>
              <a:picLocks noChangeAspect="1" noChangeArrowheads="1"/>
            </p:cNvPicPr>
            <p:nvPr/>
          </p:nvPicPr>
          <p:blipFill>
            <a:blip r:embed="rId61" cstate="print"/>
            <a:srcRect/>
            <a:stretch>
              <a:fillRect/>
            </a:stretch>
          </p:blipFill>
          <p:spPr bwMode="auto">
            <a:xfrm>
              <a:off x="1440" y="816"/>
              <a:ext cx="624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1" name="Picture 50" descr="Google_wordmark"/>
            <p:cNvPicPr>
              <a:picLocks noChangeAspect="1" noChangeArrowheads="1"/>
            </p:cNvPicPr>
            <p:nvPr/>
          </p:nvPicPr>
          <p:blipFill>
            <a:blip r:embed="rId62" cstate="print"/>
            <a:srcRect/>
            <a:stretch>
              <a:fillRect/>
            </a:stretch>
          </p:blipFill>
          <p:spPr bwMode="auto">
            <a:xfrm>
              <a:off x="766" y="872"/>
              <a:ext cx="626" cy="232"/>
            </a:xfrm>
            <a:prstGeom prst="rect">
              <a:avLst/>
            </a:prstGeom>
            <a:noFill/>
          </p:spPr>
        </p:pic>
        <p:sp>
          <p:nvSpPr>
            <p:cNvPr id="82" name="Rectangle 53"/>
            <p:cNvSpPr>
              <a:spLocks noChangeArrowheads="1"/>
            </p:cNvSpPr>
            <p:nvPr/>
          </p:nvSpPr>
          <p:spPr bwMode="auto">
            <a:xfrm>
              <a:off x="3408" y="768"/>
              <a:ext cx="720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83" name="Picture 55"/>
            <p:cNvPicPr>
              <a:picLocks noChangeAspect="1" noChangeArrowheads="1"/>
            </p:cNvPicPr>
            <p:nvPr/>
          </p:nvPicPr>
          <p:blipFill>
            <a:blip r:embed="rId63" cstate="print"/>
            <a:srcRect/>
            <a:stretch>
              <a:fillRect/>
            </a:stretch>
          </p:blipFill>
          <p:spPr bwMode="auto">
            <a:xfrm>
              <a:off x="3456" y="864"/>
              <a:ext cx="624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4" name="Picture 57" descr="hp-logo1"/>
            <p:cNvPicPr>
              <a:picLocks noChangeAspect="1" noChangeArrowheads="1"/>
            </p:cNvPicPr>
            <p:nvPr/>
          </p:nvPicPr>
          <p:blipFill>
            <a:blip r:embed="rId64" cstate="print"/>
            <a:srcRect/>
            <a:stretch>
              <a:fillRect/>
            </a:stretch>
          </p:blipFill>
          <p:spPr bwMode="auto">
            <a:xfrm>
              <a:off x="3984" y="2352"/>
              <a:ext cx="384" cy="248"/>
            </a:xfrm>
            <a:prstGeom prst="rect">
              <a:avLst/>
            </a:prstGeom>
            <a:noFill/>
          </p:spPr>
        </p:pic>
        <p:sp>
          <p:nvSpPr>
            <p:cNvPr id="85" name="Rectangle 59"/>
            <p:cNvSpPr>
              <a:spLocks noChangeArrowheads="1"/>
            </p:cNvSpPr>
            <p:nvPr/>
          </p:nvSpPr>
          <p:spPr bwMode="auto">
            <a:xfrm>
              <a:off x="3456" y="768"/>
              <a:ext cx="624" cy="240"/>
            </a:xfrm>
            <a:prstGeom prst="rect">
              <a:avLst/>
            </a:prstGeom>
            <a:solidFill>
              <a:srgbClr val="FFFFFF">
                <a:alpha val="1200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Players : </a:t>
            </a:r>
            <a:br>
              <a:rPr lang="en-US" altLang="zh-TW" dirty="0"/>
            </a:br>
            <a:r>
              <a:rPr lang="en-US" altLang="zh-TW" dirty="0"/>
              <a:t>Users </a:t>
            </a:r>
            <a:r>
              <a:rPr lang="en-US" altLang="zh-TW" i="0" dirty="0"/>
              <a:t>(</a:t>
            </a:r>
            <a:r>
              <a:rPr lang="en-US" altLang="zh-TW" dirty="0"/>
              <a:t>Consumers</a:t>
            </a:r>
            <a:r>
              <a:rPr lang="en-US" altLang="zh-TW" i="0" dirty="0"/>
              <a:t>)</a:t>
            </a:r>
            <a:r>
              <a:rPr lang="en-US" altLang="zh-TW" dirty="0"/>
              <a:t> or Providers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Players can act as Users or Providers in the Cloud Ecosystem</a:t>
            </a:r>
            <a:endParaRPr lang="zh-TW" altLang="en-US" dirty="0"/>
          </a:p>
        </p:txBody>
      </p:sp>
      <p:pic>
        <p:nvPicPr>
          <p:cNvPr id="583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6150" y="2783165"/>
            <a:ext cx="5511700" cy="3677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Cloud Computing Economy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Enable </a:t>
            </a:r>
            <a:r>
              <a:rPr lang="en-US" altLang="zh-TW" dirty="0" err="1"/>
              <a:t>SaaS</a:t>
            </a:r>
            <a:r>
              <a:rPr lang="en-US" altLang="zh-TW" dirty="0"/>
              <a:t> providers that do not own IT infrastructure</a:t>
            </a:r>
            <a:endParaRPr lang="zh-TW" altLang="en-US" dirty="0"/>
          </a:p>
        </p:txBody>
      </p:sp>
      <p:grpSp>
        <p:nvGrpSpPr>
          <p:cNvPr id="49" name="群組 48"/>
          <p:cNvGrpSpPr/>
          <p:nvPr/>
        </p:nvGrpSpPr>
        <p:grpSpPr>
          <a:xfrm>
            <a:off x="739676" y="2818159"/>
            <a:ext cx="7664648" cy="3275137"/>
            <a:chOff x="939800" y="2780928"/>
            <a:chExt cx="7664648" cy="3275137"/>
          </a:xfrm>
        </p:grpSpPr>
        <p:grpSp>
          <p:nvGrpSpPr>
            <p:cNvPr id="26" name="Group 23"/>
            <p:cNvGrpSpPr>
              <a:grpSpLocks/>
            </p:cNvGrpSpPr>
            <p:nvPr/>
          </p:nvGrpSpPr>
          <p:grpSpPr bwMode="auto">
            <a:xfrm>
              <a:off x="939800" y="2780928"/>
              <a:ext cx="7664648" cy="3275137"/>
              <a:chOff x="592" y="2039"/>
              <a:chExt cx="4466" cy="1927"/>
            </a:xfrm>
          </p:grpSpPr>
          <p:sp>
            <p:nvSpPr>
              <p:cNvPr id="30" name="Text Box 7"/>
              <p:cNvSpPr txBox="1">
                <a:spLocks noChangeArrowheads="1"/>
              </p:cNvSpPr>
              <p:nvPr/>
            </p:nvSpPr>
            <p:spPr bwMode="auto">
              <a:xfrm>
                <a:off x="1248" y="2642"/>
                <a:ext cx="927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Foundries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(TSMC, UMC)</a:t>
                </a:r>
              </a:p>
            </p:txBody>
          </p:sp>
          <p:sp>
            <p:nvSpPr>
              <p:cNvPr id="32" name="Text Box 9"/>
              <p:cNvSpPr txBox="1">
                <a:spLocks noChangeArrowheads="1"/>
              </p:cNvSpPr>
              <p:nvPr/>
            </p:nvSpPr>
            <p:spPr bwMode="auto">
              <a:xfrm>
                <a:off x="3459" y="2632"/>
                <a:ext cx="791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Cloud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Computing</a:t>
                </a:r>
              </a:p>
            </p:txBody>
          </p:sp>
          <p:sp>
            <p:nvSpPr>
              <p:cNvPr id="33" name="Text Box 10"/>
              <p:cNvSpPr txBox="1">
                <a:spLocks noChangeArrowheads="1"/>
              </p:cNvSpPr>
              <p:nvPr/>
            </p:nvSpPr>
            <p:spPr bwMode="auto">
              <a:xfrm>
                <a:off x="1249" y="3414"/>
                <a:ext cx="971" cy="5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Fabless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Chip Design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(e.g. nVidia…)</a:t>
                </a:r>
              </a:p>
            </p:txBody>
          </p:sp>
          <p:sp>
            <p:nvSpPr>
              <p:cNvPr id="34" name="AutoShape 11"/>
              <p:cNvSpPr>
                <a:spLocks noChangeArrowheads="1"/>
              </p:cNvSpPr>
              <p:nvPr/>
            </p:nvSpPr>
            <p:spPr bwMode="auto">
              <a:xfrm>
                <a:off x="2436" y="2332"/>
                <a:ext cx="774" cy="1445"/>
              </a:xfrm>
              <a:prstGeom prst="leftRightArrow">
                <a:avLst>
                  <a:gd name="adj1" fmla="val 50000"/>
                  <a:gd name="adj2" fmla="val 20000"/>
                </a:avLst>
              </a:prstGeom>
              <a:solidFill>
                <a:srgbClr val="BBE0E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  <a:t>Analogy</a:t>
                </a:r>
              </a:p>
            </p:txBody>
          </p:sp>
          <p:sp>
            <p:nvSpPr>
              <p:cNvPr id="35" name="Text Box 12"/>
              <p:cNvSpPr txBox="1">
                <a:spLocks noChangeArrowheads="1"/>
              </p:cNvSpPr>
              <p:nvPr/>
            </p:nvSpPr>
            <p:spPr bwMode="auto">
              <a:xfrm>
                <a:off x="3360" y="3419"/>
                <a:ext cx="1069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Datacenter-less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SaaS provider</a:t>
                </a:r>
              </a:p>
            </p:txBody>
          </p:sp>
          <p:sp>
            <p:nvSpPr>
              <p:cNvPr id="36" name="AutoShape 13"/>
              <p:cNvSpPr>
                <a:spLocks noChangeArrowheads="1"/>
              </p:cNvSpPr>
              <p:nvPr/>
            </p:nvSpPr>
            <p:spPr bwMode="auto">
              <a:xfrm>
                <a:off x="1585" y="3022"/>
                <a:ext cx="312" cy="355"/>
              </a:xfrm>
              <a:prstGeom prst="upArrow">
                <a:avLst>
                  <a:gd name="adj1" fmla="val 50000"/>
                  <a:gd name="adj2" fmla="val 28446"/>
                </a:avLst>
              </a:prstGeom>
              <a:solidFill>
                <a:srgbClr val="BBE0E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AutoShape 14"/>
              <p:cNvSpPr>
                <a:spLocks noChangeArrowheads="1"/>
              </p:cNvSpPr>
              <p:nvPr/>
            </p:nvSpPr>
            <p:spPr bwMode="auto">
              <a:xfrm>
                <a:off x="916" y="2824"/>
                <a:ext cx="217" cy="928"/>
              </a:xfrm>
              <a:prstGeom prst="curvedRightArrow">
                <a:avLst>
                  <a:gd name="adj1" fmla="val 85530"/>
                  <a:gd name="adj2" fmla="val 171060"/>
                  <a:gd name="adj3" fmla="val 33333"/>
                </a:avLst>
              </a:prstGeom>
              <a:solidFill>
                <a:srgbClr val="BBE0E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AutoShape 15"/>
              <p:cNvSpPr>
                <a:spLocks noChangeArrowheads="1"/>
              </p:cNvSpPr>
              <p:nvPr/>
            </p:nvSpPr>
            <p:spPr bwMode="auto">
              <a:xfrm>
                <a:off x="4497" y="2801"/>
                <a:ext cx="208" cy="935"/>
              </a:xfrm>
              <a:prstGeom prst="curvedLeftArrow">
                <a:avLst>
                  <a:gd name="adj1" fmla="val 89904"/>
                  <a:gd name="adj2" fmla="val 179808"/>
                  <a:gd name="adj3" fmla="val 33333"/>
                </a:avLst>
              </a:prstGeom>
              <a:solidFill>
                <a:srgbClr val="BBE0E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Text Box 17"/>
              <p:cNvSpPr txBox="1">
                <a:spLocks noChangeArrowheads="1"/>
              </p:cNvSpPr>
              <p:nvPr/>
            </p:nvSpPr>
            <p:spPr bwMode="auto">
              <a:xfrm rot="16200000">
                <a:off x="489" y="3192"/>
                <a:ext cx="53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Enable</a:t>
                </a:r>
              </a:p>
            </p:txBody>
          </p:sp>
          <p:sp>
            <p:nvSpPr>
              <p:cNvPr id="40" name="Text Box 18"/>
              <p:cNvSpPr txBox="1">
                <a:spLocks noChangeArrowheads="1"/>
              </p:cNvSpPr>
              <p:nvPr/>
            </p:nvSpPr>
            <p:spPr bwMode="auto">
              <a:xfrm rot="5400000">
                <a:off x="4607" y="3146"/>
                <a:ext cx="53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Enable</a:t>
                </a:r>
              </a:p>
            </p:txBody>
          </p:sp>
          <p:sp>
            <p:nvSpPr>
              <p:cNvPr id="41" name="Rectangle 19"/>
              <p:cNvSpPr>
                <a:spLocks noChangeArrowheads="1"/>
              </p:cNvSpPr>
              <p:nvPr/>
            </p:nvSpPr>
            <p:spPr bwMode="auto">
              <a:xfrm>
                <a:off x="592" y="2039"/>
                <a:ext cx="1789" cy="1927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Rectangle 20"/>
              <p:cNvSpPr>
                <a:spLocks noChangeArrowheads="1"/>
              </p:cNvSpPr>
              <p:nvPr/>
            </p:nvSpPr>
            <p:spPr bwMode="auto">
              <a:xfrm>
                <a:off x="3256" y="2044"/>
                <a:ext cx="1802" cy="190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AutoShape 21"/>
              <p:cNvSpPr>
                <a:spLocks noChangeArrowheads="1"/>
              </p:cNvSpPr>
              <p:nvPr/>
            </p:nvSpPr>
            <p:spPr bwMode="auto">
              <a:xfrm>
                <a:off x="3711" y="3028"/>
                <a:ext cx="312" cy="329"/>
              </a:xfrm>
              <a:prstGeom prst="upArrow">
                <a:avLst>
                  <a:gd name="adj1" fmla="val 50000"/>
                  <a:gd name="adj2" fmla="val 26362"/>
                </a:avLst>
              </a:prstGeom>
              <a:solidFill>
                <a:srgbClr val="BBE0E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7" name="矩形 46"/>
            <p:cNvSpPr/>
            <p:nvPr/>
          </p:nvSpPr>
          <p:spPr>
            <a:xfrm>
              <a:off x="1547664" y="2924944"/>
              <a:ext cx="1872208" cy="69837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zh-TW" b="1" kern="0" dirty="0">
                  <a:solidFill>
                    <a:sysClr val="windowText" lastClr="000000"/>
                  </a:solidFill>
                  <a:ea typeface="新細明體" charset="-120"/>
                  <a:cs typeface="Arial" charset="0"/>
                </a:rPr>
                <a:t>Semiconductor</a:t>
              </a:r>
            </a:p>
            <a:p>
              <a:pPr lvl="0" algn="ctr">
                <a:defRPr/>
              </a:pPr>
              <a:r>
                <a:rPr lang="en-US" altLang="zh-TW" b="1" kern="0" dirty="0">
                  <a:solidFill>
                    <a:sysClr val="windowText" lastClr="000000"/>
                  </a:solidFill>
                  <a:ea typeface="新細明體" charset="-120"/>
                  <a:cs typeface="Arial" charset="0"/>
                </a:rPr>
                <a:t>Industry</a:t>
              </a:r>
              <a:endParaRPr lang="zh-TW" altLang="en-US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6156176" y="2924944"/>
              <a:ext cx="1872208" cy="69837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zh-TW" b="1" kern="0" dirty="0">
                  <a:solidFill>
                    <a:sysClr val="windowText" lastClr="000000"/>
                  </a:solidFill>
                  <a:ea typeface="新細明體" charset="-120"/>
                  <a:cs typeface="Arial" charset="0"/>
                </a:rPr>
                <a:t>Software</a:t>
              </a:r>
            </a:p>
            <a:p>
              <a:pPr lvl="0" algn="ctr">
                <a:defRPr/>
              </a:pPr>
              <a:r>
                <a:rPr lang="en-US" altLang="zh-TW" b="1" kern="0" dirty="0">
                  <a:solidFill>
                    <a:sysClr val="windowText" lastClr="000000"/>
                  </a:solidFill>
                  <a:ea typeface="新細明體" charset="-120"/>
                  <a:cs typeface="Arial" charset="0"/>
                </a:rPr>
                <a:t>Industry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Industry Chain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Mobile Phones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86808" cy="3951288"/>
          </a:xfrm>
        </p:spPr>
        <p:txBody>
          <a:bodyPr/>
          <a:lstStyle/>
          <a:p>
            <a:r>
              <a:rPr lang="en-US" altLang="zh-TW" dirty="0"/>
              <a:t>Upstream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IC design</a:t>
            </a:r>
          </a:p>
          <a:p>
            <a:pPr lvl="1"/>
            <a:r>
              <a:rPr lang="en-US" altLang="zh-TW" dirty="0"/>
              <a:t>Media Tech, Morning Star, etc.</a:t>
            </a:r>
          </a:p>
          <a:p>
            <a:r>
              <a:rPr lang="en-US" altLang="zh-TW" dirty="0"/>
              <a:t>Midstream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foundry</a:t>
            </a:r>
          </a:p>
          <a:p>
            <a:pPr lvl="1"/>
            <a:r>
              <a:rPr lang="en-US" altLang="zh-TW" dirty="0"/>
              <a:t>TSMC, UMC, etc.</a:t>
            </a:r>
          </a:p>
          <a:p>
            <a:r>
              <a:rPr lang="en-US" altLang="zh-TW" dirty="0"/>
              <a:t>Downstream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</a:t>
            </a:r>
            <a:r>
              <a:rPr lang="en-US" altLang="zh-TW" dirty="0"/>
              <a:t>production</a:t>
            </a:r>
          </a:p>
          <a:p>
            <a:pPr lvl="1"/>
            <a:r>
              <a:rPr lang="en-US" altLang="zh-TW" dirty="0"/>
              <a:t>Asus, HTC, etc.</a:t>
            </a:r>
          </a:p>
          <a:p>
            <a:r>
              <a:rPr lang="en-US" altLang="zh-TW" dirty="0"/>
              <a:t>End Users</a:t>
            </a:r>
          </a:p>
          <a:p>
            <a:pPr lvl="1"/>
            <a:r>
              <a:rPr lang="en-US" altLang="zh-TW" dirty="0"/>
              <a:t>Smart phone</a:t>
            </a:r>
          </a:p>
          <a:p>
            <a:pPr lvl="1"/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Cloud Services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498975" cy="3951288"/>
          </a:xfrm>
        </p:spPr>
        <p:txBody>
          <a:bodyPr/>
          <a:lstStyle/>
          <a:p>
            <a:r>
              <a:rPr lang="en-US" altLang="zh-TW" dirty="0"/>
              <a:t>Upstream – </a:t>
            </a:r>
            <a:r>
              <a:rPr lang="en-US" altLang="zh-TW" dirty="0" err="1"/>
              <a:t>IaaS</a:t>
            </a:r>
            <a:r>
              <a:rPr lang="en-US" altLang="zh-TW" dirty="0"/>
              <a:t> provider</a:t>
            </a:r>
          </a:p>
          <a:p>
            <a:pPr lvl="1"/>
            <a:r>
              <a:rPr lang="en-US" altLang="zh-TW" dirty="0"/>
              <a:t>Amazon EC2, CHT </a:t>
            </a:r>
            <a:r>
              <a:rPr lang="en-US" altLang="zh-TW" dirty="0" err="1"/>
              <a:t>hicloud</a:t>
            </a:r>
            <a:r>
              <a:rPr lang="en-US" altLang="zh-TW" dirty="0"/>
              <a:t>, </a:t>
            </a:r>
            <a:r>
              <a:rPr lang="en-US" altLang="zh-TW" dirty="0" err="1"/>
              <a:t>ect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Midstream – </a:t>
            </a:r>
            <a:r>
              <a:rPr lang="en-US" altLang="zh-TW" dirty="0" err="1"/>
              <a:t>PaaS</a:t>
            </a:r>
            <a:r>
              <a:rPr lang="en-US" altLang="zh-TW" dirty="0"/>
              <a:t> provider</a:t>
            </a:r>
          </a:p>
          <a:p>
            <a:pPr lvl="1"/>
            <a:r>
              <a:rPr lang="en-US" altLang="zh-TW" dirty="0"/>
              <a:t>Google GAE, Windows Azure, etc.</a:t>
            </a:r>
          </a:p>
          <a:p>
            <a:r>
              <a:rPr lang="en-US" altLang="zh-TW" dirty="0"/>
              <a:t>Downstream – </a:t>
            </a:r>
            <a:r>
              <a:rPr lang="en-US" altLang="zh-TW" dirty="0" err="1"/>
              <a:t>SaaS</a:t>
            </a:r>
            <a:r>
              <a:rPr lang="en-US" altLang="zh-TW" dirty="0"/>
              <a:t> provider</a:t>
            </a:r>
          </a:p>
          <a:p>
            <a:pPr lvl="1"/>
            <a:r>
              <a:rPr lang="en-US" altLang="zh-TW" dirty="0"/>
              <a:t>Saleforce.com, Google docs, etc.</a:t>
            </a:r>
          </a:p>
          <a:p>
            <a:r>
              <a:rPr lang="en-US" altLang="zh-TW" dirty="0"/>
              <a:t>End Users</a:t>
            </a:r>
          </a:p>
          <a:p>
            <a:pPr lvl="1"/>
            <a:r>
              <a:rPr lang="en-US" altLang="zh-TW" dirty="0"/>
              <a:t>Thin client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Long united, must divide; long divided, must unite</a:t>
            </a:r>
          </a:p>
          <a:p>
            <a:endParaRPr lang="en-US" altLang="zh-TW" dirty="0"/>
          </a:p>
          <a:p>
            <a:r>
              <a:rPr lang="en-US" altLang="zh-TW" dirty="0"/>
              <a:t>Modern IT require</a:t>
            </a:r>
          </a:p>
          <a:p>
            <a:pPr lvl="1"/>
            <a:r>
              <a:rPr lang="en-US" altLang="zh-TW" dirty="0"/>
              <a:t>To increase capacity or add capabilities to their infrastructure dynamically</a:t>
            </a:r>
          </a:p>
          <a:p>
            <a:pPr lvl="2"/>
            <a:r>
              <a:rPr lang="en-US" altLang="zh-TW" dirty="0"/>
              <a:t>without investing money in the purchase of new infrastructure</a:t>
            </a:r>
          </a:p>
          <a:p>
            <a:pPr lvl="1"/>
            <a:r>
              <a:rPr lang="en-US" altLang="zh-TW" dirty="0"/>
              <a:t>All the while </a:t>
            </a:r>
          </a:p>
          <a:p>
            <a:pPr lvl="2"/>
            <a:r>
              <a:rPr lang="en-US" altLang="zh-TW" dirty="0"/>
              <a:t>without needing to conduct training for new personnel </a:t>
            </a:r>
          </a:p>
          <a:p>
            <a:pPr lvl="2"/>
            <a:r>
              <a:rPr lang="en-US" altLang="zh-TW" dirty="0"/>
              <a:t>without the need for licensing new software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Given a solution to the above mentioned demands</a:t>
            </a:r>
          </a:p>
          <a:p>
            <a:pPr lvl="1"/>
            <a:r>
              <a:rPr lang="en-US" altLang="zh-TW" dirty="0"/>
              <a:t>Cloud computing is the next big thing in the world of IT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dirty="0"/>
              <a:t>IEEE Standard Computer Dictionary: A Compilation of IEEE Standard Computer Glossaries, 1990.</a:t>
            </a:r>
          </a:p>
          <a:p>
            <a:r>
              <a:rPr lang="en-US" altLang="zh-TW" dirty="0"/>
              <a:t>R. </a:t>
            </a:r>
            <a:r>
              <a:rPr lang="en-US" altLang="zh-TW" dirty="0" err="1"/>
              <a:t>Buyya</a:t>
            </a:r>
            <a:r>
              <a:rPr lang="en-US" altLang="zh-TW" dirty="0"/>
              <a:t> (ed.),  High Performance Cluster Computing: Systems and Architectures, Prentice Hall, 1999.</a:t>
            </a:r>
          </a:p>
          <a:p>
            <a:r>
              <a:rPr lang="en-US" altLang="zh-TW" dirty="0"/>
              <a:t>I. Foster, C. </a:t>
            </a:r>
            <a:r>
              <a:rPr lang="en-US" altLang="zh-TW" dirty="0" err="1"/>
              <a:t>Kesselman</a:t>
            </a:r>
            <a:r>
              <a:rPr lang="en-US" altLang="zh-TW" dirty="0"/>
              <a:t> (Eds.), The Grid: Blueprint for a Future Computing Infrastructure, Morgan Kaufmann, San Francisco, USA, 1999</a:t>
            </a:r>
          </a:p>
          <a:p>
            <a:r>
              <a:rPr lang="en-US" altLang="zh-TW" dirty="0"/>
              <a:t>I. Foster et. al., “The Anatomy of the Grid. Enabling Scalable Virtual Organizations,” International Journal of High Performance Computing Applications, 2001.</a:t>
            </a:r>
          </a:p>
          <a:p>
            <a:r>
              <a:rPr lang="en-US" altLang="zh-TW" dirty="0"/>
              <a:t>Computing Curricula 2005</a:t>
            </a:r>
          </a:p>
          <a:p>
            <a:r>
              <a:rPr lang="en-US" altLang="zh-TW" dirty="0"/>
              <a:t>J. </a:t>
            </a:r>
            <a:r>
              <a:rPr lang="en-US" altLang="zh-TW" dirty="0" err="1"/>
              <a:t>Rittinghouse</a:t>
            </a:r>
            <a:r>
              <a:rPr lang="en-US" altLang="zh-TW" dirty="0"/>
              <a:t> and J. F. </a:t>
            </a:r>
            <a:r>
              <a:rPr lang="en-US" altLang="zh-TW" dirty="0" err="1"/>
              <a:t>Ransome</a:t>
            </a:r>
            <a:r>
              <a:rPr lang="en-US" altLang="zh-TW" dirty="0"/>
              <a:t>, Cloud Computing: Implementation, Management, and Security, CRC Press, 2009.</a:t>
            </a:r>
          </a:p>
          <a:p>
            <a:r>
              <a:rPr lang="en-US" altLang="zh-TW" dirty="0"/>
              <a:t>M. </a:t>
            </a:r>
            <a:r>
              <a:rPr lang="en-US" altLang="zh-TW" dirty="0" err="1"/>
              <a:t>Armbrust</a:t>
            </a:r>
            <a:r>
              <a:rPr lang="en-US" altLang="zh-TW" dirty="0"/>
              <a:t> et. al., “Above the Clouds: A Berkeley View of Cloud Computing,” Technical Report No. UCB/EECS-2009-28, University of California at Berkeley, 2009. </a:t>
            </a:r>
          </a:p>
          <a:p>
            <a:r>
              <a:rPr lang="en-US" altLang="zh-TW" dirty="0"/>
              <a:t>R. </a:t>
            </a:r>
            <a:r>
              <a:rPr lang="en-US" altLang="zh-TW" dirty="0" err="1"/>
              <a:t>Buyya</a:t>
            </a:r>
            <a:r>
              <a:rPr lang="en-US" altLang="zh-TW" dirty="0"/>
              <a:t> et. al., “Cloud computing and emerging IT platforms: Vision, hype, and reality for delivering computing as the 5th utility,” Future Generation Computer Systems, 2009.</a:t>
            </a:r>
          </a:p>
          <a:p>
            <a:r>
              <a:rPr lang="en-US" altLang="zh-TW" dirty="0" err="1"/>
              <a:t>Hai</a:t>
            </a:r>
            <a:r>
              <a:rPr lang="en-US" altLang="zh-TW" dirty="0"/>
              <a:t> Jin and Raj </a:t>
            </a:r>
            <a:r>
              <a:rPr lang="en-US" altLang="zh-TW" dirty="0" err="1"/>
              <a:t>Buyya</a:t>
            </a:r>
            <a:r>
              <a:rPr lang="en-US" altLang="zh-TW" dirty="0"/>
              <a:t>, High Performance Cluster Computing: Architectures and Systems.</a:t>
            </a:r>
          </a:p>
          <a:p>
            <a:r>
              <a:rPr lang="en-US" altLang="zh-TW" dirty="0"/>
              <a:t>NIST (National Institute of Standards and Technology). http://csrc.nist.gov/groups/SNS/cloud-computing/</a:t>
            </a:r>
          </a:p>
          <a:p>
            <a:r>
              <a:rPr lang="en-US" altLang="zh-TW" dirty="0"/>
              <a:t>Gartner, Inside the Hype Cycle: What’s Hot and What’s Not in 2009.</a:t>
            </a:r>
          </a:p>
          <a:p>
            <a:r>
              <a:rPr lang="en-US" altLang="zh-TW" dirty="0"/>
              <a:t>Cloud Computing 2010 – An IDC Update.</a:t>
            </a:r>
          </a:p>
          <a:p>
            <a:r>
              <a:rPr lang="en-US" altLang="zh-TW" dirty="0"/>
              <a:t>IBM Corporation.</a:t>
            </a:r>
          </a:p>
          <a:p>
            <a:r>
              <a:rPr lang="en-US" altLang="zh-TW" dirty="0"/>
              <a:t>From Wikipedia, the free encyclopedia.</a:t>
            </a:r>
            <a:endParaRPr lang="zh-TW" altLang="en-US" dirty="0"/>
          </a:p>
          <a:p>
            <a:r>
              <a:rPr lang="en-US" altLang="zh-TW" dirty="0"/>
              <a:t>All resources of the materials and pictures were partially retrieved from the Internet.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k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5317</TotalTime>
  <Words>2926</Words>
  <Application>Microsoft Office PowerPoint</Application>
  <PresentationFormat>全屏显示(4:3)</PresentationFormat>
  <Paragraphs>601</Paragraphs>
  <Slides>71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4" baseType="lpstr">
      <vt:lpstr>標楷體</vt:lpstr>
      <vt:lpstr>MS Mincho</vt:lpstr>
      <vt:lpstr>MS PGothic</vt:lpstr>
      <vt:lpstr>新細明體</vt:lpstr>
      <vt:lpstr>SimSun</vt:lpstr>
      <vt:lpstr>Arial</vt:lpstr>
      <vt:lpstr>Calibri</vt:lpstr>
      <vt:lpstr>Cambria</vt:lpstr>
      <vt:lpstr>Times New Roman</vt:lpstr>
      <vt:lpstr>Wingdings</vt:lpstr>
      <vt:lpstr>Course Themes</vt:lpstr>
      <vt:lpstr>Sky</vt:lpstr>
      <vt:lpstr>Clip</vt:lpstr>
      <vt:lpstr>雲端計算 Cloud Computing</vt:lpstr>
      <vt:lpstr>Agenda</vt:lpstr>
      <vt:lpstr>What’s Computing</vt:lpstr>
      <vt:lpstr>What’s Computing</vt:lpstr>
      <vt:lpstr>Computing in Computer Science</vt:lpstr>
      <vt:lpstr>PowerPoint 演示文稿</vt:lpstr>
      <vt:lpstr>PowerPoint 演示文稿</vt:lpstr>
      <vt:lpstr>The 5th Utility</vt:lpstr>
      <vt:lpstr>The 5th Utility</vt:lpstr>
      <vt:lpstr>Utility Computing</vt:lpstr>
      <vt:lpstr>The Creation of The Internet</vt:lpstr>
      <vt:lpstr>Variety of Paradigms</vt:lpstr>
      <vt:lpstr>Distributed Computing</vt:lpstr>
      <vt:lpstr>Distributed Computing</vt:lpstr>
      <vt:lpstr>Demand for Computing Power</vt:lpstr>
      <vt:lpstr>How to Run Applications Faster</vt:lpstr>
      <vt:lpstr>History</vt:lpstr>
      <vt:lpstr>Towards Commodity Computing</vt:lpstr>
      <vt:lpstr>Traditional Food Chain</vt:lpstr>
      <vt:lpstr>Food Chain of Computer</vt:lpstr>
      <vt:lpstr>Food Chain of Distributed Computing</vt:lpstr>
      <vt:lpstr>Rise &amp; Fall of Computing Technologies</vt:lpstr>
      <vt:lpstr>Distributed computing</vt:lpstr>
      <vt:lpstr>Cluster Computing</vt:lpstr>
      <vt:lpstr>The Cluster</vt:lpstr>
      <vt:lpstr>Parallel Computing</vt:lpstr>
      <vt:lpstr>Parallel Programming Models</vt:lpstr>
      <vt:lpstr>Flynn's Taxonomy</vt:lpstr>
      <vt:lpstr>Two Basic Models</vt:lpstr>
      <vt:lpstr>Two Basic Models</vt:lpstr>
      <vt:lpstr>Computer Collaboration in Cluster</vt:lpstr>
      <vt:lpstr>Massage Passing Interface (MPI)</vt:lpstr>
      <vt:lpstr>Massage Passing Interface (MPI)</vt:lpstr>
      <vt:lpstr>Massage Passing Interface (MPI)</vt:lpstr>
      <vt:lpstr>Cluster Applications</vt:lpstr>
      <vt:lpstr>Distributed computing</vt:lpstr>
      <vt:lpstr>Demand for More Computing Power</vt:lpstr>
      <vt:lpstr>Grid Computing</vt:lpstr>
      <vt:lpstr>The Grid</vt:lpstr>
      <vt:lpstr>Resource Collaboration in Grids</vt:lpstr>
      <vt:lpstr>Example of VOs</vt:lpstr>
      <vt:lpstr>Grid Environments</vt:lpstr>
      <vt:lpstr>Taiwan UniGrid A University Grid Platform in Taiwan </vt:lpstr>
      <vt:lpstr>Taiwan UniGrid</vt:lpstr>
      <vt:lpstr>Basic System Architecture</vt:lpstr>
      <vt:lpstr>UniGrid System Architecture</vt:lpstr>
      <vt:lpstr>Major Services</vt:lpstr>
      <vt:lpstr>Screenshot</vt:lpstr>
      <vt:lpstr>Computing Paradigm Evolution</vt:lpstr>
      <vt:lpstr>Distributed computing</vt:lpstr>
      <vt:lpstr>Long united, must divide  Long divided, must unite</vt:lpstr>
      <vt:lpstr>Next Big Thing</vt:lpstr>
      <vt:lpstr>The “Cloud”</vt:lpstr>
      <vt:lpstr>Cloud Computing – A New Paradigm</vt:lpstr>
      <vt:lpstr>Cloud Computing in Mathematics</vt:lpstr>
      <vt:lpstr>Cloud Computing in IT</vt:lpstr>
      <vt:lpstr>Emerging Technologies Hype Cycle</vt:lpstr>
      <vt:lpstr>Emerging Technologies Priority Matrix</vt:lpstr>
      <vt:lpstr>Benefits from Cloud Computing</vt:lpstr>
      <vt:lpstr>Adoption of Cloud Computing</vt:lpstr>
      <vt:lpstr>Cloud Value Drivers &amp; Effects</vt:lpstr>
      <vt:lpstr>Lower IT operating and capital costs</vt:lpstr>
      <vt:lpstr>Fine grained and rapid provisioning</vt:lpstr>
      <vt:lpstr>Removing IT complexity</vt:lpstr>
      <vt:lpstr>Pay for what is used</vt:lpstr>
      <vt:lpstr>Cloud Computing Players more and more…</vt:lpstr>
      <vt:lpstr>Players :  Users (Consumers) or Providers</vt:lpstr>
      <vt:lpstr>Cloud Computing Economy</vt:lpstr>
      <vt:lpstr>Industry Chain</vt:lpstr>
      <vt:lpstr>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creator>Dell</dc:creator>
  <cp:lastModifiedBy>Yeh-Ching Chung</cp:lastModifiedBy>
  <cp:revision>634</cp:revision>
  <dcterms:modified xsi:type="dcterms:W3CDTF">2026-09-27T10:17:22Z</dcterms:modified>
</cp:coreProperties>
</file>