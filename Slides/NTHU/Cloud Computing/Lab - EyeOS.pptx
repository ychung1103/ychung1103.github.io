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4" r:id="rId3"/>
    <p:sldId id="257" r:id="rId4"/>
    <p:sldId id="258" r:id="rId5"/>
    <p:sldId id="262" r:id="rId6"/>
    <p:sldId id="261" r:id="rId7"/>
    <p:sldId id="299" r:id="rId8"/>
    <p:sldId id="266" r:id="rId9"/>
    <p:sldId id="272" r:id="rId10"/>
    <p:sldId id="300" r:id="rId11"/>
    <p:sldId id="259" r:id="rId12"/>
    <p:sldId id="267" r:id="rId13"/>
    <p:sldId id="268" r:id="rId14"/>
    <p:sldId id="269" r:id="rId15"/>
    <p:sldId id="270" r:id="rId16"/>
    <p:sldId id="271" r:id="rId17"/>
    <p:sldId id="298" r:id="rId18"/>
    <p:sldId id="275" r:id="rId19"/>
    <p:sldId id="276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1496" y="-8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2010/10/19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eyeos.org/installation_manual.pdf" TargetMode="External"/><Relationship Id="rId2" Type="http://schemas.openxmlformats.org/officeDocument/2006/relationships/hyperlink" Target="http://www.eyeos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hyperlink" Target="http://beta.my.eyeos.org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Lab - </a:t>
            </a:r>
            <a:r>
              <a:rPr lang="en-US" altLang="zh-TW" sz="3200" i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EyeOS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Installation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Programming</a:t>
            </a:r>
            <a:endParaRPr lang="zh-TW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Download 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Prepare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Work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Start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Install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Download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hlinkClick r:id="rId2"/>
              </a:rPr>
              <a:t>http://www.eyeos.org/</a:t>
            </a:r>
            <a:endParaRPr lang="en-US" altLang="zh-TW" dirty="0" smtClean="0"/>
          </a:p>
          <a:p>
            <a:r>
              <a:rPr lang="en-US" altLang="zh-TW" dirty="0" smtClean="0">
                <a:hlinkClick r:id="rId3"/>
              </a:rPr>
              <a:t>http://eyeos.org/installation_manual.pdf</a:t>
            </a:r>
            <a:endParaRPr lang="en-US" altLang="zh-TW" dirty="0" smtClean="0"/>
          </a:p>
          <a:p>
            <a:r>
              <a:rPr lang="en-US" altLang="zh-TW" dirty="0" smtClean="0">
                <a:hlinkClick r:id="rId4"/>
              </a:rPr>
              <a:t>http://beta.my.eyeos.org/</a:t>
            </a:r>
            <a:r>
              <a:rPr lang="en-US" altLang="zh-TW" dirty="0" smtClean="0"/>
              <a:t>  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 l="23078" t="14930" r="22374" b="5501"/>
          <a:stretch>
            <a:fillRect/>
          </a:stretch>
        </p:blipFill>
        <p:spPr bwMode="auto">
          <a:xfrm>
            <a:off x="4644008" y="3212976"/>
            <a:ext cx="4248472" cy="3485926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Requirements</a:t>
            </a:r>
          </a:p>
          <a:p>
            <a:pPr lvl="1"/>
            <a:r>
              <a:rPr lang="en-US" altLang="zh-TW" dirty="0" smtClean="0"/>
              <a:t>Apache HTTP Server 2.x</a:t>
            </a:r>
            <a:endParaRPr lang="en-US" altLang="zh-TW" b="1" dirty="0" smtClean="0"/>
          </a:p>
          <a:p>
            <a:pPr lvl="1"/>
            <a:r>
              <a:rPr lang="en-US" altLang="zh-TW" dirty="0" err="1" smtClean="0"/>
              <a:t>MySQL</a:t>
            </a:r>
            <a:r>
              <a:rPr lang="en-US" altLang="zh-TW" dirty="0" smtClean="0"/>
              <a:t>-server and </a:t>
            </a:r>
            <a:r>
              <a:rPr lang="en-US" altLang="zh-TW" dirty="0" err="1" smtClean="0"/>
              <a:t>MySQL</a:t>
            </a:r>
            <a:r>
              <a:rPr lang="en-US" altLang="zh-TW" dirty="0" smtClean="0"/>
              <a:t>-client 5.x</a:t>
            </a:r>
          </a:p>
          <a:p>
            <a:pPr lvl="1"/>
            <a:r>
              <a:rPr lang="en-US" altLang="zh-TW" dirty="0" err="1" smtClean="0"/>
              <a:t>php</a:t>
            </a:r>
            <a:r>
              <a:rPr lang="en-US" altLang="zh-TW" dirty="0" smtClean="0"/>
              <a:t> 5.2, or higher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Test environment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LAMP</a:t>
            </a:r>
          </a:p>
          <a:p>
            <a:pPr lvl="1"/>
            <a:r>
              <a:rPr lang="en-US" altLang="zh-TW" dirty="0" err="1" smtClean="0"/>
              <a:t>Kubuntu</a:t>
            </a:r>
            <a:r>
              <a:rPr lang="en-US" altLang="zh-TW" dirty="0" smtClean="0"/>
              <a:t> 10.10 with kernel 2.6.35-22-generic</a:t>
            </a:r>
          </a:p>
          <a:p>
            <a:pPr lvl="1"/>
            <a:r>
              <a:rPr lang="en-US" altLang="zh-TW" dirty="0" smtClean="0"/>
              <a:t>Apache/2.2.16 (</a:t>
            </a:r>
            <a:r>
              <a:rPr lang="en-US" altLang="zh-TW" dirty="0" err="1" smtClean="0"/>
              <a:t>Ubuntu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err="1" smtClean="0"/>
              <a:t>MySQL</a:t>
            </a:r>
            <a:r>
              <a:rPr lang="en-US" altLang="zh-TW" dirty="0" smtClean="0"/>
              <a:t> 5.1.49-1ubuntu8 (</a:t>
            </a:r>
            <a:r>
              <a:rPr lang="en-US" altLang="zh-TW" dirty="0" err="1" smtClean="0"/>
              <a:t>Ubuntu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PHP 5.3.3-1ubuntu9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Download </a:t>
            </a:r>
          </a:p>
          <a:p>
            <a:r>
              <a:rPr lang="en-US" altLang="zh-TW" dirty="0" smtClean="0"/>
              <a:t>Prepare Work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Start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Install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MySQL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Logging in by root</a:t>
            </a:r>
          </a:p>
          <a:p>
            <a:pPr lvl="1"/>
            <a:r>
              <a:rPr lang="en-US" altLang="zh-TW" dirty="0" err="1" smtClean="0"/>
              <a:t>mysql</a:t>
            </a:r>
            <a:r>
              <a:rPr lang="en-US" altLang="zh-TW" dirty="0" smtClean="0"/>
              <a:t> –u root -p</a:t>
            </a:r>
          </a:p>
          <a:p>
            <a:r>
              <a:rPr lang="en-US" altLang="zh-TW" dirty="0" smtClean="0"/>
              <a:t>Add a new database</a:t>
            </a:r>
          </a:p>
          <a:p>
            <a:pPr lvl="1"/>
            <a:r>
              <a:rPr lang="en-US" altLang="zh-TW" dirty="0" smtClean="0"/>
              <a:t>Create DATABASE </a:t>
            </a:r>
            <a:r>
              <a:rPr lang="en-US" altLang="zh-TW" dirty="0" err="1" smtClean="0"/>
              <a:t>eyeos</a:t>
            </a:r>
            <a:endParaRPr lang="en-US" altLang="zh-TW" dirty="0" smtClean="0"/>
          </a:p>
          <a:p>
            <a:r>
              <a:rPr lang="en-US" altLang="zh-TW" dirty="0" smtClean="0"/>
              <a:t>Add a new user for </a:t>
            </a:r>
            <a:r>
              <a:rPr lang="en-US" altLang="zh-TW" dirty="0" err="1" smtClean="0"/>
              <a:t>eyeOS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GRANT ALL PRIVILEGES on eyeos.* TO </a:t>
            </a:r>
            <a:r>
              <a:rPr lang="en-US" altLang="zh-TW" dirty="0" err="1" smtClean="0"/>
              <a:t>eyeos</a:t>
            </a:r>
            <a:r>
              <a:rPr lang="en-US" altLang="zh-TW" dirty="0" smtClean="0"/>
              <a:t> IDENTIFIED by ‘PASSWORD’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And more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Extract the download file.</a:t>
            </a:r>
          </a:p>
          <a:p>
            <a:r>
              <a:rPr lang="en-US" altLang="zh-TW" dirty="0" smtClean="0"/>
              <a:t>Move to root directory of Apache2</a:t>
            </a:r>
          </a:p>
          <a:p>
            <a:r>
              <a:rPr lang="en-US" altLang="zh-TW" dirty="0" smtClean="0"/>
              <a:t>Change the privileges</a:t>
            </a:r>
          </a:p>
          <a:p>
            <a:pPr lvl="1"/>
            <a:r>
              <a:rPr lang="en-US" altLang="zh-TW" dirty="0" err="1" smtClean="0"/>
              <a:t>sudo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chown</a:t>
            </a:r>
            <a:r>
              <a:rPr lang="en-US" altLang="zh-TW" dirty="0" smtClean="0"/>
              <a:t> –R www-</a:t>
            </a:r>
            <a:r>
              <a:rPr lang="en-US" altLang="zh-TW" dirty="0" err="1" smtClean="0"/>
              <a:t>data.www</a:t>
            </a:r>
            <a:r>
              <a:rPr lang="en-US" altLang="zh-TW" dirty="0" smtClean="0"/>
              <a:t>-data /</a:t>
            </a:r>
            <a:r>
              <a:rPr lang="en-US" altLang="zh-TW" dirty="0" err="1" smtClean="0"/>
              <a:t>var</a:t>
            </a:r>
            <a:r>
              <a:rPr lang="en-US" altLang="zh-TW" dirty="0" smtClean="0"/>
              <a:t>/www/</a:t>
            </a:r>
            <a:r>
              <a:rPr lang="en-US" altLang="zh-TW" dirty="0" err="1" smtClean="0"/>
              <a:t>eyeos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Installation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Download 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Prepare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Work</a:t>
            </a:r>
          </a:p>
          <a:p>
            <a:r>
              <a:rPr lang="en-US" altLang="zh-TW" dirty="0" smtClean="0"/>
              <a:t>Start Install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http://localhost/eyeos/install</a:t>
            </a:r>
            <a:endParaRPr lang="zh-TW" altLang="en-US" dirty="0"/>
          </a:p>
        </p:txBody>
      </p:sp>
      <p:pic>
        <p:nvPicPr>
          <p:cNvPr id="2050" name="Picture 2" descr="C:\Users\cmj\Downloads\快照1.png"/>
          <p:cNvPicPr>
            <a:picLocks noChangeAspect="1" noChangeArrowheads="1"/>
          </p:cNvPicPr>
          <p:nvPr/>
        </p:nvPicPr>
        <p:blipFill>
          <a:blip r:embed="rId2" cstate="print"/>
          <a:srcRect l="16052" t="14769" r="16421" b="9419"/>
          <a:stretch>
            <a:fillRect/>
          </a:stretch>
        </p:blipFill>
        <p:spPr bwMode="auto">
          <a:xfrm>
            <a:off x="1187624" y="2492896"/>
            <a:ext cx="6731345" cy="4248472"/>
          </a:xfrm>
          <a:prstGeom prst="rect">
            <a:avLst/>
          </a:prstGeom>
          <a:noFill/>
        </p:spPr>
      </p:pic>
      <p:cxnSp>
        <p:nvCxnSpPr>
          <p:cNvPr id="6" name="直線單箭頭接點 5"/>
          <p:cNvCxnSpPr/>
          <p:nvPr/>
        </p:nvCxnSpPr>
        <p:spPr>
          <a:xfrm rot="16200000" flipH="1">
            <a:off x="4067944" y="4581128"/>
            <a:ext cx="648072" cy="64807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6" name="Picture 2" descr="C:\Users\cmj\Downloads\快照2.png"/>
          <p:cNvPicPr>
            <a:picLocks noChangeAspect="1" noChangeArrowheads="1"/>
          </p:cNvPicPr>
          <p:nvPr/>
        </p:nvPicPr>
        <p:blipFill>
          <a:blip r:embed="rId2" cstate="print"/>
          <a:srcRect l="15138" t="14293" r="17659" b="3848"/>
          <a:stretch>
            <a:fillRect/>
          </a:stretch>
        </p:blipFill>
        <p:spPr bwMode="auto">
          <a:xfrm>
            <a:off x="1547664" y="1772816"/>
            <a:ext cx="6624736" cy="4536504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>
          <a:xfrm>
            <a:off x="3275856" y="3501008"/>
            <a:ext cx="3240360" cy="25922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39552" y="4365104"/>
            <a:ext cx="2539862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b="1" dirty="0" err="1" smtClean="0"/>
              <a:t>Recommand</a:t>
            </a:r>
            <a:r>
              <a:rPr lang="en-US" altLang="zh-TW" b="1" dirty="0" smtClean="0"/>
              <a:t>:</a:t>
            </a:r>
          </a:p>
          <a:p>
            <a:r>
              <a:rPr lang="en-US" altLang="zh-TW" b="1" dirty="0" smtClean="0"/>
              <a:t>	install all items</a:t>
            </a:r>
            <a:endParaRPr lang="zh-TW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098" name="Picture 2" descr="C:\Users\cmj\Downloads\快照3.png"/>
          <p:cNvPicPr>
            <a:picLocks noChangeAspect="1" noChangeArrowheads="1"/>
          </p:cNvPicPr>
          <p:nvPr/>
        </p:nvPicPr>
        <p:blipFill>
          <a:blip r:embed="rId2" cstate="print"/>
          <a:srcRect l="15498" t="15753" r="16878" b="5481"/>
          <a:stretch>
            <a:fillRect/>
          </a:stretch>
        </p:blipFill>
        <p:spPr bwMode="auto">
          <a:xfrm>
            <a:off x="1115616" y="1628800"/>
            <a:ext cx="7452320" cy="4879753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3059832" y="4077072"/>
            <a:ext cx="5184576" cy="11521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3075" name="Picture 3" descr="C:\Users\cmj\Downloads\快照4.png"/>
          <p:cNvPicPr>
            <a:picLocks noChangeAspect="1" noChangeArrowheads="1"/>
          </p:cNvPicPr>
          <p:nvPr/>
        </p:nvPicPr>
        <p:blipFill>
          <a:blip r:embed="rId2" cstate="print"/>
          <a:srcRect l="16052" t="14769" r="16975" b="6465"/>
          <a:stretch>
            <a:fillRect/>
          </a:stretch>
        </p:blipFill>
        <p:spPr bwMode="auto">
          <a:xfrm>
            <a:off x="251520" y="764704"/>
            <a:ext cx="8712968" cy="5760640"/>
          </a:xfrm>
          <a:prstGeom prst="rect">
            <a:avLst/>
          </a:prstGeom>
          <a:noFill/>
        </p:spPr>
      </p:pic>
      <p:sp>
        <p:nvSpPr>
          <p:cNvPr id="7" name="矩形 6"/>
          <p:cNvSpPr/>
          <p:nvPr/>
        </p:nvSpPr>
        <p:spPr>
          <a:xfrm>
            <a:off x="3923928" y="4581128"/>
            <a:ext cx="3096344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/>
          <p:nvPr/>
        </p:nvCxnSpPr>
        <p:spPr>
          <a:xfrm>
            <a:off x="5508104" y="5877272"/>
            <a:ext cx="15841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899592" y="4509120"/>
            <a:ext cx="2557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Username and password </a:t>
            </a:r>
          </a:p>
          <a:p>
            <a:r>
              <a:rPr lang="en-US" altLang="zh-TW" dirty="0" smtClean="0"/>
              <a:t>you set before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 t="13867" r="-11" b="3534"/>
          <a:stretch>
            <a:fillRect/>
          </a:stretch>
        </p:blipFill>
        <p:spPr bwMode="auto">
          <a:xfrm>
            <a:off x="179512" y="2296668"/>
            <a:ext cx="8964488" cy="4164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 t="13734" r="47238" b="45667"/>
          <a:stretch>
            <a:fillRect/>
          </a:stretch>
        </p:blipFill>
        <p:spPr bwMode="auto">
          <a:xfrm>
            <a:off x="251520" y="2492896"/>
            <a:ext cx="8496944" cy="3677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Programming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eyeOS</a:t>
            </a:r>
            <a:r>
              <a:rPr lang="en-US" altLang="zh-TW" dirty="0" smtClean="0"/>
              <a:t> 2.0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eyeOS</a:t>
            </a:r>
            <a:r>
              <a:rPr lang="en-US" altLang="zh-TW" dirty="0" smtClean="0"/>
              <a:t> 2.x is written by PHP, XML, and JavaScript.</a:t>
            </a:r>
          </a:p>
          <a:p>
            <a:r>
              <a:rPr lang="en-US" altLang="zh-TW" dirty="0" smtClean="0"/>
              <a:t>PHP</a:t>
            </a:r>
          </a:p>
          <a:p>
            <a:pPr lvl="1"/>
            <a:r>
              <a:rPr lang="en-US" altLang="zh-TW" dirty="0" smtClean="0"/>
              <a:t>Major functionality for custom service.</a:t>
            </a:r>
          </a:p>
          <a:p>
            <a:pPr lvl="1"/>
            <a:r>
              <a:rPr lang="en-US" altLang="zh-TW" dirty="0" smtClean="0"/>
              <a:t>Background computation.</a:t>
            </a:r>
          </a:p>
          <a:p>
            <a:r>
              <a:rPr lang="en-US" altLang="zh-TW" dirty="0" smtClean="0"/>
              <a:t>XML</a:t>
            </a:r>
          </a:p>
          <a:p>
            <a:pPr lvl="1"/>
            <a:r>
              <a:rPr lang="en-US" altLang="zh-TW" dirty="0" smtClean="0"/>
              <a:t>Service description.</a:t>
            </a:r>
          </a:p>
          <a:p>
            <a:r>
              <a:rPr lang="en-US" altLang="zh-TW" dirty="0" smtClean="0"/>
              <a:t>JavaScript</a:t>
            </a:r>
          </a:p>
          <a:p>
            <a:pPr lvl="1"/>
            <a:r>
              <a:rPr lang="en-US" altLang="zh-TW" dirty="0" smtClean="0"/>
              <a:t>Web interface.</a:t>
            </a:r>
          </a:p>
          <a:p>
            <a:pPr lvl="1"/>
            <a:r>
              <a:rPr lang="en-US" altLang="zh-TW" dirty="0" smtClean="0"/>
              <a:t>Communication between user and server.</a:t>
            </a:r>
          </a:p>
        </p:txBody>
      </p:sp>
      <p:sp>
        <p:nvSpPr>
          <p:cNvPr id="5" name="文字方塊 4"/>
          <p:cNvSpPr txBox="1"/>
          <p:nvPr/>
        </p:nvSpPr>
        <p:spPr>
          <a:xfrm rot="1031786">
            <a:off x="4211960" y="4509120"/>
            <a:ext cx="2124108" cy="70788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4000" dirty="0" err="1" smtClean="0"/>
              <a:t>qooxdoo</a:t>
            </a:r>
            <a:r>
              <a:rPr lang="en-US" altLang="zh-TW" sz="4000" dirty="0" smtClean="0"/>
              <a:t> </a:t>
            </a:r>
            <a:endParaRPr lang="zh-TW" alt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Cases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/>
              <a:t>Every service in </a:t>
            </a:r>
            <a:r>
              <a:rPr lang="en-US" altLang="zh-TW" dirty="0" err="1" smtClean="0"/>
              <a:t>eyeOS</a:t>
            </a:r>
            <a:r>
              <a:rPr lang="en-US" altLang="zh-TW" dirty="0" smtClean="0"/>
              <a:t> are applications.</a:t>
            </a:r>
          </a:p>
          <a:p>
            <a:pPr lvl="1"/>
            <a:r>
              <a:rPr lang="en-US" altLang="zh-TW" dirty="0" smtClean="0"/>
              <a:t>Application interface</a:t>
            </a:r>
          </a:p>
          <a:p>
            <a:pPr lvl="1"/>
            <a:r>
              <a:rPr lang="en-US" altLang="zh-TW" dirty="0" smtClean="0"/>
              <a:t>May not use any background resource.</a:t>
            </a:r>
          </a:p>
          <a:p>
            <a:r>
              <a:rPr lang="en-US" altLang="zh-TW" dirty="0" smtClean="0"/>
              <a:t>Calculator </a:t>
            </a:r>
          </a:p>
          <a:p>
            <a:pPr lvl="1"/>
            <a:r>
              <a:rPr lang="en-US" altLang="zh-TW" dirty="0" smtClean="0"/>
              <a:t>Only XML and JavaScript.</a:t>
            </a:r>
          </a:p>
          <a:p>
            <a:pPr lvl="1"/>
            <a:r>
              <a:rPr lang="en-US" altLang="zh-TW" dirty="0" smtClean="0"/>
              <a:t>Computation on client.</a:t>
            </a:r>
          </a:p>
          <a:p>
            <a:r>
              <a:rPr lang="en-US" altLang="zh-TW" dirty="0" smtClean="0"/>
              <a:t>Login</a:t>
            </a:r>
          </a:p>
          <a:p>
            <a:pPr lvl="1"/>
            <a:r>
              <a:rPr lang="en-US" altLang="zh-TW" dirty="0" smtClean="0"/>
              <a:t>Simplified of web skin.</a:t>
            </a:r>
          </a:p>
          <a:p>
            <a:pPr lvl="1"/>
            <a:r>
              <a:rPr lang="en-US" altLang="zh-TW" dirty="0" smtClean="0"/>
              <a:t>Connect to database.</a:t>
            </a:r>
          </a:p>
          <a:p>
            <a:pPr lvl="1"/>
            <a:r>
              <a:rPr lang="en-US" altLang="zh-TW" dirty="0" smtClean="0"/>
              <a:t>New user or authentication.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</a:t>
            </a:r>
            <a:endParaRPr lang="zh-TW" altLang="en-US" dirty="0"/>
          </a:p>
        </p:txBody>
      </p:sp>
      <p:sp>
        <p:nvSpPr>
          <p:cNvPr id="5" name="圓角矩形 4"/>
          <p:cNvSpPr/>
          <p:nvPr/>
        </p:nvSpPr>
        <p:spPr>
          <a:xfrm>
            <a:off x="2627784" y="2924944"/>
            <a:ext cx="1584176" cy="208823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sz="2000" dirty="0" smtClean="0"/>
              <a:t>Service.js</a:t>
            </a:r>
          </a:p>
          <a:p>
            <a:endParaRPr lang="en-US" altLang="zh-TW" sz="2000" dirty="0" smtClean="0"/>
          </a:p>
          <a:p>
            <a:r>
              <a:rPr lang="en-US" altLang="zh-TW" sz="2000" dirty="0" smtClean="0"/>
              <a:t>app.fun1(); app.fun1();</a:t>
            </a:r>
          </a:p>
          <a:p>
            <a:r>
              <a:rPr lang="en-US" altLang="zh-TW" sz="2000" dirty="0" smtClean="0"/>
              <a:t>…</a:t>
            </a:r>
          </a:p>
          <a:p>
            <a:r>
              <a:rPr lang="en-US" altLang="zh-TW" sz="1600" dirty="0" err="1" smtClean="0"/>
              <a:t>app.drawGUI</a:t>
            </a:r>
            <a:r>
              <a:rPr lang="en-US" altLang="zh-TW" sz="1600" dirty="0" smtClean="0"/>
              <a:t>();</a:t>
            </a:r>
            <a:endParaRPr lang="zh-TW" altLang="en-US" sz="1600" dirty="0"/>
          </a:p>
        </p:txBody>
      </p:sp>
      <p:pic>
        <p:nvPicPr>
          <p:cNvPr id="3074" name="Picture 2" descr="D:\Slide\Graph\man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4725144"/>
            <a:ext cx="1320328" cy="1351980"/>
          </a:xfrm>
          <a:prstGeom prst="rect">
            <a:avLst/>
          </a:prstGeom>
          <a:noFill/>
        </p:spPr>
      </p:pic>
      <p:cxnSp>
        <p:nvCxnSpPr>
          <p:cNvPr id="8" name="直線單箭頭接點 7"/>
          <p:cNvCxnSpPr/>
          <p:nvPr/>
        </p:nvCxnSpPr>
        <p:spPr>
          <a:xfrm flipV="1">
            <a:off x="1547664" y="4077072"/>
            <a:ext cx="864096" cy="57606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rot="10800000" flipV="1">
            <a:off x="1619672" y="4437112"/>
            <a:ext cx="864096" cy="576064"/>
          </a:xfrm>
          <a:prstGeom prst="straightConnector1">
            <a:avLst/>
          </a:prstGeom>
          <a:ln>
            <a:prstDash val="dash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4644008" y="4653136"/>
            <a:ext cx="1872208" cy="1512168"/>
          </a:xfrm>
          <a:prstGeom prst="rect">
            <a:avLst/>
          </a:prstGeom>
          <a:ln w="28575">
            <a:prstDash val="dash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zh-TW" dirty="0" smtClean="0"/>
              <a:t>XML</a:t>
            </a:r>
          </a:p>
          <a:p>
            <a:r>
              <a:rPr lang="en-US" altLang="zh-TW" dirty="0" smtClean="0"/>
              <a:t>&lt;meta&gt;</a:t>
            </a:r>
          </a:p>
          <a:p>
            <a:r>
              <a:rPr lang="en-US" altLang="zh-TW" dirty="0" smtClean="0"/>
              <a:t>    ….</a:t>
            </a:r>
          </a:p>
          <a:p>
            <a:r>
              <a:rPr lang="en-US" altLang="zh-TW" dirty="0" smtClean="0"/>
              <a:t>&lt;/meta&gt;</a:t>
            </a:r>
            <a:endParaRPr lang="zh-TW" altLang="en-US" dirty="0"/>
          </a:p>
        </p:txBody>
      </p:sp>
      <p:cxnSp>
        <p:nvCxnSpPr>
          <p:cNvPr id="15" name="直線單箭頭接點 14"/>
          <p:cNvCxnSpPr/>
          <p:nvPr/>
        </p:nvCxnSpPr>
        <p:spPr>
          <a:xfrm>
            <a:off x="1907704" y="5661248"/>
            <a:ext cx="2448272" cy="1588"/>
          </a:xfrm>
          <a:prstGeom prst="straightConnector1">
            <a:avLst/>
          </a:prstGeom>
          <a:ln>
            <a:prstDash val="sysDash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075" name="Picture 3" descr="D:\Slide\Graph\computer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68344" y="3645024"/>
            <a:ext cx="1359830" cy="1447304"/>
          </a:xfrm>
          <a:prstGeom prst="rect">
            <a:avLst/>
          </a:prstGeom>
          <a:noFill/>
        </p:spPr>
      </p:pic>
      <p:sp>
        <p:nvSpPr>
          <p:cNvPr id="19" name="矩形 18"/>
          <p:cNvSpPr/>
          <p:nvPr/>
        </p:nvSpPr>
        <p:spPr>
          <a:xfrm>
            <a:off x="5220072" y="1484784"/>
            <a:ext cx="1800200" cy="144016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zh-TW" dirty="0" smtClean="0"/>
              <a:t>&lt;?PHP</a:t>
            </a:r>
          </a:p>
          <a:p>
            <a:r>
              <a:rPr lang="en-US" altLang="zh-TW" dirty="0" smtClean="0"/>
              <a:t>    fun1() {….}</a:t>
            </a:r>
          </a:p>
          <a:p>
            <a:r>
              <a:rPr lang="en-US" altLang="zh-TW" dirty="0" smtClean="0"/>
              <a:t>    fun1() {….}</a:t>
            </a:r>
          </a:p>
          <a:p>
            <a:r>
              <a:rPr lang="en-US" altLang="zh-TW" dirty="0" smtClean="0"/>
              <a:t>    fun1() {….}</a:t>
            </a:r>
          </a:p>
          <a:p>
            <a:r>
              <a:rPr lang="en-US" altLang="zh-TW" dirty="0" smtClean="0"/>
              <a:t>?&gt;</a:t>
            </a:r>
            <a:endParaRPr lang="zh-TW" altLang="en-US" dirty="0"/>
          </a:p>
        </p:txBody>
      </p:sp>
      <p:cxnSp>
        <p:nvCxnSpPr>
          <p:cNvPr id="21" name="直線單箭頭接點 20"/>
          <p:cNvCxnSpPr/>
          <p:nvPr/>
        </p:nvCxnSpPr>
        <p:spPr>
          <a:xfrm flipV="1">
            <a:off x="4067944" y="2132856"/>
            <a:ext cx="1080120" cy="50405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 rot="20124420">
            <a:off x="3667368" y="2117765"/>
            <a:ext cx="931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callback</a:t>
            </a:r>
            <a:endParaRPr lang="zh-TW" altLang="en-US" dirty="0"/>
          </a:p>
        </p:txBody>
      </p:sp>
      <p:cxnSp>
        <p:nvCxnSpPr>
          <p:cNvPr id="24" name="直線單箭頭接點 23"/>
          <p:cNvCxnSpPr/>
          <p:nvPr/>
        </p:nvCxnSpPr>
        <p:spPr>
          <a:xfrm rot="10800000" flipV="1">
            <a:off x="4067944" y="2420888"/>
            <a:ext cx="936104" cy="43204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rot="16200000" flipH="1">
            <a:off x="6732240" y="3140968"/>
            <a:ext cx="864096" cy="86409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圓角矩形 35"/>
          <p:cNvSpPr/>
          <p:nvPr/>
        </p:nvSpPr>
        <p:spPr>
          <a:xfrm>
            <a:off x="2051720" y="1124744"/>
            <a:ext cx="5256584" cy="5328592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文字方塊 36"/>
          <p:cNvSpPr txBox="1"/>
          <p:nvPr/>
        </p:nvSpPr>
        <p:spPr>
          <a:xfrm>
            <a:off x="2483768" y="1340768"/>
            <a:ext cx="970843" cy="46166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400" dirty="0" err="1" smtClean="0"/>
              <a:t>eyeOS</a:t>
            </a:r>
            <a:endParaRPr lang="zh-TW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Calculator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48824" t="48427" r="43301" b="32673"/>
          <a:stretch>
            <a:fillRect/>
          </a:stretch>
        </p:blipFill>
        <p:spPr bwMode="auto">
          <a:xfrm>
            <a:off x="6588224" y="3140968"/>
            <a:ext cx="1440160" cy="187220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 t="14538" r="72831" b="62927"/>
          <a:stretch>
            <a:fillRect/>
          </a:stretch>
        </p:blipFill>
        <p:spPr bwMode="auto">
          <a:xfrm>
            <a:off x="827584" y="1772816"/>
            <a:ext cx="4968552" cy="2232248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XML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772816"/>
            <a:ext cx="6893024" cy="4685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475656" y="2636912"/>
            <a:ext cx="5112568" cy="3168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547664" y="2780928"/>
            <a:ext cx="4968552" cy="1584176"/>
          </a:xfrm>
          <a:prstGeom prst="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588224" y="2852936"/>
            <a:ext cx="1310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Description </a:t>
            </a: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547664" y="4509120"/>
            <a:ext cx="3456384" cy="936104"/>
          </a:xfrm>
          <a:prstGeom prst="rect">
            <a:avLst/>
          </a:prstGeom>
          <a:noFill/>
          <a:ln w="28575"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5148064" y="4725144"/>
            <a:ext cx="83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Setting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  <p:bldP spid="11" grpId="0" animBg="1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1479948"/>
            <a:ext cx="7488832" cy="509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87624" y="3429000"/>
            <a:ext cx="5256584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1187624" y="4293096"/>
            <a:ext cx="5832648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6450836" y="357301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Main function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6935137" y="4437112"/>
            <a:ext cx="1165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Definition 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1547664" y="4941168"/>
            <a:ext cx="28803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547664" y="5661248"/>
            <a:ext cx="79208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線接點 14"/>
          <p:cNvCxnSpPr/>
          <p:nvPr/>
        </p:nvCxnSpPr>
        <p:spPr>
          <a:xfrm>
            <a:off x="1547664" y="4653136"/>
            <a:ext cx="288032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(cont.)</a:t>
            </a:r>
            <a:endParaRPr lang="zh-TW" alt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/>
          <p:cNvSpPr/>
          <p:nvPr/>
        </p:nvSpPr>
        <p:spPr>
          <a:xfrm>
            <a:off x="1763688" y="3356992"/>
            <a:ext cx="5256584" cy="5760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/>
          <p:cNvSpPr txBox="1"/>
          <p:nvPr/>
        </p:nvSpPr>
        <p:spPr>
          <a:xfrm>
            <a:off x="4716016" y="2924944"/>
            <a:ext cx="140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Basic widget </a:t>
            </a:r>
            <a:endParaRPr lang="zh-TW" altLang="en-US" dirty="0"/>
          </a:p>
        </p:txBody>
      </p:sp>
      <p:sp>
        <p:nvSpPr>
          <p:cNvPr id="9" name="矩形 8"/>
          <p:cNvSpPr/>
          <p:nvPr/>
        </p:nvSpPr>
        <p:spPr>
          <a:xfrm>
            <a:off x="2555776" y="4077072"/>
            <a:ext cx="3960440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6012160" y="4797152"/>
            <a:ext cx="916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Layout 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 animBg="1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(cont.)</a:t>
            </a:r>
            <a:endParaRPr lang="zh-TW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555776" y="2996952"/>
            <a:ext cx="3312368" cy="6480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508104" y="2636912"/>
            <a:ext cx="873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Button 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2555776" y="3789040"/>
            <a:ext cx="5040560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940152" y="4581128"/>
            <a:ext cx="1151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Execution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(cont.)</a:t>
            </a:r>
            <a:endParaRPr lang="zh-TW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555776" y="5229200"/>
            <a:ext cx="1440160" cy="2160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4211960" y="5301208"/>
            <a:ext cx="729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Draw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Calculator</a:t>
            </a:r>
          </a:p>
          <a:p>
            <a:r>
              <a:rPr lang="en-US" altLang="zh-TW" dirty="0" smtClean="0"/>
              <a:t>Login 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35437" t="21000" r="36214" b="41901"/>
          <a:stretch>
            <a:fillRect/>
          </a:stretch>
        </p:blipFill>
        <p:spPr bwMode="auto">
          <a:xfrm>
            <a:off x="2411760" y="2060848"/>
            <a:ext cx="5184576" cy="3816424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XML</a:t>
            </a:r>
            <a:endParaRPr lang="zh-TW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線接點 5"/>
          <p:cNvCxnSpPr/>
          <p:nvPr/>
        </p:nvCxnSpPr>
        <p:spPr>
          <a:xfrm>
            <a:off x="2123728" y="3789040"/>
            <a:ext cx="244827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</a:t>
            </a:r>
            <a:endParaRPr lang="zh-TW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051720" y="3068960"/>
            <a:ext cx="2016224" cy="720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2051720" y="3933056"/>
            <a:ext cx="5472608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051720" y="4797152"/>
            <a:ext cx="4752528" cy="79208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 (cont.)</a:t>
            </a:r>
            <a:endParaRPr lang="zh-TW" alt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直線接點 5"/>
          <p:cNvCxnSpPr/>
          <p:nvPr/>
        </p:nvCxnSpPr>
        <p:spPr>
          <a:xfrm>
            <a:off x="2339752" y="4725144"/>
            <a:ext cx="15841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線接點 6"/>
          <p:cNvCxnSpPr/>
          <p:nvPr/>
        </p:nvCxnSpPr>
        <p:spPr>
          <a:xfrm>
            <a:off x="2339752" y="5013176"/>
            <a:ext cx="158417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411760" y="5301208"/>
            <a:ext cx="208823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 (cont.)</a:t>
            </a:r>
            <a:endParaRPr lang="zh-TW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2777" y="1600200"/>
            <a:ext cx="53584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987824" y="2276872"/>
            <a:ext cx="2952328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2987824" y="2780928"/>
            <a:ext cx="172819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267744" y="5517232"/>
            <a:ext cx="4464496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7380312" y="550794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Callback </a:t>
            </a:r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2339752" y="3429000"/>
            <a:ext cx="4248472" cy="20162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7380312" y="3789040"/>
            <a:ext cx="1224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Parameter 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380312" y="2276872"/>
            <a:ext cx="1344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Information </a:t>
            </a:r>
            <a:endParaRPr lang="zh-TW" altLang="en-US" dirty="0"/>
          </a:p>
        </p:txBody>
      </p:sp>
      <p:sp>
        <p:nvSpPr>
          <p:cNvPr id="13" name="橢圓 12"/>
          <p:cNvSpPr/>
          <p:nvPr/>
        </p:nvSpPr>
        <p:spPr>
          <a:xfrm>
            <a:off x="4932040" y="5445224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/>
      <p:bldP spid="10" grpId="0" animBg="1"/>
      <p:bldP spid="11" grpId="0"/>
      <p:bldP spid="12" grpId="0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PHP</a:t>
            </a:r>
            <a:endParaRPr lang="zh-TW" alt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2777" y="1600200"/>
            <a:ext cx="53584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339752" y="3573016"/>
            <a:ext cx="4536504" cy="3600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接點 6"/>
          <p:cNvCxnSpPr/>
          <p:nvPr/>
        </p:nvCxnSpPr>
        <p:spPr>
          <a:xfrm>
            <a:off x="2555776" y="5373216"/>
            <a:ext cx="22322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555776" y="5733256"/>
            <a:ext cx="252028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文字方塊 9"/>
          <p:cNvSpPr txBox="1"/>
          <p:nvPr/>
        </p:nvSpPr>
        <p:spPr>
          <a:xfrm>
            <a:off x="5292080" y="4005064"/>
            <a:ext cx="1385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Initialization 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PHP (cont.)</a:t>
            </a:r>
            <a:endParaRPr lang="zh-TW" alt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2777" y="1600200"/>
            <a:ext cx="53584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case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Calculator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Login  </a:t>
            </a:r>
          </a:p>
          <a:p>
            <a:r>
              <a:rPr lang="en-US" altLang="zh-TW" dirty="0" smtClean="0"/>
              <a:t>Caution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</a:t>
            </a:r>
            <a:endParaRPr lang="zh-TW" altLang="en-US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接點 6"/>
          <p:cNvCxnSpPr/>
          <p:nvPr/>
        </p:nvCxnSpPr>
        <p:spPr>
          <a:xfrm>
            <a:off x="2411760" y="3501008"/>
            <a:ext cx="165618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1259632" y="1196752"/>
            <a:ext cx="128047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calculator.js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JavaScript (cont.)</a:t>
            </a:r>
            <a:endParaRPr lang="zh-TW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2556" y="1600200"/>
            <a:ext cx="665888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直線接點 4"/>
          <p:cNvCxnSpPr/>
          <p:nvPr/>
        </p:nvCxnSpPr>
        <p:spPr>
          <a:xfrm>
            <a:off x="2627784" y="5445224"/>
            <a:ext cx="122413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Callback </a:t>
            </a:r>
            <a:endParaRPr lang="zh-TW" alt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2777" y="1600200"/>
            <a:ext cx="53584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橢圓 5"/>
          <p:cNvSpPr/>
          <p:nvPr/>
        </p:nvSpPr>
        <p:spPr>
          <a:xfrm>
            <a:off x="4932040" y="5445224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692696"/>
            <a:ext cx="53584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橢圓 7"/>
          <p:cNvSpPr/>
          <p:nvPr/>
        </p:nvSpPr>
        <p:spPr>
          <a:xfrm>
            <a:off x="2771800" y="2636912"/>
            <a:ext cx="576064" cy="288032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82</TotalTime>
  <Words>340</Words>
  <Application>Microsoft Office PowerPoint</Application>
  <PresentationFormat>如螢幕大小 (4:3)</PresentationFormat>
  <Paragraphs>135</Paragraphs>
  <Slides>39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39</vt:i4>
      </vt:variant>
    </vt:vector>
  </HeadingPairs>
  <TitlesOfParts>
    <vt:vector size="40" baseType="lpstr">
      <vt:lpstr>Course Themes</vt:lpstr>
      <vt:lpstr>雲端計算 Cloud Computing</vt:lpstr>
      <vt:lpstr>Agenda</vt:lpstr>
      <vt:lpstr>Installation </vt:lpstr>
      <vt:lpstr>Download </vt:lpstr>
      <vt:lpstr>Requirement </vt:lpstr>
      <vt:lpstr>Test environment </vt:lpstr>
      <vt:lpstr>Installation </vt:lpstr>
      <vt:lpstr>MySQL</vt:lpstr>
      <vt:lpstr>And more</vt:lpstr>
      <vt:lpstr>Installation </vt:lpstr>
      <vt:lpstr>Step (1)</vt:lpstr>
      <vt:lpstr>Step (2)</vt:lpstr>
      <vt:lpstr>Step (3)</vt:lpstr>
      <vt:lpstr>Step (4)</vt:lpstr>
      <vt:lpstr>Result </vt:lpstr>
      <vt:lpstr>Result </vt:lpstr>
      <vt:lpstr>Programming</vt:lpstr>
      <vt:lpstr>eyeOS 2.0</vt:lpstr>
      <vt:lpstr>Cases </vt:lpstr>
      <vt:lpstr>Model</vt:lpstr>
      <vt:lpstr>case</vt:lpstr>
      <vt:lpstr>Result </vt:lpstr>
      <vt:lpstr>XML</vt:lpstr>
      <vt:lpstr>JavaScript</vt:lpstr>
      <vt:lpstr>JavaScript (cont.)</vt:lpstr>
      <vt:lpstr>JavaScript (cont.)</vt:lpstr>
      <vt:lpstr>JavaScript (cont.)</vt:lpstr>
      <vt:lpstr>case</vt:lpstr>
      <vt:lpstr>Result </vt:lpstr>
      <vt:lpstr>XML</vt:lpstr>
      <vt:lpstr>JavaScript </vt:lpstr>
      <vt:lpstr>JavaScript  (cont.)</vt:lpstr>
      <vt:lpstr>JavaScript  (cont.)</vt:lpstr>
      <vt:lpstr>PHP</vt:lpstr>
      <vt:lpstr>PHP (cont.)</vt:lpstr>
      <vt:lpstr>case</vt:lpstr>
      <vt:lpstr>JavaScript</vt:lpstr>
      <vt:lpstr>JavaScript (cont.)</vt:lpstr>
      <vt:lpstr>Callback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eyeOS</dc:title>
  <dc:creator>cmj</dc:creator>
  <cp:lastModifiedBy>5Gxp</cp:lastModifiedBy>
  <cp:revision>17</cp:revision>
  <dcterms:created xsi:type="dcterms:W3CDTF">2010-10-16T03:32:59Z</dcterms:created>
  <dcterms:modified xsi:type="dcterms:W3CDTF">2010-10-19T06:30:18Z</dcterms:modified>
</cp:coreProperties>
</file>