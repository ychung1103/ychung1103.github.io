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05.xml" ContentType="application/vnd.openxmlformats-officedocument.presentationml.notesSlide+xml"/>
  <Override PartName="/ppt/slides/slide36.xml" ContentType="application/vnd.openxmlformats-officedocument.presentationml.slide+xml"/>
  <Override PartName="/ppt/slides/slide83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96.xml" ContentType="application/vnd.openxmlformats-officedocument.presentationml.notesSlide+xml"/>
  <Override PartName="/ppt/slides/slide25.xml" ContentType="application/vnd.openxmlformats-officedocument.presentationml.slide+xml"/>
  <Override PartName="/ppt/slides/slide72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63.xml" ContentType="application/vnd.openxmlformats-officedocument.presentationml.notesSlide+xml"/>
  <Override PartName="/ppt/tableStyles.xml" ContentType="application/vnd.openxmlformats-officedocument.presentationml.tableStyles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66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55.xml" ContentType="application/vnd.openxmlformats-officedocument.presentationml.slide+xml"/>
  <Override PartName="/ppt/theme/theme2.xml" ContentType="application/vnd.openxmlformats-officedocument.theme+xml"/>
  <Override PartName="/ppt/notesSlides/notesSlide57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3.xml" ContentType="application/vnd.openxmlformats-officedocument.presentationml.notes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notesSlides/notesSlide46.xml" ContentType="application/vnd.openxmlformats-officedocument.presentationml.notesSlide+xml"/>
  <Default Extension="emf" ContentType="image/x-emf"/>
  <Override PartName="/ppt/notesSlides/notesSlide93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108.xml" ContentType="application/vnd.openxmlformats-officedocument.presentationml.slide+xml"/>
  <Override PartName="/ppt/slides/slide49.xml" ContentType="application/vnd.openxmlformats-officedocument.presentationml.slide+xml"/>
  <Override PartName="/ppt/slides/slide78.xml" ContentType="application/vnd.openxmlformats-officedocument.presentationml.slide+xml"/>
  <Override PartName="/ppt/slides/slide96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9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103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notesSlides/notesSlide18.xml" ContentType="application/vnd.openxmlformats-officedocument.presentationml.notesSlide+xml"/>
  <Default Extension="wmf" ContentType="image/x-wmf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110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90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108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99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104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95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1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91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  <Override PartName="/ppt/notesSlides/notesSlide109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106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  <Override PartName="/ppt/slides/slide113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67.xml" ContentType="application/vnd.openxmlformats-officedocument.presentationml.notesSlide+xml"/>
  <Override PartName="/ppt/notesSlides/notesSlide112.xml" ContentType="application/vnd.openxmlformats-officedocument.presentationml.notesSlide+xml"/>
  <Override PartName="/ppt/slides/slide43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0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4.xml" ContentType="application/vnd.openxmlformats-officedocument.presentationml.notesSlide+xml"/>
  <Override PartName="/ppt/notesSlides/notesSlide81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23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notesSlides/notesSlide106.xml" ContentType="application/vnd.openxmlformats-officedocument.presentationml.notesSlide+xml"/>
  <Override PartName="/ppt/slides/slide48.xml" ContentType="application/vnd.openxmlformats-officedocument.presentationml.slide+xml"/>
  <Override PartName="/ppt/slides/slide9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97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notesSlides/notesSlide86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62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6"/>
  </p:notesMasterIdLst>
  <p:sldIdLst>
    <p:sldId id="400" r:id="rId2"/>
    <p:sldId id="293" r:id="rId3"/>
    <p:sldId id="266" r:id="rId4"/>
    <p:sldId id="404" r:id="rId5"/>
    <p:sldId id="405" r:id="rId6"/>
    <p:sldId id="406" r:id="rId7"/>
    <p:sldId id="407" r:id="rId8"/>
    <p:sldId id="408" r:id="rId9"/>
    <p:sldId id="295" r:id="rId10"/>
    <p:sldId id="267" r:id="rId11"/>
    <p:sldId id="284" r:id="rId12"/>
    <p:sldId id="271" r:id="rId13"/>
    <p:sldId id="296" r:id="rId14"/>
    <p:sldId id="312" r:id="rId15"/>
    <p:sldId id="273" r:id="rId16"/>
    <p:sldId id="274" r:id="rId17"/>
    <p:sldId id="348" r:id="rId18"/>
    <p:sldId id="403" r:id="rId19"/>
    <p:sldId id="337" r:id="rId20"/>
    <p:sldId id="338" r:id="rId21"/>
    <p:sldId id="286" r:id="rId22"/>
    <p:sldId id="287" r:id="rId23"/>
    <p:sldId id="288" r:id="rId24"/>
    <p:sldId id="289" r:id="rId25"/>
    <p:sldId id="290" r:id="rId26"/>
    <p:sldId id="297" r:id="rId27"/>
    <p:sldId id="402" r:id="rId28"/>
    <p:sldId id="347" r:id="rId29"/>
    <p:sldId id="349" r:id="rId30"/>
    <p:sldId id="350" r:id="rId31"/>
    <p:sldId id="278" r:id="rId32"/>
    <p:sldId id="299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9" r:id="rId41"/>
    <p:sldId id="310" r:id="rId42"/>
    <p:sldId id="308" r:id="rId43"/>
    <p:sldId id="300" r:id="rId44"/>
    <p:sldId id="260" r:id="rId45"/>
    <p:sldId id="314" r:id="rId46"/>
    <p:sldId id="313" r:id="rId47"/>
    <p:sldId id="279" r:id="rId48"/>
    <p:sldId id="320" r:id="rId49"/>
    <p:sldId id="321" r:id="rId50"/>
    <p:sldId id="282" r:id="rId51"/>
    <p:sldId id="339" r:id="rId52"/>
    <p:sldId id="340" r:id="rId53"/>
    <p:sldId id="341" r:id="rId54"/>
    <p:sldId id="342" r:id="rId55"/>
    <p:sldId id="343" r:id="rId56"/>
    <p:sldId id="344" r:id="rId57"/>
    <p:sldId id="315" r:id="rId58"/>
    <p:sldId id="319" r:id="rId59"/>
    <p:sldId id="318" r:id="rId60"/>
    <p:sldId id="323" r:id="rId61"/>
    <p:sldId id="316" r:id="rId62"/>
    <p:sldId id="330" r:id="rId63"/>
    <p:sldId id="345" r:id="rId64"/>
    <p:sldId id="346" r:id="rId65"/>
    <p:sldId id="317" r:id="rId66"/>
    <p:sldId id="356" r:id="rId67"/>
    <p:sldId id="365" r:id="rId68"/>
    <p:sldId id="381" r:id="rId69"/>
    <p:sldId id="331" r:id="rId70"/>
    <p:sldId id="334" r:id="rId71"/>
    <p:sldId id="351" r:id="rId72"/>
    <p:sldId id="352" r:id="rId73"/>
    <p:sldId id="353" r:id="rId74"/>
    <p:sldId id="354" r:id="rId75"/>
    <p:sldId id="335" r:id="rId76"/>
    <p:sldId id="355" r:id="rId77"/>
    <p:sldId id="359" r:id="rId78"/>
    <p:sldId id="360" r:id="rId79"/>
    <p:sldId id="362" r:id="rId80"/>
    <p:sldId id="363" r:id="rId81"/>
    <p:sldId id="367" r:id="rId82"/>
    <p:sldId id="368" r:id="rId83"/>
    <p:sldId id="369" r:id="rId84"/>
    <p:sldId id="370" r:id="rId85"/>
    <p:sldId id="371" r:id="rId86"/>
    <p:sldId id="372" r:id="rId87"/>
    <p:sldId id="373" r:id="rId88"/>
    <p:sldId id="374" r:id="rId89"/>
    <p:sldId id="375" r:id="rId90"/>
    <p:sldId id="376" r:id="rId91"/>
    <p:sldId id="377" r:id="rId92"/>
    <p:sldId id="378" r:id="rId93"/>
    <p:sldId id="379" r:id="rId94"/>
    <p:sldId id="380" r:id="rId95"/>
    <p:sldId id="382" r:id="rId96"/>
    <p:sldId id="383" r:id="rId97"/>
    <p:sldId id="384" r:id="rId98"/>
    <p:sldId id="385" r:id="rId99"/>
    <p:sldId id="386" r:id="rId100"/>
    <p:sldId id="387" r:id="rId101"/>
    <p:sldId id="388" r:id="rId102"/>
    <p:sldId id="389" r:id="rId103"/>
    <p:sldId id="390" r:id="rId104"/>
    <p:sldId id="391" r:id="rId105"/>
    <p:sldId id="392" r:id="rId106"/>
    <p:sldId id="393" r:id="rId107"/>
    <p:sldId id="394" r:id="rId108"/>
    <p:sldId id="395" r:id="rId109"/>
    <p:sldId id="396" r:id="rId110"/>
    <p:sldId id="397" r:id="rId111"/>
    <p:sldId id="409" r:id="rId112"/>
    <p:sldId id="398" r:id="rId113"/>
    <p:sldId id="399" r:id="rId114"/>
    <p:sldId id="401" r:id="rId115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311" autoAdjust="0"/>
  </p:normalViewPr>
  <p:slideViewPr>
    <p:cSldViewPr>
      <p:cViewPr varScale="1">
        <p:scale>
          <a:sx n="93" d="100"/>
          <a:sy n="93" d="100"/>
        </p:scale>
        <p:origin x="-1751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EF86BF-1767-493E-9C7D-65E0F5387F32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98105-4A26-4A76-A573-41E254B34C6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D0AD91-CA01-4E83-A032-09C6988F7E20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48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49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EF8307-2CDC-43B1-831A-EBE2B5D2DA89}" type="slidenum">
              <a:rPr lang="zh-TW" altLang="en-US" smtClean="0"/>
              <a:pPr/>
              <a:t>50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51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52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53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54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56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57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58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59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60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61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62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63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64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65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66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67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68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69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70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71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72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73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74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75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76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77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78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D24480-CD9E-45B5-BBD9-E17E35BC822B}" type="slidenum">
              <a:rPr lang="zh-TW" altLang="en-US" smtClean="0"/>
              <a:pPr/>
              <a:t>79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D24480-CD9E-45B5-BBD9-E17E35BC822B}" type="slidenum">
              <a:rPr lang="zh-TW" altLang="en-US" smtClean="0"/>
              <a:pPr/>
              <a:t>80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D24480-CD9E-45B5-BBD9-E17E35BC822B}" type="slidenum">
              <a:rPr lang="zh-TW" altLang="en-US" smtClean="0"/>
              <a:pPr/>
              <a:t>81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D24480-CD9E-45B5-BBD9-E17E35BC822B}" type="slidenum">
              <a:rPr lang="zh-TW" altLang="en-US" smtClean="0"/>
              <a:pPr/>
              <a:t>82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83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84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85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86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87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88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89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99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100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101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102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103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104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105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106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107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108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109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110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111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112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113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798105-4A26-4A76-A573-41E254B34C61}" type="slidenum">
              <a:rPr lang="zh-TW" altLang="en-US" smtClean="0"/>
              <a:pPr/>
              <a:t>114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lang="en-US" sz="3600" b="1" i="1" kern="1200" dirty="0">
                <a:solidFill>
                  <a:schemeClr val="accent1">
                    <a:lumMod val="50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anchor="b">
            <a:normAutofit/>
          </a:bodyPr>
          <a:lstStyle>
            <a:lvl1pPr marL="0" indent="0" algn="l">
              <a:buNone/>
              <a:defRPr lang="en-US" sz="1800" b="1" i="1" kern="1200" dirty="0">
                <a:solidFill>
                  <a:schemeClr val="accent2">
                    <a:lumMod val="50000"/>
                  </a:schemeClr>
                </a:solidFill>
                <a:latin typeface="Cambria" pitchFamily="18" charset="0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Picture 6" descr="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4027" y="6030097"/>
            <a:ext cx="2743200" cy="762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>
            <a:lvl1pPr algn="r">
              <a:defRPr b="1"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2010/11/17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4400" b="1" i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>
            <a:lumMod val="75000"/>
          </a:schemeClr>
        </a:buClr>
        <a:buFont typeface="Arial" pitchFamily="34" charset="0"/>
        <a:buChar char="•"/>
        <a:defRPr sz="2800" kern="1200">
          <a:solidFill>
            <a:schemeClr val="tx2">
              <a:lumMod val="75000"/>
            </a:schemeClr>
          </a:solidFill>
          <a:latin typeface="Cambria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3">
            <a:lumMod val="50000"/>
          </a:schemeClr>
        </a:buClr>
        <a:buFont typeface="Wingdings" pitchFamily="2" charset="2"/>
        <a:buChar char="§"/>
        <a:defRPr sz="2800" kern="1200">
          <a:solidFill>
            <a:schemeClr val="accent3">
              <a:lumMod val="50000"/>
            </a:schemeClr>
          </a:solidFill>
          <a:latin typeface="Cambria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50000"/>
          </a:schemeClr>
        </a:buClr>
        <a:buFont typeface="Arial" pitchFamily="34" charset="0"/>
        <a:buChar char="•"/>
        <a:defRPr sz="2400" kern="1200">
          <a:solidFill>
            <a:schemeClr val="accent4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hadoop.apache.org/common/docs/r0.20.2/api/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adoop.apache.org/common/docs/r0.20.2/api/org/apache/hadoop/fs/FileSystem.html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hyperlink" Target="http://hadoop.apache.org/common/docs/r0.20.2/api/" TargetMode="Externa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adoop.apache.org/common/docs/r0.20.2/api/org/apache/hadoop/mapreduce/InputFormat.html" TargetMode="Externa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emf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wmf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hyperlink" Target="http://hbase.apache.org/docs/current/api/index.html" TargetMode="Externa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hbase.apache.org/docs/current/api/org/apache/hadoop/hbase/client/package-frame.html" TargetMode="External"/><Relationship Id="rId4" Type="http://schemas.openxmlformats.org/officeDocument/2006/relationships/hyperlink" Target="http://hbase.apache.org/docs/current/api/org/apache/hadoop/hbase/package-frame.html" TargetMode="Externa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miacs.umd.edu/~jimmylin/cloud-2010-Spring/index.html" TargetMode="External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loudera.com/hadoop-training/" TargetMode="External"/><Relationship Id="rId4" Type="http://schemas.openxmlformats.org/officeDocument/2006/relationships/hyperlink" Target="http://trac.nchc.org.tw/cloud" TargetMode="Externa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371600"/>
            <a:ext cx="7772400" cy="1905000"/>
          </a:xfrm>
        </p:spPr>
        <p:txBody>
          <a:bodyPr>
            <a:normAutofit/>
          </a:bodyPr>
          <a:lstStyle/>
          <a:p>
            <a:r>
              <a:rPr lang="zh-TW" altLang="en-US" sz="40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雲端計算</a:t>
            </a:r>
            <a: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altLang="zh-TW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Computing</a:t>
            </a:r>
            <a:endParaRPr lang="en-US" sz="4000" i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3200400"/>
            <a:ext cx="6629400" cy="2362200"/>
          </a:xfrm>
        </p:spPr>
        <p:txBody>
          <a:bodyPr>
            <a:normAutofit/>
          </a:bodyPr>
          <a:lstStyle/>
          <a:p>
            <a:pPr algn="ctr"/>
            <a:r>
              <a:rPr lang="en-US" altLang="zh-TW" sz="3200" i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Lab–</a:t>
            </a:r>
            <a:r>
              <a:rPr lang="en-US" altLang="zh-TW" sz="3200" i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標楷體" pitchFamily="65" charset="-120"/>
                <a:ea typeface="標楷體" pitchFamily="65" charset="-120"/>
              </a:rPr>
              <a:t>Hadoop</a:t>
            </a:r>
            <a:endParaRPr lang="en-US" altLang="zh-TW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3200" i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itchFamily="65" charset="-120"/>
              <a:ea typeface="標楷體" pitchFamily="65" charset="-120"/>
            </a:endParaRPr>
          </a:p>
          <a:p>
            <a:pPr algn="ctr"/>
            <a:endParaRPr lang="en-US" sz="2800" i="0" dirty="0">
              <a:latin typeface="標楷體" pitchFamily="65" charset="-120"/>
              <a:ea typeface="標楷體" pitchFamily="65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Agenda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Introduction</a:t>
            </a:r>
          </a:p>
          <a:p>
            <a:r>
              <a:rPr lang="en-US" altLang="zh-TW" dirty="0" smtClean="0">
                <a:latin typeface="+mj-lt"/>
              </a:rPr>
              <a:t>HDFS</a:t>
            </a:r>
          </a:p>
          <a:p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 Programming Model</a:t>
            </a:r>
          </a:p>
          <a:p>
            <a:r>
              <a:rPr lang="en-US" altLang="zh-TW" dirty="0" err="1" smtClean="0">
                <a:latin typeface="+mj-lt"/>
              </a:rPr>
              <a:t>Hbase</a:t>
            </a:r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Hadoop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474840" cy="4525963"/>
          </a:xfrm>
        </p:spPr>
        <p:txBody>
          <a:bodyPr/>
          <a:lstStyle/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is</a:t>
            </a:r>
          </a:p>
          <a:p>
            <a:pPr lvl="1"/>
            <a:r>
              <a:rPr lang="en-US" altLang="zh-TW" dirty="0" smtClean="0">
                <a:latin typeface="+mj-lt"/>
              </a:rPr>
              <a:t>An Apache project</a:t>
            </a:r>
          </a:p>
          <a:p>
            <a:pPr lvl="1"/>
            <a:r>
              <a:rPr lang="en-US" altLang="zh-TW" dirty="0" smtClean="0">
                <a:latin typeface="+mj-lt"/>
              </a:rPr>
              <a:t>A distributed computing platform</a:t>
            </a:r>
          </a:p>
          <a:p>
            <a:pPr lvl="1"/>
            <a:r>
              <a:rPr lang="en-US" altLang="zh-TW" dirty="0" smtClean="0">
                <a:latin typeface="+mj-lt"/>
              </a:rPr>
              <a:t>A software framework that lets one easily write and run applications that process vast amounts of data</a:t>
            </a:r>
          </a:p>
          <a:p>
            <a:endParaRPr lang="zh-TW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23528" y="5373216"/>
            <a:ext cx="4563889" cy="10801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群組 12"/>
          <p:cNvGrpSpPr/>
          <p:nvPr/>
        </p:nvGrpSpPr>
        <p:grpSpPr>
          <a:xfrm>
            <a:off x="5225205" y="1916832"/>
            <a:ext cx="3739283" cy="3744796"/>
            <a:chOff x="5076056" y="2852936"/>
            <a:chExt cx="3739283" cy="3744796"/>
          </a:xfrm>
        </p:grpSpPr>
        <p:sp>
          <p:nvSpPr>
            <p:cNvPr id="7" name="圓角矩形 6"/>
            <p:cNvSpPr/>
            <p:nvPr/>
          </p:nvSpPr>
          <p:spPr>
            <a:xfrm>
              <a:off x="5076056" y="4658463"/>
              <a:ext cx="3734344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Hadoop</a:t>
              </a:r>
              <a:r>
                <a:rPr lang="en-US" altLang="zh-TW" dirty="0" smtClean="0"/>
                <a:t> Distributed File System (HDFS)</a:t>
              </a:r>
              <a:endParaRPr lang="zh-TW" altLang="en-US" dirty="0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5076056" y="3856006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MapReduce</a:t>
              </a:r>
              <a:endParaRPr lang="zh-TW" altLang="en-US" dirty="0"/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7009913" y="3856006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Hbase</a:t>
              </a:r>
              <a:endParaRPr lang="zh-TW" altLang="en-US" dirty="0"/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5076056" y="5661533"/>
              <a:ext cx="3734344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 Cluster of Machines</a:t>
              </a:r>
              <a:endParaRPr lang="zh-TW" altLang="en-US" dirty="0"/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5080995" y="2852936"/>
              <a:ext cx="3734344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Cloud Applications</a:t>
              </a:r>
              <a:endParaRPr lang="zh-TW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History </a:t>
            </a:r>
            <a:r>
              <a:rPr lang="en-US" altLang="zh-TW" i="0" dirty="0" smtClean="0"/>
              <a:t>(</a:t>
            </a:r>
            <a:r>
              <a:rPr lang="en-US" altLang="zh-TW" dirty="0" smtClean="0"/>
              <a:t>2002-2004</a:t>
            </a:r>
            <a:r>
              <a:rPr lang="en-US" altLang="zh-TW" i="0" dirty="0" smtClean="0"/>
              <a:t>)</a:t>
            </a:r>
            <a:endParaRPr lang="zh-TW" altLang="en-US" i="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Founder of 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– </a:t>
            </a:r>
            <a:r>
              <a:rPr lang="en-US" altLang="zh-TW" b="1" dirty="0" smtClean="0">
                <a:latin typeface="+mj-lt"/>
              </a:rPr>
              <a:t>Doug Cutting</a:t>
            </a:r>
          </a:p>
          <a:p>
            <a:r>
              <a:rPr lang="en-US" altLang="zh-TW" b="1" dirty="0" err="1" smtClean="0">
                <a:latin typeface="+mj-lt"/>
              </a:rPr>
              <a:t>Lucene</a:t>
            </a:r>
            <a:endParaRPr lang="en-US" altLang="zh-TW" b="1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A high-performance, full-featured </a:t>
            </a:r>
            <a:r>
              <a:rPr lang="en-US" altLang="zh-TW" b="1" dirty="0" smtClean="0">
                <a:latin typeface="+mj-lt"/>
              </a:rPr>
              <a:t>text search engine library </a:t>
            </a:r>
            <a:r>
              <a:rPr lang="en-US" altLang="zh-TW" dirty="0" smtClean="0">
                <a:latin typeface="+mj-lt"/>
              </a:rPr>
              <a:t>written entirely </a:t>
            </a:r>
            <a:r>
              <a:rPr lang="en-US" altLang="zh-TW" b="1" dirty="0" smtClean="0">
                <a:latin typeface="+mj-lt"/>
              </a:rPr>
              <a:t>in Java</a:t>
            </a:r>
          </a:p>
          <a:p>
            <a:pPr lvl="1"/>
            <a:r>
              <a:rPr lang="en-US" altLang="zh-TW" dirty="0" smtClean="0">
                <a:latin typeface="+mj-lt"/>
              </a:rPr>
              <a:t>An </a:t>
            </a:r>
            <a:r>
              <a:rPr lang="en-US" altLang="zh-TW" b="1" dirty="0" smtClean="0">
                <a:latin typeface="+mj-lt"/>
              </a:rPr>
              <a:t>inverse index </a:t>
            </a:r>
            <a:r>
              <a:rPr lang="en-US" altLang="zh-TW" dirty="0" smtClean="0">
                <a:latin typeface="+mj-lt"/>
              </a:rPr>
              <a:t>of every word in different documents</a:t>
            </a:r>
          </a:p>
          <a:p>
            <a:r>
              <a:rPr lang="en-US" altLang="zh-TW" b="1" dirty="0" err="1" smtClean="0">
                <a:latin typeface="+mj-lt"/>
              </a:rPr>
              <a:t>Nutch</a:t>
            </a:r>
            <a:endParaRPr lang="en-US" altLang="zh-TW" b="1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Open source web-search software</a:t>
            </a:r>
          </a:p>
          <a:p>
            <a:pPr lvl="1"/>
            <a:r>
              <a:rPr lang="en-US" altLang="zh-TW" dirty="0" smtClean="0">
                <a:latin typeface="+mj-lt"/>
              </a:rPr>
              <a:t>Builds on </a:t>
            </a:r>
            <a:r>
              <a:rPr lang="en-US" altLang="zh-TW" dirty="0" err="1" smtClean="0">
                <a:latin typeface="+mj-lt"/>
              </a:rPr>
              <a:t>Lucene</a:t>
            </a:r>
            <a:r>
              <a:rPr lang="en-US" altLang="zh-TW" dirty="0" smtClean="0">
                <a:latin typeface="+mj-lt"/>
              </a:rPr>
              <a:t> library</a:t>
            </a:r>
            <a:endParaRPr lang="zh-TW" altLang="en-US" dirty="0" smtClean="0">
              <a:latin typeface="+mj-lt"/>
            </a:endParaRPr>
          </a:p>
          <a:p>
            <a:pPr lvl="1"/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History </a:t>
            </a:r>
            <a:r>
              <a:rPr lang="en-US" altLang="zh-TW" i="0" dirty="0" smtClean="0"/>
              <a:t>(</a:t>
            </a:r>
            <a:r>
              <a:rPr lang="en-US" altLang="zh-TW" dirty="0" smtClean="0"/>
              <a:t>Turning Point</a:t>
            </a:r>
            <a:r>
              <a:rPr lang="en-US" altLang="zh-TW" i="0" dirty="0" smtClean="0"/>
              <a:t>)</a:t>
            </a:r>
            <a:endParaRPr lang="zh-TW" altLang="en-US" i="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>
                <a:latin typeface="+mj-lt"/>
              </a:rPr>
              <a:t>Nutch</a:t>
            </a:r>
            <a:r>
              <a:rPr lang="en-US" altLang="zh-TW" dirty="0" smtClean="0">
                <a:latin typeface="+mj-lt"/>
              </a:rPr>
              <a:t> encountered the storage predicament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Google published the design of web-search engine</a:t>
            </a:r>
          </a:p>
          <a:p>
            <a:pPr lvl="1"/>
            <a:r>
              <a:rPr lang="en-US" altLang="zh-TW" dirty="0" smtClean="0">
                <a:latin typeface="+mj-lt"/>
              </a:rPr>
              <a:t>SOSP 2003 : “The </a:t>
            </a:r>
            <a:r>
              <a:rPr lang="en-US" altLang="zh-TW" b="1" dirty="0" smtClean="0">
                <a:solidFill>
                  <a:srgbClr val="FF0000"/>
                </a:solidFill>
                <a:latin typeface="+mj-lt"/>
              </a:rPr>
              <a:t>G</a:t>
            </a:r>
            <a:r>
              <a:rPr lang="en-US" altLang="zh-TW" dirty="0" smtClean="0">
                <a:latin typeface="+mj-lt"/>
              </a:rPr>
              <a:t>oogle </a:t>
            </a:r>
            <a:r>
              <a:rPr lang="en-US" altLang="zh-TW" b="1" dirty="0" smtClean="0">
                <a:solidFill>
                  <a:srgbClr val="FF0000"/>
                </a:solidFill>
                <a:latin typeface="+mj-lt"/>
              </a:rPr>
              <a:t>F</a:t>
            </a:r>
            <a:r>
              <a:rPr lang="en-US" altLang="zh-TW" dirty="0" smtClean="0">
                <a:latin typeface="+mj-lt"/>
              </a:rPr>
              <a:t>ile </a:t>
            </a:r>
            <a:r>
              <a:rPr lang="en-US" altLang="zh-TW" b="1" dirty="0" smtClean="0">
                <a:solidFill>
                  <a:srgbClr val="FF0000"/>
                </a:solidFill>
                <a:latin typeface="+mj-lt"/>
              </a:rPr>
              <a:t>S</a:t>
            </a:r>
            <a:r>
              <a:rPr lang="en-US" altLang="zh-TW" dirty="0" smtClean="0">
                <a:latin typeface="+mj-lt"/>
              </a:rPr>
              <a:t>ystem”</a:t>
            </a:r>
          </a:p>
          <a:p>
            <a:pPr lvl="1"/>
            <a:r>
              <a:rPr lang="en-US" altLang="zh-TW" dirty="0" smtClean="0">
                <a:latin typeface="+mj-lt"/>
              </a:rPr>
              <a:t>OSDI 2004 : “</a:t>
            </a:r>
            <a:r>
              <a:rPr lang="en-US" altLang="zh-TW" b="1" dirty="0" err="1" smtClean="0">
                <a:solidFill>
                  <a:srgbClr val="FF0000"/>
                </a:solidFill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 : </a:t>
            </a:r>
            <a:r>
              <a:rPr lang="en-US" altLang="zh-TW" dirty="0" err="1" smtClean="0">
                <a:latin typeface="+mj-lt"/>
              </a:rPr>
              <a:t>Simplifed</a:t>
            </a:r>
            <a:r>
              <a:rPr lang="en-US" altLang="zh-TW" dirty="0" smtClean="0">
                <a:latin typeface="+mj-lt"/>
              </a:rPr>
              <a:t> Data Processing on Large Cluster”</a:t>
            </a:r>
          </a:p>
          <a:p>
            <a:pPr lvl="1"/>
            <a:r>
              <a:rPr lang="en-US" altLang="zh-TW" dirty="0" smtClean="0">
                <a:latin typeface="+mj-lt"/>
              </a:rPr>
              <a:t>OSDI 2006 : “</a:t>
            </a:r>
            <a:r>
              <a:rPr lang="en-US" altLang="zh-TW" b="1" dirty="0" err="1" smtClean="0">
                <a:solidFill>
                  <a:srgbClr val="FF0000"/>
                </a:solidFill>
                <a:latin typeface="+mj-lt"/>
              </a:rPr>
              <a:t>Bigtable</a:t>
            </a:r>
            <a:r>
              <a:rPr lang="en-US" altLang="zh-TW" dirty="0" smtClean="0">
                <a:latin typeface="+mj-lt"/>
              </a:rPr>
              <a:t>: A Distributed Storage System for Structured Data”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History </a:t>
            </a:r>
            <a:r>
              <a:rPr lang="en-US" altLang="zh-TW" i="0" dirty="0" smtClean="0"/>
              <a:t>(</a:t>
            </a:r>
            <a:r>
              <a:rPr lang="en-US" altLang="zh-TW" dirty="0" smtClean="0"/>
              <a:t>2004-Now</a:t>
            </a:r>
            <a:r>
              <a:rPr lang="en-US" altLang="zh-TW" i="0" dirty="0" smtClean="0"/>
              <a:t>)</a:t>
            </a:r>
            <a:endParaRPr lang="zh-TW" altLang="en-US" i="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Dong Cutting refers to Google's publications</a:t>
            </a:r>
          </a:p>
          <a:p>
            <a:pPr lvl="1"/>
            <a:r>
              <a:rPr lang="en-US" altLang="zh-TW" dirty="0" smtClean="0">
                <a:latin typeface="+mj-lt"/>
              </a:rPr>
              <a:t>Implemented GFS &amp; </a:t>
            </a:r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 into </a:t>
            </a:r>
            <a:r>
              <a:rPr lang="en-US" altLang="zh-TW" dirty="0" err="1" smtClean="0">
                <a:latin typeface="+mj-lt"/>
              </a:rPr>
              <a:t>Nutch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has become a separated project since </a:t>
            </a:r>
            <a:r>
              <a:rPr lang="en-US" altLang="zh-TW" dirty="0" err="1" smtClean="0">
                <a:latin typeface="+mj-lt"/>
              </a:rPr>
              <a:t>Nutch</a:t>
            </a:r>
            <a:r>
              <a:rPr lang="en-US" altLang="zh-TW" dirty="0" smtClean="0">
                <a:latin typeface="+mj-lt"/>
              </a:rPr>
              <a:t> 0.8</a:t>
            </a:r>
          </a:p>
          <a:p>
            <a:pPr lvl="1"/>
            <a:r>
              <a:rPr lang="en-US" altLang="zh-TW" dirty="0" smtClean="0">
                <a:latin typeface="+mj-lt"/>
              </a:rPr>
              <a:t>Yahoo hired Dong Cutting to build a team of web search engine</a:t>
            </a:r>
            <a:endParaRPr lang="en-US" altLang="zh-TW" sz="2800" dirty="0" smtClean="0">
              <a:latin typeface="+mj-lt"/>
            </a:endParaRPr>
          </a:p>
          <a:p>
            <a:r>
              <a:rPr lang="en-US" altLang="zh-TW" dirty="0" err="1" smtClean="0">
                <a:latin typeface="+mj-lt"/>
              </a:rPr>
              <a:t>Nutch</a:t>
            </a:r>
            <a:r>
              <a:rPr lang="en-US" altLang="zh-TW" dirty="0" smtClean="0">
                <a:latin typeface="+mj-lt"/>
              </a:rPr>
              <a:t> DFS → 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Distributed File System (HDFS)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err="1" smtClean="0"/>
              <a:t>Hadoop</a:t>
            </a:r>
            <a:r>
              <a:rPr lang="en-US" altLang="zh-TW" dirty="0" smtClean="0"/>
              <a:t> Features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+mj-lt"/>
              </a:rPr>
              <a:t>Efficiency</a:t>
            </a:r>
          </a:p>
          <a:p>
            <a:pPr lvl="1"/>
            <a:r>
              <a:rPr lang="en-US" altLang="zh-TW" dirty="0" smtClean="0">
                <a:latin typeface="+mj-lt"/>
              </a:rPr>
              <a:t>Process in parallel on the nodes where the data is located</a:t>
            </a:r>
          </a:p>
          <a:p>
            <a:r>
              <a:rPr lang="en-US" altLang="zh-TW" dirty="0" smtClean="0">
                <a:latin typeface="+mj-lt"/>
              </a:rPr>
              <a:t>Robustness</a:t>
            </a:r>
          </a:p>
          <a:p>
            <a:pPr lvl="1"/>
            <a:r>
              <a:rPr lang="en-US" altLang="zh-TW" dirty="0" smtClean="0">
                <a:latin typeface="+mn-lt"/>
              </a:rPr>
              <a:t>Automatically maintain multiple copies of data and automatically re-deploys computing tasks based on failures</a:t>
            </a:r>
          </a:p>
          <a:p>
            <a:r>
              <a:rPr lang="en-US" altLang="zh-TW" dirty="0" smtClean="0">
                <a:latin typeface="+mj-lt"/>
              </a:rPr>
              <a:t>Cost Efficiency</a:t>
            </a:r>
          </a:p>
          <a:p>
            <a:pPr lvl="1"/>
            <a:r>
              <a:rPr lang="en-US" altLang="zh-TW" dirty="0" smtClean="0">
                <a:latin typeface="+mn-lt"/>
              </a:rPr>
              <a:t>Distribute the data and processing across clusters of commodity computers</a:t>
            </a:r>
          </a:p>
          <a:p>
            <a:r>
              <a:rPr lang="en-US" altLang="zh-TW" dirty="0" smtClean="0">
                <a:latin typeface="+mj-lt"/>
              </a:rPr>
              <a:t>Scalability</a:t>
            </a:r>
          </a:p>
          <a:p>
            <a:pPr lvl="1"/>
            <a:r>
              <a:rPr lang="en-US" altLang="zh-TW" dirty="0" smtClean="0">
                <a:latin typeface="+mn-lt"/>
              </a:rPr>
              <a:t>Reliably store and process massive data</a:t>
            </a:r>
            <a:endParaRPr lang="zh-TW" altLang="en-US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Google vs. </a:t>
            </a:r>
            <a:r>
              <a:rPr lang="en-US" altLang="zh-TW" dirty="0" err="1" smtClean="0"/>
              <a:t>Hadoop</a:t>
            </a:r>
            <a:endParaRPr lang="zh-TW" altLang="en-US" dirty="0"/>
          </a:p>
        </p:txBody>
      </p:sp>
      <p:graphicFrame>
        <p:nvGraphicFramePr>
          <p:cNvPr id="4" name="Group 411"/>
          <p:cNvGraphicFramePr>
            <a:graphicFrameLocks noGrp="1"/>
          </p:cNvGraphicFramePr>
          <p:nvPr>
            <p:ph idx="1"/>
          </p:nvPr>
        </p:nvGraphicFramePr>
        <p:xfrm>
          <a:off x="539552" y="1556793"/>
          <a:ext cx="8065592" cy="4899041"/>
        </p:xfrm>
        <a:graphic>
          <a:graphicData uri="http://schemas.openxmlformats.org/drawingml/2006/table">
            <a:tbl>
              <a:tblPr/>
              <a:tblGrid>
                <a:gridCol w="3091835"/>
                <a:gridCol w="2657894"/>
                <a:gridCol w="2315863"/>
              </a:tblGrid>
              <a:tr h="50995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Develop Group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Google 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Apache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09954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Sponsor</a:t>
                      </a:r>
                      <a:endParaRPr kumimoji="1" lang="en-US" altLang="zh-TW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Google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Yahoo, Amazon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1882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Resource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open document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open source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18822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Programming Model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MapReduce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Hadoop</a:t>
                      </a: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 </a:t>
                      </a: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MapReduce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65606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File System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GFS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HDFS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90756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Storage System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(for structure data)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Bigtable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Hbase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569078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Search Engine</a:t>
                      </a:r>
                      <a:endParaRPr kumimoji="1" lang="en-US" altLang="zh-TW" sz="4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Google 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Nutch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479679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OS</a:t>
                      </a:r>
                      <a:endParaRPr kumimoji="1" lang="en-US" altLang="zh-TW" sz="4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Linux</a:t>
                      </a:r>
                      <a:endParaRPr kumimoji="1" lang="en-US" altLang="zh-TW" sz="4400" b="0" i="0" u="none" strike="noStrike" cap="none" normalizeH="0" baseline="0" smtClean="0">
                        <a:ln>
                          <a:noFill/>
                        </a:ln>
                        <a:solidFill>
                          <a:srgbClr val="800000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1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+mj-lt"/>
                          <a:ea typeface="文鼎PL細上海宋Uni"/>
                          <a:cs typeface="Times New Roman" pitchFamily="18" charset="0"/>
                        </a:rPr>
                        <a:t>Linux / GPL</a:t>
                      </a:r>
                      <a:endParaRPr kumimoji="1" lang="en-US" altLang="zh-TW" sz="44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+mj-lt"/>
                        <a:ea typeface="文鼎PL細上海宋Uni"/>
                        <a:cs typeface="Times New Roman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folHlink"/>
                      </a:solidFill>
                      <a:prstDash val="sysDashDot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folHlink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HDFS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HDFS Operations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Environment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What’s HDFS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690864" cy="4637112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err="1" smtClean="0">
                <a:solidFill>
                  <a:srgbClr val="FF0000"/>
                </a:solidFill>
                <a:latin typeface="+mj-lt"/>
              </a:rPr>
              <a:t>H</a:t>
            </a:r>
            <a:r>
              <a:rPr lang="en-US" altLang="zh-TW" dirty="0" err="1" smtClean="0">
                <a:latin typeface="+mj-lt"/>
              </a:rPr>
              <a:t>adoop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D</a:t>
            </a:r>
            <a:r>
              <a:rPr lang="en-US" altLang="zh-TW" dirty="0" smtClean="0">
                <a:latin typeface="+mj-lt"/>
              </a:rPr>
              <a:t>istributed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F</a:t>
            </a:r>
            <a:r>
              <a:rPr lang="en-US" altLang="zh-TW" dirty="0" smtClean="0">
                <a:latin typeface="+mj-lt"/>
              </a:rPr>
              <a:t>ile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S</a:t>
            </a:r>
            <a:r>
              <a:rPr lang="en-US" altLang="zh-TW" dirty="0" smtClean="0">
                <a:latin typeface="+mj-lt"/>
              </a:rPr>
              <a:t>ystem</a:t>
            </a:r>
          </a:p>
          <a:p>
            <a:r>
              <a:rPr lang="en-US" altLang="zh-TW" dirty="0" smtClean="0">
                <a:latin typeface="+mj-lt"/>
              </a:rPr>
              <a:t>Reference from Google File System</a:t>
            </a:r>
          </a:p>
          <a:p>
            <a:r>
              <a:rPr lang="en-US" altLang="zh-TW" dirty="0" smtClean="0">
                <a:latin typeface="+mj-lt"/>
              </a:rPr>
              <a:t>A scalable distributed file system for large data analysis</a:t>
            </a:r>
          </a:p>
          <a:p>
            <a:r>
              <a:rPr lang="en-US" altLang="zh-TW" dirty="0" smtClean="0">
                <a:latin typeface="+mj-lt"/>
              </a:rPr>
              <a:t>Based on commodity hardware with high fault-tolerant</a:t>
            </a:r>
          </a:p>
          <a:p>
            <a:r>
              <a:rPr lang="en-US" altLang="zh-TW" dirty="0" smtClean="0">
                <a:latin typeface="+mj-lt"/>
              </a:rPr>
              <a:t>The primary storage used by 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applications</a:t>
            </a:r>
          </a:p>
          <a:p>
            <a:pPr lvl="1"/>
            <a:endParaRPr lang="en-US" altLang="zh-TW" dirty="0" smtClean="0">
              <a:latin typeface="+mj-lt"/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5076056" y="1916832"/>
            <a:ext cx="3888432" cy="3744796"/>
            <a:chOff x="5004048" y="1988840"/>
            <a:chExt cx="3888432" cy="3744796"/>
          </a:xfrm>
        </p:grpSpPr>
        <p:sp>
          <p:nvSpPr>
            <p:cNvPr id="5" name="圓角矩形 4"/>
            <p:cNvSpPr/>
            <p:nvPr/>
          </p:nvSpPr>
          <p:spPr>
            <a:xfrm>
              <a:off x="5148064" y="3794367"/>
              <a:ext cx="3734344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Hadoop</a:t>
              </a:r>
              <a:r>
                <a:rPr lang="en-US" altLang="zh-TW" dirty="0" smtClean="0"/>
                <a:t> Distributed File System (HDFS)</a:t>
              </a:r>
              <a:endParaRPr lang="zh-TW" altLang="en-US" dirty="0"/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5148064" y="2991910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MapReduce</a:t>
              </a:r>
              <a:endParaRPr lang="zh-TW" altLang="en-US" dirty="0"/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7081921" y="2991910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Hbase</a:t>
              </a:r>
              <a:endParaRPr lang="zh-TW" altLang="en-US" dirty="0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5148064" y="4797437"/>
              <a:ext cx="3734344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 Cluster of Machines</a:t>
              </a:r>
              <a:endParaRPr lang="zh-TW" altLang="en-US" dirty="0"/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5153003" y="1988840"/>
              <a:ext cx="3734344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Cloud Applications</a:t>
              </a:r>
              <a:endParaRPr lang="zh-TW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004048" y="3717032"/>
              <a:ext cx="3888432" cy="108012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HDFS Architecture</a:t>
            </a:r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899592" y="1412776"/>
            <a:ext cx="7634208" cy="5191666"/>
            <a:chOff x="755577" y="1488809"/>
            <a:chExt cx="8478941" cy="4958147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5577" y="1488809"/>
              <a:ext cx="7632848" cy="48773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文字方塊 5"/>
            <p:cNvSpPr txBox="1"/>
            <p:nvPr/>
          </p:nvSpPr>
          <p:spPr>
            <a:xfrm>
              <a:off x="5526108" y="5949279"/>
              <a:ext cx="3708410" cy="4976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TW" dirty="0" smtClean="0">
                  <a:latin typeface="+mj-lt"/>
                </a:rPr>
                <a:t>HDFS Architecture</a:t>
              </a:r>
              <a:endParaRPr lang="zh-TW" altLang="en-US" dirty="0">
                <a:latin typeface="+mj-lt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3275856" y="4581128"/>
            <a:ext cx="2160240" cy="13681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 Client Block Diagram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3528" y="1772816"/>
            <a:ext cx="5400600" cy="4464496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1403648" y="2276872"/>
            <a:ext cx="3024336" cy="13681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11560" y="4581128"/>
            <a:ext cx="2160240" cy="13681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/>
          <p:cNvCxnSpPr/>
          <p:nvPr/>
        </p:nvCxnSpPr>
        <p:spPr>
          <a:xfrm>
            <a:off x="1403648" y="3140968"/>
            <a:ext cx="302433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線接點 8"/>
          <p:cNvCxnSpPr>
            <a:endCxn id="5" idx="2"/>
          </p:cNvCxnSpPr>
          <p:nvPr/>
        </p:nvCxnSpPr>
        <p:spPr>
          <a:xfrm rot="5400000">
            <a:off x="2663788" y="3392996"/>
            <a:ext cx="50405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endCxn id="7" idx="0"/>
          </p:cNvCxnSpPr>
          <p:nvPr/>
        </p:nvCxnSpPr>
        <p:spPr>
          <a:xfrm rot="5400000">
            <a:off x="1547664" y="3789040"/>
            <a:ext cx="936104" cy="64807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6300192" y="5085184"/>
            <a:ext cx="2304256" cy="1080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6300192" y="3429000"/>
            <a:ext cx="2304256" cy="1080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6300192" y="1700808"/>
            <a:ext cx="2304256" cy="1080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肘形接點 14"/>
          <p:cNvCxnSpPr/>
          <p:nvPr/>
        </p:nvCxnSpPr>
        <p:spPr>
          <a:xfrm rot="10800000" flipV="1">
            <a:off x="5436097" y="2240868"/>
            <a:ext cx="864096" cy="3528392"/>
          </a:xfrm>
          <a:prstGeom prst="bentConnector3">
            <a:avLst>
              <a:gd name="adj1" fmla="val 50000"/>
            </a:avLst>
          </a:prstGeom>
          <a:ln>
            <a:headEnd type="arrow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/>
          <p:cNvCxnSpPr/>
          <p:nvPr/>
        </p:nvCxnSpPr>
        <p:spPr>
          <a:xfrm>
            <a:off x="611560" y="5517232"/>
            <a:ext cx="21602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3275856" y="5517232"/>
            <a:ext cx="21602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300239" y="4869160"/>
            <a:ext cx="2102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 smtClean="0"/>
              <a:t> </a:t>
            </a:r>
            <a:r>
              <a:rPr lang="en-US" altLang="zh-TW" dirty="0" smtClean="0"/>
              <a:t>Separate HDFS view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611560" y="4603427"/>
            <a:ext cx="21602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Regular VFS with local and NFS-supported files</a:t>
            </a:r>
            <a:endParaRPr lang="zh-TW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3607321" y="5545807"/>
            <a:ext cx="15208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Network stack</a:t>
            </a:r>
            <a:endParaRPr lang="zh-TW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899592" y="5545807"/>
            <a:ext cx="1590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Specific drivers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619672" y="3212976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POSIX API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3150702" y="3212976"/>
            <a:ext cx="1042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HDFS API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1703487" y="2564904"/>
            <a:ext cx="2440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HDFS-Aware application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323528" y="1772816"/>
            <a:ext cx="1694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Client computer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6588224" y="2060848"/>
            <a:ext cx="1773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HDFS </a:t>
            </a:r>
            <a:r>
              <a:rPr lang="en-US" altLang="zh-TW" dirty="0" err="1" smtClean="0"/>
              <a:t>Namenode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6588224" y="3789040"/>
            <a:ext cx="1649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HDFS </a:t>
            </a:r>
            <a:r>
              <a:rPr lang="en-US" altLang="zh-TW" dirty="0" err="1" smtClean="0"/>
              <a:t>Datanode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6588224" y="5445224"/>
            <a:ext cx="1649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HDFS </a:t>
            </a:r>
            <a:r>
              <a:rPr lang="en-US" altLang="zh-TW" dirty="0" err="1" smtClean="0"/>
              <a:t>Datanode</a:t>
            </a:r>
            <a:endParaRPr lang="zh-TW" altLang="en-US" dirty="0"/>
          </a:p>
        </p:txBody>
      </p:sp>
      <p:sp>
        <p:nvSpPr>
          <p:cNvPr id="33" name="橢圓 32"/>
          <p:cNvSpPr/>
          <p:nvPr/>
        </p:nvSpPr>
        <p:spPr>
          <a:xfrm rot="19284964">
            <a:off x="3744119" y="3369521"/>
            <a:ext cx="549786" cy="145586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29" name="直線單箭頭接點 28"/>
          <p:cNvCxnSpPr>
            <a:endCxn id="13" idx="1"/>
          </p:cNvCxnSpPr>
          <p:nvPr/>
        </p:nvCxnSpPr>
        <p:spPr>
          <a:xfrm flipV="1">
            <a:off x="5868144" y="3969060"/>
            <a:ext cx="432048" cy="368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/>
          <p:nvPr/>
        </p:nvCxnSpPr>
        <p:spPr>
          <a:xfrm flipV="1">
            <a:off x="5868144" y="5585556"/>
            <a:ext cx="432048" cy="368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>
            <a:stCxn id="13" idx="0"/>
            <a:endCxn id="14" idx="2"/>
          </p:cNvCxnSpPr>
          <p:nvPr/>
        </p:nvCxnSpPr>
        <p:spPr>
          <a:xfrm rot="5400000" flipH="1" flipV="1">
            <a:off x="7128284" y="3104964"/>
            <a:ext cx="648072" cy="158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弧形接點 31"/>
          <p:cNvCxnSpPr>
            <a:stCxn id="12" idx="3"/>
            <a:endCxn id="14" idx="3"/>
          </p:cNvCxnSpPr>
          <p:nvPr/>
        </p:nvCxnSpPr>
        <p:spPr>
          <a:xfrm flipV="1">
            <a:off x="8604448" y="2240868"/>
            <a:ext cx="1588" cy="3384376"/>
          </a:xfrm>
          <a:prstGeom prst="curvedConnector3">
            <a:avLst>
              <a:gd name="adj1" fmla="val 22792828"/>
            </a:avLst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>
            <a:endCxn id="6" idx="0"/>
          </p:cNvCxnSpPr>
          <p:nvPr/>
        </p:nvCxnSpPr>
        <p:spPr>
          <a:xfrm rot="16200000" flipH="1">
            <a:off x="3527884" y="3753036"/>
            <a:ext cx="936104" cy="72008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HDFS Introduction</a:t>
            </a:r>
          </a:p>
          <a:p>
            <a:r>
              <a:rPr lang="en-US" altLang="zh-TW" dirty="0" smtClean="0"/>
              <a:t>HDFS Operations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Environment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HDFS operations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Shell Commands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HDFS Common APIs</a:t>
            </a:r>
          </a:p>
          <a:p>
            <a:pPr lvl="1"/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 Shell Command(1/2)</a:t>
            </a:r>
            <a:endParaRPr lang="zh-TW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7504" y="1309400"/>
          <a:ext cx="8927976" cy="5215944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463988"/>
                <a:gridCol w="4463988"/>
              </a:tblGrid>
              <a:tr h="219967">
                <a:tc>
                  <a:txBody>
                    <a:bodyPr/>
                    <a:lstStyle/>
                    <a:p>
                      <a:r>
                        <a:rPr lang="en-US" sz="1400" dirty="0"/>
                        <a:t>Command</a:t>
                      </a:r>
                    </a:p>
                  </a:txBody>
                  <a:tcPr marL="25722" marR="25722" marT="12861" marB="1286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Operation</a:t>
                      </a:r>
                    </a:p>
                  </a:txBody>
                  <a:tcPr marL="25722" marR="25722" marT="12861" marB="1286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641169"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  <a:r>
                        <a:rPr lang="en-US" sz="1400" dirty="0" err="1"/>
                        <a:t>ls</a:t>
                      </a:r>
                      <a:r>
                        <a:rPr lang="en-US" sz="1400" dirty="0"/>
                        <a:t> path</a:t>
                      </a:r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Lists the contents of the directory specified by path, showing the names, permissions, owner, size and modification date for each entry.</a:t>
                      </a:r>
                    </a:p>
                  </a:txBody>
                  <a:tcPr marL="25722" marR="25722" marT="12861" marB="12861" anchor="ctr"/>
                </a:tc>
              </a:tr>
              <a:tr h="412811"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  <a:r>
                        <a:rPr lang="en-US" sz="1400" dirty="0" err="1"/>
                        <a:t>lsr</a:t>
                      </a:r>
                      <a:r>
                        <a:rPr lang="en-US" sz="1400" dirty="0"/>
                        <a:t> path</a:t>
                      </a:r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Behaves like -ls, but recursively displays entries in all subdirectories of path.</a:t>
                      </a:r>
                    </a:p>
                  </a:txBody>
                  <a:tcPr marL="25722" marR="25722" marT="12861" marB="12861" anchor="ctr"/>
                </a:tc>
              </a:tr>
              <a:tr h="438694">
                <a:tc>
                  <a:txBody>
                    <a:bodyPr/>
                    <a:lstStyle/>
                    <a:p>
                      <a:r>
                        <a:rPr lang="en-US" sz="1400"/>
                        <a:t>-du path</a:t>
                      </a:r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Shows disk usage, in bytes, for all files which match path; filenames are reported with the full HDFS protocol prefix.</a:t>
                      </a:r>
                    </a:p>
                  </a:txBody>
                  <a:tcPr marL="25722" marR="25722" marT="12861" marB="12861" anchor="ctr"/>
                </a:tc>
              </a:tr>
              <a:tr h="337457"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  <a:r>
                        <a:rPr lang="en-US" sz="1400" dirty="0" err="1"/>
                        <a:t>mv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src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dest</a:t>
                      </a:r>
                      <a:endParaRPr lang="en-US" sz="1400" dirty="0"/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Moves the file or directory indicated by src to dest, within HDFS.</a:t>
                      </a:r>
                    </a:p>
                  </a:txBody>
                  <a:tcPr marL="25722" marR="25722" marT="12861" marB="12861" anchor="ctr"/>
                </a:tc>
              </a:tr>
              <a:tr h="337457">
                <a:tc>
                  <a:txBody>
                    <a:bodyPr/>
                    <a:lstStyle/>
                    <a:p>
                      <a:r>
                        <a:rPr lang="en-US" sz="1400" dirty="0"/>
                        <a:t>-cp </a:t>
                      </a:r>
                      <a:r>
                        <a:rPr lang="en-US" sz="1400" dirty="0" err="1"/>
                        <a:t>src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dest</a:t>
                      </a:r>
                      <a:endParaRPr lang="en-US" sz="1400" dirty="0"/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Copies the file or directory identified by </a:t>
                      </a:r>
                      <a:r>
                        <a:rPr lang="en-US" sz="1400" dirty="0" err="1"/>
                        <a:t>src</a:t>
                      </a:r>
                      <a:r>
                        <a:rPr lang="en-US" sz="1400" dirty="0"/>
                        <a:t> to </a:t>
                      </a:r>
                      <a:r>
                        <a:rPr lang="en-US" sz="1400" dirty="0" err="1"/>
                        <a:t>dest</a:t>
                      </a:r>
                      <a:r>
                        <a:rPr lang="en-US" sz="1400" dirty="0"/>
                        <a:t>, within HDFS.</a:t>
                      </a:r>
                    </a:p>
                  </a:txBody>
                  <a:tcPr marL="25722" marR="25722" marT="12861" marB="12861" anchor="ctr"/>
                </a:tc>
              </a:tr>
              <a:tr h="236220"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  <a:r>
                        <a:rPr lang="en-US" sz="1400" dirty="0" err="1"/>
                        <a:t>rm</a:t>
                      </a:r>
                      <a:r>
                        <a:rPr lang="en-US" sz="1400" dirty="0"/>
                        <a:t> path</a:t>
                      </a:r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Removes the file or empty directory identified by path.</a:t>
                      </a:r>
                    </a:p>
                  </a:txBody>
                  <a:tcPr marL="25722" marR="25722" marT="12861" marB="12861" anchor="ctr"/>
                </a:tc>
              </a:tr>
              <a:tr h="438694"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  <a:r>
                        <a:rPr lang="en-US" sz="1400" dirty="0" err="1"/>
                        <a:t>rmr</a:t>
                      </a:r>
                      <a:r>
                        <a:rPr lang="en-US" sz="1400" dirty="0"/>
                        <a:t> path</a:t>
                      </a:r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Removes the file or directory identified by path. Recursively deletes any child entries (i.e., files or subdirectories of path).</a:t>
                      </a:r>
                    </a:p>
                  </a:txBody>
                  <a:tcPr marL="25722" marR="25722" marT="12861" marB="12861" anchor="ctr"/>
                </a:tc>
              </a:tr>
              <a:tr h="438694">
                <a:tc>
                  <a:txBody>
                    <a:bodyPr/>
                    <a:lstStyle/>
                    <a:p>
                      <a:r>
                        <a:rPr lang="en-US" sz="1400" dirty="0"/>
                        <a:t>-put </a:t>
                      </a:r>
                      <a:r>
                        <a:rPr lang="en-US" sz="1400" dirty="0" err="1"/>
                        <a:t>localSrc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dest</a:t>
                      </a:r>
                      <a:endParaRPr lang="en-US" sz="1400" dirty="0"/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Copies the file or directory from the local file system identified by localSrc to dest within the DFS.</a:t>
                      </a:r>
                    </a:p>
                  </a:txBody>
                  <a:tcPr marL="25722" marR="25722" marT="12861" marB="12861" anchor="ctr"/>
                </a:tc>
              </a:tr>
              <a:tr h="219967">
                <a:tc>
                  <a:txBody>
                    <a:bodyPr/>
                    <a:lstStyle/>
                    <a:p>
                      <a:r>
                        <a:rPr lang="en-US" sz="1400"/>
                        <a:t>-copyFromLocal localSrc dest</a:t>
                      </a:r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Identical to -put</a:t>
                      </a:r>
                    </a:p>
                  </a:txBody>
                  <a:tcPr marL="25722" marR="25722" marT="12861" marB="12861" anchor="ctr"/>
                </a:tc>
              </a:tr>
              <a:tr h="539931"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  <a:r>
                        <a:rPr lang="en-US" sz="1400" dirty="0" err="1"/>
                        <a:t>moveFromLocal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localSrc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dest</a:t>
                      </a:r>
                      <a:endParaRPr lang="en-US" sz="1400" dirty="0"/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Copies the file or directory from the local file system identified by localSrc to dest within HDFS, then deletes the local copy on success. </a:t>
                      </a:r>
                    </a:p>
                  </a:txBody>
                  <a:tcPr marL="25722" marR="25722" marT="12861" marB="12861" anchor="ctr"/>
                </a:tc>
              </a:tr>
              <a:tr h="438694">
                <a:tc>
                  <a:txBody>
                    <a:bodyPr/>
                    <a:lstStyle/>
                    <a:p>
                      <a:r>
                        <a:rPr lang="en-US" sz="1400" dirty="0"/>
                        <a:t>-get [-</a:t>
                      </a:r>
                      <a:r>
                        <a:rPr lang="en-US" sz="1400" dirty="0" err="1"/>
                        <a:t>crc</a:t>
                      </a:r>
                      <a:r>
                        <a:rPr lang="en-US" sz="1400" dirty="0"/>
                        <a:t>] </a:t>
                      </a:r>
                      <a:r>
                        <a:rPr lang="en-US" sz="1400" dirty="0" err="1"/>
                        <a:t>src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localDest</a:t>
                      </a:r>
                      <a:endParaRPr lang="en-US" sz="1400" dirty="0"/>
                    </a:p>
                  </a:txBody>
                  <a:tcPr marL="25722" marR="25722" marT="12861" marB="1286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Copies the file or directory in HDFS identified by </a:t>
                      </a:r>
                      <a:r>
                        <a:rPr lang="en-US" sz="1400" dirty="0" err="1"/>
                        <a:t>src</a:t>
                      </a:r>
                      <a:r>
                        <a:rPr lang="en-US" sz="1400" dirty="0"/>
                        <a:t> to the local file system path identified by </a:t>
                      </a:r>
                      <a:r>
                        <a:rPr lang="en-US" sz="1400" dirty="0" err="1"/>
                        <a:t>localDest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25722" marR="25722" marT="12861" marB="12861" anchor="ctr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98795" y="1772816"/>
            <a:ext cx="576064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98795" y="3230394"/>
            <a:ext cx="928816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98795" y="3690905"/>
            <a:ext cx="864096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98795" y="4039900"/>
            <a:ext cx="684976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98795" y="4365104"/>
            <a:ext cx="719810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98795" y="4834324"/>
            <a:ext cx="1296144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5" name="直線接點 14"/>
          <p:cNvCxnSpPr/>
          <p:nvPr/>
        </p:nvCxnSpPr>
        <p:spPr>
          <a:xfrm>
            <a:off x="7973794" y="5805264"/>
            <a:ext cx="8640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/>
          <p:nvPr/>
        </p:nvCxnSpPr>
        <p:spPr>
          <a:xfrm>
            <a:off x="4572000" y="6021288"/>
            <a:ext cx="158417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 19"/>
          <p:cNvSpPr/>
          <p:nvPr/>
        </p:nvSpPr>
        <p:spPr>
          <a:xfrm>
            <a:off x="98795" y="6202476"/>
            <a:ext cx="1677754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 Shell Command(2/2)</a:t>
            </a:r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79512" y="1556792"/>
          <a:ext cx="8784976" cy="4951862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4392488"/>
                <a:gridCol w="4392488"/>
              </a:tblGrid>
              <a:tr h="162560">
                <a:tc>
                  <a:txBody>
                    <a:bodyPr/>
                    <a:lstStyle/>
                    <a:p>
                      <a:r>
                        <a:rPr lang="en-US" sz="1400" dirty="0"/>
                        <a:t>Command</a:t>
                      </a:r>
                    </a:p>
                  </a:txBody>
                  <a:tcPr marL="25722" marR="25722" marT="12861" marB="1286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Operation</a:t>
                      </a:r>
                    </a:p>
                  </a:txBody>
                  <a:tcPr marL="25722" marR="25722" marT="12861" marB="12861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2560"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  <a:r>
                        <a:rPr lang="en-US" sz="1400" dirty="0" err="1"/>
                        <a:t>copyToLocal</a:t>
                      </a:r>
                      <a:r>
                        <a:rPr lang="en-US" sz="1400" dirty="0"/>
                        <a:t> [-</a:t>
                      </a:r>
                      <a:r>
                        <a:rPr lang="en-US" sz="1400" dirty="0" err="1"/>
                        <a:t>crc</a:t>
                      </a:r>
                      <a:r>
                        <a:rPr lang="en-US" sz="1400" dirty="0"/>
                        <a:t>] </a:t>
                      </a:r>
                      <a:r>
                        <a:rPr lang="en-US" sz="1400" dirty="0" err="1"/>
                        <a:t>src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localDest</a:t>
                      </a:r>
                      <a:endParaRPr lang="en-US" sz="1400" dirty="0"/>
                    </a:p>
                  </a:txBody>
                  <a:tcPr marL="23223" marR="23223" marT="11611" marB="1161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Identical to -get</a:t>
                      </a:r>
                    </a:p>
                  </a:txBody>
                  <a:tcPr marL="23223" marR="23223" marT="11611" marB="11611" anchor="ctr"/>
                </a:tc>
              </a:tr>
              <a:tr h="162560"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  <a:r>
                        <a:rPr lang="en-US" sz="1400" dirty="0" err="1"/>
                        <a:t>moveToLocal</a:t>
                      </a:r>
                      <a:r>
                        <a:rPr lang="en-US" sz="1400" dirty="0"/>
                        <a:t> [-</a:t>
                      </a:r>
                      <a:r>
                        <a:rPr lang="en-US" sz="1400" dirty="0" err="1"/>
                        <a:t>crc</a:t>
                      </a:r>
                      <a:r>
                        <a:rPr lang="en-US" sz="1400" dirty="0"/>
                        <a:t>] </a:t>
                      </a:r>
                      <a:r>
                        <a:rPr lang="en-US" sz="1400" dirty="0" err="1"/>
                        <a:t>src</a:t>
                      </a:r>
                      <a:r>
                        <a:rPr lang="en-US" sz="1400" dirty="0"/>
                        <a:t> </a:t>
                      </a:r>
                      <a:r>
                        <a:rPr lang="en-US" sz="1400" dirty="0" err="1"/>
                        <a:t>localDest</a:t>
                      </a:r>
                      <a:endParaRPr lang="en-US" sz="1400" dirty="0"/>
                    </a:p>
                  </a:txBody>
                  <a:tcPr marL="23223" marR="23223" marT="11611" marB="1161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Works like -get, but deletes the HDFS copy on success.</a:t>
                      </a:r>
                    </a:p>
                  </a:txBody>
                  <a:tcPr marL="23223" marR="23223" marT="11611" marB="11611" anchor="ctr"/>
                </a:tc>
              </a:tr>
              <a:tr h="162560">
                <a:tc>
                  <a:txBody>
                    <a:bodyPr/>
                    <a:lstStyle/>
                    <a:p>
                      <a:r>
                        <a:rPr lang="en-US" sz="1400" dirty="0"/>
                        <a:t>-cat filename</a:t>
                      </a:r>
                    </a:p>
                  </a:txBody>
                  <a:tcPr marL="23223" marR="23223" marT="11611" marB="1161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contents of filename on </a:t>
                      </a:r>
                      <a:r>
                        <a:rPr lang="en-US" sz="1400" dirty="0" err="1"/>
                        <a:t>stdout</a:t>
                      </a:r>
                      <a:r>
                        <a:rPr lang="en-US" sz="1400" dirty="0"/>
                        <a:t>.</a:t>
                      </a:r>
                    </a:p>
                  </a:txBody>
                  <a:tcPr marL="23223" marR="23223" marT="11611" marB="11611" anchor="ctr"/>
                </a:tc>
              </a:tr>
              <a:tr h="371566">
                <a:tc>
                  <a:txBody>
                    <a:bodyPr/>
                    <a:lstStyle/>
                    <a:p>
                      <a:r>
                        <a:rPr lang="en-US" sz="1400" dirty="0"/>
                        <a:t>-</a:t>
                      </a:r>
                      <a:r>
                        <a:rPr lang="en-US" sz="1400" dirty="0" err="1"/>
                        <a:t>mkdir</a:t>
                      </a:r>
                      <a:r>
                        <a:rPr lang="en-US" sz="1400" dirty="0"/>
                        <a:t> path</a:t>
                      </a:r>
                    </a:p>
                  </a:txBody>
                  <a:tcPr marL="23223" marR="23223" marT="11611" marB="1161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Creates a directory named path in HDFS. Creates any parent directories in path that are missing (e.g., like mkdir -p in Linux).</a:t>
                      </a:r>
                    </a:p>
                  </a:txBody>
                  <a:tcPr marL="23223" marR="23223" marT="11611" marB="11611" anchor="ctr"/>
                </a:tc>
              </a:tr>
              <a:tr h="232229">
                <a:tc>
                  <a:txBody>
                    <a:bodyPr/>
                    <a:lstStyle/>
                    <a:p>
                      <a:r>
                        <a:rPr lang="en-US" sz="1400" dirty="0"/>
                        <a:t>-test -[</a:t>
                      </a:r>
                      <a:r>
                        <a:rPr lang="en-US" sz="1400" dirty="0" err="1"/>
                        <a:t>ezd</a:t>
                      </a:r>
                      <a:r>
                        <a:rPr lang="en-US" sz="1400" dirty="0"/>
                        <a:t>] path</a:t>
                      </a:r>
                    </a:p>
                  </a:txBody>
                  <a:tcPr marL="23223" marR="23223" marT="11611" marB="1161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Returns 1 if path exists; has zero length; or is a directory, or 0 otherwise.</a:t>
                      </a:r>
                    </a:p>
                  </a:txBody>
                  <a:tcPr marL="23223" marR="23223" marT="11611" marB="11611" anchor="ctr"/>
                </a:tc>
              </a:tr>
              <a:tr h="441234">
                <a:tc>
                  <a:txBody>
                    <a:bodyPr/>
                    <a:lstStyle/>
                    <a:p>
                      <a:r>
                        <a:rPr lang="en-US" sz="1400"/>
                        <a:t>-stat [format] path</a:t>
                      </a:r>
                    </a:p>
                  </a:txBody>
                  <a:tcPr marL="23223" marR="23223" marT="11611" marB="1161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Prints information about path. format is a string which accepts file size in blocks (%b), filename (%n), block size (%o), replication (%r), and modification date (%y, %Y). </a:t>
                      </a:r>
                    </a:p>
                  </a:txBody>
                  <a:tcPr marL="23223" marR="23223" marT="11611" marB="11611" anchor="ctr"/>
                </a:tc>
              </a:tr>
              <a:tr h="162560">
                <a:tc>
                  <a:txBody>
                    <a:bodyPr/>
                    <a:lstStyle/>
                    <a:p>
                      <a:r>
                        <a:rPr lang="en-US" sz="1400"/>
                        <a:t>-tail [-f] file</a:t>
                      </a:r>
                    </a:p>
                  </a:txBody>
                  <a:tcPr marL="23223" marR="23223" marT="11611" marB="1161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Shows the lats 1KB of file on stdout.</a:t>
                      </a:r>
                    </a:p>
                  </a:txBody>
                  <a:tcPr marL="23223" marR="23223" marT="11611" marB="11611" anchor="ctr"/>
                </a:tc>
              </a:tr>
              <a:tr h="650240">
                <a:tc>
                  <a:txBody>
                    <a:bodyPr/>
                    <a:lstStyle/>
                    <a:p>
                      <a:r>
                        <a:rPr lang="en-US" sz="1400"/>
                        <a:t>-chmod [-R] mode,mode,... path...</a:t>
                      </a:r>
                    </a:p>
                  </a:txBody>
                  <a:tcPr marL="23223" marR="23223" marT="11611" marB="1161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Changes the file permissions associated with one or more objects identified by path.... Performs changes recursively with -R. mode is a 3-digit octal mode, or {augo}+/-{rwxX}. Assumes a if no scope is specified and does not apply a umask.</a:t>
                      </a:r>
                    </a:p>
                  </a:txBody>
                  <a:tcPr marL="23223" marR="23223" marT="11611" marB="11611" anchor="ctr"/>
                </a:tc>
              </a:tr>
              <a:tr h="371566">
                <a:tc>
                  <a:txBody>
                    <a:bodyPr/>
                    <a:lstStyle/>
                    <a:p>
                      <a:r>
                        <a:rPr lang="en-US" sz="1400"/>
                        <a:t>-chown [-R] [owner][:[group]] path...</a:t>
                      </a:r>
                    </a:p>
                  </a:txBody>
                  <a:tcPr marL="23223" marR="23223" marT="11611" marB="11611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Sets the owning user and/or group for files or directories identified by path.... Sets owner recursively if -R is specified.</a:t>
                      </a:r>
                    </a:p>
                  </a:txBody>
                  <a:tcPr marL="23223" marR="23223" marT="11611" marB="11611" anchor="ctr"/>
                </a:tc>
              </a:tr>
              <a:tr h="301897">
                <a:tc>
                  <a:txBody>
                    <a:bodyPr/>
                    <a:lstStyle/>
                    <a:p>
                      <a:r>
                        <a:rPr lang="en-US" sz="1400" dirty="0"/>
                        <a:t>-help </a:t>
                      </a:r>
                      <a:r>
                        <a:rPr lang="en-US" sz="1400" dirty="0" err="1"/>
                        <a:t>cmd</a:t>
                      </a:r>
                      <a:endParaRPr lang="en-US" sz="1400" dirty="0"/>
                    </a:p>
                  </a:txBody>
                  <a:tcPr marL="23223" marR="23223" marT="11611" marB="11611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Returns usage information for one of the commands listed above. You must omit the leading '-' character in </a:t>
                      </a:r>
                      <a:r>
                        <a:rPr lang="en-US" sz="1400" dirty="0" err="1"/>
                        <a:t>cmd</a:t>
                      </a:r>
                      <a:endParaRPr lang="en-US" sz="1400" dirty="0"/>
                    </a:p>
                  </a:txBody>
                  <a:tcPr marL="23223" marR="23223" marT="11611" marB="11611" anchor="ctr"/>
                </a:tc>
              </a:tr>
            </a:tbl>
          </a:graphicData>
        </a:graphic>
      </p:graphicFrame>
      <p:cxnSp>
        <p:nvCxnSpPr>
          <p:cNvPr id="6" name="直線接點 5"/>
          <p:cNvCxnSpPr/>
          <p:nvPr/>
        </p:nvCxnSpPr>
        <p:spPr>
          <a:xfrm>
            <a:off x="6029578" y="2222282"/>
            <a:ext cx="24482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79512" y="2276872"/>
            <a:ext cx="1008112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179512" y="2737383"/>
            <a:ext cx="864096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179512" y="6165304"/>
            <a:ext cx="752305" cy="216024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For example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In the &lt;HADOOP_HOME&gt;/</a:t>
            </a:r>
          </a:p>
          <a:p>
            <a:pPr lvl="1"/>
            <a:r>
              <a:rPr lang="en-US" altLang="zh-TW" dirty="0" smtClean="0">
                <a:latin typeface="+mj-lt"/>
              </a:rPr>
              <a:t>bin/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err="1" smtClean="0">
                <a:latin typeface="+mj-lt"/>
              </a:rPr>
              <a:t>fs</a:t>
            </a:r>
            <a:r>
              <a:rPr lang="en-US" altLang="zh-TW" dirty="0" smtClean="0">
                <a:latin typeface="+mj-lt"/>
              </a:rPr>
              <a:t> –</a:t>
            </a:r>
            <a:r>
              <a:rPr lang="en-US" altLang="zh-TW" dirty="0" err="1" smtClean="0">
                <a:latin typeface="+mj-lt"/>
              </a:rPr>
              <a:t>ls</a:t>
            </a:r>
            <a:endParaRPr lang="en-US" altLang="zh-TW" dirty="0" smtClean="0">
              <a:latin typeface="+mj-lt"/>
            </a:endParaRPr>
          </a:p>
          <a:p>
            <a:pPr lvl="2"/>
            <a:r>
              <a:rPr lang="en-US" altLang="zh-TW" dirty="0" smtClean="0">
                <a:latin typeface="+mj-lt"/>
              </a:rPr>
              <a:t>Lists the content of the directory by given path of HDFS</a:t>
            </a:r>
          </a:p>
          <a:p>
            <a:pPr lvl="1"/>
            <a:r>
              <a:rPr lang="en-US" altLang="zh-TW" dirty="0" err="1" smtClean="0">
                <a:latin typeface="+mj-lt"/>
              </a:rPr>
              <a:t>ls</a:t>
            </a:r>
            <a:endParaRPr lang="en-US" altLang="zh-TW" dirty="0" smtClean="0">
              <a:latin typeface="+mj-lt"/>
            </a:endParaRPr>
          </a:p>
          <a:p>
            <a:pPr lvl="2"/>
            <a:r>
              <a:rPr lang="en-US" altLang="zh-TW" dirty="0" smtClean="0">
                <a:latin typeface="+mj-lt"/>
              </a:rPr>
              <a:t>Lists the content of the directory by given path of local file system</a:t>
            </a:r>
          </a:p>
          <a:p>
            <a:endParaRPr lang="en-US" altLang="zh-TW" dirty="0" smtClean="0">
              <a:latin typeface="+mj-lt"/>
            </a:endParaRPr>
          </a:p>
          <a:p>
            <a:pPr lvl="1"/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HDFS Common APIs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Configuration</a:t>
            </a:r>
          </a:p>
          <a:p>
            <a:r>
              <a:rPr lang="en-US" altLang="zh-TW" dirty="0" err="1" smtClean="0">
                <a:latin typeface="+mj-lt"/>
              </a:rPr>
              <a:t>FileSystem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Path</a:t>
            </a:r>
          </a:p>
          <a:p>
            <a:r>
              <a:rPr lang="en-US" altLang="zh-TW" dirty="0" err="1" smtClean="0">
                <a:latin typeface="+mj-lt"/>
              </a:rPr>
              <a:t>FSDataInputStream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err="1" smtClean="0">
                <a:latin typeface="+mj-lt"/>
              </a:rPr>
              <a:t>FSDataOutputStream</a:t>
            </a:r>
            <a:endParaRPr lang="en-US" altLang="zh-TW" dirty="0" smtClean="0">
              <a:latin typeface="+mj-lt"/>
            </a:endParaRP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Using HDFS Programmatically(1/2)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07504" y="1109057"/>
            <a:ext cx="892899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1:  import </a:t>
            </a:r>
            <a:r>
              <a:rPr lang="en-US" altLang="zh-TW" dirty="0" err="1" smtClean="0"/>
              <a:t>java.io.File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2:  import </a:t>
            </a:r>
            <a:r>
              <a:rPr lang="en-US" altLang="zh-TW" dirty="0" err="1" smtClean="0"/>
              <a:t>java.io.IOException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3:</a:t>
            </a:r>
          </a:p>
          <a:p>
            <a:r>
              <a:rPr lang="en-US" altLang="zh-TW" dirty="0" smtClean="0"/>
              <a:t>4:  import </a:t>
            </a:r>
            <a:r>
              <a:rPr lang="en-US" altLang="zh-TW" dirty="0" err="1" smtClean="0"/>
              <a:t>org.apache.hadoop.conf.Configuration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5:  import </a:t>
            </a:r>
            <a:r>
              <a:rPr lang="en-US" altLang="zh-TW" dirty="0" err="1" smtClean="0"/>
              <a:t>org.apache.hadoop.fs.FileSystem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6:  import </a:t>
            </a:r>
            <a:r>
              <a:rPr lang="en-US" altLang="zh-TW" dirty="0" err="1" smtClean="0"/>
              <a:t>org.apache.hadoop.fs.FSDataInputStream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7:  import </a:t>
            </a:r>
            <a:r>
              <a:rPr lang="en-US" altLang="zh-TW" dirty="0" err="1" smtClean="0"/>
              <a:t>org.apache.hadoop.fs.FSDataOutputStream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8:  import </a:t>
            </a:r>
            <a:r>
              <a:rPr lang="en-US" altLang="zh-TW" dirty="0" err="1" smtClean="0"/>
              <a:t>org.apache.hadoop.fs.Path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9:</a:t>
            </a:r>
          </a:p>
          <a:p>
            <a:r>
              <a:rPr lang="en-US" altLang="zh-TW" dirty="0" smtClean="0"/>
              <a:t>10: public class </a:t>
            </a:r>
            <a:r>
              <a:rPr lang="en-US" altLang="zh-TW" dirty="0" err="1" smtClean="0"/>
              <a:t>HelloHDFS</a:t>
            </a:r>
            <a:r>
              <a:rPr lang="en-US" altLang="zh-TW" dirty="0" smtClean="0"/>
              <a:t> {</a:t>
            </a:r>
          </a:p>
          <a:p>
            <a:r>
              <a:rPr lang="en-US" altLang="zh-TW" dirty="0" smtClean="0"/>
              <a:t>11:</a:t>
            </a:r>
          </a:p>
          <a:p>
            <a:r>
              <a:rPr lang="en-US" altLang="zh-TW" dirty="0" smtClean="0"/>
              <a:t>12:   public static final String </a:t>
            </a:r>
            <a:r>
              <a:rPr lang="en-US" altLang="zh-TW" dirty="0" err="1" smtClean="0"/>
              <a:t>theFilename</a:t>
            </a:r>
            <a:r>
              <a:rPr lang="en-US" altLang="zh-TW" dirty="0" smtClean="0"/>
              <a:t> = "hello.txt";</a:t>
            </a:r>
          </a:p>
          <a:p>
            <a:r>
              <a:rPr lang="en-US" altLang="zh-TW" dirty="0" smtClean="0"/>
              <a:t>13:   public static final String message = “Hello HDFS!\n";</a:t>
            </a:r>
          </a:p>
          <a:p>
            <a:r>
              <a:rPr lang="en-US" altLang="zh-TW" dirty="0" smtClean="0"/>
              <a:t>14:</a:t>
            </a:r>
          </a:p>
          <a:p>
            <a:r>
              <a:rPr lang="en-US" altLang="zh-TW" dirty="0" smtClean="0"/>
              <a:t>15:   public static void main (String [] </a:t>
            </a:r>
            <a:r>
              <a:rPr lang="en-US" altLang="zh-TW" dirty="0" err="1" smtClean="0"/>
              <a:t>args</a:t>
            </a:r>
            <a:r>
              <a:rPr lang="en-US" altLang="zh-TW" dirty="0" smtClean="0"/>
              <a:t>) throws </a:t>
            </a:r>
            <a:r>
              <a:rPr lang="en-US" altLang="zh-TW" dirty="0" err="1" smtClean="0"/>
              <a:t>IOException</a:t>
            </a:r>
            <a:r>
              <a:rPr lang="en-US" altLang="zh-TW" dirty="0" smtClean="0"/>
              <a:t> {</a:t>
            </a:r>
          </a:p>
          <a:p>
            <a:r>
              <a:rPr lang="en-US" altLang="zh-TW" dirty="0" smtClean="0"/>
              <a:t>16:</a:t>
            </a:r>
          </a:p>
          <a:p>
            <a:r>
              <a:rPr lang="en-US" altLang="zh-TW" dirty="0" smtClean="0"/>
              <a:t>17:     Configuration conf = new Configuration();</a:t>
            </a:r>
          </a:p>
          <a:p>
            <a:r>
              <a:rPr lang="en-US" altLang="zh-TW" dirty="0" smtClean="0"/>
              <a:t>18:     </a:t>
            </a:r>
            <a:r>
              <a:rPr lang="en-US" altLang="zh-TW" dirty="0" err="1" smtClean="0"/>
              <a:t>FileSystem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hdfs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FileSystem.get</a:t>
            </a:r>
            <a:r>
              <a:rPr lang="en-US" altLang="zh-TW" dirty="0" smtClean="0"/>
              <a:t>(conf);</a:t>
            </a:r>
          </a:p>
          <a:p>
            <a:r>
              <a:rPr lang="en-US" altLang="zh-TW" dirty="0" smtClean="0"/>
              <a:t>19:</a:t>
            </a:r>
          </a:p>
          <a:p>
            <a:r>
              <a:rPr lang="en-US" altLang="zh-TW" dirty="0" smtClean="0"/>
              <a:t>20:     Path </a:t>
            </a:r>
            <a:r>
              <a:rPr lang="en-US" altLang="zh-TW" dirty="0" err="1" smtClean="0"/>
              <a:t>filenamePath</a:t>
            </a:r>
            <a:r>
              <a:rPr lang="en-US" altLang="zh-TW" dirty="0" smtClean="0"/>
              <a:t> = new Path(</a:t>
            </a:r>
            <a:r>
              <a:rPr lang="en-US" altLang="zh-TW" dirty="0" err="1" smtClean="0"/>
              <a:t>theFilename</a:t>
            </a:r>
            <a:r>
              <a:rPr lang="en-US" altLang="zh-TW" dirty="0" smtClean="0"/>
              <a:t>);</a:t>
            </a:r>
          </a:p>
        </p:txBody>
      </p:sp>
      <p:sp>
        <p:nvSpPr>
          <p:cNvPr id="7" name="矩形 6"/>
          <p:cNvSpPr/>
          <p:nvPr/>
        </p:nvSpPr>
        <p:spPr>
          <a:xfrm>
            <a:off x="456498" y="1988840"/>
            <a:ext cx="4403533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56175" y="2250745"/>
            <a:ext cx="3883088" cy="283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717175" y="5563113"/>
            <a:ext cx="3926833" cy="2629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718405" y="5830375"/>
            <a:ext cx="3668770" cy="2629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56175" y="3073542"/>
            <a:ext cx="3298702" cy="283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718404" y="6368492"/>
            <a:ext cx="4213636" cy="283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9512" y="1048082"/>
            <a:ext cx="878497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21:</a:t>
            </a:r>
          </a:p>
          <a:p>
            <a:r>
              <a:rPr lang="en-US" altLang="zh-TW" dirty="0" smtClean="0"/>
              <a:t>22:     try {</a:t>
            </a:r>
          </a:p>
          <a:p>
            <a:r>
              <a:rPr lang="en-US" altLang="zh-TW" dirty="0" smtClean="0"/>
              <a:t>23:       if (</a:t>
            </a:r>
            <a:r>
              <a:rPr lang="en-US" altLang="zh-TW" dirty="0" err="1" smtClean="0"/>
              <a:t>hdfs.exists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filenamePath</a:t>
            </a:r>
            <a:r>
              <a:rPr lang="en-US" altLang="zh-TW" dirty="0" smtClean="0"/>
              <a:t>)) {</a:t>
            </a:r>
          </a:p>
          <a:p>
            <a:r>
              <a:rPr lang="en-US" altLang="zh-TW" dirty="0" smtClean="0"/>
              <a:t>24:         // remove the file first</a:t>
            </a:r>
          </a:p>
          <a:p>
            <a:r>
              <a:rPr lang="en-US" altLang="zh-TW" dirty="0" smtClean="0"/>
              <a:t>25:         </a:t>
            </a:r>
            <a:r>
              <a:rPr lang="en-US" altLang="zh-TW" dirty="0" err="1" smtClean="0"/>
              <a:t>hdfs.delete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filenamePath</a:t>
            </a:r>
            <a:r>
              <a:rPr lang="en-US" altLang="zh-TW" dirty="0" smtClean="0"/>
              <a:t>, true);</a:t>
            </a:r>
          </a:p>
          <a:p>
            <a:r>
              <a:rPr lang="en-US" altLang="zh-TW" dirty="0" smtClean="0"/>
              <a:t>26:       }</a:t>
            </a:r>
          </a:p>
          <a:p>
            <a:r>
              <a:rPr lang="en-US" altLang="zh-TW" dirty="0" smtClean="0"/>
              <a:t>27:</a:t>
            </a:r>
          </a:p>
          <a:p>
            <a:r>
              <a:rPr lang="en-US" altLang="zh-TW" dirty="0" smtClean="0"/>
              <a:t>28:       </a:t>
            </a:r>
            <a:r>
              <a:rPr lang="en-US" altLang="zh-TW" dirty="0" err="1" smtClean="0"/>
              <a:t>FSDataOutputStream</a:t>
            </a:r>
            <a:r>
              <a:rPr lang="en-US" altLang="zh-TW" dirty="0" smtClean="0"/>
              <a:t> out = </a:t>
            </a:r>
            <a:r>
              <a:rPr lang="en-US" altLang="zh-TW" dirty="0" err="1" smtClean="0"/>
              <a:t>hdfs.create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filenamePath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29:       </a:t>
            </a:r>
            <a:r>
              <a:rPr lang="en-US" altLang="zh-TW" dirty="0" err="1" smtClean="0"/>
              <a:t>out.writeUTF</a:t>
            </a:r>
            <a:r>
              <a:rPr lang="en-US" altLang="zh-TW" dirty="0" smtClean="0"/>
              <a:t>(message);</a:t>
            </a:r>
          </a:p>
          <a:p>
            <a:r>
              <a:rPr lang="en-US" altLang="zh-TW" dirty="0" smtClean="0"/>
              <a:t>30:       </a:t>
            </a:r>
            <a:r>
              <a:rPr lang="en-US" altLang="zh-TW" dirty="0" err="1" smtClean="0"/>
              <a:t>out.close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31:</a:t>
            </a:r>
          </a:p>
          <a:p>
            <a:r>
              <a:rPr lang="en-US" altLang="zh-TW" dirty="0" smtClean="0"/>
              <a:t>32:       </a:t>
            </a:r>
            <a:r>
              <a:rPr lang="en-US" altLang="zh-TW" dirty="0" err="1" smtClean="0"/>
              <a:t>FSDataInputStream</a:t>
            </a:r>
            <a:r>
              <a:rPr lang="en-US" altLang="zh-TW" dirty="0" smtClean="0"/>
              <a:t> in = </a:t>
            </a:r>
            <a:r>
              <a:rPr lang="en-US" altLang="zh-TW" dirty="0" err="1" smtClean="0"/>
              <a:t>hdfs.open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filenamePath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33:       String </a:t>
            </a:r>
            <a:r>
              <a:rPr lang="en-US" altLang="zh-TW" dirty="0" err="1" smtClean="0"/>
              <a:t>messageIn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in.readUTF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34:       </a:t>
            </a:r>
            <a:r>
              <a:rPr lang="en-US" altLang="zh-TW" dirty="0" err="1" smtClean="0"/>
              <a:t>System.out.print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messageIn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35:       </a:t>
            </a:r>
            <a:r>
              <a:rPr lang="en-US" altLang="zh-TW" dirty="0" err="1" smtClean="0"/>
              <a:t>in.close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36:     } catch (</a:t>
            </a:r>
            <a:r>
              <a:rPr lang="en-US" altLang="zh-TW" dirty="0" err="1" smtClean="0"/>
              <a:t>IOException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ioe</a:t>
            </a:r>
            <a:r>
              <a:rPr lang="en-US" altLang="zh-TW" dirty="0" smtClean="0"/>
              <a:t>) {</a:t>
            </a:r>
          </a:p>
          <a:p>
            <a:r>
              <a:rPr lang="en-US" altLang="zh-TW" dirty="0" smtClean="0"/>
              <a:t>37:       </a:t>
            </a:r>
            <a:r>
              <a:rPr lang="en-US" altLang="zh-TW" dirty="0" err="1" smtClean="0"/>
              <a:t>System.err.println</a:t>
            </a:r>
            <a:r>
              <a:rPr lang="en-US" altLang="zh-TW" dirty="0" smtClean="0"/>
              <a:t>("</a:t>
            </a:r>
            <a:r>
              <a:rPr lang="en-US" altLang="zh-TW" dirty="0" err="1" smtClean="0"/>
              <a:t>IOException</a:t>
            </a:r>
            <a:r>
              <a:rPr lang="en-US" altLang="zh-TW" dirty="0" smtClean="0"/>
              <a:t> during operation: " + </a:t>
            </a:r>
            <a:r>
              <a:rPr lang="en-US" altLang="zh-TW" dirty="0" err="1" smtClean="0"/>
              <a:t>ioe.toString</a:t>
            </a:r>
            <a:r>
              <a:rPr lang="en-US" altLang="zh-TW" dirty="0" smtClean="0"/>
              <a:t>());</a:t>
            </a:r>
          </a:p>
          <a:p>
            <a:r>
              <a:rPr lang="en-US" altLang="zh-TW" dirty="0" smtClean="0"/>
              <a:t>38:       </a:t>
            </a:r>
            <a:r>
              <a:rPr lang="en-US" altLang="zh-TW" dirty="0" err="1" smtClean="0"/>
              <a:t>System.exit</a:t>
            </a:r>
            <a:r>
              <a:rPr lang="en-US" altLang="zh-TW" dirty="0" smtClean="0"/>
              <a:t>(1);</a:t>
            </a:r>
          </a:p>
          <a:p>
            <a:r>
              <a:rPr lang="en-US" altLang="zh-TW" dirty="0" smtClean="0"/>
              <a:t>39:     }</a:t>
            </a:r>
          </a:p>
          <a:p>
            <a:r>
              <a:rPr lang="en-US" altLang="zh-TW" dirty="0" smtClean="0"/>
              <a:t>40:   }</a:t>
            </a:r>
          </a:p>
          <a:p>
            <a:r>
              <a:rPr lang="en-US" altLang="zh-TW" dirty="0" smtClean="0"/>
              <a:t>41: }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870857" y="2996952"/>
            <a:ext cx="5150292" cy="8640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Using HDFS Programmatically(2/2)</a:t>
            </a:r>
            <a:endParaRPr lang="zh-TW" altLang="en-US" dirty="0"/>
          </a:p>
        </p:txBody>
      </p:sp>
      <p:sp>
        <p:nvSpPr>
          <p:cNvPr id="6" name="矩形圖說文字 5"/>
          <p:cNvSpPr/>
          <p:nvPr/>
        </p:nvSpPr>
        <p:spPr>
          <a:xfrm>
            <a:off x="4932040" y="1556792"/>
            <a:ext cx="2664296" cy="1296144"/>
          </a:xfrm>
          <a:prstGeom prst="wedgeRectCallout">
            <a:avLst>
              <a:gd name="adj1" fmla="val -126870"/>
              <a:gd name="adj2" fmla="val 65329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FSDataOutputStream</a:t>
            </a:r>
            <a:r>
              <a:rPr lang="en-US" altLang="zh-TW" dirty="0" smtClean="0"/>
              <a:t> extends the </a:t>
            </a:r>
            <a:r>
              <a:rPr lang="en-US" altLang="zh-TW" dirty="0" err="1" smtClean="0"/>
              <a:t>java.io.DataOutputStream</a:t>
            </a:r>
            <a:r>
              <a:rPr lang="en-US" altLang="zh-TW" dirty="0" smtClean="0"/>
              <a:t> class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871129" y="4094490"/>
            <a:ext cx="5150292" cy="11000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圖說文字 7"/>
          <p:cNvSpPr/>
          <p:nvPr/>
        </p:nvSpPr>
        <p:spPr>
          <a:xfrm>
            <a:off x="6300192" y="2924944"/>
            <a:ext cx="2664296" cy="1296144"/>
          </a:xfrm>
          <a:prstGeom prst="wedgeRectCallout">
            <a:avLst>
              <a:gd name="adj1" fmla="val -185257"/>
              <a:gd name="adj2" fmla="val 42957"/>
            </a:avLst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FSDataInputStream</a:t>
            </a:r>
            <a:r>
              <a:rPr lang="en-US" altLang="zh-TW" dirty="0" smtClean="0"/>
              <a:t> extends the </a:t>
            </a:r>
            <a:r>
              <a:rPr lang="en-US" altLang="zh-TW" dirty="0" err="1" smtClean="0"/>
              <a:t>java.io.DataInputStream</a:t>
            </a:r>
            <a:r>
              <a:rPr lang="en-US" altLang="zh-TW" dirty="0" smtClean="0"/>
              <a:t> class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Configuration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Provides access to configuration parameters.</a:t>
            </a:r>
          </a:p>
          <a:p>
            <a:pPr lvl="1"/>
            <a:r>
              <a:rPr lang="en-US" altLang="zh-TW" dirty="0" smtClean="0">
                <a:latin typeface="+mj-lt"/>
              </a:rPr>
              <a:t>Configuration conf = new Configuration()</a:t>
            </a:r>
          </a:p>
          <a:p>
            <a:pPr lvl="2"/>
            <a:r>
              <a:rPr lang="en-US" altLang="zh-TW" dirty="0" smtClean="0">
                <a:latin typeface="+mj-lt"/>
              </a:rPr>
              <a:t>A new configuration.</a:t>
            </a:r>
          </a:p>
          <a:p>
            <a:pPr lvl="1"/>
            <a:r>
              <a:rPr lang="en-US" altLang="zh-TW" dirty="0" smtClean="0">
                <a:latin typeface="+mj-lt"/>
              </a:rPr>
              <a:t>… = new Configuration(Configuration other)</a:t>
            </a:r>
          </a:p>
          <a:p>
            <a:pPr lvl="2"/>
            <a:r>
              <a:rPr lang="en-US" altLang="zh-TW" dirty="0" smtClean="0">
                <a:latin typeface="+mj-lt"/>
              </a:rPr>
              <a:t>A new  configuration with  the same settings cloned from another.</a:t>
            </a:r>
          </a:p>
          <a:p>
            <a:r>
              <a:rPr lang="en-US" altLang="zh-TW" dirty="0" smtClean="0">
                <a:latin typeface="+mj-lt"/>
              </a:rPr>
              <a:t>Methods:</a:t>
            </a:r>
          </a:p>
          <a:p>
            <a:pPr lvl="1"/>
            <a:endParaRPr lang="zh-TW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611560" y="4279458"/>
          <a:ext cx="7992888" cy="2304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2664296"/>
                <a:gridCol w="2664296"/>
              </a:tblGrid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addResource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(Path </a:t>
                      </a:r>
                      <a:r>
                        <a:rPr lang="en-US" altLang="zh-TW" dirty="0" smtClean="0">
                          <a:latin typeface="+mn-ea"/>
                          <a:ea typeface="+mn-ea"/>
                        </a:rPr>
                        <a:t>file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clear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 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String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get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(String </a:t>
                      </a:r>
                      <a:r>
                        <a:rPr lang="en-US" altLang="zh-TW" dirty="0" smtClean="0">
                          <a:latin typeface="+mn-ea"/>
                          <a:ea typeface="+mn-ea"/>
                        </a:rPr>
                        <a:t>name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set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(String </a:t>
                      </a:r>
                      <a:r>
                        <a:rPr lang="en-US" altLang="zh-TW" dirty="0" smtClean="0">
                          <a:latin typeface="+mn-ea"/>
                          <a:ea typeface="+mn-ea"/>
                        </a:rPr>
                        <a:t>name</a:t>
                      </a:r>
                      <a:r>
                        <a:rPr lang="en-US" altLang="zh-TW" dirty="0" smtClean="0"/>
                        <a:t>, String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baseline="0" dirty="0" smtClean="0">
                          <a:latin typeface="+mn-ea"/>
                          <a:ea typeface="+mn-ea"/>
                        </a:rPr>
                        <a:t>value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 smtClean="0"/>
              <a:t>FileSystem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An abstract base class for a fairly generic </a:t>
            </a:r>
            <a:r>
              <a:rPr lang="en-US" altLang="zh-TW" dirty="0" err="1" smtClean="0">
                <a:latin typeface="+mj-lt"/>
              </a:rPr>
              <a:t>FileSystem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r>
              <a:rPr lang="en-US" altLang="zh-TW" dirty="0" smtClean="0">
                <a:latin typeface="+mj-lt"/>
              </a:rPr>
              <a:t>Ex: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Methods:</a:t>
            </a:r>
            <a:endParaRPr lang="zh-TW" altLang="en-US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123728" y="2348880"/>
            <a:ext cx="4824536" cy="70788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Configuration conf = new Configuration();</a:t>
            </a:r>
          </a:p>
          <a:p>
            <a:r>
              <a:rPr lang="en-US" altLang="zh-TW" sz="2000" dirty="0" err="1" smtClean="0"/>
              <a:t>FileSystem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hdfs</a:t>
            </a:r>
            <a:r>
              <a:rPr lang="en-US" altLang="zh-TW" sz="2000" dirty="0" smtClean="0"/>
              <a:t> = </a:t>
            </a:r>
            <a:r>
              <a:rPr lang="en-US" altLang="zh-TW" sz="2000" dirty="0" err="1" smtClean="0"/>
              <a:t>FileSystem.get</a:t>
            </a:r>
            <a:r>
              <a:rPr lang="en-US" altLang="zh-TW" sz="2000" dirty="0" smtClean="0"/>
              <a:t>( conf );</a:t>
            </a:r>
            <a:endParaRPr lang="zh-TW" altLang="en-US" sz="2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11560" y="3553559"/>
          <a:ext cx="7992888" cy="3096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2664296"/>
                <a:gridCol w="2664296"/>
              </a:tblGrid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copyFromLocalFile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(Path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baseline="0" dirty="0" err="1" smtClean="0"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zh-TW" baseline="0" dirty="0" smtClean="0"/>
                        <a:t>, Path </a:t>
                      </a:r>
                      <a:r>
                        <a:rPr lang="en-US" altLang="zh-TW" baseline="0" dirty="0" err="1" smtClean="0">
                          <a:latin typeface="+mn-ea"/>
                          <a:ea typeface="+mn-ea"/>
                        </a:rPr>
                        <a:t>dst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copyToLocalFile</a:t>
                      </a:r>
                      <a:r>
                        <a:rPr lang="en-US" altLang="zh-TW" dirty="0" smtClean="0"/>
                        <a:t> 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(Path </a:t>
                      </a:r>
                      <a:r>
                        <a:rPr lang="en-US" altLang="zh-TW" dirty="0" err="1" smtClean="0"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zh-TW" dirty="0" smtClean="0"/>
                        <a:t>, Path </a:t>
                      </a:r>
                      <a:r>
                        <a:rPr lang="en-US" altLang="zh-TW" dirty="0" err="1" smtClean="0">
                          <a:latin typeface="+mn-ea"/>
                          <a:ea typeface="+mn-ea"/>
                        </a:rPr>
                        <a:t>dst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Static </a:t>
                      </a:r>
                      <a:r>
                        <a:rPr lang="en-US" altLang="zh-TW" dirty="0" err="1" smtClean="0"/>
                        <a:t>FileSystem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get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(Configuration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baseline="0" dirty="0" smtClean="0">
                          <a:latin typeface="+mn-ea"/>
                          <a:ea typeface="+mn-ea"/>
                        </a:rPr>
                        <a:t>conf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boolean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exists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(Path </a:t>
                      </a:r>
                      <a:r>
                        <a:rPr lang="en-US" altLang="zh-TW" dirty="0" smtClean="0"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FSDataInputStream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open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(Path </a:t>
                      </a:r>
                      <a:r>
                        <a:rPr lang="en-US" altLang="zh-TW" dirty="0" smtClean="0"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4233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FSDataOutputStream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create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(Path </a:t>
                      </a:r>
                      <a:r>
                        <a:rPr lang="en-US" altLang="zh-TW" dirty="0" smtClean="0">
                          <a:latin typeface="+mn-ea"/>
                          <a:ea typeface="+mn-ea"/>
                        </a:rPr>
                        <a:t>f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Path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525963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Names a file or directory in a </a:t>
            </a:r>
            <a:r>
              <a:rPr lang="en-US" altLang="zh-TW" dirty="0" err="1" smtClean="0">
                <a:latin typeface="+mj-lt"/>
              </a:rPr>
              <a:t>FileSystem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r>
              <a:rPr lang="en-US" altLang="zh-TW" dirty="0" smtClean="0">
                <a:latin typeface="+mj-lt"/>
              </a:rPr>
              <a:t>Ex: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Methods:</a:t>
            </a:r>
            <a:endParaRPr lang="zh-TW" altLang="en-US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2123728" y="2492896"/>
            <a:ext cx="4623445" cy="4001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lang="en-US" altLang="zh-TW" sz="2000" dirty="0" smtClean="0"/>
              <a:t>Path </a:t>
            </a:r>
            <a:r>
              <a:rPr lang="en-US" altLang="zh-TW" sz="2000" dirty="0" err="1" smtClean="0"/>
              <a:t>filenamePath</a:t>
            </a:r>
            <a:r>
              <a:rPr lang="en-US" altLang="zh-TW" sz="2000" dirty="0" smtClean="0"/>
              <a:t> = new Path(“hello.txt”);</a:t>
            </a:r>
            <a:endParaRPr lang="zh-TW" altLang="en-US" sz="2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11560" y="3582842"/>
          <a:ext cx="7992888" cy="3014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2664296"/>
                <a:gridCol w="2664296"/>
              </a:tblGrid>
              <a:tr h="6029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6029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int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depth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6029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File</a:t>
                      </a:r>
                      <a:r>
                        <a:rPr lang="en-US" altLang="zh-TW" baseline="0" dirty="0" err="1" smtClean="0"/>
                        <a:t>System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getFileSystem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(Configuration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baseline="0" dirty="0" smtClean="0">
                          <a:latin typeface="+mn-ea"/>
                          <a:ea typeface="+mn-ea"/>
                        </a:rPr>
                        <a:t>conf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6029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String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toString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60290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boolean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err="1" smtClean="0"/>
                        <a:t>isAbsolute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baseline="0" dirty="0" smtClean="0"/>
                        <a:t> )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err="1" smtClean="0"/>
              <a:t>FSDataInputStream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600" dirty="0" smtClean="0">
                <a:latin typeface="+mj-lt"/>
              </a:rPr>
              <a:t>Utility that wraps a </a:t>
            </a:r>
            <a:r>
              <a:rPr lang="en-US" altLang="zh-TW" sz="2600" dirty="0" err="1" smtClean="0">
                <a:latin typeface="+mj-lt"/>
              </a:rPr>
              <a:t>FSInputStream</a:t>
            </a:r>
            <a:r>
              <a:rPr lang="en-US" altLang="zh-TW" sz="2600" dirty="0" smtClean="0">
                <a:latin typeface="+mj-lt"/>
              </a:rPr>
              <a:t> in a </a:t>
            </a:r>
            <a:r>
              <a:rPr lang="en-US" altLang="zh-TW" sz="2600" dirty="0" err="1" smtClean="0">
                <a:latin typeface="+mj-lt"/>
              </a:rPr>
              <a:t>DataInputStream</a:t>
            </a:r>
            <a:r>
              <a:rPr lang="en-US" altLang="zh-TW" sz="2600" dirty="0" smtClean="0">
                <a:latin typeface="+mj-lt"/>
              </a:rPr>
              <a:t> and buffers input through a </a:t>
            </a:r>
            <a:r>
              <a:rPr lang="en-US" altLang="zh-TW" sz="2600" dirty="0" err="1" smtClean="0">
                <a:latin typeface="+mj-lt"/>
              </a:rPr>
              <a:t>BufferedInputStream</a:t>
            </a:r>
            <a:r>
              <a:rPr lang="en-US" altLang="zh-TW" sz="2600" dirty="0" smtClean="0">
                <a:latin typeface="+mj-lt"/>
              </a:rPr>
              <a:t>.</a:t>
            </a:r>
          </a:p>
          <a:p>
            <a:r>
              <a:rPr lang="en-US" altLang="zh-TW" sz="2600" dirty="0" smtClean="0">
                <a:latin typeface="+mj-lt"/>
              </a:rPr>
              <a:t>Inherit from </a:t>
            </a:r>
            <a:r>
              <a:rPr lang="en-US" altLang="zh-TW" sz="2600" dirty="0" err="1" smtClean="0">
                <a:latin typeface="+mj-lt"/>
              </a:rPr>
              <a:t>java.io.DataInputStream</a:t>
            </a:r>
            <a:endParaRPr lang="en-US" altLang="zh-TW" sz="2600" dirty="0" smtClean="0">
              <a:latin typeface="+mj-lt"/>
            </a:endParaRPr>
          </a:p>
          <a:p>
            <a:r>
              <a:rPr lang="en-US" altLang="zh-TW" sz="2600" dirty="0" smtClean="0">
                <a:latin typeface="+mj-lt"/>
              </a:rPr>
              <a:t>Ex:</a:t>
            </a:r>
          </a:p>
          <a:p>
            <a:endParaRPr lang="en-US" altLang="zh-TW" sz="2200" dirty="0" smtClean="0">
              <a:latin typeface="+mj-lt"/>
            </a:endParaRPr>
          </a:p>
          <a:p>
            <a:r>
              <a:rPr lang="en-US" altLang="zh-TW" sz="2600" dirty="0" smtClean="0">
                <a:latin typeface="+mj-lt"/>
              </a:rPr>
              <a:t>Methods:</a:t>
            </a:r>
            <a:endParaRPr lang="zh-TW" altLang="en-US" sz="2600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907704" y="3356992"/>
            <a:ext cx="5356146" cy="400110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none" rtlCol="0">
            <a:spAutoFit/>
          </a:bodyPr>
          <a:lstStyle/>
          <a:p>
            <a:r>
              <a:rPr lang="en-US" altLang="zh-TW" sz="2000" dirty="0" err="1" smtClean="0"/>
              <a:t>FSDataInputStream</a:t>
            </a:r>
            <a:r>
              <a:rPr lang="en-US" altLang="zh-TW" sz="2000" dirty="0" smtClean="0"/>
              <a:t> in = </a:t>
            </a:r>
            <a:r>
              <a:rPr lang="en-US" altLang="zh-TW" sz="2000" dirty="0" err="1" smtClean="0"/>
              <a:t>hdfs.open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filenamePath</a:t>
            </a:r>
            <a:r>
              <a:rPr lang="en-US" altLang="zh-TW" sz="2000" dirty="0" smtClean="0"/>
              <a:t>);</a:t>
            </a:r>
            <a:endParaRPr lang="zh-TW" altLang="en-US" sz="2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11560" y="4388092"/>
          <a:ext cx="7992888" cy="2209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2664296"/>
                <a:gridCol w="2664296"/>
              </a:tblGrid>
              <a:tr h="5523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523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long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getPos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523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String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readUTF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52315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close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baseline="0" dirty="0" smtClean="0"/>
                        <a:t> )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err="1" smtClean="0"/>
              <a:t>FSDataOutputStream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>
                <a:latin typeface="+mj-lt"/>
              </a:rPr>
              <a:t>Utility that wraps a </a:t>
            </a:r>
            <a:r>
              <a:rPr lang="en-US" altLang="zh-TW" sz="2400" dirty="0" err="1" smtClean="0">
                <a:latin typeface="+mj-lt"/>
              </a:rPr>
              <a:t>OutputStream</a:t>
            </a:r>
            <a:r>
              <a:rPr lang="en-US" altLang="zh-TW" sz="2400" dirty="0" smtClean="0">
                <a:latin typeface="+mj-lt"/>
              </a:rPr>
              <a:t> in a </a:t>
            </a:r>
            <a:r>
              <a:rPr lang="en-US" altLang="zh-TW" sz="2400" dirty="0" err="1" smtClean="0">
                <a:latin typeface="+mj-lt"/>
              </a:rPr>
              <a:t>DataOutputStream</a:t>
            </a:r>
            <a:r>
              <a:rPr lang="en-US" altLang="zh-TW" sz="2400" dirty="0" smtClean="0">
                <a:latin typeface="+mj-lt"/>
              </a:rPr>
              <a:t>, buffers output through a </a:t>
            </a:r>
            <a:r>
              <a:rPr lang="en-US" altLang="zh-TW" sz="2400" dirty="0" err="1" smtClean="0">
                <a:latin typeface="+mj-lt"/>
              </a:rPr>
              <a:t>BufferedOutputStream</a:t>
            </a:r>
            <a:r>
              <a:rPr lang="en-US" altLang="zh-TW" sz="2400" dirty="0" smtClean="0">
                <a:latin typeface="+mj-lt"/>
              </a:rPr>
              <a:t> and creates a checksum file.</a:t>
            </a:r>
          </a:p>
          <a:p>
            <a:r>
              <a:rPr lang="en-US" altLang="zh-TW" sz="2400" dirty="0" smtClean="0">
                <a:latin typeface="+mj-lt"/>
              </a:rPr>
              <a:t>Inherit from </a:t>
            </a:r>
            <a:r>
              <a:rPr lang="en-US" altLang="zh-TW" sz="2400" dirty="0" err="1" smtClean="0">
                <a:latin typeface="+mj-lt"/>
              </a:rPr>
              <a:t>java.io.DataOutputStream</a:t>
            </a:r>
            <a:endParaRPr lang="en-US" altLang="zh-TW" sz="2400" dirty="0" smtClean="0">
              <a:latin typeface="+mj-lt"/>
            </a:endParaRPr>
          </a:p>
          <a:p>
            <a:r>
              <a:rPr lang="en-US" altLang="zh-TW" sz="2400" dirty="0" smtClean="0">
                <a:latin typeface="+mj-lt"/>
              </a:rPr>
              <a:t>Ex:</a:t>
            </a:r>
          </a:p>
          <a:p>
            <a:endParaRPr lang="en-US" altLang="zh-TW" sz="2400" dirty="0" smtClean="0">
              <a:latin typeface="+mj-lt"/>
            </a:endParaRPr>
          </a:p>
          <a:p>
            <a:r>
              <a:rPr lang="en-US" altLang="zh-TW" sz="2400" dirty="0" smtClean="0">
                <a:latin typeface="+mj-lt"/>
              </a:rPr>
              <a:t>Methods:</a:t>
            </a:r>
            <a:endParaRPr lang="zh-TW" altLang="en-US" sz="2400" dirty="0">
              <a:latin typeface="+mj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051720" y="3645024"/>
            <a:ext cx="5742384" cy="400110"/>
          </a:xfrm>
          <a:prstGeom prst="rect">
            <a:avLst/>
          </a:prstGeom>
          <a:ln>
            <a:solidFill>
              <a:schemeClr val="tx1"/>
            </a:solidFill>
            <a:prstDash val="sysDot"/>
          </a:ln>
        </p:spPr>
        <p:txBody>
          <a:bodyPr wrap="square">
            <a:spAutoFit/>
          </a:bodyPr>
          <a:lstStyle/>
          <a:p>
            <a:r>
              <a:rPr lang="en-US" altLang="zh-TW" sz="2000" dirty="0" err="1" smtClean="0"/>
              <a:t>FSDataOutputStream</a:t>
            </a:r>
            <a:r>
              <a:rPr lang="en-US" altLang="zh-TW" sz="2000" dirty="0" smtClean="0"/>
              <a:t> out = </a:t>
            </a:r>
            <a:r>
              <a:rPr lang="en-US" altLang="zh-TW" sz="2000" dirty="0" err="1" smtClean="0"/>
              <a:t>hdfs.create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filenamePath</a:t>
            </a:r>
            <a:r>
              <a:rPr lang="en-US" altLang="zh-TW" sz="2000" dirty="0" smtClean="0"/>
              <a:t>);</a:t>
            </a:r>
            <a:endParaRPr lang="zh-TW" altLang="en-US" sz="2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11560" y="4537924"/>
          <a:ext cx="7992888" cy="2131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2664296"/>
                <a:gridCol w="2664296"/>
              </a:tblGrid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long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getPos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writeUTF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(String </a:t>
                      </a:r>
                      <a:r>
                        <a:rPr lang="en-US" altLang="zh-TW" dirty="0" err="1" smtClean="0">
                          <a:latin typeface="+mn-ea"/>
                          <a:ea typeface="+mn-ea"/>
                        </a:rPr>
                        <a:t>str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32859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 smtClean="0"/>
                        <a:t>close</a:t>
                      </a:r>
                      <a:endParaRPr lang="zh-TW" altLang="en-US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</a:t>
                      </a:r>
                      <a:r>
                        <a:rPr lang="en-US" altLang="zh-TW" baseline="0" dirty="0" smtClean="0"/>
                        <a:t> )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32857"/>
            <a:ext cx="7772400" cy="22740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HDFS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HDFS Operations</a:t>
            </a:r>
          </a:p>
          <a:p>
            <a:r>
              <a:rPr lang="en-US" altLang="zh-TW" dirty="0" smtClean="0"/>
              <a:t>Programming Environment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Environment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A Linux environment</a:t>
            </a:r>
          </a:p>
          <a:p>
            <a:pPr lvl="1"/>
            <a:r>
              <a:rPr lang="en-US" altLang="zh-TW" dirty="0" smtClean="0">
                <a:latin typeface="+mj-lt"/>
              </a:rPr>
              <a:t>On physical or virtual machine</a:t>
            </a:r>
          </a:p>
          <a:p>
            <a:pPr lvl="1"/>
            <a:r>
              <a:rPr lang="en-US" altLang="zh-TW" dirty="0" err="1" smtClean="0">
                <a:latin typeface="+mj-lt"/>
              </a:rPr>
              <a:t>Ubuntu</a:t>
            </a:r>
            <a:r>
              <a:rPr lang="en-US" altLang="zh-TW" dirty="0" smtClean="0">
                <a:latin typeface="+mj-lt"/>
              </a:rPr>
              <a:t> 10.04</a:t>
            </a:r>
          </a:p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environment</a:t>
            </a:r>
          </a:p>
          <a:p>
            <a:pPr lvl="1"/>
            <a:r>
              <a:rPr lang="en-US" altLang="zh-TW" dirty="0" smtClean="0">
                <a:latin typeface="+mj-lt"/>
              </a:rPr>
              <a:t>Reference 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setup guide</a:t>
            </a:r>
          </a:p>
          <a:p>
            <a:pPr lvl="1"/>
            <a:r>
              <a:rPr lang="en-US" altLang="zh-TW" dirty="0" smtClean="0">
                <a:latin typeface="+mj-lt"/>
              </a:rPr>
              <a:t>user/group: </a:t>
            </a:r>
            <a:r>
              <a:rPr lang="en-US" altLang="zh-TW" dirty="0" err="1" smtClean="0">
                <a:latin typeface="+mn-ea"/>
              </a:rPr>
              <a:t>hadoop</a:t>
            </a:r>
            <a:r>
              <a:rPr lang="en-US" altLang="zh-TW" dirty="0" smtClean="0">
                <a:latin typeface="+mn-ea"/>
              </a:rPr>
              <a:t>/</a:t>
            </a:r>
            <a:r>
              <a:rPr lang="en-US" altLang="zh-TW" dirty="0" err="1" smtClean="0">
                <a:latin typeface="+mn-ea"/>
              </a:rPr>
              <a:t>hadoop</a:t>
            </a:r>
            <a:endParaRPr lang="en-US" altLang="zh-TW" dirty="0" smtClean="0">
              <a:latin typeface="+mn-ea"/>
            </a:endParaRPr>
          </a:p>
          <a:p>
            <a:pPr lvl="1"/>
            <a:r>
              <a:rPr lang="en-US" altLang="zh-TW" dirty="0" smtClean="0">
                <a:latin typeface="+mj-lt"/>
              </a:rPr>
              <a:t>Single or multiple node(s), the later is preferred.</a:t>
            </a:r>
          </a:p>
          <a:p>
            <a:r>
              <a:rPr lang="en-US" altLang="zh-TW" dirty="0" smtClean="0">
                <a:latin typeface="+mj-lt"/>
              </a:rPr>
              <a:t>Eclipse 3.7M2a with hadoop-0.20.2 </a:t>
            </a:r>
            <a:r>
              <a:rPr lang="en-US" altLang="zh-TW" dirty="0" err="1" smtClean="0">
                <a:latin typeface="+mj-lt"/>
              </a:rPr>
              <a:t>plugin</a:t>
            </a:r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Programming Environment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Without IDE</a:t>
            </a:r>
          </a:p>
          <a:p>
            <a:r>
              <a:rPr lang="en-US" altLang="zh-TW" dirty="0" smtClean="0">
                <a:latin typeface="+mj-lt"/>
              </a:rPr>
              <a:t>Using Eclipse</a:t>
            </a:r>
            <a:endParaRPr lang="zh-TW" altLang="en-US" dirty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140968"/>
            <a:ext cx="6710160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圖片 3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1340768"/>
            <a:ext cx="4608512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Without IDE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916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Set CLASSPATH for java compiler.(user: 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)</a:t>
            </a:r>
          </a:p>
          <a:p>
            <a:pPr lvl="1"/>
            <a:r>
              <a:rPr lang="en-US" altLang="zh-TW" dirty="0" smtClean="0">
                <a:latin typeface="+mj-lt"/>
              </a:rPr>
              <a:t>$ vim ~/.profile</a:t>
            </a: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err="1" smtClean="0">
                <a:latin typeface="+mj-lt"/>
              </a:rPr>
              <a:t>Relogin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Compile your program(.java files) into .class files</a:t>
            </a:r>
          </a:p>
          <a:p>
            <a:pPr lvl="1"/>
            <a:r>
              <a:rPr lang="en-US" altLang="zh-TW" dirty="0" smtClean="0">
                <a:latin typeface="+mj-lt"/>
              </a:rPr>
              <a:t>$ </a:t>
            </a:r>
            <a:r>
              <a:rPr lang="en-US" altLang="zh-TW" dirty="0" err="1" smtClean="0">
                <a:latin typeface="+mj-lt"/>
              </a:rPr>
              <a:t>javac</a:t>
            </a:r>
            <a:r>
              <a:rPr lang="en-US" altLang="zh-TW" dirty="0" smtClean="0">
                <a:latin typeface="+mj-lt"/>
              </a:rPr>
              <a:t> &lt;</a:t>
            </a:r>
            <a:r>
              <a:rPr lang="en-US" altLang="zh-TW" dirty="0" err="1" smtClean="0">
                <a:latin typeface="+mj-lt"/>
              </a:rPr>
              <a:t>program_name</a:t>
            </a:r>
            <a:r>
              <a:rPr lang="en-US" altLang="zh-TW" dirty="0" smtClean="0">
                <a:latin typeface="+mj-lt"/>
              </a:rPr>
              <a:t>&gt;.java</a:t>
            </a:r>
          </a:p>
          <a:p>
            <a:r>
              <a:rPr lang="en-US" altLang="zh-TW" dirty="0" smtClean="0">
                <a:latin typeface="+mj-lt"/>
              </a:rPr>
              <a:t>Run your program on the 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(only one class)</a:t>
            </a:r>
          </a:p>
          <a:p>
            <a:pPr lvl="1"/>
            <a:r>
              <a:rPr lang="en-US" altLang="zh-TW" dirty="0" smtClean="0">
                <a:latin typeface="+mj-lt"/>
              </a:rPr>
              <a:t>$ bin/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&lt;</a:t>
            </a:r>
            <a:r>
              <a:rPr lang="en-US" altLang="zh-TW" dirty="0" err="1" smtClean="0">
                <a:latin typeface="+mj-lt"/>
              </a:rPr>
              <a:t>program_name</a:t>
            </a:r>
            <a:r>
              <a:rPr lang="en-US" altLang="zh-TW" dirty="0" smtClean="0">
                <a:latin typeface="+mj-lt"/>
              </a:rPr>
              <a:t>&gt; &lt;args0&gt; &lt;args1&gt; …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2173" y="2636912"/>
            <a:ext cx="8186331" cy="1064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Without IDE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Pack your program in a jar file</a:t>
            </a:r>
          </a:p>
          <a:p>
            <a:pPr lvl="1"/>
            <a:r>
              <a:rPr lang="en-US" altLang="zh-TW" dirty="0" smtClean="0">
                <a:latin typeface="+mj-lt"/>
              </a:rPr>
              <a:t>jar </a:t>
            </a:r>
            <a:r>
              <a:rPr lang="en-US" altLang="zh-TW" dirty="0" err="1" smtClean="0">
                <a:latin typeface="+mj-lt"/>
              </a:rPr>
              <a:t>cvf</a:t>
            </a:r>
            <a:r>
              <a:rPr lang="en-US" altLang="zh-TW" dirty="0" smtClean="0">
                <a:latin typeface="+mj-lt"/>
              </a:rPr>
              <a:t> &lt;</a:t>
            </a:r>
            <a:r>
              <a:rPr lang="en-US" altLang="zh-TW" dirty="0" err="1" smtClean="0">
                <a:latin typeface="+mj-lt"/>
              </a:rPr>
              <a:t>jar_name</a:t>
            </a:r>
            <a:r>
              <a:rPr lang="en-US" altLang="zh-TW" dirty="0" smtClean="0">
                <a:latin typeface="+mj-lt"/>
              </a:rPr>
              <a:t>&gt;.jar &lt;</a:t>
            </a:r>
            <a:r>
              <a:rPr lang="en-US" altLang="zh-TW" dirty="0" err="1" smtClean="0">
                <a:latin typeface="+mj-lt"/>
              </a:rPr>
              <a:t>program_name</a:t>
            </a:r>
            <a:r>
              <a:rPr lang="en-US" altLang="zh-TW" dirty="0" smtClean="0">
                <a:latin typeface="+mj-lt"/>
              </a:rPr>
              <a:t>&gt;.class </a:t>
            </a:r>
          </a:p>
          <a:p>
            <a:r>
              <a:rPr lang="en-US" altLang="zh-TW" dirty="0" smtClean="0">
                <a:latin typeface="+mj-lt"/>
              </a:rPr>
              <a:t>Run your program on the </a:t>
            </a:r>
            <a:r>
              <a:rPr lang="en-US" altLang="zh-TW" dirty="0" err="1" smtClean="0">
                <a:latin typeface="+mj-lt"/>
              </a:rPr>
              <a:t>hadoop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$ bin/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jar &lt;</a:t>
            </a:r>
            <a:r>
              <a:rPr lang="en-US" altLang="zh-TW" dirty="0" err="1" smtClean="0">
                <a:latin typeface="+mj-lt"/>
              </a:rPr>
              <a:t>jar_name</a:t>
            </a:r>
            <a:r>
              <a:rPr lang="en-US" altLang="zh-TW" dirty="0" smtClean="0">
                <a:latin typeface="+mj-lt"/>
              </a:rPr>
              <a:t>&gt;. jar &lt;</a:t>
            </a:r>
            <a:r>
              <a:rPr lang="en-US" altLang="zh-TW" dirty="0" err="1" smtClean="0">
                <a:latin typeface="+mj-lt"/>
              </a:rPr>
              <a:t>main_fun_name</a:t>
            </a:r>
            <a:r>
              <a:rPr lang="en-US" altLang="zh-TW" dirty="0" smtClean="0">
                <a:latin typeface="+mj-lt"/>
              </a:rPr>
              <a:t>&gt; &lt;args0&gt; &lt;args1&gt;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Using Eclipse - Step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Download the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Eclipse 3.7M2a</a:t>
            </a:r>
          </a:p>
          <a:p>
            <a:pPr lvl="1"/>
            <a:r>
              <a:rPr lang="en-US" altLang="zh-TW" dirty="0" smtClean="0">
                <a:latin typeface="+mj-lt"/>
              </a:rPr>
              <a:t>$ </a:t>
            </a:r>
            <a:r>
              <a:rPr lang="en-US" altLang="zh-TW" dirty="0" err="1" smtClean="0">
                <a:latin typeface="+mj-lt"/>
              </a:rPr>
              <a:t>cd</a:t>
            </a:r>
            <a:r>
              <a:rPr lang="en-US" altLang="zh-TW" dirty="0" smtClean="0">
                <a:latin typeface="+mj-lt"/>
              </a:rPr>
              <a:t> ~</a:t>
            </a:r>
          </a:p>
          <a:p>
            <a:pPr lvl="1"/>
            <a:r>
              <a:rPr lang="en-US" altLang="zh-TW" dirty="0" smtClean="0">
                <a:latin typeface="+mj-lt"/>
              </a:rPr>
              <a:t>$</a:t>
            </a:r>
            <a:r>
              <a:rPr lang="zh-TW" altLang="en-US" dirty="0" smtClean="0">
                <a:latin typeface="+mj-lt"/>
              </a:rPr>
              <a:t> </a:t>
            </a:r>
            <a:r>
              <a:rPr lang="en-US" altLang="zh-TW" dirty="0" err="1" smtClean="0">
                <a:latin typeface="+mj-lt"/>
              </a:rPr>
              <a:t>sudo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err="1" smtClean="0">
                <a:latin typeface="+mj-lt"/>
              </a:rPr>
              <a:t>wget</a:t>
            </a:r>
            <a:r>
              <a:rPr lang="en-US" altLang="zh-TW" dirty="0" smtClean="0">
                <a:latin typeface="+mj-lt"/>
              </a:rPr>
              <a:t> http://eclipse.stu.edu.tw/eclipse/downloads/drops/S-3.7M2a-201009211024/download.php?dropFile=eclipse-SDK-3.7M2a-linux-gtk.tar.gz</a:t>
            </a:r>
          </a:p>
          <a:p>
            <a:pPr lvl="1"/>
            <a:r>
              <a:rPr lang="en-US" altLang="zh-TW" dirty="0" smtClean="0">
                <a:latin typeface="+mj-lt"/>
              </a:rPr>
              <a:t>$ </a:t>
            </a:r>
            <a:r>
              <a:rPr lang="en-US" altLang="zh-TW" dirty="0" err="1" smtClean="0">
                <a:latin typeface="+mj-lt"/>
              </a:rPr>
              <a:t>sudo</a:t>
            </a:r>
            <a:r>
              <a:rPr lang="en-US" altLang="zh-TW" dirty="0" smtClean="0">
                <a:latin typeface="+mj-lt"/>
              </a:rPr>
              <a:t> tar -</a:t>
            </a:r>
            <a:r>
              <a:rPr lang="en-US" altLang="zh-TW" dirty="0" err="1" smtClean="0">
                <a:latin typeface="+mj-lt"/>
              </a:rPr>
              <a:t>zxf</a:t>
            </a:r>
            <a:r>
              <a:rPr lang="en-US" altLang="zh-TW" dirty="0" smtClean="0">
                <a:latin typeface="+mj-lt"/>
              </a:rPr>
              <a:t> eclipse-SDK-3.7M2a-linux-gtk.tar.gz</a:t>
            </a:r>
          </a:p>
          <a:p>
            <a:pPr lvl="1"/>
            <a:r>
              <a:rPr lang="en-US" altLang="zh-TW" dirty="0" smtClean="0">
                <a:latin typeface="+mj-lt"/>
              </a:rPr>
              <a:t>$ </a:t>
            </a:r>
            <a:r>
              <a:rPr lang="en-US" altLang="zh-TW" dirty="0" err="1" smtClean="0">
                <a:latin typeface="+mj-lt"/>
              </a:rPr>
              <a:t>sudo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err="1" smtClean="0">
                <a:latin typeface="+mj-lt"/>
              </a:rPr>
              <a:t>mv</a:t>
            </a:r>
            <a:r>
              <a:rPr lang="en-US" altLang="zh-TW" dirty="0" smtClean="0">
                <a:latin typeface="+mj-lt"/>
              </a:rPr>
              <a:t> eclipse /opt</a:t>
            </a:r>
          </a:p>
          <a:p>
            <a:pPr lvl="1"/>
            <a:r>
              <a:rPr lang="en-US" altLang="zh-TW" dirty="0" smtClean="0">
                <a:latin typeface="+mj-lt"/>
              </a:rPr>
              <a:t>$ </a:t>
            </a:r>
            <a:r>
              <a:rPr lang="en-US" altLang="zh-TW" dirty="0" err="1" smtClean="0">
                <a:latin typeface="+mj-lt"/>
              </a:rPr>
              <a:t>sudo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err="1" smtClean="0">
                <a:latin typeface="+mj-lt"/>
              </a:rPr>
              <a:t>ln</a:t>
            </a:r>
            <a:r>
              <a:rPr lang="en-US" altLang="zh-TW" dirty="0" smtClean="0">
                <a:latin typeface="+mj-lt"/>
              </a:rPr>
              <a:t> -</a:t>
            </a:r>
            <a:r>
              <a:rPr lang="en-US" altLang="zh-TW" dirty="0" err="1" smtClean="0">
                <a:latin typeface="+mj-lt"/>
              </a:rPr>
              <a:t>sf</a:t>
            </a:r>
            <a:r>
              <a:rPr lang="en-US" altLang="zh-TW" dirty="0" smtClean="0">
                <a:latin typeface="+mj-lt"/>
              </a:rPr>
              <a:t> /opt/eclipse/eclipse /</a:t>
            </a:r>
            <a:r>
              <a:rPr lang="en-US" altLang="zh-TW" dirty="0" err="1" smtClean="0">
                <a:latin typeface="+mj-lt"/>
              </a:rPr>
              <a:t>usr</a:t>
            </a:r>
            <a:r>
              <a:rPr lang="en-US" altLang="zh-TW" dirty="0" smtClean="0">
                <a:latin typeface="+mj-lt"/>
              </a:rPr>
              <a:t>/local/bin/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Put the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hadoop-0.20.2</a:t>
            </a:r>
            <a:r>
              <a:rPr lang="en-US" altLang="zh-TW" dirty="0" smtClean="0">
                <a:latin typeface="+mj-lt"/>
              </a:rPr>
              <a:t> eclipse </a:t>
            </a:r>
            <a:r>
              <a:rPr lang="en-US" altLang="zh-TW" dirty="0" err="1" smtClean="0">
                <a:latin typeface="+mj-lt"/>
              </a:rPr>
              <a:t>plugin</a:t>
            </a:r>
            <a:r>
              <a:rPr lang="en-US" altLang="zh-TW" dirty="0" smtClean="0">
                <a:latin typeface="+mj-lt"/>
              </a:rPr>
              <a:t> into the &lt;</a:t>
            </a:r>
            <a:r>
              <a:rPr lang="en-US" altLang="zh-TW" dirty="0" err="1" smtClean="0">
                <a:latin typeface="+mj-lt"/>
              </a:rPr>
              <a:t>eclipse_home</a:t>
            </a:r>
            <a:r>
              <a:rPr lang="en-US" altLang="zh-TW" dirty="0" smtClean="0">
                <a:latin typeface="+mj-lt"/>
              </a:rPr>
              <a:t>&gt;/</a:t>
            </a:r>
            <a:r>
              <a:rPr lang="en-US" altLang="zh-TW" dirty="0" err="1" smtClean="0">
                <a:latin typeface="+mj-lt"/>
              </a:rPr>
              <a:t>plugin</a:t>
            </a:r>
            <a:r>
              <a:rPr lang="en-US" altLang="zh-TW" dirty="0" smtClean="0">
                <a:latin typeface="+mj-lt"/>
              </a:rPr>
              <a:t> directory</a:t>
            </a:r>
          </a:p>
          <a:p>
            <a:pPr lvl="1"/>
            <a:r>
              <a:rPr lang="en-US" altLang="zh-TW" dirty="0" smtClean="0">
                <a:latin typeface="+mj-lt"/>
              </a:rPr>
              <a:t>$ </a:t>
            </a:r>
            <a:r>
              <a:rPr lang="en-US" altLang="zh-TW" dirty="0" err="1" smtClean="0">
                <a:latin typeface="+mj-lt"/>
              </a:rPr>
              <a:t>sudo</a:t>
            </a:r>
            <a:r>
              <a:rPr lang="en-US" altLang="zh-TW" dirty="0" smtClean="0">
                <a:latin typeface="+mj-lt"/>
              </a:rPr>
              <a:t> cp &lt;Download path&gt;/hadoop-0.20.2-dev-eclipse-plugin.jar /opt/eclipse/</a:t>
            </a:r>
            <a:r>
              <a:rPr lang="en-US" altLang="zh-TW" dirty="0" err="1" smtClean="0">
                <a:latin typeface="+mj-lt"/>
              </a:rPr>
              <a:t>plugin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Note: &lt;</a:t>
            </a:r>
            <a:r>
              <a:rPr lang="en-US" altLang="zh-TW" dirty="0" err="1" smtClean="0">
                <a:latin typeface="+mj-lt"/>
              </a:rPr>
              <a:t>eclipse_home</a:t>
            </a:r>
            <a:r>
              <a:rPr lang="en-US" altLang="zh-TW" dirty="0" smtClean="0">
                <a:latin typeface="+mj-lt"/>
              </a:rPr>
              <a:t>&gt; is the place you installed your eclipse. In our case,</a:t>
            </a:r>
            <a:r>
              <a:rPr lang="zh-TW" altLang="en-US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it is /opt/eclipse</a:t>
            </a:r>
          </a:p>
          <a:p>
            <a:r>
              <a:rPr lang="en-US" altLang="zh-TW" dirty="0" smtClean="0">
                <a:latin typeface="+mj-lt"/>
              </a:rPr>
              <a:t>Setup the </a:t>
            </a:r>
            <a:r>
              <a:rPr lang="en-US" altLang="zh-TW" dirty="0" err="1" smtClean="0">
                <a:latin typeface="+mj-lt"/>
              </a:rPr>
              <a:t>xhost</a:t>
            </a:r>
            <a:r>
              <a:rPr lang="en-US" altLang="zh-TW" dirty="0" smtClean="0">
                <a:latin typeface="+mj-lt"/>
              </a:rPr>
              <a:t> and open eclipse with user </a:t>
            </a:r>
            <a:r>
              <a:rPr lang="en-US" altLang="zh-TW" dirty="0" err="1" smtClean="0">
                <a:latin typeface="+mj-lt"/>
              </a:rPr>
              <a:t>hadoop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err="1" smtClean="0">
                <a:latin typeface="+mj-lt"/>
              </a:rPr>
              <a:t>sudo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err="1" smtClean="0">
                <a:latin typeface="+mj-lt"/>
              </a:rPr>
              <a:t>xhost</a:t>
            </a:r>
            <a:r>
              <a:rPr lang="en-US" altLang="zh-TW" dirty="0" smtClean="0">
                <a:latin typeface="+mj-lt"/>
              </a:rPr>
              <a:t> +</a:t>
            </a:r>
            <a:r>
              <a:rPr lang="en-US" altLang="zh-TW" dirty="0" err="1" smtClean="0">
                <a:latin typeface="+mj-lt"/>
              </a:rPr>
              <a:t>SI:localuser:hadoop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err="1" smtClean="0">
                <a:latin typeface="+mj-lt"/>
              </a:rPr>
              <a:t>su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sz="1800" dirty="0" smtClean="0"/>
              <a:t>-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err="1" smtClean="0">
                <a:latin typeface="+mj-lt"/>
              </a:rPr>
              <a:t>hadoop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eclipse &amp;</a:t>
            </a:r>
          </a:p>
          <a:p>
            <a:pPr lvl="1"/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3314" y="1772816"/>
            <a:ext cx="6781054" cy="49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New a </a:t>
            </a:r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 project</a:t>
            </a:r>
            <a:endParaRPr lang="zh-TW" altLang="en-US" dirty="0">
              <a:latin typeface="+mj-lt"/>
            </a:endParaRPr>
          </a:p>
        </p:txBody>
      </p:sp>
      <p:sp>
        <p:nvSpPr>
          <p:cNvPr id="7" name="橢圓 6"/>
          <p:cNvSpPr/>
          <p:nvPr/>
        </p:nvSpPr>
        <p:spPr>
          <a:xfrm>
            <a:off x="3563888" y="2022707"/>
            <a:ext cx="172819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 descr="eclipse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67944" y="2780928"/>
            <a:ext cx="4575232" cy="3731837"/>
          </a:xfrm>
          <a:prstGeom prst="rect">
            <a:avLst/>
          </a:prstGeom>
        </p:spPr>
      </p:pic>
      <p:sp>
        <p:nvSpPr>
          <p:cNvPr id="8" name="橢圓 7"/>
          <p:cNvSpPr/>
          <p:nvPr/>
        </p:nvSpPr>
        <p:spPr>
          <a:xfrm>
            <a:off x="3995936" y="4653136"/>
            <a:ext cx="172819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830003" y="6093296"/>
            <a:ext cx="1080120" cy="3374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eclipse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3568" y="1066750"/>
            <a:ext cx="7646444" cy="560261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3(cont.)</a:t>
            </a:r>
            <a:endParaRPr lang="zh-TW" altLang="en-US" dirty="0"/>
          </a:p>
        </p:txBody>
      </p:sp>
      <p:sp>
        <p:nvSpPr>
          <p:cNvPr id="5" name="橢圓 4"/>
          <p:cNvSpPr/>
          <p:nvPr/>
        </p:nvSpPr>
        <p:spPr>
          <a:xfrm>
            <a:off x="1331640" y="1988840"/>
            <a:ext cx="172819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8305" name="Picture 1" descr="E:\SSlab\MS'0\Boss Lesson\Cloud computing\Paas\Hadoop\Lab\reference\eclipse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19672" y="1340768"/>
            <a:ext cx="6570663" cy="5210175"/>
          </a:xfrm>
          <a:prstGeom prst="rect">
            <a:avLst/>
          </a:prstGeom>
          <a:noFill/>
        </p:spPr>
      </p:pic>
      <p:sp>
        <p:nvSpPr>
          <p:cNvPr id="6" name="橢圓 5"/>
          <p:cNvSpPr/>
          <p:nvPr/>
        </p:nvSpPr>
        <p:spPr>
          <a:xfrm>
            <a:off x="5719854" y="3235554"/>
            <a:ext cx="2592288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5499672" y="1870472"/>
            <a:ext cx="1016544" cy="3386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6819811" y="6065240"/>
            <a:ext cx="1368152" cy="3386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7164288" y="6217640"/>
            <a:ext cx="1224136" cy="3386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4" name="圖片 13" descr="eclipse_exception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79712" y="2852936"/>
            <a:ext cx="5087060" cy="1695687"/>
          </a:xfrm>
          <a:prstGeom prst="rect">
            <a:avLst/>
          </a:prstGeom>
        </p:spPr>
      </p:pic>
      <p:sp>
        <p:nvSpPr>
          <p:cNvPr id="15" name="橢圓 14"/>
          <p:cNvSpPr/>
          <p:nvPr/>
        </p:nvSpPr>
        <p:spPr>
          <a:xfrm>
            <a:off x="2051720" y="3717032"/>
            <a:ext cx="1656184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004048" y="4005064"/>
            <a:ext cx="1008112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98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000"/>
                                        <p:tgtEl>
                                          <p:spTgt spid="983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8" grpId="0" animBg="1"/>
      <p:bldP spid="8" grpId="1" animBg="1"/>
      <p:bldP spid="10" grpId="0" animBg="1"/>
      <p:bldP spid="10" grpId="1" animBg="1"/>
      <p:bldP spid="12" grpId="0" animBg="1"/>
      <p:bldP spid="15" grpId="0" animBg="1"/>
      <p:bldP spid="1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868362"/>
          </a:xfrm>
        </p:spPr>
        <p:txBody>
          <a:bodyPr/>
          <a:lstStyle/>
          <a:p>
            <a:r>
              <a:rPr lang="en-US" altLang="zh-TW" dirty="0" smtClean="0"/>
              <a:t>Step 4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Add the library and </a:t>
            </a:r>
            <a:r>
              <a:rPr lang="en-US" altLang="zh-TW" dirty="0" err="1" smtClean="0">
                <a:latin typeface="+mj-lt"/>
              </a:rPr>
              <a:t>javadoc</a:t>
            </a:r>
            <a:r>
              <a:rPr lang="en-US" altLang="zh-TW" dirty="0" smtClean="0">
                <a:latin typeface="+mj-lt"/>
              </a:rPr>
              <a:t> path of </a:t>
            </a:r>
            <a:r>
              <a:rPr lang="en-US" altLang="zh-TW" dirty="0" err="1" smtClean="0">
                <a:latin typeface="+mj-lt"/>
              </a:rPr>
              <a:t>hadoop</a:t>
            </a:r>
            <a:endParaRPr lang="zh-TW" altLang="en-US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1651378"/>
            <a:ext cx="6949370" cy="51011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橢圓 5"/>
          <p:cNvSpPr/>
          <p:nvPr/>
        </p:nvSpPr>
        <p:spPr>
          <a:xfrm>
            <a:off x="1619672" y="5949280"/>
            <a:ext cx="2448272" cy="3386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 descr="eclipse5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51720" y="2132856"/>
            <a:ext cx="6336706" cy="4368248"/>
          </a:xfrm>
          <a:prstGeom prst="rect">
            <a:avLst/>
          </a:prstGeom>
        </p:spPr>
      </p:pic>
      <p:sp>
        <p:nvSpPr>
          <p:cNvPr id="8" name="橢圓 7"/>
          <p:cNvSpPr/>
          <p:nvPr/>
        </p:nvSpPr>
        <p:spPr>
          <a:xfrm>
            <a:off x="1979712" y="2996952"/>
            <a:ext cx="1440160" cy="194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788024" y="2615538"/>
            <a:ext cx="720080" cy="3094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3707904" y="3501008"/>
            <a:ext cx="2880320" cy="1368152"/>
          </a:xfrm>
          <a:prstGeom prst="roundRect">
            <a:avLst>
              <a:gd name="adj" fmla="val 7591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4 (cont.)</a:t>
            </a:r>
            <a:endParaRPr lang="zh-TW" alt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1196752"/>
            <a:ext cx="771525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橢圓 5"/>
          <p:cNvSpPr/>
          <p:nvPr/>
        </p:nvSpPr>
        <p:spPr>
          <a:xfrm>
            <a:off x="6372200" y="4365104"/>
            <a:ext cx="1944216" cy="3094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2915816" y="3140968"/>
            <a:ext cx="201622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23975" y="2247900"/>
            <a:ext cx="649605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橢圓 10"/>
          <p:cNvSpPr/>
          <p:nvPr/>
        </p:nvSpPr>
        <p:spPr>
          <a:xfrm>
            <a:off x="6444208" y="3284984"/>
            <a:ext cx="1296144" cy="3094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4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Set each following path:</a:t>
            </a:r>
          </a:p>
          <a:p>
            <a:pPr lvl="1"/>
            <a:r>
              <a:rPr lang="en-US" altLang="zh-TW" dirty="0" smtClean="0">
                <a:latin typeface="+mj-lt"/>
              </a:rPr>
              <a:t>java Build Path -&gt; Libraries -&gt; hadoop-0.20.2-ant.jar</a:t>
            </a:r>
          </a:p>
          <a:p>
            <a:pPr lvl="1"/>
            <a:r>
              <a:rPr lang="en-US" altLang="zh-TW" dirty="0" smtClean="0">
                <a:latin typeface="+mj-lt"/>
              </a:rPr>
              <a:t>java Build Path -&gt; Libraries -&gt; hadoop-0.20.2-core.jar</a:t>
            </a:r>
          </a:p>
          <a:p>
            <a:pPr lvl="1"/>
            <a:r>
              <a:rPr lang="en-US" altLang="zh-TW" dirty="0" smtClean="0">
                <a:latin typeface="+mj-lt"/>
              </a:rPr>
              <a:t>java Build Path -&gt; Libraries -&gt; hadoop-0.20.2-tools.jar</a:t>
            </a:r>
          </a:p>
          <a:p>
            <a:r>
              <a:rPr lang="en-US" altLang="zh-TW" dirty="0" smtClean="0">
                <a:latin typeface="+mj-lt"/>
              </a:rPr>
              <a:t>For example, the setting of hadoop-0.20.2-core.jar:</a:t>
            </a:r>
          </a:p>
          <a:p>
            <a:pPr lvl="1"/>
            <a:r>
              <a:rPr lang="en-US" altLang="zh-TW" dirty="0" smtClean="0">
                <a:latin typeface="+mj-lt"/>
              </a:rPr>
              <a:t>source ...-&gt;</a:t>
            </a:r>
            <a:r>
              <a:rPr lang="zh-TW" altLang="en-US" dirty="0" smtClean="0">
                <a:latin typeface="+mj-lt"/>
              </a:rPr>
              <a:t>：</a:t>
            </a:r>
            <a:r>
              <a:rPr lang="en-US" altLang="zh-TW" dirty="0" smtClean="0">
                <a:latin typeface="+mj-lt"/>
              </a:rPr>
              <a:t>/opt/opt/hadoop-0.20.2/</a:t>
            </a:r>
            <a:r>
              <a:rPr lang="en-US" altLang="zh-TW" dirty="0" err="1" smtClean="0">
                <a:latin typeface="+mj-lt"/>
              </a:rPr>
              <a:t>src</a:t>
            </a:r>
            <a:r>
              <a:rPr lang="en-US" altLang="zh-TW" dirty="0" smtClean="0">
                <a:latin typeface="+mj-lt"/>
              </a:rPr>
              <a:t>/core</a:t>
            </a:r>
          </a:p>
          <a:p>
            <a:pPr lvl="1"/>
            <a:r>
              <a:rPr lang="en-US" altLang="zh-TW" dirty="0" err="1" smtClean="0">
                <a:latin typeface="+mj-lt"/>
              </a:rPr>
              <a:t>javadoc</a:t>
            </a:r>
            <a:r>
              <a:rPr lang="en-US" altLang="zh-TW" dirty="0" smtClean="0">
                <a:latin typeface="+mj-lt"/>
              </a:rPr>
              <a:t> ...-&gt;</a:t>
            </a:r>
            <a:r>
              <a:rPr lang="zh-TW" altLang="en-US" dirty="0" smtClean="0">
                <a:latin typeface="+mj-lt"/>
              </a:rPr>
              <a:t>：</a:t>
            </a:r>
            <a:r>
              <a:rPr lang="en-US" altLang="zh-TW" dirty="0" smtClean="0">
                <a:latin typeface="+mj-lt"/>
              </a:rPr>
              <a:t>file:/opt/hadoop-0.20.2/docs/</a:t>
            </a:r>
            <a:r>
              <a:rPr lang="en-US" altLang="zh-TW" dirty="0" err="1" smtClean="0">
                <a:latin typeface="+mj-lt"/>
              </a:rPr>
              <a:t>api</a:t>
            </a:r>
            <a:r>
              <a:rPr lang="en-US" altLang="zh-TW" dirty="0" smtClean="0">
                <a:latin typeface="+mj-lt"/>
              </a:rPr>
              <a:t>/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4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525963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After setting …</a:t>
            </a:r>
            <a:endParaRPr lang="zh-TW" altLang="en-US" dirty="0">
              <a:latin typeface="+mj-lt"/>
            </a:endParaRPr>
          </a:p>
        </p:txBody>
      </p:sp>
      <p:pic>
        <p:nvPicPr>
          <p:cNvPr id="4" name="圖片 3" descr="eclipse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1600" y="1766540"/>
            <a:ext cx="7200800" cy="483081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699792" y="2852936"/>
            <a:ext cx="3600400" cy="30963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4 (cont.)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Setting the </a:t>
            </a:r>
            <a:r>
              <a:rPr lang="en-US" altLang="zh-TW" dirty="0" err="1" smtClean="0"/>
              <a:t>javadoc</a:t>
            </a:r>
            <a:r>
              <a:rPr lang="en-US" altLang="zh-TW" dirty="0" smtClean="0"/>
              <a:t> of java</a:t>
            </a:r>
            <a:endParaRPr lang="zh-TW" altLang="en-US" dirty="0"/>
          </a:p>
        </p:txBody>
      </p:sp>
      <p:pic>
        <p:nvPicPr>
          <p:cNvPr id="4" name="圖片 3" descr="eclipse9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99591" y="1678172"/>
            <a:ext cx="7344818" cy="5063196"/>
          </a:xfrm>
          <a:prstGeom prst="rect">
            <a:avLst/>
          </a:prstGeom>
        </p:spPr>
      </p:pic>
      <p:sp>
        <p:nvSpPr>
          <p:cNvPr id="5" name="橢圓 4"/>
          <p:cNvSpPr/>
          <p:nvPr/>
        </p:nvSpPr>
        <p:spPr>
          <a:xfrm>
            <a:off x="2627784" y="2780928"/>
            <a:ext cx="5544616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橢圓 5"/>
          <p:cNvSpPr/>
          <p:nvPr/>
        </p:nvSpPr>
        <p:spPr>
          <a:xfrm>
            <a:off x="7092280" y="6237312"/>
            <a:ext cx="100811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5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4525963"/>
          </a:xfrm>
        </p:spPr>
        <p:txBody>
          <a:bodyPr/>
          <a:lstStyle/>
          <a:p>
            <a:r>
              <a:rPr lang="en-US" altLang="zh-TW" dirty="0" smtClean="0"/>
              <a:t>Connect to </a:t>
            </a:r>
            <a:r>
              <a:rPr lang="en-US" altLang="zh-TW" dirty="0" err="1" smtClean="0"/>
              <a:t>hadoop</a:t>
            </a:r>
            <a:r>
              <a:rPr lang="en-US" altLang="zh-TW" dirty="0" smtClean="0"/>
              <a:t> server</a:t>
            </a:r>
            <a:endParaRPr lang="zh-TW" altLang="en-US" dirty="0"/>
          </a:p>
        </p:txBody>
      </p:sp>
      <p:pic>
        <p:nvPicPr>
          <p:cNvPr id="7" name="圖片 6" descr="eclipse1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0007" y="1579370"/>
            <a:ext cx="6963986" cy="5137034"/>
          </a:xfrm>
          <a:prstGeom prst="rect">
            <a:avLst/>
          </a:prstGeom>
        </p:spPr>
      </p:pic>
      <p:sp>
        <p:nvSpPr>
          <p:cNvPr id="8" name="橢圓 7"/>
          <p:cNvSpPr/>
          <p:nvPr/>
        </p:nvSpPr>
        <p:spPr>
          <a:xfrm>
            <a:off x="5364088" y="2348880"/>
            <a:ext cx="129614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 descr="eclipse11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03848" y="1988840"/>
            <a:ext cx="3476191" cy="4209524"/>
          </a:xfrm>
          <a:prstGeom prst="rect">
            <a:avLst/>
          </a:prstGeom>
        </p:spPr>
      </p:pic>
      <p:sp>
        <p:nvSpPr>
          <p:cNvPr id="10" name="橢圓 9"/>
          <p:cNvSpPr/>
          <p:nvPr/>
        </p:nvSpPr>
        <p:spPr>
          <a:xfrm>
            <a:off x="3635896" y="4437112"/>
            <a:ext cx="180020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96815" y="5733256"/>
            <a:ext cx="100811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5 (cont.)</a:t>
            </a:r>
            <a:endParaRPr lang="zh-TW" altLang="en-US" dirty="0"/>
          </a:p>
        </p:txBody>
      </p:sp>
      <p:pic>
        <p:nvPicPr>
          <p:cNvPr id="7" name="圖片 6" descr="eclipse12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71600" y="1124744"/>
            <a:ext cx="7632848" cy="5617600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7956376" y="5007137"/>
            <a:ext cx="36004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 descr="eclipse13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3528" y="1052736"/>
            <a:ext cx="7437244" cy="5040560"/>
          </a:xfrm>
          <a:prstGeom prst="rect">
            <a:avLst/>
          </a:prstGeom>
        </p:spPr>
      </p:pic>
      <p:sp>
        <p:nvSpPr>
          <p:cNvPr id="9" name="圓角矩形 8"/>
          <p:cNvSpPr/>
          <p:nvPr/>
        </p:nvSpPr>
        <p:spPr>
          <a:xfrm>
            <a:off x="444966" y="1822246"/>
            <a:ext cx="2808312" cy="1584176"/>
          </a:xfrm>
          <a:prstGeom prst="roundRect">
            <a:avLst>
              <a:gd name="adj" fmla="val 5978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7164288" y="5805264"/>
            <a:ext cx="432048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 descr="eclipse14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20058" y="1082320"/>
            <a:ext cx="7684390" cy="5659048"/>
          </a:xfrm>
          <a:prstGeom prst="rect">
            <a:avLst/>
          </a:prstGeom>
        </p:spPr>
      </p:pic>
      <p:sp>
        <p:nvSpPr>
          <p:cNvPr id="12" name="圓角矩形 11"/>
          <p:cNvSpPr/>
          <p:nvPr/>
        </p:nvSpPr>
        <p:spPr>
          <a:xfrm>
            <a:off x="971600" y="2132856"/>
            <a:ext cx="1512168" cy="1224136"/>
          </a:xfrm>
          <a:prstGeom prst="roundRect">
            <a:avLst>
              <a:gd name="adj" fmla="val 83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2483768" y="5373216"/>
            <a:ext cx="3240360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9" grpId="1" animBg="1"/>
      <p:bldP spid="10" grpId="0" animBg="1"/>
      <p:bldP spid="10" grpId="1" animBg="1"/>
      <p:bldP spid="12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Step 6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24744"/>
            <a:ext cx="8229600" cy="4525963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Then, you can write programs and run on 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with eclipse now.</a:t>
            </a:r>
            <a:endParaRPr lang="zh-TW" altLang="en-US" dirty="0">
              <a:latin typeface="+mj-lt"/>
            </a:endParaRPr>
          </a:p>
        </p:txBody>
      </p:sp>
      <p:pic>
        <p:nvPicPr>
          <p:cNvPr id="6" name="圖片 5" descr="eclipse15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27584" y="2064132"/>
            <a:ext cx="6336704" cy="4677236"/>
          </a:xfrm>
          <a:prstGeom prst="rect">
            <a:avLst/>
          </a:prstGeom>
        </p:spPr>
      </p:pic>
      <p:pic>
        <p:nvPicPr>
          <p:cNvPr id="7" name="圖片 6" descr="eclipse16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87624" y="2420888"/>
            <a:ext cx="4320478" cy="3600398"/>
          </a:xfrm>
          <a:prstGeom prst="rect">
            <a:avLst/>
          </a:prstGeom>
        </p:spPr>
      </p:pic>
      <p:sp>
        <p:nvSpPr>
          <p:cNvPr id="8" name="橢圓 7"/>
          <p:cNvSpPr/>
          <p:nvPr/>
        </p:nvSpPr>
        <p:spPr>
          <a:xfrm>
            <a:off x="1225765" y="3834196"/>
            <a:ext cx="158417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550414" y="5668298"/>
            <a:ext cx="907268" cy="2019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" name="圖片 9" descr="eclipse17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07704" y="2276872"/>
            <a:ext cx="6048672" cy="4099460"/>
          </a:xfrm>
          <a:prstGeom prst="rect">
            <a:avLst/>
          </a:prstGeom>
        </p:spPr>
      </p:pic>
      <p:sp>
        <p:nvSpPr>
          <p:cNvPr id="11" name="橢圓 10"/>
          <p:cNvSpPr/>
          <p:nvPr/>
        </p:nvSpPr>
        <p:spPr>
          <a:xfrm>
            <a:off x="1907704" y="2886803"/>
            <a:ext cx="1584176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7346445" y="6165304"/>
            <a:ext cx="576064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 descr="eclipse18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75656" y="2040753"/>
            <a:ext cx="6192688" cy="45605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HDFS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32857"/>
            <a:ext cx="7772400" cy="22740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HDFS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HDFS Operations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Environment</a:t>
            </a:r>
          </a:p>
          <a:p>
            <a:r>
              <a:rPr lang="en-US" altLang="zh-TW" dirty="0" smtClean="0"/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Requirements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Part I HDFS Shell basic operation (POSIX-like) (5%)</a:t>
            </a:r>
          </a:p>
          <a:p>
            <a:pPr lvl="1"/>
            <a:r>
              <a:rPr lang="en-US" altLang="zh-TW" dirty="0" smtClean="0">
                <a:latin typeface="+mj-lt"/>
              </a:rPr>
              <a:t>Create a file named [Student ID] with content “Hello TA, I’m [Student ID].”</a:t>
            </a:r>
          </a:p>
          <a:p>
            <a:pPr lvl="1"/>
            <a:r>
              <a:rPr lang="en-US" altLang="zh-TW" dirty="0" smtClean="0">
                <a:latin typeface="+mj-lt"/>
              </a:rPr>
              <a:t>Put it into HDFS.</a:t>
            </a:r>
          </a:p>
          <a:p>
            <a:pPr lvl="1"/>
            <a:r>
              <a:rPr lang="en-US" altLang="zh-TW" dirty="0" smtClean="0">
                <a:latin typeface="+mj-lt"/>
              </a:rPr>
              <a:t>Show the content of the file in the HDFS on the screen. </a:t>
            </a:r>
          </a:p>
          <a:p>
            <a:r>
              <a:rPr lang="en-US" altLang="zh-TW" dirty="0" smtClean="0">
                <a:latin typeface="+mj-lt"/>
              </a:rPr>
              <a:t>Part II Java Program (using APIs) (25%)</a:t>
            </a:r>
          </a:p>
          <a:p>
            <a:pPr lvl="1"/>
            <a:r>
              <a:rPr lang="en-US" altLang="zh-TW" dirty="0" smtClean="0">
                <a:latin typeface="+mj-lt"/>
              </a:rPr>
              <a:t>Write a program to copy the file or directory from HDFS to the local file system. (5%)</a:t>
            </a:r>
          </a:p>
          <a:p>
            <a:pPr lvl="1"/>
            <a:r>
              <a:rPr lang="en-US" altLang="zh-TW" dirty="0" smtClean="0">
                <a:latin typeface="+mj-lt"/>
              </a:rPr>
              <a:t>Write a program to get status of a file in the HDFS.(10%)</a:t>
            </a:r>
          </a:p>
          <a:p>
            <a:pPr lvl="1"/>
            <a:r>
              <a:rPr lang="en-US" altLang="zh-TW" dirty="0" smtClean="0">
                <a:latin typeface="+mj-lt"/>
              </a:rPr>
              <a:t>Write a program that using 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APIs to do the “</a:t>
            </a:r>
            <a:r>
              <a:rPr lang="en-US" altLang="zh-TW" dirty="0" err="1" smtClean="0">
                <a:latin typeface="+mj-lt"/>
              </a:rPr>
              <a:t>ls</a:t>
            </a:r>
            <a:r>
              <a:rPr lang="en-US" altLang="zh-TW" dirty="0" smtClean="0">
                <a:latin typeface="+mj-lt"/>
              </a:rPr>
              <a:t>” operation for listing all files in HDFS. (10%)</a:t>
            </a:r>
          </a:p>
          <a:p>
            <a:pPr>
              <a:buNone/>
            </a:pPr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Hints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setup guide.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Cloud2010_HDFS_Note.docs</a:t>
            </a: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0.20.2 API.</a:t>
            </a:r>
          </a:p>
          <a:p>
            <a:pPr lvl="1"/>
            <a:r>
              <a:rPr lang="en-US" altLang="zh-TW" dirty="0" smtClean="0">
                <a:latin typeface="+mj-lt"/>
                <a:hlinkClick r:id="rId3"/>
              </a:rPr>
              <a:t>http://hadoop.apache.org/common/docs/r0.20.2/api/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  <a:hlinkClick r:id="rId4"/>
              </a:rPr>
              <a:t>http://hadoop.apache.org/common/docs/r0.20.2/api/org/apache/hadoop/fs/FileSystem.html</a:t>
            </a:r>
            <a:endParaRPr lang="en-US" altLang="zh-TW" dirty="0" smtClean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</a:t>
            </a:r>
            <a:r>
              <a:rPr lang="en-US" altLang="zh-TW" cap="none" dirty="0" err="1" smtClean="0"/>
              <a:t>ap</a:t>
            </a:r>
            <a:r>
              <a:rPr lang="en-US" altLang="zh-TW" dirty="0" err="1" smtClean="0"/>
              <a:t>R</a:t>
            </a:r>
            <a:r>
              <a:rPr lang="en-US" altLang="zh-TW" cap="none" dirty="0" err="1" smtClean="0"/>
              <a:t>educe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err="1" smtClean="0"/>
              <a:t>MapReduce</a:t>
            </a:r>
            <a:r>
              <a:rPr lang="en-US" altLang="zh-TW" dirty="0" smtClean="0"/>
              <a:t>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Sample Code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 Prototype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using Eclipse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What’s </a:t>
            </a:r>
            <a:r>
              <a:rPr lang="en-US" altLang="zh-TW" dirty="0" err="1" smtClean="0"/>
              <a:t>MapReduce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600200"/>
            <a:ext cx="4824536" cy="4525963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dirty="0" smtClean="0">
                <a:latin typeface="+mj-lt"/>
              </a:rPr>
              <a:t>Programming model for expressing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distributed computations</a:t>
            </a:r>
            <a:r>
              <a:rPr lang="en-US" altLang="zh-TW" dirty="0" smtClean="0">
                <a:latin typeface="+mj-lt"/>
              </a:rPr>
              <a:t> at a massive scale</a:t>
            </a:r>
          </a:p>
          <a:p>
            <a:r>
              <a:rPr lang="en-US" altLang="zh-TW" dirty="0" smtClean="0">
                <a:latin typeface="+mj-lt"/>
              </a:rPr>
              <a:t>A patented software framework introduced by Google</a:t>
            </a:r>
          </a:p>
          <a:p>
            <a:pPr lvl="1"/>
            <a:r>
              <a:rPr lang="en-US" altLang="zh-TW" dirty="0" smtClean="0">
                <a:latin typeface="+mj-lt"/>
                <a:ea typeface="ＭＳ Ｐゴシック" charset="-128"/>
              </a:rPr>
              <a:t>Processes 20 </a:t>
            </a:r>
            <a:r>
              <a:rPr lang="en-US" altLang="zh-TW" dirty="0" err="1" smtClean="0">
                <a:latin typeface="+mj-lt"/>
                <a:ea typeface="ＭＳ Ｐゴシック" charset="-128"/>
              </a:rPr>
              <a:t>petabytes</a:t>
            </a:r>
            <a:r>
              <a:rPr lang="en-US" altLang="zh-TW" dirty="0" smtClean="0">
                <a:latin typeface="+mj-lt"/>
                <a:ea typeface="ＭＳ Ｐゴシック" charset="-128"/>
              </a:rPr>
              <a:t> of data per day</a:t>
            </a:r>
          </a:p>
          <a:p>
            <a:r>
              <a:rPr lang="en-US" altLang="zh-TW" dirty="0" smtClean="0">
                <a:latin typeface="+mj-lt"/>
                <a:ea typeface="ＭＳ Ｐゴシック" charset="-128"/>
              </a:rPr>
              <a:t>Popularized by open-source </a:t>
            </a:r>
            <a:r>
              <a:rPr lang="en-US" altLang="zh-TW" dirty="0" err="1" smtClean="0">
                <a:latin typeface="+mj-lt"/>
                <a:ea typeface="ＭＳ Ｐゴシック" charset="-128"/>
              </a:rPr>
              <a:t>Hadoop</a:t>
            </a:r>
            <a:r>
              <a:rPr lang="en-US" altLang="zh-TW" dirty="0" smtClean="0">
                <a:latin typeface="+mj-lt"/>
                <a:ea typeface="ＭＳ Ｐゴシック" charset="-128"/>
              </a:rPr>
              <a:t> project</a:t>
            </a:r>
          </a:p>
          <a:p>
            <a:pPr lvl="1"/>
            <a:r>
              <a:rPr lang="en-US" altLang="zh-TW" dirty="0" smtClean="0">
                <a:latin typeface="+mj-lt"/>
                <a:ea typeface="ＭＳ Ｐゴシック" charset="-128"/>
              </a:rPr>
              <a:t>Used at Yahoo!, </a:t>
            </a:r>
            <a:r>
              <a:rPr lang="en-US" altLang="zh-TW" dirty="0" err="1" smtClean="0">
                <a:latin typeface="+mj-lt"/>
                <a:ea typeface="ＭＳ Ｐゴシック" charset="-128"/>
              </a:rPr>
              <a:t>Facebook</a:t>
            </a:r>
            <a:r>
              <a:rPr lang="en-US" altLang="zh-TW" dirty="0" smtClean="0">
                <a:latin typeface="+mj-lt"/>
                <a:ea typeface="ＭＳ Ｐゴシック" charset="-128"/>
              </a:rPr>
              <a:t>, Amazon, …</a:t>
            </a:r>
          </a:p>
        </p:txBody>
      </p:sp>
      <p:grpSp>
        <p:nvGrpSpPr>
          <p:cNvPr id="4" name="群組 10"/>
          <p:cNvGrpSpPr/>
          <p:nvPr/>
        </p:nvGrpSpPr>
        <p:grpSpPr>
          <a:xfrm>
            <a:off x="5194998" y="1916832"/>
            <a:ext cx="3769490" cy="3744796"/>
            <a:chOff x="5117857" y="1916832"/>
            <a:chExt cx="3769490" cy="3744796"/>
          </a:xfrm>
        </p:grpSpPr>
        <p:sp>
          <p:nvSpPr>
            <p:cNvPr id="5" name="圓角矩形 4"/>
            <p:cNvSpPr/>
            <p:nvPr/>
          </p:nvSpPr>
          <p:spPr>
            <a:xfrm>
              <a:off x="5148064" y="3722359"/>
              <a:ext cx="3734344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Hadoop</a:t>
              </a:r>
              <a:r>
                <a:rPr lang="en-US" altLang="zh-TW" dirty="0" smtClean="0"/>
                <a:t> Distributed File System (HDFS)</a:t>
              </a:r>
              <a:endParaRPr lang="zh-TW" altLang="en-US" dirty="0"/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5148064" y="2919902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MapReduce</a:t>
              </a:r>
              <a:endParaRPr lang="zh-TW" altLang="en-US" dirty="0"/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7081921" y="2919902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Hbase</a:t>
              </a:r>
              <a:endParaRPr lang="zh-TW" altLang="en-US" dirty="0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5148064" y="4725429"/>
              <a:ext cx="3734344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 Cluster of Machines</a:t>
              </a:r>
              <a:endParaRPr lang="zh-TW" altLang="en-US" dirty="0"/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5153003" y="1916832"/>
              <a:ext cx="3734344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Cloud Applications</a:t>
              </a:r>
              <a:endParaRPr lang="zh-TW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5117857" y="2871424"/>
              <a:ext cx="1906944" cy="843326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MapReduce</a:t>
            </a:r>
            <a:r>
              <a:rPr lang="en-US" altLang="zh-TW" dirty="0" smtClean="0"/>
              <a:t>: High Level</a:t>
            </a:r>
            <a:endParaRPr lang="zh-TW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4" y="1282157"/>
            <a:ext cx="6624734" cy="5392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Nodes, Trackers, Tasks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JobTracker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Run on Master node</a:t>
            </a:r>
          </a:p>
          <a:p>
            <a:pPr lvl="1"/>
            <a:r>
              <a:rPr lang="en-US" altLang="zh-TW" dirty="0" smtClean="0">
                <a:latin typeface="+mj-lt"/>
              </a:rPr>
              <a:t>Accepts Job requests from clients</a:t>
            </a:r>
          </a:p>
          <a:p>
            <a:r>
              <a:rPr lang="en-US" altLang="zh-TW" dirty="0" err="1" smtClean="0">
                <a:latin typeface="+mj-lt"/>
              </a:rPr>
              <a:t>TaskTracker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Run on slave nodes</a:t>
            </a:r>
          </a:p>
          <a:p>
            <a:pPr lvl="1"/>
            <a:r>
              <a:rPr lang="en-US" altLang="zh-TW" dirty="0" smtClean="0">
                <a:latin typeface="+mj-lt"/>
              </a:rPr>
              <a:t>Forks separate Java process for task instances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 - </a:t>
            </a:r>
            <a:r>
              <a:rPr lang="en-US" altLang="zh-TW" dirty="0" err="1" smtClean="0"/>
              <a:t>Wordcount</a:t>
            </a:r>
            <a:endParaRPr lang="zh-TW" altLang="en-US" dirty="0"/>
          </a:p>
        </p:txBody>
      </p:sp>
      <p:sp>
        <p:nvSpPr>
          <p:cNvPr id="4" name="AutoShape 25"/>
          <p:cNvSpPr>
            <a:spLocks noChangeArrowheads="1"/>
          </p:cNvSpPr>
          <p:nvPr/>
        </p:nvSpPr>
        <p:spPr bwMode="auto">
          <a:xfrm>
            <a:off x="179512" y="2276872"/>
            <a:ext cx="990600" cy="3456384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2CDDC"/>
              </a:gs>
              <a:gs pos="50000">
                <a:srgbClr val="DAEEF3"/>
              </a:gs>
              <a:gs pos="100000">
                <a:srgbClr val="92CDDC"/>
              </a:gs>
            </a:gsLst>
            <a:lin ang="18900000" scaled="1"/>
          </a:gradFill>
          <a:ln w="12700">
            <a:solidFill>
              <a:srgbClr val="92CDDC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cxnSp>
        <p:nvCxnSpPr>
          <p:cNvPr id="5" name="AutoShape 26"/>
          <p:cNvCxnSpPr>
            <a:cxnSpLocks noChangeShapeType="1"/>
          </p:cNvCxnSpPr>
          <p:nvPr/>
        </p:nvCxnSpPr>
        <p:spPr bwMode="auto">
          <a:xfrm>
            <a:off x="179512" y="3140968"/>
            <a:ext cx="990600" cy="0"/>
          </a:xfrm>
          <a:prstGeom prst="straightConnector1">
            <a:avLst/>
          </a:prstGeom>
          <a:noFill/>
          <a:ln w="12700">
            <a:solidFill>
              <a:srgbClr val="4BACC6"/>
            </a:solidFill>
            <a:prstDash val="dash"/>
            <a:round/>
            <a:headEnd/>
            <a:tailEnd/>
          </a:ln>
          <a:effectLst/>
        </p:spPr>
      </p:cxnSp>
      <p:cxnSp>
        <p:nvCxnSpPr>
          <p:cNvPr id="6" name="AutoShape 27"/>
          <p:cNvCxnSpPr>
            <a:cxnSpLocks noChangeShapeType="1"/>
          </p:cNvCxnSpPr>
          <p:nvPr/>
        </p:nvCxnSpPr>
        <p:spPr bwMode="auto">
          <a:xfrm>
            <a:off x="179512" y="4077072"/>
            <a:ext cx="990600" cy="0"/>
          </a:xfrm>
          <a:prstGeom prst="straightConnector1">
            <a:avLst/>
          </a:prstGeom>
          <a:noFill/>
          <a:ln w="12700">
            <a:solidFill>
              <a:srgbClr val="4BACC6"/>
            </a:solidFill>
            <a:prstDash val="dash"/>
            <a:round/>
            <a:headEnd/>
            <a:tailEnd/>
          </a:ln>
          <a:effectLst/>
        </p:spPr>
      </p:cxnSp>
      <p:sp>
        <p:nvSpPr>
          <p:cNvPr id="7" name="文字方塊 6"/>
          <p:cNvSpPr txBox="1"/>
          <p:nvPr/>
        </p:nvSpPr>
        <p:spPr>
          <a:xfrm>
            <a:off x="179512" y="242088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Hello Cloud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179512" y="3429000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TA cool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179512" y="4152514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Hello TA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0" name="AutoShape 27"/>
          <p:cNvCxnSpPr>
            <a:cxnSpLocks noChangeShapeType="1"/>
          </p:cNvCxnSpPr>
          <p:nvPr/>
        </p:nvCxnSpPr>
        <p:spPr bwMode="auto">
          <a:xfrm>
            <a:off x="197024" y="4941168"/>
            <a:ext cx="990600" cy="0"/>
          </a:xfrm>
          <a:prstGeom prst="straightConnector1">
            <a:avLst/>
          </a:prstGeom>
          <a:noFill/>
          <a:ln w="12700">
            <a:solidFill>
              <a:srgbClr val="4BACC6"/>
            </a:solidFill>
            <a:prstDash val="dash"/>
            <a:round/>
            <a:headEnd/>
            <a:tailEnd/>
          </a:ln>
          <a:effectLst/>
        </p:spPr>
      </p:cxnSp>
      <p:sp>
        <p:nvSpPr>
          <p:cNvPr id="11" name="文字方塊 10"/>
          <p:cNvSpPr txBox="1"/>
          <p:nvPr/>
        </p:nvSpPr>
        <p:spPr>
          <a:xfrm>
            <a:off x="179512" y="5117122"/>
            <a:ext cx="10081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cool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51520" y="1876762"/>
            <a:ext cx="8640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dirty="0" smtClean="0">
                <a:latin typeface="Calibri" pitchFamily="34" charset="0"/>
                <a:cs typeface="Calibri" pitchFamily="34" charset="0"/>
              </a:rPr>
              <a:t>Input</a:t>
            </a:r>
            <a:endParaRPr lang="zh-TW" altLang="en-US" sz="2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99992" y="3933056"/>
            <a:ext cx="3024336" cy="14401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4499992" y="2276872"/>
            <a:ext cx="3024336" cy="144016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/>
          <p:cNvSpPr/>
          <p:nvPr/>
        </p:nvSpPr>
        <p:spPr>
          <a:xfrm>
            <a:off x="1547664" y="4869160"/>
            <a:ext cx="230425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1547664" y="3284984"/>
            <a:ext cx="230425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/>
          <p:cNvSpPr/>
          <p:nvPr/>
        </p:nvSpPr>
        <p:spPr>
          <a:xfrm>
            <a:off x="1547664" y="1772816"/>
            <a:ext cx="2304256" cy="11521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AutoShape 6"/>
          <p:cNvSpPr>
            <a:spLocks noChangeArrowheads="1"/>
          </p:cNvSpPr>
          <p:nvPr/>
        </p:nvSpPr>
        <p:spPr bwMode="auto">
          <a:xfrm>
            <a:off x="1619672" y="1844824"/>
            <a:ext cx="1244600" cy="949325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974706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Mapper</a:t>
            </a:r>
            <a:endParaRPr kumimoji="1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19" name="AutoShape 7"/>
          <p:cNvSpPr>
            <a:spLocks noChangeArrowheads="1"/>
          </p:cNvSpPr>
          <p:nvPr/>
        </p:nvSpPr>
        <p:spPr bwMode="auto">
          <a:xfrm>
            <a:off x="1619672" y="3356992"/>
            <a:ext cx="1244600" cy="949325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974706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Mapper</a:t>
            </a:r>
            <a:endParaRPr kumimoji="1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0" name="AutoShape 8"/>
          <p:cNvSpPr>
            <a:spLocks noChangeArrowheads="1"/>
          </p:cNvSpPr>
          <p:nvPr/>
        </p:nvSpPr>
        <p:spPr bwMode="auto">
          <a:xfrm>
            <a:off x="1619672" y="4941168"/>
            <a:ext cx="1244600" cy="949325"/>
          </a:xfrm>
          <a:prstGeom prst="roundRect">
            <a:avLst>
              <a:gd name="adj" fmla="val 16667"/>
            </a:avLst>
          </a:prstGeom>
          <a:solidFill>
            <a:srgbClr val="F7964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974706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Mapper</a:t>
            </a:r>
            <a:endParaRPr kumimoji="1" lang="zh-TW" altLang="zh-TW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5314676" y="2637110"/>
            <a:ext cx="841499" cy="863898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200" dirty="0" smtClean="0"/>
              <a:t>Hello [1 1]</a:t>
            </a:r>
          </a:p>
          <a:p>
            <a:pPr algn="ctr"/>
            <a:r>
              <a:rPr lang="en-US" altLang="zh-TW" sz="1200" dirty="0" smtClean="0"/>
              <a:t>TA [1 1]</a:t>
            </a:r>
            <a:endParaRPr lang="zh-TW" altLang="en-US" sz="1200" dirty="0"/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5314676" y="4364906"/>
            <a:ext cx="841499" cy="648270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altLang="zh-TW" sz="1200" dirty="0" smtClean="0"/>
              <a:t>Cloud [1]</a:t>
            </a:r>
          </a:p>
          <a:p>
            <a:pPr algn="ctr"/>
            <a:r>
              <a:rPr lang="en-US" altLang="zh-TW" sz="1200" dirty="0" smtClean="0"/>
              <a:t>cool [1 1]</a:t>
            </a:r>
            <a:endParaRPr lang="zh-TW" altLang="en-US" sz="1200" dirty="0"/>
          </a:p>
        </p:txBody>
      </p:sp>
      <p:sp>
        <p:nvSpPr>
          <p:cNvPr id="23" name="AutoShape 21"/>
          <p:cNvSpPr>
            <a:spLocks noChangeArrowheads="1"/>
          </p:cNvSpPr>
          <p:nvPr/>
        </p:nvSpPr>
        <p:spPr bwMode="auto">
          <a:xfrm>
            <a:off x="6209308" y="4207867"/>
            <a:ext cx="1243012" cy="949325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Reducer</a:t>
            </a: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4" name="AutoShape 22"/>
          <p:cNvSpPr>
            <a:spLocks noChangeArrowheads="1"/>
          </p:cNvSpPr>
          <p:nvPr/>
        </p:nvSpPr>
        <p:spPr bwMode="auto">
          <a:xfrm>
            <a:off x="6209308" y="2492896"/>
            <a:ext cx="1243012" cy="949325"/>
          </a:xfrm>
          <a:prstGeom prst="roundRect">
            <a:avLst>
              <a:gd name="adj" fmla="val 16667"/>
            </a:avLst>
          </a:prstGeom>
          <a:solidFill>
            <a:srgbClr val="4BACC6"/>
          </a:solidFill>
          <a:ln w="38100">
            <a:solidFill>
              <a:srgbClr val="F2F2F2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Reducer</a:t>
            </a:r>
            <a:endParaRPr kumimoji="1" lang="zh-TW" altLang="zh-TW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5" name="AutoShape 23"/>
          <p:cNvSpPr>
            <a:spLocks noChangeArrowheads="1"/>
          </p:cNvSpPr>
          <p:nvPr/>
        </p:nvSpPr>
        <p:spPr bwMode="auto">
          <a:xfrm>
            <a:off x="7973888" y="2564904"/>
            <a:ext cx="1062608" cy="8255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2CDDC"/>
              </a:gs>
              <a:gs pos="50000">
                <a:srgbClr val="DAEEF3"/>
              </a:gs>
              <a:gs pos="100000">
                <a:srgbClr val="92CDDC"/>
              </a:gs>
            </a:gsLst>
            <a:lin ang="18900000" scaled="1"/>
          </a:gradFill>
          <a:ln w="12700">
            <a:solidFill>
              <a:srgbClr val="92CDDC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Hello</a:t>
            </a:r>
            <a:r>
              <a:rPr kumimoji="1" lang="en-US" altLang="zh-TW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 2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aseline="0" dirty="0" smtClean="0">
                <a:latin typeface="Calibri" pitchFamily="34" charset="0"/>
                <a:ea typeface="新細明體" pitchFamily="18" charset="-120"/>
                <a:cs typeface="新細明體" pitchFamily="18" charset="-120"/>
              </a:rPr>
              <a:t>TA</a:t>
            </a:r>
            <a:r>
              <a:rPr kumimoji="1" lang="en-US" altLang="zh-TW" sz="2000" dirty="0" smtClean="0">
                <a:latin typeface="Calibri" pitchFamily="34" charset="0"/>
                <a:ea typeface="新細明體" pitchFamily="18" charset="-120"/>
                <a:cs typeface="新細明體" pitchFamily="18" charset="-120"/>
              </a:rPr>
              <a:t> 2</a:t>
            </a:r>
            <a:endParaRPr kumimoji="1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sp>
        <p:nvSpPr>
          <p:cNvPr id="26" name="AutoShape 23"/>
          <p:cNvSpPr>
            <a:spLocks noChangeArrowheads="1"/>
          </p:cNvSpPr>
          <p:nvPr/>
        </p:nvSpPr>
        <p:spPr bwMode="auto">
          <a:xfrm>
            <a:off x="7973888" y="4259684"/>
            <a:ext cx="1062608" cy="8255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2CDDC"/>
              </a:gs>
              <a:gs pos="50000">
                <a:srgbClr val="DAEEF3"/>
              </a:gs>
              <a:gs pos="100000">
                <a:srgbClr val="92CDDC"/>
              </a:gs>
            </a:gsLst>
            <a:lin ang="18900000" scaled="1"/>
          </a:gradFill>
          <a:ln w="12700">
            <a:solidFill>
              <a:srgbClr val="92CDDC"/>
            </a:solidFill>
            <a:round/>
            <a:headEnd/>
            <a:tailEnd/>
          </a:ln>
          <a:effectLst>
            <a:outerShdw dist="28398" dir="3806097" algn="ctr" rotWithShape="0">
              <a:srgbClr val="205867">
                <a:alpha val="50000"/>
              </a:srgbClr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dirty="0" smtClean="0">
                <a:latin typeface="Calibri" pitchFamily="34" charset="0"/>
                <a:ea typeface="新細明體" pitchFamily="18" charset="-120"/>
                <a:cs typeface="新細明體" pitchFamily="18" charset="-120"/>
              </a:rPr>
              <a:t>Cloud 1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dirty="0" smtClean="0">
                <a:latin typeface="Calibri" pitchFamily="34" charset="0"/>
                <a:ea typeface="新細明體" pitchFamily="18" charset="-120"/>
                <a:cs typeface="新細明體" pitchFamily="18" charset="-120"/>
              </a:rPr>
              <a:t>c</a:t>
            </a: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新細明體" pitchFamily="18" charset="-120"/>
                <a:cs typeface="新細明體" pitchFamily="18" charset="-120"/>
              </a:rPr>
              <a:t>ool 2</a:t>
            </a:r>
            <a:endParaRPr kumimoji="1" lang="zh-TW" altLang="zh-TW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新細明體" pitchFamily="18" charset="-120"/>
              <a:cs typeface="新細明體" pitchFamily="18" charset="-120"/>
            </a:endParaRPr>
          </a:p>
        </p:txBody>
      </p:sp>
      <p:cxnSp>
        <p:nvCxnSpPr>
          <p:cNvPr id="27" name="直線單箭頭接點 26"/>
          <p:cNvCxnSpPr>
            <a:stCxn id="18" idx="3"/>
          </p:cNvCxnSpPr>
          <p:nvPr/>
        </p:nvCxnSpPr>
        <p:spPr>
          <a:xfrm flipV="1">
            <a:off x="2864272" y="2204864"/>
            <a:ext cx="195560" cy="1146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單箭頭接點 27"/>
          <p:cNvCxnSpPr>
            <a:stCxn id="18" idx="3"/>
          </p:cNvCxnSpPr>
          <p:nvPr/>
        </p:nvCxnSpPr>
        <p:spPr>
          <a:xfrm>
            <a:off x="2864272" y="2319487"/>
            <a:ext cx="195560" cy="1014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/>
          <p:cNvCxnSpPr>
            <a:stCxn id="19" idx="3"/>
            <a:endCxn id="45" idx="1"/>
          </p:cNvCxnSpPr>
          <p:nvPr/>
        </p:nvCxnSpPr>
        <p:spPr>
          <a:xfrm flipV="1">
            <a:off x="2864272" y="3680929"/>
            <a:ext cx="172963" cy="1507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/>
          <p:cNvCxnSpPr>
            <a:stCxn id="19" idx="3"/>
            <a:endCxn id="44" idx="1"/>
          </p:cNvCxnSpPr>
          <p:nvPr/>
        </p:nvCxnSpPr>
        <p:spPr>
          <a:xfrm>
            <a:off x="2864272" y="3831655"/>
            <a:ext cx="172963" cy="2813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單箭頭接點 30"/>
          <p:cNvCxnSpPr/>
          <p:nvPr/>
        </p:nvCxnSpPr>
        <p:spPr>
          <a:xfrm flipV="1">
            <a:off x="2843808" y="5330601"/>
            <a:ext cx="195560" cy="11462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/>
          <p:cNvCxnSpPr/>
          <p:nvPr/>
        </p:nvCxnSpPr>
        <p:spPr>
          <a:xfrm>
            <a:off x="2843808" y="5445224"/>
            <a:ext cx="195560" cy="10140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/>
          <p:cNvCxnSpPr/>
          <p:nvPr/>
        </p:nvCxnSpPr>
        <p:spPr>
          <a:xfrm>
            <a:off x="5220072" y="2996853"/>
            <a:ext cx="144016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單箭頭接點 34"/>
          <p:cNvCxnSpPr/>
          <p:nvPr/>
        </p:nvCxnSpPr>
        <p:spPr>
          <a:xfrm>
            <a:off x="6061571" y="2996952"/>
            <a:ext cx="238621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/>
          <p:cNvCxnSpPr/>
          <p:nvPr/>
        </p:nvCxnSpPr>
        <p:spPr>
          <a:xfrm>
            <a:off x="6061571" y="4653136"/>
            <a:ext cx="238621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單箭頭接點 36"/>
          <p:cNvCxnSpPr/>
          <p:nvPr/>
        </p:nvCxnSpPr>
        <p:spPr>
          <a:xfrm>
            <a:off x="7236296" y="2996952"/>
            <a:ext cx="86409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單箭頭接點 37"/>
          <p:cNvCxnSpPr/>
          <p:nvPr/>
        </p:nvCxnSpPr>
        <p:spPr>
          <a:xfrm>
            <a:off x="7236296" y="4653136"/>
            <a:ext cx="86409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20"/>
          <p:cNvSpPr>
            <a:spLocks noChangeArrowheads="1"/>
          </p:cNvSpPr>
          <p:nvPr/>
        </p:nvSpPr>
        <p:spPr bwMode="auto">
          <a:xfrm>
            <a:off x="3037235" y="2060848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Hello 1</a:t>
            </a:r>
            <a:endParaRPr lang="zh-TW" altLang="en-US" sz="1200" dirty="0"/>
          </a:p>
        </p:txBody>
      </p:sp>
      <p:sp>
        <p:nvSpPr>
          <p:cNvPr id="40" name="Rectangle 20"/>
          <p:cNvSpPr>
            <a:spLocks noChangeArrowheads="1"/>
          </p:cNvSpPr>
          <p:nvPr/>
        </p:nvSpPr>
        <p:spPr bwMode="auto">
          <a:xfrm>
            <a:off x="3037235" y="5445224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TA 1</a:t>
            </a:r>
            <a:endParaRPr lang="zh-TW" altLang="en-US" sz="1200" dirty="0"/>
          </a:p>
        </p:txBody>
      </p:sp>
      <p:sp>
        <p:nvSpPr>
          <p:cNvPr id="41" name="Rectangle 20"/>
          <p:cNvSpPr>
            <a:spLocks noChangeArrowheads="1"/>
          </p:cNvSpPr>
          <p:nvPr/>
        </p:nvSpPr>
        <p:spPr bwMode="auto">
          <a:xfrm>
            <a:off x="3037235" y="2276872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Cloud 1</a:t>
            </a:r>
            <a:endParaRPr lang="zh-TW" altLang="en-US" sz="1200" dirty="0"/>
          </a:p>
        </p:txBody>
      </p:sp>
      <p:sp>
        <p:nvSpPr>
          <p:cNvPr id="42" name="Rectangle 20"/>
          <p:cNvSpPr>
            <a:spLocks noChangeArrowheads="1"/>
          </p:cNvSpPr>
          <p:nvPr/>
        </p:nvSpPr>
        <p:spPr bwMode="auto">
          <a:xfrm>
            <a:off x="3037235" y="5229200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Hello 1</a:t>
            </a:r>
            <a:endParaRPr lang="zh-TW" altLang="en-US" sz="1200" dirty="0"/>
          </a:p>
        </p:txBody>
      </p:sp>
      <p:sp>
        <p:nvSpPr>
          <p:cNvPr id="43" name="Rectangle 20"/>
          <p:cNvSpPr>
            <a:spLocks noChangeArrowheads="1"/>
          </p:cNvSpPr>
          <p:nvPr/>
        </p:nvSpPr>
        <p:spPr bwMode="auto">
          <a:xfrm>
            <a:off x="3037235" y="3788841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cool 1</a:t>
            </a:r>
            <a:endParaRPr lang="zh-TW" altLang="en-US" sz="1200" dirty="0"/>
          </a:p>
        </p:txBody>
      </p:sp>
      <p:sp>
        <p:nvSpPr>
          <p:cNvPr id="44" name="Rectangle 20"/>
          <p:cNvSpPr>
            <a:spLocks noChangeArrowheads="1"/>
          </p:cNvSpPr>
          <p:nvPr/>
        </p:nvSpPr>
        <p:spPr bwMode="auto">
          <a:xfrm>
            <a:off x="3037235" y="4004865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cool 1</a:t>
            </a:r>
            <a:endParaRPr lang="zh-TW" altLang="en-US" sz="1200" dirty="0"/>
          </a:p>
        </p:txBody>
      </p:sp>
      <p:sp>
        <p:nvSpPr>
          <p:cNvPr id="45" name="Rectangle 20"/>
          <p:cNvSpPr>
            <a:spLocks noChangeArrowheads="1"/>
          </p:cNvSpPr>
          <p:nvPr/>
        </p:nvSpPr>
        <p:spPr bwMode="auto">
          <a:xfrm>
            <a:off x="3037235" y="3572817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TA 1</a:t>
            </a:r>
            <a:endParaRPr lang="zh-TW" altLang="en-US" sz="1200" dirty="0"/>
          </a:p>
        </p:txBody>
      </p:sp>
      <p:sp>
        <p:nvSpPr>
          <p:cNvPr id="46" name="Rectangle 20"/>
          <p:cNvSpPr>
            <a:spLocks noChangeArrowheads="1"/>
          </p:cNvSpPr>
          <p:nvPr/>
        </p:nvSpPr>
        <p:spPr bwMode="auto">
          <a:xfrm>
            <a:off x="4549403" y="2636912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Hello 1</a:t>
            </a:r>
            <a:endParaRPr lang="zh-TW" altLang="en-US" sz="1200" dirty="0" smtClean="0"/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4549403" y="2852936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Hello 1</a:t>
            </a:r>
            <a:endParaRPr lang="zh-TW" altLang="en-US" sz="1200" dirty="0" smtClean="0"/>
          </a:p>
        </p:txBody>
      </p:sp>
      <p:sp>
        <p:nvSpPr>
          <p:cNvPr id="48" name="Rectangle 20"/>
          <p:cNvSpPr>
            <a:spLocks noChangeArrowheads="1"/>
          </p:cNvSpPr>
          <p:nvPr/>
        </p:nvSpPr>
        <p:spPr bwMode="auto">
          <a:xfrm>
            <a:off x="4549403" y="3068960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TA 1</a:t>
            </a:r>
            <a:endParaRPr lang="zh-TW" altLang="en-US" sz="1200" dirty="0" smtClean="0"/>
          </a:p>
        </p:txBody>
      </p:sp>
      <p:sp>
        <p:nvSpPr>
          <p:cNvPr id="49" name="Rectangle 20"/>
          <p:cNvSpPr>
            <a:spLocks noChangeArrowheads="1"/>
          </p:cNvSpPr>
          <p:nvPr/>
        </p:nvSpPr>
        <p:spPr bwMode="auto">
          <a:xfrm>
            <a:off x="4549403" y="3284984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TA 1</a:t>
            </a:r>
            <a:endParaRPr lang="zh-TW" altLang="en-US" sz="1200" dirty="0" smtClean="0"/>
          </a:p>
        </p:txBody>
      </p:sp>
      <p:sp>
        <p:nvSpPr>
          <p:cNvPr id="50" name="Rectangle 20"/>
          <p:cNvSpPr>
            <a:spLocks noChangeArrowheads="1"/>
          </p:cNvSpPr>
          <p:nvPr/>
        </p:nvSpPr>
        <p:spPr bwMode="auto">
          <a:xfrm>
            <a:off x="4549403" y="4364905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Cloud 1</a:t>
            </a:r>
            <a:endParaRPr lang="zh-TW" altLang="en-US" sz="1200" dirty="0"/>
          </a:p>
        </p:txBody>
      </p:sp>
      <p:sp>
        <p:nvSpPr>
          <p:cNvPr id="51" name="Rectangle 20"/>
          <p:cNvSpPr>
            <a:spLocks noChangeArrowheads="1"/>
          </p:cNvSpPr>
          <p:nvPr/>
        </p:nvSpPr>
        <p:spPr bwMode="auto">
          <a:xfrm>
            <a:off x="4549403" y="4580929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cool 1</a:t>
            </a:r>
            <a:endParaRPr lang="zh-TW" altLang="en-US" sz="1200" dirty="0"/>
          </a:p>
        </p:txBody>
      </p:sp>
      <p:sp>
        <p:nvSpPr>
          <p:cNvPr id="52" name="Rectangle 20"/>
          <p:cNvSpPr>
            <a:spLocks noChangeArrowheads="1"/>
          </p:cNvSpPr>
          <p:nvPr/>
        </p:nvSpPr>
        <p:spPr bwMode="auto">
          <a:xfrm>
            <a:off x="4549403" y="4796953"/>
            <a:ext cx="670670" cy="216223"/>
          </a:xfrm>
          <a:prstGeom prst="rect">
            <a:avLst/>
          </a:prstGeom>
          <a:solidFill>
            <a:srgbClr val="FFFFFF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altLang="zh-TW" sz="1200" dirty="0" smtClean="0"/>
              <a:t>cool 1</a:t>
            </a:r>
            <a:endParaRPr lang="zh-TW" altLang="en-US" sz="1200" dirty="0"/>
          </a:p>
        </p:txBody>
      </p:sp>
      <p:cxnSp>
        <p:nvCxnSpPr>
          <p:cNvPr id="53" name="直線單箭頭接點 52"/>
          <p:cNvCxnSpPr>
            <a:stCxn id="19" idx="3"/>
            <a:endCxn id="43" idx="1"/>
          </p:cNvCxnSpPr>
          <p:nvPr/>
        </p:nvCxnSpPr>
        <p:spPr>
          <a:xfrm>
            <a:off x="2864272" y="3831655"/>
            <a:ext cx="172963" cy="652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39" idx="3"/>
            <a:endCxn id="46" idx="1"/>
          </p:cNvCxnSpPr>
          <p:nvPr/>
        </p:nvCxnSpPr>
        <p:spPr>
          <a:xfrm>
            <a:off x="3707905" y="2168960"/>
            <a:ext cx="841498" cy="5760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/>
          <p:cNvCxnSpPr>
            <a:endCxn id="50" idx="1"/>
          </p:cNvCxnSpPr>
          <p:nvPr/>
        </p:nvCxnSpPr>
        <p:spPr>
          <a:xfrm rot="16200000" flipH="1">
            <a:off x="3102589" y="3026203"/>
            <a:ext cx="2052130" cy="84149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單箭頭接點 55"/>
          <p:cNvCxnSpPr>
            <a:stCxn id="45" idx="3"/>
            <a:endCxn id="48" idx="1"/>
          </p:cNvCxnSpPr>
          <p:nvPr/>
        </p:nvCxnSpPr>
        <p:spPr>
          <a:xfrm flipV="1">
            <a:off x="3707905" y="3177072"/>
            <a:ext cx="841498" cy="5038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43" idx="3"/>
            <a:endCxn id="51" idx="1"/>
          </p:cNvCxnSpPr>
          <p:nvPr/>
        </p:nvCxnSpPr>
        <p:spPr>
          <a:xfrm>
            <a:off x="3707905" y="3896953"/>
            <a:ext cx="841498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/>
          <p:cNvCxnSpPr>
            <a:stCxn id="44" idx="3"/>
            <a:endCxn id="52" idx="1"/>
          </p:cNvCxnSpPr>
          <p:nvPr/>
        </p:nvCxnSpPr>
        <p:spPr>
          <a:xfrm>
            <a:off x="3707905" y="4112977"/>
            <a:ext cx="841498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單箭頭接點 58"/>
          <p:cNvCxnSpPr>
            <a:stCxn id="42" idx="3"/>
            <a:endCxn id="47" idx="1"/>
          </p:cNvCxnSpPr>
          <p:nvPr/>
        </p:nvCxnSpPr>
        <p:spPr>
          <a:xfrm flipV="1">
            <a:off x="3707905" y="2961048"/>
            <a:ext cx="841498" cy="237626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40" idx="3"/>
            <a:endCxn id="49" idx="1"/>
          </p:cNvCxnSpPr>
          <p:nvPr/>
        </p:nvCxnSpPr>
        <p:spPr>
          <a:xfrm flipV="1">
            <a:off x="3707905" y="3393096"/>
            <a:ext cx="841498" cy="216024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單箭頭接點 60"/>
          <p:cNvCxnSpPr>
            <a:stCxn id="7" idx="3"/>
            <a:endCxn id="18" idx="1"/>
          </p:cNvCxnSpPr>
          <p:nvPr/>
        </p:nvCxnSpPr>
        <p:spPr>
          <a:xfrm flipV="1">
            <a:off x="1187624" y="2319487"/>
            <a:ext cx="432048" cy="4553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>
            <a:stCxn id="8" idx="3"/>
            <a:endCxn id="19" idx="1"/>
          </p:cNvCxnSpPr>
          <p:nvPr/>
        </p:nvCxnSpPr>
        <p:spPr>
          <a:xfrm>
            <a:off x="1187624" y="3629055"/>
            <a:ext cx="432048" cy="202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stCxn id="11" idx="3"/>
            <a:endCxn id="19" idx="1"/>
          </p:cNvCxnSpPr>
          <p:nvPr/>
        </p:nvCxnSpPr>
        <p:spPr>
          <a:xfrm flipV="1">
            <a:off x="1187624" y="3831655"/>
            <a:ext cx="432048" cy="14855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單箭頭接點 63"/>
          <p:cNvCxnSpPr>
            <a:stCxn id="9" idx="3"/>
            <a:endCxn id="20" idx="1"/>
          </p:cNvCxnSpPr>
          <p:nvPr/>
        </p:nvCxnSpPr>
        <p:spPr>
          <a:xfrm>
            <a:off x="1187624" y="4506457"/>
            <a:ext cx="432048" cy="90937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文字方塊 64"/>
          <p:cNvSpPr txBox="1"/>
          <p:nvPr/>
        </p:nvSpPr>
        <p:spPr>
          <a:xfrm>
            <a:off x="3851920" y="1772816"/>
            <a:ext cx="1224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Sort/Copy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4860032" y="2276872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Calibri" pitchFamily="34" charset="0"/>
                <a:cs typeface="Calibri" pitchFamily="34" charset="0"/>
              </a:rPr>
              <a:t>Merge</a:t>
            </a:r>
            <a:endParaRPr lang="zh-TW" altLang="en-US" sz="20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884368" y="1988840"/>
            <a:ext cx="10801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00" dirty="0" smtClean="0">
                <a:latin typeface="Calibri" pitchFamily="34" charset="0"/>
                <a:cs typeface="Calibri" pitchFamily="34" charset="0"/>
              </a:rPr>
              <a:t>Output</a:t>
            </a:r>
            <a:endParaRPr lang="zh-TW" altLang="en-US" sz="22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13" name="直線單箭頭接點 112"/>
          <p:cNvCxnSpPr/>
          <p:nvPr/>
        </p:nvCxnSpPr>
        <p:spPr>
          <a:xfrm>
            <a:off x="5220072" y="4670388"/>
            <a:ext cx="144016" cy="9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65" grpId="0"/>
      <p:bldP spid="66" grpId="0"/>
      <p:bldP spid="6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</a:t>
            </a:r>
            <a:r>
              <a:rPr lang="en-US" altLang="zh-TW" cap="none" dirty="0" err="1" smtClean="0"/>
              <a:t>ap</a:t>
            </a:r>
            <a:r>
              <a:rPr lang="en-US" altLang="zh-TW" dirty="0" err="1" smtClean="0"/>
              <a:t>R</a:t>
            </a:r>
            <a:r>
              <a:rPr lang="en-US" altLang="zh-TW" cap="none" dirty="0" err="1" smtClean="0"/>
              <a:t>educe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MapReduce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 Introduction</a:t>
            </a:r>
          </a:p>
          <a:p>
            <a:r>
              <a:rPr lang="en-US" altLang="zh-TW" dirty="0" smtClean="0"/>
              <a:t>Sample Code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 Prototype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using Eclipse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51520" y="980728"/>
            <a:ext cx="864096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public static void main(String[] </a:t>
            </a:r>
            <a:r>
              <a:rPr lang="en-US" altLang="zh-TW" dirty="0" err="1" smtClean="0"/>
              <a:t>args</a:t>
            </a:r>
            <a:r>
              <a:rPr lang="en-US" altLang="zh-TW" dirty="0" smtClean="0"/>
              <a:t>) throws Exception {</a:t>
            </a:r>
          </a:p>
          <a:p>
            <a:r>
              <a:rPr lang="en-US" altLang="zh-TW" dirty="0" smtClean="0"/>
              <a:t>    Configuration conf = new Configuration();</a:t>
            </a:r>
          </a:p>
          <a:p>
            <a:r>
              <a:rPr lang="en-US" altLang="zh-TW" dirty="0" smtClean="0"/>
              <a:t>    String[] </a:t>
            </a:r>
            <a:r>
              <a:rPr lang="en-US" altLang="zh-TW" dirty="0" err="1" smtClean="0"/>
              <a:t>otherArgs</a:t>
            </a:r>
            <a:r>
              <a:rPr lang="en-US" altLang="zh-TW" dirty="0" smtClean="0"/>
              <a:t> = new </a:t>
            </a:r>
            <a:r>
              <a:rPr lang="en-US" altLang="zh-TW" dirty="0" err="1" smtClean="0"/>
              <a:t>GenericOptionsParser</a:t>
            </a:r>
            <a:r>
              <a:rPr lang="en-US" altLang="zh-TW" dirty="0" smtClean="0"/>
              <a:t>(conf, </a:t>
            </a:r>
            <a:r>
              <a:rPr lang="en-US" altLang="zh-TW" dirty="0" err="1" smtClean="0"/>
              <a:t>args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        .</a:t>
            </a:r>
            <a:r>
              <a:rPr lang="en-US" altLang="zh-TW" dirty="0" err="1" smtClean="0"/>
              <a:t>getRemainingArgs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    if (</a:t>
            </a:r>
            <a:r>
              <a:rPr lang="en-US" altLang="zh-TW" dirty="0" err="1" smtClean="0"/>
              <a:t>otherArgs.length</a:t>
            </a:r>
            <a:r>
              <a:rPr lang="en-US" altLang="zh-TW" dirty="0" smtClean="0"/>
              <a:t> != 2) {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System.err.println</a:t>
            </a:r>
            <a:r>
              <a:rPr lang="en-US" altLang="zh-TW" dirty="0" smtClean="0"/>
              <a:t>("Usage: </a:t>
            </a:r>
            <a:r>
              <a:rPr lang="en-US" altLang="zh-TW" dirty="0" err="1" smtClean="0"/>
              <a:t>wordcount</a:t>
            </a:r>
            <a:r>
              <a:rPr lang="en-US" altLang="zh-TW" dirty="0" smtClean="0"/>
              <a:t> &lt;in&gt; &lt;out&gt;");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System.exit</a:t>
            </a:r>
            <a:r>
              <a:rPr lang="en-US" altLang="zh-TW" dirty="0" smtClean="0"/>
              <a:t>(2);</a:t>
            </a:r>
          </a:p>
          <a:p>
            <a:r>
              <a:rPr lang="en-US" altLang="zh-TW" dirty="0" smtClean="0"/>
              <a:t>    }</a:t>
            </a:r>
          </a:p>
          <a:p>
            <a:r>
              <a:rPr lang="en-US" altLang="zh-TW" dirty="0" smtClean="0"/>
              <a:t>    Job </a:t>
            </a:r>
            <a:r>
              <a:rPr lang="en-US" altLang="zh-TW" dirty="0" err="1" smtClean="0"/>
              <a:t>job</a:t>
            </a:r>
            <a:r>
              <a:rPr lang="en-US" altLang="zh-TW" dirty="0" smtClean="0"/>
              <a:t> = new Job(conf, "word count");</a:t>
            </a:r>
          </a:p>
          <a:p>
            <a:r>
              <a:rPr lang="en-US" altLang="zh-TW" dirty="0" smtClean="0"/>
              <a:t>   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job.setJarByClass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wordcount.class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job.setMapperClass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mymapper.class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job.setCombinerClass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myreducer.class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job.setReducerClass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myreducer.class</a:t>
            </a:r>
            <a:r>
              <a:rPr lang="en-US" altLang="zh-TW" dirty="0" smtClean="0"/>
              <a:t>);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FileInputFormat.addInputPath</a:t>
            </a:r>
            <a:r>
              <a:rPr lang="en-US" altLang="zh-TW" dirty="0" smtClean="0"/>
              <a:t>(job, new Path(</a:t>
            </a:r>
            <a:r>
              <a:rPr lang="en-US" altLang="zh-TW" dirty="0" err="1" smtClean="0"/>
              <a:t>otherArgs</a:t>
            </a:r>
            <a:r>
              <a:rPr lang="en-US" altLang="zh-TW" dirty="0" smtClean="0"/>
              <a:t>[0]));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FileOutputFormat.setOutputPath</a:t>
            </a:r>
            <a:r>
              <a:rPr lang="en-US" altLang="zh-TW" dirty="0" smtClean="0"/>
              <a:t>(job, new Path(</a:t>
            </a:r>
            <a:r>
              <a:rPr lang="en-US" altLang="zh-TW" dirty="0" err="1" smtClean="0"/>
              <a:t>otherArgs</a:t>
            </a:r>
            <a:r>
              <a:rPr lang="en-US" altLang="zh-TW" dirty="0" smtClean="0"/>
              <a:t>[1]));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job.setOutputKeyClass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Text.class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job.setOutputValueClass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IntWritable.class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System.exit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job.waitForCompletion</a:t>
            </a:r>
            <a:r>
              <a:rPr lang="en-US" altLang="zh-TW" dirty="0" smtClean="0"/>
              <a:t>(true) ? 0 : 1);</a:t>
            </a:r>
          </a:p>
          <a:p>
            <a:r>
              <a:rPr lang="en-US" altLang="zh-TW" dirty="0" smtClean="0"/>
              <a:t>}</a:t>
            </a: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Main function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87639" y="1278808"/>
            <a:ext cx="3979585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467544" y="3212976"/>
            <a:ext cx="3744416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467544" y="3768944"/>
            <a:ext cx="3816424" cy="11145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467543" y="5157192"/>
            <a:ext cx="6023691" cy="550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Mapper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764704"/>
            <a:ext cx="820891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import </a:t>
            </a:r>
            <a:r>
              <a:rPr lang="en-US" altLang="zh-TW" dirty="0" err="1" smtClean="0"/>
              <a:t>java.io.IOException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import </a:t>
            </a:r>
            <a:r>
              <a:rPr lang="en-US" altLang="zh-TW" dirty="0" err="1" smtClean="0"/>
              <a:t>java.util.StringTokenizer</a:t>
            </a:r>
            <a:r>
              <a:rPr lang="en-US" altLang="zh-TW" dirty="0" smtClean="0"/>
              <a:t>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import </a:t>
            </a:r>
            <a:r>
              <a:rPr lang="en-US" altLang="zh-TW" dirty="0" err="1" smtClean="0"/>
              <a:t>org.apache.hadoop.io.IntWritable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import </a:t>
            </a:r>
            <a:r>
              <a:rPr lang="en-US" altLang="zh-TW" dirty="0" err="1" smtClean="0"/>
              <a:t>org.apache.hadoop.io.Text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import </a:t>
            </a:r>
            <a:r>
              <a:rPr lang="en-US" altLang="zh-TW" dirty="0" err="1" smtClean="0"/>
              <a:t>org.apache.hadoop.mapreduce.Mapper</a:t>
            </a:r>
            <a:r>
              <a:rPr lang="en-US" altLang="zh-TW" dirty="0" smtClean="0"/>
              <a:t>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public class </a:t>
            </a:r>
            <a:r>
              <a:rPr lang="en-US" altLang="zh-TW" dirty="0" err="1" smtClean="0"/>
              <a:t>mymapper</a:t>
            </a:r>
            <a:r>
              <a:rPr lang="en-US" altLang="zh-TW" dirty="0" smtClean="0"/>
              <a:t> extends </a:t>
            </a:r>
            <a:r>
              <a:rPr lang="en-US" altLang="zh-TW" dirty="0" err="1" smtClean="0"/>
              <a:t>Mapper</a:t>
            </a:r>
            <a:r>
              <a:rPr lang="en-US" altLang="zh-TW" dirty="0" smtClean="0"/>
              <a:t>&lt;Object, Text, Text, </a:t>
            </a:r>
            <a:r>
              <a:rPr lang="en-US" altLang="zh-TW" dirty="0" err="1" smtClean="0"/>
              <a:t>IntWritable</a:t>
            </a:r>
            <a:r>
              <a:rPr lang="en-US" altLang="zh-TW" dirty="0" smtClean="0"/>
              <a:t>&gt; {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private final static </a:t>
            </a:r>
            <a:r>
              <a:rPr lang="en-US" altLang="zh-TW" dirty="0" err="1" smtClean="0"/>
              <a:t>IntWritable</a:t>
            </a:r>
            <a:r>
              <a:rPr lang="en-US" altLang="zh-TW" dirty="0" smtClean="0"/>
              <a:t> one = new </a:t>
            </a:r>
            <a:r>
              <a:rPr lang="en-US" altLang="zh-TW" dirty="0" err="1" smtClean="0"/>
              <a:t>IntWritable</a:t>
            </a:r>
            <a:r>
              <a:rPr lang="en-US" altLang="zh-TW" dirty="0" smtClean="0"/>
              <a:t>(1);</a:t>
            </a:r>
          </a:p>
          <a:p>
            <a:r>
              <a:rPr lang="en-US" altLang="zh-TW" dirty="0" smtClean="0"/>
              <a:t>  private Text word = new Text();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public void map(Object key, Text value, Context </a:t>
            </a:r>
            <a:r>
              <a:rPr lang="en-US" altLang="zh-TW" dirty="0" err="1" smtClean="0"/>
              <a:t>context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      throws </a:t>
            </a:r>
            <a:r>
              <a:rPr lang="en-US" altLang="zh-TW" dirty="0" err="1" smtClean="0"/>
              <a:t>IOException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InterruptedException</a:t>
            </a:r>
            <a:r>
              <a:rPr lang="en-US" altLang="zh-TW" dirty="0" smtClean="0"/>
              <a:t> {</a:t>
            </a:r>
          </a:p>
          <a:p>
            <a:r>
              <a:rPr lang="en-US" altLang="zh-TW" dirty="0" smtClean="0"/>
              <a:t>      String line = ( (Text) value ).</a:t>
            </a:r>
            <a:r>
              <a:rPr lang="en-US" altLang="zh-TW" dirty="0" err="1" smtClean="0"/>
              <a:t>toString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StringTokenizer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itr</a:t>
            </a:r>
            <a:r>
              <a:rPr lang="en-US" altLang="zh-TW" dirty="0" smtClean="0"/>
              <a:t> = new </a:t>
            </a:r>
            <a:r>
              <a:rPr lang="en-US" altLang="zh-TW" dirty="0" err="1" smtClean="0"/>
              <a:t>StringTokenizer</a:t>
            </a:r>
            <a:r>
              <a:rPr lang="en-US" altLang="zh-TW" dirty="0" smtClean="0"/>
              <a:t>( line);</a:t>
            </a:r>
          </a:p>
          <a:p>
            <a:r>
              <a:rPr lang="en-US" altLang="zh-TW" dirty="0" smtClean="0"/>
              <a:t>      while (</a:t>
            </a:r>
            <a:r>
              <a:rPr lang="en-US" altLang="zh-TW" dirty="0" err="1" smtClean="0"/>
              <a:t>itr.hasMoreTokens</a:t>
            </a:r>
            <a:r>
              <a:rPr lang="en-US" altLang="zh-TW" dirty="0" smtClean="0"/>
              <a:t>()) {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word.set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itr.nextToken</a:t>
            </a:r>
            <a:r>
              <a:rPr lang="en-US" altLang="zh-TW" dirty="0" smtClean="0"/>
              <a:t>());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context.write</a:t>
            </a:r>
            <a:r>
              <a:rPr lang="en-US" altLang="zh-TW" dirty="0" smtClean="0"/>
              <a:t>(word, one);</a:t>
            </a:r>
          </a:p>
          <a:p>
            <a:r>
              <a:rPr lang="en-US" altLang="zh-TW" dirty="0" smtClean="0"/>
              <a:t>    }</a:t>
            </a:r>
          </a:p>
          <a:p>
            <a:r>
              <a:rPr lang="en-US" altLang="zh-TW" dirty="0" smtClean="0"/>
              <a:t>  }</a:t>
            </a:r>
          </a:p>
          <a:p>
            <a:r>
              <a:rPr lang="en-US" altLang="zh-TW" dirty="0" smtClean="0"/>
              <a:t>}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4343400" y="2708920"/>
            <a:ext cx="279093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611560" y="3284984"/>
            <a:ext cx="5306919" cy="543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Mapper</a:t>
            </a:r>
            <a:r>
              <a:rPr lang="en-US" altLang="zh-TW" dirty="0" smtClean="0"/>
              <a:t>(cont.)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179512" y="2978135"/>
            <a:ext cx="2592288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TW" dirty="0" smtClean="0"/>
              <a:t>…</a:t>
            </a:r>
          </a:p>
          <a:p>
            <a:pPr algn="ctr"/>
            <a:r>
              <a:rPr lang="en-US" altLang="zh-TW" dirty="0" smtClean="0"/>
              <a:t>…</a:t>
            </a:r>
          </a:p>
          <a:p>
            <a:pPr algn="ctr"/>
            <a:r>
              <a:rPr lang="en-US" altLang="zh-TW" dirty="0" smtClean="0"/>
              <a:t>Hi</a:t>
            </a:r>
            <a:r>
              <a:rPr lang="zh-TW" altLang="en-US" dirty="0" smtClean="0"/>
              <a:t> </a:t>
            </a:r>
            <a:r>
              <a:rPr lang="en-US" altLang="zh-TW" dirty="0" smtClean="0"/>
              <a:t>Cloud TA</a:t>
            </a:r>
            <a:r>
              <a:rPr lang="zh-TW" altLang="en-US" dirty="0" smtClean="0"/>
              <a:t> </a:t>
            </a:r>
            <a:r>
              <a:rPr lang="en-US" altLang="zh-TW" dirty="0" smtClean="0"/>
              <a:t>say Hi</a:t>
            </a:r>
          </a:p>
          <a:p>
            <a:pPr algn="ctr"/>
            <a:r>
              <a:rPr lang="en-US" altLang="zh-TW" dirty="0" smtClean="0"/>
              <a:t>…</a:t>
            </a:r>
          </a:p>
          <a:p>
            <a:pPr algn="ctr"/>
            <a:r>
              <a:rPr lang="en-US" altLang="zh-TW" dirty="0" smtClean="0"/>
              <a:t>…</a:t>
            </a:r>
          </a:p>
          <a:p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249586" y="3554199"/>
            <a:ext cx="2450206" cy="3101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179512" y="2618095"/>
            <a:ext cx="2340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/user/</a:t>
            </a:r>
            <a:r>
              <a:rPr lang="en-US" altLang="zh-TW" dirty="0" err="1" smtClean="0"/>
              <a:t>hadoop</a:t>
            </a:r>
            <a:r>
              <a:rPr lang="en-US" altLang="zh-TW" dirty="0" smtClean="0"/>
              <a:t>/input/hi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1907704" y="1537975"/>
            <a:ext cx="936104" cy="50405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Input</a:t>
            </a:r>
            <a:r>
              <a:rPr lang="zh-TW" altLang="en-US" dirty="0" smtClean="0"/>
              <a:t> </a:t>
            </a:r>
            <a:r>
              <a:rPr lang="en-US" altLang="zh-TW" dirty="0" smtClean="0"/>
              <a:t>Key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2195736" y="5210383"/>
            <a:ext cx="936104" cy="50405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Input</a:t>
            </a:r>
            <a:r>
              <a:rPr lang="zh-TW" altLang="en-US" dirty="0" smtClean="0"/>
              <a:t> </a:t>
            </a:r>
            <a:r>
              <a:rPr lang="en-US" altLang="zh-TW" dirty="0" smtClean="0"/>
              <a:t> Value</a:t>
            </a:r>
          </a:p>
        </p:txBody>
      </p:sp>
      <p:cxnSp>
        <p:nvCxnSpPr>
          <p:cNvPr id="9" name="直線單箭頭接點 8"/>
          <p:cNvCxnSpPr>
            <a:stCxn id="7" idx="2"/>
          </p:cNvCxnSpPr>
          <p:nvPr/>
        </p:nvCxnSpPr>
        <p:spPr>
          <a:xfrm rot="5400000">
            <a:off x="1781690" y="2096037"/>
            <a:ext cx="648072" cy="54006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>
            <a:stCxn id="8" idx="0"/>
          </p:cNvCxnSpPr>
          <p:nvPr/>
        </p:nvCxnSpPr>
        <p:spPr>
          <a:xfrm rot="16200000" flipV="1">
            <a:off x="1781690" y="4328285"/>
            <a:ext cx="1368152" cy="39604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向右箭號 10"/>
          <p:cNvSpPr/>
          <p:nvPr/>
        </p:nvSpPr>
        <p:spPr>
          <a:xfrm rot="18573087">
            <a:off x="1974770" y="2033961"/>
            <a:ext cx="2695024" cy="611023"/>
          </a:xfrm>
          <a:prstGeom prst="rightArrow">
            <a:avLst>
              <a:gd name="adj1" fmla="val 47448"/>
              <a:gd name="adj2" fmla="val 5343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( (Text) value ).</a:t>
            </a:r>
            <a:r>
              <a:rPr lang="en-US" altLang="zh-TW" dirty="0" err="1" smtClean="0"/>
              <a:t>toString</a:t>
            </a:r>
            <a:r>
              <a:rPr lang="en-US" altLang="zh-TW" dirty="0" smtClean="0"/>
              <a:t>();</a:t>
            </a:r>
            <a:endParaRPr lang="zh-TW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4716016" y="1033919"/>
            <a:ext cx="2952328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Hi Cloud TA say Hi</a:t>
            </a:r>
            <a:endParaRPr lang="zh-TW" altLang="en-US" dirty="0"/>
          </a:p>
        </p:txBody>
      </p:sp>
      <p:sp>
        <p:nvSpPr>
          <p:cNvPr id="13" name="向下箭號 12"/>
          <p:cNvSpPr/>
          <p:nvPr/>
        </p:nvSpPr>
        <p:spPr>
          <a:xfrm>
            <a:off x="5796136" y="1681991"/>
            <a:ext cx="792088" cy="360040"/>
          </a:xfrm>
          <a:prstGeom prst="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4283968" y="1609983"/>
            <a:ext cx="45799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err="1" smtClean="0"/>
              <a:t>StringTokenizer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itr</a:t>
            </a:r>
            <a:r>
              <a:rPr lang="en-US" altLang="zh-TW" dirty="0" smtClean="0"/>
              <a:t> = new </a:t>
            </a:r>
            <a:r>
              <a:rPr lang="en-US" altLang="zh-TW" dirty="0" err="1" smtClean="0"/>
              <a:t>StringTokenizer</a:t>
            </a:r>
            <a:r>
              <a:rPr lang="en-US" altLang="zh-TW" dirty="0" smtClean="0"/>
              <a:t>( line);</a:t>
            </a:r>
            <a:endParaRPr lang="zh-TW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4211960" y="2474079"/>
            <a:ext cx="432048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Hi</a:t>
            </a:r>
            <a:endParaRPr lang="zh-TW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5076056" y="2474079"/>
            <a:ext cx="720080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Cloud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6156176" y="2474079"/>
            <a:ext cx="432048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TA</a:t>
            </a:r>
            <a:endParaRPr lang="zh-TW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020272" y="2474079"/>
            <a:ext cx="720080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say</a:t>
            </a:r>
            <a:endParaRPr lang="zh-TW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8172400" y="2474079"/>
            <a:ext cx="432048" cy="3600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Hi</a:t>
            </a:r>
            <a:endParaRPr lang="zh-TW" altLang="en-US" dirty="0"/>
          </a:p>
        </p:txBody>
      </p:sp>
      <p:cxnSp>
        <p:nvCxnSpPr>
          <p:cNvPr id="20" name="直線單箭頭接點 19"/>
          <p:cNvCxnSpPr>
            <a:stCxn id="15" idx="3"/>
            <a:endCxn id="16" idx="1"/>
          </p:cNvCxnSpPr>
          <p:nvPr/>
        </p:nvCxnSpPr>
        <p:spPr>
          <a:xfrm>
            <a:off x="4644008" y="2654099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6" idx="3"/>
            <a:endCxn id="17" idx="1"/>
          </p:cNvCxnSpPr>
          <p:nvPr/>
        </p:nvCxnSpPr>
        <p:spPr>
          <a:xfrm>
            <a:off x="5796136" y="2654099"/>
            <a:ext cx="36004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>
            <a:stCxn id="17" idx="3"/>
            <a:endCxn id="18" idx="1"/>
          </p:cNvCxnSpPr>
          <p:nvPr/>
        </p:nvCxnSpPr>
        <p:spPr>
          <a:xfrm>
            <a:off x="6588224" y="2654099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8" idx="3"/>
            <a:endCxn id="19" idx="1"/>
          </p:cNvCxnSpPr>
          <p:nvPr/>
        </p:nvCxnSpPr>
        <p:spPr>
          <a:xfrm>
            <a:off x="7740352" y="2654099"/>
            <a:ext cx="432048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3707904" y="2474079"/>
            <a:ext cx="337542" cy="35659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單箭頭接點 24"/>
          <p:cNvCxnSpPr>
            <a:stCxn id="24" idx="6"/>
            <a:endCxn id="15" idx="1"/>
          </p:cNvCxnSpPr>
          <p:nvPr/>
        </p:nvCxnSpPr>
        <p:spPr>
          <a:xfrm>
            <a:off x="4045446" y="2652375"/>
            <a:ext cx="166514" cy="17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3347864" y="3266167"/>
            <a:ext cx="432048" cy="2880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itr</a:t>
            </a:r>
            <a:endParaRPr lang="zh-TW" altLang="en-US" dirty="0"/>
          </a:p>
        </p:txBody>
      </p:sp>
      <p:cxnSp>
        <p:nvCxnSpPr>
          <p:cNvPr id="27" name="直線單箭頭接點 26"/>
          <p:cNvCxnSpPr>
            <a:stCxn id="26" idx="0"/>
            <a:endCxn id="24" idx="4"/>
          </p:cNvCxnSpPr>
          <p:nvPr/>
        </p:nvCxnSpPr>
        <p:spPr>
          <a:xfrm rot="5400000" flipH="1" flipV="1">
            <a:off x="3502533" y="2892026"/>
            <a:ext cx="435496" cy="31278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067944" y="3266167"/>
            <a:ext cx="432048" cy="2880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itr</a:t>
            </a:r>
            <a:endParaRPr lang="zh-TW" altLang="en-US" dirty="0"/>
          </a:p>
        </p:txBody>
      </p:sp>
      <p:cxnSp>
        <p:nvCxnSpPr>
          <p:cNvPr id="29" name="直線單箭頭接點 28"/>
          <p:cNvCxnSpPr>
            <a:stCxn id="28" idx="0"/>
            <a:endCxn id="15" idx="2"/>
          </p:cNvCxnSpPr>
          <p:nvPr/>
        </p:nvCxnSpPr>
        <p:spPr>
          <a:xfrm rot="5400000" flipH="1" flipV="1">
            <a:off x="4139952" y="2978135"/>
            <a:ext cx="432048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5076056" y="3266167"/>
            <a:ext cx="432048" cy="2880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itr</a:t>
            </a:r>
            <a:endParaRPr lang="zh-TW" altLang="en-US" dirty="0"/>
          </a:p>
        </p:txBody>
      </p:sp>
      <p:cxnSp>
        <p:nvCxnSpPr>
          <p:cNvPr id="31" name="直線單箭頭接點 30"/>
          <p:cNvCxnSpPr>
            <a:stCxn id="30" idx="0"/>
            <a:endCxn id="16" idx="2"/>
          </p:cNvCxnSpPr>
          <p:nvPr/>
        </p:nvCxnSpPr>
        <p:spPr>
          <a:xfrm rot="5400000" flipH="1" flipV="1">
            <a:off x="5148064" y="2978135"/>
            <a:ext cx="432048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6012160" y="3266167"/>
            <a:ext cx="432048" cy="2880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itr</a:t>
            </a:r>
            <a:endParaRPr lang="zh-TW" altLang="en-US" dirty="0"/>
          </a:p>
        </p:txBody>
      </p:sp>
      <p:cxnSp>
        <p:nvCxnSpPr>
          <p:cNvPr id="33" name="直線單箭頭接點 32"/>
          <p:cNvCxnSpPr>
            <a:stCxn id="32" idx="0"/>
            <a:endCxn id="17" idx="2"/>
          </p:cNvCxnSpPr>
          <p:nvPr/>
        </p:nvCxnSpPr>
        <p:spPr>
          <a:xfrm rot="5400000" flipH="1" flipV="1">
            <a:off x="6084168" y="2978135"/>
            <a:ext cx="432048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7020272" y="3266167"/>
            <a:ext cx="432048" cy="2880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itr</a:t>
            </a:r>
            <a:endParaRPr lang="zh-TW" altLang="en-US" dirty="0"/>
          </a:p>
        </p:txBody>
      </p:sp>
      <p:cxnSp>
        <p:nvCxnSpPr>
          <p:cNvPr id="35" name="直線單箭頭接點 34"/>
          <p:cNvCxnSpPr>
            <a:stCxn id="34" idx="0"/>
            <a:endCxn id="18" idx="2"/>
          </p:cNvCxnSpPr>
          <p:nvPr/>
        </p:nvCxnSpPr>
        <p:spPr>
          <a:xfrm rot="5400000" flipH="1" flipV="1">
            <a:off x="7092280" y="2978135"/>
            <a:ext cx="432048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8028384" y="3266167"/>
            <a:ext cx="432048" cy="2880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itr</a:t>
            </a:r>
            <a:endParaRPr lang="zh-TW" altLang="en-US" dirty="0"/>
          </a:p>
        </p:txBody>
      </p:sp>
      <p:cxnSp>
        <p:nvCxnSpPr>
          <p:cNvPr id="37" name="直線單箭頭接點 36"/>
          <p:cNvCxnSpPr>
            <a:stCxn id="36" idx="0"/>
            <a:endCxn id="19" idx="2"/>
          </p:cNvCxnSpPr>
          <p:nvPr/>
        </p:nvCxnSpPr>
        <p:spPr>
          <a:xfrm rot="5400000" flipH="1" flipV="1">
            <a:off x="8100392" y="2978135"/>
            <a:ext cx="432048" cy="14401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上-下雙向箭號 37"/>
          <p:cNvSpPr/>
          <p:nvPr/>
        </p:nvSpPr>
        <p:spPr>
          <a:xfrm>
            <a:off x="5796136" y="3698215"/>
            <a:ext cx="720080" cy="1224136"/>
          </a:xfrm>
          <a:prstGeom prst="upDownArrow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矩形 38"/>
          <p:cNvSpPr/>
          <p:nvPr/>
        </p:nvSpPr>
        <p:spPr>
          <a:xfrm>
            <a:off x="4716016" y="3698215"/>
            <a:ext cx="29523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while (</a:t>
            </a:r>
            <a:r>
              <a:rPr lang="en-US" altLang="zh-TW" dirty="0" err="1" smtClean="0"/>
              <a:t>itr.hasMoreTokens</a:t>
            </a:r>
            <a:r>
              <a:rPr lang="en-US" altLang="zh-TW" dirty="0" smtClean="0"/>
              <a:t>()) {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word.set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itr.nextToken</a:t>
            </a:r>
            <a:r>
              <a:rPr lang="en-US" altLang="zh-TW" dirty="0" smtClean="0"/>
              <a:t>());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context.write</a:t>
            </a:r>
            <a:r>
              <a:rPr lang="en-US" altLang="zh-TW" dirty="0" smtClean="0"/>
              <a:t>(word, one);</a:t>
            </a:r>
          </a:p>
          <a:p>
            <a:r>
              <a:rPr lang="en-US" altLang="zh-TW" dirty="0" smtClean="0"/>
              <a:t>}</a:t>
            </a:r>
          </a:p>
        </p:txBody>
      </p:sp>
      <p:sp>
        <p:nvSpPr>
          <p:cNvPr id="40" name="文字方塊 39"/>
          <p:cNvSpPr txBox="1"/>
          <p:nvPr/>
        </p:nvSpPr>
        <p:spPr>
          <a:xfrm>
            <a:off x="4572000" y="4922351"/>
            <a:ext cx="1368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&lt;word, one&gt;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5697132" y="5210383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&lt;Hi, 1&gt;</a:t>
            </a:r>
            <a:endParaRPr lang="zh-TW" altLang="en-US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5580112" y="5541848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&lt;Cloud, 1&gt;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5736565" y="5867980"/>
            <a:ext cx="87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&lt;TA, 1&gt;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5709122" y="6194112"/>
            <a:ext cx="92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&lt;say, 1&gt;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5723581" y="6516052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&lt;Hi, 1&gt;</a:t>
            </a:r>
            <a:endParaRPr lang="zh-TW" altLang="en-US" dirty="0"/>
          </a:p>
        </p:txBody>
      </p:sp>
      <p:cxnSp>
        <p:nvCxnSpPr>
          <p:cNvPr id="47" name="直線接點 46"/>
          <p:cNvCxnSpPr/>
          <p:nvPr/>
        </p:nvCxnSpPr>
        <p:spPr>
          <a:xfrm>
            <a:off x="5652120" y="5579192"/>
            <a:ext cx="100811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線接點 47"/>
          <p:cNvCxnSpPr/>
          <p:nvPr/>
        </p:nvCxnSpPr>
        <p:spPr>
          <a:xfrm>
            <a:off x="5652120" y="5877272"/>
            <a:ext cx="100811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線接點 48"/>
          <p:cNvCxnSpPr/>
          <p:nvPr/>
        </p:nvCxnSpPr>
        <p:spPr>
          <a:xfrm>
            <a:off x="5652120" y="6237312"/>
            <a:ext cx="100811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線接點 49"/>
          <p:cNvCxnSpPr/>
          <p:nvPr/>
        </p:nvCxnSpPr>
        <p:spPr>
          <a:xfrm>
            <a:off x="5652120" y="6545440"/>
            <a:ext cx="100811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2000"/>
                            </p:stCondLst>
                            <p:childTnLst>
                              <p:par>
                                <p:cTn id="13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50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000"/>
                            </p:stCondLst>
                            <p:childTnLst>
                              <p:par>
                                <p:cTn id="14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50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4000"/>
                            </p:stCondLst>
                            <p:childTnLst>
                              <p:par>
                                <p:cTn id="16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4500"/>
                            </p:stCondLst>
                            <p:childTnLst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3" grpId="0" animBg="1"/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4" grpId="0" animBg="1"/>
      <p:bldP spid="26" grpId="0" animBg="1"/>
      <p:bldP spid="26" grpId="1" animBg="1"/>
      <p:bldP spid="28" grpId="0" animBg="1"/>
      <p:bldP spid="28" grpId="1" animBg="1"/>
      <p:bldP spid="30" grpId="0" animBg="1"/>
      <p:bldP spid="30" grpId="1" animBg="1"/>
      <p:bldP spid="32" grpId="0" animBg="1"/>
      <p:bldP spid="32" grpId="1" animBg="1"/>
      <p:bldP spid="34" grpId="0" animBg="1"/>
      <p:bldP spid="34" grpId="1" animBg="1"/>
      <p:bldP spid="36" grpId="0" animBg="1"/>
      <p:bldP spid="38" grpId="0" animBg="1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Reducer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1098024"/>
            <a:ext cx="820891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import </a:t>
            </a:r>
            <a:r>
              <a:rPr lang="en-US" altLang="zh-TW" dirty="0" err="1" smtClean="0"/>
              <a:t>java.io.IOException</a:t>
            </a:r>
            <a:r>
              <a:rPr lang="en-US" altLang="zh-TW" dirty="0" smtClean="0"/>
              <a:t>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import </a:t>
            </a:r>
            <a:r>
              <a:rPr lang="en-US" altLang="zh-TW" dirty="0" err="1" smtClean="0"/>
              <a:t>org.apache.hadoop.io.IntWritable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import </a:t>
            </a:r>
            <a:r>
              <a:rPr lang="en-US" altLang="zh-TW" dirty="0" err="1" smtClean="0"/>
              <a:t>org.apache.hadoop.io.Text</a:t>
            </a:r>
            <a:r>
              <a:rPr lang="en-US" altLang="zh-TW" dirty="0" smtClean="0"/>
              <a:t>;</a:t>
            </a:r>
          </a:p>
          <a:p>
            <a:r>
              <a:rPr lang="en-US" altLang="zh-TW" dirty="0" smtClean="0"/>
              <a:t>import </a:t>
            </a:r>
            <a:r>
              <a:rPr lang="en-US" altLang="zh-TW" dirty="0" err="1" smtClean="0"/>
              <a:t>org.apache.hadoop.mapreduce.Reducer</a:t>
            </a:r>
            <a:r>
              <a:rPr lang="en-US" altLang="zh-TW" dirty="0" smtClean="0"/>
              <a:t>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public class </a:t>
            </a:r>
            <a:r>
              <a:rPr lang="en-US" altLang="zh-TW" dirty="0" err="1" smtClean="0"/>
              <a:t>myreducer</a:t>
            </a:r>
            <a:r>
              <a:rPr lang="en-US" altLang="zh-TW" dirty="0" smtClean="0"/>
              <a:t> extends Reducer&lt;Text, </a:t>
            </a:r>
            <a:r>
              <a:rPr lang="en-US" altLang="zh-TW" dirty="0" err="1" smtClean="0"/>
              <a:t>IntWritable</a:t>
            </a:r>
            <a:r>
              <a:rPr lang="en-US" altLang="zh-TW" dirty="0" smtClean="0"/>
              <a:t>, Text, </a:t>
            </a:r>
            <a:r>
              <a:rPr lang="en-US" altLang="zh-TW" dirty="0" err="1" smtClean="0"/>
              <a:t>IntWritable</a:t>
            </a:r>
            <a:r>
              <a:rPr lang="en-US" altLang="zh-TW" dirty="0" smtClean="0"/>
              <a:t>&gt; {</a:t>
            </a:r>
          </a:p>
          <a:p>
            <a:r>
              <a:rPr lang="en-US" altLang="zh-TW" dirty="0" smtClean="0"/>
              <a:t>  </a:t>
            </a:r>
          </a:p>
          <a:p>
            <a:r>
              <a:rPr lang="en-US" altLang="zh-TW" dirty="0" smtClean="0"/>
              <a:t>private </a:t>
            </a:r>
            <a:r>
              <a:rPr lang="en-US" altLang="zh-TW" dirty="0" err="1" smtClean="0"/>
              <a:t>IntWritable</a:t>
            </a:r>
            <a:r>
              <a:rPr lang="en-US" altLang="zh-TW" dirty="0" smtClean="0"/>
              <a:t> result = new </a:t>
            </a:r>
            <a:r>
              <a:rPr lang="en-US" altLang="zh-TW" dirty="0" err="1" smtClean="0"/>
              <a:t>IntWritable</a:t>
            </a:r>
            <a:r>
              <a:rPr lang="en-US" altLang="zh-TW" dirty="0" smtClean="0"/>
              <a:t>();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public void reduce(Text key, </a:t>
            </a:r>
            <a:r>
              <a:rPr lang="en-US" altLang="zh-TW" dirty="0" err="1" smtClean="0"/>
              <a:t>Iterable</a:t>
            </a:r>
            <a:r>
              <a:rPr lang="en-US" altLang="zh-TW" dirty="0" smtClean="0"/>
              <a:t>&lt;</a:t>
            </a:r>
            <a:r>
              <a:rPr lang="en-US" altLang="zh-TW" dirty="0" err="1" smtClean="0"/>
              <a:t>IntWritable</a:t>
            </a:r>
            <a:r>
              <a:rPr lang="en-US" altLang="zh-TW" dirty="0" smtClean="0"/>
              <a:t>&gt; values, Context </a:t>
            </a:r>
            <a:r>
              <a:rPr lang="en-US" altLang="zh-TW" dirty="0" err="1" smtClean="0"/>
              <a:t>context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      throws </a:t>
            </a:r>
            <a:r>
              <a:rPr lang="en-US" altLang="zh-TW" dirty="0" err="1" smtClean="0"/>
              <a:t>IOException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InterruptedException</a:t>
            </a:r>
            <a:r>
              <a:rPr lang="en-US" altLang="zh-TW" dirty="0" smtClean="0"/>
              <a:t> {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sum = 0;</a:t>
            </a:r>
          </a:p>
          <a:p>
            <a:r>
              <a:rPr lang="en-US" altLang="zh-TW" dirty="0" smtClean="0"/>
              <a:t>    for (</a:t>
            </a:r>
            <a:r>
              <a:rPr lang="en-US" altLang="zh-TW" dirty="0" err="1" smtClean="0"/>
              <a:t>IntWritable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val</a:t>
            </a:r>
            <a:r>
              <a:rPr lang="en-US" altLang="zh-TW" dirty="0" smtClean="0"/>
              <a:t> : values) {</a:t>
            </a:r>
          </a:p>
          <a:p>
            <a:r>
              <a:rPr lang="en-US" altLang="zh-TW" dirty="0" smtClean="0"/>
              <a:t>      sum += </a:t>
            </a:r>
            <a:r>
              <a:rPr lang="en-US" altLang="zh-TW" dirty="0" err="1" smtClean="0"/>
              <a:t>val.get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    }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result.set</a:t>
            </a:r>
            <a:r>
              <a:rPr lang="en-US" altLang="zh-TW" dirty="0" smtClean="0"/>
              <a:t>(sum);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context.write</a:t>
            </a:r>
            <a:r>
              <a:rPr lang="en-US" altLang="zh-TW" dirty="0" smtClean="0"/>
              <a:t>(key, result);</a:t>
            </a:r>
          </a:p>
          <a:p>
            <a:r>
              <a:rPr lang="en-US" altLang="zh-TW" dirty="0" smtClean="0"/>
              <a:t>  }</a:t>
            </a:r>
          </a:p>
          <a:p>
            <a:r>
              <a:rPr lang="en-US" altLang="zh-TW" dirty="0" smtClean="0"/>
              <a:t>}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Reducer (cont.)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467544" y="2132856"/>
            <a:ext cx="1368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</a:rPr>
              <a:t>&lt;word, one&gt;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1428290" y="2420888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&lt;Hi, 1 </a:t>
            </a:r>
            <a:r>
              <a:rPr lang="en-US" altLang="zh-TW" dirty="0" smtClean="0">
                <a:latin typeface="Calibri"/>
                <a:cs typeface="Calibri"/>
              </a:rPr>
              <a:t>→ 1</a:t>
            </a:r>
            <a:r>
              <a:rPr lang="en-US" altLang="zh-TW" dirty="0" smtClean="0"/>
              <a:t>&gt;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475656" y="275235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&lt;Cloud, 1&gt;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632109" y="3078485"/>
            <a:ext cx="87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&lt;TA, 1&gt;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604666" y="3404617"/>
            <a:ext cx="92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&lt;say, 1&gt;</a:t>
            </a:r>
            <a:endParaRPr lang="zh-TW" altLang="en-US" dirty="0"/>
          </a:p>
        </p:txBody>
      </p:sp>
      <p:cxnSp>
        <p:nvCxnSpPr>
          <p:cNvPr id="10" name="直線接點 9"/>
          <p:cNvCxnSpPr/>
          <p:nvPr/>
        </p:nvCxnSpPr>
        <p:spPr>
          <a:xfrm>
            <a:off x="1547664" y="2789697"/>
            <a:ext cx="100811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547664" y="3087777"/>
            <a:ext cx="100811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1547664" y="3447817"/>
            <a:ext cx="1008112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向右箭號 14"/>
          <p:cNvSpPr/>
          <p:nvPr/>
        </p:nvSpPr>
        <p:spPr>
          <a:xfrm rot="1294460">
            <a:off x="3050141" y="2920166"/>
            <a:ext cx="1115589" cy="463998"/>
          </a:xfrm>
          <a:prstGeom prst="rightArrow">
            <a:avLst>
              <a:gd name="adj1" fmla="val 48049"/>
              <a:gd name="adj2" fmla="val 32269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/>
          <p:cNvSpPr/>
          <p:nvPr/>
        </p:nvSpPr>
        <p:spPr>
          <a:xfrm>
            <a:off x="4716016" y="3068960"/>
            <a:ext cx="1008112" cy="4320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Hi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4724392" y="3717032"/>
            <a:ext cx="360040" cy="36004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5364088" y="3717032"/>
            <a:ext cx="360040" cy="36004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1</a:t>
            </a:r>
            <a:endParaRPr lang="zh-TW" altLang="en-US" dirty="0"/>
          </a:p>
        </p:txBody>
      </p:sp>
      <p:cxnSp>
        <p:nvCxnSpPr>
          <p:cNvPr id="40" name="直線單箭頭接點 39"/>
          <p:cNvCxnSpPr>
            <a:stCxn id="17" idx="3"/>
            <a:endCxn id="38" idx="1"/>
          </p:cNvCxnSpPr>
          <p:nvPr/>
        </p:nvCxnSpPr>
        <p:spPr>
          <a:xfrm>
            <a:off x="5084432" y="3897052"/>
            <a:ext cx="27965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7101919" y="3923764"/>
            <a:ext cx="1358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&lt;key, result&gt;</a:t>
            </a:r>
            <a:endParaRPr lang="zh-TW" altLang="en-US" dirty="0"/>
          </a:p>
        </p:txBody>
      </p:sp>
      <p:sp>
        <p:nvSpPr>
          <p:cNvPr id="42" name="文字方塊 41"/>
          <p:cNvSpPr txBox="1"/>
          <p:nvPr/>
        </p:nvSpPr>
        <p:spPr>
          <a:xfrm>
            <a:off x="7361028" y="4211796"/>
            <a:ext cx="840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&lt;Hi, 2&gt;</a:t>
            </a:r>
            <a:endParaRPr lang="zh-TW" altLang="en-US" dirty="0"/>
          </a:p>
        </p:txBody>
      </p:sp>
      <p:sp>
        <p:nvSpPr>
          <p:cNvPr id="43" name="文字方塊 42"/>
          <p:cNvSpPr txBox="1"/>
          <p:nvPr/>
        </p:nvSpPr>
        <p:spPr>
          <a:xfrm>
            <a:off x="7188705" y="4499828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&lt;Cloud, 1&gt;</a:t>
            </a:r>
            <a:endParaRPr lang="zh-TW" altLang="en-US" dirty="0"/>
          </a:p>
        </p:txBody>
      </p:sp>
      <p:sp>
        <p:nvSpPr>
          <p:cNvPr id="44" name="文字方塊 43"/>
          <p:cNvSpPr txBox="1"/>
          <p:nvPr/>
        </p:nvSpPr>
        <p:spPr>
          <a:xfrm>
            <a:off x="7345158" y="4787860"/>
            <a:ext cx="87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&lt;TA, 1&gt;</a:t>
            </a:r>
            <a:endParaRPr lang="zh-TW" altLang="en-US" dirty="0"/>
          </a:p>
        </p:txBody>
      </p:sp>
      <p:sp>
        <p:nvSpPr>
          <p:cNvPr id="45" name="文字方塊 44"/>
          <p:cNvSpPr txBox="1"/>
          <p:nvPr/>
        </p:nvSpPr>
        <p:spPr>
          <a:xfrm>
            <a:off x="7317715" y="5075892"/>
            <a:ext cx="926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smtClean="0"/>
              <a:t>&lt;say, 1&gt;</a:t>
            </a:r>
            <a:endParaRPr lang="zh-TW" altLang="en-US" dirty="0"/>
          </a:p>
        </p:txBody>
      </p:sp>
      <p:sp>
        <p:nvSpPr>
          <p:cNvPr id="46" name="向右箭號 45"/>
          <p:cNvSpPr/>
          <p:nvPr/>
        </p:nvSpPr>
        <p:spPr>
          <a:xfrm rot="1475508">
            <a:off x="6166595" y="4056585"/>
            <a:ext cx="661110" cy="393286"/>
          </a:xfrm>
          <a:prstGeom prst="rightArrow">
            <a:avLst>
              <a:gd name="adj1" fmla="val 48049"/>
              <a:gd name="adj2" fmla="val 32269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</a:t>
            </a:r>
            <a:r>
              <a:rPr lang="en-US" altLang="zh-TW" cap="none" dirty="0" err="1" smtClean="0"/>
              <a:t>ap</a:t>
            </a:r>
            <a:r>
              <a:rPr lang="en-US" altLang="zh-TW" dirty="0" err="1" smtClean="0"/>
              <a:t>R</a:t>
            </a:r>
            <a:r>
              <a:rPr lang="en-US" altLang="zh-TW" cap="none" dirty="0" err="1" smtClean="0"/>
              <a:t>educe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MapReduce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Sample Code</a:t>
            </a:r>
            <a:endParaRPr lang="en-US" altLang="zh-TW" dirty="0" smtClean="0"/>
          </a:p>
          <a:p>
            <a:r>
              <a:rPr lang="en-US" altLang="zh-TW" dirty="0" smtClean="0"/>
              <a:t>Program Prototype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using Eclipse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Some </a:t>
            </a:r>
            <a:r>
              <a:rPr lang="en-US" altLang="zh-TW" dirty="0" err="1" smtClean="0"/>
              <a:t>MapReduce</a:t>
            </a:r>
            <a:r>
              <a:rPr lang="en-US" altLang="zh-TW" dirty="0" smtClean="0"/>
              <a:t> Terminology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Job</a:t>
            </a:r>
          </a:p>
          <a:p>
            <a:pPr lvl="1"/>
            <a:r>
              <a:rPr lang="en-US" altLang="zh-TW" dirty="0" smtClean="0">
                <a:latin typeface="+mj-lt"/>
              </a:rPr>
              <a:t>A “full program” - an execution of a </a:t>
            </a:r>
            <a:r>
              <a:rPr lang="en-US" altLang="zh-TW" dirty="0" err="1" smtClean="0">
                <a:latin typeface="+mj-lt"/>
              </a:rPr>
              <a:t>Mapper</a:t>
            </a:r>
            <a:r>
              <a:rPr lang="en-US" altLang="zh-TW" dirty="0" smtClean="0">
                <a:latin typeface="+mj-lt"/>
              </a:rPr>
              <a:t> and Reducer across a data set</a:t>
            </a:r>
          </a:p>
          <a:p>
            <a:r>
              <a:rPr lang="en-US" altLang="zh-TW" dirty="0" smtClean="0">
                <a:latin typeface="+mj-lt"/>
              </a:rPr>
              <a:t>Task</a:t>
            </a:r>
          </a:p>
          <a:p>
            <a:pPr lvl="1"/>
            <a:r>
              <a:rPr lang="en-US" altLang="zh-TW" dirty="0" smtClean="0">
                <a:latin typeface="+mj-lt"/>
              </a:rPr>
              <a:t>An execution of a </a:t>
            </a:r>
            <a:r>
              <a:rPr lang="en-US" altLang="zh-TW" dirty="0" err="1" smtClean="0">
                <a:latin typeface="+mj-lt"/>
              </a:rPr>
              <a:t>Mapper</a:t>
            </a:r>
            <a:r>
              <a:rPr lang="en-US" altLang="zh-TW" dirty="0" smtClean="0">
                <a:latin typeface="+mj-lt"/>
              </a:rPr>
              <a:t> or a Reducer on a slice of data</a:t>
            </a:r>
          </a:p>
          <a:p>
            <a:r>
              <a:rPr lang="en-US" altLang="zh-TW" dirty="0" smtClean="0">
                <a:latin typeface="+mj-lt"/>
              </a:rPr>
              <a:t>Task Attempt</a:t>
            </a:r>
          </a:p>
          <a:p>
            <a:pPr lvl="1"/>
            <a:r>
              <a:rPr lang="en-US" altLang="zh-TW" dirty="0" smtClean="0">
                <a:latin typeface="+mj-lt"/>
              </a:rPr>
              <a:t>A particular instance of an attempt to execute a task on a machine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Main Class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755576" y="2132856"/>
            <a:ext cx="763284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Class MR{</a:t>
            </a:r>
          </a:p>
          <a:p>
            <a:r>
              <a:rPr lang="en-US" altLang="zh-TW" dirty="0" smtClean="0"/>
              <a:t>	main(){</a:t>
            </a:r>
          </a:p>
          <a:p>
            <a:r>
              <a:rPr lang="en-US" altLang="zh-TW" dirty="0" smtClean="0"/>
              <a:t>		Configuration conf = new Configuration();</a:t>
            </a:r>
          </a:p>
          <a:p>
            <a:r>
              <a:rPr lang="en-US" altLang="zh-TW" dirty="0" smtClean="0"/>
              <a:t>		Job </a:t>
            </a:r>
            <a:r>
              <a:rPr lang="en-US" altLang="zh-TW" dirty="0" err="1" smtClean="0"/>
              <a:t>job</a:t>
            </a:r>
            <a:r>
              <a:rPr lang="en-US" altLang="zh-TW" dirty="0" smtClean="0"/>
              <a:t> = new Job(conf, “job name");</a:t>
            </a:r>
          </a:p>
          <a:p>
            <a:r>
              <a:rPr lang="en-US" altLang="zh-TW" dirty="0" smtClean="0"/>
              <a:t>		</a:t>
            </a:r>
            <a:r>
              <a:rPr lang="en-US" altLang="zh-TW" dirty="0" err="1" smtClean="0"/>
              <a:t>job.setJarByClass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thisMainClass.class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		</a:t>
            </a:r>
            <a:r>
              <a:rPr lang="en-US" altLang="zh-TW" dirty="0" err="1" smtClean="0"/>
              <a:t>job.setMapperClass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Mapper.class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		</a:t>
            </a:r>
            <a:r>
              <a:rPr lang="en-US" altLang="zh-TW" dirty="0" err="1" smtClean="0"/>
              <a:t>job.setReduceClass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Reducer.class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 		</a:t>
            </a:r>
            <a:r>
              <a:rPr lang="en-US" altLang="zh-TW" dirty="0" err="1" smtClean="0"/>
              <a:t>FileInputFormat.addInputPaths</a:t>
            </a:r>
            <a:r>
              <a:rPr lang="en-US" altLang="zh-TW" dirty="0" smtClean="0"/>
              <a:t>(job, new Path(</a:t>
            </a:r>
            <a:r>
              <a:rPr lang="en-US" altLang="zh-TW" dirty="0" err="1" smtClean="0"/>
              <a:t>args</a:t>
            </a:r>
            <a:r>
              <a:rPr lang="en-US" altLang="zh-TW" dirty="0" smtClean="0"/>
              <a:t>[0]));</a:t>
            </a:r>
          </a:p>
          <a:p>
            <a:r>
              <a:rPr lang="en-US" altLang="zh-TW" dirty="0" smtClean="0"/>
              <a:t>		</a:t>
            </a:r>
            <a:r>
              <a:rPr lang="en-US" altLang="zh-TW" dirty="0" err="1" smtClean="0"/>
              <a:t>FileOutputFormat.setOutputPath</a:t>
            </a:r>
            <a:r>
              <a:rPr lang="en-US" altLang="zh-TW" dirty="0" smtClean="0"/>
              <a:t>(job, new Path(</a:t>
            </a:r>
            <a:r>
              <a:rPr lang="en-US" altLang="zh-TW" dirty="0" err="1" smtClean="0"/>
              <a:t>args</a:t>
            </a:r>
            <a:r>
              <a:rPr lang="en-US" altLang="zh-TW" dirty="0" smtClean="0"/>
              <a:t>[1]));		</a:t>
            </a:r>
          </a:p>
          <a:p>
            <a:r>
              <a:rPr lang="en-US" altLang="zh-TW" dirty="0" smtClean="0"/>
              <a:t>		</a:t>
            </a:r>
            <a:r>
              <a:rPr lang="en-US" altLang="zh-TW" dirty="0" err="1" smtClean="0"/>
              <a:t>job.waitForCompletion</a:t>
            </a:r>
            <a:r>
              <a:rPr lang="en-US" altLang="zh-TW" dirty="0" smtClean="0"/>
              <a:t>(true);</a:t>
            </a:r>
          </a:p>
          <a:p>
            <a:r>
              <a:rPr lang="en-US" altLang="zh-TW" dirty="0" smtClean="0"/>
              <a:t>	}</a:t>
            </a:r>
          </a:p>
          <a:p>
            <a:r>
              <a:rPr lang="en-US" altLang="zh-TW" dirty="0" smtClean="0"/>
              <a:t>}</a:t>
            </a:r>
            <a:endParaRPr lang="en-US" altLang="zh-TW" dirty="0"/>
          </a:p>
        </p:txBody>
      </p:sp>
      <p:cxnSp>
        <p:nvCxnSpPr>
          <p:cNvPr id="8" name="直線接點 7"/>
          <p:cNvCxnSpPr/>
          <p:nvPr/>
        </p:nvCxnSpPr>
        <p:spPr>
          <a:xfrm>
            <a:off x="2618259" y="3284984"/>
            <a:ext cx="540060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>
            <a:off x="2618259" y="4105647"/>
            <a:ext cx="540060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2618259" y="4653136"/>
            <a:ext cx="5400600" cy="0"/>
          </a:xfrm>
          <a:prstGeom prst="line">
            <a:avLst/>
          </a:prstGeom>
          <a:ln w="1905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Job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Identify classes implementing </a:t>
            </a:r>
            <a:r>
              <a:rPr lang="en-US" altLang="zh-TW" dirty="0" err="1" smtClean="0">
                <a:latin typeface="+mj-lt"/>
              </a:rPr>
              <a:t>Mapper</a:t>
            </a:r>
            <a:r>
              <a:rPr lang="en-US" altLang="zh-TW" dirty="0" smtClean="0">
                <a:latin typeface="+mj-lt"/>
              </a:rPr>
              <a:t> and Reducer interfaces</a:t>
            </a:r>
          </a:p>
          <a:p>
            <a:pPr lvl="1"/>
            <a:r>
              <a:rPr lang="en-US" altLang="zh-TW" dirty="0" err="1" smtClean="0">
                <a:latin typeface="+mj-lt"/>
              </a:rPr>
              <a:t>Job.setMapperClass</a:t>
            </a:r>
            <a:r>
              <a:rPr lang="en-US" altLang="zh-TW" dirty="0" smtClean="0">
                <a:latin typeface="+mj-lt"/>
              </a:rPr>
              <a:t>(), </a:t>
            </a:r>
            <a:r>
              <a:rPr lang="en-US" altLang="zh-TW" dirty="0" err="1" smtClean="0">
                <a:latin typeface="+mj-lt"/>
              </a:rPr>
              <a:t>setReducerClass</a:t>
            </a:r>
            <a:r>
              <a:rPr lang="en-US" altLang="zh-TW" dirty="0" smtClean="0">
                <a:latin typeface="+mj-lt"/>
              </a:rPr>
              <a:t>()</a:t>
            </a:r>
          </a:p>
          <a:p>
            <a:r>
              <a:rPr lang="en-US" altLang="zh-TW" dirty="0" smtClean="0">
                <a:latin typeface="+mj-lt"/>
              </a:rPr>
              <a:t>Specify inputs, outputs</a:t>
            </a:r>
          </a:p>
          <a:p>
            <a:pPr lvl="1"/>
            <a:r>
              <a:rPr lang="en-US" altLang="zh-TW" dirty="0" err="1" smtClean="0">
                <a:latin typeface="+mj-lt"/>
              </a:rPr>
              <a:t>FileInputFormat.addInputPath</a:t>
            </a:r>
            <a:r>
              <a:rPr lang="en-US" altLang="zh-TW" dirty="0" smtClean="0">
                <a:latin typeface="+mj-lt"/>
              </a:rPr>
              <a:t>()</a:t>
            </a:r>
          </a:p>
          <a:p>
            <a:pPr lvl="1"/>
            <a:r>
              <a:rPr lang="en-US" altLang="zh-TW" dirty="0" err="1" smtClean="0">
                <a:latin typeface="+mj-lt"/>
              </a:rPr>
              <a:t>FileOutputFormat.setOutputPath</a:t>
            </a:r>
            <a:r>
              <a:rPr lang="en-US" altLang="zh-TW" dirty="0" smtClean="0">
                <a:latin typeface="+mj-lt"/>
              </a:rPr>
              <a:t>()</a:t>
            </a:r>
          </a:p>
          <a:p>
            <a:r>
              <a:rPr lang="en-US" altLang="zh-TW" dirty="0" smtClean="0">
                <a:latin typeface="+mj-lt"/>
              </a:rPr>
              <a:t>Optionally, other options too:</a:t>
            </a:r>
          </a:p>
          <a:p>
            <a:pPr lvl="1"/>
            <a:r>
              <a:rPr lang="en-US" altLang="zh-TW" dirty="0" err="1" smtClean="0">
                <a:latin typeface="+mj-lt"/>
              </a:rPr>
              <a:t>Job.setNumReduceTasks</a:t>
            </a:r>
            <a:r>
              <a:rPr lang="en-US" altLang="zh-TW" dirty="0" smtClean="0">
                <a:latin typeface="+mj-lt"/>
              </a:rPr>
              <a:t>(),</a:t>
            </a:r>
          </a:p>
          <a:p>
            <a:pPr lvl="1"/>
            <a:r>
              <a:rPr lang="en-US" altLang="zh-TW" dirty="0" err="1" smtClean="0">
                <a:latin typeface="+mj-lt"/>
              </a:rPr>
              <a:t>Job.setOutputFormat</a:t>
            </a:r>
            <a:r>
              <a:rPr lang="en-US" altLang="zh-TW" dirty="0" smtClean="0">
                <a:latin typeface="+mj-lt"/>
              </a:rPr>
              <a:t>()…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Class </a:t>
            </a:r>
            <a:r>
              <a:rPr lang="en-US" altLang="zh-TW" dirty="0" err="1" smtClean="0"/>
              <a:t>Mapper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Class </a:t>
            </a:r>
            <a:r>
              <a:rPr lang="en-US" altLang="zh-TW" dirty="0" err="1" smtClean="0">
                <a:latin typeface="+mj-lt"/>
              </a:rPr>
              <a:t>Mapper</a:t>
            </a:r>
            <a:r>
              <a:rPr lang="en-US" altLang="zh-TW" dirty="0" smtClean="0">
                <a:latin typeface="+mj-lt"/>
              </a:rPr>
              <a:t>&lt;KEYIN,VALUEIN,KEYOUT,VALUEOUT&gt;</a:t>
            </a:r>
          </a:p>
          <a:p>
            <a:pPr lvl="1"/>
            <a:r>
              <a:rPr lang="en-US" altLang="zh-TW" dirty="0" smtClean="0"/>
              <a:t>Maps input key/value pairs to a set of intermediate key/value pairs.</a:t>
            </a:r>
          </a:p>
          <a:p>
            <a:r>
              <a:rPr lang="en-US" altLang="zh-TW" dirty="0" smtClean="0">
                <a:latin typeface="+mj-lt"/>
              </a:rPr>
              <a:t>Ex:</a:t>
            </a:r>
            <a:endParaRPr lang="zh-TW" altLang="en-US" dirty="0">
              <a:latin typeface="+mj-lt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1475656" y="3140968"/>
            <a:ext cx="7210435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 smtClean="0">
                <a:latin typeface="+mj-lt"/>
              </a:rPr>
              <a:t>Class </a:t>
            </a:r>
            <a:r>
              <a:rPr lang="en-US" altLang="zh-TW" sz="2000" dirty="0" err="1" smtClean="0">
                <a:latin typeface="+mj-lt"/>
              </a:rPr>
              <a:t>MyMapper</a:t>
            </a:r>
            <a:r>
              <a:rPr lang="en-US" altLang="zh-TW" sz="2000" dirty="0" smtClean="0">
                <a:latin typeface="+mj-lt"/>
              </a:rPr>
              <a:t> extend </a:t>
            </a:r>
            <a:r>
              <a:rPr lang="en-US" altLang="zh-TW" sz="2000" dirty="0" err="1" smtClean="0">
                <a:latin typeface="+mj-lt"/>
              </a:rPr>
              <a:t>Mapper</a:t>
            </a:r>
            <a:r>
              <a:rPr lang="en-US" altLang="zh-TW" sz="2000" dirty="0" smtClean="0">
                <a:latin typeface="+mj-lt"/>
              </a:rPr>
              <a:t> &lt;Object, Text, Text, </a:t>
            </a:r>
            <a:r>
              <a:rPr lang="en-US" altLang="zh-TW" sz="2000" dirty="0" err="1" smtClean="0">
                <a:latin typeface="+mj-lt"/>
              </a:rPr>
              <a:t>IntWritable</a:t>
            </a:r>
            <a:r>
              <a:rPr lang="en-US" altLang="zh-TW" sz="2000" dirty="0" smtClean="0">
                <a:latin typeface="+mj-lt"/>
              </a:rPr>
              <a:t>&gt;</a:t>
            </a:r>
          </a:p>
          <a:p>
            <a:r>
              <a:rPr lang="en-US" altLang="zh-TW" sz="2000" dirty="0" smtClean="0">
                <a:latin typeface="+mj-lt"/>
              </a:rPr>
              <a:t>{</a:t>
            </a:r>
          </a:p>
          <a:p>
            <a:r>
              <a:rPr lang="en-US" altLang="zh-TW" sz="2000" dirty="0" smtClean="0">
                <a:latin typeface="+mj-lt"/>
              </a:rPr>
              <a:t>//global variable</a:t>
            </a:r>
          </a:p>
          <a:p>
            <a:r>
              <a:rPr lang="en-US" altLang="zh-TW" sz="2000" dirty="0" smtClean="0">
                <a:latin typeface="+mj-lt"/>
              </a:rPr>
              <a:t>	public void map(Object key, Text value, Context </a:t>
            </a:r>
            <a:r>
              <a:rPr lang="en-US" altLang="zh-TW" sz="2000" dirty="0" err="1" smtClean="0">
                <a:latin typeface="+mj-lt"/>
              </a:rPr>
              <a:t>context</a:t>
            </a:r>
            <a:r>
              <a:rPr lang="en-US" altLang="zh-TW" sz="2000" dirty="0" smtClean="0">
                <a:latin typeface="+mj-lt"/>
              </a:rPr>
              <a:t>)</a:t>
            </a:r>
          </a:p>
          <a:p>
            <a:r>
              <a:rPr lang="en-US" altLang="zh-TW" sz="2000" dirty="0" smtClean="0">
                <a:latin typeface="+mj-lt"/>
              </a:rPr>
              <a:t>	 throws </a:t>
            </a:r>
            <a:r>
              <a:rPr lang="en-US" altLang="zh-TW" sz="2000" dirty="0" err="1" smtClean="0">
                <a:latin typeface="+mj-lt"/>
              </a:rPr>
              <a:t>IOException,InterruptedException</a:t>
            </a:r>
            <a:r>
              <a:rPr lang="en-US" altLang="zh-TW" sz="2000" dirty="0" smtClean="0">
                <a:latin typeface="+mj-lt"/>
              </a:rPr>
              <a:t> </a:t>
            </a:r>
          </a:p>
          <a:p>
            <a:r>
              <a:rPr lang="en-US" altLang="zh-TW" sz="2000" dirty="0" smtClean="0">
                <a:latin typeface="+mj-lt"/>
              </a:rPr>
              <a:t>	{</a:t>
            </a:r>
          </a:p>
          <a:p>
            <a:r>
              <a:rPr lang="en-US" altLang="zh-TW" sz="2000" dirty="0" smtClean="0">
                <a:latin typeface="+mj-lt"/>
              </a:rPr>
              <a:t>		//local </a:t>
            </a:r>
            <a:r>
              <a:rPr lang="en-US" altLang="zh-TW" sz="2000" dirty="0" err="1" smtClean="0">
                <a:latin typeface="+mj-lt"/>
              </a:rPr>
              <a:t>vaiable</a:t>
            </a:r>
            <a:endParaRPr lang="en-US" altLang="zh-TW" sz="2000" dirty="0" smtClean="0">
              <a:latin typeface="+mj-lt"/>
            </a:endParaRPr>
          </a:p>
          <a:p>
            <a:r>
              <a:rPr lang="en-US" altLang="zh-TW" sz="2000" dirty="0" smtClean="0">
                <a:latin typeface="+mj-lt"/>
              </a:rPr>
              <a:t>		….</a:t>
            </a:r>
          </a:p>
          <a:p>
            <a:r>
              <a:rPr lang="en-US" altLang="zh-TW" sz="2000" dirty="0" smtClean="0">
                <a:latin typeface="+mj-lt"/>
              </a:rPr>
              <a:t>		</a:t>
            </a:r>
            <a:r>
              <a:rPr lang="en-US" altLang="zh-TW" sz="2000" dirty="0" err="1" smtClean="0">
                <a:latin typeface="+mj-lt"/>
              </a:rPr>
              <a:t>context.write</a:t>
            </a:r>
            <a:r>
              <a:rPr lang="en-US" altLang="zh-TW" sz="2000" dirty="0" smtClean="0">
                <a:latin typeface="+mj-lt"/>
              </a:rPr>
              <a:t>(key’, value’);	</a:t>
            </a:r>
          </a:p>
          <a:p>
            <a:r>
              <a:rPr lang="en-US" altLang="zh-TW" sz="2000" dirty="0" smtClean="0">
                <a:latin typeface="+mj-lt"/>
              </a:rPr>
              <a:t>	}</a:t>
            </a:r>
          </a:p>
          <a:p>
            <a:r>
              <a:rPr lang="en-US" altLang="zh-TW" sz="2000" dirty="0" smtClean="0">
                <a:latin typeface="+mj-lt"/>
              </a:rPr>
              <a:t>}</a:t>
            </a:r>
            <a:endParaRPr lang="zh-TW" altLang="en-US" sz="2000" dirty="0">
              <a:latin typeface="+mj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076056" y="3212976"/>
            <a:ext cx="136815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圓角矩形圖說文字 15"/>
          <p:cNvSpPr/>
          <p:nvPr/>
        </p:nvSpPr>
        <p:spPr>
          <a:xfrm>
            <a:off x="6372200" y="4725144"/>
            <a:ext cx="2376264" cy="1224136"/>
          </a:xfrm>
          <a:prstGeom prst="wedgeRoundRectCallout">
            <a:avLst>
              <a:gd name="adj1" fmla="val -66128"/>
              <a:gd name="adj2" fmla="val -146809"/>
              <a:gd name="adj3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Input Class(key, value)</a:t>
            </a:r>
            <a:endParaRPr lang="zh-TW" altLang="en-US" dirty="0"/>
          </a:p>
        </p:txBody>
      </p:sp>
      <p:sp>
        <p:nvSpPr>
          <p:cNvPr id="17" name="矩形 16"/>
          <p:cNvSpPr/>
          <p:nvPr/>
        </p:nvSpPr>
        <p:spPr>
          <a:xfrm>
            <a:off x="6444208" y="3212976"/>
            <a:ext cx="186382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圓角矩形圖說文字 17"/>
          <p:cNvSpPr/>
          <p:nvPr/>
        </p:nvSpPr>
        <p:spPr>
          <a:xfrm>
            <a:off x="6372200" y="4725144"/>
            <a:ext cx="2376264" cy="1224136"/>
          </a:xfrm>
          <a:prstGeom prst="wedgeRoundRectCallout">
            <a:avLst>
              <a:gd name="adj1" fmla="val -7605"/>
              <a:gd name="adj2" fmla="val -149143"/>
              <a:gd name="adj3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Onput</a:t>
            </a:r>
            <a:r>
              <a:rPr lang="en-US" altLang="zh-TW" dirty="0" smtClean="0"/>
              <a:t> Class(key, value)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6" grpId="0" animBg="1"/>
      <p:bldP spid="16" grpId="1" animBg="1"/>
      <p:bldP spid="17" grpId="0" animBg="1"/>
      <p:bldP spid="1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Text, </a:t>
            </a:r>
            <a:r>
              <a:rPr lang="en-US" altLang="zh-TW" dirty="0" err="1" smtClean="0"/>
              <a:t>IntWritable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LongWritable</a:t>
            </a:r>
            <a:r>
              <a:rPr lang="en-US" altLang="zh-TW" dirty="0" smtClean="0"/>
              <a:t>,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defines its own “box” classes</a:t>
            </a:r>
          </a:p>
          <a:p>
            <a:pPr lvl="1"/>
            <a:r>
              <a:rPr lang="en-US" altLang="zh-TW" dirty="0" smtClean="0">
                <a:latin typeface="+mj-lt"/>
              </a:rPr>
              <a:t>Strings : Text</a:t>
            </a:r>
          </a:p>
          <a:p>
            <a:pPr lvl="1"/>
            <a:r>
              <a:rPr lang="en-US" altLang="zh-TW" dirty="0" smtClean="0">
                <a:latin typeface="+mj-lt"/>
              </a:rPr>
              <a:t>Integers : </a:t>
            </a:r>
            <a:r>
              <a:rPr lang="en-US" altLang="zh-TW" dirty="0" err="1" smtClean="0">
                <a:latin typeface="+mj-lt"/>
              </a:rPr>
              <a:t>IntWritable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Long : </a:t>
            </a:r>
            <a:r>
              <a:rPr lang="en-US" altLang="zh-TW" dirty="0" err="1" smtClean="0">
                <a:latin typeface="+mj-lt"/>
              </a:rPr>
              <a:t>LongWritable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Any (</a:t>
            </a:r>
            <a:r>
              <a:rPr lang="en-US" altLang="zh-TW" dirty="0" err="1" smtClean="0">
                <a:latin typeface="+mj-lt"/>
              </a:rPr>
              <a:t>WritableComparable</a:t>
            </a:r>
            <a:r>
              <a:rPr lang="en-US" altLang="zh-TW" dirty="0" smtClean="0">
                <a:latin typeface="+mj-lt"/>
              </a:rPr>
              <a:t>, Writable) can be sent to the reducer </a:t>
            </a:r>
          </a:p>
          <a:p>
            <a:pPr lvl="1"/>
            <a:r>
              <a:rPr lang="en-US" altLang="zh-TW" dirty="0" smtClean="0">
                <a:latin typeface="+mj-lt"/>
              </a:rPr>
              <a:t>All keys are instances of </a:t>
            </a:r>
            <a:r>
              <a:rPr lang="en-US" altLang="zh-TW" dirty="0" err="1" smtClean="0">
                <a:latin typeface="+mj-lt"/>
              </a:rPr>
              <a:t>WritableComparable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All values are instances of Writable</a:t>
            </a:r>
          </a:p>
          <a:p>
            <a:pPr lvl="1"/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Read Data</a:t>
            </a:r>
            <a:endParaRPr lang="zh-TW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3" y="1076224"/>
            <a:ext cx="7344816" cy="531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95688" y="6546676"/>
            <a:ext cx="1952625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接點 6"/>
          <p:cNvCxnSpPr/>
          <p:nvPr/>
        </p:nvCxnSpPr>
        <p:spPr>
          <a:xfrm>
            <a:off x="395536" y="6485152"/>
            <a:ext cx="828092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Mappers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661248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Upper-case </a:t>
            </a:r>
            <a:r>
              <a:rPr lang="en-US" altLang="zh-TW" dirty="0" err="1" smtClean="0">
                <a:latin typeface="+mj-lt"/>
              </a:rPr>
              <a:t>Mapper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Ex: let map(k, v) = emit(</a:t>
            </a:r>
            <a:r>
              <a:rPr lang="en-US" altLang="zh-TW" dirty="0" err="1" smtClean="0">
                <a:latin typeface="+mj-lt"/>
              </a:rPr>
              <a:t>k.toUpper</a:t>
            </a:r>
            <a:r>
              <a:rPr lang="en-US" altLang="zh-TW" dirty="0" smtClean="0">
                <a:latin typeface="+mj-lt"/>
              </a:rPr>
              <a:t>(), </a:t>
            </a:r>
            <a:r>
              <a:rPr lang="en-US" altLang="zh-TW" dirty="0" err="1" smtClean="0">
                <a:latin typeface="+mj-lt"/>
              </a:rPr>
              <a:t>v.toUpper</a:t>
            </a:r>
            <a:r>
              <a:rPr lang="en-US" altLang="zh-TW" dirty="0" smtClean="0">
                <a:latin typeface="+mj-lt"/>
              </a:rPr>
              <a:t>())</a:t>
            </a:r>
          </a:p>
          <a:p>
            <a:pPr lvl="2"/>
            <a:r>
              <a:rPr lang="en-US" altLang="zh-TW" dirty="0" smtClean="0">
                <a:latin typeface="+mj-lt"/>
              </a:rPr>
              <a:t>(“</a:t>
            </a:r>
            <a:r>
              <a:rPr lang="en-US" altLang="zh-TW" dirty="0" err="1" smtClean="0">
                <a:latin typeface="+mj-lt"/>
              </a:rPr>
              <a:t>foo</a:t>
            </a:r>
            <a:r>
              <a:rPr lang="en-US" altLang="zh-TW" dirty="0" smtClean="0">
                <a:latin typeface="+mj-lt"/>
              </a:rPr>
              <a:t>”, “bar”) </a:t>
            </a:r>
            <a:r>
              <a:rPr lang="en-US" altLang="zh-TW" dirty="0" smtClean="0">
                <a:latin typeface="+mj-lt"/>
                <a:cs typeface="Calibri"/>
              </a:rPr>
              <a:t>→</a:t>
            </a:r>
            <a:r>
              <a:rPr lang="en-US" altLang="zh-TW" dirty="0" smtClean="0">
                <a:latin typeface="+mj-lt"/>
              </a:rPr>
              <a:t> (“FOO”, “BAR”)</a:t>
            </a:r>
          </a:p>
          <a:p>
            <a:pPr lvl="2"/>
            <a:r>
              <a:rPr lang="en-US" altLang="zh-TW" dirty="0" smtClean="0">
                <a:latin typeface="+mj-lt"/>
              </a:rPr>
              <a:t>(“</a:t>
            </a:r>
            <a:r>
              <a:rPr lang="en-US" altLang="zh-TW" dirty="0" err="1" smtClean="0">
                <a:latin typeface="+mj-lt"/>
              </a:rPr>
              <a:t>Foo</a:t>
            </a:r>
            <a:r>
              <a:rPr lang="en-US" altLang="zh-TW" dirty="0" smtClean="0">
                <a:latin typeface="+mj-lt"/>
              </a:rPr>
              <a:t>”, “other”) </a:t>
            </a:r>
            <a:r>
              <a:rPr lang="en-US" altLang="zh-TW" dirty="0" smtClean="0">
                <a:latin typeface="+mj-lt"/>
                <a:cs typeface="Calibri"/>
              </a:rPr>
              <a:t>→</a:t>
            </a:r>
            <a:r>
              <a:rPr lang="en-US" altLang="zh-TW" dirty="0" smtClean="0">
                <a:latin typeface="+mj-lt"/>
              </a:rPr>
              <a:t> (“FOO”, “OTHER”)</a:t>
            </a:r>
          </a:p>
          <a:p>
            <a:pPr lvl="2"/>
            <a:r>
              <a:rPr lang="en-US" altLang="zh-TW" dirty="0" smtClean="0">
                <a:latin typeface="+mj-lt"/>
              </a:rPr>
              <a:t>(“key2”, “data”) </a:t>
            </a:r>
            <a:r>
              <a:rPr lang="en-US" altLang="zh-TW" dirty="0" smtClean="0">
                <a:latin typeface="+mj-lt"/>
                <a:cs typeface="Calibri"/>
              </a:rPr>
              <a:t>→</a:t>
            </a:r>
            <a:r>
              <a:rPr lang="en-US" altLang="zh-TW" dirty="0" smtClean="0">
                <a:latin typeface="+mj-lt"/>
              </a:rPr>
              <a:t> (“KEY2”, “DATA”)</a:t>
            </a:r>
          </a:p>
          <a:p>
            <a:r>
              <a:rPr lang="en-US" altLang="zh-TW" dirty="0" smtClean="0">
                <a:latin typeface="+mj-lt"/>
              </a:rPr>
              <a:t>Explode </a:t>
            </a:r>
            <a:r>
              <a:rPr lang="en-US" altLang="zh-TW" dirty="0" err="1" smtClean="0">
                <a:latin typeface="+mj-lt"/>
              </a:rPr>
              <a:t>Mapper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let map(k, v) = for each char c in v: emit(k, c)</a:t>
            </a:r>
          </a:p>
          <a:p>
            <a:pPr lvl="2"/>
            <a:r>
              <a:rPr lang="pt-BR" altLang="zh-TW" dirty="0" smtClean="0">
                <a:latin typeface="+mj-lt"/>
              </a:rPr>
              <a:t>(“A”, “cats”) </a:t>
            </a:r>
            <a:r>
              <a:rPr lang="en-US" altLang="zh-TW" dirty="0" smtClean="0">
                <a:latin typeface="+mj-lt"/>
                <a:cs typeface="Calibri"/>
              </a:rPr>
              <a:t>→</a:t>
            </a:r>
            <a:r>
              <a:rPr lang="pt-BR" altLang="zh-TW" dirty="0" smtClean="0">
                <a:latin typeface="+mj-lt"/>
              </a:rPr>
              <a:t> (“A”, “c”), (“A”, “a”), (“A”, “t”), (“A”, “s”)</a:t>
            </a:r>
          </a:p>
          <a:p>
            <a:pPr lvl="2"/>
            <a:r>
              <a:rPr lang="pt-BR" altLang="zh-TW" dirty="0" smtClean="0">
                <a:latin typeface="+mj-lt"/>
              </a:rPr>
              <a:t>(“B”, “hi”) → (“B”, “h”), (“B”, “i”)</a:t>
            </a:r>
          </a:p>
          <a:p>
            <a:r>
              <a:rPr lang="en-US" altLang="zh-TW" dirty="0" smtClean="0">
                <a:latin typeface="+mj-lt"/>
              </a:rPr>
              <a:t>Filter </a:t>
            </a:r>
            <a:r>
              <a:rPr lang="en-US" altLang="zh-TW" dirty="0" err="1" smtClean="0">
                <a:latin typeface="+mj-lt"/>
              </a:rPr>
              <a:t>Mapper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let map(k, v) = if (</a:t>
            </a:r>
            <a:r>
              <a:rPr lang="en-US" altLang="zh-TW" dirty="0" err="1" smtClean="0">
                <a:latin typeface="+mj-lt"/>
              </a:rPr>
              <a:t>isPrime</a:t>
            </a:r>
            <a:r>
              <a:rPr lang="en-US" altLang="zh-TW" dirty="0" smtClean="0">
                <a:latin typeface="+mj-lt"/>
              </a:rPr>
              <a:t>(v)) then emit(k, v)</a:t>
            </a:r>
          </a:p>
          <a:p>
            <a:pPr lvl="2"/>
            <a:r>
              <a:rPr lang="en-US" altLang="zh-TW" dirty="0" smtClean="0">
                <a:latin typeface="+mj-lt"/>
              </a:rPr>
              <a:t>(“</a:t>
            </a:r>
            <a:r>
              <a:rPr lang="en-US" altLang="zh-TW" dirty="0" err="1" smtClean="0">
                <a:latin typeface="+mj-lt"/>
              </a:rPr>
              <a:t>foo</a:t>
            </a:r>
            <a:r>
              <a:rPr lang="en-US" altLang="zh-TW" dirty="0" smtClean="0">
                <a:latin typeface="+mj-lt"/>
              </a:rPr>
              <a:t>”, 7) → (“</a:t>
            </a:r>
            <a:r>
              <a:rPr lang="en-US" altLang="zh-TW" dirty="0" err="1" smtClean="0">
                <a:latin typeface="+mj-lt"/>
              </a:rPr>
              <a:t>foo</a:t>
            </a:r>
            <a:r>
              <a:rPr lang="en-US" altLang="zh-TW" dirty="0" smtClean="0">
                <a:latin typeface="+mj-lt"/>
              </a:rPr>
              <a:t>”, 7)</a:t>
            </a:r>
          </a:p>
          <a:p>
            <a:pPr lvl="2"/>
            <a:r>
              <a:rPr lang="en-US" altLang="zh-TW" dirty="0" smtClean="0">
                <a:latin typeface="+mj-lt"/>
              </a:rPr>
              <a:t>(“test”, 10) → </a:t>
            </a:r>
            <a:r>
              <a:rPr lang="en-US" altLang="zh-TW" dirty="0" smtClean="0">
                <a:solidFill>
                  <a:schemeClr val="accent4">
                    <a:lumMod val="40000"/>
                    <a:lumOff val="60000"/>
                  </a:schemeClr>
                </a:solidFill>
                <a:latin typeface="+mj-lt"/>
              </a:rPr>
              <a:t>(nothing)</a:t>
            </a:r>
            <a:endParaRPr lang="pt-BR" altLang="zh-TW" dirty="0" smtClean="0">
              <a:solidFill>
                <a:schemeClr val="accent4">
                  <a:lumMod val="40000"/>
                  <a:lumOff val="60000"/>
                </a:schemeClr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Class Reducer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Class Reducer&lt;KEYIN,VALUEIN,KEYOUT,VALUEOUT&gt;</a:t>
            </a:r>
          </a:p>
          <a:p>
            <a:pPr lvl="1"/>
            <a:r>
              <a:rPr lang="en-US" altLang="zh-TW" dirty="0" smtClean="0">
                <a:latin typeface="+mj-lt"/>
              </a:rPr>
              <a:t>Reduces a set of intermediate values which share a key to a smaller set of values.</a:t>
            </a:r>
          </a:p>
          <a:p>
            <a:r>
              <a:rPr lang="en-US" altLang="zh-TW" dirty="0" smtClean="0">
                <a:latin typeface="+mj-lt"/>
              </a:rPr>
              <a:t>Ex:</a:t>
            </a:r>
            <a:endParaRPr lang="zh-TW" altLang="en-US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475656" y="3140968"/>
            <a:ext cx="766834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>
                <a:latin typeface="+mj-lt"/>
              </a:rPr>
              <a:t>Class </a:t>
            </a:r>
            <a:r>
              <a:rPr lang="en-US" altLang="zh-TW" sz="2000" dirty="0" err="1" smtClean="0">
                <a:latin typeface="+mj-lt"/>
              </a:rPr>
              <a:t>MyReducer</a:t>
            </a:r>
            <a:r>
              <a:rPr lang="en-US" altLang="zh-TW" sz="2000" dirty="0" smtClean="0">
                <a:latin typeface="+mj-lt"/>
              </a:rPr>
              <a:t> extend Reducer &lt;</a:t>
            </a:r>
            <a:r>
              <a:rPr lang="en-US" altLang="zh-TW" sz="2000" dirty="0" smtClean="0"/>
              <a:t> Text, </a:t>
            </a:r>
            <a:r>
              <a:rPr lang="en-US" altLang="zh-TW" sz="2000" dirty="0" err="1" smtClean="0"/>
              <a:t>IntWritable</a:t>
            </a:r>
            <a:r>
              <a:rPr lang="en-US" altLang="zh-TW" sz="2000" dirty="0" smtClean="0">
                <a:latin typeface="+mj-lt"/>
              </a:rPr>
              <a:t>, Text, </a:t>
            </a:r>
            <a:r>
              <a:rPr lang="en-US" altLang="zh-TW" sz="2000" dirty="0" err="1" smtClean="0">
                <a:latin typeface="+mj-lt"/>
              </a:rPr>
              <a:t>IntWritable</a:t>
            </a:r>
            <a:r>
              <a:rPr lang="en-US" altLang="zh-TW" sz="2000" dirty="0" smtClean="0">
                <a:latin typeface="+mj-lt"/>
              </a:rPr>
              <a:t>&gt;</a:t>
            </a:r>
          </a:p>
          <a:p>
            <a:r>
              <a:rPr lang="en-US" altLang="zh-TW" sz="2000" dirty="0" smtClean="0">
                <a:latin typeface="+mj-lt"/>
              </a:rPr>
              <a:t>{</a:t>
            </a:r>
          </a:p>
          <a:p>
            <a:r>
              <a:rPr lang="en-US" altLang="zh-TW" sz="2000" dirty="0" smtClean="0">
                <a:latin typeface="+mj-lt"/>
              </a:rPr>
              <a:t>//global variable</a:t>
            </a:r>
          </a:p>
          <a:p>
            <a:r>
              <a:rPr lang="en-US" altLang="zh-TW" sz="2000" dirty="0" smtClean="0">
                <a:latin typeface="+mj-lt"/>
              </a:rPr>
              <a:t>	public void reduce(Object key, </a:t>
            </a:r>
            <a:r>
              <a:rPr lang="en-US" altLang="zh-TW" sz="2000" dirty="0" err="1" smtClean="0">
                <a:latin typeface="+mj-lt"/>
              </a:rPr>
              <a:t>Iterable</a:t>
            </a:r>
            <a:r>
              <a:rPr lang="en-US" altLang="zh-TW" sz="2000" dirty="0" smtClean="0">
                <a:latin typeface="+mj-lt"/>
              </a:rPr>
              <a:t>&lt;</a:t>
            </a:r>
            <a:r>
              <a:rPr lang="en-US" altLang="zh-TW" sz="2000" dirty="0" err="1" smtClean="0">
                <a:latin typeface="+mj-lt"/>
              </a:rPr>
              <a:t>IntWritable</a:t>
            </a:r>
            <a:r>
              <a:rPr lang="en-US" altLang="zh-TW" sz="2000" dirty="0" smtClean="0">
                <a:latin typeface="+mj-lt"/>
              </a:rPr>
              <a:t>&gt; value, Context </a:t>
            </a:r>
            <a:r>
              <a:rPr lang="en-US" altLang="zh-TW" sz="2000" dirty="0" err="1" smtClean="0">
                <a:latin typeface="+mj-lt"/>
              </a:rPr>
              <a:t>context</a:t>
            </a:r>
            <a:r>
              <a:rPr lang="en-US" altLang="zh-TW" sz="2000" dirty="0" smtClean="0">
                <a:latin typeface="+mj-lt"/>
              </a:rPr>
              <a:t>)</a:t>
            </a:r>
          </a:p>
          <a:p>
            <a:r>
              <a:rPr lang="en-US" altLang="zh-TW" sz="2000" dirty="0" smtClean="0">
                <a:latin typeface="+mj-lt"/>
              </a:rPr>
              <a:t>	 throws </a:t>
            </a:r>
            <a:r>
              <a:rPr lang="en-US" altLang="zh-TW" sz="2000" dirty="0" err="1" smtClean="0">
                <a:latin typeface="+mj-lt"/>
              </a:rPr>
              <a:t>IOException,InterruptedException</a:t>
            </a:r>
            <a:r>
              <a:rPr lang="en-US" altLang="zh-TW" sz="2000" dirty="0" smtClean="0">
                <a:latin typeface="+mj-lt"/>
              </a:rPr>
              <a:t> </a:t>
            </a:r>
          </a:p>
          <a:p>
            <a:r>
              <a:rPr lang="en-US" altLang="zh-TW" sz="2000" dirty="0" smtClean="0">
                <a:latin typeface="+mj-lt"/>
              </a:rPr>
              <a:t>	{</a:t>
            </a:r>
          </a:p>
          <a:p>
            <a:r>
              <a:rPr lang="en-US" altLang="zh-TW" sz="2000" dirty="0" smtClean="0">
                <a:latin typeface="+mj-lt"/>
              </a:rPr>
              <a:t>		//local </a:t>
            </a:r>
            <a:r>
              <a:rPr lang="en-US" altLang="zh-TW" sz="2000" dirty="0" err="1" smtClean="0">
                <a:latin typeface="+mj-lt"/>
              </a:rPr>
              <a:t>vaiable</a:t>
            </a:r>
            <a:endParaRPr lang="en-US" altLang="zh-TW" sz="2000" dirty="0" smtClean="0">
              <a:latin typeface="+mj-lt"/>
            </a:endParaRPr>
          </a:p>
          <a:p>
            <a:r>
              <a:rPr lang="en-US" altLang="zh-TW" sz="2000" dirty="0" smtClean="0">
                <a:latin typeface="+mj-lt"/>
              </a:rPr>
              <a:t>		….</a:t>
            </a:r>
          </a:p>
          <a:p>
            <a:r>
              <a:rPr lang="en-US" altLang="zh-TW" sz="2000" dirty="0" smtClean="0">
                <a:latin typeface="+mj-lt"/>
              </a:rPr>
              <a:t>		</a:t>
            </a:r>
            <a:r>
              <a:rPr lang="en-US" altLang="zh-TW" sz="2000" dirty="0" err="1" smtClean="0">
                <a:latin typeface="+mj-lt"/>
              </a:rPr>
              <a:t>context.write</a:t>
            </a:r>
            <a:r>
              <a:rPr lang="en-US" altLang="zh-TW" sz="2000" dirty="0" smtClean="0">
                <a:latin typeface="+mj-lt"/>
              </a:rPr>
              <a:t>(key’, value’);	</a:t>
            </a:r>
          </a:p>
          <a:p>
            <a:r>
              <a:rPr lang="en-US" altLang="zh-TW" sz="2000" dirty="0" smtClean="0">
                <a:latin typeface="+mj-lt"/>
              </a:rPr>
              <a:t>	}</a:t>
            </a:r>
          </a:p>
          <a:p>
            <a:r>
              <a:rPr lang="en-US" altLang="zh-TW" sz="2000" dirty="0" smtClean="0">
                <a:latin typeface="+mj-lt"/>
              </a:rPr>
              <a:t>}</a:t>
            </a:r>
            <a:endParaRPr lang="zh-TW" altLang="en-US" sz="2000" dirty="0">
              <a:latin typeface="+mj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220072" y="3212976"/>
            <a:ext cx="1800200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圓角矩形圖說文字 5"/>
          <p:cNvSpPr/>
          <p:nvPr/>
        </p:nvSpPr>
        <p:spPr>
          <a:xfrm>
            <a:off x="6372200" y="4725144"/>
            <a:ext cx="2376264" cy="1224136"/>
          </a:xfrm>
          <a:prstGeom prst="wedgeRoundRectCallout">
            <a:avLst>
              <a:gd name="adj1" fmla="val -66128"/>
              <a:gd name="adj2" fmla="val -146809"/>
              <a:gd name="adj3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Input Class(key, value)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7020271" y="3212976"/>
            <a:ext cx="1800201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圖說文字 7"/>
          <p:cNvSpPr/>
          <p:nvPr/>
        </p:nvSpPr>
        <p:spPr>
          <a:xfrm>
            <a:off x="6372200" y="4725144"/>
            <a:ext cx="2376264" cy="1224136"/>
          </a:xfrm>
          <a:prstGeom prst="wedgeRoundRectCallout">
            <a:avLst>
              <a:gd name="adj1" fmla="val -7605"/>
              <a:gd name="adj2" fmla="val -149143"/>
              <a:gd name="adj3" fmla="val 16667"/>
            </a:avLst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 smtClean="0"/>
              <a:t>Onput</a:t>
            </a:r>
            <a:r>
              <a:rPr lang="en-US" altLang="zh-TW" dirty="0" smtClean="0"/>
              <a:t> Class(key, value)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8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Reducers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Sum Reducer</a:t>
            </a:r>
          </a:p>
          <a:p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  <a:p>
            <a:pPr lvl="1"/>
            <a:endParaRPr lang="pt-BR" altLang="zh-TW" dirty="0" smtClean="0">
              <a:latin typeface="+mj-lt"/>
            </a:endParaRPr>
          </a:p>
          <a:p>
            <a:pPr lvl="1"/>
            <a:r>
              <a:rPr lang="pt-BR" altLang="zh-TW" dirty="0" smtClean="0">
                <a:latin typeface="+mj-lt"/>
              </a:rPr>
              <a:t>(“A”, [42, 100, 312]) → (“A”, 454)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Identity Reducer</a:t>
            </a:r>
          </a:p>
          <a:p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  <a:p>
            <a:pPr lvl="1"/>
            <a:r>
              <a:rPr lang="pt-BR" altLang="zh-TW" dirty="0" smtClean="0">
                <a:latin typeface="+mj-lt"/>
              </a:rPr>
              <a:t>(“A”, [42, 100, 312]) → (“A”, 42),</a:t>
            </a:r>
            <a:r>
              <a:rPr lang="en-US" altLang="zh-TW" dirty="0" smtClean="0">
                <a:latin typeface="+mj-lt"/>
              </a:rPr>
              <a:t>(“A”, 100), (“A”, 312)</a:t>
            </a:r>
          </a:p>
        </p:txBody>
      </p:sp>
      <p:sp>
        <p:nvSpPr>
          <p:cNvPr id="4" name="矩形 3"/>
          <p:cNvSpPr/>
          <p:nvPr/>
        </p:nvSpPr>
        <p:spPr>
          <a:xfrm>
            <a:off x="1547664" y="2147952"/>
            <a:ext cx="5022304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let </a:t>
            </a: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reduce(k, </a:t>
            </a:r>
            <a:r>
              <a:rPr lang="en-US" altLang="zh-TW" dirty="0" err="1" smtClean="0">
                <a:solidFill>
                  <a:srgbClr val="000000"/>
                </a:solidFill>
                <a:latin typeface="F2"/>
              </a:rPr>
              <a:t>vals</a:t>
            </a: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) =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	sum = 0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	</a:t>
            </a:r>
            <a:r>
              <a:rPr lang="en-US" altLang="zh-TW" dirty="0" err="1" smtClean="0">
                <a:solidFill>
                  <a:srgbClr val="32329B"/>
                </a:solidFill>
                <a:latin typeface="F2"/>
              </a:rPr>
              <a:t>foreach</a:t>
            </a: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 </a:t>
            </a:r>
            <a:r>
              <a:rPr lang="en-US" altLang="zh-TW" dirty="0" err="1" smtClean="0">
                <a:solidFill>
                  <a:srgbClr val="32329B"/>
                </a:solidFill>
                <a:latin typeface="F2"/>
              </a:rPr>
              <a:t>int</a:t>
            </a: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v </a:t>
            </a: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in </a:t>
            </a:r>
            <a:r>
              <a:rPr lang="en-US" altLang="zh-TW" dirty="0" err="1" smtClean="0">
                <a:solidFill>
                  <a:srgbClr val="000000"/>
                </a:solidFill>
                <a:latin typeface="F2"/>
              </a:rPr>
              <a:t>vals</a:t>
            </a: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		sum += v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	emit</a:t>
            </a: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(k, sum)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547664" y="5016078"/>
            <a:ext cx="4572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let </a:t>
            </a: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reduce(k, </a:t>
            </a:r>
            <a:r>
              <a:rPr lang="en-US" altLang="zh-TW" dirty="0" err="1" smtClean="0">
                <a:solidFill>
                  <a:srgbClr val="000000"/>
                </a:solidFill>
                <a:latin typeface="F2"/>
              </a:rPr>
              <a:t>vals</a:t>
            </a: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) =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	</a:t>
            </a:r>
            <a:r>
              <a:rPr lang="en-US" altLang="zh-TW" dirty="0" err="1" smtClean="0">
                <a:solidFill>
                  <a:srgbClr val="32329B"/>
                </a:solidFill>
                <a:latin typeface="F2"/>
              </a:rPr>
              <a:t>foreach</a:t>
            </a: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v </a:t>
            </a: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in </a:t>
            </a:r>
            <a:r>
              <a:rPr lang="en-US" altLang="zh-TW" dirty="0" err="1" smtClean="0">
                <a:solidFill>
                  <a:srgbClr val="000000"/>
                </a:solidFill>
                <a:latin typeface="F2"/>
              </a:rPr>
              <a:t>vals</a:t>
            </a: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en-US" altLang="zh-TW" dirty="0" smtClean="0">
                <a:solidFill>
                  <a:srgbClr val="32329B"/>
                </a:solidFill>
                <a:latin typeface="F2"/>
              </a:rPr>
              <a:t>	emit</a:t>
            </a:r>
            <a:r>
              <a:rPr lang="en-US" altLang="zh-TW" dirty="0" smtClean="0">
                <a:solidFill>
                  <a:srgbClr val="000000"/>
                </a:solidFill>
                <a:latin typeface="F2"/>
              </a:rPr>
              <a:t>(k, v)</a:t>
            </a: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Performance Consideration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Ideal scaling characteristics:</a:t>
            </a:r>
          </a:p>
          <a:p>
            <a:pPr lvl="1"/>
            <a:r>
              <a:rPr lang="en-US" altLang="zh-TW" dirty="0" smtClean="0">
                <a:latin typeface="+mj-lt"/>
              </a:rPr>
              <a:t>Twice the data, twice the running time</a:t>
            </a:r>
          </a:p>
          <a:p>
            <a:pPr lvl="1"/>
            <a:r>
              <a:rPr lang="en-US" altLang="zh-TW" dirty="0" smtClean="0">
                <a:latin typeface="+mj-lt"/>
              </a:rPr>
              <a:t>Twice the resources, half the running time</a:t>
            </a:r>
          </a:p>
          <a:p>
            <a:r>
              <a:rPr lang="en-US" altLang="zh-TW" dirty="0" smtClean="0">
                <a:latin typeface="+mj-lt"/>
              </a:rPr>
              <a:t>Why can’t we achieve this?</a:t>
            </a:r>
          </a:p>
          <a:p>
            <a:pPr lvl="1"/>
            <a:r>
              <a:rPr lang="en-US" altLang="zh-TW" dirty="0" smtClean="0">
                <a:latin typeface="+mj-lt"/>
              </a:rPr>
              <a:t>Synchronization requires communication</a:t>
            </a:r>
          </a:p>
          <a:p>
            <a:pPr lvl="1"/>
            <a:r>
              <a:rPr lang="en-US" altLang="zh-TW" dirty="0" smtClean="0">
                <a:latin typeface="+mj-lt"/>
              </a:rPr>
              <a:t>Communication kills performance</a:t>
            </a:r>
          </a:p>
          <a:p>
            <a:r>
              <a:rPr lang="en-US" altLang="zh-TW" dirty="0" smtClean="0">
                <a:latin typeface="+mj-lt"/>
              </a:rPr>
              <a:t>Thus… avoid communication!</a:t>
            </a:r>
          </a:p>
          <a:p>
            <a:pPr lvl="1"/>
            <a:r>
              <a:rPr lang="en-US" altLang="zh-TW" dirty="0" smtClean="0">
                <a:latin typeface="+mj-lt"/>
              </a:rPr>
              <a:t>Reduce intermediate data via local aggregation</a:t>
            </a:r>
          </a:p>
          <a:p>
            <a:pPr lvl="1"/>
            <a:r>
              <a:rPr lang="en-US" altLang="zh-TW" dirty="0" smtClean="0">
                <a:latin typeface="+mj-lt"/>
              </a:rPr>
              <a:t>Combiners can help</a:t>
            </a: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172"/>
          <p:cNvCxnSpPr>
            <a:cxnSpLocks noChangeShapeType="1"/>
          </p:cNvCxnSpPr>
          <p:nvPr/>
        </p:nvCxnSpPr>
        <p:spPr bwMode="auto">
          <a:xfrm rot="5400000">
            <a:off x="2644776" y="3284389"/>
            <a:ext cx="273050" cy="3175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5" name="Straight Arrow Connector 173"/>
          <p:cNvCxnSpPr>
            <a:cxnSpLocks noChangeShapeType="1"/>
          </p:cNvCxnSpPr>
          <p:nvPr/>
        </p:nvCxnSpPr>
        <p:spPr bwMode="auto">
          <a:xfrm rot="5400000">
            <a:off x="3938588" y="3284389"/>
            <a:ext cx="274638" cy="1587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6" name="Straight Arrow Connector 174"/>
          <p:cNvCxnSpPr>
            <a:cxnSpLocks noChangeShapeType="1"/>
          </p:cNvCxnSpPr>
          <p:nvPr/>
        </p:nvCxnSpPr>
        <p:spPr bwMode="auto">
          <a:xfrm rot="5400000">
            <a:off x="5233988" y="3284389"/>
            <a:ext cx="274638" cy="1587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7" name="Straight Arrow Connector 175"/>
          <p:cNvCxnSpPr>
            <a:cxnSpLocks noChangeShapeType="1"/>
          </p:cNvCxnSpPr>
          <p:nvPr/>
        </p:nvCxnSpPr>
        <p:spPr bwMode="auto">
          <a:xfrm rot="5400000">
            <a:off x="6605588" y="3284389"/>
            <a:ext cx="274638" cy="1587"/>
          </a:xfrm>
          <a:prstGeom prst="straightConnector1">
            <a:avLst/>
          </a:prstGeom>
          <a:ln>
            <a:headEnd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324600" y="2738288"/>
            <a:ext cx="838200" cy="4095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b="0" dirty="0" smtClean="0">
                <a:solidFill>
                  <a:schemeClr val="bg2"/>
                </a:solidFill>
              </a:rPr>
              <a:t>combine</a:t>
            </a:r>
            <a:endParaRPr lang="en-US" sz="1200" b="0" dirty="0">
              <a:solidFill>
                <a:schemeClr val="bg2"/>
              </a:solidFill>
            </a:endParaRP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362200" y="2738288"/>
            <a:ext cx="838200" cy="4095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b="0" dirty="0" smtClean="0">
                <a:solidFill>
                  <a:schemeClr val="bg2"/>
                </a:solidFill>
              </a:rPr>
              <a:t>combine</a:t>
            </a:r>
            <a:endParaRPr lang="en-US" sz="1200" b="0" dirty="0">
              <a:solidFill>
                <a:schemeClr val="bg2"/>
              </a:solidFill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657600" y="2738288"/>
            <a:ext cx="838200" cy="4095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b="0" dirty="0" smtClean="0">
                <a:solidFill>
                  <a:schemeClr val="bg2"/>
                </a:solidFill>
              </a:rPr>
              <a:t>combine</a:t>
            </a:r>
            <a:endParaRPr lang="en-US" sz="1200" b="0" dirty="0">
              <a:solidFill>
                <a:schemeClr val="bg2"/>
              </a:solidFill>
            </a:endParaRPr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4953000" y="2738288"/>
            <a:ext cx="838200" cy="4095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b="0" dirty="0" smtClean="0">
                <a:solidFill>
                  <a:schemeClr val="bg2"/>
                </a:solidFill>
              </a:rPr>
              <a:t>combine</a:t>
            </a:r>
            <a:endParaRPr lang="en-US" sz="1200" b="0" dirty="0">
              <a:solidFill>
                <a:schemeClr val="bg2"/>
              </a:solidFill>
            </a:endParaRPr>
          </a:p>
        </p:txBody>
      </p:sp>
      <p:grpSp>
        <p:nvGrpSpPr>
          <p:cNvPr id="12" name="Group 326"/>
          <p:cNvGrpSpPr/>
          <p:nvPr/>
        </p:nvGrpSpPr>
        <p:grpSpPr>
          <a:xfrm>
            <a:off x="2286000" y="3452664"/>
            <a:ext cx="996950" cy="276225"/>
            <a:chOff x="2286000" y="3381375"/>
            <a:chExt cx="996950" cy="276225"/>
          </a:xfrm>
        </p:grpSpPr>
        <p:sp>
          <p:nvSpPr>
            <p:cNvPr id="13" name="Rectangle 144"/>
            <p:cNvSpPr>
              <a:spLocks noChangeArrowheads="1"/>
            </p:cNvSpPr>
            <p:nvPr/>
          </p:nvSpPr>
          <p:spPr bwMode="auto">
            <a:xfrm>
              <a:off x="2794665" y="34055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TextBox 145"/>
            <p:cNvSpPr txBox="1">
              <a:spLocks noChangeArrowheads="1"/>
            </p:cNvSpPr>
            <p:nvPr/>
          </p:nvSpPr>
          <p:spPr bwMode="auto">
            <a:xfrm>
              <a:off x="2784475" y="33813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 dirty="0"/>
                <a:t>b</a:t>
              </a:r>
              <a:endParaRPr lang="en-US" b="0" baseline="-25000" dirty="0"/>
            </a:p>
          </p:txBody>
        </p:sp>
        <p:sp>
          <p:nvSpPr>
            <p:cNvPr id="15" name="Rectangle 137"/>
            <p:cNvSpPr>
              <a:spLocks noChangeArrowheads="1"/>
            </p:cNvSpPr>
            <p:nvPr/>
          </p:nvSpPr>
          <p:spPr bwMode="auto">
            <a:xfrm>
              <a:off x="2296190" y="34055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TextBox 138"/>
            <p:cNvSpPr txBox="1">
              <a:spLocks noChangeArrowheads="1"/>
            </p:cNvSpPr>
            <p:nvPr/>
          </p:nvSpPr>
          <p:spPr bwMode="auto">
            <a:xfrm>
              <a:off x="2286000" y="33813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 dirty="0"/>
                <a:t>a</a:t>
              </a:r>
              <a:endParaRPr lang="en-US" b="0" baseline="-25000" dirty="0"/>
            </a:p>
          </p:txBody>
        </p:sp>
        <p:sp>
          <p:nvSpPr>
            <p:cNvPr id="17" name="Rectangle 135"/>
            <p:cNvSpPr>
              <a:spLocks noChangeArrowheads="1"/>
            </p:cNvSpPr>
            <p:nvPr/>
          </p:nvSpPr>
          <p:spPr bwMode="auto">
            <a:xfrm>
              <a:off x="2524904" y="34055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8" name="TextBox 136"/>
            <p:cNvSpPr txBox="1">
              <a:spLocks noChangeArrowheads="1"/>
            </p:cNvSpPr>
            <p:nvPr/>
          </p:nvSpPr>
          <p:spPr bwMode="auto">
            <a:xfrm>
              <a:off x="2514714" y="33813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1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9" name="Rectangle 142"/>
            <p:cNvSpPr>
              <a:spLocks noChangeArrowheads="1"/>
            </p:cNvSpPr>
            <p:nvPr/>
          </p:nvSpPr>
          <p:spPr bwMode="auto">
            <a:xfrm>
              <a:off x="3023379" y="34055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TextBox 143"/>
            <p:cNvSpPr txBox="1">
              <a:spLocks noChangeArrowheads="1"/>
            </p:cNvSpPr>
            <p:nvPr/>
          </p:nvSpPr>
          <p:spPr bwMode="auto">
            <a:xfrm>
              <a:off x="3013189" y="33813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1" name="Group 325"/>
          <p:cNvGrpSpPr/>
          <p:nvPr/>
        </p:nvGrpSpPr>
        <p:grpSpPr>
          <a:xfrm>
            <a:off x="3844925" y="3452664"/>
            <a:ext cx="498475" cy="276225"/>
            <a:chOff x="3844925" y="3381375"/>
            <a:chExt cx="498475" cy="276225"/>
          </a:xfrm>
        </p:grpSpPr>
        <p:sp>
          <p:nvSpPr>
            <p:cNvPr id="22" name="Rectangle 151"/>
            <p:cNvSpPr>
              <a:spLocks noChangeArrowheads="1"/>
            </p:cNvSpPr>
            <p:nvPr/>
          </p:nvSpPr>
          <p:spPr bwMode="auto">
            <a:xfrm>
              <a:off x="3855115" y="34055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TextBox 152"/>
            <p:cNvSpPr txBox="1">
              <a:spLocks noChangeArrowheads="1"/>
            </p:cNvSpPr>
            <p:nvPr/>
          </p:nvSpPr>
          <p:spPr bwMode="auto">
            <a:xfrm>
              <a:off x="3844925" y="33813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c</a:t>
              </a:r>
              <a:endParaRPr lang="en-US" b="0" baseline="-25000"/>
            </a:p>
          </p:txBody>
        </p:sp>
        <p:sp>
          <p:nvSpPr>
            <p:cNvPr id="24" name="Rectangle 149"/>
            <p:cNvSpPr>
              <a:spLocks noChangeArrowheads="1"/>
            </p:cNvSpPr>
            <p:nvPr/>
          </p:nvSpPr>
          <p:spPr bwMode="auto">
            <a:xfrm>
              <a:off x="4083829" y="34055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TextBox 150"/>
            <p:cNvSpPr txBox="1">
              <a:spLocks noChangeArrowheads="1"/>
            </p:cNvSpPr>
            <p:nvPr/>
          </p:nvSpPr>
          <p:spPr bwMode="auto">
            <a:xfrm>
              <a:off x="4073639" y="33813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 smtClean="0">
                  <a:solidFill>
                    <a:schemeClr val="accent2">
                      <a:lumMod val="75000"/>
                    </a:schemeClr>
                  </a:solidFill>
                </a:rPr>
                <a:t>9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26" name="Group 324"/>
          <p:cNvGrpSpPr/>
          <p:nvPr/>
        </p:nvGrpSpPr>
        <p:grpSpPr>
          <a:xfrm>
            <a:off x="4876800" y="3452664"/>
            <a:ext cx="990600" cy="276225"/>
            <a:chOff x="4876800" y="3381375"/>
            <a:chExt cx="990600" cy="276225"/>
          </a:xfrm>
        </p:grpSpPr>
        <p:sp>
          <p:nvSpPr>
            <p:cNvPr id="27" name="Rectangle 165"/>
            <p:cNvSpPr>
              <a:spLocks noChangeArrowheads="1"/>
            </p:cNvSpPr>
            <p:nvPr/>
          </p:nvSpPr>
          <p:spPr bwMode="auto">
            <a:xfrm>
              <a:off x="4886985" y="34055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172"/>
            <p:cNvSpPr>
              <a:spLocks noChangeArrowheads="1"/>
            </p:cNvSpPr>
            <p:nvPr/>
          </p:nvSpPr>
          <p:spPr bwMode="auto">
            <a:xfrm>
              <a:off x="5379359" y="34055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TextBox 166"/>
            <p:cNvSpPr txBox="1">
              <a:spLocks noChangeArrowheads="1"/>
            </p:cNvSpPr>
            <p:nvPr/>
          </p:nvSpPr>
          <p:spPr bwMode="auto">
            <a:xfrm>
              <a:off x="4876800" y="33813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a</a:t>
              </a:r>
              <a:endParaRPr lang="en-US" b="0" baseline="-25000"/>
            </a:p>
          </p:txBody>
        </p:sp>
        <p:sp>
          <p:nvSpPr>
            <p:cNvPr id="30" name="TextBox 173"/>
            <p:cNvSpPr txBox="1">
              <a:spLocks noChangeArrowheads="1"/>
            </p:cNvSpPr>
            <p:nvPr/>
          </p:nvSpPr>
          <p:spPr bwMode="auto">
            <a:xfrm>
              <a:off x="5369174" y="3381375"/>
              <a:ext cx="26161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c</a:t>
              </a:r>
              <a:endParaRPr lang="en-US" b="0" baseline="-25000"/>
            </a:p>
          </p:txBody>
        </p:sp>
        <p:sp>
          <p:nvSpPr>
            <p:cNvPr id="31" name="Rectangle 163"/>
            <p:cNvSpPr>
              <a:spLocks noChangeArrowheads="1"/>
            </p:cNvSpPr>
            <p:nvPr/>
          </p:nvSpPr>
          <p:spPr bwMode="auto">
            <a:xfrm>
              <a:off x="5115585" y="34055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TextBox 164"/>
            <p:cNvSpPr txBox="1">
              <a:spLocks noChangeArrowheads="1"/>
            </p:cNvSpPr>
            <p:nvPr/>
          </p:nvSpPr>
          <p:spPr bwMode="auto">
            <a:xfrm>
              <a:off x="5105400" y="33813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5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33" name="Rectangle 170"/>
            <p:cNvSpPr>
              <a:spLocks noChangeArrowheads="1"/>
            </p:cNvSpPr>
            <p:nvPr/>
          </p:nvSpPr>
          <p:spPr bwMode="auto">
            <a:xfrm>
              <a:off x="5607959" y="34055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TextBox 171"/>
            <p:cNvSpPr txBox="1">
              <a:spLocks noChangeArrowheads="1"/>
            </p:cNvSpPr>
            <p:nvPr/>
          </p:nvSpPr>
          <p:spPr bwMode="auto">
            <a:xfrm>
              <a:off x="5597774" y="33813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35" name="Group 323"/>
          <p:cNvGrpSpPr/>
          <p:nvPr/>
        </p:nvGrpSpPr>
        <p:grpSpPr>
          <a:xfrm>
            <a:off x="6248400" y="3452664"/>
            <a:ext cx="990600" cy="276225"/>
            <a:chOff x="6248400" y="3381375"/>
            <a:chExt cx="990600" cy="276225"/>
          </a:xfrm>
        </p:grpSpPr>
        <p:sp>
          <p:nvSpPr>
            <p:cNvPr id="36" name="Rectangle 179"/>
            <p:cNvSpPr>
              <a:spLocks noChangeArrowheads="1"/>
            </p:cNvSpPr>
            <p:nvPr/>
          </p:nvSpPr>
          <p:spPr bwMode="auto">
            <a:xfrm>
              <a:off x="6258585" y="34055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Rectangle 186"/>
            <p:cNvSpPr>
              <a:spLocks noChangeArrowheads="1"/>
            </p:cNvSpPr>
            <p:nvPr/>
          </p:nvSpPr>
          <p:spPr bwMode="auto">
            <a:xfrm>
              <a:off x="6750959" y="34055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TextBox 180"/>
            <p:cNvSpPr txBox="1">
              <a:spLocks noChangeArrowheads="1"/>
            </p:cNvSpPr>
            <p:nvPr/>
          </p:nvSpPr>
          <p:spPr bwMode="auto">
            <a:xfrm>
              <a:off x="6248400" y="33813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b</a:t>
              </a:r>
              <a:endParaRPr lang="en-US" b="0" baseline="-25000"/>
            </a:p>
          </p:txBody>
        </p:sp>
        <p:sp>
          <p:nvSpPr>
            <p:cNvPr id="39" name="TextBox 187"/>
            <p:cNvSpPr txBox="1">
              <a:spLocks noChangeArrowheads="1"/>
            </p:cNvSpPr>
            <p:nvPr/>
          </p:nvSpPr>
          <p:spPr bwMode="auto">
            <a:xfrm>
              <a:off x="6740774" y="3381375"/>
              <a:ext cx="26161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c</a:t>
              </a:r>
              <a:endParaRPr lang="en-US" b="0" baseline="-25000"/>
            </a:p>
          </p:txBody>
        </p:sp>
        <p:sp>
          <p:nvSpPr>
            <p:cNvPr id="40" name="Rectangle 177"/>
            <p:cNvSpPr>
              <a:spLocks noChangeArrowheads="1"/>
            </p:cNvSpPr>
            <p:nvPr/>
          </p:nvSpPr>
          <p:spPr bwMode="auto">
            <a:xfrm>
              <a:off x="6487185" y="34055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TextBox 178"/>
            <p:cNvSpPr txBox="1">
              <a:spLocks noChangeArrowheads="1"/>
            </p:cNvSpPr>
            <p:nvPr/>
          </p:nvSpPr>
          <p:spPr bwMode="auto">
            <a:xfrm>
              <a:off x="6477000" y="33813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7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42" name="Rectangle 184"/>
            <p:cNvSpPr>
              <a:spLocks noChangeArrowheads="1"/>
            </p:cNvSpPr>
            <p:nvPr/>
          </p:nvSpPr>
          <p:spPr bwMode="auto">
            <a:xfrm>
              <a:off x="6979559" y="34055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TextBox 185"/>
            <p:cNvSpPr txBox="1">
              <a:spLocks noChangeArrowheads="1"/>
            </p:cNvSpPr>
            <p:nvPr/>
          </p:nvSpPr>
          <p:spPr bwMode="auto">
            <a:xfrm>
              <a:off x="6969374" y="33813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 smtClean="0">
                  <a:solidFill>
                    <a:schemeClr val="accent2">
                      <a:lumMod val="75000"/>
                    </a:schemeClr>
                  </a:solidFill>
                </a:rPr>
                <a:t>8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sp>
        <p:nvSpPr>
          <p:cNvPr id="44" name="Rectangle 4"/>
          <p:cNvSpPr>
            <a:spLocks noChangeArrowheads="1"/>
          </p:cNvSpPr>
          <p:nvPr/>
        </p:nvSpPr>
        <p:spPr bwMode="auto">
          <a:xfrm>
            <a:off x="2286000" y="3805089"/>
            <a:ext cx="990600" cy="3333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b="0" dirty="0" smtClean="0">
                <a:solidFill>
                  <a:schemeClr val="bg2"/>
                </a:solidFill>
              </a:rPr>
              <a:t>partition</a:t>
            </a:r>
            <a:endParaRPr lang="en-US" sz="1200" b="0" dirty="0">
              <a:solidFill>
                <a:schemeClr val="bg2"/>
              </a:solidFill>
            </a:endParaRPr>
          </a:p>
        </p:txBody>
      </p:sp>
      <p:sp>
        <p:nvSpPr>
          <p:cNvPr id="45" name="Rectangle 4"/>
          <p:cNvSpPr>
            <a:spLocks noChangeArrowheads="1"/>
          </p:cNvSpPr>
          <p:nvPr/>
        </p:nvSpPr>
        <p:spPr bwMode="auto">
          <a:xfrm>
            <a:off x="3581400" y="3805089"/>
            <a:ext cx="990600" cy="3333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b="0" dirty="0" smtClean="0">
                <a:solidFill>
                  <a:schemeClr val="bg2"/>
                </a:solidFill>
              </a:rPr>
              <a:t>partition</a:t>
            </a:r>
            <a:endParaRPr lang="en-US" sz="1200" b="0" dirty="0">
              <a:solidFill>
                <a:schemeClr val="bg2"/>
              </a:solidFill>
            </a:endParaRPr>
          </a:p>
        </p:txBody>
      </p:sp>
      <p:sp>
        <p:nvSpPr>
          <p:cNvPr id="46" name="Rectangle 4"/>
          <p:cNvSpPr>
            <a:spLocks noChangeArrowheads="1"/>
          </p:cNvSpPr>
          <p:nvPr/>
        </p:nvSpPr>
        <p:spPr bwMode="auto">
          <a:xfrm>
            <a:off x="4876800" y="3805089"/>
            <a:ext cx="990600" cy="3333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b="0" dirty="0" smtClean="0">
                <a:solidFill>
                  <a:schemeClr val="bg2"/>
                </a:solidFill>
              </a:rPr>
              <a:t>partition</a:t>
            </a:r>
            <a:endParaRPr lang="en-US" sz="1200" b="0" dirty="0">
              <a:solidFill>
                <a:schemeClr val="bg2"/>
              </a:solidFill>
            </a:endParaRPr>
          </a:p>
        </p:txBody>
      </p:sp>
      <p:sp>
        <p:nvSpPr>
          <p:cNvPr id="47" name="Rectangle 4"/>
          <p:cNvSpPr>
            <a:spLocks noChangeArrowheads="1"/>
          </p:cNvSpPr>
          <p:nvPr/>
        </p:nvSpPr>
        <p:spPr bwMode="auto">
          <a:xfrm>
            <a:off x="6248400" y="3805089"/>
            <a:ext cx="990600" cy="3333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sz="1200" b="0" dirty="0" smtClean="0">
                <a:solidFill>
                  <a:schemeClr val="bg2"/>
                </a:solidFill>
              </a:rPr>
              <a:t>partition</a:t>
            </a:r>
            <a:endParaRPr lang="en-US" sz="1200" b="0" dirty="0">
              <a:solidFill>
                <a:schemeClr val="bg2"/>
              </a:solidFill>
            </a:endParaRPr>
          </a:p>
        </p:txBody>
      </p:sp>
      <p:cxnSp>
        <p:nvCxnSpPr>
          <p:cNvPr id="48" name="Straight Arrow Connector 166"/>
          <p:cNvCxnSpPr>
            <a:cxnSpLocks noChangeShapeType="1"/>
          </p:cNvCxnSpPr>
          <p:nvPr/>
        </p:nvCxnSpPr>
        <p:spPr bwMode="auto">
          <a:xfrm rot="5400000">
            <a:off x="2644776" y="2217589"/>
            <a:ext cx="273050" cy="3175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167"/>
          <p:cNvCxnSpPr>
            <a:cxnSpLocks noChangeShapeType="1"/>
          </p:cNvCxnSpPr>
          <p:nvPr/>
        </p:nvCxnSpPr>
        <p:spPr bwMode="auto">
          <a:xfrm rot="5400000">
            <a:off x="3938588" y="2217589"/>
            <a:ext cx="274638" cy="1587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176"/>
          <p:cNvCxnSpPr>
            <a:cxnSpLocks noChangeShapeType="1"/>
          </p:cNvCxnSpPr>
          <p:nvPr/>
        </p:nvCxnSpPr>
        <p:spPr bwMode="auto">
          <a:xfrm rot="5400000">
            <a:off x="5233988" y="2217589"/>
            <a:ext cx="274638" cy="1587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185"/>
          <p:cNvCxnSpPr>
            <a:cxnSpLocks noChangeShapeType="1"/>
          </p:cNvCxnSpPr>
          <p:nvPr/>
        </p:nvCxnSpPr>
        <p:spPr bwMode="auto">
          <a:xfrm rot="5400000">
            <a:off x="6605588" y="2217589"/>
            <a:ext cx="274638" cy="1587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 7"/>
          <p:cNvSpPr>
            <a:spLocks noChangeArrowheads="1"/>
          </p:cNvSpPr>
          <p:nvPr/>
        </p:nvSpPr>
        <p:spPr bwMode="auto">
          <a:xfrm>
            <a:off x="6324600" y="1471464"/>
            <a:ext cx="8382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b="0">
                <a:solidFill>
                  <a:schemeClr val="bg2"/>
                </a:solidFill>
              </a:rPr>
              <a:t>map</a:t>
            </a:r>
          </a:p>
        </p:txBody>
      </p:sp>
      <p:cxnSp>
        <p:nvCxnSpPr>
          <p:cNvPr id="53" name="Straight Arrow Connector 27"/>
          <p:cNvCxnSpPr>
            <a:cxnSpLocks noChangeShapeType="1"/>
          </p:cNvCxnSpPr>
          <p:nvPr/>
        </p:nvCxnSpPr>
        <p:spPr bwMode="auto">
          <a:xfrm rot="16200000" flipH="1">
            <a:off x="6019800" y="785664"/>
            <a:ext cx="609600" cy="609600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2362200" y="1471464"/>
            <a:ext cx="8382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b="0" dirty="0">
                <a:solidFill>
                  <a:schemeClr val="bg2"/>
                </a:solidFill>
              </a:rPr>
              <a:t>map</a:t>
            </a:r>
          </a:p>
        </p:txBody>
      </p:sp>
      <p:cxnSp>
        <p:nvCxnSpPr>
          <p:cNvPr id="55" name="Straight Arrow Connector 20"/>
          <p:cNvCxnSpPr>
            <a:cxnSpLocks noChangeShapeType="1"/>
          </p:cNvCxnSpPr>
          <p:nvPr/>
        </p:nvCxnSpPr>
        <p:spPr bwMode="auto">
          <a:xfrm rot="5400000">
            <a:off x="2819400" y="785664"/>
            <a:ext cx="609600" cy="609600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Rectangle 5"/>
          <p:cNvSpPr>
            <a:spLocks noChangeArrowheads="1"/>
          </p:cNvSpPr>
          <p:nvPr/>
        </p:nvSpPr>
        <p:spPr bwMode="auto">
          <a:xfrm>
            <a:off x="3657600" y="1471464"/>
            <a:ext cx="8382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b="0">
                <a:solidFill>
                  <a:schemeClr val="bg2"/>
                </a:solidFill>
              </a:rPr>
              <a:t>map</a:t>
            </a:r>
          </a:p>
        </p:txBody>
      </p:sp>
      <p:cxnSp>
        <p:nvCxnSpPr>
          <p:cNvPr id="57" name="Straight Arrow Connector 22"/>
          <p:cNvCxnSpPr>
            <a:cxnSpLocks noChangeShapeType="1"/>
          </p:cNvCxnSpPr>
          <p:nvPr/>
        </p:nvCxnSpPr>
        <p:spPr bwMode="auto">
          <a:xfrm rot="5400000">
            <a:off x="3771900" y="1052364"/>
            <a:ext cx="609600" cy="76200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Rectangle 6"/>
          <p:cNvSpPr>
            <a:spLocks noChangeArrowheads="1"/>
          </p:cNvSpPr>
          <p:nvPr/>
        </p:nvSpPr>
        <p:spPr bwMode="auto">
          <a:xfrm>
            <a:off x="4953000" y="1471464"/>
            <a:ext cx="8382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b="0">
                <a:solidFill>
                  <a:schemeClr val="bg2"/>
                </a:solidFill>
              </a:rPr>
              <a:t>map</a:t>
            </a:r>
          </a:p>
        </p:txBody>
      </p:sp>
      <p:cxnSp>
        <p:nvCxnSpPr>
          <p:cNvPr id="59" name="Straight Arrow Connector 28"/>
          <p:cNvCxnSpPr>
            <a:cxnSpLocks noChangeShapeType="1"/>
          </p:cNvCxnSpPr>
          <p:nvPr/>
        </p:nvCxnSpPr>
        <p:spPr bwMode="auto">
          <a:xfrm rot="16200000" flipH="1">
            <a:off x="4991100" y="1052364"/>
            <a:ext cx="609600" cy="76200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0" name="Group 318"/>
          <p:cNvGrpSpPr/>
          <p:nvPr/>
        </p:nvGrpSpPr>
        <p:grpSpPr>
          <a:xfrm>
            <a:off x="3033713" y="404664"/>
            <a:ext cx="3214687" cy="276225"/>
            <a:chOff x="3033713" y="333375"/>
            <a:chExt cx="3214687" cy="276225"/>
          </a:xfrm>
        </p:grpSpPr>
        <p:sp>
          <p:nvSpPr>
            <p:cNvPr id="61" name="Rectangle 56"/>
            <p:cNvSpPr>
              <a:spLocks noChangeArrowheads="1"/>
            </p:cNvSpPr>
            <p:nvPr/>
          </p:nvSpPr>
          <p:spPr bwMode="auto">
            <a:xfrm>
              <a:off x="3079069" y="357506"/>
              <a:ext cx="228584" cy="22796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Rectangle 102"/>
            <p:cNvSpPr>
              <a:spLocks noChangeArrowheads="1"/>
            </p:cNvSpPr>
            <p:nvPr/>
          </p:nvSpPr>
          <p:spPr bwMode="auto">
            <a:xfrm>
              <a:off x="3612430" y="357506"/>
              <a:ext cx="228584" cy="22796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Rectangle 109"/>
            <p:cNvSpPr>
              <a:spLocks noChangeArrowheads="1"/>
            </p:cNvSpPr>
            <p:nvPr/>
          </p:nvSpPr>
          <p:spPr bwMode="auto">
            <a:xfrm>
              <a:off x="4145792" y="357506"/>
              <a:ext cx="228584" cy="22796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Rectangle 116"/>
            <p:cNvSpPr>
              <a:spLocks noChangeArrowheads="1"/>
            </p:cNvSpPr>
            <p:nvPr/>
          </p:nvSpPr>
          <p:spPr bwMode="auto">
            <a:xfrm>
              <a:off x="4679154" y="357506"/>
              <a:ext cx="228584" cy="22796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Rectangle 123"/>
            <p:cNvSpPr>
              <a:spLocks noChangeArrowheads="1"/>
            </p:cNvSpPr>
            <p:nvPr/>
          </p:nvSpPr>
          <p:spPr bwMode="auto">
            <a:xfrm>
              <a:off x="5212515" y="357506"/>
              <a:ext cx="228584" cy="22796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Rectangle 130"/>
            <p:cNvSpPr>
              <a:spLocks noChangeArrowheads="1"/>
            </p:cNvSpPr>
            <p:nvPr/>
          </p:nvSpPr>
          <p:spPr bwMode="auto">
            <a:xfrm>
              <a:off x="5745877" y="357506"/>
              <a:ext cx="228584" cy="227961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TextBox 57"/>
            <p:cNvSpPr txBox="1">
              <a:spLocks noChangeArrowheads="1"/>
            </p:cNvSpPr>
            <p:nvPr/>
          </p:nvSpPr>
          <p:spPr bwMode="auto">
            <a:xfrm>
              <a:off x="3033713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 dirty="0"/>
                <a:t>k</a:t>
              </a:r>
              <a:r>
                <a:rPr lang="en-US" sz="1200" b="0" baseline="-25000" dirty="0"/>
                <a:t>1</a:t>
              </a:r>
              <a:endParaRPr lang="en-US" b="0" baseline="-25000" dirty="0"/>
            </a:p>
          </p:txBody>
        </p:sp>
        <p:sp>
          <p:nvSpPr>
            <p:cNvPr id="68" name="TextBox 103"/>
            <p:cNvSpPr txBox="1">
              <a:spLocks noChangeArrowheads="1"/>
            </p:cNvSpPr>
            <p:nvPr/>
          </p:nvSpPr>
          <p:spPr bwMode="auto">
            <a:xfrm>
              <a:off x="3567075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 dirty="0"/>
                <a:t>k</a:t>
              </a:r>
              <a:r>
                <a:rPr lang="en-US" sz="1200" b="0" baseline="-25000" dirty="0"/>
                <a:t>2</a:t>
              </a:r>
              <a:endParaRPr lang="en-US" b="0" baseline="-25000" dirty="0"/>
            </a:p>
          </p:txBody>
        </p:sp>
        <p:sp>
          <p:nvSpPr>
            <p:cNvPr id="69" name="TextBox 110"/>
            <p:cNvSpPr txBox="1">
              <a:spLocks noChangeArrowheads="1"/>
            </p:cNvSpPr>
            <p:nvPr/>
          </p:nvSpPr>
          <p:spPr bwMode="auto">
            <a:xfrm>
              <a:off x="4100436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/>
                <a:t>k</a:t>
              </a:r>
              <a:r>
                <a:rPr lang="en-US" sz="1200" b="0" baseline="-25000"/>
                <a:t>3</a:t>
              </a:r>
              <a:endParaRPr lang="en-US" b="0" baseline="-25000"/>
            </a:p>
          </p:txBody>
        </p:sp>
        <p:sp>
          <p:nvSpPr>
            <p:cNvPr id="70" name="TextBox 117"/>
            <p:cNvSpPr txBox="1">
              <a:spLocks noChangeArrowheads="1"/>
            </p:cNvSpPr>
            <p:nvPr/>
          </p:nvSpPr>
          <p:spPr bwMode="auto">
            <a:xfrm>
              <a:off x="4633798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/>
                <a:t>k</a:t>
              </a:r>
              <a:r>
                <a:rPr lang="en-US" sz="1200" b="0" baseline="-25000"/>
                <a:t>4</a:t>
              </a:r>
              <a:endParaRPr lang="en-US" b="0" baseline="-25000"/>
            </a:p>
          </p:txBody>
        </p:sp>
        <p:sp>
          <p:nvSpPr>
            <p:cNvPr id="71" name="TextBox 124"/>
            <p:cNvSpPr txBox="1">
              <a:spLocks noChangeArrowheads="1"/>
            </p:cNvSpPr>
            <p:nvPr/>
          </p:nvSpPr>
          <p:spPr bwMode="auto">
            <a:xfrm>
              <a:off x="5167160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/>
                <a:t>k</a:t>
              </a:r>
              <a:r>
                <a:rPr lang="en-US" sz="1200" b="0" baseline="-25000"/>
                <a:t>5</a:t>
              </a:r>
              <a:endParaRPr lang="en-US" b="0" baseline="-25000"/>
            </a:p>
          </p:txBody>
        </p:sp>
        <p:sp>
          <p:nvSpPr>
            <p:cNvPr id="72" name="TextBox 131"/>
            <p:cNvSpPr txBox="1">
              <a:spLocks noChangeArrowheads="1"/>
            </p:cNvSpPr>
            <p:nvPr/>
          </p:nvSpPr>
          <p:spPr bwMode="auto">
            <a:xfrm>
              <a:off x="5700521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/>
                <a:t>k</a:t>
              </a:r>
              <a:r>
                <a:rPr lang="en-US" sz="1200" b="0" baseline="-25000"/>
                <a:t>6</a:t>
              </a:r>
              <a:endParaRPr lang="en-US" b="0" baseline="-25000"/>
            </a:p>
          </p:txBody>
        </p:sp>
        <p:sp>
          <p:nvSpPr>
            <p:cNvPr id="73" name="Rectangle 58"/>
            <p:cNvSpPr>
              <a:spLocks noChangeArrowheads="1"/>
            </p:cNvSpPr>
            <p:nvPr/>
          </p:nvSpPr>
          <p:spPr bwMode="auto">
            <a:xfrm>
              <a:off x="3307652" y="357506"/>
              <a:ext cx="228584" cy="227961"/>
            </a:xfrm>
            <a:prstGeom prst="rect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Box 59"/>
            <p:cNvSpPr txBox="1">
              <a:spLocks noChangeArrowheads="1"/>
            </p:cNvSpPr>
            <p:nvPr/>
          </p:nvSpPr>
          <p:spPr bwMode="auto">
            <a:xfrm>
              <a:off x="3262297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bg1"/>
                  </a:solidFill>
                </a:rPr>
                <a:t>v</a:t>
              </a:r>
              <a:r>
                <a:rPr lang="en-US" sz="1200" b="0" baseline="-25000" dirty="0">
                  <a:solidFill>
                    <a:schemeClr val="bg1"/>
                  </a:solidFill>
                </a:rPr>
                <a:t>1</a:t>
              </a:r>
              <a:endParaRPr lang="en-US" b="0" baseline="-25000" dirty="0">
                <a:solidFill>
                  <a:schemeClr val="bg1"/>
                </a:solidFill>
              </a:endParaRPr>
            </a:p>
          </p:txBody>
        </p:sp>
        <p:sp>
          <p:nvSpPr>
            <p:cNvPr id="75" name="Rectangle 100"/>
            <p:cNvSpPr>
              <a:spLocks noChangeArrowheads="1"/>
            </p:cNvSpPr>
            <p:nvPr/>
          </p:nvSpPr>
          <p:spPr bwMode="auto">
            <a:xfrm>
              <a:off x="3841014" y="357506"/>
              <a:ext cx="228584" cy="227961"/>
            </a:xfrm>
            <a:prstGeom prst="rect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Box 101"/>
            <p:cNvSpPr txBox="1">
              <a:spLocks noChangeArrowheads="1"/>
            </p:cNvSpPr>
            <p:nvPr/>
          </p:nvSpPr>
          <p:spPr bwMode="auto">
            <a:xfrm>
              <a:off x="3795658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>
                  <a:solidFill>
                    <a:schemeClr val="bg1"/>
                  </a:solidFill>
                </a:rPr>
                <a:t>v</a:t>
              </a:r>
              <a:r>
                <a:rPr lang="en-US" sz="1200" b="0" baseline="-25000">
                  <a:solidFill>
                    <a:schemeClr val="bg1"/>
                  </a:solidFill>
                </a:rPr>
                <a:t>2</a:t>
              </a:r>
              <a:endParaRPr lang="en-US" b="0" baseline="-25000">
                <a:solidFill>
                  <a:schemeClr val="bg1"/>
                </a:solidFill>
              </a:endParaRPr>
            </a:p>
          </p:txBody>
        </p:sp>
        <p:sp>
          <p:nvSpPr>
            <p:cNvPr id="77" name="Rectangle 107"/>
            <p:cNvSpPr>
              <a:spLocks noChangeArrowheads="1"/>
            </p:cNvSpPr>
            <p:nvPr/>
          </p:nvSpPr>
          <p:spPr bwMode="auto">
            <a:xfrm>
              <a:off x="4374376" y="357506"/>
              <a:ext cx="228584" cy="227961"/>
            </a:xfrm>
            <a:prstGeom prst="rect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TextBox 108"/>
            <p:cNvSpPr txBox="1">
              <a:spLocks noChangeArrowheads="1"/>
            </p:cNvSpPr>
            <p:nvPr/>
          </p:nvSpPr>
          <p:spPr bwMode="auto">
            <a:xfrm>
              <a:off x="4329020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>
                  <a:solidFill>
                    <a:schemeClr val="bg1"/>
                  </a:solidFill>
                </a:rPr>
                <a:t>v</a:t>
              </a:r>
              <a:r>
                <a:rPr lang="en-US" sz="1200" b="0" baseline="-25000">
                  <a:solidFill>
                    <a:schemeClr val="bg1"/>
                  </a:solidFill>
                </a:rPr>
                <a:t>3</a:t>
              </a:r>
              <a:endParaRPr lang="en-US" b="0" baseline="-25000">
                <a:solidFill>
                  <a:schemeClr val="bg1"/>
                </a:solidFill>
              </a:endParaRPr>
            </a:p>
          </p:txBody>
        </p:sp>
        <p:sp>
          <p:nvSpPr>
            <p:cNvPr id="79" name="Rectangle 114"/>
            <p:cNvSpPr>
              <a:spLocks noChangeArrowheads="1"/>
            </p:cNvSpPr>
            <p:nvPr/>
          </p:nvSpPr>
          <p:spPr bwMode="auto">
            <a:xfrm>
              <a:off x="4907737" y="357506"/>
              <a:ext cx="228584" cy="227961"/>
            </a:xfrm>
            <a:prstGeom prst="rect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TextBox 115"/>
            <p:cNvSpPr txBox="1">
              <a:spLocks noChangeArrowheads="1"/>
            </p:cNvSpPr>
            <p:nvPr/>
          </p:nvSpPr>
          <p:spPr bwMode="auto">
            <a:xfrm>
              <a:off x="4862382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>
                  <a:solidFill>
                    <a:schemeClr val="bg1"/>
                  </a:solidFill>
                </a:rPr>
                <a:t>v</a:t>
              </a:r>
              <a:r>
                <a:rPr lang="en-US" sz="1200" b="0" baseline="-25000">
                  <a:solidFill>
                    <a:schemeClr val="bg1"/>
                  </a:solidFill>
                </a:rPr>
                <a:t>4</a:t>
              </a:r>
              <a:endParaRPr lang="en-US" b="0" baseline="-25000">
                <a:solidFill>
                  <a:schemeClr val="bg1"/>
                </a:solidFill>
              </a:endParaRPr>
            </a:p>
          </p:txBody>
        </p:sp>
        <p:sp>
          <p:nvSpPr>
            <p:cNvPr id="81" name="Rectangle 121"/>
            <p:cNvSpPr>
              <a:spLocks noChangeArrowheads="1"/>
            </p:cNvSpPr>
            <p:nvPr/>
          </p:nvSpPr>
          <p:spPr bwMode="auto">
            <a:xfrm>
              <a:off x="5441099" y="357506"/>
              <a:ext cx="228584" cy="227961"/>
            </a:xfrm>
            <a:prstGeom prst="rect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Box 122"/>
            <p:cNvSpPr txBox="1">
              <a:spLocks noChangeArrowheads="1"/>
            </p:cNvSpPr>
            <p:nvPr/>
          </p:nvSpPr>
          <p:spPr bwMode="auto">
            <a:xfrm>
              <a:off x="5395743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>
                  <a:solidFill>
                    <a:schemeClr val="bg1"/>
                  </a:solidFill>
                </a:rPr>
                <a:t>v</a:t>
              </a:r>
              <a:r>
                <a:rPr lang="en-US" sz="1200" b="0" baseline="-25000">
                  <a:solidFill>
                    <a:schemeClr val="bg1"/>
                  </a:solidFill>
                </a:rPr>
                <a:t>5</a:t>
              </a:r>
              <a:endParaRPr lang="en-US" b="0" baseline="-25000">
                <a:solidFill>
                  <a:schemeClr val="bg1"/>
                </a:solidFill>
              </a:endParaRPr>
            </a:p>
          </p:txBody>
        </p:sp>
        <p:sp>
          <p:nvSpPr>
            <p:cNvPr id="83" name="Rectangle 128"/>
            <p:cNvSpPr>
              <a:spLocks noChangeArrowheads="1"/>
            </p:cNvSpPr>
            <p:nvPr/>
          </p:nvSpPr>
          <p:spPr bwMode="auto">
            <a:xfrm>
              <a:off x="5974461" y="357506"/>
              <a:ext cx="228584" cy="227961"/>
            </a:xfrm>
            <a:prstGeom prst="rect">
              <a:avLst/>
            </a:prstGeom>
            <a:noFill/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TextBox 129"/>
            <p:cNvSpPr txBox="1">
              <a:spLocks noChangeArrowheads="1"/>
            </p:cNvSpPr>
            <p:nvPr/>
          </p:nvSpPr>
          <p:spPr bwMode="auto">
            <a:xfrm>
              <a:off x="5929105" y="333375"/>
              <a:ext cx="319295" cy="276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200" b="0">
                  <a:solidFill>
                    <a:schemeClr val="bg1"/>
                  </a:solidFill>
                </a:rPr>
                <a:t>v</a:t>
              </a:r>
              <a:r>
                <a:rPr lang="en-US" sz="1200" b="0" baseline="-25000">
                  <a:solidFill>
                    <a:schemeClr val="bg1"/>
                  </a:solidFill>
                </a:rPr>
                <a:t>6</a:t>
              </a:r>
              <a:endParaRPr lang="en-US" b="0" baseline="-25000">
                <a:solidFill>
                  <a:schemeClr val="bg1"/>
                </a:solidFill>
              </a:endParaRPr>
            </a:p>
          </p:txBody>
        </p:sp>
      </p:grpSp>
      <p:grpSp>
        <p:nvGrpSpPr>
          <p:cNvPr id="85" name="Group 319"/>
          <p:cNvGrpSpPr/>
          <p:nvPr/>
        </p:nvGrpSpPr>
        <p:grpSpPr>
          <a:xfrm>
            <a:off x="2286000" y="2385864"/>
            <a:ext cx="996950" cy="276225"/>
            <a:chOff x="2286000" y="2314575"/>
            <a:chExt cx="996950" cy="276225"/>
          </a:xfrm>
        </p:grpSpPr>
        <p:sp>
          <p:nvSpPr>
            <p:cNvPr id="86" name="Rectangle 144"/>
            <p:cNvSpPr>
              <a:spLocks noChangeArrowheads="1"/>
            </p:cNvSpPr>
            <p:nvPr/>
          </p:nvSpPr>
          <p:spPr bwMode="auto">
            <a:xfrm>
              <a:off x="2794665" y="23387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TextBox 145"/>
            <p:cNvSpPr txBox="1">
              <a:spLocks noChangeArrowheads="1"/>
            </p:cNvSpPr>
            <p:nvPr/>
          </p:nvSpPr>
          <p:spPr bwMode="auto">
            <a:xfrm>
              <a:off x="2784475" y="23145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 dirty="0"/>
                <a:t>b</a:t>
              </a:r>
              <a:endParaRPr lang="en-US" b="0" baseline="-25000" dirty="0"/>
            </a:p>
          </p:txBody>
        </p:sp>
        <p:sp>
          <p:nvSpPr>
            <p:cNvPr id="88" name="Rectangle 137"/>
            <p:cNvSpPr>
              <a:spLocks noChangeArrowheads="1"/>
            </p:cNvSpPr>
            <p:nvPr/>
          </p:nvSpPr>
          <p:spPr bwMode="auto">
            <a:xfrm>
              <a:off x="2296190" y="23387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89" name="TextBox 138"/>
            <p:cNvSpPr txBox="1">
              <a:spLocks noChangeArrowheads="1"/>
            </p:cNvSpPr>
            <p:nvPr/>
          </p:nvSpPr>
          <p:spPr bwMode="auto">
            <a:xfrm>
              <a:off x="2286000" y="23145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 dirty="0"/>
                <a:t>a</a:t>
              </a:r>
              <a:endParaRPr lang="en-US" b="0" baseline="-25000" dirty="0"/>
            </a:p>
          </p:txBody>
        </p:sp>
        <p:sp>
          <p:nvSpPr>
            <p:cNvPr id="90" name="Rectangle 135"/>
            <p:cNvSpPr>
              <a:spLocks noChangeArrowheads="1"/>
            </p:cNvSpPr>
            <p:nvPr/>
          </p:nvSpPr>
          <p:spPr bwMode="auto">
            <a:xfrm>
              <a:off x="2524904" y="23387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1" name="TextBox 136"/>
            <p:cNvSpPr txBox="1">
              <a:spLocks noChangeArrowheads="1"/>
            </p:cNvSpPr>
            <p:nvPr/>
          </p:nvSpPr>
          <p:spPr bwMode="auto">
            <a:xfrm>
              <a:off x="2514714" y="23145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1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92" name="Rectangle 142"/>
            <p:cNvSpPr>
              <a:spLocks noChangeArrowheads="1"/>
            </p:cNvSpPr>
            <p:nvPr/>
          </p:nvSpPr>
          <p:spPr bwMode="auto">
            <a:xfrm>
              <a:off x="3023379" y="23387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93" name="TextBox 143"/>
            <p:cNvSpPr txBox="1">
              <a:spLocks noChangeArrowheads="1"/>
            </p:cNvSpPr>
            <p:nvPr/>
          </p:nvSpPr>
          <p:spPr bwMode="auto">
            <a:xfrm>
              <a:off x="3013189" y="23145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94" name="Group 320"/>
          <p:cNvGrpSpPr/>
          <p:nvPr/>
        </p:nvGrpSpPr>
        <p:grpSpPr>
          <a:xfrm>
            <a:off x="3581400" y="2385864"/>
            <a:ext cx="996950" cy="276225"/>
            <a:chOff x="3581400" y="2314575"/>
            <a:chExt cx="996950" cy="276225"/>
          </a:xfrm>
        </p:grpSpPr>
        <p:sp>
          <p:nvSpPr>
            <p:cNvPr id="95" name="Rectangle 151"/>
            <p:cNvSpPr>
              <a:spLocks noChangeArrowheads="1"/>
            </p:cNvSpPr>
            <p:nvPr/>
          </p:nvSpPr>
          <p:spPr bwMode="auto">
            <a:xfrm>
              <a:off x="3591590" y="23387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Rectangle 158"/>
            <p:cNvSpPr>
              <a:spLocks noChangeArrowheads="1"/>
            </p:cNvSpPr>
            <p:nvPr/>
          </p:nvSpPr>
          <p:spPr bwMode="auto">
            <a:xfrm>
              <a:off x="4090065" y="23387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97" name="TextBox 152"/>
            <p:cNvSpPr txBox="1">
              <a:spLocks noChangeArrowheads="1"/>
            </p:cNvSpPr>
            <p:nvPr/>
          </p:nvSpPr>
          <p:spPr bwMode="auto">
            <a:xfrm>
              <a:off x="3581400" y="23145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c</a:t>
              </a:r>
              <a:endParaRPr lang="en-US" b="0" baseline="-25000"/>
            </a:p>
          </p:txBody>
        </p:sp>
        <p:sp>
          <p:nvSpPr>
            <p:cNvPr id="98" name="TextBox 159"/>
            <p:cNvSpPr txBox="1">
              <a:spLocks noChangeArrowheads="1"/>
            </p:cNvSpPr>
            <p:nvPr/>
          </p:nvSpPr>
          <p:spPr bwMode="auto">
            <a:xfrm>
              <a:off x="4079875" y="23145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c</a:t>
              </a:r>
              <a:endParaRPr lang="en-US" b="0" baseline="-25000"/>
            </a:p>
          </p:txBody>
        </p:sp>
        <p:sp>
          <p:nvSpPr>
            <p:cNvPr id="99" name="Rectangle 149"/>
            <p:cNvSpPr>
              <a:spLocks noChangeArrowheads="1"/>
            </p:cNvSpPr>
            <p:nvPr/>
          </p:nvSpPr>
          <p:spPr bwMode="auto">
            <a:xfrm>
              <a:off x="3820304" y="23387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0" name="TextBox 150"/>
            <p:cNvSpPr txBox="1">
              <a:spLocks noChangeArrowheads="1"/>
            </p:cNvSpPr>
            <p:nvPr/>
          </p:nvSpPr>
          <p:spPr bwMode="auto">
            <a:xfrm>
              <a:off x="3810114" y="23145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01" name="Rectangle 156"/>
            <p:cNvSpPr>
              <a:spLocks noChangeArrowheads="1"/>
            </p:cNvSpPr>
            <p:nvPr/>
          </p:nvSpPr>
          <p:spPr bwMode="auto">
            <a:xfrm>
              <a:off x="4318779" y="2338706"/>
              <a:ext cx="22871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2" name="TextBox 157"/>
            <p:cNvSpPr txBox="1">
              <a:spLocks noChangeArrowheads="1"/>
            </p:cNvSpPr>
            <p:nvPr/>
          </p:nvSpPr>
          <p:spPr bwMode="auto">
            <a:xfrm>
              <a:off x="4308589" y="2314575"/>
              <a:ext cx="26976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6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03" name="Group 321"/>
          <p:cNvGrpSpPr/>
          <p:nvPr/>
        </p:nvGrpSpPr>
        <p:grpSpPr>
          <a:xfrm>
            <a:off x="4876800" y="2385864"/>
            <a:ext cx="990600" cy="276225"/>
            <a:chOff x="4876800" y="2314575"/>
            <a:chExt cx="990600" cy="276225"/>
          </a:xfrm>
        </p:grpSpPr>
        <p:sp>
          <p:nvSpPr>
            <p:cNvPr id="104" name="Rectangle 165"/>
            <p:cNvSpPr>
              <a:spLocks noChangeArrowheads="1"/>
            </p:cNvSpPr>
            <p:nvPr/>
          </p:nvSpPr>
          <p:spPr bwMode="auto">
            <a:xfrm>
              <a:off x="4886985" y="23387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5" name="Rectangle 172"/>
            <p:cNvSpPr>
              <a:spLocks noChangeArrowheads="1"/>
            </p:cNvSpPr>
            <p:nvPr/>
          </p:nvSpPr>
          <p:spPr bwMode="auto">
            <a:xfrm>
              <a:off x="5379359" y="23387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TextBox 166"/>
            <p:cNvSpPr txBox="1">
              <a:spLocks noChangeArrowheads="1"/>
            </p:cNvSpPr>
            <p:nvPr/>
          </p:nvSpPr>
          <p:spPr bwMode="auto">
            <a:xfrm>
              <a:off x="4876800" y="23145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a</a:t>
              </a:r>
              <a:endParaRPr lang="en-US" b="0" baseline="-25000"/>
            </a:p>
          </p:txBody>
        </p:sp>
        <p:sp>
          <p:nvSpPr>
            <p:cNvPr id="107" name="TextBox 173"/>
            <p:cNvSpPr txBox="1">
              <a:spLocks noChangeArrowheads="1"/>
            </p:cNvSpPr>
            <p:nvPr/>
          </p:nvSpPr>
          <p:spPr bwMode="auto">
            <a:xfrm>
              <a:off x="5369174" y="2314575"/>
              <a:ext cx="26161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c</a:t>
              </a:r>
              <a:endParaRPr lang="en-US" b="0" baseline="-25000"/>
            </a:p>
          </p:txBody>
        </p:sp>
        <p:sp>
          <p:nvSpPr>
            <p:cNvPr id="108" name="Rectangle 163"/>
            <p:cNvSpPr>
              <a:spLocks noChangeArrowheads="1"/>
            </p:cNvSpPr>
            <p:nvPr/>
          </p:nvSpPr>
          <p:spPr bwMode="auto">
            <a:xfrm>
              <a:off x="5115585" y="23387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9" name="TextBox 164"/>
            <p:cNvSpPr txBox="1">
              <a:spLocks noChangeArrowheads="1"/>
            </p:cNvSpPr>
            <p:nvPr/>
          </p:nvSpPr>
          <p:spPr bwMode="auto">
            <a:xfrm>
              <a:off x="5105400" y="23145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5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10" name="Rectangle 170"/>
            <p:cNvSpPr>
              <a:spLocks noChangeArrowheads="1"/>
            </p:cNvSpPr>
            <p:nvPr/>
          </p:nvSpPr>
          <p:spPr bwMode="auto">
            <a:xfrm>
              <a:off x="5607959" y="23387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1" name="TextBox 171"/>
            <p:cNvSpPr txBox="1">
              <a:spLocks noChangeArrowheads="1"/>
            </p:cNvSpPr>
            <p:nvPr/>
          </p:nvSpPr>
          <p:spPr bwMode="auto">
            <a:xfrm>
              <a:off x="5597774" y="23145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12" name="Group 322"/>
          <p:cNvGrpSpPr/>
          <p:nvPr/>
        </p:nvGrpSpPr>
        <p:grpSpPr>
          <a:xfrm>
            <a:off x="6248400" y="2385864"/>
            <a:ext cx="990600" cy="276225"/>
            <a:chOff x="6248400" y="2314575"/>
            <a:chExt cx="990600" cy="276225"/>
          </a:xfrm>
        </p:grpSpPr>
        <p:sp>
          <p:nvSpPr>
            <p:cNvPr id="113" name="Rectangle 179"/>
            <p:cNvSpPr>
              <a:spLocks noChangeArrowheads="1"/>
            </p:cNvSpPr>
            <p:nvPr/>
          </p:nvSpPr>
          <p:spPr bwMode="auto">
            <a:xfrm>
              <a:off x="6258585" y="23387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4" name="Rectangle 186"/>
            <p:cNvSpPr>
              <a:spLocks noChangeArrowheads="1"/>
            </p:cNvSpPr>
            <p:nvPr/>
          </p:nvSpPr>
          <p:spPr bwMode="auto">
            <a:xfrm>
              <a:off x="6750959" y="23387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5" name="TextBox 180"/>
            <p:cNvSpPr txBox="1">
              <a:spLocks noChangeArrowheads="1"/>
            </p:cNvSpPr>
            <p:nvPr/>
          </p:nvSpPr>
          <p:spPr bwMode="auto">
            <a:xfrm>
              <a:off x="6248400" y="23145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b</a:t>
              </a:r>
              <a:endParaRPr lang="en-US" b="0" baseline="-25000"/>
            </a:p>
          </p:txBody>
        </p:sp>
        <p:sp>
          <p:nvSpPr>
            <p:cNvPr id="116" name="TextBox 187"/>
            <p:cNvSpPr txBox="1">
              <a:spLocks noChangeArrowheads="1"/>
            </p:cNvSpPr>
            <p:nvPr/>
          </p:nvSpPr>
          <p:spPr bwMode="auto">
            <a:xfrm>
              <a:off x="6740774" y="2314575"/>
              <a:ext cx="261611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c</a:t>
              </a:r>
              <a:endParaRPr lang="en-US" b="0" baseline="-25000"/>
            </a:p>
          </p:txBody>
        </p:sp>
        <p:sp>
          <p:nvSpPr>
            <p:cNvPr id="117" name="Rectangle 177"/>
            <p:cNvSpPr>
              <a:spLocks noChangeArrowheads="1"/>
            </p:cNvSpPr>
            <p:nvPr/>
          </p:nvSpPr>
          <p:spPr bwMode="auto">
            <a:xfrm>
              <a:off x="6487185" y="23387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8" name="TextBox 178"/>
            <p:cNvSpPr txBox="1">
              <a:spLocks noChangeArrowheads="1"/>
            </p:cNvSpPr>
            <p:nvPr/>
          </p:nvSpPr>
          <p:spPr bwMode="auto">
            <a:xfrm>
              <a:off x="6477000" y="23145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7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19" name="Rectangle 184"/>
            <p:cNvSpPr>
              <a:spLocks noChangeArrowheads="1"/>
            </p:cNvSpPr>
            <p:nvPr/>
          </p:nvSpPr>
          <p:spPr bwMode="auto">
            <a:xfrm>
              <a:off x="6979559" y="2338706"/>
              <a:ext cx="228600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20" name="TextBox 185"/>
            <p:cNvSpPr txBox="1">
              <a:spLocks noChangeArrowheads="1"/>
            </p:cNvSpPr>
            <p:nvPr/>
          </p:nvSpPr>
          <p:spPr bwMode="auto">
            <a:xfrm>
              <a:off x="6969374" y="2314575"/>
              <a:ext cx="26962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 smtClean="0">
                  <a:solidFill>
                    <a:schemeClr val="accent2">
                      <a:lumMod val="75000"/>
                    </a:schemeClr>
                  </a:solidFill>
                </a:rPr>
                <a:t>8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cxnSp>
        <p:nvCxnSpPr>
          <p:cNvPr id="121" name="Straight Arrow Connector 274"/>
          <p:cNvCxnSpPr>
            <a:cxnSpLocks noChangeShapeType="1"/>
          </p:cNvCxnSpPr>
          <p:nvPr/>
        </p:nvCxnSpPr>
        <p:spPr bwMode="auto">
          <a:xfrm rot="5400000">
            <a:off x="3047207" y="5137795"/>
            <a:ext cx="533400" cy="1587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275"/>
          <p:cNvCxnSpPr>
            <a:cxnSpLocks noChangeShapeType="1"/>
          </p:cNvCxnSpPr>
          <p:nvPr/>
        </p:nvCxnSpPr>
        <p:spPr bwMode="auto">
          <a:xfrm rot="5400000">
            <a:off x="3178175" y="6181577"/>
            <a:ext cx="274637" cy="1588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276"/>
          <p:cNvCxnSpPr>
            <a:cxnSpLocks noChangeShapeType="1"/>
          </p:cNvCxnSpPr>
          <p:nvPr/>
        </p:nvCxnSpPr>
        <p:spPr bwMode="auto">
          <a:xfrm rot="5400000">
            <a:off x="4419601" y="5137001"/>
            <a:ext cx="533400" cy="3175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277"/>
          <p:cNvCxnSpPr>
            <a:cxnSpLocks noChangeShapeType="1"/>
          </p:cNvCxnSpPr>
          <p:nvPr/>
        </p:nvCxnSpPr>
        <p:spPr bwMode="auto">
          <a:xfrm rot="5400000">
            <a:off x="4549775" y="6181577"/>
            <a:ext cx="274637" cy="1588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278"/>
          <p:cNvCxnSpPr>
            <a:cxnSpLocks noChangeShapeType="1"/>
          </p:cNvCxnSpPr>
          <p:nvPr/>
        </p:nvCxnSpPr>
        <p:spPr bwMode="auto">
          <a:xfrm rot="5400000">
            <a:off x="5714207" y="5137795"/>
            <a:ext cx="533400" cy="1587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279"/>
          <p:cNvCxnSpPr>
            <a:cxnSpLocks noChangeShapeType="1"/>
          </p:cNvCxnSpPr>
          <p:nvPr/>
        </p:nvCxnSpPr>
        <p:spPr bwMode="auto">
          <a:xfrm rot="5400000">
            <a:off x="5845175" y="6181577"/>
            <a:ext cx="274637" cy="1588"/>
          </a:xfrm>
          <a:prstGeom prst="straightConnector1">
            <a:avLst/>
          </a:prstGeom>
          <a:ln w="12700">
            <a:headEnd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Rectangle 280"/>
          <p:cNvSpPr>
            <a:spLocks noChangeArrowheads="1"/>
          </p:cNvSpPr>
          <p:nvPr/>
        </p:nvSpPr>
        <p:spPr bwMode="auto">
          <a:xfrm>
            <a:off x="1981200" y="4186089"/>
            <a:ext cx="5486400" cy="3048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Shuffle and Sort:</a:t>
            </a:r>
            <a:r>
              <a:rPr lang="en-US" b="0" dirty="0">
                <a:solidFill>
                  <a:schemeClr val="bg2"/>
                </a:solidFill>
              </a:rPr>
              <a:t> aggregate values by keys</a:t>
            </a:r>
          </a:p>
        </p:txBody>
      </p:sp>
      <p:sp>
        <p:nvSpPr>
          <p:cNvPr id="128" name="Rectangle 281"/>
          <p:cNvSpPr>
            <a:spLocks noChangeArrowheads="1"/>
          </p:cNvSpPr>
          <p:nvPr/>
        </p:nvSpPr>
        <p:spPr bwMode="auto">
          <a:xfrm>
            <a:off x="2895600" y="5405289"/>
            <a:ext cx="8382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b="0">
                <a:solidFill>
                  <a:schemeClr val="bg2"/>
                </a:solidFill>
              </a:rPr>
              <a:t>reduce</a:t>
            </a:r>
          </a:p>
        </p:txBody>
      </p:sp>
      <p:sp>
        <p:nvSpPr>
          <p:cNvPr id="129" name="Rectangle 282"/>
          <p:cNvSpPr>
            <a:spLocks noChangeArrowheads="1"/>
          </p:cNvSpPr>
          <p:nvPr/>
        </p:nvSpPr>
        <p:spPr bwMode="auto">
          <a:xfrm>
            <a:off x="4267200" y="5405289"/>
            <a:ext cx="8382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b="0">
                <a:solidFill>
                  <a:schemeClr val="bg2"/>
                </a:solidFill>
              </a:rPr>
              <a:t>reduce</a:t>
            </a:r>
          </a:p>
        </p:txBody>
      </p:sp>
      <p:sp>
        <p:nvSpPr>
          <p:cNvPr id="130" name="Rectangle 283"/>
          <p:cNvSpPr>
            <a:spLocks noChangeArrowheads="1"/>
          </p:cNvSpPr>
          <p:nvPr/>
        </p:nvSpPr>
        <p:spPr bwMode="auto">
          <a:xfrm>
            <a:off x="5562600" y="5405289"/>
            <a:ext cx="838200" cy="6096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b="0">
                <a:solidFill>
                  <a:schemeClr val="bg2"/>
                </a:solidFill>
              </a:rPr>
              <a:t>reduce</a:t>
            </a:r>
          </a:p>
        </p:txBody>
      </p:sp>
      <p:grpSp>
        <p:nvGrpSpPr>
          <p:cNvPr id="131" name="Group 332"/>
          <p:cNvGrpSpPr/>
          <p:nvPr/>
        </p:nvGrpSpPr>
        <p:grpSpPr>
          <a:xfrm>
            <a:off x="2915816" y="4573885"/>
            <a:ext cx="803275" cy="276225"/>
            <a:chOff x="3200400" y="4448175"/>
            <a:chExt cx="803275" cy="276225"/>
          </a:xfrm>
        </p:grpSpPr>
        <p:sp>
          <p:nvSpPr>
            <p:cNvPr id="132" name="Rectangle 193"/>
            <p:cNvSpPr>
              <a:spLocks noChangeArrowheads="1"/>
            </p:cNvSpPr>
            <p:nvPr/>
          </p:nvSpPr>
          <p:spPr bwMode="auto">
            <a:xfrm>
              <a:off x="3210588" y="4472306"/>
              <a:ext cx="228671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33" name="TextBox 194"/>
            <p:cNvSpPr txBox="1">
              <a:spLocks noChangeArrowheads="1"/>
            </p:cNvSpPr>
            <p:nvPr/>
          </p:nvSpPr>
          <p:spPr bwMode="auto">
            <a:xfrm>
              <a:off x="3200400" y="4448175"/>
              <a:ext cx="269710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a</a:t>
              </a:r>
              <a:endParaRPr lang="en-US" b="0" baseline="-25000"/>
            </a:p>
          </p:txBody>
        </p:sp>
        <p:sp>
          <p:nvSpPr>
            <p:cNvPr id="134" name="Rectangle 191"/>
            <p:cNvSpPr>
              <a:spLocks noChangeArrowheads="1"/>
            </p:cNvSpPr>
            <p:nvPr/>
          </p:nvSpPr>
          <p:spPr bwMode="auto">
            <a:xfrm>
              <a:off x="3515483" y="4472306"/>
              <a:ext cx="228671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5" name="TextBox 192"/>
            <p:cNvSpPr txBox="1">
              <a:spLocks noChangeArrowheads="1"/>
            </p:cNvSpPr>
            <p:nvPr/>
          </p:nvSpPr>
          <p:spPr bwMode="auto">
            <a:xfrm>
              <a:off x="3505295" y="4448175"/>
              <a:ext cx="269710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1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36" name="Rectangle 196"/>
            <p:cNvSpPr>
              <a:spLocks noChangeArrowheads="1"/>
            </p:cNvSpPr>
            <p:nvPr/>
          </p:nvSpPr>
          <p:spPr bwMode="auto">
            <a:xfrm>
              <a:off x="3744154" y="4472306"/>
              <a:ext cx="228671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7" name="TextBox 197"/>
            <p:cNvSpPr txBox="1">
              <a:spLocks noChangeArrowheads="1"/>
            </p:cNvSpPr>
            <p:nvPr/>
          </p:nvSpPr>
          <p:spPr bwMode="auto">
            <a:xfrm>
              <a:off x="3733965" y="4448175"/>
              <a:ext cx="269710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5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38" name="Group 331"/>
          <p:cNvGrpSpPr/>
          <p:nvPr/>
        </p:nvGrpSpPr>
        <p:grpSpPr>
          <a:xfrm>
            <a:off x="4287416" y="4573885"/>
            <a:ext cx="803275" cy="276225"/>
            <a:chOff x="4572000" y="4448175"/>
            <a:chExt cx="803275" cy="276225"/>
          </a:xfrm>
        </p:grpSpPr>
        <p:sp>
          <p:nvSpPr>
            <p:cNvPr id="139" name="Rectangle 199"/>
            <p:cNvSpPr>
              <a:spLocks noChangeArrowheads="1"/>
            </p:cNvSpPr>
            <p:nvPr/>
          </p:nvSpPr>
          <p:spPr bwMode="auto">
            <a:xfrm>
              <a:off x="4582188" y="4472306"/>
              <a:ext cx="228671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0" name="TextBox 200"/>
            <p:cNvSpPr txBox="1">
              <a:spLocks noChangeArrowheads="1"/>
            </p:cNvSpPr>
            <p:nvPr/>
          </p:nvSpPr>
          <p:spPr bwMode="auto">
            <a:xfrm>
              <a:off x="4572000" y="4448175"/>
              <a:ext cx="269710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b</a:t>
              </a:r>
              <a:endParaRPr lang="en-US" b="0" baseline="-25000"/>
            </a:p>
          </p:txBody>
        </p:sp>
        <p:sp>
          <p:nvSpPr>
            <p:cNvPr id="141" name="Rectangle 202"/>
            <p:cNvSpPr>
              <a:spLocks noChangeArrowheads="1"/>
            </p:cNvSpPr>
            <p:nvPr/>
          </p:nvSpPr>
          <p:spPr bwMode="auto">
            <a:xfrm>
              <a:off x="4887083" y="4472306"/>
              <a:ext cx="228671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2" name="TextBox 203"/>
            <p:cNvSpPr txBox="1">
              <a:spLocks noChangeArrowheads="1"/>
            </p:cNvSpPr>
            <p:nvPr/>
          </p:nvSpPr>
          <p:spPr bwMode="auto">
            <a:xfrm>
              <a:off x="4876895" y="4448175"/>
              <a:ext cx="269710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43" name="Rectangle 205"/>
            <p:cNvSpPr>
              <a:spLocks noChangeArrowheads="1"/>
            </p:cNvSpPr>
            <p:nvPr/>
          </p:nvSpPr>
          <p:spPr bwMode="auto">
            <a:xfrm>
              <a:off x="5115754" y="4472306"/>
              <a:ext cx="228671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4" name="TextBox 206"/>
            <p:cNvSpPr txBox="1">
              <a:spLocks noChangeArrowheads="1"/>
            </p:cNvSpPr>
            <p:nvPr/>
          </p:nvSpPr>
          <p:spPr bwMode="auto">
            <a:xfrm>
              <a:off x="5105565" y="4448175"/>
              <a:ext cx="269710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7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45" name="Group 330"/>
          <p:cNvGrpSpPr/>
          <p:nvPr/>
        </p:nvGrpSpPr>
        <p:grpSpPr>
          <a:xfrm>
            <a:off x="5582816" y="4573885"/>
            <a:ext cx="1031830" cy="276225"/>
            <a:chOff x="5867400" y="4448175"/>
            <a:chExt cx="1031830" cy="276225"/>
          </a:xfrm>
        </p:grpSpPr>
        <p:sp>
          <p:nvSpPr>
            <p:cNvPr id="146" name="Rectangle 208"/>
            <p:cNvSpPr>
              <a:spLocks noChangeArrowheads="1"/>
            </p:cNvSpPr>
            <p:nvPr/>
          </p:nvSpPr>
          <p:spPr bwMode="auto">
            <a:xfrm>
              <a:off x="5877587" y="4472306"/>
              <a:ext cx="228645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47" name="TextBox 209"/>
            <p:cNvSpPr txBox="1">
              <a:spLocks noChangeArrowheads="1"/>
            </p:cNvSpPr>
            <p:nvPr/>
          </p:nvSpPr>
          <p:spPr bwMode="auto">
            <a:xfrm>
              <a:off x="5867400" y="4448175"/>
              <a:ext cx="269679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pPr algn="ctr"/>
              <a:r>
                <a:rPr lang="en-US" sz="1200" b="0"/>
                <a:t>c</a:t>
              </a:r>
              <a:endParaRPr lang="en-US" b="0" baseline="-25000"/>
            </a:p>
          </p:txBody>
        </p:sp>
        <p:sp>
          <p:nvSpPr>
            <p:cNvPr id="148" name="Rectangle 211"/>
            <p:cNvSpPr>
              <a:spLocks noChangeArrowheads="1"/>
            </p:cNvSpPr>
            <p:nvPr/>
          </p:nvSpPr>
          <p:spPr bwMode="auto">
            <a:xfrm>
              <a:off x="6182447" y="4472306"/>
              <a:ext cx="228645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9" name="TextBox 212"/>
            <p:cNvSpPr txBox="1">
              <a:spLocks noChangeArrowheads="1"/>
            </p:cNvSpPr>
            <p:nvPr/>
          </p:nvSpPr>
          <p:spPr bwMode="auto">
            <a:xfrm>
              <a:off x="6172260" y="4448175"/>
              <a:ext cx="269679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50" name="Rectangle 214"/>
            <p:cNvSpPr>
              <a:spLocks noChangeArrowheads="1"/>
            </p:cNvSpPr>
            <p:nvPr/>
          </p:nvSpPr>
          <p:spPr bwMode="auto">
            <a:xfrm>
              <a:off x="6411092" y="4472306"/>
              <a:ext cx="228645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1" name="TextBox 215"/>
            <p:cNvSpPr txBox="1">
              <a:spLocks noChangeArrowheads="1"/>
            </p:cNvSpPr>
            <p:nvPr/>
          </p:nvSpPr>
          <p:spPr bwMode="auto">
            <a:xfrm>
              <a:off x="6400905" y="4448175"/>
              <a:ext cx="269679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 smtClean="0">
                  <a:solidFill>
                    <a:schemeClr val="accent2">
                      <a:lumMod val="75000"/>
                    </a:schemeClr>
                  </a:solidFill>
                </a:rPr>
                <a:t>9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152" name="Rectangle 217"/>
            <p:cNvSpPr>
              <a:spLocks noChangeArrowheads="1"/>
            </p:cNvSpPr>
            <p:nvPr/>
          </p:nvSpPr>
          <p:spPr bwMode="auto">
            <a:xfrm>
              <a:off x="6639738" y="4472306"/>
              <a:ext cx="228645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3" name="TextBox 218"/>
            <p:cNvSpPr txBox="1">
              <a:spLocks noChangeArrowheads="1"/>
            </p:cNvSpPr>
            <p:nvPr/>
          </p:nvSpPr>
          <p:spPr bwMode="auto">
            <a:xfrm>
              <a:off x="6629551" y="4448175"/>
              <a:ext cx="269679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 smtClean="0">
                  <a:solidFill>
                    <a:schemeClr val="accent2">
                      <a:lumMod val="75000"/>
                    </a:schemeClr>
                  </a:solidFill>
                </a:rPr>
                <a:t>8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54" name="Group 329"/>
          <p:cNvGrpSpPr/>
          <p:nvPr/>
        </p:nvGrpSpPr>
        <p:grpSpPr>
          <a:xfrm>
            <a:off x="3048000" y="6348264"/>
            <a:ext cx="525380" cy="276999"/>
            <a:chOff x="3048000" y="6276975"/>
            <a:chExt cx="525380" cy="276999"/>
          </a:xfrm>
        </p:grpSpPr>
        <p:sp>
          <p:nvSpPr>
            <p:cNvPr id="155" name="Rectangle 148"/>
            <p:cNvSpPr>
              <a:spLocks noChangeArrowheads="1"/>
            </p:cNvSpPr>
            <p:nvPr/>
          </p:nvSpPr>
          <p:spPr bwMode="auto">
            <a:xfrm>
              <a:off x="3093340" y="6301106"/>
              <a:ext cx="22850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6" name="TextBox 155"/>
            <p:cNvSpPr txBox="1">
              <a:spLocks noChangeArrowheads="1"/>
            </p:cNvSpPr>
            <p:nvPr/>
          </p:nvSpPr>
          <p:spPr bwMode="auto">
            <a:xfrm>
              <a:off x="3048000" y="6276975"/>
              <a:ext cx="293547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/>
                <a:t>r</a:t>
              </a:r>
              <a:r>
                <a:rPr lang="en-US" sz="1200" b="0" baseline="-25000"/>
                <a:t>1</a:t>
              </a:r>
              <a:endParaRPr lang="en-US" b="0" baseline="-25000"/>
            </a:p>
          </p:txBody>
        </p:sp>
        <p:sp>
          <p:nvSpPr>
            <p:cNvPr id="157" name="Rectangle 162"/>
            <p:cNvSpPr>
              <a:spLocks noChangeArrowheads="1"/>
            </p:cNvSpPr>
            <p:nvPr/>
          </p:nvSpPr>
          <p:spPr bwMode="auto">
            <a:xfrm>
              <a:off x="3321844" y="6301106"/>
              <a:ext cx="22850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8" name="TextBox 167"/>
            <p:cNvSpPr txBox="1">
              <a:spLocks noChangeArrowheads="1"/>
            </p:cNvSpPr>
            <p:nvPr/>
          </p:nvSpPr>
          <p:spPr bwMode="auto">
            <a:xfrm>
              <a:off x="3276504" y="6276975"/>
              <a:ext cx="296876" cy="276999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s</a:t>
              </a:r>
              <a:r>
                <a:rPr lang="en-US" sz="1200" b="0" baseline="-25000" dirty="0">
                  <a:solidFill>
                    <a:schemeClr val="accent2">
                      <a:lumMod val="75000"/>
                    </a:schemeClr>
                  </a:solidFill>
                </a:rPr>
                <a:t>1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59" name="Group 328"/>
          <p:cNvGrpSpPr/>
          <p:nvPr/>
        </p:nvGrpSpPr>
        <p:grpSpPr>
          <a:xfrm>
            <a:off x="4405313" y="6348264"/>
            <a:ext cx="525380" cy="276999"/>
            <a:chOff x="4405313" y="6276975"/>
            <a:chExt cx="525380" cy="276999"/>
          </a:xfrm>
        </p:grpSpPr>
        <p:sp>
          <p:nvSpPr>
            <p:cNvPr id="160" name="Rectangle 183"/>
            <p:cNvSpPr>
              <a:spLocks noChangeArrowheads="1"/>
            </p:cNvSpPr>
            <p:nvPr/>
          </p:nvSpPr>
          <p:spPr bwMode="auto">
            <a:xfrm>
              <a:off x="4450653" y="6301106"/>
              <a:ext cx="22850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1" name="TextBox 188"/>
            <p:cNvSpPr txBox="1">
              <a:spLocks noChangeArrowheads="1"/>
            </p:cNvSpPr>
            <p:nvPr/>
          </p:nvSpPr>
          <p:spPr bwMode="auto">
            <a:xfrm>
              <a:off x="4405313" y="6276975"/>
              <a:ext cx="293546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/>
                <a:t>r</a:t>
              </a:r>
              <a:r>
                <a:rPr lang="en-US" sz="1200" b="0" baseline="-25000"/>
                <a:t>2</a:t>
              </a:r>
              <a:endParaRPr lang="en-US" b="0" baseline="-25000"/>
            </a:p>
          </p:txBody>
        </p:sp>
        <p:sp>
          <p:nvSpPr>
            <p:cNvPr id="162" name="Rectangle 189"/>
            <p:cNvSpPr>
              <a:spLocks noChangeArrowheads="1"/>
            </p:cNvSpPr>
            <p:nvPr/>
          </p:nvSpPr>
          <p:spPr bwMode="auto">
            <a:xfrm>
              <a:off x="4679157" y="6301106"/>
              <a:ext cx="22850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3" name="TextBox 190"/>
            <p:cNvSpPr txBox="1">
              <a:spLocks noChangeArrowheads="1"/>
            </p:cNvSpPr>
            <p:nvPr/>
          </p:nvSpPr>
          <p:spPr bwMode="auto">
            <a:xfrm>
              <a:off x="4633817" y="6276975"/>
              <a:ext cx="296876" cy="276999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s</a:t>
              </a:r>
              <a:r>
                <a:rPr lang="en-US" sz="1200" b="0" baseline="-2500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  <p:grpSp>
        <p:nvGrpSpPr>
          <p:cNvPr id="164" name="Group 327"/>
          <p:cNvGrpSpPr/>
          <p:nvPr/>
        </p:nvGrpSpPr>
        <p:grpSpPr>
          <a:xfrm>
            <a:off x="5715000" y="6348264"/>
            <a:ext cx="525380" cy="276999"/>
            <a:chOff x="5715000" y="6276975"/>
            <a:chExt cx="525380" cy="276999"/>
          </a:xfrm>
        </p:grpSpPr>
        <p:sp>
          <p:nvSpPr>
            <p:cNvPr id="165" name="Rectangle 195"/>
            <p:cNvSpPr>
              <a:spLocks noChangeArrowheads="1"/>
            </p:cNvSpPr>
            <p:nvPr/>
          </p:nvSpPr>
          <p:spPr bwMode="auto">
            <a:xfrm>
              <a:off x="5760340" y="6301106"/>
              <a:ext cx="22850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6" name="TextBox 198"/>
            <p:cNvSpPr txBox="1">
              <a:spLocks noChangeArrowheads="1"/>
            </p:cNvSpPr>
            <p:nvPr/>
          </p:nvSpPr>
          <p:spPr bwMode="auto">
            <a:xfrm>
              <a:off x="5715000" y="6276975"/>
              <a:ext cx="293547" cy="276225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/>
                <a:t>r</a:t>
              </a:r>
              <a:r>
                <a:rPr lang="en-US" sz="1200" b="0" baseline="-25000"/>
                <a:t>3</a:t>
              </a:r>
              <a:endParaRPr lang="en-US" b="0" baseline="-25000"/>
            </a:p>
          </p:txBody>
        </p:sp>
        <p:sp>
          <p:nvSpPr>
            <p:cNvPr id="167" name="Rectangle 201"/>
            <p:cNvSpPr>
              <a:spLocks noChangeArrowheads="1"/>
            </p:cNvSpPr>
            <p:nvPr/>
          </p:nvSpPr>
          <p:spPr bwMode="auto">
            <a:xfrm>
              <a:off x="5988844" y="6301106"/>
              <a:ext cx="228504" cy="227961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68" name="TextBox 204"/>
            <p:cNvSpPr txBox="1">
              <a:spLocks noChangeArrowheads="1"/>
            </p:cNvSpPr>
            <p:nvPr/>
          </p:nvSpPr>
          <p:spPr bwMode="auto">
            <a:xfrm>
              <a:off x="5943504" y="6276975"/>
              <a:ext cx="296876" cy="276999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en-US" sz="1200" b="0" dirty="0">
                  <a:solidFill>
                    <a:schemeClr val="accent2">
                      <a:lumMod val="75000"/>
                    </a:schemeClr>
                  </a:solidFill>
                </a:rPr>
                <a:t>s</a:t>
              </a:r>
              <a:r>
                <a:rPr lang="en-US" sz="1200" b="0" baseline="-25000" dirty="0">
                  <a:solidFill>
                    <a:schemeClr val="accent2">
                      <a:lumMod val="75000"/>
                    </a:schemeClr>
                  </a:solidFill>
                </a:rPr>
                <a:t>3</a:t>
              </a:r>
              <a:endParaRPr lang="en-US" b="0" baseline="-250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</a:t>
            </a:r>
            <a:r>
              <a:rPr lang="en-US" altLang="zh-TW" cap="none" dirty="0" err="1" smtClean="0"/>
              <a:t>ap</a:t>
            </a:r>
            <a:r>
              <a:rPr lang="en-US" altLang="zh-TW" dirty="0" err="1" smtClean="0"/>
              <a:t>R</a:t>
            </a:r>
            <a:r>
              <a:rPr lang="en-US" altLang="zh-TW" cap="none" dirty="0" err="1" smtClean="0"/>
              <a:t>educe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MapReduce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Sample Code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 Prototype</a:t>
            </a:r>
          </a:p>
          <a:p>
            <a:r>
              <a:rPr lang="en-US" altLang="zh-TW" dirty="0" smtClean="0"/>
              <a:t>Programming using Eclipse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圖片 13" descr="eclipse19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520" y="1035466"/>
            <a:ext cx="7488832" cy="548987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 package, </a:t>
            </a:r>
            <a:r>
              <a:rPr lang="en-US" altLang="zh-TW" dirty="0" err="1" smtClean="0"/>
              <a:t>Mapper</a:t>
            </a:r>
            <a:r>
              <a:rPr lang="en-US" altLang="zh-TW" dirty="0" smtClean="0"/>
              <a:t> Class</a:t>
            </a:r>
            <a:endParaRPr lang="zh-TW" altLang="en-US" dirty="0"/>
          </a:p>
        </p:txBody>
      </p:sp>
      <p:pic>
        <p:nvPicPr>
          <p:cNvPr id="4" name="圖片 3" descr="eclipse2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403648" y="1782193"/>
            <a:ext cx="4932286" cy="4023072"/>
          </a:xfrm>
          <a:prstGeom prst="rect">
            <a:avLst/>
          </a:prstGeom>
        </p:spPr>
      </p:pic>
      <p:sp>
        <p:nvSpPr>
          <p:cNvPr id="6" name="橢圓 5"/>
          <p:cNvSpPr/>
          <p:nvPr/>
        </p:nvSpPr>
        <p:spPr>
          <a:xfrm>
            <a:off x="1691680" y="3891528"/>
            <a:ext cx="93610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 descr="eclipse2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23728" y="1628800"/>
            <a:ext cx="5838096" cy="4761905"/>
          </a:xfrm>
          <a:prstGeom prst="rect">
            <a:avLst/>
          </a:prstGeom>
        </p:spPr>
      </p:pic>
      <p:sp>
        <p:nvSpPr>
          <p:cNvPr id="8" name="橢圓 7"/>
          <p:cNvSpPr/>
          <p:nvPr/>
        </p:nvSpPr>
        <p:spPr>
          <a:xfrm>
            <a:off x="3059832" y="2924944"/>
            <a:ext cx="72008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3059832" y="3429000"/>
            <a:ext cx="93610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2" name="圖片 11" descr="eclipse22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763688" y="1556792"/>
            <a:ext cx="7056784" cy="51731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Reducer Class</a:t>
            </a:r>
            <a:endParaRPr lang="zh-TW" altLang="en-US" dirty="0"/>
          </a:p>
        </p:txBody>
      </p:sp>
      <p:pic>
        <p:nvPicPr>
          <p:cNvPr id="4" name="圖片 3" descr="eclipse23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520" y="971351"/>
            <a:ext cx="5838096" cy="4761905"/>
          </a:xfrm>
          <a:prstGeom prst="rect">
            <a:avLst/>
          </a:prstGeom>
        </p:spPr>
      </p:pic>
      <p:sp>
        <p:nvSpPr>
          <p:cNvPr id="5" name="橢圓 4"/>
          <p:cNvSpPr/>
          <p:nvPr/>
        </p:nvSpPr>
        <p:spPr>
          <a:xfrm>
            <a:off x="611560" y="3933056"/>
            <a:ext cx="1008112" cy="3600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 descr="eclipse24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27584" y="1340768"/>
            <a:ext cx="5838096" cy="4761905"/>
          </a:xfrm>
          <a:prstGeom prst="rect">
            <a:avLst/>
          </a:prstGeom>
        </p:spPr>
      </p:pic>
      <p:sp>
        <p:nvSpPr>
          <p:cNvPr id="7" name="橢圓 6"/>
          <p:cNvSpPr/>
          <p:nvPr/>
        </p:nvSpPr>
        <p:spPr>
          <a:xfrm>
            <a:off x="1763688" y="2636912"/>
            <a:ext cx="720080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1763688" y="3192656"/>
            <a:ext cx="86409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 descr="eclipse25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331640" y="1196752"/>
            <a:ext cx="7632848" cy="55954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MR Driver(Main class)</a:t>
            </a:r>
            <a:endParaRPr lang="zh-TW" altLang="en-US" dirty="0"/>
          </a:p>
        </p:txBody>
      </p:sp>
      <p:pic>
        <p:nvPicPr>
          <p:cNvPr id="4" name="圖片 3" descr="eclipse26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1052736"/>
            <a:ext cx="5838096" cy="4761905"/>
          </a:xfrm>
          <a:prstGeom prst="rect">
            <a:avLst/>
          </a:prstGeom>
        </p:spPr>
      </p:pic>
      <p:sp>
        <p:nvSpPr>
          <p:cNvPr id="5" name="橢圓 4"/>
          <p:cNvSpPr/>
          <p:nvPr/>
        </p:nvSpPr>
        <p:spPr>
          <a:xfrm>
            <a:off x="755576" y="4005064"/>
            <a:ext cx="1584176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 descr="eclipse27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71600" y="1268760"/>
            <a:ext cx="5472608" cy="5026228"/>
          </a:xfrm>
          <a:prstGeom prst="rect">
            <a:avLst/>
          </a:prstGeom>
        </p:spPr>
      </p:pic>
      <p:sp>
        <p:nvSpPr>
          <p:cNvPr id="7" name="橢圓 6"/>
          <p:cNvSpPr/>
          <p:nvPr/>
        </p:nvSpPr>
        <p:spPr>
          <a:xfrm>
            <a:off x="1979712" y="2492896"/>
            <a:ext cx="576064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1907704" y="2996952"/>
            <a:ext cx="86409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1" name="圖片 10" descr="eclipse28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449437" y="1196752"/>
            <a:ext cx="7397254" cy="54227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 on </a:t>
            </a:r>
            <a:r>
              <a:rPr lang="en-US" altLang="zh-TW" dirty="0" err="1" smtClean="0"/>
              <a:t>hadoop</a:t>
            </a:r>
            <a:endParaRPr lang="zh-TW" altLang="en-US" dirty="0"/>
          </a:p>
        </p:txBody>
      </p:sp>
      <p:pic>
        <p:nvPicPr>
          <p:cNvPr id="15" name="圖片 14" descr="eclipse29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1052736"/>
            <a:ext cx="7344816" cy="5357812"/>
          </a:xfrm>
          <a:prstGeom prst="rect">
            <a:avLst/>
          </a:prstGeom>
        </p:spPr>
      </p:pic>
      <p:pic>
        <p:nvPicPr>
          <p:cNvPr id="16" name="圖片 15" descr="eclipse3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43608" y="1844824"/>
            <a:ext cx="5472608" cy="4865428"/>
          </a:xfrm>
          <a:prstGeom prst="rect">
            <a:avLst/>
          </a:prstGeom>
        </p:spPr>
      </p:pic>
      <p:sp>
        <p:nvSpPr>
          <p:cNvPr id="17" name="橢圓 16"/>
          <p:cNvSpPr/>
          <p:nvPr/>
        </p:nvSpPr>
        <p:spPr>
          <a:xfrm>
            <a:off x="5508104" y="2924944"/>
            <a:ext cx="792088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" name="圖片 17" descr="eclipse31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771800" y="2348880"/>
            <a:ext cx="2885714" cy="3000000"/>
          </a:xfrm>
          <a:prstGeom prst="rect">
            <a:avLst/>
          </a:prstGeom>
        </p:spPr>
      </p:pic>
      <p:sp>
        <p:nvSpPr>
          <p:cNvPr id="19" name="橢圓 18"/>
          <p:cNvSpPr/>
          <p:nvPr/>
        </p:nvSpPr>
        <p:spPr>
          <a:xfrm>
            <a:off x="2876064" y="3418840"/>
            <a:ext cx="134694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" name="圖片 19" descr="eclipse32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03648" y="1484784"/>
            <a:ext cx="6480720" cy="5184574"/>
          </a:xfrm>
          <a:prstGeom prst="rect">
            <a:avLst/>
          </a:prstGeom>
        </p:spPr>
      </p:pic>
      <p:sp>
        <p:nvSpPr>
          <p:cNvPr id="21" name="橢圓 20"/>
          <p:cNvSpPr/>
          <p:nvPr/>
        </p:nvSpPr>
        <p:spPr>
          <a:xfrm>
            <a:off x="1763688" y="2276872"/>
            <a:ext cx="100811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6732240" y="3408680"/>
            <a:ext cx="936104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3" name="圖片 22" descr="eclipse33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714857" y="1048047"/>
            <a:ext cx="5714286" cy="4761905"/>
          </a:xfrm>
          <a:prstGeom prst="rect">
            <a:avLst/>
          </a:prstGeom>
        </p:spPr>
      </p:pic>
      <p:sp>
        <p:nvSpPr>
          <p:cNvPr id="24" name="橢圓 23"/>
          <p:cNvSpPr/>
          <p:nvPr/>
        </p:nvSpPr>
        <p:spPr>
          <a:xfrm>
            <a:off x="1835696" y="2420888"/>
            <a:ext cx="172819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nimBg="1"/>
      <p:bldP spid="21" grpId="0" animBg="1"/>
      <p:bldP spid="22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Run on </a:t>
            </a:r>
            <a:r>
              <a:rPr lang="en-US" altLang="zh-TW" dirty="0" err="1" smtClean="0"/>
              <a:t>hadoop</a:t>
            </a:r>
            <a:r>
              <a:rPr lang="en-US" altLang="zh-TW" dirty="0" smtClean="0"/>
              <a:t>(cont.)</a:t>
            </a:r>
            <a:endParaRPr lang="zh-TW" altLang="en-US" dirty="0"/>
          </a:p>
        </p:txBody>
      </p:sp>
      <p:pic>
        <p:nvPicPr>
          <p:cNvPr id="13" name="圖片 12" descr="eclipse34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0" y="1052736"/>
            <a:ext cx="6768754" cy="5415002"/>
          </a:xfrm>
          <a:prstGeom prst="rect">
            <a:avLst/>
          </a:prstGeom>
        </p:spPr>
      </p:pic>
      <p:sp>
        <p:nvSpPr>
          <p:cNvPr id="14" name="橢圓 13"/>
          <p:cNvSpPr/>
          <p:nvPr/>
        </p:nvSpPr>
        <p:spPr>
          <a:xfrm>
            <a:off x="827584" y="2184544"/>
            <a:ext cx="86409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323528" y="2564904"/>
            <a:ext cx="1080120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/>
          <p:cNvSpPr/>
          <p:nvPr/>
        </p:nvSpPr>
        <p:spPr>
          <a:xfrm>
            <a:off x="5940152" y="6021288"/>
            <a:ext cx="792088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8" name="圖片 27" descr="eclipse35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9552" y="1268760"/>
            <a:ext cx="7344816" cy="5362994"/>
          </a:xfrm>
          <a:prstGeom prst="rect">
            <a:avLst/>
          </a:prstGeom>
        </p:spPr>
      </p:pic>
      <p:pic>
        <p:nvPicPr>
          <p:cNvPr id="29" name="圖片 28" descr="eclipse36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5575" y="1196752"/>
            <a:ext cx="7758651" cy="5256584"/>
          </a:xfrm>
          <a:prstGeom prst="rect">
            <a:avLst/>
          </a:prstGeom>
        </p:spPr>
      </p:pic>
      <p:sp>
        <p:nvSpPr>
          <p:cNvPr id="30" name="橢圓 29"/>
          <p:cNvSpPr/>
          <p:nvPr/>
        </p:nvSpPr>
        <p:spPr>
          <a:xfrm>
            <a:off x="827584" y="1916832"/>
            <a:ext cx="1872208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827584" y="2338720"/>
            <a:ext cx="3312368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2" name="圖片 31" descr="eclipse37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15616" y="1340768"/>
            <a:ext cx="7488832" cy="5381998"/>
          </a:xfrm>
          <a:prstGeom prst="rect">
            <a:avLst/>
          </a:prstGeom>
        </p:spPr>
      </p:pic>
      <p:pic>
        <p:nvPicPr>
          <p:cNvPr id="33" name="圖片 32" descr="eclipse38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15616" y="1345434"/>
            <a:ext cx="7488832" cy="5375614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2627784" y="5537200"/>
            <a:ext cx="5760640" cy="8441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  <p:bldP spid="27" grpId="0" animBg="1"/>
      <p:bldP spid="30" grpId="0" animBg="1"/>
      <p:bldP spid="31" grpId="0" animBg="1"/>
      <p:bldP spid="3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M</a:t>
            </a:r>
            <a:r>
              <a:rPr lang="en-US" altLang="zh-TW" cap="none" dirty="0" err="1" smtClean="0"/>
              <a:t>ap</a:t>
            </a:r>
            <a:r>
              <a:rPr lang="en-US" altLang="zh-TW" dirty="0" err="1" smtClean="0"/>
              <a:t>R</a:t>
            </a:r>
            <a:r>
              <a:rPr lang="en-US" altLang="zh-TW" cap="none" dirty="0" err="1" smtClean="0"/>
              <a:t>educe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MapReduce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 Prototype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An Example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using Eclipse</a:t>
            </a:r>
          </a:p>
          <a:p>
            <a:r>
              <a:rPr lang="en-US" altLang="zh-TW" dirty="0" smtClean="0"/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Requirements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Part I Modify the given example: </a:t>
            </a:r>
            <a:r>
              <a:rPr lang="en-US" altLang="zh-TW" dirty="0" err="1" smtClean="0">
                <a:latin typeface="+mj-lt"/>
              </a:rPr>
              <a:t>WordCount</a:t>
            </a:r>
            <a:r>
              <a:rPr lang="en-US" altLang="zh-TW" dirty="0" smtClean="0">
                <a:latin typeface="+mj-lt"/>
              </a:rPr>
              <a:t> (10%*3)</a:t>
            </a:r>
          </a:p>
          <a:p>
            <a:pPr lvl="1"/>
            <a:r>
              <a:rPr lang="en-US" altLang="zh-TW" dirty="0" smtClean="0">
                <a:latin typeface="+mj-lt"/>
              </a:rPr>
              <a:t>Main function – add an argument to allow user to assign the number of Reducers.</a:t>
            </a:r>
          </a:p>
          <a:p>
            <a:pPr lvl="1"/>
            <a:r>
              <a:rPr lang="en-US" altLang="zh-TW" dirty="0" err="1" smtClean="0">
                <a:latin typeface="+mj-lt"/>
              </a:rPr>
              <a:t>Mapper</a:t>
            </a:r>
            <a:r>
              <a:rPr lang="en-US" altLang="zh-TW" dirty="0" smtClean="0">
                <a:latin typeface="+mj-lt"/>
              </a:rPr>
              <a:t> – Change </a:t>
            </a:r>
            <a:r>
              <a:rPr lang="en-US" altLang="zh-TW" dirty="0" err="1" smtClean="0">
                <a:latin typeface="+mj-lt"/>
              </a:rPr>
              <a:t>WordCount</a:t>
            </a:r>
            <a:r>
              <a:rPr lang="en-US" altLang="zh-TW" dirty="0" smtClean="0">
                <a:latin typeface="+mj-lt"/>
              </a:rPr>
              <a:t> to </a:t>
            </a:r>
            <a:r>
              <a:rPr lang="en-US" altLang="zh-TW" dirty="0" err="1" smtClean="0">
                <a:latin typeface="+mj-lt"/>
              </a:rPr>
              <a:t>CharacterCount</a:t>
            </a:r>
            <a:r>
              <a:rPr lang="en-US" altLang="zh-TW" dirty="0" smtClean="0">
                <a:latin typeface="+mj-lt"/>
              </a:rPr>
              <a:t> (except “ ”)</a:t>
            </a:r>
          </a:p>
          <a:p>
            <a:pPr lvl="1"/>
            <a:r>
              <a:rPr lang="en-US" altLang="zh-TW" dirty="0" smtClean="0">
                <a:latin typeface="+mj-lt"/>
              </a:rPr>
              <a:t>Reducer – Output those characters that occur &gt;= 1000 times</a:t>
            </a:r>
          </a:p>
          <a:p>
            <a:r>
              <a:rPr lang="en-US" altLang="zh-TW" dirty="0" smtClean="0">
                <a:latin typeface="+mj-lt"/>
              </a:rPr>
              <a:t>Part II (10%)</a:t>
            </a:r>
          </a:p>
          <a:p>
            <a:pPr lvl="1"/>
            <a:r>
              <a:rPr lang="en-US" altLang="zh-TW" dirty="0" smtClean="0">
                <a:latin typeface="+mj-lt"/>
              </a:rPr>
              <a:t>After you finish part I, SORT the output of part I according to the number of times</a:t>
            </a:r>
          </a:p>
          <a:p>
            <a:pPr lvl="2"/>
            <a:r>
              <a:rPr lang="en-US" altLang="zh-TW" dirty="0" smtClean="0">
                <a:latin typeface="+mj-lt"/>
              </a:rPr>
              <a:t>using the </a:t>
            </a:r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 programming model. </a:t>
            </a:r>
          </a:p>
          <a:p>
            <a:pPr lvl="1"/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0.20.2 API.</a:t>
            </a:r>
          </a:p>
          <a:p>
            <a:pPr lvl="1"/>
            <a:r>
              <a:rPr lang="en-US" altLang="zh-TW" dirty="0" smtClean="0">
                <a:latin typeface="+mj-lt"/>
                <a:hlinkClick r:id="rId3"/>
              </a:rPr>
              <a:t>http://hadoop.apache.org/common/docs/r0.20.2/api/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  <a:hlinkClick r:id="rId4"/>
              </a:rPr>
              <a:t>http://hadoop.apache.org/common/docs/r0.20.2/api/org/apache/hadoop/mapreduce/InputFormat.html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In the Part II, you may not need to use both </a:t>
            </a:r>
            <a:r>
              <a:rPr lang="en-US" altLang="zh-TW" dirty="0" err="1" smtClean="0">
                <a:latin typeface="+mj-lt"/>
              </a:rPr>
              <a:t>mapper</a:t>
            </a:r>
            <a:r>
              <a:rPr lang="en-US" altLang="zh-TW" dirty="0" smtClean="0">
                <a:latin typeface="+mj-lt"/>
              </a:rPr>
              <a:t> and reducer. (The output keys of </a:t>
            </a:r>
            <a:r>
              <a:rPr lang="en-US" altLang="zh-TW" dirty="0" err="1" smtClean="0">
                <a:latin typeface="+mj-lt"/>
              </a:rPr>
              <a:t>mapper</a:t>
            </a:r>
            <a:r>
              <a:rPr lang="en-US" altLang="zh-TW" dirty="0" smtClean="0">
                <a:latin typeface="+mj-lt"/>
              </a:rPr>
              <a:t> are sorted.)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HBase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err="1" smtClean="0"/>
              <a:t>Hbase</a:t>
            </a:r>
            <a:r>
              <a:rPr lang="en-US" altLang="zh-TW" dirty="0" smtClean="0"/>
              <a:t>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Basic Operations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Common APIs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Environment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What’s </a:t>
            </a:r>
            <a:r>
              <a:rPr lang="en-US" altLang="zh-TW" dirty="0" err="1" smtClean="0"/>
              <a:t>Hbase</a:t>
            </a:r>
            <a:r>
              <a:rPr lang="en-US" altLang="zh-TW" dirty="0" smtClean="0"/>
              <a:t>?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4762872" cy="4781128"/>
          </a:xfrm>
        </p:spPr>
        <p:txBody>
          <a:bodyPr/>
          <a:lstStyle/>
          <a:p>
            <a:r>
              <a:rPr lang="en-US" altLang="zh-TW" dirty="0" smtClean="0">
                <a:latin typeface="+mj-lt"/>
                <a:ea typeface="新細明體" charset="-120"/>
              </a:rPr>
              <a:t>Distributed Database modeled on column-oriented rows</a:t>
            </a:r>
          </a:p>
          <a:p>
            <a:r>
              <a:rPr lang="en-US" altLang="zh-TW" dirty="0" smtClean="0">
                <a:latin typeface="+mj-lt"/>
                <a:ea typeface="新細明體" charset="-120"/>
              </a:rPr>
              <a:t>Scalable data store</a:t>
            </a:r>
          </a:p>
          <a:p>
            <a:r>
              <a:rPr lang="en-US" altLang="zh-TW" dirty="0" smtClean="0">
                <a:latin typeface="+mj-lt"/>
                <a:ea typeface="新細明體" charset="-120"/>
              </a:rPr>
              <a:t>Apache </a:t>
            </a:r>
            <a:r>
              <a:rPr lang="en-US" altLang="zh-TW" dirty="0" err="1" smtClean="0">
                <a:latin typeface="+mj-lt"/>
                <a:ea typeface="新細明體" charset="-120"/>
              </a:rPr>
              <a:t>Hadoop</a:t>
            </a:r>
            <a:r>
              <a:rPr lang="en-US" altLang="zh-TW" dirty="0" smtClean="0">
                <a:latin typeface="+mj-lt"/>
                <a:ea typeface="新細明體" charset="-120"/>
              </a:rPr>
              <a:t> subproject since 2008</a:t>
            </a:r>
          </a:p>
          <a:p>
            <a:endParaRPr lang="zh-TW" altLang="en-US" dirty="0">
              <a:latin typeface="+mj-lt"/>
            </a:endParaRPr>
          </a:p>
        </p:txBody>
      </p:sp>
      <p:grpSp>
        <p:nvGrpSpPr>
          <p:cNvPr id="9" name="群組 12"/>
          <p:cNvGrpSpPr/>
          <p:nvPr/>
        </p:nvGrpSpPr>
        <p:grpSpPr>
          <a:xfrm>
            <a:off x="5148064" y="1988840"/>
            <a:ext cx="3773431" cy="3744796"/>
            <a:chOff x="5148064" y="1988840"/>
            <a:chExt cx="3773431" cy="3744796"/>
          </a:xfrm>
        </p:grpSpPr>
        <p:sp>
          <p:nvSpPr>
            <p:cNvPr id="4" name="圓角矩形 3"/>
            <p:cNvSpPr/>
            <p:nvPr/>
          </p:nvSpPr>
          <p:spPr>
            <a:xfrm>
              <a:off x="5148064" y="3794367"/>
              <a:ext cx="3734344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Hadoop</a:t>
              </a:r>
              <a:r>
                <a:rPr lang="en-US" altLang="zh-TW" dirty="0" smtClean="0"/>
                <a:t> Distributed File System (HDFS)</a:t>
              </a:r>
              <a:endParaRPr lang="zh-TW" altLang="en-US" dirty="0"/>
            </a:p>
          </p:txBody>
        </p:sp>
        <p:sp>
          <p:nvSpPr>
            <p:cNvPr id="5" name="圓角矩形 4"/>
            <p:cNvSpPr/>
            <p:nvPr/>
          </p:nvSpPr>
          <p:spPr>
            <a:xfrm>
              <a:off x="5148064" y="2991910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MapReduce</a:t>
              </a:r>
              <a:endParaRPr lang="zh-TW" altLang="en-US" dirty="0"/>
            </a:p>
          </p:txBody>
        </p:sp>
        <p:sp>
          <p:nvSpPr>
            <p:cNvPr id="6" name="圓角矩形 5"/>
            <p:cNvSpPr/>
            <p:nvPr/>
          </p:nvSpPr>
          <p:spPr>
            <a:xfrm>
              <a:off x="7081921" y="2991910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 smtClean="0"/>
                <a:t>Hbase</a:t>
              </a:r>
              <a:endParaRPr lang="zh-TW" altLang="en-US" dirty="0"/>
            </a:p>
          </p:txBody>
        </p:sp>
        <p:sp>
          <p:nvSpPr>
            <p:cNvPr id="7" name="圓角矩形 6"/>
            <p:cNvSpPr/>
            <p:nvPr/>
          </p:nvSpPr>
          <p:spPr>
            <a:xfrm>
              <a:off x="5148064" y="4797437"/>
              <a:ext cx="3734344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A Cluster of Machines</a:t>
              </a:r>
              <a:endParaRPr lang="zh-TW" altLang="en-US" dirty="0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5153003" y="1988840"/>
              <a:ext cx="3734344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smtClean="0"/>
                <a:t>Cloud Applications</a:t>
              </a:r>
              <a:endParaRPr lang="zh-TW" altLang="en-US" dirty="0"/>
            </a:p>
          </p:txBody>
        </p:sp>
        <p:sp>
          <p:nvSpPr>
            <p:cNvPr id="10" name="矩形 9"/>
            <p:cNvSpPr/>
            <p:nvPr/>
          </p:nvSpPr>
          <p:spPr>
            <a:xfrm>
              <a:off x="7058025" y="2948765"/>
              <a:ext cx="1863470" cy="83266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Hbase</a:t>
            </a:r>
            <a:r>
              <a:rPr lang="en-US" altLang="zh-TW" dirty="0" smtClean="0"/>
              <a:t> Architecture</a:t>
            </a:r>
            <a:endParaRPr lang="zh-TW" altLang="en-US" dirty="0"/>
          </a:p>
        </p:txBody>
      </p:sp>
      <p:pic>
        <p:nvPicPr>
          <p:cNvPr id="1026" name="Picture 2" descr="E:\SSlab\MS'0\Boss Lesson\Cloud computing\Paas\Hadoop\Hbase\Reference\arch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9570" y="1196752"/>
            <a:ext cx="6544860" cy="535286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Data Model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484784"/>
            <a:ext cx="4237394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661251" y="4437112"/>
            <a:ext cx="5287010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加號 5"/>
          <p:cNvSpPr/>
          <p:nvPr/>
        </p:nvSpPr>
        <p:spPr>
          <a:xfrm rot="18900000">
            <a:off x="766593" y="766591"/>
            <a:ext cx="3701432" cy="3701432"/>
          </a:xfrm>
          <a:prstGeom prst="mathPlus">
            <a:avLst>
              <a:gd name="adj1" fmla="val 13414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向右箭號 6"/>
          <p:cNvSpPr/>
          <p:nvPr/>
        </p:nvSpPr>
        <p:spPr>
          <a:xfrm rot="2853448">
            <a:off x="4112139" y="3701489"/>
            <a:ext cx="604257" cy="58117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Example</a:t>
            </a:r>
            <a:endParaRPr lang="zh-TW" altLang="en-US" b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2" y="4005064"/>
            <a:ext cx="4127708" cy="1519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788024" y="4035264"/>
            <a:ext cx="4032734" cy="9059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79512" y="5583221"/>
            <a:ext cx="6122158" cy="1183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向下箭號 7"/>
          <p:cNvSpPr/>
          <p:nvPr/>
        </p:nvSpPr>
        <p:spPr>
          <a:xfrm>
            <a:off x="3707904" y="3463300"/>
            <a:ext cx="1656184" cy="36004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79512" y="1196752"/>
            <a:ext cx="8784976" cy="2107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8"/>
          <p:cNvSpPr/>
          <p:nvPr/>
        </p:nvSpPr>
        <p:spPr>
          <a:xfrm>
            <a:off x="107504" y="1124744"/>
            <a:ext cx="8928992" cy="2232248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000" b="1" dirty="0" smtClean="0"/>
              <a:t>Conceptual View</a:t>
            </a:r>
          </a:p>
        </p:txBody>
      </p:sp>
      <p:sp>
        <p:nvSpPr>
          <p:cNvPr id="10" name="矩形 9"/>
          <p:cNvSpPr/>
          <p:nvPr/>
        </p:nvSpPr>
        <p:spPr>
          <a:xfrm>
            <a:off x="113124" y="3914202"/>
            <a:ext cx="8928992" cy="2924944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3200" b="1" dirty="0" smtClean="0"/>
              <a:t>Physical Storage View</a:t>
            </a:r>
            <a:endParaRPr lang="en-US" altLang="zh-TW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HBase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Hbase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 Introduction</a:t>
            </a:r>
          </a:p>
          <a:p>
            <a:r>
              <a:rPr lang="en-US" altLang="zh-TW" dirty="0" smtClean="0"/>
              <a:t>Basic Operations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Common APIs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Environment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Basic Operations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Create a table</a:t>
            </a:r>
          </a:p>
          <a:p>
            <a:r>
              <a:rPr lang="en-US" altLang="zh-TW" dirty="0" smtClean="0">
                <a:latin typeface="+mj-lt"/>
              </a:rPr>
              <a:t>Put data into column</a:t>
            </a:r>
          </a:p>
          <a:p>
            <a:r>
              <a:rPr lang="en-US" altLang="zh-TW" dirty="0" smtClean="0">
                <a:latin typeface="+mj-lt"/>
              </a:rPr>
              <a:t>Get column value</a:t>
            </a:r>
          </a:p>
          <a:p>
            <a:r>
              <a:rPr lang="en-US" altLang="zh-TW" dirty="0" smtClean="0">
                <a:latin typeface="+mj-lt"/>
              </a:rPr>
              <a:t>Scan all column</a:t>
            </a:r>
          </a:p>
          <a:p>
            <a:r>
              <a:rPr lang="en-US" altLang="zh-TW" dirty="0" smtClean="0">
                <a:latin typeface="+mj-lt"/>
              </a:rPr>
              <a:t>Delete a table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Create a table(1/2)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In the 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 shell – at the path &lt;HBASE_HOME&gt;</a:t>
            </a:r>
          </a:p>
          <a:p>
            <a:pPr lvl="1"/>
            <a:r>
              <a:rPr lang="en-US" altLang="zh-TW" dirty="0" smtClean="0">
                <a:latin typeface="+mj-lt"/>
              </a:rPr>
              <a:t>$ bin/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 shell</a:t>
            </a:r>
          </a:p>
          <a:p>
            <a:pPr lvl="1"/>
            <a:r>
              <a:rPr lang="en-US" altLang="zh-TW" dirty="0" smtClean="0">
                <a:latin typeface="+mj-lt"/>
              </a:rPr>
              <a:t>&gt; create “</a:t>
            </a:r>
            <a:r>
              <a:rPr lang="en-US" altLang="zh-TW" dirty="0" err="1" smtClean="0">
                <a:latin typeface="+mj-lt"/>
              </a:rPr>
              <a:t>Tablename</a:t>
            </a:r>
            <a:r>
              <a:rPr lang="en-US" altLang="zh-TW" dirty="0" smtClean="0">
                <a:latin typeface="+mj-lt"/>
              </a:rPr>
              <a:t>”,” CloumnFamily0”, ”CloumnFamily1”,…</a:t>
            </a:r>
          </a:p>
          <a:p>
            <a:pPr lvl="2"/>
            <a:r>
              <a:rPr lang="en-US" altLang="zh-TW" dirty="0" smtClean="0">
                <a:latin typeface="+mj-lt"/>
              </a:rPr>
              <a:t>Ex:</a:t>
            </a:r>
          </a:p>
          <a:p>
            <a:pPr lvl="2"/>
            <a:endParaRPr lang="en-US" altLang="zh-TW" dirty="0" smtClean="0">
              <a:latin typeface="+mj-lt"/>
            </a:endParaRP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&gt; list</a:t>
            </a:r>
          </a:p>
          <a:p>
            <a:pPr lvl="2"/>
            <a:r>
              <a:rPr lang="en-US" altLang="zh-TW" dirty="0" smtClean="0">
                <a:latin typeface="+mj-lt"/>
              </a:rPr>
              <a:t>Ex:</a:t>
            </a:r>
          </a:p>
          <a:p>
            <a:pPr lvl="2"/>
            <a:endParaRPr lang="zh-TW" altLang="en-US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81260" y="3545904"/>
            <a:ext cx="7217300" cy="459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43745" y="5144690"/>
            <a:ext cx="7314479" cy="732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Create a table(2/2)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1115616" y="2132856"/>
            <a:ext cx="691276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public static void </a:t>
            </a:r>
            <a:r>
              <a:rPr lang="en-US" altLang="zh-TW" dirty="0" err="1" smtClean="0"/>
              <a:t>createHBaseTable</a:t>
            </a:r>
            <a:r>
              <a:rPr lang="en-US" altLang="zh-TW" dirty="0" smtClean="0"/>
              <a:t>(String 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, String family)</a:t>
            </a:r>
          </a:p>
          <a:p>
            <a:r>
              <a:rPr lang="en-US" altLang="zh-TW" dirty="0" smtClean="0"/>
              <a:t>      throws </a:t>
            </a:r>
            <a:r>
              <a:rPr lang="en-US" altLang="zh-TW" dirty="0" err="1" smtClean="0"/>
              <a:t>IOException</a:t>
            </a:r>
            <a:r>
              <a:rPr lang="en-US" altLang="zh-TW" dirty="0" smtClean="0"/>
              <a:t> {</a:t>
            </a:r>
            <a:endParaRPr lang="zh-TW" altLang="en-US" dirty="0" smtClean="0"/>
          </a:p>
          <a:p>
            <a:r>
              <a:rPr lang="zh-TW" altLang="en-US" dirty="0" smtClean="0"/>
              <a:t>    </a:t>
            </a:r>
            <a:r>
              <a:rPr lang="en-US" altLang="zh-TW" dirty="0" err="1" smtClean="0"/>
              <a:t>HTableDescriptor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htd</a:t>
            </a:r>
            <a:r>
              <a:rPr lang="en-US" altLang="zh-TW" dirty="0" smtClean="0"/>
              <a:t> = new </a:t>
            </a:r>
            <a:r>
              <a:rPr lang="en-US" altLang="zh-TW" dirty="0" err="1" smtClean="0"/>
              <a:t>HTableDescriptor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htd.addFamily</a:t>
            </a:r>
            <a:r>
              <a:rPr lang="en-US" altLang="zh-TW" dirty="0" smtClean="0"/>
              <a:t>(new </a:t>
            </a:r>
            <a:r>
              <a:rPr lang="en-US" altLang="zh-TW" dirty="0" err="1" smtClean="0"/>
              <a:t>HColumnDescriptor</a:t>
            </a:r>
            <a:r>
              <a:rPr lang="en-US" altLang="zh-TW" dirty="0" smtClean="0"/>
              <a:t>(family));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HBaseConfiguration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config</a:t>
            </a:r>
            <a:r>
              <a:rPr lang="en-US" altLang="zh-TW" dirty="0" smtClean="0"/>
              <a:t> = new </a:t>
            </a:r>
            <a:r>
              <a:rPr lang="en-US" altLang="zh-TW" dirty="0" err="1" smtClean="0"/>
              <a:t>HBaseConfiguration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HBaseAdmin</a:t>
            </a:r>
            <a:r>
              <a:rPr lang="en-US" altLang="zh-TW" dirty="0" smtClean="0"/>
              <a:t> admin = new </a:t>
            </a:r>
            <a:r>
              <a:rPr lang="en-US" altLang="zh-TW" dirty="0" err="1" smtClean="0"/>
              <a:t>HBaseAdmin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config</a:t>
            </a:r>
            <a:r>
              <a:rPr lang="en-US" altLang="zh-TW" dirty="0" smtClean="0"/>
              <a:t>);</a:t>
            </a:r>
          </a:p>
          <a:p>
            <a:endParaRPr lang="zh-TW" altLang="en-US" dirty="0" smtClean="0"/>
          </a:p>
          <a:p>
            <a:r>
              <a:rPr lang="zh-TW" altLang="en-US" dirty="0" smtClean="0"/>
              <a:t>    </a:t>
            </a:r>
            <a:r>
              <a:rPr lang="en-US" altLang="zh-TW" dirty="0" smtClean="0"/>
              <a:t>if (</a:t>
            </a:r>
            <a:r>
              <a:rPr lang="en-US" altLang="zh-TW" dirty="0" err="1" smtClean="0"/>
              <a:t>admin.tableExists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)) {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System.out.println</a:t>
            </a:r>
            <a:r>
              <a:rPr lang="en-US" altLang="zh-TW" dirty="0" smtClean="0"/>
              <a:t>("Table: " + 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 + "Existed.");</a:t>
            </a:r>
          </a:p>
          <a:p>
            <a:r>
              <a:rPr lang="en-US" altLang="zh-TW" dirty="0" smtClean="0"/>
              <a:t>    } else {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System.out.println</a:t>
            </a:r>
            <a:r>
              <a:rPr lang="en-US" altLang="zh-TW" dirty="0" smtClean="0"/>
              <a:t>("create new table: " + 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);</a:t>
            </a:r>
            <a:endParaRPr lang="zh-TW" altLang="en-US" dirty="0" smtClean="0"/>
          </a:p>
          <a:p>
            <a:r>
              <a:rPr lang="zh-TW" altLang="en-US" dirty="0" smtClean="0"/>
              <a:t>      </a:t>
            </a:r>
            <a:r>
              <a:rPr lang="en-US" altLang="zh-TW" dirty="0" err="1" smtClean="0"/>
              <a:t>admin.createTable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htd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    }</a:t>
            </a:r>
          </a:p>
          <a:p>
            <a:r>
              <a:rPr lang="en-US" altLang="zh-TW" dirty="0" smtClean="0"/>
              <a:t>}</a:t>
            </a:r>
            <a:endParaRPr lang="en-US" altLang="zh-TW" dirty="0"/>
          </a:p>
        </p:txBody>
      </p:sp>
      <p:cxnSp>
        <p:nvCxnSpPr>
          <p:cNvPr id="11" name="直線接點 10"/>
          <p:cNvCxnSpPr/>
          <p:nvPr/>
        </p:nvCxnSpPr>
        <p:spPr>
          <a:xfrm>
            <a:off x="1410916" y="2965326"/>
            <a:ext cx="547260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1391866" y="3777604"/>
            <a:ext cx="4476278" cy="114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2842717" y="3246884"/>
            <a:ext cx="3005633" cy="114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2286000" y="4144516"/>
            <a:ext cx="2141984" cy="220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2152650" y="5188049"/>
            <a:ext cx="1562100" cy="257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1762497" y="3021335"/>
            <a:ext cx="980703" cy="2488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/>
          <p:nvPr/>
        </p:nvCxnSpPr>
        <p:spPr>
          <a:xfrm flipV="1">
            <a:off x="1403648" y="3501008"/>
            <a:ext cx="5184576" cy="11436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Put data into column(1/2)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In the 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 shell</a:t>
            </a:r>
          </a:p>
          <a:p>
            <a:pPr lvl="1"/>
            <a:r>
              <a:rPr lang="en-US" altLang="zh-TW" dirty="0" smtClean="0">
                <a:latin typeface="+mj-lt"/>
              </a:rPr>
              <a:t>&gt; put “</a:t>
            </a:r>
            <a:r>
              <a:rPr lang="en-US" altLang="zh-TW" dirty="0" err="1" smtClean="0">
                <a:latin typeface="+mj-lt"/>
              </a:rPr>
              <a:t>Tablename",“row",“column</a:t>
            </a:r>
            <a:r>
              <a:rPr lang="en-US" altLang="zh-TW" dirty="0" smtClean="0">
                <a:latin typeface="+mj-lt"/>
              </a:rPr>
              <a:t>: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+mj-lt"/>
              </a:rPr>
              <a:t>qualifier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+mj-lt"/>
              </a:rPr>
              <a:t>",“value“</a:t>
            </a:r>
          </a:p>
          <a:p>
            <a:pPr lvl="2"/>
            <a:r>
              <a:rPr lang="en-US" altLang="zh-TW" dirty="0" smtClean="0">
                <a:latin typeface="+mj-lt"/>
              </a:rPr>
              <a:t>Ex:</a:t>
            </a:r>
            <a:endParaRPr lang="zh-TW" altLang="en-US" dirty="0">
              <a:latin typeface="+mj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3140968"/>
            <a:ext cx="8208912" cy="860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Put data into column(2/2)</a:t>
            </a:r>
            <a:endParaRPr lang="zh-TW" altLang="en-US" dirty="0"/>
          </a:p>
        </p:txBody>
      </p:sp>
      <p:sp>
        <p:nvSpPr>
          <p:cNvPr id="6" name="矩形 5"/>
          <p:cNvSpPr/>
          <p:nvPr/>
        </p:nvSpPr>
        <p:spPr>
          <a:xfrm>
            <a:off x="827584" y="1628800"/>
            <a:ext cx="763284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static public void </a:t>
            </a:r>
            <a:r>
              <a:rPr lang="en-US" altLang="zh-TW" dirty="0" err="1" smtClean="0"/>
              <a:t>putData</a:t>
            </a:r>
            <a:r>
              <a:rPr lang="en-US" altLang="zh-TW" dirty="0" smtClean="0"/>
              <a:t>(String 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, String row, String family,</a:t>
            </a:r>
          </a:p>
          <a:p>
            <a:r>
              <a:rPr lang="en-US" altLang="zh-TW" dirty="0" smtClean="0"/>
              <a:t>      String qualifier, String value) throws </a:t>
            </a:r>
            <a:r>
              <a:rPr lang="en-US" altLang="zh-TW" dirty="0" err="1" smtClean="0"/>
              <a:t>IOException</a:t>
            </a:r>
            <a:r>
              <a:rPr lang="en-US" altLang="zh-TW" dirty="0" smtClean="0"/>
              <a:t> {</a:t>
            </a:r>
            <a:endParaRPr lang="zh-TW" altLang="en-US" dirty="0" smtClean="0"/>
          </a:p>
          <a:p>
            <a:r>
              <a:rPr lang="zh-TW" altLang="en-US" dirty="0" smtClean="0"/>
              <a:t>    </a:t>
            </a:r>
            <a:r>
              <a:rPr lang="en-US" altLang="zh-TW" dirty="0" err="1" smtClean="0"/>
              <a:t>HBaseConfiguration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config</a:t>
            </a:r>
            <a:r>
              <a:rPr lang="en-US" altLang="zh-TW" dirty="0" smtClean="0"/>
              <a:t> = new </a:t>
            </a:r>
            <a:r>
              <a:rPr lang="en-US" altLang="zh-TW" dirty="0" err="1" smtClean="0"/>
              <a:t>HBaseConfiguration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HTable</a:t>
            </a:r>
            <a:r>
              <a:rPr lang="en-US" altLang="zh-TW" dirty="0" smtClean="0"/>
              <a:t> table = new </a:t>
            </a:r>
            <a:r>
              <a:rPr lang="en-US" altLang="zh-TW" dirty="0" err="1" smtClean="0"/>
              <a:t>HTable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config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);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  byte[] brow = </a:t>
            </a:r>
            <a:r>
              <a:rPr lang="en-US" altLang="zh-TW" dirty="0" err="1" smtClean="0"/>
              <a:t>Bytes.toBytes</a:t>
            </a:r>
            <a:r>
              <a:rPr lang="en-US" altLang="zh-TW" dirty="0" smtClean="0"/>
              <a:t>(row);</a:t>
            </a:r>
          </a:p>
          <a:p>
            <a:r>
              <a:rPr lang="en-US" altLang="zh-TW" dirty="0" smtClean="0"/>
              <a:t>    byte[] </a:t>
            </a:r>
            <a:r>
              <a:rPr lang="en-US" altLang="zh-TW" dirty="0" err="1" smtClean="0"/>
              <a:t>bfamily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Bytes.toBytes</a:t>
            </a:r>
            <a:r>
              <a:rPr lang="en-US" altLang="zh-TW" dirty="0" smtClean="0"/>
              <a:t>(family);</a:t>
            </a:r>
          </a:p>
          <a:p>
            <a:r>
              <a:rPr lang="en-US" altLang="zh-TW" dirty="0" smtClean="0"/>
              <a:t>    byte[] b qualifier = </a:t>
            </a:r>
            <a:r>
              <a:rPr lang="en-US" altLang="zh-TW" dirty="0" err="1" smtClean="0"/>
              <a:t>Bytes.toBytes</a:t>
            </a:r>
            <a:r>
              <a:rPr lang="en-US" altLang="zh-TW" dirty="0" smtClean="0"/>
              <a:t>(qualifier);</a:t>
            </a:r>
          </a:p>
          <a:p>
            <a:r>
              <a:rPr lang="en-US" altLang="zh-TW" dirty="0" smtClean="0"/>
              <a:t>    byte[] </a:t>
            </a:r>
            <a:r>
              <a:rPr lang="en-US" altLang="zh-TW" dirty="0" err="1" smtClean="0"/>
              <a:t>bvalue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Bytes.toBytes</a:t>
            </a:r>
            <a:r>
              <a:rPr lang="en-US" altLang="zh-TW" dirty="0" smtClean="0"/>
              <a:t>(value);</a:t>
            </a:r>
          </a:p>
          <a:p>
            <a:r>
              <a:rPr lang="en-US" altLang="zh-TW" dirty="0" smtClean="0"/>
              <a:t>    Put p = new Put(brow);</a:t>
            </a:r>
          </a:p>
          <a:p>
            <a:r>
              <a:rPr lang="en-US" altLang="zh-TW" dirty="0" smtClean="0"/>
              <a:t> 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p.add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bfamily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bqualifier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bvalue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table.put</a:t>
            </a:r>
            <a:r>
              <a:rPr lang="en-US" altLang="zh-TW" dirty="0" smtClean="0"/>
              <a:t>(p);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System.out.println</a:t>
            </a:r>
            <a:r>
              <a:rPr lang="en-US" altLang="zh-TW" dirty="0" smtClean="0"/>
              <a:t>("Put data :\"" + value + "\" to Table: " + 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 + "'s " +          	family + ":" + qualifier);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table.close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}</a:t>
            </a:r>
          </a:p>
        </p:txBody>
      </p:sp>
      <p:cxnSp>
        <p:nvCxnSpPr>
          <p:cNvPr id="9" name="直線接點 8"/>
          <p:cNvCxnSpPr/>
          <p:nvPr/>
        </p:nvCxnSpPr>
        <p:spPr>
          <a:xfrm>
            <a:off x="1115616" y="2733303"/>
            <a:ext cx="42484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1115616" y="4384154"/>
            <a:ext cx="208823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1297732" y="4725144"/>
            <a:ext cx="291422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向右箭號 16"/>
          <p:cNvSpPr/>
          <p:nvPr/>
        </p:nvSpPr>
        <p:spPr>
          <a:xfrm>
            <a:off x="611560" y="5007843"/>
            <a:ext cx="432048" cy="21602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/>
          <p:cNvSpPr/>
          <p:nvPr/>
        </p:nvSpPr>
        <p:spPr>
          <a:xfrm>
            <a:off x="1098426" y="5016252"/>
            <a:ext cx="1133475" cy="2095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1098426" y="5814789"/>
            <a:ext cx="1169715" cy="201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6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7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8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20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Get column value(1/2)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In the 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 shell</a:t>
            </a:r>
          </a:p>
          <a:p>
            <a:pPr lvl="1"/>
            <a:r>
              <a:rPr lang="en-US" altLang="zh-TW" dirty="0" smtClean="0">
                <a:latin typeface="+mj-lt"/>
              </a:rPr>
              <a:t>&gt;get “</a:t>
            </a:r>
            <a:r>
              <a:rPr lang="en-US" altLang="zh-TW" dirty="0" err="1" smtClean="0">
                <a:latin typeface="+mj-lt"/>
              </a:rPr>
              <a:t>Tablename”,”row</a:t>
            </a:r>
            <a:r>
              <a:rPr lang="en-US" altLang="zh-TW" dirty="0" smtClean="0">
                <a:latin typeface="+mj-lt"/>
              </a:rPr>
              <a:t>”</a:t>
            </a:r>
          </a:p>
          <a:p>
            <a:pPr lvl="2"/>
            <a:r>
              <a:rPr lang="en-US" altLang="zh-TW" dirty="0" smtClean="0">
                <a:latin typeface="+mj-lt"/>
              </a:rPr>
              <a:t>Ex:</a:t>
            </a:r>
            <a:endParaRPr lang="zh-TW" altLang="en-US" dirty="0">
              <a:latin typeface="+mj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212976"/>
            <a:ext cx="8437512" cy="1106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Get column value(2/2)</a:t>
            </a:r>
            <a:endParaRPr lang="zh-TW" altLang="en-US" dirty="0"/>
          </a:p>
        </p:txBody>
      </p:sp>
      <p:sp>
        <p:nvSpPr>
          <p:cNvPr id="7" name="矩形 6"/>
          <p:cNvSpPr/>
          <p:nvPr/>
        </p:nvSpPr>
        <p:spPr>
          <a:xfrm>
            <a:off x="827584" y="1628800"/>
            <a:ext cx="777686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static String </a:t>
            </a:r>
            <a:r>
              <a:rPr lang="en-US" altLang="zh-TW" dirty="0" err="1" smtClean="0"/>
              <a:t>getColumn</a:t>
            </a:r>
            <a:r>
              <a:rPr lang="en-US" altLang="zh-TW" dirty="0" smtClean="0"/>
              <a:t>(String 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, String row, String family,</a:t>
            </a:r>
          </a:p>
          <a:p>
            <a:r>
              <a:rPr lang="en-US" altLang="zh-TW" dirty="0" smtClean="0"/>
              <a:t>      String qualifier) throws </a:t>
            </a:r>
            <a:r>
              <a:rPr lang="en-US" altLang="zh-TW" dirty="0" err="1" smtClean="0"/>
              <a:t>IOException</a:t>
            </a:r>
            <a:r>
              <a:rPr lang="en-US" altLang="zh-TW" dirty="0" smtClean="0"/>
              <a:t> {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HBaseConfiguration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config</a:t>
            </a:r>
            <a:r>
              <a:rPr lang="en-US" altLang="zh-TW" dirty="0" smtClean="0"/>
              <a:t> = new </a:t>
            </a:r>
            <a:r>
              <a:rPr lang="en-US" altLang="zh-TW" dirty="0" err="1" smtClean="0"/>
              <a:t>HBaseConfiguration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HTable</a:t>
            </a:r>
            <a:r>
              <a:rPr lang="en-US" altLang="zh-TW" dirty="0" smtClean="0"/>
              <a:t> table = new </a:t>
            </a:r>
            <a:r>
              <a:rPr lang="en-US" altLang="zh-TW" dirty="0" err="1" smtClean="0"/>
              <a:t>HTable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config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);</a:t>
            </a:r>
          </a:p>
          <a:p>
            <a:r>
              <a:rPr lang="en-US" altLang="zh-TW" dirty="0" smtClean="0"/>
              <a:t>    String ret = "";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  try {</a:t>
            </a:r>
          </a:p>
          <a:p>
            <a:r>
              <a:rPr lang="en-US" altLang="zh-TW" dirty="0" smtClean="0"/>
              <a:t>      Get g = new Get(</a:t>
            </a:r>
            <a:r>
              <a:rPr lang="en-US" altLang="zh-TW" dirty="0" err="1" smtClean="0"/>
              <a:t>Bytes.toBytes</a:t>
            </a:r>
            <a:r>
              <a:rPr lang="en-US" altLang="zh-TW" dirty="0" smtClean="0"/>
              <a:t>(row));</a:t>
            </a:r>
          </a:p>
          <a:p>
            <a:r>
              <a:rPr lang="en-US" altLang="zh-TW" dirty="0" smtClean="0"/>
              <a:t>      Result </a:t>
            </a:r>
            <a:r>
              <a:rPr lang="en-US" altLang="zh-TW" dirty="0" err="1" smtClean="0"/>
              <a:t>rowResult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table.get</a:t>
            </a:r>
            <a:r>
              <a:rPr lang="en-US" altLang="zh-TW" dirty="0" smtClean="0"/>
              <a:t>(g);</a:t>
            </a:r>
          </a:p>
          <a:p>
            <a:r>
              <a:rPr lang="en-US" altLang="zh-TW" dirty="0" smtClean="0"/>
              <a:t>      ret = </a:t>
            </a:r>
            <a:r>
              <a:rPr lang="en-US" altLang="zh-TW" dirty="0" err="1" smtClean="0"/>
              <a:t>Bytes.toString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rowResult.getValue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Bytes.toBytes</a:t>
            </a:r>
            <a:r>
              <a:rPr lang="en-US" altLang="zh-TW" dirty="0" smtClean="0"/>
              <a:t>(family + ":"+ qualifier)));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table.close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    } catch (</a:t>
            </a:r>
            <a:r>
              <a:rPr lang="en-US" altLang="zh-TW" dirty="0" err="1" smtClean="0"/>
              <a:t>IOException</a:t>
            </a:r>
            <a:r>
              <a:rPr lang="en-US" altLang="zh-TW" dirty="0" smtClean="0"/>
              <a:t> e) {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e.printStackTrace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    }</a:t>
            </a:r>
          </a:p>
          <a:p>
            <a:r>
              <a:rPr lang="en-US" altLang="zh-TW" dirty="0" smtClean="0"/>
              <a:t>    return ret;</a:t>
            </a:r>
          </a:p>
          <a:p>
            <a:r>
              <a:rPr lang="en-US" altLang="zh-TW" dirty="0" smtClean="0"/>
              <a:t>}</a:t>
            </a:r>
          </a:p>
        </p:txBody>
      </p:sp>
      <p:cxnSp>
        <p:nvCxnSpPr>
          <p:cNvPr id="13" name="直線接點 12"/>
          <p:cNvCxnSpPr/>
          <p:nvPr/>
        </p:nvCxnSpPr>
        <p:spPr>
          <a:xfrm>
            <a:off x="1187624" y="3837826"/>
            <a:ext cx="34563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/>
          <p:nvPr/>
        </p:nvCxnSpPr>
        <p:spPr>
          <a:xfrm>
            <a:off x="1187624" y="4116333"/>
            <a:ext cx="288032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056509" y="4171176"/>
            <a:ext cx="4275534" cy="2313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Scan all column(1/2)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In the 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 shell</a:t>
            </a:r>
          </a:p>
          <a:p>
            <a:pPr lvl="1"/>
            <a:r>
              <a:rPr lang="en-US" altLang="zh-TW" dirty="0" smtClean="0">
                <a:latin typeface="+mj-lt"/>
              </a:rPr>
              <a:t>&gt; scan “</a:t>
            </a:r>
            <a:r>
              <a:rPr lang="en-US" altLang="zh-TW" dirty="0" err="1" smtClean="0">
                <a:latin typeface="+mj-lt"/>
              </a:rPr>
              <a:t>Tablename</a:t>
            </a:r>
            <a:r>
              <a:rPr lang="en-US" altLang="zh-TW" dirty="0" smtClean="0">
                <a:latin typeface="+mj-lt"/>
              </a:rPr>
              <a:t>”</a:t>
            </a:r>
          </a:p>
          <a:p>
            <a:pPr lvl="2"/>
            <a:r>
              <a:rPr lang="en-US" altLang="zh-TW" dirty="0" smtClean="0">
                <a:latin typeface="+mj-lt"/>
              </a:rPr>
              <a:t>Ex: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8890" y="3212976"/>
            <a:ext cx="8643590" cy="2127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Scan all column(2/2)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467544" y="1340768"/>
            <a:ext cx="849694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/>
              <a:t>static void </a:t>
            </a:r>
            <a:r>
              <a:rPr lang="en-US" altLang="zh-TW" dirty="0" err="1" smtClean="0"/>
              <a:t>ScanColumn</a:t>
            </a:r>
            <a:r>
              <a:rPr lang="en-US" altLang="zh-TW" dirty="0" smtClean="0"/>
              <a:t>(String 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, String family, String column) {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HBaseConfiguration</a:t>
            </a:r>
            <a:r>
              <a:rPr lang="en-US" altLang="zh-TW" dirty="0" smtClean="0"/>
              <a:t> conf = new </a:t>
            </a:r>
            <a:r>
              <a:rPr lang="en-US" altLang="zh-TW" dirty="0" err="1" smtClean="0"/>
              <a:t>HBaseConfiguration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    </a:t>
            </a:r>
            <a:r>
              <a:rPr lang="en-US" altLang="zh-TW" dirty="0" err="1" smtClean="0"/>
              <a:t>HTable</a:t>
            </a:r>
            <a:r>
              <a:rPr lang="en-US" altLang="zh-TW" dirty="0" smtClean="0"/>
              <a:t> table;</a:t>
            </a:r>
          </a:p>
          <a:p>
            <a:r>
              <a:rPr lang="en-US" altLang="zh-TW" dirty="0" smtClean="0"/>
              <a:t>    try {</a:t>
            </a:r>
          </a:p>
          <a:p>
            <a:r>
              <a:rPr lang="en-US" altLang="zh-TW" dirty="0" smtClean="0"/>
              <a:t>      table = new </a:t>
            </a:r>
            <a:r>
              <a:rPr lang="en-US" altLang="zh-TW" dirty="0" err="1" smtClean="0"/>
              <a:t>HTable</a:t>
            </a:r>
            <a:r>
              <a:rPr lang="en-US" altLang="zh-TW" dirty="0" smtClean="0"/>
              <a:t>(conf, </a:t>
            </a:r>
            <a:r>
              <a:rPr lang="en-US" altLang="zh-TW" dirty="0" err="1" smtClean="0"/>
              <a:t>Bytes.toBytes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));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ResultScanner</a:t>
            </a:r>
            <a:r>
              <a:rPr lang="en-US" altLang="zh-TW" dirty="0" smtClean="0"/>
              <a:t> scanner = </a:t>
            </a:r>
            <a:r>
              <a:rPr lang="en-US" altLang="zh-TW" dirty="0" err="1" smtClean="0"/>
              <a:t>table.getScanner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Bytes.toBytes</a:t>
            </a:r>
            <a:r>
              <a:rPr lang="en-US" altLang="zh-TW" dirty="0" smtClean="0"/>
              <a:t>(family));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System.out.println</a:t>
            </a:r>
            <a:r>
              <a:rPr lang="en-US" altLang="zh-TW" dirty="0" smtClean="0"/>
              <a:t>("Scan the Table [" + 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 + "]'s Column =&gt; " + family + ":" + 	column);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int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= 1;</a:t>
            </a:r>
          </a:p>
          <a:p>
            <a:r>
              <a:rPr lang="en-US" altLang="zh-TW" dirty="0" smtClean="0"/>
              <a:t>      for (Result </a:t>
            </a:r>
            <a:r>
              <a:rPr lang="en-US" altLang="zh-TW" dirty="0" err="1" smtClean="0"/>
              <a:t>rowResult</a:t>
            </a:r>
            <a:r>
              <a:rPr lang="en-US" altLang="zh-TW" dirty="0" smtClean="0"/>
              <a:t> : scanner) {</a:t>
            </a:r>
          </a:p>
          <a:p>
            <a:r>
              <a:rPr lang="en-US" altLang="zh-TW" dirty="0" smtClean="0"/>
              <a:t>        byte[] by = </a:t>
            </a:r>
            <a:r>
              <a:rPr lang="en-US" altLang="zh-TW" dirty="0" err="1" smtClean="0"/>
              <a:t>rowResult.getValue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Bytes.toBytes</a:t>
            </a:r>
            <a:r>
              <a:rPr lang="en-US" altLang="zh-TW" dirty="0" smtClean="0"/>
              <a:t>(family), </a:t>
            </a:r>
            <a:r>
              <a:rPr lang="en-US" altLang="zh-TW" dirty="0" err="1" smtClean="0"/>
              <a:t>Bytes.toBytes</a:t>
            </a:r>
            <a:r>
              <a:rPr lang="en-US" altLang="zh-TW" dirty="0" smtClean="0"/>
              <a:t>(column));</a:t>
            </a:r>
          </a:p>
          <a:p>
            <a:r>
              <a:rPr lang="en-US" altLang="zh-TW" dirty="0" smtClean="0"/>
              <a:t>        String </a:t>
            </a:r>
            <a:r>
              <a:rPr lang="en-US" altLang="zh-TW" dirty="0" err="1" smtClean="0"/>
              <a:t>str</a:t>
            </a:r>
            <a:r>
              <a:rPr lang="en-US" altLang="zh-TW" dirty="0" smtClean="0"/>
              <a:t> = </a:t>
            </a:r>
            <a:r>
              <a:rPr lang="en-US" altLang="zh-TW" dirty="0" err="1" smtClean="0"/>
              <a:t>Bytes.toString</a:t>
            </a:r>
            <a:r>
              <a:rPr lang="en-US" altLang="zh-TW" dirty="0" smtClean="0"/>
              <a:t>(by);</a:t>
            </a:r>
          </a:p>
          <a:p>
            <a:r>
              <a:rPr lang="en-US" altLang="zh-TW" dirty="0" smtClean="0"/>
              <a:t>        </a:t>
            </a:r>
            <a:r>
              <a:rPr lang="en-US" altLang="zh-TW" dirty="0" err="1" smtClean="0"/>
              <a:t>System.out.println</a:t>
            </a:r>
            <a:r>
              <a:rPr lang="en-US" altLang="zh-TW" dirty="0" smtClean="0"/>
              <a:t>("row " +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+ " is \"" + </a:t>
            </a:r>
            <a:r>
              <a:rPr lang="en-US" altLang="zh-TW" dirty="0" err="1" smtClean="0"/>
              <a:t>str</a:t>
            </a:r>
            <a:r>
              <a:rPr lang="en-US" altLang="zh-TW" dirty="0" smtClean="0"/>
              <a:t> + "\"");</a:t>
            </a:r>
          </a:p>
          <a:p>
            <a:r>
              <a:rPr lang="en-US" altLang="zh-TW" dirty="0" smtClean="0"/>
              <a:t>       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++;</a:t>
            </a:r>
          </a:p>
          <a:p>
            <a:r>
              <a:rPr lang="en-US" altLang="zh-TW" dirty="0" smtClean="0"/>
              <a:t>      }</a:t>
            </a:r>
          </a:p>
          <a:p>
            <a:r>
              <a:rPr lang="en-US" altLang="zh-TW" dirty="0" smtClean="0"/>
              <a:t>    } catch (</a:t>
            </a:r>
            <a:r>
              <a:rPr lang="en-US" altLang="zh-TW" dirty="0" err="1" smtClean="0"/>
              <a:t>IOException</a:t>
            </a:r>
            <a:r>
              <a:rPr lang="en-US" altLang="zh-TW" dirty="0" smtClean="0"/>
              <a:t> e) {</a:t>
            </a:r>
          </a:p>
          <a:p>
            <a:r>
              <a:rPr lang="en-US" altLang="zh-TW" dirty="0" smtClean="0"/>
              <a:t>      </a:t>
            </a:r>
            <a:r>
              <a:rPr lang="en-US" altLang="zh-TW" dirty="0" err="1" smtClean="0"/>
              <a:t>e.printStackTrace</a:t>
            </a:r>
            <a:r>
              <a:rPr lang="en-US" altLang="zh-TW" dirty="0" smtClean="0"/>
              <a:t>();</a:t>
            </a:r>
          </a:p>
          <a:p>
            <a:r>
              <a:rPr lang="en-US" altLang="zh-TW" dirty="0" smtClean="0"/>
              <a:t>    }</a:t>
            </a:r>
          </a:p>
          <a:p>
            <a:r>
              <a:rPr lang="en-US" altLang="zh-TW" dirty="0" smtClean="0"/>
              <a:t>}</a:t>
            </a:r>
            <a:endParaRPr lang="en-US" altLang="zh-TW" dirty="0"/>
          </a:p>
        </p:txBody>
      </p:sp>
      <p:cxnSp>
        <p:nvCxnSpPr>
          <p:cNvPr id="7" name="直線接點 6"/>
          <p:cNvCxnSpPr/>
          <p:nvPr/>
        </p:nvCxnSpPr>
        <p:spPr>
          <a:xfrm>
            <a:off x="827584" y="2987427"/>
            <a:ext cx="6048672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Delete a table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In the </a:t>
            </a:r>
            <a:r>
              <a:rPr lang="en-US" altLang="zh-TW" dirty="0" err="1" smtClean="0"/>
              <a:t>Hbase</a:t>
            </a:r>
            <a:r>
              <a:rPr lang="en-US" altLang="zh-TW" dirty="0" smtClean="0"/>
              <a:t> shell</a:t>
            </a:r>
          </a:p>
          <a:p>
            <a:pPr lvl="1"/>
            <a:r>
              <a:rPr lang="en-US" altLang="zh-TW" dirty="0" smtClean="0"/>
              <a:t>&gt; disable “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”</a:t>
            </a:r>
          </a:p>
          <a:p>
            <a:pPr lvl="1"/>
            <a:r>
              <a:rPr lang="en-US" altLang="zh-TW" dirty="0" smtClean="0"/>
              <a:t>&gt; drop “</a:t>
            </a:r>
            <a:r>
              <a:rPr lang="en-US" altLang="zh-TW" dirty="0" err="1" smtClean="0"/>
              <a:t>Tablename</a:t>
            </a:r>
            <a:r>
              <a:rPr lang="en-US" altLang="zh-TW" dirty="0" smtClean="0"/>
              <a:t>”</a:t>
            </a:r>
          </a:p>
          <a:p>
            <a:pPr lvl="2"/>
            <a:r>
              <a:rPr lang="en-US" altLang="zh-TW" dirty="0" smtClean="0"/>
              <a:t>Ex: &gt; disable “</a:t>
            </a:r>
            <a:r>
              <a:rPr lang="en-US" altLang="zh-TW" dirty="0" err="1" smtClean="0"/>
              <a:t>SSLab</a:t>
            </a:r>
            <a:r>
              <a:rPr lang="en-US" altLang="zh-TW" dirty="0" smtClean="0"/>
              <a:t>”</a:t>
            </a:r>
          </a:p>
          <a:p>
            <a:pPr lvl="2">
              <a:buNone/>
            </a:pPr>
            <a:r>
              <a:rPr lang="en-US" altLang="zh-TW" dirty="0" smtClean="0"/>
              <a:t>          &gt; drop “</a:t>
            </a:r>
            <a:r>
              <a:rPr lang="en-US" altLang="zh-TW" dirty="0" err="1" smtClean="0"/>
              <a:t>SSLab</a:t>
            </a:r>
            <a:r>
              <a:rPr lang="en-US" altLang="zh-TW" dirty="0" smtClean="0"/>
              <a:t>”</a:t>
            </a:r>
          </a:p>
          <a:p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HBase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Hbase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Basic Operations</a:t>
            </a:r>
          </a:p>
          <a:p>
            <a:r>
              <a:rPr lang="en-US" altLang="zh-TW" dirty="0" smtClean="0"/>
              <a:t>Common APIs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Environment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Useful APIs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HBaseConfiguration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err="1" smtClean="0">
                <a:latin typeface="+mj-lt"/>
              </a:rPr>
              <a:t>HBaseAdmin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err="1" smtClean="0">
                <a:latin typeface="+mj-lt"/>
              </a:rPr>
              <a:t>HTable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err="1" smtClean="0">
                <a:latin typeface="+mj-lt"/>
              </a:rPr>
              <a:t>HTableDescriptor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Put</a:t>
            </a:r>
          </a:p>
          <a:p>
            <a:r>
              <a:rPr lang="en-US" altLang="zh-TW" dirty="0" smtClean="0">
                <a:latin typeface="+mj-lt"/>
              </a:rPr>
              <a:t>Get</a:t>
            </a:r>
          </a:p>
          <a:p>
            <a:r>
              <a:rPr lang="en-US" altLang="zh-TW" dirty="0" smtClean="0">
                <a:latin typeface="+mj-lt"/>
              </a:rPr>
              <a:t>Scan</a:t>
            </a:r>
            <a:endParaRPr lang="zh-TW" altLang="en-US" dirty="0" smtClean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 smtClean="0"/>
              <a:t>HBaseConfiguration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Adds 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 configuration files to a Configuration.</a:t>
            </a:r>
          </a:p>
          <a:p>
            <a:pPr lvl="1">
              <a:lnSpc>
                <a:spcPct val="100000"/>
              </a:lnSpc>
            </a:pPr>
            <a:r>
              <a:rPr lang="en-US" altLang="en-US" dirty="0" err="1" smtClean="0">
                <a:latin typeface="+mj-lt"/>
              </a:rPr>
              <a:t>HBase</a:t>
            </a:r>
            <a:r>
              <a:rPr lang="en-US" altLang="zh-TW" dirty="0" err="1" smtClean="0">
                <a:latin typeface="+mj-lt"/>
              </a:rPr>
              <a:t>Configuration</a:t>
            </a:r>
            <a:r>
              <a:rPr lang="en-US" altLang="zh-TW" dirty="0" smtClean="0">
                <a:latin typeface="+mj-lt"/>
              </a:rPr>
              <a:t> conf = new </a:t>
            </a:r>
            <a:r>
              <a:rPr lang="en-US" altLang="en-US" dirty="0" err="1" smtClean="0">
                <a:latin typeface="+mj-lt"/>
              </a:rPr>
              <a:t>HBaseConfiguration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en-US" dirty="0" smtClean="0">
                <a:latin typeface="+mj-lt"/>
              </a:rPr>
              <a:t>(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en-US" dirty="0" smtClean="0">
                <a:latin typeface="+mj-lt"/>
              </a:rPr>
              <a:t>) </a:t>
            </a:r>
          </a:p>
          <a:p>
            <a:pPr lvl="2"/>
            <a:r>
              <a:rPr lang="en-US" altLang="zh-TW" dirty="0" smtClean="0">
                <a:latin typeface="+mj-lt"/>
              </a:rPr>
              <a:t>A new configuration</a:t>
            </a:r>
          </a:p>
          <a:p>
            <a:r>
              <a:rPr lang="en-US" altLang="zh-TW" dirty="0" smtClean="0">
                <a:latin typeface="+mj-lt"/>
              </a:rPr>
              <a:t>Inherit from </a:t>
            </a:r>
            <a:r>
              <a:rPr lang="en-US" altLang="zh-TW" dirty="0" err="1" smtClean="0">
                <a:latin typeface="+mj-lt"/>
              </a:rPr>
              <a:t>org.apache.hadoop.conf.Configuration</a:t>
            </a:r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611560" y="4005064"/>
          <a:ext cx="7992888" cy="2304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296"/>
                <a:gridCol w="2664296"/>
                <a:gridCol w="2664296"/>
              </a:tblGrid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 smtClean="0"/>
                        <a:t>addResource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(Path </a:t>
                      </a:r>
                      <a:r>
                        <a:rPr lang="en-US" altLang="zh-TW" dirty="0" smtClean="0">
                          <a:latin typeface="+mn-ea"/>
                          <a:ea typeface="+mn-ea"/>
                        </a:rPr>
                        <a:t>file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clear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 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String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get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(String </a:t>
                      </a:r>
                      <a:r>
                        <a:rPr lang="en-US" altLang="zh-TW" dirty="0" smtClean="0">
                          <a:latin typeface="+mn-ea"/>
                          <a:ea typeface="+mn-ea"/>
                        </a:rPr>
                        <a:t>name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6085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void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set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(String </a:t>
                      </a:r>
                      <a:r>
                        <a:rPr lang="en-US" altLang="zh-TW" dirty="0" smtClean="0">
                          <a:latin typeface="+mn-ea"/>
                          <a:ea typeface="+mn-ea"/>
                        </a:rPr>
                        <a:t>name</a:t>
                      </a:r>
                      <a:r>
                        <a:rPr lang="en-US" altLang="zh-TW" dirty="0" smtClean="0"/>
                        <a:t>, String</a:t>
                      </a:r>
                      <a:r>
                        <a:rPr lang="en-US" altLang="zh-TW" baseline="0" dirty="0" smtClean="0"/>
                        <a:t> </a:t>
                      </a:r>
                      <a:r>
                        <a:rPr lang="en-US" altLang="zh-TW" baseline="0" dirty="0" smtClean="0">
                          <a:latin typeface="+mn-ea"/>
                          <a:ea typeface="+mn-ea"/>
                        </a:rPr>
                        <a:t>value</a:t>
                      </a:r>
                      <a:r>
                        <a:rPr lang="en-US" altLang="zh-TW" dirty="0" smtClean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err="1" smtClean="0"/>
              <a:t>HBaseAdmin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Provides administrative functions for 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. </a:t>
            </a:r>
          </a:p>
          <a:p>
            <a:pPr lvl="1">
              <a:lnSpc>
                <a:spcPct val="90000"/>
              </a:lnSpc>
            </a:pPr>
            <a:r>
              <a:rPr lang="en-US" altLang="zh-TW" dirty="0" smtClean="0">
                <a:latin typeface="+mj-lt"/>
              </a:rPr>
              <a:t>… = new </a:t>
            </a:r>
            <a:r>
              <a:rPr lang="en-US" altLang="zh-TW" dirty="0" err="1" smtClean="0">
                <a:latin typeface="+mj-lt"/>
              </a:rPr>
              <a:t>HBaseAdmin</a:t>
            </a:r>
            <a:r>
              <a:rPr lang="en-US" altLang="zh-TW" dirty="0" smtClean="0">
                <a:latin typeface="+mj-lt"/>
              </a:rPr>
              <a:t>( </a:t>
            </a:r>
            <a:r>
              <a:rPr lang="en-US" altLang="zh-TW" dirty="0" err="1" smtClean="0">
                <a:latin typeface="+mj-lt"/>
              </a:rPr>
              <a:t>HBaseConfiguration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smtClean="0">
                <a:latin typeface="+mn-ea"/>
              </a:rPr>
              <a:t>conf</a:t>
            </a:r>
            <a:r>
              <a:rPr lang="en-US" altLang="zh-TW" dirty="0" smtClean="0">
                <a:latin typeface="+mj-lt"/>
              </a:rPr>
              <a:t> )</a:t>
            </a:r>
            <a:r>
              <a:rPr lang="zh-TW" altLang="en-US" dirty="0" smtClean="0">
                <a:latin typeface="+mj-lt"/>
              </a:rPr>
              <a:t> </a:t>
            </a:r>
            <a:endParaRPr lang="en-US" altLang="zh-TW" dirty="0" smtClean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dirty="0" smtClean="0">
                <a:latin typeface="+mj-lt"/>
              </a:rPr>
              <a:t>Ex:</a:t>
            </a:r>
            <a:endParaRPr lang="zh-TW" altLang="en-US" dirty="0" smtClean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835696" y="2636912"/>
            <a:ext cx="5400600" cy="70788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zh-TW" sz="2000" dirty="0" err="1" smtClean="0"/>
              <a:t>HBaseAdmin</a:t>
            </a:r>
            <a:r>
              <a:rPr lang="en-US" altLang="zh-TW" sz="2000" dirty="0" smtClean="0"/>
              <a:t> admin = new </a:t>
            </a:r>
            <a:r>
              <a:rPr lang="en-US" altLang="zh-TW" sz="2000" dirty="0" err="1" smtClean="0"/>
              <a:t>HBaseAdmin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config</a:t>
            </a:r>
            <a:r>
              <a:rPr lang="en-US" altLang="zh-TW" sz="2000" dirty="0" smtClean="0"/>
              <a:t>);</a:t>
            </a:r>
          </a:p>
          <a:p>
            <a:r>
              <a:rPr lang="en-US" altLang="zh-TW" sz="2000" dirty="0" err="1" smtClean="0"/>
              <a:t>admin.disableTable</a:t>
            </a:r>
            <a:r>
              <a:rPr lang="en-US" altLang="zh-TW" sz="2000" dirty="0" smtClean="0"/>
              <a:t> (“</a:t>
            </a:r>
            <a:r>
              <a:rPr lang="en-US" altLang="zh-TW" sz="2000" dirty="0" err="1" smtClean="0"/>
              <a:t>tablename</a:t>
            </a:r>
            <a:r>
              <a:rPr lang="en-US" altLang="zh-TW" sz="2000" dirty="0" smtClean="0"/>
              <a:t>”);</a:t>
            </a:r>
            <a:endParaRPr lang="zh-TW" altLang="en-US" sz="2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1520" y="3503336"/>
          <a:ext cx="8712968" cy="32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/>
                <a:gridCol w="1800200"/>
                <a:gridCol w="468052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+mj-lt"/>
                        </a:rPr>
                        <a:t>void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createTable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</a:t>
                      </a: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HTableDescriptor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 </a:t>
                      </a: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desc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+mj-lt"/>
                        </a:rPr>
                        <a:t>void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addColumn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+mj-lt"/>
                        </a:rPr>
                        <a:t> 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(String </a:t>
                      </a: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tableName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, </a:t>
                      </a: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HColumnDescriptor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 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column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</a:tr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+mj-lt"/>
                        </a:rPr>
                        <a:t>void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enableTable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 </a:t>
                      </a: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tableName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HTableDescriptor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[]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listTables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solidFill>
                            <a:schemeClr val="tx1"/>
                          </a:solidFill>
                          <a:latin typeface="+mj-lt"/>
                        </a:rPr>
                        <a:t>()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void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modifyTable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 </a:t>
                      </a: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tableName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, </a:t>
                      </a: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HTableDescriptor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 </a:t>
                      </a: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htd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boolean</a:t>
                      </a:r>
                      <a:endParaRPr kumimoji="1" lang="en-US" altLang="zh-TW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tableExists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(String </a:t>
                      </a: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tableName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err="1" smtClean="0"/>
              <a:t>HTableDescriptor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sz="2600" dirty="0" err="1" smtClean="0">
                <a:latin typeface="+mj-lt"/>
              </a:rPr>
              <a:t>HTableDescriptor</a:t>
            </a:r>
            <a:r>
              <a:rPr lang="en-US" altLang="zh-TW" sz="2600" dirty="0" smtClean="0">
                <a:latin typeface="+mj-lt"/>
              </a:rPr>
              <a:t> contains the name of an </a:t>
            </a:r>
            <a:r>
              <a:rPr lang="en-US" altLang="zh-TW" sz="2600" dirty="0" err="1" smtClean="0">
                <a:latin typeface="+mj-lt"/>
              </a:rPr>
              <a:t>HTable</a:t>
            </a:r>
            <a:r>
              <a:rPr lang="en-US" altLang="zh-TW" sz="2600" dirty="0" smtClean="0">
                <a:latin typeface="+mj-lt"/>
              </a:rPr>
              <a:t>, and its column families.</a:t>
            </a:r>
          </a:p>
          <a:p>
            <a:pPr lvl="1"/>
            <a:r>
              <a:rPr lang="en-US" altLang="zh-TW" dirty="0" smtClean="0">
                <a:latin typeface="+mj-lt"/>
              </a:rPr>
              <a:t>… = new </a:t>
            </a:r>
            <a:r>
              <a:rPr lang="en-US" altLang="en-US" dirty="0" err="1" smtClean="0">
                <a:latin typeface="+mj-lt"/>
              </a:rPr>
              <a:t>HTableDescriptor</a:t>
            </a:r>
            <a:r>
              <a:rPr lang="en-US" altLang="en-US" dirty="0" smtClean="0">
                <a:latin typeface="+mj-lt"/>
              </a:rPr>
              <a:t>(String name) </a:t>
            </a:r>
          </a:p>
          <a:p>
            <a:r>
              <a:rPr lang="en-US" altLang="zh-TW" sz="2600" dirty="0" smtClean="0">
                <a:latin typeface="+mj-lt"/>
              </a:rPr>
              <a:t>Ex:</a:t>
            </a:r>
          </a:p>
          <a:p>
            <a:pPr lvl="1"/>
            <a:endParaRPr lang="en-US" altLang="zh-TW" dirty="0" smtClean="0">
              <a:latin typeface="+mj-lt"/>
            </a:endParaRPr>
          </a:p>
          <a:p>
            <a:endParaRPr lang="zh-TW" altLang="en-US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1547664" y="3068960"/>
            <a:ext cx="6264696" cy="707886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zh-TW" sz="2000" dirty="0" err="1" smtClean="0"/>
              <a:t>HTableDescriptor</a:t>
            </a:r>
            <a:r>
              <a:rPr lang="en-US" altLang="zh-TW" sz="2000" dirty="0" smtClean="0"/>
              <a:t> </a:t>
            </a:r>
            <a:r>
              <a:rPr lang="en-US" altLang="zh-TW" sz="2000" dirty="0" err="1" smtClean="0"/>
              <a:t>htd</a:t>
            </a:r>
            <a:r>
              <a:rPr lang="en-US" altLang="zh-TW" sz="2000" dirty="0" smtClean="0"/>
              <a:t> = new </a:t>
            </a:r>
            <a:r>
              <a:rPr lang="en-US" altLang="zh-TW" sz="2000" dirty="0" err="1" smtClean="0"/>
              <a:t>HTableDescriptor</a:t>
            </a:r>
            <a:r>
              <a:rPr lang="en-US" altLang="zh-TW" sz="2000" dirty="0" smtClean="0"/>
              <a:t>(</a:t>
            </a:r>
            <a:r>
              <a:rPr lang="en-US" altLang="zh-TW" sz="2000" dirty="0" err="1" smtClean="0"/>
              <a:t>tablename</a:t>
            </a:r>
            <a:r>
              <a:rPr lang="en-US" altLang="zh-TW" sz="2000" dirty="0" smtClean="0"/>
              <a:t>);</a:t>
            </a:r>
            <a:endParaRPr lang="en-US" altLang="en-US" sz="2000" dirty="0" smtClean="0"/>
          </a:p>
          <a:p>
            <a:r>
              <a:rPr lang="en-US" altLang="en-US" sz="2000" dirty="0" err="1" smtClean="0"/>
              <a:t>htd.addFamily</a:t>
            </a:r>
            <a:r>
              <a:rPr lang="en-US" altLang="zh-TW" sz="2000" dirty="0" smtClean="0"/>
              <a:t> </a:t>
            </a:r>
            <a:r>
              <a:rPr lang="en-US" altLang="en-US" sz="2000" dirty="0" smtClean="0"/>
              <a:t>(</a:t>
            </a:r>
            <a:r>
              <a:rPr lang="en-US" altLang="zh-TW" sz="2000" dirty="0" smtClean="0"/>
              <a:t> new </a:t>
            </a:r>
            <a:r>
              <a:rPr lang="en-US" altLang="en-US" sz="2000" dirty="0" err="1" smtClean="0"/>
              <a:t>HColumnDescriptor</a:t>
            </a:r>
            <a:r>
              <a:rPr lang="en-US" altLang="zh-TW" sz="2000" dirty="0" smtClean="0"/>
              <a:t> (“Family”)</a:t>
            </a:r>
            <a:r>
              <a:rPr lang="en-US" altLang="en-US" sz="2000" dirty="0" smtClean="0"/>
              <a:t>);</a:t>
            </a:r>
            <a:endParaRPr lang="zh-TW" altLang="en-US" sz="200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51520" y="3933368"/>
          <a:ext cx="8712968" cy="280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/>
                <a:gridCol w="1800200"/>
                <a:gridCol w="4680520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void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addFamily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</a:t>
                      </a: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HColumnDescriptor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family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 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HColumnDescriptor</a:t>
                      </a: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removeFamily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column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byte[]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getName</a:t>
                      </a:r>
                      <a:endParaRPr kumimoji="1" lang="zh-TW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 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byte[]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getValue</a:t>
                      </a:r>
                      <a:endParaRPr kumimoji="1" lang="zh-TW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key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void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setValue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(String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key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, String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value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err="1" smtClean="0"/>
              <a:t>HTable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Used to communicate with a single 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 table.</a:t>
            </a:r>
          </a:p>
          <a:p>
            <a:pPr lvl="1"/>
            <a:r>
              <a:rPr lang="en-US" altLang="zh-TW" dirty="0" smtClean="0"/>
              <a:t>…= </a:t>
            </a:r>
            <a:r>
              <a:rPr lang="en-US" altLang="zh-TW" sz="2200" dirty="0" smtClean="0">
                <a:latin typeface="+mj-lt"/>
              </a:rPr>
              <a:t>new </a:t>
            </a:r>
            <a:r>
              <a:rPr lang="en-US" altLang="en-US" sz="2200" dirty="0" err="1" smtClean="0">
                <a:latin typeface="+mj-lt"/>
              </a:rPr>
              <a:t>HTable</a:t>
            </a:r>
            <a:r>
              <a:rPr lang="en-US" altLang="en-US" sz="2200" dirty="0" smtClean="0">
                <a:latin typeface="+mj-lt"/>
              </a:rPr>
              <a:t>(</a:t>
            </a:r>
            <a:r>
              <a:rPr lang="en-US" altLang="en-US" sz="2200" dirty="0" err="1" smtClean="0">
                <a:latin typeface="+mj-lt"/>
              </a:rPr>
              <a:t>HBaseConfiguration</a:t>
            </a:r>
            <a:r>
              <a:rPr lang="en-US" altLang="en-US" sz="2200" dirty="0" smtClean="0">
                <a:latin typeface="+mj-lt"/>
              </a:rPr>
              <a:t> </a:t>
            </a:r>
            <a:r>
              <a:rPr lang="en-US" altLang="en-US" sz="2200" dirty="0" smtClean="0">
                <a:latin typeface="+mn-ea"/>
              </a:rPr>
              <a:t>conf</a:t>
            </a:r>
            <a:r>
              <a:rPr lang="en-US" altLang="en-US" sz="2200" dirty="0" smtClean="0">
                <a:latin typeface="+mj-lt"/>
              </a:rPr>
              <a:t>, String </a:t>
            </a:r>
            <a:r>
              <a:rPr lang="en-US" altLang="en-US" sz="2200" dirty="0" err="1" smtClean="0">
                <a:latin typeface="+mn-ea"/>
              </a:rPr>
              <a:t>tableName</a:t>
            </a:r>
            <a:r>
              <a:rPr lang="en-US" altLang="en-US" sz="2200" dirty="0" smtClean="0">
                <a:latin typeface="+mj-lt"/>
              </a:rPr>
              <a:t>)</a:t>
            </a:r>
          </a:p>
          <a:p>
            <a:r>
              <a:rPr lang="en-US" altLang="en-US" sz="2600" dirty="0" smtClean="0">
                <a:latin typeface="+mj-lt"/>
              </a:rPr>
              <a:t>Ex: </a:t>
            </a:r>
            <a:endParaRPr lang="en-US" altLang="zh-TW" sz="2600" dirty="0" smtClean="0">
              <a:latin typeface="+mj-lt"/>
            </a:endParaRPr>
          </a:p>
          <a:p>
            <a:pPr lvl="1"/>
            <a:endParaRPr lang="zh-TW" altLang="en-US" dirty="0">
              <a:latin typeface="+mj-lt"/>
            </a:endParaRPr>
          </a:p>
        </p:txBody>
      </p:sp>
      <p:sp>
        <p:nvSpPr>
          <p:cNvPr id="4" name="Text Box 101"/>
          <p:cNvSpPr txBox="1">
            <a:spLocks noChangeArrowheads="1"/>
          </p:cNvSpPr>
          <p:nvPr/>
        </p:nvSpPr>
        <p:spPr bwMode="auto">
          <a:xfrm>
            <a:off x="1403350" y="2780928"/>
            <a:ext cx="7058025" cy="704850"/>
          </a:xfrm>
          <a:prstGeom prst="rect">
            <a:avLst/>
          </a:prstGeom>
          <a:noFill/>
          <a:ln w="3175" algn="ctr">
            <a:solidFill>
              <a:srgbClr val="003366"/>
            </a:solidFill>
            <a:prstDash val="sys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TW" sz="2000" dirty="0" err="1"/>
              <a:t>HTable</a:t>
            </a:r>
            <a:r>
              <a:rPr lang="en-US" altLang="zh-TW" sz="2000" dirty="0"/>
              <a:t> table = new </a:t>
            </a:r>
            <a:r>
              <a:rPr lang="en-US" altLang="zh-TW" sz="2000" dirty="0" err="1"/>
              <a:t>HTable</a:t>
            </a:r>
            <a:r>
              <a:rPr lang="en-US" altLang="zh-TW" sz="2000" dirty="0"/>
              <a:t> (conf</a:t>
            </a:r>
            <a:r>
              <a:rPr lang="en-US" altLang="zh-TW" sz="2000" dirty="0" smtClean="0"/>
              <a:t>, </a:t>
            </a:r>
            <a:r>
              <a:rPr lang="en-US" altLang="zh-TW" sz="2000" dirty="0" err="1" smtClean="0"/>
              <a:t>SSLab</a:t>
            </a:r>
            <a:r>
              <a:rPr lang="en-US" altLang="zh-TW" sz="2000" dirty="0" smtClean="0"/>
              <a:t>);</a:t>
            </a:r>
            <a:endParaRPr lang="en-US" altLang="zh-TW" sz="2000" dirty="0"/>
          </a:p>
          <a:p>
            <a:pPr algn="l"/>
            <a:r>
              <a:rPr lang="en-US" altLang="zh-TW" sz="2000" dirty="0" err="1"/>
              <a:t>ResultScanner</a:t>
            </a:r>
            <a:r>
              <a:rPr lang="en-US" altLang="zh-TW" sz="2000" dirty="0"/>
              <a:t> scanner = </a:t>
            </a:r>
            <a:r>
              <a:rPr lang="en-US" altLang="zh-TW" sz="2000" dirty="0" err="1"/>
              <a:t>table.getScanner</a:t>
            </a:r>
            <a:r>
              <a:rPr lang="en-US" altLang="zh-TW" sz="2000" dirty="0"/>
              <a:t> ( </a:t>
            </a:r>
            <a:r>
              <a:rPr lang="en-US" altLang="zh-TW" sz="2000" dirty="0" smtClean="0"/>
              <a:t>family </a:t>
            </a:r>
            <a:r>
              <a:rPr lang="en-US" altLang="zh-TW" sz="2000" dirty="0"/>
              <a:t>);</a:t>
            </a:r>
            <a:endParaRPr lang="zh-TW" altLang="en-US" sz="2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1520" y="3645024"/>
          <a:ext cx="8712968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248"/>
                <a:gridCol w="1800200"/>
                <a:gridCol w="4680520"/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void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c</a:t>
                      </a:r>
                      <a:r>
                        <a:rPr kumimoji="1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lose</a:t>
                      </a:r>
                      <a:endParaRPr kumimoji="1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()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boolean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e</a:t>
                      </a:r>
                      <a:r>
                        <a:rPr kumimoji="1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xists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(Get </a:t>
                      </a:r>
                      <a:r>
                        <a:rPr lang="en-US" altLang="zh-TW" dirty="0" err="1" smtClean="0">
                          <a:latin typeface="+mn-ea"/>
                        </a:rPr>
                        <a:t>get</a:t>
                      </a:r>
                      <a:r>
                        <a:rPr kumimoji="1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Result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</a:t>
                      </a:r>
                      <a:r>
                        <a:rPr kumimoji="1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et</a:t>
                      </a:r>
                      <a:endParaRPr kumimoji="1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(Get </a:t>
                      </a:r>
                      <a:r>
                        <a:rPr lang="en-US" altLang="zh-TW" dirty="0" err="1" smtClean="0">
                          <a:latin typeface="+mn-ea"/>
                        </a:rPr>
                        <a:t>get</a:t>
                      </a:r>
                      <a:r>
                        <a:rPr kumimoji="1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ResultScanner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getScanner</a:t>
                      </a:r>
                      <a:endParaRPr kumimoji="1" lang="zh-TW" alt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</a:t>
                      </a:r>
                      <a:r>
                        <a:rPr kumimoji="1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zh-TW" dirty="0" smtClean="0">
                          <a:latin typeface="+mn-ea"/>
                        </a:rPr>
                        <a:t>family</a:t>
                      </a:r>
                      <a:r>
                        <a:rPr kumimoji="1" lang="en-US" alt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void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put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(Put </a:t>
                      </a:r>
                      <a:r>
                        <a:rPr kumimoji="1" lang="en-US" altLang="zh-TW" sz="1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put</a:t>
                      </a: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smtClean="0"/>
              <a:t>Put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Used to perform Put operations for a single row.</a:t>
            </a:r>
          </a:p>
          <a:p>
            <a:pPr lvl="1"/>
            <a:r>
              <a:rPr lang="en-US" altLang="zh-TW" dirty="0" smtClean="0">
                <a:latin typeface="+mj-lt"/>
              </a:rPr>
              <a:t>… = new Put(byte[] row) </a:t>
            </a:r>
          </a:p>
          <a:p>
            <a:r>
              <a:rPr lang="en-US" altLang="zh-TW" dirty="0" smtClean="0">
                <a:latin typeface="+mj-lt"/>
              </a:rPr>
              <a:t>Ex:</a:t>
            </a:r>
            <a:endParaRPr lang="zh-TW" altLang="en-US" dirty="0">
              <a:latin typeface="+mj-lt"/>
            </a:endParaRPr>
          </a:p>
        </p:txBody>
      </p:sp>
      <p:sp>
        <p:nvSpPr>
          <p:cNvPr id="4" name="Text Box 104"/>
          <p:cNvSpPr txBox="1">
            <a:spLocks noChangeArrowheads="1"/>
          </p:cNvSpPr>
          <p:nvPr/>
        </p:nvSpPr>
        <p:spPr bwMode="auto">
          <a:xfrm>
            <a:off x="1402407" y="2690614"/>
            <a:ext cx="7058025" cy="1314450"/>
          </a:xfrm>
          <a:prstGeom prst="rect">
            <a:avLst/>
          </a:prstGeom>
          <a:noFill/>
          <a:ln w="3175" algn="ctr">
            <a:solidFill>
              <a:srgbClr val="003366"/>
            </a:solidFill>
            <a:prstDash val="sys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TW" sz="2000" dirty="0" err="1"/>
              <a:t>HTable</a:t>
            </a:r>
            <a:r>
              <a:rPr lang="en-US" altLang="zh-TW" sz="2000" dirty="0"/>
              <a:t> table = new </a:t>
            </a:r>
            <a:r>
              <a:rPr lang="en-US" altLang="zh-TW" sz="2000" dirty="0" err="1"/>
              <a:t>HTable</a:t>
            </a:r>
            <a:r>
              <a:rPr lang="en-US" altLang="zh-TW" sz="2000" dirty="0"/>
              <a:t> (conf, </a:t>
            </a:r>
            <a:r>
              <a:rPr lang="en-US" altLang="zh-TW" sz="2000" dirty="0" err="1"/>
              <a:t>Bytes.toBytes</a:t>
            </a:r>
            <a:r>
              <a:rPr lang="en-US" altLang="zh-TW" sz="2000" dirty="0"/>
              <a:t> ( </a:t>
            </a:r>
            <a:r>
              <a:rPr lang="en-US" altLang="zh-TW" sz="2000" dirty="0" err="1"/>
              <a:t>tablename</a:t>
            </a:r>
            <a:r>
              <a:rPr lang="en-US" altLang="zh-TW" sz="2000" dirty="0"/>
              <a:t> ));</a:t>
            </a:r>
          </a:p>
          <a:p>
            <a:pPr algn="l"/>
            <a:r>
              <a:rPr lang="en-US" altLang="en-US" sz="2000" dirty="0"/>
              <a:t>Put p = new Put</a:t>
            </a:r>
            <a:r>
              <a:rPr lang="en-US" altLang="zh-TW" sz="2000" dirty="0"/>
              <a:t> </a:t>
            </a:r>
            <a:r>
              <a:rPr lang="en-US" altLang="en-US" sz="2000" dirty="0"/>
              <a:t>(</a:t>
            </a:r>
            <a:r>
              <a:rPr lang="en-US" altLang="zh-TW" sz="2000" dirty="0"/>
              <a:t> </a:t>
            </a:r>
            <a:r>
              <a:rPr lang="en-US" altLang="en-US" sz="2000" dirty="0"/>
              <a:t>brow</a:t>
            </a:r>
            <a:r>
              <a:rPr lang="en-US" altLang="zh-TW" sz="2000" dirty="0"/>
              <a:t> </a:t>
            </a:r>
            <a:r>
              <a:rPr lang="en-US" altLang="en-US" sz="2000" dirty="0"/>
              <a:t>);</a:t>
            </a:r>
            <a:endParaRPr lang="en-US" altLang="zh-TW" sz="2000" dirty="0"/>
          </a:p>
          <a:p>
            <a:pPr algn="l"/>
            <a:r>
              <a:rPr lang="en-US" altLang="zh-TW" sz="2000" dirty="0" err="1"/>
              <a:t>p.add</a:t>
            </a:r>
            <a:r>
              <a:rPr lang="en-US" altLang="zh-TW" sz="2000" dirty="0"/>
              <a:t> (family, qualifier, value);</a:t>
            </a:r>
          </a:p>
          <a:p>
            <a:pPr algn="l"/>
            <a:r>
              <a:rPr lang="en-US" altLang="zh-TW" sz="2000" dirty="0" err="1"/>
              <a:t>table.put</a:t>
            </a:r>
            <a:r>
              <a:rPr lang="en-US" altLang="zh-TW" sz="2000" dirty="0"/>
              <a:t> ( p );</a:t>
            </a:r>
            <a:endParaRPr lang="zh-TW" altLang="en-US" sz="20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1520" y="4149368"/>
          <a:ext cx="8712968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1728192"/>
                <a:gridCol w="4896544"/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Put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add</a:t>
                      </a:r>
                      <a:endParaRPr kumimoji="1" lang="zh-TW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family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, 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qualifier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,  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value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byte[]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getRow</a:t>
                      </a:r>
                      <a:endParaRPr kumimoji="1" lang="zh-TW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long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getTimeStamp</a:t>
                      </a:r>
                      <a:endParaRPr kumimoji="1" lang="zh-TW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504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boolean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isEmpty</a:t>
                      </a:r>
                      <a:endParaRPr kumimoji="1" lang="zh-TW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dirty="0" smtClean="0"/>
              <a:t>Get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Used to perform Get operations on a single row.</a:t>
            </a:r>
          </a:p>
          <a:p>
            <a:pPr lvl="1"/>
            <a:r>
              <a:rPr lang="en-US" altLang="zh-TW" dirty="0" smtClean="0">
                <a:latin typeface="+mj-lt"/>
              </a:rPr>
              <a:t>… = new Get (byte[] row)</a:t>
            </a:r>
          </a:p>
          <a:p>
            <a:r>
              <a:rPr lang="en-US" altLang="zh-TW" dirty="0" smtClean="0">
                <a:latin typeface="+mj-lt"/>
              </a:rPr>
              <a:t>Ex:</a:t>
            </a:r>
          </a:p>
          <a:p>
            <a:pPr lvl="1"/>
            <a:endParaRPr lang="zh-TW" altLang="en-US" dirty="0">
              <a:latin typeface="+mj-lt"/>
            </a:endParaRPr>
          </a:p>
        </p:txBody>
      </p:sp>
      <p:sp>
        <p:nvSpPr>
          <p:cNvPr id="4" name="Text Box 184"/>
          <p:cNvSpPr txBox="1">
            <a:spLocks noChangeArrowheads="1"/>
          </p:cNvSpPr>
          <p:nvPr/>
        </p:nvSpPr>
        <p:spPr bwMode="auto">
          <a:xfrm>
            <a:off x="1475656" y="2708920"/>
            <a:ext cx="6624463" cy="707886"/>
          </a:xfrm>
          <a:prstGeom prst="rect">
            <a:avLst/>
          </a:prstGeom>
          <a:noFill/>
          <a:ln w="3175" algn="ctr">
            <a:solidFill>
              <a:srgbClr val="003366"/>
            </a:solidFill>
            <a:prstDash val="sysDot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l"/>
            <a:r>
              <a:rPr lang="en-US" altLang="zh-TW"/>
              <a:t>HTable </a:t>
            </a:r>
            <a:r>
              <a:rPr lang="en-US" altLang="zh-TW" sz="2000"/>
              <a:t>table = new HTable(conf, Bytes.toBytes(tablename));</a:t>
            </a:r>
          </a:p>
          <a:p>
            <a:pPr algn="l"/>
            <a:r>
              <a:rPr lang="en-US" altLang="zh-TW" sz="2000"/>
              <a:t>Get g = new Get(Bytes.toBytes(row));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51520" y="3789040"/>
          <a:ext cx="8712968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1728192"/>
                <a:gridCol w="4896544"/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Return</a:t>
                      </a:r>
                      <a:r>
                        <a:rPr lang="en-US" altLang="zh-TW" baseline="0" dirty="0" smtClean="0"/>
                        <a:t>  type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Function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Parameter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addColumn</a:t>
                      </a:r>
                      <a:endParaRPr kumimoji="1" lang="zh-TW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column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addColumn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family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, 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qualifier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addFamily</a:t>
                      </a:r>
                      <a:endParaRPr kumimoji="1" lang="zh-TW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family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540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setTimeRange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(long </a:t>
                      </a: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minStamp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, long </a:t>
                      </a: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maxStamp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smtClean="0"/>
              <a:t>Result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Single row result of a Get or Scan query.</a:t>
            </a:r>
          </a:p>
          <a:p>
            <a:pPr lvl="1"/>
            <a:r>
              <a:rPr lang="en-US" altLang="zh-TW" dirty="0" smtClean="0">
                <a:latin typeface="+mj-lt"/>
              </a:rPr>
              <a:t>… = new Result() </a:t>
            </a:r>
            <a:r>
              <a:rPr lang="en-US" altLang="en-US" dirty="0" smtClean="0">
                <a:latin typeface="+mj-lt"/>
              </a:rPr>
              <a:t> </a:t>
            </a:r>
          </a:p>
          <a:p>
            <a:r>
              <a:rPr lang="en-US" altLang="zh-TW" dirty="0" smtClean="0">
                <a:latin typeface="+mj-lt"/>
              </a:rPr>
              <a:t>Ex:</a:t>
            </a:r>
          </a:p>
          <a:p>
            <a:pPr lvl="1"/>
            <a:endParaRPr lang="zh-TW" altLang="en-US" dirty="0">
              <a:latin typeface="+mj-lt"/>
            </a:endParaRPr>
          </a:p>
        </p:txBody>
      </p:sp>
      <p:sp>
        <p:nvSpPr>
          <p:cNvPr id="4" name="Text Box 75"/>
          <p:cNvSpPr txBox="1">
            <a:spLocks noChangeArrowheads="1"/>
          </p:cNvSpPr>
          <p:nvPr/>
        </p:nvSpPr>
        <p:spPr bwMode="auto">
          <a:xfrm>
            <a:off x="1403648" y="2708920"/>
            <a:ext cx="7129462" cy="1374775"/>
          </a:xfrm>
          <a:prstGeom prst="rect">
            <a:avLst/>
          </a:prstGeom>
          <a:noFill/>
          <a:ln w="3175" algn="ctr">
            <a:solidFill>
              <a:srgbClr val="003366"/>
            </a:solidFill>
            <a:prstDash val="sys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TW"/>
              <a:t>HTable </a:t>
            </a:r>
            <a:r>
              <a:rPr lang="en-US" altLang="zh-TW" sz="2000"/>
              <a:t>table = new HTable(conf, Bytes.toBytes(tablename));</a:t>
            </a:r>
          </a:p>
          <a:p>
            <a:pPr algn="l"/>
            <a:r>
              <a:rPr lang="en-US" altLang="zh-TW" sz="2000"/>
              <a:t>Get g = new Get(Bytes.toBytes(row));</a:t>
            </a:r>
          </a:p>
          <a:p>
            <a:pPr algn="l"/>
            <a:r>
              <a:rPr lang="en-US" altLang="zh-TW" sz="2000"/>
              <a:t>Result rowResult = table.get(g);</a:t>
            </a:r>
          </a:p>
          <a:p>
            <a:pPr algn="l"/>
            <a:r>
              <a:rPr lang="en-US" altLang="zh-TW" sz="2000"/>
              <a:t>Bytes[] ret = rowResult.getValue( (family + ":"+ column ) );</a:t>
            </a:r>
            <a:endParaRPr lang="zh-TW" altLang="en-US" sz="200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51520" y="4257352"/>
          <a:ext cx="8712968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1728192"/>
                <a:gridCol w="4896544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latin typeface="+mj-lt"/>
                        </a:rPr>
                        <a:t>Return</a:t>
                      </a:r>
                      <a:r>
                        <a:rPr lang="en-US" altLang="zh-TW" sz="1800" baseline="0" dirty="0" smtClean="0">
                          <a:latin typeface="+mj-lt"/>
                        </a:rPr>
                        <a:t>  type</a:t>
                      </a:r>
                      <a:endParaRPr lang="zh-TW" altLang="en-US" sz="1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latin typeface="+mj-lt"/>
                        </a:rPr>
                        <a:t>Function</a:t>
                      </a:r>
                      <a:endParaRPr lang="zh-TW" altLang="en-US" sz="1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latin typeface="+mj-lt"/>
                        </a:rPr>
                        <a:t>Parameter</a:t>
                      </a:r>
                      <a:endParaRPr lang="zh-TW" altLang="en-US" sz="1800" dirty="0">
                        <a:latin typeface="+mj-lt"/>
                      </a:endParaRPr>
                    </a:p>
                  </a:txBody>
                  <a:tcPr anchor="ctr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byte[]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getValue</a:t>
                      </a:r>
                      <a:endParaRPr kumimoji="1" lang="zh-TW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column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byte[]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getValue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family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, byte[] 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qualifier</a:t>
                      </a: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+mj-lt"/>
                        </a:rPr>
                        <a:t> </a:t>
                      </a:r>
                      <a:r>
                        <a:rPr lang="en-US" altLang="zh-TW" sz="2000" dirty="0" err="1" smtClean="0">
                          <a:solidFill>
                            <a:schemeClr val="tx1"/>
                          </a:solidFill>
                          <a:latin typeface="+mj-lt"/>
                        </a:rPr>
                        <a:t>boolean</a:t>
                      </a:r>
                      <a:endParaRPr kumimoji="1" lang="en-US" altLang="zh-TW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isEmpty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 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String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toString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 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/>
              <a:t>Scan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>
                <a:latin typeface="+mj-lt"/>
              </a:rPr>
              <a:t>Used to perform Scan operations.</a:t>
            </a:r>
          </a:p>
          <a:p>
            <a:r>
              <a:rPr lang="en-US" altLang="zh-TW" dirty="0" smtClean="0">
                <a:latin typeface="+mj-lt"/>
              </a:rPr>
              <a:t>All operations are identical to </a:t>
            </a:r>
            <a:r>
              <a:rPr lang="en-US" altLang="zh-TW" b="1" dirty="0" smtClean="0">
                <a:latin typeface="+mj-lt"/>
              </a:rPr>
              <a:t>Get.</a:t>
            </a:r>
          </a:p>
          <a:p>
            <a:pPr lvl="1"/>
            <a:r>
              <a:rPr lang="en-US" altLang="zh-TW" sz="2600" dirty="0" smtClean="0">
                <a:latin typeface="+mj-lt"/>
              </a:rPr>
              <a:t>Rather than specifying a single row, an optional </a:t>
            </a:r>
            <a:r>
              <a:rPr lang="en-US" altLang="zh-TW" sz="2600" dirty="0" err="1" smtClean="0">
                <a:latin typeface="+mj-lt"/>
              </a:rPr>
              <a:t>startRow</a:t>
            </a:r>
            <a:r>
              <a:rPr lang="en-US" altLang="zh-TW" sz="2600" dirty="0" smtClean="0">
                <a:latin typeface="+mj-lt"/>
              </a:rPr>
              <a:t> and </a:t>
            </a:r>
            <a:r>
              <a:rPr lang="en-US" altLang="zh-TW" sz="2600" dirty="0" err="1" smtClean="0">
                <a:latin typeface="+mj-lt"/>
              </a:rPr>
              <a:t>stopRow</a:t>
            </a:r>
            <a:r>
              <a:rPr lang="en-US" altLang="zh-TW" sz="2600" dirty="0" smtClean="0">
                <a:latin typeface="+mj-lt"/>
              </a:rPr>
              <a:t> may be defined. </a:t>
            </a:r>
          </a:p>
          <a:p>
            <a:pPr lvl="2"/>
            <a:r>
              <a:rPr lang="en-US" altLang="zh-TW" sz="2200" dirty="0" smtClean="0">
                <a:latin typeface="+mj-lt"/>
              </a:rPr>
              <a:t>= new </a:t>
            </a:r>
            <a:r>
              <a:rPr lang="en-US" altLang="en-US" sz="2200" dirty="0" smtClean="0">
                <a:latin typeface="+mj-lt"/>
              </a:rPr>
              <a:t>Scan</a:t>
            </a:r>
            <a:r>
              <a:rPr lang="en-US" altLang="zh-TW" sz="2200" dirty="0" smtClean="0">
                <a:latin typeface="+mj-lt"/>
              </a:rPr>
              <a:t> </a:t>
            </a:r>
            <a:r>
              <a:rPr lang="en-US" altLang="en-US" sz="2200" dirty="0" smtClean="0">
                <a:latin typeface="+mj-lt"/>
              </a:rPr>
              <a:t>(byte[] </a:t>
            </a:r>
            <a:r>
              <a:rPr lang="en-US" altLang="en-US" sz="2200" dirty="0" err="1" smtClean="0">
                <a:latin typeface="+mj-lt"/>
              </a:rPr>
              <a:t>startRow</a:t>
            </a:r>
            <a:r>
              <a:rPr lang="en-US" altLang="en-US" sz="2200" dirty="0" smtClean="0">
                <a:latin typeface="+mj-lt"/>
              </a:rPr>
              <a:t>, byte[] </a:t>
            </a:r>
            <a:r>
              <a:rPr lang="en-US" altLang="en-US" sz="2200" dirty="0" err="1" smtClean="0">
                <a:latin typeface="+mj-lt"/>
              </a:rPr>
              <a:t>stopRow</a:t>
            </a:r>
            <a:r>
              <a:rPr lang="en-US" altLang="en-US" sz="2200" dirty="0" smtClean="0">
                <a:latin typeface="+mj-lt"/>
              </a:rPr>
              <a:t>) </a:t>
            </a:r>
            <a:endParaRPr lang="en-US" altLang="zh-TW" sz="2200" dirty="0" smtClean="0">
              <a:latin typeface="+mj-lt"/>
            </a:endParaRPr>
          </a:p>
          <a:p>
            <a:pPr lvl="1"/>
            <a:r>
              <a:rPr lang="en-US" altLang="zh-TW" sz="2600" dirty="0" smtClean="0">
                <a:latin typeface="+mj-lt"/>
              </a:rPr>
              <a:t>If rows are not specified, the Scanner will iterate over all rows.</a:t>
            </a:r>
          </a:p>
          <a:p>
            <a:pPr lvl="2">
              <a:lnSpc>
                <a:spcPct val="90000"/>
              </a:lnSpc>
            </a:pPr>
            <a:r>
              <a:rPr lang="en-US" altLang="zh-TW" sz="2200" dirty="0" smtClean="0">
                <a:latin typeface="+mj-lt"/>
              </a:rPr>
              <a:t>= new Scan () </a:t>
            </a: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 err="1" smtClean="0"/>
              <a:t>ResultScanner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Interface for client-side scanning. Go to </a:t>
            </a:r>
            <a:r>
              <a:rPr lang="en-US" altLang="zh-TW" dirty="0" err="1" smtClean="0">
                <a:latin typeface="+mj-lt"/>
              </a:rPr>
              <a:t>HTable</a:t>
            </a:r>
            <a:r>
              <a:rPr lang="en-US" altLang="zh-TW" dirty="0" smtClean="0">
                <a:latin typeface="+mj-lt"/>
              </a:rPr>
              <a:t> to obtain instances.</a:t>
            </a:r>
          </a:p>
          <a:p>
            <a:pPr lvl="1"/>
            <a:r>
              <a:rPr lang="en-US" altLang="zh-TW" dirty="0" err="1" smtClean="0">
                <a:latin typeface="+mj-lt"/>
              </a:rPr>
              <a:t>table.getScanner</a:t>
            </a:r>
            <a:r>
              <a:rPr lang="en-US" altLang="zh-TW" dirty="0" smtClean="0">
                <a:latin typeface="+mj-lt"/>
              </a:rPr>
              <a:t> (</a:t>
            </a:r>
            <a:r>
              <a:rPr lang="en-US" altLang="zh-TW" dirty="0" err="1" smtClean="0">
                <a:latin typeface="+mj-lt"/>
              </a:rPr>
              <a:t>Bytes.toBytes</a:t>
            </a:r>
            <a:r>
              <a:rPr lang="en-US" altLang="zh-TW" dirty="0" smtClean="0">
                <a:latin typeface="+mj-lt"/>
              </a:rPr>
              <a:t>(family));</a:t>
            </a:r>
          </a:p>
          <a:p>
            <a:r>
              <a:rPr lang="en-US" altLang="zh-TW" dirty="0" smtClean="0">
                <a:latin typeface="+mj-lt"/>
              </a:rPr>
              <a:t>Ex:</a:t>
            </a:r>
          </a:p>
          <a:p>
            <a:pPr lvl="1"/>
            <a:endParaRPr lang="zh-TW" altLang="en-US" dirty="0">
              <a:latin typeface="+mj-lt"/>
            </a:endParaRPr>
          </a:p>
        </p:txBody>
      </p:sp>
      <p:sp>
        <p:nvSpPr>
          <p:cNvPr id="4" name="Text Box 61"/>
          <p:cNvSpPr txBox="1">
            <a:spLocks noChangeArrowheads="1"/>
          </p:cNvSpPr>
          <p:nvPr/>
        </p:nvSpPr>
        <p:spPr bwMode="auto">
          <a:xfrm>
            <a:off x="1116013" y="3500438"/>
            <a:ext cx="7056437" cy="1314450"/>
          </a:xfrm>
          <a:prstGeom prst="rect">
            <a:avLst/>
          </a:prstGeom>
          <a:noFill/>
          <a:ln w="3175" algn="ctr">
            <a:solidFill>
              <a:srgbClr val="003366"/>
            </a:solidFill>
            <a:prstDash val="sysDot"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altLang="zh-TW" sz="2000"/>
              <a:t>ResultScanner scanner = table.getScanner (Bytes.toBytes(family));</a:t>
            </a:r>
          </a:p>
          <a:p>
            <a:pPr algn="l"/>
            <a:r>
              <a:rPr lang="en-US" altLang="zh-TW" sz="2000"/>
              <a:t>for (Result rowResult : scanner) {</a:t>
            </a:r>
          </a:p>
          <a:p>
            <a:pPr algn="l"/>
            <a:r>
              <a:rPr lang="en-US" altLang="zh-TW" sz="2000"/>
              <a:t>	Bytes[] str = rowResult.getValue ( family , column );</a:t>
            </a:r>
          </a:p>
          <a:p>
            <a:pPr algn="l"/>
            <a:r>
              <a:rPr lang="en-US" altLang="zh-TW" sz="2000"/>
              <a:t>}</a:t>
            </a:r>
            <a:endParaRPr lang="zh-TW" altLang="en-US" sz="200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51520" y="5085184"/>
          <a:ext cx="8712968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2"/>
                <a:gridCol w="1728192"/>
                <a:gridCol w="4896544"/>
              </a:tblGrid>
              <a:tr h="46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latin typeface="+mj-lt"/>
                        </a:rPr>
                        <a:t>Return</a:t>
                      </a:r>
                      <a:r>
                        <a:rPr lang="en-US" altLang="zh-TW" sz="1800" baseline="0" dirty="0" smtClean="0">
                          <a:latin typeface="+mj-lt"/>
                        </a:rPr>
                        <a:t>  type</a:t>
                      </a:r>
                      <a:endParaRPr lang="zh-TW" altLang="en-US" sz="1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latin typeface="+mj-lt"/>
                        </a:rPr>
                        <a:t>Function</a:t>
                      </a:r>
                      <a:endParaRPr lang="zh-TW" altLang="en-US" sz="1800" dirty="0"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 smtClean="0">
                          <a:latin typeface="+mj-lt"/>
                        </a:rPr>
                        <a:t>Parameter</a:t>
                      </a:r>
                      <a:endParaRPr lang="zh-TW" altLang="en-US" sz="1800" dirty="0">
                        <a:latin typeface="+mj-lt"/>
                      </a:endParaRPr>
                    </a:p>
                  </a:txBody>
                  <a:tcPr anchor="ctr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void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close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 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  <a:tr h="4680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void</a:t>
                      </a: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sync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標楷體" pitchFamily="65" charset="-120"/>
                        </a:rPr>
                        <a:t>( )</a:t>
                      </a:r>
                      <a:endParaRPr kumimoji="1" lang="zh-TW" alt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標楷體" pitchFamily="65" charset="-120"/>
                      </a:endParaRPr>
                    </a:p>
                  </a:txBody>
                  <a:tcPr marL="90000" marR="90000" marT="0" marB="0" anchor="ctr" horzOverflow="overflow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HBase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Hbase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Basic Operations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Useful APIs</a:t>
            </a:r>
          </a:p>
          <a:p>
            <a:r>
              <a:rPr lang="en-US" altLang="zh-TW" dirty="0" smtClean="0"/>
              <a:t>Programming Environment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Configuration(1/2)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>
            <a:normAutofit/>
          </a:bodyPr>
          <a:lstStyle/>
          <a:p>
            <a:r>
              <a:rPr lang="en-US" altLang="zh-TW" sz="2600" dirty="0" smtClean="0">
                <a:latin typeface="+mj-lt"/>
              </a:rPr>
              <a:t>Modify the .profile in the user: </a:t>
            </a:r>
            <a:r>
              <a:rPr lang="en-US" altLang="zh-TW" sz="2600" dirty="0" err="1" smtClean="0">
                <a:latin typeface="+mj-lt"/>
              </a:rPr>
              <a:t>hadoop</a:t>
            </a:r>
            <a:r>
              <a:rPr lang="en-US" altLang="zh-TW" sz="2600" dirty="0" smtClean="0">
                <a:latin typeface="+mj-lt"/>
              </a:rPr>
              <a:t> home directory.</a:t>
            </a:r>
            <a:endParaRPr lang="zh-TW" altLang="zh-TW" sz="2600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$ vim ~/.profile</a:t>
            </a: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err="1" smtClean="0">
                <a:latin typeface="+mj-lt"/>
              </a:rPr>
              <a:t>Relogin</a:t>
            </a:r>
            <a:endParaRPr lang="en-US" altLang="zh-TW" dirty="0" smtClean="0">
              <a:latin typeface="+mj-lt"/>
            </a:endParaRPr>
          </a:p>
          <a:p>
            <a:r>
              <a:rPr lang="en-US" altLang="zh-TW" dirty="0" smtClean="0">
                <a:latin typeface="+mj-lt"/>
              </a:rPr>
              <a:t>Modify the parameter HADOOP_CLASSPATH in the hadoop-env.sh</a:t>
            </a:r>
          </a:p>
          <a:p>
            <a:pPr lvl="1"/>
            <a:r>
              <a:rPr lang="en-US" altLang="zh-TW" dirty="0" smtClean="0">
                <a:latin typeface="+mj-lt"/>
              </a:rPr>
              <a:t>vim /opt/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/conf/hadoop-env.sh</a:t>
            </a:r>
            <a:endParaRPr lang="zh-TW" altLang="zh-TW" dirty="0" smtClean="0">
              <a:latin typeface="+mj-lt"/>
            </a:endParaRP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endParaRPr lang="zh-TW" altLang="en-US" dirty="0">
              <a:latin typeface="+mj-lt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18" y="2420888"/>
            <a:ext cx="8640962" cy="112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9803" y="5517232"/>
            <a:ext cx="8734685" cy="11521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Configuration(2/2)</a:t>
            </a:r>
            <a:endParaRPr lang="zh-TW" altLang="en-US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Set 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 settings links to </a:t>
            </a:r>
            <a:r>
              <a:rPr lang="en-US" altLang="zh-TW" dirty="0" err="1" smtClean="0">
                <a:latin typeface="+mj-lt"/>
              </a:rPr>
              <a:t>hadoop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$ </a:t>
            </a:r>
            <a:r>
              <a:rPr lang="en-US" altLang="zh-TW" dirty="0" err="1" smtClean="0">
                <a:latin typeface="+mj-lt"/>
              </a:rPr>
              <a:t>ln</a:t>
            </a:r>
            <a:r>
              <a:rPr lang="en-US" altLang="zh-TW" dirty="0" smtClean="0">
                <a:latin typeface="+mj-lt"/>
              </a:rPr>
              <a:t> -s /opt/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/lib/* /opt/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/lib/</a:t>
            </a:r>
          </a:p>
          <a:p>
            <a:pPr lvl="1"/>
            <a:r>
              <a:rPr lang="en-US" altLang="zh-TW" dirty="0" smtClean="0">
                <a:latin typeface="+mj-lt"/>
              </a:rPr>
              <a:t>$ </a:t>
            </a:r>
            <a:r>
              <a:rPr lang="en-US" altLang="zh-TW" dirty="0" err="1" smtClean="0">
                <a:latin typeface="+mj-lt"/>
              </a:rPr>
              <a:t>ln</a:t>
            </a:r>
            <a:r>
              <a:rPr lang="en-US" altLang="zh-TW" dirty="0" smtClean="0">
                <a:latin typeface="+mj-lt"/>
              </a:rPr>
              <a:t>  -s /opt/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/conf/* /opt/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/conf/</a:t>
            </a:r>
          </a:p>
          <a:p>
            <a:pPr lvl="1"/>
            <a:r>
              <a:rPr lang="en-US" altLang="zh-TW" dirty="0" smtClean="0">
                <a:latin typeface="+mj-lt"/>
              </a:rPr>
              <a:t>$ </a:t>
            </a:r>
            <a:r>
              <a:rPr lang="en-US" altLang="zh-TW" dirty="0" err="1" smtClean="0">
                <a:latin typeface="+mj-lt"/>
              </a:rPr>
              <a:t>ln</a:t>
            </a:r>
            <a:r>
              <a:rPr lang="en-US" altLang="zh-TW" dirty="0" smtClean="0">
                <a:latin typeface="+mj-lt"/>
              </a:rPr>
              <a:t>  -s /opt/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/bin/* /opt/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/bin/</a:t>
            </a:r>
          </a:p>
          <a:p>
            <a:pPr lvl="1"/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Compile &amp; run without Eclipse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latin typeface="+mj-lt"/>
              </a:rPr>
              <a:t>Compile your program</a:t>
            </a:r>
          </a:p>
          <a:p>
            <a:pPr lvl="1"/>
            <a:r>
              <a:rPr lang="en-US" altLang="zh-TW" dirty="0" err="1" smtClean="0">
                <a:latin typeface="+mj-lt"/>
              </a:rPr>
              <a:t>cd</a:t>
            </a:r>
            <a:r>
              <a:rPr lang="en-US" altLang="zh-TW" dirty="0" smtClean="0">
                <a:latin typeface="+mj-lt"/>
              </a:rPr>
              <a:t> /opt/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/</a:t>
            </a:r>
          </a:p>
          <a:p>
            <a:pPr lvl="1"/>
            <a:r>
              <a:rPr lang="en-US" altLang="zh-TW" dirty="0" smtClean="0">
                <a:latin typeface="+mj-lt"/>
              </a:rPr>
              <a:t>$ </a:t>
            </a:r>
            <a:r>
              <a:rPr lang="en-US" altLang="zh-TW" dirty="0" err="1" smtClean="0">
                <a:latin typeface="+mj-lt"/>
              </a:rPr>
              <a:t>javac</a:t>
            </a:r>
            <a:r>
              <a:rPr lang="en-US" altLang="zh-TW" dirty="0" smtClean="0">
                <a:latin typeface="+mj-lt"/>
              </a:rPr>
              <a:t> &lt;</a:t>
            </a:r>
            <a:r>
              <a:rPr lang="en-US" altLang="zh-TW" dirty="0" err="1" smtClean="0">
                <a:latin typeface="+mj-lt"/>
              </a:rPr>
              <a:t>program_name</a:t>
            </a:r>
            <a:r>
              <a:rPr lang="en-US" altLang="zh-TW" dirty="0" smtClean="0">
                <a:latin typeface="+mj-lt"/>
              </a:rPr>
              <a:t>&gt;.java</a:t>
            </a:r>
          </a:p>
          <a:p>
            <a:r>
              <a:rPr lang="en-US" altLang="zh-TW" dirty="0" smtClean="0">
                <a:latin typeface="+mj-lt"/>
              </a:rPr>
              <a:t>Run your program</a:t>
            </a:r>
          </a:p>
          <a:p>
            <a:pPr lvl="1"/>
            <a:r>
              <a:rPr lang="en-US" altLang="zh-TW" dirty="0" smtClean="0">
                <a:latin typeface="+mj-lt"/>
              </a:rPr>
              <a:t>$ bin/</a:t>
            </a:r>
            <a:r>
              <a:rPr lang="en-US" altLang="zh-TW" dirty="0" err="1" smtClean="0">
                <a:latin typeface="+mj-lt"/>
              </a:rPr>
              <a:t>hadoop</a:t>
            </a:r>
            <a:r>
              <a:rPr lang="en-US" altLang="zh-TW" dirty="0" smtClean="0">
                <a:latin typeface="+mj-lt"/>
              </a:rPr>
              <a:t> &lt;</a:t>
            </a:r>
            <a:r>
              <a:rPr lang="en-US" altLang="zh-TW" dirty="0" err="1" smtClean="0">
                <a:latin typeface="+mj-lt"/>
              </a:rPr>
              <a:t>program_name</a:t>
            </a:r>
            <a:r>
              <a:rPr lang="en-US" altLang="zh-TW" dirty="0" smtClean="0">
                <a:latin typeface="+mj-lt"/>
              </a:rPr>
              <a:t>&gt;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With Eclipse</a:t>
            </a:r>
            <a:endParaRPr lang="zh-TW" altLang="en-US" dirty="0"/>
          </a:p>
        </p:txBody>
      </p:sp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3" y="1236693"/>
            <a:ext cx="7288298" cy="5078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28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71600" y="1548669"/>
            <a:ext cx="7344816" cy="4622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橢圓 5"/>
          <p:cNvSpPr/>
          <p:nvPr/>
        </p:nvSpPr>
        <p:spPr>
          <a:xfrm>
            <a:off x="6732239" y="2858969"/>
            <a:ext cx="1224136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 descr="hbase8.pn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19671" y="1634833"/>
            <a:ext cx="6336704" cy="492140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059831" y="4299129"/>
            <a:ext cx="4608512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7164287" y="6171337"/>
            <a:ext cx="64807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 descr="hbase9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835695" y="1130777"/>
            <a:ext cx="5832648" cy="5610591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3203847" y="2282905"/>
            <a:ext cx="4176464" cy="36724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25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2" grpId="0" animBg="1"/>
      <p:bldP spid="10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HBase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204865"/>
            <a:ext cx="7772400" cy="2202036"/>
          </a:xfrm>
        </p:spPr>
        <p:txBody>
          <a:bodyPr>
            <a:normAutofit/>
          </a:bodyPr>
          <a:lstStyle/>
          <a:p>
            <a:r>
              <a:rPr lang="en-US" altLang="zh-TW" dirty="0" err="1" smtClean="0">
                <a:solidFill>
                  <a:schemeClr val="bg1">
                    <a:lumMod val="65000"/>
                  </a:schemeClr>
                </a:solidFill>
              </a:rPr>
              <a:t>Hbase</a:t>
            </a:r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 Introduction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Basic Operations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Useful APIs</a:t>
            </a:r>
          </a:p>
          <a:p>
            <a:r>
              <a:rPr lang="en-US" altLang="zh-TW" dirty="0" smtClean="0">
                <a:solidFill>
                  <a:schemeClr val="bg1">
                    <a:lumMod val="65000"/>
                  </a:schemeClr>
                </a:solidFill>
              </a:rPr>
              <a:t>Programming Environment</a:t>
            </a:r>
          </a:p>
          <a:p>
            <a:r>
              <a:rPr lang="en-US" altLang="zh-TW" dirty="0" smtClean="0"/>
              <a:t>Lab Requirement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 Requirements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/>
          <a:lstStyle/>
          <a:p>
            <a:r>
              <a:rPr lang="en-US" altLang="zh-TW" dirty="0" smtClean="0">
                <a:latin typeface="+mj-lt"/>
              </a:rPr>
              <a:t>Part I (15%)</a:t>
            </a:r>
          </a:p>
          <a:p>
            <a:pPr lvl="1"/>
            <a:r>
              <a:rPr lang="en-US" altLang="zh-TW" dirty="0" smtClean="0">
                <a:latin typeface="+mj-lt"/>
              </a:rPr>
              <a:t>Complete the “Scan all column” functionality.</a:t>
            </a:r>
          </a:p>
          <a:p>
            <a:r>
              <a:rPr lang="en-US" altLang="zh-TW" dirty="0" smtClean="0">
                <a:latin typeface="+mj-lt"/>
              </a:rPr>
              <a:t>Part II (15%)</a:t>
            </a:r>
          </a:p>
          <a:p>
            <a:pPr lvl="1"/>
            <a:r>
              <a:rPr lang="en-US" altLang="zh-TW" dirty="0" smtClean="0">
                <a:latin typeface="+mj-lt"/>
              </a:rPr>
              <a:t>Change the output of the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Part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I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dirty="0" smtClean="0">
                <a:latin typeface="+mj-lt"/>
              </a:rPr>
              <a:t>in </a:t>
            </a:r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 Lab to 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pPr lvl="1"/>
            <a:r>
              <a:rPr lang="en-US" altLang="zh-TW" dirty="0" smtClean="0">
                <a:latin typeface="+mj-lt"/>
              </a:rPr>
              <a:t>That is, use the </a:t>
            </a:r>
            <a:r>
              <a:rPr lang="en-US" altLang="zh-TW" dirty="0" err="1" smtClean="0">
                <a:latin typeface="+mj-lt"/>
              </a:rPr>
              <a:t>mapreduce</a:t>
            </a:r>
            <a:r>
              <a:rPr lang="en-US" altLang="zh-TW" dirty="0" smtClean="0">
                <a:latin typeface="+mj-lt"/>
              </a:rPr>
              <a:t> programming model to </a:t>
            </a:r>
            <a:r>
              <a:rPr lang="en-US" altLang="zh-TW" dirty="0" smtClean="0">
                <a:latin typeface="+mj-lt"/>
              </a:rPr>
              <a:t>output those </a:t>
            </a:r>
            <a:r>
              <a:rPr lang="en-US" altLang="zh-TW" dirty="0" smtClean="0">
                <a:latin typeface="+mj-lt"/>
              </a:rPr>
              <a:t>characters </a:t>
            </a:r>
            <a:r>
              <a:rPr lang="en-US" altLang="zh-TW" dirty="0" smtClean="0">
                <a:solidFill>
                  <a:srgbClr val="FF0000"/>
                </a:solidFill>
                <a:latin typeface="+mj-lt"/>
              </a:rPr>
              <a:t>(un-sorted) </a:t>
            </a:r>
            <a:r>
              <a:rPr lang="en-US" altLang="zh-TW" dirty="0" smtClean="0">
                <a:latin typeface="+mj-lt"/>
              </a:rPr>
              <a:t>that </a:t>
            </a:r>
            <a:r>
              <a:rPr lang="en-US" altLang="zh-TW" dirty="0" smtClean="0">
                <a:latin typeface="+mj-lt"/>
              </a:rPr>
              <a:t>occur &gt;= 1000 times, and then output the results to </a:t>
            </a:r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.</a:t>
            </a:r>
          </a:p>
          <a:p>
            <a:pPr lvl="1"/>
            <a:endParaRPr lang="en-US" altLang="zh-TW" dirty="0" smtClean="0">
              <a:latin typeface="+mj-lt"/>
            </a:endParaRPr>
          </a:p>
          <a:p>
            <a:pPr lvl="1"/>
            <a:endParaRPr lang="en-US" altLang="zh-TW" dirty="0" smtClean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Hint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 </a:t>
            </a:r>
            <a:r>
              <a:rPr lang="en-US" altLang="zh-TW" smtClean="0">
                <a:latin typeface="+mj-lt"/>
              </a:rPr>
              <a:t>Setup Guide.docx</a:t>
            </a:r>
            <a:endParaRPr lang="en-US" altLang="zh-TW" dirty="0" smtClean="0">
              <a:latin typeface="+mj-lt"/>
            </a:endParaRPr>
          </a:p>
          <a:p>
            <a:endParaRPr lang="en-US" altLang="zh-TW" dirty="0" smtClean="0">
              <a:latin typeface="+mj-lt"/>
            </a:endParaRPr>
          </a:p>
          <a:p>
            <a:r>
              <a:rPr lang="en-US" altLang="zh-TW" dirty="0" err="1" smtClean="0">
                <a:latin typeface="+mj-lt"/>
              </a:rPr>
              <a:t>Hbase</a:t>
            </a:r>
            <a:r>
              <a:rPr lang="en-US" altLang="zh-TW" dirty="0" smtClean="0">
                <a:latin typeface="+mj-lt"/>
              </a:rPr>
              <a:t> 0.20.6 APIs</a:t>
            </a:r>
          </a:p>
          <a:p>
            <a:pPr lvl="1"/>
            <a:r>
              <a:rPr lang="en-US" altLang="zh-TW" dirty="0" smtClean="0">
                <a:latin typeface="+mj-lt"/>
                <a:hlinkClick r:id="rId3"/>
              </a:rPr>
              <a:t>http://hbase.apache.org/docs/current/api/index.html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  <a:hlinkClick r:id="rId4"/>
              </a:rPr>
              <a:t>http://hbase.apache.org/docs/current/api/org/apache/hadoop/hbase/package-frame.html</a:t>
            </a:r>
            <a:endParaRPr lang="en-US" altLang="zh-TW" dirty="0" smtClean="0"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  <a:hlinkClick r:id="rId5"/>
              </a:rPr>
              <a:t>http://hbase.apache.org/docs/current/api/org/apache/hadoop/hbase/client/package-frame.html</a:t>
            </a:r>
            <a:endParaRPr lang="zh-TW" altLang="en-US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Reference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600" dirty="0" smtClean="0">
                <a:latin typeface="+mj-lt"/>
              </a:rPr>
              <a:t>University of MARYLAND – Cloud course of Jimmy Lin</a:t>
            </a:r>
          </a:p>
          <a:p>
            <a:pPr lvl="1"/>
            <a:r>
              <a:rPr lang="en-US" altLang="zh-TW" sz="2200" dirty="0" smtClean="0">
                <a:latin typeface="+mj-lt"/>
                <a:hlinkClick r:id="rId3"/>
              </a:rPr>
              <a:t>http://www.umiacs.umd.edu/~jimmylin/cloud-2010-Spring/index.html</a:t>
            </a:r>
            <a:endParaRPr lang="en-US" altLang="zh-TW" sz="2200" dirty="0" smtClean="0">
              <a:latin typeface="+mj-lt"/>
            </a:endParaRPr>
          </a:p>
          <a:p>
            <a:r>
              <a:rPr lang="en-US" altLang="zh-TW" sz="2400" dirty="0" smtClean="0">
                <a:latin typeface="+mj-lt"/>
              </a:rPr>
              <a:t>NCHC Cloud Computing Research Group</a:t>
            </a:r>
          </a:p>
          <a:p>
            <a:pPr lvl="1"/>
            <a:r>
              <a:rPr lang="en-US" altLang="zh-TW" sz="2200" dirty="0" smtClean="0">
                <a:latin typeface="+mj-lt"/>
                <a:hlinkClick r:id="rId4"/>
              </a:rPr>
              <a:t>http://trac.nchc.org.tw/cloud</a:t>
            </a:r>
            <a:endParaRPr lang="en-US" altLang="zh-TW" sz="2200" dirty="0" smtClean="0">
              <a:latin typeface="+mj-lt"/>
            </a:endParaRPr>
          </a:p>
          <a:p>
            <a:r>
              <a:rPr lang="en-US" altLang="zh-TW" sz="2600" dirty="0" err="1" smtClean="0">
                <a:latin typeface="+mj-lt"/>
              </a:rPr>
              <a:t>Cloudera</a:t>
            </a:r>
            <a:r>
              <a:rPr lang="en-US" altLang="zh-TW" sz="2600" dirty="0" smtClean="0">
                <a:latin typeface="+mj-lt"/>
              </a:rPr>
              <a:t> - </a:t>
            </a:r>
            <a:r>
              <a:rPr lang="en-US" altLang="zh-TW" sz="2400" dirty="0" err="1" smtClean="0">
                <a:latin typeface="+mj-lt"/>
              </a:rPr>
              <a:t>Hadoop</a:t>
            </a:r>
            <a:r>
              <a:rPr lang="en-US" altLang="zh-TW" sz="2400" dirty="0" smtClean="0">
                <a:latin typeface="+mj-lt"/>
              </a:rPr>
              <a:t> Training and Certification</a:t>
            </a:r>
          </a:p>
          <a:p>
            <a:pPr lvl="1"/>
            <a:r>
              <a:rPr lang="en-US" altLang="zh-TW" sz="2200" dirty="0" smtClean="0">
                <a:latin typeface="+mj-lt"/>
                <a:hlinkClick r:id="rId5"/>
              </a:rPr>
              <a:t>http://www.cloudera.com/hadoop-training/</a:t>
            </a:r>
            <a:endParaRPr lang="zh-TW" altLang="en-US" sz="22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What You Have to Hand-In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>
                <a:latin typeface="+mj-lt"/>
              </a:rPr>
              <a:t>Hard-Copy Report</a:t>
            </a:r>
            <a:endParaRPr lang="en-US" altLang="zh-TW" dirty="0" smtClean="0">
              <a:solidFill>
                <a:srgbClr val="FF0000"/>
              </a:solidFill>
              <a:latin typeface="+mj-lt"/>
            </a:endParaRPr>
          </a:p>
          <a:p>
            <a:pPr lvl="1"/>
            <a:r>
              <a:rPr lang="en-US" altLang="zh-TW" dirty="0" smtClean="0">
                <a:latin typeface="+mj-lt"/>
              </a:rPr>
              <a:t>Lesson learned</a:t>
            </a:r>
          </a:p>
          <a:p>
            <a:pPr lvl="1"/>
            <a:r>
              <a:rPr lang="en-US" altLang="zh-TW" dirty="0" smtClean="0">
                <a:latin typeface="+mj-lt"/>
              </a:rPr>
              <a:t>The screenshot, including the HDFS Part I</a:t>
            </a:r>
          </a:p>
          <a:p>
            <a:pPr lvl="1"/>
            <a:r>
              <a:rPr lang="en-US" altLang="zh-TW" dirty="0" smtClean="0">
                <a:latin typeface="+mj-lt"/>
              </a:rPr>
              <a:t>The outstanding work you did</a:t>
            </a:r>
          </a:p>
          <a:p>
            <a:r>
              <a:rPr lang="en-US" altLang="zh-TW" dirty="0" smtClean="0">
                <a:latin typeface="+mj-lt"/>
              </a:rPr>
              <a:t>Source Codes and a jar package contain all classes and ReadMe file(How to run your program)</a:t>
            </a:r>
          </a:p>
          <a:p>
            <a:pPr lvl="1"/>
            <a:r>
              <a:rPr lang="en-US" altLang="zh-TW" dirty="0" smtClean="0">
                <a:latin typeface="+mj-lt"/>
              </a:rPr>
              <a:t>HDFS</a:t>
            </a:r>
          </a:p>
          <a:p>
            <a:pPr lvl="2"/>
            <a:r>
              <a:rPr lang="en-US" altLang="zh-TW" dirty="0" smtClean="0">
                <a:latin typeface="+mj-lt"/>
              </a:rPr>
              <a:t>Part II</a:t>
            </a:r>
          </a:p>
          <a:p>
            <a:pPr lvl="1"/>
            <a:r>
              <a:rPr lang="en-US" altLang="zh-TW" dirty="0" smtClean="0">
                <a:latin typeface="+mj-lt"/>
              </a:rPr>
              <a:t>MR </a:t>
            </a:r>
          </a:p>
          <a:p>
            <a:pPr lvl="2"/>
            <a:r>
              <a:rPr lang="en-US" altLang="zh-TW" dirty="0" smtClean="0">
                <a:latin typeface="+mj-lt"/>
              </a:rPr>
              <a:t>Part I</a:t>
            </a:r>
          </a:p>
          <a:p>
            <a:pPr lvl="2"/>
            <a:r>
              <a:rPr lang="en-US" altLang="zh-TW" dirty="0" smtClean="0">
                <a:latin typeface="+mj-lt"/>
              </a:rPr>
              <a:t>Part II</a:t>
            </a:r>
          </a:p>
          <a:p>
            <a:pPr lvl="1"/>
            <a:r>
              <a:rPr lang="en-US" altLang="zh-TW" dirty="0" err="1" smtClean="0">
                <a:latin typeface="+mj-lt"/>
              </a:rPr>
              <a:t>Hbase</a:t>
            </a:r>
            <a:endParaRPr lang="en-US" altLang="zh-TW" dirty="0" smtClean="0">
              <a:latin typeface="+mj-lt"/>
            </a:endParaRPr>
          </a:p>
          <a:p>
            <a:pPr lvl="2"/>
            <a:r>
              <a:rPr lang="en-US" altLang="zh-TW" dirty="0" smtClean="0">
                <a:latin typeface="+mj-lt"/>
              </a:rPr>
              <a:t>Part I</a:t>
            </a:r>
          </a:p>
          <a:p>
            <a:pPr lvl="2"/>
            <a:r>
              <a:rPr lang="en-US" altLang="zh-TW" dirty="0" smtClean="0">
                <a:latin typeface="+mj-lt"/>
              </a:rPr>
              <a:t>Part II</a:t>
            </a:r>
            <a:endParaRPr lang="zh-TW" altLang="en-US" dirty="0">
              <a:latin typeface="+mj-lt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491880" y="5013176"/>
            <a:ext cx="56303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smtClean="0"/>
              <a:t>Note:</a:t>
            </a:r>
          </a:p>
          <a:p>
            <a:pPr>
              <a:buFont typeface="Arial" pitchFamily="34" charset="0"/>
              <a:buChar char="•"/>
            </a:pPr>
            <a:r>
              <a:rPr lang="en-US" altLang="zh-TW" sz="2400" dirty="0" smtClean="0"/>
              <a:t> CANNOT run your program will get 0 point</a:t>
            </a:r>
          </a:p>
          <a:p>
            <a:pPr>
              <a:buFont typeface="Arial" pitchFamily="34" charset="0"/>
              <a:buChar char="•"/>
            </a:pPr>
            <a:r>
              <a:rPr lang="en-US" altLang="zh-TW" sz="2400" dirty="0" smtClean="0"/>
              <a:t> No LATE is allowed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urse Them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 Themes</Template>
  <TotalTime>47164</TotalTime>
  <Words>4935</Words>
  <Application>Microsoft Office PowerPoint</Application>
  <PresentationFormat>如螢幕大小 (4:3)</PresentationFormat>
  <Paragraphs>1337</Paragraphs>
  <Slides>114</Slides>
  <Notes>113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114</vt:i4>
      </vt:variant>
    </vt:vector>
  </HeadingPairs>
  <TitlesOfParts>
    <vt:vector size="115" baseType="lpstr">
      <vt:lpstr>Course Themes</vt:lpstr>
      <vt:lpstr>雲端計算 Cloud Computing</vt:lpstr>
      <vt:lpstr>Agenda</vt:lpstr>
      <vt:lpstr>Hadoop</vt:lpstr>
      <vt:lpstr>History (2002-2004)</vt:lpstr>
      <vt:lpstr>History (Turning Point)</vt:lpstr>
      <vt:lpstr>History (2004-Now)</vt:lpstr>
      <vt:lpstr>Hadoop Features</vt:lpstr>
      <vt:lpstr>Google vs. Hadoop</vt:lpstr>
      <vt:lpstr>HDFS</vt:lpstr>
      <vt:lpstr>What’s HDFS</vt:lpstr>
      <vt:lpstr>HDFS Architecture</vt:lpstr>
      <vt:lpstr>HDFS Client Block Diagram</vt:lpstr>
      <vt:lpstr>HDFS</vt:lpstr>
      <vt:lpstr>HDFS operations</vt:lpstr>
      <vt:lpstr>HDFS Shell Command(1/2)</vt:lpstr>
      <vt:lpstr>HDFS Shell Command(2/2)</vt:lpstr>
      <vt:lpstr>For example</vt:lpstr>
      <vt:lpstr>HDFS Common APIs</vt:lpstr>
      <vt:lpstr>Using HDFS Programmatically(1/2)</vt:lpstr>
      <vt:lpstr>Using HDFS Programmatically(2/2)</vt:lpstr>
      <vt:lpstr>Configuration</vt:lpstr>
      <vt:lpstr>FileSystem</vt:lpstr>
      <vt:lpstr>Path </vt:lpstr>
      <vt:lpstr>FSDataInputStream</vt:lpstr>
      <vt:lpstr>FSDataOutputStream</vt:lpstr>
      <vt:lpstr>HDFS</vt:lpstr>
      <vt:lpstr>Environment</vt:lpstr>
      <vt:lpstr>Programming Environment</vt:lpstr>
      <vt:lpstr>Without IDE</vt:lpstr>
      <vt:lpstr>Without IDE (cont.)</vt:lpstr>
      <vt:lpstr>Using Eclipse - Step 1</vt:lpstr>
      <vt:lpstr>Step 2</vt:lpstr>
      <vt:lpstr>Step 3</vt:lpstr>
      <vt:lpstr>Step 3(cont.)</vt:lpstr>
      <vt:lpstr>Step 4</vt:lpstr>
      <vt:lpstr>Step 4 (cont.)</vt:lpstr>
      <vt:lpstr>Step 4 (cont.)</vt:lpstr>
      <vt:lpstr>Step 4 (cont.)</vt:lpstr>
      <vt:lpstr>Step 4 (cont.)</vt:lpstr>
      <vt:lpstr>Step 5</vt:lpstr>
      <vt:lpstr>Step 5 (cont.)</vt:lpstr>
      <vt:lpstr>Step 6</vt:lpstr>
      <vt:lpstr>HDFS</vt:lpstr>
      <vt:lpstr>Requirements</vt:lpstr>
      <vt:lpstr>Hints</vt:lpstr>
      <vt:lpstr>MapReduce</vt:lpstr>
      <vt:lpstr>What’s MapReduce?</vt:lpstr>
      <vt:lpstr>MapReduce: High Level</vt:lpstr>
      <vt:lpstr>Nodes, Trackers, Tasks</vt:lpstr>
      <vt:lpstr>Example - Wordcount</vt:lpstr>
      <vt:lpstr>MapReduce</vt:lpstr>
      <vt:lpstr>Main function</vt:lpstr>
      <vt:lpstr>Mapper</vt:lpstr>
      <vt:lpstr>Mapper(cont.)</vt:lpstr>
      <vt:lpstr>Reducer</vt:lpstr>
      <vt:lpstr>Reducer (cont.)</vt:lpstr>
      <vt:lpstr>MapReduce</vt:lpstr>
      <vt:lpstr>Some MapReduce Terminology</vt:lpstr>
      <vt:lpstr>Main Class</vt:lpstr>
      <vt:lpstr>Job</vt:lpstr>
      <vt:lpstr>Class Mapper</vt:lpstr>
      <vt:lpstr>Text, IntWritable, LongWritable, </vt:lpstr>
      <vt:lpstr>Read Data</vt:lpstr>
      <vt:lpstr>Mappers</vt:lpstr>
      <vt:lpstr>Class Reducer</vt:lpstr>
      <vt:lpstr>Reducers</vt:lpstr>
      <vt:lpstr>Performance Consideration</vt:lpstr>
      <vt:lpstr>投影片 68</vt:lpstr>
      <vt:lpstr>MapReduce</vt:lpstr>
      <vt:lpstr>MR package, Mapper Class</vt:lpstr>
      <vt:lpstr>Reducer Class</vt:lpstr>
      <vt:lpstr>MR Driver(Main class)</vt:lpstr>
      <vt:lpstr>Run on hadoop</vt:lpstr>
      <vt:lpstr>Run on hadoop(cont.)</vt:lpstr>
      <vt:lpstr>MapReduce</vt:lpstr>
      <vt:lpstr>Requirements</vt:lpstr>
      <vt:lpstr>Hint</vt:lpstr>
      <vt:lpstr>HBase</vt:lpstr>
      <vt:lpstr>What’s Hbase?</vt:lpstr>
      <vt:lpstr>Hbase Architecture</vt:lpstr>
      <vt:lpstr>Data Model</vt:lpstr>
      <vt:lpstr>Example</vt:lpstr>
      <vt:lpstr>HBase</vt:lpstr>
      <vt:lpstr>Basic Operations</vt:lpstr>
      <vt:lpstr>Create a table(1/2)</vt:lpstr>
      <vt:lpstr>Create a table(2/2)</vt:lpstr>
      <vt:lpstr>Put data into column(1/2)</vt:lpstr>
      <vt:lpstr>Put data into column(2/2)</vt:lpstr>
      <vt:lpstr>Get column value(1/2)</vt:lpstr>
      <vt:lpstr>Get column value(2/2)</vt:lpstr>
      <vt:lpstr>Scan all column(1/2)</vt:lpstr>
      <vt:lpstr>Scan all column(2/2)</vt:lpstr>
      <vt:lpstr>Delete a table</vt:lpstr>
      <vt:lpstr>HBase</vt:lpstr>
      <vt:lpstr>Useful APIs</vt:lpstr>
      <vt:lpstr>HBaseConfiguration</vt:lpstr>
      <vt:lpstr>HBaseAdmin</vt:lpstr>
      <vt:lpstr>HTableDescriptor</vt:lpstr>
      <vt:lpstr>HTable</vt:lpstr>
      <vt:lpstr>Put</vt:lpstr>
      <vt:lpstr>Get</vt:lpstr>
      <vt:lpstr>Result</vt:lpstr>
      <vt:lpstr>Scan</vt:lpstr>
      <vt:lpstr>ResultScanner</vt:lpstr>
      <vt:lpstr>HBase</vt:lpstr>
      <vt:lpstr>Configuration(1/2)</vt:lpstr>
      <vt:lpstr>Configuration(2/2)</vt:lpstr>
      <vt:lpstr>Compile &amp; run without Eclipse</vt:lpstr>
      <vt:lpstr>With Eclipse</vt:lpstr>
      <vt:lpstr>HBase</vt:lpstr>
      <vt:lpstr> Requirements</vt:lpstr>
      <vt:lpstr>Hint</vt:lpstr>
      <vt:lpstr>Reference</vt:lpstr>
      <vt:lpstr>What You Have to Hand-In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tlcsmall3</dc:creator>
  <cp:lastModifiedBy>5Gxp</cp:lastModifiedBy>
  <cp:revision>2709</cp:revision>
  <dcterms:created xsi:type="dcterms:W3CDTF">2010-08-27T09:43:45Z</dcterms:created>
  <dcterms:modified xsi:type="dcterms:W3CDTF">2010-11-17T06:01:35Z</dcterms:modified>
</cp:coreProperties>
</file>